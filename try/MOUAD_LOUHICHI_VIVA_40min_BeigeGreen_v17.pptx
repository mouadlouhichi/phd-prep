
<file path=[Content_Types].xml><?xml version="1.0" encoding="utf-8"?>
<Types xmlns="http://schemas.openxmlformats.org/package/2006/content-types">
  <Default Extension="fntdata" ContentType="application/x-fontdata"/>
  <Default Extension="jpeg" ContentType="image/jpeg"/>
  <Default Extension="jp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xml" ContentType="application/vnd.openxmlformats-officedocument.presentationml.notesSlide+xml"/>
  <Override PartName="/ppt/notesSlides/notesSlide60.xml" ContentType="application/vnd.openxmlformats-officedocument.presentationml.notesSlide+xml"/>
  <Override PartName="/ppt/notesSlides/notesSlide61.xml" ContentType="application/vnd.openxmlformats-officedocument.presentationml.notesSlide+xml"/>
  <Override PartName="/ppt/notesSlides/notesSlide62.xml" ContentType="application/vnd.openxmlformats-officedocument.presentationml.notesSlide+xml"/>
  <Override PartName="/ppt/notesSlides/notesSlide63.xml" ContentType="application/vnd.openxmlformats-officedocument.presentationml.notesSlide+xml"/>
  <Override PartName="/ppt/notesSlides/notesSlide64.xml" ContentType="application/vnd.openxmlformats-officedocument.presentationml.notesSlide+xml"/>
  <Override PartName="/ppt/notesSlides/notesSlide65.xml" ContentType="application/vnd.openxmlformats-officedocument.presentationml.notesSlide+xml"/>
  <Override PartName="/ppt/notesSlides/notesSlide66.xml" ContentType="application/vnd.openxmlformats-officedocument.presentationml.notesSlide+xml"/>
  <Override PartName="/ppt/notesSlides/notesSlide67.xml" ContentType="application/vnd.openxmlformats-officedocument.presentationml.notesSlide+xml"/>
  <Override PartName="/ppt/notesSlides/notesSlide68.xml" ContentType="application/vnd.openxmlformats-officedocument.presentationml.notesSlide+xml"/>
  <Override PartName="/ppt/notesSlides/notesSlide69.xml" ContentType="application/vnd.openxmlformats-officedocument.presentationml.notesSlide+xml"/>
  <Override PartName="/ppt/notesSlides/notesSlide7.xml" ContentType="application/vnd.openxmlformats-officedocument.presentationml.notesSlide+xml"/>
  <Override PartName="/ppt/notesSlides/notesSlide70.xml" ContentType="application/vnd.openxmlformats-officedocument.presentationml.notesSlide+xml"/>
  <Override PartName="/ppt/notesSlides/notesSlide71.xml" ContentType="application/vnd.openxmlformats-officedocument.presentationml.notesSlide+xml"/>
  <Override PartName="/ppt/notesSlides/notesSlide72.xml" ContentType="application/vnd.openxmlformats-officedocument.presentationml.notesSlide+xml"/>
  <Override PartName="/ppt/notesSlides/notesSlide73.xml" ContentType="application/vnd.openxmlformats-officedocument.presentationml.notesSlide+xml"/>
  <Override PartName="/ppt/notesSlides/notesSlide74.xml" ContentType="application/vnd.openxmlformats-officedocument.presentationml.notesSlide+xml"/>
  <Override PartName="/ppt/notesSlides/notesSlide75.xml" ContentType="application/vnd.openxmlformats-officedocument.presentationml.notesSlide+xml"/>
  <Override PartName="/ppt/notesSlides/notesSlide76.xml" ContentType="application/vnd.openxmlformats-officedocument.presentationml.notesSlide+xml"/>
  <Override PartName="/ppt/notesSlides/notesSlide77.xml" ContentType="application/vnd.openxmlformats-officedocument.presentationml.notesSlide+xml"/>
  <Override PartName="/ppt/notesSlides/notesSlide78.xml" ContentType="application/vnd.openxmlformats-officedocument.presentationml.notesSlide+xml"/>
  <Override PartName="/ppt/notesSlides/notesSlide79.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slides/slide85.xml" ContentType="application/vnd.openxmlformats-officedocument.presentationml.slide+xml"/>
  <Override PartName="/ppt/slides/slide86.xml" ContentType="application/vnd.openxmlformats-officedocument.presentationml.slide+xml"/>
  <Override PartName="/ppt/slides/slide87.xml" ContentType="application/vnd.openxmlformats-officedocument.presentationml.slide+xml"/>
  <Override PartName="/ppt/slides/slide88.xml" ContentType="application/vnd.openxmlformats-officedocument.presentationml.slide+xml"/>
  <Override PartName="/ppt/slides/slide89.xml" ContentType="application/vnd.openxmlformats-officedocument.presentationml.slide+xml"/>
  <Override PartName="/ppt/slides/slide90.xml" ContentType="application/vnd.openxmlformats-officedocument.presentationml.slide+xml"/>
  <Override PartName="/ppt/slides/slide91.xml" ContentType="application/vnd.openxmlformats-officedocument.presentationml.slide+xml"/>
  <Override PartName="/ppt/slides/slide92.xml" ContentType="application/vnd.openxmlformats-officedocument.presentationml.slide+xml"/>
  <Override PartName="/ppt/slides/slide93.xml" ContentType="application/vnd.openxmlformats-officedocument.presentationml.slide+xml"/>
  <Override PartName="/ppt/slides/slide94.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embedTrueTypeFonts="true">
  <p:sldMasterIdLst>
    <p:sldMasterId id="2147483648" r:id="rId1"/>
  </p:sldMasterIdLst>
  <p:sldIdLst>
    <p:sldId id="271" r:id="rId25"/>
    <p:sldId id="272" r:id="rId27"/>
    <p:sldId id="273" r:id="rId28"/>
    <p:sldId id="274" r:id="rId29"/>
    <p:sldId id="275" r:id="rId30"/>
    <p:sldId id="276" r:id="rId31"/>
    <p:sldId id="277" r:id="rId32"/>
    <p:sldId id="278" r:id="rId33"/>
    <p:sldId id="279" r:id="rId34"/>
    <p:sldId id="280" r:id="rId35"/>
    <p:sldId id="281" r:id="rId36"/>
    <p:sldId id="282" r:id="rId37"/>
    <p:sldId id="283" r:id="rId38"/>
    <p:sldId id="284" r:id="rId39"/>
    <p:sldId id="285" r:id="rId40"/>
    <p:sldId id="286" r:id="rId41"/>
    <p:sldId id="287" r:id="rId42"/>
    <p:sldId id="288" r:id="rId43"/>
    <p:sldId id="289" r:id="rId44"/>
    <p:sldId id="290" r:id="rId45"/>
    <p:sldId id="291" r:id="rId46"/>
    <p:sldId id="292" r:id="rId47"/>
    <p:sldId id="293" r:id="rId48"/>
    <p:sldId id="294" r:id="rId49"/>
    <p:sldId id="295" r:id="rId50"/>
    <p:sldId id="296" r:id="rId51"/>
    <p:sldId id="297" r:id="rId52"/>
    <p:sldId id="298" r:id="rId53"/>
    <p:sldId id="299" r:id="rId54"/>
    <p:sldId id="300" r:id="rId55"/>
    <p:sldId id="301" r:id="rId56"/>
    <p:sldId id="302" r:id="rId57"/>
    <p:sldId id="303" r:id="rId58"/>
    <p:sldId id="304" r:id="rId59"/>
    <p:sldId id="305" r:id="rId60"/>
    <p:sldId id="306" r:id="rId61"/>
    <p:sldId id="307" r:id="rId62"/>
    <p:sldId id="308" r:id="rId63"/>
    <p:sldId id="309" r:id="rId64"/>
    <p:sldId id="310" r:id="rId65"/>
    <p:sldId id="311" r:id="rId66"/>
    <p:sldId id="312" r:id="rId67"/>
    <p:sldId id="313" r:id="rId68"/>
    <p:sldId id="314" r:id="rId69"/>
    <p:sldId id="315" r:id="rId70"/>
    <p:sldId id="316" r:id="rId71"/>
    <p:sldId id="317" r:id="rId72"/>
    <p:sldId id="318" r:id="rId73"/>
    <p:sldId id="319" r:id="rId74"/>
    <p:sldId id="320" r:id="rId75"/>
    <p:sldId id="321" r:id="rId76"/>
    <p:sldId id="322" r:id="rId77"/>
    <p:sldId id="323" r:id="rId78"/>
    <p:sldId id="324" r:id="rId79"/>
    <p:sldId id="325" r:id="rId80"/>
    <p:sldId id="326" r:id="rId81"/>
    <p:sldId id="327" r:id="rId82"/>
    <p:sldId id="328" r:id="rId83"/>
    <p:sldId id="329" r:id="rId84"/>
    <p:sldId id="330" r:id="rId85"/>
    <p:sldId id="331" r:id="rId86"/>
    <p:sldId id="332" r:id="rId87"/>
    <p:sldId id="333" r:id="rId88"/>
    <p:sldId id="334" r:id="rId89"/>
    <p:sldId id="335" r:id="rId90"/>
    <p:sldId id="336" r:id="rId91"/>
    <p:sldId id="337" r:id="rId92"/>
    <p:sldId id="338" r:id="rId93"/>
    <p:sldId id="339" r:id="rId94"/>
    <p:sldId id="340" r:id="rId95"/>
    <p:sldId id="341" r:id="rId96"/>
    <p:sldId id="342" r:id="rId97"/>
    <p:sldId id="343" r:id="rId98"/>
    <p:sldId id="344" r:id="rId99"/>
    <p:sldId id="345" r:id="rId100"/>
    <p:sldId id="346" r:id="rId101"/>
    <p:sldId id="347" r:id="rId102"/>
    <p:sldId id="348" r:id="rId103"/>
    <p:sldId id="349" r:id="rId104"/>
  </p:sldIdLst>
  <p:sldSz cx="18288000" cy="10287000"/>
  <p:notesSz cx="6858000" cy="9144000"/>
  <p:embeddedFontLst>
    <p:embeddedFont>
      <p:font typeface="Roca Two Bold" charset="1" panose="00000800000000000000"/>
      <p:regular r:id="rId21"/>
    </p:embeddedFont>
    <p:embeddedFont>
      <p:font typeface="Nunito Semi-Bold" charset="1" panose="00000000000000000000"/>
      <p:regular r:id="rId22"/>
    </p:embeddedFont>
    <p:embeddedFont>
      <p:font typeface="Nunito Bold" charset="1" panose="00000000000000000000"/>
      <p:regular r:id="rId23"/>
    </p:embeddedFont>
    <p:embeddedFont>
      <p:font typeface="Nunito Ultra-Bold" charset="1" panose="00000000000000000000"/>
      <p:regular r:id="rId24"/>
    </p:embeddedFont>
  </p:embeddedFontLst>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autoAdjust="0"/>
    <p:restoredTop sz="94622" autoAdjust="0"/>
  </p:normalViewPr>
  <p:slideViewPr>
    <p:cSldViewPr>
      <p:cViewPr varScale="1">
        <p:scale>
          <a:sx n="74" d="100"/>
          <a:sy n="74" d="100"/>
        </p:scale>
        <p:origin x="-1092" y="-90"/>
      </p:cViewPr>
      <p:guideLst>
        <p:guide orient="horz" pos="2160"/>
        <p:guide pos="2880"/>
      </p:guideLst>
    </p:cSldViewPr>
  </p:slideViewPr>
  <p:outlineViewPr>
    <p:cViewPr>
      <p:scale>
        <a:sx n="33" d="100"/>
        <a:sy n="33" d="100"/>
      </p:scale>
      <p:origin x="0" y="0"/>
    </p:cViewPr>
  </p:outlin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esProps" Target="presProps.xml"/><Relationship Id="rId3" Type="http://schemas.openxmlformats.org/officeDocument/2006/relationships/viewProps" Target="viewProps.xml"/><Relationship Id="rId4" Type="http://schemas.openxmlformats.org/officeDocument/2006/relationships/theme" Target="theme/theme1.xml"/><Relationship Id="rId5" Type="http://schemas.openxmlformats.org/officeDocument/2006/relationships/tableStyles" Target="tableStyles.xml"/><Relationship Id="rId21" Type="http://schemas.openxmlformats.org/officeDocument/2006/relationships/font" Target="fonts/font21.fntdata"/><Relationship Id="rId22" Type="http://schemas.openxmlformats.org/officeDocument/2006/relationships/font" Target="fonts/font22.fntdata"/><Relationship Id="rId23" Type="http://schemas.openxmlformats.org/officeDocument/2006/relationships/font" Target="fonts/font23.fntdata"/><Relationship Id="rId24" Type="http://schemas.openxmlformats.org/officeDocument/2006/relationships/font" Target="fonts/font24.fntdata"/><Relationship Id="rId25" Type="http://schemas.openxmlformats.org/officeDocument/2006/relationships/slide" Target="slides/slide16.xml"/><Relationship Id="rId26" Type="http://schemas.openxmlformats.org/officeDocument/2006/relationships/notesMaster" Target="notesMasters/notesMaster1.xml"/><Relationship Id="rId27" Type="http://schemas.openxmlformats.org/officeDocument/2006/relationships/slide" Target="slides/slide17.xml"/><Relationship Id="rId28" Type="http://schemas.openxmlformats.org/officeDocument/2006/relationships/slide" Target="slides/slide18.xml"/><Relationship Id="rId29" Type="http://schemas.openxmlformats.org/officeDocument/2006/relationships/slide" Target="slides/slide19.xml"/><Relationship Id="rId30" Type="http://schemas.openxmlformats.org/officeDocument/2006/relationships/slide" Target="slides/slide20.xml"/><Relationship Id="rId31" Type="http://schemas.openxmlformats.org/officeDocument/2006/relationships/slide" Target="slides/slide21.xml"/><Relationship Id="rId32" Type="http://schemas.openxmlformats.org/officeDocument/2006/relationships/slide" Target="slides/slide22.xml"/><Relationship Id="rId33" Type="http://schemas.openxmlformats.org/officeDocument/2006/relationships/slide" Target="slides/slide23.xml"/><Relationship Id="rId34" Type="http://schemas.openxmlformats.org/officeDocument/2006/relationships/slide" Target="slides/slide24.xml"/><Relationship Id="rId35" Type="http://schemas.openxmlformats.org/officeDocument/2006/relationships/slide" Target="slides/slide25.xml"/><Relationship Id="rId36" Type="http://schemas.openxmlformats.org/officeDocument/2006/relationships/slide" Target="slides/slide26.xml"/><Relationship Id="rId37" Type="http://schemas.openxmlformats.org/officeDocument/2006/relationships/slide" Target="slides/slide27.xml"/><Relationship Id="rId38" Type="http://schemas.openxmlformats.org/officeDocument/2006/relationships/slide" Target="slides/slide28.xml"/><Relationship Id="rId39" Type="http://schemas.openxmlformats.org/officeDocument/2006/relationships/slide" Target="slides/slide29.xml"/><Relationship Id="rId40" Type="http://schemas.openxmlformats.org/officeDocument/2006/relationships/slide" Target="slides/slide30.xml"/><Relationship Id="rId41" Type="http://schemas.openxmlformats.org/officeDocument/2006/relationships/slide" Target="slides/slide31.xml"/><Relationship Id="rId42" Type="http://schemas.openxmlformats.org/officeDocument/2006/relationships/slide" Target="slides/slide32.xml"/><Relationship Id="rId43" Type="http://schemas.openxmlformats.org/officeDocument/2006/relationships/slide" Target="slides/slide33.xml"/><Relationship Id="rId44" Type="http://schemas.openxmlformats.org/officeDocument/2006/relationships/slide" Target="slides/slide34.xml"/><Relationship Id="rId45" Type="http://schemas.openxmlformats.org/officeDocument/2006/relationships/slide" Target="slides/slide35.xml"/><Relationship Id="rId46" Type="http://schemas.openxmlformats.org/officeDocument/2006/relationships/slide" Target="slides/slide36.xml"/><Relationship Id="rId47" Type="http://schemas.openxmlformats.org/officeDocument/2006/relationships/slide" Target="slides/slide37.xml"/><Relationship Id="rId48" Type="http://schemas.openxmlformats.org/officeDocument/2006/relationships/slide" Target="slides/slide38.xml"/><Relationship Id="rId49" Type="http://schemas.openxmlformats.org/officeDocument/2006/relationships/slide" Target="slides/slide39.xml"/><Relationship Id="rId50" Type="http://schemas.openxmlformats.org/officeDocument/2006/relationships/slide" Target="slides/slide40.xml"/><Relationship Id="rId51" Type="http://schemas.openxmlformats.org/officeDocument/2006/relationships/slide" Target="slides/slide41.xml"/><Relationship Id="rId52" Type="http://schemas.openxmlformats.org/officeDocument/2006/relationships/slide" Target="slides/slide42.xml"/><Relationship Id="rId53" Type="http://schemas.openxmlformats.org/officeDocument/2006/relationships/slide" Target="slides/slide43.xml"/><Relationship Id="rId54" Type="http://schemas.openxmlformats.org/officeDocument/2006/relationships/slide" Target="slides/slide44.xml"/><Relationship Id="rId55" Type="http://schemas.openxmlformats.org/officeDocument/2006/relationships/slide" Target="slides/slide45.xml"/><Relationship Id="rId56" Type="http://schemas.openxmlformats.org/officeDocument/2006/relationships/slide" Target="slides/slide46.xml"/><Relationship Id="rId57" Type="http://schemas.openxmlformats.org/officeDocument/2006/relationships/slide" Target="slides/slide47.xml"/><Relationship Id="rId58" Type="http://schemas.openxmlformats.org/officeDocument/2006/relationships/slide" Target="slides/slide48.xml"/><Relationship Id="rId59" Type="http://schemas.openxmlformats.org/officeDocument/2006/relationships/slide" Target="slides/slide49.xml"/><Relationship Id="rId60" Type="http://schemas.openxmlformats.org/officeDocument/2006/relationships/slide" Target="slides/slide50.xml"/><Relationship Id="rId61" Type="http://schemas.openxmlformats.org/officeDocument/2006/relationships/slide" Target="slides/slide51.xml"/><Relationship Id="rId62" Type="http://schemas.openxmlformats.org/officeDocument/2006/relationships/slide" Target="slides/slide52.xml"/><Relationship Id="rId63" Type="http://schemas.openxmlformats.org/officeDocument/2006/relationships/slide" Target="slides/slide53.xml"/><Relationship Id="rId64" Type="http://schemas.openxmlformats.org/officeDocument/2006/relationships/slide" Target="slides/slide54.xml"/><Relationship Id="rId65" Type="http://schemas.openxmlformats.org/officeDocument/2006/relationships/slide" Target="slides/slide55.xml"/><Relationship Id="rId66" Type="http://schemas.openxmlformats.org/officeDocument/2006/relationships/slide" Target="slides/slide56.xml"/><Relationship Id="rId67" Type="http://schemas.openxmlformats.org/officeDocument/2006/relationships/slide" Target="slides/slide57.xml"/><Relationship Id="rId68" Type="http://schemas.openxmlformats.org/officeDocument/2006/relationships/slide" Target="slides/slide58.xml"/><Relationship Id="rId69" Type="http://schemas.openxmlformats.org/officeDocument/2006/relationships/slide" Target="slides/slide59.xml"/><Relationship Id="rId70" Type="http://schemas.openxmlformats.org/officeDocument/2006/relationships/slide" Target="slides/slide60.xml"/><Relationship Id="rId71" Type="http://schemas.openxmlformats.org/officeDocument/2006/relationships/slide" Target="slides/slide61.xml"/><Relationship Id="rId72" Type="http://schemas.openxmlformats.org/officeDocument/2006/relationships/slide" Target="slides/slide62.xml"/><Relationship Id="rId73" Type="http://schemas.openxmlformats.org/officeDocument/2006/relationships/slide" Target="slides/slide63.xml"/><Relationship Id="rId74" Type="http://schemas.openxmlformats.org/officeDocument/2006/relationships/slide" Target="slides/slide64.xml"/><Relationship Id="rId75" Type="http://schemas.openxmlformats.org/officeDocument/2006/relationships/slide" Target="slides/slide65.xml"/><Relationship Id="rId76" Type="http://schemas.openxmlformats.org/officeDocument/2006/relationships/slide" Target="slides/slide66.xml"/><Relationship Id="rId77" Type="http://schemas.openxmlformats.org/officeDocument/2006/relationships/slide" Target="slides/slide67.xml"/><Relationship Id="rId78" Type="http://schemas.openxmlformats.org/officeDocument/2006/relationships/slide" Target="slides/slide68.xml"/><Relationship Id="rId79" Type="http://schemas.openxmlformats.org/officeDocument/2006/relationships/slide" Target="slides/slide69.xml"/><Relationship Id="rId80" Type="http://schemas.openxmlformats.org/officeDocument/2006/relationships/slide" Target="slides/slide70.xml"/><Relationship Id="rId81" Type="http://schemas.openxmlformats.org/officeDocument/2006/relationships/slide" Target="slides/slide71.xml"/><Relationship Id="rId82" Type="http://schemas.openxmlformats.org/officeDocument/2006/relationships/slide" Target="slides/slide72.xml"/><Relationship Id="rId83" Type="http://schemas.openxmlformats.org/officeDocument/2006/relationships/slide" Target="slides/slide73.xml"/><Relationship Id="rId84" Type="http://schemas.openxmlformats.org/officeDocument/2006/relationships/slide" Target="slides/slide74.xml"/><Relationship Id="rId85" Type="http://schemas.openxmlformats.org/officeDocument/2006/relationships/slide" Target="slides/slide75.xml"/><Relationship Id="rId86" Type="http://schemas.openxmlformats.org/officeDocument/2006/relationships/slide" Target="slides/slide76.xml"/><Relationship Id="rId87" Type="http://schemas.openxmlformats.org/officeDocument/2006/relationships/slide" Target="slides/slide77.xml"/><Relationship Id="rId88" Type="http://schemas.openxmlformats.org/officeDocument/2006/relationships/slide" Target="slides/slide78.xml"/><Relationship Id="rId89" Type="http://schemas.openxmlformats.org/officeDocument/2006/relationships/slide" Target="slides/slide79.xml"/><Relationship Id="rId90" Type="http://schemas.openxmlformats.org/officeDocument/2006/relationships/slide" Target="slides/slide80.xml"/><Relationship Id="rId91" Type="http://schemas.openxmlformats.org/officeDocument/2006/relationships/slide" Target="slides/slide81.xml"/><Relationship Id="rId92" Type="http://schemas.openxmlformats.org/officeDocument/2006/relationships/slide" Target="slides/slide82.xml"/><Relationship Id="rId93" Type="http://schemas.openxmlformats.org/officeDocument/2006/relationships/slide" Target="slides/slide83.xml"/><Relationship Id="rId94" Type="http://schemas.openxmlformats.org/officeDocument/2006/relationships/slide" Target="slides/slide84.xml"/><Relationship Id="rId95" Type="http://schemas.openxmlformats.org/officeDocument/2006/relationships/slide" Target="slides/slide85.xml"/><Relationship Id="rId96" Type="http://schemas.openxmlformats.org/officeDocument/2006/relationships/slide" Target="slides/slide86.xml"/><Relationship Id="rId97" Type="http://schemas.openxmlformats.org/officeDocument/2006/relationships/slide" Target="slides/slide87.xml"/><Relationship Id="rId98" Type="http://schemas.openxmlformats.org/officeDocument/2006/relationships/slide" Target="slides/slide88.xml"/><Relationship Id="rId99" Type="http://schemas.openxmlformats.org/officeDocument/2006/relationships/slide" Target="slides/slide89.xml"/><Relationship Id="rId100" Type="http://schemas.openxmlformats.org/officeDocument/2006/relationships/slide" Target="slides/slide90.xml"/><Relationship Id="rId101" Type="http://schemas.openxmlformats.org/officeDocument/2006/relationships/slide" Target="slides/slide91.xml"/><Relationship Id="rId102" Type="http://schemas.openxmlformats.org/officeDocument/2006/relationships/slide" Target="slides/slide92.xml"/><Relationship Id="rId103" Type="http://schemas.openxmlformats.org/officeDocument/2006/relationships/slide" Target="slides/slide93.xml"/><Relationship Id="rId104" Type="http://schemas.openxmlformats.org/officeDocument/2006/relationships/slide" Target="slides/slide9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1.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2.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3.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4.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5.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6.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7.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8.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9.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0.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1.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2.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3.xml"/></Relationships>
</file>

<file path=ppt/notesSlides/_rels/notesSlide3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4.xml"/></Relationships>
</file>

<file path=ppt/notesSlides/_rels/notesSlide4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5.xml"/></Relationships>
</file>

<file path=ppt/notesSlides/_rels/notesSlide4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6.xml"/></Relationships>
</file>

<file path=ppt/notesSlides/_rels/notesSlide4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7.xml"/></Relationships>
</file>

<file path=ppt/notesSlides/_rels/notesSlide4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8.xml"/></Relationships>
</file>

<file path=ppt/notesSlides/_rels/notesSlide4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9.xml"/></Relationships>
</file>

<file path=ppt/notesSlides/_rels/notesSlide4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0.xml"/></Relationships>
</file>

<file path=ppt/notesSlides/_rels/notesSlide4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1.xml"/></Relationships>
</file>

<file path=ppt/notesSlides/_rels/notesSlide4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2.xml"/></Relationships>
</file>

<file path=ppt/notesSlides/_rels/notesSlide4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3.xml"/></Relationships>
</file>

<file path=ppt/notesSlides/_rels/notesSlide4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4.xml"/></Relationships>
</file>

<file path=ppt/notesSlides/_rels/notesSlide5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5.xml"/></Relationships>
</file>

<file path=ppt/notesSlides/_rels/notesSlide5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6.xml"/></Relationships>
</file>

<file path=ppt/notesSlides/_rels/notesSlide5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7.xml"/></Relationships>
</file>

<file path=ppt/notesSlides/_rels/notesSlide5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8.xml"/></Relationships>
</file>

<file path=ppt/notesSlides/_rels/notesSlide5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9.xml"/></Relationships>
</file>

<file path=ppt/notesSlides/_rels/notesSlide5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0.xml"/></Relationships>
</file>

<file path=ppt/notesSlides/_rels/notesSlide5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1.xml"/></Relationships>
</file>

<file path=ppt/notesSlides/_rels/notesSlide5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2.xml"/></Relationships>
</file>

<file path=ppt/notesSlides/_rels/notesSlide5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3.xml"/></Relationships>
</file>

<file path=ppt/notesSlides/_rels/notesSlide5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4.xml"/></Relationships>
</file>

<file path=ppt/notesSlides/_rels/notesSlide6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5.xml"/></Relationships>
</file>

<file path=ppt/notesSlides/_rels/notesSlide6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6.xml"/></Relationships>
</file>

<file path=ppt/notesSlides/_rels/notesSlide6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7.xml"/></Relationships>
</file>

<file path=ppt/notesSlides/_rels/notesSlide6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8.xml"/></Relationships>
</file>

<file path=ppt/notesSlides/_rels/notesSlide6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9.xml"/></Relationships>
</file>

<file path=ppt/notesSlides/_rels/notesSlide6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0.xml"/></Relationships>
</file>

<file path=ppt/notesSlides/_rels/notesSlide6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1.xml"/></Relationships>
</file>

<file path=ppt/notesSlides/_rels/notesSlide6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2.xml"/></Relationships>
</file>

<file path=ppt/notesSlides/_rels/notesSlide6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3.xml"/></Relationships>
</file>

<file path=ppt/notesSlides/_rels/notesSlide6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4.xml"/></Relationships>
</file>

<file path=ppt/notesSlides/_rels/notesSlide7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5.xml"/></Relationships>
</file>

<file path=ppt/notesSlides/_rels/notesSlide7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6.xml"/></Relationships>
</file>

<file path=ppt/notesSlides/_rels/notesSlide7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7.xml"/></Relationships>
</file>

<file path=ppt/notesSlides/_rels/notesSlide7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8.xml"/></Relationships>
</file>

<file path=ppt/notesSlides/_rels/notesSlide7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9.xml"/></Relationships>
</file>

<file path=ppt/notesSlides/_rels/notesSlide7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0.xml"/></Relationships>
</file>

<file path=ppt/notesSlides/_rels/notesSlide7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1.xml"/></Relationships>
</file>

<file path=ppt/notesSlides/_rels/notesSlide7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2.xml"/></Relationships>
</file>

<file path=ppt/notesSlides/_rels/notesSlide7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3.xml"/></Relationships>
</file>

<file path=ppt/notesSlides/_rels/notesSlide7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4.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Good morning, Mister President. Good morning, Professors. Thank you for the opportunity to present my work. I am Mouad Louhichi, and the thesis I am defending, supervised by Professor Mohamed Lazaar, is entitled: Cooperative Game Theory for Explainable AI in Recommendation Systems, A Shapley Framework for Actionable Insight. Keep one idea in mind: Shapley attribution is not just a way to explain a model after training. I show how it becomes one framework that explains black-box models, stays consistent across levels of detail, and guides how recommenders learn.</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 here is the plan for the next forty minutes. I will start with the motivation and the concept of actionable insight, then the research context, the limitations and the research questions. Then the common experimental protocol, and the three contributions, each following the same path: the gap, the objectives, the methodology, the protocol, the results and the findings. I will close with the outcomes and the perspectives.</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Let me start with the motivation. The first question is simple: why has explainability become a core requirement for modern recommenders?</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Recommenders now decide what we see, watch and buy. They are accurate, but their reasoning is hard to understand. Three questions drive this thesis. First, scale: these models shape the experience of billions of users. Second, transparency: even state-of-the-art recommenders and clustering pipelines are often black boxes. Third, trust: can we build transparency into the model itself, instead of adding explanations later? And the thesis starts from one idea: accuracy and interpretability are two goals to achieve together, not competing objectives.</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That brings me to the definition the thesis turns on. An explanation is actionable when it points to something we can actually change, and changing it clearly affects the output. It must be expressed in the language of the domain: acidity in wine, pollution in air quality, user preferences in recommenders. So a good explanation does not only describe what happened, it tells us what to change to improve the outcome.</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Now the context. The history of this field is also the history of the interpretability problem. Early similarity-based approaches were easy to explain because they used visible features. Matrix factorization improved accuracy and scale, but hid the meaning in latent factors. Neural and graph models added power through hidden representations and message passing, and hypergraphs added richer relationships. At each step we gained predictive power while losing transparency. That growing gap is what this thesis addresses.</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These are not only theoretical models. Netflix, Spotify, Amazon and Yelp already personalize the experience of millions of users. The performance is impressive, yet the user rarely knows why a specific item was selected. That is the situation this work starts from.</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Now I will move from the motivation to the research problem. So, to see where the difficulty comes from, I will briefly review the main approaches and their limitations.</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first family is content-based filtering. The principle is simple: the system recommends items according to their characteristics and the user's previous preferences. So it is naturally explainable, because the reason is a visible feature. But it needs rich metadata, and it tends to over-specialize on what the user already knows.</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second family is collaborative filtering. Here, the system does not use item features. Instead, it learns from the behaviour of similar users. And that can discover hidden patterns from interactions. But it suffers from the cold-start problem, because new users and new items have little history.</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third family combines hybrid approaches and matrix factorization. Matrix factorization is accurate and scalable, so it became very successful. But the learned user and item factors are latent, and their meaning is unknown. This is where the gap between accuracy and interpretability starts to grow.</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fourth family, and the most important for this thesis, is graph and hypergraph recommendation. These approaches represent users, items and interactions as connected structures, and through message passing they capture more complex relationships. Hypergraphs go further by joining a user, an item and a context in one relation. But the importance of each message remains hidden, so the model cannot explain which relationships actually mattered.</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 this evolution leaves four limitations. The first is data sparsity: the interaction matrix is almost empty. The second is cold-start: new users and items have no history. The third is popularity bias: popular items get more exposure. And the one this thesis targets is the absence of interpretability. For clustering, it is even harder, because existing methods give either local or global explanations, but rarely both consistently.</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These observations lead to three problems that shape this research. First, complex models are hard to explain in a way that is both faithful and actionable. Second, explanations often do not scale to large or multi-level data. And third, they are produced after training, so they describe the model without influencing how it learns. The central idea here is that Shapley attribution can address all three under one cooperative-game framework.</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From this gap, five research questions follow. The first asks how Shapley values can explain black-box clustering faithfully, at both instance and cluster level. The second asks how this can extend to large-scale, multi-level clustering while staying consistent. The third moves beyond explanation and asks whether attribution can become part of how recommenders learn. The fourth asks whether this also improves ranking, context and diversity. And the fifth asks what we gain by reading both tasks through one cooperative-game view.</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These questions lead to three contributions. The first introduces a Shapley framework for explaining black-box clustering, evaluated on Wine Quality. The second extends it to large-scale multi-level clustering on Beijing Air Quality, with a formal guarantee of consistency across levels. And the third, DyHuCoG, integrates cooperative attribution directly into hypergraph recommendation learning. Together they follow one progression: explain, scale, and finally act.</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Before presenting the contributions, I will first describe the common experimental protocol used throughout the thesis. The objective is to make the evaluation consistent and reproducible across all experiments. I will present the datasets, the baselines, the evaluation metrics, and the computational environment.</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Four datasets are used, covering both tasks: Wine Quality and Beijing Air Quality for clustering, MovieLens-1M and Amazon-Book for recommendation. The first dataset is the Portuguese White Wine Quality dataset. It contains 4,898 samples described by 11 physicochemical measurements, including acidity, density, sulphates, and alcohol. This dataset is particularly suitable for the first contribution because every variable has a clear meaning in the real domain. So when the explanation identifies an important factor, it can directly correspond to something a wine expert can understand and potentially influence.</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second dataset is Beijing Multi-Site Air Quality. It contains 383,585 hourly observations collected from monitoring stations, including pollutant measurements and weather variables. Compared with wine data, this dataset introduces several additional challenges: much larger scale, environmental complexity, and temporal variation. This makes it an appropriate test case for evaluating whether explanations can remain meaningful in large multi-level structures.</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For recommendation experiments, two datasets are considered. The first one is MovieLens-1M, containing approximately one million ratings from more than six thousand users over thousands of movies. It is a standard benchmark widely used in recommendation research, allowing comparison with existing methods.</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second is Amazon-Book, which is much more sparse, with millions of interactions but a very low user-item density. This allows us to evaluate whether the proposed method remains effective when the available signal is limited.</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Regarding the experimental design, reproducibility and prevention of data leakage are important considerations. For clustering experiments, cross-validation is used. For recommendation experiments, I use user-level time-ordered splits with validation-based early stopping. All experiments are repeated using multiple random seeds to ensure that the results are not dependent on a specific initialization.</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proposed approaches are compared with strong existing baselines. For clustering explanation, the main comparison is performed against LIME-based explanations, which represent one of the most common post-hoc explanation approaches. For recommendation, the comparison includes classical matrix factorization methods and recent graph and hypergraph recommenders, including HPCF.</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Different evaluation metrics are used depending on the task. For recommendation, NDCG@20 is used as the main ranking metric. Also, coverage and intra-list diversity are evaluated because recommendation quality is not only about accuracy, but also about providing diverse and less biased results. For clustering, metrics such as Silhouette and Davies-Bouldin are used to evaluate the quality of the obtained partitions. These metrics allow us to evaluate both model performance and the quality of the explanations.</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Finally, regarding the computational environment, clustering experiments were performed on a standard workstation, while recommendation experiments, especially DyHuCoG training, were performed using an RTX 4090 GPU. These configurations allow us to evaluate not only the performance of the proposed approaches, but also their practical computational requirements.</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With this experimental framework established, I can now move to the first contribution of this thesis. The objective here is to answer the following question: can we explain the decisions of a black-box clustering model using a principled attribution method?</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difficulty comes from the nature of clustering itself. Unlike supervised learning, clustering does not have a predefined target variable. The model discovers groups directly from the data, which makes understanding the reason behind each cluster more challenging. Existing explanation approaches usually focus either on individual instances or on global cluster descriptions, but they rarely provide a unified explanation at both levels. So the first contribution investigates how Shapley attribution can provide a faithful explanation framework for black-box clustering.</a:t>
            </a:r>
          </a:p>
        </p:txBody>
      </p:sp>
      <p:sp>
        <p:nvSpPr>
          <p:cNvPr id="4" name="Slide Number Placeholder 3"/>
          <p:cNvSpPr>
            <a:spLocks noGrp="1"/>
          </p:cNvSpPr>
          <p:nvPr>
            <p:ph type="sldNum" idx="5" sz="quarter"/>
          </p:nvPr>
        </p:nvSpPr>
        <p:spPr/>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contribution has three main objectives. The first objective is to provide explanations at both cluster level and individual sample level. The second objective is to keep the explanations in the original feature space, because explanations are only useful when domain experts can understand them. The third objective is to rely on a theoretically grounded attribution method based on cooperative game theory.</a:t>
            </a:r>
          </a:p>
        </p:txBody>
      </p:sp>
      <p:sp>
        <p:nvSpPr>
          <p:cNvPr id="4" name="Slide Number Placeholder 3"/>
          <p:cNvSpPr>
            <a:spLocks noGrp="1"/>
          </p:cNvSpPr>
          <p:nvPr>
            <p:ph type="sldNum" idx="5" sz="quarter"/>
          </p:nvPr>
        </p:nvSpPr>
        <p:spPr/>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Before the methodology, let me introduce the mathematical foundation of this work: cooperative game theory. In a cooperative game, we have a set of players, possible coalitions between these players, and a value function that measures the contribution of each coalition. The main question is how to fairly distribute the total contribution among the different players. The Shapley value provides this solution by calculating the average marginal contribution of each player across all possible orders of participation. In this thesis, the players are the input features, and the Shapley value measures how much each feature contributes to the clustering result.</a:t>
            </a:r>
          </a:p>
        </p:txBody>
      </p:sp>
      <p:sp>
        <p:nvSpPr>
          <p:cNvPr id="4" name="Slide Number Placeholder 3"/>
          <p:cNvSpPr>
            <a:spLocks noGrp="1"/>
          </p:cNvSpPr>
          <p:nvPr>
            <p:ph type="sldNum" idx="5" sz="quarter"/>
          </p:nvPr>
        </p:nvSpPr>
        <p:spPr/>
      </p:sp>
    </p:spTree>
  </p:cSld>
  <p:clrMapOvr>
    <a:masterClrMapping/>
  </p:clrMapOvr>
</p:notes>
</file>

<file path=ppt/notesSlides/notesSlide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To apply Shapley values to clustering, the clustering problem is reformulated as a cooperative game. The players correspond to the features, and the value function represents the quality of the clustering obtained using a subset of features. In this work, the Silhouette score is used to measure this quality. But evaluating every possible feature coalition is computationally expensive. So a surrogate model is introduced to approximate the clustering decisions and make Shapley computation practical.</a:t>
            </a:r>
          </a:p>
        </p:txBody>
      </p:sp>
      <p:sp>
        <p:nvSpPr>
          <p:cNvPr id="4" name="Slide Number Placeholder 3"/>
          <p:cNvSpPr>
            <a:spLocks noGrp="1"/>
          </p:cNvSpPr>
          <p:nvPr>
            <p:ph type="sldNum" idx="5" sz="quarter"/>
          </p:nvPr>
        </p:nvSpPr>
        <p:spPr/>
      </p:sp>
    </p:spTree>
  </p:cSld>
  <p:clrMapOvr>
    <a:masterClrMapping/>
  </p:clrMapOvr>
</p:notes>
</file>

<file path=ppt/notesSlides/notesSlide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proposed pipeline contains four main steps. First, K-Means is applied to create the initial clusters. Second, a LightGBM classifier is trained to reproduce these cluster assignments. Third, TreeSHAP is applied to this surrogate model to compute feature contributions. Finally, the obtained explanations are compared with LIME. The key point is that the surrogate model must faithfully represent the original clustering behaviour.</a:t>
            </a:r>
          </a:p>
        </p:txBody>
      </p:sp>
      <p:sp>
        <p:nvSpPr>
          <p:cNvPr id="4" name="Slide Number Placeholder 3"/>
          <p:cNvSpPr>
            <a:spLocks noGrp="1"/>
          </p:cNvSpPr>
          <p:nvPr>
            <p:ph type="sldNum" idx="5" sz="quarter"/>
          </p:nvPr>
        </p:nvSpPr>
        <p:spPr/>
      </p:sp>
    </p:spTree>
  </p:cSld>
  <p:clrMapOvr>
    <a:masterClrMapping/>
  </p:clrMapOvr>
</p:notes>
</file>

<file path=ppt/notesSlides/notesSlide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One important choice concerns the number of clusters. From a purely geometric perspective, two clusters provide the best separation according to the clustering metrics. But three clusters are selected because they provide more meaningful chemical interpretations. This choice illustrates an important principle of this thesis: the goal is not only to optimize mathematical criteria, but also to obtain explanations that can support human understanding and decision-making.</a:t>
            </a:r>
          </a:p>
        </p:txBody>
      </p:sp>
      <p:sp>
        <p:nvSpPr>
          <p:cNvPr id="4" name="Slide Number Placeholder 3"/>
          <p:cNvSpPr>
            <a:spLocks noGrp="1"/>
          </p:cNvSpPr>
          <p:nvPr>
            <p:ph type="sldNum" idx="5" sz="quarter"/>
          </p:nvPr>
        </p:nvSpPr>
        <p:spPr/>
      </p:sp>
    </p:spTree>
  </p:cSld>
  <p:clrMapOvr>
    <a:masterClrMapping/>
  </p:clrMapOvr>
</p:notes>
</file>

<file path=ppt/notesSlides/notesSlide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results show that several variables play a major role in explaining the wine clusters. The most important factors include density, pH, acidity, sulfur dioxide variables, and alcohol content. These variables are meaningful because they correspond to real physicochemical properties of wine. More importantly, the explanation is not limited to a global ranking. It also shows that different clusters are characterized by different combinations of important variables.</a:t>
            </a:r>
          </a:p>
        </p:txBody>
      </p:sp>
      <p:sp>
        <p:nvSpPr>
          <p:cNvPr id="4" name="Slide Number Placeholder 3"/>
          <p:cNvSpPr>
            <a:spLocks noGrp="1"/>
          </p:cNvSpPr>
          <p:nvPr>
            <p:ph type="sldNum" idx="5" sz="quarter"/>
          </p:nvPr>
        </p:nvSpPr>
        <p:spPr/>
      </p:sp>
    </p:spTree>
  </p:cSld>
  <p:clrMapOvr>
    <a:masterClrMapping/>
  </p:clrMapOvr>
</p:notes>
</file>

<file path=ppt/notesSlides/notesSlide3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allows us to answer the first research question. Shapley values can explain black-box clustering when the surrogate model provides sufficient fidelity. They provide both global and local explanations while keeping the attribution connected to the original features. Compared with approaches such as LIME, the main advantage is that Shapley values are based on a formal cooperative-game foundation with desirable properties such as fairness and consistency.</a:t>
            </a:r>
          </a:p>
        </p:txBody>
      </p:sp>
      <p:sp>
        <p:nvSpPr>
          <p:cNvPr id="4" name="Slide Number Placeholder 3"/>
          <p:cNvSpPr>
            <a:spLocks noGrp="1"/>
          </p:cNvSpPr>
          <p:nvPr>
            <p:ph type="sldNum" idx="5" sz="quarter"/>
          </p:nvPr>
        </p:nvSpPr>
        <p:spPr/>
      </p:sp>
    </p:spTree>
  </p:cSld>
  <p:clrMapOvr>
    <a:masterClrMapping/>
  </p:clrMapOvr>
</p:notes>
</file>

<file path=ppt/notesSlides/notesSlide3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To summarize Contribution I, the main achievement is the introduction of a Shapley-based framework for explaining black-box clustering. The approach provides explanations at different levels while maintaining the meaning of the original variables. So the explanations are not only mathematically grounded, but also understandable from a domain perspective.</a:t>
            </a:r>
          </a:p>
        </p:txBody>
      </p:sp>
      <p:sp>
        <p:nvSpPr>
          <p:cNvPr id="4" name="Slide Number Placeholder 3"/>
          <p:cNvSpPr>
            <a:spLocks noGrp="1"/>
          </p:cNvSpPr>
          <p:nvPr>
            <p:ph type="sldNum" idx="5" sz="quarter"/>
          </p:nvPr>
        </p:nvSpPr>
        <p:spPr/>
      </p:sp>
    </p:spTree>
  </p:cSld>
  <p:clrMapOvr>
    <a:masterClrMapping/>
  </p:clrMapOvr>
</p:notes>
</file>

<file path=ppt/notesSlides/notesSlide3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But this first contribution also presents some limitations. First, the quality of the explanation depends on the fidelity of the surrogate model. Second, the evaluation is performed on tabular data, so the generalization to other data types remains open. Finally, the explanation remains single-level. It explains one clustering structure, but does not explain how feature importance changes across different levels of organization. This limitation motivates the second contribution.</a:t>
            </a:r>
          </a:p>
        </p:txBody>
      </p:sp>
      <p:sp>
        <p:nvSpPr>
          <p:cNvPr id="4" name="Slide Number Placeholder 3"/>
          <p:cNvSpPr>
            <a:spLocks noGrp="1"/>
          </p:cNvSpPr>
          <p:nvPr>
            <p:ph type="sldNum" idx="5" sz="quarter"/>
          </p:nvPr>
        </p:nvSpPr>
        <p:spPr/>
      </p:sp>
    </p:spTree>
  </p:cSld>
  <p:clrMapOvr>
    <a:masterClrMapping/>
  </p:clrMapOvr>
</p:notes>
</file>

<file path=ppt/notesSlides/notesSlide3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main takeaway from Contribution I is that Shapley attribution provides a principled way to understand an unsupervised model. But real-world datasets are often much larger and may contain hierarchical structures. So the next question is whether the same explanation principle can remain meaningful when moving from one level of analysis to several levels.</a:t>
            </a:r>
          </a:p>
        </p:txBody>
      </p:sp>
      <p:sp>
        <p:nvSpPr>
          <p:cNvPr id="4" name="Slide Number Placeholder 3"/>
          <p:cNvSpPr>
            <a:spLocks noGrp="1"/>
          </p:cNvSpPr>
          <p:nvPr>
            <p:ph type="sldNum" idx="5" sz="quarter"/>
          </p:nvPr>
        </p:nvSpPr>
        <p:spPr/>
      </p:sp>
    </p:spTree>
  </p:cSld>
  <p:clrMapOvr>
    <a:masterClrMapping/>
  </p:clrMapOvr>
</p:notes>
</file>

<file path=ppt/notesSlides/notesSlide3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brings me to the second contribution of the thesis. The objective is to extend Shapley-based explanation from single-level clustering to large-scale and multi-level clustering. This contribution addresses the second research question.</a:t>
            </a:r>
          </a:p>
        </p:txBody>
      </p:sp>
      <p:sp>
        <p:nvSpPr>
          <p:cNvPr id="4" name="Slide Number Placeholder 3"/>
          <p:cNvSpPr>
            <a:spLocks noGrp="1"/>
          </p:cNvSpPr>
          <p:nvPr>
            <p:ph type="sldNum" idx="5" sz="quarter"/>
          </p:nvPr>
        </p:nvSpPr>
        <p:spPr/>
      </p:sp>
    </p:spTree>
  </p:cSld>
  <p:clrMapOvr>
    <a:masterClrMapping/>
  </p:clrMapOvr>
</p:notes>
</file>

<file path=ppt/notesSlides/notesSlide3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challenge in this case is not only scale, but also consistency across levels. When a large cluster is divided into smaller sub-clusters, the explanation should help us understand both the global structure and the specific characteristics of each sub-group. But existing approaches do not provide a formal relationship between the explanation of a parent cluster and the explanations of its children. This is the main research gap addressed in this contribution.</a:t>
            </a:r>
          </a:p>
        </p:txBody>
      </p:sp>
      <p:sp>
        <p:nvSpPr>
          <p:cNvPr id="4" name="Slide Number Placeholder 3"/>
          <p:cNvSpPr>
            <a:spLocks noGrp="1"/>
          </p:cNvSpPr>
          <p:nvPr>
            <p:ph type="sldNum" idx="5" sz="quarter"/>
          </p:nvPr>
        </p:nvSpPr>
        <p:spPr/>
      </p:sp>
    </p:spTree>
  </p:cSld>
  <p:clrMapOvr>
    <a:masterClrMapping/>
  </p:clrMapOvr>
</p:notes>
</file>

<file path=ppt/notesSlides/notesSlide4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contribution has three objectives. First, to design a multi-level explanation framework where each level has its own surrogate model. Second, to establish a formal relationship between explanations at different levels of the hierarchy. Third, to evaluate whether this framework remains practical and meaningful on a large environmental dataset.</a:t>
            </a:r>
          </a:p>
        </p:txBody>
      </p:sp>
      <p:sp>
        <p:nvSpPr>
          <p:cNvPr id="4" name="Slide Number Placeholder 3"/>
          <p:cNvSpPr>
            <a:spLocks noGrp="1"/>
          </p:cNvSpPr>
          <p:nvPr>
            <p:ph type="sldNum" idx="5" sz="quarter"/>
          </p:nvPr>
        </p:nvSpPr>
        <p:spPr/>
      </p:sp>
    </p:spTree>
  </p:cSld>
  <p:clrMapOvr>
    <a:masterClrMapping/>
  </p:clrMapOvr>
</p:notes>
</file>

<file path=ppt/notesSlides/notesSlide4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proposed approach follows a recursive strategy. First, the complete dataset is partitioned into coarse clusters. Then, each cluster can be further divided into smaller sub-clusters. At every level, a surrogate model is trained and SHAP values are computed using the same original feature space. This allows the importance of variables to be compared across different levels while preserving interpretability.</a:t>
            </a:r>
          </a:p>
        </p:txBody>
      </p:sp>
      <p:sp>
        <p:nvSpPr>
          <p:cNvPr id="4" name="Slide Number Placeholder 3"/>
          <p:cNvSpPr>
            <a:spLocks noGrp="1"/>
          </p:cNvSpPr>
          <p:nvPr>
            <p:ph type="sldNum" idx="5" sz="quarter"/>
          </p:nvPr>
        </p:nvSpPr>
        <p:spPr/>
      </p:sp>
    </p:spTree>
  </p:cSld>
  <p:clrMapOvr>
    <a:masterClrMapping/>
  </p:clrMapOvr>
</p:notes>
</file>

<file path=ppt/notesSlides/notesSlide4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main theoretical contribution of this work is Proposition 6.1. This proposition establishes a relationship between the explanation of a parent cluster and the explanations of its child clusters. The parent attribution can be expressed as a size-weighted combination of child attributions, plus a residual term. This residual mainly reflects the difference introduced by surrogate approximation. So changes in importance across levels are not considered inconsistencies, but rather structured variations that can be interpreted.</a:t>
            </a:r>
          </a:p>
        </p:txBody>
      </p:sp>
      <p:sp>
        <p:nvSpPr>
          <p:cNvPr id="4" name="Slide Number Placeholder 3"/>
          <p:cNvSpPr>
            <a:spLocks noGrp="1"/>
          </p:cNvSpPr>
          <p:nvPr>
            <p:ph type="sldNum" idx="5" sz="quarter"/>
          </p:nvPr>
        </p:nvSpPr>
        <p:spPr/>
      </p:sp>
    </p:spTree>
  </p:cSld>
  <p:clrMapOvr>
    <a:masterClrMapping/>
  </p:clrMapOvr>
</p:notes>
</file>

<file path=ppt/notesSlides/notesSlide4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experimental protocol follows the same general principles as the first contribution. The Beijing Air Quality dataset is first clustered at a global level. Then, each cluster is further divided to create a multi-level structure. At each level, a dedicated surrogate model is trained and SHAP explanations are computed. Finally, the proposed relationship is evaluated through aggregation and sensitivity analysis.</a:t>
            </a:r>
          </a:p>
        </p:txBody>
      </p:sp>
      <p:sp>
        <p:nvSpPr>
          <p:cNvPr id="4" name="Slide Number Placeholder 3"/>
          <p:cNvSpPr>
            <a:spLocks noGrp="1"/>
          </p:cNvSpPr>
          <p:nvPr>
            <p:ph type="sldNum" idx="5" sz="quarter"/>
          </p:nvPr>
        </p:nvSpPr>
        <p:spPr/>
      </p:sp>
    </p:spTree>
  </p:cSld>
  <p:clrMapOvr>
    <a:masterClrMapping/>
  </p:clrMapOvr>
</p:notes>
</file>

<file path=ppt/notesSlides/notesSlide4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clustering results show that the obtained structure is meaningful. The selected solution achieves a Silhouette score of approximately 0.63 and a Davies-Bouldin score around 0.55. The stability analysis also shows that the conclusions remain consistent under changes in modelling parameters such as the number of clusters, projection dimension, and surrogate complexity.</a:t>
            </a:r>
          </a:p>
        </p:txBody>
      </p:sp>
      <p:sp>
        <p:nvSpPr>
          <p:cNvPr id="4" name="Slide Number Placeholder 3"/>
          <p:cNvSpPr>
            <a:spLocks noGrp="1"/>
          </p:cNvSpPr>
          <p:nvPr>
            <p:ph type="sldNum" idx="5" sz="quarter"/>
          </p:nvPr>
        </p:nvSpPr>
        <p:spPr/>
      </p:sp>
    </p:spTree>
  </p:cSld>
  <p:clrMapOvr>
    <a:masterClrMapping/>
  </p:clrMapOvr>
</p:notes>
</file>

<file path=ppt/notesSlides/notesSlide4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global explanation reveals an interesting environmental interpretation. The most important variables are temperature, dew point, and pressure, followed by pollutants such as carbon monoxide, nitrogen dioxide, and particulate matter. This shows that pollution patterns are not determined only by pollutant concentrations themselves. Weather conditions influence how pollutants accumulate, disperse, and interact.</a:t>
            </a:r>
          </a:p>
        </p:txBody>
      </p:sp>
      <p:sp>
        <p:nvSpPr>
          <p:cNvPr id="4" name="Slide Number Placeholder 3"/>
          <p:cNvSpPr>
            <a:spLocks noGrp="1"/>
          </p:cNvSpPr>
          <p:nvPr>
            <p:ph type="sldNum" idx="5" sz="quarter"/>
          </p:nvPr>
        </p:nvSpPr>
        <p:spPr/>
      </p:sp>
    </p:spTree>
  </p:cSld>
  <p:clrMapOvr>
    <a:masterClrMapping/>
  </p:clrMapOvr>
</p:notes>
</file>

<file path=ppt/notesSlides/notesSlide4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When moving from the global level to individual clusters, the explanation changes. At the global level, variables such as temperature and dew point explain the main environmental regimes. But inside each regime, different variables become important. For example, one cluster may be characterized by warmer conditions and ozone-related behaviour, while another may correspond to winter pollution involving particulate matter and other pollutants. These differences are not contradictions. They provide a more detailed understanding of the data structure.</a:t>
            </a:r>
          </a:p>
        </p:txBody>
      </p:sp>
      <p:sp>
        <p:nvSpPr>
          <p:cNvPr id="4" name="Slide Number Placeholder 3"/>
          <p:cNvSpPr>
            <a:spLocks noGrp="1"/>
          </p:cNvSpPr>
          <p:nvPr>
            <p:ph type="sldNum" idx="5" sz="quarter"/>
          </p:nvPr>
        </p:nvSpPr>
        <p:spPr/>
      </p:sp>
    </p:spTree>
  </p:cSld>
  <p:clrMapOvr>
    <a:masterClrMapping/>
  </p:clrMapOvr>
</p:notes>
</file>

<file path=ppt/notesSlides/notesSlide4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allows us to answer the second research question. Shapley explanations can be extended to large-scale and multi-level clustering when the hierarchy is explicitly defined and the approximation process is transparent. The main remaining limitation is that attribution is still performed after the model has been created.</a:t>
            </a:r>
          </a:p>
        </p:txBody>
      </p:sp>
      <p:sp>
        <p:nvSpPr>
          <p:cNvPr id="4" name="Slide Number Placeholder 3"/>
          <p:cNvSpPr>
            <a:spLocks noGrp="1"/>
          </p:cNvSpPr>
          <p:nvPr>
            <p:ph type="sldNum" idx="5" sz="quarter"/>
          </p:nvPr>
        </p:nvSpPr>
        <p:spPr/>
      </p:sp>
    </p:spTree>
  </p:cSld>
  <p:clrMapOvr>
    <a:masterClrMapping/>
  </p:clrMapOvr>
</p:notes>
</file>

<file path=ppt/notesSlides/notesSlide4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To summarize Contribution II, the main achievement is extending explainability from a single clustering level to a hierarchical and large-scale scenario. The explanation remains connected to the original variables while providing insight at different levels of detail.</a:t>
            </a:r>
          </a:p>
        </p:txBody>
      </p:sp>
      <p:sp>
        <p:nvSpPr>
          <p:cNvPr id="4" name="Slide Number Placeholder 3"/>
          <p:cNvSpPr>
            <a:spLocks noGrp="1"/>
          </p:cNvSpPr>
          <p:nvPr>
            <p:ph type="sldNum" idx="5" sz="quarter"/>
          </p:nvPr>
        </p:nvSpPr>
        <p:spPr/>
      </p:sp>
    </p:spTree>
  </p:cSld>
  <p:clrMapOvr>
    <a:masterClrMapping/>
  </p:clrMapOvr>
</p:notes>
</file>

<file path=ppt/notesSlides/notesSlide4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But some limitations remain. The clustering process is still static, even though the air-quality data have a temporal dimension. The explanations continue to depend on surrogate models and approximation techniques. Most importantly, attribution is still post-hoc: it explains what the model has already learned, but it does not participate in the learning process itself. This observation leads naturally to the third contribution, where explanation becomes part of model optimization.</a:t>
            </a:r>
          </a:p>
        </p:txBody>
      </p:sp>
      <p:sp>
        <p:nvSpPr>
          <p:cNvPr id="4" name="Slide Number Placeholder 3"/>
          <p:cNvSpPr>
            <a:spLocks noGrp="1"/>
          </p:cNvSpPr>
          <p:nvPr>
            <p:ph type="sldNum" idx="5" sz="quarter"/>
          </p:nvPr>
        </p:nvSpPr>
        <p:spPr/>
      </p:sp>
    </p:spTree>
  </p:cSld>
  <p:clrMapOvr>
    <a:masterClrMapping/>
  </p:clrMapOvr>
</p:notes>
</file>

<file path=ppt/notesSlides/notesSlide5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main takeaway from Contribution II is that Shapley attribution stays consistent across levels of detail once the hierarchy is explicit. The explanation therefore becomes interpretable at scale. It still describes a partition that was computed in advance, which raises the question behind the third contribution: can attribution become part of the learning itself?</a:t>
            </a:r>
          </a:p>
        </p:txBody>
      </p:sp>
      <p:sp>
        <p:nvSpPr>
          <p:cNvPr id="4" name="Slide Number Placeholder 3"/>
          <p:cNvSpPr>
            <a:spLocks noGrp="1"/>
          </p:cNvSpPr>
          <p:nvPr>
            <p:ph type="sldNum" idx="5" sz="quarter"/>
          </p:nvPr>
        </p:nvSpPr>
        <p:spPr/>
      </p:sp>
    </p:spTree>
  </p:cSld>
  <p:clrMapOvr>
    <a:masterClrMapping/>
  </p:clrMapOvr>
</p:notes>
</file>

<file path=ppt/notesSlides/notesSlide5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brings me to the third contribution of this thesis: DyHuCoG, which stands for Dynamic Hypergraph Cooperative Game. This contribution represents the main transition of the thesis. In the first two contributions, Shapley values were used to explain models after they were trained. Here, the objective is different: can attribution become part of the learning process itself?</a:t>
            </a:r>
          </a:p>
        </p:txBody>
      </p:sp>
      <p:sp>
        <p:nvSpPr>
          <p:cNvPr id="4" name="Slide Number Placeholder 3"/>
          <p:cNvSpPr>
            <a:spLocks noGrp="1"/>
          </p:cNvSpPr>
          <p:nvPr>
            <p:ph type="sldNum" idx="5" sz="quarter"/>
          </p:nvPr>
        </p:nvSpPr>
        <p:spPr/>
      </p:sp>
    </p:spTree>
  </p:cSld>
  <p:clrMapOvr>
    <a:masterClrMapping/>
  </p:clrMapOvr>
</p:notes>
</file>

<file path=ppt/notesSlides/notesSlide5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main limitation of existing hypergraph recommendation models is that they usually treat the different relationships in the graph structure in a similar way. But in real recommendation scenarios, not every interaction contributes equally to the final prediction. Some user-item-context relationships are more informative than others. The idea behind DyHuCoG is therefore to use cooperative attribution during training, so that the model can learn which relationships provide the most valuable information.</a:t>
            </a:r>
          </a:p>
        </p:txBody>
      </p:sp>
      <p:sp>
        <p:nvSpPr>
          <p:cNvPr id="4" name="Slide Number Placeholder 3"/>
          <p:cNvSpPr>
            <a:spLocks noGrp="1"/>
          </p:cNvSpPr>
          <p:nvPr>
            <p:ph type="sldNum" idx="5" sz="quarter"/>
          </p:nvPr>
        </p:nvSpPr>
        <p:spPr/>
      </p:sp>
    </p:spTree>
  </p:cSld>
  <p:clrMapOvr>
    <a:masterClrMapping/>
  </p:clrMapOvr>
</p:notes>
</file>

<file path=ppt/notesSlides/notesSlide5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contribution addresses two main research questions. The first question is whether cooperative attribution can move beyond post-hoc explanation and become part of the recommendation learning process. The second question is whether this integration can improve recommendation quality while maintaining contextual relevance and diversity. To answer these questions, DyHuCoG combines hypergraph learning with Shapley-based attribution. The first objective is to model recommendation as a cooperative game involving users, items, and contextual information. The second objective is to introduce a preference-aware Monte Carlo Shapley estimation mechanism inside hypergraph message passing. The third objective is to optimize several objectives together: ranking accuracy, diversity, and contextual relevance. The main idea is that the same mechanism used to explain importance can also guide the learning process.</a:t>
            </a:r>
          </a:p>
        </p:txBody>
      </p:sp>
      <p:sp>
        <p:nvSpPr>
          <p:cNvPr id="4" name="Slide Number Placeholder 3"/>
          <p:cNvSpPr>
            <a:spLocks noGrp="1"/>
          </p:cNvSpPr>
          <p:nvPr>
            <p:ph type="sldNum" idx="5" sz="quarter"/>
          </p:nvPr>
        </p:nvSpPr>
        <p:spPr/>
      </p:sp>
    </p:spTree>
  </p:cSld>
  <p:clrMapOvr>
    <a:masterClrMapping/>
  </p:clrMapOvr>
</p:notes>
</file>

<file path=ppt/notesSlides/notesSlide5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To formulate this idea, recommendation is represented as a cooperative game. The players are the different elements involved in the recommendation process: users, items, and contextual information. Their interactions are represented through hyperedges, which allow modelling higher-order relationships. The contribution of each element is estimated through Shapley values. So instead of learning only from the existence of a relationship, the model also considers the contribution of this relationship to the final objective.</a:t>
            </a:r>
          </a:p>
        </p:txBody>
      </p:sp>
      <p:sp>
        <p:nvSpPr>
          <p:cNvPr id="4" name="Slide Number Placeholder 3"/>
          <p:cNvSpPr>
            <a:spLocks noGrp="1"/>
          </p:cNvSpPr>
          <p:nvPr>
            <p:ph type="sldNum" idx="5" sz="quarter"/>
          </p:nvPr>
        </p:nvSpPr>
        <p:spPr/>
      </p:sp>
    </p:spTree>
  </p:cSld>
  <p:clrMapOvr>
    <a:masterClrMapping/>
  </p:clrMapOvr>
</p:notes>
</file>

<file path=ppt/notesSlides/notesSlide5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main challenge is that exact Shapley computation is computationally impossible for large recommenders. The number of possible coalitions grows exponentially with the number of players. So DyHuCoG uses Monte Carlo approximation. Instead of evaluating all possible coalitions, we sample a limited number of permutations and estimate the average marginal contribution. This provides a practical approximation while preserving the main properties of Shapley attribution.</a:t>
            </a:r>
          </a:p>
        </p:txBody>
      </p:sp>
      <p:sp>
        <p:nvSpPr>
          <p:cNvPr id="4" name="Slide Number Placeholder 3"/>
          <p:cNvSpPr>
            <a:spLocks noGrp="1"/>
          </p:cNvSpPr>
          <p:nvPr>
            <p:ph type="sldNum" idx="5" sz="quarter"/>
          </p:nvPr>
        </p:nvSpPr>
        <p:spPr/>
      </p:sp>
    </p:spTree>
  </p:cSld>
  <p:clrMapOvr>
    <a:masterClrMapping/>
  </p:clrMapOvr>
</p:notes>
</file>

<file path=ppt/notesSlides/notesSlide5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slide presents the architecture of DyHuCoG. The model starts from a hypergraph recommendation structure where information is propagated through message passing. The main modification is the introduction of Shapley-based weights inside this propagation process. Important relationships receive stronger influence, while less informative relationships contribute less. An attention mechanism is also introduced to stabilize the learning process. Finally, the objective function combines ranking optimization, diversity, contextual information, and regularization.</a:t>
            </a:r>
          </a:p>
        </p:txBody>
      </p:sp>
      <p:sp>
        <p:nvSpPr>
          <p:cNvPr id="4" name="Slide Number Placeholder 3"/>
          <p:cNvSpPr>
            <a:spLocks noGrp="1"/>
          </p:cNvSpPr>
          <p:nvPr>
            <p:ph type="sldNum" idx="5" sz="quarter"/>
          </p:nvPr>
        </p:nvSpPr>
        <p:spPr/>
      </p:sp>
    </p:spTree>
  </p:cSld>
  <p:clrMapOvr>
    <a:masterClrMapping/>
  </p:clrMapOvr>
</p:notes>
</file>

<file path=ppt/notesSlides/notesSlide5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evaluation is performed on two recommendation benchmarks: MovieLens-1M and Amazon-Book. The proposed method is compared with several baseline approaches, including recent graph and hypergraph recommenders. The evaluation considers ranking quality using NDCG and Recall, but also evaluates coverage and diversity. This is important because a recommendation system should not only be accurate, but should also provide varied and meaningful recommendations.</a:t>
            </a:r>
          </a:p>
        </p:txBody>
      </p:sp>
      <p:sp>
        <p:nvSpPr>
          <p:cNvPr id="4" name="Slide Number Placeholder 3"/>
          <p:cNvSpPr>
            <a:spLocks noGrp="1"/>
          </p:cNvSpPr>
          <p:nvPr>
            <p:ph type="sldNum" idx="5" sz="quarter"/>
          </p:nvPr>
        </p:nvSpPr>
        <p:spPr/>
      </p:sp>
    </p:spTree>
  </p:cSld>
  <p:clrMapOvr>
    <a:masterClrMapping/>
  </p:clrMapOvr>
</p:notes>
</file>

<file path=ppt/notesSlides/notesSlide5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results on MovieLens-1M show that DyHuCoG achieves the best performance among the evaluated methods. Compared with the strongest baseline, HPCF, the NDCG score improves from 0.2528 to 0.2775, representing an improvement of approximately 9.8 percent. Recall also improves, while coverage and diversity remain higher. This shows that the proposed approach does not improve accuracy by simply recommending the most popular items, but also maintains recommendation variety.</a:t>
            </a:r>
          </a:p>
        </p:txBody>
      </p:sp>
      <p:sp>
        <p:nvSpPr>
          <p:cNvPr id="4" name="Slide Number Placeholder 3"/>
          <p:cNvSpPr>
            <a:spLocks noGrp="1"/>
          </p:cNvSpPr>
          <p:nvPr>
            <p:ph type="sldNum" idx="5" sz="quarter"/>
          </p:nvPr>
        </p:nvSpPr>
        <p:spPr/>
      </p:sp>
    </p:spTree>
  </p:cSld>
  <p:clrMapOvr>
    <a:masterClrMapping/>
  </p:clrMapOvr>
</p:notes>
</file>

<file path=ppt/notesSlides/notesSlide5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same evaluation is conducted on Amazon-Book, which represents a much more challenging sparse recommendation scenario. Despite the higher difficulty, DyHuCoG continues to outperform the baselines. The improvement compared with HPCF reaches approximately 13.3 percent in NDCG. This result is important because it shows that cooperative attribution remains useful even when the available interaction information is limited.</a:t>
            </a:r>
          </a:p>
        </p:txBody>
      </p:sp>
      <p:sp>
        <p:nvSpPr>
          <p:cNvPr id="4" name="Slide Number Placeholder 3"/>
          <p:cNvSpPr>
            <a:spLocks noGrp="1"/>
          </p:cNvSpPr>
          <p:nvPr>
            <p:ph type="sldNum" idx="5" sz="quarter"/>
          </p:nvPr>
        </p:nvSpPr>
        <p:spPr/>
      </p:sp>
    </p:spTree>
  </p:cSld>
  <p:clrMapOvr>
    <a:masterClrMapping/>
  </p:clrMapOvr>
</p:notes>
</file>

<file path=ppt/notesSlides/notesSlide6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To understand the contribution of each component, an ablation study is performed. The results show that each component plays an important role. Removing contextual information produces a significant degradation, which confirms the importance of context-aware recommendation. Removing Shapley weighting also reduces performance, demonstrating that cooperative attribution contributes directly to the learning process. So the improvement comes from the combination of hypergraph modelling, context information, and cooperative attribution.</a:t>
            </a:r>
          </a:p>
        </p:txBody>
      </p:sp>
      <p:sp>
        <p:nvSpPr>
          <p:cNvPr id="4" name="Slide Number Placeholder 3"/>
          <p:cNvSpPr>
            <a:spLocks noGrp="1"/>
          </p:cNvSpPr>
          <p:nvPr>
            <p:ph type="sldNum" idx="5" sz="quarter"/>
          </p:nvPr>
        </p:nvSpPr>
        <p:spPr/>
      </p:sp>
    </p:spTree>
  </p:cSld>
  <p:clrMapOvr>
    <a:masterClrMapping/>
  </p:clrMapOvr>
</p:notes>
</file>

<file path=ppt/notesSlides/notesSlide6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Of course, integrating Shapley estimation into training introduces an additional computational cost. DyHuCoG requires more training time than traditional hypergraph recommenders because attribution is computed during learning. But inference remains practical, with recommendation latency at a reasonable level. So the additional computational complexity is a trade-off for obtaining a more accurate and interpretable model.</a:t>
            </a:r>
          </a:p>
        </p:txBody>
      </p:sp>
      <p:sp>
        <p:nvSpPr>
          <p:cNvPr id="4" name="Slide Number Placeholder 3"/>
          <p:cNvSpPr>
            <a:spLocks noGrp="1"/>
          </p:cNvSpPr>
          <p:nvPr>
            <p:ph type="sldNum" idx="5" sz="quarter"/>
          </p:nvPr>
        </p:nvSpPr>
        <p:spPr/>
      </p:sp>
    </p:spTree>
  </p:cSld>
  <p:clrMapOvr>
    <a:masterClrMapping/>
  </p:clrMapOvr>
</p:notes>
</file>

<file path=ppt/notesSlides/notesSlide6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To verify that the improvements are not due to random variation, statistical validation is also performed. The comparison is conducted using user-level recommendation results. The statistical tests confirm that the improvements over the baseline are significant. The effect size also shows that the improvement is not only statistically detectable, but also practically meaningful.</a:t>
            </a:r>
          </a:p>
        </p:txBody>
      </p:sp>
      <p:sp>
        <p:nvSpPr>
          <p:cNvPr id="4" name="Slide Number Placeholder 3"/>
          <p:cNvSpPr>
            <a:spLocks noGrp="1"/>
          </p:cNvSpPr>
          <p:nvPr>
            <p:ph type="sldNum" idx="5" sz="quarter"/>
          </p:nvPr>
        </p:nvSpPr>
        <p:spPr/>
      </p:sp>
    </p:spTree>
  </p:cSld>
  <p:clrMapOvr>
    <a:masterClrMapping/>
  </p:clrMapOvr>
</p:notes>
</file>

<file path=ppt/notesSlides/notesSlide6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These results allow us to answer the third and fourth research questions. For the third question, the answer is yes: Shapley attribution can move beyond post-hoc explanation and become part of the learning process. For the fourth question, the answer is also yes: DyHuCoG improves recommendation quality while maintaining diversity and contextual relevance. So attribution becomes not only an explanation mechanism, but also a learning mechanism.</a:t>
            </a:r>
          </a:p>
        </p:txBody>
      </p:sp>
      <p:sp>
        <p:nvSpPr>
          <p:cNvPr id="4" name="Slide Number Placeholder 3"/>
          <p:cNvSpPr>
            <a:spLocks noGrp="1"/>
          </p:cNvSpPr>
          <p:nvPr>
            <p:ph type="sldNum" idx="5" sz="quarter"/>
          </p:nvPr>
        </p:nvSpPr>
        <p:spPr/>
      </p:sp>
    </p:spTree>
  </p:cSld>
  <p:clrMapOvr>
    <a:masterClrMapping/>
  </p:clrMapOvr>
</p:notes>
</file>

<file path=ppt/notesSlides/notesSlide6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To summarize Contribution III, DyHuCoG transforms the role of explanation. Instead of generating explanations after training, the model uses attribution information while learning. This creates a direct connection between what the model optimizes and what the explanation reveals.</a:t>
            </a:r>
          </a:p>
        </p:txBody>
      </p:sp>
      <p:sp>
        <p:nvSpPr>
          <p:cNvPr id="4" name="Slide Number Placeholder 3"/>
          <p:cNvSpPr>
            <a:spLocks noGrp="1"/>
          </p:cNvSpPr>
          <p:nvPr>
            <p:ph type="sldNum" idx="5" sz="quarter"/>
          </p:nvPr>
        </p:nvSpPr>
        <p:spPr/>
      </p:sp>
    </p:spTree>
  </p:cSld>
  <p:clrMapOvr>
    <a:masterClrMapping/>
  </p:clrMapOvr>
</p:notes>
</file>

<file path=ppt/notesSlides/notesSlide6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But this contribution also has limitations. First, the integration of Shapley estimation increases computational cost. Second, the effectiveness of the approach depends on the availability of meaningful contextual information. Third, Monte Carlo estimation can still be improved through more advanced sampling strategies. Finally, the current evaluation is offline, and a future direction is to evaluate how users perceive and benefit from these explanations.</a:t>
            </a:r>
          </a:p>
        </p:txBody>
      </p:sp>
      <p:sp>
        <p:nvSpPr>
          <p:cNvPr id="4" name="Slide Number Placeholder 3"/>
          <p:cNvSpPr>
            <a:spLocks noGrp="1"/>
          </p:cNvSpPr>
          <p:nvPr>
            <p:ph type="sldNum" idx="5" sz="quarter"/>
          </p:nvPr>
        </p:nvSpPr>
        <p:spPr/>
      </p:sp>
    </p:spTree>
  </p:cSld>
  <p:clrMapOvr>
    <a:masterClrMapping/>
  </p:clrMapOvr>
</p:notes>
</file>

<file path=ppt/notesSlides/notesSlide6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main message of DyHuCoG is that attribution can become a first-class component of artificial intelligence models. Explanation is no longer only an observation after the model is built. It becomes part of the methodology used to train the model itself.</a:t>
            </a:r>
          </a:p>
        </p:txBody>
      </p:sp>
      <p:sp>
        <p:nvSpPr>
          <p:cNvPr id="4" name="Slide Number Placeholder 3"/>
          <p:cNvSpPr>
            <a:spLocks noGrp="1"/>
          </p:cNvSpPr>
          <p:nvPr>
            <p:ph type="sldNum" idx="5" sz="quarter"/>
          </p:nvPr>
        </p:nvSpPr>
        <p:spPr/>
      </p:sp>
    </p:spTree>
  </p:cSld>
  <p:clrMapOvr>
    <a:masterClrMapping/>
  </p:clrMapOvr>
</p:notes>
</file>

<file path=ppt/notesSlides/notesSlide6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 will now summarize the main outcomes of this thesis and present the future perspectives. The objective is to connect the three contributions and highlight the common idea that links them together.</a:t>
            </a:r>
          </a:p>
        </p:txBody>
      </p:sp>
      <p:sp>
        <p:nvSpPr>
          <p:cNvPr id="4" name="Slide Number Placeholder 3"/>
          <p:cNvSpPr>
            <a:spLocks noGrp="1"/>
          </p:cNvSpPr>
          <p:nvPr>
            <p:ph type="sldNum" idx="5" sz="quarter"/>
          </p:nvPr>
        </p:nvSpPr>
        <p:spPr/>
      </p:sp>
    </p:spTree>
  </p:cSld>
  <p:clrMapOvr>
    <a:masterClrMapping/>
  </p:clrMapOvr>
</p:notes>
</file>

<file path=ppt/notesSlides/notesSlide6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three contributions follow a common progression: explain, scale, and guide. The first contribution explains black-box clustering using Shapley attribution and meaningful domain variables. The second contribution extends this idea to large-scale and multi-level structures while maintaining consistency between explanations. The third contribution moves beyond explanation and uses attribution to guide the learning process of recommenders. Together, these contributions show how cooperative game theory can provide a unified perspective for explainable AI.</a:t>
            </a:r>
          </a:p>
        </p:txBody>
      </p:sp>
      <p:sp>
        <p:nvSpPr>
          <p:cNvPr id="4" name="Slide Number Placeholder 3"/>
          <p:cNvSpPr>
            <a:spLocks noGrp="1"/>
          </p:cNvSpPr>
          <p:nvPr>
            <p:ph type="sldNum" idx="5" sz="quarter"/>
          </p:nvPr>
        </p:nvSpPr>
        <p:spPr/>
      </p:sp>
    </p:spTree>
  </p:cSld>
  <p:clrMapOvr>
    <a:masterClrMapping/>
  </p:clrMapOvr>
</p:notes>
</file>

<file path=ppt/notesSlides/notesSlide6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research has resulted in three journal publications as first author. These publications correspond to the three main stages of the thesis: explainable clustering, multi-level explainability, and cooperative recommendation learning. They reflect the progressive development of the proposed framework.</a:t>
            </a:r>
          </a:p>
        </p:txBody>
      </p:sp>
      <p:sp>
        <p:nvSpPr>
          <p:cNvPr id="4" name="Slide Number Placeholder 3"/>
          <p:cNvSpPr>
            <a:spLocks noGrp="1"/>
          </p:cNvSpPr>
          <p:nvPr>
            <p:ph type="sldNum" idx="5" sz="quarter"/>
          </p:nvPr>
        </p:nvSpPr>
        <p:spPr/>
      </p:sp>
    </p:spTree>
  </p:cSld>
  <p:clrMapOvr>
    <a:masterClrMapping/>
  </p:clrMapOvr>
</p:notes>
</file>

<file path=ppt/notesSlides/notesSlide7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Several limitations remain open after this work. First, exact Shapley computation remains expensive, requiring approximation methods. Second, surrogate-based explanations depend on the quality of the approximation. Third, the current experiments are mainly offline and based on benchmark datasets. Finally, actionability should be evaluated more directly with human users to measure whether explanations actually improve understanding and decision-making.</a:t>
            </a:r>
          </a:p>
        </p:txBody>
      </p:sp>
      <p:sp>
        <p:nvSpPr>
          <p:cNvPr id="4" name="Slide Number Placeholder 3"/>
          <p:cNvSpPr>
            <a:spLocks noGrp="1"/>
          </p:cNvSpPr>
          <p:nvPr>
            <p:ph type="sldNum" idx="5" sz="quarter"/>
          </p:nvPr>
        </p:nvSpPr>
        <p:spPr/>
      </p:sp>
    </p:spTree>
  </p:cSld>
  <p:clrMapOvr>
    <a:masterClrMapping/>
  </p:clrMapOvr>
</p:notes>
</file>

<file path=ppt/notesSlides/notesSlide7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These limitations naturally define several future research directions. The first direction is improving Shapley estimation through more efficient and adaptive sampling strategies. The second direction is extending the framework to dynamic and online recommenders where preferences evolve over time. The third direction is conducting user-centered evaluations to measure trust and usefulness. Finally, the framework could be extended toward other trustworthy AI objectives such as fairness.</a:t>
            </a:r>
          </a:p>
        </p:txBody>
      </p:sp>
      <p:sp>
        <p:nvSpPr>
          <p:cNvPr id="4" name="Slide Number Placeholder 3"/>
          <p:cNvSpPr>
            <a:spLocks noGrp="1"/>
          </p:cNvSpPr>
          <p:nvPr>
            <p:ph type="sldNum" idx="5" sz="quarter"/>
          </p:nvPr>
        </p:nvSpPr>
        <p:spPr/>
      </p:sp>
    </p:spTree>
  </p:cSld>
  <p:clrMapOvr>
    <a:masterClrMapping/>
  </p:clrMapOvr>
</p:notes>
</file>

<file path=ppt/notesSlides/notesSlide7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To conclude, this thesis shows that cooperative game theory gives one common framework for explainable AI across clustering and recommendation. The main contributions demonstrate four important points. First, Shapley attribution provides a principled way to measure contribution. Second, it can explain black-box clustering using meaningful variables. Third, it can remain interpretable when moving to large-scale and multi-level structures. Finally, it can become part of the learning process itself through DyHuCoG. The main message is that explanation need not stay a description of what happened. It can become a way to understand, control and improve AI systems.</a:t>
            </a:r>
          </a:p>
        </p:txBody>
      </p:sp>
      <p:sp>
        <p:nvSpPr>
          <p:cNvPr id="4" name="Slide Number Placeholder 3"/>
          <p:cNvSpPr>
            <a:spLocks noGrp="1"/>
          </p:cNvSpPr>
          <p:nvPr>
            <p:ph type="sldNum" idx="5" sz="quarter"/>
          </p:nvPr>
        </p:nvSpPr>
        <p:spPr/>
      </p:sp>
    </p:spTree>
  </p:cSld>
  <p:clrMapOvr>
    <a:masterClrMapping/>
  </p:clrMapOvr>
</p:notes>
</file>

<file path=ppt/notesSlides/notesSlide7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These slides contain the main references used throughout this thesis. I will not discuss them individually, but they represent the scientific foundations supporting the different contributions presented today.</a:t>
            </a:r>
          </a:p>
        </p:txBody>
      </p:sp>
      <p:sp>
        <p:nvSpPr>
          <p:cNvPr id="4" name="Slide Number Placeholder 3"/>
          <p:cNvSpPr>
            <a:spLocks noGrp="1"/>
          </p:cNvSpPr>
          <p:nvPr>
            <p:ph type="sldNum" idx="5" sz="quarter"/>
          </p:nvPr>
        </p:nvSpPr>
        <p:spPr/>
      </p:sp>
    </p:spTree>
  </p:cSld>
  <p:clrMapOvr>
    <a:masterClrMapping/>
  </p:clrMapOvr>
</p:notes>
</file>

<file path=ppt/notesSlides/notesSlide7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And this is the second half of the reference list, including the datasets, the statistical tests, and the related article with the team.</a:t>
            </a:r>
          </a:p>
        </p:txBody>
      </p:sp>
      <p:sp>
        <p:nvSpPr>
          <p:cNvPr id="4" name="Slide Number Placeholder 3"/>
          <p:cNvSpPr>
            <a:spLocks noGrp="1"/>
          </p:cNvSpPr>
          <p:nvPr>
            <p:ph type="sldNum" idx="5" sz="quarter"/>
          </p:nvPr>
        </p:nvSpPr>
        <p:spPr/>
      </p:sp>
    </p:spTree>
  </p:cSld>
  <p:clrMapOvr>
    <a:masterClrMapping/>
  </p:clrMapOvr>
</p:notes>
</file>

<file path=ppt/notesSlides/notesSlide7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 that brings me to the end of the presentation.</a:t>
            </a:r>
          </a:p>
        </p:txBody>
      </p:sp>
      <p:sp>
        <p:nvSpPr>
          <p:cNvPr id="4" name="Slide Number Placeholder 3"/>
          <p:cNvSpPr>
            <a:spLocks noGrp="1"/>
          </p:cNvSpPr>
          <p:nvPr>
            <p:ph type="sldNum" idx="5" sz="quarter"/>
          </p:nvPr>
        </p:nvSpPr>
        <p:spPr/>
      </p:sp>
    </p:spTree>
  </p:cSld>
  <p:clrMapOvr>
    <a:masterClrMapping/>
  </p:clrMapOvr>
</p:notes>
</file>

<file path=ppt/notesSlides/notesSlide7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Thank you very much for your attention. I would be pleased to answer your questions and discuss any aspect of this work, including the methodology, theoretical foundations, or experimental results.</a:t>
            </a:r>
          </a:p>
        </p:txBody>
      </p:sp>
      <p:sp>
        <p:nvSpPr>
          <p:cNvPr id="4" name="Slide Number Placeholder 3"/>
          <p:cNvSpPr>
            <a:spLocks noGrp="1"/>
          </p:cNvSpPr>
          <p:nvPr>
            <p:ph type="sldNum" idx="5" sz="quarter"/>
          </p:nvPr>
        </p:nvSpPr>
        <p:spPr/>
      </p:sp>
    </p:spTree>
  </p:cSld>
  <p:clrMapOvr>
    <a:masterClrMapping/>
  </p:clrMapOvr>
</p:notes>
</file>

<file path=ppt/notesSlides/notesSlide7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the complete Table 7.1: every baseline, both datasets, with mean and standard deviation over five seeds. Two points, if useful. The standard deviations are about one tenth of the gap between DyHuCoG and HPCF on every metric, so the ordering doesn't depend on the seed. The improvement is also consistent across all four metrics, not concentrated on one.</a:t>
            </a:r>
          </a:p>
        </p:txBody>
      </p:sp>
      <p:sp>
        <p:nvSpPr>
          <p:cNvPr id="4" name="Slide Number Placeholder 3"/>
          <p:cNvSpPr>
            <a:spLocks noGrp="1"/>
          </p:cNvSpPr>
          <p:nvPr>
            <p:ph type="sldNum" idx="5" sz="quarter"/>
          </p:nvPr>
        </p:nvSpPr>
        <p:spPr/>
      </p:sp>
    </p:spTree>
  </p:cSld>
  <p:clrMapOvr>
    <a:masterClrMapping/>
  </p:clrMapOvr>
</p:notes>
</file>

<file path=ppt/notesSlides/notesSlide7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the full Table 7.6: paired t-tests of DyHuCoG against every baseline on per-user NDCG, on MovieLens-1M, over six thousand and forty users. Holm-Bonferroni gives each of the six p-values its own threshold, and every p-value is many orders of magnitude below it. Cohen's d is 1.33 against HPCF and larger against the weaker baselines, and above 0.8 is normally counted as large. Wilcoxon agrees.</a:t>
            </a:r>
          </a:p>
        </p:txBody>
      </p:sp>
      <p:sp>
        <p:nvSpPr>
          <p:cNvPr id="4" name="Slide Number Placeholder 3"/>
          <p:cNvSpPr>
            <a:spLocks noGrp="1"/>
          </p:cNvSpPr>
          <p:nvPr>
            <p:ph type="sldNum" idx="5" sz="quarter"/>
          </p:nvPr>
        </p:nvSpPr>
        <p:spPr/>
      </p:sp>
    </p:spTree>
  </p:cSld>
  <p:clrMapOvr>
    <a:masterClrMapping/>
  </p:clrMapOvr>
</p:notes>
</file>

<file path=ppt/notesSlides/notesSlide7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And finally, the cost figures. Table 7.3 gives training time, inference latency and memory for every model on both datasets: DyHuCoG trains in about two thousand seconds against eleven hundred for HPCF, and inference stays under two milliseconds per query. Table 7.4 is the Monte Carlo convergence study, where ten permutations give about ninety-five percent accuracy and fifty give ninety-nine. Fifty, then, is the knee of the curve.</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1D8BD707-D9CF-40AE-B4C6-C98DA3205C09}" type="datetimeFigureOut">
              <a:rPr lang="en-US" smtClean="0"/>
              <a:pPr/>
              <a:t>8/1/2011</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1D8BD707-D9CF-40AE-B4C6-C98DA3205C09}" type="datetimeFigureOut">
              <a:rPr lang="en-US" smtClean="0"/>
              <a:pPr/>
              <a:t>8/1/2011</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1D8BD707-D9CF-40AE-B4C6-C98DA3205C09}" type="datetimeFigureOut">
              <a:rPr lang="en-US" smtClean="0"/>
              <a:pPr/>
              <a:t>8/1/2011</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1D8BD707-D9CF-40AE-B4C6-C98DA3205C09}" type="datetimeFigureOut">
              <a:rPr lang="en-US" smtClean="0"/>
              <a:pPr/>
              <a:t>8/1/2011</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1D8BD707-D9CF-40AE-B4C6-C98DA3205C09}" type="datetimeFigureOut">
              <a:rPr lang="en-US" smtClean="0"/>
              <a:pPr/>
              <a:t>8/1/2011</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1D8BD707-D9CF-40AE-B4C6-C98DA3205C09}" type="datetimeFigureOut">
              <a:rPr lang="en-US" smtClean="0"/>
              <a:pPr/>
              <a:t>8/1/2011</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1D8BD707-D9CF-40AE-B4C6-C98DA3205C09}" type="datetimeFigureOut">
              <a:rPr lang="en-US" smtClean="0"/>
              <a:pPr/>
              <a:t>8/1/2011</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1D8BD707-D9CF-40AE-B4C6-C98DA3205C09}" type="datetimeFigureOut">
              <a:rPr lang="en-US" smtClean="0"/>
              <a:pPr/>
              <a:t>8/1/2011</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1D8BD707-D9CF-40AE-B4C6-C98DA3205C09}" type="datetimeFigureOut">
              <a:rPr lang="en-US" smtClean="0"/>
              <a:pPr/>
              <a:t>8/1/2011</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1D8BD707-D9CF-40AE-B4C6-C98DA3205C09}" type="datetimeFigureOut">
              <a:rPr lang="en-US" smtClean="0"/>
              <a:pPr/>
              <a:t>8/1/2011</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1D8BD707-D9CF-40AE-B4C6-C98DA3205C09}" type="datetimeFigureOut">
              <a:rPr lang="en-US" smtClean="0"/>
              <a:pPr/>
              <a:t>8/1/2011</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1D8BD707-D9CF-40AE-B4C6-C98DA3205C09}" type="datetimeFigureOut">
              <a:rPr lang="en-US" smtClean="0"/>
              <a:pPr/>
              <a:t>8/1/2011</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B6F15528-21DE-4FAA-801E-634DDDAF4B2B}" type="slidenum">
              <a:rPr lang="en-US" smtClean="0"/>
              <a:pPr/>
              <a:t>‹#›</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3.png"/><Relationship Id="rId3" Type="http://schemas.openxmlformats.org/officeDocument/2006/relationships/image" Target="../media/image54.png"/><Relationship Id="rId4" Type="http://schemas.openxmlformats.org/officeDocument/2006/relationships/image" Target="../media/image55.jpg"/><Relationship Id="rId5" Type="http://schemas.openxmlformats.org/officeDocument/2006/relationships/notesSlide" Target="../notesSlides/notesSlide1.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5.jpg"/><Relationship Id="rId3" Type="http://schemas.openxmlformats.org/officeDocument/2006/relationships/image" Target="../media/image9.png"/><Relationship Id="rId4" Type="http://schemas.openxmlformats.org/officeDocument/2006/relationships/image" Target="../media/image11.png"/><Relationship Id="rId5" Type="http://schemas.openxmlformats.org/officeDocument/2006/relationships/notesSlide" Target="../notesSlides/notesSlide2.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5.jpg"/><Relationship Id="rId3" Type="http://schemas.openxmlformats.org/officeDocument/2006/relationships/notesSlide" Target="../notesSlides/notesSlide3.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5.jpg"/><Relationship Id="rId3" Type="http://schemas.openxmlformats.org/officeDocument/2006/relationships/notesSlide" Target="../notesSlides/notesSlide4.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5.jpg"/><Relationship Id="rId3" Type="http://schemas.openxmlformats.org/officeDocument/2006/relationships/notesSlide" Target="../notesSlides/notesSlide5.xml"/><Relationship Id="rId4" Type="http://schemas.openxmlformats.org/officeDocument/2006/relationships/image" Target="../media/image56.png"/></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5.jpg"/><Relationship Id="rId3" Type="http://schemas.openxmlformats.org/officeDocument/2006/relationships/notesSlide" Target="../notesSlides/notesSlide6.xml"/><Relationship Id="rId4" Type="http://schemas.openxmlformats.org/officeDocument/2006/relationships/image" Target="../media/image57.png"/></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5.jpg"/><Relationship Id="rId3" Type="http://schemas.openxmlformats.org/officeDocument/2006/relationships/notesSlide" Target="../notesSlides/notesSlide7.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5.jpg"/><Relationship Id="rId3" Type="http://schemas.openxmlformats.org/officeDocument/2006/relationships/notesSlide" Target="../notesSlides/notesSlide8.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5.jpg"/><Relationship Id="rId3" Type="http://schemas.openxmlformats.org/officeDocument/2006/relationships/notesSlide" Target="../notesSlides/notesSlide9.xml"/><Relationship Id="rId4" Type="http://schemas.openxmlformats.org/officeDocument/2006/relationships/image" Target="../media/image58.png"/></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5.jpg"/><Relationship Id="rId3" Type="http://schemas.openxmlformats.org/officeDocument/2006/relationships/notesSlide" Target="../notesSlides/notesSlide10.xml"/><Relationship Id="rId4" Type="http://schemas.openxmlformats.org/officeDocument/2006/relationships/image" Target="../media/image59.png"/></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5.jpg"/><Relationship Id="rId3" Type="http://schemas.openxmlformats.org/officeDocument/2006/relationships/notesSlide" Target="../notesSlides/notesSlide11.xml"/><Relationship Id="rId4" Type="http://schemas.openxmlformats.org/officeDocument/2006/relationships/image" Target="../media/image60.png"/></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5.jpg"/><Relationship Id="rId3" Type="http://schemas.openxmlformats.org/officeDocument/2006/relationships/notesSlide" Target="../notesSlides/notesSlide12.xml"/><Relationship Id="rId4" Type="http://schemas.openxmlformats.org/officeDocument/2006/relationships/image" Target="../media/image61.png"/></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5.jpg"/><Relationship Id="rId3" Type="http://schemas.openxmlformats.org/officeDocument/2006/relationships/notesSlide" Target="../notesSlides/notesSlide13.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5.jpg"/><Relationship Id="rId3" Type="http://schemas.openxmlformats.org/officeDocument/2006/relationships/notesSlide" Target="../notesSlides/notesSlide14.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5.jpg"/><Relationship Id="rId3" Type="http://schemas.openxmlformats.org/officeDocument/2006/relationships/notesSlide" Target="../notesSlides/notesSlide15.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5.jpg"/><Relationship Id="rId3" Type="http://schemas.openxmlformats.org/officeDocument/2006/relationships/notesSlide" Target="../notesSlides/notesSlide16.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5.jpg"/><Relationship Id="rId3" Type="http://schemas.openxmlformats.org/officeDocument/2006/relationships/notesSlide" Target="../notesSlides/notesSlide17.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5.jpg"/><Relationship Id="rId3" Type="http://schemas.openxmlformats.org/officeDocument/2006/relationships/notesSlide" Target="../notesSlides/notesSlide18.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5.jpg"/><Relationship Id="rId3" Type="http://schemas.openxmlformats.org/officeDocument/2006/relationships/notesSlide" Target="../notesSlides/notesSlide19.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5.jpg"/><Relationship Id="rId3" Type="http://schemas.openxmlformats.org/officeDocument/2006/relationships/notesSlide" Target="../notesSlides/notesSlide20.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5.jpg"/><Relationship Id="rId3" Type="http://schemas.openxmlformats.org/officeDocument/2006/relationships/notesSlide" Target="../notesSlides/notesSlide21.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5.jpg"/><Relationship Id="rId3" Type="http://schemas.openxmlformats.org/officeDocument/2006/relationships/notesSlide" Target="../notesSlides/notesSlide22.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5.jpg"/><Relationship Id="rId3" Type="http://schemas.openxmlformats.org/officeDocument/2006/relationships/notesSlide" Target="../notesSlides/notesSlide23.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5.jpg"/><Relationship Id="rId3" Type="http://schemas.openxmlformats.org/officeDocument/2006/relationships/notesSlide" Target="../notesSlides/notesSlide24.xml"/><Relationship Id="rId4" Type="http://schemas.openxmlformats.org/officeDocument/2006/relationships/image" Target="../media/image62.png"/><Relationship Id="rId5" Type="http://schemas.openxmlformats.org/officeDocument/2006/relationships/image" Target="../media/image63.png"/><Relationship Id="rId6" Type="http://schemas.openxmlformats.org/officeDocument/2006/relationships/image" Target="../media/image64.png"/><Relationship Id="rId7" Type="http://schemas.openxmlformats.org/officeDocument/2006/relationships/image" Target="../media/image65.png"/><Relationship Id="rId8" Type="http://schemas.openxmlformats.org/officeDocument/2006/relationships/image" Target="../media/image66.png"/><Relationship Id="rId9" Type="http://schemas.openxmlformats.org/officeDocument/2006/relationships/image" Target="../media/image67.png"/><Relationship Id="rId10" Type="http://schemas.openxmlformats.org/officeDocument/2006/relationships/image" Target="../media/image68.png"/></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5.jpg"/><Relationship Id="rId3" Type="http://schemas.openxmlformats.org/officeDocument/2006/relationships/notesSlide" Target="../notesSlides/notesSlide25.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5.jpg"/><Relationship Id="rId3" Type="http://schemas.openxmlformats.org/officeDocument/2006/relationships/notesSlide" Target="../notesSlides/notesSlide26.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5.jpg"/><Relationship Id="rId3" Type="http://schemas.openxmlformats.org/officeDocument/2006/relationships/notesSlide" Target="../notesSlides/notesSlide27.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5.jpg"/><Relationship Id="rId3" Type="http://schemas.openxmlformats.org/officeDocument/2006/relationships/notesSlide" Target="../notesSlides/notesSlide28.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5.jpg"/><Relationship Id="rId3" Type="http://schemas.openxmlformats.org/officeDocument/2006/relationships/notesSlide" Target="../notesSlides/notesSlide29.xml"/><Relationship Id="rId4" Type="http://schemas.openxmlformats.org/officeDocument/2006/relationships/image" Target="../media/image69.png"/><Relationship Id="rId5" Type="http://schemas.openxmlformats.org/officeDocument/2006/relationships/image" Target="../media/image70.png"/></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5.jpg"/><Relationship Id="rId3" Type="http://schemas.openxmlformats.org/officeDocument/2006/relationships/notesSlide" Target="../notesSlides/notesSlide30.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5.jpg"/><Relationship Id="rId3" Type="http://schemas.openxmlformats.org/officeDocument/2006/relationships/notesSlide" Target="../notesSlides/notesSlide31.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5.jpg"/><Relationship Id="rId3" Type="http://schemas.openxmlformats.org/officeDocument/2006/relationships/notesSlide" Target="../notesSlides/notesSlide32.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5.jpg"/><Relationship Id="rId3" Type="http://schemas.openxmlformats.org/officeDocument/2006/relationships/notesSlide" Target="../notesSlides/notesSlide33.xml"/><Relationship Id="rId4" Type="http://schemas.openxmlformats.org/officeDocument/2006/relationships/image" Target="../media/image71.png"/><Relationship Id="rId5" Type="http://schemas.openxmlformats.org/officeDocument/2006/relationships/image" Target="../media/image72.png"/></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5.jpg"/><Relationship Id="rId3" Type="http://schemas.openxmlformats.org/officeDocument/2006/relationships/notesSlide" Target="../notesSlides/notesSlide34.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5.jpg"/><Relationship Id="rId3" Type="http://schemas.openxmlformats.org/officeDocument/2006/relationships/notesSlide" Target="../notesSlides/notesSlide35.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5.jpg"/><Relationship Id="rId3" Type="http://schemas.openxmlformats.org/officeDocument/2006/relationships/notesSlide" Target="../notesSlides/notesSlide36.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5.jpg"/><Relationship Id="rId3" Type="http://schemas.openxmlformats.org/officeDocument/2006/relationships/notesSlide" Target="../notesSlides/notesSlide37.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5.jpg"/><Relationship Id="rId3" Type="http://schemas.openxmlformats.org/officeDocument/2006/relationships/notesSlide" Target="../notesSlides/notesSlide38.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5.jpg"/><Relationship Id="rId3" Type="http://schemas.openxmlformats.org/officeDocument/2006/relationships/notesSlide" Target="../notesSlides/notesSlide39.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5.jpg"/><Relationship Id="rId3" Type="http://schemas.openxmlformats.org/officeDocument/2006/relationships/notesSlide" Target="../notesSlides/notesSlide40.xm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5.jpg"/><Relationship Id="rId3" Type="http://schemas.openxmlformats.org/officeDocument/2006/relationships/notesSlide" Target="../notesSlides/notesSlide41.xml"/><Relationship Id="rId4" Type="http://schemas.openxmlformats.org/officeDocument/2006/relationships/image" Target="../media/image73.png"/><Relationship Id="rId5" Type="http://schemas.openxmlformats.org/officeDocument/2006/relationships/image" Target="../media/image74.png"/></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5.jpg"/><Relationship Id="rId3" Type="http://schemas.openxmlformats.org/officeDocument/2006/relationships/notesSlide" Target="../notesSlides/notesSlide42.xml"/><Relationship Id="rId4" Type="http://schemas.openxmlformats.org/officeDocument/2006/relationships/image" Target="../media/image75.png"/><Relationship Id="rId5" Type="http://schemas.openxmlformats.org/officeDocument/2006/relationships/image" Target="../media/image76.png"/><Relationship Id="rId6" Type="http://schemas.openxmlformats.org/officeDocument/2006/relationships/image" Target="../media/image77.png"/></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5.jpg"/><Relationship Id="rId3" Type="http://schemas.openxmlformats.org/officeDocument/2006/relationships/notesSlide" Target="../notesSlides/notesSlide43.xml"/></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5.jpg"/><Relationship Id="rId3" Type="http://schemas.openxmlformats.org/officeDocument/2006/relationships/notesSlide" Target="../notesSlides/notesSlide44.xml"/></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5.jpg"/><Relationship Id="rId3" Type="http://schemas.openxmlformats.org/officeDocument/2006/relationships/notesSlide" Target="../notesSlides/notesSlide45.xml"/><Relationship Id="rId4" Type="http://schemas.openxmlformats.org/officeDocument/2006/relationships/image" Target="../media/image78.png"/></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5.jpg"/><Relationship Id="rId3" Type="http://schemas.openxmlformats.org/officeDocument/2006/relationships/notesSlide" Target="../notesSlides/notesSlide46.xml"/><Relationship Id="rId4" Type="http://schemas.openxmlformats.org/officeDocument/2006/relationships/image" Target="../media/image79.png"/></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5.jpg"/><Relationship Id="rId3" Type="http://schemas.openxmlformats.org/officeDocument/2006/relationships/notesSlide" Target="../notesSlides/notesSlide47.xml"/></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5.jpg"/><Relationship Id="rId3" Type="http://schemas.openxmlformats.org/officeDocument/2006/relationships/notesSlide" Target="../notesSlides/notesSlide48.xml"/></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5.jpg"/><Relationship Id="rId3" Type="http://schemas.openxmlformats.org/officeDocument/2006/relationships/notesSlide" Target="../notesSlides/notesSlide49.xml"/></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5.jpg"/><Relationship Id="rId3" Type="http://schemas.openxmlformats.org/officeDocument/2006/relationships/notesSlide" Target="../notesSlides/notesSlide50.xml"/></Relationships>
</file>

<file path=ppt/slides/_rels/slide6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5.jpg"/><Relationship Id="rId3" Type="http://schemas.openxmlformats.org/officeDocument/2006/relationships/notesSlide" Target="../notesSlides/notesSlide51.xml"/></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5.jpg"/><Relationship Id="rId3" Type="http://schemas.openxmlformats.org/officeDocument/2006/relationships/notesSlide" Target="../notesSlides/notesSlide52.xml"/></Relationships>
</file>

<file path=ppt/slides/_rels/slide6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5.jpg"/><Relationship Id="rId3" Type="http://schemas.openxmlformats.org/officeDocument/2006/relationships/notesSlide" Target="../notesSlides/notesSlide53.xml"/></Relationships>
</file>

<file path=ppt/slides/_rels/slide6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5.jpg"/><Relationship Id="rId3" Type="http://schemas.openxmlformats.org/officeDocument/2006/relationships/notesSlide" Target="../notesSlides/notesSlide54.xml"/><Relationship Id="rId4" Type="http://schemas.openxmlformats.org/officeDocument/2006/relationships/image" Target="../media/image80.png"/><Relationship Id="rId5" Type="http://schemas.openxmlformats.org/officeDocument/2006/relationships/image" Target="../media/image81.png"/><Relationship Id="rId6" Type="http://schemas.openxmlformats.org/officeDocument/2006/relationships/image" Target="../media/image82.png"/><Relationship Id="rId7" Type="http://schemas.openxmlformats.org/officeDocument/2006/relationships/image" Target="../media/image83.png"/></Relationships>
</file>

<file path=ppt/slides/_rels/slide7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5.jpg"/><Relationship Id="rId3" Type="http://schemas.openxmlformats.org/officeDocument/2006/relationships/notesSlide" Target="../notesSlides/notesSlide55.xml"/><Relationship Id="rId4" Type="http://schemas.openxmlformats.org/officeDocument/2006/relationships/image" Target="../media/image84.png"/><Relationship Id="rId5" Type="http://schemas.openxmlformats.org/officeDocument/2006/relationships/image" Target="../media/image85.png"/><Relationship Id="rId6" Type="http://schemas.openxmlformats.org/officeDocument/2006/relationships/image" Target="../media/image86.png"/><Relationship Id="rId7" Type="http://schemas.openxmlformats.org/officeDocument/2006/relationships/image" Target="../media/image87.png"/></Relationships>
</file>

<file path=ppt/slides/_rels/slide7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5.jpg"/><Relationship Id="rId3" Type="http://schemas.openxmlformats.org/officeDocument/2006/relationships/notesSlide" Target="../notesSlides/notesSlide56.xml"/><Relationship Id="rId4" Type="http://schemas.openxmlformats.org/officeDocument/2006/relationships/image" Target="../media/image88.png"/><Relationship Id="rId5" Type="http://schemas.openxmlformats.org/officeDocument/2006/relationships/image" Target="../media/image89.png"/><Relationship Id="rId6" Type="http://schemas.openxmlformats.org/officeDocument/2006/relationships/image" Target="../media/image90.png"/><Relationship Id="rId7" Type="http://schemas.openxmlformats.org/officeDocument/2006/relationships/image" Target="../media/image91.png"/><Relationship Id="rId8" Type="http://schemas.openxmlformats.org/officeDocument/2006/relationships/image" Target="../media/image92.png"/><Relationship Id="rId9" Type="http://schemas.openxmlformats.org/officeDocument/2006/relationships/image" Target="../media/image93.png"/><Relationship Id="rId10" Type="http://schemas.openxmlformats.org/officeDocument/2006/relationships/image" Target="../media/image94.png"/></Relationships>
</file>

<file path=ppt/slides/_rels/slide7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5.jpg"/><Relationship Id="rId3" Type="http://schemas.openxmlformats.org/officeDocument/2006/relationships/notesSlide" Target="../notesSlides/notesSlide57.xml"/></Relationships>
</file>

<file path=ppt/slides/_rels/slide7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5.jpg"/><Relationship Id="rId3" Type="http://schemas.openxmlformats.org/officeDocument/2006/relationships/notesSlide" Target="../notesSlides/notesSlide58.xml"/></Relationships>
</file>

<file path=ppt/slides/_rels/slide7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5.jpg"/><Relationship Id="rId3" Type="http://schemas.openxmlformats.org/officeDocument/2006/relationships/notesSlide" Target="../notesSlides/notesSlide59.xml"/></Relationships>
</file>

<file path=ppt/slides/_rels/slide7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5.jpg"/><Relationship Id="rId3" Type="http://schemas.openxmlformats.org/officeDocument/2006/relationships/notesSlide" Target="../notesSlides/notesSlide60.xml"/></Relationships>
</file>

<file path=ppt/slides/_rels/slide7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5.jpg"/><Relationship Id="rId3" Type="http://schemas.openxmlformats.org/officeDocument/2006/relationships/notesSlide" Target="../notesSlides/notesSlide61.xml"/><Relationship Id="rId4" Type="http://schemas.openxmlformats.org/officeDocument/2006/relationships/image" Target="../media/image95.png"/></Relationships>
</file>

<file path=ppt/slides/_rels/slide7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5.jpg"/><Relationship Id="rId3" Type="http://schemas.openxmlformats.org/officeDocument/2006/relationships/notesSlide" Target="../notesSlides/notesSlide62.xml"/><Relationship Id="rId4" Type="http://schemas.openxmlformats.org/officeDocument/2006/relationships/image" Target="../media/image96.png"/><Relationship Id="rId5" Type="http://schemas.openxmlformats.org/officeDocument/2006/relationships/image" Target="../media/image97.png"/><Relationship Id="rId6" Type="http://schemas.openxmlformats.org/officeDocument/2006/relationships/image" Target="../media/image98.png"/></Relationships>
</file>

<file path=ppt/slides/_rels/slide7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5.jpg"/><Relationship Id="rId3" Type="http://schemas.openxmlformats.org/officeDocument/2006/relationships/notesSlide" Target="../notesSlides/notesSlide63.xml"/></Relationships>
</file>

<file path=ppt/slides/_rels/slide7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5.jpg"/><Relationship Id="rId3" Type="http://schemas.openxmlformats.org/officeDocument/2006/relationships/notesSlide" Target="../notesSlides/notesSlide64.xml"/></Relationships>
</file>

<file path=ppt/slides/_rels/slide8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5.jpg"/><Relationship Id="rId3" Type="http://schemas.openxmlformats.org/officeDocument/2006/relationships/notesSlide" Target="../notesSlides/notesSlide65.xml"/></Relationships>
</file>

<file path=ppt/slides/_rels/slide8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5.jpg"/><Relationship Id="rId3" Type="http://schemas.openxmlformats.org/officeDocument/2006/relationships/notesSlide" Target="../notesSlides/notesSlide66.xml"/></Relationships>
</file>

<file path=ppt/slides/_rels/slide8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5.jpg"/><Relationship Id="rId3" Type="http://schemas.openxmlformats.org/officeDocument/2006/relationships/notesSlide" Target="../notesSlides/notesSlide67.xml"/></Relationships>
</file>

<file path=ppt/slides/_rels/slide8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5.jpg"/><Relationship Id="rId3" Type="http://schemas.openxmlformats.org/officeDocument/2006/relationships/notesSlide" Target="../notesSlides/notesSlide68.xml"/></Relationships>
</file>

<file path=ppt/slides/_rels/slide8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5.jpg"/><Relationship Id="rId3" Type="http://schemas.openxmlformats.org/officeDocument/2006/relationships/notesSlide" Target="../notesSlides/notesSlide69.xml"/></Relationships>
</file>

<file path=ppt/slides/_rels/slide8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5.jpg"/><Relationship Id="rId3" Type="http://schemas.openxmlformats.org/officeDocument/2006/relationships/notesSlide" Target="../notesSlides/notesSlide70.xml"/></Relationships>
</file>

<file path=ppt/slides/_rels/slide8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5.jpg"/><Relationship Id="rId3" Type="http://schemas.openxmlformats.org/officeDocument/2006/relationships/notesSlide" Target="../notesSlides/notesSlide71.xml"/></Relationships>
</file>

<file path=ppt/slides/_rels/slide8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5.jpg"/><Relationship Id="rId3" Type="http://schemas.openxmlformats.org/officeDocument/2006/relationships/notesSlide" Target="../notesSlides/notesSlide72.xml"/></Relationships>
</file>

<file path=ppt/slides/_rels/slide8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5.jpg"/><Relationship Id="rId3" Type="http://schemas.openxmlformats.org/officeDocument/2006/relationships/notesSlide" Target="../notesSlides/notesSlide73.xml"/></Relationships>
</file>

<file path=ppt/slides/_rels/slide8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5.jpg"/><Relationship Id="rId3" Type="http://schemas.openxmlformats.org/officeDocument/2006/relationships/notesSlide" Target="../notesSlides/notesSlide74.xml"/></Relationships>
</file>

<file path=ppt/slides/_rels/slide9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1.png"/><Relationship Id="rId3" Type="http://schemas.openxmlformats.org/officeDocument/2006/relationships/image" Target="../media/image55.jpg"/><Relationship Id="rId4" Type="http://schemas.openxmlformats.org/officeDocument/2006/relationships/image" Target="../media/image26.png"/><Relationship Id="rId5" Type="http://schemas.openxmlformats.org/officeDocument/2006/relationships/image" Target="../media/image33.png"/><Relationship Id="rId6" Type="http://schemas.openxmlformats.org/officeDocument/2006/relationships/notesSlide" Target="../notesSlides/notesSlide75.xml"/></Relationships>
</file>

<file path=ppt/slides/_rels/slide9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3.png"/><Relationship Id="rId3" Type="http://schemas.openxmlformats.org/officeDocument/2006/relationships/image" Target="../media/image54.png"/><Relationship Id="rId4" Type="http://schemas.openxmlformats.org/officeDocument/2006/relationships/image" Target="../media/image55.jpg"/><Relationship Id="rId5" Type="http://schemas.openxmlformats.org/officeDocument/2006/relationships/notesSlide" Target="../notesSlides/notesSlide76.xml"/></Relationships>
</file>

<file path=ppt/slides/_rels/slide9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5.jpg"/><Relationship Id="rId3" Type="http://schemas.openxmlformats.org/officeDocument/2006/relationships/notesSlide" Target="../notesSlides/notesSlide77.xml"/></Relationships>
</file>

<file path=ppt/slides/_rels/slide9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5.jpg"/><Relationship Id="rId3" Type="http://schemas.openxmlformats.org/officeDocument/2006/relationships/notesSlide" Target="../notesSlides/notesSlide78.xml"/></Relationships>
</file>

<file path=ppt/slides/_rels/slide9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5.jpg"/><Relationship Id="rId3" Type="http://schemas.openxmlformats.org/officeDocument/2006/relationships/notesSlide" Target="../notesSlides/notesSlide79.xml"/></Relationships>
</file>

<file path=ppt/slides/slide1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pic>
        <p:nvPicPr>
          <p:cNvPr id="2" name="Picture 1" descr="um5_logo.png"/>
          <p:cNvPicPr>
            <a:picLocks noChangeAspect="1"/>
          </p:cNvPicPr>
          <p:nvPr/>
        </p:nvPicPr>
        <p:blipFill>
          <a:blip r:embed="rId2"/>
          <a:stretch>
            <a:fillRect/>
          </a:stretch>
        </p:blipFill>
        <p:spPr>
          <a:xfrm>
            <a:off x="1028700" y="457200"/>
            <a:ext cx="1255612" cy="914400"/>
          </a:xfrm>
          <a:prstGeom prst="rect">
            <a:avLst/>
          </a:prstGeom>
        </p:spPr>
      </p:pic>
      <p:pic>
        <p:nvPicPr>
          <p:cNvPr id="3" name="Picture 2" descr="ministry_logo.png"/>
          <p:cNvPicPr>
            <a:picLocks noChangeAspect="1"/>
          </p:cNvPicPr>
          <p:nvPr/>
        </p:nvPicPr>
        <p:blipFill>
          <a:blip r:embed="rId3"/>
          <a:stretch>
            <a:fillRect/>
          </a:stretch>
        </p:blipFill>
        <p:spPr>
          <a:xfrm>
            <a:off x="8001000" y="365760"/>
            <a:ext cx="2167205" cy="1143000"/>
          </a:xfrm>
          <a:prstGeom prst="rect">
            <a:avLst/>
          </a:prstGeom>
        </p:spPr>
      </p:pic>
      <p:pic>
        <p:nvPicPr>
          <p:cNvPr id="4" name="Picture 3" descr="ensias_logo.jpg"/>
          <p:cNvPicPr>
            <a:picLocks noChangeAspect="1"/>
          </p:cNvPicPr>
          <p:nvPr/>
        </p:nvPicPr>
        <p:blipFill>
          <a:blip r:embed="rId4"/>
          <a:stretch>
            <a:fillRect/>
          </a:stretch>
        </p:blipFill>
        <p:spPr>
          <a:xfrm>
            <a:off x="15796260" y="411480"/>
            <a:ext cx="1422050" cy="1005840"/>
          </a:xfrm>
          <a:prstGeom prst="rect">
            <a:avLst/>
          </a:prstGeom>
        </p:spPr>
      </p:pic>
      <p:sp>
        <p:nvSpPr>
          <p:cNvPr id="5" name="TextBox 4"/>
          <p:cNvSpPr txBox="1"/>
          <p:nvPr/>
        </p:nvSpPr>
        <p:spPr>
          <a:xfrm>
            <a:off x="1028700" y="1536192"/>
            <a:ext cx="16230600" cy="365760"/>
          </a:xfrm>
          <a:prstGeom prst="rect">
            <a:avLst/>
          </a:prstGeom>
          <a:noFill/>
        </p:spPr>
        <p:txBody>
          <a:bodyPr anchor="t" rtlCol="false" lIns="0" tIns="0" rIns="0" bIns="0" wrap="square"/>
          <a:lstStyle/>
          <a:p>
            <a:pPr algn="ctr">
              <a:lnSpc>
                <a:spcPts val="1900"/>
              </a:lnSpc>
              <a:spcBef>
                <a:spcPts val="0"/>
              </a:spcBef>
              <a:buNone/>
            </a:pPr>
            <a:r>
              <a:rPr lang="en-US" sz="1500" b="true">
                <a:solidFill>
                  <a:srgbClr val="8A8378"/>
                </a:solidFill>
                <a:latin typeface="Nunito Bold"/>
                <a:ea typeface="Nunito Bold"/>
                <a:cs typeface="Nunito Bold"/>
                <a:sym typeface="Nunito Bold"/>
              </a:rPr>
              <a:t>Doctoral Studies Center in Information and Engineering Sciences and Technologies (ST2I)</a:t>
            </a:r>
          </a:p>
        </p:txBody>
      </p:sp>
      <p:sp>
        <p:nvSpPr>
          <p:cNvPr id="6" name="TextBox 5"/>
          <p:cNvSpPr txBox="1"/>
          <p:nvPr/>
        </p:nvSpPr>
        <p:spPr>
          <a:xfrm>
            <a:off x="1028700" y="1938528"/>
            <a:ext cx="16230600" cy="365760"/>
          </a:xfrm>
          <a:prstGeom prst="rect">
            <a:avLst/>
          </a:prstGeom>
          <a:noFill/>
        </p:spPr>
        <p:txBody>
          <a:bodyPr anchor="t" rtlCol="false" lIns="0" tIns="0" rIns="0" bIns="0" wrap="square"/>
          <a:lstStyle/>
          <a:p>
            <a:pPr algn="ctr">
              <a:lnSpc>
                <a:spcPts val="1900"/>
              </a:lnSpc>
              <a:spcBef>
                <a:spcPts val="0"/>
              </a:spcBef>
              <a:buNone/>
            </a:pPr>
            <a:r>
              <a:rPr lang="en-US" sz="1400" b="true" spc="200">
                <a:solidFill>
                  <a:srgbClr val="1F7A8C"/>
                </a:solidFill>
                <a:latin typeface="Nunito Ultra-Bold"/>
                <a:ea typeface="Nunito Ultra-Bold"/>
                <a:cs typeface="Nunito Ultra-Bold"/>
                <a:sym typeface="Nunito Ultra-Bold"/>
              </a:rPr>
              <a:t>PHD THESIS DEFENCE  ·  COMPUTER SCIENCE</a:t>
            </a:r>
          </a:p>
        </p:txBody>
      </p:sp>
      <p:sp>
        <p:nvSpPr>
          <p:cNvPr id="7" name="TextBox 6"/>
          <p:cNvSpPr txBox="1"/>
          <p:nvPr/>
        </p:nvSpPr>
        <p:spPr>
          <a:xfrm>
            <a:off x="1028700" y="2286000"/>
            <a:ext cx="16230600" cy="1828800"/>
          </a:xfrm>
          <a:prstGeom prst="rect">
            <a:avLst/>
          </a:prstGeom>
          <a:noFill/>
        </p:spPr>
        <p:txBody>
          <a:bodyPr anchor="t" rtlCol="false" lIns="0" tIns="0" rIns="0" bIns="0" wrap="square"/>
          <a:lstStyle/>
          <a:p>
            <a:pPr algn="ctr">
              <a:lnSpc>
                <a:spcPts val="5400"/>
              </a:lnSpc>
              <a:spcBef>
                <a:spcPts val="0"/>
              </a:spcBef>
              <a:buNone/>
            </a:pPr>
            <a:r>
              <a:rPr lang="en-US" sz="5000" b="true" spc="-300">
                <a:solidFill>
                  <a:srgbClr val="111111"/>
                </a:solidFill>
                <a:latin typeface="Roca Two Bold"/>
                <a:ea typeface="Roca Two Bold"/>
                <a:cs typeface="Roca Two Bold"/>
                <a:sym typeface="Roca Two Bold"/>
              </a:rPr>
              <a:t>Cooperative Game Theory for</a:t>
            </a:r>
          </a:p>
          <a:p>
            <a:pPr algn="ctr">
              <a:lnSpc>
                <a:spcPts val="5400"/>
              </a:lnSpc>
              <a:spcBef>
                <a:spcPts val="0"/>
              </a:spcBef>
              <a:buNone/>
            </a:pPr>
            <a:r>
              <a:rPr lang="en-US" sz="5000" b="true" spc="-300">
                <a:solidFill>
                  <a:srgbClr val="111111"/>
                </a:solidFill>
                <a:latin typeface="Roca Two Bold"/>
                <a:ea typeface="Roca Two Bold"/>
                <a:cs typeface="Roca Two Bold"/>
                <a:sym typeface="Roca Two Bold"/>
              </a:rPr>
              <a:t>Explainable AI in Recommendation Systems</a:t>
            </a:r>
          </a:p>
        </p:txBody>
      </p:sp>
      <p:sp>
        <p:nvSpPr>
          <p:cNvPr id="8" name="TextBox 7"/>
          <p:cNvSpPr txBox="1"/>
          <p:nvPr/>
        </p:nvSpPr>
        <p:spPr>
          <a:xfrm>
            <a:off x="1028700" y="3913632"/>
            <a:ext cx="16230600" cy="457200"/>
          </a:xfrm>
          <a:prstGeom prst="rect">
            <a:avLst/>
          </a:prstGeom>
          <a:noFill/>
        </p:spPr>
        <p:txBody>
          <a:bodyPr anchor="t" rtlCol="false" lIns="0" tIns="0" rIns="0" bIns="0" wrap="square"/>
          <a:lstStyle/>
          <a:p>
            <a:pPr algn="ctr">
              <a:lnSpc>
                <a:spcPts val="3000"/>
              </a:lnSpc>
              <a:spcBef>
                <a:spcPts val="0"/>
              </a:spcBef>
              <a:buNone/>
            </a:pPr>
            <a:r>
              <a:rPr lang="en-US" sz="2500" b="true" spc="-100">
                <a:solidFill>
                  <a:srgbClr val="4472C4"/>
                </a:solidFill>
                <a:latin typeface="Nunito Bold"/>
                <a:ea typeface="Nunito Bold"/>
                <a:cs typeface="Nunito Bold"/>
                <a:sym typeface="Nunito Bold"/>
              </a:rPr>
              <a:t>A Shapley Framework for Actionable Insight</a:t>
            </a:r>
          </a:p>
        </p:txBody>
      </p:sp>
      <p:sp>
        <p:nvSpPr>
          <p:cNvPr id="9" name="Rounded Rectangle 8"/>
          <p:cNvSpPr/>
          <p:nvPr/>
        </p:nvSpPr>
        <p:spPr>
          <a:xfrm>
            <a:off x="2926080" y="4526280"/>
            <a:ext cx="6035040" cy="786384"/>
          </a:xfrm>
          <a:prstGeom prst="roundRect">
            <a:avLst>
              <a:gd name="adj" fmla="val 27906"/>
            </a:avLst>
          </a:prstGeom>
          <a:solidFill>
            <a:srgbClr val="4472C4"/>
          </a:solidFill>
          <a:ln>
            <a:noFill/>
          </a:ln>
        </p:spPr>
        <p:txBody>
          <a:bodyPr anchor="ctr" rtlCol="false" lIns="91440" tIns="45720" rIns="91440" bIns="45720" wrap="square"/>
          <a:lstStyle/>
          <a:p>
            <a:pPr algn="ctr">
              <a:lnSpc>
                <a:spcPts val="1400"/>
              </a:lnSpc>
              <a:spcBef>
                <a:spcPts val="0"/>
              </a:spcBef>
              <a:buNone/>
            </a:pPr>
            <a:r>
              <a:rPr lang="en-US" sz="1100" b="true" spc="150">
                <a:solidFill>
                  <a:srgbClr val="ECC665"/>
                </a:solidFill>
                <a:latin typeface="Nunito Ultra-Bold"/>
                <a:ea typeface="Nunito Ultra-Bold"/>
                <a:cs typeface="Nunito Ultra-Bold"/>
                <a:sym typeface="Nunito Ultra-Bold"/>
              </a:rPr>
              <a:t>PHD VIVA PRESENTED BY</a:t>
            </a:r>
          </a:p>
          <a:p>
            <a:pPr algn="ctr">
              <a:lnSpc>
                <a:spcPts val="2600"/>
              </a:lnSpc>
              <a:spcBef>
                <a:spcPts val="200"/>
              </a:spcBef>
              <a:buNone/>
            </a:pPr>
            <a:r>
              <a:rPr lang="en-US" sz="2200" b="true">
                <a:solidFill>
                  <a:srgbClr val="FFFFFF"/>
                </a:solidFill>
                <a:latin typeface="Nunito Ultra-Bold"/>
                <a:ea typeface="Nunito Ultra-Bold"/>
                <a:cs typeface="Nunito Ultra-Bold"/>
                <a:sym typeface="Nunito Ultra-Bold"/>
              </a:rPr>
              <a:t>Mouad LOUHICHI</a:t>
            </a:r>
          </a:p>
        </p:txBody>
      </p:sp>
      <p:sp>
        <p:nvSpPr>
          <p:cNvPr id="10" name="Rounded Rectangle 9"/>
          <p:cNvSpPr/>
          <p:nvPr/>
        </p:nvSpPr>
        <p:spPr>
          <a:xfrm>
            <a:off x="9326880" y="4526280"/>
            <a:ext cx="6035040" cy="786384"/>
          </a:xfrm>
          <a:prstGeom prst="roundRect">
            <a:avLst>
              <a:gd name="adj" fmla="val 27906"/>
            </a:avLst>
          </a:prstGeom>
          <a:solidFill>
            <a:srgbClr val="F6ECDF"/>
          </a:solidFill>
          <a:ln>
            <a:noFill/>
          </a:ln>
        </p:spPr>
        <p:txBody>
          <a:bodyPr anchor="ctr" rtlCol="false" lIns="91440" tIns="45720" rIns="91440" bIns="45720" wrap="square"/>
          <a:lstStyle/>
          <a:p>
            <a:pPr algn="ctr">
              <a:lnSpc>
                <a:spcPts val="1400"/>
              </a:lnSpc>
              <a:spcBef>
                <a:spcPts val="0"/>
              </a:spcBef>
              <a:buNone/>
            </a:pPr>
            <a:r>
              <a:rPr lang="en-US" sz="1100" b="true" spc="150">
                <a:solidFill>
                  <a:srgbClr val="1F7A8C"/>
                </a:solidFill>
                <a:latin typeface="Nunito Ultra-Bold"/>
                <a:ea typeface="Nunito Ultra-Bold"/>
                <a:cs typeface="Nunito Ultra-Bold"/>
                <a:sym typeface="Nunito Ultra-Bold"/>
              </a:rPr>
              <a:t>SUPERVISED BY</a:t>
            </a:r>
          </a:p>
          <a:p>
            <a:pPr algn="ctr">
              <a:lnSpc>
                <a:spcPts val="2400"/>
              </a:lnSpc>
              <a:spcBef>
                <a:spcPts val="200"/>
              </a:spcBef>
              <a:buNone/>
            </a:pPr>
            <a:r>
              <a:rPr lang="en-US" sz="2000" b="true">
                <a:solidFill>
                  <a:srgbClr val="111111"/>
                </a:solidFill>
                <a:latin typeface="Nunito Ultra-Bold"/>
                <a:ea typeface="Nunito Ultra-Bold"/>
                <a:cs typeface="Nunito Ultra-Bold"/>
                <a:sym typeface="Nunito Ultra-Bold"/>
              </a:rPr>
              <a:t>Pr. Mohamed LAZAAR  ·  PES, ENSIAS</a:t>
            </a:r>
          </a:p>
        </p:txBody>
      </p:sp>
      <p:sp>
        <p:nvSpPr>
          <p:cNvPr id="11" name="TextBox 10"/>
          <p:cNvSpPr txBox="1"/>
          <p:nvPr/>
        </p:nvSpPr>
        <p:spPr>
          <a:xfrm>
            <a:off x="1028700" y="5504688"/>
            <a:ext cx="16230600" cy="274320"/>
          </a:xfrm>
          <a:prstGeom prst="rect">
            <a:avLst/>
          </a:prstGeom>
          <a:noFill/>
        </p:spPr>
        <p:txBody>
          <a:bodyPr anchor="t" rtlCol="false" lIns="0" tIns="0" rIns="0" bIns="0" wrap="square"/>
          <a:lstStyle/>
          <a:p>
            <a:pPr algn="l">
              <a:lnSpc>
                <a:spcPts val="1500"/>
              </a:lnSpc>
              <a:spcBef>
                <a:spcPts val="0"/>
              </a:spcBef>
              <a:buNone/>
            </a:pPr>
            <a:r>
              <a:rPr lang="en-US" sz="1200" b="true" spc="200">
                <a:solidFill>
                  <a:srgbClr val="8A8378"/>
                </a:solidFill>
                <a:latin typeface="Nunito Ultra-Bold"/>
                <a:ea typeface="Nunito Ultra-Bold"/>
                <a:cs typeface="Nunito Ultra-Bold"/>
                <a:sym typeface="Nunito Ultra-Bold"/>
              </a:rPr>
              <a:t>JURY MEMBERS</a:t>
            </a:r>
          </a:p>
        </p:txBody>
      </p:sp>
      <p:graphicFrame>
        <p:nvGraphicFramePr>
          <p:cNvPr id="12" name="Table 11"/>
          <p:cNvGraphicFramePr>
            <a:graphicFrameLocks noGrp="1"/>
          </p:cNvGraphicFramePr>
          <p:nvPr/>
        </p:nvGraphicFramePr>
        <p:xfrm>
          <a:off x="1028700" y="5797296"/>
          <a:ext cx="16230599" cy="3552190"/>
        </p:xfrm>
        <a:graphic>
          <a:graphicData uri="http://schemas.openxmlformats.org/drawingml/2006/table">
            <a:tbl>
              <a:tblPr firstRow="0" bandRow="0" firstCol="0" lastRow="0" lastCol="0" bandCol="0">
                <a:tableStyleId>{2D5ABB26-0587-4C30-8999-92F81FD0307C}</a:tableStyleId>
              </a:tblPr>
              <a:tblGrid>
                <a:gridCol w="1971942"/>
                <a:gridCol w="5005699"/>
                <a:gridCol w="1365190"/>
                <a:gridCol w="7887768"/>
              </a:tblGrid>
              <a:tr h="340360">
                <a:tc>
                  <a:txBody>
                    <a:bodyPr anchor="ctr" rtlCol="false" lIns="0" tIns="0" rIns="0" bIns="0" wrap="square"/>
                    <a:lstStyle/>
                    <a:p>
                      <a:pPr algn="l">
                        <a:lnSpc>
                          <a:spcPts val="1560"/>
                        </a:lnSpc>
                        <a:spcBef>
                          <a:spcPts val="0"/>
                        </a:spcBef>
                        <a:buNone/>
                      </a:pPr>
                      <a:r>
                        <a:rPr lang="en-US" sz="1200" b="true">
                          <a:solidFill>
                            <a:srgbClr val="FFFFFF"/>
                          </a:solidFill>
                          <a:latin typeface="Nunito Bold"/>
                          <a:ea typeface="Nunito Bold"/>
                          <a:cs typeface="Nunito Bold"/>
                          <a:sym typeface="Nunito Bold"/>
                        </a:rPr>
                        <a:t>Role</a:t>
                      </a:r>
                    </a:p>
                  </a:txBody>
                  <a:tcPr marL="45720" marR="45720" marT="45720" marB="45720" anchor="ctr">
                    <a:lnL w="12700" cap="flat" cmpd="sng" algn="ctr">
                      <a:solidFill>
                        <a:srgbClr val="4472C4"/>
                      </a:solidFill>
                      <a:prstDash val="solid"/>
                    </a:lnL>
                    <a:lnR w="12700" cap="flat" cmpd="sng" algn="ctr">
                      <a:solidFill>
                        <a:srgbClr val="4472C4"/>
                      </a:solidFill>
                      <a:prstDash val="solid"/>
                    </a:lnR>
                    <a:lnT w="12700" cap="flat" cmpd="sng" algn="ctr">
                      <a:solidFill>
                        <a:srgbClr val="4472C4"/>
                      </a:solidFill>
                      <a:prstDash val="solid"/>
                    </a:lnT>
                    <a:lnB w="12700" cap="flat" cmpd="sng" algn="ctr">
                      <a:solidFill>
                        <a:srgbClr val="4472C4"/>
                      </a:solidFill>
                      <a:prstDash val="solid"/>
                    </a:lnB>
                    <a:solidFill>
                      <a:srgbClr val="4472C4"/>
                    </a:solidFill>
                  </a:tcPr>
                </a:tc>
                <a:tc>
                  <a:txBody>
                    <a:bodyPr anchor="ctr" rtlCol="false" lIns="0" tIns="0" rIns="0" bIns="0" wrap="square"/>
                    <a:lstStyle/>
                    <a:p>
                      <a:pPr algn="l">
                        <a:lnSpc>
                          <a:spcPts val="1560"/>
                        </a:lnSpc>
                        <a:spcBef>
                          <a:spcPts val="0"/>
                        </a:spcBef>
                        <a:buNone/>
                      </a:pPr>
                      <a:r>
                        <a:rPr lang="en-US" sz="1200" b="true">
                          <a:solidFill>
                            <a:srgbClr val="FFFFFF"/>
                          </a:solidFill>
                          <a:latin typeface="Nunito Bold"/>
                          <a:ea typeface="Nunito Bold"/>
                          <a:cs typeface="Nunito Bold"/>
                          <a:sym typeface="Nunito Bold"/>
                        </a:rPr>
                        <a:t>Name</a:t>
                      </a:r>
                    </a:p>
                  </a:txBody>
                  <a:tcPr marL="45720" marR="45720" marT="45720" marB="45720" anchor="ctr">
                    <a:lnL w="12700" cap="flat" cmpd="sng" algn="ctr">
                      <a:solidFill>
                        <a:srgbClr val="4472C4"/>
                      </a:solidFill>
                      <a:prstDash val="solid"/>
                    </a:lnL>
                    <a:lnR w="12700" cap="flat" cmpd="sng" algn="ctr">
                      <a:solidFill>
                        <a:srgbClr val="4472C4"/>
                      </a:solidFill>
                      <a:prstDash val="solid"/>
                    </a:lnR>
                    <a:lnT w="12700" cap="flat" cmpd="sng" algn="ctr">
                      <a:solidFill>
                        <a:srgbClr val="4472C4"/>
                      </a:solidFill>
                      <a:prstDash val="solid"/>
                    </a:lnT>
                    <a:lnB w="12700" cap="flat" cmpd="sng" algn="ctr">
                      <a:solidFill>
                        <a:srgbClr val="4472C4"/>
                      </a:solidFill>
                      <a:prstDash val="solid"/>
                    </a:lnB>
                    <a:solidFill>
                      <a:srgbClr val="4472C4"/>
                    </a:solidFill>
                  </a:tcPr>
                </a:tc>
                <a:tc>
                  <a:txBody>
                    <a:bodyPr anchor="ctr" rtlCol="false" lIns="0" tIns="0" rIns="0" bIns="0" wrap="square"/>
                    <a:lstStyle/>
                    <a:p>
                      <a:pPr algn="ctr">
                        <a:lnSpc>
                          <a:spcPts val="1560"/>
                        </a:lnSpc>
                        <a:spcBef>
                          <a:spcPts val="0"/>
                        </a:spcBef>
                        <a:buNone/>
                      </a:pPr>
                      <a:r>
                        <a:rPr lang="en-US" sz="1200" b="true">
                          <a:solidFill>
                            <a:srgbClr val="FFFFFF"/>
                          </a:solidFill>
                          <a:latin typeface="Nunito Bold"/>
                          <a:ea typeface="Nunito Bold"/>
                          <a:cs typeface="Nunito Bold"/>
                          <a:sym typeface="Nunito Bold"/>
                        </a:rPr>
                        <a:t>Grade</a:t>
                      </a:r>
                    </a:p>
                  </a:txBody>
                  <a:tcPr marL="45720" marR="45720" marT="45720" marB="45720" anchor="ctr">
                    <a:lnL w="12700" cap="flat" cmpd="sng" algn="ctr">
                      <a:solidFill>
                        <a:srgbClr val="4472C4"/>
                      </a:solidFill>
                      <a:prstDash val="solid"/>
                    </a:lnL>
                    <a:lnR w="12700" cap="flat" cmpd="sng" algn="ctr">
                      <a:solidFill>
                        <a:srgbClr val="4472C4"/>
                      </a:solidFill>
                      <a:prstDash val="solid"/>
                    </a:lnR>
                    <a:lnT w="12700" cap="flat" cmpd="sng" algn="ctr">
                      <a:solidFill>
                        <a:srgbClr val="4472C4"/>
                      </a:solidFill>
                      <a:prstDash val="solid"/>
                    </a:lnT>
                    <a:lnB w="12700" cap="flat" cmpd="sng" algn="ctr">
                      <a:solidFill>
                        <a:srgbClr val="4472C4"/>
                      </a:solidFill>
                      <a:prstDash val="solid"/>
                    </a:lnB>
                    <a:solidFill>
                      <a:srgbClr val="4472C4"/>
                    </a:solidFill>
                  </a:tcPr>
                </a:tc>
                <a:tc>
                  <a:txBody>
                    <a:bodyPr anchor="ctr" rtlCol="false" lIns="0" tIns="0" rIns="0" bIns="0" wrap="square"/>
                    <a:lstStyle/>
                    <a:p>
                      <a:pPr algn="l">
                        <a:lnSpc>
                          <a:spcPts val="1560"/>
                        </a:lnSpc>
                        <a:spcBef>
                          <a:spcPts val="0"/>
                        </a:spcBef>
                        <a:buNone/>
                      </a:pPr>
                      <a:r>
                        <a:rPr lang="en-US" sz="1200" b="true">
                          <a:solidFill>
                            <a:srgbClr val="FFFFFF"/>
                          </a:solidFill>
                          <a:latin typeface="Nunito Bold"/>
                          <a:ea typeface="Nunito Bold"/>
                          <a:cs typeface="Nunito Bold"/>
                          <a:sym typeface="Nunito Bold"/>
                        </a:rPr>
                        <a:t>Institution</a:t>
                      </a:r>
                    </a:p>
                  </a:txBody>
                  <a:tcPr marL="45720" marR="45720" marT="45720" marB="45720" anchor="ctr">
                    <a:lnL w="12700" cap="flat" cmpd="sng" algn="ctr">
                      <a:solidFill>
                        <a:srgbClr val="4472C4"/>
                      </a:solidFill>
                      <a:prstDash val="solid"/>
                    </a:lnL>
                    <a:lnR w="12700" cap="flat" cmpd="sng" algn="ctr">
                      <a:solidFill>
                        <a:srgbClr val="4472C4"/>
                      </a:solidFill>
                      <a:prstDash val="solid"/>
                    </a:lnR>
                    <a:lnT w="12700" cap="flat" cmpd="sng" algn="ctr">
                      <a:solidFill>
                        <a:srgbClr val="4472C4"/>
                      </a:solidFill>
                      <a:prstDash val="solid"/>
                    </a:lnT>
                    <a:lnB w="12700" cap="flat" cmpd="sng" algn="ctr">
                      <a:solidFill>
                        <a:srgbClr val="4472C4"/>
                      </a:solidFill>
                      <a:prstDash val="solid"/>
                    </a:lnB>
                    <a:solidFill>
                      <a:srgbClr val="4472C4"/>
                    </a:solidFill>
                  </a:tcPr>
                </a:tc>
              </a:tr>
              <a:tr h="356870">
                <a:tc>
                  <a:txBody>
                    <a:bodyPr anchor="ctr" rtlCol="false" lIns="0" tIns="0" rIns="0" bIns="0" wrap="square"/>
                    <a:lstStyle/>
                    <a:p>
                      <a:pPr algn="l">
                        <a:lnSpc>
                          <a:spcPts val="1690"/>
                        </a:lnSpc>
                        <a:spcBef>
                          <a:spcPts val="0"/>
                        </a:spcBef>
                        <a:buNone/>
                      </a:pPr>
                      <a:r>
                        <a:rPr lang="en-US" sz="1300" b="true">
                          <a:solidFill>
                            <a:srgbClr val="111111"/>
                          </a:solidFill>
                          <a:latin typeface="Nunito Bold"/>
                          <a:ea typeface="Nunito Bold"/>
                          <a:cs typeface="Nunito Bold"/>
                          <a:sym typeface="Nunito Bold"/>
                        </a:rPr>
                        <a:t>President</a:t>
                      </a:r>
                    </a:p>
                  </a:txBody>
                  <a:tcPr marL="45720" marR="45720"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c>
                  <a:txBody>
                    <a:bodyPr anchor="ctr" rtlCol="false" lIns="0" tIns="0" rIns="0" bIns="0" wrap="square"/>
                    <a:lstStyle/>
                    <a:p>
                      <a:pPr algn="l">
                        <a:lnSpc>
                          <a:spcPts val="1690"/>
                        </a:lnSpc>
                        <a:spcBef>
                          <a:spcPts val="0"/>
                        </a:spcBef>
                        <a:buNone/>
                      </a:pPr>
                      <a:r>
                        <a:rPr lang="en-US" sz="1300" b="true">
                          <a:solidFill>
                            <a:srgbClr val="111111"/>
                          </a:solidFill>
                          <a:latin typeface="Nunito Semi-Bold"/>
                          <a:ea typeface="Nunito Semi-Bold"/>
                          <a:cs typeface="Nunito Semi-Bold"/>
                          <a:sym typeface="Nunito Semi-Bold"/>
                        </a:rPr>
                        <a:t>Pr. Abdellatif EL AFIA</a:t>
                      </a:r>
                    </a:p>
                  </a:txBody>
                  <a:tcPr marL="45720" marR="45720"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c>
                  <a:txBody>
                    <a:bodyPr anchor="ctr" rtlCol="false" lIns="0" tIns="0" rIns="0" bIns="0" wrap="square"/>
                    <a:lstStyle/>
                    <a:p>
                      <a:pPr algn="ctr">
                        <a:lnSpc>
                          <a:spcPts val="1690"/>
                        </a:lnSpc>
                        <a:spcBef>
                          <a:spcPts val="0"/>
                        </a:spcBef>
                        <a:buNone/>
                      </a:pPr>
                      <a:r>
                        <a:rPr lang="en-US" sz="1300" b="true">
                          <a:solidFill>
                            <a:srgbClr val="111111"/>
                          </a:solidFill>
                          <a:latin typeface="Nunito Semi-Bold"/>
                          <a:ea typeface="Nunito Semi-Bold"/>
                          <a:cs typeface="Nunito Semi-Bold"/>
                          <a:sym typeface="Nunito Semi-Bold"/>
                        </a:rPr>
                        <a:t>PES</a:t>
                      </a:r>
                    </a:p>
                  </a:txBody>
                  <a:tcPr marL="45720" marR="45720"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c>
                  <a:txBody>
                    <a:bodyPr anchor="ctr" rtlCol="false" lIns="0" tIns="0" rIns="0" bIns="0" wrap="square"/>
                    <a:lstStyle/>
                    <a:p>
                      <a:pPr algn="l">
                        <a:lnSpc>
                          <a:spcPts val="1690"/>
                        </a:lnSpc>
                        <a:spcBef>
                          <a:spcPts val="0"/>
                        </a:spcBef>
                        <a:buNone/>
                      </a:pPr>
                      <a:r>
                        <a:rPr lang="en-US" sz="1300" b="true">
                          <a:solidFill>
                            <a:srgbClr val="111111"/>
                          </a:solidFill>
                          <a:latin typeface="Nunito Semi-Bold"/>
                          <a:ea typeface="Nunito Semi-Bold"/>
                          <a:cs typeface="Nunito Semi-Bold"/>
                          <a:sym typeface="Nunito Semi-Bold"/>
                        </a:rPr>
                        <a:t>ENSIAS, Mohammed V University, Rabat</a:t>
                      </a:r>
                    </a:p>
                  </a:txBody>
                  <a:tcPr marL="45720" marR="45720"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r>
              <a:tr h="356870">
                <a:tc>
                  <a:txBody>
                    <a:bodyPr anchor="ctr" rtlCol="false" lIns="0" tIns="0" rIns="0" bIns="0" wrap="square"/>
                    <a:lstStyle/>
                    <a:p>
                      <a:pPr algn="l">
                        <a:lnSpc>
                          <a:spcPts val="1690"/>
                        </a:lnSpc>
                        <a:spcBef>
                          <a:spcPts val="0"/>
                        </a:spcBef>
                        <a:buNone/>
                      </a:pPr>
                      <a:r>
                        <a:rPr lang="en-US" sz="1300" b="true">
                          <a:solidFill>
                            <a:srgbClr val="111111"/>
                          </a:solidFill>
                          <a:latin typeface="Nunito Bold"/>
                          <a:ea typeface="Nunito Bold"/>
                          <a:cs typeface="Nunito Bold"/>
                          <a:sym typeface="Nunito Bold"/>
                        </a:rPr>
                        <a:t>Supervisor</a:t>
                      </a:r>
                    </a:p>
                  </a:txBody>
                  <a:tcPr marL="45720" marR="45720"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6ECDF"/>
                    </a:solidFill>
                  </a:tcPr>
                </a:tc>
                <a:tc>
                  <a:txBody>
                    <a:bodyPr anchor="ctr" rtlCol="false" lIns="0" tIns="0" rIns="0" bIns="0" wrap="square"/>
                    <a:lstStyle/>
                    <a:p>
                      <a:pPr algn="l">
                        <a:lnSpc>
                          <a:spcPts val="1690"/>
                        </a:lnSpc>
                        <a:spcBef>
                          <a:spcPts val="0"/>
                        </a:spcBef>
                        <a:buNone/>
                      </a:pPr>
                      <a:r>
                        <a:rPr lang="en-US" sz="1300" b="true">
                          <a:solidFill>
                            <a:srgbClr val="111111"/>
                          </a:solidFill>
                          <a:latin typeface="Nunito Semi-Bold"/>
                          <a:ea typeface="Nunito Semi-Bold"/>
                          <a:cs typeface="Nunito Semi-Bold"/>
                          <a:sym typeface="Nunito Semi-Bold"/>
                        </a:rPr>
                        <a:t>Pr. Mohamed LAZAAR</a:t>
                      </a:r>
                    </a:p>
                  </a:txBody>
                  <a:tcPr marL="45720" marR="45720"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6ECDF"/>
                    </a:solidFill>
                  </a:tcPr>
                </a:tc>
                <a:tc>
                  <a:txBody>
                    <a:bodyPr anchor="ctr" rtlCol="false" lIns="0" tIns="0" rIns="0" bIns="0" wrap="square"/>
                    <a:lstStyle/>
                    <a:p>
                      <a:pPr algn="ctr">
                        <a:lnSpc>
                          <a:spcPts val="1690"/>
                        </a:lnSpc>
                        <a:spcBef>
                          <a:spcPts val="0"/>
                        </a:spcBef>
                        <a:buNone/>
                      </a:pPr>
                      <a:r>
                        <a:rPr lang="en-US" sz="1300" b="true">
                          <a:solidFill>
                            <a:srgbClr val="111111"/>
                          </a:solidFill>
                          <a:latin typeface="Nunito Semi-Bold"/>
                          <a:ea typeface="Nunito Semi-Bold"/>
                          <a:cs typeface="Nunito Semi-Bold"/>
                          <a:sym typeface="Nunito Semi-Bold"/>
                        </a:rPr>
                        <a:t>PES</a:t>
                      </a:r>
                    </a:p>
                  </a:txBody>
                  <a:tcPr marL="45720" marR="45720"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6ECDF"/>
                    </a:solidFill>
                  </a:tcPr>
                </a:tc>
                <a:tc>
                  <a:txBody>
                    <a:bodyPr anchor="ctr" rtlCol="false" lIns="0" tIns="0" rIns="0" bIns="0" wrap="square"/>
                    <a:lstStyle/>
                    <a:p>
                      <a:pPr algn="l">
                        <a:lnSpc>
                          <a:spcPts val="1690"/>
                        </a:lnSpc>
                        <a:spcBef>
                          <a:spcPts val="0"/>
                        </a:spcBef>
                        <a:buNone/>
                      </a:pPr>
                      <a:r>
                        <a:rPr lang="en-US" sz="1300" b="true">
                          <a:solidFill>
                            <a:srgbClr val="111111"/>
                          </a:solidFill>
                          <a:latin typeface="Nunito Semi-Bold"/>
                          <a:ea typeface="Nunito Semi-Bold"/>
                          <a:cs typeface="Nunito Semi-Bold"/>
                          <a:sym typeface="Nunito Semi-Bold"/>
                        </a:rPr>
                        <a:t>ENSIAS, Mohammed V University, Rabat</a:t>
                      </a:r>
                    </a:p>
                  </a:txBody>
                  <a:tcPr marL="45720" marR="45720"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6ECDF"/>
                    </a:solidFill>
                  </a:tcPr>
                </a:tc>
              </a:tr>
              <a:tr h="356870">
                <a:tc>
                  <a:txBody>
                    <a:bodyPr anchor="ctr" rtlCol="false" lIns="0" tIns="0" rIns="0" bIns="0" wrap="square"/>
                    <a:lstStyle/>
                    <a:p>
                      <a:pPr algn="l">
                        <a:lnSpc>
                          <a:spcPts val="1690"/>
                        </a:lnSpc>
                        <a:spcBef>
                          <a:spcPts val="0"/>
                        </a:spcBef>
                        <a:buNone/>
                      </a:pPr>
                      <a:r>
                        <a:rPr lang="en-US" sz="1300" b="true">
                          <a:solidFill>
                            <a:srgbClr val="111111"/>
                          </a:solidFill>
                          <a:latin typeface="Nunito Bold"/>
                          <a:ea typeface="Nunito Bold"/>
                          <a:cs typeface="Nunito Bold"/>
                          <a:sym typeface="Nunito Bold"/>
                        </a:rPr>
                        <a:t>Reviewer</a:t>
                      </a:r>
                    </a:p>
                  </a:txBody>
                  <a:tcPr marL="45720" marR="45720"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c>
                  <a:txBody>
                    <a:bodyPr anchor="ctr" rtlCol="false" lIns="0" tIns="0" rIns="0" bIns="0" wrap="square"/>
                    <a:lstStyle/>
                    <a:p>
                      <a:pPr algn="l">
                        <a:lnSpc>
                          <a:spcPts val="1690"/>
                        </a:lnSpc>
                        <a:spcBef>
                          <a:spcPts val="0"/>
                        </a:spcBef>
                        <a:buNone/>
                      </a:pPr>
                      <a:r>
                        <a:rPr lang="en-US" sz="1300" b="true">
                          <a:solidFill>
                            <a:srgbClr val="111111"/>
                          </a:solidFill>
                          <a:latin typeface="Nunito Semi-Bold"/>
                          <a:ea typeface="Nunito Semi-Bold"/>
                          <a:cs typeface="Nunito Semi-Bold"/>
                          <a:sym typeface="Nunito Semi-Bold"/>
                        </a:rPr>
                        <a:t>Pr. M'hamed AIT KBIR</a:t>
                      </a:r>
                    </a:p>
                  </a:txBody>
                  <a:tcPr marL="45720" marR="45720"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c>
                  <a:txBody>
                    <a:bodyPr anchor="ctr" rtlCol="false" lIns="0" tIns="0" rIns="0" bIns="0" wrap="square"/>
                    <a:lstStyle/>
                    <a:p>
                      <a:pPr algn="ctr">
                        <a:lnSpc>
                          <a:spcPts val="1690"/>
                        </a:lnSpc>
                        <a:spcBef>
                          <a:spcPts val="0"/>
                        </a:spcBef>
                        <a:buNone/>
                      </a:pPr>
                      <a:r>
                        <a:rPr lang="en-US" sz="1300" b="true">
                          <a:solidFill>
                            <a:srgbClr val="111111"/>
                          </a:solidFill>
                          <a:latin typeface="Nunito Semi-Bold"/>
                          <a:ea typeface="Nunito Semi-Bold"/>
                          <a:cs typeface="Nunito Semi-Bold"/>
                          <a:sym typeface="Nunito Semi-Bold"/>
                        </a:rPr>
                        <a:t>PES</a:t>
                      </a:r>
                    </a:p>
                  </a:txBody>
                  <a:tcPr marL="45720" marR="45720"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c>
                  <a:txBody>
                    <a:bodyPr anchor="ctr" rtlCol="false" lIns="0" tIns="0" rIns="0" bIns="0" wrap="square"/>
                    <a:lstStyle/>
                    <a:p>
                      <a:pPr algn="l">
                        <a:lnSpc>
                          <a:spcPts val="1690"/>
                        </a:lnSpc>
                        <a:spcBef>
                          <a:spcPts val="0"/>
                        </a:spcBef>
                        <a:buNone/>
                      </a:pPr>
                      <a:r>
                        <a:rPr lang="en-US" sz="1300" b="true">
                          <a:solidFill>
                            <a:srgbClr val="111111"/>
                          </a:solidFill>
                          <a:latin typeface="Nunito Semi-Bold"/>
                          <a:ea typeface="Nunito Semi-Bold"/>
                          <a:cs typeface="Nunito Semi-Bold"/>
                          <a:sym typeface="Nunito Semi-Bold"/>
                        </a:rPr>
                        <a:t>FST, Abdelmalek Essaâdi University, Tangier</a:t>
                      </a:r>
                    </a:p>
                  </a:txBody>
                  <a:tcPr marL="45720" marR="45720"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r>
              <a:tr h="356870">
                <a:tc>
                  <a:txBody>
                    <a:bodyPr anchor="ctr" rtlCol="false" lIns="0" tIns="0" rIns="0" bIns="0" wrap="square"/>
                    <a:lstStyle/>
                    <a:p>
                      <a:pPr algn="l">
                        <a:lnSpc>
                          <a:spcPts val="1690"/>
                        </a:lnSpc>
                        <a:spcBef>
                          <a:spcPts val="0"/>
                        </a:spcBef>
                        <a:buNone/>
                      </a:pPr>
                      <a:r>
                        <a:rPr lang="en-US" sz="1300" b="true">
                          <a:solidFill>
                            <a:srgbClr val="111111"/>
                          </a:solidFill>
                          <a:latin typeface="Nunito Bold"/>
                          <a:ea typeface="Nunito Bold"/>
                          <a:cs typeface="Nunito Bold"/>
                          <a:sym typeface="Nunito Bold"/>
                        </a:rPr>
                        <a:t>Reviewer</a:t>
                      </a:r>
                    </a:p>
                  </a:txBody>
                  <a:tcPr marL="45720" marR="45720"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6ECDF"/>
                    </a:solidFill>
                  </a:tcPr>
                </a:tc>
                <a:tc>
                  <a:txBody>
                    <a:bodyPr anchor="ctr" rtlCol="false" lIns="0" tIns="0" rIns="0" bIns="0" wrap="square"/>
                    <a:lstStyle/>
                    <a:p>
                      <a:pPr algn="l">
                        <a:lnSpc>
                          <a:spcPts val="1690"/>
                        </a:lnSpc>
                        <a:spcBef>
                          <a:spcPts val="0"/>
                        </a:spcBef>
                        <a:buNone/>
                      </a:pPr>
                      <a:r>
                        <a:rPr lang="en-US" sz="1300" b="true">
                          <a:solidFill>
                            <a:srgbClr val="111111"/>
                          </a:solidFill>
                          <a:latin typeface="Nunito Semi-Bold"/>
                          <a:ea typeface="Nunito Semi-Bold"/>
                          <a:cs typeface="Nunito Semi-Bold"/>
                          <a:sym typeface="Nunito Semi-Bold"/>
                        </a:rPr>
                        <a:t>Pr. Oussama MAHBOUB</a:t>
                      </a:r>
                    </a:p>
                  </a:txBody>
                  <a:tcPr marL="45720" marR="45720"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6ECDF"/>
                    </a:solidFill>
                  </a:tcPr>
                </a:tc>
                <a:tc>
                  <a:txBody>
                    <a:bodyPr anchor="ctr" rtlCol="false" lIns="0" tIns="0" rIns="0" bIns="0" wrap="square"/>
                    <a:lstStyle/>
                    <a:p>
                      <a:pPr algn="ctr">
                        <a:lnSpc>
                          <a:spcPts val="1690"/>
                        </a:lnSpc>
                        <a:spcBef>
                          <a:spcPts val="0"/>
                        </a:spcBef>
                        <a:buNone/>
                      </a:pPr>
                      <a:r>
                        <a:rPr lang="en-US" sz="1300" b="true">
                          <a:solidFill>
                            <a:srgbClr val="111111"/>
                          </a:solidFill>
                          <a:latin typeface="Nunito Semi-Bold"/>
                          <a:ea typeface="Nunito Semi-Bold"/>
                          <a:cs typeface="Nunito Semi-Bold"/>
                          <a:sym typeface="Nunito Semi-Bold"/>
                        </a:rPr>
                        <a:t>PES</a:t>
                      </a:r>
                    </a:p>
                  </a:txBody>
                  <a:tcPr marL="45720" marR="45720"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6ECDF"/>
                    </a:solidFill>
                  </a:tcPr>
                </a:tc>
                <a:tc>
                  <a:txBody>
                    <a:bodyPr anchor="ctr" rtlCol="false" lIns="0" tIns="0" rIns="0" bIns="0" wrap="square"/>
                    <a:lstStyle/>
                    <a:p>
                      <a:pPr algn="l">
                        <a:lnSpc>
                          <a:spcPts val="1690"/>
                        </a:lnSpc>
                        <a:spcBef>
                          <a:spcPts val="0"/>
                        </a:spcBef>
                        <a:buNone/>
                      </a:pPr>
                      <a:r>
                        <a:rPr lang="en-US" sz="1300" b="true">
                          <a:solidFill>
                            <a:srgbClr val="111111"/>
                          </a:solidFill>
                          <a:latin typeface="Nunito Semi-Bold"/>
                          <a:ea typeface="Nunito Semi-Bold"/>
                          <a:cs typeface="Nunito Semi-Bold"/>
                          <a:sym typeface="Nunito Semi-Bold"/>
                        </a:rPr>
                        <a:t>ENSA, Abdelmalek Essaâdi University, Tetouan</a:t>
                      </a:r>
                    </a:p>
                  </a:txBody>
                  <a:tcPr marL="45720" marR="45720"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6ECDF"/>
                    </a:solidFill>
                  </a:tcPr>
                </a:tc>
              </a:tr>
              <a:tr h="356870">
                <a:tc>
                  <a:txBody>
                    <a:bodyPr anchor="ctr" rtlCol="false" lIns="0" tIns="0" rIns="0" bIns="0" wrap="square"/>
                    <a:lstStyle/>
                    <a:p>
                      <a:pPr algn="l">
                        <a:lnSpc>
                          <a:spcPts val="1690"/>
                        </a:lnSpc>
                        <a:spcBef>
                          <a:spcPts val="0"/>
                        </a:spcBef>
                        <a:buNone/>
                      </a:pPr>
                      <a:r>
                        <a:rPr lang="en-US" sz="1300" b="true">
                          <a:solidFill>
                            <a:srgbClr val="111111"/>
                          </a:solidFill>
                          <a:latin typeface="Nunito Bold"/>
                          <a:ea typeface="Nunito Bold"/>
                          <a:cs typeface="Nunito Bold"/>
                          <a:sym typeface="Nunito Bold"/>
                        </a:rPr>
                        <a:t>Reviewer</a:t>
                      </a:r>
                    </a:p>
                  </a:txBody>
                  <a:tcPr marL="45720" marR="45720"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c>
                  <a:txBody>
                    <a:bodyPr anchor="ctr" rtlCol="false" lIns="0" tIns="0" rIns="0" bIns="0" wrap="square"/>
                    <a:lstStyle/>
                    <a:p>
                      <a:pPr algn="l">
                        <a:lnSpc>
                          <a:spcPts val="1690"/>
                        </a:lnSpc>
                        <a:spcBef>
                          <a:spcPts val="0"/>
                        </a:spcBef>
                        <a:buNone/>
                      </a:pPr>
                      <a:r>
                        <a:rPr lang="en-US" sz="1300" b="true">
                          <a:solidFill>
                            <a:srgbClr val="111111"/>
                          </a:solidFill>
                          <a:latin typeface="Nunito Semi-Bold"/>
                          <a:ea typeface="Nunito Semi-Bold"/>
                          <a:cs typeface="Nunito Semi-Bold"/>
                          <a:sym typeface="Nunito Semi-Bold"/>
                        </a:rPr>
                        <a:t>Pr. Noureddine KERZAZI</a:t>
                      </a:r>
                    </a:p>
                  </a:txBody>
                  <a:tcPr marL="45720" marR="45720"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c>
                  <a:txBody>
                    <a:bodyPr anchor="ctr" rtlCol="false" lIns="0" tIns="0" rIns="0" bIns="0" wrap="square"/>
                    <a:lstStyle/>
                    <a:p>
                      <a:pPr algn="ctr">
                        <a:lnSpc>
                          <a:spcPts val="1690"/>
                        </a:lnSpc>
                        <a:spcBef>
                          <a:spcPts val="0"/>
                        </a:spcBef>
                        <a:buNone/>
                      </a:pPr>
                      <a:r>
                        <a:rPr lang="en-US" sz="1300" b="true">
                          <a:solidFill>
                            <a:srgbClr val="111111"/>
                          </a:solidFill>
                          <a:latin typeface="Nunito Semi-Bold"/>
                          <a:ea typeface="Nunito Semi-Bold"/>
                          <a:cs typeface="Nunito Semi-Bold"/>
                          <a:sym typeface="Nunito Semi-Bold"/>
                        </a:rPr>
                        <a:t>MCH</a:t>
                      </a:r>
                    </a:p>
                  </a:txBody>
                  <a:tcPr marL="45720" marR="45720"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c>
                  <a:txBody>
                    <a:bodyPr anchor="ctr" rtlCol="false" lIns="0" tIns="0" rIns="0" bIns="0" wrap="square"/>
                    <a:lstStyle/>
                    <a:p>
                      <a:pPr algn="l">
                        <a:lnSpc>
                          <a:spcPts val="1690"/>
                        </a:lnSpc>
                        <a:spcBef>
                          <a:spcPts val="0"/>
                        </a:spcBef>
                        <a:buNone/>
                      </a:pPr>
                      <a:r>
                        <a:rPr lang="en-US" sz="1300" b="true">
                          <a:solidFill>
                            <a:srgbClr val="111111"/>
                          </a:solidFill>
                          <a:latin typeface="Nunito Semi-Bold"/>
                          <a:ea typeface="Nunito Semi-Bold"/>
                          <a:cs typeface="Nunito Semi-Bold"/>
                          <a:sym typeface="Nunito Semi-Bold"/>
                        </a:rPr>
                        <a:t>ENSIAS, Mohammed V University, Rabat</a:t>
                      </a:r>
                    </a:p>
                  </a:txBody>
                  <a:tcPr marL="45720" marR="45720"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r>
              <a:tr h="356870">
                <a:tc>
                  <a:txBody>
                    <a:bodyPr anchor="ctr" rtlCol="false" lIns="0" tIns="0" rIns="0" bIns="0" wrap="square"/>
                    <a:lstStyle/>
                    <a:p>
                      <a:pPr algn="l">
                        <a:lnSpc>
                          <a:spcPts val="1690"/>
                        </a:lnSpc>
                        <a:spcBef>
                          <a:spcPts val="0"/>
                        </a:spcBef>
                        <a:buNone/>
                      </a:pPr>
                      <a:r>
                        <a:rPr lang="en-US" sz="1300" b="true">
                          <a:solidFill>
                            <a:srgbClr val="111111"/>
                          </a:solidFill>
                          <a:latin typeface="Nunito Bold"/>
                          <a:ea typeface="Nunito Bold"/>
                          <a:cs typeface="Nunito Bold"/>
                          <a:sym typeface="Nunito Bold"/>
                        </a:rPr>
                        <a:t>Examiner</a:t>
                      </a:r>
                    </a:p>
                  </a:txBody>
                  <a:tcPr marL="45720" marR="45720"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6ECDF"/>
                    </a:solidFill>
                  </a:tcPr>
                </a:tc>
                <a:tc>
                  <a:txBody>
                    <a:bodyPr anchor="ctr" rtlCol="false" lIns="0" tIns="0" rIns="0" bIns="0" wrap="square"/>
                    <a:lstStyle/>
                    <a:p>
                      <a:pPr algn="l">
                        <a:lnSpc>
                          <a:spcPts val="1690"/>
                        </a:lnSpc>
                        <a:spcBef>
                          <a:spcPts val="0"/>
                        </a:spcBef>
                        <a:buNone/>
                      </a:pPr>
                      <a:r>
                        <a:rPr lang="en-US" sz="1300" b="true">
                          <a:solidFill>
                            <a:srgbClr val="111111"/>
                          </a:solidFill>
                          <a:latin typeface="Nunito Semi-Bold"/>
                          <a:ea typeface="Nunito Semi-Bold"/>
                          <a:cs typeface="Nunito Semi-Bold"/>
                          <a:sym typeface="Nunito Semi-Bold"/>
                        </a:rPr>
                        <a:t>Pr. Hicham OMARA</a:t>
                      </a:r>
                    </a:p>
                  </a:txBody>
                  <a:tcPr marL="45720" marR="45720"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6ECDF"/>
                    </a:solidFill>
                  </a:tcPr>
                </a:tc>
                <a:tc>
                  <a:txBody>
                    <a:bodyPr anchor="ctr" rtlCol="false" lIns="0" tIns="0" rIns="0" bIns="0" wrap="square"/>
                    <a:lstStyle/>
                    <a:p>
                      <a:pPr algn="ctr">
                        <a:lnSpc>
                          <a:spcPts val="1690"/>
                        </a:lnSpc>
                        <a:spcBef>
                          <a:spcPts val="0"/>
                        </a:spcBef>
                        <a:buNone/>
                      </a:pPr>
                      <a:r>
                        <a:rPr lang="en-US" sz="1300" b="true">
                          <a:solidFill>
                            <a:srgbClr val="111111"/>
                          </a:solidFill>
                          <a:latin typeface="Nunito Semi-Bold"/>
                          <a:ea typeface="Nunito Semi-Bold"/>
                          <a:cs typeface="Nunito Semi-Bold"/>
                          <a:sym typeface="Nunito Semi-Bold"/>
                        </a:rPr>
                        <a:t>MCH</a:t>
                      </a:r>
                    </a:p>
                  </a:txBody>
                  <a:tcPr marL="45720" marR="45720"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6ECDF"/>
                    </a:solidFill>
                  </a:tcPr>
                </a:tc>
                <a:tc>
                  <a:txBody>
                    <a:bodyPr anchor="ctr" rtlCol="false" lIns="0" tIns="0" rIns="0" bIns="0" wrap="square"/>
                    <a:lstStyle/>
                    <a:p>
                      <a:pPr algn="l">
                        <a:lnSpc>
                          <a:spcPts val="1690"/>
                        </a:lnSpc>
                        <a:spcBef>
                          <a:spcPts val="0"/>
                        </a:spcBef>
                        <a:buNone/>
                      </a:pPr>
                      <a:r>
                        <a:rPr lang="en-US" sz="1300" b="true">
                          <a:solidFill>
                            <a:srgbClr val="111111"/>
                          </a:solidFill>
                          <a:latin typeface="Nunito Semi-Bold"/>
                          <a:ea typeface="Nunito Semi-Bold"/>
                          <a:cs typeface="Nunito Semi-Bold"/>
                          <a:sym typeface="Nunito Semi-Bold"/>
                        </a:rPr>
                        <a:t>FP Taza, Sidi Mohamed Ben Abdellah University, Fez</a:t>
                      </a:r>
                    </a:p>
                  </a:txBody>
                  <a:tcPr marL="45720" marR="45720"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6ECDF"/>
                    </a:solidFill>
                  </a:tcPr>
                </a:tc>
              </a:tr>
              <a:tr h="356870">
                <a:tc>
                  <a:txBody>
                    <a:bodyPr anchor="ctr" rtlCol="false" lIns="0" tIns="0" rIns="0" bIns="0" wrap="square"/>
                    <a:lstStyle/>
                    <a:p>
                      <a:pPr algn="l">
                        <a:lnSpc>
                          <a:spcPts val="1690"/>
                        </a:lnSpc>
                        <a:spcBef>
                          <a:spcPts val="0"/>
                        </a:spcBef>
                        <a:buNone/>
                      </a:pPr>
                      <a:r>
                        <a:rPr lang="en-US" sz="1300" b="true">
                          <a:solidFill>
                            <a:srgbClr val="111111"/>
                          </a:solidFill>
                          <a:latin typeface="Nunito Bold"/>
                          <a:ea typeface="Nunito Bold"/>
                          <a:cs typeface="Nunito Bold"/>
                          <a:sym typeface="Nunito Bold"/>
                        </a:rPr>
                        <a:t>Examiner</a:t>
                      </a:r>
                    </a:p>
                  </a:txBody>
                  <a:tcPr marL="45720" marR="45720"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c>
                  <a:txBody>
                    <a:bodyPr anchor="ctr" rtlCol="false" lIns="0" tIns="0" rIns="0" bIns="0" wrap="square"/>
                    <a:lstStyle/>
                    <a:p>
                      <a:pPr algn="l">
                        <a:lnSpc>
                          <a:spcPts val="1690"/>
                        </a:lnSpc>
                        <a:spcBef>
                          <a:spcPts val="0"/>
                        </a:spcBef>
                        <a:buNone/>
                      </a:pPr>
                      <a:r>
                        <a:rPr lang="en-US" sz="1300" b="true">
                          <a:solidFill>
                            <a:srgbClr val="111111"/>
                          </a:solidFill>
                          <a:latin typeface="Nunito Semi-Bold"/>
                          <a:ea typeface="Nunito Semi-Bold"/>
                          <a:cs typeface="Nunito Semi-Bold"/>
                          <a:sym typeface="Nunito Semi-Bold"/>
                        </a:rPr>
                        <a:t>Pr. Fatima OUZAYD</a:t>
                      </a:r>
                    </a:p>
                  </a:txBody>
                  <a:tcPr marL="45720" marR="45720"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c>
                  <a:txBody>
                    <a:bodyPr anchor="ctr" rtlCol="false" lIns="0" tIns="0" rIns="0" bIns="0" wrap="square"/>
                    <a:lstStyle/>
                    <a:p>
                      <a:pPr algn="ctr">
                        <a:lnSpc>
                          <a:spcPts val="1690"/>
                        </a:lnSpc>
                        <a:spcBef>
                          <a:spcPts val="0"/>
                        </a:spcBef>
                        <a:buNone/>
                      </a:pPr>
                      <a:r>
                        <a:rPr lang="en-US" sz="1300" b="true">
                          <a:solidFill>
                            <a:srgbClr val="111111"/>
                          </a:solidFill>
                          <a:latin typeface="Nunito Semi-Bold"/>
                          <a:ea typeface="Nunito Semi-Bold"/>
                          <a:cs typeface="Nunito Semi-Bold"/>
                          <a:sym typeface="Nunito Semi-Bold"/>
                        </a:rPr>
                        <a:t>PES</a:t>
                      </a:r>
                    </a:p>
                  </a:txBody>
                  <a:tcPr marL="45720" marR="45720"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c>
                  <a:txBody>
                    <a:bodyPr anchor="ctr" rtlCol="false" lIns="0" tIns="0" rIns="0" bIns="0" wrap="square"/>
                    <a:lstStyle/>
                    <a:p>
                      <a:pPr algn="l">
                        <a:lnSpc>
                          <a:spcPts val="1690"/>
                        </a:lnSpc>
                        <a:spcBef>
                          <a:spcPts val="0"/>
                        </a:spcBef>
                        <a:buNone/>
                      </a:pPr>
                      <a:r>
                        <a:rPr lang="en-US" sz="1300" b="true">
                          <a:solidFill>
                            <a:srgbClr val="111111"/>
                          </a:solidFill>
                          <a:latin typeface="Nunito Semi-Bold"/>
                          <a:ea typeface="Nunito Semi-Bold"/>
                          <a:cs typeface="Nunito Semi-Bold"/>
                          <a:sym typeface="Nunito Semi-Bold"/>
                        </a:rPr>
                        <a:t>ENSIAS, Mohammed V University, Rabat</a:t>
                      </a:r>
                    </a:p>
                  </a:txBody>
                  <a:tcPr marL="45720" marR="45720"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r>
              <a:tr h="356870">
                <a:tc>
                  <a:txBody>
                    <a:bodyPr anchor="ctr" rtlCol="false" lIns="0" tIns="0" rIns="0" bIns="0" wrap="square"/>
                    <a:lstStyle/>
                    <a:p>
                      <a:pPr algn="l">
                        <a:lnSpc>
                          <a:spcPts val="1690"/>
                        </a:lnSpc>
                        <a:spcBef>
                          <a:spcPts val="0"/>
                        </a:spcBef>
                        <a:buNone/>
                      </a:pPr>
                      <a:r>
                        <a:rPr lang="en-US" sz="1300" b="true">
                          <a:solidFill>
                            <a:srgbClr val="111111"/>
                          </a:solidFill>
                          <a:latin typeface="Nunito Bold"/>
                          <a:ea typeface="Nunito Bold"/>
                          <a:cs typeface="Nunito Bold"/>
                          <a:sym typeface="Nunito Bold"/>
                        </a:rPr>
                        <a:t>Examiner</a:t>
                      </a:r>
                    </a:p>
                  </a:txBody>
                  <a:tcPr marL="45720" marR="45720"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6ECDF"/>
                    </a:solidFill>
                  </a:tcPr>
                </a:tc>
                <a:tc>
                  <a:txBody>
                    <a:bodyPr anchor="ctr" rtlCol="false" lIns="0" tIns="0" rIns="0" bIns="0" wrap="square"/>
                    <a:lstStyle/>
                    <a:p>
                      <a:pPr algn="l">
                        <a:lnSpc>
                          <a:spcPts val="1690"/>
                        </a:lnSpc>
                        <a:spcBef>
                          <a:spcPts val="0"/>
                        </a:spcBef>
                        <a:buNone/>
                      </a:pPr>
                      <a:r>
                        <a:rPr lang="en-US" sz="1300" b="true">
                          <a:solidFill>
                            <a:srgbClr val="111111"/>
                          </a:solidFill>
                          <a:latin typeface="Nunito Semi-Bold"/>
                          <a:ea typeface="Nunito Semi-Bold"/>
                          <a:cs typeface="Nunito Semi-Bold"/>
                          <a:sym typeface="Nunito Semi-Bold"/>
                        </a:rPr>
                        <a:t>Pr. Yasser EL MADANI EL ALAMI</a:t>
                      </a:r>
                    </a:p>
                  </a:txBody>
                  <a:tcPr marL="45720" marR="45720"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6ECDF"/>
                    </a:solidFill>
                  </a:tcPr>
                </a:tc>
                <a:tc>
                  <a:txBody>
                    <a:bodyPr anchor="ctr" rtlCol="false" lIns="0" tIns="0" rIns="0" bIns="0" wrap="square"/>
                    <a:lstStyle/>
                    <a:p>
                      <a:pPr algn="ctr">
                        <a:lnSpc>
                          <a:spcPts val="1690"/>
                        </a:lnSpc>
                        <a:spcBef>
                          <a:spcPts val="0"/>
                        </a:spcBef>
                        <a:buNone/>
                      </a:pPr>
                      <a:r>
                        <a:rPr lang="en-US" sz="1300" b="true">
                          <a:solidFill>
                            <a:srgbClr val="111111"/>
                          </a:solidFill>
                          <a:latin typeface="Nunito Semi-Bold"/>
                          <a:ea typeface="Nunito Semi-Bold"/>
                          <a:cs typeface="Nunito Semi-Bold"/>
                          <a:sym typeface="Nunito Semi-Bold"/>
                        </a:rPr>
                        <a:t>MCH</a:t>
                      </a:r>
                    </a:p>
                  </a:txBody>
                  <a:tcPr marL="45720" marR="45720"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6ECDF"/>
                    </a:solidFill>
                  </a:tcPr>
                </a:tc>
                <a:tc>
                  <a:txBody>
                    <a:bodyPr anchor="ctr" rtlCol="false" lIns="0" tIns="0" rIns="0" bIns="0" wrap="square"/>
                    <a:lstStyle/>
                    <a:p>
                      <a:pPr algn="l">
                        <a:lnSpc>
                          <a:spcPts val="1690"/>
                        </a:lnSpc>
                        <a:spcBef>
                          <a:spcPts val="0"/>
                        </a:spcBef>
                        <a:buNone/>
                      </a:pPr>
                      <a:r>
                        <a:rPr lang="en-US" sz="1300" b="true">
                          <a:solidFill>
                            <a:srgbClr val="111111"/>
                          </a:solidFill>
                          <a:latin typeface="Nunito Semi-Bold"/>
                          <a:ea typeface="Nunito Semi-Bold"/>
                          <a:cs typeface="Nunito Semi-Bold"/>
                          <a:sym typeface="Nunito Semi-Bold"/>
                        </a:rPr>
                        <a:t>ENSIAS, Mohammed V University, Rabat</a:t>
                      </a:r>
                    </a:p>
                  </a:txBody>
                  <a:tcPr marL="45720" marR="45720"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6ECDF"/>
                    </a:solidFill>
                  </a:tcPr>
                </a:tc>
              </a:tr>
              <a:tr h="356870">
                <a:tc>
                  <a:txBody>
                    <a:bodyPr anchor="ctr" rtlCol="false" lIns="0" tIns="0" rIns="0" bIns="0" wrap="square"/>
                    <a:lstStyle/>
                    <a:p>
                      <a:pPr algn="l">
                        <a:lnSpc>
                          <a:spcPts val="1690"/>
                        </a:lnSpc>
                        <a:spcBef>
                          <a:spcPts val="0"/>
                        </a:spcBef>
                        <a:buNone/>
                      </a:pPr>
                      <a:r>
                        <a:rPr lang="en-US" sz="1300" b="true">
                          <a:solidFill>
                            <a:srgbClr val="111111"/>
                          </a:solidFill>
                          <a:latin typeface="Nunito Bold"/>
                          <a:ea typeface="Nunito Bold"/>
                          <a:cs typeface="Nunito Bold"/>
                          <a:sym typeface="Nunito Bold"/>
                        </a:rPr>
                        <a:t>Guest</a:t>
                      </a:r>
                    </a:p>
                  </a:txBody>
                  <a:tcPr marL="45720" marR="45720"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c>
                  <a:txBody>
                    <a:bodyPr anchor="ctr" rtlCol="false" lIns="0" tIns="0" rIns="0" bIns="0" wrap="square"/>
                    <a:lstStyle/>
                    <a:p>
                      <a:pPr algn="l">
                        <a:lnSpc>
                          <a:spcPts val="1690"/>
                        </a:lnSpc>
                        <a:spcBef>
                          <a:spcPts val="0"/>
                        </a:spcBef>
                        <a:buNone/>
                      </a:pPr>
                      <a:r>
                        <a:rPr lang="en-US" sz="1300" b="true">
                          <a:solidFill>
                            <a:srgbClr val="111111"/>
                          </a:solidFill>
                          <a:latin typeface="Nunito Semi-Bold"/>
                          <a:ea typeface="Nunito Semi-Bold"/>
                          <a:cs typeface="Nunito Semi-Bold"/>
                          <a:sym typeface="Nunito Semi-Bold"/>
                        </a:rPr>
                        <a:t>Pr. Yassine AFOUDI</a:t>
                      </a:r>
                    </a:p>
                  </a:txBody>
                  <a:tcPr marL="45720" marR="45720"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c>
                  <a:txBody>
                    <a:bodyPr anchor="ctr" rtlCol="false" lIns="0" tIns="0" rIns="0" bIns="0" wrap="square"/>
                    <a:lstStyle/>
                    <a:p>
                      <a:pPr algn="ctr">
                        <a:lnSpc>
                          <a:spcPts val="1690"/>
                        </a:lnSpc>
                        <a:spcBef>
                          <a:spcPts val="0"/>
                        </a:spcBef>
                        <a:buNone/>
                      </a:pPr>
                      <a:r>
                        <a:rPr lang="en-US" sz="1300" b="true">
                          <a:solidFill>
                            <a:srgbClr val="111111"/>
                          </a:solidFill>
                          <a:latin typeface="Nunito Semi-Bold"/>
                          <a:ea typeface="Nunito Semi-Bold"/>
                          <a:cs typeface="Nunito Semi-Bold"/>
                          <a:sym typeface="Nunito Semi-Bold"/>
                        </a:rPr>
                        <a:t>MC</a:t>
                      </a:r>
                    </a:p>
                  </a:txBody>
                  <a:tcPr marL="45720" marR="45720"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c>
                  <a:txBody>
                    <a:bodyPr anchor="ctr" rtlCol="false" lIns="0" tIns="0" rIns="0" bIns="0" wrap="square"/>
                    <a:lstStyle/>
                    <a:p>
                      <a:pPr algn="l">
                        <a:lnSpc>
                          <a:spcPts val="1690"/>
                        </a:lnSpc>
                        <a:spcBef>
                          <a:spcPts val="0"/>
                        </a:spcBef>
                        <a:buNone/>
                      </a:pPr>
                      <a:r>
                        <a:rPr lang="en-US" sz="1300" b="true">
                          <a:solidFill>
                            <a:srgbClr val="111111"/>
                          </a:solidFill>
                          <a:latin typeface="Nunito Semi-Bold"/>
                          <a:ea typeface="Nunito Semi-Bold"/>
                          <a:cs typeface="Nunito Semi-Bold"/>
                          <a:sym typeface="Nunito Semi-Bold"/>
                        </a:rPr>
                        <a:t>Faculty of Sciences, Cadi Ayyad University, Marrakech</a:t>
                      </a:r>
                    </a:p>
                  </a:txBody>
                  <a:tcPr marL="45720" marR="45720"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r>
            </a:tbl>
          </a:graphicData>
        </a:graphic>
      </p:graphicFrame>
      <p:sp>
        <p:nvSpPr>
          <p:cNvPr id="13" name="TextBox 12"/>
          <p:cNvSpPr txBox="1"/>
          <p:nvPr/>
        </p:nvSpPr>
        <p:spPr>
          <a:xfrm>
            <a:off x="1028700" y="9514078"/>
            <a:ext cx="16230600" cy="274320"/>
          </a:xfrm>
          <a:prstGeom prst="rect">
            <a:avLst/>
          </a:prstGeom>
          <a:noFill/>
        </p:spPr>
        <p:txBody>
          <a:bodyPr anchor="t" rtlCol="false" lIns="0" tIns="0" rIns="0" bIns="0" wrap="square"/>
          <a:lstStyle/>
          <a:p>
            <a:pPr algn="ctr">
              <a:lnSpc>
                <a:spcPts val="1700"/>
              </a:lnSpc>
              <a:spcBef>
                <a:spcPts val="0"/>
              </a:spcBef>
              <a:buNone/>
            </a:pPr>
            <a:r>
              <a:rPr lang="en-US" sz="1400" b="true">
                <a:solidFill>
                  <a:srgbClr val="8A8378"/>
                </a:solidFill>
                <a:latin typeface="Nunito Bold"/>
                <a:ea typeface="Nunito Bold"/>
                <a:cs typeface="Nunito Bold"/>
                <a:sym typeface="Nunito Bold"/>
              </a:rPr>
              <a:t>Rabat, Morocco  ·  2026</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pic>
        <p:nvPicPr>
          <p:cNvPr id="2" name="Picture 1" descr="ensias_logo.jpg"/>
          <p:cNvPicPr>
            <a:picLocks noChangeAspect="1"/>
          </p:cNvPicPr>
          <p:nvPr/>
        </p:nvPicPr>
        <p:blipFill>
          <a:blip r:embed="rId2"/>
          <a:stretch>
            <a:fillRect/>
          </a:stretch>
        </p:blipFill>
        <p:spPr>
          <a:xfrm>
            <a:off x="1028700" y="9674352"/>
            <a:ext cx="542964" cy="384048"/>
          </a:xfrm>
          <a:prstGeom prst="rect">
            <a:avLst/>
          </a:prstGeom>
        </p:spPr>
      </p:pic>
      <p:sp>
        <p:nvSpPr>
          <p:cNvPr id="3" name="TextBox 2"/>
          <p:cNvSpPr txBox="1"/>
          <p:nvPr/>
        </p:nvSpPr>
        <p:spPr>
          <a:xfrm>
            <a:off x="1577340" y="9747504"/>
            <a:ext cx="12801600" cy="274320"/>
          </a:xfrm>
          <a:prstGeom prst="rect">
            <a:avLst/>
          </a:prstGeom>
          <a:noFill/>
        </p:spPr>
        <p:txBody>
          <a:bodyPr anchor="t" rtlCol="false" lIns="0" tIns="0" rIns="0" bIns="0" wrap="square"/>
          <a:lstStyle/>
          <a:p>
            <a:pPr algn="l">
              <a:lnSpc>
                <a:spcPts val="1600"/>
              </a:lnSpc>
              <a:spcBef>
                <a:spcPts val="0"/>
              </a:spcBef>
              <a:buNone/>
            </a:pPr>
            <a:r>
              <a:rPr lang="en-US" sz="1300" b="true">
                <a:solidFill>
                  <a:srgbClr val="8A8378"/>
                </a:solidFill>
                <a:latin typeface="Nunito Bold"/>
                <a:ea typeface="Nunito Bold"/>
                <a:cs typeface="Nunito Bold"/>
                <a:sym typeface="Nunito Bold"/>
              </a:rPr>
              <a:t>Cooperative Game Theory for Explainable AI in Recommendation Systems  ·  A Shapley Framework for Actionable Insight</a:t>
            </a:r>
          </a:p>
        </p:txBody>
      </p:sp>
      <p:sp>
        <p:nvSpPr>
          <p:cNvPr id="4" name="TextBox 3"/>
          <p:cNvSpPr txBox="1"/>
          <p:nvPr/>
        </p:nvSpPr>
        <p:spPr>
          <a:xfrm>
            <a:off x="16162020" y="9692640"/>
            <a:ext cx="1097280" cy="329184"/>
          </a:xfrm>
          <a:prstGeom prst="rect">
            <a:avLst/>
          </a:prstGeom>
          <a:noFill/>
        </p:spPr>
        <p:txBody>
          <a:bodyPr anchor="t" rtlCol="false" lIns="0" tIns="0" rIns="0" bIns="0" wrap="square"/>
          <a:lstStyle/>
          <a:p>
            <a:pPr algn="r">
              <a:lnSpc>
                <a:spcPts val="2200"/>
              </a:lnSpc>
              <a:spcBef>
                <a:spcPts val="0"/>
              </a:spcBef>
              <a:buNone/>
            </a:pPr>
            <a:r>
              <a:rPr lang="en-US" sz="1800" b="true">
                <a:solidFill>
                  <a:srgbClr val="111111"/>
                </a:solidFill>
                <a:latin typeface="Nunito Ultra-Bold"/>
                <a:ea typeface="Nunito Ultra-Bold"/>
                <a:cs typeface="Nunito Ultra-Bold"/>
                <a:sym typeface="Nunito Ultra-Bold"/>
              </a:rPr>
              <a:t>02</a:t>
            </a:r>
          </a:p>
        </p:txBody>
      </p:sp>
      <p:sp>
        <p:nvSpPr>
          <p:cNvPr id="5" name="TextBox 4"/>
          <p:cNvSpPr txBox="1"/>
          <p:nvPr/>
        </p:nvSpPr>
        <p:spPr>
          <a:xfrm>
            <a:off x="1028700" y="1737360"/>
            <a:ext cx="16230600" cy="1463040"/>
          </a:xfrm>
          <a:prstGeom prst="rect">
            <a:avLst/>
          </a:prstGeom>
          <a:noFill/>
        </p:spPr>
        <p:txBody>
          <a:bodyPr anchor="t" rtlCol="false" lIns="0" tIns="0" rIns="0" bIns="0" wrap="square"/>
          <a:lstStyle/>
          <a:p>
            <a:pPr algn="ctr">
              <a:lnSpc>
                <a:spcPts val="9600"/>
              </a:lnSpc>
              <a:spcBef>
                <a:spcPts val="0"/>
              </a:spcBef>
              <a:buNone/>
            </a:pPr>
            <a:r>
              <a:rPr lang="en-US" sz="9200" b="true" spc="-500">
                <a:solidFill>
                  <a:srgbClr val="111111"/>
                </a:solidFill>
                <a:latin typeface="Roca Two Bold"/>
                <a:ea typeface="Roca Two Bold"/>
                <a:cs typeface="Roca Two Bold"/>
                <a:sym typeface="Roca Two Bold"/>
              </a:rPr>
              <a:t>Outline</a:t>
            </a:r>
          </a:p>
        </p:txBody>
      </p:sp>
      <p:pic>
        <p:nvPicPr>
          <p:cNvPr id="6" name="Picture 5" descr="image.png"/>
          <p:cNvPicPr>
            <a:picLocks noChangeAspect="1"/>
          </p:cNvPicPr>
          <p:nvPr/>
        </p:nvPicPr>
        <p:blipFill>
          <a:blip r:embed="rId3"/>
          <a:stretch>
            <a:fillRect/>
          </a:stretch>
        </p:blipFill>
        <p:spPr>
          <a:xfrm>
            <a:off x="11612880" y="1554480"/>
            <a:ext cx="548640" cy="301180"/>
          </a:xfrm>
          <a:prstGeom prst="rect">
            <a:avLst/>
          </a:prstGeom>
        </p:spPr>
      </p:pic>
      <p:pic>
        <p:nvPicPr>
          <p:cNvPr id="7" name="Picture 6" descr="image.png"/>
          <p:cNvPicPr>
            <a:picLocks noChangeAspect="1"/>
          </p:cNvPicPr>
          <p:nvPr/>
        </p:nvPicPr>
        <p:blipFill>
          <a:blip r:embed="rId4"/>
          <a:stretch>
            <a:fillRect/>
          </a:stretch>
        </p:blipFill>
        <p:spPr>
          <a:xfrm rot="10800000">
            <a:off x="5943600" y="2651760"/>
            <a:ext cx="502920" cy="276082"/>
          </a:xfrm>
          <a:prstGeom prst="rect">
            <a:avLst/>
          </a:prstGeom>
        </p:spPr>
      </p:pic>
      <p:sp>
        <p:nvSpPr>
          <p:cNvPr id="8" name="TextBox 7"/>
          <p:cNvSpPr txBox="1"/>
          <p:nvPr/>
        </p:nvSpPr>
        <p:spPr>
          <a:xfrm>
            <a:off x="1028700" y="3246120"/>
            <a:ext cx="16230600" cy="457200"/>
          </a:xfrm>
          <a:prstGeom prst="rect">
            <a:avLst/>
          </a:prstGeom>
          <a:noFill/>
        </p:spPr>
        <p:txBody>
          <a:bodyPr anchor="t" rtlCol="false" lIns="0" tIns="0" rIns="0" bIns="0" wrap="square"/>
          <a:lstStyle/>
          <a:p>
            <a:pPr algn="ctr">
              <a:lnSpc>
                <a:spcPts val="2600"/>
              </a:lnSpc>
              <a:spcBef>
                <a:spcPts val="0"/>
              </a:spcBef>
              <a:buNone/>
            </a:pPr>
            <a:r>
              <a:rPr lang="en-US" sz="2100" b="true">
                <a:solidFill>
                  <a:srgbClr val="8A8378"/>
                </a:solidFill>
                <a:latin typeface="Nunito Semi-Bold"/>
                <a:ea typeface="Nunito Semi-Bold"/>
                <a:cs typeface="Nunito Semi-Bold"/>
                <a:sym typeface="Nunito Semi-Bold"/>
              </a:rPr>
              <a:t>Seven parts  ·  each contribution follows the same structure: research gap </a:t>
            </a:r>
            <a:r>
              <a:rPr lang="en-US" sz="2100" b="true">
                <a:solidFill>
                  <a:srgbClr val="8A8378"/>
                </a:solidFill>
                <a:latin typeface="Calibri"/>
                <a:ea typeface="Calibri"/>
                <a:cs typeface="Calibri"/>
                <a:sym typeface="Calibri"/>
              </a:rPr>
              <a:t>→ </a:t>
            </a:r>
            <a:r>
              <a:rPr lang="en-US" sz="2100" b="true">
                <a:solidFill>
                  <a:srgbClr val="8A8378"/>
                </a:solidFill>
                <a:latin typeface="Nunito Semi-Bold"/>
                <a:ea typeface="Nunito Semi-Bold"/>
                <a:cs typeface="Nunito Semi-Bold"/>
                <a:sym typeface="Nunito Semi-Bold"/>
              </a:rPr>
              <a:t>objectives </a:t>
            </a:r>
            <a:r>
              <a:rPr lang="en-US" sz="2100" b="true">
                <a:solidFill>
                  <a:srgbClr val="8A8378"/>
                </a:solidFill>
                <a:latin typeface="Calibri"/>
                <a:ea typeface="Calibri"/>
                <a:cs typeface="Calibri"/>
                <a:sym typeface="Calibri"/>
              </a:rPr>
              <a:t>→ </a:t>
            </a:r>
            <a:r>
              <a:rPr lang="en-US" sz="2100" b="true">
                <a:solidFill>
                  <a:srgbClr val="8A8378"/>
                </a:solidFill>
                <a:latin typeface="Nunito Semi-Bold"/>
                <a:ea typeface="Nunito Semi-Bold"/>
                <a:cs typeface="Nunito Semi-Bold"/>
                <a:sym typeface="Nunito Semi-Bold"/>
              </a:rPr>
              <a:t>methodology </a:t>
            </a:r>
            <a:r>
              <a:rPr lang="en-US" sz="2100" b="true">
                <a:solidFill>
                  <a:srgbClr val="8A8378"/>
                </a:solidFill>
                <a:latin typeface="Calibri"/>
                <a:ea typeface="Calibri"/>
                <a:cs typeface="Calibri"/>
                <a:sym typeface="Calibri"/>
              </a:rPr>
              <a:t>→ </a:t>
            </a:r>
            <a:r>
              <a:rPr lang="en-US" sz="2100" b="true">
                <a:solidFill>
                  <a:srgbClr val="8A8378"/>
                </a:solidFill>
                <a:latin typeface="Nunito Semi-Bold"/>
                <a:ea typeface="Nunito Semi-Bold"/>
                <a:cs typeface="Nunito Semi-Bold"/>
                <a:sym typeface="Nunito Semi-Bold"/>
              </a:rPr>
              <a:t>protocol </a:t>
            </a:r>
            <a:r>
              <a:rPr lang="en-US" sz="2100" b="true">
                <a:solidFill>
                  <a:srgbClr val="8A8378"/>
                </a:solidFill>
                <a:latin typeface="Calibri"/>
                <a:ea typeface="Calibri"/>
                <a:cs typeface="Calibri"/>
                <a:sym typeface="Calibri"/>
              </a:rPr>
              <a:t>→ </a:t>
            </a:r>
            <a:r>
              <a:rPr lang="en-US" sz="2100" b="true">
                <a:solidFill>
                  <a:srgbClr val="8A8378"/>
                </a:solidFill>
                <a:latin typeface="Nunito Semi-Bold"/>
                <a:ea typeface="Nunito Semi-Bold"/>
                <a:cs typeface="Nunito Semi-Bold"/>
                <a:sym typeface="Nunito Semi-Bold"/>
              </a:rPr>
              <a:t>results </a:t>
            </a:r>
            <a:r>
              <a:rPr lang="en-US" sz="2100" b="true">
                <a:solidFill>
                  <a:srgbClr val="8A8378"/>
                </a:solidFill>
                <a:latin typeface="Calibri"/>
                <a:ea typeface="Calibri"/>
                <a:cs typeface="Calibri"/>
                <a:sym typeface="Calibri"/>
              </a:rPr>
              <a:t>→ </a:t>
            </a:r>
            <a:r>
              <a:rPr lang="en-US" sz="2100" b="true">
                <a:solidFill>
                  <a:srgbClr val="8A8378"/>
                </a:solidFill>
                <a:latin typeface="Nunito Semi-Bold"/>
                <a:ea typeface="Nunito Semi-Bold"/>
                <a:cs typeface="Nunito Semi-Bold"/>
                <a:sym typeface="Nunito Semi-Bold"/>
              </a:rPr>
              <a:t>findings</a:t>
            </a:r>
          </a:p>
        </p:txBody>
      </p:sp>
      <p:sp>
        <p:nvSpPr>
          <p:cNvPr id="9" name="Rounded Rectangle 8"/>
          <p:cNvSpPr/>
          <p:nvPr/>
        </p:nvSpPr>
        <p:spPr>
          <a:xfrm>
            <a:off x="1028700" y="4069080"/>
            <a:ext cx="3851910" cy="2331720"/>
          </a:xfrm>
          <a:prstGeom prst="roundRect">
            <a:avLst>
              <a:gd name="adj" fmla="val 15686"/>
            </a:avLst>
          </a:prstGeom>
          <a:solidFill>
            <a:srgbClr val="4472C4"/>
          </a:solidFill>
          <a:ln>
            <a:noFill/>
          </a:ln>
        </p:spPr>
        <p:txBody>
          <a:bodyPr anchor="t" rtlCol="false" lIns="365760" tIns="365760" rIns="320040" bIns="274320" wrap="square"/>
          <a:lstStyle/>
          <a:p>
            <a:pPr algn="l">
              <a:lnSpc>
                <a:spcPts val="3400"/>
              </a:lnSpc>
              <a:spcBef>
                <a:spcPts val="0"/>
              </a:spcBef>
              <a:buNone/>
            </a:pPr>
            <a:r>
              <a:rPr lang="en-US" sz="3000" b="true">
                <a:solidFill>
                  <a:srgbClr val="ECC665"/>
                </a:solidFill>
                <a:latin typeface="Nunito Ultra-Bold"/>
                <a:ea typeface="Nunito Ultra-Bold"/>
                <a:cs typeface="Nunito Ultra-Bold"/>
                <a:sym typeface="Nunito Ultra-Bold"/>
              </a:rPr>
              <a:t>01</a:t>
            </a:r>
          </a:p>
          <a:p>
            <a:pPr algn="l">
              <a:lnSpc>
                <a:spcPts val="2900"/>
              </a:lnSpc>
              <a:spcBef>
                <a:spcPts val="600"/>
              </a:spcBef>
              <a:buNone/>
            </a:pPr>
            <a:r>
              <a:rPr lang="en-US" sz="2500" b="true">
                <a:solidFill>
                  <a:srgbClr val="FFFFFF"/>
                </a:solidFill>
                <a:latin typeface="Nunito Ultra-Bold"/>
                <a:ea typeface="Nunito Ultra-Bold"/>
                <a:cs typeface="Nunito Ultra-Bold"/>
                <a:sym typeface="Nunito Ultra-Bold"/>
              </a:rPr>
              <a:t>Introduction</a:t>
            </a:r>
          </a:p>
          <a:p>
            <a:pPr algn="l">
              <a:lnSpc>
                <a:spcPts val="2100"/>
              </a:lnSpc>
              <a:spcBef>
                <a:spcPts val="600"/>
              </a:spcBef>
              <a:buNone/>
            </a:pPr>
            <a:r>
              <a:rPr lang="en-US" sz="1700" b="true">
                <a:solidFill>
                  <a:srgbClr val="D6E4F7"/>
                </a:solidFill>
                <a:latin typeface="Nunito Semi-Bold"/>
                <a:ea typeface="Nunito Semi-Bold"/>
                <a:cs typeface="Nunito Semi-Bold"/>
                <a:sym typeface="Nunito Semi-Bold"/>
              </a:rPr>
              <a:t>Motivation · Actionable insight · Why XAI matters</a:t>
            </a:r>
          </a:p>
        </p:txBody>
      </p:sp>
      <p:sp>
        <p:nvSpPr>
          <p:cNvPr id="10" name="Rounded Rectangle 9"/>
          <p:cNvSpPr/>
          <p:nvPr/>
        </p:nvSpPr>
        <p:spPr>
          <a:xfrm>
            <a:off x="5154930" y="4069080"/>
            <a:ext cx="3851910" cy="2331720"/>
          </a:xfrm>
          <a:prstGeom prst="roundRect">
            <a:avLst>
              <a:gd name="adj" fmla="val 15686"/>
            </a:avLst>
          </a:prstGeom>
          <a:noFill/>
          <a:ln w="28575">
            <a:solidFill>
              <a:srgbClr val="4472C4"/>
            </a:solidFill>
          </a:ln>
        </p:spPr>
        <p:txBody>
          <a:bodyPr anchor="t" rtlCol="false" lIns="365760" tIns="365760" rIns="320040" bIns="274320" wrap="square"/>
          <a:lstStyle/>
          <a:p>
            <a:pPr algn="l">
              <a:lnSpc>
                <a:spcPts val="3400"/>
              </a:lnSpc>
              <a:spcBef>
                <a:spcPts val="0"/>
              </a:spcBef>
              <a:buNone/>
            </a:pPr>
            <a:r>
              <a:rPr lang="en-US" sz="3000" b="true">
                <a:solidFill>
                  <a:srgbClr val="1F7A8C"/>
                </a:solidFill>
                <a:latin typeface="Nunito Ultra-Bold"/>
                <a:ea typeface="Nunito Ultra-Bold"/>
                <a:cs typeface="Nunito Ultra-Bold"/>
                <a:sym typeface="Nunito Ultra-Bold"/>
              </a:rPr>
              <a:t>02</a:t>
            </a:r>
          </a:p>
          <a:p>
            <a:pPr algn="l">
              <a:lnSpc>
                <a:spcPts val="2900"/>
              </a:lnSpc>
              <a:spcBef>
                <a:spcPts val="600"/>
              </a:spcBef>
              <a:buNone/>
            </a:pPr>
            <a:r>
              <a:rPr lang="en-US" sz="2500" b="true">
                <a:solidFill>
                  <a:srgbClr val="111111"/>
                </a:solidFill>
                <a:latin typeface="Nunito Ultra-Bold"/>
                <a:ea typeface="Nunito Ultra-Bold"/>
                <a:cs typeface="Nunito Ultra-Bold"/>
                <a:sym typeface="Nunito Ultra-Bold"/>
              </a:rPr>
              <a:t>Context &amp; Problematic</a:t>
            </a:r>
          </a:p>
          <a:p>
            <a:pPr algn="l">
              <a:lnSpc>
                <a:spcPts val="2100"/>
              </a:lnSpc>
              <a:spcBef>
                <a:spcPts val="600"/>
              </a:spcBef>
              <a:buNone/>
            </a:pPr>
            <a:r>
              <a:rPr lang="en-US" sz="1700" b="true">
                <a:solidFill>
                  <a:srgbClr val="8A8378"/>
                </a:solidFill>
                <a:latin typeface="Nunito Semi-Bold"/>
                <a:ea typeface="Nunito Semi-Bold"/>
                <a:cs typeface="Nunito Semi-Bold"/>
                <a:sym typeface="Nunito Semi-Bold"/>
              </a:rPr>
              <a:t>Four approaches · Limitations · Research questions</a:t>
            </a:r>
          </a:p>
        </p:txBody>
      </p:sp>
      <p:sp>
        <p:nvSpPr>
          <p:cNvPr id="11" name="Rounded Rectangle 10"/>
          <p:cNvSpPr/>
          <p:nvPr/>
        </p:nvSpPr>
        <p:spPr>
          <a:xfrm>
            <a:off x="9281160" y="4069080"/>
            <a:ext cx="3851910" cy="2331720"/>
          </a:xfrm>
          <a:prstGeom prst="roundRect">
            <a:avLst>
              <a:gd name="adj" fmla="val 15686"/>
            </a:avLst>
          </a:prstGeom>
          <a:solidFill>
            <a:srgbClr val="4472C4"/>
          </a:solidFill>
          <a:ln>
            <a:noFill/>
          </a:ln>
        </p:spPr>
        <p:txBody>
          <a:bodyPr anchor="t" rtlCol="false" lIns="365760" tIns="365760" rIns="320040" bIns="274320" wrap="square"/>
          <a:lstStyle/>
          <a:p>
            <a:pPr algn="l">
              <a:lnSpc>
                <a:spcPts val="3400"/>
              </a:lnSpc>
              <a:spcBef>
                <a:spcPts val="0"/>
              </a:spcBef>
              <a:buNone/>
            </a:pPr>
            <a:r>
              <a:rPr lang="en-US" sz="3000" b="true">
                <a:solidFill>
                  <a:srgbClr val="ECC665"/>
                </a:solidFill>
                <a:latin typeface="Nunito Ultra-Bold"/>
                <a:ea typeface="Nunito Ultra-Bold"/>
                <a:cs typeface="Nunito Ultra-Bold"/>
                <a:sym typeface="Nunito Ultra-Bold"/>
              </a:rPr>
              <a:t>03</a:t>
            </a:r>
          </a:p>
          <a:p>
            <a:pPr algn="l">
              <a:lnSpc>
                <a:spcPts val="2900"/>
              </a:lnSpc>
              <a:spcBef>
                <a:spcPts val="600"/>
              </a:spcBef>
              <a:buNone/>
            </a:pPr>
            <a:r>
              <a:rPr lang="en-US" sz="2500" b="true">
                <a:solidFill>
                  <a:srgbClr val="FFFFFF"/>
                </a:solidFill>
                <a:latin typeface="Nunito Ultra-Bold"/>
                <a:ea typeface="Nunito Ultra-Bold"/>
                <a:cs typeface="Nunito Ultra-Bold"/>
                <a:sym typeface="Nunito Ultra-Bold"/>
              </a:rPr>
              <a:t>Experimental Protocol</a:t>
            </a:r>
          </a:p>
          <a:p>
            <a:pPr algn="l">
              <a:lnSpc>
                <a:spcPts val="2100"/>
              </a:lnSpc>
              <a:spcBef>
                <a:spcPts val="600"/>
              </a:spcBef>
              <a:buNone/>
            </a:pPr>
            <a:r>
              <a:rPr lang="en-US" sz="1700" b="true">
                <a:solidFill>
                  <a:srgbClr val="D6E4F7"/>
                </a:solidFill>
                <a:latin typeface="Nunito Semi-Bold"/>
                <a:ea typeface="Nunito Semi-Bold"/>
                <a:cs typeface="Nunito Semi-Bold"/>
                <a:sym typeface="Nunito Semi-Bold"/>
              </a:rPr>
              <a:t>Four datasets · Baselines · Metrics · Hardware</a:t>
            </a:r>
          </a:p>
        </p:txBody>
      </p:sp>
      <p:sp>
        <p:nvSpPr>
          <p:cNvPr id="12" name="Rounded Rectangle 11"/>
          <p:cNvSpPr/>
          <p:nvPr/>
        </p:nvSpPr>
        <p:spPr>
          <a:xfrm>
            <a:off x="13407390" y="4069080"/>
            <a:ext cx="3851910" cy="2331720"/>
          </a:xfrm>
          <a:prstGeom prst="roundRect">
            <a:avLst>
              <a:gd name="adj" fmla="val 15686"/>
            </a:avLst>
          </a:prstGeom>
          <a:noFill/>
          <a:ln w="28575">
            <a:solidFill>
              <a:srgbClr val="4472C4"/>
            </a:solidFill>
          </a:ln>
        </p:spPr>
        <p:txBody>
          <a:bodyPr anchor="t" rtlCol="false" lIns="365760" tIns="365760" rIns="320040" bIns="274320" wrap="square"/>
          <a:lstStyle/>
          <a:p>
            <a:pPr algn="l">
              <a:lnSpc>
                <a:spcPts val="3400"/>
              </a:lnSpc>
              <a:spcBef>
                <a:spcPts val="0"/>
              </a:spcBef>
              <a:buNone/>
            </a:pPr>
            <a:r>
              <a:rPr lang="en-US" sz="3000" b="true">
                <a:solidFill>
                  <a:srgbClr val="1F7A8C"/>
                </a:solidFill>
                <a:latin typeface="Nunito Ultra-Bold"/>
                <a:ea typeface="Nunito Ultra-Bold"/>
                <a:cs typeface="Nunito Ultra-Bold"/>
                <a:sym typeface="Nunito Ultra-Bold"/>
              </a:rPr>
              <a:t>04</a:t>
            </a:r>
          </a:p>
          <a:p>
            <a:pPr algn="l">
              <a:lnSpc>
                <a:spcPts val="2900"/>
              </a:lnSpc>
              <a:spcBef>
                <a:spcPts val="600"/>
              </a:spcBef>
              <a:buNone/>
            </a:pPr>
            <a:r>
              <a:rPr lang="en-US" sz="2500" b="true">
                <a:solidFill>
                  <a:srgbClr val="111111"/>
                </a:solidFill>
                <a:latin typeface="Nunito Ultra-Bold"/>
                <a:ea typeface="Nunito Ultra-Bold"/>
                <a:cs typeface="Nunito Ultra-Bold"/>
                <a:sym typeface="Nunito Ultra-Bold"/>
              </a:rPr>
              <a:t>Contribution I</a:t>
            </a:r>
          </a:p>
          <a:p>
            <a:pPr algn="l">
              <a:lnSpc>
                <a:spcPts val="2100"/>
              </a:lnSpc>
              <a:spcBef>
                <a:spcPts val="600"/>
              </a:spcBef>
              <a:buNone/>
            </a:pPr>
            <a:r>
              <a:rPr lang="en-US" sz="1700" b="true">
                <a:solidFill>
                  <a:srgbClr val="8A8378"/>
                </a:solidFill>
                <a:latin typeface="Nunito Semi-Bold"/>
                <a:ea typeface="Nunito Semi-Bold"/>
                <a:cs typeface="Nunito Semi-Bold"/>
                <a:sym typeface="Nunito Semi-Bold"/>
              </a:rPr>
              <a:t>Deep dive: cooperative games · Explainable clustering (Wine)</a:t>
            </a:r>
          </a:p>
        </p:txBody>
      </p:sp>
      <p:sp>
        <p:nvSpPr>
          <p:cNvPr id="13" name="Rounded Rectangle 12"/>
          <p:cNvSpPr/>
          <p:nvPr/>
        </p:nvSpPr>
        <p:spPr>
          <a:xfrm>
            <a:off x="1028700" y="6675120"/>
            <a:ext cx="3851910" cy="2331720"/>
          </a:xfrm>
          <a:prstGeom prst="roundRect">
            <a:avLst>
              <a:gd name="adj" fmla="val 15686"/>
            </a:avLst>
          </a:prstGeom>
          <a:solidFill>
            <a:srgbClr val="4472C4"/>
          </a:solidFill>
          <a:ln>
            <a:noFill/>
          </a:ln>
        </p:spPr>
        <p:txBody>
          <a:bodyPr anchor="t" rtlCol="false" lIns="365760" tIns="365760" rIns="320040" bIns="274320" wrap="square"/>
          <a:lstStyle/>
          <a:p>
            <a:pPr algn="l">
              <a:lnSpc>
                <a:spcPts val="3400"/>
              </a:lnSpc>
              <a:spcBef>
                <a:spcPts val="0"/>
              </a:spcBef>
              <a:buNone/>
            </a:pPr>
            <a:r>
              <a:rPr lang="en-US" sz="3000" b="true">
                <a:solidFill>
                  <a:srgbClr val="ECC665"/>
                </a:solidFill>
                <a:latin typeface="Nunito Ultra-Bold"/>
                <a:ea typeface="Nunito Ultra-Bold"/>
                <a:cs typeface="Nunito Ultra-Bold"/>
                <a:sym typeface="Nunito Ultra-Bold"/>
              </a:rPr>
              <a:t>05</a:t>
            </a:r>
          </a:p>
          <a:p>
            <a:pPr algn="l">
              <a:lnSpc>
                <a:spcPts val="2900"/>
              </a:lnSpc>
              <a:spcBef>
                <a:spcPts val="600"/>
              </a:spcBef>
              <a:buNone/>
            </a:pPr>
            <a:r>
              <a:rPr lang="en-US" sz="2500" b="true">
                <a:solidFill>
                  <a:srgbClr val="FFFFFF"/>
                </a:solidFill>
                <a:latin typeface="Nunito Ultra-Bold"/>
                <a:ea typeface="Nunito Ultra-Bold"/>
                <a:cs typeface="Nunito Ultra-Bold"/>
                <a:sym typeface="Nunito Ultra-Bold"/>
              </a:rPr>
              <a:t>Contribution II</a:t>
            </a:r>
          </a:p>
          <a:p>
            <a:pPr algn="l">
              <a:lnSpc>
                <a:spcPts val="2100"/>
              </a:lnSpc>
              <a:spcBef>
                <a:spcPts val="600"/>
              </a:spcBef>
              <a:buNone/>
            </a:pPr>
            <a:r>
              <a:rPr lang="en-US" sz="1700" b="true">
                <a:solidFill>
                  <a:srgbClr val="D6E4F7"/>
                </a:solidFill>
                <a:latin typeface="Nunito Semi-Bold"/>
                <a:ea typeface="Nunito Semi-Bold"/>
                <a:cs typeface="Nunito Semi-Bold"/>
                <a:sym typeface="Nunito Semi-Bold"/>
              </a:rPr>
              <a:t>Multi-level XAI for large-scale clustering (Beijing)</a:t>
            </a:r>
          </a:p>
        </p:txBody>
      </p:sp>
      <p:sp>
        <p:nvSpPr>
          <p:cNvPr id="14" name="Rounded Rectangle 13"/>
          <p:cNvSpPr/>
          <p:nvPr/>
        </p:nvSpPr>
        <p:spPr>
          <a:xfrm>
            <a:off x="5154930" y="6675120"/>
            <a:ext cx="3851910" cy="2331720"/>
          </a:xfrm>
          <a:prstGeom prst="roundRect">
            <a:avLst>
              <a:gd name="adj" fmla="val 15686"/>
            </a:avLst>
          </a:prstGeom>
          <a:noFill/>
          <a:ln w="28575">
            <a:solidFill>
              <a:srgbClr val="4472C4"/>
            </a:solidFill>
          </a:ln>
        </p:spPr>
        <p:txBody>
          <a:bodyPr anchor="t" rtlCol="false" lIns="365760" tIns="365760" rIns="320040" bIns="274320" wrap="square"/>
          <a:lstStyle/>
          <a:p>
            <a:pPr algn="l">
              <a:lnSpc>
                <a:spcPts val="3400"/>
              </a:lnSpc>
              <a:spcBef>
                <a:spcPts val="0"/>
              </a:spcBef>
              <a:buNone/>
            </a:pPr>
            <a:r>
              <a:rPr lang="en-US" sz="3000" b="true">
                <a:solidFill>
                  <a:srgbClr val="1F7A8C"/>
                </a:solidFill>
                <a:latin typeface="Nunito Ultra-Bold"/>
                <a:ea typeface="Nunito Ultra-Bold"/>
                <a:cs typeface="Nunito Ultra-Bold"/>
                <a:sym typeface="Nunito Ultra-Bold"/>
              </a:rPr>
              <a:t>06</a:t>
            </a:r>
          </a:p>
          <a:p>
            <a:pPr algn="l">
              <a:lnSpc>
                <a:spcPts val="2900"/>
              </a:lnSpc>
              <a:spcBef>
                <a:spcPts val="600"/>
              </a:spcBef>
              <a:buNone/>
            </a:pPr>
            <a:r>
              <a:rPr lang="en-US" sz="2500" b="true">
                <a:solidFill>
                  <a:srgbClr val="111111"/>
                </a:solidFill>
                <a:latin typeface="Nunito Ultra-Bold"/>
                <a:ea typeface="Nunito Ultra-Bold"/>
                <a:cs typeface="Nunito Ultra-Bold"/>
                <a:sym typeface="Nunito Ultra-Bold"/>
              </a:rPr>
              <a:t>Contribution III</a:t>
            </a:r>
          </a:p>
          <a:p>
            <a:pPr algn="l">
              <a:lnSpc>
                <a:spcPts val="2100"/>
              </a:lnSpc>
              <a:spcBef>
                <a:spcPts val="600"/>
              </a:spcBef>
              <a:buNone/>
            </a:pPr>
            <a:r>
              <a:rPr lang="en-US" sz="1700" b="true">
                <a:solidFill>
                  <a:srgbClr val="8A8378"/>
                </a:solidFill>
                <a:latin typeface="Nunito Semi-Bold"/>
                <a:ea typeface="Nunito Semi-Bold"/>
                <a:cs typeface="Nunito Semi-Bold"/>
                <a:sym typeface="Nunito Semi-Bold"/>
              </a:rPr>
              <a:t>DyHuCoG: a cooperative game on hypergraphs</a:t>
            </a:r>
          </a:p>
        </p:txBody>
      </p:sp>
      <p:sp>
        <p:nvSpPr>
          <p:cNvPr id="15" name="Rounded Rectangle 14"/>
          <p:cNvSpPr/>
          <p:nvPr/>
        </p:nvSpPr>
        <p:spPr>
          <a:xfrm>
            <a:off x="9281160" y="6675120"/>
            <a:ext cx="3851910" cy="2331720"/>
          </a:xfrm>
          <a:prstGeom prst="roundRect">
            <a:avLst>
              <a:gd name="adj" fmla="val 15686"/>
            </a:avLst>
          </a:prstGeom>
          <a:solidFill>
            <a:srgbClr val="4472C4"/>
          </a:solidFill>
          <a:ln>
            <a:noFill/>
          </a:ln>
        </p:spPr>
        <p:txBody>
          <a:bodyPr anchor="t" rtlCol="false" lIns="365760" tIns="365760" rIns="320040" bIns="274320" wrap="square"/>
          <a:lstStyle/>
          <a:p>
            <a:pPr algn="l">
              <a:lnSpc>
                <a:spcPts val="3400"/>
              </a:lnSpc>
              <a:spcBef>
                <a:spcPts val="0"/>
              </a:spcBef>
              <a:buNone/>
            </a:pPr>
            <a:r>
              <a:rPr lang="en-US" sz="3000" b="true">
                <a:solidFill>
                  <a:srgbClr val="ECC665"/>
                </a:solidFill>
                <a:latin typeface="Nunito Ultra-Bold"/>
                <a:ea typeface="Nunito Ultra-Bold"/>
                <a:cs typeface="Nunito Ultra-Bold"/>
                <a:sym typeface="Nunito Ultra-Bold"/>
              </a:rPr>
              <a:t>07</a:t>
            </a:r>
          </a:p>
          <a:p>
            <a:pPr algn="l">
              <a:lnSpc>
                <a:spcPts val="2900"/>
              </a:lnSpc>
              <a:spcBef>
                <a:spcPts val="600"/>
              </a:spcBef>
              <a:buNone/>
            </a:pPr>
            <a:r>
              <a:rPr lang="en-US" sz="2500" b="true">
                <a:solidFill>
                  <a:srgbClr val="FFFFFF"/>
                </a:solidFill>
                <a:latin typeface="Nunito Ultra-Bold"/>
                <a:ea typeface="Nunito Ultra-Bold"/>
                <a:cs typeface="Nunito Ultra-Bold"/>
                <a:sym typeface="Nunito Ultra-Bold"/>
              </a:rPr>
              <a:t>Conclusion &amp; Perspectives</a:t>
            </a:r>
          </a:p>
          <a:p>
            <a:pPr algn="l">
              <a:lnSpc>
                <a:spcPts val="2100"/>
              </a:lnSpc>
              <a:spcBef>
                <a:spcPts val="600"/>
              </a:spcBef>
              <a:buNone/>
            </a:pPr>
            <a:r>
              <a:rPr lang="en-US" sz="1700" b="true">
                <a:solidFill>
                  <a:srgbClr val="D6E4F7"/>
                </a:solidFill>
                <a:latin typeface="Nunito Semi-Bold"/>
                <a:ea typeface="Nunito Semi-Bold"/>
                <a:cs typeface="Nunito Semi-Bold"/>
                <a:sym typeface="Nunito Semi-Bold"/>
              </a:rPr>
              <a:t>Synthesis · Publications · Perspectives · References</a:t>
            </a:r>
          </a:p>
        </p:txBody>
      </p:sp>
      <p:sp>
        <p:nvSpPr>
          <p:cNvPr id="16" name="Rounded Rectangle 15"/>
          <p:cNvSpPr/>
          <p:nvPr/>
        </p:nvSpPr>
        <p:spPr>
          <a:xfrm>
            <a:off x="13407390" y="6675120"/>
            <a:ext cx="3851910" cy="2331720"/>
          </a:xfrm>
          <a:prstGeom prst="roundRect">
            <a:avLst>
              <a:gd name="adj" fmla="val 15686"/>
            </a:avLst>
          </a:prstGeom>
          <a:solidFill>
            <a:srgbClr val="ECC665"/>
          </a:solidFill>
          <a:ln>
            <a:noFill/>
          </a:ln>
        </p:spPr>
        <p:txBody>
          <a:bodyPr anchor="ctr" rtlCol="false" lIns="91440" tIns="45720" rIns="91440" bIns="45720" wrap="square"/>
          <a:lstStyle/>
          <a:p>
            <a:pPr algn="ctr">
              <a:lnSpc>
                <a:spcPts val="4800"/>
              </a:lnSpc>
              <a:spcBef>
                <a:spcPts val="0"/>
              </a:spcBef>
              <a:buNone/>
            </a:pPr>
            <a:r>
              <a:rPr lang="en-US" sz="4400" b="true" spc="-200">
                <a:solidFill>
                  <a:srgbClr val="111111"/>
                </a:solidFill>
                <a:latin typeface="Roca Two Bold"/>
                <a:ea typeface="Roca Two Bold"/>
                <a:cs typeface="Roca Two Bold"/>
                <a:sym typeface="Roca Two Bold"/>
              </a:rPr>
              <a:t>Q &amp; A</a:t>
            </a:r>
          </a:p>
          <a:p>
            <a:pPr algn="ctr">
              <a:lnSpc>
                <a:spcPts val="2100"/>
              </a:lnSpc>
              <a:spcBef>
                <a:spcPts val="600"/>
              </a:spcBef>
              <a:buNone/>
            </a:pPr>
            <a:r>
              <a:rPr lang="en-US" sz="1700" b="true">
                <a:solidFill>
                  <a:srgbClr val="111111"/>
                </a:solidFill>
                <a:latin typeface="Nunito Bold"/>
                <a:ea typeface="Nunito Bold"/>
                <a:cs typeface="Nunito Bold"/>
                <a:sym typeface="Nunito Bold"/>
              </a:rPr>
              <a:t>Discussion with the jury  ·  backup tables at the end</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pic>
        <p:nvPicPr>
          <p:cNvPr id="2" name="Picture 1" descr="ensias_logo.jpg"/>
          <p:cNvPicPr>
            <a:picLocks noChangeAspect="1"/>
          </p:cNvPicPr>
          <p:nvPr/>
        </p:nvPicPr>
        <p:blipFill>
          <a:blip r:embed="rId2"/>
          <a:stretch>
            <a:fillRect/>
          </a:stretch>
        </p:blipFill>
        <p:spPr>
          <a:xfrm>
            <a:off x="1028700" y="9674352"/>
            <a:ext cx="542964" cy="384048"/>
          </a:xfrm>
          <a:prstGeom prst="rect">
            <a:avLst/>
          </a:prstGeom>
        </p:spPr>
      </p:pic>
      <p:sp>
        <p:nvSpPr>
          <p:cNvPr id="3" name="TextBox 2"/>
          <p:cNvSpPr txBox="1"/>
          <p:nvPr/>
        </p:nvSpPr>
        <p:spPr>
          <a:xfrm>
            <a:off x="1577340" y="9747504"/>
            <a:ext cx="12801600" cy="274320"/>
          </a:xfrm>
          <a:prstGeom prst="rect">
            <a:avLst/>
          </a:prstGeom>
          <a:noFill/>
        </p:spPr>
        <p:txBody>
          <a:bodyPr anchor="t" rtlCol="false" lIns="0" tIns="0" rIns="0" bIns="0" wrap="square"/>
          <a:lstStyle/>
          <a:p>
            <a:pPr algn="l">
              <a:lnSpc>
                <a:spcPts val="1600"/>
              </a:lnSpc>
              <a:spcBef>
                <a:spcPts val="0"/>
              </a:spcBef>
              <a:buNone/>
            </a:pPr>
            <a:r>
              <a:rPr lang="en-US" sz="1300" b="true">
                <a:solidFill>
                  <a:srgbClr val="8A8378"/>
                </a:solidFill>
                <a:latin typeface="Nunito Bold"/>
                <a:ea typeface="Nunito Bold"/>
                <a:cs typeface="Nunito Bold"/>
                <a:sym typeface="Nunito Bold"/>
              </a:rPr>
              <a:t>Cooperative Game Theory for Explainable AI in Recommendation Systems  ·  A Shapley Framework for Actionable Insight</a:t>
            </a:r>
          </a:p>
        </p:txBody>
      </p:sp>
      <p:sp>
        <p:nvSpPr>
          <p:cNvPr id="4" name="TextBox 3"/>
          <p:cNvSpPr txBox="1"/>
          <p:nvPr/>
        </p:nvSpPr>
        <p:spPr>
          <a:xfrm>
            <a:off x="16162020" y="9692640"/>
            <a:ext cx="1097280" cy="329184"/>
          </a:xfrm>
          <a:prstGeom prst="rect">
            <a:avLst/>
          </a:prstGeom>
          <a:noFill/>
        </p:spPr>
        <p:txBody>
          <a:bodyPr anchor="t" rtlCol="false" lIns="0" tIns="0" rIns="0" bIns="0" wrap="square"/>
          <a:lstStyle/>
          <a:p>
            <a:pPr algn="r">
              <a:lnSpc>
                <a:spcPts val="2200"/>
              </a:lnSpc>
              <a:spcBef>
                <a:spcPts val="0"/>
              </a:spcBef>
              <a:buNone/>
            </a:pPr>
            <a:r>
              <a:rPr lang="en-US" sz="1800" b="true">
                <a:solidFill>
                  <a:srgbClr val="111111"/>
                </a:solidFill>
                <a:latin typeface="Nunito Ultra-Bold"/>
                <a:ea typeface="Nunito Ultra-Bold"/>
                <a:cs typeface="Nunito Ultra-Bold"/>
                <a:sym typeface="Nunito Ultra-Bold"/>
              </a:rPr>
              <a:t>03</a:t>
            </a:r>
          </a:p>
        </p:txBody>
      </p:sp>
      <p:sp>
        <p:nvSpPr>
          <p:cNvPr id="5" name="TextBox 4"/>
          <p:cNvSpPr txBox="1"/>
          <p:nvPr/>
        </p:nvSpPr>
        <p:spPr>
          <a:xfrm>
            <a:off x="1028700" y="2331720"/>
            <a:ext cx="14859000" cy="2286000"/>
          </a:xfrm>
          <a:prstGeom prst="rect">
            <a:avLst/>
          </a:prstGeom>
          <a:noFill/>
        </p:spPr>
        <p:txBody>
          <a:bodyPr anchor="t" rtlCol="false" lIns="0" tIns="0" rIns="0" bIns="0" wrap="square"/>
          <a:lstStyle/>
          <a:p>
            <a:pPr algn="l">
              <a:lnSpc>
                <a:spcPts val="15300"/>
              </a:lnSpc>
              <a:spcBef>
                <a:spcPts val="0"/>
              </a:spcBef>
              <a:buNone/>
            </a:pPr>
            <a:r>
              <a:rPr lang="en-US" sz="15000" b="true" spc="-870">
                <a:solidFill>
                  <a:srgbClr val="111111"/>
                </a:solidFill>
                <a:latin typeface="Roca Two Bold"/>
                <a:ea typeface="Roca Two Bold"/>
                <a:cs typeface="Roca Two Bold"/>
                <a:sym typeface="Roca Two Bold"/>
              </a:rPr>
              <a:t>Introduction</a:t>
            </a:r>
          </a:p>
        </p:txBody>
      </p:sp>
      <p:sp>
        <p:nvSpPr>
          <p:cNvPr id="6" name="Oval 5"/>
          <p:cNvSpPr/>
          <p:nvPr/>
        </p:nvSpPr>
        <p:spPr>
          <a:xfrm>
            <a:off x="11961761" y="2918460"/>
            <a:ext cx="1005840" cy="1005840"/>
          </a:xfrm>
          <a:prstGeom prst="ellipse">
            <a:avLst/>
          </a:prstGeom>
          <a:solidFill>
            <a:srgbClr val="ECC665"/>
          </a:solidFill>
          <a:ln>
            <a:noFill/>
          </a:ln>
        </p:spPr>
        <p:txBody>
          <a:bodyPr anchor="ctr" rtlCol="false" lIns="0" tIns="0" rIns="0" bIns="0" wrap="square"/>
          <a:lstStyle/>
          <a:p>
            <a:endParaRPr lang="en-US" sz="1800"/>
          </a:p>
        </p:txBody>
      </p:sp>
      <p:sp>
        <p:nvSpPr>
          <p:cNvPr id="7" name="TextBox 6"/>
          <p:cNvSpPr txBox="1"/>
          <p:nvPr/>
        </p:nvSpPr>
        <p:spPr>
          <a:xfrm>
            <a:off x="11961761" y="2918460"/>
            <a:ext cx="1005840" cy="1005840"/>
          </a:xfrm>
          <a:prstGeom prst="rect">
            <a:avLst/>
          </a:prstGeom>
          <a:noFill/>
        </p:spPr>
        <p:txBody>
          <a:bodyPr anchor="ctr" rtlCol="false" lIns="0" tIns="0" rIns="0" bIns="0" wrap="square"/>
          <a:lstStyle/>
          <a:p>
            <a:pPr algn="ctr">
              <a:lnSpc>
                <a:spcPts val="3400"/>
              </a:lnSpc>
              <a:spcBef>
                <a:spcPts val="0"/>
              </a:spcBef>
              <a:buNone/>
            </a:pPr>
            <a:r>
              <a:rPr lang="en-US" sz="3000" b="true">
                <a:solidFill>
                  <a:srgbClr val="111111"/>
                </a:solidFill>
                <a:latin typeface="Nunito Ultra-Bold"/>
                <a:ea typeface="Nunito Ultra-Bold"/>
                <a:cs typeface="Nunito Ultra-Bold"/>
                <a:sym typeface="Nunito Ultra-Bold"/>
              </a:rPr>
              <a:t>01</a:t>
            </a:r>
          </a:p>
        </p:txBody>
      </p:sp>
      <p:sp>
        <p:nvSpPr>
          <p:cNvPr id="8" name="TextBox 7"/>
          <p:cNvSpPr txBox="1"/>
          <p:nvPr/>
        </p:nvSpPr>
        <p:spPr>
          <a:xfrm>
            <a:off x="1028700" y="4465320"/>
            <a:ext cx="16230600" cy="640080"/>
          </a:xfrm>
          <a:prstGeom prst="rect">
            <a:avLst/>
          </a:prstGeom>
          <a:noFill/>
        </p:spPr>
        <p:txBody>
          <a:bodyPr anchor="t" rtlCol="false" lIns="0" tIns="0" rIns="0" bIns="0" wrap="square"/>
          <a:lstStyle/>
          <a:p>
            <a:pPr algn="l">
              <a:lnSpc>
                <a:spcPts val="3800"/>
              </a:lnSpc>
              <a:spcBef>
                <a:spcPts val="0"/>
              </a:spcBef>
              <a:buNone/>
            </a:pPr>
            <a:r>
              <a:rPr lang="en-US" sz="3000" b="true" spc="-150">
                <a:solidFill>
                  <a:srgbClr val="4472C4"/>
                </a:solidFill>
                <a:latin typeface="Nunito Bold"/>
                <a:ea typeface="Nunito Bold"/>
                <a:cs typeface="Nunito Bold"/>
                <a:sym typeface="Nunito Bold"/>
              </a:rPr>
              <a:t>Why explainability is a core requirement for recommender systems</a:t>
            </a:r>
          </a:p>
        </p:txBody>
      </p:sp>
      <p:sp>
        <p:nvSpPr>
          <p:cNvPr id="9" name="Rectangle 8"/>
          <p:cNvSpPr/>
          <p:nvPr/>
        </p:nvSpPr>
        <p:spPr>
          <a:xfrm>
            <a:off x="0" y="5440680"/>
            <a:ext cx="18288000" cy="4846320"/>
          </a:xfrm>
          <a:prstGeom prst="rect">
            <a:avLst/>
          </a:prstGeom>
          <a:solidFill>
            <a:srgbClr val="4472C4"/>
          </a:solidFill>
          <a:ln>
            <a:noFill/>
          </a:ln>
        </p:spPr>
        <p:txBody>
          <a:bodyPr anchor="ctr" rtlCol="false" lIns="0" tIns="0" rIns="0" bIns="0" wrap="square"/>
          <a:lstStyle/>
          <a:p>
            <a:endParaRPr lang="en-US" sz="1800"/>
          </a:p>
        </p:txBody>
      </p:sp>
      <p:sp>
        <p:nvSpPr>
          <p:cNvPr id="10" name="TextBox 9"/>
          <p:cNvSpPr txBox="1"/>
          <p:nvPr/>
        </p:nvSpPr>
        <p:spPr>
          <a:xfrm>
            <a:off x="1028700" y="5943600"/>
            <a:ext cx="5135880" cy="457200"/>
          </a:xfrm>
          <a:prstGeom prst="rect">
            <a:avLst/>
          </a:prstGeom>
          <a:noFill/>
        </p:spPr>
        <p:txBody>
          <a:bodyPr anchor="t" rtlCol="false" lIns="0" tIns="0" rIns="0" bIns="0" wrap="square"/>
          <a:lstStyle/>
          <a:p>
            <a:pPr algn="l">
              <a:lnSpc>
                <a:spcPts val="2800"/>
              </a:lnSpc>
              <a:spcBef>
                <a:spcPts val="0"/>
              </a:spcBef>
              <a:buNone/>
            </a:pPr>
            <a:r>
              <a:rPr lang="en-US" sz="2300" b="true">
                <a:solidFill>
                  <a:srgbClr val="ECC665"/>
                </a:solidFill>
                <a:latin typeface="Nunito Ultra-Bold"/>
                <a:ea typeface="Nunito Ultra-Bold"/>
                <a:cs typeface="Nunito Ultra-Bold"/>
                <a:sym typeface="Nunito Ultra-Bold"/>
              </a:rPr>
              <a:t>Motivation</a:t>
            </a:r>
          </a:p>
        </p:txBody>
      </p:sp>
      <p:cxnSp>
        <p:nvCxnSpPr>
          <p:cNvPr id="11" name="Connector 10"/>
          <p:cNvCxnSpPr/>
          <p:nvPr/>
        </p:nvCxnSpPr>
        <p:spPr>
          <a:xfrm>
            <a:off x="1028700" y="6464808"/>
            <a:ext cx="640080" cy="0"/>
          </a:xfrm>
          <a:prstGeom prst="line">
            <a:avLst/>
          </a:prstGeom>
          <a:ln w="31750">
            <a:solidFill>
              <a:srgbClr val="ECC665"/>
            </a:solidFill>
          </a:ln>
        </p:spPr>
      </p:cxnSp>
      <p:sp>
        <p:nvSpPr>
          <p:cNvPr id="12" name="TextBox 11"/>
          <p:cNvSpPr txBox="1"/>
          <p:nvPr/>
        </p:nvSpPr>
        <p:spPr>
          <a:xfrm>
            <a:off x="1028700" y="6675120"/>
            <a:ext cx="5135880" cy="3108960"/>
          </a:xfrm>
          <a:prstGeom prst="rect">
            <a:avLst/>
          </a:prstGeom>
          <a:noFill/>
        </p:spPr>
        <p:txBody>
          <a:bodyPr anchor="t" rtlCol="false" lIns="0" tIns="0" rIns="0" bIns="0" wrap="square"/>
          <a:lstStyle/>
          <a:p>
            <a:pPr algn="l">
              <a:lnSpc>
                <a:spcPts val="2940"/>
              </a:lnSpc>
              <a:spcBef>
                <a:spcPts val="0"/>
              </a:spcBef>
              <a:buNone/>
            </a:pPr>
            <a:r>
              <a:rPr lang="en-US" sz="2100" b="true">
                <a:solidFill>
                  <a:srgbClr val="FFFFFF"/>
                </a:solidFill>
                <a:latin typeface="Nunito Semi-Bold"/>
                <a:ea typeface="Nunito Semi-Bold"/>
                <a:cs typeface="Nunito Semi-Bold"/>
                <a:sym typeface="Nunito Semi-Bold"/>
              </a:rPr>
              <a:t>Black-box AI systems shape what billions of people see, buy and watch every day: accurate, but not transparent.</a:t>
            </a:r>
          </a:p>
        </p:txBody>
      </p:sp>
      <p:sp>
        <p:nvSpPr>
          <p:cNvPr id="13" name="TextBox 12"/>
          <p:cNvSpPr txBox="1"/>
          <p:nvPr/>
        </p:nvSpPr>
        <p:spPr>
          <a:xfrm>
            <a:off x="6576060" y="5943600"/>
            <a:ext cx="5135880" cy="457200"/>
          </a:xfrm>
          <a:prstGeom prst="rect">
            <a:avLst/>
          </a:prstGeom>
          <a:noFill/>
        </p:spPr>
        <p:txBody>
          <a:bodyPr anchor="t" rtlCol="false" lIns="0" tIns="0" rIns="0" bIns="0" wrap="square"/>
          <a:lstStyle/>
          <a:p>
            <a:pPr algn="l">
              <a:lnSpc>
                <a:spcPts val="2800"/>
              </a:lnSpc>
              <a:spcBef>
                <a:spcPts val="0"/>
              </a:spcBef>
              <a:buNone/>
            </a:pPr>
            <a:r>
              <a:rPr lang="en-US" sz="2300" b="true">
                <a:solidFill>
                  <a:srgbClr val="ECC665"/>
                </a:solidFill>
                <a:latin typeface="Nunito Ultra-Bold"/>
                <a:ea typeface="Nunito Ultra-Bold"/>
                <a:cs typeface="Nunito Ultra-Bold"/>
                <a:sym typeface="Nunito Ultra-Bold"/>
              </a:rPr>
              <a:t>Actionable insight</a:t>
            </a:r>
          </a:p>
        </p:txBody>
      </p:sp>
      <p:cxnSp>
        <p:nvCxnSpPr>
          <p:cNvPr id="14" name="Connector 13"/>
          <p:cNvCxnSpPr/>
          <p:nvPr/>
        </p:nvCxnSpPr>
        <p:spPr>
          <a:xfrm>
            <a:off x="6576060" y="6464808"/>
            <a:ext cx="640080" cy="0"/>
          </a:xfrm>
          <a:prstGeom prst="line">
            <a:avLst/>
          </a:prstGeom>
          <a:ln w="31750">
            <a:solidFill>
              <a:srgbClr val="ECC665"/>
            </a:solidFill>
          </a:ln>
        </p:spPr>
      </p:cxnSp>
      <p:sp>
        <p:nvSpPr>
          <p:cNvPr id="15" name="TextBox 14"/>
          <p:cNvSpPr txBox="1"/>
          <p:nvPr/>
        </p:nvSpPr>
        <p:spPr>
          <a:xfrm>
            <a:off x="6576060" y="6675120"/>
            <a:ext cx="5135880" cy="3108960"/>
          </a:xfrm>
          <a:prstGeom prst="rect">
            <a:avLst/>
          </a:prstGeom>
          <a:noFill/>
        </p:spPr>
        <p:txBody>
          <a:bodyPr anchor="t" rtlCol="false" lIns="0" tIns="0" rIns="0" bIns="0" wrap="square"/>
          <a:lstStyle/>
          <a:p>
            <a:pPr algn="l">
              <a:lnSpc>
                <a:spcPts val="2940"/>
              </a:lnSpc>
              <a:spcBef>
                <a:spcPts val="0"/>
              </a:spcBef>
              <a:buNone/>
            </a:pPr>
            <a:r>
              <a:rPr lang="en-US" sz="2100" b="true">
                <a:solidFill>
                  <a:srgbClr val="FFFFFF"/>
                </a:solidFill>
                <a:latin typeface="Nunito Semi-Bold"/>
                <a:ea typeface="Nunito Semi-Bold"/>
                <a:cs typeface="Nunito Semi-Bold"/>
                <a:sym typeface="Nunito Semi-Bold"/>
              </a:rPr>
              <a:t>An explanation is useful when it names a factor, in the domain's own words, that a designer can change.</a:t>
            </a:r>
          </a:p>
        </p:txBody>
      </p:sp>
      <p:sp>
        <p:nvSpPr>
          <p:cNvPr id="16" name="TextBox 15"/>
          <p:cNvSpPr txBox="1"/>
          <p:nvPr/>
        </p:nvSpPr>
        <p:spPr>
          <a:xfrm>
            <a:off x="12123420" y="5943600"/>
            <a:ext cx="5135880" cy="457200"/>
          </a:xfrm>
          <a:prstGeom prst="rect">
            <a:avLst/>
          </a:prstGeom>
          <a:noFill/>
        </p:spPr>
        <p:txBody>
          <a:bodyPr anchor="t" rtlCol="false" lIns="0" tIns="0" rIns="0" bIns="0" wrap="square"/>
          <a:lstStyle/>
          <a:p>
            <a:pPr algn="l">
              <a:lnSpc>
                <a:spcPts val="2800"/>
              </a:lnSpc>
              <a:spcBef>
                <a:spcPts val="0"/>
              </a:spcBef>
              <a:buNone/>
            </a:pPr>
            <a:r>
              <a:rPr lang="en-US" sz="2300" b="true">
                <a:solidFill>
                  <a:srgbClr val="ECC665"/>
                </a:solidFill>
                <a:latin typeface="Nunito Ultra-Bold"/>
                <a:ea typeface="Nunito Ultra-Bold"/>
                <a:cs typeface="Nunito Ultra-Bold"/>
                <a:sym typeface="Nunito Ultra-Bold"/>
              </a:rPr>
              <a:t>Research context</a:t>
            </a:r>
          </a:p>
        </p:txBody>
      </p:sp>
      <p:cxnSp>
        <p:nvCxnSpPr>
          <p:cNvPr id="17" name="Connector 16"/>
          <p:cNvCxnSpPr/>
          <p:nvPr/>
        </p:nvCxnSpPr>
        <p:spPr>
          <a:xfrm>
            <a:off x="12123420" y="6464808"/>
            <a:ext cx="640080" cy="0"/>
          </a:xfrm>
          <a:prstGeom prst="line">
            <a:avLst/>
          </a:prstGeom>
          <a:ln w="31750">
            <a:solidFill>
              <a:srgbClr val="ECC665"/>
            </a:solidFill>
          </a:ln>
        </p:spPr>
      </p:cxnSp>
      <p:sp>
        <p:nvSpPr>
          <p:cNvPr id="18" name="TextBox 17"/>
          <p:cNvSpPr txBox="1"/>
          <p:nvPr/>
        </p:nvSpPr>
        <p:spPr>
          <a:xfrm>
            <a:off x="12123420" y="6675120"/>
            <a:ext cx="5135880" cy="3108960"/>
          </a:xfrm>
          <a:prstGeom prst="rect">
            <a:avLst/>
          </a:prstGeom>
          <a:noFill/>
        </p:spPr>
        <p:txBody>
          <a:bodyPr anchor="t" rtlCol="false" lIns="0" tIns="0" rIns="0" bIns="0" wrap="square"/>
          <a:lstStyle/>
          <a:p>
            <a:pPr algn="l">
              <a:lnSpc>
                <a:spcPts val="2940"/>
              </a:lnSpc>
              <a:spcBef>
                <a:spcPts val="0"/>
              </a:spcBef>
              <a:buNone/>
            </a:pPr>
            <a:r>
              <a:rPr lang="en-US" sz="2100" b="true">
                <a:solidFill>
                  <a:srgbClr val="FFFFFF"/>
                </a:solidFill>
                <a:latin typeface="Nunito Semi-Bold"/>
                <a:ea typeface="Nunito Semi-Bold"/>
                <a:cs typeface="Nunito Semi-Bold"/>
                <a:sym typeface="Nunito Semi-Bold"/>
              </a:rPr>
              <a:t>From matrix factorisation to hypergraph recommenders: each step added modelling power and removed transparency.</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pic>
        <p:nvPicPr>
          <p:cNvPr id="2" name="Picture 1" descr="ensias_logo.jpg"/>
          <p:cNvPicPr>
            <a:picLocks noChangeAspect="1"/>
          </p:cNvPicPr>
          <p:nvPr/>
        </p:nvPicPr>
        <p:blipFill>
          <a:blip r:embed="rId2"/>
          <a:stretch>
            <a:fillRect/>
          </a:stretch>
        </p:blipFill>
        <p:spPr>
          <a:xfrm>
            <a:off x="1028700" y="9674352"/>
            <a:ext cx="542964" cy="384048"/>
          </a:xfrm>
          <a:prstGeom prst="rect">
            <a:avLst/>
          </a:prstGeom>
        </p:spPr>
      </p:pic>
      <p:sp>
        <p:nvSpPr>
          <p:cNvPr id="3" name="TextBox 2"/>
          <p:cNvSpPr txBox="1"/>
          <p:nvPr/>
        </p:nvSpPr>
        <p:spPr>
          <a:xfrm>
            <a:off x="1577340" y="9601200"/>
            <a:ext cx="14493240" cy="566928"/>
          </a:xfrm>
          <a:prstGeom prst="rect">
            <a:avLst/>
          </a:prstGeom>
          <a:noFill/>
        </p:spPr>
        <p:txBody>
          <a:bodyPr anchor="ctr" rtlCol="false" lIns="0" tIns="0" rIns="0" bIns="0" wrap="square"/>
          <a:lstStyle/>
          <a:p>
            <a:pPr algn="l">
              <a:lnSpc>
                <a:spcPts val="1200"/>
              </a:lnSpc>
              <a:spcBef>
                <a:spcPts val="0"/>
              </a:spcBef>
              <a:buNone/>
            </a:pPr>
            <a:r>
              <a:rPr lang="en-US" sz="1000" b="true">
                <a:solidFill>
                  <a:srgbClr val="8A8378"/>
                </a:solidFill>
                <a:latin typeface="Nunito Semi-Bold"/>
                <a:ea typeface="Nunito Semi-Bold"/>
                <a:cs typeface="Nunito Semi-Bold"/>
                <a:sym typeface="Nunito Semi-Bold"/>
              </a:rPr>
              <a:t>[21] Zhang, Y. &amp; Chen, X. Explainable Recommendation: A Survey and New Perspectives. Foundations and Trends in IR 14(1), 1–101 (2020).   [24] Arrieta, A. B. et al. Explainable Artificial Intelligence (XAI): Concepts, Taxonomies, Opportunities and Challenges. Information Fusion 58, 82–115 (2020).   [26] European Union. Regulation (EU) 2024/1689 (AI Act), Art. 13 (2024).  ·  Regulation (EU) 2016/679 (GDPR), Art. 22 (2016).  ·  OECD. Recommendation of the Council on Artificial Intelligence (2019).</a:t>
            </a:r>
          </a:p>
        </p:txBody>
      </p:sp>
      <p:sp>
        <p:nvSpPr>
          <p:cNvPr id="4" name="TextBox 3"/>
          <p:cNvSpPr txBox="1"/>
          <p:nvPr/>
        </p:nvSpPr>
        <p:spPr>
          <a:xfrm>
            <a:off x="16162020" y="9692640"/>
            <a:ext cx="1097280" cy="329184"/>
          </a:xfrm>
          <a:prstGeom prst="rect">
            <a:avLst/>
          </a:prstGeom>
          <a:noFill/>
        </p:spPr>
        <p:txBody>
          <a:bodyPr anchor="t" rtlCol="false" lIns="0" tIns="0" rIns="0" bIns="0" wrap="square"/>
          <a:lstStyle/>
          <a:p>
            <a:pPr algn="r">
              <a:lnSpc>
                <a:spcPts val="2200"/>
              </a:lnSpc>
              <a:spcBef>
                <a:spcPts val="0"/>
              </a:spcBef>
              <a:buNone/>
            </a:pPr>
            <a:r>
              <a:rPr lang="en-US" sz="1800" b="true">
                <a:solidFill>
                  <a:srgbClr val="111111"/>
                </a:solidFill>
                <a:latin typeface="Nunito Ultra-Bold"/>
                <a:ea typeface="Nunito Ultra-Bold"/>
                <a:cs typeface="Nunito Ultra-Bold"/>
                <a:sym typeface="Nunito Ultra-Bold"/>
              </a:rPr>
              <a:t>04</a:t>
            </a:r>
          </a:p>
        </p:txBody>
      </p:sp>
      <p:sp>
        <p:nvSpPr>
          <p:cNvPr id="5" name="TextBox 4"/>
          <p:cNvSpPr txBox="1"/>
          <p:nvPr/>
        </p:nvSpPr>
        <p:spPr>
          <a:xfrm>
            <a:off x="1028700" y="1389888"/>
            <a:ext cx="12938760" cy="329184"/>
          </a:xfrm>
          <a:prstGeom prst="rect">
            <a:avLst/>
          </a:prstGeom>
          <a:noFill/>
        </p:spPr>
        <p:txBody>
          <a:bodyPr anchor="t" rtlCol="false" lIns="0" tIns="0" rIns="0" bIns="0" wrap="square"/>
          <a:lstStyle/>
          <a:p>
            <a:pPr algn="l">
              <a:lnSpc>
                <a:spcPts val="2000"/>
              </a:lnSpc>
              <a:spcBef>
                <a:spcPts val="0"/>
              </a:spcBef>
              <a:buNone/>
            </a:pPr>
            <a:r>
              <a:rPr lang="en-US" sz="1500" b="true" spc="160">
                <a:solidFill>
                  <a:srgbClr val="1F7A8C"/>
                </a:solidFill>
                <a:latin typeface="Nunito Ultra-Bold"/>
                <a:ea typeface="Nunito Ultra-Bold"/>
                <a:cs typeface="Nunito Ultra-Bold"/>
                <a:sym typeface="Nunito Ultra-Bold"/>
              </a:rPr>
              <a:t>INTRODUCTION</a:t>
            </a:r>
          </a:p>
        </p:txBody>
      </p:sp>
      <p:sp>
        <p:nvSpPr>
          <p:cNvPr id="6" name="Rounded Rectangle 5"/>
          <p:cNvSpPr/>
          <p:nvPr/>
        </p:nvSpPr>
        <p:spPr>
          <a:xfrm>
            <a:off x="14516100" y="1371600"/>
            <a:ext cx="329184" cy="329184"/>
          </a:xfrm>
          <a:prstGeom prst="roundRect">
            <a:avLst>
              <a:gd name="adj" fmla="val 16666"/>
            </a:avLst>
          </a:prstGeom>
          <a:solidFill>
            <a:srgbClr val="4472C4"/>
          </a:solidFill>
          <a:ln w="15875">
            <a:solidFill>
              <a:srgbClr val="4472C4"/>
            </a:solidFill>
          </a:ln>
        </p:spPr>
        <p:txBody>
          <a:bodyPr anchor="ctr" rtlCol="false" lIns="0" tIns="0" rIns="0" bIns="0" wrap="square"/>
          <a:lstStyle/>
          <a:p>
            <a:endParaRPr lang="en-US" sz="1800"/>
          </a:p>
        </p:txBody>
      </p:sp>
      <p:sp>
        <p:nvSpPr>
          <p:cNvPr id="7" name="TextBox 6"/>
          <p:cNvSpPr txBox="1"/>
          <p:nvPr/>
        </p:nvSpPr>
        <p:spPr>
          <a:xfrm>
            <a:off x="14516100"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FFFFFF"/>
                </a:solidFill>
                <a:latin typeface="Nunito Ultra-Bold"/>
                <a:ea typeface="Nunito Ultra-Bold"/>
                <a:cs typeface="Nunito Ultra-Bold"/>
                <a:sym typeface="Nunito Ultra-Bold"/>
              </a:rPr>
              <a:t>1</a:t>
            </a:r>
          </a:p>
        </p:txBody>
      </p:sp>
      <p:sp>
        <p:nvSpPr>
          <p:cNvPr id="8" name="Rounded Rectangle 7"/>
          <p:cNvSpPr/>
          <p:nvPr/>
        </p:nvSpPr>
        <p:spPr>
          <a:xfrm>
            <a:off x="14918436"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9" name="TextBox 8"/>
          <p:cNvSpPr txBox="1"/>
          <p:nvPr/>
        </p:nvSpPr>
        <p:spPr>
          <a:xfrm>
            <a:off x="14918436"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2</a:t>
            </a:r>
          </a:p>
        </p:txBody>
      </p:sp>
      <p:sp>
        <p:nvSpPr>
          <p:cNvPr id="10" name="Rounded Rectangle 9"/>
          <p:cNvSpPr/>
          <p:nvPr/>
        </p:nvSpPr>
        <p:spPr>
          <a:xfrm>
            <a:off x="15320772"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11" name="TextBox 10"/>
          <p:cNvSpPr txBox="1"/>
          <p:nvPr/>
        </p:nvSpPr>
        <p:spPr>
          <a:xfrm>
            <a:off x="15320772"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3</a:t>
            </a:r>
          </a:p>
        </p:txBody>
      </p:sp>
      <p:sp>
        <p:nvSpPr>
          <p:cNvPr id="12" name="Rounded Rectangle 11"/>
          <p:cNvSpPr/>
          <p:nvPr/>
        </p:nvSpPr>
        <p:spPr>
          <a:xfrm>
            <a:off x="15723108"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13" name="TextBox 12"/>
          <p:cNvSpPr txBox="1"/>
          <p:nvPr/>
        </p:nvSpPr>
        <p:spPr>
          <a:xfrm>
            <a:off x="15723108"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4</a:t>
            </a:r>
          </a:p>
        </p:txBody>
      </p:sp>
      <p:sp>
        <p:nvSpPr>
          <p:cNvPr id="14" name="Rounded Rectangle 13"/>
          <p:cNvSpPr/>
          <p:nvPr/>
        </p:nvSpPr>
        <p:spPr>
          <a:xfrm>
            <a:off x="16125444"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15" name="TextBox 14"/>
          <p:cNvSpPr txBox="1"/>
          <p:nvPr/>
        </p:nvSpPr>
        <p:spPr>
          <a:xfrm>
            <a:off x="16125444"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5</a:t>
            </a:r>
          </a:p>
        </p:txBody>
      </p:sp>
      <p:sp>
        <p:nvSpPr>
          <p:cNvPr id="16" name="Rounded Rectangle 15"/>
          <p:cNvSpPr/>
          <p:nvPr/>
        </p:nvSpPr>
        <p:spPr>
          <a:xfrm>
            <a:off x="16527780"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17" name="TextBox 16"/>
          <p:cNvSpPr txBox="1"/>
          <p:nvPr/>
        </p:nvSpPr>
        <p:spPr>
          <a:xfrm>
            <a:off x="16527780"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6</a:t>
            </a:r>
          </a:p>
        </p:txBody>
      </p:sp>
      <p:sp>
        <p:nvSpPr>
          <p:cNvPr id="18" name="Rounded Rectangle 17"/>
          <p:cNvSpPr/>
          <p:nvPr/>
        </p:nvSpPr>
        <p:spPr>
          <a:xfrm>
            <a:off x="16930116"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19" name="TextBox 18"/>
          <p:cNvSpPr txBox="1"/>
          <p:nvPr/>
        </p:nvSpPr>
        <p:spPr>
          <a:xfrm>
            <a:off x="16930116"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7</a:t>
            </a:r>
          </a:p>
        </p:txBody>
      </p:sp>
      <p:sp>
        <p:nvSpPr>
          <p:cNvPr id="20" name="TextBox 19"/>
          <p:cNvSpPr txBox="1"/>
          <p:nvPr/>
        </p:nvSpPr>
        <p:spPr>
          <a:xfrm>
            <a:off x="1028700" y="1719072"/>
            <a:ext cx="16230600" cy="730250"/>
          </a:xfrm>
          <a:prstGeom prst="rect">
            <a:avLst/>
          </a:prstGeom>
          <a:noFill/>
        </p:spPr>
        <p:txBody>
          <a:bodyPr anchor="t" rtlCol="false" lIns="0" tIns="0" rIns="0" bIns="0" wrap="square"/>
          <a:lstStyle/>
          <a:p>
            <a:pPr algn="l">
              <a:lnSpc>
                <a:spcPts val="5060"/>
              </a:lnSpc>
              <a:spcBef>
                <a:spcPts val="0"/>
              </a:spcBef>
              <a:buNone/>
            </a:pPr>
            <a:r>
              <a:rPr lang="en-US" sz="4600" b="true" spc="-230">
                <a:solidFill>
                  <a:srgbClr val="111111"/>
                </a:solidFill>
                <a:latin typeface="Roca Two Bold"/>
                <a:ea typeface="Roca Two Bold"/>
                <a:cs typeface="Roca Two Bold"/>
                <a:sym typeface="Roca Two Bold"/>
              </a:rPr>
              <a:t>Motivation: Three Questions</a:t>
            </a:r>
          </a:p>
        </p:txBody>
      </p:sp>
      <p:sp>
        <p:nvSpPr>
          <p:cNvPr id="21" name="Rounded Rectangle 20"/>
          <p:cNvSpPr/>
          <p:nvPr/>
        </p:nvSpPr>
        <p:spPr>
          <a:xfrm>
            <a:off x="1028700" y="2559050"/>
            <a:ext cx="1715805" cy="420624"/>
          </a:xfrm>
          <a:prstGeom prst="roundRect">
            <a:avLst>
              <a:gd name="adj" fmla="val 50000"/>
            </a:avLst>
          </a:prstGeom>
          <a:solidFill>
            <a:srgbClr val="4472C4"/>
          </a:solidFill>
          <a:ln>
            <a:noFill/>
          </a:ln>
        </p:spPr>
        <p:txBody>
          <a:bodyPr anchor="ctr" rtlCol="false" lIns="45720" tIns="0" rIns="45720" bIns="0" wrap="square"/>
          <a:lstStyle/>
          <a:p>
            <a:pPr algn="ctr">
              <a:lnSpc>
                <a:spcPts val="2160"/>
              </a:lnSpc>
              <a:spcBef>
                <a:spcPts val="0"/>
              </a:spcBef>
              <a:buNone/>
            </a:pPr>
            <a:r>
              <a:rPr lang="en-US" sz="1800" b="true">
                <a:solidFill>
                  <a:srgbClr val="FFFFFF"/>
                </a:solidFill>
                <a:latin typeface="Nunito Bold"/>
                <a:ea typeface="Nunito Bold"/>
                <a:cs typeface="Nunito Bold"/>
                <a:sym typeface="Nunito Bold"/>
              </a:rPr>
              <a:t>Motivation</a:t>
            </a:r>
          </a:p>
        </p:txBody>
      </p:sp>
      <p:sp>
        <p:nvSpPr>
          <p:cNvPr id="22" name="Rounded Rectangle 21"/>
          <p:cNvSpPr/>
          <p:nvPr/>
        </p:nvSpPr>
        <p:spPr>
          <a:xfrm>
            <a:off x="2872521" y="2559050"/>
            <a:ext cx="2544852" cy="420624"/>
          </a:xfrm>
          <a:prstGeom prst="roundRect">
            <a:avLst>
              <a:gd name="adj" fmla="val 50000"/>
            </a:avLst>
          </a:prstGeom>
          <a:noFill/>
          <a:ln w="28575">
            <a:solidFill>
              <a:srgbClr val="4472C4"/>
            </a:solidFill>
          </a:ln>
        </p:spPr>
        <p:txBody>
          <a:bodyPr anchor="ctr" rtlCol="false" lIns="45720" tIns="0" rIns="45720" bIns="0" wrap="square"/>
          <a:lstStyle/>
          <a:p>
            <a:pPr algn="ctr">
              <a:lnSpc>
                <a:spcPts val="2160"/>
              </a:lnSpc>
              <a:spcBef>
                <a:spcPts val="0"/>
              </a:spcBef>
              <a:buNone/>
            </a:pPr>
            <a:r>
              <a:rPr lang="en-US" sz="1800" b="true">
                <a:solidFill>
                  <a:srgbClr val="4472C4"/>
                </a:solidFill>
                <a:latin typeface="Nunito Bold"/>
                <a:ea typeface="Nunito Bold"/>
                <a:cs typeface="Nunito Bold"/>
                <a:sym typeface="Nunito Bold"/>
              </a:rPr>
              <a:t>Actionable Insight</a:t>
            </a:r>
          </a:p>
        </p:txBody>
      </p:sp>
      <p:sp>
        <p:nvSpPr>
          <p:cNvPr id="23" name="Rounded Rectangle 22"/>
          <p:cNvSpPr/>
          <p:nvPr/>
        </p:nvSpPr>
        <p:spPr>
          <a:xfrm>
            <a:off x="5545389" y="2559050"/>
            <a:ext cx="2484575" cy="420624"/>
          </a:xfrm>
          <a:prstGeom prst="roundRect">
            <a:avLst>
              <a:gd name="adj" fmla="val 50000"/>
            </a:avLst>
          </a:prstGeom>
          <a:noFill/>
          <a:ln w="28575">
            <a:solidFill>
              <a:srgbClr val="4472C4"/>
            </a:solidFill>
          </a:ln>
        </p:spPr>
        <p:txBody>
          <a:bodyPr anchor="ctr" rtlCol="false" lIns="45720" tIns="0" rIns="45720" bIns="0" wrap="square"/>
          <a:lstStyle/>
          <a:p>
            <a:pPr algn="ctr">
              <a:lnSpc>
                <a:spcPts val="2160"/>
              </a:lnSpc>
              <a:spcBef>
                <a:spcPts val="0"/>
              </a:spcBef>
              <a:buNone/>
            </a:pPr>
            <a:r>
              <a:rPr lang="en-US" sz="1800" b="true">
                <a:solidFill>
                  <a:srgbClr val="4472C4"/>
                </a:solidFill>
                <a:latin typeface="Nunito Bold"/>
                <a:ea typeface="Nunito Bold"/>
                <a:cs typeface="Nunito Bold"/>
                <a:sym typeface="Nunito Bold"/>
              </a:rPr>
              <a:t>Research Context</a:t>
            </a:r>
          </a:p>
        </p:txBody>
      </p:sp>
      <p:sp>
        <p:nvSpPr>
          <p:cNvPr id="24" name="Rounded Rectangle 23"/>
          <p:cNvSpPr/>
          <p:nvPr/>
        </p:nvSpPr>
        <p:spPr>
          <a:xfrm>
            <a:off x="1028700" y="3592322"/>
            <a:ext cx="5196840" cy="4206240"/>
          </a:xfrm>
          <a:prstGeom prst="roundRect">
            <a:avLst>
              <a:gd name="adj" fmla="val 7391"/>
            </a:avLst>
          </a:prstGeom>
          <a:solidFill>
            <a:srgbClr val="4472C4"/>
          </a:solidFill>
          <a:ln>
            <a:noFill/>
          </a:ln>
        </p:spPr>
        <p:txBody>
          <a:bodyPr anchor="ctr" rtlCol="false" lIns="0" tIns="0" rIns="0" bIns="0" wrap="square"/>
          <a:lstStyle/>
          <a:p>
            <a:endParaRPr lang="en-US" sz="1800"/>
          </a:p>
        </p:txBody>
      </p:sp>
      <p:sp>
        <p:nvSpPr>
          <p:cNvPr id="25" name="Rounded Rectangle 24"/>
          <p:cNvSpPr/>
          <p:nvPr/>
        </p:nvSpPr>
        <p:spPr>
          <a:xfrm>
            <a:off x="1485900" y="3354578"/>
            <a:ext cx="2168674" cy="438912"/>
          </a:xfrm>
          <a:prstGeom prst="roundRect">
            <a:avLst>
              <a:gd name="adj" fmla="val 50000"/>
            </a:avLst>
          </a:prstGeom>
          <a:solidFill>
            <a:srgbClr val="FFFFFF"/>
          </a:solidFill>
          <a:ln w="28575">
            <a:solidFill>
              <a:srgbClr val="FFFFFF"/>
            </a:solidFill>
          </a:ln>
        </p:spPr>
        <p:txBody>
          <a:bodyPr anchor="ctr" rtlCol="false" lIns="45720" tIns="0" rIns="45720" bIns="0" wrap="square"/>
          <a:lstStyle/>
          <a:p>
            <a:pPr algn="ctr">
              <a:lnSpc>
                <a:spcPts val="2520"/>
              </a:lnSpc>
              <a:spcBef>
                <a:spcPts val="0"/>
              </a:spcBef>
              <a:buNone/>
            </a:pPr>
            <a:r>
              <a:rPr lang="en-US" sz="2100" b="true">
                <a:solidFill>
                  <a:srgbClr val="4472C4"/>
                </a:solidFill>
                <a:latin typeface="Nunito Bold"/>
                <a:ea typeface="Nunito Bold"/>
                <a:cs typeface="Nunito Bold"/>
                <a:sym typeface="Nunito Bold"/>
              </a:rPr>
              <a:t>Everywhere</a:t>
            </a:r>
          </a:p>
        </p:txBody>
      </p:sp>
      <p:sp>
        <p:nvSpPr>
          <p:cNvPr id="26" name="TextBox 25"/>
          <p:cNvSpPr txBox="1"/>
          <p:nvPr/>
        </p:nvSpPr>
        <p:spPr>
          <a:xfrm>
            <a:off x="1485900" y="4278122"/>
            <a:ext cx="4282440" cy="3154680"/>
          </a:xfrm>
          <a:prstGeom prst="rect">
            <a:avLst/>
          </a:prstGeom>
          <a:noFill/>
        </p:spPr>
        <p:txBody>
          <a:bodyPr anchor="t" rtlCol="false" lIns="0" tIns="0" rIns="0" bIns="0" wrap="square"/>
          <a:lstStyle/>
          <a:p>
            <a:pPr algn="l">
              <a:lnSpc>
                <a:spcPts val="3220"/>
              </a:lnSpc>
              <a:spcBef>
                <a:spcPts val="0"/>
              </a:spcBef>
              <a:buNone/>
            </a:pPr>
            <a:r>
              <a:rPr lang="en-US" sz="2300" b="true">
                <a:solidFill>
                  <a:srgbClr val="FFFFFF"/>
                </a:solidFill>
                <a:latin typeface="Nunito Bold"/>
                <a:ea typeface="Nunito Bold"/>
                <a:cs typeface="Nunito Bold"/>
                <a:sym typeface="Nunito Bold"/>
              </a:rPr>
              <a:t>How do black-box AI systems shape what billions of users see, buy and watch every day?</a:t>
            </a:r>
          </a:p>
          <a:p>
            <a:pPr algn="l">
              <a:lnSpc>
                <a:spcPts val="2300"/>
              </a:lnSpc>
              <a:spcBef>
                <a:spcPts val="1400"/>
              </a:spcBef>
              <a:buNone/>
            </a:pPr>
            <a:r>
              <a:rPr lang="en-US" sz="1800" b="true">
                <a:solidFill>
                  <a:srgbClr val="BDD0EA"/>
                </a:solidFill>
                <a:latin typeface="Nunito Semi-Bold"/>
                <a:ea typeface="Nunito Semi-Bold"/>
                <a:cs typeface="Nunito Semi-Bold"/>
                <a:sym typeface="Nunito Semi-Bold"/>
              </a:rPr>
              <a:t>Recommenders shape news, study, health and credit decisions; market &gt; $15B by 2029.</a:t>
            </a:r>
          </a:p>
        </p:txBody>
      </p:sp>
      <p:sp>
        <p:nvSpPr>
          <p:cNvPr id="27" name="Rounded Rectangle 26"/>
          <p:cNvSpPr/>
          <p:nvPr/>
        </p:nvSpPr>
        <p:spPr>
          <a:xfrm>
            <a:off x="6545580" y="3592322"/>
            <a:ext cx="5196840" cy="4206240"/>
          </a:xfrm>
          <a:prstGeom prst="roundRect">
            <a:avLst>
              <a:gd name="adj" fmla="val 7391"/>
            </a:avLst>
          </a:prstGeom>
          <a:solidFill>
            <a:srgbClr val="4472C4"/>
          </a:solidFill>
          <a:ln>
            <a:noFill/>
          </a:ln>
        </p:spPr>
        <p:txBody>
          <a:bodyPr anchor="ctr" rtlCol="false" lIns="0" tIns="0" rIns="0" bIns="0" wrap="square"/>
          <a:lstStyle/>
          <a:p>
            <a:endParaRPr lang="en-US" sz="1800"/>
          </a:p>
        </p:txBody>
      </p:sp>
      <p:sp>
        <p:nvSpPr>
          <p:cNvPr id="28" name="Rounded Rectangle 27"/>
          <p:cNvSpPr/>
          <p:nvPr/>
        </p:nvSpPr>
        <p:spPr>
          <a:xfrm>
            <a:off x="7002780" y="3354578"/>
            <a:ext cx="2488426" cy="438912"/>
          </a:xfrm>
          <a:prstGeom prst="roundRect">
            <a:avLst>
              <a:gd name="adj" fmla="val 50000"/>
            </a:avLst>
          </a:prstGeom>
          <a:solidFill>
            <a:srgbClr val="FFFFFF"/>
          </a:solidFill>
          <a:ln w="28575">
            <a:solidFill>
              <a:srgbClr val="FFFFFF"/>
            </a:solidFill>
          </a:ln>
        </p:spPr>
        <p:txBody>
          <a:bodyPr anchor="ctr" rtlCol="false" lIns="45720" tIns="0" rIns="45720" bIns="0" wrap="square"/>
          <a:lstStyle/>
          <a:p>
            <a:pPr algn="ctr">
              <a:lnSpc>
                <a:spcPts val="2520"/>
              </a:lnSpc>
              <a:spcBef>
                <a:spcPts val="0"/>
              </a:spcBef>
              <a:buNone/>
            </a:pPr>
            <a:r>
              <a:rPr lang="en-US" sz="2100" b="true">
                <a:solidFill>
                  <a:srgbClr val="4472C4"/>
                </a:solidFill>
                <a:latin typeface="Nunito Bold"/>
                <a:ea typeface="Nunito Bold"/>
                <a:cs typeface="Nunito Bold"/>
                <a:sym typeface="Nunito Bold"/>
              </a:rPr>
              <a:t>The Black Box</a:t>
            </a:r>
          </a:p>
        </p:txBody>
      </p:sp>
      <p:sp>
        <p:nvSpPr>
          <p:cNvPr id="29" name="TextBox 28"/>
          <p:cNvSpPr txBox="1"/>
          <p:nvPr/>
        </p:nvSpPr>
        <p:spPr>
          <a:xfrm>
            <a:off x="7002780" y="4278122"/>
            <a:ext cx="4282440" cy="3154680"/>
          </a:xfrm>
          <a:prstGeom prst="rect">
            <a:avLst/>
          </a:prstGeom>
          <a:noFill/>
        </p:spPr>
        <p:txBody>
          <a:bodyPr anchor="t" rtlCol="false" lIns="0" tIns="0" rIns="0" bIns="0" wrap="square"/>
          <a:lstStyle/>
          <a:p>
            <a:pPr algn="l">
              <a:lnSpc>
                <a:spcPts val="3220"/>
              </a:lnSpc>
              <a:spcBef>
                <a:spcPts val="0"/>
              </a:spcBef>
              <a:buNone/>
            </a:pPr>
            <a:r>
              <a:rPr lang="en-US" sz="2300" b="true">
                <a:solidFill>
                  <a:srgbClr val="FFFFFF"/>
                </a:solidFill>
                <a:latin typeface="Nunito Bold"/>
                <a:ea typeface="Nunito Bold"/>
                <a:cs typeface="Nunito Bold"/>
                <a:sym typeface="Nunito Bold"/>
              </a:rPr>
              <a:t>Why do state-of-the-art recommenders and clustering pipelines stay black boxes for users and designers?</a:t>
            </a:r>
          </a:p>
          <a:p>
            <a:pPr algn="l">
              <a:lnSpc>
                <a:spcPts val="2300"/>
              </a:lnSpc>
              <a:spcBef>
                <a:spcPts val="1400"/>
              </a:spcBef>
              <a:buNone/>
            </a:pPr>
            <a:r>
              <a:rPr lang="en-US" sz="1800" b="true">
                <a:solidFill>
                  <a:srgbClr val="BDD0EA"/>
                </a:solidFill>
                <a:latin typeface="Nunito Semi-Bold"/>
                <a:ea typeface="Nunito Semi-Bold"/>
                <a:cs typeface="Nunito Semi-Bold"/>
                <a:sym typeface="Nunito Semi-Bold"/>
              </a:rPr>
              <a:t>Deep &amp; graph models: hidden logic, hard to audit. EU AI Act: high-risk </a:t>
            </a:r>
            <a:r>
              <a:rPr lang="en-US" sz="1800" b="true">
                <a:solidFill>
                  <a:srgbClr val="BDD0EA"/>
                </a:solidFill>
                <a:latin typeface="Calibri"/>
                <a:ea typeface="Calibri"/>
                <a:cs typeface="Calibri"/>
                <a:sym typeface="Calibri"/>
              </a:rPr>
              <a:t>→ </a:t>
            </a:r>
            <a:r>
              <a:rPr lang="en-US" sz="1800" b="true">
                <a:solidFill>
                  <a:srgbClr val="BDD0EA"/>
                </a:solidFill>
                <a:latin typeface="Nunito Semi-Bold"/>
                <a:ea typeface="Nunito Semi-Bold"/>
                <a:cs typeface="Nunito Semi-Bold"/>
                <a:sym typeface="Nunito Semi-Bold"/>
              </a:rPr>
              <a:t>must explain.</a:t>
            </a:r>
          </a:p>
        </p:txBody>
      </p:sp>
      <p:sp>
        <p:nvSpPr>
          <p:cNvPr id="30" name="Rounded Rectangle 29"/>
          <p:cNvSpPr/>
          <p:nvPr/>
        </p:nvSpPr>
        <p:spPr>
          <a:xfrm>
            <a:off x="12062460" y="3592322"/>
            <a:ext cx="5196840" cy="4206240"/>
          </a:xfrm>
          <a:prstGeom prst="roundRect">
            <a:avLst>
              <a:gd name="adj" fmla="val 7391"/>
            </a:avLst>
          </a:prstGeom>
          <a:solidFill>
            <a:srgbClr val="4472C4"/>
          </a:solidFill>
          <a:ln>
            <a:noFill/>
          </a:ln>
        </p:spPr>
        <p:txBody>
          <a:bodyPr anchor="ctr" rtlCol="false" lIns="0" tIns="0" rIns="0" bIns="0" wrap="square"/>
          <a:lstStyle/>
          <a:p>
            <a:endParaRPr lang="en-US" sz="1800"/>
          </a:p>
        </p:txBody>
      </p:sp>
      <p:sp>
        <p:nvSpPr>
          <p:cNvPr id="31" name="Rounded Rectangle 30"/>
          <p:cNvSpPr/>
          <p:nvPr/>
        </p:nvSpPr>
        <p:spPr>
          <a:xfrm>
            <a:off x="12519660" y="3354578"/>
            <a:ext cx="2395577" cy="438912"/>
          </a:xfrm>
          <a:prstGeom prst="roundRect">
            <a:avLst>
              <a:gd name="adj" fmla="val 50000"/>
            </a:avLst>
          </a:prstGeom>
          <a:solidFill>
            <a:srgbClr val="FFFFFF"/>
          </a:solidFill>
          <a:ln w="28575">
            <a:solidFill>
              <a:srgbClr val="FFFFFF"/>
            </a:solidFill>
          </a:ln>
        </p:spPr>
        <p:txBody>
          <a:bodyPr anchor="ctr" rtlCol="false" lIns="45720" tIns="0" rIns="45720" bIns="0" wrap="square"/>
          <a:lstStyle/>
          <a:p>
            <a:pPr algn="ctr">
              <a:lnSpc>
                <a:spcPts val="2520"/>
              </a:lnSpc>
              <a:spcBef>
                <a:spcPts val="0"/>
              </a:spcBef>
              <a:buNone/>
            </a:pPr>
            <a:r>
              <a:rPr lang="en-US" sz="2100" b="true">
                <a:solidFill>
                  <a:srgbClr val="4472C4"/>
                </a:solidFill>
                <a:latin typeface="Nunito Bold"/>
                <a:ea typeface="Nunito Bold"/>
                <a:cs typeface="Nunito Bold"/>
                <a:sym typeface="Nunito Bold"/>
              </a:rPr>
              <a:t>Toward Trust</a:t>
            </a:r>
          </a:p>
        </p:txBody>
      </p:sp>
      <p:sp>
        <p:nvSpPr>
          <p:cNvPr id="32" name="TextBox 31"/>
          <p:cNvSpPr txBox="1"/>
          <p:nvPr/>
        </p:nvSpPr>
        <p:spPr>
          <a:xfrm>
            <a:off x="12519660" y="4278122"/>
            <a:ext cx="4282440" cy="3154680"/>
          </a:xfrm>
          <a:prstGeom prst="rect">
            <a:avLst/>
          </a:prstGeom>
          <a:noFill/>
        </p:spPr>
        <p:txBody>
          <a:bodyPr anchor="t" rtlCol="false" lIns="0" tIns="0" rIns="0" bIns="0" wrap="square"/>
          <a:lstStyle/>
          <a:p>
            <a:pPr algn="l">
              <a:lnSpc>
                <a:spcPts val="3220"/>
              </a:lnSpc>
              <a:spcBef>
                <a:spcPts val="0"/>
              </a:spcBef>
              <a:buNone/>
            </a:pPr>
            <a:r>
              <a:rPr lang="en-US" sz="2300" b="true">
                <a:solidFill>
                  <a:srgbClr val="FFFFFF"/>
                </a:solidFill>
                <a:latin typeface="Nunito Bold"/>
                <a:ea typeface="Nunito Bold"/>
                <a:cs typeface="Nunito Bold"/>
                <a:sym typeface="Nunito Bold"/>
              </a:rPr>
              <a:t>How can transparency be built into the model, instead of being added afterwards?</a:t>
            </a:r>
          </a:p>
          <a:p>
            <a:pPr algn="l">
              <a:lnSpc>
                <a:spcPts val="2300"/>
              </a:lnSpc>
              <a:spcBef>
                <a:spcPts val="1400"/>
              </a:spcBef>
              <a:buNone/>
            </a:pPr>
            <a:r>
              <a:rPr lang="en-US" sz="1800" b="true">
                <a:solidFill>
                  <a:srgbClr val="BDD0EA"/>
                </a:solidFill>
                <a:latin typeface="Nunito Semi-Bold"/>
                <a:ea typeface="Nunito Semi-Bold"/>
                <a:cs typeface="Nunito Semi-Bold"/>
                <a:sym typeface="Nunito Semi-Bold"/>
              </a:rPr>
              <a:t>Insight that is accountable, auditable and actionable, not just accurate.</a:t>
            </a:r>
          </a:p>
        </p:txBody>
      </p:sp>
      <p:sp>
        <p:nvSpPr>
          <p:cNvPr id="33" name="Rounded Rectangle 32"/>
          <p:cNvSpPr/>
          <p:nvPr/>
        </p:nvSpPr>
        <p:spPr>
          <a:xfrm>
            <a:off x="1028700" y="8118602"/>
            <a:ext cx="16230600" cy="868680"/>
          </a:xfrm>
          <a:prstGeom prst="roundRect">
            <a:avLst>
              <a:gd name="adj" fmla="val 26315"/>
            </a:avLst>
          </a:prstGeom>
          <a:solidFill>
            <a:srgbClr val="F6ECDF"/>
          </a:solidFill>
          <a:ln>
            <a:noFill/>
          </a:ln>
        </p:spPr>
        <p:txBody>
          <a:bodyPr anchor="ctr" rtlCol="false" lIns="365760" tIns="91440" rIns="365760" bIns="91440" wrap="square"/>
          <a:lstStyle/>
          <a:p>
            <a:pPr algn="ctr">
              <a:lnSpc>
                <a:spcPts val="2600"/>
              </a:lnSpc>
              <a:spcBef>
                <a:spcPts val="0"/>
              </a:spcBef>
              <a:buNone/>
            </a:pPr>
            <a:r>
              <a:rPr lang="en-US" sz="2000" b="true">
                <a:solidFill>
                  <a:srgbClr val="111111"/>
                </a:solidFill>
                <a:latin typeface="Nunito Bold"/>
                <a:ea typeface="Nunito Bold"/>
                <a:cs typeface="Nunito Bold"/>
                <a:sym typeface="Nunito Bold"/>
              </a:rPr>
              <a:t>The core tension:</a:t>
            </a:r>
            <a:r>
              <a:rPr lang="en-US" sz="2000" b="true">
                <a:solidFill>
                  <a:srgbClr val="111111"/>
                </a:solidFill>
                <a:latin typeface="Nunito Semi-Bold"/>
                <a:ea typeface="Nunito Semi-Bold"/>
                <a:cs typeface="Nunito Semi-Bold"/>
                <a:sym typeface="Nunito Semi-Bold"/>
              </a:rPr>
              <a:t> as models gain power, they lose the transparency needed for trustworthy use. This thesis treats </a:t>
            </a:r>
            <a:r>
              <a:rPr lang="en-US" sz="2000" b="true">
                <a:solidFill>
                  <a:srgbClr val="111111"/>
                </a:solidFill>
                <a:latin typeface="Nunito Bold"/>
                <a:ea typeface="Nunito Bold"/>
                <a:cs typeface="Nunito Bold"/>
                <a:sym typeface="Nunito Bold"/>
              </a:rPr>
              <a:t>accuracy and interpretability as goals to be met together</a:t>
            </a:r>
            <a:r>
              <a:rPr lang="en-US" sz="2000" b="true">
                <a:solidFill>
                  <a:srgbClr val="111111"/>
                </a:solidFill>
                <a:latin typeface="Nunito Semi-Bold"/>
                <a:ea typeface="Nunito Semi-Bold"/>
                <a:cs typeface="Nunito Semi-Bold"/>
                <a:sym typeface="Nunito Semi-Bold"/>
              </a:rPr>
              <a:t>, not traded against each other.</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pic>
        <p:nvPicPr>
          <p:cNvPr id="2" name="Picture 1" descr="ensias_logo.jpg"/>
          <p:cNvPicPr>
            <a:picLocks noChangeAspect="1"/>
          </p:cNvPicPr>
          <p:nvPr/>
        </p:nvPicPr>
        <p:blipFill>
          <a:blip r:embed="rId2"/>
          <a:stretch>
            <a:fillRect/>
          </a:stretch>
        </p:blipFill>
        <p:spPr>
          <a:xfrm>
            <a:off x="1028700" y="9674352"/>
            <a:ext cx="542964" cy="384048"/>
          </a:xfrm>
          <a:prstGeom prst="rect">
            <a:avLst/>
          </a:prstGeom>
        </p:spPr>
      </p:pic>
      <p:sp>
        <p:nvSpPr>
          <p:cNvPr id="3" name="TextBox 2"/>
          <p:cNvSpPr txBox="1"/>
          <p:nvPr/>
        </p:nvSpPr>
        <p:spPr>
          <a:xfrm>
            <a:off x="1577340" y="9601200"/>
            <a:ext cx="14493240" cy="566928"/>
          </a:xfrm>
          <a:prstGeom prst="rect">
            <a:avLst/>
          </a:prstGeom>
          <a:noFill/>
        </p:spPr>
        <p:txBody>
          <a:bodyPr anchor="ctr" rtlCol="false" lIns="0" tIns="0" rIns="0" bIns="0" wrap="square"/>
          <a:lstStyle/>
          <a:p>
            <a:pPr algn="l">
              <a:lnSpc>
                <a:spcPts val="1200"/>
              </a:lnSpc>
              <a:spcBef>
                <a:spcPts val="0"/>
              </a:spcBef>
              <a:buNone/>
            </a:pPr>
            <a:r>
              <a:rPr lang="en-US" sz="1000" b="true">
                <a:solidFill>
                  <a:srgbClr val="8A8378"/>
                </a:solidFill>
                <a:latin typeface="Nunito Semi-Bold"/>
                <a:ea typeface="Nunito Semi-Bold"/>
                <a:cs typeface="Nunito Semi-Bold"/>
                <a:sym typeface="Nunito Semi-Bold"/>
              </a:rPr>
              <a:t>[25] Doshi-Velez, F. &amp; Kim, B. Towards a Rigorous Science of Interpretable Machine Learning. arXiv:1702.08608 (2017).  ·  Rudin, C. et al. Interpretable ML: Fundamental Principles and 10 Grand Challenges. Statistics Surveys 16 (2022).</a:t>
            </a:r>
          </a:p>
        </p:txBody>
      </p:sp>
      <p:sp>
        <p:nvSpPr>
          <p:cNvPr id="4" name="TextBox 3"/>
          <p:cNvSpPr txBox="1"/>
          <p:nvPr/>
        </p:nvSpPr>
        <p:spPr>
          <a:xfrm>
            <a:off x="16162020" y="9692640"/>
            <a:ext cx="1097280" cy="329184"/>
          </a:xfrm>
          <a:prstGeom prst="rect">
            <a:avLst/>
          </a:prstGeom>
          <a:noFill/>
        </p:spPr>
        <p:txBody>
          <a:bodyPr anchor="t" rtlCol="false" lIns="0" tIns="0" rIns="0" bIns="0" wrap="square"/>
          <a:lstStyle/>
          <a:p>
            <a:pPr algn="r">
              <a:lnSpc>
                <a:spcPts val="2200"/>
              </a:lnSpc>
              <a:spcBef>
                <a:spcPts val="0"/>
              </a:spcBef>
              <a:buNone/>
            </a:pPr>
            <a:r>
              <a:rPr lang="en-US" sz="1800" b="true">
                <a:solidFill>
                  <a:srgbClr val="111111"/>
                </a:solidFill>
                <a:latin typeface="Nunito Ultra-Bold"/>
                <a:ea typeface="Nunito Ultra-Bold"/>
                <a:cs typeface="Nunito Ultra-Bold"/>
                <a:sym typeface="Nunito Ultra-Bold"/>
              </a:rPr>
              <a:t>05</a:t>
            </a:r>
          </a:p>
        </p:txBody>
      </p:sp>
      <p:sp>
        <p:nvSpPr>
          <p:cNvPr id="5" name="TextBox 4"/>
          <p:cNvSpPr txBox="1"/>
          <p:nvPr/>
        </p:nvSpPr>
        <p:spPr>
          <a:xfrm>
            <a:off x="1028700" y="1389888"/>
            <a:ext cx="12938760" cy="329184"/>
          </a:xfrm>
          <a:prstGeom prst="rect">
            <a:avLst/>
          </a:prstGeom>
          <a:noFill/>
        </p:spPr>
        <p:txBody>
          <a:bodyPr anchor="t" rtlCol="false" lIns="0" tIns="0" rIns="0" bIns="0" wrap="square"/>
          <a:lstStyle/>
          <a:p>
            <a:pPr algn="l">
              <a:lnSpc>
                <a:spcPts val="2000"/>
              </a:lnSpc>
              <a:spcBef>
                <a:spcPts val="0"/>
              </a:spcBef>
              <a:buNone/>
            </a:pPr>
            <a:r>
              <a:rPr lang="en-US" sz="1500" b="true" spc="160">
                <a:solidFill>
                  <a:srgbClr val="1F7A8C"/>
                </a:solidFill>
                <a:latin typeface="Nunito Ultra-Bold"/>
                <a:ea typeface="Nunito Ultra-Bold"/>
                <a:cs typeface="Nunito Ultra-Bold"/>
                <a:sym typeface="Nunito Ultra-Bold"/>
              </a:rPr>
              <a:t>INTRODUCTION</a:t>
            </a:r>
          </a:p>
        </p:txBody>
      </p:sp>
      <p:sp>
        <p:nvSpPr>
          <p:cNvPr id="6" name="Rounded Rectangle 5"/>
          <p:cNvSpPr/>
          <p:nvPr/>
        </p:nvSpPr>
        <p:spPr>
          <a:xfrm>
            <a:off x="14516100" y="1371600"/>
            <a:ext cx="329184" cy="329184"/>
          </a:xfrm>
          <a:prstGeom prst="roundRect">
            <a:avLst>
              <a:gd name="adj" fmla="val 16666"/>
            </a:avLst>
          </a:prstGeom>
          <a:solidFill>
            <a:srgbClr val="4472C4"/>
          </a:solidFill>
          <a:ln w="15875">
            <a:solidFill>
              <a:srgbClr val="4472C4"/>
            </a:solidFill>
          </a:ln>
        </p:spPr>
        <p:txBody>
          <a:bodyPr anchor="ctr" rtlCol="false" lIns="0" tIns="0" rIns="0" bIns="0" wrap="square"/>
          <a:lstStyle/>
          <a:p>
            <a:endParaRPr lang="en-US" sz="1800"/>
          </a:p>
        </p:txBody>
      </p:sp>
      <p:sp>
        <p:nvSpPr>
          <p:cNvPr id="7" name="TextBox 6"/>
          <p:cNvSpPr txBox="1"/>
          <p:nvPr/>
        </p:nvSpPr>
        <p:spPr>
          <a:xfrm>
            <a:off x="14516100"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FFFFFF"/>
                </a:solidFill>
                <a:latin typeface="Nunito Ultra-Bold"/>
                <a:ea typeface="Nunito Ultra-Bold"/>
                <a:cs typeface="Nunito Ultra-Bold"/>
                <a:sym typeface="Nunito Ultra-Bold"/>
              </a:rPr>
              <a:t>1</a:t>
            </a:r>
          </a:p>
        </p:txBody>
      </p:sp>
      <p:sp>
        <p:nvSpPr>
          <p:cNvPr id="8" name="Rounded Rectangle 7"/>
          <p:cNvSpPr/>
          <p:nvPr/>
        </p:nvSpPr>
        <p:spPr>
          <a:xfrm>
            <a:off x="14918436"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9" name="TextBox 8"/>
          <p:cNvSpPr txBox="1"/>
          <p:nvPr/>
        </p:nvSpPr>
        <p:spPr>
          <a:xfrm>
            <a:off x="14918436"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2</a:t>
            </a:r>
          </a:p>
        </p:txBody>
      </p:sp>
      <p:sp>
        <p:nvSpPr>
          <p:cNvPr id="10" name="Rounded Rectangle 9"/>
          <p:cNvSpPr/>
          <p:nvPr/>
        </p:nvSpPr>
        <p:spPr>
          <a:xfrm>
            <a:off x="15320772"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11" name="TextBox 10"/>
          <p:cNvSpPr txBox="1"/>
          <p:nvPr/>
        </p:nvSpPr>
        <p:spPr>
          <a:xfrm>
            <a:off x="15320772"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3</a:t>
            </a:r>
          </a:p>
        </p:txBody>
      </p:sp>
      <p:sp>
        <p:nvSpPr>
          <p:cNvPr id="12" name="Rounded Rectangle 11"/>
          <p:cNvSpPr/>
          <p:nvPr/>
        </p:nvSpPr>
        <p:spPr>
          <a:xfrm>
            <a:off x="15723108"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13" name="TextBox 12"/>
          <p:cNvSpPr txBox="1"/>
          <p:nvPr/>
        </p:nvSpPr>
        <p:spPr>
          <a:xfrm>
            <a:off x="15723108"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4</a:t>
            </a:r>
          </a:p>
        </p:txBody>
      </p:sp>
      <p:sp>
        <p:nvSpPr>
          <p:cNvPr id="14" name="Rounded Rectangle 13"/>
          <p:cNvSpPr/>
          <p:nvPr/>
        </p:nvSpPr>
        <p:spPr>
          <a:xfrm>
            <a:off x="16125444"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15" name="TextBox 14"/>
          <p:cNvSpPr txBox="1"/>
          <p:nvPr/>
        </p:nvSpPr>
        <p:spPr>
          <a:xfrm>
            <a:off x="16125444"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5</a:t>
            </a:r>
          </a:p>
        </p:txBody>
      </p:sp>
      <p:sp>
        <p:nvSpPr>
          <p:cNvPr id="16" name="Rounded Rectangle 15"/>
          <p:cNvSpPr/>
          <p:nvPr/>
        </p:nvSpPr>
        <p:spPr>
          <a:xfrm>
            <a:off x="16527780"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17" name="TextBox 16"/>
          <p:cNvSpPr txBox="1"/>
          <p:nvPr/>
        </p:nvSpPr>
        <p:spPr>
          <a:xfrm>
            <a:off x="16527780"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6</a:t>
            </a:r>
          </a:p>
        </p:txBody>
      </p:sp>
      <p:sp>
        <p:nvSpPr>
          <p:cNvPr id="18" name="Rounded Rectangle 17"/>
          <p:cNvSpPr/>
          <p:nvPr/>
        </p:nvSpPr>
        <p:spPr>
          <a:xfrm>
            <a:off x="16930116"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19" name="TextBox 18"/>
          <p:cNvSpPr txBox="1"/>
          <p:nvPr/>
        </p:nvSpPr>
        <p:spPr>
          <a:xfrm>
            <a:off x="16930116"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7</a:t>
            </a:r>
          </a:p>
        </p:txBody>
      </p:sp>
      <p:sp>
        <p:nvSpPr>
          <p:cNvPr id="20" name="TextBox 19"/>
          <p:cNvSpPr txBox="1"/>
          <p:nvPr/>
        </p:nvSpPr>
        <p:spPr>
          <a:xfrm>
            <a:off x="1028700" y="1719072"/>
            <a:ext cx="16230600" cy="730250"/>
          </a:xfrm>
          <a:prstGeom prst="rect">
            <a:avLst/>
          </a:prstGeom>
          <a:noFill/>
        </p:spPr>
        <p:txBody>
          <a:bodyPr anchor="t" rtlCol="false" lIns="0" tIns="0" rIns="0" bIns="0" wrap="square"/>
          <a:lstStyle/>
          <a:p>
            <a:pPr algn="l">
              <a:lnSpc>
                <a:spcPts val="5060"/>
              </a:lnSpc>
              <a:spcBef>
                <a:spcPts val="0"/>
              </a:spcBef>
              <a:buNone/>
            </a:pPr>
            <a:r>
              <a:rPr lang="en-US" sz="4600" b="true" spc="-230">
                <a:solidFill>
                  <a:srgbClr val="111111"/>
                </a:solidFill>
                <a:latin typeface="Roca Two Bold"/>
                <a:ea typeface="Roca Two Bold"/>
                <a:cs typeface="Roca Two Bold"/>
                <a:sym typeface="Roca Two Bold"/>
              </a:rPr>
              <a:t>Actionable Insight: the Definition</a:t>
            </a:r>
          </a:p>
        </p:txBody>
      </p:sp>
      <p:sp>
        <p:nvSpPr>
          <p:cNvPr id="21" name="Rounded Rectangle 20"/>
          <p:cNvSpPr/>
          <p:nvPr/>
        </p:nvSpPr>
        <p:spPr>
          <a:xfrm>
            <a:off x="1028700" y="2559050"/>
            <a:ext cx="1715805" cy="420624"/>
          </a:xfrm>
          <a:prstGeom prst="roundRect">
            <a:avLst>
              <a:gd name="adj" fmla="val 50000"/>
            </a:avLst>
          </a:prstGeom>
          <a:noFill/>
          <a:ln w="28575">
            <a:solidFill>
              <a:srgbClr val="4472C4"/>
            </a:solidFill>
          </a:ln>
        </p:spPr>
        <p:txBody>
          <a:bodyPr anchor="ctr" rtlCol="false" lIns="45720" tIns="0" rIns="45720" bIns="0" wrap="square"/>
          <a:lstStyle/>
          <a:p>
            <a:pPr algn="ctr">
              <a:lnSpc>
                <a:spcPts val="2160"/>
              </a:lnSpc>
              <a:spcBef>
                <a:spcPts val="0"/>
              </a:spcBef>
              <a:buNone/>
            </a:pPr>
            <a:r>
              <a:rPr lang="en-US" sz="1800" b="true">
                <a:solidFill>
                  <a:srgbClr val="4472C4"/>
                </a:solidFill>
                <a:latin typeface="Nunito Bold"/>
                <a:ea typeface="Nunito Bold"/>
                <a:cs typeface="Nunito Bold"/>
                <a:sym typeface="Nunito Bold"/>
              </a:rPr>
              <a:t>Motivation</a:t>
            </a:r>
          </a:p>
        </p:txBody>
      </p:sp>
      <p:sp>
        <p:nvSpPr>
          <p:cNvPr id="22" name="Rounded Rectangle 21"/>
          <p:cNvSpPr/>
          <p:nvPr/>
        </p:nvSpPr>
        <p:spPr>
          <a:xfrm>
            <a:off x="2872521" y="2559050"/>
            <a:ext cx="2544852" cy="420624"/>
          </a:xfrm>
          <a:prstGeom prst="roundRect">
            <a:avLst>
              <a:gd name="adj" fmla="val 50000"/>
            </a:avLst>
          </a:prstGeom>
          <a:solidFill>
            <a:srgbClr val="4472C4"/>
          </a:solidFill>
          <a:ln>
            <a:noFill/>
          </a:ln>
        </p:spPr>
        <p:txBody>
          <a:bodyPr anchor="ctr" rtlCol="false" lIns="45720" tIns="0" rIns="45720" bIns="0" wrap="square"/>
          <a:lstStyle/>
          <a:p>
            <a:pPr algn="ctr">
              <a:lnSpc>
                <a:spcPts val="2160"/>
              </a:lnSpc>
              <a:spcBef>
                <a:spcPts val="0"/>
              </a:spcBef>
              <a:buNone/>
            </a:pPr>
            <a:r>
              <a:rPr lang="en-US" sz="1800" b="true">
                <a:solidFill>
                  <a:srgbClr val="FFFFFF"/>
                </a:solidFill>
                <a:latin typeface="Nunito Bold"/>
                <a:ea typeface="Nunito Bold"/>
                <a:cs typeface="Nunito Bold"/>
                <a:sym typeface="Nunito Bold"/>
              </a:rPr>
              <a:t>Actionable Insight</a:t>
            </a:r>
          </a:p>
        </p:txBody>
      </p:sp>
      <p:sp>
        <p:nvSpPr>
          <p:cNvPr id="23" name="Rounded Rectangle 22"/>
          <p:cNvSpPr/>
          <p:nvPr/>
        </p:nvSpPr>
        <p:spPr>
          <a:xfrm>
            <a:off x="5545389" y="2559050"/>
            <a:ext cx="2484575" cy="420624"/>
          </a:xfrm>
          <a:prstGeom prst="roundRect">
            <a:avLst>
              <a:gd name="adj" fmla="val 50000"/>
            </a:avLst>
          </a:prstGeom>
          <a:noFill/>
          <a:ln w="28575">
            <a:solidFill>
              <a:srgbClr val="4472C4"/>
            </a:solidFill>
          </a:ln>
        </p:spPr>
        <p:txBody>
          <a:bodyPr anchor="ctr" rtlCol="false" lIns="45720" tIns="0" rIns="45720" bIns="0" wrap="square"/>
          <a:lstStyle/>
          <a:p>
            <a:pPr algn="ctr">
              <a:lnSpc>
                <a:spcPts val="2160"/>
              </a:lnSpc>
              <a:spcBef>
                <a:spcPts val="0"/>
              </a:spcBef>
              <a:buNone/>
            </a:pPr>
            <a:r>
              <a:rPr lang="en-US" sz="1800" b="true">
                <a:solidFill>
                  <a:srgbClr val="4472C4"/>
                </a:solidFill>
                <a:latin typeface="Nunito Bold"/>
                <a:ea typeface="Nunito Bold"/>
                <a:cs typeface="Nunito Bold"/>
                <a:sym typeface="Nunito Bold"/>
              </a:rPr>
              <a:t>Research Context</a:t>
            </a:r>
          </a:p>
        </p:txBody>
      </p:sp>
      <p:sp>
        <p:nvSpPr>
          <p:cNvPr id="24" name="TextBox 23"/>
          <p:cNvSpPr txBox="1"/>
          <p:nvPr/>
        </p:nvSpPr>
        <p:spPr>
          <a:xfrm>
            <a:off x="1028700" y="3363722"/>
            <a:ext cx="7863840" cy="5944870"/>
          </a:xfrm>
          <a:prstGeom prst="rect">
            <a:avLst/>
          </a:prstGeom>
          <a:noFill/>
        </p:spPr>
        <p:txBody>
          <a:bodyPr anchor="t" rtlCol="false" lIns="0" tIns="0" rIns="0" bIns="0" wrap="square"/>
          <a:lstStyle/>
          <a:p>
            <a:pPr algn="l">
              <a:lnSpc>
                <a:spcPts val="3125"/>
              </a:lnSpc>
              <a:spcBef>
                <a:spcPts val="0"/>
              </a:spcBef>
              <a:buNone/>
            </a:pPr>
            <a:r>
              <a:rPr lang="en-US" sz="2500" b="true">
                <a:solidFill>
                  <a:srgbClr val="4472C4"/>
                </a:solidFill>
                <a:latin typeface="Nunito Ultra-Bold"/>
                <a:ea typeface="Nunito Ultra-Bold"/>
                <a:cs typeface="Nunito Ultra-Bold"/>
                <a:sym typeface="Nunito Ultra-Bold"/>
              </a:rPr>
              <a:t>Definition 1.1 (Actionable insight)</a:t>
            </a:r>
          </a:p>
          <a:p>
            <a:pPr algn="l" marL="274320" indent="-274320">
              <a:lnSpc>
                <a:spcPts val="2940"/>
              </a:lnSpc>
              <a:spcBef>
                <a:spcPts val="0"/>
              </a:spcBef>
              <a:buClr>
                <a:srgbClr val="1F7A8C"/>
              </a:buClr>
              <a:buSzPct val="100000"/>
              <a:buFont typeface="Arial"/>
              <a:buChar char="•"/>
            </a:pPr>
            <a:r>
              <a:rPr lang="en-US" sz="2100" b="true">
                <a:solidFill>
                  <a:srgbClr val="111111"/>
                </a:solidFill>
                <a:latin typeface="Nunito Semi-Bold"/>
                <a:ea typeface="Nunito Semi-Bold"/>
                <a:cs typeface="Nunito Semi-Bold"/>
                <a:sym typeface="Nunito Semi-Bold"/>
              </a:rPr>
              <a:t>An explanation is actionable when it points to </a:t>
            </a:r>
            <a:r>
              <a:rPr lang="en-US" sz="2100" b="true">
                <a:solidFill>
                  <a:srgbClr val="111111"/>
                </a:solidFill>
                <a:latin typeface="Nunito Bold"/>
                <a:ea typeface="Nunito Bold"/>
                <a:cs typeface="Nunito Bold"/>
                <a:sym typeface="Nunito Bold"/>
              </a:rPr>
              <a:t>at least one factor that can be changed</a:t>
            </a:r>
            <a:r>
              <a:rPr lang="en-US" sz="2100" b="true">
                <a:solidFill>
                  <a:srgbClr val="111111"/>
                </a:solidFill>
                <a:latin typeface="Nunito Semi-Bold"/>
                <a:ea typeface="Nunito Semi-Bold"/>
                <a:cs typeface="Nunito Semi-Bold"/>
                <a:sym typeface="Nunito Semi-Bold"/>
              </a:rPr>
              <a:t>, and that change leads to a </a:t>
            </a:r>
            <a:r>
              <a:rPr lang="en-US" sz="2100" b="true">
                <a:solidFill>
                  <a:srgbClr val="111111"/>
                </a:solidFill>
                <a:latin typeface="Nunito Bold"/>
                <a:ea typeface="Nunito Bold"/>
                <a:cs typeface="Nunito Bold"/>
                <a:sym typeface="Nunito Bold"/>
              </a:rPr>
              <a:t>clear change in the model output</a:t>
            </a:r>
            <a:r>
              <a:rPr lang="en-US" sz="2100" b="true">
                <a:solidFill>
                  <a:srgbClr val="111111"/>
                </a:solidFill>
                <a:latin typeface="Nunito Semi-Bold"/>
                <a:ea typeface="Nunito Semi-Bold"/>
                <a:cs typeface="Nunito Semi-Bold"/>
                <a:sym typeface="Nunito Semi-Bold"/>
              </a:rPr>
              <a:t>…</a:t>
            </a:r>
          </a:p>
          <a:p>
            <a:pPr algn="l" marL="274320" indent="-274320">
              <a:lnSpc>
                <a:spcPts val="2940"/>
              </a:lnSpc>
              <a:spcBef>
                <a:spcPts val="900"/>
              </a:spcBef>
              <a:buClr>
                <a:srgbClr val="1F7A8C"/>
              </a:buClr>
              <a:buSzPct val="100000"/>
              <a:buFont typeface="Arial"/>
              <a:buChar char="•"/>
            </a:pPr>
            <a:r>
              <a:rPr lang="en-US" sz="2100" b="true">
                <a:solidFill>
                  <a:srgbClr val="111111"/>
                </a:solidFill>
                <a:latin typeface="Nunito Semi-Bold"/>
                <a:ea typeface="Nunito Semi-Bold"/>
                <a:cs typeface="Nunito Semi-Bold"/>
                <a:sym typeface="Nunito Semi-Bold"/>
              </a:rPr>
              <a:t>… and that factor is </a:t>
            </a:r>
            <a:r>
              <a:rPr lang="en-US" sz="2100" b="true">
                <a:solidFill>
                  <a:srgbClr val="111111"/>
                </a:solidFill>
                <a:latin typeface="Nunito Bold"/>
                <a:ea typeface="Nunito Bold"/>
                <a:cs typeface="Nunito Bold"/>
                <a:sym typeface="Nunito Bold"/>
              </a:rPr>
              <a:t>stated in the domain's own terms</a:t>
            </a:r>
            <a:r>
              <a:rPr lang="en-US" sz="2100" b="true">
                <a:solidFill>
                  <a:srgbClr val="111111"/>
                </a:solidFill>
                <a:latin typeface="Nunito Semi-Bold"/>
                <a:ea typeface="Nunito Semi-Bold"/>
                <a:cs typeface="Nunito Semi-Bold"/>
                <a:sym typeface="Nunito Semi-Bold"/>
              </a:rPr>
              <a:t>.</a:t>
            </a:r>
          </a:p>
          <a:p>
            <a:pPr algn="l" marL="274320" indent="-274320">
              <a:lnSpc>
                <a:spcPts val="2940"/>
              </a:lnSpc>
              <a:spcBef>
                <a:spcPts val="900"/>
              </a:spcBef>
              <a:buClr>
                <a:srgbClr val="1F7A8C"/>
              </a:buClr>
              <a:buSzPct val="100000"/>
              <a:buFont typeface="Arial"/>
              <a:buChar char="•"/>
            </a:pPr>
            <a:r>
              <a:rPr lang="en-US" sz="2100" b="true">
                <a:solidFill>
                  <a:srgbClr val="111111"/>
                </a:solidFill>
                <a:latin typeface="Nunito Semi-Bold"/>
                <a:ea typeface="Nunito Semi-Bold"/>
                <a:cs typeface="Nunito Semi-Bold"/>
                <a:sym typeface="Nunito Semi-Bold"/>
              </a:rPr>
              <a:t>The domain's own terms: a chemical variable (wine), a pollution indicator (air quality), a preference signal (recommendation), </a:t>
            </a:r>
            <a:r>
              <a:rPr lang="en-US" sz="2100" b="true">
                <a:solidFill>
                  <a:srgbClr val="111111"/>
                </a:solidFill>
                <a:latin typeface="Nunito Bold"/>
                <a:ea typeface="Nunito Bold"/>
                <a:cs typeface="Nunito Bold"/>
                <a:sym typeface="Nunito Bold"/>
              </a:rPr>
              <a:t>not a hidden latent code</a:t>
            </a:r>
            <a:r>
              <a:rPr lang="en-US" sz="2100" b="true">
                <a:solidFill>
                  <a:srgbClr val="111111"/>
                </a:solidFill>
                <a:latin typeface="Nunito Semi-Bold"/>
                <a:ea typeface="Nunito Semi-Bold"/>
                <a:cs typeface="Nunito Semi-Bold"/>
                <a:sym typeface="Nunito Semi-Bold"/>
              </a:rPr>
              <a:t>.</a:t>
            </a:r>
          </a:p>
          <a:p>
            <a:pPr algn="l" marL="274320" indent="-274320">
              <a:lnSpc>
                <a:spcPts val="2940"/>
              </a:lnSpc>
              <a:spcBef>
                <a:spcPts val="900"/>
              </a:spcBef>
              <a:buClr>
                <a:srgbClr val="1F7A8C"/>
              </a:buClr>
              <a:buSzPct val="100000"/>
              <a:buFont typeface="Arial"/>
              <a:buChar char="•"/>
            </a:pPr>
            <a:r>
              <a:rPr lang="en-US" sz="2100" b="true">
                <a:solidFill>
                  <a:srgbClr val="111111"/>
                </a:solidFill>
                <a:latin typeface="Nunito Bold"/>
                <a:ea typeface="Nunito Bold"/>
                <a:cs typeface="Nunito Bold"/>
                <a:sym typeface="Nunito Bold"/>
              </a:rPr>
              <a:t>Why it matters:</a:t>
            </a:r>
            <a:r>
              <a:rPr lang="en-US" sz="2100" b="true">
                <a:solidFill>
                  <a:srgbClr val="111111"/>
                </a:solidFill>
                <a:latin typeface="Nunito Semi-Bold"/>
                <a:ea typeface="Nunito Semi-Bold"/>
                <a:cs typeface="Nunito Semi-Bold"/>
                <a:sym typeface="Nunito Semi-Bold"/>
              </a:rPr>
              <a:t> an explanation that names a changeable driver supports </a:t>
            </a:r>
            <a:r>
              <a:rPr lang="en-US" sz="2100" b="true">
                <a:solidFill>
                  <a:srgbClr val="111111"/>
                </a:solidFill>
                <a:latin typeface="Nunito Bold"/>
                <a:ea typeface="Nunito Bold"/>
                <a:cs typeface="Nunito Bold"/>
                <a:sym typeface="Nunito Bold"/>
              </a:rPr>
              <a:t>action</a:t>
            </a:r>
            <a:r>
              <a:rPr lang="en-US" sz="2100" b="true">
                <a:solidFill>
                  <a:srgbClr val="111111"/>
                </a:solidFill>
                <a:latin typeface="Nunito Semi-Bold"/>
                <a:ea typeface="Nunito Semi-Bold"/>
                <a:cs typeface="Nunito Semi-Bold"/>
                <a:sym typeface="Nunito Semi-Bold"/>
              </a:rPr>
              <a:t>, not only description.</a:t>
            </a:r>
          </a:p>
        </p:txBody>
      </p:sp>
      <p:pic>
        <p:nvPicPr>
          <p:cNvPr id="25" name="Picture 24" descr="intro_actionable.png"/>
          <p:cNvPicPr>
            <a:picLocks noChangeAspect="1"/>
          </p:cNvPicPr>
          <p:nvPr/>
        </p:nvPicPr>
        <p:blipFill>
          <a:blip r:embed="rId4"/>
          <a:stretch>
            <a:fillRect/>
          </a:stretch>
        </p:blipFill>
        <p:spPr>
          <a:xfrm>
            <a:off x="9441180" y="4158222"/>
            <a:ext cx="7818120" cy="4264429"/>
          </a:xfrm>
          <a:prstGeom prst="rect">
            <a:avLst/>
          </a:prstGeom>
        </p:spPr>
      </p:pic>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pic>
        <p:nvPicPr>
          <p:cNvPr id="2" name="Picture 1" descr="ensias_logo.jpg"/>
          <p:cNvPicPr>
            <a:picLocks noChangeAspect="1"/>
          </p:cNvPicPr>
          <p:nvPr/>
        </p:nvPicPr>
        <p:blipFill>
          <a:blip r:embed="rId2"/>
          <a:stretch>
            <a:fillRect/>
          </a:stretch>
        </p:blipFill>
        <p:spPr>
          <a:xfrm>
            <a:off x="1028700" y="9674352"/>
            <a:ext cx="542964" cy="384048"/>
          </a:xfrm>
          <a:prstGeom prst="rect">
            <a:avLst/>
          </a:prstGeom>
        </p:spPr>
      </p:pic>
      <p:sp>
        <p:nvSpPr>
          <p:cNvPr id="3" name="TextBox 2"/>
          <p:cNvSpPr txBox="1"/>
          <p:nvPr/>
        </p:nvSpPr>
        <p:spPr>
          <a:xfrm>
            <a:off x="1577340" y="9601200"/>
            <a:ext cx="14493240" cy="566928"/>
          </a:xfrm>
          <a:prstGeom prst="rect">
            <a:avLst/>
          </a:prstGeom>
          <a:noFill/>
        </p:spPr>
        <p:txBody>
          <a:bodyPr anchor="ctr" rtlCol="false" lIns="0" tIns="0" rIns="0" bIns="0" wrap="square"/>
          <a:lstStyle/>
          <a:p>
            <a:pPr algn="l">
              <a:lnSpc>
                <a:spcPts val="1200"/>
              </a:lnSpc>
              <a:spcBef>
                <a:spcPts val="0"/>
              </a:spcBef>
              <a:buNone/>
            </a:pPr>
            <a:r>
              <a:rPr lang="en-US" sz="1000" b="true">
                <a:solidFill>
                  <a:srgbClr val="8A8378"/>
                </a:solidFill>
                <a:latin typeface="Nunito Semi-Bold"/>
                <a:ea typeface="Nunito Semi-Bold"/>
                <a:cs typeface="Nunito Semi-Bold"/>
                <a:sym typeface="Nunito Semi-Bold"/>
              </a:rPr>
              <a:t>[10] Koren, Y., Bell, R. &amp; Volinsky, C. Matrix Factorization Techniques for Recommender Systems. Computer 42(8), 30–37 (2009).   [12] He, X. et al. LightGCN: Simplifying and Powering Graph Convolution Network for Recommendation. SIGIR, 639–648 (2020).   [16] Feng, Y. et al. Hypergraph Neural Networks. AAAI 33, 3558–3565 (2019).   [26] European Union. Regulation (EU) 2024/1689 (AI Act), Art. 13 (2024).  ·  Regulation (EU) 2016/679 (GDPR), Art. 22 (2016).  ·  OECD. Recommendation of the Council on Artificial Intelligence (2019).</a:t>
            </a:r>
          </a:p>
        </p:txBody>
      </p:sp>
      <p:sp>
        <p:nvSpPr>
          <p:cNvPr id="4" name="TextBox 3"/>
          <p:cNvSpPr txBox="1"/>
          <p:nvPr/>
        </p:nvSpPr>
        <p:spPr>
          <a:xfrm>
            <a:off x="16162020" y="9692640"/>
            <a:ext cx="1097280" cy="329184"/>
          </a:xfrm>
          <a:prstGeom prst="rect">
            <a:avLst/>
          </a:prstGeom>
          <a:noFill/>
        </p:spPr>
        <p:txBody>
          <a:bodyPr anchor="t" rtlCol="false" lIns="0" tIns="0" rIns="0" bIns="0" wrap="square"/>
          <a:lstStyle/>
          <a:p>
            <a:pPr algn="r">
              <a:lnSpc>
                <a:spcPts val="2200"/>
              </a:lnSpc>
              <a:spcBef>
                <a:spcPts val="0"/>
              </a:spcBef>
              <a:buNone/>
            </a:pPr>
            <a:r>
              <a:rPr lang="en-US" sz="1800" b="true">
                <a:solidFill>
                  <a:srgbClr val="111111"/>
                </a:solidFill>
                <a:latin typeface="Nunito Ultra-Bold"/>
                <a:ea typeface="Nunito Ultra-Bold"/>
                <a:cs typeface="Nunito Ultra-Bold"/>
                <a:sym typeface="Nunito Ultra-Bold"/>
              </a:rPr>
              <a:t>06</a:t>
            </a:r>
          </a:p>
        </p:txBody>
      </p:sp>
      <p:sp>
        <p:nvSpPr>
          <p:cNvPr id="5" name="TextBox 4"/>
          <p:cNvSpPr txBox="1"/>
          <p:nvPr/>
        </p:nvSpPr>
        <p:spPr>
          <a:xfrm>
            <a:off x="1028700" y="1389888"/>
            <a:ext cx="12938760" cy="329184"/>
          </a:xfrm>
          <a:prstGeom prst="rect">
            <a:avLst/>
          </a:prstGeom>
          <a:noFill/>
        </p:spPr>
        <p:txBody>
          <a:bodyPr anchor="t" rtlCol="false" lIns="0" tIns="0" rIns="0" bIns="0" wrap="square"/>
          <a:lstStyle/>
          <a:p>
            <a:pPr algn="l">
              <a:lnSpc>
                <a:spcPts val="2000"/>
              </a:lnSpc>
              <a:spcBef>
                <a:spcPts val="0"/>
              </a:spcBef>
              <a:buNone/>
            </a:pPr>
            <a:r>
              <a:rPr lang="en-US" sz="1500" b="true" spc="160">
                <a:solidFill>
                  <a:srgbClr val="1F7A8C"/>
                </a:solidFill>
                <a:latin typeface="Nunito Ultra-Bold"/>
                <a:ea typeface="Nunito Ultra-Bold"/>
                <a:cs typeface="Nunito Ultra-Bold"/>
                <a:sym typeface="Nunito Ultra-Bold"/>
              </a:rPr>
              <a:t>INTRODUCTION</a:t>
            </a:r>
          </a:p>
        </p:txBody>
      </p:sp>
      <p:sp>
        <p:nvSpPr>
          <p:cNvPr id="6" name="Rounded Rectangle 5"/>
          <p:cNvSpPr/>
          <p:nvPr/>
        </p:nvSpPr>
        <p:spPr>
          <a:xfrm>
            <a:off x="14516100" y="1371600"/>
            <a:ext cx="329184" cy="329184"/>
          </a:xfrm>
          <a:prstGeom prst="roundRect">
            <a:avLst>
              <a:gd name="adj" fmla="val 16666"/>
            </a:avLst>
          </a:prstGeom>
          <a:solidFill>
            <a:srgbClr val="4472C4"/>
          </a:solidFill>
          <a:ln w="15875">
            <a:solidFill>
              <a:srgbClr val="4472C4"/>
            </a:solidFill>
          </a:ln>
        </p:spPr>
        <p:txBody>
          <a:bodyPr anchor="ctr" rtlCol="false" lIns="0" tIns="0" rIns="0" bIns="0" wrap="square"/>
          <a:lstStyle/>
          <a:p>
            <a:endParaRPr lang="en-US" sz="1800"/>
          </a:p>
        </p:txBody>
      </p:sp>
      <p:sp>
        <p:nvSpPr>
          <p:cNvPr id="7" name="TextBox 6"/>
          <p:cNvSpPr txBox="1"/>
          <p:nvPr/>
        </p:nvSpPr>
        <p:spPr>
          <a:xfrm>
            <a:off x="14516100"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FFFFFF"/>
                </a:solidFill>
                <a:latin typeface="Nunito Ultra-Bold"/>
                <a:ea typeface="Nunito Ultra-Bold"/>
                <a:cs typeface="Nunito Ultra-Bold"/>
                <a:sym typeface="Nunito Ultra-Bold"/>
              </a:rPr>
              <a:t>1</a:t>
            </a:r>
          </a:p>
        </p:txBody>
      </p:sp>
      <p:sp>
        <p:nvSpPr>
          <p:cNvPr id="8" name="Rounded Rectangle 7"/>
          <p:cNvSpPr/>
          <p:nvPr/>
        </p:nvSpPr>
        <p:spPr>
          <a:xfrm>
            <a:off x="14918436"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9" name="TextBox 8"/>
          <p:cNvSpPr txBox="1"/>
          <p:nvPr/>
        </p:nvSpPr>
        <p:spPr>
          <a:xfrm>
            <a:off x="14918436"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2</a:t>
            </a:r>
          </a:p>
        </p:txBody>
      </p:sp>
      <p:sp>
        <p:nvSpPr>
          <p:cNvPr id="10" name="Rounded Rectangle 9"/>
          <p:cNvSpPr/>
          <p:nvPr/>
        </p:nvSpPr>
        <p:spPr>
          <a:xfrm>
            <a:off x="15320772"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11" name="TextBox 10"/>
          <p:cNvSpPr txBox="1"/>
          <p:nvPr/>
        </p:nvSpPr>
        <p:spPr>
          <a:xfrm>
            <a:off x="15320772"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3</a:t>
            </a:r>
          </a:p>
        </p:txBody>
      </p:sp>
      <p:sp>
        <p:nvSpPr>
          <p:cNvPr id="12" name="Rounded Rectangle 11"/>
          <p:cNvSpPr/>
          <p:nvPr/>
        </p:nvSpPr>
        <p:spPr>
          <a:xfrm>
            <a:off x="15723108"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13" name="TextBox 12"/>
          <p:cNvSpPr txBox="1"/>
          <p:nvPr/>
        </p:nvSpPr>
        <p:spPr>
          <a:xfrm>
            <a:off x="15723108"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4</a:t>
            </a:r>
          </a:p>
        </p:txBody>
      </p:sp>
      <p:sp>
        <p:nvSpPr>
          <p:cNvPr id="14" name="Rounded Rectangle 13"/>
          <p:cNvSpPr/>
          <p:nvPr/>
        </p:nvSpPr>
        <p:spPr>
          <a:xfrm>
            <a:off x="16125444"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15" name="TextBox 14"/>
          <p:cNvSpPr txBox="1"/>
          <p:nvPr/>
        </p:nvSpPr>
        <p:spPr>
          <a:xfrm>
            <a:off x="16125444"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5</a:t>
            </a:r>
          </a:p>
        </p:txBody>
      </p:sp>
      <p:sp>
        <p:nvSpPr>
          <p:cNvPr id="16" name="Rounded Rectangle 15"/>
          <p:cNvSpPr/>
          <p:nvPr/>
        </p:nvSpPr>
        <p:spPr>
          <a:xfrm>
            <a:off x="16527780"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17" name="TextBox 16"/>
          <p:cNvSpPr txBox="1"/>
          <p:nvPr/>
        </p:nvSpPr>
        <p:spPr>
          <a:xfrm>
            <a:off x="16527780"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6</a:t>
            </a:r>
          </a:p>
        </p:txBody>
      </p:sp>
      <p:sp>
        <p:nvSpPr>
          <p:cNvPr id="18" name="Rounded Rectangle 17"/>
          <p:cNvSpPr/>
          <p:nvPr/>
        </p:nvSpPr>
        <p:spPr>
          <a:xfrm>
            <a:off x="16930116"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19" name="TextBox 18"/>
          <p:cNvSpPr txBox="1"/>
          <p:nvPr/>
        </p:nvSpPr>
        <p:spPr>
          <a:xfrm>
            <a:off x="16930116"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7</a:t>
            </a:r>
          </a:p>
        </p:txBody>
      </p:sp>
      <p:sp>
        <p:nvSpPr>
          <p:cNvPr id="20" name="TextBox 19"/>
          <p:cNvSpPr txBox="1"/>
          <p:nvPr/>
        </p:nvSpPr>
        <p:spPr>
          <a:xfrm>
            <a:off x="1028700" y="1719072"/>
            <a:ext cx="16230600" cy="730250"/>
          </a:xfrm>
          <a:prstGeom prst="rect">
            <a:avLst/>
          </a:prstGeom>
          <a:noFill/>
        </p:spPr>
        <p:txBody>
          <a:bodyPr anchor="t" rtlCol="false" lIns="0" tIns="0" rIns="0" bIns="0" wrap="square"/>
          <a:lstStyle/>
          <a:p>
            <a:pPr algn="l">
              <a:lnSpc>
                <a:spcPts val="5060"/>
              </a:lnSpc>
              <a:spcBef>
                <a:spcPts val="0"/>
              </a:spcBef>
              <a:buNone/>
            </a:pPr>
            <a:r>
              <a:rPr lang="en-US" sz="4600" b="true" spc="-230">
                <a:solidFill>
                  <a:srgbClr val="111111"/>
                </a:solidFill>
                <a:latin typeface="Roca Two Bold"/>
                <a:ea typeface="Roca Two Bold"/>
                <a:cs typeface="Roca Two Bold"/>
                <a:sym typeface="Roca Two Bold"/>
              </a:rPr>
              <a:t>Research Context</a:t>
            </a:r>
          </a:p>
        </p:txBody>
      </p:sp>
      <p:sp>
        <p:nvSpPr>
          <p:cNvPr id="21" name="Rounded Rectangle 20"/>
          <p:cNvSpPr/>
          <p:nvPr/>
        </p:nvSpPr>
        <p:spPr>
          <a:xfrm>
            <a:off x="1028700" y="2559050"/>
            <a:ext cx="1715805" cy="420624"/>
          </a:xfrm>
          <a:prstGeom prst="roundRect">
            <a:avLst>
              <a:gd name="adj" fmla="val 50000"/>
            </a:avLst>
          </a:prstGeom>
          <a:noFill/>
          <a:ln w="28575">
            <a:solidFill>
              <a:srgbClr val="4472C4"/>
            </a:solidFill>
          </a:ln>
        </p:spPr>
        <p:txBody>
          <a:bodyPr anchor="ctr" rtlCol="false" lIns="45720" tIns="0" rIns="45720" bIns="0" wrap="square"/>
          <a:lstStyle/>
          <a:p>
            <a:pPr algn="ctr">
              <a:lnSpc>
                <a:spcPts val="2160"/>
              </a:lnSpc>
              <a:spcBef>
                <a:spcPts val="0"/>
              </a:spcBef>
              <a:buNone/>
            </a:pPr>
            <a:r>
              <a:rPr lang="en-US" sz="1800" b="true">
                <a:solidFill>
                  <a:srgbClr val="4472C4"/>
                </a:solidFill>
                <a:latin typeface="Nunito Bold"/>
                <a:ea typeface="Nunito Bold"/>
                <a:cs typeface="Nunito Bold"/>
                <a:sym typeface="Nunito Bold"/>
              </a:rPr>
              <a:t>Motivation</a:t>
            </a:r>
          </a:p>
        </p:txBody>
      </p:sp>
      <p:sp>
        <p:nvSpPr>
          <p:cNvPr id="22" name="Rounded Rectangle 21"/>
          <p:cNvSpPr/>
          <p:nvPr/>
        </p:nvSpPr>
        <p:spPr>
          <a:xfrm>
            <a:off x="2872521" y="2559050"/>
            <a:ext cx="2544852" cy="420624"/>
          </a:xfrm>
          <a:prstGeom prst="roundRect">
            <a:avLst>
              <a:gd name="adj" fmla="val 50000"/>
            </a:avLst>
          </a:prstGeom>
          <a:noFill/>
          <a:ln w="28575">
            <a:solidFill>
              <a:srgbClr val="4472C4"/>
            </a:solidFill>
          </a:ln>
        </p:spPr>
        <p:txBody>
          <a:bodyPr anchor="ctr" rtlCol="false" lIns="45720" tIns="0" rIns="45720" bIns="0" wrap="square"/>
          <a:lstStyle/>
          <a:p>
            <a:pPr algn="ctr">
              <a:lnSpc>
                <a:spcPts val="2160"/>
              </a:lnSpc>
              <a:spcBef>
                <a:spcPts val="0"/>
              </a:spcBef>
              <a:buNone/>
            </a:pPr>
            <a:r>
              <a:rPr lang="en-US" sz="1800" b="true">
                <a:solidFill>
                  <a:srgbClr val="4472C4"/>
                </a:solidFill>
                <a:latin typeface="Nunito Bold"/>
                <a:ea typeface="Nunito Bold"/>
                <a:cs typeface="Nunito Bold"/>
                <a:sym typeface="Nunito Bold"/>
              </a:rPr>
              <a:t>Actionable Insight</a:t>
            </a:r>
          </a:p>
        </p:txBody>
      </p:sp>
      <p:sp>
        <p:nvSpPr>
          <p:cNvPr id="23" name="Rounded Rectangle 22"/>
          <p:cNvSpPr/>
          <p:nvPr/>
        </p:nvSpPr>
        <p:spPr>
          <a:xfrm>
            <a:off x="5545389" y="2559050"/>
            <a:ext cx="2484575" cy="420624"/>
          </a:xfrm>
          <a:prstGeom prst="roundRect">
            <a:avLst>
              <a:gd name="adj" fmla="val 50000"/>
            </a:avLst>
          </a:prstGeom>
          <a:solidFill>
            <a:srgbClr val="4472C4"/>
          </a:solidFill>
          <a:ln>
            <a:noFill/>
          </a:ln>
        </p:spPr>
        <p:txBody>
          <a:bodyPr anchor="ctr" rtlCol="false" lIns="45720" tIns="0" rIns="45720" bIns="0" wrap="square"/>
          <a:lstStyle/>
          <a:p>
            <a:pPr algn="ctr">
              <a:lnSpc>
                <a:spcPts val="2160"/>
              </a:lnSpc>
              <a:spcBef>
                <a:spcPts val="0"/>
              </a:spcBef>
              <a:buNone/>
            </a:pPr>
            <a:r>
              <a:rPr lang="en-US" sz="1800" b="true">
                <a:solidFill>
                  <a:srgbClr val="FFFFFF"/>
                </a:solidFill>
                <a:latin typeface="Nunito Bold"/>
                <a:ea typeface="Nunito Bold"/>
                <a:cs typeface="Nunito Bold"/>
                <a:sym typeface="Nunito Bold"/>
              </a:rPr>
              <a:t>Research Context</a:t>
            </a:r>
          </a:p>
        </p:txBody>
      </p:sp>
      <p:pic>
        <p:nvPicPr>
          <p:cNvPr id="24" name="Picture 23" descr="intro_evolution.png"/>
          <p:cNvPicPr>
            <a:picLocks noChangeAspect="1"/>
          </p:cNvPicPr>
          <p:nvPr/>
        </p:nvPicPr>
        <p:blipFill>
          <a:blip r:embed="rId4"/>
          <a:stretch>
            <a:fillRect/>
          </a:stretch>
        </p:blipFill>
        <p:spPr>
          <a:xfrm>
            <a:off x="3862175" y="3546602"/>
            <a:ext cx="10563648" cy="5761990"/>
          </a:xfrm>
          <a:prstGeom prst="rect">
            <a:avLst/>
          </a:prstGeom>
        </p:spPr>
      </p:pic>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pic>
        <p:nvPicPr>
          <p:cNvPr id="2" name="Picture 1" descr="ensias_logo.jpg"/>
          <p:cNvPicPr>
            <a:picLocks noChangeAspect="1"/>
          </p:cNvPicPr>
          <p:nvPr/>
        </p:nvPicPr>
        <p:blipFill>
          <a:blip r:embed="rId2"/>
          <a:stretch>
            <a:fillRect/>
          </a:stretch>
        </p:blipFill>
        <p:spPr>
          <a:xfrm>
            <a:off x="1028700" y="9674352"/>
            <a:ext cx="542964" cy="384048"/>
          </a:xfrm>
          <a:prstGeom prst="rect">
            <a:avLst/>
          </a:prstGeom>
        </p:spPr>
      </p:pic>
      <p:sp>
        <p:nvSpPr>
          <p:cNvPr id="3" name="TextBox 2"/>
          <p:cNvSpPr txBox="1"/>
          <p:nvPr/>
        </p:nvSpPr>
        <p:spPr>
          <a:xfrm>
            <a:off x="1577340" y="9601200"/>
            <a:ext cx="14493240" cy="566928"/>
          </a:xfrm>
          <a:prstGeom prst="rect">
            <a:avLst/>
          </a:prstGeom>
          <a:noFill/>
        </p:spPr>
        <p:txBody>
          <a:bodyPr anchor="ctr" rtlCol="false" lIns="0" tIns="0" rIns="0" bIns="0" wrap="square"/>
          <a:lstStyle/>
          <a:p>
            <a:pPr algn="l">
              <a:lnSpc>
                <a:spcPts val="1200"/>
              </a:lnSpc>
              <a:spcBef>
                <a:spcPts val="0"/>
              </a:spcBef>
              <a:buNone/>
            </a:pPr>
            <a:r>
              <a:rPr lang="en-US" sz="1000" b="true">
                <a:solidFill>
                  <a:srgbClr val="8A8378"/>
                </a:solidFill>
                <a:latin typeface="Nunito Semi-Bold"/>
                <a:ea typeface="Nunito Semi-Bold"/>
                <a:cs typeface="Nunito Semi-Bold"/>
                <a:sym typeface="Nunito Semi-Bold"/>
              </a:rPr>
              <a:t>[21] Zhang, Y. &amp; Chen, X. Explainable Recommendation: A Survey and New Perspectives. Foundations and Trends in IR 14(1), 1–101 (2020).   [22] Adomavicius, G. &amp; Tuzhilin, A. Toward the Next Generation of Recommender Systems. IEEE TKDE 17(6), 734–749 (2005).  ·  Burke, R. Hybrid Recommender Systems. UMUAI 12(4), 331–370 (2002).</a:t>
            </a:r>
          </a:p>
        </p:txBody>
      </p:sp>
      <p:sp>
        <p:nvSpPr>
          <p:cNvPr id="4" name="TextBox 3"/>
          <p:cNvSpPr txBox="1"/>
          <p:nvPr/>
        </p:nvSpPr>
        <p:spPr>
          <a:xfrm>
            <a:off x="16162020" y="9692640"/>
            <a:ext cx="1097280" cy="329184"/>
          </a:xfrm>
          <a:prstGeom prst="rect">
            <a:avLst/>
          </a:prstGeom>
          <a:noFill/>
        </p:spPr>
        <p:txBody>
          <a:bodyPr anchor="t" rtlCol="false" lIns="0" tIns="0" rIns="0" bIns="0" wrap="square"/>
          <a:lstStyle/>
          <a:p>
            <a:pPr algn="r">
              <a:lnSpc>
                <a:spcPts val="2200"/>
              </a:lnSpc>
              <a:spcBef>
                <a:spcPts val="0"/>
              </a:spcBef>
              <a:buNone/>
            </a:pPr>
            <a:r>
              <a:rPr lang="en-US" sz="1800" b="true">
                <a:solidFill>
                  <a:srgbClr val="111111"/>
                </a:solidFill>
                <a:latin typeface="Nunito Ultra-Bold"/>
                <a:ea typeface="Nunito Ultra-Bold"/>
                <a:cs typeface="Nunito Ultra-Bold"/>
                <a:sym typeface="Nunito Ultra-Bold"/>
              </a:rPr>
              <a:t>07</a:t>
            </a:r>
          </a:p>
        </p:txBody>
      </p:sp>
      <p:sp>
        <p:nvSpPr>
          <p:cNvPr id="5" name="TextBox 4"/>
          <p:cNvSpPr txBox="1"/>
          <p:nvPr/>
        </p:nvSpPr>
        <p:spPr>
          <a:xfrm>
            <a:off x="1028700" y="1389888"/>
            <a:ext cx="12938760" cy="329184"/>
          </a:xfrm>
          <a:prstGeom prst="rect">
            <a:avLst/>
          </a:prstGeom>
          <a:noFill/>
        </p:spPr>
        <p:txBody>
          <a:bodyPr anchor="t" rtlCol="false" lIns="0" tIns="0" rIns="0" bIns="0" wrap="square"/>
          <a:lstStyle/>
          <a:p>
            <a:pPr algn="l">
              <a:lnSpc>
                <a:spcPts val="2000"/>
              </a:lnSpc>
              <a:spcBef>
                <a:spcPts val="0"/>
              </a:spcBef>
              <a:buNone/>
            </a:pPr>
            <a:r>
              <a:rPr lang="en-US" sz="1500" b="true" spc="160">
                <a:solidFill>
                  <a:srgbClr val="1F7A8C"/>
                </a:solidFill>
                <a:latin typeface="Nunito Ultra-Bold"/>
                <a:ea typeface="Nunito Ultra-Bold"/>
                <a:cs typeface="Nunito Ultra-Bold"/>
                <a:sym typeface="Nunito Ultra-Bold"/>
              </a:rPr>
              <a:t>INTRODUCTION</a:t>
            </a:r>
          </a:p>
        </p:txBody>
      </p:sp>
      <p:sp>
        <p:nvSpPr>
          <p:cNvPr id="6" name="Rounded Rectangle 5"/>
          <p:cNvSpPr/>
          <p:nvPr/>
        </p:nvSpPr>
        <p:spPr>
          <a:xfrm>
            <a:off x="14516100" y="1371600"/>
            <a:ext cx="329184" cy="329184"/>
          </a:xfrm>
          <a:prstGeom prst="roundRect">
            <a:avLst>
              <a:gd name="adj" fmla="val 16666"/>
            </a:avLst>
          </a:prstGeom>
          <a:solidFill>
            <a:srgbClr val="4472C4"/>
          </a:solidFill>
          <a:ln w="15875">
            <a:solidFill>
              <a:srgbClr val="4472C4"/>
            </a:solidFill>
          </a:ln>
        </p:spPr>
        <p:txBody>
          <a:bodyPr anchor="ctr" rtlCol="false" lIns="0" tIns="0" rIns="0" bIns="0" wrap="square"/>
          <a:lstStyle/>
          <a:p>
            <a:endParaRPr lang="en-US" sz="1800"/>
          </a:p>
        </p:txBody>
      </p:sp>
      <p:sp>
        <p:nvSpPr>
          <p:cNvPr id="7" name="TextBox 6"/>
          <p:cNvSpPr txBox="1"/>
          <p:nvPr/>
        </p:nvSpPr>
        <p:spPr>
          <a:xfrm>
            <a:off x="14516100"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FFFFFF"/>
                </a:solidFill>
                <a:latin typeface="Nunito Ultra-Bold"/>
                <a:ea typeface="Nunito Ultra-Bold"/>
                <a:cs typeface="Nunito Ultra-Bold"/>
                <a:sym typeface="Nunito Ultra-Bold"/>
              </a:rPr>
              <a:t>1</a:t>
            </a:r>
          </a:p>
        </p:txBody>
      </p:sp>
      <p:sp>
        <p:nvSpPr>
          <p:cNvPr id="8" name="Rounded Rectangle 7"/>
          <p:cNvSpPr/>
          <p:nvPr/>
        </p:nvSpPr>
        <p:spPr>
          <a:xfrm>
            <a:off x="14918436"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9" name="TextBox 8"/>
          <p:cNvSpPr txBox="1"/>
          <p:nvPr/>
        </p:nvSpPr>
        <p:spPr>
          <a:xfrm>
            <a:off x="14918436"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2</a:t>
            </a:r>
          </a:p>
        </p:txBody>
      </p:sp>
      <p:sp>
        <p:nvSpPr>
          <p:cNvPr id="10" name="Rounded Rectangle 9"/>
          <p:cNvSpPr/>
          <p:nvPr/>
        </p:nvSpPr>
        <p:spPr>
          <a:xfrm>
            <a:off x="15320772"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11" name="TextBox 10"/>
          <p:cNvSpPr txBox="1"/>
          <p:nvPr/>
        </p:nvSpPr>
        <p:spPr>
          <a:xfrm>
            <a:off x="15320772"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3</a:t>
            </a:r>
          </a:p>
        </p:txBody>
      </p:sp>
      <p:sp>
        <p:nvSpPr>
          <p:cNvPr id="12" name="Rounded Rectangle 11"/>
          <p:cNvSpPr/>
          <p:nvPr/>
        </p:nvSpPr>
        <p:spPr>
          <a:xfrm>
            <a:off x="15723108"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13" name="TextBox 12"/>
          <p:cNvSpPr txBox="1"/>
          <p:nvPr/>
        </p:nvSpPr>
        <p:spPr>
          <a:xfrm>
            <a:off x="15723108"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4</a:t>
            </a:r>
          </a:p>
        </p:txBody>
      </p:sp>
      <p:sp>
        <p:nvSpPr>
          <p:cNvPr id="14" name="Rounded Rectangle 13"/>
          <p:cNvSpPr/>
          <p:nvPr/>
        </p:nvSpPr>
        <p:spPr>
          <a:xfrm>
            <a:off x="16125444"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15" name="TextBox 14"/>
          <p:cNvSpPr txBox="1"/>
          <p:nvPr/>
        </p:nvSpPr>
        <p:spPr>
          <a:xfrm>
            <a:off x="16125444"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5</a:t>
            </a:r>
          </a:p>
        </p:txBody>
      </p:sp>
      <p:sp>
        <p:nvSpPr>
          <p:cNvPr id="16" name="Rounded Rectangle 15"/>
          <p:cNvSpPr/>
          <p:nvPr/>
        </p:nvSpPr>
        <p:spPr>
          <a:xfrm>
            <a:off x="16527780"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17" name="TextBox 16"/>
          <p:cNvSpPr txBox="1"/>
          <p:nvPr/>
        </p:nvSpPr>
        <p:spPr>
          <a:xfrm>
            <a:off x="16527780"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6</a:t>
            </a:r>
          </a:p>
        </p:txBody>
      </p:sp>
      <p:sp>
        <p:nvSpPr>
          <p:cNvPr id="18" name="Rounded Rectangle 17"/>
          <p:cNvSpPr/>
          <p:nvPr/>
        </p:nvSpPr>
        <p:spPr>
          <a:xfrm>
            <a:off x="16930116"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19" name="TextBox 18"/>
          <p:cNvSpPr txBox="1"/>
          <p:nvPr/>
        </p:nvSpPr>
        <p:spPr>
          <a:xfrm>
            <a:off x="16930116"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7</a:t>
            </a:r>
          </a:p>
        </p:txBody>
      </p:sp>
      <p:sp>
        <p:nvSpPr>
          <p:cNvPr id="20" name="TextBox 19"/>
          <p:cNvSpPr txBox="1"/>
          <p:nvPr/>
        </p:nvSpPr>
        <p:spPr>
          <a:xfrm>
            <a:off x="1028700" y="1719072"/>
            <a:ext cx="16230600" cy="730250"/>
          </a:xfrm>
          <a:prstGeom prst="rect">
            <a:avLst/>
          </a:prstGeom>
          <a:noFill/>
        </p:spPr>
        <p:txBody>
          <a:bodyPr anchor="t" rtlCol="false" lIns="0" tIns="0" rIns="0" bIns="0" wrap="square"/>
          <a:lstStyle/>
          <a:p>
            <a:pPr algn="l">
              <a:lnSpc>
                <a:spcPts val="5060"/>
              </a:lnSpc>
              <a:spcBef>
                <a:spcPts val="0"/>
              </a:spcBef>
              <a:buNone/>
            </a:pPr>
            <a:r>
              <a:rPr lang="en-US" sz="4600" b="true" spc="-230">
                <a:solidFill>
                  <a:srgbClr val="111111"/>
                </a:solidFill>
                <a:latin typeface="Roca Two Bold"/>
                <a:ea typeface="Roca Two Bold"/>
                <a:cs typeface="Roca Two Bold"/>
                <a:sym typeface="Roca Two Bold"/>
              </a:rPr>
              <a:t>AI-Powered Recommendation Is Everywhere</a:t>
            </a:r>
          </a:p>
        </p:txBody>
      </p:sp>
      <p:sp>
        <p:nvSpPr>
          <p:cNvPr id="21" name="Rounded Rectangle 20"/>
          <p:cNvSpPr/>
          <p:nvPr/>
        </p:nvSpPr>
        <p:spPr>
          <a:xfrm>
            <a:off x="1028700" y="2559050"/>
            <a:ext cx="1715805" cy="420624"/>
          </a:xfrm>
          <a:prstGeom prst="roundRect">
            <a:avLst>
              <a:gd name="adj" fmla="val 50000"/>
            </a:avLst>
          </a:prstGeom>
          <a:noFill/>
          <a:ln w="28575">
            <a:solidFill>
              <a:srgbClr val="4472C4"/>
            </a:solidFill>
          </a:ln>
        </p:spPr>
        <p:txBody>
          <a:bodyPr anchor="ctr" rtlCol="false" lIns="45720" tIns="0" rIns="45720" bIns="0" wrap="square"/>
          <a:lstStyle/>
          <a:p>
            <a:pPr algn="ctr">
              <a:lnSpc>
                <a:spcPts val="2160"/>
              </a:lnSpc>
              <a:spcBef>
                <a:spcPts val="0"/>
              </a:spcBef>
              <a:buNone/>
            </a:pPr>
            <a:r>
              <a:rPr lang="en-US" sz="1800" b="true">
                <a:solidFill>
                  <a:srgbClr val="4472C4"/>
                </a:solidFill>
                <a:latin typeface="Nunito Bold"/>
                <a:ea typeface="Nunito Bold"/>
                <a:cs typeface="Nunito Bold"/>
                <a:sym typeface="Nunito Bold"/>
              </a:rPr>
              <a:t>Motivation</a:t>
            </a:r>
          </a:p>
        </p:txBody>
      </p:sp>
      <p:sp>
        <p:nvSpPr>
          <p:cNvPr id="22" name="Rounded Rectangle 21"/>
          <p:cNvSpPr/>
          <p:nvPr/>
        </p:nvSpPr>
        <p:spPr>
          <a:xfrm>
            <a:off x="2872521" y="2559050"/>
            <a:ext cx="2544852" cy="420624"/>
          </a:xfrm>
          <a:prstGeom prst="roundRect">
            <a:avLst>
              <a:gd name="adj" fmla="val 50000"/>
            </a:avLst>
          </a:prstGeom>
          <a:noFill/>
          <a:ln w="28575">
            <a:solidFill>
              <a:srgbClr val="4472C4"/>
            </a:solidFill>
          </a:ln>
        </p:spPr>
        <p:txBody>
          <a:bodyPr anchor="ctr" rtlCol="false" lIns="45720" tIns="0" rIns="45720" bIns="0" wrap="square"/>
          <a:lstStyle/>
          <a:p>
            <a:pPr algn="ctr">
              <a:lnSpc>
                <a:spcPts val="2160"/>
              </a:lnSpc>
              <a:spcBef>
                <a:spcPts val="0"/>
              </a:spcBef>
              <a:buNone/>
            </a:pPr>
            <a:r>
              <a:rPr lang="en-US" sz="1800" b="true">
                <a:solidFill>
                  <a:srgbClr val="4472C4"/>
                </a:solidFill>
                <a:latin typeface="Nunito Bold"/>
                <a:ea typeface="Nunito Bold"/>
                <a:cs typeface="Nunito Bold"/>
                <a:sym typeface="Nunito Bold"/>
              </a:rPr>
              <a:t>Actionable Insight</a:t>
            </a:r>
          </a:p>
        </p:txBody>
      </p:sp>
      <p:sp>
        <p:nvSpPr>
          <p:cNvPr id="23" name="Rounded Rectangle 22"/>
          <p:cNvSpPr/>
          <p:nvPr/>
        </p:nvSpPr>
        <p:spPr>
          <a:xfrm>
            <a:off x="5545389" y="2559050"/>
            <a:ext cx="2484575" cy="420624"/>
          </a:xfrm>
          <a:prstGeom prst="roundRect">
            <a:avLst>
              <a:gd name="adj" fmla="val 50000"/>
            </a:avLst>
          </a:prstGeom>
          <a:solidFill>
            <a:srgbClr val="4472C4"/>
          </a:solidFill>
          <a:ln>
            <a:noFill/>
          </a:ln>
        </p:spPr>
        <p:txBody>
          <a:bodyPr anchor="ctr" rtlCol="false" lIns="45720" tIns="0" rIns="45720" bIns="0" wrap="square"/>
          <a:lstStyle/>
          <a:p>
            <a:pPr algn="ctr">
              <a:lnSpc>
                <a:spcPts val="2160"/>
              </a:lnSpc>
              <a:spcBef>
                <a:spcPts val="0"/>
              </a:spcBef>
              <a:buNone/>
            </a:pPr>
            <a:r>
              <a:rPr lang="en-US" sz="1800" b="true">
                <a:solidFill>
                  <a:srgbClr val="FFFFFF"/>
                </a:solidFill>
                <a:latin typeface="Nunito Bold"/>
                <a:ea typeface="Nunito Bold"/>
                <a:cs typeface="Nunito Bold"/>
                <a:sym typeface="Nunito Bold"/>
              </a:rPr>
              <a:t>Research Context</a:t>
            </a:r>
          </a:p>
        </p:txBody>
      </p:sp>
      <p:sp>
        <p:nvSpPr>
          <p:cNvPr id="24" name="Rounded Rectangle 23"/>
          <p:cNvSpPr/>
          <p:nvPr/>
        </p:nvSpPr>
        <p:spPr>
          <a:xfrm>
            <a:off x="1028700" y="3455162"/>
            <a:ext cx="3817620" cy="4480560"/>
          </a:xfrm>
          <a:prstGeom prst="roundRect">
            <a:avLst>
              <a:gd name="adj" fmla="val 7185"/>
            </a:avLst>
          </a:prstGeom>
          <a:solidFill>
            <a:srgbClr val="FFFFFF"/>
          </a:solidFill>
          <a:ln w="15875">
            <a:solidFill>
              <a:srgbClr val="E3D6C4"/>
            </a:solidFill>
          </a:ln>
        </p:spPr>
        <p:txBody>
          <a:bodyPr anchor="ctr" rtlCol="false" lIns="0" tIns="0" rIns="0" bIns="0" wrap="square"/>
          <a:lstStyle/>
          <a:p>
            <a:endParaRPr lang="en-US" sz="1800"/>
          </a:p>
        </p:txBody>
      </p:sp>
      <p:sp>
        <p:nvSpPr>
          <p:cNvPr id="25" name="Rounded Rectangle 24"/>
          <p:cNvSpPr/>
          <p:nvPr/>
        </p:nvSpPr>
        <p:spPr>
          <a:xfrm>
            <a:off x="1485900" y="3866642"/>
            <a:ext cx="2903220" cy="1828800"/>
          </a:xfrm>
          <a:prstGeom prst="roundRect">
            <a:avLst>
              <a:gd name="adj" fmla="val 11000"/>
            </a:avLst>
          </a:prstGeom>
          <a:solidFill>
            <a:srgbClr val="F6ECDF"/>
          </a:solidFill>
          <a:ln>
            <a:noFill/>
          </a:ln>
        </p:spPr>
        <p:txBody>
          <a:bodyPr anchor="ctr" rtlCol="false" lIns="91440" tIns="45720" rIns="91440" bIns="45720" wrap="square"/>
          <a:lstStyle/>
          <a:p>
            <a:pPr algn="ctr">
              <a:lnSpc>
                <a:spcPts val="3450"/>
              </a:lnSpc>
              <a:spcBef>
                <a:spcPts val="0"/>
              </a:spcBef>
              <a:buNone/>
            </a:pPr>
            <a:r>
              <a:rPr lang="en-US" sz="3000" b="true">
                <a:solidFill>
                  <a:srgbClr val="111111"/>
                </a:solidFill>
                <a:latin typeface="Nunito Bold"/>
                <a:ea typeface="Nunito Bold"/>
                <a:cs typeface="Nunito Bold"/>
                <a:sym typeface="Nunito Bold"/>
              </a:rPr>
              <a:t>Netflix</a:t>
            </a:r>
          </a:p>
        </p:txBody>
      </p:sp>
      <p:sp>
        <p:nvSpPr>
          <p:cNvPr id="26" name="TextBox 25"/>
          <p:cNvSpPr txBox="1"/>
          <p:nvPr/>
        </p:nvSpPr>
        <p:spPr>
          <a:xfrm>
            <a:off x="1303020" y="5969762"/>
            <a:ext cx="3268980" cy="457200"/>
          </a:xfrm>
          <a:prstGeom prst="rect">
            <a:avLst/>
          </a:prstGeom>
          <a:noFill/>
        </p:spPr>
        <p:txBody>
          <a:bodyPr anchor="t" rtlCol="false" lIns="0" tIns="0" rIns="0" bIns="0" wrap="square"/>
          <a:lstStyle/>
          <a:p>
            <a:pPr algn="ctr">
              <a:lnSpc>
                <a:spcPts val="2800"/>
              </a:lnSpc>
              <a:spcBef>
                <a:spcPts val="0"/>
              </a:spcBef>
              <a:buNone/>
            </a:pPr>
            <a:r>
              <a:rPr lang="en-US" sz="2400" b="true">
                <a:solidFill>
                  <a:srgbClr val="111111"/>
                </a:solidFill>
                <a:latin typeface="Nunito Ultra-Bold"/>
                <a:ea typeface="Nunito Ultra-Bold"/>
                <a:cs typeface="Nunito Ultra-Bold"/>
                <a:sym typeface="Nunito Ultra-Bold"/>
              </a:rPr>
              <a:t>Netflix</a:t>
            </a:r>
          </a:p>
        </p:txBody>
      </p:sp>
      <p:sp>
        <p:nvSpPr>
          <p:cNvPr id="27" name="TextBox 26"/>
          <p:cNvSpPr txBox="1"/>
          <p:nvPr/>
        </p:nvSpPr>
        <p:spPr>
          <a:xfrm>
            <a:off x="1303020" y="6472682"/>
            <a:ext cx="3268980" cy="1280160"/>
          </a:xfrm>
          <a:prstGeom prst="rect">
            <a:avLst/>
          </a:prstGeom>
          <a:noFill/>
        </p:spPr>
        <p:txBody>
          <a:bodyPr anchor="t" rtlCol="false" lIns="0" tIns="0" rIns="0" bIns="0" wrap="square"/>
          <a:lstStyle/>
          <a:p>
            <a:pPr algn="ctr">
              <a:lnSpc>
                <a:spcPts val="2200"/>
              </a:lnSpc>
              <a:spcBef>
                <a:spcPts val="0"/>
              </a:spcBef>
              <a:buNone/>
            </a:pPr>
            <a:r>
              <a:rPr lang="en-US" sz="1700" b="true">
                <a:solidFill>
                  <a:srgbClr val="8A8378"/>
                </a:solidFill>
                <a:latin typeface="Nunito Semi-Bold"/>
                <a:ea typeface="Nunito Semi-Bold"/>
                <a:cs typeface="Nunito Semi-Bold"/>
                <a:sym typeface="Nunito Semi-Bold"/>
              </a:rPr>
              <a:t>Movie and TV recommendation platform</a:t>
            </a:r>
          </a:p>
        </p:txBody>
      </p:sp>
      <p:sp>
        <p:nvSpPr>
          <p:cNvPr id="28" name="Rounded Rectangle 27"/>
          <p:cNvSpPr/>
          <p:nvPr/>
        </p:nvSpPr>
        <p:spPr>
          <a:xfrm>
            <a:off x="5166360" y="3455162"/>
            <a:ext cx="3817620" cy="4480560"/>
          </a:xfrm>
          <a:prstGeom prst="roundRect">
            <a:avLst>
              <a:gd name="adj" fmla="val 7185"/>
            </a:avLst>
          </a:prstGeom>
          <a:solidFill>
            <a:srgbClr val="FFFFFF"/>
          </a:solidFill>
          <a:ln w="15875">
            <a:solidFill>
              <a:srgbClr val="E3D6C4"/>
            </a:solidFill>
          </a:ln>
        </p:spPr>
        <p:txBody>
          <a:bodyPr anchor="ctr" rtlCol="false" lIns="0" tIns="0" rIns="0" bIns="0" wrap="square"/>
          <a:lstStyle/>
          <a:p>
            <a:endParaRPr lang="en-US" sz="1800"/>
          </a:p>
        </p:txBody>
      </p:sp>
      <p:sp>
        <p:nvSpPr>
          <p:cNvPr id="29" name="Rounded Rectangle 28"/>
          <p:cNvSpPr/>
          <p:nvPr/>
        </p:nvSpPr>
        <p:spPr>
          <a:xfrm>
            <a:off x="5623560" y="3866642"/>
            <a:ext cx="2903220" cy="1828800"/>
          </a:xfrm>
          <a:prstGeom prst="roundRect">
            <a:avLst>
              <a:gd name="adj" fmla="val 11000"/>
            </a:avLst>
          </a:prstGeom>
          <a:solidFill>
            <a:srgbClr val="F6ECDF"/>
          </a:solidFill>
          <a:ln>
            <a:noFill/>
          </a:ln>
        </p:spPr>
        <p:txBody>
          <a:bodyPr anchor="ctr" rtlCol="false" lIns="91440" tIns="45720" rIns="91440" bIns="45720" wrap="square"/>
          <a:lstStyle/>
          <a:p>
            <a:pPr algn="ctr">
              <a:lnSpc>
                <a:spcPts val="3450"/>
              </a:lnSpc>
              <a:spcBef>
                <a:spcPts val="0"/>
              </a:spcBef>
              <a:buNone/>
            </a:pPr>
            <a:r>
              <a:rPr lang="en-US" sz="3000" b="true">
                <a:solidFill>
                  <a:srgbClr val="111111"/>
                </a:solidFill>
                <a:latin typeface="Nunito Bold"/>
                <a:ea typeface="Nunito Bold"/>
                <a:cs typeface="Nunito Bold"/>
                <a:sym typeface="Nunito Bold"/>
              </a:rPr>
              <a:t>Spotify</a:t>
            </a:r>
          </a:p>
        </p:txBody>
      </p:sp>
      <p:sp>
        <p:nvSpPr>
          <p:cNvPr id="30" name="TextBox 29"/>
          <p:cNvSpPr txBox="1"/>
          <p:nvPr/>
        </p:nvSpPr>
        <p:spPr>
          <a:xfrm>
            <a:off x="5440680" y="5969762"/>
            <a:ext cx="3268980" cy="457200"/>
          </a:xfrm>
          <a:prstGeom prst="rect">
            <a:avLst/>
          </a:prstGeom>
          <a:noFill/>
        </p:spPr>
        <p:txBody>
          <a:bodyPr anchor="t" rtlCol="false" lIns="0" tIns="0" rIns="0" bIns="0" wrap="square"/>
          <a:lstStyle/>
          <a:p>
            <a:pPr algn="ctr">
              <a:lnSpc>
                <a:spcPts val="2800"/>
              </a:lnSpc>
              <a:spcBef>
                <a:spcPts val="0"/>
              </a:spcBef>
              <a:buNone/>
            </a:pPr>
            <a:r>
              <a:rPr lang="en-US" sz="2400" b="true">
                <a:solidFill>
                  <a:srgbClr val="111111"/>
                </a:solidFill>
                <a:latin typeface="Nunito Ultra-Bold"/>
                <a:ea typeface="Nunito Ultra-Bold"/>
                <a:cs typeface="Nunito Ultra-Bold"/>
                <a:sym typeface="Nunito Ultra-Bold"/>
              </a:rPr>
              <a:t>Spotify</a:t>
            </a:r>
          </a:p>
        </p:txBody>
      </p:sp>
      <p:sp>
        <p:nvSpPr>
          <p:cNvPr id="31" name="TextBox 30"/>
          <p:cNvSpPr txBox="1"/>
          <p:nvPr/>
        </p:nvSpPr>
        <p:spPr>
          <a:xfrm>
            <a:off x="5440680" y="6472682"/>
            <a:ext cx="3268980" cy="1280160"/>
          </a:xfrm>
          <a:prstGeom prst="rect">
            <a:avLst/>
          </a:prstGeom>
          <a:noFill/>
        </p:spPr>
        <p:txBody>
          <a:bodyPr anchor="t" rtlCol="false" lIns="0" tIns="0" rIns="0" bIns="0" wrap="square"/>
          <a:lstStyle/>
          <a:p>
            <a:pPr algn="ctr">
              <a:lnSpc>
                <a:spcPts val="2200"/>
              </a:lnSpc>
              <a:spcBef>
                <a:spcPts val="0"/>
              </a:spcBef>
              <a:buNone/>
            </a:pPr>
            <a:r>
              <a:rPr lang="en-US" sz="1700" b="true">
                <a:solidFill>
                  <a:srgbClr val="8A8378"/>
                </a:solidFill>
                <a:latin typeface="Nunito Semi-Bold"/>
                <a:ea typeface="Nunito Semi-Bold"/>
                <a:cs typeface="Nunito Semi-Bold"/>
                <a:sym typeface="Nunito Semi-Bold"/>
              </a:rPr>
              <a:t>Music recommendation and streaming service</a:t>
            </a:r>
          </a:p>
        </p:txBody>
      </p:sp>
      <p:sp>
        <p:nvSpPr>
          <p:cNvPr id="32" name="Rounded Rectangle 31"/>
          <p:cNvSpPr/>
          <p:nvPr/>
        </p:nvSpPr>
        <p:spPr>
          <a:xfrm>
            <a:off x="9304020" y="3455162"/>
            <a:ext cx="3817620" cy="4480560"/>
          </a:xfrm>
          <a:prstGeom prst="roundRect">
            <a:avLst>
              <a:gd name="adj" fmla="val 7185"/>
            </a:avLst>
          </a:prstGeom>
          <a:solidFill>
            <a:srgbClr val="FFFFFF"/>
          </a:solidFill>
          <a:ln w="15875">
            <a:solidFill>
              <a:srgbClr val="E3D6C4"/>
            </a:solidFill>
          </a:ln>
        </p:spPr>
        <p:txBody>
          <a:bodyPr anchor="ctr" rtlCol="false" lIns="0" tIns="0" rIns="0" bIns="0" wrap="square"/>
          <a:lstStyle/>
          <a:p>
            <a:endParaRPr lang="en-US" sz="1800"/>
          </a:p>
        </p:txBody>
      </p:sp>
      <p:sp>
        <p:nvSpPr>
          <p:cNvPr id="33" name="Rounded Rectangle 32"/>
          <p:cNvSpPr/>
          <p:nvPr/>
        </p:nvSpPr>
        <p:spPr>
          <a:xfrm>
            <a:off x="9761220" y="3866642"/>
            <a:ext cx="2903220" cy="1828800"/>
          </a:xfrm>
          <a:prstGeom prst="roundRect">
            <a:avLst>
              <a:gd name="adj" fmla="val 11000"/>
            </a:avLst>
          </a:prstGeom>
          <a:solidFill>
            <a:srgbClr val="F6ECDF"/>
          </a:solidFill>
          <a:ln>
            <a:noFill/>
          </a:ln>
        </p:spPr>
        <p:txBody>
          <a:bodyPr anchor="ctr" rtlCol="false" lIns="91440" tIns="45720" rIns="91440" bIns="45720" wrap="square"/>
          <a:lstStyle/>
          <a:p>
            <a:pPr algn="ctr">
              <a:lnSpc>
                <a:spcPts val="3450"/>
              </a:lnSpc>
              <a:spcBef>
                <a:spcPts val="0"/>
              </a:spcBef>
              <a:buNone/>
            </a:pPr>
            <a:r>
              <a:rPr lang="en-US" sz="3000" b="true">
                <a:solidFill>
                  <a:srgbClr val="111111"/>
                </a:solidFill>
                <a:latin typeface="Nunito Bold"/>
                <a:ea typeface="Nunito Bold"/>
                <a:cs typeface="Nunito Bold"/>
                <a:sym typeface="Nunito Bold"/>
              </a:rPr>
              <a:t>Yelp</a:t>
            </a:r>
          </a:p>
        </p:txBody>
      </p:sp>
      <p:sp>
        <p:nvSpPr>
          <p:cNvPr id="34" name="TextBox 33"/>
          <p:cNvSpPr txBox="1"/>
          <p:nvPr/>
        </p:nvSpPr>
        <p:spPr>
          <a:xfrm>
            <a:off x="9578340" y="5969762"/>
            <a:ext cx="3268980" cy="457200"/>
          </a:xfrm>
          <a:prstGeom prst="rect">
            <a:avLst/>
          </a:prstGeom>
          <a:noFill/>
        </p:spPr>
        <p:txBody>
          <a:bodyPr anchor="t" rtlCol="false" lIns="0" tIns="0" rIns="0" bIns="0" wrap="square"/>
          <a:lstStyle/>
          <a:p>
            <a:pPr algn="ctr">
              <a:lnSpc>
                <a:spcPts val="2800"/>
              </a:lnSpc>
              <a:spcBef>
                <a:spcPts val="0"/>
              </a:spcBef>
              <a:buNone/>
            </a:pPr>
            <a:r>
              <a:rPr lang="en-US" sz="2400" b="true">
                <a:solidFill>
                  <a:srgbClr val="111111"/>
                </a:solidFill>
                <a:latin typeface="Nunito Ultra-Bold"/>
                <a:ea typeface="Nunito Ultra-Bold"/>
                <a:cs typeface="Nunito Ultra-Bold"/>
                <a:sym typeface="Nunito Ultra-Bold"/>
              </a:rPr>
              <a:t>Yelp</a:t>
            </a:r>
          </a:p>
        </p:txBody>
      </p:sp>
      <p:sp>
        <p:nvSpPr>
          <p:cNvPr id="35" name="TextBox 34"/>
          <p:cNvSpPr txBox="1"/>
          <p:nvPr/>
        </p:nvSpPr>
        <p:spPr>
          <a:xfrm>
            <a:off x="9578340" y="6472682"/>
            <a:ext cx="3268980" cy="1280160"/>
          </a:xfrm>
          <a:prstGeom prst="rect">
            <a:avLst/>
          </a:prstGeom>
          <a:noFill/>
        </p:spPr>
        <p:txBody>
          <a:bodyPr anchor="t" rtlCol="false" lIns="0" tIns="0" rIns="0" bIns="0" wrap="square"/>
          <a:lstStyle/>
          <a:p>
            <a:pPr algn="ctr">
              <a:lnSpc>
                <a:spcPts val="2200"/>
              </a:lnSpc>
              <a:spcBef>
                <a:spcPts val="0"/>
              </a:spcBef>
              <a:buNone/>
            </a:pPr>
            <a:r>
              <a:rPr lang="en-US" sz="1700" b="true">
                <a:solidFill>
                  <a:srgbClr val="8A8378"/>
                </a:solidFill>
                <a:latin typeface="Nunito Semi-Bold"/>
                <a:ea typeface="Nunito Semi-Bold"/>
                <a:cs typeface="Nunito Semi-Bold"/>
                <a:sym typeface="Nunito Semi-Bold"/>
              </a:rPr>
              <a:t>Local business and restaurant recommendation</a:t>
            </a:r>
          </a:p>
        </p:txBody>
      </p:sp>
      <p:sp>
        <p:nvSpPr>
          <p:cNvPr id="36" name="Rounded Rectangle 35"/>
          <p:cNvSpPr/>
          <p:nvPr/>
        </p:nvSpPr>
        <p:spPr>
          <a:xfrm>
            <a:off x="13441680" y="3455162"/>
            <a:ext cx="3817620" cy="4480560"/>
          </a:xfrm>
          <a:prstGeom prst="roundRect">
            <a:avLst>
              <a:gd name="adj" fmla="val 7185"/>
            </a:avLst>
          </a:prstGeom>
          <a:solidFill>
            <a:srgbClr val="FFFFFF"/>
          </a:solidFill>
          <a:ln w="15875">
            <a:solidFill>
              <a:srgbClr val="E3D6C4"/>
            </a:solidFill>
          </a:ln>
        </p:spPr>
        <p:txBody>
          <a:bodyPr anchor="ctr" rtlCol="false" lIns="0" tIns="0" rIns="0" bIns="0" wrap="square"/>
          <a:lstStyle/>
          <a:p>
            <a:endParaRPr lang="en-US" sz="1800"/>
          </a:p>
        </p:txBody>
      </p:sp>
      <p:sp>
        <p:nvSpPr>
          <p:cNvPr id="37" name="Rounded Rectangle 36"/>
          <p:cNvSpPr/>
          <p:nvPr/>
        </p:nvSpPr>
        <p:spPr>
          <a:xfrm>
            <a:off x="13898880" y="3866642"/>
            <a:ext cx="2903220" cy="1828800"/>
          </a:xfrm>
          <a:prstGeom prst="roundRect">
            <a:avLst>
              <a:gd name="adj" fmla="val 11000"/>
            </a:avLst>
          </a:prstGeom>
          <a:solidFill>
            <a:srgbClr val="F6ECDF"/>
          </a:solidFill>
          <a:ln>
            <a:noFill/>
          </a:ln>
        </p:spPr>
        <p:txBody>
          <a:bodyPr anchor="ctr" rtlCol="false" lIns="91440" tIns="45720" rIns="91440" bIns="45720" wrap="square"/>
          <a:lstStyle/>
          <a:p>
            <a:pPr algn="ctr">
              <a:lnSpc>
                <a:spcPts val="3450"/>
              </a:lnSpc>
              <a:spcBef>
                <a:spcPts val="0"/>
              </a:spcBef>
              <a:buNone/>
            </a:pPr>
            <a:r>
              <a:rPr lang="en-US" sz="3000" b="true">
                <a:solidFill>
                  <a:srgbClr val="111111"/>
                </a:solidFill>
                <a:latin typeface="Nunito Bold"/>
                <a:ea typeface="Nunito Bold"/>
                <a:cs typeface="Nunito Bold"/>
                <a:sym typeface="Nunito Bold"/>
              </a:rPr>
              <a:t>Amazon</a:t>
            </a:r>
          </a:p>
        </p:txBody>
      </p:sp>
      <p:sp>
        <p:nvSpPr>
          <p:cNvPr id="38" name="TextBox 37"/>
          <p:cNvSpPr txBox="1"/>
          <p:nvPr/>
        </p:nvSpPr>
        <p:spPr>
          <a:xfrm>
            <a:off x="13716000" y="5969762"/>
            <a:ext cx="3268980" cy="457200"/>
          </a:xfrm>
          <a:prstGeom prst="rect">
            <a:avLst/>
          </a:prstGeom>
          <a:noFill/>
        </p:spPr>
        <p:txBody>
          <a:bodyPr anchor="t" rtlCol="false" lIns="0" tIns="0" rIns="0" bIns="0" wrap="square"/>
          <a:lstStyle/>
          <a:p>
            <a:pPr algn="ctr">
              <a:lnSpc>
                <a:spcPts val="2800"/>
              </a:lnSpc>
              <a:spcBef>
                <a:spcPts val="0"/>
              </a:spcBef>
              <a:buNone/>
            </a:pPr>
            <a:r>
              <a:rPr lang="en-US" sz="2400" b="true">
                <a:solidFill>
                  <a:srgbClr val="111111"/>
                </a:solidFill>
                <a:latin typeface="Nunito Ultra-Bold"/>
                <a:ea typeface="Nunito Ultra-Bold"/>
                <a:cs typeface="Nunito Ultra-Bold"/>
                <a:sym typeface="Nunito Ultra-Bold"/>
              </a:rPr>
              <a:t>Amazon</a:t>
            </a:r>
          </a:p>
        </p:txBody>
      </p:sp>
      <p:sp>
        <p:nvSpPr>
          <p:cNvPr id="39" name="TextBox 38"/>
          <p:cNvSpPr txBox="1"/>
          <p:nvPr/>
        </p:nvSpPr>
        <p:spPr>
          <a:xfrm>
            <a:off x="13716000" y="6472682"/>
            <a:ext cx="3268980" cy="1280160"/>
          </a:xfrm>
          <a:prstGeom prst="rect">
            <a:avLst/>
          </a:prstGeom>
          <a:noFill/>
        </p:spPr>
        <p:txBody>
          <a:bodyPr anchor="t" rtlCol="false" lIns="0" tIns="0" rIns="0" bIns="0" wrap="square"/>
          <a:lstStyle/>
          <a:p>
            <a:pPr algn="ctr">
              <a:lnSpc>
                <a:spcPts val="2200"/>
              </a:lnSpc>
              <a:spcBef>
                <a:spcPts val="0"/>
              </a:spcBef>
              <a:buNone/>
            </a:pPr>
            <a:r>
              <a:rPr lang="en-US" sz="1700" b="true">
                <a:solidFill>
                  <a:srgbClr val="8A8378"/>
                </a:solidFill>
                <a:latin typeface="Nunito Semi-Bold"/>
                <a:ea typeface="Nunito Semi-Bold"/>
                <a:cs typeface="Nunito Semi-Bold"/>
                <a:sym typeface="Nunito Semi-Bold"/>
              </a:rPr>
              <a:t>E-commerce platform with personalised product recommendations</a:t>
            </a:r>
          </a:p>
        </p:txBody>
      </p:sp>
      <p:sp>
        <p:nvSpPr>
          <p:cNvPr id="40" name="Rounded Rectangle 39"/>
          <p:cNvSpPr/>
          <p:nvPr/>
        </p:nvSpPr>
        <p:spPr>
          <a:xfrm>
            <a:off x="1028700" y="8301482"/>
            <a:ext cx="16230600" cy="869950"/>
          </a:xfrm>
          <a:prstGeom prst="roundRect">
            <a:avLst>
              <a:gd name="adj" fmla="val 31532"/>
            </a:avLst>
          </a:prstGeom>
          <a:solidFill>
            <a:srgbClr val="F6ECDF"/>
          </a:solidFill>
          <a:ln>
            <a:noFill/>
          </a:ln>
        </p:spPr>
        <p:txBody>
          <a:bodyPr anchor="ctr" rtlCol="false" lIns="548640" tIns="91440" rIns="548640" bIns="91440" wrap="square"/>
          <a:lstStyle/>
          <a:p>
            <a:pPr algn="ctr">
              <a:lnSpc>
                <a:spcPts val="2700"/>
              </a:lnSpc>
              <a:spcBef>
                <a:spcPts val="0"/>
              </a:spcBef>
              <a:buNone/>
            </a:pPr>
            <a:r>
              <a:rPr lang="en-US" sz="2100" b="true">
                <a:solidFill>
                  <a:srgbClr val="111111"/>
                </a:solidFill>
                <a:latin typeface="Nunito Semi-Bold"/>
                <a:ea typeface="Nunito Semi-Bold"/>
                <a:cs typeface="Nunito Semi-Bold"/>
                <a:sym typeface="Nunito Semi-Bold"/>
              </a:rPr>
              <a:t>AI recommendation shapes what </a:t>
            </a:r>
            <a:r>
              <a:rPr lang="en-US" sz="2100" b="true">
                <a:solidFill>
                  <a:srgbClr val="111111"/>
                </a:solidFill>
                <a:latin typeface="Nunito Bold"/>
                <a:ea typeface="Nunito Bold"/>
                <a:cs typeface="Nunito Bold"/>
                <a:sym typeface="Nunito Bold"/>
              </a:rPr>
              <a:t>billions</a:t>
            </a:r>
            <a:r>
              <a:rPr lang="en-US" sz="2100" b="true">
                <a:solidFill>
                  <a:srgbClr val="111111"/>
                </a:solidFill>
                <a:latin typeface="Nunito Semi-Bold"/>
                <a:ea typeface="Nunito Semi-Bold"/>
                <a:cs typeface="Nunito Semi-Bold"/>
                <a:sym typeface="Nunito Semi-Bold"/>
              </a:rPr>
              <a:t> see, buy and listen to every day. Each system is very </a:t>
            </a:r>
            <a:r>
              <a:rPr lang="en-US" sz="2100" b="true">
                <a:solidFill>
                  <a:srgbClr val="111111"/>
                </a:solidFill>
                <a:latin typeface="Nunito Bold"/>
                <a:ea typeface="Nunito Bold"/>
                <a:cs typeface="Nunito Bold"/>
                <a:sym typeface="Nunito Bold"/>
              </a:rPr>
              <a:t>accurate, yet a black box</a:t>
            </a:r>
            <a:r>
              <a:rPr lang="en-US" sz="2100" b="true">
                <a:solidFill>
                  <a:srgbClr val="111111"/>
                </a:solidFill>
                <a:latin typeface="Nunito Semi-Bold"/>
                <a:ea typeface="Nunito Semi-Bold"/>
                <a:cs typeface="Nunito Semi-Bold"/>
                <a:sym typeface="Nunito Semi-Bold"/>
              </a:rPr>
              <a:t>: its reasoning is hidden from the user. Everywhere, and hidden: that is </a:t>
            </a:r>
            <a:r>
              <a:rPr lang="en-US" sz="2100" b="true">
                <a:solidFill>
                  <a:srgbClr val="111111"/>
                </a:solidFill>
                <a:latin typeface="Nunito Bold"/>
                <a:ea typeface="Nunito Bold"/>
                <a:cs typeface="Nunito Bold"/>
                <a:sym typeface="Nunito Bold"/>
              </a:rPr>
              <a:t>exactly the gap this thesis targets</a:t>
            </a:r>
            <a:r>
              <a:rPr lang="en-US" sz="2100" b="true">
                <a:solidFill>
                  <a:srgbClr val="111111"/>
                </a:solidFill>
                <a:latin typeface="Nunito Semi-Bold"/>
                <a:ea typeface="Nunito Semi-Bold"/>
                <a:cs typeface="Nunito Semi-Bold"/>
                <a:sym typeface="Nunito Semi-Bold"/>
              </a:rPr>
              <a:t>.</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pic>
        <p:nvPicPr>
          <p:cNvPr id="2" name="Picture 1" descr="ensias_logo.jpg"/>
          <p:cNvPicPr>
            <a:picLocks noChangeAspect="1"/>
          </p:cNvPicPr>
          <p:nvPr/>
        </p:nvPicPr>
        <p:blipFill>
          <a:blip r:embed="rId2"/>
          <a:stretch>
            <a:fillRect/>
          </a:stretch>
        </p:blipFill>
        <p:spPr>
          <a:xfrm>
            <a:off x="1028700" y="9674352"/>
            <a:ext cx="542964" cy="384048"/>
          </a:xfrm>
          <a:prstGeom prst="rect">
            <a:avLst/>
          </a:prstGeom>
        </p:spPr>
      </p:pic>
      <p:sp>
        <p:nvSpPr>
          <p:cNvPr id="3" name="TextBox 2"/>
          <p:cNvSpPr txBox="1"/>
          <p:nvPr/>
        </p:nvSpPr>
        <p:spPr>
          <a:xfrm>
            <a:off x="1577340" y="9747504"/>
            <a:ext cx="12801600" cy="274320"/>
          </a:xfrm>
          <a:prstGeom prst="rect">
            <a:avLst/>
          </a:prstGeom>
          <a:noFill/>
        </p:spPr>
        <p:txBody>
          <a:bodyPr anchor="t" rtlCol="false" lIns="0" tIns="0" rIns="0" bIns="0" wrap="square"/>
          <a:lstStyle/>
          <a:p>
            <a:pPr algn="l">
              <a:lnSpc>
                <a:spcPts val="1600"/>
              </a:lnSpc>
              <a:spcBef>
                <a:spcPts val="0"/>
              </a:spcBef>
              <a:buNone/>
            </a:pPr>
            <a:r>
              <a:rPr lang="en-US" sz="1300" b="true">
                <a:solidFill>
                  <a:srgbClr val="8A8378"/>
                </a:solidFill>
                <a:latin typeface="Nunito Bold"/>
                <a:ea typeface="Nunito Bold"/>
                <a:cs typeface="Nunito Bold"/>
                <a:sym typeface="Nunito Bold"/>
              </a:rPr>
              <a:t>Cooperative Game Theory for Explainable AI in Recommendation Systems  ·  A Shapley Framework for Actionable Insight</a:t>
            </a:r>
          </a:p>
        </p:txBody>
      </p:sp>
      <p:sp>
        <p:nvSpPr>
          <p:cNvPr id="4" name="TextBox 3"/>
          <p:cNvSpPr txBox="1"/>
          <p:nvPr/>
        </p:nvSpPr>
        <p:spPr>
          <a:xfrm>
            <a:off x="16162020" y="9692640"/>
            <a:ext cx="1097280" cy="329184"/>
          </a:xfrm>
          <a:prstGeom prst="rect">
            <a:avLst/>
          </a:prstGeom>
          <a:noFill/>
        </p:spPr>
        <p:txBody>
          <a:bodyPr anchor="t" rtlCol="false" lIns="0" tIns="0" rIns="0" bIns="0" wrap="square"/>
          <a:lstStyle/>
          <a:p>
            <a:pPr algn="r">
              <a:lnSpc>
                <a:spcPts val="2200"/>
              </a:lnSpc>
              <a:spcBef>
                <a:spcPts val="0"/>
              </a:spcBef>
              <a:buNone/>
            </a:pPr>
            <a:r>
              <a:rPr lang="en-US" sz="1800" b="true">
                <a:solidFill>
                  <a:srgbClr val="111111"/>
                </a:solidFill>
                <a:latin typeface="Nunito Ultra-Bold"/>
                <a:ea typeface="Nunito Ultra-Bold"/>
                <a:cs typeface="Nunito Ultra-Bold"/>
                <a:sym typeface="Nunito Ultra-Bold"/>
              </a:rPr>
              <a:t>08</a:t>
            </a:r>
          </a:p>
        </p:txBody>
      </p:sp>
      <p:sp>
        <p:nvSpPr>
          <p:cNvPr id="5" name="TextBox 4"/>
          <p:cNvSpPr txBox="1"/>
          <p:nvPr/>
        </p:nvSpPr>
        <p:spPr>
          <a:xfrm>
            <a:off x="1028700" y="2331720"/>
            <a:ext cx="14859000" cy="1737360"/>
          </a:xfrm>
          <a:prstGeom prst="rect">
            <a:avLst/>
          </a:prstGeom>
          <a:noFill/>
        </p:spPr>
        <p:txBody>
          <a:bodyPr anchor="t" rtlCol="false" lIns="0" tIns="0" rIns="0" bIns="0" wrap="square"/>
          <a:lstStyle/>
          <a:p>
            <a:pPr algn="l">
              <a:lnSpc>
                <a:spcPts val="11628"/>
              </a:lnSpc>
              <a:spcBef>
                <a:spcPts val="0"/>
              </a:spcBef>
              <a:buNone/>
            </a:pPr>
            <a:r>
              <a:rPr lang="en-US" sz="11400" b="true" spc="-661">
                <a:solidFill>
                  <a:srgbClr val="111111"/>
                </a:solidFill>
                <a:latin typeface="Roca Two Bold"/>
                <a:ea typeface="Roca Two Bold"/>
                <a:cs typeface="Roca Two Bold"/>
                <a:sym typeface="Roca Two Bold"/>
              </a:rPr>
              <a:t>Context &amp; Problematic</a:t>
            </a:r>
          </a:p>
        </p:txBody>
      </p:sp>
      <p:sp>
        <p:nvSpPr>
          <p:cNvPr id="6" name="Oval 5"/>
          <p:cNvSpPr/>
          <p:nvPr/>
        </p:nvSpPr>
        <p:spPr>
          <a:xfrm>
            <a:off x="15944631" y="2689860"/>
            <a:ext cx="1005840" cy="1005840"/>
          </a:xfrm>
          <a:prstGeom prst="ellipse">
            <a:avLst/>
          </a:prstGeom>
          <a:solidFill>
            <a:srgbClr val="ECC665"/>
          </a:solidFill>
          <a:ln>
            <a:noFill/>
          </a:ln>
        </p:spPr>
        <p:txBody>
          <a:bodyPr anchor="ctr" rtlCol="false" lIns="0" tIns="0" rIns="0" bIns="0" wrap="square"/>
          <a:lstStyle/>
          <a:p>
            <a:endParaRPr lang="en-US" sz="1800"/>
          </a:p>
        </p:txBody>
      </p:sp>
      <p:sp>
        <p:nvSpPr>
          <p:cNvPr id="7" name="TextBox 6"/>
          <p:cNvSpPr txBox="1"/>
          <p:nvPr/>
        </p:nvSpPr>
        <p:spPr>
          <a:xfrm>
            <a:off x="15944631" y="2689860"/>
            <a:ext cx="1005840" cy="1005840"/>
          </a:xfrm>
          <a:prstGeom prst="rect">
            <a:avLst/>
          </a:prstGeom>
          <a:noFill/>
        </p:spPr>
        <p:txBody>
          <a:bodyPr anchor="ctr" rtlCol="false" lIns="0" tIns="0" rIns="0" bIns="0" wrap="square"/>
          <a:lstStyle/>
          <a:p>
            <a:pPr algn="ctr">
              <a:lnSpc>
                <a:spcPts val="3400"/>
              </a:lnSpc>
              <a:spcBef>
                <a:spcPts val="0"/>
              </a:spcBef>
              <a:buNone/>
            </a:pPr>
            <a:r>
              <a:rPr lang="en-US" sz="3000" b="true">
                <a:solidFill>
                  <a:srgbClr val="111111"/>
                </a:solidFill>
                <a:latin typeface="Nunito Ultra-Bold"/>
                <a:ea typeface="Nunito Ultra-Bold"/>
                <a:cs typeface="Nunito Ultra-Bold"/>
                <a:sym typeface="Nunito Ultra-Bold"/>
              </a:rPr>
              <a:t>02</a:t>
            </a:r>
          </a:p>
        </p:txBody>
      </p:sp>
      <p:sp>
        <p:nvSpPr>
          <p:cNvPr id="8" name="TextBox 7"/>
          <p:cNvSpPr txBox="1"/>
          <p:nvPr/>
        </p:nvSpPr>
        <p:spPr>
          <a:xfrm>
            <a:off x="1028700" y="3953256"/>
            <a:ext cx="16230600" cy="640080"/>
          </a:xfrm>
          <a:prstGeom prst="rect">
            <a:avLst/>
          </a:prstGeom>
          <a:noFill/>
        </p:spPr>
        <p:txBody>
          <a:bodyPr anchor="t" rtlCol="false" lIns="0" tIns="0" rIns="0" bIns="0" wrap="square"/>
          <a:lstStyle/>
          <a:p>
            <a:pPr algn="l">
              <a:lnSpc>
                <a:spcPts val="3800"/>
              </a:lnSpc>
              <a:spcBef>
                <a:spcPts val="0"/>
              </a:spcBef>
              <a:buNone/>
            </a:pPr>
            <a:r>
              <a:rPr lang="en-US" sz="3000" b="true" spc="-150">
                <a:solidFill>
                  <a:srgbClr val="4472C4"/>
                </a:solidFill>
                <a:latin typeface="Nunito Bold"/>
                <a:ea typeface="Nunito Bold"/>
                <a:cs typeface="Nunito Bold"/>
                <a:sym typeface="Nunito Bold"/>
              </a:rPr>
              <a:t>The main approaches, their limitations and the five research questions</a:t>
            </a:r>
          </a:p>
        </p:txBody>
      </p:sp>
      <p:sp>
        <p:nvSpPr>
          <p:cNvPr id="9" name="Rectangle 8"/>
          <p:cNvSpPr/>
          <p:nvPr/>
        </p:nvSpPr>
        <p:spPr>
          <a:xfrm>
            <a:off x="0" y="5440680"/>
            <a:ext cx="18288000" cy="4846320"/>
          </a:xfrm>
          <a:prstGeom prst="rect">
            <a:avLst/>
          </a:prstGeom>
          <a:solidFill>
            <a:srgbClr val="4472C4"/>
          </a:solidFill>
          <a:ln>
            <a:noFill/>
          </a:ln>
        </p:spPr>
        <p:txBody>
          <a:bodyPr anchor="ctr" rtlCol="false" lIns="0" tIns="0" rIns="0" bIns="0" wrap="square"/>
          <a:lstStyle/>
          <a:p>
            <a:endParaRPr lang="en-US" sz="1800"/>
          </a:p>
        </p:txBody>
      </p:sp>
      <p:sp>
        <p:nvSpPr>
          <p:cNvPr id="10" name="TextBox 9"/>
          <p:cNvSpPr txBox="1"/>
          <p:nvPr/>
        </p:nvSpPr>
        <p:spPr>
          <a:xfrm>
            <a:off x="1028700" y="5943600"/>
            <a:ext cx="5135880" cy="457200"/>
          </a:xfrm>
          <a:prstGeom prst="rect">
            <a:avLst/>
          </a:prstGeom>
          <a:noFill/>
        </p:spPr>
        <p:txBody>
          <a:bodyPr anchor="t" rtlCol="false" lIns="0" tIns="0" rIns="0" bIns="0" wrap="square"/>
          <a:lstStyle/>
          <a:p>
            <a:pPr algn="l">
              <a:lnSpc>
                <a:spcPts val="2800"/>
              </a:lnSpc>
              <a:spcBef>
                <a:spcPts val="0"/>
              </a:spcBef>
              <a:buNone/>
            </a:pPr>
            <a:r>
              <a:rPr lang="en-US" sz="2300" b="true">
                <a:solidFill>
                  <a:srgbClr val="ECC665"/>
                </a:solidFill>
                <a:latin typeface="Nunito Ultra-Bold"/>
                <a:ea typeface="Nunito Ultra-Bold"/>
                <a:cs typeface="Nunito Ultra-Bold"/>
                <a:sym typeface="Nunito Ultra-Bold"/>
              </a:rPr>
              <a:t>Approaches</a:t>
            </a:r>
          </a:p>
        </p:txBody>
      </p:sp>
      <p:cxnSp>
        <p:nvCxnSpPr>
          <p:cNvPr id="11" name="Connector 10"/>
          <p:cNvCxnSpPr/>
          <p:nvPr/>
        </p:nvCxnSpPr>
        <p:spPr>
          <a:xfrm>
            <a:off x="1028700" y="6464808"/>
            <a:ext cx="640080" cy="0"/>
          </a:xfrm>
          <a:prstGeom prst="line">
            <a:avLst/>
          </a:prstGeom>
          <a:ln w="31750">
            <a:solidFill>
              <a:srgbClr val="ECC665"/>
            </a:solidFill>
          </a:ln>
        </p:spPr>
      </p:cxnSp>
      <p:sp>
        <p:nvSpPr>
          <p:cNvPr id="12" name="TextBox 11"/>
          <p:cNvSpPr txBox="1"/>
          <p:nvPr/>
        </p:nvSpPr>
        <p:spPr>
          <a:xfrm>
            <a:off x="1028700" y="6675120"/>
            <a:ext cx="5135880" cy="3108960"/>
          </a:xfrm>
          <a:prstGeom prst="rect">
            <a:avLst/>
          </a:prstGeom>
          <a:noFill/>
        </p:spPr>
        <p:txBody>
          <a:bodyPr anchor="t" rtlCol="false" lIns="0" tIns="0" rIns="0" bIns="0" wrap="square"/>
          <a:lstStyle/>
          <a:p>
            <a:pPr algn="l">
              <a:lnSpc>
                <a:spcPts val="2940"/>
              </a:lnSpc>
              <a:spcBef>
                <a:spcPts val="0"/>
              </a:spcBef>
              <a:buNone/>
            </a:pPr>
            <a:r>
              <a:rPr lang="en-US" sz="2100" b="true">
                <a:solidFill>
                  <a:srgbClr val="FFFFFF"/>
                </a:solidFill>
                <a:latin typeface="Nunito Semi-Bold"/>
                <a:ea typeface="Nunito Semi-Bold"/>
                <a:cs typeface="Nunito Semi-Bold"/>
                <a:sym typeface="Nunito Semi-Bold"/>
              </a:rPr>
              <a:t>Collaborative, content-based, hybrid, matrix factorisation and graph/hypergraph recommenders: each one stronger, each one less transparent.</a:t>
            </a:r>
          </a:p>
        </p:txBody>
      </p:sp>
      <p:sp>
        <p:nvSpPr>
          <p:cNvPr id="13" name="TextBox 12"/>
          <p:cNvSpPr txBox="1"/>
          <p:nvPr/>
        </p:nvSpPr>
        <p:spPr>
          <a:xfrm>
            <a:off x="6576060" y="5943600"/>
            <a:ext cx="5135880" cy="457200"/>
          </a:xfrm>
          <a:prstGeom prst="rect">
            <a:avLst/>
          </a:prstGeom>
          <a:noFill/>
        </p:spPr>
        <p:txBody>
          <a:bodyPr anchor="t" rtlCol="false" lIns="0" tIns="0" rIns="0" bIns="0" wrap="square"/>
          <a:lstStyle/>
          <a:p>
            <a:pPr algn="l">
              <a:lnSpc>
                <a:spcPts val="2800"/>
              </a:lnSpc>
              <a:spcBef>
                <a:spcPts val="0"/>
              </a:spcBef>
              <a:buNone/>
            </a:pPr>
            <a:r>
              <a:rPr lang="en-US" sz="2300" b="true">
                <a:solidFill>
                  <a:srgbClr val="ECC665"/>
                </a:solidFill>
                <a:latin typeface="Nunito Ultra-Bold"/>
                <a:ea typeface="Nunito Ultra-Bold"/>
                <a:cs typeface="Nunito Ultra-Bold"/>
                <a:sym typeface="Nunito Ultra-Bold"/>
              </a:rPr>
              <a:t>Problematic</a:t>
            </a:r>
          </a:p>
        </p:txBody>
      </p:sp>
      <p:cxnSp>
        <p:nvCxnSpPr>
          <p:cNvPr id="14" name="Connector 13"/>
          <p:cNvCxnSpPr/>
          <p:nvPr/>
        </p:nvCxnSpPr>
        <p:spPr>
          <a:xfrm>
            <a:off x="6576060" y="6464808"/>
            <a:ext cx="640080" cy="0"/>
          </a:xfrm>
          <a:prstGeom prst="line">
            <a:avLst/>
          </a:prstGeom>
          <a:ln w="31750">
            <a:solidFill>
              <a:srgbClr val="ECC665"/>
            </a:solidFill>
          </a:ln>
        </p:spPr>
      </p:cxnSp>
      <p:sp>
        <p:nvSpPr>
          <p:cNvPr id="15" name="TextBox 14"/>
          <p:cNvSpPr txBox="1"/>
          <p:nvPr/>
        </p:nvSpPr>
        <p:spPr>
          <a:xfrm>
            <a:off x="6576060" y="6675120"/>
            <a:ext cx="5135880" cy="3108960"/>
          </a:xfrm>
          <a:prstGeom prst="rect">
            <a:avLst/>
          </a:prstGeom>
          <a:noFill/>
        </p:spPr>
        <p:txBody>
          <a:bodyPr anchor="t" rtlCol="false" lIns="0" tIns="0" rIns="0" bIns="0" wrap="square"/>
          <a:lstStyle/>
          <a:p>
            <a:pPr algn="l">
              <a:lnSpc>
                <a:spcPts val="2940"/>
              </a:lnSpc>
              <a:spcBef>
                <a:spcPts val="0"/>
              </a:spcBef>
              <a:buNone/>
            </a:pPr>
            <a:r>
              <a:rPr lang="en-US" sz="2100" b="true">
                <a:solidFill>
                  <a:srgbClr val="FFFFFF"/>
                </a:solidFill>
                <a:latin typeface="Nunito Semi-Bold"/>
                <a:ea typeface="Nunito Semi-Bold"/>
                <a:cs typeface="Nunito Semi-Bold"/>
                <a:sym typeface="Nunito Semi-Bold"/>
              </a:rPr>
              <a:t>Three main limitations: lack of explainability, difficulty of scaling, weak link between explanation and learning.</a:t>
            </a:r>
          </a:p>
        </p:txBody>
      </p:sp>
      <p:sp>
        <p:nvSpPr>
          <p:cNvPr id="16" name="TextBox 15"/>
          <p:cNvSpPr txBox="1"/>
          <p:nvPr/>
        </p:nvSpPr>
        <p:spPr>
          <a:xfrm>
            <a:off x="12123420" y="5943600"/>
            <a:ext cx="5135880" cy="457200"/>
          </a:xfrm>
          <a:prstGeom prst="rect">
            <a:avLst/>
          </a:prstGeom>
          <a:noFill/>
        </p:spPr>
        <p:txBody>
          <a:bodyPr anchor="t" rtlCol="false" lIns="0" tIns="0" rIns="0" bIns="0" wrap="square"/>
          <a:lstStyle/>
          <a:p>
            <a:pPr algn="l">
              <a:lnSpc>
                <a:spcPts val="2800"/>
              </a:lnSpc>
              <a:spcBef>
                <a:spcPts val="0"/>
              </a:spcBef>
              <a:buNone/>
            </a:pPr>
            <a:r>
              <a:rPr lang="en-US" sz="2300" b="true">
                <a:solidFill>
                  <a:srgbClr val="ECC665"/>
                </a:solidFill>
                <a:latin typeface="Nunito Ultra-Bold"/>
                <a:ea typeface="Nunito Ultra-Bold"/>
                <a:cs typeface="Nunito Ultra-Bold"/>
                <a:sym typeface="Nunito Ultra-Bold"/>
              </a:rPr>
              <a:t>Contributions</a:t>
            </a:r>
          </a:p>
        </p:txBody>
      </p:sp>
      <p:cxnSp>
        <p:nvCxnSpPr>
          <p:cNvPr id="17" name="Connector 16"/>
          <p:cNvCxnSpPr/>
          <p:nvPr/>
        </p:nvCxnSpPr>
        <p:spPr>
          <a:xfrm>
            <a:off x="12123420" y="6464808"/>
            <a:ext cx="640080" cy="0"/>
          </a:xfrm>
          <a:prstGeom prst="line">
            <a:avLst/>
          </a:prstGeom>
          <a:ln w="31750">
            <a:solidFill>
              <a:srgbClr val="ECC665"/>
            </a:solidFill>
          </a:ln>
        </p:spPr>
      </p:cxnSp>
      <p:sp>
        <p:nvSpPr>
          <p:cNvPr id="18" name="TextBox 17"/>
          <p:cNvSpPr txBox="1"/>
          <p:nvPr/>
        </p:nvSpPr>
        <p:spPr>
          <a:xfrm>
            <a:off x="12123420" y="6675120"/>
            <a:ext cx="5135880" cy="3108960"/>
          </a:xfrm>
          <a:prstGeom prst="rect">
            <a:avLst/>
          </a:prstGeom>
          <a:noFill/>
        </p:spPr>
        <p:txBody>
          <a:bodyPr anchor="t" rtlCol="false" lIns="0" tIns="0" rIns="0" bIns="0" wrap="square"/>
          <a:lstStyle/>
          <a:p>
            <a:pPr algn="l">
              <a:lnSpc>
                <a:spcPts val="2940"/>
              </a:lnSpc>
              <a:spcBef>
                <a:spcPts val="0"/>
              </a:spcBef>
              <a:buNone/>
            </a:pPr>
            <a:r>
              <a:rPr lang="en-US" sz="2100" b="true">
                <a:solidFill>
                  <a:srgbClr val="FFFFFF"/>
                </a:solidFill>
                <a:latin typeface="Nunito Semi-Bold"/>
                <a:ea typeface="Nunito Semi-Bold"/>
                <a:cs typeface="Nunito Semi-Bold"/>
                <a:sym typeface="Nunito Semi-Bold"/>
              </a:rPr>
              <a:t>Five research questions answered by three contributions that build on each other, under one cooperative-game view.</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pic>
        <p:nvPicPr>
          <p:cNvPr id="2" name="Picture 1" descr="ensias_logo.jpg"/>
          <p:cNvPicPr>
            <a:picLocks noChangeAspect="1"/>
          </p:cNvPicPr>
          <p:nvPr/>
        </p:nvPicPr>
        <p:blipFill>
          <a:blip r:embed="rId2"/>
          <a:stretch>
            <a:fillRect/>
          </a:stretch>
        </p:blipFill>
        <p:spPr>
          <a:xfrm>
            <a:off x="1028700" y="9674352"/>
            <a:ext cx="542964" cy="384048"/>
          </a:xfrm>
          <a:prstGeom prst="rect">
            <a:avLst/>
          </a:prstGeom>
        </p:spPr>
      </p:pic>
      <p:sp>
        <p:nvSpPr>
          <p:cNvPr id="3" name="TextBox 2"/>
          <p:cNvSpPr txBox="1"/>
          <p:nvPr/>
        </p:nvSpPr>
        <p:spPr>
          <a:xfrm>
            <a:off x="1577340" y="9601200"/>
            <a:ext cx="14493240" cy="566928"/>
          </a:xfrm>
          <a:prstGeom prst="rect">
            <a:avLst/>
          </a:prstGeom>
          <a:noFill/>
        </p:spPr>
        <p:txBody>
          <a:bodyPr anchor="ctr" rtlCol="false" lIns="0" tIns="0" rIns="0" bIns="0" wrap="square"/>
          <a:lstStyle/>
          <a:p>
            <a:pPr algn="l">
              <a:lnSpc>
                <a:spcPts val="1200"/>
              </a:lnSpc>
              <a:spcBef>
                <a:spcPts val="0"/>
              </a:spcBef>
              <a:buNone/>
            </a:pPr>
            <a:r>
              <a:rPr lang="en-US" sz="1000" b="true">
                <a:solidFill>
                  <a:srgbClr val="8A8378"/>
                </a:solidFill>
                <a:latin typeface="Nunito Semi-Bold"/>
                <a:ea typeface="Nunito Semi-Bold"/>
                <a:cs typeface="Nunito Semi-Bold"/>
                <a:sym typeface="Nunito Semi-Bold"/>
              </a:rPr>
              <a:t>[22] Adomavicius, G. &amp; Tuzhilin, A. Toward the Next Generation of Recommender Systems. IEEE TKDE 17(6), 734–749 (2005).  ·  Burke, R. Hybrid Recommender Systems. UMUAI 12(4), 331–370 (2002).</a:t>
            </a:r>
          </a:p>
        </p:txBody>
      </p:sp>
      <p:sp>
        <p:nvSpPr>
          <p:cNvPr id="4" name="TextBox 3"/>
          <p:cNvSpPr txBox="1"/>
          <p:nvPr/>
        </p:nvSpPr>
        <p:spPr>
          <a:xfrm>
            <a:off x="16162020" y="9692640"/>
            <a:ext cx="1097280" cy="329184"/>
          </a:xfrm>
          <a:prstGeom prst="rect">
            <a:avLst/>
          </a:prstGeom>
          <a:noFill/>
        </p:spPr>
        <p:txBody>
          <a:bodyPr anchor="t" rtlCol="false" lIns="0" tIns="0" rIns="0" bIns="0" wrap="square"/>
          <a:lstStyle/>
          <a:p>
            <a:pPr algn="r">
              <a:lnSpc>
                <a:spcPts val="2200"/>
              </a:lnSpc>
              <a:spcBef>
                <a:spcPts val="0"/>
              </a:spcBef>
              <a:buNone/>
            </a:pPr>
            <a:r>
              <a:rPr lang="en-US" sz="1800" b="true">
                <a:solidFill>
                  <a:srgbClr val="111111"/>
                </a:solidFill>
                <a:latin typeface="Nunito Ultra-Bold"/>
                <a:ea typeface="Nunito Ultra-Bold"/>
                <a:cs typeface="Nunito Ultra-Bold"/>
                <a:sym typeface="Nunito Ultra-Bold"/>
              </a:rPr>
              <a:t>09</a:t>
            </a:r>
          </a:p>
        </p:txBody>
      </p:sp>
      <p:sp>
        <p:nvSpPr>
          <p:cNvPr id="5" name="TextBox 4"/>
          <p:cNvSpPr txBox="1"/>
          <p:nvPr/>
        </p:nvSpPr>
        <p:spPr>
          <a:xfrm>
            <a:off x="1028700" y="1389888"/>
            <a:ext cx="12938760" cy="329184"/>
          </a:xfrm>
          <a:prstGeom prst="rect">
            <a:avLst/>
          </a:prstGeom>
          <a:noFill/>
        </p:spPr>
        <p:txBody>
          <a:bodyPr anchor="t" rtlCol="false" lIns="0" tIns="0" rIns="0" bIns="0" wrap="square"/>
          <a:lstStyle/>
          <a:p>
            <a:pPr algn="l">
              <a:lnSpc>
                <a:spcPts val="2000"/>
              </a:lnSpc>
              <a:spcBef>
                <a:spcPts val="0"/>
              </a:spcBef>
              <a:buNone/>
            </a:pPr>
            <a:r>
              <a:rPr lang="en-US" sz="1500" b="true" spc="160">
                <a:solidFill>
                  <a:srgbClr val="1F7A8C"/>
                </a:solidFill>
                <a:latin typeface="Nunito Ultra-Bold"/>
                <a:ea typeface="Nunito Ultra-Bold"/>
                <a:cs typeface="Nunito Ultra-Bold"/>
                <a:sym typeface="Nunito Ultra-Bold"/>
              </a:rPr>
              <a:t>CONTEXT &amp; PROBLEMATIC</a:t>
            </a:r>
          </a:p>
        </p:txBody>
      </p:sp>
      <p:sp>
        <p:nvSpPr>
          <p:cNvPr id="6" name="Rounded Rectangle 5"/>
          <p:cNvSpPr/>
          <p:nvPr/>
        </p:nvSpPr>
        <p:spPr>
          <a:xfrm>
            <a:off x="14516100"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7" name="TextBox 6"/>
          <p:cNvSpPr txBox="1"/>
          <p:nvPr/>
        </p:nvSpPr>
        <p:spPr>
          <a:xfrm>
            <a:off x="14516100"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1</a:t>
            </a:r>
          </a:p>
        </p:txBody>
      </p:sp>
      <p:sp>
        <p:nvSpPr>
          <p:cNvPr id="8" name="Rounded Rectangle 7"/>
          <p:cNvSpPr/>
          <p:nvPr/>
        </p:nvSpPr>
        <p:spPr>
          <a:xfrm>
            <a:off x="14918436" y="1371600"/>
            <a:ext cx="329184" cy="329184"/>
          </a:xfrm>
          <a:prstGeom prst="roundRect">
            <a:avLst>
              <a:gd name="adj" fmla="val 16666"/>
            </a:avLst>
          </a:prstGeom>
          <a:solidFill>
            <a:srgbClr val="4472C4"/>
          </a:solidFill>
          <a:ln w="15875">
            <a:solidFill>
              <a:srgbClr val="4472C4"/>
            </a:solidFill>
          </a:ln>
        </p:spPr>
        <p:txBody>
          <a:bodyPr anchor="ctr" rtlCol="false" lIns="0" tIns="0" rIns="0" bIns="0" wrap="square"/>
          <a:lstStyle/>
          <a:p>
            <a:endParaRPr lang="en-US" sz="1800"/>
          </a:p>
        </p:txBody>
      </p:sp>
      <p:sp>
        <p:nvSpPr>
          <p:cNvPr id="9" name="TextBox 8"/>
          <p:cNvSpPr txBox="1"/>
          <p:nvPr/>
        </p:nvSpPr>
        <p:spPr>
          <a:xfrm>
            <a:off x="14918436"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FFFFFF"/>
                </a:solidFill>
                <a:latin typeface="Nunito Ultra-Bold"/>
                <a:ea typeface="Nunito Ultra-Bold"/>
                <a:cs typeface="Nunito Ultra-Bold"/>
                <a:sym typeface="Nunito Ultra-Bold"/>
              </a:rPr>
              <a:t>2</a:t>
            </a:r>
          </a:p>
        </p:txBody>
      </p:sp>
      <p:sp>
        <p:nvSpPr>
          <p:cNvPr id="10" name="Rounded Rectangle 9"/>
          <p:cNvSpPr/>
          <p:nvPr/>
        </p:nvSpPr>
        <p:spPr>
          <a:xfrm>
            <a:off x="15320772"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11" name="TextBox 10"/>
          <p:cNvSpPr txBox="1"/>
          <p:nvPr/>
        </p:nvSpPr>
        <p:spPr>
          <a:xfrm>
            <a:off x="15320772"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3</a:t>
            </a:r>
          </a:p>
        </p:txBody>
      </p:sp>
      <p:sp>
        <p:nvSpPr>
          <p:cNvPr id="12" name="Rounded Rectangle 11"/>
          <p:cNvSpPr/>
          <p:nvPr/>
        </p:nvSpPr>
        <p:spPr>
          <a:xfrm>
            <a:off x="15723108"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13" name="TextBox 12"/>
          <p:cNvSpPr txBox="1"/>
          <p:nvPr/>
        </p:nvSpPr>
        <p:spPr>
          <a:xfrm>
            <a:off x="15723108"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4</a:t>
            </a:r>
          </a:p>
        </p:txBody>
      </p:sp>
      <p:sp>
        <p:nvSpPr>
          <p:cNvPr id="14" name="Rounded Rectangle 13"/>
          <p:cNvSpPr/>
          <p:nvPr/>
        </p:nvSpPr>
        <p:spPr>
          <a:xfrm>
            <a:off x="16125444"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15" name="TextBox 14"/>
          <p:cNvSpPr txBox="1"/>
          <p:nvPr/>
        </p:nvSpPr>
        <p:spPr>
          <a:xfrm>
            <a:off x="16125444"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5</a:t>
            </a:r>
          </a:p>
        </p:txBody>
      </p:sp>
      <p:sp>
        <p:nvSpPr>
          <p:cNvPr id="16" name="Rounded Rectangle 15"/>
          <p:cNvSpPr/>
          <p:nvPr/>
        </p:nvSpPr>
        <p:spPr>
          <a:xfrm>
            <a:off x="16527780"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17" name="TextBox 16"/>
          <p:cNvSpPr txBox="1"/>
          <p:nvPr/>
        </p:nvSpPr>
        <p:spPr>
          <a:xfrm>
            <a:off x="16527780"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6</a:t>
            </a:r>
          </a:p>
        </p:txBody>
      </p:sp>
      <p:sp>
        <p:nvSpPr>
          <p:cNvPr id="18" name="Rounded Rectangle 17"/>
          <p:cNvSpPr/>
          <p:nvPr/>
        </p:nvSpPr>
        <p:spPr>
          <a:xfrm>
            <a:off x="16930116"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19" name="TextBox 18"/>
          <p:cNvSpPr txBox="1"/>
          <p:nvPr/>
        </p:nvSpPr>
        <p:spPr>
          <a:xfrm>
            <a:off x="16930116"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7</a:t>
            </a:r>
          </a:p>
        </p:txBody>
      </p:sp>
      <p:sp>
        <p:nvSpPr>
          <p:cNvPr id="20" name="TextBox 19"/>
          <p:cNvSpPr txBox="1"/>
          <p:nvPr/>
        </p:nvSpPr>
        <p:spPr>
          <a:xfrm>
            <a:off x="1028700" y="1719072"/>
            <a:ext cx="16230600" cy="730250"/>
          </a:xfrm>
          <a:prstGeom prst="rect">
            <a:avLst/>
          </a:prstGeom>
          <a:noFill/>
        </p:spPr>
        <p:txBody>
          <a:bodyPr anchor="t" rtlCol="false" lIns="0" tIns="0" rIns="0" bIns="0" wrap="square"/>
          <a:lstStyle/>
          <a:p>
            <a:pPr algn="l">
              <a:lnSpc>
                <a:spcPts val="5060"/>
              </a:lnSpc>
              <a:spcBef>
                <a:spcPts val="0"/>
              </a:spcBef>
              <a:buNone/>
            </a:pPr>
            <a:r>
              <a:rPr lang="en-US" sz="4600" b="true" spc="-230">
                <a:solidFill>
                  <a:srgbClr val="111111"/>
                </a:solidFill>
                <a:latin typeface="Roca Two Bold"/>
                <a:ea typeface="Roca Two Bold"/>
                <a:cs typeface="Roca Two Bold"/>
                <a:sym typeface="Roca Two Bold"/>
              </a:rPr>
              <a:t>Content-Based Filtering</a:t>
            </a:r>
          </a:p>
        </p:txBody>
      </p:sp>
      <p:sp>
        <p:nvSpPr>
          <p:cNvPr id="21" name="Rounded Rectangle 20"/>
          <p:cNvSpPr/>
          <p:nvPr/>
        </p:nvSpPr>
        <p:spPr>
          <a:xfrm>
            <a:off x="1028700" y="2559050"/>
            <a:ext cx="1854490" cy="420624"/>
          </a:xfrm>
          <a:prstGeom prst="roundRect">
            <a:avLst>
              <a:gd name="adj" fmla="val 50000"/>
            </a:avLst>
          </a:prstGeom>
          <a:solidFill>
            <a:srgbClr val="4472C4"/>
          </a:solidFill>
          <a:ln>
            <a:noFill/>
          </a:ln>
        </p:spPr>
        <p:txBody>
          <a:bodyPr anchor="ctr" rtlCol="false" lIns="45720" tIns="0" rIns="45720" bIns="0" wrap="square"/>
          <a:lstStyle/>
          <a:p>
            <a:pPr algn="ctr">
              <a:lnSpc>
                <a:spcPts val="2160"/>
              </a:lnSpc>
              <a:spcBef>
                <a:spcPts val="0"/>
              </a:spcBef>
              <a:buNone/>
            </a:pPr>
            <a:r>
              <a:rPr lang="en-US" sz="1800" b="true">
                <a:solidFill>
                  <a:srgbClr val="FFFFFF"/>
                </a:solidFill>
                <a:latin typeface="Nunito Bold"/>
                <a:ea typeface="Nunito Bold"/>
                <a:cs typeface="Nunito Bold"/>
                <a:sym typeface="Nunito Bold"/>
              </a:rPr>
              <a:t>Approaches</a:t>
            </a:r>
          </a:p>
        </p:txBody>
      </p:sp>
      <p:sp>
        <p:nvSpPr>
          <p:cNvPr id="22" name="Rounded Rectangle 21"/>
          <p:cNvSpPr/>
          <p:nvPr/>
        </p:nvSpPr>
        <p:spPr>
          <a:xfrm>
            <a:off x="3011206" y="2559050"/>
            <a:ext cx="1870972" cy="420624"/>
          </a:xfrm>
          <a:prstGeom prst="roundRect">
            <a:avLst>
              <a:gd name="adj" fmla="val 50000"/>
            </a:avLst>
          </a:prstGeom>
          <a:noFill/>
          <a:ln w="28575">
            <a:solidFill>
              <a:srgbClr val="4472C4"/>
            </a:solidFill>
          </a:ln>
        </p:spPr>
        <p:txBody>
          <a:bodyPr anchor="ctr" rtlCol="false" lIns="45720" tIns="0" rIns="45720" bIns="0" wrap="square"/>
          <a:lstStyle/>
          <a:p>
            <a:pPr algn="ctr">
              <a:lnSpc>
                <a:spcPts val="2160"/>
              </a:lnSpc>
              <a:spcBef>
                <a:spcPts val="0"/>
              </a:spcBef>
              <a:buNone/>
            </a:pPr>
            <a:r>
              <a:rPr lang="en-US" sz="1800" b="true">
                <a:solidFill>
                  <a:srgbClr val="4472C4"/>
                </a:solidFill>
                <a:latin typeface="Nunito Bold"/>
                <a:ea typeface="Nunito Bold"/>
                <a:cs typeface="Nunito Bold"/>
                <a:sym typeface="Nunito Bold"/>
              </a:rPr>
              <a:t>Problematic</a:t>
            </a:r>
          </a:p>
        </p:txBody>
      </p:sp>
      <p:sp>
        <p:nvSpPr>
          <p:cNvPr id="23" name="Rounded Rectangle 22"/>
          <p:cNvSpPr/>
          <p:nvPr/>
        </p:nvSpPr>
        <p:spPr>
          <a:xfrm>
            <a:off x="5010194" y="2559050"/>
            <a:ext cx="2041208" cy="420624"/>
          </a:xfrm>
          <a:prstGeom prst="roundRect">
            <a:avLst>
              <a:gd name="adj" fmla="val 50000"/>
            </a:avLst>
          </a:prstGeom>
          <a:noFill/>
          <a:ln w="28575">
            <a:solidFill>
              <a:srgbClr val="4472C4"/>
            </a:solidFill>
          </a:ln>
        </p:spPr>
        <p:txBody>
          <a:bodyPr anchor="ctr" rtlCol="false" lIns="45720" tIns="0" rIns="45720" bIns="0" wrap="square"/>
          <a:lstStyle/>
          <a:p>
            <a:pPr algn="ctr">
              <a:lnSpc>
                <a:spcPts val="2160"/>
              </a:lnSpc>
              <a:spcBef>
                <a:spcPts val="0"/>
              </a:spcBef>
              <a:buNone/>
            </a:pPr>
            <a:r>
              <a:rPr lang="en-US" sz="1800" b="true">
                <a:solidFill>
                  <a:srgbClr val="4472C4"/>
                </a:solidFill>
                <a:latin typeface="Nunito Bold"/>
                <a:ea typeface="Nunito Bold"/>
                <a:cs typeface="Nunito Bold"/>
                <a:sym typeface="Nunito Bold"/>
              </a:rPr>
              <a:t>Contributions</a:t>
            </a:r>
          </a:p>
        </p:txBody>
      </p:sp>
      <p:sp>
        <p:nvSpPr>
          <p:cNvPr id="24" name="TextBox 23"/>
          <p:cNvSpPr txBox="1"/>
          <p:nvPr/>
        </p:nvSpPr>
        <p:spPr>
          <a:xfrm>
            <a:off x="1028700" y="3363722"/>
            <a:ext cx="7680960" cy="4390390"/>
          </a:xfrm>
          <a:prstGeom prst="rect">
            <a:avLst/>
          </a:prstGeom>
          <a:noFill/>
        </p:spPr>
        <p:txBody>
          <a:bodyPr anchor="t" rtlCol="false" lIns="0" tIns="0" rIns="0" bIns="0" wrap="square"/>
          <a:lstStyle/>
          <a:p>
            <a:pPr algn="l" marL="274320" indent="-274320">
              <a:lnSpc>
                <a:spcPts val="2940"/>
              </a:lnSpc>
              <a:spcBef>
                <a:spcPts val="0"/>
              </a:spcBef>
              <a:buClr>
                <a:srgbClr val="1F7A8C"/>
              </a:buClr>
              <a:buSzPct val="100000"/>
              <a:buFont typeface="Arial"/>
              <a:buChar char="•"/>
            </a:pPr>
            <a:r>
              <a:rPr lang="en-US" sz="2100" b="true">
                <a:solidFill>
                  <a:srgbClr val="111111"/>
                </a:solidFill>
                <a:latin typeface="Nunito Semi-Bold"/>
                <a:ea typeface="Nunito Semi-Bold"/>
                <a:cs typeface="Nunito Semi-Bold"/>
                <a:sym typeface="Nunito Semi-Bold"/>
              </a:rPr>
              <a:t>Recommends items </a:t>
            </a:r>
            <a:r>
              <a:rPr lang="en-US" sz="2100" b="true">
                <a:solidFill>
                  <a:srgbClr val="111111"/>
                </a:solidFill>
                <a:latin typeface="Nunito Bold"/>
                <a:ea typeface="Nunito Bold"/>
                <a:cs typeface="Nunito Bold"/>
                <a:sym typeface="Nunito Bold"/>
              </a:rPr>
              <a:t>based on their features</a:t>
            </a:r>
            <a:r>
              <a:rPr lang="en-US" sz="2100" b="true">
                <a:solidFill>
                  <a:srgbClr val="111111"/>
                </a:solidFill>
                <a:latin typeface="Nunito Semi-Bold"/>
                <a:ea typeface="Nunito Semi-Bold"/>
                <a:cs typeface="Nunito Semi-Bold"/>
                <a:sym typeface="Nunito Semi-Bold"/>
              </a:rPr>
              <a:t> and the user's past preferences.</a:t>
            </a:r>
          </a:p>
          <a:p>
            <a:pPr algn="l" marL="274320" indent="-274320">
              <a:lnSpc>
                <a:spcPts val="2940"/>
              </a:lnSpc>
              <a:spcBef>
                <a:spcPts val="1200"/>
              </a:spcBef>
              <a:buClr>
                <a:srgbClr val="1F7A8C"/>
              </a:buClr>
              <a:buSzPct val="100000"/>
              <a:buFont typeface="Arial"/>
              <a:buChar char="•"/>
            </a:pPr>
            <a:r>
              <a:rPr lang="en-US" sz="2100" b="true">
                <a:solidFill>
                  <a:srgbClr val="111111"/>
                </a:solidFill>
                <a:latin typeface="Nunito Semi-Bold"/>
                <a:ea typeface="Nunito Semi-Bold"/>
                <a:cs typeface="Nunito Semi-Bold"/>
                <a:sym typeface="Nunito Semi-Bold"/>
              </a:rPr>
              <a:t>Builds a </a:t>
            </a:r>
            <a:r>
              <a:rPr lang="en-US" sz="2100" b="true">
                <a:solidFill>
                  <a:srgbClr val="111111"/>
                </a:solidFill>
                <a:latin typeface="Nunito Bold"/>
                <a:ea typeface="Nunito Bold"/>
                <a:cs typeface="Nunito Bold"/>
                <a:sym typeface="Nunito Bold"/>
              </a:rPr>
              <a:t>user profile</a:t>
            </a:r>
            <a:r>
              <a:rPr lang="en-US" sz="2100" b="true">
                <a:solidFill>
                  <a:srgbClr val="111111"/>
                </a:solidFill>
                <a:latin typeface="Nunito Semi-Bold"/>
                <a:ea typeface="Nunito Semi-Bold"/>
                <a:cs typeface="Nunito Semi-Bold"/>
                <a:sym typeface="Nunito Semi-Bold"/>
              </a:rPr>
              <a:t> from previously liked, viewed or selected items.</a:t>
            </a:r>
          </a:p>
          <a:p>
            <a:pPr algn="l" marL="274320" indent="-274320">
              <a:lnSpc>
                <a:spcPts val="2940"/>
              </a:lnSpc>
              <a:spcBef>
                <a:spcPts val="1200"/>
              </a:spcBef>
              <a:buClr>
                <a:srgbClr val="1F7A8C"/>
              </a:buClr>
              <a:buSzPct val="100000"/>
              <a:buFont typeface="Arial"/>
              <a:buChar char="•"/>
            </a:pPr>
            <a:r>
              <a:rPr lang="en-US" sz="2100" b="true">
                <a:solidFill>
                  <a:srgbClr val="111111"/>
                </a:solidFill>
                <a:latin typeface="Nunito Semi-Bold"/>
                <a:ea typeface="Nunito Semi-Bold"/>
                <a:cs typeface="Nunito Semi-Bold"/>
                <a:sym typeface="Nunito Semi-Bold"/>
              </a:rPr>
              <a:t>Suggests new items with </a:t>
            </a:r>
            <a:r>
              <a:rPr lang="en-US" sz="2100" b="true">
                <a:solidFill>
                  <a:srgbClr val="111111"/>
                </a:solidFill>
                <a:latin typeface="Nunito Bold"/>
                <a:ea typeface="Nunito Bold"/>
                <a:cs typeface="Nunito Bold"/>
                <a:sym typeface="Nunito Bold"/>
              </a:rPr>
              <a:t>similar characteristics</a:t>
            </a:r>
            <a:r>
              <a:rPr lang="en-US" sz="2100" b="true">
                <a:solidFill>
                  <a:srgbClr val="111111"/>
                </a:solidFill>
                <a:latin typeface="Nunito Semi-Bold"/>
                <a:ea typeface="Nunito Semi-Bold"/>
                <a:cs typeface="Nunito Semi-Bold"/>
                <a:sym typeface="Nunito Semi-Bold"/>
              </a:rPr>
              <a:t> (genre, cast, keywords, brand).</a:t>
            </a:r>
          </a:p>
          <a:p>
            <a:pPr algn="l" marL="274320" indent="-274320">
              <a:lnSpc>
                <a:spcPts val="2940"/>
              </a:lnSpc>
              <a:spcBef>
                <a:spcPts val="1200"/>
              </a:spcBef>
              <a:buClr>
                <a:srgbClr val="1F7A8C"/>
              </a:buClr>
              <a:buSzPct val="100000"/>
              <a:buFont typeface="Arial"/>
              <a:buChar char="•"/>
            </a:pPr>
            <a:r>
              <a:rPr lang="en-US" sz="2100" b="true">
                <a:solidFill>
                  <a:srgbClr val="111111"/>
                </a:solidFill>
                <a:latin typeface="Nunito Semi-Bold"/>
                <a:ea typeface="Nunito Semi-Bold"/>
                <a:cs typeface="Nunito Semi-Bold"/>
                <a:sym typeface="Nunito Semi-Bold"/>
              </a:rPr>
              <a:t>Explainable by construction: the reason is a </a:t>
            </a:r>
            <a:r>
              <a:rPr lang="en-US" sz="2100" b="true">
                <a:solidFill>
                  <a:srgbClr val="111111"/>
                </a:solidFill>
                <a:latin typeface="Nunito Bold"/>
                <a:ea typeface="Nunito Bold"/>
                <a:cs typeface="Nunito Bold"/>
                <a:sym typeface="Nunito Bold"/>
              </a:rPr>
              <a:t>named feature</a:t>
            </a:r>
            <a:r>
              <a:rPr lang="en-US" sz="2100" b="true">
                <a:solidFill>
                  <a:srgbClr val="111111"/>
                </a:solidFill>
                <a:latin typeface="Nunito Semi-Bold"/>
                <a:ea typeface="Nunito Semi-Bold"/>
                <a:cs typeface="Nunito Semi-Bold"/>
                <a:sym typeface="Nunito Semi-Bold"/>
              </a:rPr>
              <a:t> the user recognises.</a:t>
            </a:r>
          </a:p>
        </p:txBody>
      </p:sp>
      <p:sp>
        <p:nvSpPr>
          <p:cNvPr id="25" name="Rounded Rectangle 24"/>
          <p:cNvSpPr/>
          <p:nvPr/>
        </p:nvSpPr>
        <p:spPr>
          <a:xfrm>
            <a:off x="1028700" y="8028432"/>
            <a:ext cx="7680960" cy="1097280"/>
          </a:xfrm>
          <a:prstGeom prst="roundRect">
            <a:avLst>
              <a:gd name="adj" fmla="val 18333"/>
            </a:avLst>
          </a:prstGeom>
          <a:solidFill>
            <a:srgbClr val="F6ECDF"/>
          </a:solidFill>
          <a:ln w="25400">
            <a:solidFill>
              <a:srgbClr val="1F7A8C"/>
            </a:solidFill>
          </a:ln>
        </p:spPr>
        <p:txBody>
          <a:bodyPr anchor="ctr" rtlCol="false" lIns="0" tIns="0" rIns="0" bIns="0" wrap="square"/>
          <a:lstStyle/>
          <a:p>
            <a:endParaRPr lang="en-US" sz="1800"/>
          </a:p>
        </p:txBody>
      </p:sp>
      <p:sp>
        <p:nvSpPr>
          <p:cNvPr id="26" name="Rounded Rectangle 25"/>
          <p:cNvSpPr/>
          <p:nvPr/>
        </p:nvSpPr>
        <p:spPr>
          <a:xfrm>
            <a:off x="1348740" y="7836408"/>
            <a:ext cx="1609901" cy="384048"/>
          </a:xfrm>
          <a:prstGeom prst="roundRect">
            <a:avLst>
              <a:gd name="adj" fmla="val 50000"/>
            </a:avLst>
          </a:prstGeom>
          <a:solidFill>
            <a:srgbClr val="1F7A8C"/>
          </a:solidFill>
          <a:ln w="28575">
            <a:solidFill>
              <a:srgbClr val="1F7A8C"/>
            </a:solidFill>
          </a:ln>
        </p:spPr>
        <p:txBody>
          <a:bodyPr anchor="ctr" rtlCol="false" lIns="45720" tIns="0" rIns="45720" bIns="0" wrap="square"/>
          <a:lstStyle/>
          <a:p>
            <a:pPr algn="ctr">
              <a:lnSpc>
                <a:spcPts val="1680"/>
              </a:lnSpc>
              <a:spcBef>
                <a:spcPts val="0"/>
              </a:spcBef>
              <a:buNone/>
            </a:pPr>
            <a:r>
              <a:rPr lang="en-US" sz="1400" b="true">
                <a:solidFill>
                  <a:srgbClr val="FFFFFF"/>
                </a:solidFill>
                <a:latin typeface="Nunito Bold"/>
                <a:ea typeface="Nunito Bold"/>
                <a:cs typeface="Nunito Bold"/>
                <a:sym typeface="Nunito Bold"/>
              </a:rPr>
              <a:t>LIMITATION</a:t>
            </a:r>
          </a:p>
        </p:txBody>
      </p:sp>
      <p:sp>
        <p:nvSpPr>
          <p:cNvPr id="27" name="TextBox 26"/>
          <p:cNvSpPr txBox="1"/>
          <p:nvPr/>
        </p:nvSpPr>
        <p:spPr>
          <a:xfrm>
            <a:off x="1394460" y="8302752"/>
            <a:ext cx="6949440" cy="685800"/>
          </a:xfrm>
          <a:prstGeom prst="rect">
            <a:avLst/>
          </a:prstGeom>
          <a:noFill/>
        </p:spPr>
        <p:txBody>
          <a:bodyPr anchor="ctr" rtlCol="false" lIns="0" tIns="0" rIns="0" bIns="0" wrap="square"/>
          <a:lstStyle/>
          <a:p>
            <a:pPr algn="l">
              <a:lnSpc>
                <a:spcPts val="2380"/>
              </a:lnSpc>
              <a:spcBef>
                <a:spcPts val="0"/>
              </a:spcBef>
              <a:buNone/>
            </a:pPr>
            <a:r>
              <a:rPr lang="en-US" sz="1700" b="true">
                <a:solidFill>
                  <a:srgbClr val="111111"/>
                </a:solidFill>
                <a:latin typeface="Nunito Semi-Bold"/>
                <a:ea typeface="Nunito Semi-Bold"/>
                <a:cs typeface="Nunito Semi-Bold"/>
                <a:sym typeface="Nunito Semi-Bold"/>
              </a:rPr>
              <a:t>Recommendations may become too similar and lack diversity; it needs good item metadata.</a:t>
            </a:r>
          </a:p>
        </p:txBody>
      </p:sp>
      <p:pic>
        <p:nvPicPr>
          <p:cNvPr id="28" name="Picture 27" descr="ctx_content.png"/>
          <p:cNvPicPr>
            <a:picLocks noChangeAspect="1"/>
          </p:cNvPicPr>
          <p:nvPr/>
        </p:nvPicPr>
        <p:blipFill>
          <a:blip r:embed="rId4"/>
          <a:stretch>
            <a:fillRect/>
          </a:stretch>
        </p:blipFill>
        <p:spPr>
          <a:xfrm>
            <a:off x="9258300" y="4108346"/>
            <a:ext cx="8001000" cy="4364181"/>
          </a:xfrm>
          <a:prstGeom prst="rect">
            <a:avLst/>
          </a:prstGeom>
        </p:spPr>
      </p:pic>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pic>
        <p:nvPicPr>
          <p:cNvPr id="2" name="Picture 1" descr="ensias_logo.jpg"/>
          <p:cNvPicPr>
            <a:picLocks noChangeAspect="1"/>
          </p:cNvPicPr>
          <p:nvPr/>
        </p:nvPicPr>
        <p:blipFill>
          <a:blip r:embed="rId2"/>
          <a:stretch>
            <a:fillRect/>
          </a:stretch>
        </p:blipFill>
        <p:spPr>
          <a:xfrm>
            <a:off x="1028700" y="9674352"/>
            <a:ext cx="542964" cy="384048"/>
          </a:xfrm>
          <a:prstGeom prst="rect">
            <a:avLst/>
          </a:prstGeom>
        </p:spPr>
      </p:pic>
      <p:sp>
        <p:nvSpPr>
          <p:cNvPr id="3" name="TextBox 2"/>
          <p:cNvSpPr txBox="1"/>
          <p:nvPr/>
        </p:nvSpPr>
        <p:spPr>
          <a:xfrm>
            <a:off x="1577340" y="9601200"/>
            <a:ext cx="14493240" cy="566928"/>
          </a:xfrm>
          <a:prstGeom prst="rect">
            <a:avLst/>
          </a:prstGeom>
          <a:noFill/>
        </p:spPr>
        <p:txBody>
          <a:bodyPr anchor="ctr" rtlCol="false" lIns="0" tIns="0" rIns="0" bIns="0" wrap="square"/>
          <a:lstStyle/>
          <a:p>
            <a:pPr algn="l">
              <a:lnSpc>
                <a:spcPts val="1200"/>
              </a:lnSpc>
              <a:spcBef>
                <a:spcPts val="0"/>
              </a:spcBef>
              <a:buNone/>
            </a:pPr>
            <a:r>
              <a:rPr lang="en-US" sz="1000" b="true">
                <a:solidFill>
                  <a:srgbClr val="8A8378"/>
                </a:solidFill>
                <a:latin typeface="Nunito Semi-Bold"/>
                <a:ea typeface="Nunito Semi-Bold"/>
                <a:cs typeface="Nunito Semi-Bold"/>
                <a:sym typeface="Nunito Semi-Bold"/>
              </a:rPr>
              <a:t>[22] Adomavicius, G. &amp; Tuzhilin, A. Toward the Next Generation of Recommender Systems. IEEE TKDE 17(6), 734–749 (2005).  ·  Burke, R. Hybrid Recommender Systems. UMUAI 12(4), 331–370 (2002).</a:t>
            </a:r>
          </a:p>
        </p:txBody>
      </p:sp>
      <p:sp>
        <p:nvSpPr>
          <p:cNvPr id="4" name="TextBox 3"/>
          <p:cNvSpPr txBox="1"/>
          <p:nvPr/>
        </p:nvSpPr>
        <p:spPr>
          <a:xfrm>
            <a:off x="16162020" y="9692640"/>
            <a:ext cx="1097280" cy="329184"/>
          </a:xfrm>
          <a:prstGeom prst="rect">
            <a:avLst/>
          </a:prstGeom>
          <a:noFill/>
        </p:spPr>
        <p:txBody>
          <a:bodyPr anchor="t" rtlCol="false" lIns="0" tIns="0" rIns="0" bIns="0" wrap="square"/>
          <a:lstStyle/>
          <a:p>
            <a:pPr algn="r">
              <a:lnSpc>
                <a:spcPts val="2200"/>
              </a:lnSpc>
              <a:spcBef>
                <a:spcPts val="0"/>
              </a:spcBef>
              <a:buNone/>
            </a:pPr>
            <a:r>
              <a:rPr lang="en-US" sz="1800" b="true">
                <a:solidFill>
                  <a:srgbClr val="111111"/>
                </a:solidFill>
                <a:latin typeface="Nunito Ultra-Bold"/>
                <a:ea typeface="Nunito Ultra-Bold"/>
                <a:cs typeface="Nunito Ultra-Bold"/>
                <a:sym typeface="Nunito Ultra-Bold"/>
              </a:rPr>
              <a:t>10</a:t>
            </a:r>
          </a:p>
        </p:txBody>
      </p:sp>
      <p:sp>
        <p:nvSpPr>
          <p:cNvPr id="5" name="TextBox 4"/>
          <p:cNvSpPr txBox="1"/>
          <p:nvPr/>
        </p:nvSpPr>
        <p:spPr>
          <a:xfrm>
            <a:off x="1028700" y="1389888"/>
            <a:ext cx="12938760" cy="329184"/>
          </a:xfrm>
          <a:prstGeom prst="rect">
            <a:avLst/>
          </a:prstGeom>
          <a:noFill/>
        </p:spPr>
        <p:txBody>
          <a:bodyPr anchor="t" rtlCol="false" lIns="0" tIns="0" rIns="0" bIns="0" wrap="square"/>
          <a:lstStyle/>
          <a:p>
            <a:pPr algn="l">
              <a:lnSpc>
                <a:spcPts val="2000"/>
              </a:lnSpc>
              <a:spcBef>
                <a:spcPts val="0"/>
              </a:spcBef>
              <a:buNone/>
            </a:pPr>
            <a:r>
              <a:rPr lang="en-US" sz="1500" b="true" spc="160">
                <a:solidFill>
                  <a:srgbClr val="1F7A8C"/>
                </a:solidFill>
                <a:latin typeface="Nunito Ultra-Bold"/>
                <a:ea typeface="Nunito Ultra-Bold"/>
                <a:cs typeface="Nunito Ultra-Bold"/>
                <a:sym typeface="Nunito Ultra-Bold"/>
              </a:rPr>
              <a:t>CONTEXT &amp; PROBLEMATIC</a:t>
            </a:r>
          </a:p>
        </p:txBody>
      </p:sp>
      <p:sp>
        <p:nvSpPr>
          <p:cNvPr id="6" name="Rounded Rectangle 5"/>
          <p:cNvSpPr/>
          <p:nvPr/>
        </p:nvSpPr>
        <p:spPr>
          <a:xfrm>
            <a:off x="14516100"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7" name="TextBox 6"/>
          <p:cNvSpPr txBox="1"/>
          <p:nvPr/>
        </p:nvSpPr>
        <p:spPr>
          <a:xfrm>
            <a:off x="14516100"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1</a:t>
            </a:r>
          </a:p>
        </p:txBody>
      </p:sp>
      <p:sp>
        <p:nvSpPr>
          <p:cNvPr id="8" name="Rounded Rectangle 7"/>
          <p:cNvSpPr/>
          <p:nvPr/>
        </p:nvSpPr>
        <p:spPr>
          <a:xfrm>
            <a:off x="14918436" y="1371600"/>
            <a:ext cx="329184" cy="329184"/>
          </a:xfrm>
          <a:prstGeom prst="roundRect">
            <a:avLst>
              <a:gd name="adj" fmla="val 16666"/>
            </a:avLst>
          </a:prstGeom>
          <a:solidFill>
            <a:srgbClr val="4472C4"/>
          </a:solidFill>
          <a:ln w="15875">
            <a:solidFill>
              <a:srgbClr val="4472C4"/>
            </a:solidFill>
          </a:ln>
        </p:spPr>
        <p:txBody>
          <a:bodyPr anchor="ctr" rtlCol="false" lIns="0" tIns="0" rIns="0" bIns="0" wrap="square"/>
          <a:lstStyle/>
          <a:p>
            <a:endParaRPr lang="en-US" sz="1800"/>
          </a:p>
        </p:txBody>
      </p:sp>
      <p:sp>
        <p:nvSpPr>
          <p:cNvPr id="9" name="TextBox 8"/>
          <p:cNvSpPr txBox="1"/>
          <p:nvPr/>
        </p:nvSpPr>
        <p:spPr>
          <a:xfrm>
            <a:off x="14918436"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FFFFFF"/>
                </a:solidFill>
                <a:latin typeface="Nunito Ultra-Bold"/>
                <a:ea typeface="Nunito Ultra-Bold"/>
                <a:cs typeface="Nunito Ultra-Bold"/>
                <a:sym typeface="Nunito Ultra-Bold"/>
              </a:rPr>
              <a:t>2</a:t>
            </a:r>
          </a:p>
        </p:txBody>
      </p:sp>
      <p:sp>
        <p:nvSpPr>
          <p:cNvPr id="10" name="Rounded Rectangle 9"/>
          <p:cNvSpPr/>
          <p:nvPr/>
        </p:nvSpPr>
        <p:spPr>
          <a:xfrm>
            <a:off x="15320772"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11" name="TextBox 10"/>
          <p:cNvSpPr txBox="1"/>
          <p:nvPr/>
        </p:nvSpPr>
        <p:spPr>
          <a:xfrm>
            <a:off x="15320772"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3</a:t>
            </a:r>
          </a:p>
        </p:txBody>
      </p:sp>
      <p:sp>
        <p:nvSpPr>
          <p:cNvPr id="12" name="Rounded Rectangle 11"/>
          <p:cNvSpPr/>
          <p:nvPr/>
        </p:nvSpPr>
        <p:spPr>
          <a:xfrm>
            <a:off x="15723108"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13" name="TextBox 12"/>
          <p:cNvSpPr txBox="1"/>
          <p:nvPr/>
        </p:nvSpPr>
        <p:spPr>
          <a:xfrm>
            <a:off x="15723108"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4</a:t>
            </a:r>
          </a:p>
        </p:txBody>
      </p:sp>
      <p:sp>
        <p:nvSpPr>
          <p:cNvPr id="14" name="Rounded Rectangle 13"/>
          <p:cNvSpPr/>
          <p:nvPr/>
        </p:nvSpPr>
        <p:spPr>
          <a:xfrm>
            <a:off x="16125444"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15" name="TextBox 14"/>
          <p:cNvSpPr txBox="1"/>
          <p:nvPr/>
        </p:nvSpPr>
        <p:spPr>
          <a:xfrm>
            <a:off x="16125444"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5</a:t>
            </a:r>
          </a:p>
        </p:txBody>
      </p:sp>
      <p:sp>
        <p:nvSpPr>
          <p:cNvPr id="16" name="Rounded Rectangle 15"/>
          <p:cNvSpPr/>
          <p:nvPr/>
        </p:nvSpPr>
        <p:spPr>
          <a:xfrm>
            <a:off x="16527780"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17" name="TextBox 16"/>
          <p:cNvSpPr txBox="1"/>
          <p:nvPr/>
        </p:nvSpPr>
        <p:spPr>
          <a:xfrm>
            <a:off x="16527780"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6</a:t>
            </a:r>
          </a:p>
        </p:txBody>
      </p:sp>
      <p:sp>
        <p:nvSpPr>
          <p:cNvPr id="18" name="Rounded Rectangle 17"/>
          <p:cNvSpPr/>
          <p:nvPr/>
        </p:nvSpPr>
        <p:spPr>
          <a:xfrm>
            <a:off x="16930116"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19" name="TextBox 18"/>
          <p:cNvSpPr txBox="1"/>
          <p:nvPr/>
        </p:nvSpPr>
        <p:spPr>
          <a:xfrm>
            <a:off x="16930116"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7</a:t>
            </a:r>
          </a:p>
        </p:txBody>
      </p:sp>
      <p:sp>
        <p:nvSpPr>
          <p:cNvPr id="20" name="TextBox 19"/>
          <p:cNvSpPr txBox="1"/>
          <p:nvPr/>
        </p:nvSpPr>
        <p:spPr>
          <a:xfrm>
            <a:off x="1028700" y="1719072"/>
            <a:ext cx="16230600" cy="730250"/>
          </a:xfrm>
          <a:prstGeom prst="rect">
            <a:avLst/>
          </a:prstGeom>
          <a:noFill/>
        </p:spPr>
        <p:txBody>
          <a:bodyPr anchor="t" rtlCol="false" lIns="0" tIns="0" rIns="0" bIns="0" wrap="square"/>
          <a:lstStyle/>
          <a:p>
            <a:pPr algn="l">
              <a:lnSpc>
                <a:spcPts val="5060"/>
              </a:lnSpc>
              <a:spcBef>
                <a:spcPts val="0"/>
              </a:spcBef>
              <a:buNone/>
            </a:pPr>
            <a:r>
              <a:rPr lang="en-US" sz="4600" b="true" spc="-230">
                <a:solidFill>
                  <a:srgbClr val="111111"/>
                </a:solidFill>
                <a:latin typeface="Roca Two Bold"/>
                <a:ea typeface="Roca Two Bold"/>
                <a:cs typeface="Roca Two Bold"/>
                <a:sym typeface="Roca Two Bold"/>
              </a:rPr>
              <a:t>Collaborative Filtering</a:t>
            </a:r>
          </a:p>
        </p:txBody>
      </p:sp>
      <p:sp>
        <p:nvSpPr>
          <p:cNvPr id="21" name="Rounded Rectangle 20"/>
          <p:cNvSpPr/>
          <p:nvPr/>
        </p:nvSpPr>
        <p:spPr>
          <a:xfrm>
            <a:off x="1028700" y="2559050"/>
            <a:ext cx="1854490" cy="420624"/>
          </a:xfrm>
          <a:prstGeom prst="roundRect">
            <a:avLst>
              <a:gd name="adj" fmla="val 50000"/>
            </a:avLst>
          </a:prstGeom>
          <a:solidFill>
            <a:srgbClr val="4472C4"/>
          </a:solidFill>
          <a:ln>
            <a:noFill/>
          </a:ln>
        </p:spPr>
        <p:txBody>
          <a:bodyPr anchor="ctr" rtlCol="false" lIns="45720" tIns="0" rIns="45720" bIns="0" wrap="square"/>
          <a:lstStyle/>
          <a:p>
            <a:pPr algn="ctr">
              <a:lnSpc>
                <a:spcPts val="2160"/>
              </a:lnSpc>
              <a:spcBef>
                <a:spcPts val="0"/>
              </a:spcBef>
              <a:buNone/>
            </a:pPr>
            <a:r>
              <a:rPr lang="en-US" sz="1800" b="true">
                <a:solidFill>
                  <a:srgbClr val="FFFFFF"/>
                </a:solidFill>
                <a:latin typeface="Nunito Bold"/>
                <a:ea typeface="Nunito Bold"/>
                <a:cs typeface="Nunito Bold"/>
                <a:sym typeface="Nunito Bold"/>
              </a:rPr>
              <a:t>Approaches</a:t>
            </a:r>
          </a:p>
        </p:txBody>
      </p:sp>
      <p:sp>
        <p:nvSpPr>
          <p:cNvPr id="22" name="Rounded Rectangle 21"/>
          <p:cNvSpPr/>
          <p:nvPr/>
        </p:nvSpPr>
        <p:spPr>
          <a:xfrm>
            <a:off x="3011206" y="2559050"/>
            <a:ext cx="1870972" cy="420624"/>
          </a:xfrm>
          <a:prstGeom prst="roundRect">
            <a:avLst>
              <a:gd name="adj" fmla="val 50000"/>
            </a:avLst>
          </a:prstGeom>
          <a:noFill/>
          <a:ln w="28575">
            <a:solidFill>
              <a:srgbClr val="4472C4"/>
            </a:solidFill>
          </a:ln>
        </p:spPr>
        <p:txBody>
          <a:bodyPr anchor="ctr" rtlCol="false" lIns="45720" tIns="0" rIns="45720" bIns="0" wrap="square"/>
          <a:lstStyle/>
          <a:p>
            <a:pPr algn="ctr">
              <a:lnSpc>
                <a:spcPts val="2160"/>
              </a:lnSpc>
              <a:spcBef>
                <a:spcPts val="0"/>
              </a:spcBef>
              <a:buNone/>
            </a:pPr>
            <a:r>
              <a:rPr lang="en-US" sz="1800" b="true">
                <a:solidFill>
                  <a:srgbClr val="4472C4"/>
                </a:solidFill>
                <a:latin typeface="Nunito Bold"/>
                <a:ea typeface="Nunito Bold"/>
                <a:cs typeface="Nunito Bold"/>
                <a:sym typeface="Nunito Bold"/>
              </a:rPr>
              <a:t>Problematic</a:t>
            </a:r>
          </a:p>
        </p:txBody>
      </p:sp>
      <p:sp>
        <p:nvSpPr>
          <p:cNvPr id="23" name="Rounded Rectangle 22"/>
          <p:cNvSpPr/>
          <p:nvPr/>
        </p:nvSpPr>
        <p:spPr>
          <a:xfrm>
            <a:off x="5010194" y="2559050"/>
            <a:ext cx="2041208" cy="420624"/>
          </a:xfrm>
          <a:prstGeom prst="roundRect">
            <a:avLst>
              <a:gd name="adj" fmla="val 50000"/>
            </a:avLst>
          </a:prstGeom>
          <a:noFill/>
          <a:ln w="28575">
            <a:solidFill>
              <a:srgbClr val="4472C4"/>
            </a:solidFill>
          </a:ln>
        </p:spPr>
        <p:txBody>
          <a:bodyPr anchor="ctr" rtlCol="false" lIns="45720" tIns="0" rIns="45720" bIns="0" wrap="square"/>
          <a:lstStyle/>
          <a:p>
            <a:pPr algn="ctr">
              <a:lnSpc>
                <a:spcPts val="2160"/>
              </a:lnSpc>
              <a:spcBef>
                <a:spcPts val="0"/>
              </a:spcBef>
              <a:buNone/>
            </a:pPr>
            <a:r>
              <a:rPr lang="en-US" sz="1800" b="true">
                <a:solidFill>
                  <a:srgbClr val="4472C4"/>
                </a:solidFill>
                <a:latin typeface="Nunito Bold"/>
                <a:ea typeface="Nunito Bold"/>
                <a:cs typeface="Nunito Bold"/>
                <a:sym typeface="Nunito Bold"/>
              </a:rPr>
              <a:t>Contributions</a:t>
            </a:r>
          </a:p>
        </p:txBody>
      </p:sp>
      <p:sp>
        <p:nvSpPr>
          <p:cNvPr id="24" name="TextBox 23"/>
          <p:cNvSpPr txBox="1"/>
          <p:nvPr/>
        </p:nvSpPr>
        <p:spPr>
          <a:xfrm>
            <a:off x="1028700" y="3363722"/>
            <a:ext cx="7680960" cy="4390390"/>
          </a:xfrm>
          <a:prstGeom prst="rect">
            <a:avLst/>
          </a:prstGeom>
          <a:noFill/>
        </p:spPr>
        <p:txBody>
          <a:bodyPr anchor="t" rtlCol="false" lIns="0" tIns="0" rIns="0" bIns="0" wrap="square"/>
          <a:lstStyle/>
          <a:p>
            <a:pPr algn="l" marL="274320" indent="-274320">
              <a:lnSpc>
                <a:spcPts val="2940"/>
              </a:lnSpc>
              <a:spcBef>
                <a:spcPts val="0"/>
              </a:spcBef>
              <a:buClr>
                <a:srgbClr val="1F7A8C"/>
              </a:buClr>
              <a:buSzPct val="100000"/>
              <a:buFont typeface="Arial"/>
              <a:buChar char="•"/>
            </a:pPr>
            <a:r>
              <a:rPr lang="en-US" sz="2100" b="true">
                <a:solidFill>
                  <a:srgbClr val="111111"/>
                </a:solidFill>
                <a:latin typeface="Nunito Semi-Bold"/>
                <a:ea typeface="Nunito Semi-Bold"/>
                <a:cs typeface="Nunito Semi-Bold"/>
                <a:sym typeface="Nunito Semi-Bold"/>
              </a:rPr>
              <a:t>Recommends items using the </a:t>
            </a:r>
            <a:r>
              <a:rPr lang="en-US" sz="2100" b="true">
                <a:solidFill>
                  <a:srgbClr val="111111"/>
                </a:solidFill>
                <a:latin typeface="Nunito Bold"/>
                <a:ea typeface="Nunito Bold"/>
                <a:cs typeface="Nunito Bold"/>
                <a:sym typeface="Nunito Bold"/>
              </a:rPr>
              <a:t>preferences and behaviour of similar users</a:t>
            </a:r>
            <a:r>
              <a:rPr lang="en-US" sz="2100" b="true">
                <a:solidFill>
                  <a:srgbClr val="111111"/>
                </a:solidFill>
                <a:latin typeface="Nunito Semi-Bold"/>
                <a:ea typeface="Nunito Semi-Bold"/>
                <a:cs typeface="Nunito Semi-Bold"/>
                <a:sym typeface="Nunito Semi-Bold"/>
              </a:rPr>
              <a:t>.</a:t>
            </a:r>
          </a:p>
          <a:p>
            <a:pPr algn="l" marL="274320" indent="-274320">
              <a:lnSpc>
                <a:spcPts val="2940"/>
              </a:lnSpc>
              <a:spcBef>
                <a:spcPts val="1200"/>
              </a:spcBef>
              <a:buClr>
                <a:srgbClr val="1F7A8C"/>
              </a:buClr>
              <a:buSzPct val="100000"/>
              <a:buFont typeface="Arial"/>
              <a:buChar char="•"/>
            </a:pPr>
            <a:r>
              <a:rPr lang="en-US" sz="2100" b="true">
                <a:solidFill>
                  <a:srgbClr val="111111"/>
                </a:solidFill>
                <a:latin typeface="Nunito Semi-Bold"/>
                <a:ea typeface="Nunito Semi-Bold"/>
                <a:cs typeface="Nunito Semi-Bold"/>
                <a:sym typeface="Nunito Semi-Bold"/>
              </a:rPr>
              <a:t>Finds patterns in </a:t>
            </a:r>
            <a:r>
              <a:rPr lang="en-US" sz="2100" b="true">
                <a:solidFill>
                  <a:srgbClr val="111111"/>
                </a:solidFill>
                <a:latin typeface="Nunito Bold"/>
                <a:ea typeface="Nunito Bold"/>
                <a:cs typeface="Nunito Bold"/>
                <a:sym typeface="Nunito Bold"/>
              </a:rPr>
              <a:t>user-item interactions</a:t>
            </a:r>
            <a:r>
              <a:rPr lang="en-US" sz="2100" b="true">
                <a:solidFill>
                  <a:srgbClr val="111111"/>
                </a:solidFill>
                <a:latin typeface="Nunito Semi-Bold"/>
                <a:ea typeface="Nunito Semi-Bold"/>
                <a:cs typeface="Nunito Semi-Bold"/>
                <a:sym typeface="Nunito Semi-Bold"/>
              </a:rPr>
              <a:t>: ratings, clicks, purchases.</a:t>
            </a:r>
          </a:p>
          <a:p>
            <a:pPr algn="l" marL="274320" indent="-274320">
              <a:lnSpc>
                <a:spcPts val="2940"/>
              </a:lnSpc>
              <a:spcBef>
                <a:spcPts val="1200"/>
              </a:spcBef>
              <a:buClr>
                <a:srgbClr val="1F7A8C"/>
              </a:buClr>
              <a:buSzPct val="100000"/>
              <a:buFont typeface="Arial"/>
              <a:buChar char="•"/>
            </a:pPr>
            <a:r>
              <a:rPr lang="en-US" sz="2100" b="true">
                <a:solidFill>
                  <a:srgbClr val="111111"/>
                </a:solidFill>
                <a:latin typeface="Nunito Semi-Bold"/>
                <a:ea typeface="Nunito Semi-Bold"/>
                <a:cs typeface="Nunito Semi-Bold"/>
                <a:sym typeface="Nunito Semi-Bold"/>
              </a:rPr>
              <a:t>Can be </a:t>
            </a:r>
            <a:r>
              <a:rPr lang="en-US" sz="2100" b="true">
                <a:solidFill>
                  <a:srgbClr val="111111"/>
                </a:solidFill>
                <a:latin typeface="Nunito Bold"/>
                <a:ea typeface="Nunito Bold"/>
                <a:cs typeface="Nunito Bold"/>
                <a:sym typeface="Nunito Bold"/>
              </a:rPr>
              <a:t>user-based</a:t>
            </a:r>
            <a:r>
              <a:rPr lang="en-US" sz="2100" b="true">
                <a:solidFill>
                  <a:srgbClr val="111111"/>
                </a:solidFill>
                <a:latin typeface="Nunito Semi-Bold"/>
                <a:ea typeface="Nunito Semi-Bold"/>
                <a:cs typeface="Nunito Semi-Bold"/>
                <a:sym typeface="Nunito Semi-Bold"/>
              </a:rPr>
              <a:t> or </a:t>
            </a:r>
            <a:r>
              <a:rPr lang="en-US" sz="2100" b="true">
                <a:solidFill>
                  <a:srgbClr val="111111"/>
                </a:solidFill>
                <a:latin typeface="Nunito Bold"/>
                <a:ea typeface="Nunito Bold"/>
                <a:cs typeface="Nunito Bold"/>
                <a:sym typeface="Nunito Bold"/>
              </a:rPr>
              <a:t>item-based</a:t>
            </a:r>
            <a:r>
              <a:rPr lang="en-US" sz="2100" b="true">
                <a:solidFill>
                  <a:srgbClr val="111111"/>
                </a:solidFill>
                <a:latin typeface="Nunito Semi-Bold"/>
                <a:ea typeface="Nunito Semi-Bold"/>
                <a:cs typeface="Nunito Semi-Bold"/>
                <a:sym typeface="Nunito Semi-Bold"/>
              </a:rPr>
              <a:t>; needs no item content at all.</a:t>
            </a:r>
          </a:p>
          <a:p>
            <a:pPr algn="l" marL="274320" indent="-274320">
              <a:lnSpc>
                <a:spcPts val="2940"/>
              </a:lnSpc>
              <a:spcBef>
                <a:spcPts val="1200"/>
              </a:spcBef>
              <a:buClr>
                <a:srgbClr val="1F7A8C"/>
              </a:buClr>
              <a:buSzPct val="100000"/>
              <a:buFont typeface="Arial"/>
              <a:buChar char="•"/>
            </a:pPr>
            <a:r>
              <a:rPr lang="en-US" sz="2100" b="true">
                <a:solidFill>
                  <a:srgbClr val="111111"/>
                </a:solidFill>
                <a:latin typeface="Nunito Semi-Bold"/>
                <a:ea typeface="Nunito Semi-Bold"/>
                <a:cs typeface="Nunito Semi-Bold"/>
                <a:sym typeface="Nunito Semi-Bold"/>
              </a:rPr>
              <a:t>The base idea behind matrix factorisation and graph recommenders.</a:t>
            </a:r>
          </a:p>
        </p:txBody>
      </p:sp>
      <p:sp>
        <p:nvSpPr>
          <p:cNvPr id="25" name="Rounded Rectangle 24"/>
          <p:cNvSpPr/>
          <p:nvPr/>
        </p:nvSpPr>
        <p:spPr>
          <a:xfrm>
            <a:off x="1028700" y="8028432"/>
            <a:ext cx="7680960" cy="1097280"/>
          </a:xfrm>
          <a:prstGeom prst="roundRect">
            <a:avLst>
              <a:gd name="adj" fmla="val 18333"/>
            </a:avLst>
          </a:prstGeom>
          <a:solidFill>
            <a:srgbClr val="F6ECDF"/>
          </a:solidFill>
          <a:ln w="25400">
            <a:solidFill>
              <a:srgbClr val="1F7A8C"/>
            </a:solidFill>
          </a:ln>
        </p:spPr>
        <p:txBody>
          <a:bodyPr anchor="ctr" rtlCol="false" lIns="0" tIns="0" rIns="0" bIns="0" wrap="square"/>
          <a:lstStyle/>
          <a:p>
            <a:endParaRPr lang="en-US" sz="1800"/>
          </a:p>
        </p:txBody>
      </p:sp>
      <p:sp>
        <p:nvSpPr>
          <p:cNvPr id="26" name="Rounded Rectangle 25"/>
          <p:cNvSpPr/>
          <p:nvPr/>
        </p:nvSpPr>
        <p:spPr>
          <a:xfrm>
            <a:off x="1348740" y="7836408"/>
            <a:ext cx="1609901" cy="384048"/>
          </a:xfrm>
          <a:prstGeom prst="roundRect">
            <a:avLst>
              <a:gd name="adj" fmla="val 50000"/>
            </a:avLst>
          </a:prstGeom>
          <a:solidFill>
            <a:srgbClr val="1F7A8C"/>
          </a:solidFill>
          <a:ln w="28575">
            <a:solidFill>
              <a:srgbClr val="1F7A8C"/>
            </a:solidFill>
          </a:ln>
        </p:spPr>
        <p:txBody>
          <a:bodyPr anchor="ctr" rtlCol="false" lIns="45720" tIns="0" rIns="45720" bIns="0" wrap="square"/>
          <a:lstStyle/>
          <a:p>
            <a:pPr algn="ctr">
              <a:lnSpc>
                <a:spcPts val="1680"/>
              </a:lnSpc>
              <a:spcBef>
                <a:spcPts val="0"/>
              </a:spcBef>
              <a:buNone/>
            </a:pPr>
            <a:r>
              <a:rPr lang="en-US" sz="1400" b="true">
                <a:solidFill>
                  <a:srgbClr val="FFFFFF"/>
                </a:solidFill>
                <a:latin typeface="Nunito Bold"/>
                <a:ea typeface="Nunito Bold"/>
                <a:cs typeface="Nunito Bold"/>
                <a:sym typeface="Nunito Bold"/>
              </a:rPr>
              <a:t>LIMITATION</a:t>
            </a:r>
          </a:p>
        </p:txBody>
      </p:sp>
      <p:sp>
        <p:nvSpPr>
          <p:cNvPr id="27" name="TextBox 26"/>
          <p:cNvSpPr txBox="1"/>
          <p:nvPr/>
        </p:nvSpPr>
        <p:spPr>
          <a:xfrm>
            <a:off x="1394460" y="8302752"/>
            <a:ext cx="6949440" cy="685800"/>
          </a:xfrm>
          <a:prstGeom prst="rect">
            <a:avLst/>
          </a:prstGeom>
          <a:noFill/>
        </p:spPr>
        <p:txBody>
          <a:bodyPr anchor="ctr" rtlCol="false" lIns="0" tIns="0" rIns="0" bIns="0" wrap="square"/>
          <a:lstStyle/>
          <a:p>
            <a:pPr algn="l">
              <a:lnSpc>
                <a:spcPts val="2380"/>
              </a:lnSpc>
              <a:spcBef>
                <a:spcPts val="0"/>
              </a:spcBef>
              <a:buNone/>
            </a:pPr>
            <a:r>
              <a:rPr lang="en-US" sz="1700" b="true">
                <a:solidFill>
                  <a:srgbClr val="111111"/>
                </a:solidFill>
                <a:latin typeface="Nunito Semi-Bold"/>
                <a:ea typeface="Nunito Semi-Bold"/>
                <a:cs typeface="Nunito Semi-Bold"/>
                <a:sym typeface="Nunito Semi-Bold"/>
              </a:rPr>
              <a:t>It struggles with new users or new items because of limited interaction data (cold start).</a:t>
            </a:r>
          </a:p>
        </p:txBody>
      </p:sp>
      <p:pic>
        <p:nvPicPr>
          <p:cNvPr id="28" name="Picture 27" descr="ctx_cf.png"/>
          <p:cNvPicPr>
            <a:picLocks noChangeAspect="1"/>
          </p:cNvPicPr>
          <p:nvPr/>
        </p:nvPicPr>
        <p:blipFill>
          <a:blip r:embed="rId4"/>
          <a:stretch>
            <a:fillRect/>
          </a:stretch>
        </p:blipFill>
        <p:spPr>
          <a:xfrm>
            <a:off x="9258300" y="4108346"/>
            <a:ext cx="8001000" cy="4364181"/>
          </a:xfrm>
          <a:prstGeom prst="rect">
            <a:avLst/>
          </a:prstGeom>
        </p:spPr>
      </p:pic>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pic>
        <p:nvPicPr>
          <p:cNvPr id="2" name="Picture 1" descr="ensias_logo.jpg"/>
          <p:cNvPicPr>
            <a:picLocks noChangeAspect="1"/>
          </p:cNvPicPr>
          <p:nvPr/>
        </p:nvPicPr>
        <p:blipFill>
          <a:blip r:embed="rId2"/>
          <a:stretch>
            <a:fillRect/>
          </a:stretch>
        </p:blipFill>
        <p:spPr>
          <a:xfrm>
            <a:off x="1028700" y="9674352"/>
            <a:ext cx="542964" cy="384048"/>
          </a:xfrm>
          <a:prstGeom prst="rect">
            <a:avLst/>
          </a:prstGeom>
        </p:spPr>
      </p:pic>
      <p:sp>
        <p:nvSpPr>
          <p:cNvPr id="3" name="TextBox 2"/>
          <p:cNvSpPr txBox="1"/>
          <p:nvPr/>
        </p:nvSpPr>
        <p:spPr>
          <a:xfrm>
            <a:off x="1577340" y="9601200"/>
            <a:ext cx="14493240" cy="566928"/>
          </a:xfrm>
          <a:prstGeom prst="rect">
            <a:avLst/>
          </a:prstGeom>
          <a:noFill/>
        </p:spPr>
        <p:txBody>
          <a:bodyPr anchor="ctr" rtlCol="false" lIns="0" tIns="0" rIns="0" bIns="0" wrap="square"/>
          <a:lstStyle/>
          <a:p>
            <a:pPr algn="l">
              <a:lnSpc>
                <a:spcPts val="1200"/>
              </a:lnSpc>
              <a:spcBef>
                <a:spcPts val="0"/>
              </a:spcBef>
              <a:buNone/>
            </a:pPr>
            <a:r>
              <a:rPr lang="en-US" sz="1000" b="true">
                <a:solidFill>
                  <a:srgbClr val="8A8378"/>
                </a:solidFill>
                <a:latin typeface="Nunito Semi-Bold"/>
                <a:ea typeface="Nunito Semi-Bold"/>
                <a:cs typeface="Nunito Semi-Bold"/>
                <a:sym typeface="Nunito Semi-Bold"/>
              </a:rPr>
              <a:t>[10] Koren, Y., Bell, R. &amp; Volinsky, C. Matrix Factorization Techniques for Recommender Systems. Computer 42(8), 30–37 (2009).   [22] Adomavicius, G. &amp; Tuzhilin, A. Toward the Next Generation of Recommender Systems. IEEE TKDE 17(6), 734–749 (2005).  ·  Burke, R. Hybrid Recommender Systems. UMUAI 12(4), 331–370 (2002).</a:t>
            </a:r>
          </a:p>
        </p:txBody>
      </p:sp>
      <p:sp>
        <p:nvSpPr>
          <p:cNvPr id="4" name="TextBox 3"/>
          <p:cNvSpPr txBox="1"/>
          <p:nvPr/>
        </p:nvSpPr>
        <p:spPr>
          <a:xfrm>
            <a:off x="16162020" y="9692640"/>
            <a:ext cx="1097280" cy="329184"/>
          </a:xfrm>
          <a:prstGeom prst="rect">
            <a:avLst/>
          </a:prstGeom>
          <a:noFill/>
        </p:spPr>
        <p:txBody>
          <a:bodyPr anchor="t" rtlCol="false" lIns="0" tIns="0" rIns="0" bIns="0" wrap="square"/>
          <a:lstStyle/>
          <a:p>
            <a:pPr algn="r">
              <a:lnSpc>
                <a:spcPts val="2200"/>
              </a:lnSpc>
              <a:spcBef>
                <a:spcPts val="0"/>
              </a:spcBef>
              <a:buNone/>
            </a:pPr>
            <a:r>
              <a:rPr lang="en-US" sz="1800" b="true">
                <a:solidFill>
                  <a:srgbClr val="111111"/>
                </a:solidFill>
                <a:latin typeface="Nunito Ultra-Bold"/>
                <a:ea typeface="Nunito Ultra-Bold"/>
                <a:cs typeface="Nunito Ultra-Bold"/>
                <a:sym typeface="Nunito Ultra-Bold"/>
              </a:rPr>
              <a:t>11</a:t>
            </a:r>
          </a:p>
        </p:txBody>
      </p:sp>
      <p:sp>
        <p:nvSpPr>
          <p:cNvPr id="5" name="TextBox 4"/>
          <p:cNvSpPr txBox="1"/>
          <p:nvPr/>
        </p:nvSpPr>
        <p:spPr>
          <a:xfrm>
            <a:off x="1028700" y="1389888"/>
            <a:ext cx="12938760" cy="329184"/>
          </a:xfrm>
          <a:prstGeom prst="rect">
            <a:avLst/>
          </a:prstGeom>
          <a:noFill/>
        </p:spPr>
        <p:txBody>
          <a:bodyPr anchor="t" rtlCol="false" lIns="0" tIns="0" rIns="0" bIns="0" wrap="square"/>
          <a:lstStyle/>
          <a:p>
            <a:pPr algn="l">
              <a:lnSpc>
                <a:spcPts val="2000"/>
              </a:lnSpc>
              <a:spcBef>
                <a:spcPts val="0"/>
              </a:spcBef>
              <a:buNone/>
            </a:pPr>
            <a:r>
              <a:rPr lang="en-US" sz="1500" b="true" spc="160">
                <a:solidFill>
                  <a:srgbClr val="1F7A8C"/>
                </a:solidFill>
                <a:latin typeface="Nunito Ultra-Bold"/>
                <a:ea typeface="Nunito Ultra-Bold"/>
                <a:cs typeface="Nunito Ultra-Bold"/>
                <a:sym typeface="Nunito Ultra-Bold"/>
              </a:rPr>
              <a:t>CONTEXT &amp; PROBLEMATIC</a:t>
            </a:r>
          </a:p>
        </p:txBody>
      </p:sp>
      <p:sp>
        <p:nvSpPr>
          <p:cNvPr id="6" name="Rounded Rectangle 5"/>
          <p:cNvSpPr/>
          <p:nvPr/>
        </p:nvSpPr>
        <p:spPr>
          <a:xfrm>
            <a:off x="14516100"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7" name="TextBox 6"/>
          <p:cNvSpPr txBox="1"/>
          <p:nvPr/>
        </p:nvSpPr>
        <p:spPr>
          <a:xfrm>
            <a:off x="14516100"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1</a:t>
            </a:r>
          </a:p>
        </p:txBody>
      </p:sp>
      <p:sp>
        <p:nvSpPr>
          <p:cNvPr id="8" name="Rounded Rectangle 7"/>
          <p:cNvSpPr/>
          <p:nvPr/>
        </p:nvSpPr>
        <p:spPr>
          <a:xfrm>
            <a:off x="14918436" y="1371600"/>
            <a:ext cx="329184" cy="329184"/>
          </a:xfrm>
          <a:prstGeom prst="roundRect">
            <a:avLst>
              <a:gd name="adj" fmla="val 16666"/>
            </a:avLst>
          </a:prstGeom>
          <a:solidFill>
            <a:srgbClr val="4472C4"/>
          </a:solidFill>
          <a:ln w="15875">
            <a:solidFill>
              <a:srgbClr val="4472C4"/>
            </a:solidFill>
          </a:ln>
        </p:spPr>
        <p:txBody>
          <a:bodyPr anchor="ctr" rtlCol="false" lIns="0" tIns="0" rIns="0" bIns="0" wrap="square"/>
          <a:lstStyle/>
          <a:p>
            <a:endParaRPr lang="en-US" sz="1800"/>
          </a:p>
        </p:txBody>
      </p:sp>
      <p:sp>
        <p:nvSpPr>
          <p:cNvPr id="9" name="TextBox 8"/>
          <p:cNvSpPr txBox="1"/>
          <p:nvPr/>
        </p:nvSpPr>
        <p:spPr>
          <a:xfrm>
            <a:off x="14918436"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FFFFFF"/>
                </a:solidFill>
                <a:latin typeface="Nunito Ultra-Bold"/>
                <a:ea typeface="Nunito Ultra-Bold"/>
                <a:cs typeface="Nunito Ultra-Bold"/>
                <a:sym typeface="Nunito Ultra-Bold"/>
              </a:rPr>
              <a:t>2</a:t>
            </a:r>
          </a:p>
        </p:txBody>
      </p:sp>
      <p:sp>
        <p:nvSpPr>
          <p:cNvPr id="10" name="Rounded Rectangle 9"/>
          <p:cNvSpPr/>
          <p:nvPr/>
        </p:nvSpPr>
        <p:spPr>
          <a:xfrm>
            <a:off x="15320772"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11" name="TextBox 10"/>
          <p:cNvSpPr txBox="1"/>
          <p:nvPr/>
        </p:nvSpPr>
        <p:spPr>
          <a:xfrm>
            <a:off x="15320772"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3</a:t>
            </a:r>
          </a:p>
        </p:txBody>
      </p:sp>
      <p:sp>
        <p:nvSpPr>
          <p:cNvPr id="12" name="Rounded Rectangle 11"/>
          <p:cNvSpPr/>
          <p:nvPr/>
        </p:nvSpPr>
        <p:spPr>
          <a:xfrm>
            <a:off x="15723108"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13" name="TextBox 12"/>
          <p:cNvSpPr txBox="1"/>
          <p:nvPr/>
        </p:nvSpPr>
        <p:spPr>
          <a:xfrm>
            <a:off x="15723108"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4</a:t>
            </a:r>
          </a:p>
        </p:txBody>
      </p:sp>
      <p:sp>
        <p:nvSpPr>
          <p:cNvPr id="14" name="Rounded Rectangle 13"/>
          <p:cNvSpPr/>
          <p:nvPr/>
        </p:nvSpPr>
        <p:spPr>
          <a:xfrm>
            <a:off x="16125444"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15" name="TextBox 14"/>
          <p:cNvSpPr txBox="1"/>
          <p:nvPr/>
        </p:nvSpPr>
        <p:spPr>
          <a:xfrm>
            <a:off x="16125444"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5</a:t>
            </a:r>
          </a:p>
        </p:txBody>
      </p:sp>
      <p:sp>
        <p:nvSpPr>
          <p:cNvPr id="16" name="Rounded Rectangle 15"/>
          <p:cNvSpPr/>
          <p:nvPr/>
        </p:nvSpPr>
        <p:spPr>
          <a:xfrm>
            <a:off x="16527780"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17" name="TextBox 16"/>
          <p:cNvSpPr txBox="1"/>
          <p:nvPr/>
        </p:nvSpPr>
        <p:spPr>
          <a:xfrm>
            <a:off x="16527780"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6</a:t>
            </a:r>
          </a:p>
        </p:txBody>
      </p:sp>
      <p:sp>
        <p:nvSpPr>
          <p:cNvPr id="18" name="Rounded Rectangle 17"/>
          <p:cNvSpPr/>
          <p:nvPr/>
        </p:nvSpPr>
        <p:spPr>
          <a:xfrm>
            <a:off x="16930116"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19" name="TextBox 18"/>
          <p:cNvSpPr txBox="1"/>
          <p:nvPr/>
        </p:nvSpPr>
        <p:spPr>
          <a:xfrm>
            <a:off x="16930116"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7</a:t>
            </a:r>
          </a:p>
        </p:txBody>
      </p:sp>
      <p:sp>
        <p:nvSpPr>
          <p:cNvPr id="20" name="TextBox 19"/>
          <p:cNvSpPr txBox="1"/>
          <p:nvPr/>
        </p:nvSpPr>
        <p:spPr>
          <a:xfrm>
            <a:off x="1028700" y="1719072"/>
            <a:ext cx="16230600" cy="730250"/>
          </a:xfrm>
          <a:prstGeom prst="rect">
            <a:avLst/>
          </a:prstGeom>
          <a:noFill/>
        </p:spPr>
        <p:txBody>
          <a:bodyPr anchor="t" rtlCol="false" lIns="0" tIns="0" rIns="0" bIns="0" wrap="square"/>
          <a:lstStyle/>
          <a:p>
            <a:pPr algn="l">
              <a:lnSpc>
                <a:spcPts val="5060"/>
              </a:lnSpc>
              <a:spcBef>
                <a:spcPts val="0"/>
              </a:spcBef>
              <a:buNone/>
            </a:pPr>
            <a:r>
              <a:rPr lang="en-US" sz="4600" b="true" spc="-230">
                <a:solidFill>
                  <a:srgbClr val="111111"/>
                </a:solidFill>
                <a:latin typeface="Roca Two Bold"/>
                <a:ea typeface="Roca Two Bold"/>
                <a:cs typeface="Roca Two Bold"/>
                <a:sym typeface="Roca Two Bold"/>
              </a:rPr>
              <a:t>Hybrid Approaches and Matrix Factorisation</a:t>
            </a:r>
          </a:p>
        </p:txBody>
      </p:sp>
      <p:sp>
        <p:nvSpPr>
          <p:cNvPr id="21" name="Rounded Rectangle 20"/>
          <p:cNvSpPr/>
          <p:nvPr/>
        </p:nvSpPr>
        <p:spPr>
          <a:xfrm>
            <a:off x="1028700" y="2559050"/>
            <a:ext cx="1854490" cy="420624"/>
          </a:xfrm>
          <a:prstGeom prst="roundRect">
            <a:avLst>
              <a:gd name="adj" fmla="val 50000"/>
            </a:avLst>
          </a:prstGeom>
          <a:solidFill>
            <a:srgbClr val="4472C4"/>
          </a:solidFill>
          <a:ln>
            <a:noFill/>
          </a:ln>
        </p:spPr>
        <p:txBody>
          <a:bodyPr anchor="ctr" rtlCol="false" lIns="45720" tIns="0" rIns="45720" bIns="0" wrap="square"/>
          <a:lstStyle/>
          <a:p>
            <a:pPr algn="ctr">
              <a:lnSpc>
                <a:spcPts val="2160"/>
              </a:lnSpc>
              <a:spcBef>
                <a:spcPts val="0"/>
              </a:spcBef>
              <a:buNone/>
            </a:pPr>
            <a:r>
              <a:rPr lang="en-US" sz="1800" b="true">
                <a:solidFill>
                  <a:srgbClr val="FFFFFF"/>
                </a:solidFill>
                <a:latin typeface="Nunito Bold"/>
                <a:ea typeface="Nunito Bold"/>
                <a:cs typeface="Nunito Bold"/>
                <a:sym typeface="Nunito Bold"/>
              </a:rPr>
              <a:t>Approaches</a:t>
            </a:r>
          </a:p>
        </p:txBody>
      </p:sp>
      <p:sp>
        <p:nvSpPr>
          <p:cNvPr id="22" name="Rounded Rectangle 21"/>
          <p:cNvSpPr/>
          <p:nvPr/>
        </p:nvSpPr>
        <p:spPr>
          <a:xfrm>
            <a:off x="3011206" y="2559050"/>
            <a:ext cx="1870972" cy="420624"/>
          </a:xfrm>
          <a:prstGeom prst="roundRect">
            <a:avLst>
              <a:gd name="adj" fmla="val 50000"/>
            </a:avLst>
          </a:prstGeom>
          <a:noFill/>
          <a:ln w="28575">
            <a:solidFill>
              <a:srgbClr val="4472C4"/>
            </a:solidFill>
          </a:ln>
        </p:spPr>
        <p:txBody>
          <a:bodyPr anchor="ctr" rtlCol="false" lIns="45720" tIns="0" rIns="45720" bIns="0" wrap="square"/>
          <a:lstStyle/>
          <a:p>
            <a:pPr algn="ctr">
              <a:lnSpc>
                <a:spcPts val="2160"/>
              </a:lnSpc>
              <a:spcBef>
                <a:spcPts val="0"/>
              </a:spcBef>
              <a:buNone/>
            </a:pPr>
            <a:r>
              <a:rPr lang="en-US" sz="1800" b="true">
                <a:solidFill>
                  <a:srgbClr val="4472C4"/>
                </a:solidFill>
                <a:latin typeface="Nunito Bold"/>
                <a:ea typeface="Nunito Bold"/>
                <a:cs typeface="Nunito Bold"/>
                <a:sym typeface="Nunito Bold"/>
              </a:rPr>
              <a:t>Problematic</a:t>
            </a:r>
          </a:p>
        </p:txBody>
      </p:sp>
      <p:sp>
        <p:nvSpPr>
          <p:cNvPr id="23" name="Rounded Rectangle 22"/>
          <p:cNvSpPr/>
          <p:nvPr/>
        </p:nvSpPr>
        <p:spPr>
          <a:xfrm>
            <a:off x="5010194" y="2559050"/>
            <a:ext cx="2041208" cy="420624"/>
          </a:xfrm>
          <a:prstGeom prst="roundRect">
            <a:avLst>
              <a:gd name="adj" fmla="val 50000"/>
            </a:avLst>
          </a:prstGeom>
          <a:noFill/>
          <a:ln w="28575">
            <a:solidFill>
              <a:srgbClr val="4472C4"/>
            </a:solidFill>
          </a:ln>
        </p:spPr>
        <p:txBody>
          <a:bodyPr anchor="ctr" rtlCol="false" lIns="45720" tIns="0" rIns="45720" bIns="0" wrap="square"/>
          <a:lstStyle/>
          <a:p>
            <a:pPr algn="ctr">
              <a:lnSpc>
                <a:spcPts val="2160"/>
              </a:lnSpc>
              <a:spcBef>
                <a:spcPts val="0"/>
              </a:spcBef>
              <a:buNone/>
            </a:pPr>
            <a:r>
              <a:rPr lang="en-US" sz="1800" b="true">
                <a:solidFill>
                  <a:srgbClr val="4472C4"/>
                </a:solidFill>
                <a:latin typeface="Nunito Bold"/>
                <a:ea typeface="Nunito Bold"/>
                <a:cs typeface="Nunito Bold"/>
                <a:sym typeface="Nunito Bold"/>
              </a:rPr>
              <a:t>Contributions</a:t>
            </a:r>
          </a:p>
        </p:txBody>
      </p:sp>
      <p:sp>
        <p:nvSpPr>
          <p:cNvPr id="24" name="TextBox 23"/>
          <p:cNvSpPr txBox="1"/>
          <p:nvPr/>
        </p:nvSpPr>
        <p:spPr>
          <a:xfrm>
            <a:off x="1028700" y="3363722"/>
            <a:ext cx="7680960" cy="4390390"/>
          </a:xfrm>
          <a:prstGeom prst="rect">
            <a:avLst/>
          </a:prstGeom>
          <a:noFill/>
        </p:spPr>
        <p:txBody>
          <a:bodyPr anchor="t" rtlCol="false" lIns="0" tIns="0" rIns="0" bIns="0" wrap="square"/>
          <a:lstStyle/>
          <a:p>
            <a:pPr algn="l" marL="274320" indent="-274320">
              <a:lnSpc>
                <a:spcPts val="2940"/>
              </a:lnSpc>
              <a:spcBef>
                <a:spcPts val="0"/>
              </a:spcBef>
              <a:buClr>
                <a:srgbClr val="1F7A8C"/>
              </a:buClr>
              <a:buSzPct val="100000"/>
              <a:buFont typeface="Arial"/>
              <a:buChar char="•"/>
            </a:pPr>
            <a:r>
              <a:rPr lang="en-US" sz="2100" b="true">
                <a:solidFill>
                  <a:srgbClr val="111111"/>
                </a:solidFill>
                <a:latin typeface="Nunito Bold"/>
                <a:ea typeface="Nunito Bold"/>
                <a:cs typeface="Nunito Bold"/>
                <a:sym typeface="Nunito Bold"/>
              </a:rPr>
              <a:t>Hybrid:</a:t>
            </a:r>
            <a:r>
              <a:rPr lang="en-US" sz="2100" b="true">
                <a:solidFill>
                  <a:srgbClr val="111111"/>
                </a:solidFill>
                <a:latin typeface="Nunito Semi-Bold"/>
                <a:ea typeface="Nunito Semi-Bold"/>
                <a:cs typeface="Nunito Semi-Bold"/>
                <a:sym typeface="Nunito Semi-Bold"/>
              </a:rPr>
              <a:t> combines content-based and collaborative methods to reduce the weaknesses of each.</a:t>
            </a:r>
          </a:p>
          <a:p>
            <a:pPr algn="l" marL="274320" indent="-274320">
              <a:lnSpc>
                <a:spcPts val="2940"/>
              </a:lnSpc>
              <a:spcBef>
                <a:spcPts val="1200"/>
              </a:spcBef>
              <a:buClr>
                <a:srgbClr val="1F7A8C"/>
              </a:buClr>
              <a:buSzPct val="100000"/>
              <a:buFont typeface="Arial"/>
              <a:buChar char="•"/>
            </a:pPr>
            <a:r>
              <a:rPr lang="en-US" sz="2100" b="true">
                <a:solidFill>
                  <a:srgbClr val="111111"/>
                </a:solidFill>
                <a:latin typeface="Nunito Semi-Bold"/>
                <a:ea typeface="Nunito Semi-Bold"/>
                <a:cs typeface="Nunito Semi-Bold"/>
                <a:sym typeface="Nunito Semi-Bold"/>
              </a:rPr>
              <a:t>Handles limited data, over-specialisation and part of the cold-start problem.</a:t>
            </a:r>
          </a:p>
          <a:p>
            <a:pPr algn="l" marL="274320" indent="-274320">
              <a:lnSpc>
                <a:spcPts val="2940"/>
              </a:lnSpc>
              <a:spcBef>
                <a:spcPts val="1200"/>
              </a:spcBef>
              <a:buClr>
                <a:srgbClr val="1F7A8C"/>
              </a:buClr>
              <a:buSzPct val="100000"/>
              <a:buFont typeface="Arial"/>
              <a:buChar char="•"/>
            </a:pPr>
            <a:r>
              <a:rPr lang="en-US" sz="2100" b="true">
                <a:solidFill>
                  <a:srgbClr val="111111"/>
                </a:solidFill>
                <a:latin typeface="Nunito Bold"/>
                <a:ea typeface="Nunito Bold"/>
                <a:cs typeface="Nunito Bold"/>
                <a:sym typeface="Nunito Bold"/>
              </a:rPr>
              <a:t>Matrix factorisation (MF):</a:t>
            </a:r>
            <a:r>
              <a:rPr lang="en-US" sz="2100" b="true">
                <a:solidFill>
                  <a:srgbClr val="111111"/>
                </a:solidFill>
                <a:latin typeface="Nunito Semi-Bold"/>
                <a:ea typeface="Nunito Semi-Bold"/>
                <a:cs typeface="Nunito Semi-Bold"/>
                <a:sym typeface="Nunito Semi-Bold"/>
              </a:rPr>
              <a:t> the interaction matrix R is split into user and item factors P and Q.</a:t>
            </a:r>
          </a:p>
          <a:p>
            <a:pPr algn="l" marL="274320" indent="-274320">
              <a:lnSpc>
                <a:spcPts val="2940"/>
              </a:lnSpc>
              <a:spcBef>
                <a:spcPts val="1200"/>
              </a:spcBef>
              <a:buClr>
                <a:srgbClr val="1F7A8C"/>
              </a:buClr>
              <a:buSzPct val="100000"/>
              <a:buFont typeface="Arial"/>
              <a:buChar char="•"/>
            </a:pPr>
            <a:r>
              <a:rPr lang="en-US" sz="2100" b="true">
                <a:solidFill>
                  <a:srgbClr val="111111"/>
                </a:solidFill>
                <a:latin typeface="Nunito Semi-Bold"/>
                <a:ea typeface="Nunito Semi-Bold"/>
                <a:cs typeface="Nunito Semi-Bold"/>
                <a:sym typeface="Nunito Semi-Bold"/>
              </a:rPr>
              <a:t>MF made recommendation accurate and scalable; it is the standard baseline of the field.</a:t>
            </a:r>
          </a:p>
        </p:txBody>
      </p:sp>
      <p:sp>
        <p:nvSpPr>
          <p:cNvPr id="25" name="Rounded Rectangle 24"/>
          <p:cNvSpPr/>
          <p:nvPr/>
        </p:nvSpPr>
        <p:spPr>
          <a:xfrm>
            <a:off x="1028700" y="8028432"/>
            <a:ext cx="7680960" cy="1097280"/>
          </a:xfrm>
          <a:prstGeom prst="roundRect">
            <a:avLst>
              <a:gd name="adj" fmla="val 18333"/>
            </a:avLst>
          </a:prstGeom>
          <a:solidFill>
            <a:srgbClr val="F6ECDF"/>
          </a:solidFill>
          <a:ln w="25400">
            <a:solidFill>
              <a:srgbClr val="1F7A8C"/>
            </a:solidFill>
          </a:ln>
        </p:spPr>
        <p:txBody>
          <a:bodyPr anchor="ctr" rtlCol="false" lIns="0" tIns="0" rIns="0" bIns="0" wrap="square"/>
          <a:lstStyle/>
          <a:p>
            <a:endParaRPr lang="en-US" sz="1800"/>
          </a:p>
        </p:txBody>
      </p:sp>
      <p:sp>
        <p:nvSpPr>
          <p:cNvPr id="26" name="Rounded Rectangle 25"/>
          <p:cNvSpPr/>
          <p:nvPr/>
        </p:nvSpPr>
        <p:spPr>
          <a:xfrm>
            <a:off x="1348740" y="7836408"/>
            <a:ext cx="1609901" cy="384048"/>
          </a:xfrm>
          <a:prstGeom prst="roundRect">
            <a:avLst>
              <a:gd name="adj" fmla="val 50000"/>
            </a:avLst>
          </a:prstGeom>
          <a:solidFill>
            <a:srgbClr val="1F7A8C"/>
          </a:solidFill>
          <a:ln w="28575">
            <a:solidFill>
              <a:srgbClr val="1F7A8C"/>
            </a:solidFill>
          </a:ln>
        </p:spPr>
        <p:txBody>
          <a:bodyPr anchor="ctr" rtlCol="false" lIns="45720" tIns="0" rIns="45720" bIns="0" wrap="square"/>
          <a:lstStyle/>
          <a:p>
            <a:pPr algn="ctr">
              <a:lnSpc>
                <a:spcPts val="1680"/>
              </a:lnSpc>
              <a:spcBef>
                <a:spcPts val="0"/>
              </a:spcBef>
              <a:buNone/>
            </a:pPr>
            <a:r>
              <a:rPr lang="en-US" sz="1400" b="true">
                <a:solidFill>
                  <a:srgbClr val="FFFFFF"/>
                </a:solidFill>
                <a:latin typeface="Nunito Bold"/>
                <a:ea typeface="Nunito Bold"/>
                <a:cs typeface="Nunito Bold"/>
                <a:sym typeface="Nunito Bold"/>
              </a:rPr>
              <a:t>LIMITATION</a:t>
            </a:r>
          </a:p>
        </p:txBody>
      </p:sp>
      <p:sp>
        <p:nvSpPr>
          <p:cNvPr id="27" name="TextBox 26"/>
          <p:cNvSpPr txBox="1"/>
          <p:nvPr/>
        </p:nvSpPr>
        <p:spPr>
          <a:xfrm>
            <a:off x="1394460" y="8302752"/>
            <a:ext cx="6949440" cy="685800"/>
          </a:xfrm>
          <a:prstGeom prst="rect">
            <a:avLst/>
          </a:prstGeom>
          <a:noFill/>
        </p:spPr>
        <p:txBody>
          <a:bodyPr anchor="ctr" rtlCol="false" lIns="0" tIns="0" rIns="0" bIns="0" wrap="square"/>
          <a:lstStyle/>
          <a:p>
            <a:pPr algn="l">
              <a:lnSpc>
                <a:spcPts val="2380"/>
              </a:lnSpc>
              <a:spcBef>
                <a:spcPts val="0"/>
              </a:spcBef>
              <a:buNone/>
            </a:pPr>
            <a:r>
              <a:rPr lang="en-US" sz="1700" b="true">
                <a:solidFill>
                  <a:srgbClr val="111111"/>
                </a:solidFill>
                <a:latin typeface="Nunito Semi-Bold"/>
                <a:ea typeface="Nunito Semi-Bold"/>
                <a:cs typeface="Nunito Semi-Bold"/>
                <a:sym typeface="Nunito Semi-Bold"/>
              </a:rPr>
              <a:t>The latent factors are compact but hidden: a good score cannot be traced back to a factor a person understands.</a:t>
            </a:r>
          </a:p>
        </p:txBody>
      </p:sp>
      <p:pic>
        <p:nvPicPr>
          <p:cNvPr id="28" name="Picture 27" descr="ctx_mf.png"/>
          <p:cNvPicPr>
            <a:picLocks noChangeAspect="1"/>
          </p:cNvPicPr>
          <p:nvPr/>
        </p:nvPicPr>
        <p:blipFill>
          <a:blip r:embed="rId4"/>
          <a:stretch>
            <a:fillRect/>
          </a:stretch>
        </p:blipFill>
        <p:spPr>
          <a:xfrm>
            <a:off x="9258300" y="4108346"/>
            <a:ext cx="8001000" cy="4364181"/>
          </a:xfrm>
          <a:prstGeom prst="rect">
            <a:avLst/>
          </a:prstGeom>
        </p:spPr>
      </p:pic>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pic>
        <p:nvPicPr>
          <p:cNvPr id="2" name="Picture 1" descr="ensias_logo.jpg"/>
          <p:cNvPicPr>
            <a:picLocks noChangeAspect="1"/>
          </p:cNvPicPr>
          <p:nvPr/>
        </p:nvPicPr>
        <p:blipFill>
          <a:blip r:embed="rId2"/>
          <a:stretch>
            <a:fillRect/>
          </a:stretch>
        </p:blipFill>
        <p:spPr>
          <a:xfrm>
            <a:off x="1028700" y="9674352"/>
            <a:ext cx="542964" cy="384048"/>
          </a:xfrm>
          <a:prstGeom prst="rect">
            <a:avLst/>
          </a:prstGeom>
        </p:spPr>
      </p:pic>
      <p:sp>
        <p:nvSpPr>
          <p:cNvPr id="3" name="TextBox 2"/>
          <p:cNvSpPr txBox="1"/>
          <p:nvPr/>
        </p:nvSpPr>
        <p:spPr>
          <a:xfrm>
            <a:off x="1577340" y="9601200"/>
            <a:ext cx="14493240" cy="566928"/>
          </a:xfrm>
          <a:prstGeom prst="rect">
            <a:avLst/>
          </a:prstGeom>
          <a:noFill/>
        </p:spPr>
        <p:txBody>
          <a:bodyPr anchor="ctr" rtlCol="false" lIns="0" tIns="0" rIns="0" bIns="0" wrap="square"/>
          <a:lstStyle/>
          <a:p>
            <a:pPr algn="l">
              <a:lnSpc>
                <a:spcPts val="1200"/>
              </a:lnSpc>
              <a:spcBef>
                <a:spcPts val="0"/>
              </a:spcBef>
              <a:buNone/>
            </a:pPr>
            <a:r>
              <a:rPr lang="en-US" sz="1000" b="true">
                <a:solidFill>
                  <a:srgbClr val="8A8378"/>
                </a:solidFill>
                <a:latin typeface="Nunito Semi-Bold"/>
                <a:ea typeface="Nunito Semi-Bold"/>
                <a:cs typeface="Nunito Semi-Bold"/>
                <a:sym typeface="Nunito Semi-Bold"/>
              </a:rPr>
              <a:t>[12] He, X. et al. LightGCN: Simplifying and Powering Graph Convolution Network for Recommendation. SIGIR, 639–648 (2020).   [13] Xia, L. et al. Hypergraph Contrastive Collaborative Filtering (HCCF). SIGIR, 70–79 (2022).   [14] Xiangyi, Y. et al. Hypergraph Projection Enhanced Collaborative Filtering (HPCF). Int. J. Data Science and Analytics 19(2), 269–281 (2025).   [16] Feng, Y. et al. Hypergraph Neural Networks. AAAI 33, 3558–3565 (2019).</a:t>
            </a:r>
          </a:p>
        </p:txBody>
      </p:sp>
      <p:sp>
        <p:nvSpPr>
          <p:cNvPr id="4" name="TextBox 3"/>
          <p:cNvSpPr txBox="1"/>
          <p:nvPr/>
        </p:nvSpPr>
        <p:spPr>
          <a:xfrm>
            <a:off x="16162020" y="9692640"/>
            <a:ext cx="1097280" cy="329184"/>
          </a:xfrm>
          <a:prstGeom prst="rect">
            <a:avLst/>
          </a:prstGeom>
          <a:noFill/>
        </p:spPr>
        <p:txBody>
          <a:bodyPr anchor="t" rtlCol="false" lIns="0" tIns="0" rIns="0" bIns="0" wrap="square"/>
          <a:lstStyle/>
          <a:p>
            <a:pPr algn="r">
              <a:lnSpc>
                <a:spcPts val="2200"/>
              </a:lnSpc>
              <a:spcBef>
                <a:spcPts val="0"/>
              </a:spcBef>
              <a:buNone/>
            </a:pPr>
            <a:r>
              <a:rPr lang="en-US" sz="1800" b="true">
                <a:solidFill>
                  <a:srgbClr val="111111"/>
                </a:solidFill>
                <a:latin typeface="Nunito Ultra-Bold"/>
                <a:ea typeface="Nunito Ultra-Bold"/>
                <a:cs typeface="Nunito Ultra-Bold"/>
                <a:sym typeface="Nunito Ultra-Bold"/>
              </a:rPr>
              <a:t>12</a:t>
            </a:r>
          </a:p>
        </p:txBody>
      </p:sp>
      <p:sp>
        <p:nvSpPr>
          <p:cNvPr id="5" name="TextBox 4"/>
          <p:cNvSpPr txBox="1"/>
          <p:nvPr/>
        </p:nvSpPr>
        <p:spPr>
          <a:xfrm>
            <a:off x="1028700" y="1389888"/>
            <a:ext cx="12938760" cy="329184"/>
          </a:xfrm>
          <a:prstGeom prst="rect">
            <a:avLst/>
          </a:prstGeom>
          <a:noFill/>
        </p:spPr>
        <p:txBody>
          <a:bodyPr anchor="t" rtlCol="false" lIns="0" tIns="0" rIns="0" bIns="0" wrap="square"/>
          <a:lstStyle/>
          <a:p>
            <a:pPr algn="l">
              <a:lnSpc>
                <a:spcPts val="2000"/>
              </a:lnSpc>
              <a:spcBef>
                <a:spcPts val="0"/>
              </a:spcBef>
              <a:buNone/>
            </a:pPr>
            <a:r>
              <a:rPr lang="en-US" sz="1500" b="true" spc="160">
                <a:solidFill>
                  <a:srgbClr val="1F7A8C"/>
                </a:solidFill>
                <a:latin typeface="Nunito Ultra-Bold"/>
                <a:ea typeface="Nunito Ultra-Bold"/>
                <a:cs typeface="Nunito Ultra-Bold"/>
                <a:sym typeface="Nunito Ultra-Bold"/>
              </a:rPr>
              <a:t>CONTEXT &amp; PROBLEMATIC</a:t>
            </a:r>
          </a:p>
        </p:txBody>
      </p:sp>
      <p:sp>
        <p:nvSpPr>
          <p:cNvPr id="6" name="Rounded Rectangle 5"/>
          <p:cNvSpPr/>
          <p:nvPr/>
        </p:nvSpPr>
        <p:spPr>
          <a:xfrm>
            <a:off x="14516100"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7" name="TextBox 6"/>
          <p:cNvSpPr txBox="1"/>
          <p:nvPr/>
        </p:nvSpPr>
        <p:spPr>
          <a:xfrm>
            <a:off x="14516100"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1</a:t>
            </a:r>
          </a:p>
        </p:txBody>
      </p:sp>
      <p:sp>
        <p:nvSpPr>
          <p:cNvPr id="8" name="Rounded Rectangle 7"/>
          <p:cNvSpPr/>
          <p:nvPr/>
        </p:nvSpPr>
        <p:spPr>
          <a:xfrm>
            <a:off x="14918436" y="1371600"/>
            <a:ext cx="329184" cy="329184"/>
          </a:xfrm>
          <a:prstGeom prst="roundRect">
            <a:avLst>
              <a:gd name="adj" fmla="val 16666"/>
            </a:avLst>
          </a:prstGeom>
          <a:solidFill>
            <a:srgbClr val="4472C4"/>
          </a:solidFill>
          <a:ln w="15875">
            <a:solidFill>
              <a:srgbClr val="4472C4"/>
            </a:solidFill>
          </a:ln>
        </p:spPr>
        <p:txBody>
          <a:bodyPr anchor="ctr" rtlCol="false" lIns="0" tIns="0" rIns="0" bIns="0" wrap="square"/>
          <a:lstStyle/>
          <a:p>
            <a:endParaRPr lang="en-US" sz="1800"/>
          </a:p>
        </p:txBody>
      </p:sp>
      <p:sp>
        <p:nvSpPr>
          <p:cNvPr id="9" name="TextBox 8"/>
          <p:cNvSpPr txBox="1"/>
          <p:nvPr/>
        </p:nvSpPr>
        <p:spPr>
          <a:xfrm>
            <a:off x="14918436"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FFFFFF"/>
                </a:solidFill>
                <a:latin typeface="Nunito Ultra-Bold"/>
                <a:ea typeface="Nunito Ultra-Bold"/>
                <a:cs typeface="Nunito Ultra-Bold"/>
                <a:sym typeface="Nunito Ultra-Bold"/>
              </a:rPr>
              <a:t>2</a:t>
            </a:r>
          </a:p>
        </p:txBody>
      </p:sp>
      <p:sp>
        <p:nvSpPr>
          <p:cNvPr id="10" name="Rounded Rectangle 9"/>
          <p:cNvSpPr/>
          <p:nvPr/>
        </p:nvSpPr>
        <p:spPr>
          <a:xfrm>
            <a:off x="15320772"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11" name="TextBox 10"/>
          <p:cNvSpPr txBox="1"/>
          <p:nvPr/>
        </p:nvSpPr>
        <p:spPr>
          <a:xfrm>
            <a:off x="15320772"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3</a:t>
            </a:r>
          </a:p>
        </p:txBody>
      </p:sp>
      <p:sp>
        <p:nvSpPr>
          <p:cNvPr id="12" name="Rounded Rectangle 11"/>
          <p:cNvSpPr/>
          <p:nvPr/>
        </p:nvSpPr>
        <p:spPr>
          <a:xfrm>
            <a:off x="15723108"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13" name="TextBox 12"/>
          <p:cNvSpPr txBox="1"/>
          <p:nvPr/>
        </p:nvSpPr>
        <p:spPr>
          <a:xfrm>
            <a:off x="15723108"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4</a:t>
            </a:r>
          </a:p>
        </p:txBody>
      </p:sp>
      <p:sp>
        <p:nvSpPr>
          <p:cNvPr id="14" name="Rounded Rectangle 13"/>
          <p:cNvSpPr/>
          <p:nvPr/>
        </p:nvSpPr>
        <p:spPr>
          <a:xfrm>
            <a:off x="16125444"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15" name="TextBox 14"/>
          <p:cNvSpPr txBox="1"/>
          <p:nvPr/>
        </p:nvSpPr>
        <p:spPr>
          <a:xfrm>
            <a:off x="16125444"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5</a:t>
            </a:r>
          </a:p>
        </p:txBody>
      </p:sp>
      <p:sp>
        <p:nvSpPr>
          <p:cNvPr id="16" name="Rounded Rectangle 15"/>
          <p:cNvSpPr/>
          <p:nvPr/>
        </p:nvSpPr>
        <p:spPr>
          <a:xfrm>
            <a:off x="16527780"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17" name="TextBox 16"/>
          <p:cNvSpPr txBox="1"/>
          <p:nvPr/>
        </p:nvSpPr>
        <p:spPr>
          <a:xfrm>
            <a:off x="16527780"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6</a:t>
            </a:r>
          </a:p>
        </p:txBody>
      </p:sp>
      <p:sp>
        <p:nvSpPr>
          <p:cNvPr id="18" name="Rounded Rectangle 17"/>
          <p:cNvSpPr/>
          <p:nvPr/>
        </p:nvSpPr>
        <p:spPr>
          <a:xfrm>
            <a:off x="16930116"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19" name="TextBox 18"/>
          <p:cNvSpPr txBox="1"/>
          <p:nvPr/>
        </p:nvSpPr>
        <p:spPr>
          <a:xfrm>
            <a:off x="16930116"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7</a:t>
            </a:r>
          </a:p>
        </p:txBody>
      </p:sp>
      <p:sp>
        <p:nvSpPr>
          <p:cNvPr id="20" name="TextBox 19"/>
          <p:cNvSpPr txBox="1"/>
          <p:nvPr/>
        </p:nvSpPr>
        <p:spPr>
          <a:xfrm>
            <a:off x="1028700" y="1719072"/>
            <a:ext cx="16230600" cy="730250"/>
          </a:xfrm>
          <a:prstGeom prst="rect">
            <a:avLst/>
          </a:prstGeom>
          <a:noFill/>
        </p:spPr>
        <p:txBody>
          <a:bodyPr anchor="t" rtlCol="false" lIns="0" tIns="0" rIns="0" bIns="0" wrap="square"/>
          <a:lstStyle/>
          <a:p>
            <a:pPr algn="l">
              <a:lnSpc>
                <a:spcPts val="5060"/>
              </a:lnSpc>
              <a:spcBef>
                <a:spcPts val="0"/>
              </a:spcBef>
              <a:buNone/>
            </a:pPr>
            <a:r>
              <a:rPr lang="en-US" sz="4600" b="true" spc="-230">
                <a:solidFill>
                  <a:srgbClr val="111111"/>
                </a:solidFill>
                <a:latin typeface="Roca Two Bold"/>
                <a:ea typeface="Roca Two Bold"/>
                <a:cs typeface="Roca Two Bold"/>
                <a:sym typeface="Roca Two Bold"/>
              </a:rPr>
              <a:t>Graph-Based and Hypergraph Recommenders</a:t>
            </a:r>
          </a:p>
        </p:txBody>
      </p:sp>
      <p:sp>
        <p:nvSpPr>
          <p:cNvPr id="21" name="Rounded Rectangle 20"/>
          <p:cNvSpPr/>
          <p:nvPr/>
        </p:nvSpPr>
        <p:spPr>
          <a:xfrm>
            <a:off x="1028700" y="2559050"/>
            <a:ext cx="1854490" cy="420624"/>
          </a:xfrm>
          <a:prstGeom prst="roundRect">
            <a:avLst>
              <a:gd name="adj" fmla="val 50000"/>
            </a:avLst>
          </a:prstGeom>
          <a:solidFill>
            <a:srgbClr val="4472C4"/>
          </a:solidFill>
          <a:ln>
            <a:noFill/>
          </a:ln>
        </p:spPr>
        <p:txBody>
          <a:bodyPr anchor="ctr" rtlCol="false" lIns="45720" tIns="0" rIns="45720" bIns="0" wrap="square"/>
          <a:lstStyle/>
          <a:p>
            <a:pPr algn="ctr">
              <a:lnSpc>
                <a:spcPts val="2160"/>
              </a:lnSpc>
              <a:spcBef>
                <a:spcPts val="0"/>
              </a:spcBef>
              <a:buNone/>
            </a:pPr>
            <a:r>
              <a:rPr lang="en-US" sz="1800" b="true">
                <a:solidFill>
                  <a:srgbClr val="FFFFFF"/>
                </a:solidFill>
                <a:latin typeface="Nunito Bold"/>
                <a:ea typeface="Nunito Bold"/>
                <a:cs typeface="Nunito Bold"/>
                <a:sym typeface="Nunito Bold"/>
              </a:rPr>
              <a:t>Approaches</a:t>
            </a:r>
          </a:p>
        </p:txBody>
      </p:sp>
      <p:sp>
        <p:nvSpPr>
          <p:cNvPr id="22" name="Rounded Rectangle 21"/>
          <p:cNvSpPr/>
          <p:nvPr/>
        </p:nvSpPr>
        <p:spPr>
          <a:xfrm>
            <a:off x="3011206" y="2559050"/>
            <a:ext cx="1870972" cy="420624"/>
          </a:xfrm>
          <a:prstGeom prst="roundRect">
            <a:avLst>
              <a:gd name="adj" fmla="val 50000"/>
            </a:avLst>
          </a:prstGeom>
          <a:noFill/>
          <a:ln w="28575">
            <a:solidFill>
              <a:srgbClr val="4472C4"/>
            </a:solidFill>
          </a:ln>
        </p:spPr>
        <p:txBody>
          <a:bodyPr anchor="ctr" rtlCol="false" lIns="45720" tIns="0" rIns="45720" bIns="0" wrap="square"/>
          <a:lstStyle/>
          <a:p>
            <a:pPr algn="ctr">
              <a:lnSpc>
                <a:spcPts val="2160"/>
              </a:lnSpc>
              <a:spcBef>
                <a:spcPts val="0"/>
              </a:spcBef>
              <a:buNone/>
            </a:pPr>
            <a:r>
              <a:rPr lang="en-US" sz="1800" b="true">
                <a:solidFill>
                  <a:srgbClr val="4472C4"/>
                </a:solidFill>
                <a:latin typeface="Nunito Bold"/>
                <a:ea typeface="Nunito Bold"/>
                <a:cs typeface="Nunito Bold"/>
                <a:sym typeface="Nunito Bold"/>
              </a:rPr>
              <a:t>Problematic</a:t>
            </a:r>
          </a:p>
        </p:txBody>
      </p:sp>
      <p:sp>
        <p:nvSpPr>
          <p:cNvPr id="23" name="Rounded Rectangle 22"/>
          <p:cNvSpPr/>
          <p:nvPr/>
        </p:nvSpPr>
        <p:spPr>
          <a:xfrm>
            <a:off x="5010194" y="2559050"/>
            <a:ext cx="2041208" cy="420624"/>
          </a:xfrm>
          <a:prstGeom prst="roundRect">
            <a:avLst>
              <a:gd name="adj" fmla="val 50000"/>
            </a:avLst>
          </a:prstGeom>
          <a:noFill/>
          <a:ln w="28575">
            <a:solidFill>
              <a:srgbClr val="4472C4"/>
            </a:solidFill>
          </a:ln>
        </p:spPr>
        <p:txBody>
          <a:bodyPr anchor="ctr" rtlCol="false" lIns="45720" tIns="0" rIns="45720" bIns="0" wrap="square"/>
          <a:lstStyle/>
          <a:p>
            <a:pPr algn="ctr">
              <a:lnSpc>
                <a:spcPts val="2160"/>
              </a:lnSpc>
              <a:spcBef>
                <a:spcPts val="0"/>
              </a:spcBef>
              <a:buNone/>
            </a:pPr>
            <a:r>
              <a:rPr lang="en-US" sz="1800" b="true">
                <a:solidFill>
                  <a:srgbClr val="4472C4"/>
                </a:solidFill>
                <a:latin typeface="Nunito Bold"/>
                <a:ea typeface="Nunito Bold"/>
                <a:cs typeface="Nunito Bold"/>
                <a:sym typeface="Nunito Bold"/>
              </a:rPr>
              <a:t>Contributions</a:t>
            </a:r>
          </a:p>
        </p:txBody>
      </p:sp>
      <p:sp>
        <p:nvSpPr>
          <p:cNvPr id="24" name="TextBox 23"/>
          <p:cNvSpPr txBox="1"/>
          <p:nvPr/>
        </p:nvSpPr>
        <p:spPr>
          <a:xfrm>
            <a:off x="1028700" y="3363722"/>
            <a:ext cx="7680960" cy="4390390"/>
          </a:xfrm>
          <a:prstGeom prst="rect">
            <a:avLst/>
          </a:prstGeom>
          <a:noFill/>
        </p:spPr>
        <p:txBody>
          <a:bodyPr anchor="t" rtlCol="false" lIns="0" tIns="0" rIns="0" bIns="0" wrap="square"/>
          <a:lstStyle/>
          <a:p>
            <a:pPr algn="l" marL="274320" indent="-274320">
              <a:lnSpc>
                <a:spcPts val="2940"/>
              </a:lnSpc>
              <a:spcBef>
                <a:spcPts val="0"/>
              </a:spcBef>
              <a:buClr>
                <a:srgbClr val="1F7A8C"/>
              </a:buClr>
              <a:buSzPct val="100000"/>
              <a:buFont typeface="Arial"/>
              <a:buChar char="•"/>
            </a:pPr>
            <a:r>
              <a:rPr lang="en-US" sz="2100" b="true">
                <a:solidFill>
                  <a:srgbClr val="111111"/>
                </a:solidFill>
                <a:latin typeface="Nunito Semi-Bold"/>
                <a:ea typeface="Nunito Semi-Bold"/>
                <a:cs typeface="Nunito Semi-Bold"/>
                <a:sym typeface="Nunito Semi-Bold"/>
              </a:rPr>
              <a:t>Represent users, items and their interactions as </a:t>
            </a:r>
            <a:r>
              <a:rPr lang="en-US" sz="2100" b="true">
                <a:solidFill>
                  <a:srgbClr val="111111"/>
                </a:solidFill>
                <a:latin typeface="Nunito Bold"/>
                <a:ea typeface="Nunito Bold"/>
                <a:cs typeface="Nunito Bold"/>
                <a:sym typeface="Nunito Bold"/>
              </a:rPr>
              <a:t>nodes and edges</a:t>
            </a:r>
            <a:r>
              <a:rPr lang="en-US" sz="2100" b="true">
                <a:solidFill>
                  <a:srgbClr val="111111"/>
                </a:solidFill>
                <a:latin typeface="Nunito Semi-Bold"/>
                <a:ea typeface="Nunito Semi-Bold"/>
                <a:cs typeface="Nunito Semi-Bold"/>
                <a:sym typeface="Nunito Semi-Bold"/>
              </a:rPr>
              <a:t> in a graph.</a:t>
            </a:r>
          </a:p>
          <a:p>
            <a:pPr algn="l" marL="274320" indent="-274320">
              <a:lnSpc>
                <a:spcPts val="2940"/>
              </a:lnSpc>
              <a:spcBef>
                <a:spcPts val="1200"/>
              </a:spcBef>
              <a:buClr>
                <a:srgbClr val="1F7A8C"/>
              </a:buClr>
              <a:buSzPct val="100000"/>
              <a:buFont typeface="Arial"/>
              <a:buChar char="•"/>
            </a:pPr>
            <a:r>
              <a:rPr lang="en-US" sz="2100" b="true">
                <a:solidFill>
                  <a:srgbClr val="111111"/>
                </a:solidFill>
                <a:latin typeface="Nunito Semi-Bold"/>
                <a:ea typeface="Nunito Semi-Bold"/>
                <a:cs typeface="Nunito Semi-Bold"/>
                <a:sym typeface="Nunito Semi-Bold"/>
              </a:rPr>
              <a:t>Use </a:t>
            </a:r>
            <a:r>
              <a:rPr lang="en-US" sz="2100" b="true">
                <a:solidFill>
                  <a:srgbClr val="111111"/>
                </a:solidFill>
                <a:latin typeface="Nunito Bold"/>
                <a:ea typeface="Nunito Bold"/>
                <a:cs typeface="Nunito Bold"/>
                <a:sym typeface="Nunito Bold"/>
              </a:rPr>
              <a:t>message passing</a:t>
            </a:r>
            <a:r>
              <a:rPr lang="en-US" sz="2100" b="true">
                <a:solidFill>
                  <a:srgbClr val="111111"/>
                </a:solidFill>
                <a:latin typeface="Nunito Semi-Bold"/>
                <a:ea typeface="Nunito Semi-Bold"/>
                <a:cs typeface="Nunito Semi-Bold"/>
                <a:sym typeface="Nunito Semi-Bold"/>
              </a:rPr>
              <a:t> (LightGCN, HCCF, HPCF) to reach multi-hop neighbours.</a:t>
            </a:r>
          </a:p>
          <a:p>
            <a:pPr algn="l" marL="274320" indent="-274320">
              <a:lnSpc>
                <a:spcPts val="2940"/>
              </a:lnSpc>
              <a:spcBef>
                <a:spcPts val="1200"/>
              </a:spcBef>
              <a:buClr>
                <a:srgbClr val="1F7A8C"/>
              </a:buClr>
              <a:buSzPct val="100000"/>
              <a:buFont typeface="Arial"/>
              <a:buChar char="•"/>
            </a:pPr>
            <a:r>
              <a:rPr lang="en-US" sz="2100" b="true">
                <a:solidFill>
                  <a:srgbClr val="111111"/>
                </a:solidFill>
                <a:latin typeface="Nunito Bold"/>
                <a:ea typeface="Nunito Bold"/>
                <a:cs typeface="Nunito Bold"/>
                <a:sym typeface="Nunito Bold"/>
              </a:rPr>
              <a:t>Hypergraphs</a:t>
            </a:r>
            <a:r>
              <a:rPr lang="en-US" sz="2100" b="true">
                <a:solidFill>
                  <a:srgbClr val="111111"/>
                </a:solidFill>
                <a:latin typeface="Nunito Semi-Bold"/>
                <a:ea typeface="Nunito Semi-Bold"/>
                <a:cs typeface="Nunito Semi-Bold"/>
                <a:sym typeface="Nunito Semi-Bold"/>
              </a:rPr>
              <a:t> connect more than two nodes at once: user, item and context in one hyperedge.</a:t>
            </a:r>
          </a:p>
          <a:p>
            <a:pPr algn="l" marL="274320" indent="-274320">
              <a:lnSpc>
                <a:spcPts val="2940"/>
              </a:lnSpc>
              <a:spcBef>
                <a:spcPts val="1200"/>
              </a:spcBef>
              <a:buClr>
                <a:srgbClr val="1F7A8C"/>
              </a:buClr>
              <a:buSzPct val="100000"/>
              <a:buFont typeface="Arial"/>
              <a:buChar char="•"/>
            </a:pPr>
            <a:r>
              <a:rPr lang="en-US" sz="2100" b="true">
                <a:solidFill>
                  <a:srgbClr val="111111"/>
                </a:solidFill>
                <a:latin typeface="Nunito Semi-Bold"/>
                <a:ea typeface="Nunito Semi-Bold"/>
                <a:cs typeface="Nunito Semi-Bold"/>
                <a:sym typeface="Nunito Semi-Bold"/>
              </a:rPr>
              <a:t>State of the art in accuracy on sparse benchmarks such as MovieLens-1M and Amazon-Book.</a:t>
            </a:r>
          </a:p>
        </p:txBody>
      </p:sp>
      <p:sp>
        <p:nvSpPr>
          <p:cNvPr id="25" name="Rounded Rectangle 24"/>
          <p:cNvSpPr/>
          <p:nvPr/>
        </p:nvSpPr>
        <p:spPr>
          <a:xfrm>
            <a:off x="1028700" y="8028432"/>
            <a:ext cx="7680960" cy="1097280"/>
          </a:xfrm>
          <a:prstGeom prst="roundRect">
            <a:avLst>
              <a:gd name="adj" fmla="val 18333"/>
            </a:avLst>
          </a:prstGeom>
          <a:solidFill>
            <a:srgbClr val="F6ECDF"/>
          </a:solidFill>
          <a:ln w="25400">
            <a:solidFill>
              <a:srgbClr val="1F7A8C"/>
            </a:solidFill>
          </a:ln>
        </p:spPr>
        <p:txBody>
          <a:bodyPr anchor="ctr" rtlCol="false" lIns="0" tIns="0" rIns="0" bIns="0" wrap="square"/>
          <a:lstStyle/>
          <a:p>
            <a:endParaRPr lang="en-US" sz="1800"/>
          </a:p>
        </p:txBody>
      </p:sp>
      <p:sp>
        <p:nvSpPr>
          <p:cNvPr id="26" name="Rounded Rectangle 25"/>
          <p:cNvSpPr/>
          <p:nvPr/>
        </p:nvSpPr>
        <p:spPr>
          <a:xfrm>
            <a:off x="1348740" y="7836408"/>
            <a:ext cx="1609901" cy="384048"/>
          </a:xfrm>
          <a:prstGeom prst="roundRect">
            <a:avLst>
              <a:gd name="adj" fmla="val 50000"/>
            </a:avLst>
          </a:prstGeom>
          <a:solidFill>
            <a:srgbClr val="1F7A8C"/>
          </a:solidFill>
          <a:ln w="28575">
            <a:solidFill>
              <a:srgbClr val="1F7A8C"/>
            </a:solidFill>
          </a:ln>
        </p:spPr>
        <p:txBody>
          <a:bodyPr anchor="ctr" rtlCol="false" lIns="45720" tIns="0" rIns="45720" bIns="0" wrap="square"/>
          <a:lstStyle/>
          <a:p>
            <a:pPr algn="ctr">
              <a:lnSpc>
                <a:spcPts val="1680"/>
              </a:lnSpc>
              <a:spcBef>
                <a:spcPts val="0"/>
              </a:spcBef>
              <a:buNone/>
            </a:pPr>
            <a:r>
              <a:rPr lang="en-US" sz="1400" b="true">
                <a:solidFill>
                  <a:srgbClr val="FFFFFF"/>
                </a:solidFill>
                <a:latin typeface="Nunito Bold"/>
                <a:ea typeface="Nunito Bold"/>
                <a:cs typeface="Nunito Bold"/>
                <a:sym typeface="Nunito Bold"/>
              </a:rPr>
              <a:t>LIMITATION</a:t>
            </a:r>
          </a:p>
        </p:txBody>
      </p:sp>
      <p:sp>
        <p:nvSpPr>
          <p:cNvPr id="27" name="TextBox 26"/>
          <p:cNvSpPr txBox="1"/>
          <p:nvPr/>
        </p:nvSpPr>
        <p:spPr>
          <a:xfrm>
            <a:off x="1394460" y="8302752"/>
            <a:ext cx="6949440" cy="685800"/>
          </a:xfrm>
          <a:prstGeom prst="rect">
            <a:avLst/>
          </a:prstGeom>
          <a:noFill/>
        </p:spPr>
        <p:txBody>
          <a:bodyPr anchor="ctr" rtlCol="false" lIns="0" tIns="0" rIns="0" bIns="0" wrap="square"/>
          <a:lstStyle/>
          <a:p>
            <a:pPr algn="l">
              <a:lnSpc>
                <a:spcPts val="2380"/>
              </a:lnSpc>
              <a:spcBef>
                <a:spcPts val="0"/>
              </a:spcBef>
              <a:buNone/>
            </a:pPr>
            <a:r>
              <a:rPr lang="en-US" sz="1700" b="true">
                <a:solidFill>
                  <a:srgbClr val="111111"/>
                </a:solidFill>
                <a:latin typeface="Nunito Semi-Bold"/>
                <a:ea typeface="Nunito Semi-Bold"/>
                <a:cs typeface="Nunito Semi-Bold"/>
                <a:sym typeface="Nunito Semi-Bold"/>
              </a:rPr>
              <a:t>Large graphs cost compute and memory, and all messages are treated as equally important and unexplained.</a:t>
            </a:r>
          </a:p>
        </p:txBody>
      </p:sp>
      <p:pic>
        <p:nvPicPr>
          <p:cNvPr id="28" name="Picture 27" descr="ctx_hyper.png"/>
          <p:cNvPicPr>
            <a:picLocks noChangeAspect="1"/>
          </p:cNvPicPr>
          <p:nvPr/>
        </p:nvPicPr>
        <p:blipFill>
          <a:blip r:embed="rId4"/>
          <a:stretch>
            <a:fillRect/>
          </a:stretch>
        </p:blipFill>
        <p:spPr>
          <a:xfrm>
            <a:off x="9258300" y="4108346"/>
            <a:ext cx="8001000" cy="4364181"/>
          </a:xfrm>
          <a:prstGeom prst="rect">
            <a:avLst/>
          </a:prstGeom>
        </p:spPr>
      </p:pic>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pic>
        <p:nvPicPr>
          <p:cNvPr id="2" name="Picture 1" descr="ensias_logo.jpg"/>
          <p:cNvPicPr>
            <a:picLocks noChangeAspect="1"/>
          </p:cNvPicPr>
          <p:nvPr/>
        </p:nvPicPr>
        <p:blipFill>
          <a:blip r:embed="rId2"/>
          <a:stretch>
            <a:fillRect/>
          </a:stretch>
        </p:blipFill>
        <p:spPr>
          <a:xfrm>
            <a:off x="1028700" y="9674352"/>
            <a:ext cx="542964" cy="384048"/>
          </a:xfrm>
          <a:prstGeom prst="rect">
            <a:avLst/>
          </a:prstGeom>
        </p:spPr>
      </p:pic>
      <p:sp>
        <p:nvSpPr>
          <p:cNvPr id="3" name="TextBox 2"/>
          <p:cNvSpPr txBox="1"/>
          <p:nvPr/>
        </p:nvSpPr>
        <p:spPr>
          <a:xfrm>
            <a:off x="1577340" y="9601200"/>
            <a:ext cx="14493240" cy="566928"/>
          </a:xfrm>
          <a:prstGeom prst="rect">
            <a:avLst/>
          </a:prstGeom>
          <a:noFill/>
        </p:spPr>
        <p:txBody>
          <a:bodyPr anchor="ctr" rtlCol="false" lIns="0" tIns="0" rIns="0" bIns="0" wrap="square"/>
          <a:lstStyle/>
          <a:p>
            <a:pPr algn="l">
              <a:lnSpc>
                <a:spcPts val="1200"/>
              </a:lnSpc>
              <a:spcBef>
                <a:spcPts val="0"/>
              </a:spcBef>
              <a:buNone/>
            </a:pPr>
            <a:r>
              <a:rPr lang="en-US" sz="1000" b="true">
                <a:solidFill>
                  <a:srgbClr val="8A8378"/>
                </a:solidFill>
                <a:latin typeface="Nunito Semi-Bold"/>
                <a:ea typeface="Nunito Semi-Bold"/>
                <a:cs typeface="Nunito Semi-Bold"/>
                <a:sym typeface="Nunito Semi-Bold"/>
              </a:rPr>
              <a:t>[23] Zhu, Z. et al. Popularity Bias in Dynamic Recommendation. KDD, 2439–2449 (2021).  ·  Hurley, N. &amp; Zhang, M. Novelty and Diversity in Top-N Recommendation. ACM TOIT 10(4) (2011).   [21] Zhang, Y. &amp; Chen, X. Explainable Recommendation: A Survey and New Perspectives. Foundations and Trends in IR 14(1), 1–101 (2020).</a:t>
            </a:r>
          </a:p>
        </p:txBody>
      </p:sp>
      <p:sp>
        <p:nvSpPr>
          <p:cNvPr id="4" name="TextBox 3"/>
          <p:cNvSpPr txBox="1"/>
          <p:nvPr/>
        </p:nvSpPr>
        <p:spPr>
          <a:xfrm>
            <a:off x="16162020" y="9692640"/>
            <a:ext cx="1097280" cy="329184"/>
          </a:xfrm>
          <a:prstGeom prst="rect">
            <a:avLst/>
          </a:prstGeom>
          <a:noFill/>
        </p:spPr>
        <p:txBody>
          <a:bodyPr anchor="t" rtlCol="false" lIns="0" tIns="0" rIns="0" bIns="0" wrap="square"/>
          <a:lstStyle/>
          <a:p>
            <a:pPr algn="r">
              <a:lnSpc>
                <a:spcPts val="2200"/>
              </a:lnSpc>
              <a:spcBef>
                <a:spcPts val="0"/>
              </a:spcBef>
              <a:buNone/>
            </a:pPr>
            <a:r>
              <a:rPr lang="en-US" sz="1800" b="true">
                <a:solidFill>
                  <a:srgbClr val="111111"/>
                </a:solidFill>
                <a:latin typeface="Nunito Ultra-Bold"/>
                <a:ea typeface="Nunito Ultra-Bold"/>
                <a:cs typeface="Nunito Ultra-Bold"/>
                <a:sym typeface="Nunito Ultra-Bold"/>
              </a:rPr>
              <a:t>13</a:t>
            </a:r>
          </a:p>
        </p:txBody>
      </p:sp>
      <p:sp>
        <p:nvSpPr>
          <p:cNvPr id="5" name="TextBox 4"/>
          <p:cNvSpPr txBox="1"/>
          <p:nvPr/>
        </p:nvSpPr>
        <p:spPr>
          <a:xfrm>
            <a:off x="1028700" y="1389888"/>
            <a:ext cx="12938760" cy="329184"/>
          </a:xfrm>
          <a:prstGeom prst="rect">
            <a:avLst/>
          </a:prstGeom>
          <a:noFill/>
        </p:spPr>
        <p:txBody>
          <a:bodyPr anchor="t" rtlCol="false" lIns="0" tIns="0" rIns="0" bIns="0" wrap="square"/>
          <a:lstStyle/>
          <a:p>
            <a:pPr algn="l">
              <a:lnSpc>
                <a:spcPts val="2000"/>
              </a:lnSpc>
              <a:spcBef>
                <a:spcPts val="0"/>
              </a:spcBef>
              <a:buNone/>
            </a:pPr>
            <a:r>
              <a:rPr lang="en-US" sz="1500" b="true" spc="160">
                <a:solidFill>
                  <a:srgbClr val="1F7A8C"/>
                </a:solidFill>
                <a:latin typeface="Nunito Ultra-Bold"/>
                <a:ea typeface="Nunito Ultra-Bold"/>
                <a:cs typeface="Nunito Ultra-Bold"/>
                <a:sym typeface="Nunito Ultra-Bold"/>
              </a:rPr>
              <a:t>CONTEXT &amp; PROBLEMATIC</a:t>
            </a:r>
          </a:p>
        </p:txBody>
      </p:sp>
      <p:sp>
        <p:nvSpPr>
          <p:cNvPr id="6" name="Rounded Rectangle 5"/>
          <p:cNvSpPr/>
          <p:nvPr/>
        </p:nvSpPr>
        <p:spPr>
          <a:xfrm>
            <a:off x="14516100"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7" name="TextBox 6"/>
          <p:cNvSpPr txBox="1"/>
          <p:nvPr/>
        </p:nvSpPr>
        <p:spPr>
          <a:xfrm>
            <a:off x="14516100"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1</a:t>
            </a:r>
          </a:p>
        </p:txBody>
      </p:sp>
      <p:sp>
        <p:nvSpPr>
          <p:cNvPr id="8" name="Rounded Rectangle 7"/>
          <p:cNvSpPr/>
          <p:nvPr/>
        </p:nvSpPr>
        <p:spPr>
          <a:xfrm>
            <a:off x="14918436" y="1371600"/>
            <a:ext cx="329184" cy="329184"/>
          </a:xfrm>
          <a:prstGeom prst="roundRect">
            <a:avLst>
              <a:gd name="adj" fmla="val 16666"/>
            </a:avLst>
          </a:prstGeom>
          <a:solidFill>
            <a:srgbClr val="4472C4"/>
          </a:solidFill>
          <a:ln w="15875">
            <a:solidFill>
              <a:srgbClr val="4472C4"/>
            </a:solidFill>
          </a:ln>
        </p:spPr>
        <p:txBody>
          <a:bodyPr anchor="ctr" rtlCol="false" lIns="0" tIns="0" rIns="0" bIns="0" wrap="square"/>
          <a:lstStyle/>
          <a:p>
            <a:endParaRPr lang="en-US" sz="1800"/>
          </a:p>
        </p:txBody>
      </p:sp>
      <p:sp>
        <p:nvSpPr>
          <p:cNvPr id="9" name="TextBox 8"/>
          <p:cNvSpPr txBox="1"/>
          <p:nvPr/>
        </p:nvSpPr>
        <p:spPr>
          <a:xfrm>
            <a:off x="14918436"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FFFFFF"/>
                </a:solidFill>
                <a:latin typeface="Nunito Ultra-Bold"/>
                <a:ea typeface="Nunito Ultra-Bold"/>
                <a:cs typeface="Nunito Ultra-Bold"/>
                <a:sym typeface="Nunito Ultra-Bold"/>
              </a:rPr>
              <a:t>2</a:t>
            </a:r>
          </a:p>
        </p:txBody>
      </p:sp>
      <p:sp>
        <p:nvSpPr>
          <p:cNvPr id="10" name="Rounded Rectangle 9"/>
          <p:cNvSpPr/>
          <p:nvPr/>
        </p:nvSpPr>
        <p:spPr>
          <a:xfrm>
            <a:off x="15320772"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11" name="TextBox 10"/>
          <p:cNvSpPr txBox="1"/>
          <p:nvPr/>
        </p:nvSpPr>
        <p:spPr>
          <a:xfrm>
            <a:off x="15320772"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3</a:t>
            </a:r>
          </a:p>
        </p:txBody>
      </p:sp>
      <p:sp>
        <p:nvSpPr>
          <p:cNvPr id="12" name="Rounded Rectangle 11"/>
          <p:cNvSpPr/>
          <p:nvPr/>
        </p:nvSpPr>
        <p:spPr>
          <a:xfrm>
            <a:off x="15723108"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13" name="TextBox 12"/>
          <p:cNvSpPr txBox="1"/>
          <p:nvPr/>
        </p:nvSpPr>
        <p:spPr>
          <a:xfrm>
            <a:off x="15723108"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4</a:t>
            </a:r>
          </a:p>
        </p:txBody>
      </p:sp>
      <p:sp>
        <p:nvSpPr>
          <p:cNvPr id="14" name="Rounded Rectangle 13"/>
          <p:cNvSpPr/>
          <p:nvPr/>
        </p:nvSpPr>
        <p:spPr>
          <a:xfrm>
            <a:off x="16125444"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15" name="TextBox 14"/>
          <p:cNvSpPr txBox="1"/>
          <p:nvPr/>
        </p:nvSpPr>
        <p:spPr>
          <a:xfrm>
            <a:off x="16125444"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5</a:t>
            </a:r>
          </a:p>
        </p:txBody>
      </p:sp>
      <p:sp>
        <p:nvSpPr>
          <p:cNvPr id="16" name="Rounded Rectangle 15"/>
          <p:cNvSpPr/>
          <p:nvPr/>
        </p:nvSpPr>
        <p:spPr>
          <a:xfrm>
            <a:off x="16527780"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17" name="TextBox 16"/>
          <p:cNvSpPr txBox="1"/>
          <p:nvPr/>
        </p:nvSpPr>
        <p:spPr>
          <a:xfrm>
            <a:off x="16527780"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6</a:t>
            </a:r>
          </a:p>
        </p:txBody>
      </p:sp>
      <p:sp>
        <p:nvSpPr>
          <p:cNvPr id="18" name="Rounded Rectangle 17"/>
          <p:cNvSpPr/>
          <p:nvPr/>
        </p:nvSpPr>
        <p:spPr>
          <a:xfrm>
            <a:off x="16930116"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19" name="TextBox 18"/>
          <p:cNvSpPr txBox="1"/>
          <p:nvPr/>
        </p:nvSpPr>
        <p:spPr>
          <a:xfrm>
            <a:off x="16930116"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7</a:t>
            </a:r>
          </a:p>
        </p:txBody>
      </p:sp>
      <p:sp>
        <p:nvSpPr>
          <p:cNvPr id="20" name="TextBox 19"/>
          <p:cNvSpPr txBox="1"/>
          <p:nvPr/>
        </p:nvSpPr>
        <p:spPr>
          <a:xfrm>
            <a:off x="1028700" y="1719072"/>
            <a:ext cx="16230600" cy="666750"/>
          </a:xfrm>
          <a:prstGeom prst="rect">
            <a:avLst/>
          </a:prstGeom>
          <a:noFill/>
        </p:spPr>
        <p:txBody>
          <a:bodyPr anchor="t" rtlCol="false" lIns="0" tIns="0" rIns="0" bIns="0" wrap="square"/>
          <a:lstStyle/>
          <a:p>
            <a:pPr algn="l">
              <a:lnSpc>
                <a:spcPts val="4620"/>
              </a:lnSpc>
              <a:spcBef>
                <a:spcPts val="0"/>
              </a:spcBef>
              <a:buNone/>
            </a:pPr>
            <a:r>
              <a:rPr lang="en-US" sz="4200" b="true" spc="-210">
                <a:solidFill>
                  <a:srgbClr val="111111"/>
                </a:solidFill>
                <a:latin typeface="Roca Two Bold"/>
                <a:ea typeface="Roca Two Bold"/>
                <a:cs typeface="Roca Two Bold"/>
                <a:sym typeface="Roca Two Bold"/>
              </a:rPr>
              <a:t>Limitations of Classical Recommenders &amp; Unsupervised Models</a:t>
            </a:r>
          </a:p>
        </p:txBody>
      </p:sp>
      <p:sp>
        <p:nvSpPr>
          <p:cNvPr id="21" name="Rounded Rectangle 20"/>
          <p:cNvSpPr/>
          <p:nvPr/>
        </p:nvSpPr>
        <p:spPr>
          <a:xfrm>
            <a:off x="1028700" y="2495550"/>
            <a:ext cx="1854490" cy="420624"/>
          </a:xfrm>
          <a:prstGeom prst="roundRect">
            <a:avLst>
              <a:gd name="adj" fmla="val 50000"/>
            </a:avLst>
          </a:prstGeom>
          <a:noFill/>
          <a:ln w="28575">
            <a:solidFill>
              <a:srgbClr val="4472C4"/>
            </a:solidFill>
          </a:ln>
        </p:spPr>
        <p:txBody>
          <a:bodyPr anchor="ctr" rtlCol="false" lIns="45720" tIns="0" rIns="45720" bIns="0" wrap="square"/>
          <a:lstStyle/>
          <a:p>
            <a:pPr algn="ctr">
              <a:lnSpc>
                <a:spcPts val="2160"/>
              </a:lnSpc>
              <a:spcBef>
                <a:spcPts val="0"/>
              </a:spcBef>
              <a:buNone/>
            </a:pPr>
            <a:r>
              <a:rPr lang="en-US" sz="1800" b="true">
                <a:solidFill>
                  <a:srgbClr val="4472C4"/>
                </a:solidFill>
                <a:latin typeface="Nunito Bold"/>
                <a:ea typeface="Nunito Bold"/>
                <a:cs typeface="Nunito Bold"/>
                <a:sym typeface="Nunito Bold"/>
              </a:rPr>
              <a:t>Approaches</a:t>
            </a:r>
          </a:p>
        </p:txBody>
      </p:sp>
      <p:sp>
        <p:nvSpPr>
          <p:cNvPr id="22" name="Rounded Rectangle 21"/>
          <p:cNvSpPr/>
          <p:nvPr/>
        </p:nvSpPr>
        <p:spPr>
          <a:xfrm>
            <a:off x="3011206" y="2495550"/>
            <a:ext cx="1870972" cy="420624"/>
          </a:xfrm>
          <a:prstGeom prst="roundRect">
            <a:avLst>
              <a:gd name="adj" fmla="val 50000"/>
            </a:avLst>
          </a:prstGeom>
          <a:solidFill>
            <a:srgbClr val="4472C4"/>
          </a:solidFill>
          <a:ln>
            <a:noFill/>
          </a:ln>
        </p:spPr>
        <p:txBody>
          <a:bodyPr anchor="ctr" rtlCol="false" lIns="45720" tIns="0" rIns="45720" bIns="0" wrap="square"/>
          <a:lstStyle/>
          <a:p>
            <a:pPr algn="ctr">
              <a:lnSpc>
                <a:spcPts val="2160"/>
              </a:lnSpc>
              <a:spcBef>
                <a:spcPts val="0"/>
              </a:spcBef>
              <a:buNone/>
            </a:pPr>
            <a:r>
              <a:rPr lang="en-US" sz="1800" b="true">
                <a:solidFill>
                  <a:srgbClr val="FFFFFF"/>
                </a:solidFill>
                <a:latin typeface="Nunito Bold"/>
                <a:ea typeface="Nunito Bold"/>
                <a:cs typeface="Nunito Bold"/>
                <a:sym typeface="Nunito Bold"/>
              </a:rPr>
              <a:t>Problematic</a:t>
            </a:r>
          </a:p>
        </p:txBody>
      </p:sp>
      <p:sp>
        <p:nvSpPr>
          <p:cNvPr id="23" name="Rounded Rectangle 22"/>
          <p:cNvSpPr/>
          <p:nvPr/>
        </p:nvSpPr>
        <p:spPr>
          <a:xfrm>
            <a:off x="5010194" y="2495550"/>
            <a:ext cx="2041208" cy="420624"/>
          </a:xfrm>
          <a:prstGeom prst="roundRect">
            <a:avLst>
              <a:gd name="adj" fmla="val 50000"/>
            </a:avLst>
          </a:prstGeom>
          <a:noFill/>
          <a:ln w="28575">
            <a:solidFill>
              <a:srgbClr val="4472C4"/>
            </a:solidFill>
          </a:ln>
        </p:spPr>
        <p:txBody>
          <a:bodyPr anchor="ctr" rtlCol="false" lIns="45720" tIns="0" rIns="45720" bIns="0" wrap="square"/>
          <a:lstStyle/>
          <a:p>
            <a:pPr algn="ctr">
              <a:lnSpc>
                <a:spcPts val="2160"/>
              </a:lnSpc>
              <a:spcBef>
                <a:spcPts val="0"/>
              </a:spcBef>
              <a:buNone/>
            </a:pPr>
            <a:r>
              <a:rPr lang="en-US" sz="1800" b="true">
                <a:solidFill>
                  <a:srgbClr val="4472C4"/>
                </a:solidFill>
                <a:latin typeface="Nunito Bold"/>
                <a:ea typeface="Nunito Bold"/>
                <a:cs typeface="Nunito Bold"/>
                <a:sym typeface="Nunito Bold"/>
              </a:rPr>
              <a:t>Contributions</a:t>
            </a:r>
          </a:p>
        </p:txBody>
      </p:sp>
      <p:sp>
        <p:nvSpPr>
          <p:cNvPr id="24" name="Rounded Rectangle 23"/>
          <p:cNvSpPr/>
          <p:nvPr/>
        </p:nvSpPr>
        <p:spPr>
          <a:xfrm>
            <a:off x="1028700" y="3391662"/>
            <a:ext cx="3851910" cy="3017520"/>
          </a:xfrm>
          <a:prstGeom prst="roundRect">
            <a:avLst>
              <a:gd name="adj" fmla="val 9090"/>
            </a:avLst>
          </a:prstGeom>
          <a:solidFill>
            <a:srgbClr val="4472C4"/>
          </a:solidFill>
          <a:ln>
            <a:noFill/>
          </a:ln>
        </p:spPr>
        <p:txBody>
          <a:bodyPr anchor="t" rtlCol="false" lIns="320040" tIns="320040" rIns="274320" bIns="228600" wrap="square"/>
          <a:lstStyle/>
          <a:p>
            <a:pPr algn="l">
              <a:lnSpc>
                <a:spcPts val="3000"/>
              </a:lnSpc>
              <a:spcBef>
                <a:spcPts val="0"/>
              </a:spcBef>
              <a:buNone/>
            </a:pPr>
            <a:r>
              <a:rPr lang="en-US" sz="2600" b="true">
                <a:solidFill>
                  <a:srgbClr val="ECC665"/>
                </a:solidFill>
                <a:latin typeface="Nunito Ultra-Bold"/>
                <a:ea typeface="Nunito Ultra-Bold"/>
                <a:cs typeface="Nunito Ultra-Bold"/>
                <a:sym typeface="Nunito Ultra-Bold"/>
              </a:rPr>
              <a:t>01</a:t>
            </a:r>
          </a:p>
          <a:p>
            <a:pPr algn="l">
              <a:lnSpc>
                <a:spcPts val="2500"/>
              </a:lnSpc>
              <a:spcBef>
                <a:spcPts val="600"/>
              </a:spcBef>
              <a:buNone/>
            </a:pPr>
            <a:r>
              <a:rPr lang="en-US" sz="2100" b="true">
                <a:solidFill>
                  <a:srgbClr val="FFFFFF"/>
                </a:solidFill>
                <a:latin typeface="Nunito Ultra-Bold"/>
                <a:ea typeface="Nunito Ultra-Bold"/>
                <a:cs typeface="Nunito Ultra-Bold"/>
                <a:sym typeface="Nunito Ultra-Bold"/>
              </a:rPr>
              <a:t>Data sparsity &amp; scalability</a:t>
            </a:r>
          </a:p>
          <a:p>
            <a:pPr algn="l">
              <a:lnSpc>
                <a:spcPts val="2100"/>
              </a:lnSpc>
              <a:spcBef>
                <a:spcPts val="800"/>
              </a:spcBef>
              <a:buNone/>
            </a:pPr>
            <a:r>
              <a:rPr lang="en-US" sz="1700" b="true">
                <a:solidFill>
                  <a:srgbClr val="F1EDE6"/>
                </a:solidFill>
                <a:latin typeface="Nunito Semi-Bold"/>
                <a:ea typeface="Nunito Semi-Bold"/>
                <a:cs typeface="Nunito Semi-Bold"/>
                <a:sym typeface="Nunito Semi-Bold"/>
              </a:rPr>
              <a:t>The user-item matrix is almost empty, so there is very little signal to learn from.</a:t>
            </a:r>
          </a:p>
        </p:txBody>
      </p:sp>
      <p:sp>
        <p:nvSpPr>
          <p:cNvPr id="25" name="Rounded Rectangle 24"/>
          <p:cNvSpPr/>
          <p:nvPr/>
        </p:nvSpPr>
        <p:spPr>
          <a:xfrm>
            <a:off x="5154930" y="3391662"/>
            <a:ext cx="3851910" cy="3017520"/>
          </a:xfrm>
          <a:prstGeom prst="roundRect">
            <a:avLst>
              <a:gd name="adj" fmla="val 9090"/>
            </a:avLst>
          </a:prstGeom>
          <a:solidFill>
            <a:srgbClr val="4472C4"/>
          </a:solidFill>
          <a:ln>
            <a:noFill/>
          </a:ln>
        </p:spPr>
        <p:txBody>
          <a:bodyPr anchor="t" rtlCol="false" lIns="320040" tIns="320040" rIns="274320" bIns="228600" wrap="square"/>
          <a:lstStyle/>
          <a:p>
            <a:pPr algn="l">
              <a:lnSpc>
                <a:spcPts val="3000"/>
              </a:lnSpc>
              <a:spcBef>
                <a:spcPts val="0"/>
              </a:spcBef>
              <a:buNone/>
            </a:pPr>
            <a:r>
              <a:rPr lang="en-US" sz="2600" b="true">
                <a:solidFill>
                  <a:srgbClr val="ECC665"/>
                </a:solidFill>
                <a:latin typeface="Nunito Ultra-Bold"/>
                <a:ea typeface="Nunito Ultra-Bold"/>
                <a:cs typeface="Nunito Ultra-Bold"/>
                <a:sym typeface="Nunito Ultra-Bold"/>
              </a:rPr>
              <a:t>02</a:t>
            </a:r>
          </a:p>
          <a:p>
            <a:pPr algn="l">
              <a:lnSpc>
                <a:spcPts val="2500"/>
              </a:lnSpc>
              <a:spcBef>
                <a:spcPts val="600"/>
              </a:spcBef>
              <a:buNone/>
            </a:pPr>
            <a:r>
              <a:rPr lang="en-US" sz="2100" b="true">
                <a:solidFill>
                  <a:srgbClr val="FFFFFF"/>
                </a:solidFill>
                <a:latin typeface="Nunito Ultra-Bold"/>
                <a:ea typeface="Nunito Ultra-Bold"/>
                <a:cs typeface="Nunito Ultra-Bold"/>
                <a:sym typeface="Nunito Ultra-Bold"/>
              </a:rPr>
              <a:t>Cold-start</a:t>
            </a:r>
          </a:p>
          <a:p>
            <a:pPr algn="l">
              <a:lnSpc>
                <a:spcPts val="2100"/>
              </a:lnSpc>
              <a:spcBef>
                <a:spcPts val="800"/>
              </a:spcBef>
              <a:buNone/>
            </a:pPr>
            <a:r>
              <a:rPr lang="en-US" sz="1700" b="true">
                <a:solidFill>
                  <a:srgbClr val="F1EDE6"/>
                </a:solidFill>
                <a:latin typeface="Nunito Semi-Bold"/>
                <a:ea typeface="Nunito Semi-Bold"/>
                <a:cs typeface="Nunito Semi-Bold"/>
                <a:sym typeface="Nunito Semi-Bold"/>
              </a:rPr>
              <a:t>New users and items are at a disadvantage: no history to learn from.</a:t>
            </a:r>
          </a:p>
        </p:txBody>
      </p:sp>
      <p:sp>
        <p:nvSpPr>
          <p:cNvPr id="26" name="Rounded Rectangle 25"/>
          <p:cNvSpPr/>
          <p:nvPr/>
        </p:nvSpPr>
        <p:spPr>
          <a:xfrm>
            <a:off x="9281160" y="3391662"/>
            <a:ext cx="3851910" cy="3017520"/>
          </a:xfrm>
          <a:prstGeom prst="roundRect">
            <a:avLst>
              <a:gd name="adj" fmla="val 9090"/>
            </a:avLst>
          </a:prstGeom>
          <a:solidFill>
            <a:srgbClr val="4472C4"/>
          </a:solidFill>
          <a:ln>
            <a:noFill/>
          </a:ln>
        </p:spPr>
        <p:txBody>
          <a:bodyPr anchor="t" rtlCol="false" lIns="320040" tIns="320040" rIns="274320" bIns="228600" wrap="square"/>
          <a:lstStyle/>
          <a:p>
            <a:pPr algn="l">
              <a:lnSpc>
                <a:spcPts val="3000"/>
              </a:lnSpc>
              <a:spcBef>
                <a:spcPts val="0"/>
              </a:spcBef>
              <a:buNone/>
            </a:pPr>
            <a:r>
              <a:rPr lang="en-US" sz="2600" b="true">
                <a:solidFill>
                  <a:srgbClr val="ECC665"/>
                </a:solidFill>
                <a:latin typeface="Nunito Ultra-Bold"/>
                <a:ea typeface="Nunito Ultra-Bold"/>
                <a:cs typeface="Nunito Ultra-Bold"/>
                <a:sym typeface="Nunito Ultra-Bold"/>
              </a:rPr>
              <a:t>03</a:t>
            </a:r>
          </a:p>
          <a:p>
            <a:pPr algn="l">
              <a:lnSpc>
                <a:spcPts val="2500"/>
              </a:lnSpc>
              <a:spcBef>
                <a:spcPts val="600"/>
              </a:spcBef>
              <a:buNone/>
            </a:pPr>
            <a:r>
              <a:rPr lang="en-US" sz="2100" b="true">
                <a:solidFill>
                  <a:srgbClr val="FFFFFF"/>
                </a:solidFill>
                <a:latin typeface="Nunito Ultra-Bold"/>
                <a:ea typeface="Nunito Ultra-Bold"/>
                <a:cs typeface="Nunito Ultra-Bold"/>
                <a:sym typeface="Nunito Ultra-Bold"/>
              </a:rPr>
              <a:t>Popularity bias &amp; lack of diversity</a:t>
            </a:r>
          </a:p>
          <a:p>
            <a:pPr algn="l">
              <a:lnSpc>
                <a:spcPts val="2100"/>
              </a:lnSpc>
              <a:spcBef>
                <a:spcPts val="800"/>
              </a:spcBef>
              <a:buNone/>
            </a:pPr>
            <a:r>
              <a:rPr lang="en-US" sz="1700" b="true">
                <a:solidFill>
                  <a:srgbClr val="F1EDE6"/>
                </a:solidFill>
                <a:latin typeface="Nunito Semi-Bold"/>
                <a:ea typeface="Nunito Semi-Bold"/>
                <a:cs typeface="Nunito Semi-Bold"/>
                <a:sym typeface="Nunito Semi-Bold"/>
              </a:rPr>
              <a:t>Exposure leads to interaction, which leads to more exposure: a filter-bubble loop.</a:t>
            </a:r>
          </a:p>
        </p:txBody>
      </p:sp>
      <p:sp>
        <p:nvSpPr>
          <p:cNvPr id="27" name="Rounded Rectangle 26"/>
          <p:cNvSpPr/>
          <p:nvPr/>
        </p:nvSpPr>
        <p:spPr>
          <a:xfrm>
            <a:off x="13407390" y="3391662"/>
            <a:ext cx="3851910" cy="3017520"/>
          </a:xfrm>
          <a:prstGeom prst="roundRect">
            <a:avLst>
              <a:gd name="adj" fmla="val 9090"/>
            </a:avLst>
          </a:prstGeom>
          <a:solidFill>
            <a:srgbClr val="1F7A8C"/>
          </a:solidFill>
          <a:ln>
            <a:noFill/>
          </a:ln>
        </p:spPr>
        <p:txBody>
          <a:bodyPr anchor="t" rtlCol="false" lIns="320040" tIns="320040" rIns="274320" bIns="228600" wrap="square"/>
          <a:lstStyle/>
          <a:p>
            <a:pPr algn="l">
              <a:lnSpc>
                <a:spcPts val="3000"/>
              </a:lnSpc>
              <a:spcBef>
                <a:spcPts val="0"/>
              </a:spcBef>
              <a:buNone/>
            </a:pPr>
            <a:r>
              <a:rPr lang="en-US" sz="2600" b="true">
                <a:solidFill>
                  <a:srgbClr val="FFFFFF"/>
                </a:solidFill>
                <a:latin typeface="Nunito Ultra-Bold"/>
                <a:ea typeface="Nunito Ultra-Bold"/>
                <a:cs typeface="Nunito Ultra-Bold"/>
                <a:sym typeface="Nunito Ultra-Bold"/>
              </a:rPr>
              <a:t>04</a:t>
            </a:r>
          </a:p>
          <a:p>
            <a:pPr algn="l">
              <a:lnSpc>
                <a:spcPts val="2500"/>
              </a:lnSpc>
              <a:spcBef>
                <a:spcPts val="600"/>
              </a:spcBef>
              <a:buNone/>
            </a:pPr>
            <a:r>
              <a:rPr lang="en-US" sz="2100" b="true">
                <a:solidFill>
                  <a:srgbClr val="FFFFFF"/>
                </a:solidFill>
                <a:latin typeface="Nunito Ultra-Bold"/>
                <a:ea typeface="Nunito Ultra-Bold"/>
                <a:cs typeface="Nunito Ultra-Bold"/>
                <a:sym typeface="Nunito Ultra-Bold"/>
              </a:rPr>
              <a:t>Absence of interpretability</a:t>
            </a:r>
          </a:p>
          <a:p>
            <a:pPr algn="l">
              <a:lnSpc>
                <a:spcPts val="2100"/>
              </a:lnSpc>
              <a:spcBef>
                <a:spcPts val="800"/>
              </a:spcBef>
              <a:buNone/>
            </a:pPr>
            <a:r>
              <a:rPr lang="en-US" sz="1700" b="true">
                <a:solidFill>
                  <a:srgbClr val="F1EDE6"/>
                </a:solidFill>
                <a:latin typeface="Nunito Semi-Bold"/>
                <a:ea typeface="Nunito Semi-Bold"/>
                <a:cs typeface="Nunito Semi-Bold"/>
                <a:sym typeface="Nunito Semi-Bold"/>
              </a:rPr>
              <a:t>The most basic limit, and the one this thesis targets.</a:t>
            </a:r>
          </a:p>
        </p:txBody>
      </p:sp>
      <p:sp>
        <p:nvSpPr>
          <p:cNvPr id="28" name="Rounded Rectangle 27"/>
          <p:cNvSpPr/>
          <p:nvPr/>
        </p:nvSpPr>
        <p:spPr>
          <a:xfrm>
            <a:off x="1028700" y="7049262"/>
            <a:ext cx="16230600" cy="2259330"/>
          </a:xfrm>
          <a:prstGeom prst="roundRect">
            <a:avLst>
              <a:gd name="adj" fmla="val 13760"/>
            </a:avLst>
          </a:prstGeom>
          <a:solidFill>
            <a:srgbClr val="F6ECDF"/>
          </a:solidFill>
          <a:ln>
            <a:noFill/>
          </a:ln>
        </p:spPr>
        <p:txBody>
          <a:bodyPr anchor="ctr" rtlCol="false" lIns="0" tIns="0" rIns="0" bIns="0" wrap="square"/>
          <a:lstStyle/>
          <a:p>
            <a:endParaRPr lang="en-US" sz="1800"/>
          </a:p>
        </p:txBody>
      </p:sp>
      <p:sp>
        <p:nvSpPr>
          <p:cNvPr id="29" name="Rounded Rectangle 28"/>
          <p:cNvSpPr/>
          <p:nvPr/>
        </p:nvSpPr>
        <p:spPr>
          <a:xfrm>
            <a:off x="1485900" y="6811518"/>
            <a:ext cx="7857234" cy="438912"/>
          </a:xfrm>
          <a:prstGeom prst="roundRect">
            <a:avLst>
              <a:gd name="adj" fmla="val 50000"/>
            </a:avLst>
          </a:prstGeom>
          <a:solidFill>
            <a:srgbClr val="4472C4"/>
          </a:solidFill>
          <a:ln w="28575">
            <a:solidFill>
              <a:srgbClr val="4472C4"/>
            </a:solidFill>
          </a:ln>
        </p:spPr>
        <p:txBody>
          <a:bodyPr anchor="ctr" rtlCol="false" lIns="45720" tIns="0" rIns="45720" bIns="0" wrap="square"/>
          <a:lstStyle/>
          <a:p>
            <a:pPr algn="ctr">
              <a:lnSpc>
                <a:spcPts val="2640"/>
              </a:lnSpc>
              <a:spcBef>
                <a:spcPts val="0"/>
              </a:spcBef>
              <a:buNone/>
            </a:pPr>
            <a:r>
              <a:rPr lang="en-US" sz="2200" b="true">
                <a:solidFill>
                  <a:srgbClr val="FFFFFF"/>
                </a:solidFill>
                <a:latin typeface="Nunito Bold"/>
                <a:ea typeface="Nunito Bold"/>
                <a:cs typeface="Nunito Bold"/>
                <a:sym typeface="Nunito Bold"/>
              </a:rPr>
              <a:t>For clustering specifically, the situation is even harder</a:t>
            </a:r>
          </a:p>
        </p:txBody>
      </p:sp>
      <p:sp>
        <p:nvSpPr>
          <p:cNvPr id="30" name="TextBox 29"/>
          <p:cNvSpPr txBox="1"/>
          <p:nvPr/>
        </p:nvSpPr>
        <p:spPr>
          <a:xfrm>
            <a:off x="1531620" y="7689342"/>
            <a:ext cx="15270480" cy="1344930"/>
          </a:xfrm>
          <a:prstGeom prst="rect">
            <a:avLst/>
          </a:prstGeom>
          <a:noFill/>
        </p:spPr>
        <p:txBody>
          <a:bodyPr anchor="t" rtlCol="false" lIns="0" tIns="0" rIns="0" bIns="0" wrap="square"/>
          <a:lstStyle/>
          <a:p>
            <a:pPr algn="l" marL="274320" indent="-274320">
              <a:lnSpc>
                <a:spcPts val="2587"/>
              </a:lnSpc>
              <a:spcBef>
                <a:spcPts val="0"/>
              </a:spcBef>
              <a:buClr>
                <a:srgbClr val="1F7A8C"/>
              </a:buClr>
              <a:buSzPct val="100000"/>
              <a:buFont typeface="Arial"/>
              <a:buChar char="•"/>
            </a:pPr>
            <a:r>
              <a:rPr lang="en-US" sz="1848" b="true">
                <a:solidFill>
                  <a:srgbClr val="111111"/>
                </a:solidFill>
                <a:latin typeface="Nunito Semi-Bold"/>
                <a:ea typeface="Nunito Semi-Bold"/>
                <a:cs typeface="Nunito Semi-Bold"/>
                <a:sym typeface="Nunito Semi-Bold"/>
              </a:rPr>
              <a:t>Methods give a </a:t>
            </a:r>
            <a:r>
              <a:rPr lang="en-US" sz="1848" b="true">
                <a:solidFill>
                  <a:srgbClr val="111111"/>
                </a:solidFill>
                <a:latin typeface="Nunito Bold"/>
                <a:ea typeface="Nunito Bold"/>
                <a:cs typeface="Nunito Bold"/>
                <a:sym typeface="Nunito Bold"/>
              </a:rPr>
              <a:t>local OR a global</a:t>
            </a:r>
            <a:r>
              <a:rPr lang="en-US" sz="1848" b="true">
                <a:solidFill>
                  <a:srgbClr val="111111"/>
                </a:solidFill>
                <a:latin typeface="Nunito Semi-Bold"/>
                <a:ea typeface="Nunito Semi-Bold"/>
                <a:cs typeface="Nunito Semi-Bold"/>
                <a:sym typeface="Nunito Semi-Bold"/>
              </a:rPr>
              <a:t> explanation, not both.</a:t>
            </a:r>
          </a:p>
          <a:p>
            <a:pPr algn="l" marL="274320" indent="-274320">
              <a:lnSpc>
                <a:spcPts val="2587"/>
              </a:lnSpc>
              <a:spcBef>
                <a:spcPts val="704"/>
              </a:spcBef>
              <a:buClr>
                <a:srgbClr val="1F7A8C"/>
              </a:buClr>
              <a:buSzPct val="100000"/>
              <a:buFont typeface="Arial"/>
              <a:buChar char="•"/>
            </a:pPr>
            <a:r>
              <a:rPr lang="en-US" sz="1848" b="true">
                <a:solidFill>
                  <a:srgbClr val="111111"/>
                </a:solidFill>
                <a:latin typeface="Nunito Semi-Bold"/>
                <a:ea typeface="Nunito Semi-Bold"/>
                <a:cs typeface="Nunito Semi-Bold"/>
                <a:sym typeface="Nunito Semi-Bold"/>
              </a:rPr>
              <a:t>They </a:t>
            </a:r>
            <a:r>
              <a:rPr lang="en-US" sz="1848" b="true">
                <a:solidFill>
                  <a:srgbClr val="111111"/>
                </a:solidFill>
                <a:latin typeface="Nunito Bold"/>
                <a:ea typeface="Nunito Bold"/>
                <a:cs typeface="Nunito Bold"/>
                <a:sym typeface="Nunito Bold"/>
              </a:rPr>
              <a:t>struggle to scale</a:t>
            </a:r>
            <a:r>
              <a:rPr lang="en-US" sz="1848" b="true">
                <a:solidFill>
                  <a:srgbClr val="111111"/>
                </a:solidFill>
                <a:latin typeface="Nunito Semi-Bold"/>
                <a:ea typeface="Nunito Semi-Bold"/>
                <a:cs typeface="Nunito Semi-Bold"/>
                <a:sym typeface="Nunito Semi-Bold"/>
              </a:rPr>
              <a:t>, and explanations rarely stay </a:t>
            </a:r>
            <a:r>
              <a:rPr lang="en-US" sz="1848" b="true">
                <a:solidFill>
                  <a:srgbClr val="111111"/>
                </a:solidFill>
                <a:latin typeface="Nunito Bold"/>
                <a:ea typeface="Nunito Bold"/>
                <a:cs typeface="Nunito Bold"/>
                <a:sym typeface="Nunito Bold"/>
              </a:rPr>
              <a:t>consistent across levels of detail</a:t>
            </a:r>
            <a:r>
              <a:rPr lang="en-US" sz="1848" b="true">
                <a:solidFill>
                  <a:srgbClr val="111111"/>
                </a:solidFill>
                <a:latin typeface="Nunito Semi-Bold"/>
                <a:ea typeface="Nunito Semi-Bold"/>
                <a:cs typeface="Nunito Semi-Bold"/>
                <a:sym typeface="Nunito Semi-Bold"/>
              </a:rPr>
              <a:t>.</a:t>
            </a:r>
          </a:p>
          <a:p>
            <a:pPr algn="l" marL="274320" indent="-274320">
              <a:lnSpc>
                <a:spcPts val="2587"/>
              </a:lnSpc>
              <a:spcBef>
                <a:spcPts val="704"/>
              </a:spcBef>
              <a:buClr>
                <a:srgbClr val="1F7A8C"/>
              </a:buClr>
              <a:buSzPct val="100000"/>
              <a:buFont typeface="Arial"/>
              <a:buChar char="•"/>
            </a:pPr>
            <a:r>
              <a:rPr lang="en-US" sz="1848" b="true">
                <a:solidFill>
                  <a:srgbClr val="111111"/>
                </a:solidFill>
                <a:latin typeface="Nunito Bold"/>
                <a:ea typeface="Nunito Bold"/>
                <a:cs typeface="Nunito Bold"/>
                <a:sym typeface="Nunito Bold"/>
              </a:rPr>
              <a:t>The gap:</a:t>
            </a:r>
            <a:r>
              <a:rPr lang="en-US" sz="1848" b="true">
                <a:solidFill>
                  <a:srgbClr val="111111"/>
                </a:solidFill>
                <a:latin typeface="Nunito Semi-Bold"/>
                <a:ea typeface="Nunito Semi-Bold"/>
                <a:cs typeface="Nunito Semi-Bold"/>
                <a:sym typeface="Nunito Semi-Bold"/>
              </a:rPr>
              <a:t> no faithful local + global explanation, poor scaling, and no consistency across levels. This is exactly what this thesis works on.</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pic>
        <p:nvPicPr>
          <p:cNvPr id="2" name="Picture 1" descr="ensias_logo.jpg"/>
          <p:cNvPicPr>
            <a:picLocks noChangeAspect="1"/>
          </p:cNvPicPr>
          <p:nvPr/>
        </p:nvPicPr>
        <p:blipFill>
          <a:blip r:embed="rId2"/>
          <a:stretch>
            <a:fillRect/>
          </a:stretch>
        </p:blipFill>
        <p:spPr>
          <a:xfrm>
            <a:off x="1028700" y="9674352"/>
            <a:ext cx="542964" cy="384048"/>
          </a:xfrm>
          <a:prstGeom prst="rect">
            <a:avLst/>
          </a:prstGeom>
        </p:spPr>
      </p:pic>
      <p:sp>
        <p:nvSpPr>
          <p:cNvPr id="3" name="TextBox 2"/>
          <p:cNvSpPr txBox="1"/>
          <p:nvPr/>
        </p:nvSpPr>
        <p:spPr>
          <a:xfrm>
            <a:off x="1577340" y="9601200"/>
            <a:ext cx="14493240" cy="566928"/>
          </a:xfrm>
          <a:prstGeom prst="rect">
            <a:avLst/>
          </a:prstGeom>
          <a:noFill/>
        </p:spPr>
        <p:txBody>
          <a:bodyPr anchor="ctr" rtlCol="false" lIns="0" tIns="0" rIns="0" bIns="0" wrap="square"/>
          <a:lstStyle/>
          <a:p>
            <a:pPr algn="l">
              <a:lnSpc>
                <a:spcPts val="1200"/>
              </a:lnSpc>
              <a:spcBef>
                <a:spcPts val="0"/>
              </a:spcBef>
              <a:buNone/>
            </a:pPr>
            <a:r>
              <a:rPr lang="en-US" sz="1000" b="true">
                <a:solidFill>
                  <a:srgbClr val="8A8378"/>
                </a:solidFill>
                <a:latin typeface="Nunito Semi-Bold"/>
                <a:ea typeface="Nunito Semi-Bold"/>
                <a:cs typeface="Nunito Semi-Bold"/>
                <a:sym typeface="Nunito Semi-Bold"/>
              </a:rPr>
              <a:t>[21] Zhang, Y. &amp; Chen, X. Explainable Recommendation: A Survey and New Perspectives. Foundations and Trends in IR 14(1), 1–101 (2020).   [24] Arrieta, A. B. et al. Explainable Artificial Intelligence (XAI): Concepts, Taxonomies, Opportunities and Challenges. Information Fusion 58, 82–115 (2020).</a:t>
            </a:r>
          </a:p>
        </p:txBody>
      </p:sp>
      <p:sp>
        <p:nvSpPr>
          <p:cNvPr id="4" name="TextBox 3"/>
          <p:cNvSpPr txBox="1"/>
          <p:nvPr/>
        </p:nvSpPr>
        <p:spPr>
          <a:xfrm>
            <a:off x="16162020" y="9692640"/>
            <a:ext cx="1097280" cy="329184"/>
          </a:xfrm>
          <a:prstGeom prst="rect">
            <a:avLst/>
          </a:prstGeom>
          <a:noFill/>
        </p:spPr>
        <p:txBody>
          <a:bodyPr anchor="t" rtlCol="false" lIns="0" tIns="0" rIns="0" bIns="0" wrap="square"/>
          <a:lstStyle/>
          <a:p>
            <a:pPr algn="r">
              <a:lnSpc>
                <a:spcPts val="2200"/>
              </a:lnSpc>
              <a:spcBef>
                <a:spcPts val="0"/>
              </a:spcBef>
              <a:buNone/>
            </a:pPr>
            <a:r>
              <a:rPr lang="en-US" sz="1800" b="true">
                <a:solidFill>
                  <a:srgbClr val="111111"/>
                </a:solidFill>
                <a:latin typeface="Nunito Ultra-Bold"/>
                <a:ea typeface="Nunito Ultra-Bold"/>
                <a:cs typeface="Nunito Ultra-Bold"/>
                <a:sym typeface="Nunito Ultra-Bold"/>
              </a:rPr>
              <a:t>14</a:t>
            </a:r>
          </a:p>
        </p:txBody>
      </p:sp>
      <p:sp>
        <p:nvSpPr>
          <p:cNvPr id="5" name="TextBox 4"/>
          <p:cNvSpPr txBox="1"/>
          <p:nvPr/>
        </p:nvSpPr>
        <p:spPr>
          <a:xfrm>
            <a:off x="1028700" y="1389888"/>
            <a:ext cx="12938760" cy="329184"/>
          </a:xfrm>
          <a:prstGeom prst="rect">
            <a:avLst/>
          </a:prstGeom>
          <a:noFill/>
        </p:spPr>
        <p:txBody>
          <a:bodyPr anchor="t" rtlCol="false" lIns="0" tIns="0" rIns="0" bIns="0" wrap="square"/>
          <a:lstStyle/>
          <a:p>
            <a:pPr algn="l">
              <a:lnSpc>
                <a:spcPts val="2000"/>
              </a:lnSpc>
              <a:spcBef>
                <a:spcPts val="0"/>
              </a:spcBef>
              <a:buNone/>
            </a:pPr>
            <a:r>
              <a:rPr lang="en-US" sz="1500" b="true" spc="160">
                <a:solidFill>
                  <a:srgbClr val="1F7A8C"/>
                </a:solidFill>
                <a:latin typeface="Nunito Ultra-Bold"/>
                <a:ea typeface="Nunito Ultra-Bold"/>
                <a:cs typeface="Nunito Ultra-Bold"/>
                <a:sym typeface="Nunito Ultra-Bold"/>
              </a:rPr>
              <a:t>CONTEXT &amp; PROBLEMATIC</a:t>
            </a:r>
          </a:p>
        </p:txBody>
      </p:sp>
      <p:sp>
        <p:nvSpPr>
          <p:cNvPr id="6" name="Rounded Rectangle 5"/>
          <p:cNvSpPr/>
          <p:nvPr/>
        </p:nvSpPr>
        <p:spPr>
          <a:xfrm>
            <a:off x="14516100"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7" name="TextBox 6"/>
          <p:cNvSpPr txBox="1"/>
          <p:nvPr/>
        </p:nvSpPr>
        <p:spPr>
          <a:xfrm>
            <a:off x="14516100"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1</a:t>
            </a:r>
          </a:p>
        </p:txBody>
      </p:sp>
      <p:sp>
        <p:nvSpPr>
          <p:cNvPr id="8" name="Rounded Rectangle 7"/>
          <p:cNvSpPr/>
          <p:nvPr/>
        </p:nvSpPr>
        <p:spPr>
          <a:xfrm>
            <a:off x="14918436" y="1371600"/>
            <a:ext cx="329184" cy="329184"/>
          </a:xfrm>
          <a:prstGeom prst="roundRect">
            <a:avLst>
              <a:gd name="adj" fmla="val 16666"/>
            </a:avLst>
          </a:prstGeom>
          <a:solidFill>
            <a:srgbClr val="4472C4"/>
          </a:solidFill>
          <a:ln w="15875">
            <a:solidFill>
              <a:srgbClr val="4472C4"/>
            </a:solidFill>
          </a:ln>
        </p:spPr>
        <p:txBody>
          <a:bodyPr anchor="ctr" rtlCol="false" lIns="0" tIns="0" rIns="0" bIns="0" wrap="square"/>
          <a:lstStyle/>
          <a:p>
            <a:endParaRPr lang="en-US" sz="1800"/>
          </a:p>
        </p:txBody>
      </p:sp>
      <p:sp>
        <p:nvSpPr>
          <p:cNvPr id="9" name="TextBox 8"/>
          <p:cNvSpPr txBox="1"/>
          <p:nvPr/>
        </p:nvSpPr>
        <p:spPr>
          <a:xfrm>
            <a:off x="14918436"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FFFFFF"/>
                </a:solidFill>
                <a:latin typeface="Nunito Ultra-Bold"/>
                <a:ea typeface="Nunito Ultra-Bold"/>
                <a:cs typeface="Nunito Ultra-Bold"/>
                <a:sym typeface="Nunito Ultra-Bold"/>
              </a:rPr>
              <a:t>2</a:t>
            </a:r>
          </a:p>
        </p:txBody>
      </p:sp>
      <p:sp>
        <p:nvSpPr>
          <p:cNvPr id="10" name="Rounded Rectangle 9"/>
          <p:cNvSpPr/>
          <p:nvPr/>
        </p:nvSpPr>
        <p:spPr>
          <a:xfrm>
            <a:off x="15320772"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11" name="TextBox 10"/>
          <p:cNvSpPr txBox="1"/>
          <p:nvPr/>
        </p:nvSpPr>
        <p:spPr>
          <a:xfrm>
            <a:off x="15320772"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3</a:t>
            </a:r>
          </a:p>
        </p:txBody>
      </p:sp>
      <p:sp>
        <p:nvSpPr>
          <p:cNvPr id="12" name="Rounded Rectangle 11"/>
          <p:cNvSpPr/>
          <p:nvPr/>
        </p:nvSpPr>
        <p:spPr>
          <a:xfrm>
            <a:off x="15723108"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13" name="TextBox 12"/>
          <p:cNvSpPr txBox="1"/>
          <p:nvPr/>
        </p:nvSpPr>
        <p:spPr>
          <a:xfrm>
            <a:off x="15723108"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4</a:t>
            </a:r>
          </a:p>
        </p:txBody>
      </p:sp>
      <p:sp>
        <p:nvSpPr>
          <p:cNvPr id="14" name="Rounded Rectangle 13"/>
          <p:cNvSpPr/>
          <p:nvPr/>
        </p:nvSpPr>
        <p:spPr>
          <a:xfrm>
            <a:off x="16125444"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15" name="TextBox 14"/>
          <p:cNvSpPr txBox="1"/>
          <p:nvPr/>
        </p:nvSpPr>
        <p:spPr>
          <a:xfrm>
            <a:off x="16125444"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5</a:t>
            </a:r>
          </a:p>
        </p:txBody>
      </p:sp>
      <p:sp>
        <p:nvSpPr>
          <p:cNvPr id="16" name="Rounded Rectangle 15"/>
          <p:cNvSpPr/>
          <p:nvPr/>
        </p:nvSpPr>
        <p:spPr>
          <a:xfrm>
            <a:off x="16527780"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17" name="TextBox 16"/>
          <p:cNvSpPr txBox="1"/>
          <p:nvPr/>
        </p:nvSpPr>
        <p:spPr>
          <a:xfrm>
            <a:off x="16527780"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6</a:t>
            </a:r>
          </a:p>
        </p:txBody>
      </p:sp>
      <p:sp>
        <p:nvSpPr>
          <p:cNvPr id="18" name="Rounded Rectangle 17"/>
          <p:cNvSpPr/>
          <p:nvPr/>
        </p:nvSpPr>
        <p:spPr>
          <a:xfrm>
            <a:off x="16930116"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19" name="TextBox 18"/>
          <p:cNvSpPr txBox="1"/>
          <p:nvPr/>
        </p:nvSpPr>
        <p:spPr>
          <a:xfrm>
            <a:off x="16930116"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7</a:t>
            </a:r>
          </a:p>
        </p:txBody>
      </p:sp>
      <p:sp>
        <p:nvSpPr>
          <p:cNvPr id="20" name="TextBox 19"/>
          <p:cNvSpPr txBox="1"/>
          <p:nvPr/>
        </p:nvSpPr>
        <p:spPr>
          <a:xfrm>
            <a:off x="1028700" y="1719072"/>
            <a:ext cx="16230600" cy="730250"/>
          </a:xfrm>
          <a:prstGeom prst="rect">
            <a:avLst/>
          </a:prstGeom>
          <a:noFill/>
        </p:spPr>
        <p:txBody>
          <a:bodyPr anchor="t" rtlCol="false" lIns="0" tIns="0" rIns="0" bIns="0" wrap="square"/>
          <a:lstStyle/>
          <a:p>
            <a:pPr algn="l">
              <a:lnSpc>
                <a:spcPts val="5060"/>
              </a:lnSpc>
              <a:spcBef>
                <a:spcPts val="0"/>
              </a:spcBef>
              <a:buNone/>
            </a:pPr>
            <a:r>
              <a:rPr lang="en-US" sz="4600" b="true" spc="-230">
                <a:solidFill>
                  <a:srgbClr val="111111"/>
                </a:solidFill>
                <a:latin typeface="Roca Two Bold"/>
                <a:ea typeface="Roca Two Bold"/>
                <a:cs typeface="Roca Two Bold"/>
                <a:sym typeface="Roca Two Bold"/>
              </a:rPr>
              <a:t>Three Main Limitations: Problem Statement</a:t>
            </a:r>
          </a:p>
        </p:txBody>
      </p:sp>
      <p:sp>
        <p:nvSpPr>
          <p:cNvPr id="21" name="Rounded Rectangle 20"/>
          <p:cNvSpPr/>
          <p:nvPr/>
        </p:nvSpPr>
        <p:spPr>
          <a:xfrm>
            <a:off x="1028700" y="2559050"/>
            <a:ext cx="1854490" cy="420624"/>
          </a:xfrm>
          <a:prstGeom prst="roundRect">
            <a:avLst>
              <a:gd name="adj" fmla="val 50000"/>
            </a:avLst>
          </a:prstGeom>
          <a:noFill/>
          <a:ln w="28575">
            <a:solidFill>
              <a:srgbClr val="4472C4"/>
            </a:solidFill>
          </a:ln>
        </p:spPr>
        <p:txBody>
          <a:bodyPr anchor="ctr" rtlCol="false" lIns="45720" tIns="0" rIns="45720" bIns="0" wrap="square"/>
          <a:lstStyle/>
          <a:p>
            <a:pPr algn="ctr">
              <a:lnSpc>
                <a:spcPts val="2160"/>
              </a:lnSpc>
              <a:spcBef>
                <a:spcPts val="0"/>
              </a:spcBef>
              <a:buNone/>
            </a:pPr>
            <a:r>
              <a:rPr lang="en-US" sz="1800" b="true">
                <a:solidFill>
                  <a:srgbClr val="4472C4"/>
                </a:solidFill>
                <a:latin typeface="Nunito Bold"/>
                <a:ea typeface="Nunito Bold"/>
                <a:cs typeface="Nunito Bold"/>
                <a:sym typeface="Nunito Bold"/>
              </a:rPr>
              <a:t>Approaches</a:t>
            </a:r>
          </a:p>
        </p:txBody>
      </p:sp>
      <p:sp>
        <p:nvSpPr>
          <p:cNvPr id="22" name="Rounded Rectangle 21"/>
          <p:cNvSpPr/>
          <p:nvPr/>
        </p:nvSpPr>
        <p:spPr>
          <a:xfrm>
            <a:off x="3011206" y="2559050"/>
            <a:ext cx="1870972" cy="420624"/>
          </a:xfrm>
          <a:prstGeom prst="roundRect">
            <a:avLst>
              <a:gd name="adj" fmla="val 50000"/>
            </a:avLst>
          </a:prstGeom>
          <a:solidFill>
            <a:srgbClr val="4472C4"/>
          </a:solidFill>
          <a:ln>
            <a:noFill/>
          </a:ln>
        </p:spPr>
        <p:txBody>
          <a:bodyPr anchor="ctr" rtlCol="false" lIns="45720" tIns="0" rIns="45720" bIns="0" wrap="square"/>
          <a:lstStyle/>
          <a:p>
            <a:pPr algn="ctr">
              <a:lnSpc>
                <a:spcPts val="2160"/>
              </a:lnSpc>
              <a:spcBef>
                <a:spcPts val="0"/>
              </a:spcBef>
              <a:buNone/>
            </a:pPr>
            <a:r>
              <a:rPr lang="en-US" sz="1800" b="true">
                <a:solidFill>
                  <a:srgbClr val="FFFFFF"/>
                </a:solidFill>
                <a:latin typeface="Nunito Bold"/>
                <a:ea typeface="Nunito Bold"/>
                <a:cs typeface="Nunito Bold"/>
                <a:sym typeface="Nunito Bold"/>
              </a:rPr>
              <a:t>Problematic</a:t>
            </a:r>
          </a:p>
        </p:txBody>
      </p:sp>
      <p:sp>
        <p:nvSpPr>
          <p:cNvPr id="23" name="Rounded Rectangle 22"/>
          <p:cNvSpPr/>
          <p:nvPr/>
        </p:nvSpPr>
        <p:spPr>
          <a:xfrm>
            <a:off x="5010194" y="2559050"/>
            <a:ext cx="2041208" cy="420624"/>
          </a:xfrm>
          <a:prstGeom prst="roundRect">
            <a:avLst>
              <a:gd name="adj" fmla="val 50000"/>
            </a:avLst>
          </a:prstGeom>
          <a:noFill/>
          <a:ln w="28575">
            <a:solidFill>
              <a:srgbClr val="4472C4"/>
            </a:solidFill>
          </a:ln>
        </p:spPr>
        <p:txBody>
          <a:bodyPr anchor="ctr" rtlCol="false" lIns="45720" tIns="0" rIns="45720" bIns="0" wrap="square"/>
          <a:lstStyle/>
          <a:p>
            <a:pPr algn="ctr">
              <a:lnSpc>
                <a:spcPts val="2160"/>
              </a:lnSpc>
              <a:spcBef>
                <a:spcPts val="0"/>
              </a:spcBef>
              <a:buNone/>
            </a:pPr>
            <a:r>
              <a:rPr lang="en-US" sz="1800" b="true">
                <a:solidFill>
                  <a:srgbClr val="4472C4"/>
                </a:solidFill>
                <a:latin typeface="Nunito Bold"/>
                <a:ea typeface="Nunito Bold"/>
                <a:cs typeface="Nunito Bold"/>
                <a:sym typeface="Nunito Bold"/>
              </a:rPr>
              <a:t>Contributions</a:t>
            </a:r>
          </a:p>
        </p:txBody>
      </p:sp>
      <p:sp>
        <p:nvSpPr>
          <p:cNvPr id="24" name="Rounded Rectangle 23"/>
          <p:cNvSpPr/>
          <p:nvPr/>
        </p:nvSpPr>
        <p:spPr>
          <a:xfrm>
            <a:off x="1028700" y="3455162"/>
            <a:ext cx="5196840" cy="3566160"/>
          </a:xfrm>
          <a:prstGeom prst="roundRect">
            <a:avLst>
              <a:gd name="adj" fmla="val 8205"/>
            </a:avLst>
          </a:prstGeom>
          <a:solidFill>
            <a:srgbClr val="4472C4"/>
          </a:solidFill>
          <a:ln>
            <a:noFill/>
          </a:ln>
        </p:spPr>
        <p:txBody>
          <a:bodyPr anchor="ctr" rtlCol="false" lIns="0" tIns="0" rIns="0" bIns="0" wrap="square"/>
          <a:lstStyle/>
          <a:p>
            <a:endParaRPr lang="en-US" sz="1800"/>
          </a:p>
        </p:txBody>
      </p:sp>
      <p:sp>
        <p:nvSpPr>
          <p:cNvPr id="25" name="Oval 24"/>
          <p:cNvSpPr/>
          <p:nvPr/>
        </p:nvSpPr>
        <p:spPr>
          <a:xfrm>
            <a:off x="1348740" y="3775202"/>
            <a:ext cx="685800" cy="685800"/>
          </a:xfrm>
          <a:prstGeom prst="ellipse">
            <a:avLst/>
          </a:prstGeom>
          <a:solidFill>
            <a:srgbClr val="ECC665"/>
          </a:solidFill>
          <a:ln>
            <a:noFill/>
          </a:ln>
        </p:spPr>
        <p:txBody>
          <a:bodyPr anchor="ctr" rtlCol="false" lIns="0" tIns="0" rIns="0" bIns="0" wrap="square"/>
          <a:lstStyle/>
          <a:p>
            <a:pPr algn="ctr">
              <a:lnSpc>
                <a:spcPts val="2640"/>
              </a:lnSpc>
              <a:spcBef>
                <a:spcPts val="0"/>
              </a:spcBef>
              <a:buNone/>
            </a:pPr>
            <a:r>
              <a:rPr lang="en-US" sz="2400" b="true">
                <a:solidFill>
                  <a:srgbClr val="111111"/>
                </a:solidFill>
                <a:latin typeface="Nunito Ultra-Bold"/>
                <a:ea typeface="Nunito Ultra-Bold"/>
                <a:cs typeface="Nunito Ultra-Bold"/>
                <a:sym typeface="Nunito Ultra-Bold"/>
              </a:rPr>
              <a:t>1</a:t>
            </a:r>
          </a:p>
        </p:txBody>
      </p:sp>
      <p:sp>
        <p:nvSpPr>
          <p:cNvPr id="26" name="TextBox 25"/>
          <p:cNvSpPr txBox="1"/>
          <p:nvPr/>
        </p:nvSpPr>
        <p:spPr>
          <a:xfrm>
            <a:off x="1348740" y="4643882"/>
            <a:ext cx="4556760" cy="2194560"/>
          </a:xfrm>
          <a:prstGeom prst="rect">
            <a:avLst/>
          </a:prstGeom>
          <a:noFill/>
        </p:spPr>
        <p:txBody>
          <a:bodyPr anchor="t" rtlCol="false" lIns="0" tIns="0" rIns="0" bIns="0" wrap="square"/>
          <a:lstStyle/>
          <a:p>
            <a:pPr algn="l">
              <a:lnSpc>
                <a:spcPts val="3000"/>
              </a:lnSpc>
              <a:spcBef>
                <a:spcPts val="0"/>
              </a:spcBef>
              <a:buNone/>
            </a:pPr>
            <a:r>
              <a:rPr lang="en-US" sz="2400" b="true">
                <a:solidFill>
                  <a:srgbClr val="FFFFFF"/>
                </a:solidFill>
                <a:latin typeface="Nunito Ultra-Bold"/>
                <a:ea typeface="Nunito Ultra-Bold"/>
                <a:cs typeface="Nunito Ultra-Bold"/>
                <a:sym typeface="Nunito Ultra-Bold"/>
              </a:rPr>
              <a:t>Lack of explainability</a:t>
            </a:r>
          </a:p>
          <a:p>
            <a:pPr algn="l">
              <a:lnSpc>
                <a:spcPts val="2660"/>
              </a:lnSpc>
              <a:spcBef>
                <a:spcPts val="800"/>
              </a:spcBef>
              <a:buNone/>
            </a:pPr>
            <a:r>
              <a:rPr lang="en-US" sz="1900" b="true">
                <a:solidFill>
                  <a:srgbClr val="F1EDE6"/>
                </a:solidFill>
                <a:latin typeface="Nunito Semi-Bold"/>
                <a:ea typeface="Nunito Semi-Bold"/>
                <a:cs typeface="Nunito Semi-Bold"/>
                <a:sym typeface="Nunito Semi-Bold"/>
              </a:rPr>
              <a:t>Complex models are still hard to explain in a way that is </a:t>
            </a:r>
            <a:r>
              <a:rPr lang="en-US" sz="1900" b="true">
                <a:solidFill>
                  <a:srgbClr val="F1EDE6"/>
                </a:solidFill>
                <a:latin typeface="Nunito Bold"/>
                <a:ea typeface="Nunito Bold"/>
                <a:cs typeface="Nunito Bold"/>
                <a:sym typeface="Nunito Bold"/>
              </a:rPr>
              <a:t>faithful and actionable</a:t>
            </a:r>
            <a:r>
              <a:rPr lang="en-US" sz="1900" b="true">
                <a:solidFill>
                  <a:srgbClr val="F1EDE6"/>
                </a:solidFill>
                <a:latin typeface="Nunito Semi-Bold"/>
                <a:ea typeface="Nunito Semi-Bold"/>
                <a:cs typeface="Nunito Semi-Bold"/>
                <a:sym typeface="Nunito Semi-Bold"/>
              </a:rPr>
              <a:t>.</a:t>
            </a:r>
          </a:p>
        </p:txBody>
      </p:sp>
      <p:sp>
        <p:nvSpPr>
          <p:cNvPr id="27" name="Rounded Rectangle 26"/>
          <p:cNvSpPr/>
          <p:nvPr/>
        </p:nvSpPr>
        <p:spPr>
          <a:xfrm>
            <a:off x="6545580" y="3455162"/>
            <a:ext cx="5196840" cy="3566160"/>
          </a:xfrm>
          <a:prstGeom prst="roundRect">
            <a:avLst>
              <a:gd name="adj" fmla="val 8205"/>
            </a:avLst>
          </a:prstGeom>
          <a:solidFill>
            <a:srgbClr val="4472C4"/>
          </a:solidFill>
          <a:ln>
            <a:noFill/>
          </a:ln>
        </p:spPr>
        <p:txBody>
          <a:bodyPr anchor="ctr" rtlCol="false" lIns="0" tIns="0" rIns="0" bIns="0" wrap="square"/>
          <a:lstStyle/>
          <a:p>
            <a:endParaRPr lang="en-US" sz="1800"/>
          </a:p>
        </p:txBody>
      </p:sp>
      <p:sp>
        <p:nvSpPr>
          <p:cNvPr id="28" name="Oval 27"/>
          <p:cNvSpPr/>
          <p:nvPr/>
        </p:nvSpPr>
        <p:spPr>
          <a:xfrm>
            <a:off x="6865620" y="3775202"/>
            <a:ext cx="685800" cy="685800"/>
          </a:xfrm>
          <a:prstGeom prst="ellipse">
            <a:avLst/>
          </a:prstGeom>
          <a:solidFill>
            <a:srgbClr val="ECC665"/>
          </a:solidFill>
          <a:ln>
            <a:noFill/>
          </a:ln>
        </p:spPr>
        <p:txBody>
          <a:bodyPr anchor="ctr" rtlCol="false" lIns="0" tIns="0" rIns="0" bIns="0" wrap="square"/>
          <a:lstStyle/>
          <a:p>
            <a:pPr algn="ctr">
              <a:lnSpc>
                <a:spcPts val="2640"/>
              </a:lnSpc>
              <a:spcBef>
                <a:spcPts val="0"/>
              </a:spcBef>
              <a:buNone/>
            </a:pPr>
            <a:r>
              <a:rPr lang="en-US" sz="2400" b="true">
                <a:solidFill>
                  <a:srgbClr val="111111"/>
                </a:solidFill>
                <a:latin typeface="Nunito Ultra-Bold"/>
                <a:ea typeface="Nunito Ultra-Bold"/>
                <a:cs typeface="Nunito Ultra-Bold"/>
                <a:sym typeface="Nunito Ultra-Bold"/>
              </a:rPr>
              <a:t>2</a:t>
            </a:r>
          </a:p>
        </p:txBody>
      </p:sp>
      <p:sp>
        <p:nvSpPr>
          <p:cNvPr id="29" name="TextBox 28"/>
          <p:cNvSpPr txBox="1"/>
          <p:nvPr/>
        </p:nvSpPr>
        <p:spPr>
          <a:xfrm>
            <a:off x="6865620" y="4643882"/>
            <a:ext cx="4556760" cy="2194560"/>
          </a:xfrm>
          <a:prstGeom prst="rect">
            <a:avLst/>
          </a:prstGeom>
          <a:noFill/>
        </p:spPr>
        <p:txBody>
          <a:bodyPr anchor="t" rtlCol="false" lIns="0" tIns="0" rIns="0" bIns="0" wrap="square"/>
          <a:lstStyle/>
          <a:p>
            <a:pPr algn="l">
              <a:lnSpc>
                <a:spcPts val="2820"/>
              </a:lnSpc>
              <a:spcBef>
                <a:spcPts val="0"/>
              </a:spcBef>
              <a:buNone/>
            </a:pPr>
            <a:r>
              <a:rPr lang="en-US" sz="2256" b="true">
                <a:solidFill>
                  <a:srgbClr val="FFFFFF"/>
                </a:solidFill>
                <a:latin typeface="Nunito Ultra-Bold"/>
                <a:ea typeface="Nunito Ultra-Bold"/>
                <a:cs typeface="Nunito Ultra-Bold"/>
                <a:sym typeface="Nunito Ultra-Bold"/>
              </a:rPr>
              <a:t>Difficulty of scaling</a:t>
            </a:r>
          </a:p>
          <a:p>
            <a:pPr algn="l">
              <a:lnSpc>
                <a:spcPts val="2500"/>
              </a:lnSpc>
              <a:spcBef>
                <a:spcPts val="752"/>
              </a:spcBef>
              <a:buNone/>
            </a:pPr>
            <a:r>
              <a:rPr lang="en-US" sz="1786" b="true">
                <a:solidFill>
                  <a:srgbClr val="F1EDE6"/>
                </a:solidFill>
                <a:latin typeface="Nunito Semi-Bold"/>
                <a:ea typeface="Nunito Semi-Bold"/>
                <a:cs typeface="Nunito Semi-Bold"/>
                <a:sym typeface="Nunito Semi-Bold"/>
              </a:rPr>
              <a:t>Local explanations do not carry over to </a:t>
            </a:r>
            <a:r>
              <a:rPr lang="en-US" sz="1786" b="true">
                <a:solidFill>
                  <a:srgbClr val="F1EDE6"/>
                </a:solidFill>
                <a:latin typeface="Nunito Bold"/>
                <a:ea typeface="Nunito Bold"/>
                <a:cs typeface="Nunito Bold"/>
                <a:sym typeface="Nunito Bold"/>
              </a:rPr>
              <a:t>multi-level structures or large datasets</a:t>
            </a:r>
            <a:r>
              <a:rPr lang="en-US" sz="1786" b="true">
                <a:solidFill>
                  <a:srgbClr val="F1EDE6"/>
                </a:solidFill>
                <a:latin typeface="Nunito Semi-Bold"/>
                <a:ea typeface="Nunito Semi-Bold"/>
                <a:cs typeface="Nunito Semi-Bold"/>
                <a:sym typeface="Nunito Semi-Bold"/>
              </a:rPr>
              <a:t>: a method that works on a toy partition may break on hundreds of thousands of nested records.</a:t>
            </a:r>
          </a:p>
        </p:txBody>
      </p:sp>
      <p:sp>
        <p:nvSpPr>
          <p:cNvPr id="30" name="Rounded Rectangle 29"/>
          <p:cNvSpPr/>
          <p:nvPr/>
        </p:nvSpPr>
        <p:spPr>
          <a:xfrm>
            <a:off x="12062460" y="3455162"/>
            <a:ext cx="5196840" cy="3566160"/>
          </a:xfrm>
          <a:prstGeom prst="roundRect">
            <a:avLst>
              <a:gd name="adj" fmla="val 8205"/>
            </a:avLst>
          </a:prstGeom>
          <a:solidFill>
            <a:srgbClr val="4472C4"/>
          </a:solidFill>
          <a:ln>
            <a:noFill/>
          </a:ln>
        </p:spPr>
        <p:txBody>
          <a:bodyPr anchor="ctr" rtlCol="false" lIns="0" tIns="0" rIns="0" bIns="0" wrap="square"/>
          <a:lstStyle/>
          <a:p>
            <a:endParaRPr lang="en-US" sz="1800"/>
          </a:p>
        </p:txBody>
      </p:sp>
      <p:sp>
        <p:nvSpPr>
          <p:cNvPr id="31" name="Oval 30"/>
          <p:cNvSpPr/>
          <p:nvPr/>
        </p:nvSpPr>
        <p:spPr>
          <a:xfrm>
            <a:off x="12382500" y="3775202"/>
            <a:ext cx="685800" cy="685800"/>
          </a:xfrm>
          <a:prstGeom prst="ellipse">
            <a:avLst/>
          </a:prstGeom>
          <a:solidFill>
            <a:srgbClr val="ECC665"/>
          </a:solidFill>
          <a:ln>
            <a:noFill/>
          </a:ln>
        </p:spPr>
        <p:txBody>
          <a:bodyPr anchor="ctr" rtlCol="false" lIns="0" tIns="0" rIns="0" bIns="0" wrap="square"/>
          <a:lstStyle/>
          <a:p>
            <a:pPr algn="ctr">
              <a:lnSpc>
                <a:spcPts val="2640"/>
              </a:lnSpc>
              <a:spcBef>
                <a:spcPts val="0"/>
              </a:spcBef>
              <a:buNone/>
            </a:pPr>
            <a:r>
              <a:rPr lang="en-US" sz="2400" b="true">
                <a:solidFill>
                  <a:srgbClr val="111111"/>
                </a:solidFill>
                <a:latin typeface="Nunito Ultra-Bold"/>
                <a:ea typeface="Nunito Ultra-Bold"/>
                <a:cs typeface="Nunito Ultra-Bold"/>
                <a:sym typeface="Nunito Ultra-Bold"/>
              </a:rPr>
              <a:t>3</a:t>
            </a:r>
          </a:p>
        </p:txBody>
      </p:sp>
      <p:sp>
        <p:nvSpPr>
          <p:cNvPr id="32" name="TextBox 31"/>
          <p:cNvSpPr txBox="1"/>
          <p:nvPr/>
        </p:nvSpPr>
        <p:spPr>
          <a:xfrm>
            <a:off x="12382500" y="4643882"/>
            <a:ext cx="4556760" cy="2194560"/>
          </a:xfrm>
          <a:prstGeom prst="rect">
            <a:avLst/>
          </a:prstGeom>
          <a:noFill/>
        </p:spPr>
        <p:txBody>
          <a:bodyPr anchor="t" rtlCol="false" lIns="0" tIns="0" rIns="0" bIns="0" wrap="square"/>
          <a:lstStyle/>
          <a:p>
            <a:pPr algn="l">
              <a:lnSpc>
                <a:spcPts val="2910"/>
              </a:lnSpc>
              <a:spcBef>
                <a:spcPts val="0"/>
              </a:spcBef>
              <a:buNone/>
            </a:pPr>
            <a:r>
              <a:rPr lang="en-US" sz="2328" b="true">
                <a:solidFill>
                  <a:srgbClr val="FFFFFF"/>
                </a:solidFill>
                <a:latin typeface="Nunito Ultra-Bold"/>
                <a:ea typeface="Nunito Ultra-Bold"/>
                <a:cs typeface="Nunito Ultra-Bold"/>
                <a:sym typeface="Nunito Ultra-Bold"/>
              </a:rPr>
              <a:t>Weak integration into learning</a:t>
            </a:r>
          </a:p>
          <a:p>
            <a:pPr algn="l">
              <a:lnSpc>
                <a:spcPts val="2580"/>
              </a:lnSpc>
              <a:spcBef>
                <a:spcPts val="776"/>
              </a:spcBef>
              <a:buNone/>
            </a:pPr>
            <a:r>
              <a:rPr lang="en-US" sz="1843" b="true">
                <a:solidFill>
                  <a:srgbClr val="F1EDE6"/>
                </a:solidFill>
                <a:latin typeface="Nunito Semi-Bold"/>
                <a:ea typeface="Nunito Semi-Bold"/>
                <a:cs typeface="Nunito Semi-Bold"/>
                <a:sym typeface="Nunito Semi-Bold"/>
              </a:rPr>
              <a:t>Most explanations stay </a:t>
            </a:r>
            <a:r>
              <a:rPr lang="en-US" sz="1843" b="true">
                <a:solidFill>
                  <a:srgbClr val="F1EDE6"/>
                </a:solidFill>
                <a:latin typeface="Nunito Bold"/>
                <a:ea typeface="Nunito Bold"/>
                <a:cs typeface="Nunito Bold"/>
                <a:sym typeface="Nunito Bold"/>
              </a:rPr>
              <a:t>post-hoc</a:t>
            </a:r>
            <a:r>
              <a:rPr lang="en-US" sz="1843" b="true">
                <a:solidFill>
                  <a:srgbClr val="F1EDE6"/>
                </a:solidFill>
                <a:latin typeface="Nunito Semi-Bold"/>
                <a:ea typeface="Nunito Semi-Bold"/>
                <a:cs typeface="Nunito Semi-Bold"/>
                <a:sym typeface="Nunito Semi-Bold"/>
              </a:rPr>
              <a:t>: they do not shape how the model learns, nor the </a:t>
            </a:r>
            <a:r>
              <a:rPr lang="en-US" sz="1843" b="true">
                <a:solidFill>
                  <a:srgbClr val="F1EDE6"/>
                </a:solidFill>
                <a:latin typeface="Nunito Bold"/>
                <a:ea typeface="Nunito Bold"/>
                <a:cs typeface="Nunito Bold"/>
                <a:sym typeface="Nunito Bold"/>
              </a:rPr>
              <a:t>accuracy / diversity / context trade-off</a:t>
            </a:r>
            <a:r>
              <a:rPr lang="en-US" sz="1843" b="true">
                <a:solidFill>
                  <a:srgbClr val="F1EDE6"/>
                </a:solidFill>
                <a:latin typeface="Nunito Semi-Bold"/>
                <a:ea typeface="Nunito Semi-Bold"/>
                <a:cs typeface="Nunito Semi-Bold"/>
                <a:sym typeface="Nunito Semi-Bold"/>
              </a:rPr>
              <a:t>.</a:t>
            </a:r>
          </a:p>
        </p:txBody>
      </p:sp>
      <p:sp>
        <p:nvSpPr>
          <p:cNvPr id="33" name="Rounded Rectangle 32"/>
          <p:cNvSpPr/>
          <p:nvPr/>
        </p:nvSpPr>
        <p:spPr>
          <a:xfrm>
            <a:off x="1028700" y="7387082"/>
            <a:ext cx="16230600" cy="1967230"/>
          </a:xfrm>
          <a:prstGeom prst="roundRect">
            <a:avLst>
              <a:gd name="adj" fmla="val 13944"/>
            </a:avLst>
          </a:prstGeom>
          <a:noFill/>
          <a:ln w="31750">
            <a:solidFill>
              <a:srgbClr val="1F7A8C"/>
            </a:solidFill>
          </a:ln>
        </p:spPr>
        <p:txBody>
          <a:bodyPr anchor="ctr" rtlCol="false" lIns="0" tIns="0" rIns="0" bIns="0" wrap="square"/>
          <a:lstStyle/>
          <a:p>
            <a:endParaRPr lang="en-US" sz="1800"/>
          </a:p>
        </p:txBody>
      </p:sp>
      <p:sp>
        <p:nvSpPr>
          <p:cNvPr id="34" name="TextBox 33"/>
          <p:cNvSpPr txBox="1"/>
          <p:nvPr/>
        </p:nvSpPr>
        <p:spPr>
          <a:xfrm>
            <a:off x="1485900" y="7615682"/>
            <a:ext cx="15316200" cy="1510030"/>
          </a:xfrm>
          <a:prstGeom prst="rect">
            <a:avLst/>
          </a:prstGeom>
          <a:noFill/>
        </p:spPr>
        <p:txBody>
          <a:bodyPr anchor="ctr" rtlCol="false" lIns="0" tIns="0" rIns="0" bIns="0" wrap="square"/>
          <a:lstStyle/>
          <a:p>
            <a:pPr algn="l">
              <a:lnSpc>
                <a:spcPts val="1800"/>
              </a:lnSpc>
              <a:spcBef>
                <a:spcPts val="0"/>
              </a:spcBef>
              <a:buNone/>
            </a:pPr>
            <a:r>
              <a:rPr lang="en-US" sz="1400" b="true" spc="180">
                <a:solidFill>
                  <a:srgbClr val="1F7A8C"/>
                </a:solidFill>
                <a:latin typeface="Nunito Ultra-Bold"/>
                <a:ea typeface="Nunito Ultra-Bold"/>
                <a:cs typeface="Nunito Ultra-Bold"/>
                <a:sym typeface="Nunito Ultra-Bold"/>
              </a:rPr>
              <a:t>THESIS GAP</a:t>
            </a:r>
          </a:p>
          <a:p>
            <a:pPr algn="l">
              <a:lnSpc>
                <a:spcPts val="2940"/>
              </a:lnSpc>
              <a:spcBef>
                <a:spcPts val="600"/>
              </a:spcBef>
              <a:buNone/>
            </a:pPr>
            <a:r>
              <a:rPr lang="en-US" sz="2100" b="true">
                <a:solidFill>
                  <a:srgbClr val="111111"/>
                </a:solidFill>
                <a:latin typeface="Nunito Semi-Bold"/>
                <a:ea typeface="Nunito Semi-Bold"/>
                <a:cs typeface="Nunito Semi-Bold"/>
                <a:sym typeface="Nunito Semi-Bold"/>
              </a:rPr>
              <a:t>The literature still lacks </a:t>
            </a:r>
            <a:r>
              <a:rPr lang="en-US" sz="2100" b="true">
                <a:solidFill>
                  <a:srgbClr val="111111"/>
                </a:solidFill>
                <a:latin typeface="Nunito Bold"/>
                <a:ea typeface="Nunito Bold"/>
                <a:cs typeface="Nunito Bold"/>
                <a:sym typeface="Nunito Bold"/>
              </a:rPr>
              <a:t>one cooperative-attribution framework</a:t>
            </a:r>
            <a:r>
              <a:rPr lang="en-US" sz="2100" b="true">
                <a:solidFill>
                  <a:srgbClr val="111111"/>
                </a:solidFill>
                <a:latin typeface="Nunito Semi-Bold"/>
                <a:ea typeface="Nunito Semi-Bold"/>
                <a:cs typeface="Nunito Semi-Bold"/>
                <a:sym typeface="Nunito Semi-Bold"/>
              </a:rPr>
              <a:t> that explains clustering faithfully, stays consistent across levels, and then works as an </a:t>
            </a:r>
            <a:r>
              <a:rPr lang="en-US" sz="2100" b="true">
                <a:solidFill>
                  <a:srgbClr val="111111"/>
                </a:solidFill>
                <a:latin typeface="Nunito Bold"/>
                <a:ea typeface="Nunito Bold"/>
                <a:cs typeface="Nunito Bold"/>
                <a:sym typeface="Nunito Bold"/>
              </a:rPr>
              <a:t>in-training signal</a:t>
            </a:r>
            <a:r>
              <a:rPr lang="en-US" sz="2100" b="true">
                <a:solidFill>
                  <a:srgbClr val="111111"/>
                </a:solidFill>
                <a:latin typeface="Nunito Semi-Bold"/>
                <a:ea typeface="Nunito Semi-Bold"/>
                <a:cs typeface="Nunito Semi-Bold"/>
                <a:sym typeface="Nunito Semi-Bold"/>
              </a:rPr>
              <a:t> in recommendation. </a:t>
            </a:r>
            <a:r>
              <a:rPr lang="en-US" sz="2100" b="true">
                <a:solidFill>
                  <a:srgbClr val="111111"/>
                </a:solidFill>
                <a:latin typeface="Nunito Bold"/>
                <a:ea typeface="Nunito Bold"/>
                <a:cs typeface="Nunito Bold"/>
                <a:sym typeface="Nunito Bold"/>
              </a:rPr>
              <a:t>Claim:</a:t>
            </a:r>
            <a:r>
              <a:rPr lang="en-US" sz="2100" b="true">
                <a:solidFill>
                  <a:srgbClr val="111111"/>
                </a:solidFill>
                <a:latin typeface="Nunito Semi-Bold"/>
                <a:ea typeface="Nunito Semi-Bold"/>
                <a:cs typeface="Nunito Semi-Bold"/>
                <a:sym typeface="Nunito Semi-Bold"/>
              </a:rPr>
              <a:t> Shapley-value attribution can be that framework.</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pic>
        <p:nvPicPr>
          <p:cNvPr id="2" name="Picture 1" descr="ensias_logo.jpg"/>
          <p:cNvPicPr>
            <a:picLocks noChangeAspect="1"/>
          </p:cNvPicPr>
          <p:nvPr/>
        </p:nvPicPr>
        <p:blipFill>
          <a:blip r:embed="rId2"/>
          <a:stretch>
            <a:fillRect/>
          </a:stretch>
        </p:blipFill>
        <p:spPr>
          <a:xfrm>
            <a:off x="1028700" y="9674352"/>
            <a:ext cx="542964" cy="384048"/>
          </a:xfrm>
          <a:prstGeom prst="rect">
            <a:avLst/>
          </a:prstGeom>
        </p:spPr>
      </p:pic>
      <p:sp>
        <p:nvSpPr>
          <p:cNvPr id="3" name="TextBox 2"/>
          <p:cNvSpPr txBox="1"/>
          <p:nvPr/>
        </p:nvSpPr>
        <p:spPr>
          <a:xfrm>
            <a:off x="1577340" y="9747504"/>
            <a:ext cx="12801600" cy="274320"/>
          </a:xfrm>
          <a:prstGeom prst="rect">
            <a:avLst/>
          </a:prstGeom>
          <a:noFill/>
        </p:spPr>
        <p:txBody>
          <a:bodyPr anchor="t" rtlCol="false" lIns="0" tIns="0" rIns="0" bIns="0" wrap="square"/>
          <a:lstStyle/>
          <a:p>
            <a:pPr algn="l">
              <a:lnSpc>
                <a:spcPts val="1600"/>
              </a:lnSpc>
              <a:spcBef>
                <a:spcPts val="0"/>
              </a:spcBef>
              <a:buNone/>
            </a:pPr>
            <a:r>
              <a:rPr lang="en-US" sz="1300" b="true">
                <a:solidFill>
                  <a:srgbClr val="8A8378"/>
                </a:solidFill>
                <a:latin typeface="Nunito Bold"/>
                <a:ea typeface="Nunito Bold"/>
                <a:cs typeface="Nunito Bold"/>
                <a:sym typeface="Nunito Bold"/>
              </a:rPr>
              <a:t>Cooperative Game Theory for Explainable AI in Recommendation Systems  ·  A Shapley Framework for Actionable Insight</a:t>
            </a:r>
          </a:p>
        </p:txBody>
      </p:sp>
      <p:sp>
        <p:nvSpPr>
          <p:cNvPr id="4" name="TextBox 3"/>
          <p:cNvSpPr txBox="1"/>
          <p:nvPr/>
        </p:nvSpPr>
        <p:spPr>
          <a:xfrm>
            <a:off x="16162020" y="9692640"/>
            <a:ext cx="1097280" cy="329184"/>
          </a:xfrm>
          <a:prstGeom prst="rect">
            <a:avLst/>
          </a:prstGeom>
          <a:noFill/>
        </p:spPr>
        <p:txBody>
          <a:bodyPr anchor="t" rtlCol="false" lIns="0" tIns="0" rIns="0" bIns="0" wrap="square"/>
          <a:lstStyle/>
          <a:p>
            <a:pPr algn="r">
              <a:lnSpc>
                <a:spcPts val="2200"/>
              </a:lnSpc>
              <a:spcBef>
                <a:spcPts val="0"/>
              </a:spcBef>
              <a:buNone/>
            </a:pPr>
            <a:r>
              <a:rPr lang="en-US" sz="1800" b="true">
                <a:solidFill>
                  <a:srgbClr val="111111"/>
                </a:solidFill>
                <a:latin typeface="Nunito Ultra-Bold"/>
                <a:ea typeface="Nunito Ultra-Bold"/>
                <a:cs typeface="Nunito Ultra-Bold"/>
                <a:sym typeface="Nunito Ultra-Bold"/>
              </a:rPr>
              <a:t>15</a:t>
            </a:r>
          </a:p>
        </p:txBody>
      </p:sp>
      <p:sp>
        <p:nvSpPr>
          <p:cNvPr id="5" name="TextBox 4"/>
          <p:cNvSpPr txBox="1"/>
          <p:nvPr/>
        </p:nvSpPr>
        <p:spPr>
          <a:xfrm>
            <a:off x="1028700" y="1389888"/>
            <a:ext cx="12938760" cy="329184"/>
          </a:xfrm>
          <a:prstGeom prst="rect">
            <a:avLst/>
          </a:prstGeom>
          <a:noFill/>
        </p:spPr>
        <p:txBody>
          <a:bodyPr anchor="t" rtlCol="false" lIns="0" tIns="0" rIns="0" bIns="0" wrap="square"/>
          <a:lstStyle/>
          <a:p>
            <a:pPr algn="l">
              <a:lnSpc>
                <a:spcPts val="2000"/>
              </a:lnSpc>
              <a:spcBef>
                <a:spcPts val="0"/>
              </a:spcBef>
              <a:buNone/>
            </a:pPr>
            <a:r>
              <a:rPr lang="en-US" sz="1500" b="true" spc="160">
                <a:solidFill>
                  <a:srgbClr val="1F7A8C"/>
                </a:solidFill>
                <a:latin typeface="Nunito Ultra-Bold"/>
                <a:ea typeface="Nunito Ultra-Bold"/>
                <a:cs typeface="Nunito Ultra-Bold"/>
                <a:sym typeface="Nunito Ultra-Bold"/>
              </a:rPr>
              <a:t>CONTEXT &amp; PROBLEMATIC</a:t>
            </a:r>
          </a:p>
        </p:txBody>
      </p:sp>
      <p:sp>
        <p:nvSpPr>
          <p:cNvPr id="6" name="Rounded Rectangle 5"/>
          <p:cNvSpPr/>
          <p:nvPr/>
        </p:nvSpPr>
        <p:spPr>
          <a:xfrm>
            <a:off x="14516100"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7" name="TextBox 6"/>
          <p:cNvSpPr txBox="1"/>
          <p:nvPr/>
        </p:nvSpPr>
        <p:spPr>
          <a:xfrm>
            <a:off x="14516100"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1</a:t>
            </a:r>
          </a:p>
        </p:txBody>
      </p:sp>
      <p:sp>
        <p:nvSpPr>
          <p:cNvPr id="8" name="Rounded Rectangle 7"/>
          <p:cNvSpPr/>
          <p:nvPr/>
        </p:nvSpPr>
        <p:spPr>
          <a:xfrm>
            <a:off x="14918436" y="1371600"/>
            <a:ext cx="329184" cy="329184"/>
          </a:xfrm>
          <a:prstGeom prst="roundRect">
            <a:avLst>
              <a:gd name="adj" fmla="val 16666"/>
            </a:avLst>
          </a:prstGeom>
          <a:solidFill>
            <a:srgbClr val="4472C4"/>
          </a:solidFill>
          <a:ln w="15875">
            <a:solidFill>
              <a:srgbClr val="4472C4"/>
            </a:solidFill>
          </a:ln>
        </p:spPr>
        <p:txBody>
          <a:bodyPr anchor="ctr" rtlCol="false" lIns="0" tIns="0" rIns="0" bIns="0" wrap="square"/>
          <a:lstStyle/>
          <a:p>
            <a:endParaRPr lang="en-US" sz="1800"/>
          </a:p>
        </p:txBody>
      </p:sp>
      <p:sp>
        <p:nvSpPr>
          <p:cNvPr id="9" name="TextBox 8"/>
          <p:cNvSpPr txBox="1"/>
          <p:nvPr/>
        </p:nvSpPr>
        <p:spPr>
          <a:xfrm>
            <a:off x="14918436"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FFFFFF"/>
                </a:solidFill>
                <a:latin typeface="Nunito Ultra-Bold"/>
                <a:ea typeface="Nunito Ultra-Bold"/>
                <a:cs typeface="Nunito Ultra-Bold"/>
                <a:sym typeface="Nunito Ultra-Bold"/>
              </a:rPr>
              <a:t>2</a:t>
            </a:r>
          </a:p>
        </p:txBody>
      </p:sp>
      <p:sp>
        <p:nvSpPr>
          <p:cNvPr id="10" name="Rounded Rectangle 9"/>
          <p:cNvSpPr/>
          <p:nvPr/>
        </p:nvSpPr>
        <p:spPr>
          <a:xfrm>
            <a:off x="15320772"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11" name="TextBox 10"/>
          <p:cNvSpPr txBox="1"/>
          <p:nvPr/>
        </p:nvSpPr>
        <p:spPr>
          <a:xfrm>
            <a:off x="15320772"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3</a:t>
            </a:r>
          </a:p>
        </p:txBody>
      </p:sp>
      <p:sp>
        <p:nvSpPr>
          <p:cNvPr id="12" name="Rounded Rectangle 11"/>
          <p:cNvSpPr/>
          <p:nvPr/>
        </p:nvSpPr>
        <p:spPr>
          <a:xfrm>
            <a:off x="15723108"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13" name="TextBox 12"/>
          <p:cNvSpPr txBox="1"/>
          <p:nvPr/>
        </p:nvSpPr>
        <p:spPr>
          <a:xfrm>
            <a:off x="15723108"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4</a:t>
            </a:r>
          </a:p>
        </p:txBody>
      </p:sp>
      <p:sp>
        <p:nvSpPr>
          <p:cNvPr id="14" name="Rounded Rectangle 13"/>
          <p:cNvSpPr/>
          <p:nvPr/>
        </p:nvSpPr>
        <p:spPr>
          <a:xfrm>
            <a:off x="16125444"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15" name="TextBox 14"/>
          <p:cNvSpPr txBox="1"/>
          <p:nvPr/>
        </p:nvSpPr>
        <p:spPr>
          <a:xfrm>
            <a:off x="16125444"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5</a:t>
            </a:r>
          </a:p>
        </p:txBody>
      </p:sp>
      <p:sp>
        <p:nvSpPr>
          <p:cNvPr id="16" name="Rounded Rectangle 15"/>
          <p:cNvSpPr/>
          <p:nvPr/>
        </p:nvSpPr>
        <p:spPr>
          <a:xfrm>
            <a:off x="16527780"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17" name="TextBox 16"/>
          <p:cNvSpPr txBox="1"/>
          <p:nvPr/>
        </p:nvSpPr>
        <p:spPr>
          <a:xfrm>
            <a:off x="16527780"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6</a:t>
            </a:r>
          </a:p>
        </p:txBody>
      </p:sp>
      <p:sp>
        <p:nvSpPr>
          <p:cNvPr id="18" name="Rounded Rectangle 17"/>
          <p:cNvSpPr/>
          <p:nvPr/>
        </p:nvSpPr>
        <p:spPr>
          <a:xfrm>
            <a:off x="16930116"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19" name="TextBox 18"/>
          <p:cNvSpPr txBox="1"/>
          <p:nvPr/>
        </p:nvSpPr>
        <p:spPr>
          <a:xfrm>
            <a:off x="16930116"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7</a:t>
            </a:r>
          </a:p>
        </p:txBody>
      </p:sp>
      <p:sp>
        <p:nvSpPr>
          <p:cNvPr id="20" name="TextBox 19"/>
          <p:cNvSpPr txBox="1"/>
          <p:nvPr/>
        </p:nvSpPr>
        <p:spPr>
          <a:xfrm>
            <a:off x="1028700" y="1719072"/>
            <a:ext cx="16230600" cy="730250"/>
          </a:xfrm>
          <a:prstGeom prst="rect">
            <a:avLst/>
          </a:prstGeom>
          <a:noFill/>
        </p:spPr>
        <p:txBody>
          <a:bodyPr anchor="t" rtlCol="false" lIns="0" tIns="0" rIns="0" bIns="0" wrap="square"/>
          <a:lstStyle/>
          <a:p>
            <a:pPr algn="l">
              <a:lnSpc>
                <a:spcPts val="5060"/>
              </a:lnSpc>
              <a:spcBef>
                <a:spcPts val="0"/>
              </a:spcBef>
              <a:buNone/>
            </a:pPr>
            <a:r>
              <a:rPr lang="en-US" sz="4600" b="true" spc="-230">
                <a:solidFill>
                  <a:srgbClr val="111111"/>
                </a:solidFill>
                <a:latin typeface="Roca Two Bold"/>
                <a:ea typeface="Roca Two Bold"/>
                <a:cs typeface="Roca Two Bold"/>
                <a:sym typeface="Roca Two Bold"/>
              </a:rPr>
              <a:t>Research Questions (RQ1–RQ5) and Overall Aim</a:t>
            </a:r>
          </a:p>
        </p:txBody>
      </p:sp>
      <p:sp>
        <p:nvSpPr>
          <p:cNvPr id="21" name="Rounded Rectangle 20"/>
          <p:cNvSpPr/>
          <p:nvPr/>
        </p:nvSpPr>
        <p:spPr>
          <a:xfrm>
            <a:off x="1028700" y="2559050"/>
            <a:ext cx="1854490" cy="420624"/>
          </a:xfrm>
          <a:prstGeom prst="roundRect">
            <a:avLst>
              <a:gd name="adj" fmla="val 50000"/>
            </a:avLst>
          </a:prstGeom>
          <a:noFill/>
          <a:ln w="28575">
            <a:solidFill>
              <a:srgbClr val="4472C4"/>
            </a:solidFill>
          </a:ln>
        </p:spPr>
        <p:txBody>
          <a:bodyPr anchor="ctr" rtlCol="false" lIns="45720" tIns="0" rIns="45720" bIns="0" wrap="square"/>
          <a:lstStyle/>
          <a:p>
            <a:pPr algn="ctr">
              <a:lnSpc>
                <a:spcPts val="2160"/>
              </a:lnSpc>
              <a:spcBef>
                <a:spcPts val="0"/>
              </a:spcBef>
              <a:buNone/>
            </a:pPr>
            <a:r>
              <a:rPr lang="en-US" sz="1800" b="true">
                <a:solidFill>
                  <a:srgbClr val="4472C4"/>
                </a:solidFill>
                <a:latin typeface="Nunito Bold"/>
                <a:ea typeface="Nunito Bold"/>
                <a:cs typeface="Nunito Bold"/>
                <a:sym typeface="Nunito Bold"/>
              </a:rPr>
              <a:t>Approaches</a:t>
            </a:r>
          </a:p>
        </p:txBody>
      </p:sp>
      <p:sp>
        <p:nvSpPr>
          <p:cNvPr id="22" name="Rounded Rectangle 21"/>
          <p:cNvSpPr/>
          <p:nvPr/>
        </p:nvSpPr>
        <p:spPr>
          <a:xfrm>
            <a:off x="3011206" y="2559050"/>
            <a:ext cx="1870972" cy="420624"/>
          </a:xfrm>
          <a:prstGeom prst="roundRect">
            <a:avLst>
              <a:gd name="adj" fmla="val 50000"/>
            </a:avLst>
          </a:prstGeom>
          <a:solidFill>
            <a:srgbClr val="4472C4"/>
          </a:solidFill>
          <a:ln>
            <a:noFill/>
          </a:ln>
        </p:spPr>
        <p:txBody>
          <a:bodyPr anchor="ctr" rtlCol="false" lIns="45720" tIns="0" rIns="45720" bIns="0" wrap="square"/>
          <a:lstStyle/>
          <a:p>
            <a:pPr algn="ctr">
              <a:lnSpc>
                <a:spcPts val="2160"/>
              </a:lnSpc>
              <a:spcBef>
                <a:spcPts val="0"/>
              </a:spcBef>
              <a:buNone/>
            </a:pPr>
            <a:r>
              <a:rPr lang="en-US" sz="1800" b="true">
                <a:solidFill>
                  <a:srgbClr val="FFFFFF"/>
                </a:solidFill>
                <a:latin typeface="Nunito Bold"/>
                <a:ea typeface="Nunito Bold"/>
                <a:cs typeface="Nunito Bold"/>
                <a:sym typeface="Nunito Bold"/>
              </a:rPr>
              <a:t>Problematic</a:t>
            </a:r>
          </a:p>
        </p:txBody>
      </p:sp>
      <p:sp>
        <p:nvSpPr>
          <p:cNvPr id="23" name="Rounded Rectangle 22"/>
          <p:cNvSpPr/>
          <p:nvPr/>
        </p:nvSpPr>
        <p:spPr>
          <a:xfrm>
            <a:off x="5010194" y="2559050"/>
            <a:ext cx="2041208" cy="420624"/>
          </a:xfrm>
          <a:prstGeom prst="roundRect">
            <a:avLst>
              <a:gd name="adj" fmla="val 50000"/>
            </a:avLst>
          </a:prstGeom>
          <a:noFill/>
          <a:ln w="28575">
            <a:solidFill>
              <a:srgbClr val="4472C4"/>
            </a:solidFill>
          </a:ln>
        </p:spPr>
        <p:txBody>
          <a:bodyPr anchor="ctr" rtlCol="false" lIns="45720" tIns="0" rIns="45720" bIns="0" wrap="square"/>
          <a:lstStyle/>
          <a:p>
            <a:pPr algn="ctr">
              <a:lnSpc>
                <a:spcPts val="2160"/>
              </a:lnSpc>
              <a:spcBef>
                <a:spcPts val="0"/>
              </a:spcBef>
              <a:buNone/>
            </a:pPr>
            <a:r>
              <a:rPr lang="en-US" sz="1800" b="true">
                <a:solidFill>
                  <a:srgbClr val="4472C4"/>
                </a:solidFill>
                <a:latin typeface="Nunito Bold"/>
                <a:ea typeface="Nunito Bold"/>
                <a:cs typeface="Nunito Bold"/>
                <a:sym typeface="Nunito Bold"/>
              </a:rPr>
              <a:t>Contributions</a:t>
            </a:r>
          </a:p>
        </p:txBody>
      </p:sp>
      <p:sp>
        <p:nvSpPr>
          <p:cNvPr id="24" name="Rounded Rectangle 23"/>
          <p:cNvSpPr/>
          <p:nvPr/>
        </p:nvSpPr>
        <p:spPr>
          <a:xfrm>
            <a:off x="1028700" y="3363722"/>
            <a:ext cx="16230600" cy="868680"/>
          </a:xfrm>
          <a:prstGeom prst="roundRect">
            <a:avLst>
              <a:gd name="adj" fmla="val 26315"/>
            </a:avLst>
          </a:prstGeom>
          <a:solidFill>
            <a:srgbClr val="4472C4"/>
          </a:solidFill>
          <a:ln>
            <a:noFill/>
          </a:ln>
        </p:spPr>
        <p:txBody>
          <a:bodyPr anchor="ctr" rtlCol="false" lIns="457200" tIns="91440" rIns="457200" bIns="91440" wrap="square"/>
          <a:lstStyle/>
          <a:p>
            <a:pPr algn="ctr">
              <a:lnSpc>
                <a:spcPts val="2600"/>
              </a:lnSpc>
              <a:spcBef>
                <a:spcPts val="0"/>
              </a:spcBef>
              <a:buNone/>
            </a:pPr>
            <a:r>
              <a:rPr lang="en-US" sz="2000" b="true">
                <a:solidFill>
                  <a:srgbClr val="FFFFFF"/>
                </a:solidFill>
                <a:latin typeface="Nunito Bold"/>
                <a:ea typeface="Nunito Bold"/>
                <a:cs typeface="Nunito Bold"/>
                <a:sym typeface="Nunito Bold"/>
              </a:rPr>
              <a:t>Aim:</a:t>
            </a:r>
            <a:r>
              <a:rPr lang="en-US" sz="2000" b="true">
                <a:solidFill>
                  <a:srgbClr val="FFFFFF"/>
                </a:solidFill>
                <a:latin typeface="Nunito Semi-Bold"/>
                <a:ea typeface="Nunito Semi-Bold"/>
                <a:cs typeface="Nunito Semi-Bold"/>
                <a:sym typeface="Nunito Semi-Bold"/>
              </a:rPr>
              <a:t> develop, justify and evaluate a cooperative-game view of XAI for clustering and recommendation, using Shapley attribution both as an </a:t>
            </a:r>
            <a:r>
              <a:rPr lang="en-US" sz="2000" b="true">
                <a:solidFill>
                  <a:srgbClr val="FFFFFF"/>
                </a:solidFill>
                <a:latin typeface="Nunito Bold"/>
                <a:ea typeface="Nunito Bold"/>
                <a:cs typeface="Nunito Bold"/>
                <a:sym typeface="Nunito Bold"/>
              </a:rPr>
              <a:t>explanation method</a:t>
            </a:r>
            <a:r>
              <a:rPr lang="en-US" sz="2000" b="true">
                <a:solidFill>
                  <a:srgbClr val="FFFFFF"/>
                </a:solidFill>
                <a:latin typeface="Nunito Semi-Bold"/>
                <a:ea typeface="Nunito Semi-Bold"/>
                <a:cs typeface="Nunito Semi-Bold"/>
                <a:sym typeface="Nunito Semi-Bold"/>
              </a:rPr>
              <a:t> and as an </a:t>
            </a:r>
            <a:r>
              <a:rPr lang="en-US" sz="2000" b="true">
                <a:solidFill>
                  <a:srgbClr val="FFFFFF"/>
                </a:solidFill>
                <a:latin typeface="Nunito Bold"/>
                <a:ea typeface="Nunito Bold"/>
                <a:cs typeface="Nunito Bold"/>
                <a:sym typeface="Nunito Bold"/>
              </a:rPr>
              <a:t>in-training signal</a:t>
            </a:r>
            <a:r>
              <a:rPr lang="en-US" sz="2000" b="true">
                <a:solidFill>
                  <a:srgbClr val="FFFFFF"/>
                </a:solidFill>
                <a:latin typeface="Nunito Semi-Bold"/>
                <a:ea typeface="Nunito Semi-Bold"/>
                <a:cs typeface="Nunito Semi-Bold"/>
                <a:sym typeface="Nunito Semi-Bold"/>
              </a:rPr>
              <a:t>.</a:t>
            </a:r>
          </a:p>
        </p:txBody>
      </p:sp>
      <p:sp>
        <p:nvSpPr>
          <p:cNvPr id="25" name="Rounded Rectangle 24"/>
          <p:cNvSpPr/>
          <p:nvPr/>
        </p:nvSpPr>
        <p:spPr>
          <a:xfrm>
            <a:off x="1028700" y="4461002"/>
            <a:ext cx="16230600" cy="876249"/>
          </a:xfrm>
          <a:prstGeom prst="roundRect">
            <a:avLst>
              <a:gd name="adj" fmla="val 20870"/>
            </a:avLst>
          </a:prstGeom>
          <a:solidFill>
            <a:srgbClr val="F6ECDF"/>
          </a:solidFill>
          <a:ln>
            <a:noFill/>
          </a:ln>
        </p:spPr>
        <p:txBody>
          <a:bodyPr anchor="ctr" rtlCol="false" lIns="0" tIns="0" rIns="0" bIns="0" wrap="square"/>
          <a:lstStyle/>
          <a:p>
            <a:endParaRPr lang="en-US" sz="1800"/>
          </a:p>
        </p:txBody>
      </p:sp>
      <p:sp>
        <p:nvSpPr>
          <p:cNvPr id="26" name="Rounded Rectangle 25"/>
          <p:cNvSpPr/>
          <p:nvPr/>
        </p:nvSpPr>
        <p:spPr>
          <a:xfrm>
            <a:off x="1211580" y="4589018"/>
            <a:ext cx="1143000" cy="620217"/>
          </a:xfrm>
          <a:prstGeom prst="roundRect">
            <a:avLst>
              <a:gd name="adj" fmla="val 22114"/>
            </a:avLst>
          </a:prstGeom>
          <a:solidFill>
            <a:srgbClr val="1F7A8C"/>
          </a:solidFill>
          <a:ln>
            <a:noFill/>
          </a:ln>
        </p:spPr>
        <p:txBody>
          <a:bodyPr anchor="ctr" rtlCol="false" lIns="91440" tIns="45720" rIns="91440" bIns="45720" wrap="square"/>
          <a:lstStyle/>
          <a:p>
            <a:pPr algn="ctr">
              <a:lnSpc>
                <a:spcPts val="2185"/>
              </a:lnSpc>
              <a:spcBef>
                <a:spcPts val="0"/>
              </a:spcBef>
              <a:buNone/>
            </a:pPr>
            <a:r>
              <a:rPr lang="en-US" sz="1900" b="true">
                <a:solidFill>
                  <a:srgbClr val="FFFFFF"/>
                </a:solidFill>
                <a:latin typeface="Nunito Bold"/>
                <a:ea typeface="Nunito Bold"/>
                <a:cs typeface="Nunito Bold"/>
                <a:sym typeface="Nunito Bold"/>
              </a:rPr>
              <a:t>RQ1</a:t>
            </a:r>
          </a:p>
        </p:txBody>
      </p:sp>
      <p:sp>
        <p:nvSpPr>
          <p:cNvPr id="27" name="TextBox 26"/>
          <p:cNvSpPr txBox="1"/>
          <p:nvPr/>
        </p:nvSpPr>
        <p:spPr>
          <a:xfrm>
            <a:off x="2583180" y="4461002"/>
            <a:ext cx="12573000" cy="876249"/>
          </a:xfrm>
          <a:prstGeom prst="rect">
            <a:avLst/>
          </a:prstGeom>
          <a:noFill/>
        </p:spPr>
        <p:txBody>
          <a:bodyPr anchor="ctr" rtlCol="false" lIns="0" tIns="0" rIns="0" bIns="0" wrap="square"/>
          <a:lstStyle/>
          <a:p>
            <a:pPr algn="l">
              <a:lnSpc>
                <a:spcPts val="2800"/>
              </a:lnSpc>
              <a:spcBef>
                <a:spcPts val="0"/>
              </a:spcBef>
              <a:buNone/>
            </a:pPr>
            <a:r>
              <a:rPr lang="en-US" sz="2000" b="true">
                <a:solidFill>
                  <a:srgbClr val="111111"/>
                </a:solidFill>
                <a:latin typeface="Nunito Semi-Bold"/>
                <a:ea typeface="Nunito Semi-Bold"/>
                <a:cs typeface="Nunito Semi-Bold"/>
                <a:sym typeface="Nunito Semi-Bold"/>
              </a:rPr>
              <a:t>How can Shapley values explain black-box clustering </a:t>
            </a:r>
            <a:r>
              <a:rPr lang="en-US" sz="2000" b="true">
                <a:solidFill>
                  <a:srgbClr val="111111"/>
                </a:solidFill>
                <a:latin typeface="Nunito Bold"/>
                <a:ea typeface="Nunito Bold"/>
                <a:cs typeface="Nunito Bold"/>
                <a:sym typeface="Nunito Bold"/>
              </a:rPr>
              <a:t>faithfully at instance and cluster level</a:t>
            </a:r>
            <a:r>
              <a:rPr lang="en-US" sz="2000" b="true">
                <a:solidFill>
                  <a:srgbClr val="111111"/>
                </a:solidFill>
                <a:latin typeface="Nunito Semi-Bold"/>
                <a:ea typeface="Nunito Semi-Bold"/>
                <a:cs typeface="Nunito Semi-Bold"/>
                <a:sym typeface="Nunito Semi-Bold"/>
              </a:rPr>
              <a:t>?</a:t>
            </a:r>
          </a:p>
        </p:txBody>
      </p:sp>
      <p:sp>
        <p:nvSpPr>
          <p:cNvPr id="28" name="Rounded Rectangle 27"/>
          <p:cNvSpPr/>
          <p:nvPr/>
        </p:nvSpPr>
        <p:spPr>
          <a:xfrm>
            <a:off x="15339060" y="4589018"/>
            <a:ext cx="1737360" cy="620217"/>
          </a:xfrm>
          <a:prstGeom prst="roundRect">
            <a:avLst>
              <a:gd name="adj" fmla="val 22114"/>
            </a:avLst>
          </a:prstGeom>
          <a:solidFill>
            <a:srgbClr val="4472C4"/>
          </a:solidFill>
          <a:ln>
            <a:noFill/>
          </a:ln>
        </p:spPr>
        <p:txBody>
          <a:bodyPr anchor="ctr" rtlCol="false" lIns="91440" tIns="45720" rIns="91440" bIns="45720" wrap="square"/>
          <a:lstStyle/>
          <a:p>
            <a:pPr algn="ctr">
              <a:lnSpc>
                <a:spcPts val="1840"/>
              </a:lnSpc>
              <a:spcBef>
                <a:spcPts val="0"/>
              </a:spcBef>
              <a:buNone/>
            </a:pPr>
            <a:r>
              <a:rPr lang="en-US" sz="1600" b="true">
                <a:solidFill>
                  <a:srgbClr val="FFFFFF"/>
                </a:solidFill>
                <a:latin typeface="Calibri"/>
                <a:ea typeface="Calibri"/>
                <a:cs typeface="Calibri"/>
                <a:sym typeface="Calibri"/>
              </a:rPr>
              <a:t>→ </a:t>
            </a:r>
            <a:r>
              <a:rPr lang="en-US" sz="1600" b="true">
                <a:solidFill>
                  <a:srgbClr val="FFFFFF"/>
                </a:solidFill>
                <a:latin typeface="Nunito Bold"/>
                <a:ea typeface="Nunito Bold"/>
                <a:cs typeface="Nunito Bold"/>
                <a:sym typeface="Nunito Bold"/>
              </a:rPr>
              <a:t>C1</a:t>
            </a:r>
          </a:p>
        </p:txBody>
      </p:sp>
      <p:sp>
        <p:nvSpPr>
          <p:cNvPr id="29" name="Rounded Rectangle 28"/>
          <p:cNvSpPr/>
          <p:nvPr/>
        </p:nvSpPr>
        <p:spPr>
          <a:xfrm>
            <a:off x="1028700" y="5465267"/>
            <a:ext cx="16230600" cy="876249"/>
          </a:xfrm>
          <a:prstGeom prst="roundRect">
            <a:avLst>
              <a:gd name="adj" fmla="val 20870"/>
            </a:avLst>
          </a:prstGeom>
          <a:solidFill>
            <a:srgbClr val="FBF4EB"/>
          </a:solidFill>
          <a:ln>
            <a:noFill/>
          </a:ln>
        </p:spPr>
        <p:txBody>
          <a:bodyPr anchor="ctr" rtlCol="false" lIns="0" tIns="0" rIns="0" bIns="0" wrap="square"/>
          <a:lstStyle/>
          <a:p>
            <a:endParaRPr lang="en-US" sz="1800"/>
          </a:p>
        </p:txBody>
      </p:sp>
      <p:sp>
        <p:nvSpPr>
          <p:cNvPr id="30" name="Rounded Rectangle 29"/>
          <p:cNvSpPr/>
          <p:nvPr/>
        </p:nvSpPr>
        <p:spPr>
          <a:xfrm>
            <a:off x="1211580" y="5593283"/>
            <a:ext cx="1143000" cy="620217"/>
          </a:xfrm>
          <a:prstGeom prst="roundRect">
            <a:avLst>
              <a:gd name="adj" fmla="val 22114"/>
            </a:avLst>
          </a:prstGeom>
          <a:solidFill>
            <a:srgbClr val="1F7A8C"/>
          </a:solidFill>
          <a:ln>
            <a:noFill/>
          </a:ln>
        </p:spPr>
        <p:txBody>
          <a:bodyPr anchor="ctr" rtlCol="false" lIns="91440" tIns="45720" rIns="91440" bIns="45720" wrap="square"/>
          <a:lstStyle/>
          <a:p>
            <a:pPr algn="ctr">
              <a:lnSpc>
                <a:spcPts val="2185"/>
              </a:lnSpc>
              <a:spcBef>
                <a:spcPts val="0"/>
              </a:spcBef>
              <a:buNone/>
            </a:pPr>
            <a:r>
              <a:rPr lang="en-US" sz="1900" b="true">
                <a:solidFill>
                  <a:srgbClr val="FFFFFF"/>
                </a:solidFill>
                <a:latin typeface="Nunito Bold"/>
                <a:ea typeface="Nunito Bold"/>
                <a:cs typeface="Nunito Bold"/>
                <a:sym typeface="Nunito Bold"/>
              </a:rPr>
              <a:t>RQ2</a:t>
            </a:r>
          </a:p>
        </p:txBody>
      </p:sp>
      <p:sp>
        <p:nvSpPr>
          <p:cNvPr id="31" name="TextBox 30"/>
          <p:cNvSpPr txBox="1"/>
          <p:nvPr/>
        </p:nvSpPr>
        <p:spPr>
          <a:xfrm>
            <a:off x="2583180" y="5465267"/>
            <a:ext cx="12573000" cy="876249"/>
          </a:xfrm>
          <a:prstGeom prst="rect">
            <a:avLst/>
          </a:prstGeom>
          <a:noFill/>
        </p:spPr>
        <p:txBody>
          <a:bodyPr anchor="ctr" rtlCol="false" lIns="0" tIns="0" rIns="0" bIns="0" wrap="square"/>
          <a:lstStyle/>
          <a:p>
            <a:pPr algn="l">
              <a:lnSpc>
                <a:spcPts val="2800"/>
              </a:lnSpc>
              <a:spcBef>
                <a:spcPts val="0"/>
              </a:spcBef>
              <a:buNone/>
            </a:pPr>
            <a:r>
              <a:rPr lang="en-US" sz="2000" b="true">
                <a:solidFill>
                  <a:srgbClr val="111111"/>
                </a:solidFill>
                <a:latin typeface="Nunito Semi-Bold"/>
                <a:ea typeface="Nunito Semi-Bold"/>
                <a:cs typeface="Nunito Semi-Bold"/>
                <a:sym typeface="Nunito Semi-Bold"/>
              </a:rPr>
              <a:t>How can this extend to </a:t>
            </a:r>
            <a:r>
              <a:rPr lang="en-US" sz="2000" b="true">
                <a:solidFill>
                  <a:srgbClr val="111111"/>
                </a:solidFill>
                <a:latin typeface="Nunito Bold"/>
                <a:ea typeface="Nunito Bold"/>
                <a:cs typeface="Nunito Bold"/>
                <a:sym typeface="Nunito Bold"/>
              </a:rPr>
              <a:t>large-scale, multi-level clustering</a:t>
            </a:r>
            <a:r>
              <a:rPr lang="en-US" sz="2000" b="true">
                <a:solidFill>
                  <a:srgbClr val="111111"/>
                </a:solidFill>
                <a:latin typeface="Nunito Semi-Bold"/>
                <a:ea typeface="Nunito Semi-Bold"/>
                <a:cs typeface="Nunito Semi-Bold"/>
                <a:sym typeface="Nunito Semi-Bold"/>
              </a:rPr>
              <a:t> while staying feasible and consistent?</a:t>
            </a:r>
          </a:p>
        </p:txBody>
      </p:sp>
      <p:sp>
        <p:nvSpPr>
          <p:cNvPr id="32" name="Rounded Rectangle 31"/>
          <p:cNvSpPr/>
          <p:nvPr/>
        </p:nvSpPr>
        <p:spPr>
          <a:xfrm>
            <a:off x="15339060" y="5593283"/>
            <a:ext cx="1737360" cy="620217"/>
          </a:xfrm>
          <a:prstGeom prst="roundRect">
            <a:avLst>
              <a:gd name="adj" fmla="val 22114"/>
            </a:avLst>
          </a:prstGeom>
          <a:solidFill>
            <a:srgbClr val="4472C4"/>
          </a:solidFill>
          <a:ln>
            <a:noFill/>
          </a:ln>
        </p:spPr>
        <p:txBody>
          <a:bodyPr anchor="ctr" rtlCol="false" lIns="91440" tIns="45720" rIns="91440" bIns="45720" wrap="square"/>
          <a:lstStyle/>
          <a:p>
            <a:pPr algn="ctr">
              <a:lnSpc>
                <a:spcPts val="1840"/>
              </a:lnSpc>
              <a:spcBef>
                <a:spcPts val="0"/>
              </a:spcBef>
              <a:buNone/>
            </a:pPr>
            <a:r>
              <a:rPr lang="en-US" sz="1600" b="true">
                <a:solidFill>
                  <a:srgbClr val="FFFFFF"/>
                </a:solidFill>
                <a:latin typeface="Calibri"/>
                <a:ea typeface="Calibri"/>
                <a:cs typeface="Calibri"/>
                <a:sym typeface="Calibri"/>
              </a:rPr>
              <a:t>→ </a:t>
            </a:r>
            <a:r>
              <a:rPr lang="en-US" sz="1600" b="true">
                <a:solidFill>
                  <a:srgbClr val="FFFFFF"/>
                </a:solidFill>
                <a:latin typeface="Nunito Bold"/>
                <a:ea typeface="Nunito Bold"/>
                <a:cs typeface="Nunito Bold"/>
                <a:sym typeface="Nunito Bold"/>
              </a:rPr>
              <a:t>C2</a:t>
            </a:r>
          </a:p>
        </p:txBody>
      </p:sp>
      <p:sp>
        <p:nvSpPr>
          <p:cNvPr id="33" name="Rounded Rectangle 32"/>
          <p:cNvSpPr/>
          <p:nvPr/>
        </p:nvSpPr>
        <p:spPr>
          <a:xfrm>
            <a:off x="1028700" y="6469532"/>
            <a:ext cx="16230600" cy="876249"/>
          </a:xfrm>
          <a:prstGeom prst="roundRect">
            <a:avLst>
              <a:gd name="adj" fmla="val 20870"/>
            </a:avLst>
          </a:prstGeom>
          <a:solidFill>
            <a:srgbClr val="F6ECDF"/>
          </a:solidFill>
          <a:ln>
            <a:noFill/>
          </a:ln>
        </p:spPr>
        <p:txBody>
          <a:bodyPr anchor="ctr" rtlCol="false" lIns="0" tIns="0" rIns="0" bIns="0" wrap="square"/>
          <a:lstStyle/>
          <a:p>
            <a:endParaRPr lang="en-US" sz="1800"/>
          </a:p>
        </p:txBody>
      </p:sp>
      <p:sp>
        <p:nvSpPr>
          <p:cNvPr id="34" name="Rounded Rectangle 33"/>
          <p:cNvSpPr/>
          <p:nvPr/>
        </p:nvSpPr>
        <p:spPr>
          <a:xfrm>
            <a:off x="1211580" y="6597548"/>
            <a:ext cx="1143000" cy="620217"/>
          </a:xfrm>
          <a:prstGeom prst="roundRect">
            <a:avLst>
              <a:gd name="adj" fmla="val 22114"/>
            </a:avLst>
          </a:prstGeom>
          <a:solidFill>
            <a:srgbClr val="1F7A8C"/>
          </a:solidFill>
          <a:ln>
            <a:noFill/>
          </a:ln>
        </p:spPr>
        <p:txBody>
          <a:bodyPr anchor="ctr" rtlCol="false" lIns="91440" tIns="45720" rIns="91440" bIns="45720" wrap="square"/>
          <a:lstStyle/>
          <a:p>
            <a:pPr algn="ctr">
              <a:lnSpc>
                <a:spcPts val="2185"/>
              </a:lnSpc>
              <a:spcBef>
                <a:spcPts val="0"/>
              </a:spcBef>
              <a:buNone/>
            </a:pPr>
            <a:r>
              <a:rPr lang="en-US" sz="1900" b="true">
                <a:solidFill>
                  <a:srgbClr val="FFFFFF"/>
                </a:solidFill>
                <a:latin typeface="Nunito Bold"/>
                <a:ea typeface="Nunito Bold"/>
                <a:cs typeface="Nunito Bold"/>
                <a:sym typeface="Nunito Bold"/>
              </a:rPr>
              <a:t>RQ3</a:t>
            </a:r>
          </a:p>
        </p:txBody>
      </p:sp>
      <p:sp>
        <p:nvSpPr>
          <p:cNvPr id="35" name="TextBox 34"/>
          <p:cNvSpPr txBox="1"/>
          <p:nvPr/>
        </p:nvSpPr>
        <p:spPr>
          <a:xfrm>
            <a:off x="2583180" y="6469532"/>
            <a:ext cx="12573000" cy="876249"/>
          </a:xfrm>
          <a:prstGeom prst="rect">
            <a:avLst/>
          </a:prstGeom>
          <a:noFill/>
        </p:spPr>
        <p:txBody>
          <a:bodyPr anchor="ctr" rtlCol="false" lIns="0" tIns="0" rIns="0" bIns="0" wrap="square"/>
          <a:lstStyle/>
          <a:p>
            <a:pPr algn="l">
              <a:lnSpc>
                <a:spcPts val="2800"/>
              </a:lnSpc>
              <a:spcBef>
                <a:spcPts val="0"/>
              </a:spcBef>
              <a:buNone/>
            </a:pPr>
            <a:r>
              <a:rPr lang="en-US" sz="2000" b="true">
                <a:solidFill>
                  <a:srgbClr val="111111"/>
                </a:solidFill>
                <a:latin typeface="Nunito Semi-Bold"/>
                <a:ea typeface="Nunito Semi-Bold"/>
                <a:cs typeface="Nunito Semi-Bold"/>
                <a:sym typeface="Nunito Semi-Bold"/>
              </a:rPr>
              <a:t>Can cooperative attribution move </a:t>
            </a:r>
            <a:r>
              <a:rPr lang="en-US" sz="2000" b="true">
                <a:solidFill>
                  <a:srgbClr val="111111"/>
                </a:solidFill>
                <a:latin typeface="Nunito Bold"/>
                <a:ea typeface="Nunito Bold"/>
                <a:cs typeface="Nunito Bold"/>
                <a:sym typeface="Nunito Bold"/>
              </a:rPr>
              <a:t>beyond post-hoc</a:t>
            </a:r>
            <a:r>
              <a:rPr lang="en-US" sz="2000" b="true">
                <a:solidFill>
                  <a:srgbClr val="111111"/>
                </a:solidFill>
                <a:latin typeface="Nunito Semi-Bold"/>
                <a:ea typeface="Nunito Semi-Bold"/>
                <a:cs typeface="Nunito Semi-Bold"/>
                <a:sym typeface="Nunito Semi-Bold"/>
              </a:rPr>
              <a:t> and become part of how graph recommenders learn?</a:t>
            </a:r>
          </a:p>
        </p:txBody>
      </p:sp>
      <p:sp>
        <p:nvSpPr>
          <p:cNvPr id="36" name="Rounded Rectangle 35"/>
          <p:cNvSpPr/>
          <p:nvPr/>
        </p:nvSpPr>
        <p:spPr>
          <a:xfrm>
            <a:off x="15339060" y="6597548"/>
            <a:ext cx="1737360" cy="620217"/>
          </a:xfrm>
          <a:prstGeom prst="roundRect">
            <a:avLst>
              <a:gd name="adj" fmla="val 22114"/>
            </a:avLst>
          </a:prstGeom>
          <a:solidFill>
            <a:srgbClr val="4472C4"/>
          </a:solidFill>
          <a:ln>
            <a:noFill/>
          </a:ln>
        </p:spPr>
        <p:txBody>
          <a:bodyPr anchor="ctr" rtlCol="false" lIns="91440" tIns="45720" rIns="91440" bIns="45720" wrap="square"/>
          <a:lstStyle/>
          <a:p>
            <a:pPr algn="ctr">
              <a:lnSpc>
                <a:spcPts val="1840"/>
              </a:lnSpc>
              <a:spcBef>
                <a:spcPts val="0"/>
              </a:spcBef>
              <a:buNone/>
            </a:pPr>
            <a:r>
              <a:rPr lang="en-US" sz="1600" b="true">
                <a:solidFill>
                  <a:srgbClr val="FFFFFF"/>
                </a:solidFill>
                <a:latin typeface="Calibri"/>
                <a:ea typeface="Calibri"/>
                <a:cs typeface="Calibri"/>
                <a:sym typeface="Calibri"/>
              </a:rPr>
              <a:t>→ </a:t>
            </a:r>
            <a:r>
              <a:rPr lang="en-US" sz="1600" b="true">
                <a:solidFill>
                  <a:srgbClr val="FFFFFF"/>
                </a:solidFill>
                <a:latin typeface="Nunito Bold"/>
                <a:ea typeface="Nunito Bold"/>
                <a:cs typeface="Nunito Bold"/>
                <a:sym typeface="Nunito Bold"/>
              </a:rPr>
              <a:t>C3</a:t>
            </a:r>
          </a:p>
        </p:txBody>
      </p:sp>
      <p:sp>
        <p:nvSpPr>
          <p:cNvPr id="37" name="Rounded Rectangle 36"/>
          <p:cNvSpPr/>
          <p:nvPr/>
        </p:nvSpPr>
        <p:spPr>
          <a:xfrm>
            <a:off x="1028700" y="7473797"/>
            <a:ext cx="16230600" cy="876249"/>
          </a:xfrm>
          <a:prstGeom prst="roundRect">
            <a:avLst>
              <a:gd name="adj" fmla="val 20870"/>
            </a:avLst>
          </a:prstGeom>
          <a:solidFill>
            <a:srgbClr val="FBF4EB"/>
          </a:solidFill>
          <a:ln>
            <a:noFill/>
          </a:ln>
        </p:spPr>
        <p:txBody>
          <a:bodyPr anchor="ctr" rtlCol="false" lIns="0" tIns="0" rIns="0" bIns="0" wrap="square"/>
          <a:lstStyle/>
          <a:p>
            <a:endParaRPr lang="en-US" sz="1800"/>
          </a:p>
        </p:txBody>
      </p:sp>
      <p:sp>
        <p:nvSpPr>
          <p:cNvPr id="38" name="Rounded Rectangle 37"/>
          <p:cNvSpPr/>
          <p:nvPr/>
        </p:nvSpPr>
        <p:spPr>
          <a:xfrm>
            <a:off x="1211580" y="7601813"/>
            <a:ext cx="1143000" cy="620217"/>
          </a:xfrm>
          <a:prstGeom prst="roundRect">
            <a:avLst>
              <a:gd name="adj" fmla="val 22114"/>
            </a:avLst>
          </a:prstGeom>
          <a:solidFill>
            <a:srgbClr val="1F7A8C"/>
          </a:solidFill>
          <a:ln>
            <a:noFill/>
          </a:ln>
        </p:spPr>
        <p:txBody>
          <a:bodyPr anchor="ctr" rtlCol="false" lIns="91440" tIns="45720" rIns="91440" bIns="45720" wrap="square"/>
          <a:lstStyle/>
          <a:p>
            <a:pPr algn="ctr">
              <a:lnSpc>
                <a:spcPts val="2185"/>
              </a:lnSpc>
              <a:spcBef>
                <a:spcPts val="0"/>
              </a:spcBef>
              <a:buNone/>
            </a:pPr>
            <a:r>
              <a:rPr lang="en-US" sz="1900" b="true">
                <a:solidFill>
                  <a:srgbClr val="FFFFFF"/>
                </a:solidFill>
                <a:latin typeface="Nunito Bold"/>
                <a:ea typeface="Nunito Bold"/>
                <a:cs typeface="Nunito Bold"/>
                <a:sym typeface="Nunito Bold"/>
              </a:rPr>
              <a:t>RQ4</a:t>
            </a:r>
          </a:p>
        </p:txBody>
      </p:sp>
      <p:sp>
        <p:nvSpPr>
          <p:cNvPr id="39" name="TextBox 38"/>
          <p:cNvSpPr txBox="1"/>
          <p:nvPr/>
        </p:nvSpPr>
        <p:spPr>
          <a:xfrm>
            <a:off x="2583180" y="7473797"/>
            <a:ext cx="12573000" cy="876249"/>
          </a:xfrm>
          <a:prstGeom prst="rect">
            <a:avLst/>
          </a:prstGeom>
          <a:noFill/>
        </p:spPr>
        <p:txBody>
          <a:bodyPr anchor="ctr" rtlCol="false" lIns="0" tIns="0" rIns="0" bIns="0" wrap="square"/>
          <a:lstStyle/>
          <a:p>
            <a:pPr algn="l">
              <a:lnSpc>
                <a:spcPts val="2800"/>
              </a:lnSpc>
              <a:spcBef>
                <a:spcPts val="0"/>
              </a:spcBef>
              <a:buNone/>
            </a:pPr>
            <a:r>
              <a:rPr lang="en-US" sz="2000" b="true">
                <a:solidFill>
                  <a:srgbClr val="111111"/>
                </a:solidFill>
                <a:latin typeface="Nunito Semi-Bold"/>
                <a:ea typeface="Nunito Semi-Bold"/>
                <a:cs typeface="Nunito Semi-Bold"/>
                <a:sym typeface="Nunito Semi-Bold"/>
              </a:rPr>
              <a:t>Can a recommender </a:t>
            </a:r>
            <a:r>
              <a:rPr lang="en-US" sz="2000" b="true">
                <a:solidFill>
                  <a:srgbClr val="111111"/>
                </a:solidFill>
                <a:latin typeface="Nunito Bold"/>
                <a:ea typeface="Nunito Bold"/>
                <a:cs typeface="Nunito Bold"/>
                <a:sym typeface="Nunito Bold"/>
              </a:rPr>
              <a:t>improve ranking accuracy, context and diversity at the same time</a:t>
            </a:r>
            <a:r>
              <a:rPr lang="en-US" sz="2000" b="true">
                <a:solidFill>
                  <a:srgbClr val="111111"/>
                </a:solidFill>
                <a:latin typeface="Nunito Semi-Bold"/>
                <a:ea typeface="Nunito Semi-Bold"/>
                <a:cs typeface="Nunito Semi-Bold"/>
                <a:sym typeface="Nunito Semi-Bold"/>
              </a:rPr>
              <a:t> when importance comes from a cooperative-game utility?</a:t>
            </a:r>
          </a:p>
        </p:txBody>
      </p:sp>
      <p:sp>
        <p:nvSpPr>
          <p:cNvPr id="40" name="Rounded Rectangle 39"/>
          <p:cNvSpPr/>
          <p:nvPr/>
        </p:nvSpPr>
        <p:spPr>
          <a:xfrm>
            <a:off x="15339060" y="7601813"/>
            <a:ext cx="1737360" cy="620217"/>
          </a:xfrm>
          <a:prstGeom prst="roundRect">
            <a:avLst>
              <a:gd name="adj" fmla="val 22114"/>
            </a:avLst>
          </a:prstGeom>
          <a:solidFill>
            <a:srgbClr val="4472C4"/>
          </a:solidFill>
          <a:ln>
            <a:noFill/>
          </a:ln>
        </p:spPr>
        <p:txBody>
          <a:bodyPr anchor="ctr" rtlCol="false" lIns="91440" tIns="45720" rIns="91440" bIns="45720" wrap="square"/>
          <a:lstStyle/>
          <a:p>
            <a:pPr algn="ctr">
              <a:lnSpc>
                <a:spcPts val="1840"/>
              </a:lnSpc>
              <a:spcBef>
                <a:spcPts val="0"/>
              </a:spcBef>
              <a:buNone/>
            </a:pPr>
            <a:r>
              <a:rPr lang="en-US" sz="1600" b="true">
                <a:solidFill>
                  <a:srgbClr val="FFFFFF"/>
                </a:solidFill>
                <a:latin typeface="Calibri"/>
                <a:ea typeface="Calibri"/>
                <a:cs typeface="Calibri"/>
                <a:sym typeface="Calibri"/>
              </a:rPr>
              <a:t>→ </a:t>
            </a:r>
            <a:r>
              <a:rPr lang="en-US" sz="1600" b="true">
                <a:solidFill>
                  <a:srgbClr val="FFFFFF"/>
                </a:solidFill>
                <a:latin typeface="Nunito Bold"/>
                <a:ea typeface="Nunito Bold"/>
                <a:cs typeface="Nunito Bold"/>
                <a:sym typeface="Nunito Bold"/>
              </a:rPr>
              <a:t>C3</a:t>
            </a:r>
          </a:p>
        </p:txBody>
      </p:sp>
      <p:sp>
        <p:nvSpPr>
          <p:cNvPr id="41" name="Rounded Rectangle 40"/>
          <p:cNvSpPr/>
          <p:nvPr/>
        </p:nvSpPr>
        <p:spPr>
          <a:xfrm>
            <a:off x="1028700" y="8478062"/>
            <a:ext cx="16230600" cy="876249"/>
          </a:xfrm>
          <a:prstGeom prst="roundRect">
            <a:avLst>
              <a:gd name="adj" fmla="val 20870"/>
            </a:avLst>
          </a:prstGeom>
          <a:solidFill>
            <a:srgbClr val="F6ECDF"/>
          </a:solidFill>
          <a:ln>
            <a:noFill/>
          </a:ln>
        </p:spPr>
        <p:txBody>
          <a:bodyPr anchor="ctr" rtlCol="false" lIns="0" tIns="0" rIns="0" bIns="0" wrap="square"/>
          <a:lstStyle/>
          <a:p>
            <a:endParaRPr lang="en-US" sz="1800"/>
          </a:p>
        </p:txBody>
      </p:sp>
      <p:sp>
        <p:nvSpPr>
          <p:cNvPr id="42" name="Rounded Rectangle 41"/>
          <p:cNvSpPr/>
          <p:nvPr/>
        </p:nvSpPr>
        <p:spPr>
          <a:xfrm>
            <a:off x="1211580" y="8606078"/>
            <a:ext cx="1143000" cy="620217"/>
          </a:xfrm>
          <a:prstGeom prst="roundRect">
            <a:avLst>
              <a:gd name="adj" fmla="val 22114"/>
            </a:avLst>
          </a:prstGeom>
          <a:solidFill>
            <a:srgbClr val="111111"/>
          </a:solidFill>
          <a:ln>
            <a:noFill/>
          </a:ln>
        </p:spPr>
        <p:txBody>
          <a:bodyPr anchor="ctr" rtlCol="false" lIns="91440" tIns="45720" rIns="91440" bIns="45720" wrap="square"/>
          <a:lstStyle/>
          <a:p>
            <a:pPr algn="ctr">
              <a:lnSpc>
                <a:spcPts val="2185"/>
              </a:lnSpc>
              <a:spcBef>
                <a:spcPts val="0"/>
              </a:spcBef>
              <a:buNone/>
            </a:pPr>
            <a:r>
              <a:rPr lang="en-US" sz="1900" b="true">
                <a:solidFill>
                  <a:srgbClr val="FFFFFF"/>
                </a:solidFill>
                <a:latin typeface="Nunito Bold"/>
                <a:ea typeface="Nunito Bold"/>
                <a:cs typeface="Nunito Bold"/>
                <a:sym typeface="Nunito Bold"/>
              </a:rPr>
              <a:t>RQ5</a:t>
            </a:r>
          </a:p>
        </p:txBody>
      </p:sp>
      <p:sp>
        <p:nvSpPr>
          <p:cNvPr id="43" name="TextBox 42"/>
          <p:cNvSpPr txBox="1"/>
          <p:nvPr/>
        </p:nvSpPr>
        <p:spPr>
          <a:xfrm>
            <a:off x="2583180" y="8478062"/>
            <a:ext cx="12573000" cy="876249"/>
          </a:xfrm>
          <a:prstGeom prst="rect">
            <a:avLst/>
          </a:prstGeom>
          <a:noFill/>
        </p:spPr>
        <p:txBody>
          <a:bodyPr anchor="ctr" rtlCol="false" lIns="0" tIns="0" rIns="0" bIns="0" wrap="square"/>
          <a:lstStyle/>
          <a:p>
            <a:pPr algn="l">
              <a:lnSpc>
                <a:spcPts val="2800"/>
              </a:lnSpc>
              <a:spcBef>
                <a:spcPts val="0"/>
              </a:spcBef>
              <a:buNone/>
            </a:pPr>
            <a:r>
              <a:rPr lang="en-US" sz="2000" b="true">
                <a:solidFill>
                  <a:srgbClr val="111111"/>
                </a:solidFill>
                <a:latin typeface="Nunito Semi-Bold"/>
                <a:ea typeface="Nunito Semi-Bold"/>
                <a:cs typeface="Nunito Semi-Bold"/>
                <a:sym typeface="Nunito Semi-Bold"/>
              </a:rPr>
              <a:t>What do we gain when clustering explanation and recommendation learning are </a:t>
            </a:r>
            <a:r>
              <a:rPr lang="en-US" sz="2000" b="true">
                <a:solidFill>
                  <a:srgbClr val="111111"/>
                </a:solidFill>
                <a:latin typeface="Nunito Bold"/>
                <a:ea typeface="Nunito Bold"/>
                <a:cs typeface="Nunito Bold"/>
                <a:sym typeface="Nunito Bold"/>
              </a:rPr>
              <a:t>two stages of one cooperative-game view</a:t>
            </a:r>
            <a:r>
              <a:rPr lang="en-US" sz="2000" b="true">
                <a:solidFill>
                  <a:srgbClr val="111111"/>
                </a:solidFill>
                <a:latin typeface="Nunito Semi-Bold"/>
                <a:ea typeface="Nunito Semi-Bold"/>
                <a:cs typeface="Nunito Semi-Bold"/>
                <a:sym typeface="Nunito Semi-Bold"/>
              </a:rPr>
              <a:t>?</a:t>
            </a:r>
          </a:p>
        </p:txBody>
      </p:sp>
      <p:sp>
        <p:nvSpPr>
          <p:cNvPr id="44" name="Rounded Rectangle 43"/>
          <p:cNvSpPr/>
          <p:nvPr/>
        </p:nvSpPr>
        <p:spPr>
          <a:xfrm>
            <a:off x="15339060" y="8606078"/>
            <a:ext cx="1737360" cy="620217"/>
          </a:xfrm>
          <a:prstGeom prst="roundRect">
            <a:avLst>
              <a:gd name="adj" fmla="val 22114"/>
            </a:avLst>
          </a:prstGeom>
          <a:solidFill>
            <a:srgbClr val="4472C4"/>
          </a:solidFill>
          <a:ln>
            <a:noFill/>
          </a:ln>
        </p:spPr>
        <p:txBody>
          <a:bodyPr anchor="ctr" rtlCol="false" lIns="91440" tIns="45720" rIns="91440" bIns="45720" wrap="square"/>
          <a:lstStyle/>
          <a:p>
            <a:pPr algn="ctr">
              <a:lnSpc>
                <a:spcPts val="1840"/>
              </a:lnSpc>
              <a:spcBef>
                <a:spcPts val="0"/>
              </a:spcBef>
              <a:buNone/>
            </a:pPr>
            <a:r>
              <a:rPr lang="en-US" sz="1600" b="true">
                <a:solidFill>
                  <a:srgbClr val="FFFFFF"/>
                </a:solidFill>
                <a:latin typeface="Calibri"/>
                <a:ea typeface="Calibri"/>
                <a:cs typeface="Calibri"/>
                <a:sym typeface="Calibri"/>
              </a:rPr>
              <a:t>→ </a:t>
            </a:r>
            <a:r>
              <a:rPr lang="en-US" sz="1600" b="true">
                <a:solidFill>
                  <a:srgbClr val="FFFFFF"/>
                </a:solidFill>
                <a:latin typeface="Nunito Bold"/>
                <a:ea typeface="Nunito Bold"/>
                <a:cs typeface="Nunito Bold"/>
                <a:sym typeface="Nunito Bold"/>
              </a:rPr>
              <a:t>Thesis</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pic>
        <p:nvPicPr>
          <p:cNvPr id="2" name="Picture 1" descr="ensias_logo.jpg"/>
          <p:cNvPicPr>
            <a:picLocks noChangeAspect="1"/>
          </p:cNvPicPr>
          <p:nvPr/>
        </p:nvPicPr>
        <p:blipFill>
          <a:blip r:embed="rId2"/>
          <a:stretch>
            <a:fillRect/>
          </a:stretch>
        </p:blipFill>
        <p:spPr>
          <a:xfrm>
            <a:off x="1028700" y="9674352"/>
            <a:ext cx="542964" cy="384048"/>
          </a:xfrm>
          <a:prstGeom prst="rect">
            <a:avLst/>
          </a:prstGeom>
        </p:spPr>
      </p:pic>
      <p:sp>
        <p:nvSpPr>
          <p:cNvPr id="3" name="TextBox 2"/>
          <p:cNvSpPr txBox="1"/>
          <p:nvPr/>
        </p:nvSpPr>
        <p:spPr>
          <a:xfrm>
            <a:off x="1577340" y="9747504"/>
            <a:ext cx="12801600" cy="274320"/>
          </a:xfrm>
          <a:prstGeom prst="rect">
            <a:avLst/>
          </a:prstGeom>
          <a:noFill/>
        </p:spPr>
        <p:txBody>
          <a:bodyPr anchor="t" rtlCol="false" lIns="0" tIns="0" rIns="0" bIns="0" wrap="square"/>
          <a:lstStyle/>
          <a:p>
            <a:pPr algn="l">
              <a:lnSpc>
                <a:spcPts val="1600"/>
              </a:lnSpc>
              <a:spcBef>
                <a:spcPts val="0"/>
              </a:spcBef>
              <a:buNone/>
            </a:pPr>
            <a:r>
              <a:rPr lang="en-US" sz="1300" b="true">
                <a:solidFill>
                  <a:srgbClr val="8A8378"/>
                </a:solidFill>
                <a:latin typeface="Nunito Bold"/>
                <a:ea typeface="Nunito Bold"/>
                <a:cs typeface="Nunito Bold"/>
                <a:sym typeface="Nunito Bold"/>
              </a:rPr>
              <a:t>Cooperative Game Theory for Explainable AI in Recommendation Systems  ·  A Shapley Framework for Actionable Insight</a:t>
            </a:r>
          </a:p>
        </p:txBody>
      </p:sp>
      <p:sp>
        <p:nvSpPr>
          <p:cNvPr id="4" name="TextBox 3"/>
          <p:cNvSpPr txBox="1"/>
          <p:nvPr/>
        </p:nvSpPr>
        <p:spPr>
          <a:xfrm>
            <a:off x="16162020" y="9692640"/>
            <a:ext cx="1097280" cy="329184"/>
          </a:xfrm>
          <a:prstGeom prst="rect">
            <a:avLst/>
          </a:prstGeom>
          <a:noFill/>
        </p:spPr>
        <p:txBody>
          <a:bodyPr anchor="t" rtlCol="false" lIns="0" tIns="0" rIns="0" bIns="0" wrap="square"/>
          <a:lstStyle/>
          <a:p>
            <a:pPr algn="r">
              <a:lnSpc>
                <a:spcPts val="2200"/>
              </a:lnSpc>
              <a:spcBef>
                <a:spcPts val="0"/>
              </a:spcBef>
              <a:buNone/>
            </a:pPr>
            <a:r>
              <a:rPr lang="en-US" sz="1800" b="true">
                <a:solidFill>
                  <a:srgbClr val="111111"/>
                </a:solidFill>
                <a:latin typeface="Nunito Ultra-Bold"/>
                <a:ea typeface="Nunito Ultra-Bold"/>
                <a:cs typeface="Nunito Ultra-Bold"/>
                <a:sym typeface="Nunito Ultra-Bold"/>
              </a:rPr>
              <a:t>16</a:t>
            </a:r>
          </a:p>
        </p:txBody>
      </p:sp>
      <p:sp>
        <p:nvSpPr>
          <p:cNvPr id="5" name="TextBox 4"/>
          <p:cNvSpPr txBox="1"/>
          <p:nvPr/>
        </p:nvSpPr>
        <p:spPr>
          <a:xfrm>
            <a:off x="1028700" y="1389888"/>
            <a:ext cx="12938760" cy="329184"/>
          </a:xfrm>
          <a:prstGeom prst="rect">
            <a:avLst/>
          </a:prstGeom>
          <a:noFill/>
        </p:spPr>
        <p:txBody>
          <a:bodyPr anchor="t" rtlCol="false" lIns="0" tIns="0" rIns="0" bIns="0" wrap="square"/>
          <a:lstStyle/>
          <a:p>
            <a:pPr algn="l">
              <a:lnSpc>
                <a:spcPts val="2000"/>
              </a:lnSpc>
              <a:spcBef>
                <a:spcPts val="0"/>
              </a:spcBef>
              <a:buNone/>
            </a:pPr>
            <a:r>
              <a:rPr lang="en-US" sz="1500" b="true" spc="160">
                <a:solidFill>
                  <a:srgbClr val="1F7A8C"/>
                </a:solidFill>
                <a:latin typeface="Nunito Ultra-Bold"/>
                <a:ea typeface="Nunito Ultra-Bold"/>
                <a:cs typeface="Nunito Ultra-Bold"/>
                <a:sym typeface="Nunito Ultra-Bold"/>
              </a:rPr>
              <a:t>CONTEXT &amp; PROBLEMATIC</a:t>
            </a:r>
          </a:p>
        </p:txBody>
      </p:sp>
      <p:sp>
        <p:nvSpPr>
          <p:cNvPr id="6" name="Rounded Rectangle 5"/>
          <p:cNvSpPr/>
          <p:nvPr/>
        </p:nvSpPr>
        <p:spPr>
          <a:xfrm>
            <a:off x="14516100"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7" name="TextBox 6"/>
          <p:cNvSpPr txBox="1"/>
          <p:nvPr/>
        </p:nvSpPr>
        <p:spPr>
          <a:xfrm>
            <a:off x="14516100"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1</a:t>
            </a:r>
          </a:p>
        </p:txBody>
      </p:sp>
      <p:sp>
        <p:nvSpPr>
          <p:cNvPr id="8" name="Rounded Rectangle 7"/>
          <p:cNvSpPr/>
          <p:nvPr/>
        </p:nvSpPr>
        <p:spPr>
          <a:xfrm>
            <a:off x="14918436" y="1371600"/>
            <a:ext cx="329184" cy="329184"/>
          </a:xfrm>
          <a:prstGeom prst="roundRect">
            <a:avLst>
              <a:gd name="adj" fmla="val 16666"/>
            </a:avLst>
          </a:prstGeom>
          <a:solidFill>
            <a:srgbClr val="4472C4"/>
          </a:solidFill>
          <a:ln w="15875">
            <a:solidFill>
              <a:srgbClr val="4472C4"/>
            </a:solidFill>
          </a:ln>
        </p:spPr>
        <p:txBody>
          <a:bodyPr anchor="ctr" rtlCol="false" lIns="0" tIns="0" rIns="0" bIns="0" wrap="square"/>
          <a:lstStyle/>
          <a:p>
            <a:endParaRPr lang="en-US" sz="1800"/>
          </a:p>
        </p:txBody>
      </p:sp>
      <p:sp>
        <p:nvSpPr>
          <p:cNvPr id="9" name="TextBox 8"/>
          <p:cNvSpPr txBox="1"/>
          <p:nvPr/>
        </p:nvSpPr>
        <p:spPr>
          <a:xfrm>
            <a:off x="14918436"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FFFFFF"/>
                </a:solidFill>
                <a:latin typeface="Nunito Ultra-Bold"/>
                <a:ea typeface="Nunito Ultra-Bold"/>
                <a:cs typeface="Nunito Ultra-Bold"/>
                <a:sym typeface="Nunito Ultra-Bold"/>
              </a:rPr>
              <a:t>2</a:t>
            </a:r>
          </a:p>
        </p:txBody>
      </p:sp>
      <p:sp>
        <p:nvSpPr>
          <p:cNvPr id="10" name="Rounded Rectangle 9"/>
          <p:cNvSpPr/>
          <p:nvPr/>
        </p:nvSpPr>
        <p:spPr>
          <a:xfrm>
            <a:off x="15320772"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11" name="TextBox 10"/>
          <p:cNvSpPr txBox="1"/>
          <p:nvPr/>
        </p:nvSpPr>
        <p:spPr>
          <a:xfrm>
            <a:off x="15320772"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3</a:t>
            </a:r>
          </a:p>
        </p:txBody>
      </p:sp>
      <p:sp>
        <p:nvSpPr>
          <p:cNvPr id="12" name="Rounded Rectangle 11"/>
          <p:cNvSpPr/>
          <p:nvPr/>
        </p:nvSpPr>
        <p:spPr>
          <a:xfrm>
            <a:off x="15723108"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13" name="TextBox 12"/>
          <p:cNvSpPr txBox="1"/>
          <p:nvPr/>
        </p:nvSpPr>
        <p:spPr>
          <a:xfrm>
            <a:off x="15723108"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4</a:t>
            </a:r>
          </a:p>
        </p:txBody>
      </p:sp>
      <p:sp>
        <p:nvSpPr>
          <p:cNvPr id="14" name="Rounded Rectangle 13"/>
          <p:cNvSpPr/>
          <p:nvPr/>
        </p:nvSpPr>
        <p:spPr>
          <a:xfrm>
            <a:off x="16125444"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15" name="TextBox 14"/>
          <p:cNvSpPr txBox="1"/>
          <p:nvPr/>
        </p:nvSpPr>
        <p:spPr>
          <a:xfrm>
            <a:off x="16125444"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5</a:t>
            </a:r>
          </a:p>
        </p:txBody>
      </p:sp>
      <p:sp>
        <p:nvSpPr>
          <p:cNvPr id="16" name="Rounded Rectangle 15"/>
          <p:cNvSpPr/>
          <p:nvPr/>
        </p:nvSpPr>
        <p:spPr>
          <a:xfrm>
            <a:off x="16527780"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17" name="TextBox 16"/>
          <p:cNvSpPr txBox="1"/>
          <p:nvPr/>
        </p:nvSpPr>
        <p:spPr>
          <a:xfrm>
            <a:off x="16527780"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6</a:t>
            </a:r>
          </a:p>
        </p:txBody>
      </p:sp>
      <p:sp>
        <p:nvSpPr>
          <p:cNvPr id="18" name="Rounded Rectangle 17"/>
          <p:cNvSpPr/>
          <p:nvPr/>
        </p:nvSpPr>
        <p:spPr>
          <a:xfrm>
            <a:off x="16930116"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19" name="TextBox 18"/>
          <p:cNvSpPr txBox="1"/>
          <p:nvPr/>
        </p:nvSpPr>
        <p:spPr>
          <a:xfrm>
            <a:off x="16930116"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7</a:t>
            </a:r>
          </a:p>
        </p:txBody>
      </p:sp>
      <p:sp>
        <p:nvSpPr>
          <p:cNvPr id="20" name="TextBox 19"/>
          <p:cNvSpPr txBox="1"/>
          <p:nvPr/>
        </p:nvSpPr>
        <p:spPr>
          <a:xfrm>
            <a:off x="1028700" y="1719072"/>
            <a:ext cx="16230600" cy="730250"/>
          </a:xfrm>
          <a:prstGeom prst="rect">
            <a:avLst/>
          </a:prstGeom>
          <a:noFill/>
        </p:spPr>
        <p:txBody>
          <a:bodyPr anchor="t" rtlCol="false" lIns="0" tIns="0" rIns="0" bIns="0" wrap="square"/>
          <a:lstStyle/>
          <a:p>
            <a:pPr algn="l">
              <a:lnSpc>
                <a:spcPts val="5060"/>
              </a:lnSpc>
              <a:spcBef>
                <a:spcPts val="0"/>
              </a:spcBef>
              <a:buNone/>
            </a:pPr>
            <a:r>
              <a:rPr lang="en-US" sz="4600" b="true" spc="-230">
                <a:solidFill>
                  <a:srgbClr val="111111"/>
                </a:solidFill>
                <a:latin typeface="Roca Two Bold"/>
                <a:ea typeface="Roca Two Bold"/>
                <a:cs typeface="Roca Two Bold"/>
                <a:sym typeface="Roca Two Bold"/>
              </a:rPr>
              <a:t>The Three Contributions</a:t>
            </a:r>
          </a:p>
        </p:txBody>
      </p:sp>
      <p:sp>
        <p:nvSpPr>
          <p:cNvPr id="21" name="Rounded Rectangle 20"/>
          <p:cNvSpPr/>
          <p:nvPr/>
        </p:nvSpPr>
        <p:spPr>
          <a:xfrm>
            <a:off x="1028700" y="2559050"/>
            <a:ext cx="1854490" cy="420624"/>
          </a:xfrm>
          <a:prstGeom prst="roundRect">
            <a:avLst>
              <a:gd name="adj" fmla="val 50000"/>
            </a:avLst>
          </a:prstGeom>
          <a:noFill/>
          <a:ln w="28575">
            <a:solidFill>
              <a:srgbClr val="4472C4"/>
            </a:solidFill>
          </a:ln>
        </p:spPr>
        <p:txBody>
          <a:bodyPr anchor="ctr" rtlCol="false" lIns="45720" tIns="0" rIns="45720" bIns="0" wrap="square"/>
          <a:lstStyle/>
          <a:p>
            <a:pPr algn="ctr">
              <a:lnSpc>
                <a:spcPts val="2160"/>
              </a:lnSpc>
              <a:spcBef>
                <a:spcPts val="0"/>
              </a:spcBef>
              <a:buNone/>
            </a:pPr>
            <a:r>
              <a:rPr lang="en-US" sz="1800" b="true">
                <a:solidFill>
                  <a:srgbClr val="4472C4"/>
                </a:solidFill>
                <a:latin typeface="Nunito Bold"/>
                <a:ea typeface="Nunito Bold"/>
                <a:cs typeface="Nunito Bold"/>
                <a:sym typeface="Nunito Bold"/>
              </a:rPr>
              <a:t>Approaches</a:t>
            </a:r>
          </a:p>
        </p:txBody>
      </p:sp>
      <p:sp>
        <p:nvSpPr>
          <p:cNvPr id="22" name="Rounded Rectangle 21"/>
          <p:cNvSpPr/>
          <p:nvPr/>
        </p:nvSpPr>
        <p:spPr>
          <a:xfrm>
            <a:off x="3011206" y="2559050"/>
            <a:ext cx="1870972" cy="420624"/>
          </a:xfrm>
          <a:prstGeom prst="roundRect">
            <a:avLst>
              <a:gd name="adj" fmla="val 50000"/>
            </a:avLst>
          </a:prstGeom>
          <a:noFill/>
          <a:ln w="28575">
            <a:solidFill>
              <a:srgbClr val="4472C4"/>
            </a:solidFill>
          </a:ln>
        </p:spPr>
        <p:txBody>
          <a:bodyPr anchor="ctr" rtlCol="false" lIns="45720" tIns="0" rIns="45720" bIns="0" wrap="square"/>
          <a:lstStyle/>
          <a:p>
            <a:pPr algn="ctr">
              <a:lnSpc>
                <a:spcPts val="2160"/>
              </a:lnSpc>
              <a:spcBef>
                <a:spcPts val="0"/>
              </a:spcBef>
              <a:buNone/>
            </a:pPr>
            <a:r>
              <a:rPr lang="en-US" sz="1800" b="true">
                <a:solidFill>
                  <a:srgbClr val="4472C4"/>
                </a:solidFill>
                <a:latin typeface="Nunito Bold"/>
                <a:ea typeface="Nunito Bold"/>
                <a:cs typeface="Nunito Bold"/>
                <a:sym typeface="Nunito Bold"/>
              </a:rPr>
              <a:t>Problematic</a:t>
            </a:r>
          </a:p>
        </p:txBody>
      </p:sp>
      <p:sp>
        <p:nvSpPr>
          <p:cNvPr id="23" name="Rounded Rectangle 22"/>
          <p:cNvSpPr/>
          <p:nvPr/>
        </p:nvSpPr>
        <p:spPr>
          <a:xfrm>
            <a:off x="5010194" y="2559050"/>
            <a:ext cx="2041208" cy="420624"/>
          </a:xfrm>
          <a:prstGeom prst="roundRect">
            <a:avLst>
              <a:gd name="adj" fmla="val 50000"/>
            </a:avLst>
          </a:prstGeom>
          <a:solidFill>
            <a:srgbClr val="4472C4"/>
          </a:solidFill>
          <a:ln>
            <a:noFill/>
          </a:ln>
        </p:spPr>
        <p:txBody>
          <a:bodyPr anchor="ctr" rtlCol="false" lIns="45720" tIns="0" rIns="45720" bIns="0" wrap="square"/>
          <a:lstStyle/>
          <a:p>
            <a:pPr algn="ctr">
              <a:lnSpc>
                <a:spcPts val="2160"/>
              </a:lnSpc>
              <a:spcBef>
                <a:spcPts val="0"/>
              </a:spcBef>
              <a:buNone/>
            </a:pPr>
            <a:r>
              <a:rPr lang="en-US" sz="1800" b="true">
                <a:solidFill>
                  <a:srgbClr val="FFFFFF"/>
                </a:solidFill>
                <a:latin typeface="Nunito Bold"/>
                <a:ea typeface="Nunito Bold"/>
                <a:cs typeface="Nunito Bold"/>
                <a:sym typeface="Nunito Bold"/>
              </a:rPr>
              <a:t>Contributions</a:t>
            </a:r>
          </a:p>
        </p:txBody>
      </p:sp>
      <p:sp>
        <p:nvSpPr>
          <p:cNvPr id="24" name="Rounded Rectangle 23"/>
          <p:cNvSpPr/>
          <p:nvPr/>
        </p:nvSpPr>
        <p:spPr>
          <a:xfrm>
            <a:off x="1028700" y="3455162"/>
            <a:ext cx="5196840" cy="4480560"/>
          </a:xfrm>
          <a:prstGeom prst="roundRect">
            <a:avLst>
              <a:gd name="adj" fmla="val 6530"/>
            </a:avLst>
          </a:prstGeom>
          <a:solidFill>
            <a:srgbClr val="4472C4"/>
          </a:solidFill>
          <a:ln>
            <a:noFill/>
          </a:ln>
        </p:spPr>
        <p:txBody>
          <a:bodyPr anchor="ctr" rtlCol="false" lIns="0" tIns="0" rIns="0" bIns="0" wrap="square"/>
          <a:lstStyle/>
          <a:p>
            <a:endParaRPr lang="en-US" sz="1800"/>
          </a:p>
        </p:txBody>
      </p:sp>
      <p:sp>
        <p:nvSpPr>
          <p:cNvPr id="25" name="TextBox 24"/>
          <p:cNvSpPr txBox="1"/>
          <p:nvPr/>
        </p:nvSpPr>
        <p:spPr>
          <a:xfrm>
            <a:off x="1394460" y="3729482"/>
            <a:ext cx="4465320" cy="640080"/>
          </a:xfrm>
          <a:prstGeom prst="rect">
            <a:avLst/>
          </a:prstGeom>
          <a:noFill/>
        </p:spPr>
        <p:txBody>
          <a:bodyPr anchor="t" rtlCol="false" lIns="0" tIns="0" rIns="0" bIns="0" wrap="square"/>
          <a:lstStyle/>
          <a:p>
            <a:pPr algn="l">
              <a:lnSpc>
                <a:spcPts val="4400"/>
              </a:lnSpc>
              <a:spcBef>
                <a:spcPts val="0"/>
              </a:spcBef>
              <a:buNone/>
            </a:pPr>
            <a:r>
              <a:rPr lang="en-US" sz="4000" b="true" spc="-200">
                <a:solidFill>
                  <a:srgbClr val="ECC665"/>
                </a:solidFill>
                <a:latin typeface="Roca Two Bold"/>
                <a:ea typeface="Roca Two Bold"/>
                <a:cs typeface="Roca Two Bold"/>
                <a:sym typeface="Roca Two Bold"/>
              </a:rPr>
              <a:t>C1</a:t>
            </a:r>
          </a:p>
        </p:txBody>
      </p:sp>
      <p:sp>
        <p:nvSpPr>
          <p:cNvPr id="26" name="Rounded Rectangle 25"/>
          <p:cNvSpPr/>
          <p:nvPr/>
        </p:nvSpPr>
        <p:spPr>
          <a:xfrm>
            <a:off x="4213860" y="3802634"/>
            <a:ext cx="991577" cy="384048"/>
          </a:xfrm>
          <a:prstGeom prst="roundRect">
            <a:avLst>
              <a:gd name="adj" fmla="val 50000"/>
            </a:avLst>
          </a:prstGeom>
          <a:solidFill>
            <a:srgbClr val="FFFFFF"/>
          </a:solidFill>
          <a:ln w="28575">
            <a:solidFill>
              <a:srgbClr val="FFFFFF"/>
            </a:solidFill>
          </a:ln>
        </p:spPr>
        <p:txBody>
          <a:bodyPr anchor="ctr" rtlCol="false" lIns="45720" tIns="0" rIns="45720" bIns="0" wrap="square"/>
          <a:lstStyle/>
          <a:p>
            <a:pPr algn="ctr">
              <a:lnSpc>
                <a:spcPts val="1800"/>
              </a:lnSpc>
              <a:spcBef>
                <a:spcPts val="0"/>
              </a:spcBef>
              <a:buNone/>
            </a:pPr>
            <a:r>
              <a:rPr lang="en-US" sz="1500" b="true">
                <a:solidFill>
                  <a:srgbClr val="4472C4"/>
                </a:solidFill>
                <a:latin typeface="Nunito Bold"/>
                <a:ea typeface="Nunito Bold"/>
                <a:cs typeface="Nunito Bold"/>
                <a:sym typeface="Nunito Bold"/>
              </a:rPr>
              <a:t>RQ1</a:t>
            </a:r>
          </a:p>
        </p:txBody>
      </p:sp>
      <p:sp>
        <p:nvSpPr>
          <p:cNvPr id="27" name="TextBox 26"/>
          <p:cNvSpPr txBox="1"/>
          <p:nvPr/>
        </p:nvSpPr>
        <p:spPr>
          <a:xfrm>
            <a:off x="1394460" y="4506722"/>
            <a:ext cx="4465320" cy="3291840"/>
          </a:xfrm>
          <a:prstGeom prst="rect">
            <a:avLst/>
          </a:prstGeom>
          <a:noFill/>
        </p:spPr>
        <p:txBody>
          <a:bodyPr anchor="t" rtlCol="false" lIns="0" tIns="0" rIns="0" bIns="0" wrap="square"/>
          <a:lstStyle/>
          <a:p>
            <a:pPr algn="l">
              <a:lnSpc>
                <a:spcPts val="2875"/>
              </a:lnSpc>
              <a:spcBef>
                <a:spcPts val="0"/>
              </a:spcBef>
              <a:buNone/>
            </a:pPr>
            <a:r>
              <a:rPr lang="en-US" sz="2300" b="true">
                <a:solidFill>
                  <a:srgbClr val="FFFFFF"/>
                </a:solidFill>
                <a:latin typeface="Nunito Ultra-Bold"/>
                <a:ea typeface="Nunito Ultra-Bold"/>
                <a:cs typeface="Nunito Ultra-Bold"/>
                <a:sym typeface="Nunito Ultra-Bold"/>
              </a:rPr>
              <a:t>Explainable black-box clustering</a:t>
            </a:r>
          </a:p>
          <a:p>
            <a:pPr algn="l">
              <a:lnSpc>
                <a:spcPts val="2520"/>
              </a:lnSpc>
              <a:spcBef>
                <a:spcPts val="600"/>
              </a:spcBef>
              <a:buNone/>
            </a:pPr>
            <a:r>
              <a:rPr lang="en-US" sz="1800" b="true">
                <a:solidFill>
                  <a:srgbClr val="F1EDE6"/>
                </a:solidFill>
                <a:latin typeface="Nunito Semi-Bold"/>
                <a:ea typeface="Nunito Semi-Bold"/>
                <a:cs typeface="Nunito Semi-Bold"/>
                <a:sym typeface="Nunito Semi-Bold"/>
              </a:rPr>
              <a:t>PCA </a:t>
            </a:r>
            <a:r>
              <a:rPr lang="en-US" sz="1800" b="true">
                <a:solidFill>
                  <a:srgbClr val="F1EDE6"/>
                </a:solidFill>
                <a:latin typeface="Calibri"/>
                <a:ea typeface="Calibri"/>
                <a:cs typeface="Calibri"/>
                <a:sym typeface="Calibri"/>
              </a:rPr>
              <a:t>→ </a:t>
            </a:r>
            <a:r>
              <a:rPr lang="en-US" sz="1800" b="true">
                <a:solidFill>
                  <a:srgbClr val="F1EDE6"/>
                </a:solidFill>
                <a:latin typeface="Nunito Semi-Bold"/>
                <a:ea typeface="Nunito Semi-Bold"/>
                <a:cs typeface="Nunito Semi-Bold"/>
                <a:sym typeface="Nunito Semi-Bold"/>
              </a:rPr>
              <a:t>K-Means </a:t>
            </a:r>
            <a:r>
              <a:rPr lang="en-US" sz="1800" b="true">
                <a:solidFill>
                  <a:srgbClr val="F1EDE6"/>
                </a:solidFill>
                <a:latin typeface="Calibri"/>
                <a:ea typeface="Calibri"/>
                <a:cs typeface="Calibri"/>
                <a:sym typeface="Calibri"/>
              </a:rPr>
              <a:t>→ </a:t>
            </a:r>
            <a:r>
              <a:rPr lang="en-US" sz="1800" b="true">
                <a:solidFill>
                  <a:srgbClr val="F1EDE6"/>
                </a:solidFill>
                <a:latin typeface="Nunito Semi-Bold"/>
                <a:ea typeface="Nunito Semi-Bold"/>
                <a:cs typeface="Nunito Semi-Bold"/>
                <a:sym typeface="Nunito Semi-Bold"/>
              </a:rPr>
              <a:t>LightGBM </a:t>
            </a:r>
            <a:r>
              <a:rPr lang="en-US" sz="1800" b="true">
                <a:solidFill>
                  <a:srgbClr val="F1EDE6"/>
                </a:solidFill>
                <a:latin typeface="Calibri"/>
                <a:ea typeface="Calibri"/>
                <a:cs typeface="Calibri"/>
                <a:sym typeface="Calibri"/>
              </a:rPr>
              <a:t>→ </a:t>
            </a:r>
            <a:r>
              <a:rPr lang="en-US" sz="1800" b="true">
                <a:solidFill>
                  <a:srgbClr val="F1EDE6"/>
                </a:solidFill>
                <a:latin typeface="Nunito Semi-Bold"/>
                <a:ea typeface="Nunito Semi-Bold"/>
                <a:cs typeface="Nunito Semi-Bold"/>
                <a:sym typeface="Nunito Semi-Bold"/>
              </a:rPr>
              <a:t>TreeSHAP pipeline.</a:t>
            </a:r>
          </a:p>
          <a:p>
            <a:pPr algn="l">
              <a:lnSpc>
                <a:spcPts val="1700"/>
              </a:lnSpc>
              <a:spcBef>
                <a:spcPts val="1400"/>
              </a:spcBef>
              <a:buNone/>
            </a:pPr>
            <a:r>
              <a:rPr lang="en-US" sz="1300" b="true" spc="140">
                <a:solidFill>
                  <a:srgbClr val="ECC665"/>
                </a:solidFill>
                <a:latin typeface="Nunito Ultra-Bold"/>
                <a:ea typeface="Nunito Ultra-Bold"/>
                <a:cs typeface="Nunito Ultra-Bold"/>
                <a:sym typeface="Nunito Ultra-Bold"/>
              </a:rPr>
              <a:t>WINE QUALITY</a:t>
            </a:r>
          </a:p>
          <a:p>
            <a:pPr algn="l">
              <a:lnSpc>
                <a:spcPts val="2520"/>
              </a:lnSpc>
              <a:spcBef>
                <a:spcPts val="400"/>
              </a:spcBef>
              <a:buNone/>
            </a:pPr>
            <a:r>
              <a:rPr lang="en-US" sz="1800" b="true">
                <a:solidFill>
                  <a:srgbClr val="FFFFFF"/>
                </a:solidFill>
                <a:latin typeface="Nunito Semi-Bold"/>
                <a:ea typeface="Nunito Semi-Bold"/>
                <a:cs typeface="Nunito Semi-Bold"/>
                <a:sym typeface="Nunito Semi-Bold"/>
              </a:rPr>
              <a:t>Faithful instance- and cluster-level feature attribution.</a:t>
            </a:r>
          </a:p>
        </p:txBody>
      </p:sp>
      <p:sp>
        <p:nvSpPr>
          <p:cNvPr id="28" name="Rounded Rectangle 27"/>
          <p:cNvSpPr/>
          <p:nvPr/>
        </p:nvSpPr>
        <p:spPr>
          <a:xfrm>
            <a:off x="6545580" y="3455162"/>
            <a:ext cx="5196840" cy="4480560"/>
          </a:xfrm>
          <a:prstGeom prst="roundRect">
            <a:avLst>
              <a:gd name="adj" fmla="val 6530"/>
            </a:avLst>
          </a:prstGeom>
          <a:solidFill>
            <a:srgbClr val="2F5597"/>
          </a:solidFill>
          <a:ln>
            <a:noFill/>
          </a:ln>
        </p:spPr>
        <p:txBody>
          <a:bodyPr anchor="ctr" rtlCol="false" lIns="0" tIns="0" rIns="0" bIns="0" wrap="square"/>
          <a:lstStyle/>
          <a:p>
            <a:endParaRPr lang="en-US" sz="1800"/>
          </a:p>
        </p:txBody>
      </p:sp>
      <p:sp>
        <p:nvSpPr>
          <p:cNvPr id="29" name="TextBox 28"/>
          <p:cNvSpPr txBox="1"/>
          <p:nvPr/>
        </p:nvSpPr>
        <p:spPr>
          <a:xfrm>
            <a:off x="6911340" y="3729482"/>
            <a:ext cx="4465320" cy="640080"/>
          </a:xfrm>
          <a:prstGeom prst="rect">
            <a:avLst/>
          </a:prstGeom>
          <a:noFill/>
        </p:spPr>
        <p:txBody>
          <a:bodyPr anchor="t" rtlCol="false" lIns="0" tIns="0" rIns="0" bIns="0" wrap="square"/>
          <a:lstStyle/>
          <a:p>
            <a:pPr algn="l">
              <a:lnSpc>
                <a:spcPts val="4400"/>
              </a:lnSpc>
              <a:spcBef>
                <a:spcPts val="0"/>
              </a:spcBef>
              <a:buNone/>
            </a:pPr>
            <a:r>
              <a:rPr lang="en-US" sz="4000" b="true" spc="-200">
                <a:solidFill>
                  <a:srgbClr val="ECC665"/>
                </a:solidFill>
                <a:latin typeface="Roca Two Bold"/>
                <a:ea typeface="Roca Two Bold"/>
                <a:cs typeface="Roca Two Bold"/>
                <a:sym typeface="Roca Two Bold"/>
              </a:rPr>
              <a:t>C2</a:t>
            </a:r>
          </a:p>
        </p:txBody>
      </p:sp>
      <p:sp>
        <p:nvSpPr>
          <p:cNvPr id="30" name="Rounded Rectangle 29"/>
          <p:cNvSpPr/>
          <p:nvPr/>
        </p:nvSpPr>
        <p:spPr>
          <a:xfrm>
            <a:off x="9730740" y="3802634"/>
            <a:ext cx="991577" cy="384048"/>
          </a:xfrm>
          <a:prstGeom prst="roundRect">
            <a:avLst>
              <a:gd name="adj" fmla="val 50000"/>
            </a:avLst>
          </a:prstGeom>
          <a:solidFill>
            <a:srgbClr val="FFFFFF"/>
          </a:solidFill>
          <a:ln w="28575">
            <a:solidFill>
              <a:srgbClr val="FFFFFF"/>
            </a:solidFill>
          </a:ln>
        </p:spPr>
        <p:txBody>
          <a:bodyPr anchor="ctr" rtlCol="false" lIns="45720" tIns="0" rIns="45720" bIns="0" wrap="square"/>
          <a:lstStyle/>
          <a:p>
            <a:pPr algn="ctr">
              <a:lnSpc>
                <a:spcPts val="1800"/>
              </a:lnSpc>
              <a:spcBef>
                <a:spcPts val="0"/>
              </a:spcBef>
              <a:buNone/>
            </a:pPr>
            <a:r>
              <a:rPr lang="en-US" sz="1500" b="true">
                <a:solidFill>
                  <a:srgbClr val="2F5597"/>
                </a:solidFill>
                <a:latin typeface="Nunito Bold"/>
                <a:ea typeface="Nunito Bold"/>
                <a:cs typeface="Nunito Bold"/>
                <a:sym typeface="Nunito Bold"/>
              </a:rPr>
              <a:t>RQ2</a:t>
            </a:r>
          </a:p>
        </p:txBody>
      </p:sp>
      <p:sp>
        <p:nvSpPr>
          <p:cNvPr id="31" name="TextBox 30"/>
          <p:cNvSpPr txBox="1"/>
          <p:nvPr/>
        </p:nvSpPr>
        <p:spPr>
          <a:xfrm>
            <a:off x="6911340" y="4506722"/>
            <a:ext cx="4465320" cy="3291840"/>
          </a:xfrm>
          <a:prstGeom prst="rect">
            <a:avLst/>
          </a:prstGeom>
          <a:noFill/>
        </p:spPr>
        <p:txBody>
          <a:bodyPr anchor="t" rtlCol="false" lIns="0" tIns="0" rIns="0" bIns="0" wrap="square"/>
          <a:lstStyle/>
          <a:p>
            <a:pPr algn="l">
              <a:lnSpc>
                <a:spcPts val="2875"/>
              </a:lnSpc>
              <a:spcBef>
                <a:spcPts val="0"/>
              </a:spcBef>
              <a:buNone/>
            </a:pPr>
            <a:r>
              <a:rPr lang="en-US" sz="2300" b="true">
                <a:solidFill>
                  <a:srgbClr val="FFFFFF"/>
                </a:solidFill>
                <a:latin typeface="Nunito Ultra-Bold"/>
                <a:ea typeface="Nunito Ultra-Bold"/>
                <a:cs typeface="Nunito Ultra-Bold"/>
                <a:sym typeface="Nunito Ultra-Bold"/>
              </a:rPr>
              <a:t>Enhanced multi-level XAI</a:t>
            </a:r>
          </a:p>
          <a:p>
            <a:pPr algn="l">
              <a:lnSpc>
                <a:spcPts val="2520"/>
              </a:lnSpc>
              <a:spcBef>
                <a:spcPts val="600"/>
              </a:spcBef>
              <a:buNone/>
            </a:pPr>
            <a:r>
              <a:rPr lang="en-US" sz="1800" b="true">
                <a:solidFill>
                  <a:srgbClr val="F1EDE6"/>
                </a:solidFill>
                <a:latin typeface="Nunito Semi-Bold"/>
                <a:ea typeface="Nunito Semi-Bold"/>
                <a:cs typeface="Nunito Semi-Bold"/>
                <a:sym typeface="Nunito Semi-Bold"/>
              </a:rPr>
              <a:t>Large-scale clustering with cross-level SHAP aggregation (Prop. 6.1).</a:t>
            </a:r>
          </a:p>
          <a:p>
            <a:pPr algn="l">
              <a:lnSpc>
                <a:spcPts val="1700"/>
              </a:lnSpc>
              <a:spcBef>
                <a:spcPts val="1400"/>
              </a:spcBef>
              <a:buNone/>
            </a:pPr>
            <a:r>
              <a:rPr lang="en-US" sz="1300" b="true" spc="140">
                <a:solidFill>
                  <a:srgbClr val="ECC665"/>
                </a:solidFill>
                <a:latin typeface="Nunito Ultra-Bold"/>
                <a:ea typeface="Nunito Ultra-Bold"/>
                <a:cs typeface="Nunito Ultra-Bold"/>
                <a:sym typeface="Nunito Ultra-Bold"/>
              </a:rPr>
              <a:t>BEIJING AIR QUALITY</a:t>
            </a:r>
          </a:p>
          <a:p>
            <a:pPr algn="l">
              <a:lnSpc>
                <a:spcPts val="2520"/>
              </a:lnSpc>
              <a:spcBef>
                <a:spcPts val="400"/>
              </a:spcBef>
              <a:buNone/>
            </a:pPr>
            <a:r>
              <a:rPr lang="en-US" sz="1800" b="true">
                <a:solidFill>
                  <a:srgbClr val="FFFFFF"/>
                </a:solidFill>
                <a:latin typeface="Nunito Semi-Bold"/>
                <a:ea typeface="Nunito Semi-Bold"/>
                <a:cs typeface="Nunito Semi-Bold"/>
                <a:sym typeface="Nunito Semi-Bold"/>
              </a:rPr>
              <a:t>Attribution stays consistent across levels and at scale.</a:t>
            </a:r>
          </a:p>
        </p:txBody>
      </p:sp>
      <p:sp>
        <p:nvSpPr>
          <p:cNvPr id="32" name="Rounded Rectangle 31"/>
          <p:cNvSpPr/>
          <p:nvPr/>
        </p:nvSpPr>
        <p:spPr>
          <a:xfrm>
            <a:off x="12062460" y="3455162"/>
            <a:ext cx="5196840" cy="4480560"/>
          </a:xfrm>
          <a:prstGeom prst="roundRect">
            <a:avLst>
              <a:gd name="adj" fmla="val 6530"/>
            </a:avLst>
          </a:prstGeom>
          <a:solidFill>
            <a:srgbClr val="1F7A8C"/>
          </a:solidFill>
          <a:ln>
            <a:noFill/>
          </a:ln>
        </p:spPr>
        <p:txBody>
          <a:bodyPr anchor="ctr" rtlCol="false" lIns="0" tIns="0" rIns="0" bIns="0" wrap="square"/>
          <a:lstStyle/>
          <a:p>
            <a:endParaRPr lang="en-US" sz="1800"/>
          </a:p>
        </p:txBody>
      </p:sp>
      <p:sp>
        <p:nvSpPr>
          <p:cNvPr id="33" name="TextBox 32"/>
          <p:cNvSpPr txBox="1"/>
          <p:nvPr/>
        </p:nvSpPr>
        <p:spPr>
          <a:xfrm>
            <a:off x="12428220" y="3729482"/>
            <a:ext cx="4465320" cy="640080"/>
          </a:xfrm>
          <a:prstGeom prst="rect">
            <a:avLst/>
          </a:prstGeom>
          <a:noFill/>
        </p:spPr>
        <p:txBody>
          <a:bodyPr anchor="t" rtlCol="false" lIns="0" tIns="0" rIns="0" bIns="0" wrap="square"/>
          <a:lstStyle/>
          <a:p>
            <a:pPr algn="l">
              <a:lnSpc>
                <a:spcPts val="4400"/>
              </a:lnSpc>
              <a:spcBef>
                <a:spcPts val="0"/>
              </a:spcBef>
              <a:buNone/>
            </a:pPr>
            <a:r>
              <a:rPr lang="en-US" sz="4000" b="true" spc="-200">
                <a:solidFill>
                  <a:srgbClr val="FFFFFF"/>
                </a:solidFill>
                <a:latin typeface="Roca Two Bold"/>
                <a:ea typeface="Roca Two Bold"/>
                <a:cs typeface="Roca Two Bold"/>
                <a:sym typeface="Roca Two Bold"/>
              </a:rPr>
              <a:t>C3</a:t>
            </a:r>
          </a:p>
        </p:txBody>
      </p:sp>
      <p:sp>
        <p:nvSpPr>
          <p:cNvPr id="34" name="Rounded Rectangle 33"/>
          <p:cNvSpPr/>
          <p:nvPr/>
        </p:nvSpPr>
        <p:spPr>
          <a:xfrm>
            <a:off x="15247620" y="3802634"/>
            <a:ext cx="1552948" cy="384048"/>
          </a:xfrm>
          <a:prstGeom prst="roundRect">
            <a:avLst>
              <a:gd name="adj" fmla="val 50000"/>
            </a:avLst>
          </a:prstGeom>
          <a:solidFill>
            <a:srgbClr val="FFFFFF"/>
          </a:solidFill>
          <a:ln w="28575">
            <a:solidFill>
              <a:srgbClr val="FFFFFF"/>
            </a:solidFill>
          </a:ln>
        </p:spPr>
        <p:txBody>
          <a:bodyPr anchor="ctr" rtlCol="false" lIns="45720" tIns="0" rIns="45720" bIns="0" wrap="square"/>
          <a:lstStyle/>
          <a:p>
            <a:pPr algn="ctr">
              <a:lnSpc>
                <a:spcPts val="1800"/>
              </a:lnSpc>
              <a:spcBef>
                <a:spcPts val="0"/>
              </a:spcBef>
              <a:buNone/>
            </a:pPr>
            <a:r>
              <a:rPr lang="en-US" sz="1500" b="true">
                <a:solidFill>
                  <a:srgbClr val="1F7A8C"/>
                </a:solidFill>
                <a:latin typeface="Nunito Bold"/>
                <a:ea typeface="Nunito Bold"/>
                <a:cs typeface="Nunito Bold"/>
                <a:sym typeface="Nunito Bold"/>
              </a:rPr>
              <a:t>RQ3 · RQ4</a:t>
            </a:r>
          </a:p>
        </p:txBody>
      </p:sp>
      <p:sp>
        <p:nvSpPr>
          <p:cNvPr id="35" name="TextBox 34"/>
          <p:cNvSpPr txBox="1"/>
          <p:nvPr/>
        </p:nvSpPr>
        <p:spPr>
          <a:xfrm>
            <a:off x="12428220" y="4506722"/>
            <a:ext cx="4465320" cy="3291840"/>
          </a:xfrm>
          <a:prstGeom prst="rect">
            <a:avLst/>
          </a:prstGeom>
          <a:noFill/>
        </p:spPr>
        <p:txBody>
          <a:bodyPr anchor="t" rtlCol="false" lIns="0" tIns="0" rIns="0" bIns="0" wrap="square"/>
          <a:lstStyle/>
          <a:p>
            <a:pPr algn="l">
              <a:lnSpc>
                <a:spcPts val="2875"/>
              </a:lnSpc>
              <a:spcBef>
                <a:spcPts val="0"/>
              </a:spcBef>
              <a:buNone/>
            </a:pPr>
            <a:r>
              <a:rPr lang="en-US" sz="2300" b="true">
                <a:solidFill>
                  <a:srgbClr val="FFFFFF"/>
                </a:solidFill>
                <a:latin typeface="Nunito Ultra-Bold"/>
                <a:ea typeface="Nunito Ultra-Bold"/>
                <a:cs typeface="Nunito Ultra-Bold"/>
                <a:sym typeface="Nunito Ultra-Bold"/>
              </a:rPr>
              <a:t>DyHuCoG</a:t>
            </a:r>
          </a:p>
          <a:p>
            <a:pPr algn="l">
              <a:lnSpc>
                <a:spcPts val="2520"/>
              </a:lnSpc>
              <a:spcBef>
                <a:spcPts val="600"/>
              </a:spcBef>
              <a:buNone/>
            </a:pPr>
            <a:r>
              <a:rPr lang="en-US" sz="1800" b="true">
                <a:solidFill>
                  <a:srgbClr val="F1EDE6"/>
                </a:solidFill>
                <a:latin typeface="Nunito Semi-Bold"/>
                <a:ea typeface="Nunito Semi-Bold"/>
                <a:cs typeface="Nunito Semi-Bold"/>
                <a:sym typeface="Nunito Semi-Bold"/>
              </a:rPr>
              <a:t>Dynamic Hypergraph Cooperative Game for preference-aware recommendation.</a:t>
            </a:r>
          </a:p>
          <a:p>
            <a:pPr algn="l">
              <a:lnSpc>
                <a:spcPts val="1700"/>
              </a:lnSpc>
              <a:spcBef>
                <a:spcPts val="1400"/>
              </a:spcBef>
              <a:buNone/>
            </a:pPr>
            <a:r>
              <a:rPr lang="en-US" sz="1300" b="true" spc="140">
                <a:solidFill>
                  <a:srgbClr val="FFFFFF"/>
                </a:solidFill>
                <a:latin typeface="Nunito Ultra-Bold"/>
                <a:ea typeface="Nunito Ultra-Bold"/>
                <a:cs typeface="Nunito Ultra-Bold"/>
                <a:sym typeface="Nunito Ultra-Bold"/>
              </a:rPr>
              <a:t>MOVIELENS-1M · AMAZON-BOOK</a:t>
            </a:r>
          </a:p>
          <a:p>
            <a:pPr algn="l">
              <a:lnSpc>
                <a:spcPts val="2520"/>
              </a:lnSpc>
              <a:spcBef>
                <a:spcPts val="400"/>
              </a:spcBef>
              <a:buNone/>
            </a:pPr>
            <a:r>
              <a:rPr lang="en-US" sz="1800" b="true">
                <a:solidFill>
                  <a:srgbClr val="FFFFFF"/>
                </a:solidFill>
                <a:latin typeface="Nunito Semi-Bold"/>
                <a:ea typeface="Nunito Semi-Bold"/>
                <a:cs typeface="Nunito Semi-Bold"/>
                <a:sym typeface="Nunito Semi-Bold"/>
              </a:rPr>
              <a:t>Preference-aware Monte Carlo Shapley as an in-training signal.</a:t>
            </a:r>
          </a:p>
        </p:txBody>
      </p:sp>
      <p:sp>
        <p:nvSpPr>
          <p:cNvPr id="36" name="Rounded Rectangle 35"/>
          <p:cNvSpPr/>
          <p:nvPr/>
        </p:nvSpPr>
        <p:spPr>
          <a:xfrm>
            <a:off x="1028700" y="8301482"/>
            <a:ext cx="16230600" cy="1052830"/>
          </a:xfrm>
          <a:prstGeom prst="roundRect">
            <a:avLst>
              <a:gd name="adj" fmla="val 21712"/>
            </a:avLst>
          </a:prstGeom>
          <a:solidFill>
            <a:srgbClr val="F6ECDF"/>
          </a:solidFill>
          <a:ln>
            <a:noFill/>
          </a:ln>
        </p:spPr>
        <p:txBody>
          <a:bodyPr anchor="ctr" rtlCol="false" lIns="457200" tIns="91440" rIns="457200" bIns="91440" wrap="square"/>
          <a:lstStyle/>
          <a:p>
            <a:pPr algn="ctr">
              <a:lnSpc>
                <a:spcPts val="2700"/>
              </a:lnSpc>
              <a:spcBef>
                <a:spcPts val="0"/>
              </a:spcBef>
              <a:buNone/>
            </a:pPr>
            <a:r>
              <a:rPr lang="en-US" sz="2100" b="true">
                <a:solidFill>
                  <a:srgbClr val="111111"/>
                </a:solidFill>
                <a:latin typeface="Nunito Bold"/>
                <a:ea typeface="Nunito Bold"/>
                <a:cs typeface="Nunito Bold"/>
                <a:sym typeface="Nunito Bold"/>
              </a:rPr>
              <a:t>Thesis claim:</a:t>
            </a:r>
            <a:r>
              <a:rPr lang="en-US" sz="2100" b="true">
                <a:solidFill>
                  <a:srgbClr val="111111"/>
                </a:solidFill>
                <a:latin typeface="Nunito Semi-Bold"/>
                <a:ea typeface="Nunito Semi-Bold"/>
                <a:cs typeface="Nunito Semi-Bold"/>
                <a:sym typeface="Nunito Semi-Bold"/>
              </a:rPr>
              <a:t> cooperative game theory works as </a:t>
            </a:r>
            <a:r>
              <a:rPr lang="en-US" sz="2100" b="true">
                <a:solidFill>
                  <a:srgbClr val="111111"/>
                </a:solidFill>
                <a:latin typeface="Nunito Bold"/>
                <a:ea typeface="Nunito Bold"/>
                <a:cs typeface="Nunito Bold"/>
                <a:sym typeface="Nunito Bold"/>
              </a:rPr>
              <a:t>one shared attribution view</a:t>
            </a:r>
            <a:r>
              <a:rPr lang="en-US" sz="2100" b="true">
                <a:solidFill>
                  <a:srgbClr val="111111"/>
                </a:solidFill>
                <a:latin typeface="Nunito Semi-Bold"/>
                <a:ea typeface="Nunito Semi-Bold"/>
                <a:cs typeface="Nunito Semi-Bold"/>
                <a:sym typeface="Nunito Semi-Bold"/>
              </a:rPr>
              <a:t> for explanation, optimisation and action: three steps that build on each other, not three unrelated papers.</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pic>
        <p:nvPicPr>
          <p:cNvPr id="2" name="Picture 1" descr="ensias_logo.jpg"/>
          <p:cNvPicPr>
            <a:picLocks noChangeAspect="1"/>
          </p:cNvPicPr>
          <p:nvPr/>
        </p:nvPicPr>
        <p:blipFill>
          <a:blip r:embed="rId2"/>
          <a:stretch>
            <a:fillRect/>
          </a:stretch>
        </p:blipFill>
        <p:spPr>
          <a:xfrm>
            <a:off x="1028700" y="9674352"/>
            <a:ext cx="542964" cy="384048"/>
          </a:xfrm>
          <a:prstGeom prst="rect">
            <a:avLst/>
          </a:prstGeom>
        </p:spPr>
      </p:pic>
      <p:sp>
        <p:nvSpPr>
          <p:cNvPr id="3" name="TextBox 2"/>
          <p:cNvSpPr txBox="1"/>
          <p:nvPr/>
        </p:nvSpPr>
        <p:spPr>
          <a:xfrm>
            <a:off x="1577340" y="9747504"/>
            <a:ext cx="12801600" cy="274320"/>
          </a:xfrm>
          <a:prstGeom prst="rect">
            <a:avLst/>
          </a:prstGeom>
          <a:noFill/>
        </p:spPr>
        <p:txBody>
          <a:bodyPr anchor="t" rtlCol="false" lIns="0" tIns="0" rIns="0" bIns="0" wrap="square"/>
          <a:lstStyle/>
          <a:p>
            <a:pPr algn="l">
              <a:lnSpc>
                <a:spcPts val="1600"/>
              </a:lnSpc>
              <a:spcBef>
                <a:spcPts val="0"/>
              </a:spcBef>
              <a:buNone/>
            </a:pPr>
            <a:r>
              <a:rPr lang="en-US" sz="1300" b="true">
                <a:solidFill>
                  <a:srgbClr val="8A8378"/>
                </a:solidFill>
                <a:latin typeface="Nunito Bold"/>
                <a:ea typeface="Nunito Bold"/>
                <a:cs typeface="Nunito Bold"/>
                <a:sym typeface="Nunito Bold"/>
              </a:rPr>
              <a:t>Cooperative Game Theory for Explainable AI in Recommendation Systems  ·  A Shapley Framework for Actionable Insight</a:t>
            </a:r>
          </a:p>
        </p:txBody>
      </p:sp>
      <p:sp>
        <p:nvSpPr>
          <p:cNvPr id="4" name="TextBox 3"/>
          <p:cNvSpPr txBox="1"/>
          <p:nvPr/>
        </p:nvSpPr>
        <p:spPr>
          <a:xfrm>
            <a:off x="16162020" y="9692640"/>
            <a:ext cx="1097280" cy="329184"/>
          </a:xfrm>
          <a:prstGeom prst="rect">
            <a:avLst/>
          </a:prstGeom>
          <a:noFill/>
        </p:spPr>
        <p:txBody>
          <a:bodyPr anchor="t" rtlCol="false" lIns="0" tIns="0" rIns="0" bIns="0" wrap="square"/>
          <a:lstStyle/>
          <a:p>
            <a:pPr algn="r">
              <a:lnSpc>
                <a:spcPts val="2200"/>
              </a:lnSpc>
              <a:spcBef>
                <a:spcPts val="0"/>
              </a:spcBef>
              <a:buNone/>
            </a:pPr>
            <a:r>
              <a:rPr lang="en-US" sz="1800" b="true">
                <a:solidFill>
                  <a:srgbClr val="111111"/>
                </a:solidFill>
                <a:latin typeface="Nunito Ultra-Bold"/>
                <a:ea typeface="Nunito Ultra-Bold"/>
                <a:cs typeface="Nunito Ultra-Bold"/>
                <a:sym typeface="Nunito Ultra-Bold"/>
              </a:rPr>
              <a:t>17</a:t>
            </a:r>
          </a:p>
        </p:txBody>
      </p:sp>
      <p:sp>
        <p:nvSpPr>
          <p:cNvPr id="5" name="TextBox 4"/>
          <p:cNvSpPr txBox="1"/>
          <p:nvPr/>
        </p:nvSpPr>
        <p:spPr>
          <a:xfrm>
            <a:off x="1028700" y="2331720"/>
            <a:ext cx="14859000" cy="1737360"/>
          </a:xfrm>
          <a:prstGeom prst="rect">
            <a:avLst/>
          </a:prstGeom>
          <a:noFill/>
        </p:spPr>
        <p:txBody>
          <a:bodyPr anchor="t" rtlCol="false" lIns="0" tIns="0" rIns="0" bIns="0" wrap="square"/>
          <a:lstStyle/>
          <a:p>
            <a:pPr algn="l">
              <a:lnSpc>
                <a:spcPts val="11628"/>
              </a:lnSpc>
              <a:spcBef>
                <a:spcPts val="0"/>
              </a:spcBef>
              <a:buNone/>
            </a:pPr>
            <a:r>
              <a:rPr lang="en-US" sz="11400" b="true" spc="-661">
                <a:solidFill>
                  <a:srgbClr val="111111"/>
                </a:solidFill>
                <a:latin typeface="Roca Two Bold"/>
                <a:ea typeface="Roca Two Bold"/>
                <a:cs typeface="Roca Two Bold"/>
                <a:sym typeface="Roca Two Bold"/>
              </a:rPr>
              <a:t>Experimental Protocol</a:t>
            </a:r>
          </a:p>
        </p:txBody>
      </p:sp>
      <p:sp>
        <p:nvSpPr>
          <p:cNvPr id="6" name="Oval 5"/>
          <p:cNvSpPr/>
          <p:nvPr/>
        </p:nvSpPr>
        <p:spPr>
          <a:xfrm>
            <a:off x="15673226" y="2689860"/>
            <a:ext cx="1005840" cy="1005840"/>
          </a:xfrm>
          <a:prstGeom prst="ellipse">
            <a:avLst/>
          </a:prstGeom>
          <a:solidFill>
            <a:srgbClr val="ECC665"/>
          </a:solidFill>
          <a:ln>
            <a:noFill/>
          </a:ln>
        </p:spPr>
        <p:txBody>
          <a:bodyPr anchor="ctr" rtlCol="false" lIns="0" tIns="0" rIns="0" bIns="0" wrap="square"/>
          <a:lstStyle/>
          <a:p>
            <a:endParaRPr lang="en-US" sz="1800"/>
          </a:p>
        </p:txBody>
      </p:sp>
      <p:sp>
        <p:nvSpPr>
          <p:cNvPr id="7" name="TextBox 6"/>
          <p:cNvSpPr txBox="1"/>
          <p:nvPr/>
        </p:nvSpPr>
        <p:spPr>
          <a:xfrm>
            <a:off x="15673226" y="2689860"/>
            <a:ext cx="1005840" cy="1005840"/>
          </a:xfrm>
          <a:prstGeom prst="rect">
            <a:avLst/>
          </a:prstGeom>
          <a:noFill/>
        </p:spPr>
        <p:txBody>
          <a:bodyPr anchor="ctr" rtlCol="false" lIns="0" tIns="0" rIns="0" bIns="0" wrap="square"/>
          <a:lstStyle/>
          <a:p>
            <a:pPr algn="ctr">
              <a:lnSpc>
                <a:spcPts val="3400"/>
              </a:lnSpc>
              <a:spcBef>
                <a:spcPts val="0"/>
              </a:spcBef>
              <a:buNone/>
            </a:pPr>
            <a:r>
              <a:rPr lang="en-US" sz="3000" b="true">
                <a:solidFill>
                  <a:srgbClr val="111111"/>
                </a:solidFill>
                <a:latin typeface="Nunito Ultra-Bold"/>
                <a:ea typeface="Nunito Ultra-Bold"/>
                <a:cs typeface="Nunito Ultra-Bold"/>
                <a:sym typeface="Nunito Ultra-Bold"/>
              </a:rPr>
              <a:t>03</a:t>
            </a:r>
          </a:p>
        </p:txBody>
      </p:sp>
      <p:sp>
        <p:nvSpPr>
          <p:cNvPr id="8" name="TextBox 7"/>
          <p:cNvSpPr txBox="1"/>
          <p:nvPr/>
        </p:nvSpPr>
        <p:spPr>
          <a:xfrm>
            <a:off x="1028700" y="3953256"/>
            <a:ext cx="16230600" cy="640080"/>
          </a:xfrm>
          <a:prstGeom prst="rect">
            <a:avLst/>
          </a:prstGeom>
          <a:noFill/>
        </p:spPr>
        <p:txBody>
          <a:bodyPr anchor="t" rtlCol="false" lIns="0" tIns="0" rIns="0" bIns="0" wrap="square"/>
          <a:lstStyle/>
          <a:p>
            <a:pPr algn="l">
              <a:lnSpc>
                <a:spcPts val="3800"/>
              </a:lnSpc>
              <a:spcBef>
                <a:spcPts val="0"/>
              </a:spcBef>
              <a:buNone/>
            </a:pPr>
            <a:r>
              <a:rPr lang="en-US" sz="3000" b="true" spc="-150">
                <a:solidFill>
                  <a:srgbClr val="4472C4"/>
                </a:solidFill>
                <a:latin typeface="Nunito Bold"/>
                <a:ea typeface="Nunito Bold"/>
                <a:cs typeface="Nunito Bold"/>
                <a:sym typeface="Nunito Bold"/>
              </a:rPr>
              <a:t>One shared protocol so that the three contributions can be read together</a:t>
            </a:r>
          </a:p>
        </p:txBody>
      </p:sp>
      <p:sp>
        <p:nvSpPr>
          <p:cNvPr id="9" name="Rectangle 8"/>
          <p:cNvSpPr/>
          <p:nvPr/>
        </p:nvSpPr>
        <p:spPr>
          <a:xfrm>
            <a:off x="0" y="5440680"/>
            <a:ext cx="18288000" cy="4846320"/>
          </a:xfrm>
          <a:prstGeom prst="rect">
            <a:avLst/>
          </a:prstGeom>
          <a:solidFill>
            <a:srgbClr val="4472C4"/>
          </a:solidFill>
          <a:ln>
            <a:noFill/>
          </a:ln>
        </p:spPr>
        <p:txBody>
          <a:bodyPr anchor="ctr" rtlCol="false" lIns="0" tIns="0" rIns="0" bIns="0" wrap="square"/>
          <a:lstStyle/>
          <a:p>
            <a:endParaRPr lang="en-US" sz="1800"/>
          </a:p>
        </p:txBody>
      </p:sp>
      <p:sp>
        <p:nvSpPr>
          <p:cNvPr id="10" name="TextBox 9"/>
          <p:cNvSpPr txBox="1"/>
          <p:nvPr/>
        </p:nvSpPr>
        <p:spPr>
          <a:xfrm>
            <a:off x="1028700" y="5943600"/>
            <a:ext cx="5135880" cy="457200"/>
          </a:xfrm>
          <a:prstGeom prst="rect">
            <a:avLst/>
          </a:prstGeom>
          <a:noFill/>
        </p:spPr>
        <p:txBody>
          <a:bodyPr anchor="t" rtlCol="false" lIns="0" tIns="0" rIns="0" bIns="0" wrap="square"/>
          <a:lstStyle/>
          <a:p>
            <a:pPr algn="l">
              <a:lnSpc>
                <a:spcPts val="2800"/>
              </a:lnSpc>
              <a:spcBef>
                <a:spcPts val="0"/>
              </a:spcBef>
              <a:buNone/>
            </a:pPr>
            <a:r>
              <a:rPr lang="en-US" sz="2300" b="true">
                <a:solidFill>
                  <a:srgbClr val="ECC665"/>
                </a:solidFill>
                <a:latin typeface="Nunito Ultra-Bold"/>
                <a:ea typeface="Nunito Ultra-Bold"/>
                <a:cs typeface="Nunito Ultra-Bold"/>
                <a:sym typeface="Nunito Ultra-Bold"/>
              </a:rPr>
              <a:t>Datasets</a:t>
            </a:r>
          </a:p>
        </p:txBody>
      </p:sp>
      <p:cxnSp>
        <p:nvCxnSpPr>
          <p:cNvPr id="11" name="Connector 10"/>
          <p:cNvCxnSpPr/>
          <p:nvPr/>
        </p:nvCxnSpPr>
        <p:spPr>
          <a:xfrm>
            <a:off x="1028700" y="6464808"/>
            <a:ext cx="640080" cy="0"/>
          </a:xfrm>
          <a:prstGeom prst="line">
            <a:avLst/>
          </a:prstGeom>
          <a:ln w="31750">
            <a:solidFill>
              <a:srgbClr val="ECC665"/>
            </a:solidFill>
          </a:ln>
        </p:spPr>
      </p:cxnSp>
      <p:sp>
        <p:nvSpPr>
          <p:cNvPr id="12" name="TextBox 11"/>
          <p:cNvSpPr txBox="1"/>
          <p:nvPr/>
        </p:nvSpPr>
        <p:spPr>
          <a:xfrm>
            <a:off x="1028700" y="6675120"/>
            <a:ext cx="5135880" cy="3108960"/>
          </a:xfrm>
          <a:prstGeom prst="rect">
            <a:avLst/>
          </a:prstGeom>
          <a:noFill/>
        </p:spPr>
        <p:txBody>
          <a:bodyPr anchor="t" rtlCol="false" lIns="0" tIns="0" rIns="0" bIns="0" wrap="square"/>
          <a:lstStyle/>
          <a:p>
            <a:pPr algn="l">
              <a:lnSpc>
                <a:spcPts val="2940"/>
              </a:lnSpc>
              <a:spcBef>
                <a:spcPts val="0"/>
              </a:spcBef>
              <a:buNone/>
            </a:pPr>
            <a:r>
              <a:rPr lang="en-US" sz="2100" b="true">
                <a:solidFill>
                  <a:srgbClr val="FFFFFF"/>
                </a:solidFill>
                <a:latin typeface="Nunito Semi-Bold"/>
                <a:ea typeface="Nunito Semi-Bold"/>
                <a:cs typeface="Nunito Semi-Bold"/>
                <a:sym typeface="Nunito Semi-Bold"/>
              </a:rPr>
              <a:t>Wine Quality and Beijing Air Quality for clustering; MovieLens-1M and Amazon-Book for recommendation.</a:t>
            </a:r>
          </a:p>
        </p:txBody>
      </p:sp>
      <p:sp>
        <p:nvSpPr>
          <p:cNvPr id="13" name="TextBox 12"/>
          <p:cNvSpPr txBox="1"/>
          <p:nvPr/>
        </p:nvSpPr>
        <p:spPr>
          <a:xfrm>
            <a:off x="6576060" y="5943600"/>
            <a:ext cx="5135880" cy="457200"/>
          </a:xfrm>
          <a:prstGeom prst="rect">
            <a:avLst/>
          </a:prstGeom>
          <a:noFill/>
        </p:spPr>
        <p:txBody>
          <a:bodyPr anchor="t" rtlCol="false" lIns="0" tIns="0" rIns="0" bIns="0" wrap="square"/>
          <a:lstStyle/>
          <a:p>
            <a:pPr algn="l">
              <a:lnSpc>
                <a:spcPts val="2800"/>
              </a:lnSpc>
              <a:spcBef>
                <a:spcPts val="0"/>
              </a:spcBef>
              <a:buNone/>
            </a:pPr>
            <a:r>
              <a:rPr lang="en-US" sz="2300" b="true">
                <a:solidFill>
                  <a:srgbClr val="ECC665"/>
                </a:solidFill>
                <a:latin typeface="Nunito Ultra-Bold"/>
                <a:ea typeface="Nunito Ultra-Bold"/>
                <a:cs typeface="Nunito Ultra-Bold"/>
                <a:sym typeface="Nunito Ultra-Bold"/>
              </a:rPr>
              <a:t>Baselines &amp; metrics</a:t>
            </a:r>
          </a:p>
        </p:txBody>
      </p:sp>
      <p:cxnSp>
        <p:nvCxnSpPr>
          <p:cNvPr id="14" name="Connector 13"/>
          <p:cNvCxnSpPr/>
          <p:nvPr/>
        </p:nvCxnSpPr>
        <p:spPr>
          <a:xfrm>
            <a:off x="6576060" y="6464808"/>
            <a:ext cx="640080" cy="0"/>
          </a:xfrm>
          <a:prstGeom prst="line">
            <a:avLst/>
          </a:prstGeom>
          <a:ln w="31750">
            <a:solidFill>
              <a:srgbClr val="ECC665"/>
            </a:solidFill>
          </a:ln>
        </p:spPr>
      </p:cxnSp>
      <p:sp>
        <p:nvSpPr>
          <p:cNvPr id="15" name="TextBox 14"/>
          <p:cNvSpPr txBox="1"/>
          <p:nvPr/>
        </p:nvSpPr>
        <p:spPr>
          <a:xfrm>
            <a:off x="6576060" y="6675120"/>
            <a:ext cx="5135880" cy="3108960"/>
          </a:xfrm>
          <a:prstGeom prst="rect">
            <a:avLst/>
          </a:prstGeom>
          <a:noFill/>
        </p:spPr>
        <p:txBody>
          <a:bodyPr anchor="t" rtlCol="false" lIns="0" tIns="0" rIns="0" bIns="0" wrap="square"/>
          <a:lstStyle/>
          <a:p>
            <a:pPr algn="l">
              <a:lnSpc>
                <a:spcPts val="2940"/>
              </a:lnSpc>
              <a:spcBef>
                <a:spcPts val="0"/>
              </a:spcBef>
              <a:buNone/>
            </a:pPr>
            <a:r>
              <a:rPr lang="en-US" sz="2100" b="true">
                <a:solidFill>
                  <a:srgbClr val="FFFFFF"/>
                </a:solidFill>
                <a:latin typeface="Nunito Semi-Bold"/>
                <a:ea typeface="Nunito Semi-Bold"/>
                <a:cs typeface="Nunito Semi-Bold"/>
                <a:sym typeface="Nunito Semi-Bold"/>
              </a:rPr>
              <a:t>LIME for clustering explanation; MF </a:t>
            </a:r>
            <a:r>
              <a:rPr lang="en-US" sz="2100" b="true">
                <a:solidFill>
                  <a:srgbClr val="FFFFFF"/>
                </a:solidFill>
                <a:latin typeface="Calibri"/>
                <a:ea typeface="Calibri"/>
                <a:cs typeface="Calibri"/>
                <a:sym typeface="Calibri"/>
              </a:rPr>
              <a:t>→ </a:t>
            </a:r>
            <a:r>
              <a:rPr lang="en-US" sz="2100" b="true">
                <a:solidFill>
                  <a:srgbClr val="FFFFFF"/>
                </a:solidFill>
                <a:latin typeface="Nunito Semi-Bold"/>
                <a:ea typeface="Nunito Semi-Bold"/>
                <a:cs typeface="Nunito Semi-Bold"/>
                <a:sym typeface="Nunito Semi-Bold"/>
              </a:rPr>
              <a:t>HPCF for recommendation; NDCG@20, Recall, Coverage, ILD, Silhouette, Davies–Bouldin.</a:t>
            </a:r>
          </a:p>
        </p:txBody>
      </p:sp>
      <p:sp>
        <p:nvSpPr>
          <p:cNvPr id="16" name="TextBox 15"/>
          <p:cNvSpPr txBox="1"/>
          <p:nvPr/>
        </p:nvSpPr>
        <p:spPr>
          <a:xfrm>
            <a:off x="12123420" y="5943600"/>
            <a:ext cx="5135880" cy="457200"/>
          </a:xfrm>
          <a:prstGeom prst="rect">
            <a:avLst/>
          </a:prstGeom>
          <a:noFill/>
        </p:spPr>
        <p:txBody>
          <a:bodyPr anchor="t" rtlCol="false" lIns="0" tIns="0" rIns="0" bIns="0" wrap="square"/>
          <a:lstStyle/>
          <a:p>
            <a:pPr algn="l">
              <a:lnSpc>
                <a:spcPts val="2800"/>
              </a:lnSpc>
              <a:spcBef>
                <a:spcPts val="0"/>
              </a:spcBef>
              <a:buNone/>
            </a:pPr>
            <a:r>
              <a:rPr lang="en-US" sz="2300" b="true">
                <a:solidFill>
                  <a:srgbClr val="ECC665"/>
                </a:solidFill>
                <a:latin typeface="Nunito Ultra-Bold"/>
                <a:ea typeface="Nunito Ultra-Bold"/>
                <a:cs typeface="Nunito Ultra-Bold"/>
                <a:sym typeface="Nunito Ultra-Bold"/>
              </a:rPr>
              <a:t>Reproducibility</a:t>
            </a:r>
          </a:p>
        </p:txBody>
      </p:sp>
      <p:cxnSp>
        <p:nvCxnSpPr>
          <p:cNvPr id="17" name="Connector 16"/>
          <p:cNvCxnSpPr/>
          <p:nvPr/>
        </p:nvCxnSpPr>
        <p:spPr>
          <a:xfrm>
            <a:off x="12123420" y="6464808"/>
            <a:ext cx="640080" cy="0"/>
          </a:xfrm>
          <a:prstGeom prst="line">
            <a:avLst/>
          </a:prstGeom>
          <a:ln w="31750">
            <a:solidFill>
              <a:srgbClr val="ECC665"/>
            </a:solidFill>
          </a:ln>
        </p:spPr>
      </p:cxnSp>
      <p:sp>
        <p:nvSpPr>
          <p:cNvPr id="18" name="TextBox 17"/>
          <p:cNvSpPr txBox="1"/>
          <p:nvPr/>
        </p:nvSpPr>
        <p:spPr>
          <a:xfrm>
            <a:off x="12123420" y="6675120"/>
            <a:ext cx="5135880" cy="3108960"/>
          </a:xfrm>
          <a:prstGeom prst="rect">
            <a:avLst/>
          </a:prstGeom>
          <a:noFill/>
        </p:spPr>
        <p:txBody>
          <a:bodyPr anchor="t" rtlCol="false" lIns="0" tIns="0" rIns="0" bIns="0" wrap="square"/>
          <a:lstStyle/>
          <a:p>
            <a:pPr algn="l">
              <a:lnSpc>
                <a:spcPts val="2940"/>
              </a:lnSpc>
              <a:spcBef>
                <a:spcPts val="0"/>
              </a:spcBef>
              <a:buNone/>
            </a:pPr>
            <a:r>
              <a:rPr lang="en-US" sz="2100" b="true">
                <a:solidFill>
                  <a:srgbClr val="FFFFFF"/>
                </a:solidFill>
                <a:latin typeface="Nunito Semi-Bold"/>
                <a:ea typeface="Nunito Semi-Bold"/>
                <a:cs typeface="Nunito Semi-Bold"/>
                <a:sym typeface="Nunito Semi-Bold"/>
              </a:rPr>
              <a:t>Fixed seeds, time-ordered user-level splits, early stopping, standard academic hardware (i9-14900K + RTX 4090).</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pic>
        <p:nvPicPr>
          <p:cNvPr id="2" name="Picture 1" descr="ensias_logo.jpg"/>
          <p:cNvPicPr>
            <a:picLocks noChangeAspect="1"/>
          </p:cNvPicPr>
          <p:nvPr/>
        </p:nvPicPr>
        <p:blipFill>
          <a:blip r:embed="rId2"/>
          <a:stretch>
            <a:fillRect/>
          </a:stretch>
        </p:blipFill>
        <p:spPr>
          <a:xfrm>
            <a:off x="1028700" y="9674352"/>
            <a:ext cx="542964" cy="384048"/>
          </a:xfrm>
          <a:prstGeom prst="rect">
            <a:avLst/>
          </a:prstGeom>
        </p:spPr>
      </p:pic>
      <p:sp>
        <p:nvSpPr>
          <p:cNvPr id="3" name="TextBox 2"/>
          <p:cNvSpPr txBox="1"/>
          <p:nvPr/>
        </p:nvSpPr>
        <p:spPr>
          <a:xfrm>
            <a:off x="1577340" y="9601200"/>
            <a:ext cx="14493240" cy="566928"/>
          </a:xfrm>
          <a:prstGeom prst="rect">
            <a:avLst/>
          </a:prstGeom>
          <a:noFill/>
        </p:spPr>
        <p:txBody>
          <a:bodyPr anchor="ctr" rtlCol="false" lIns="0" tIns="0" rIns="0" bIns="0" wrap="square"/>
          <a:lstStyle/>
          <a:p>
            <a:pPr algn="l">
              <a:lnSpc>
                <a:spcPts val="1200"/>
              </a:lnSpc>
              <a:spcBef>
                <a:spcPts val="0"/>
              </a:spcBef>
              <a:buNone/>
            </a:pPr>
            <a:r>
              <a:rPr lang="en-US" sz="1000" b="true">
                <a:solidFill>
                  <a:srgbClr val="8A8378"/>
                </a:solidFill>
                <a:latin typeface="Nunito Semi-Bold"/>
                <a:ea typeface="Nunito Semi-Bold"/>
                <a:cs typeface="Nunito Semi-Bold"/>
                <a:sym typeface="Nunito Semi-Bold"/>
              </a:rPr>
              <a:t>[19] Cortez, P. et al. Wine Quality. UCI Machine Learning Repository (2009).  ·  Dua, D. &amp; Taniskidou, E. Beijing Multi-Site Air Quality Data. UCI Machine Learning Repository (2017).</a:t>
            </a:r>
          </a:p>
        </p:txBody>
      </p:sp>
      <p:sp>
        <p:nvSpPr>
          <p:cNvPr id="4" name="TextBox 3"/>
          <p:cNvSpPr txBox="1"/>
          <p:nvPr/>
        </p:nvSpPr>
        <p:spPr>
          <a:xfrm>
            <a:off x="16162020" y="9692640"/>
            <a:ext cx="1097280" cy="329184"/>
          </a:xfrm>
          <a:prstGeom prst="rect">
            <a:avLst/>
          </a:prstGeom>
          <a:noFill/>
        </p:spPr>
        <p:txBody>
          <a:bodyPr anchor="t" rtlCol="false" lIns="0" tIns="0" rIns="0" bIns="0" wrap="square"/>
          <a:lstStyle/>
          <a:p>
            <a:pPr algn="r">
              <a:lnSpc>
                <a:spcPts val="2200"/>
              </a:lnSpc>
              <a:spcBef>
                <a:spcPts val="0"/>
              </a:spcBef>
              <a:buNone/>
            </a:pPr>
            <a:r>
              <a:rPr lang="en-US" sz="1800" b="true">
                <a:solidFill>
                  <a:srgbClr val="111111"/>
                </a:solidFill>
                <a:latin typeface="Nunito Ultra-Bold"/>
                <a:ea typeface="Nunito Ultra-Bold"/>
                <a:cs typeface="Nunito Ultra-Bold"/>
                <a:sym typeface="Nunito Ultra-Bold"/>
              </a:rPr>
              <a:t>18</a:t>
            </a:r>
          </a:p>
        </p:txBody>
      </p:sp>
      <p:sp>
        <p:nvSpPr>
          <p:cNvPr id="5" name="TextBox 4"/>
          <p:cNvSpPr txBox="1"/>
          <p:nvPr/>
        </p:nvSpPr>
        <p:spPr>
          <a:xfrm>
            <a:off x="1028700" y="1389888"/>
            <a:ext cx="12938760" cy="329184"/>
          </a:xfrm>
          <a:prstGeom prst="rect">
            <a:avLst/>
          </a:prstGeom>
          <a:noFill/>
        </p:spPr>
        <p:txBody>
          <a:bodyPr anchor="t" rtlCol="false" lIns="0" tIns="0" rIns="0" bIns="0" wrap="square"/>
          <a:lstStyle/>
          <a:p>
            <a:pPr algn="l">
              <a:lnSpc>
                <a:spcPts val="2000"/>
              </a:lnSpc>
              <a:spcBef>
                <a:spcPts val="0"/>
              </a:spcBef>
              <a:buNone/>
            </a:pPr>
            <a:r>
              <a:rPr lang="en-US" sz="1500" b="true" spc="160">
                <a:solidFill>
                  <a:srgbClr val="1F7A8C"/>
                </a:solidFill>
                <a:latin typeface="Nunito Ultra-Bold"/>
                <a:ea typeface="Nunito Ultra-Bold"/>
                <a:cs typeface="Nunito Ultra-Bold"/>
                <a:sym typeface="Nunito Ultra-Bold"/>
              </a:rPr>
              <a:t>EXPERIMENTAL PROTOCOL</a:t>
            </a:r>
          </a:p>
        </p:txBody>
      </p:sp>
      <p:sp>
        <p:nvSpPr>
          <p:cNvPr id="6" name="Rounded Rectangle 5"/>
          <p:cNvSpPr/>
          <p:nvPr/>
        </p:nvSpPr>
        <p:spPr>
          <a:xfrm>
            <a:off x="14516100"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7" name="TextBox 6"/>
          <p:cNvSpPr txBox="1"/>
          <p:nvPr/>
        </p:nvSpPr>
        <p:spPr>
          <a:xfrm>
            <a:off x="14516100"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1</a:t>
            </a:r>
          </a:p>
        </p:txBody>
      </p:sp>
      <p:sp>
        <p:nvSpPr>
          <p:cNvPr id="8" name="Rounded Rectangle 7"/>
          <p:cNvSpPr/>
          <p:nvPr/>
        </p:nvSpPr>
        <p:spPr>
          <a:xfrm>
            <a:off x="14918436"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9" name="TextBox 8"/>
          <p:cNvSpPr txBox="1"/>
          <p:nvPr/>
        </p:nvSpPr>
        <p:spPr>
          <a:xfrm>
            <a:off x="14918436"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2</a:t>
            </a:r>
          </a:p>
        </p:txBody>
      </p:sp>
      <p:sp>
        <p:nvSpPr>
          <p:cNvPr id="10" name="Rounded Rectangle 9"/>
          <p:cNvSpPr/>
          <p:nvPr/>
        </p:nvSpPr>
        <p:spPr>
          <a:xfrm>
            <a:off x="15320772" y="1371600"/>
            <a:ext cx="329184" cy="329184"/>
          </a:xfrm>
          <a:prstGeom prst="roundRect">
            <a:avLst>
              <a:gd name="adj" fmla="val 16666"/>
            </a:avLst>
          </a:prstGeom>
          <a:solidFill>
            <a:srgbClr val="4472C4"/>
          </a:solidFill>
          <a:ln w="15875">
            <a:solidFill>
              <a:srgbClr val="4472C4"/>
            </a:solidFill>
          </a:ln>
        </p:spPr>
        <p:txBody>
          <a:bodyPr anchor="ctr" rtlCol="false" lIns="0" tIns="0" rIns="0" bIns="0" wrap="square"/>
          <a:lstStyle/>
          <a:p>
            <a:endParaRPr lang="en-US" sz="1800"/>
          </a:p>
        </p:txBody>
      </p:sp>
      <p:sp>
        <p:nvSpPr>
          <p:cNvPr id="11" name="TextBox 10"/>
          <p:cNvSpPr txBox="1"/>
          <p:nvPr/>
        </p:nvSpPr>
        <p:spPr>
          <a:xfrm>
            <a:off x="15320772"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FFFFFF"/>
                </a:solidFill>
                <a:latin typeface="Nunito Ultra-Bold"/>
                <a:ea typeface="Nunito Ultra-Bold"/>
                <a:cs typeface="Nunito Ultra-Bold"/>
                <a:sym typeface="Nunito Ultra-Bold"/>
              </a:rPr>
              <a:t>3</a:t>
            </a:r>
          </a:p>
        </p:txBody>
      </p:sp>
      <p:sp>
        <p:nvSpPr>
          <p:cNvPr id="12" name="Rounded Rectangle 11"/>
          <p:cNvSpPr/>
          <p:nvPr/>
        </p:nvSpPr>
        <p:spPr>
          <a:xfrm>
            <a:off x="15723108"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13" name="TextBox 12"/>
          <p:cNvSpPr txBox="1"/>
          <p:nvPr/>
        </p:nvSpPr>
        <p:spPr>
          <a:xfrm>
            <a:off x="15723108"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4</a:t>
            </a:r>
          </a:p>
        </p:txBody>
      </p:sp>
      <p:sp>
        <p:nvSpPr>
          <p:cNvPr id="14" name="Rounded Rectangle 13"/>
          <p:cNvSpPr/>
          <p:nvPr/>
        </p:nvSpPr>
        <p:spPr>
          <a:xfrm>
            <a:off x="16125444"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15" name="TextBox 14"/>
          <p:cNvSpPr txBox="1"/>
          <p:nvPr/>
        </p:nvSpPr>
        <p:spPr>
          <a:xfrm>
            <a:off x="16125444"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5</a:t>
            </a:r>
          </a:p>
        </p:txBody>
      </p:sp>
      <p:sp>
        <p:nvSpPr>
          <p:cNvPr id="16" name="Rounded Rectangle 15"/>
          <p:cNvSpPr/>
          <p:nvPr/>
        </p:nvSpPr>
        <p:spPr>
          <a:xfrm>
            <a:off x="16527780"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17" name="TextBox 16"/>
          <p:cNvSpPr txBox="1"/>
          <p:nvPr/>
        </p:nvSpPr>
        <p:spPr>
          <a:xfrm>
            <a:off x="16527780"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6</a:t>
            </a:r>
          </a:p>
        </p:txBody>
      </p:sp>
      <p:sp>
        <p:nvSpPr>
          <p:cNvPr id="18" name="Rounded Rectangle 17"/>
          <p:cNvSpPr/>
          <p:nvPr/>
        </p:nvSpPr>
        <p:spPr>
          <a:xfrm>
            <a:off x="16930116"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19" name="TextBox 18"/>
          <p:cNvSpPr txBox="1"/>
          <p:nvPr/>
        </p:nvSpPr>
        <p:spPr>
          <a:xfrm>
            <a:off x="16930116"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7</a:t>
            </a:r>
          </a:p>
        </p:txBody>
      </p:sp>
      <p:sp>
        <p:nvSpPr>
          <p:cNvPr id="20" name="TextBox 19"/>
          <p:cNvSpPr txBox="1"/>
          <p:nvPr/>
        </p:nvSpPr>
        <p:spPr>
          <a:xfrm>
            <a:off x="1028700" y="1719072"/>
            <a:ext cx="16230600" cy="730250"/>
          </a:xfrm>
          <a:prstGeom prst="rect">
            <a:avLst/>
          </a:prstGeom>
          <a:noFill/>
        </p:spPr>
        <p:txBody>
          <a:bodyPr anchor="t" rtlCol="false" lIns="0" tIns="0" rIns="0" bIns="0" wrap="square"/>
          <a:lstStyle/>
          <a:p>
            <a:pPr algn="l">
              <a:lnSpc>
                <a:spcPts val="5060"/>
              </a:lnSpc>
              <a:spcBef>
                <a:spcPts val="0"/>
              </a:spcBef>
              <a:buNone/>
            </a:pPr>
            <a:r>
              <a:rPr lang="en-US" sz="4600" b="true" spc="-230">
                <a:solidFill>
                  <a:srgbClr val="111111"/>
                </a:solidFill>
                <a:latin typeface="Roca Two Bold"/>
                <a:ea typeface="Roca Two Bold"/>
                <a:cs typeface="Roca Two Bold"/>
                <a:sym typeface="Roca Two Bold"/>
              </a:rPr>
              <a:t>Wine Quality: Portuguese Vinho Verde</a:t>
            </a:r>
          </a:p>
        </p:txBody>
      </p:sp>
      <p:sp>
        <p:nvSpPr>
          <p:cNvPr id="21" name="Rounded Rectangle 20"/>
          <p:cNvSpPr/>
          <p:nvPr/>
        </p:nvSpPr>
        <p:spPr>
          <a:xfrm>
            <a:off x="1028700" y="2559050"/>
            <a:ext cx="1523907" cy="420624"/>
          </a:xfrm>
          <a:prstGeom prst="roundRect">
            <a:avLst>
              <a:gd name="adj" fmla="val 50000"/>
            </a:avLst>
          </a:prstGeom>
          <a:solidFill>
            <a:srgbClr val="4472C4"/>
          </a:solidFill>
          <a:ln>
            <a:noFill/>
          </a:ln>
        </p:spPr>
        <p:txBody>
          <a:bodyPr anchor="ctr" rtlCol="false" lIns="45720" tIns="0" rIns="45720" bIns="0" wrap="square"/>
          <a:lstStyle/>
          <a:p>
            <a:pPr algn="ctr">
              <a:lnSpc>
                <a:spcPts val="2160"/>
              </a:lnSpc>
              <a:spcBef>
                <a:spcPts val="0"/>
              </a:spcBef>
              <a:buNone/>
            </a:pPr>
            <a:r>
              <a:rPr lang="en-US" sz="1800" b="true">
                <a:solidFill>
                  <a:srgbClr val="FFFFFF"/>
                </a:solidFill>
                <a:latin typeface="Nunito Bold"/>
                <a:ea typeface="Nunito Bold"/>
                <a:cs typeface="Nunito Bold"/>
                <a:sym typeface="Nunito Bold"/>
              </a:rPr>
              <a:t>Datasets</a:t>
            </a:r>
          </a:p>
        </p:txBody>
      </p:sp>
      <p:sp>
        <p:nvSpPr>
          <p:cNvPr id="22" name="Rounded Rectangle 21"/>
          <p:cNvSpPr/>
          <p:nvPr/>
        </p:nvSpPr>
        <p:spPr>
          <a:xfrm>
            <a:off x="2680623" y="2559050"/>
            <a:ext cx="1349432" cy="420624"/>
          </a:xfrm>
          <a:prstGeom prst="roundRect">
            <a:avLst>
              <a:gd name="adj" fmla="val 50000"/>
            </a:avLst>
          </a:prstGeom>
          <a:noFill/>
          <a:ln w="28575">
            <a:solidFill>
              <a:srgbClr val="4472C4"/>
            </a:solidFill>
          </a:ln>
        </p:spPr>
        <p:txBody>
          <a:bodyPr anchor="ctr" rtlCol="false" lIns="45720" tIns="0" rIns="45720" bIns="0" wrap="square"/>
          <a:lstStyle/>
          <a:p>
            <a:pPr algn="ctr">
              <a:lnSpc>
                <a:spcPts val="2160"/>
              </a:lnSpc>
              <a:spcBef>
                <a:spcPts val="0"/>
              </a:spcBef>
              <a:buNone/>
            </a:pPr>
            <a:r>
              <a:rPr lang="en-US" sz="1800" b="true">
                <a:solidFill>
                  <a:srgbClr val="4472C4"/>
                </a:solidFill>
                <a:latin typeface="Nunito Bold"/>
                <a:ea typeface="Nunito Bold"/>
                <a:cs typeface="Nunito Bold"/>
                <a:sym typeface="Nunito Bold"/>
              </a:rPr>
              <a:t>Metrics</a:t>
            </a:r>
          </a:p>
        </p:txBody>
      </p:sp>
      <p:sp>
        <p:nvSpPr>
          <p:cNvPr id="23" name="Rounded Rectangle 22"/>
          <p:cNvSpPr/>
          <p:nvPr/>
        </p:nvSpPr>
        <p:spPr>
          <a:xfrm>
            <a:off x="4158071" y="2559050"/>
            <a:ext cx="1642577" cy="420624"/>
          </a:xfrm>
          <a:prstGeom prst="roundRect">
            <a:avLst>
              <a:gd name="adj" fmla="val 50000"/>
            </a:avLst>
          </a:prstGeom>
          <a:noFill/>
          <a:ln w="28575">
            <a:solidFill>
              <a:srgbClr val="4472C4"/>
            </a:solidFill>
          </a:ln>
        </p:spPr>
        <p:txBody>
          <a:bodyPr anchor="ctr" rtlCol="false" lIns="45720" tIns="0" rIns="45720" bIns="0" wrap="square"/>
          <a:lstStyle/>
          <a:p>
            <a:pPr algn="ctr">
              <a:lnSpc>
                <a:spcPts val="2160"/>
              </a:lnSpc>
              <a:spcBef>
                <a:spcPts val="0"/>
              </a:spcBef>
              <a:buNone/>
            </a:pPr>
            <a:r>
              <a:rPr lang="en-US" sz="1800" b="true">
                <a:solidFill>
                  <a:srgbClr val="4472C4"/>
                </a:solidFill>
                <a:latin typeface="Nunito Bold"/>
                <a:ea typeface="Nunito Bold"/>
                <a:cs typeface="Nunito Bold"/>
                <a:sym typeface="Nunito Bold"/>
              </a:rPr>
              <a:t>Hardware</a:t>
            </a:r>
          </a:p>
        </p:txBody>
      </p:sp>
      <p:sp>
        <p:nvSpPr>
          <p:cNvPr id="24" name="TextBox 23"/>
          <p:cNvSpPr txBox="1"/>
          <p:nvPr/>
        </p:nvSpPr>
        <p:spPr>
          <a:xfrm>
            <a:off x="1028700" y="3363722"/>
            <a:ext cx="6949440" cy="2743200"/>
          </a:xfrm>
          <a:prstGeom prst="rect">
            <a:avLst/>
          </a:prstGeom>
          <a:noFill/>
        </p:spPr>
        <p:txBody>
          <a:bodyPr anchor="t" rtlCol="false" lIns="0" tIns="0" rIns="0" bIns="0" wrap="square"/>
          <a:lstStyle/>
          <a:p>
            <a:pPr algn="l" marL="274320" indent="-274320">
              <a:lnSpc>
                <a:spcPts val="2500"/>
              </a:lnSpc>
              <a:spcBef>
                <a:spcPts val="0"/>
              </a:spcBef>
              <a:buClr>
                <a:srgbClr val="1F7A8C"/>
              </a:buClr>
              <a:buSzPct val="100000"/>
              <a:buFont typeface="Arial"/>
              <a:buChar char="•"/>
            </a:pPr>
            <a:r>
              <a:rPr lang="en-US" sz="1786" b="true">
                <a:solidFill>
                  <a:srgbClr val="111111"/>
                </a:solidFill>
                <a:latin typeface="Nunito Bold"/>
                <a:ea typeface="Nunito Bold"/>
                <a:cs typeface="Nunito Bold"/>
                <a:sym typeface="Nunito Bold"/>
              </a:rPr>
              <a:t>4,898 white-wine samples</a:t>
            </a:r>
            <a:r>
              <a:rPr lang="en-US" sz="1786" b="true">
                <a:solidFill>
                  <a:srgbClr val="111111"/>
                </a:solidFill>
                <a:latin typeface="Nunito Semi-Bold"/>
                <a:ea typeface="Nunito Semi-Bold"/>
                <a:cs typeface="Nunito Semi-Bold"/>
                <a:sym typeface="Nunito Semi-Bold"/>
              </a:rPr>
              <a:t> described by </a:t>
            </a:r>
            <a:r>
              <a:rPr lang="en-US" sz="1786" b="true">
                <a:solidFill>
                  <a:srgbClr val="111111"/>
                </a:solidFill>
                <a:latin typeface="Nunito Bold"/>
                <a:ea typeface="Nunito Bold"/>
                <a:cs typeface="Nunito Bold"/>
                <a:sym typeface="Nunito Bold"/>
              </a:rPr>
              <a:t>11 physicochemical measurements</a:t>
            </a:r>
            <a:r>
              <a:rPr lang="en-US" sz="1786" b="true">
                <a:solidFill>
                  <a:srgbClr val="111111"/>
                </a:solidFill>
                <a:latin typeface="Nunito Semi-Bold"/>
                <a:ea typeface="Nunito Semi-Bold"/>
                <a:cs typeface="Nunito Semi-Bold"/>
                <a:sym typeface="Nunito Semi-Bold"/>
              </a:rPr>
              <a:t> and a sensory quality score (UCI repository).</a:t>
            </a:r>
          </a:p>
          <a:p>
            <a:pPr algn="l" marL="274320" indent="-274320">
              <a:lnSpc>
                <a:spcPts val="2500"/>
              </a:lnSpc>
              <a:spcBef>
                <a:spcPts val="752"/>
              </a:spcBef>
              <a:buClr>
                <a:srgbClr val="1F7A8C"/>
              </a:buClr>
              <a:buSzPct val="100000"/>
              <a:buFont typeface="Arial"/>
              <a:buChar char="•"/>
            </a:pPr>
            <a:r>
              <a:rPr lang="en-US" sz="1786" b="true">
                <a:solidFill>
                  <a:srgbClr val="111111"/>
                </a:solidFill>
                <a:latin typeface="Nunito Semi-Bold"/>
                <a:ea typeface="Nunito Semi-Bold"/>
                <a:cs typeface="Nunito Semi-Bold"/>
                <a:sym typeface="Nunito Semi-Bold"/>
              </a:rPr>
              <a:t>Small, dense and chemically correlated: the ideal place to check that an explanation lands on </a:t>
            </a:r>
            <a:r>
              <a:rPr lang="en-US" sz="1786" b="true">
                <a:solidFill>
                  <a:srgbClr val="111111"/>
                </a:solidFill>
                <a:latin typeface="Nunito Bold"/>
                <a:ea typeface="Nunito Bold"/>
                <a:cs typeface="Nunito Bold"/>
                <a:sym typeface="Nunito Bold"/>
              </a:rPr>
              <a:t>variables a wine expert understands</a:t>
            </a:r>
            <a:r>
              <a:rPr lang="en-US" sz="1786" b="true">
                <a:solidFill>
                  <a:srgbClr val="111111"/>
                </a:solidFill>
                <a:latin typeface="Nunito Semi-Bold"/>
                <a:ea typeface="Nunito Semi-Bold"/>
                <a:cs typeface="Nunito Semi-Bold"/>
                <a:sym typeface="Nunito Semi-Bold"/>
              </a:rPr>
              <a:t>.</a:t>
            </a:r>
          </a:p>
          <a:p>
            <a:pPr algn="l" marL="274320" indent="-274320">
              <a:lnSpc>
                <a:spcPts val="2500"/>
              </a:lnSpc>
              <a:spcBef>
                <a:spcPts val="752"/>
              </a:spcBef>
              <a:buClr>
                <a:srgbClr val="1F7A8C"/>
              </a:buClr>
              <a:buSzPct val="100000"/>
              <a:buFont typeface="Arial"/>
              <a:buChar char="•"/>
            </a:pPr>
            <a:r>
              <a:rPr lang="en-US" sz="1786" b="true">
                <a:solidFill>
                  <a:srgbClr val="111111"/>
                </a:solidFill>
                <a:latin typeface="Nunito Semi-Bold"/>
                <a:ea typeface="Nunito Semi-Bold"/>
                <a:cs typeface="Nunito Semi-Bold"/>
                <a:sym typeface="Nunito Semi-Bold"/>
              </a:rPr>
              <a:t>Used for </a:t>
            </a:r>
            <a:r>
              <a:rPr lang="en-US" sz="1786" b="true">
                <a:solidFill>
                  <a:srgbClr val="111111"/>
                </a:solidFill>
                <a:latin typeface="Nunito Bold"/>
                <a:ea typeface="Nunito Bold"/>
                <a:cs typeface="Nunito Bold"/>
                <a:sym typeface="Nunito Bold"/>
              </a:rPr>
              <a:t>Contribution I</a:t>
            </a:r>
            <a:r>
              <a:rPr lang="en-US" sz="1786" b="true">
                <a:solidFill>
                  <a:srgbClr val="111111"/>
                </a:solidFill>
                <a:latin typeface="Nunito Semi-Bold"/>
                <a:ea typeface="Nunito Semi-Bold"/>
                <a:cs typeface="Nunito Semi-Bold"/>
                <a:sym typeface="Nunito Semi-Bold"/>
              </a:rPr>
              <a:t>: single-level clustering, then Shapley attribution back to the chemistry.</a:t>
            </a:r>
          </a:p>
        </p:txBody>
      </p:sp>
      <p:graphicFrame>
        <p:nvGraphicFramePr>
          <p:cNvPr id="25" name="Table 24"/>
          <p:cNvGraphicFramePr>
            <a:graphicFrameLocks noGrp="1"/>
          </p:cNvGraphicFramePr>
          <p:nvPr/>
        </p:nvGraphicFramePr>
        <p:xfrm>
          <a:off x="8435340" y="3363722"/>
          <a:ext cx="8823959" cy="3228848"/>
        </p:xfrm>
        <a:graphic>
          <a:graphicData uri="http://schemas.openxmlformats.org/drawingml/2006/table">
            <a:tbl>
              <a:tblPr firstRow="0" bandRow="0" firstCol="0" lastRow="0" lastCol="0" bandCol="0">
                <a:tableStyleId>{2D5ABB26-0587-4C30-8999-92F81FD0307C}</a:tableStyleId>
              </a:tblPr>
              <a:tblGrid>
                <a:gridCol w="4622074"/>
                <a:gridCol w="4201885"/>
              </a:tblGrid>
              <a:tr h="461264">
                <a:tc>
                  <a:txBody>
                    <a:bodyPr anchor="ctr" rtlCol="false" lIns="0" tIns="0" rIns="0" bIns="0" wrap="square"/>
                    <a:lstStyle/>
                    <a:p>
                      <a:pPr algn="l">
                        <a:lnSpc>
                          <a:spcPts val="2080"/>
                        </a:lnSpc>
                        <a:spcBef>
                          <a:spcPts val="0"/>
                        </a:spcBef>
                        <a:buNone/>
                      </a:pPr>
                      <a:r>
                        <a:rPr lang="en-US" sz="1600" b="true">
                          <a:solidFill>
                            <a:srgbClr val="FFFFFF"/>
                          </a:solidFill>
                          <a:latin typeface="Nunito Bold"/>
                          <a:ea typeface="Nunito Bold"/>
                          <a:cs typeface="Nunito Bold"/>
                          <a:sym typeface="Nunito Bold"/>
                        </a:rPr>
                        <a:t>Specification</a:t>
                      </a:r>
                    </a:p>
                  </a:txBody>
                  <a:tcPr marL="73152" marR="73152" marT="45720" marB="45720" anchor="ctr">
                    <a:lnL w="12700" cap="flat" cmpd="sng" algn="ctr">
                      <a:solidFill>
                        <a:srgbClr val="4472C4"/>
                      </a:solidFill>
                      <a:prstDash val="solid"/>
                    </a:lnL>
                    <a:lnR w="12700" cap="flat" cmpd="sng" algn="ctr">
                      <a:solidFill>
                        <a:srgbClr val="4472C4"/>
                      </a:solidFill>
                      <a:prstDash val="solid"/>
                    </a:lnR>
                    <a:lnT w="12700" cap="flat" cmpd="sng" algn="ctr">
                      <a:solidFill>
                        <a:srgbClr val="4472C4"/>
                      </a:solidFill>
                      <a:prstDash val="solid"/>
                    </a:lnT>
                    <a:lnB w="12700" cap="flat" cmpd="sng" algn="ctr">
                      <a:solidFill>
                        <a:srgbClr val="4472C4"/>
                      </a:solidFill>
                      <a:prstDash val="solid"/>
                    </a:lnB>
                    <a:solidFill>
                      <a:srgbClr val="4472C4"/>
                    </a:solidFill>
                  </a:tcPr>
                </a:tc>
                <a:tc>
                  <a:txBody>
                    <a:bodyPr anchor="ctr" rtlCol="false" lIns="0" tIns="0" rIns="0" bIns="0" wrap="square"/>
                    <a:lstStyle/>
                    <a:p>
                      <a:pPr algn="l">
                        <a:lnSpc>
                          <a:spcPts val="2080"/>
                        </a:lnSpc>
                        <a:spcBef>
                          <a:spcPts val="0"/>
                        </a:spcBef>
                        <a:buNone/>
                      </a:pPr>
                      <a:r>
                        <a:rPr lang="en-US" sz="1600" b="true">
                          <a:solidFill>
                            <a:srgbClr val="FFFFFF"/>
                          </a:solidFill>
                          <a:latin typeface="Nunito Bold"/>
                          <a:ea typeface="Nunito Bold"/>
                          <a:cs typeface="Nunito Bold"/>
                          <a:sym typeface="Nunito Bold"/>
                        </a:rPr>
                        <a:t>Wine Quality</a:t>
                      </a:r>
                    </a:p>
                  </a:txBody>
                  <a:tcPr marL="73152" marR="73152" marT="45720" marB="45720" anchor="ctr">
                    <a:lnL w="12700" cap="flat" cmpd="sng" algn="ctr">
                      <a:solidFill>
                        <a:srgbClr val="4472C4"/>
                      </a:solidFill>
                      <a:prstDash val="solid"/>
                    </a:lnL>
                    <a:lnR w="12700" cap="flat" cmpd="sng" algn="ctr">
                      <a:solidFill>
                        <a:srgbClr val="4472C4"/>
                      </a:solidFill>
                      <a:prstDash val="solid"/>
                    </a:lnR>
                    <a:lnT w="12700" cap="flat" cmpd="sng" algn="ctr">
                      <a:solidFill>
                        <a:srgbClr val="4472C4"/>
                      </a:solidFill>
                      <a:prstDash val="solid"/>
                    </a:lnT>
                    <a:lnB w="12700" cap="flat" cmpd="sng" algn="ctr">
                      <a:solidFill>
                        <a:srgbClr val="4472C4"/>
                      </a:solidFill>
                      <a:prstDash val="solid"/>
                    </a:lnB>
                    <a:solidFill>
                      <a:srgbClr val="4472C4"/>
                    </a:solidFill>
                  </a:tcPr>
                </a:tc>
              </a:tr>
              <a:tr h="461264">
                <a:tc>
                  <a:txBody>
                    <a:bodyPr anchor="ctr" rtlCol="false" lIns="0" tIns="0" rIns="0" bIns="0" wrap="square"/>
                    <a:lstStyle/>
                    <a:p>
                      <a:pPr algn="l">
                        <a:lnSpc>
                          <a:spcPts val="2080"/>
                        </a:lnSpc>
                        <a:spcBef>
                          <a:spcPts val="0"/>
                        </a:spcBef>
                        <a:buNone/>
                      </a:pPr>
                      <a:r>
                        <a:rPr lang="en-US" sz="1600" b="true">
                          <a:solidFill>
                            <a:srgbClr val="111111"/>
                          </a:solidFill>
                          <a:latin typeface="Nunito Bold"/>
                          <a:ea typeface="Nunito Bold"/>
                          <a:cs typeface="Nunito Bold"/>
                          <a:sym typeface="Nunito Bold"/>
                        </a:rPr>
                        <a:t>Observations</a:t>
                      </a:r>
                    </a:p>
                  </a:txBody>
                  <a:tcPr marL="73152" marR="73152"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c>
                  <a:txBody>
                    <a:bodyPr anchor="ctr" rtlCol="false" lIns="0" tIns="0" rIns="0" bIns="0" wrap="square"/>
                    <a:lstStyle/>
                    <a:p>
                      <a:pPr algn="l">
                        <a:lnSpc>
                          <a:spcPts val="2080"/>
                        </a:lnSpc>
                        <a:spcBef>
                          <a:spcPts val="0"/>
                        </a:spcBef>
                        <a:buNone/>
                      </a:pPr>
                      <a:r>
                        <a:rPr lang="en-US" sz="1600" b="true">
                          <a:solidFill>
                            <a:srgbClr val="111111"/>
                          </a:solidFill>
                          <a:latin typeface="Nunito Semi-Bold"/>
                          <a:ea typeface="Nunito Semi-Bold"/>
                          <a:cs typeface="Nunito Semi-Bold"/>
                          <a:sym typeface="Nunito Semi-Bold"/>
                        </a:rPr>
                        <a:t>4,898</a:t>
                      </a:r>
                    </a:p>
                  </a:txBody>
                  <a:tcPr marL="73152" marR="73152"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r>
              <a:tr h="461264">
                <a:tc>
                  <a:txBody>
                    <a:bodyPr anchor="ctr" rtlCol="false" lIns="0" tIns="0" rIns="0" bIns="0" wrap="square"/>
                    <a:lstStyle/>
                    <a:p>
                      <a:pPr algn="l">
                        <a:lnSpc>
                          <a:spcPts val="2080"/>
                        </a:lnSpc>
                        <a:spcBef>
                          <a:spcPts val="0"/>
                        </a:spcBef>
                        <a:buNone/>
                      </a:pPr>
                      <a:r>
                        <a:rPr lang="en-US" sz="1600" b="true">
                          <a:solidFill>
                            <a:srgbClr val="111111"/>
                          </a:solidFill>
                          <a:latin typeface="Nunito Bold"/>
                          <a:ea typeface="Nunito Bold"/>
                          <a:cs typeface="Nunito Bold"/>
                          <a:sym typeface="Nunito Bold"/>
                        </a:rPr>
                        <a:t>Features</a:t>
                      </a:r>
                    </a:p>
                  </a:txBody>
                  <a:tcPr marL="73152" marR="73152"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6ECDF"/>
                    </a:solidFill>
                  </a:tcPr>
                </a:tc>
                <a:tc>
                  <a:txBody>
                    <a:bodyPr anchor="ctr" rtlCol="false" lIns="0" tIns="0" rIns="0" bIns="0" wrap="square"/>
                    <a:lstStyle/>
                    <a:p>
                      <a:pPr algn="l">
                        <a:lnSpc>
                          <a:spcPts val="2080"/>
                        </a:lnSpc>
                        <a:spcBef>
                          <a:spcPts val="0"/>
                        </a:spcBef>
                        <a:buNone/>
                      </a:pPr>
                      <a:r>
                        <a:rPr lang="en-US" sz="1600" b="true">
                          <a:solidFill>
                            <a:srgbClr val="111111"/>
                          </a:solidFill>
                          <a:latin typeface="Nunito Semi-Bold"/>
                          <a:ea typeface="Nunito Semi-Bold"/>
                          <a:cs typeface="Nunito Semi-Bold"/>
                          <a:sym typeface="Nunito Semi-Bold"/>
                        </a:rPr>
                        <a:t>11 numeric</a:t>
                      </a:r>
                    </a:p>
                  </a:txBody>
                  <a:tcPr marL="73152" marR="73152"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6ECDF"/>
                    </a:solidFill>
                  </a:tcPr>
                </a:tc>
              </a:tr>
              <a:tr h="461264">
                <a:tc>
                  <a:txBody>
                    <a:bodyPr anchor="ctr" rtlCol="false" lIns="0" tIns="0" rIns="0" bIns="0" wrap="square"/>
                    <a:lstStyle/>
                    <a:p>
                      <a:pPr algn="l">
                        <a:lnSpc>
                          <a:spcPts val="2080"/>
                        </a:lnSpc>
                        <a:spcBef>
                          <a:spcPts val="0"/>
                        </a:spcBef>
                        <a:buNone/>
                      </a:pPr>
                      <a:r>
                        <a:rPr lang="en-US" sz="1600" b="true">
                          <a:solidFill>
                            <a:srgbClr val="111111"/>
                          </a:solidFill>
                          <a:latin typeface="Nunito Bold"/>
                          <a:ea typeface="Nunito Bold"/>
                          <a:cs typeface="Nunito Bold"/>
                          <a:sym typeface="Nunito Bold"/>
                        </a:rPr>
                        <a:t>Target (not used for clustering)</a:t>
                      </a:r>
                    </a:p>
                  </a:txBody>
                  <a:tcPr marL="73152" marR="73152"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c>
                  <a:txBody>
                    <a:bodyPr anchor="ctr" rtlCol="false" lIns="0" tIns="0" rIns="0" bIns="0" wrap="square"/>
                    <a:lstStyle/>
                    <a:p>
                      <a:pPr algn="l">
                        <a:lnSpc>
                          <a:spcPts val="2080"/>
                        </a:lnSpc>
                        <a:spcBef>
                          <a:spcPts val="0"/>
                        </a:spcBef>
                        <a:buNone/>
                      </a:pPr>
                      <a:r>
                        <a:rPr lang="en-US" sz="1600" b="true">
                          <a:solidFill>
                            <a:srgbClr val="111111"/>
                          </a:solidFill>
                          <a:latin typeface="Nunito Semi-Bold"/>
                          <a:ea typeface="Nunito Semi-Bold"/>
                          <a:cs typeface="Nunito Semi-Bold"/>
                          <a:sym typeface="Nunito Semi-Bold"/>
                        </a:rPr>
                        <a:t>quality 3 to 9</a:t>
                      </a:r>
                    </a:p>
                  </a:txBody>
                  <a:tcPr marL="73152" marR="73152"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r>
              <a:tr h="461264">
                <a:tc>
                  <a:txBody>
                    <a:bodyPr anchor="ctr" rtlCol="false" lIns="0" tIns="0" rIns="0" bIns="0" wrap="square"/>
                    <a:lstStyle/>
                    <a:p>
                      <a:pPr algn="l">
                        <a:lnSpc>
                          <a:spcPts val="2080"/>
                        </a:lnSpc>
                        <a:spcBef>
                          <a:spcPts val="0"/>
                        </a:spcBef>
                        <a:buNone/>
                      </a:pPr>
                      <a:r>
                        <a:rPr lang="en-US" sz="1600" b="true">
                          <a:solidFill>
                            <a:srgbClr val="111111"/>
                          </a:solidFill>
                          <a:latin typeface="Nunito Bold"/>
                          <a:ea typeface="Nunito Bold"/>
                          <a:cs typeface="Nunito Bold"/>
                          <a:sym typeface="Nunito Bold"/>
                        </a:rPr>
                        <a:t>Missing values</a:t>
                      </a:r>
                    </a:p>
                  </a:txBody>
                  <a:tcPr marL="73152" marR="73152"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6ECDF"/>
                    </a:solidFill>
                  </a:tcPr>
                </a:tc>
                <a:tc>
                  <a:txBody>
                    <a:bodyPr anchor="ctr" rtlCol="false" lIns="0" tIns="0" rIns="0" bIns="0" wrap="square"/>
                    <a:lstStyle/>
                    <a:p>
                      <a:pPr algn="l">
                        <a:lnSpc>
                          <a:spcPts val="2080"/>
                        </a:lnSpc>
                        <a:spcBef>
                          <a:spcPts val="0"/>
                        </a:spcBef>
                        <a:buNone/>
                      </a:pPr>
                      <a:r>
                        <a:rPr lang="en-US" sz="1600" b="true">
                          <a:solidFill>
                            <a:srgbClr val="111111"/>
                          </a:solidFill>
                          <a:latin typeface="Nunito Semi-Bold"/>
                          <a:ea typeface="Nunito Semi-Bold"/>
                          <a:cs typeface="Nunito Semi-Bold"/>
                          <a:sym typeface="Nunito Semi-Bold"/>
                        </a:rPr>
                        <a:t>none</a:t>
                      </a:r>
                    </a:p>
                  </a:txBody>
                  <a:tcPr marL="73152" marR="73152"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6ECDF"/>
                    </a:solidFill>
                  </a:tcPr>
                </a:tc>
              </a:tr>
              <a:tr h="461264">
                <a:tc>
                  <a:txBody>
                    <a:bodyPr anchor="ctr" rtlCol="false" lIns="0" tIns="0" rIns="0" bIns="0" wrap="square"/>
                    <a:lstStyle/>
                    <a:p>
                      <a:pPr algn="l">
                        <a:lnSpc>
                          <a:spcPts val="2080"/>
                        </a:lnSpc>
                        <a:spcBef>
                          <a:spcPts val="0"/>
                        </a:spcBef>
                        <a:buNone/>
                      </a:pPr>
                      <a:r>
                        <a:rPr lang="en-US" sz="1600" b="true">
                          <a:solidFill>
                            <a:srgbClr val="111111"/>
                          </a:solidFill>
                          <a:latin typeface="Nunito Bold"/>
                          <a:ea typeface="Nunito Bold"/>
                          <a:cs typeface="Nunito Bold"/>
                          <a:sym typeface="Nunito Bold"/>
                        </a:rPr>
                        <a:t>Scale of features</a:t>
                      </a:r>
                    </a:p>
                  </a:txBody>
                  <a:tcPr marL="73152" marR="73152"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c>
                  <a:txBody>
                    <a:bodyPr anchor="ctr" rtlCol="false" lIns="0" tIns="0" rIns="0" bIns="0" wrap="square"/>
                    <a:lstStyle/>
                    <a:p>
                      <a:pPr algn="l">
                        <a:lnSpc>
                          <a:spcPts val="2080"/>
                        </a:lnSpc>
                        <a:spcBef>
                          <a:spcPts val="0"/>
                        </a:spcBef>
                        <a:buNone/>
                      </a:pPr>
                      <a:r>
                        <a:rPr lang="en-US" sz="1600" b="true">
                          <a:solidFill>
                            <a:srgbClr val="111111"/>
                          </a:solidFill>
                          <a:latin typeface="Nunito Semi-Bold"/>
                          <a:ea typeface="Nunito Semi-Bold"/>
                          <a:cs typeface="Nunito Semi-Bold"/>
                          <a:sym typeface="Nunito Semi-Bold"/>
                        </a:rPr>
                        <a:t>standardised</a:t>
                      </a:r>
                    </a:p>
                  </a:txBody>
                  <a:tcPr marL="73152" marR="73152"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r>
              <a:tr h="461264">
                <a:tc>
                  <a:txBody>
                    <a:bodyPr anchor="ctr" rtlCol="false" lIns="0" tIns="0" rIns="0" bIns="0" wrap="square"/>
                    <a:lstStyle/>
                    <a:p>
                      <a:pPr algn="l">
                        <a:lnSpc>
                          <a:spcPts val="2080"/>
                        </a:lnSpc>
                        <a:spcBef>
                          <a:spcPts val="0"/>
                        </a:spcBef>
                        <a:buNone/>
                      </a:pPr>
                      <a:r>
                        <a:rPr lang="en-US" sz="1600" b="true">
                          <a:solidFill>
                            <a:srgbClr val="111111"/>
                          </a:solidFill>
                          <a:latin typeface="Nunito Bold"/>
                          <a:ea typeface="Nunito Bold"/>
                          <a:cs typeface="Nunito Bold"/>
                          <a:sym typeface="Nunito Bold"/>
                        </a:rPr>
                        <a:t>Selected clusters</a:t>
                      </a:r>
                    </a:p>
                  </a:txBody>
                  <a:tcPr marL="73152" marR="73152"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6ECDF"/>
                    </a:solidFill>
                  </a:tcPr>
                </a:tc>
                <a:tc>
                  <a:txBody>
                    <a:bodyPr anchor="ctr" rtlCol="false" lIns="0" tIns="0" rIns="0" bIns="0" wrap="square"/>
                    <a:lstStyle/>
                    <a:p>
                      <a:pPr algn="l">
                        <a:lnSpc>
                          <a:spcPts val="2080"/>
                        </a:lnSpc>
                        <a:spcBef>
                          <a:spcPts val="0"/>
                        </a:spcBef>
                        <a:buNone/>
                      </a:pPr>
                      <a:r>
                        <a:rPr lang="en-US" sz="1600" b="true">
                          <a:solidFill>
                            <a:srgbClr val="111111"/>
                          </a:solidFill>
                          <a:latin typeface="Nunito Semi-Bold"/>
                          <a:ea typeface="Nunito Semi-Bold"/>
                          <a:cs typeface="Nunito Semi-Bold"/>
                          <a:sym typeface="Nunito Semi-Bold"/>
                        </a:rPr>
                        <a:t>k* = 3</a:t>
                      </a:r>
                    </a:p>
                  </a:txBody>
                  <a:tcPr marL="73152" marR="73152"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6ECDF"/>
                    </a:solidFill>
                  </a:tcPr>
                </a:tc>
              </a:tr>
            </a:tbl>
          </a:graphicData>
        </a:graphic>
      </p:graphicFrame>
      <p:sp>
        <p:nvSpPr>
          <p:cNvPr id="26" name="TextBox 25"/>
          <p:cNvSpPr txBox="1"/>
          <p:nvPr/>
        </p:nvSpPr>
        <p:spPr>
          <a:xfrm>
            <a:off x="1028700" y="6912610"/>
            <a:ext cx="16230600" cy="320040"/>
          </a:xfrm>
          <a:prstGeom prst="rect">
            <a:avLst/>
          </a:prstGeom>
          <a:noFill/>
        </p:spPr>
        <p:txBody>
          <a:bodyPr anchor="t" rtlCol="false" lIns="0" tIns="0" rIns="0" bIns="0" wrap="square"/>
          <a:lstStyle/>
          <a:p>
            <a:pPr algn="l">
              <a:lnSpc>
                <a:spcPts val="1600"/>
              </a:lnSpc>
              <a:spcBef>
                <a:spcPts val="0"/>
              </a:spcBef>
              <a:buNone/>
            </a:pPr>
            <a:r>
              <a:rPr lang="en-US" sz="1300" b="true" spc="150">
                <a:solidFill>
                  <a:srgbClr val="1F7A8C"/>
                </a:solidFill>
                <a:latin typeface="Nunito Ultra-Bold"/>
                <a:ea typeface="Nunito Ultra-Bold"/>
                <a:cs typeface="Nunito Ultra-Bold"/>
                <a:sym typeface="Nunito Ultra-Bold"/>
              </a:rPr>
              <a:t>SAMPLE RECORDS  ·  first rows of the public file</a:t>
            </a:r>
          </a:p>
        </p:txBody>
      </p:sp>
      <p:graphicFrame>
        <p:nvGraphicFramePr>
          <p:cNvPr id="27" name="Table 26"/>
          <p:cNvGraphicFramePr>
            <a:graphicFrameLocks noGrp="1"/>
          </p:cNvGraphicFramePr>
          <p:nvPr/>
        </p:nvGraphicFramePr>
        <p:xfrm>
          <a:off x="1028700" y="7260082"/>
          <a:ext cx="16230600" cy="1705864"/>
        </p:xfrm>
        <a:graphic>
          <a:graphicData uri="http://schemas.openxmlformats.org/drawingml/2006/table">
            <a:tbl>
              <a:tblPr firstRow="0" bandRow="0" firstCol="0" lastRow="0" lastCol="0" bandCol="0">
                <a:tableStyleId>{2D5ABB26-0587-4C30-8999-92F81FD0307C}</a:tableStyleId>
              </a:tblPr>
              <a:tblGrid>
                <a:gridCol w="1586992"/>
                <a:gridCol w="1731264"/>
                <a:gridCol w="1442720"/>
                <a:gridCol w="1659128"/>
                <a:gridCol w="1442720"/>
                <a:gridCol w="1298448"/>
                <a:gridCol w="1298448"/>
                <a:gridCol w="1298448"/>
                <a:gridCol w="1009904"/>
                <a:gridCol w="1298448"/>
                <a:gridCol w="1154176"/>
                <a:gridCol w="1009904"/>
              </a:tblGrid>
              <a:tr h="426466">
                <a:tc>
                  <a:txBody>
                    <a:bodyPr anchor="ctr" rtlCol="false" lIns="0" tIns="0" rIns="0" bIns="0" wrap="square"/>
                    <a:lstStyle/>
                    <a:p>
                      <a:pPr algn="ctr">
                        <a:lnSpc>
                          <a:spcPts val="1950"/>
                        </a:lnSpc>
                        <a:spcBef>
                          <a:spcPts val="0"/>
                        </a:spcBef>
                        <a:buNone/>
                      </a:pPr>
                      <a:r>
                        <a:rPr lang="en-US" sz="1500" b="true">
                          <a:solidFill>
                            <a:srgbClr val="FFFFFF"/>
                          </a:solidFill>
                          <a:latin typeface="Nunito Bold"/>
                          <a:ea typeface="Nunito Bold"/>
                          <a:cs typeface="Nunito Bold"/>
                          <a:sym typeface="Nunito Bold"/>
                        </a:rPr>
                        <a:t>fixed acidity</a:t>
                      </a:r>
                    </a:p>
                  </a:txBody>
                  <a:tcPr marL="64008" marR="64008" marT="45720" marB="45720" anchor="ctr">
                    <a:lnL w="12700" cap="flat" cmpd="sng" algn="ctr">
                      <a:solidFill>
                        <a:srgbClr val="4472C4"/>
                      </a:solidFill>
                      <a:prstDash val="solid"/>
                    </a:lnL>
                    <a:lnR w="12700" cap="flat" cmpd="sng" algn="ctr">
                      <a:solidFill>
                        <a:srgbClr val="4472C4"/>
                      </a:solidFill>
                      <a:prstDash val="solid"/>
                    </a:lnR>
                    <a:lnT w="12700" cap="flat" cmpd="sng" algn="ctr">
                      <a:solidFill>
                        <a:srgbClr val="4472C4"/>
                      </a:solidFill>
                      <a:prstDash val="solid"/>
                    </a:lnT>
                    <a:lnB w="12700" cap="flat" cmpd="sng" algn="ctr">
                      <a:solidFill>
                        <a:srgbClr val="4472C4"/>
                      </a:solidFill>
                      <a:prstDash val="solid"/>
                    </a:lnB>
                    <a:solidFill>
                      <a:srgbClr val="4472C4"/>
                    </a:solidFill>
                  </a:tcPr>
                </a:tc>
                <a:tc>
                  <a:txBody>
                    <a:bodyPr anchor="ctr" rtlCol="false" lIns="0" tIns="0" rIns="0" bIns="0" wrap="square"/>
                    <a:lstStyle/>
                    <a:p>
                      <a:pPr algn="ctr">
                        <a:lnSpc>
                          <a:spcPts val="1950"/>
                        </a:lnSpc>
                        <a:spcBef>
                          <a:spcPts val="0"/>
                        </a:spcBef>
                        <a:buNone/>
                      </a:pPr>
                      <a:r>
                        <a:rPr lang="en-US" sz="1500" b="true">
                          <a:solidFill>
                            <a:srgbClr val="FFFFFF"/>
                          </a:solidFill>
                          <a:latin typeface="Nunito Bold"/>
                          <a:ea typeface="Nunito Bold"/>
                          <a:cs typeface="Nunito Bold"/>
                          <a:sym typeface="Nunito Bold"/>
                        </a:rPr>
                        <a:t>volatile acidity</a:t>
                      </a:r>
                    </a:p>
                  </a:txBody>
                  <a:tcPr marL="64008" marR="64008" marT="45720" marB="45720" anchor="ctr">
                    <a:lnL w="12700" cap="flat" cmpd="sng" algn="ctr">
                      <a:solidFill>
                        <a:srgbClr val="4472C4"/>
                      </a:solidFill>
                      <a:prstDash val="solid"/>
                    </a:lnL>
                    <a:lnR w="12700" cap="flat" cmpd="sng" algn="ctr">
                      <a:solidFill>
                        <a:srgbClr val="4472C4"/>
                      </a:solidFill>
                      <a:prstDash val="solid"/>
                    </a:lnR>
                    <a:lnT w="12700" cap="flat" cmpd="sng" algn="ctr">
                      <a:solidFill>
                        <a:srgbClr val="4472C4"/>
                      </a:solidFill>
                      <a:prstDash val="solid"/>
                    </a:lnT>
                    <a:lnB w="12700" cap="flat" cmpd="sng" algn="ctr">
                      <a:solidFill>
                        <a:srgbClr val="4472C4"/>
                      </a:solidFill>
                      <a:prstDash val="solid"/>
                    </a:lnB>
                    <a:solidFill>
                      <a:srgbClr val="4472C4"/>
                    </a:solidFill>
                  </a:tcPr>
                </a:tc>
                <a:tc>
                  <a:txBody>
                    <a:bodyPr anchor="ctr" rtlCol="false" lIns="0" tIns="0" rIns="0" bIns="0" wrap="square"/>
                    <a:lstStyle/>
                    <a:p>
                      <a:pPr algn="ctr">
                        <a:lnSpc>
                          <a:spcPts val="1950"/>
                        </a:lnSpc>
                        <a:spcBef>
                          <a:spcPts val="0"/>
                        </a:spcBef>
                        <a:buNone/>
                      </a:pPr>
                      <a:r>
                        <a:rPr lang="en-US" sz="1500" b="true">
                          <a:solidFill>
                            <a:srgbClr val="FFFFFF"/>
                          </a:solidFill>
                          <a:latin typeface="Nunito Bold"/>
                          <a:ea typeface="Nunito Bold"/>
                          <a:cs typeface="Nunito Bold"/>
                          <a:sym typeface="Nunito Bold"/>
                        </a:rPr>
                        <a:t>citric acid</a:t>
                      </a:r>
                    </a:p>
                  </a:txBody>
                  <a:tcPr marL="64008" marR="64008" marT="45720" marB="45720" anchor="ctr">
                    <a:lnL w="12700" cap="flat" cmpd="sng" algn="ctr">
                      <a:solidFill>
                        <a:srgbClr val="4472C4"/>
                      </a:solidFill>
                      <a:prstDash val="solid"/>
                    </a:lnL>
                    <a:lnR w="12700" cap="flat" cmpd="sng" algn="ctr">
                      <a:solidFill>
                        <a:srgbClr val="4472C4"/>
                      </a:solidFill>
                      <a:prstDash val="solid"/>
                    </a:lnR>
                    <a:lnT w="12700" cap="flat" cmpd="sng" algn="ctr">
                      <a:solidFill>
                        <a:srgbClr val="4472C4"/>
                      </a:solidFill>
                      <a:prstDash val="solid"/>
                    </a:lnT>
                    <a:lnB w="12700" cap="flat" cmpd="sng" algn="ctr">
                      <a:solidFill>
                        <a:srgbClr val="4472C4"/>
                      </a:solidFill>
                      <a:prstDash val="solid"/>
                    </a:lnB>
                    <a:solidFill>
                      <a:srgbClr val="4472C4"/>
                    </a:solidFill>
                  </a:tcPr>
                </a:tc>
                <a:tc>
                  <a:txBody>
                    <a:bodyPr anchor="ctr" rtlCol="false" lIns="0" tIns="0" rIns="0" bIns="0" wrap="square"/>
                    <a:lstStyle/>
                    <a:p>
                      <a:pPr algn="ctr">
                        <a:lnSpc>
                          <a:spcPts val="1950"/>
                        </a:lnSpc>
                        <a:spcBef>
                          <a:spcPts val="0"/>
                        </a:spcBef>
                        <a:buNone/>
                      </a:pPr>
                      <a:r>
                        <a:rPr lang="en-US" sz="1500" b="true">
                          <a:solidFill>
                            <a:srgbClr val="FFFFFF"/>
                          </a:solidFill>
                          <a:latin typeface="Nunito Bold"/>
                          <a:ea typeface="Nunito Bold"/>
                          <a:cs typeface="Nunito Bold"/>
                          <a:sym typeface="Nunito Bold"/>
                        </a:rPr>
                        <a:t>residual sugar</a:t>
                      </a:r>
                    </a:p>
                  </a:txBody>
                  <a:tcPr marL="64008" marR="64008" marT="45720" marB="45720" anchor="ctr">
                    <a:lnL w="12700" cap="flat" cmpd="sng" algn="ctr">
                      <a:solidFill>
                        <a:srgbClr val="4472C4"/>
                      </a:solidFill>
                      <a:prstDash val="solid"/>
                    </a:lnL>
                    <a:lnR w="12700" cap="flat" cmpd="sng" algn="ctr">
                      <a:solidFill>
                        <a:srgbClr val="4472C4"/>
                      </a:solidFill>
                      <a:prstDash val="solid"/>
                    </a:lnR>
                    <a:lnT w="12700" cap="flat" cmpd="sng" algn="ctr">
                      <a:solidFill>
                        <a:srgbClr val="4472C4"/>
                      </a:solidFill>
                      <a:prstDash val="solid"/>
                    </a:lnT>
                    <a:lnB w="12700" cap="flat" cmpd="sng" algn="ctr">
                      <a:solidFill>
                        <a:srgbClr val="4472C4"/>
                      </a:solidFill>
                      <a:prstDash val="solid"/>
                    </a:lnB>
                    <a:solidFill>
                      <a:srgbClr val="4472C4"/>
                    </a:solidFill>
                  </a:tcPr>
                </a:tc>
                <a:tc>
                  <a:txBody>
                    <a:bodyPr anchor="ctr" rtlCol="false" lIns="0" tIns="0" rIns="0" bIns="0" wrap="square"/>
                    <a:lstStyle/>
                    <a:p>
                      <a:pPr algn="ctr">
                        <a:lnSpc>
                          <a:spcPts val="1950"/>
                        </a:lnSpc>
                        <a:spcBef>
                          <a:spcPts val="0"/>
                        </a:spcBef>
                        <a:buNone/>
                      </a:pPr>
                      <a:r>
                        <a:rPr lang="en-US" sz="1500" b="true">
                          <a:solidFill>
                            <a:srgbClr val="FFFFFF"/>
                          </a:solidFill>
                          <a:latin typeface="Nunito Bold"/>
                          <a:ea typeface="Nunito Bold"/>
                          <a:cs typeface="Nunito Bold"/>
                          <a:sym typeface="Nunito Bold"/>
                        </a:rPr>
                        <a:t>chlorides</a:t>
                      </a:r>
                    </a:p>
                  </a:txBody>
                  <a:tcPr marL="64008" marR="64008" marT="45720" marB="45720" anchor="ctr">
                    <a:lnL w="12700" cap="flat" cmpd="sng" algn="ctr">
                      <a:solidFill>
                        <a:srgbClr val="4472C4"/>
                      </a:solidFill>
                      <a:prstDash val="solid"/>
                    </a:lnL>
                    <a:lnR w="12700" cap="flat" cmpd="sng" algn="ctr">
                      <a:solidFill>
                        <a:srgbClr val="4472C4"/>
                      </a:solidFill>
                      <a:prstDash val="solid"/>
                    </a:lnR>
                    <a:lnT w="12700" cap="flat" cmpd="sng" algn="ctr">
                      <a:solidFill>
                        <a:srgbClr val="4472C4"/>
                      </a:solidFill>
                      <a:prstDash val="solid"/>
                    </a:lnT>
                    <a:lnB w="12700" cap="flat" cmpd="sng" algn="ctr">
                      <a:solidFill>
                        <a:srgbClr val="4472C4"/>
                      </a:solidFill>
                      <a:prstDash val="solid"/>
                    </a:lnB>
                    <a:solidFill>
                      <a:srgbClr val="4472C4"/>
                    </a:solidFill>
                  </a:tcPr>
                </a:tc>
                <a:tc>
                  <a:txBody>
                    <a:bodyPr anchor="ctr" rtlCol="false" lIns="0" tIns="0" rIns="0" bIns="0" wrap="square"/>
                    <a:lstStyle/>
                    <a:p>
                      <a:pPr algn="ctr">
                        <a:lnSpc>
                          <a:spcPts val="1950"/>
                        </a:lnSpc>
                        <a:spcBef>
                          <a:spcPts val="0"/>
                        </a:spcBef>
                        <a:buNone/>
                      </a:pPr>
                      <a:r>
                        <a:rPr lang="en-US" sz="1500" b="true">
                          <a:solidFill>
                            <a:srgbClr val="FFFFFF"/>
                          </a:solidFill>
                          <a:latin typeface="Nunito Bold"/>
                          <a:ea typeface="Nunito Bold"/>
                          <a:cs typeface="Nunito Bold"/>
                          <a:sym typeface="Nunito Bold"/>
                        </a:rPr>
                        <a:t>free SO₂</a:t>
                      </a:r>
                    </a:p>
                  </a:txBody>
                  <a:tcPr marL="64008" marR="64008" marT="45720" marB="45720" anchor="ctr">
                    <a:lnL w="12700" cap="flat" cmpd="sng" algn="ctr">
                      <a:solidFill>
                        <a:srgbClr val="4472C4"/>
                      </a:solidFill>
                      <a:prstDash val="solid"/>
                    </a:lnL>
                    <a:lnR w="12700" cap="flat" cmpd="sng" algn="ctr">
                      <a:solidFill>
                        <a:srgbClr val="4472C4"/>
                      </a:solidFill>
                      <a:prstDash val="solid"/>
                    </a:lnR>
                    <a:lnT w="12700" cap="flat" cmpd="sng" algn="ctr">
                      <a:solidFill>
                        <a:srgbClr val="4472C4"/>
                      </a:solidFill>
                      <a:prstDash val="solid"/>
                    </a:lnT>
                    <a:lnB w="12700" cap="flat" cmpd="sng" algn="ctr">
                      <a:solidFill>
                        <a:srgbClr val="4472C4"/>
                      </a:solidFill>
                      <a:prstDash val="solid"/>
                    </a:lnB>
                    <a:solidFill>
                      <a:srgbClr val="4472C4"/>
                    </a:solidFill>
                  </a:tcPr>
                </a:tc>
                <a:tc>
                  <a:txBody>
                    <a:bodyPr anchor="ctr" rtlCol="false" lIns="0" tIns="0" rIns="0" bIns="0" wrap="square"/>
                    <a:lstStyle/>
                    <a:p>
                      <a:pPr algn="ctr">
                        <a:lnSpc>
                          <a:spcPts val="1950"/>
                        </a:lnSpc>
                        <a:spcBef>
                          <a:spcPts val="0"/>
                        </a:spcBef>
                        <a:buNone/>
                      </a:pPr>
                      <a:r>
                        <a:rPr lang="en-US" sz="1500" b="true">
                          <a:solidFill>
                            <a:srgbClr val="FFFFFF"/>
                          </a:solidFill>
                          <a:latin typeface="Nunito Bold"/>
                          <a:ea typeface="Nunito Bold"/>
                          <a:cs typeface="Nunito Bold"/>
                          <a:sym typeface="Nunito Bold"/>
                        </a:rPr>
                        <a:t>total SO₂</a:t>
                      </a:r>
                    </a:p>
                  </a:txBody>
                  <a:tcPr marL="64008" marR="64008" marT="45720" marB="45720" anchor="ctr">
                    <a:lnL w="12700" cap="flat" cmpd="sng" algn="ctr">
                      <a:solidFill>
                        <a:srgbClr val="4472C4"/>
                      </a:solidFill>
                      <a:prstDash val="solid"/>
                    </a:lnL>
                    <a:lnR w="12700" cap="flat" cmpd="sng" algn="ctr">
                      <a:solidFill>
                        <a:srgbClr val="4472C4"/>
                      </a:solidFill>
                      <a:prstDash val="solid"/>
                    </a:lnR>
                    <a:lnT w="12700" cap="flat" cmpd="sng" algn="ctr">
                      <a:solidFill>
                        <a:srgbClr val="4472C4"/>
                      </a:solidFill>
                      <a:prstDash val="solid"/>
                    </a:lnT>
                    <a:lnB w="12700" cap="flat" cmpd="sng" algn="ctr">
                      <a:solidFill>
                        <a:srgbClr val="4472C4"/>
                      </a:solidFill>
                      <a:prstDash val="solid"/>
                    </a:lnB>
                    <a:solidFill>
                      <a:srgbClr val="4472C4"/>
                    </a:solidFill>
                  </a:tcPr>
                </a:tc>
                <a:tc>
                  <a:txBody>
                    <a:bodyPr anchor="ctr" rtlCol="false" lIns="0" tIns="0" rIns="0" bIns="0" wrap="square"/>
                    <a:lstStyle/>
                    <a:p>
                      <a:pPr algn="ctr">
                        <a:lnSpc>
                          <a:spcPts val="1950"/>
                        </a:lnSpc>
                        <a:spcBef>
                          <a:spcPts val="0"/>
                        </a:spcBef>
                        <a:buNone/>
                      </a:pPr>
                      <a:r>
                        <a:rPr lang="en-US" sz="1500" b="true">
                          <a:solidFill>
                            <a:srgbClr val="FFFFFF"/>
                          </a:solidFill>
                          <a:latin typeface="Nunito Bold"/>
                          <a:ea typeface="Nunito Bold"/>
                          <a:cs typeface="Nunito Bold"/>
                          <a:sym typeface="Nunito Bold"/>
                        </a:rPr>
                        <a:t>density</a:t>
                      </a:r>
                    </a:p>
                  </a:txBody>
                  <a:tcPr marL="64008" marR="64008" marT="45720" marB="45720" anchor="ctr">
                    <a:lnL w="12700" cap="flat" cmpd="sng" algn="ctr">
                      <a:solidFill>
                        <a:srgbClr val="4472C4"/>
                      </a:solidFill>
                      <a:prstDash val="solid"/>
                    </a:lnL>
                    <a:lnR w="12700" cap="flat" cmpd="sng" algn="ctr">
                      <a:solidFill>
                        <a:srgbClr val="4472C4"/>
                      </a:solidFill>
                      <a:prstDash val="solid"/>
                    </a:lnR>
                    <a:lnT w="12700" cap="flat" cmpd="sng" algn="ctr">
                      <a:solidFill>
                        <a:srgbClr val="4472C4"/>
                      </a:solidFill>
                      <a:prstDash val="solid"/>
                    </a:lnT>
                    <a:lnB w="12700" cap="flat" cmpd="sng" algn="ctr">
                      <a:solidFill>
                        <a:srgbClr val="4472C4"/>
                      </a:solidFill>
                      <a:prstDash val="solid"/>
                    </a:lnB>
                    <a:solidFill>
                      <a:srgbClr val="4472C4"/>
                    </a:solidFill>
                  </a:tcPr>
                </a:tc>
                <a:tc>
                  <a:txBody>
                    <a:bodyPr anchor="ctr" rtlCol="false" lIns="0" tIns="0" rIns="0" bIns="0" wrap="square"/>
                    <a:lstStyle/>
                    <a:p>
                      <a:pPr algn="ctr">
                        <a:lnSpc>
                          <a:spcPts val="1950"/>
                        </a:lnSpc>
                        <a:spcBef>
                          <a:spcPts val="0"/>
                        </a:spcBef>
                        <a:buNone/>
                      </a:pPr>
                      <a:r>
                        <a:rPr lang="en-US" sz="1500" b="true">
                          <a:solidFill>
                            <a:srgbClr val="FFFFFF"/>
                          </a:solidFill>
                          <a:latin typeface="Nunito Bold"/>
                          <a:ea typeface="Nunito Bold"/>
                          <a:cs typeface="Nunito Bold"/>
                          <a:sym typeface="Nunito Bold"/>
                        </a:rPr>
                        <a:t>pH</a:t>
                      </a:r>
                    </a:p>
                  </a:txBody>
                  <a:tcPr marL="64008" marR="64008" marT="45720" marB="45720" anchor="ctr">
                    <a:lnL w="12700" cap="flat" cmpd="sng" algn="ctr">
                      <a:solidFill>
                        <a:srgbClr val="4472C4"/>
                      </a:solidFill>
                      <a:prstDash val="solid"/>
                    </a:lnL>
                    <a:lnR w="12700" cap="flat" cmpd="sng" algn="ctr">
                      <a:solidFill>
                        <a:srgbClr val="4472C4"/>
                      </a:solidFill>
                      <a:prstDash val="solid"/>
                    </a:lnR>
                    <a:lnT w="12700" cap="flat" cmpd="sng" algn="ctr">
                      <a:solidFill>
                        <a:srgbClr val="4472C4"/>
                      </a:solidFill>
                      <a:prstDash val="solid"/>
                    </a:lnT>
                    <a:lnB w="12700" cap="flat" cmpd="sng" algn="ctr">
                      <a:solidFill>
                        <a:srgbClr val="4472C4"/>
                      </a:solidFill>
                      <a:prstDash val="solid"/>
                    </a:lnB>
                    <a:solidFill>
                      <a:srgbClr val="4472C4"/>
                    </a:solidFill>
                  </a:tcPr>
                </a:tc>
                <a:tc>
                  <a:txBody>
                    <a:bodyPr anchor="ctr" rtlCol="false" lIns="0" tIns="0" rIns="0" bIns="0" wrap="square"/>
                    <a:lstStyle/>
                    <a:p>
                      <a:pPr algn="ctr">
                        <a:lnSpc>
                          <a:spcPts val="1950"/>
                        </a:lnSpc>
                        <a:spcBef>
                          <a:spcPts val="0"/>
                        </a:spcBef>
                        <a:buNone/>
                      </a:pPr>
                      <a:r>
                        <a:rPr lang="en-US" sz="1500" b="true">
                          <a:solidFill>
                            <a:srgbClr val="FFFFFF"/>
                          </a:solidFill>
                          <a:latin typeface="Nunito Bold"/>
                          <a:ea typeface="Nunito Bold"/>
                          <a:cs typeface="Nunito Bold"/>
                          <a:sym typeface="Nunito Bold"/>
                        </a:rPr>
                        <a:t>sulphates</a:t>
                      </a:r>
                    </a:p>
                  </a:txBody>
                  <a:tcPr marL="64008" marR="64008" marT="45720" marB="45720" anchor="ctr">
                    <a:lnL w="12700" cap="flat" cmpd="sng" algn="ctr">
                      <a:solidFill>
                        <a:srgbClr val="4472C4"/>
                      </a:solidFill>
                      <a:prstDash val="solid"/>
                    </a:lnL>
                    <a:lnR w="12700" cap="flat" cmpd="sng" algn="ctr">
                      <a:solidFill>
                        <a:srgbClr val="4472C4"/>
                      </a:solidFill>
                      <a:prstDash val="solid"/>
                    </a:lnR>
                    <a:lnT w="12700" cap="flat" cmpd="sng" algn="ctr">
                      <a:solidFill>
                        <a:srgbClr val="4472C4"/>
                      </a:solidFill>
                      <a:prstDash val="solid"/>
                    </a:lnT>
                    <a:lnB w="12700" cap="flat" cmpd="sng" algn="ctr">
                      <a:solidFill>
                        <a:srgbClr val="4472C4"/>
                      </a:solidFill>
                      <a:prstDash val="solid"/>
                    </a:lnB>
                    <a:solidFill>
                      <a:srgbClr val="4472C4"/>
                    </a:solidFill>
                  </a:tcPr>
                </a:tc>
                <a:tc>
                  <a:txBody>
                    <a:bodyPr anchor="ctr" rtlCol="false" lIns="0" tIns="0" rIns="0" bIns="0" wrap="square"/>
                    <a:lstStyle/>
                    <a:p>
                      <a:pPr algn="ctr">
                        <a:lnSpc>
                          <a:spcPts val="1950"/>
                        </a:lnSpc>
                        <a:spcBef>
                          <a:spcPts val="0"/>
                        </a:spcBef>
                        <a:buNone/>
                      </a:pPr>
                      <a:r>
                        <a:rPr lang="en-US" sz="1500" b="true">
                          <a:solidFill>
                            <a:srgbClr val="FFFFFF"/>
                          </a:solidFill>
                          <a:latin typeface="Nunito Bold"/>
                          <a:ea typeface="Nunito Bold"/>
                          <a:cs typeface="Nunito Bold"/>
                          <a:sym typeface="Nunito Bold"/>
                        </a:rPr>
                        <a:t>alcohol</a:t>
                      </a:r>
                    </a:p>
                  </a:txBody>
                  <a:tcPr marL="64008" marR="64008" marT="45720" marB="45720" anchor="ctr">
                    <a:lnL w="12700" cap="flat" cmpd="sng" algn="ctr">
                      <a:solidFill>
                        <a:srgbClr val="4472C4"/>
                      </a:solidFill>
                      <a:prstDash val="solid"/>
                    </a:lnL>
                    <a:lnR w="12700" cap="flat" cmpd="sng" algn="ctr">
                      <a:solidFill>
                        <a:srgbClr val="4472C4"/>
                      </a:solidFill>
                      <a:prstDash val="solid"/>
                    </a:lnR>
                    <a:lnT w="12700" cap="flat" cmpd="sng" algn="ctr">
                      <a:solidFill>
                        <a:srgbClr val="4472C4"/>
                      </a:solidFill>
                      <a:prstDash val="solid"/>
                    </a:lnT>
                    <a:lnB w="12700" cap="flat" cmpd="sng" algn="ctr">
                      <a:solidFill>
                        <a:srgbClr val="4472C4"/>
                      </a:solidFill>
                      <a:prstDash val="solid"/>
                    </a:lnB>
                    <a:solidFill>
                      <a:srgbClr val="4472C4"/>
                    </a:solidFill>
                  </a:tcPr>
                </a:tc>
                <a:tc>
                  <a:txBody>
                    <a:bodyPr anchor="ctr" rtlCol="false" lIns="0" tIns="0" rIns="0" bIns="0" wrap="square"/>
                    <a:lstStyle/>
                    <a:p>
                      <a:pPr algn="ctr">
                        <a:lnSpc>
                          <a:spcPts val="1950"/>
                        </a:lnSpc>
                        <a:spcBef>
                          <a:spcPts val="0"/>
                        </a:spcBef>
                        <a:buNone/>
                      </a:pPr>
                      <a:r>
                        <a:rPr lang="en-US" sz="1500" b="true">
                          <a:solidFill>
                            <a:srgbClr val="FFFFFF"/>
                          </a:solidFill>
                          <a:latin typeface="Nunito Bold"/>
                          <a:ea typeface="Nunito Bold"/>
                          <a:cs typeface="Nunito Bold"/>
                          <a:sym typeface="Nunito Bold"/>
                        </a:rPr>
                        <a:t>quality</a:t>
                      </a:r>
                    </a:p>
                  </a:txBody>
                  <a:tcPr marL="64008" marR="64008" marT="45720" marB="45720" anchor="ctr">
                    <a:lnL w="12700" cap="flat" cmpd="sng" algn="ctr">
                      <a:solidFill>
                        <a:srgbClr val="4472C4"/>
                      </a:solidFill>
                      <a:prstDash val="solid"/>
                    </a:lnL>
                    <a:lnR w="12700" cap="flat" cmpd="sng" algn="ctr">
                      <a:solidFill>
                        <a:srgbClr val="4472C4"/>
                      </a:solidFill>
                      <a:prstDash val="solid"/>
                    </a:lnR>
                    <a:lnT w="12700" cap="flat" cmpd="sng" algn="ctr">
                      <a:solidFill>
                        <a:srgbClr val="4472C4"/>
                      </a:solidFill>
                      <a:prstDash val="solid"/>
                    </a:lnT>
                    <a:lnB w="12700" cap="flat" cmpd="sng" algn="ctr">
                      <a:solidFill>
                        <a:srgbClr val="4472C4"/>
                      </a:solidFill>
                      <a:prstDash val="solid"/>
                    </a:lnB>
                    <a:solidFill>
                      <a:srgbClr val="4472C4"/>
                    </a:solidFill>
                  </a:tcPr>
                </a:tc>
              </a:tr>
              <a:tr h="426466">
                <a:tc>
                  <a:txBody>
                    <a:bodyPr anchor="ctr" rtlCol="false" lIns="0" tIns="0" rIns="0" bIns="0" wrap="square"/>
                    <a:lstStyle/>
                    <a:p>
                      <a:pPr algn="ctr">
                        <a:lnSpc>
                          <a:spcPts val="1950"/>
                        </a:lnSpc>
                        <a:spcBef>
                          <a:spcPts val="0"/>
                        </a:spcBef>
                        <a:buNone/>
                      </a:pPr>
                      <a:r>
                        <a:rPr lang="en-US" sz="1500" b="true">
                          <a:solidFill>
                            <a:srgbClr val="111111"/>
                          </a:solidFill>
                          <a:latin typeface="Nunito Semi-Bold"/>
                          <a:ea typeface="Nunito Semi-Bold"/>
                          <a:cs typeface="Nunito Semi-Bold"/>
                          <a:sym typeface="Nunito Semi-Bold"/>
                        </a:rPr>
                        <a:t>7.0</a:t>
                      </a:r>
                    </a:p>
                  </a:txBody>
                  <a:tcPr marL="64008" marR="64008"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c>
                  <a:txBody>
                    <a:bodyPr anchor="ctr" rtlCol="false" lIns="0" tIns="0" rIns="0" bIns="0" wrap="square"/>
                    <a:lstStyle/>
                    <a:p>
                      <a:pPr algn="ctr">
                        <a:lnSpc>
                          <a:spcPts val="1950"/>
                        </a:lnSpc>
                        <a:spcBef>
                          <a:spcPts val="0"/>
                        </a:spcBef>
                        <a:buNone/>
                      </a:pPr>
                      <a:r>
                        <a:rPr lang="en-US" sz="1500" b="true">
                          <a:solidFill>
                            <a:srgbClr val="111111"/>
                          </a:solidFill>
                          <a:latin typeface="Nunito Semi-Bold"/>
                          <a:ea typeface="Nunito Semi-Bold"/>
                          <a:cs typeface="Nunito Semi-Bold"/>
                          <a:sym typeface="Nunito Semi-Bold"/>
                        </a:rPr>
                        <a:t>0.27</a:t>
                      </a:r>
                    </a:p>
                  </a:txBody>
                  <a:tcPr marL="64008" marR="64008"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c>
                  <a:txBody>
                    <a:bodyPr anchor="ctr" rtlCol="false" lIns="0" tIns="0" rIns="0" bIns="0" wrap="square"/>
                    <a:lstStyle/>
                    <a:p>
                      <a:pPr algn="ctr">
                        <a:lnSpc>
                          <a:spcPts val="1950"/>
                        </a:lnSpc>
                        <a:spcBef>
                          <a:spcPts val="0"/>
                        </a:spcBef>
                        <a:buNone/>
                      </a:pPr>
                      <a:r>
                        <a:rPr lang="en-US" sz="1500" b="true">
                          <a:solidFill>
                            <a:srgbClr val="111111"/>
                          </a:solidFill>
                          <a:latin typeface="Nunito Semi-Bold"/>
                          <a:ea typeface="Nunito Semi-Bold"/>
                          <a:cs typeface="Nunito Semi-Bold"/>
                          <a:sym typeface="Nunito Semi-Bold"/>
                        </a:rPr>
                        <a:t>0.36</a:t>
                      </a:r>
                    </a:p>
                  </a:txBody>
                  <a:tcPr marL="64008" marR="64008"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c>
                  <a:txBody>
                    <a:bodyPr anchor="ctr" rtlCol="false" lIns="0" tIns="0" rIns="0" bIns="0" wrap="square"/>
                    <a:lstStyle/>
                    <a:p>
                      <a:pPr algn="ctr">
                        <a:lnSpc>
                          <a:spcPts val="1950"/>
                        </a:lnSpc>
                        <a:spcBef>
                          <a:spcPts val="0"/>
                        </a:spcBef>
                        <a:buNone/>
                      </a:pPr>
                      <a:r>
                        <a:rPr lang="en-US" sz="1500" b="true">
                          <a:solidFill>
                            <a:srgbClr val="111111"/>
                          </a:solidFill>
                          <a:latin typeface="Nunito Semi-Bold"/>
                          <a:ea typeface="Nunito Semi-Bold"/>
                          <a:cs typeface="Nunito Semi-Bold"/>
                          <a:sym typeface="Nunito Semi-Bold"/>
                        </a:rPr>
                        <a:t>20.7</a:t>
                      </a:r>
                    </a:p>
                  </a:txBody>
                  <a:tcPr marL="64008" marR="64008"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c>
                  <a:txBody>
                    <a:bodyPr anchor="ctr" rtlCol="false" lIns="0" tIns="0" rIns="0" bIns="0" wrap="square"/>
                    <a:lstStyle/>
                    <a:p>
                      <a:pPr algn="ctr">
                        <a:lnSpc>
                          <a:spcPts val="1950"/>
                        </a:lnSpc>
                        <a:spcBef>
                          <a:spcPts val="0"/>
                        </a:spcBef>
                        <a:buNone/>
                      </a:pPr>
                      <a:r>
                        <a:rPr lang="en-US" sz="1500" b="true">
                          <a:solidFill>
                            <a:srgbClr val="111111"/>
                          </a:solidFill>
                          <a:latin typeface="Nunito Semi-Bold"/>
                          <a:ea typeface="Nunito Semi-Bold"/>
                          <a:cs typeface="Nunito Semi-Bold"/>
                          <a:sym typeface="Nunito Semi-Bold"/>
                        </a:rPr>
                        <a:t>0.045</a:t>
                      </a:r>
                    </a:p>
                  </a:txBody>
                  <a:tcPr marL="64008" marR="64008"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c>
                  <a:txBody>
                    <a:bodyPr anchor="ctr" rtlCol="false" lIns="0" tIns="0" rIns="0" bIns="0" wrap="square"/>
                    <a:lstStyle/>
                    <a:p>
                      <a:pPr algn="ctr">
                        <a:lnSpc>
                          <a:spcPts val="1950"/>
                        </a:lnSpc>
                        <a:spcBef>
                          <a:spcPts val="0"/>
                        </a:spcBef>
                        <a:buNone/>
                      </a:pPr>
                      <a:r>
                        <a:rPr lang="en-US" sz="1500" b="true">
                          <a:solidFill>
                            <a:srgbClr val="111111"/>
                          </a:solidFill>
                          <a:latin typeface="Nunito Semi-Bold"/>
                          <a:ea typeface="Nunito Semi-Bold"/>
                          <a:cs typeface="Nunito Semi-Bold"/>
                          <a:sym typeface="Nunito Semi-Bold"/>
                        </a:rPr>
                        <a:t>45</a:t>
                      </a:r>
                    </a:p>
                  </a:txBody>
                  <a:tcPr marL="64008" marR="64008"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c>
                  <a:txBody>
                    <a:bodyPr anchor="ctr" rtlCol="false" lIns="0" tIns="0" rIns="0" bIns="0" wrap="square"/>
                    <a:lstStyle/>
                    <a:p>
                      <a:pPr algn="ctr">
                        <a:lnSpc>
                          <a:spcPts val="1950"/>
                        </a:lnSpc>
                        <a:spcBef>
                          <a:spcPts val="0"/>
                        </a:spcBef>
                        <a:buNone/>
                      </a:pPr>
                      <a:r>
                        <a:rPr lang="en-US" sz="1500" b="true">
                          <a:solidFill>
                            <a:srgbClr val="111111"/>
                          </a:solidFill>
                          <a:latin typeface="Nunito Semi-Bold"/>
                          <a:ea typeface="Nunito Semi-Bold"/>
                          <a:cs typeface="Nunito Semi-Bold"/>
                          <a:sym typeface="Nunito Semi-Bold"/>
                        </a:rPr>
                        <a:t>170</a:t>
                      </a:r>
                    </a:p>
                  </a:txBody>
                  <a:tcPr marL="64008" marR="64008"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c>
                  <a:txBody>
                    <a:bodyPr anchor="ctr" rtlCol="false" lIns="0" tIns="0" rIns="0" bIns="0" wrap="square"/>
                    <a:lstStyle/>
                    <a:p>
                      <a:pPr algn="ctr">
                        <a:lnSpc>
                          <a:spcPts val="1950"/>
                        </a:lnSpc>
                        <a:spcBef>
                          <a:spcPts val="0"/>
                        </a:spcBef>
                        <a:buNone/>
                      </a:pPr>
                      <a:r>
                        <a:rPr lang="en-US" sz="1500" b="true">
                          <a:solidFill>
                            <a:srgbClr val="111111"/>
                          </a:solidFill>
                          <a:latin typeface="Nunito Semi-Bold"/>
                          <a:ea typeface="Nunito Semi-Bold"/>
                          <a:cs typeface="Nunito Semi-Bold"/>
                          <a:sym typeface="Nunito Semi-Bold"/>
                        </a:rPr>
                        <a:t>1.0010</a:t>
                      </a:r>
                    </a:p>
                  </a:txBody>
                  <a:tcPr marL="64008" marR="64008"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c>
                  <a:txBody>
                    <a:bodyPr anchor="ctr" rtlCol="false" lIns="0" tIns="0" rIns="0" bIns="0" wrap="square"/>
                    <a:lstStyle/>
                    <a:p>
                      <a:pPr algn="ctr">
                        <a:lnSpc>
                          <a:spcPts val="1950"/>
                        </a:lnSpc>
                        <a:spcBef>
                          <a:spcPts val="0"/>
                        </a:spcBef>
                        <a:buNone/>
                      </a:pPr>
                      <a:r>
                        <a:rPr lang="en-US" sz="1500" b="true">
                          <a:solidFill>
                            <a:srgbClr val="111111"/>
                          </a:solidFill>
                          <a:latin typeface="Nunito Semi-Bold"/>
                          <a:ea typeface="Nunito Semi-Bold"/>
                          <a:cs typeface="Nunito Semi-Bold"/>
                          <a:sym typeface="Nunito Semi-Bold"/>
                        </a:rPr>
                        <a:t>3.00</a:t>
                      </a:r>
                    </a:p>
                  </a:txBody>
                  <a:tcPr marL="64008" marR="64008"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c>
                  <a:txBody>
                    <a:bodyPr anchor="ctr" rtlCol="false" lIns="0" tIns="0" rIns="0" bIns="0" wrap="square"/>
                    <a:lstStyle/>
                    <a:p>
                      <a:pPr algn="ctr">
                        <a:lnSpc>
                          <a:spcPts val="1950"/>
                        </a:lnSpc>
                        <a:spcBef>
                          <a:spcPts val="0"/>
                        </a:spcBef>
                        <a:buNone/>
                      </a:pPr>
                      <a:r>
                        <a:rPr lang="en-US" sz="1500" b="true">
                          <a:solidFill>
                            <a:srgbClr val="111111"/>
                          </a:solidFill>
                          <a:latin typeface="Nunito Semi-Bold"/>
                          <a:ea typeface="Nunito Semi-Bold"/>
                          <a:cs typeface="Nunito Semi-Bold"/>
                          <a:sym typeface="Nunito Semi-Bold"/>
                        </a:rPr>
                        <a:t>0.45</a:t>
                      </a:r>
                    </a:p>
                  </a:txBody>
                  <a:tcPr marL="64008" marR="64008"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c>
                  <a:txBody>
                    <a:bodyPr anchor="ctr" rtlCol="false" lIns="0" tIns="0" rIns="0" bIns="0" wrap="square"/>
                    <a:lstStyle/>
                    <a:p>
                      <a:pPr algn="ctr">
                        <a:lnSpc>
                          <a:spcPts val="1950"/>
                        </a:lnSpc>
                        <a:spcBef>
                          <a:spcPts val="0"/>
                        </a:spcBef>
                        <a:buNone/>
                      </a:pPr>
                      <a:r>
                        <a:rPr lang="en-US" sz="1500" b="true">
                          <a:solidFill>
                            <a:srgbClr val="111111"/>
                          </a:solidFill>
                          <a:latin typeface="Nunito Semi-Bold"/>
                          <a:ea typeface="Nunito Semi-Bold"/>
                          <a:cs typeface="Nunito Semi-Bold"/>
                          <a:sym typeface="Nunito Semi-Bold"/>
                        </a:rPr>
                        <a:t>8.8</a:t>
                      </a:r>
                    </a:p>
                  </a:txBody>
                  <a:tcPr marL="64008" marR="64008"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c>
                  <a:txBody>
                    <a:bodyPr anchor="ctr" rtlCol="false" lIns="0" tIns="0" rIns="0" bIns="0" wrap="square"/>
                    <a:lstStyle/>
                    <a:p>
                      <a:pPr algn="ctr">
                        <a:lnSpc>
                          <a:spcPts val="1950"/>
                        </a:lnSpc>
                        <a:spcBef>
                          <a:spcPts val="0"/>
                        </a:spcBef>
                        <a:buNone/>
                      </a:pPr>
                      <a:r>
                        <a:rPr lang="en-US" sz="1500" b="true">
                          <a:solidFill>
                            <a:srgbClr val="111111"/>
                          </a:solidFill>
                          <a:latin typeface="Nunito Semi-Bold"/>
                          <a:ea typeface="Nunito Semi-Bold"/>
                          <a:cs typeface="Nunito Semi-Bold"/>
                          <a:sym typeface="Nunito Semi-Bold"/>
                        </a:rPr>
                        <a:t>6</a:t>
                      </a:r>
                    </a:p>
                  </a:txBody>
                  <a:tcPr marL="64008" marR="64008"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r>
              <a:tr h="426466">
                <a:tc>
                  <a:txBody>
                    <a:bodyPr anchor="ctr" rtlCol="false" lIns="0" tIns="0" rIns="0" bIns="0" wrap="square"/>
                    <a:lstStyle/>
                    <a:p>
                      <a:pPr algn="ctr">
                        <a:lnSpc>
                          <a:spcPts val="1950"/>
                        </a:lnSpc>
                        <a:spcBef>
                          <a:spcPts val="0"/>
                        </a:spcBef>
                        <a:buNone/>
                      </a:pPr>
                      <a:r>
                        <a:rPr lang="en-US" sz="1500" b="true">
                          <a:solidFill>
                            <a:srgbClr val="111111"/>
                          </a:solidFill>
                          <a:latin typeface="Nunito Semi-Bold"/>
                          <a:ea typeface="Nunito Semi-Bold"/>
                          <a:cs typeface="Nunito Semi-Bold"/>
                          <a:sym typeface="Nunito Semi-Bold"/>
                        </a:rPr>
                        <a:t>6.3</a:t>
                      </a:r>
                    </a:p>
                  </a:txBody>
                  <a:tcPr marL="64008" marR="64008"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6ECDF"/>
                    </a:solidFill>
                  </a:tcPr>
                </a:tc>
                <a:tc>
                  <a:txBody>
                    <a:bodyPr anchor="ctr" rtlCol="false" lIns="0" tIns="0" rIns="0" bIns="0" wrap="square"/>
                    <a:lstStyle/>
                    <a:p>
                      <a:pPr algn="ctr">
                        <a:lnSpc>
                          <a:spcPts val="1950"/>
                        </a:lnSpc>
                        <a:spcBef>
                          <a:spcPts val="0"/>
                        </a:spcBef>
                        <a:buNone/>
                      </a:pPr>
                      <a:r>
                        <a:rPr lang="en-US" sz="1500" b="true">
                          <a:solidFill>
                            <a:srgbClr val="111111"/>
                          </a:solidFill>
                          <a:latin typeface="Nunito Semi-Bold"/>
                          <a:ea typeface="Nunito Semi-Bold"/>
                          <a:cs typeface="Nunito Semi-Bold"/>
                          <a:sym typeface="Nunito Semi-Bold"/>
                        </a:rPr>
                        <a:t>0.30</a:t>
                      </a:r>
                    </a:p>
                  </a:txBody>
                  <a:tcPr marL="64008" marR="64008"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6ECDF"/>
                    </a:solidFill>
                  </a:tcPr>
                </a:tc>
                <a:tc>
                  <a:txBody>
                    <a:bodyPr anchor="ctr" rtlCol="false" lIns="0" tIns="0" rIns="0" bIns="0" wrap="square"/>
                    <a:lstStyle/>
                    <a:p>
                      <a:pPr algn="ctr">
                        <a:lnSpc>
                          <a:spcPts val="1950"/>
                        </a:lnSpc>
                        <a:spcBef>
                          <a:spcPts val="0"/>
                        </a:spcBef>
                        <a:buNone/>
                      </a:pPr>
                      <a:r>
                        <a:rPr lang="en-US" sz="1500" b="true">
                          <a:solidFill>
                            <a:srgbClr val="111111"/>
                          </a:solidFill>
                          <a:latin typeface="Nunito Semi-Bold"/>
                          <a:ea typeface="Nunito Semi-Bold"/>
                          <a:cs typeface="Nunito Semi-Bold"/>
                          <a:sym typeface="Nunito Semi-Bold"/>
                        </a:rPr>
                        <a:t>0.34</a:t>
                      </a:r>
                    </a:p>
                  </a:txBody>
                  <a:tcPr marL="64008" marR="64008"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6ECDF"/>
                    </a:solidFill>
                  </a:tcPr>
                </a:tc>
                <a:tc>
                  <a:txBody>
                    <a:bodyPr anchor="ctr" rtlCol="false" lIns="0" tIns="0" rIns="0" bIns="0" wrap="square"/>
                    <a:lstStyle/>
                    <a:p>
                      <a:pPr algn="ctr">
                        <a:lnSpc>
                          <a:spcPts val="1950"/>
                        </a:lnSpc>
                        <a:spcBef>
                          <a:spcPts val="0"/>
                        </a:spcBef>
                        <a:buNone/>
                      </a:pPr>
                      <a:r>
                        <a:rPr lang="en-US" sz="1500" b="true">
                          <a:solidFill>
                            <a:srgbClr val="111111"/>
                          </a:solidFill>
                          <a:latin typeface="Nunito Semi-Bold"/>
                          <a:ea typeface="Nunito Semi-Bold"/>
                          <a:cs typeface="Nunito Semi-Bold"/>
                          <a:sym typeface="Nunito Semi-Bold"/>
                        </a:rPr>
                        <a:t>1.6</a:t>
                      </a:r>
                    </a:p>
                  </a:txBody>
                  <a:tcPr marL="64008" marR="64008"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6ECDF"/>
                    </a:solidFill>
                  </a:tcPr>
                </a:tc>
                <a:tc>
                  <a:txBody>
                    <a:bodyPr anchor="ctr" rtlCol="false" lIns="0" tIns="0" rIns="0" bIns="0" wrap="square"/>
                    <a:lstStyle/>
                    <a:p>
                      <a:pPr algn="ctr">
                        <a:lnSpc>
                          <a:spcPts val="1950"/>
                        </a:lnSpc>
                        <a:spcBef>
                          <a:spcPts val="0"/>
                        </a:spcBef>
                        <a:buNone/>
                      </a:pPr>
                      <a:r>
                        <a:rPr lang="en-US" sz="1500" b="true">
                          <a:solidFill>
                            <a:srgbClr val="111111"/>
                          </a:solidFill>
                          <a:latin typeface="Nunito Semi-Bold"/>
                          <a:ea typeface="Nunito Semi-Bold"/>
                          <a:cs typeface="Nunito Semi-Bold"/>
                          <a:sym typeface="Nunito Semi-Bold"/>
                        </a:rPr>
                        <a:t>0.049</a:t>
                      </a:r>
                    </a:p>
                  </a:txBody>
                  <a:tcPr marL="64008" marR="64008"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6ECDF"/>
                    </a:solidFill>
                  </a:tcPr>
                </a:tc>
                <a:tc>
                  <a:txBody>
                    <a:bodyPr anchor="ctr" rtlCol="false" lIns="0" tIns="0" rIns="0" bIns="0" wrap="square"/>
                    <a:lstStyle/>
                    <a:p>
                      <a:pPr algn="ctr">
                        <a:lnSpc>
                          <a:spcPts val="1950"/>
                        </a:lnSpc>
                        <a:spcBef>
                          <a:spcPts val="0"/>
                        </a:spcBef>
                        <a:buNone/>
                      </a:pPr>
                      <a:r>
                        <a:rPr lang="en-US" sz="1500" b="true">
                          <a:solidFill>
                            <a:srgbClr val="111111"/>
                          </a:solidFill>
                          <a:latin typeface="Nunito Semi-Bold"/>
                          <a:ea typeface="Nunito Semi-Bold"/>
                          <a:cs typeface="Nunito Semi-Bold"/>
                          <a:sym typeface="Nunito Semi-Bold"/>
                        </a:rPr>
                        <a:t>14</a:t>
                      </a:r>
                    </a:p>
                  </a:txBody>
                  <a:tcPr marL="64008" marR="64008"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6ECDF"/>
                    </a:solidFill>
                  </a:tcPr>
                </a:tc>
                <a:tc>
                  <a:txBody>
                    <a:bodyPr anchor="ctr" rtlCol="false" lIns="0" tIns="0" rIns="0" bIns="0" wrap="square"/>
                    <a:lstStyle/>
                    <a:p>
                      <a:pPr algn="ctr">
                        <a:lnSpc>
                          <a:spcPts val="1950"/>
                        </a:lnSpc>
                        <a:spcBef>
                          <a:spcPts val="0"/>
                        </a:spcBef>
                        <a:buNone/>
                      </a:pPr>
                      <a:r>
                        <a:rPr lang="en-US" sz="1500" b="true">
                          <a:solidFill>
                            <a:srgbClr val="111111"/>
                          </a:solidFill>
                          <a:latin typeface="Nunito Semi-Bold"/>
                          <a:ea typeface="Nunito Semi-Bold"/>
                          <a:cs typeface="Nunito Semi-Bold"/>
                          <a:sym typeface="Nunito Semi-Bold"/>
                        </a:rPr>
                        <a:t>132</a:t>
                      </a:r>
                    </a:p>
                  </a:txBody>
                  <a:tcPr marL="64008" marR="64008"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6ECDF"/>
                    </a:solidFill>
                  </a:tcPr>
                </a:tc>
                <a:tc>
                  <a:txBody>
                    <a:bodyPr anchor="ctr" rtlCol="false" lIns="0" tIns="0" rIns="0" bIns="0" wrap="square"/>
                    <a:lstStyle/>
                    <a:p>
                      <a:pPr algn="ctr">
                        <a:lnSpc>
                          <a:spcPts val="1950"/>
                        </a:lnSpc>
                        <a:spcBef>
                          <a:spcPts val="0"/>
                        </a:spcBef>
                        <a:buNone/>
                      </a:pPr>
                      <a:r>
                        <a:rPr lang="en-US" sz="1500" b="true">
                          <a:solidFill>
                            <a:srgbClr val="111111"/>
                          </a:solidFill>
                          <a:latin typeface="Nunito Semi-Bold"/>
                          <a:ea typeface="Nunito Semi-Bold"/>
                          <a:cs typeface="Nunito Semi-Bold"/>
                          <a:sym typeface="Nunito Semi-Bold"/>
                        </a:rPr>
                        <a:t>0.9940</a:t>
                      </a:r>
                    </a:p>
                  </a:txBody>
                  <a:tcPr marL="64008" marR="64008"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6ECDF"/>
                    </a:solidFill>
                  </a:tcPr>
                </a:tc>
                <a:tc>
                  <a:txBody>
                    <a:bodyPr anchor="ctr" rtlCol="false" lIns="0" tIns="0" rIns="0" bIns="0" wrap="square"/>
                    <a:lstStyle/>
                    <a:p>
                      <a:pPr algn="ctr">
                        <a:lnSpc>
                          <a:spcPts val="1950"/>
                        </a:lnSpc>
                        <a:spcBef>
                          <a:spcPts val="0"/>
                        </a:spcBef>
                        <a:buNone/>
                      </a:pPr>
                      <a:r>
                        <a:rPr lang="en-US" sz="1500" b="true">
                          <a:solidFill>
                            <a:srgbClr val="111111"/>
                          </a:solidFill>
                          <a:latin typeface="Nunito Semi-Bold"/>
                          <a:ea typeface="Nunito Semi-Bold"/>
                          <a:cs typeface="Nunito Semi-Bold"/>
                          <a:sym typeface="Nunito Semi-Bold"/>
                        </a:rPr>
                        <a:t>3.30</a:t>
                      </a:r>
                    </a:p>
                  </a:txBody>
                  <a:tcPr marL="64008" marR="64008"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6ECDF"/>
                    </a:solidFill>
                  </a:tcPr>
                </a:tc>
                <a:tc>
                  <a:txBody>
                    <a:bodyPr anchor="ctr" rtlCol="false" lIns="0" tIns="0" rIns="0" bIns="0" wrap="square"/>
                    <a:lstStyle/>
                    <a:p>
                      <a:pPr algn="ctr">
                        <a:lnSpc>
                          <a:spcPts val="1950"/>
                        </a:lnSpc>
                        <a:spcBef>
                          <a:spcPts val="0"/>
                        </a:spcBef>
                        <a:buNone/>
                      </a:pPr>
                      <a:r>
                        <a:rPr lang="en-US" sz="1500" b="true">
                          <a:solidFill>
                            <a:srgbClr val="111111"/>
                          </a:solidFill>
                          <a:latin typeface="Nunito Semi-Bold"/>
                          <a:ea typeface="Nunito Semi-Bold"/>
                          <a:cs typeface="Nunito Semi-Bold"/>
                          <a:sym typeface="Nunito Semi-Bold"/>
                        </a:rPr>
                        <a:t>0.49</a:t>
                      </a:r>
                    </a:p>
                  </a:txBody>
                  <a:tcPr marL="64008" marR="64008"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6ECDF"/>
                    </a:solidFill>
                  </a:tcPr>
                </a:tc>
                <a:tc>
                  <a:txBody>
                    <a:bodyPr anchor="ctr" rtlCol="false" lIns="0" tIns="0" rIns="0" bIns="0" wrap="square"/>
                    <a:lstStyle/>
                    <a:p>
                      <a:pPr algn="ctr">
                        <a:lnSpc>
                          <a:spcPts val="1950"/>
                        </a:lnSpc>
                        <a:spcBef>
                          <a:spcPts val="0"/>
                        </a:spcBef>
                        <a:buNone/>
                      </a:pPr>
                      <a:r>
                        <a:rPr lang="en-US" sz="1500" b="true">
                          <a:solidFill>
                            <a:srgbClr val="111111"/>
                          </a:solidFill>
                          <a:latin typeface="Nunito Semi-Bold"/>
                          <a:ea typeface="Nunito Semi-Bold"/>
                          <a:cs typeface="Nunito Semi-Bold"/>
                          <a:sym typeface="Nunito Semi-Bold"/>
                        </a:rPr>
                        <a:t>9.5</a:t>
                      </a:r>
                    </a:p>
                  </a:txBody>
                  <a:tcPr marL="64008" marR="64008"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6ECDF"/>
                    </a:solidFill>
                  </a:tcPr>
                </a:tc>
                <a:tc>
                  <a:txBody>
                    <a:bodyPr anchor="ctr" rtlCol="false" lIns="0" tIns="0" rIns="0" bIns="0" wrap="square"/>
                    <a:lstStyle/>
                    <a:p>
                      <a:pPr algn="ctr">
                        <a:lnSpc>
                          <a:spcPts val="1950"/>
                        </a:lnSpc>
                        <a:spcBef>
                          <a:spcPts val="0"/>
                        </a:spcBef>
                        <a:buNone/>
                      </a:pPr>
                      <a:r>
                        <a:rPr lang="en-US" sz="1500" b="true">
                          <a:solidFill>
                            <a:srgbClr val="111111"/>
                          </a:solidFill>
                          <a:latin typeface="Nunito Semi-Bold"/>
                          <a:ea typeface="Nunito Semi-Bold"/>
                          <a:cs typeface="Nunito Semi-Bold"/>
                          <a:sym typeface="Nunito Semi-Bold"/>
                        </a:rPr>
                        <a:t>6</a:t>
                      </a:r>
                    </a:p>
                  </a:txBody>
                  <a:tcPr marL="64008" marR="64008"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6ECDF"/>
                    </a:solidFill>
                  </a:tcPr>
                </a:tc>
              </a:tr>
              <a:tr h="426466">
                <a:tc>
                  <a:txBody>
                    <a:bodyPr anchor="ctr" rtlCol="false" lIns="0" tIns="0" rIns="0" bIns="0" wrap="square"/>
                    <a:lstStyle/>
                    <a:p>
                      <a:pPr algn="ctr">
                        <a:lnSpc>
                          <a:spcPts val="1950"/>
                        </a:lnSpc>
                        <a:spcBef>
                          <a:spcPts val="0"/>
                        </a:spcBef>
                        <a:buNone/>
                      </a:pPr>
                      <a:r>
                        <a:rPr lang="en-US" sz="1500" b="true">
                          <a:solidFill>
                            <a:srgbClr val="111111"/>
                          </a:solidFill>
                          <a:latin typeface="Nunito Semi-Bold"/>
                          <a:ea typeface="Nunito Semi-Bold"/>
                          <a:cs typeface="Nunito Semi-Bold"/>
                          <a:sym typeface="Nunito Semi-Bold"/>
                        </a:rPr>
                        <a:t>8.1</a:t>
                      </a:r>
                    </a:p>
                  </a:txBody>
                  <a:tcPr marL="64008" marR="64008"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c>
                  <a:txBody>
                    <a:bodyPr anchor="ctr" rtlCol="false" lIns="0" tIns="0" rIns="0" bIns="0" wrap="square"/>
                    <a:lstStyle/>
                    <a:p>
                      <a:pPr algn="ctr">
                        <a:lnSpc>
                          <a:spcPts val="1950"/>
                        </a:lnSpc>
                        <a:spcBef>
                          <a:spcPts val="0"/>
                        </a:spcBef>
                        <a:buNone/>
                      </a:pPr>
                      <a:r>
                        <a:rPr lang="en-US" sz="1500" b="true">
                          <a:solidFill>
                            <a:srgbClr val="111111"/>
                          </a:solidFill>
                          <a:latin typeface="Nunito Semi-Bold"/>
                          <a:ea typeface="Nunito Semi-Bold"/>
                          <a:cs typeface="Nunito Semi-Bold"/>
                          <a:sym typeface="Nunito Semi-Bold"/>
                        </a:rPr>
                        <a:t>0.28</a:t>
                      </a:r>
                    </a:p>
                  </a:txBody>
                  <a:tcPr marL="64008" marR="64008"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c>
                  <a:txBody>
                    <a:bodyPr anchor="ctr" rtlCol="false" lIns="0" tIns="0" rIns="0" bIns="0" wrap="square"/>
                    <a:lstStyle/>
                    <a:p>
                      <a:pPr algn="ctr">
                        <a:lnSpc>
                          <a:spcPts val="1950"/>
                        </a:lnSpc>
                        <a:spcBef>
                          <a:spcPts val="0"/>
                        </a:spcBef>
                        <a:buNone/>
                      </a:pPr>
                      <a:r>
                        <a:rPr lang="en-US" sz="1500" b="true">
                          <a:solidFill>
                            <a:srgbClr val="111111"/>
                          </a:solidFill>
                          <a:latin typeface="Nunito Semi-Bold"/>
                          <a:ea typeface="Nunito Semi-Bold"/>
                          <a:cs typeface="Nunito Semi-Bold"/>
                          <a:sym typeface="Nunito Semi-Bold"/>
                        </a:rPr>
                        <a:t>0.40</a:t>
                      </a:r>
                    </a:p>
                  </a:txBody>
                  <a:tcPr marL="64008" marR="64008"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c>
                  <a:txBody>
                    <a:bodyPr anchor="ctr" rtlCol="false" lIns="0" tIns="0" rIns="0" bIns="0" wrap="square"/>
                    <a:lstStyle/>
                    <a:p>
                      <a:pPr algn="ctr">
                        <a:lnSpc>
                          <a:spcPts val="1950"/>
                        </a:lnSpc>
                        <a:spcBef>
                          <a:spcPts val="0"/>
                        </a:spcBef>
                        <a:buNone/>
                      </a:pPr>
                      <a:r>
                        <a:rPr lang="en-US" sz="1500" b="true">
                          <a:solidFill>
                            <a:srgbClr val="111111"/>
                          </a:solidFill>
                          <a:latin typeface="Nunito Semi-Bold"/>
                          <a:ea typeface="Nunito Semi-Bold"/>
                          <a:cs typeface="Nunito Semi-Bold"/>
                          <a:sym typeface="Nunito Semi-Bold"/>
                        </a:rPr>
                        <a:t>6.9</a:t>
                      </a:r>
                    </a:p>
                  </a:txBody>
                  <a:tcPr marL="64008" marR="64008"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c>
                  <a:txBody>
                    <a:bodyPr anchor="ctr" rtlCol="false" lIns="0" tIns="0" rIns="0" bIns="0" wrap="square"/>
                    <a:lstStyle/>
                    <a:p>
                      <a:pPr algn="ctr">
                        <a:lnSpc>
                          <a:spcPts val="1950"/>
                        </a:lnSpc>
                        <a:spcBef>
                          <a:spcPts val="0"/>
                        </a:spcBef>
                        <a:buNone/>
                      </a:pPr>
                      <a:r>
                        <a:rPr lang="en-US" sz="1500" b="true">
                          <a:solidFill>
                            <a:srgbClr val="111111"/>
                          </a:solidFill>
                          <a:latin typeface="Nunito Semi-Bold"/>
                          <a:ea typeface="Nunito Semi-Bold"/>
                          <a:cs typeface="Nunito Semi-Bold"/>
                          <a:sym typeface="Nunito Semi-Bold"/>
                        </a:rPr>
                        <a:t>0.050</a:t>
                      </a:r>
                    </a:p>
                  </a:txBody>
                  <a:tcPr marL="64008" marR="64008"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c>
                  <a:txBody>
                    <a:bodyPr anchor="ctr" rtlCol="false" lIns="0" tIns="0" rIns="0" bIns="0" wrap="square"/>
                    <a:lstStyle/>
                    <a:p>
                      <a:pPr algn="ctr">
                        <a:lnSpc>
                          <a:spcPts val="1950"/>
                        </a:lnSpc>
                        <a:spcBef>
                          <a:spcPts val="0"/>
                        </a:spcBef>
                        <a:buNone/>
                      </a:pPr>
                      <a:r>
                        <a:rPr lang="en-US" sz="1500" b="true">
                          <a:solidFill>
                            <a:srgbClr val="111111"/>
                          </a:solidFill>
                          <a:latin typeface="Nunito Semi-Bold"/>
                          <a:ea typeface="Nunito Semi-Bold"/>
                          <a:cs typeface="Nunito Semi-Bold"/>
                          <a:sym typeface="Nunito Semi-Bold"/>
                        </a:rPr>
                        <a:t>30</a:t>
                      </a:r>
                    </a:p>
                  </a:txBody>
                  <a:tcPr marL="64008" marR="64008"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c>
                  <a:txBody>
                    <a:bodyPr anchor="ctr" rtlCol="false" lIns="0" tIns="0" rIns="0" bIns="0" wrap="square"/>
                    <a:lstStyle/>
                    <a:p>
                      <a:pPr algn="ctr">
                        <a:lnSpc>
                          <a:spcPts val="1950"/>
                        </a:lnSpc>
                        <a:spcBef>
                          <a:spcPts val="0"/>
                        </a:spcBef>
                        <a:buNone/>
                      </a:pPr>
                      <a:r>
                        <a:rPr lang="en-US" sz="1500" b="true">
                          <a:solidFill>
                            <a:srgbClr val="111111"/>
                          </a:solidFill>
                          <a:latin typeface="Nunito Semi-Bold"/>
                          <a:ea typeface="Nunito Semi-Bold"/>
                          <a:cs typeface="Nunito Semi-Bold"/>
                          <a:sym typeface="Nunito Semi-Bold"/>
                        </a:rPr>
                        <a:t>97</a:t>
                      </a:r>
                    </a:p>
                  </a:txBody>
                  <a:tcPr marL="64008" marR="64008"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c>
                  <a:txBody>
                    <a:bodyPr anchor="ctr" rtlCol="false" lIns="0" tIns="0" rIns="0" bIns="0" wrap="square"/>
                    <a:lstStyle/>
                    <a:p>
                      <a:pPr algn="ctr">
                        <a:lnSpc>
                          <a:spcPts val="1950"/>
                        </a:lnSpc>
                        <a:spcBef>
                          <a:spcPts val="0"/>
                        </a:spcBef>
                        <a:buNone/>
                      </a:pPr>
                      <a:r>
                        <a:rPr lang="en-US" sz="1500" b="true">
                          <a:solidFill>
                            <a:srgbClr val="111111"/>
                          </a:solidFill>
                          <a:latin typeface="Nunito Semi-Bold"/>
                          <a:ea typeface="Nunito Semi-Bold"/>
                          <a:cs typeface="Nunito Semi-Bold"/>
                          <a:sym typeface="Nunito Semi-Bold"/>
                        </a:rPr>
                        <a:t>0.9951</a:t>
                      </a:r>
                    </a:p>
                  </a:txBody>
                  <a:tcPr marL="64008" marR="64008"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c>
                  <a:txBody>
                    <a:bodyPr anchor="ctr" rtlCol="false" lIns="0" tIns="0" rIns="0" bIns="0" wrap="square"/>
                    <a:lstStyle/>
                    <a:p>
                      <a:pPr algn="ctr">
                        <a:lnSpc>
                          <a:spcPts val="1950"/>
                        </a:lnSpc>
                        <a:spcBef>
                          <a:spcPts val="0"/>
                        </a:spcBef>
                        <a:buNone/>
                      </a:pPr>
                      <a:r>
                        <a:rPr lang="en-US" sz="1500" b="true">
                          <a:solidFill>
                            <a:srgbClr val="111111"/>
                          </a:solidFill>
                          <a:latin typeface="Nunito Semi-Bold"/>
                          <a:ea typeface="Nunito Semi-Bold"/>
                          <a:cs typeface="Nunito Semi-Bold"/>
                          <a:sym typeface="Nunito Semi-Bold"/>
                        </a:rPr>
                        <a:t>3.26</a:t>
                      </a:r>
                    </a:p>
                  </a:txBody>
                  <a:tcPr marL="64008" marR="64008"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c>
                  <a:txBody>
                    <a:bodyPr anchor="ctr" rtlCol="false" lIns="0" tIns="0" rIns="0" bIns="0" wrap="square"/>
                    <a:lstStyle/>
                    <a:p>
                      <a:pPr algn="ctr">
                        <a:lnSpc>
                          <a:spcPts val="1950"/>
                        </a:lnSpc>
                        <a:spcBef>
                          <a:spcPts val="0"/>
                        </a:spcBef>
                        <a:buNone/>
                      </a:pPr>
                      <a:r>
                        <a:rPr lang="en-US" sz="1500" b="true">
                          <a:solidFill>
                            <a:srgbClr val="111111"/>
                          </a:solidFill>
                          <a:latin typeface="Nunito Semi-Bold"/>
                          <a:ea typeface="Nunito Semi-Bold"/>
                          <a:cs typeface="Nunito Semi-Bold"/>
                          <a:sym typeface="Nunito Semi-Bold"/>
                        </a:rPr>
                        <a:t>0.44</a:t>
                      </a:r>
                    </a:p>
                  </a:txBody>
                  <a:tcPr marL="64008" marR="64008"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c>
                  <a:txBody>
                    <a:bodyPr anchor="ctr" rtlCol="false" lIns="0" tIns="0" rIns="0" bIns="0" wrap="square"/>
                    <a:lstStyle/>
                    <a:p>
                      <a:pPr algn="ctr">
                        <a:lnSpc>
                          <a:spcPts val="1950"/>
                        </a:lnSpc>
                        <a:spcBef>
                          <a:spcPts val="0"/>
                        </a:spcBef>
                        <a:buNone/>
                      </a:pPr>
                      <a:r>
                        <a:rPr lang="en-US" sz="1500" b="true">
                          <a:solidFill>
                            <a:srgbClr val="111111"/>
                          </a:solidFill>
                          <a:latin typeface="Nunito Semi-Bold"/>
                          <a:ea typeface="Nunito Semi-Bold"/>
                          <a:cs typeface="Nunito Semi-Bold"/>
                          <a:sym typeface="Nunito Semi-Bold"/>
                        </a:rPr>
                        <a:t>10.1</a:t>
                      </a:r>
                    </a:p>
                  </a:txBody>
                  <a:tcPr marL="64008" marR="64008"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c>
                  <a:txBody>
                    <a:bodyPr anchor="ctr" rtlCol="false" lIns="0" tIns="0" rIns="0" bIns="0" wrap="square"/>
                    <a:lstStyle/>
                    <a:p>
                      <a:pPr algn="ctr">
                        <a:lnSpc>
                          <a:spcPts val="1950"/>
                        </a:lnSpc>
                        <a:spcBef>
                          <a:spcPts val="0"/>
                        </a:spcBef>
                        <a:buNone/>
                      </a:pPr>
                      <a:r>
                        <a:rPr lang="en-US" sz="1500" b="true">
                          <a:solidFill>
                            <a:srgbClr val="111111"/>
                          </a:solidFill>
                          <a:latin typeface="Nunito Semi-Bold"/>
                          <a:ea typeface="Nunito Semi-Bold"/>
                          <a:cs typeface="Nunito Semi-Bold"/>
                          <a:sym typeface="Nunito Semi-Bold"/>
                        </a:rPr>
                        <a:t>6</a:t>
                      </a:r>
                    </a:p>
                  </a:txBody>
                  <a:tcPr marL="64008" marR="64008"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r>
            </a:tbl>
          </a:graphicData>
        </a:graphic>
      </p:graphicFrame>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pic>
        <p:nvPicPr>
          <p:cNvPr id="2" name="Picture 1" descr="ensias_logo.jpg"/>
          <p:cNvPicPr>
            <a:picLocks noChangeAspect="1"/>
          </p:cNvPicPr>
          <p:nvPr/>
        </p:nvPicPr>
        <p:blipFill>
          <a:blip r:embed="rId2"/>
          <a:stretch>
            <a:fillRect/>
          </a:stretch>
        </p:blipFill>
        <p:spPr>
          <a:xfrm>
            <a:off x="1028700" y="9674352"/>
            <a:ext cx="542964" cy="384048"/>
          </a:xfrm>
          <a:prstGeom prst="rect">
            <a:avLst/>
          </a:prstGeom>
        </p:spPr>
      </p:pic>
      <p:sp>
        <p:nvSpPr>
          <p:cNvPr id="3" name="TextBox 2"/>
          <p:cNvSpPr txBox="1"/>
          <p:nvPr/>
        </p:nvSpPr>
        <p:spPr>
          <a:xfrm>
            <a:off x="1577340" y="9601200"/>
            <a:ext cx="14493240" cy="566928"/>
          </a:xfrm>
          <a:prstGeom prst="rect">
            <a:avLst/>
          </a:prstGeom>
          <a:noFill/>
        </p:spPr>
        <p:txBody>
          <a:bodyPr anchor="ctr" rtlCol="false" lIns="0" tIns="0" rIns="0" bIns="0" wrap="square"/>
          <a:lstStyle/>
          <a:p>
            <a:pPr algn="l">
              <a:lnSpc>
                <a:spcPts val="1200"/>
              </a:lnSpc>
              <a:spcBef>
                <a:spcPts val="0"/>
              </a:spcBef>
              <a:buNone/>
            </a:pPr>
            <a:r>
              <a:rPr lang="en-US" sz="1000" b="true">
                <a:solidFill>
                  <a:srgbClr val="8A8378"/>
                </a:solidFill>
                <a:latin typeface="Nunito Semi-Bold"/>
                <a:ea typeface="Nunito Semi-Bold"/>
                <a:cs typeface="Nunito Semi-Bold"/>
                <a:sym typeface="Nunito Semi-Bold"/>
              </a:rPr>
              <a:t>[19] Cortez, P. et al. Wine Quality. UCI Machine Learning Repository (2009).  ·  Dua, D. &amp; Taniskidou, E. Beijing Multi-Site Air Quality Data. UCI Machine Learning Repository (2017).</a:t>
            </a:r>
          </a:p>
        </p:txBody>
      </p:sp>
      <p:sp>
        <p:nvSpPr>
          <p:cNvPr id="4" name="TextBox 3"/>
          <p:cNvSpPr txBox="1"/>
          <p:nvPr/>
        </p:nvSpPr>
        <p:spPr>
          <a:xfrm>
            <a:off x="16162020" y="9692640"/>
            <a:ext cx="1097280" cy="329184"/>
          </a:xfrm>
          <a:prstGeom prst="rect">
            <a:avLst/>
          </a:prstGeom>
          <a:noFill/>
        </p:spPr>
        <p:txBody>
          <a:bodyPr anchor="t" rtlCol="false" lIns="0" tIns="0" rIns="0" bIns="0" wrap="square"/>
          <a:lstStyle/>
          <a:p>
            <a:pPr algn="r">
              <a:lnSpc>
                <a:spcPts val="2200"/>
              </a:lnSpc>
              <a:spcBef>
                <a:spcPts val="0"/>
              </a:spcBef>
              <a:buNone/>
            </a:pPr>
            <a:r>
              <a:rPr lang="en-US" sz="1800" b="true">
                <a:solidFill>
                  <a:srgbClr val="111111"/>
                </a:solidFill>
                <a:latin typeface="Nunito Ultra-Bold"/>
                <a:ea typeface="Nunito Ultra-Bold"/>
                <a:cs typeface="Nunito Ultra-Bold"/>
                <a:sym typeface="Nunito Ultra-Bold"/>
              </a:rPr>
              <a:t>19</a:t>
            </a:r>
          </a:p>
        </p:txBody>
      </p:sp>
      <p:sp>
        <p:nvSpPr>
          <p:cNvPr id="5" name="TextBox 4"/>
          <p:cNvSpPr txBox="1"/>
          <p:nvPr/>
        </p:nvSpPr>
        <p:spPr>
          <a:xfrm>
            <a:off x="1028700" y="1389888"/>
            <a:ext cx="12938760" cy="329184"/>
          </a:xfrm>
          <a:prstGeom prst="rect">
            <a:avLst/>
          </a:prstGeom>
          <a:noFill/>
        </p:spPr>
        <p:txBody>
          <a:bodyPr anchor="t" rtlCol="false" lIns="0" tIns="0" rIns="0" bIns="0" wrap="square"/>
          <a:lstStyle/>
          <a:p>
            <a:pPr algn="l">
              <a:lnSpc>
                <a:spcPts val="2000"/>
              </a:lnSpc>
              <a:spcBef>
                <a:spcPts val="0"/>
              </a:spcBef>
              <a:buNone/>
            </a:pPr>
            <a:r>
              <a:rPr lang="en-US" sz="1500" b="true" spc="160">
                <a:solidFill>
                  <a:srgbClr val="1F7A8C"/>
                </a:solidFill>
                <a:latin typeface="Nunito Ultra-Bold"/>
                <a:ea typeface="Nunito Ultra-Bold"/>
                <a:cs typeface="Nunito Ultra-Bold"/>
                <a:sym typeface="Nunito Ultra-Bold"/>
              </a:rPr>
              <a:t>EXPERIMENTAL PROTOCOL</a:t>
            </a:r>
          </a:p>
        </p:txBody>
      </p:sp>
      <p:sp>
        <p:nvSpPr>
          <p:cNvPr id="6" name="Rounded Rectangle 5"/>
          <p:cNvSpPr/>
          <p:nvPr/>
        </p:nvSpPr>
        <p:spPr>
          <a:xfrm>
            <a:off x="14516100"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7" name="TextBox 6"/>
          <p:cNvSpPr txBox="1"/>
          <p:nvPr/>
        </p:nvSpPr>
        <p:spPr>
          <a:xfrm>
            <a:off x="14516100"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1</a:t>
            </a:r>
          </a:p>
        </p:txBody>
      </p:sp>
      <p:sp>
        <p:nvSpPr>
          <p:cNvPr id="8" name="Rounded Rectangle 7"/>
          <p:cNvSpPr/>
          <p:nvPr/>
        </p:nvSpPr>
        <p:spPr>
          <a:xfrm>
            <a:off x="14918436"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9" name="TextBox 8"/>
          <p:cNvSpPr txBox="1"/>
          <p:nvPr/>
        </p:nvSpPr>
        <p:spPr>
          <a:xfrm>
            <a:off x="14918436"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2</a:t>
            </a:r>
          </a:p>
        </p:txBody>
      </p:sp>
      <p:sp>
        <p:nvSpPr>
          <p:cNvPr id="10" name="Rounded Rectangle 9"/>
          <p:cNvSpPr/>
          <p:nvPr/>
        </p:nvSpPr>
        <p:spPr>
          <a:xfrm>
            <a:off x="15320772" y="1371600"/>
            <a:ext cx="329184" cy="329184"/>
          </a:xfrm>
          <a:prstGeom prst="roundRect">
            <a:avLst>
              <a:gd name="adj" fmla="val 16666"/>
            </a:avLst>
          </a:prstGeom>
          <a:solidFill>
            <a:srgbClr val="4472C4"/>
          </a:solidFill>
          <a:ln w="15875">
            <a:solidFill>
              <a:srgbClr val="4472C4"/>
            </a:solidFill>
          </a:ln>
        </p:spPr>
        <p:txBody>
          <a:bodyPr anchor="ctr" rtlCol="false" lIns="0" tIns="0" rIns="0" bIns="0" wrap="square"/>
          <a:lstStyle/>
          <a:p>
            <a:endParaRPr lang="en-US" sz="1800"/>
          </a:p>
        </p:txBody>
      </p:sp>
      <p:sp>
        <p:nvSpPr>
          <p:cNvPr id="11" name="TextBox 10"/>
          <p:cNvSpPr txBox="1"/>
          <p:nvPr/>
        </p:nvSpPr>
        <p:spPr>
          <a:xfrm>
            <a:off x="15320772"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FFFFFF"/>
                </a:solidFill>
                <a:latin typeface="Nunito Ultra-Bold"/>
                <a:ea typeface="Nunito Ultra-Bold"/>
                <a:cs typeface="Nunito Ultra-Bold"/>
                <a:sym typeface="Nunito Ultra-Bold"/>
              </a:rPr>
              <a:t>3</a:t>
            </a:r>
          </a:p>
        </p:txBody>
      </p:sp>
      <p:sp>
        <p:nvSpPr>
          <p:cNvPr id="12" name="Rounded Rectangle 11"/>
          <p:cNvSpPr/>
          <p:nvPr/>
        </p:nvSpPr>
        <p:spPr>
          <a:xfrm>
            <a:off x="15723108"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13" name="TextBox 12"/>
          <p:cNvSpPr txBox="1"/>
          <p:nvPr/>
        </p:nvSpPr>
        <p:spPr>
          <a:xfrm>
            <a:off x="15723108"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4</a:t>
            </a:r>
          </a:p>
        </p:txBody>
      </p:sp>
      <p:sp>
        <p:nvSpPr>
          <p:cNvPr id="14" name="Rounded Rectangle 13"/>
          <p:cNvSpPr/>
          <p:nvPr/>
        </p:nvSpPr>
        <p:spPr>
          <a:xfrm>
            <a:off x="16125444"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15" name="TextBox 14"/>
          <p:cNvSpPr txBox="1"/>
          <p:nvPr/>
        </p:nvSpPr>
        <p:spPr>
          <a:xfrm>
            <a:off x="16125444"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5</a:t>
            </a:r>
          </a:p>
        </p:txBody>
      </p:sp>
      <p:sp>
        <p:nvSpPr>
          <p:cNvPr id="16" name="Rounded Rectangle 15"/>
          <p:cNvSpPr/>
          <p:nvPr/>
        </p:nvSpPr>
        <p:spPr>
          <a:xfrm>
            <a:off x="16527780"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17" name="TextBox 16"/>
          <p:cNvSpPr txBox="1"/>
          <p:nvPr/>
        </p:nvSpPr>
        <p:spPr>
          <a:xfrm>
            <a:off x="16527780"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6</a:t>
            </a:r>
          </a:p>
        </p:txBody>
      </p:sp>
      <p:sp>
        <p:nvSpPr>
          <p:cNvPr id="18" name="Rounded Rectangle 17"/>
          <p:cNvSpPr/>
          <p:nvPr/>
        </p:nvSpPr>
        <p:spPr>
          <a:xfrm>
            <a:off x="16930116"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19" name="TextBox 18"/>
          <p:cNvSpPr txBox="1"/>
          <p:nvPr/>
        </p:nvSpPr>
        <p:spPr>
          <a:xfrm>
            <a:off x="16930116"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7</a:t>
            </a:r>
          </a:p>
        </p:txBody>
      </p:sp>
      <p:sp>
        <p:nvSpPr>
          <p:cNvPr id="20" name="TextBox 19"/>
          <p:cNvSpPr txBox="1"/>
          <p:nvPr/>
        </p:nvSpPr>
        <p:spPr>
          <a:xfrm>
            <a:off x="1028700" y="1719072"/>
            <a:ext cx="16230600" cy="730250"/>
          </a:xfrm>
          <a:prstGeom prst="rect">
            <a:avLst/>
          </a:prstGeom>
          <a:noFill/>
        </p:spPr>
        <p:txBody>
          <a:bodyPr anchor="t" rtlCol="false" lIns="0" tIns="0" rIns="0" bIns="0" wrap="square"/>
          <a:lstStyle/>
          <a:p>
            <a:pPr algn="l">
              <a:lnSpc>
                <a:spcPts val="5060"/>
              </a:lnSpc>
              <a:spcBef>
                <a:spcPts val="0"/>
              </a:spcBef>
              <a:buNone/>
            </a:pPr>
            <a:r>
              <a:rPr lang="en-US" sz="4600" b="true" spc="-230">
                <a:solidFill>
                  <a:srgbClr val="111111"/>
                </a:solidFill>
                <a:latin typeface="Roca Two Bold"/>
                <a:ea typeface="Roca Two Bold"/>
                <a:cs typeface="Roca Two Bold"/>
                <a:sym typeface="Roca Two Bold"/>
              </a:rPr>
              <a:t>Beijing Multi-Site Air Quality</a:t>
            </a:r>
          </a:p>
        </p:txBody>
      </p:sp>
      <p:sp>
        <p:nvSpPr>
          <p:cNvPr id="21" name="Rounded Rectangle 20"/>
          <p:cNvSpPr/>
          <p:nvPr/>
        </p:nvSpPr>
        <p:spPr>
          <a:xfrm>
            <a:off x="1028700" y="2559050"/>
            <a:ext cx="1523907" cy="420624"/>
          </a:xfrm>
          <a:prstGeom prst="roundRect">
            <a:avLst>
              <a:gd name="adj" fmla="val 50000"/>
            </a:avLst>
          </a:prstGeom>
          <a:solidFill>
            <a:srgbClr val="4472C4"/>
          </a:solidFill>
          <a:ln>
            <a:noFill/>
          </a:ln>
        </p:spPr>
        <p:txBody>
          <a:bodyPr anchor="ctr" rtlCol="false" lIns="45720" tIns="0" rIns="45720" bIns="0" wrap="square"/>
          <a:lstStyle/>
          <a:p>
            <a:pPr algn="ctr">
              <a:lnSpc>
                <a:spcPts val="2160"/>
              </a:lnSpc>
              <a:spcBef>
                <a:spcPts val="0"/>
              </a:spcBef>
              <a:buNone/>
            </a:pPr>
            <a:r>
              <a:rPr lang="en-US" sz="1800" b="true">
                <a:solidFill>
                  <a:srgbClr val="FFFFFF"/>
                </a:solidFill>
                <a:latin typeface="Nunito Bold"/>
                <a:ea typeface="Nunito Bold"/>
                <a:cs typeface="Nunito Bold"/>
                <a:sym typeface="Nunito Bold"/>
              </a:rPr>
              <a:t>Datasets</a:t>
            </a:r>
          </a:p>
        </p:txBody>
      </p:sp>
      <p:sp>
        <p:nvSpPr>
          <p:cNvPr id="22" name="Rounded Rectangle 21"/>
          <p:cNvSpPr/>
          <p:nvPr/>
        </p:nvSpPr>
        <p:spPr>
          <a:xfrm>
            <a:off x="2680623" y="2559050"/>
            <a:ext cx="1349432" cy="420624"/>
          </a:xfrm>
          <a:prstGeom prst="roundRect">
            <a:avLst>
              <a:gd name="adj" fmla="val 50000"/>
            </a:avLst>
          </a:prstGeom>
          <a:noFill/>
          <a:ln w="28575">
            <a:solidFill>
              <a:srgbClr val="4472C4"/>
            </a:solidFill>
          </a:ln>
        </p:spPr>
        <p:txBody>
          <a:bodyPr anchor="ctr" rtlCol="false" lIns="45720" tIns="0" rIns="45720" bIns="0" wrap="square"/>
          <a:lstStyle/>
          <a:p>
            <a:pPr algn="ctr">
              <a:lnSpc>
                <a:spcPts val="2160"/>
              </a:lnSpc>
              <a:spcBef>
                <a:spcPts val="0"/>
              </a:spcBef>
              <a:buNone/>
            </a:pPr>
            <a:r>
              <a:rPr lang="en-US" sz="1800" b="true">
                <a:solidFill>
                  <a:srgbClr val="4472C4"/>
                </a:solidFill>
                <a:latin typeface="Nunito Bold"/>
                <a:ea typeface="Nunito Bold"/>
                <a:cs typeface="Nunito Bold"/>
                <a:sym typeface="Nunito Bold"/>
              </a:rPr>
              <a:t>Metrics</a:t>
            </a:r>
          </a:p>
        </p:txBody>
      </p:sp>
      <p:sp>
        <p:nvSpPr>
          <p:cNvPr id="23" name="Rounded Rectangle 22"/>
          <p:cNvSpPr/>
          <p:nvPr/>
        </p:nvSpPr>
        <p:spPr>
          <a:xfrm>
            <a:off x="4158071" y="2559050"/>
            <a:ext cx="1642577" cy="420624"/>
          </a:xfrm>
          <a:prstGeom prst="roundRect">
            <a:avLst>
              <a:gd name="adj" fmla="val 50000"/>
            </a:avLst>
          </a:prstGeom>
          <a:noFill/>
          <a:ln w="28575">
            <a:solidFill>
              <a:srgbClr val="4472C4"/>
            </a:solidFill>
          </a:ln>
        </p:spPr>
        <p:txBody>
          <a:bodyPr anchor="ctr" rtlCol="false" lIns="45720" tIns="0" rIns="45720" bIns="0" wrap="square"/>
          <a:lstStyle/>
          <a:p>
            <a:pPr algn="ctr">
              <a:lnSpc>
                <a:spcPts val="2160"/>
              </a:lnSpc>
              <a:spcBef>
                <a:spcPts val="0"/>
              </a:spcBef>
              <a:buNone/>
            </a:pPr>
            <a:r>
              <a:rPr lang="en-US" sz="1800" b="true">
                <a:solidFill>
                  <a:srgbClr val="4472C4"/>
                </a:solidFill>
                <a:latin typeface="Nunito Bold"/>
                <a:ea typeface="Nunito Bold"/>
                <a:cs typeface="Nunito Bold"/>
                <a:sym typeface="Nunito Bold"/>
              </a:rPr>
              <a:t>Hardware</a:t>
            </a:r>
          </a:p>
        </p:txBody>
      </p:sp>
      <p:sp>
        <p:nvSpPr>
          <p:cNvPr id="24" name="TextBox 23"/>
          <p:cNvSpPr txBox="1"/>
          <p:nvPr/>
        </p:nvSpPr>
        <p:spPr>
          <a:xfrm>
            <a:off x="1028700" y="3363722"/>
            <a:ext cx="6949440" cy="2743200"/>
          </a:xfrm>
          <a:prstGeom prst="rect">
            <a:avLst/>
          </a:prstGeom>
          <a:noFill/>
        </p:spPr>
        <p:txBody>
          <a:bodyPr anchor="t" rtlCol="false" lIns="0" tIns="0" rIns="0" bIns="0" wrap="square"/>
          <a:lstStyle/>
          <a:p>
            <a:pPr algn="l" marL="274320" indent="-274320">
              <a:lnSpc>
                <a:spcPts val="2660"/>
              </a:lnSpc>
              <a:spcBef>
                <a:spcPts val="0"/>
              </a:spcBef>
              <a:buClr>
                <a:srgbClr val="1F7A8C"/>
              </a:buClr>
              <a:buSzPct val="100000"/>
              <a:buFont typeface="Arial"/>
              <a:buChar char="•"/>
            </a:pPr>
            <a:r>
              <a:rPr lang="en-US" sz="1900" b="true">
                <a:solidFill>
                  <a:srgbClr val="111111"/>
                </a:solidFill>
                <a:latin typeface="Nunito Bold"/>
                <a:ea typeface="Nunito Bold"/>
                <a:cs typeface="Nunito Bold"/>
                <a:sym typeface="Nunito Bold"/>
              </a:rPr>
              <a:t>383,585 hourly records</a:t>
            </a:r>
            <a:r>
              <a:rPr lang="en-US" sz="1900" b="true">
                <a:solidFill>
                  <a:srgbClr val="111111"/>
                </a:solidFill>
                <a:latin typeface="Nunito Semi-Bold"/>
                <a:ea typeface="Nunito Semi-Bold"/>
                <a:cs typeface="Nunito Semi-Bold"/>
                <a:sym typeface="Nunito Semi-Bold"/>
              </a:rPr>
              <a:t> from Beijing monitoring stations, March 2013 to February 2017 (UCI repository).</a:t>
            </a:r>
          </a:p>
          <a:p>
            <a:pPr algn="l" marL="274320" indent="-274320">
              <a:lnSpc>
                <a:spcPts val="2660"/>
              </a:lnSpc>
              <a:spcBef>
                <a:spcPts val="800"/>
              </a:spcBef>
              <a:buClr>
                <a:srgbClr val="1F7A8C"/>
              </a:buClr>
              <a:buSzPct val="100000"/>
              <a:buFont typeface="Arial"/>
              <a:buChar char="•"/>
            </a:pPr>
            <a:r>
              <a:rPr lang="en-US" sz="1900" b="true">
                <a:solidFill>
                  <a:srgbClr val="111111"/>
                </a:solidFill>
                <a:latin typeface="Nunito Bold"/>
                <a:ea typeface="Nunito Bold"/>
                <a:cs typeface="Nunito Bold"/>
                <a:sym typeface="Nunito Bold"/>
              </a:rPr>
              <a:t>11 modelling variables:</a:t>
            </a:r>
            <a:r>
              <a:rPr lang="en-US" sz="1900" b="true">
                <a:solidFill>
                  <a:srgbClr val="111111"/>
                </a:solidFill>
                <a:latin typeface="Nunito Semi-Bold"/>
                <a:ea typeface="Nunito Semi-Bold"/>
                <a:cs typeface="Nunito Semi-Bold"/>
                <a:sym typeface="Nunito Semi-Bold"/>
              </a:rPr>
              <a:t> six pollutants (PM2.5, PM10, SO₂, NO₂, CO, O₃) and weather (temperature, pressure, dew point, rain, wind speed).</a:t>
            </a:r>
          </a:p>
          <a:p>
            <a:pPr algn="l" marL="274320" indent="-274320">
              <a:lnSpc>
                <a:spcPts val="2660"/>
              </a:lnSpc>
              <a:spcBef>
                <a:spcPts val="800"/>
              </a:spcBef>
              <a:buClr>
                <a:srgbClr val="1F7A8C"/>
              </a:buClr>
              <a:buSzPct val="100000"/>
              <a:buFont typeface="Arial"/>
              <a:buChar char="•"/>
            </a:pPr>
            <a:r>
              <a:rPr lang="en-US" sz="1900" b="true">
                <a:solidFill>
                  <a:srgbClr val="111111"/>
                </a:solidFill>
                <a:latin typeface="Nunito Semi-Bold"/>
                <a:ea typeface="Nunito Semi-Bold"/>
                <a:cs typeface="Nunito Semi-Bold"/>
                <a:sym typeface="Nunito Semi-Bold"/>
              </a:rPr>
              <a:t>Large, noisy, varies with season and weather: the stress test for </a:t>
            </a:r>
            <a:r>
              <a:rPr lang="en-US" sz="1900" b="true">
                <a:solidFill>
                  <a:srgbClr val="111111"/>
                </a:solidFill>
                <a:latin typeface="Nunito Bold"/>
                <a:ea typeface="Nunito Bold"/>
                <a:cs typeface="Nunito Bold"/>
                <a:sym typeface="Nunito Bold"/>
              </a:rPr>
              <a:t>Contribution II</a:t>
            </a:r>
            <a:r>
              <a:rPr lang="en-US" sz="1900" b="true">
                <a:solidFill>
                  <a:srgbClr val="111111"/>
                </a:solidFill>
                <a:latin typeface="Nunito Semi-Bold"/>
                <a:ea typeface="Nunito Semi-Bold"/>
                <a:cs typeface="Nunito Semi-Bold"/>
                <a:sym typeface="Nunito Semi-Bold"/>
              </a:rPr>
              <a:t> (scale + multi-level structure).</a:t>
            </a:r>
          </a:p>
        </p:txBody>
      </p:sp>
      <p:graphicFrame>
        <p:nvGraphicFramePr>
          <p:cNvPr id="25" name="Table 24"/>
          <p:cNvGraphicFramePr>
            <a:graphicFrameLocks noGrp="1"/>
          </p:cNvGraphicFramePr>
          <p:nvPr/>
        </p:nvGraphicFramePr>
        <p:xfrm>
          <a:off x="8435340" y="3363722"/>
          <a:ext cx="8823959" cy="3228848"/>
        </p:xfrm>
        <a:graphic>
          <a:graphicData uri="http://schemas.openxmlformats.org/drawingml/2006/table">
            <a:tbl>
              <a:tblPr firstRow="0" bandRow="0" firstCol="0" lastRow="0" lastCol="0" bandCol="0">
                <a:tableStyleId>{2D5ABB26-0587-4C30-8999-92F81FD0307C}</a:tableStyleId>
              </a:tblPr>
              <a:tblGrid>
                <a:gridCol w="4622074"/>
                <a:gridCol w="4201885"/>
              </a:tblGrid>
              <a:tr h="461264">
                <a:tc>
                  <a:txBody>
                    <a:bodyPr anchor="ctr" rtlCol="false" lIns="0" tIns="0" rIns="0" bIns="0" wrap="square"/>
                    <a:lstStyle/>
                    <a:p>
                      <a:pPr algn="l">
                        <a:lnSpc>
                          <a:spcPts val="2080"/>
                        </a:lnSpc>
                        <a:spcBef>
                          <a:spcPts val="0"/>
                        </a:spcBef>
                        <a:buNone/>
                      </a:pPr>
                      <a:r>
                        <a:rPr lang="en-US" sz="1600" b="true">
                          <a:solidFill>
                            <a:srgbClr val="FFFFFF"/>
                          </a:solidFill>
                          <a:latin typeface="Nunito Bold"/>
                          <a:ea typeface="Nunito Bold"/>
                          <a:cs typeface="Nunito Bold"/>
                          <a:sym typeface="Nunito Bold"/>
                        </a:rPr>
                        <a:t>Specification</a:t>
                      </a:r>
                    </a:p>
                  </a:txBody>
                  <a:tcPr marL="73152" marR="73152" marT="45720" marB="45720" anchor="ctr">
                    <a:lnL w="12700" cap="flat" cmpd="sng" algn="ctr">
                      <a:solidFill>
                        <a:srgbClr val="4472C4"/>
                      </a:solidFill>
                      <a:prstDash val="solid"/>
                    </a:lnL>
                    <a:lnR w="12700" cap="flat" cmpd="sng" algn="ctr">
                      <a:solidFill>
                        <a:srgbClr val="4472C4"/>
                      </a:solidFill>
                      <a:prstDash val="solid"/>
                    </a:lnR>
                    <a:lnT w="12700" cap="flat" cmpd="sng" algn="ctr">
                      <a:solidFill>
                        <a:srgbClr val="4472C4"/>
                      </a:solidFill>
                      <a:prstDash val="solid"/>
                    </a:lnT>
                    <a:lnB w="12700" cap="flat" cmpd="sng" algn="ctr">
                      <a:solidFill>
                        <a:srgbClr val="4472C4"/>
                      </a:solidFill>
                      <a:prstDash val="solid"/>
                    </a:lnB>
                    <a:solidFill>
                      <a:srgbClr val="4472C4"/>
                    </a:solidFill>
                  </a:tcPr>
                </a:tc>
                <a:tc>
                  <a:txBody>
                    <a:bodyPr anchor="ctr" rtlCol="false" lIns="0" tIns="0" rIns="0" bIns="0" wrap="square"/>
                    <a:lstStyle/>
                    <a:p>
                      <a:pPr algn="l">
                        <a:lnSpc>
                          <a:spcPts val="2080"/>
                        </a:lnSpc>
                        <a:spcBef>
                          <a:spcPts val="0"/>
                        </a:spcBef>
                        <a:buNone/>
                      </a:pPr>
                      <a:r>
                        <a:rPr lang="en-US" sz="1600" b="true">
                          <a:solidFill>
                            <a:srgbClr val="FFFFFF"/>
                          </a:solidFill>
                          <a:latin typeface="Nunito Bold"/>
                          <a:ea typeface="Nunito Bold"/>
                          <a:cs typeface="Nunito Bold"/>
                          <a:sym typeface="Nunito Bold"/>
                        </a:rPr>
                        <a:t>Beijing Multi-Site Air Quality</a:t>
                      </a:r>
                    </a:p>
                  </a:txBody>
                  <a:tcPr marL="73152" marR="73152" marT="45720" marB="45720" anchor="ctr">
                    <a:lnL w="12700" cap="flat" cmpd="sng" algn="ctr">
                      <a:solidFill>
                        <a:srgbClr val="4472C4"/>
                      </a:solidFill>
                      <a:prstDash val="solid"/>
                    </a:lnL>
                    <a:lnR w="12700" cap="flat" cmpd="sng" algn="ctr">
                      <a:solidFill>
                        <a:srgbClr val="4472C4"/>
                      </a:solidFill>
                      <a:prstDash val="solid"/>
                    </a:lnR>
                    <a:lnT w="12700" cap="flat" cmpd="sng" algn="ctr">
                      <a:solidFill>
                        <a:srgbClr val="4472C4"/>
                      </a:solidFill>
                      <a:prstDash val="solid"/>
                    </a:lnT>
                    <a:lnB w="12700" cap="flat" cmpd="sng" algn="ctr">
                      <a:solidFill>
                        <a:srgbClr val="4472C4"/>
                      </a:solidFill>
                      <a:prstDash val="solid"/>
                    </a:lnB>
                    <a:solidFill>
                      <a:srgbClr val="4472C4"/>
                    </a:solidFill>
                  </a:tcPr>
                </a:tc>
              </a:tr>
              <a:tr h="461264">
                <a:tc>
                  <a:txBody>
                    <a:bodyPr anchor="ctr" rtlCol="false" lIns="0" tIns="0" rIns="0" bIns="0" wrap="square"/>
                    <a:lstStyle/>
                    <a:p>
                      <a:pPr algn="l">
                        <a:lnSpc>
                          <a:spcPts val="2080"/>
                        </a:lnSpc>
                        <a:spcBef>
                          <a:spcPts val="0"/>
                        </a:spcBef>
                        <a:buNone/>
                      </a:pPr>
                      <a:r>
                        <a:rPr lang="en-US" sz="1600" b="true">
                          <a:solidFill>
                            <a:srgbClr val="111111"/>
                          </a:solidFill>
                          <a:latin typeface="Nunito Bold"/>
                          <a:ea typeface="Nunito Bold"/>
                          <a:cs typeface="Nunito Bold"/>
                          <a:sym typeface="Nunito Bold"/>
                        </a:rPr>
                        <a:t>Observations</a:t>
                      </a:r>
                    </a:p>
                  </a:txBody>
                  <a:tcPr marL="73152" marR="73152"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c>
                  <a:txBody>
                    <a:bodyPr anchor="ctr" rtlCol="false" lIns="0" tIns="0" rIns="0" bIns="0" wrap="square"/>
                    <a:lstStyle/>
                    <a:p>
                      <a:pPr algn="l">
                        <a:lnSpc>
                          <a:spcPts val="2080"/>
                        </a:lnSpc>
                        <a:spcBef>
                          <a:spcPts val="0"/>
                        </a:spcBef>
                        <a:buNone/>
                      </a:pPr>
                      <a:r>
                        <a:rPr lang="en-US" sz="1600" b="true">
                          <a:solidFill>
                            <a:srgbClr val="111111"/>
                          </a:solidFill>
                          <a:latin typeface="Nunito Semi-Bold"/>
                          <a:ea typeface="Nunito Semi-Bold"/>
                          <a:cs typeface="Nunito Semi-Bold"/>
                          <a:sym typeface="Nunito Semi-Bold"/>
                        </a:rPr>
                        <a:t>383,585 hourly</a:t>
                      </a:r>
                    </a:p>
                  </a:txBody>
                  <a:tcPr marL="73152" marR="73152"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r>
              <a:tr h="461264">
                <a:tc>
                  <a:txBody>
                    <a:bodyPr anchor="ctr" rtlCol="false" lIns="0" tIns="0" rIns="0" bIns="0" wrap="square"/>
                    <a:lstStyle/>
                    <a:p>
                      <a:pPr algn="l">
                        <a:lnSpc>
                          <a:spcPts val="2080"/>
                        </a:lnSpc>
                        <a:spcBef>
                          <a:spcPts val="0"/>
                        </a:spcBef>
                        <a:buNone/>
                      </a:pPr>
                      <a:r>
                        <a:rPr lang="en-US" sz="1600" b="true">
                          <a:solidFill>
                            <a:srgbClr val="111111"/>
                          </a:solidFill>
                          <a:latin typeface="Nunito Bold"/>
                          <a:ea typeface="Nunito Bold"/>
                          <a:cs typeface="Nunito Bold"/>
                          <a:sym typeface="Nunito Bold"/>
                        </a:rPr>
                        <a:t>Period</a:t>
                      </a:r>
                    </a:p>
                  </a:txBody>
                  <a:tcPr marL="73152" marR="73152"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6ECDF"/>
                    </a:solidFill>
                  </a:tcPr>
                </a:tc>
                <a:tc>
                  <a:txBody>
                    <a:bodyPr anchor="ctr" rtlCol="false" lIns="0" tIns="0" rIns="0" bIns="0" wrap="square"/>
                    <a:lstStyle/>
                    <a:p>
                      <a:pPr algn="l">
                        <a:lnSpc>
                          <a:spcPts val="2080"/>
                        </a:lnSpc>
                        <a:spcBef>
                          <a:spcPts val="0"/>
                        </a:spcBef>
                        <a:buNone/>
                      </a:pPr>
                      <a:r>
                        <a:rPr lang="en-US" sz="1600" b="true">
                          <a:solidFill>
                            <a:srgbClr val="111111"/>
                          </a:solidFill>
                          <a:latin typeface="Nunito Semi-Bold"/>
                          <a:ea typeface="Nunito Semi-Bold"/>
                          <a:cs typeface="Nunito Semi-Bold"/>
                          <a:sym typeface="Nunito Semi-Bold"/>
                        </a:rPr>
                        <a:t>2013 to 2017</a:t>
                      </a:r>
                    </a:p>
                  </a:txBody>
                  <a:tcPr marL="73152" marR="73152"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6ECDF"/>
                    </a:solidFill>
                  </a:tcPr>
                </a:tc>
              </a:tr>
              <a:tr h="461264">
                <a:tc>
                  <a:txBody>
                    <a:bodyPr anchor="ctr" rtlCol="false" lIns="0" tIns="0" rIns="0" bIns="0" wrap="square"/>
                    <a:lstStyle/>
                    <a:p>
                      <a:pPr algn="l">
                        <a:lnSpc>
                          <a:spcPts val="2080"/>
                        </a:lnSpc>
                        <a:spcBef>
                          <a:spcPts val="0"/>
                        </a:spcBef>
                        <a:buNone/>
                      </a:pPr>
                      <a:r>
                        <a:rPr lang="en-US" sz="1600" b="true">
                          <a:solidFill>
                            <a:srgbClr val="111111"/>
                          </a:solidFill>
                          <a:latin typeface="Nunito Bold"/>
                          <a:ea typeface="Nunito Bold"/>
                          <a:cs typeface="Nunito Bold"/>
                          <a:sym typeface="Nunito Bold"/>
                        </a:rPr>
                        <a:t>Variables used</a:t>
                      </a:r>
                    </a:p>
                  </a:txBody>
                  <a:tcPr marL="73152" marR="73152"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c>
                  <a:txBody>
                    <a:bodyPr anchor="ctr" rtlCol="false" lIns="0" tIns="0" rIns="0" bIns="0" wrap="square"/>
                    <a:lstStyle/>
                    <a:p>
                      <a:pPr algn="l">
                        <a:lnSpc>
                          <a:spcPts val="2080"/>
                        </a:lnSpc>
                        <a:spcBef>
                          <a:spcPts val="0"/>
                        </a:spcBef>
                        <a:buNone/>
                      </a:pPr>
                      <a:r>
                        <a:rPr lang="en-US" sz="1600" b="true">
                          <a:solidFill>
                            <a:srgbClr val="111111"/>
                          </a:solidFill>
                          <a:latin typeface="Nunito Semi-Bold"/>
                          <a:ea typeface="Nunito Semi-Bold"/>
                          <a:cs typeface="Nunito Semi-Bold"/>
                          <a:sym typeface="Nunito Semi-Bold"/>
                        </a:rPr>
                        <a:t>11 (6 pollutants + 5 weather)</a:t>
                      </a:r>
                    </a:p>
                  </a:txBody>
                  <a:tcPr marL="73152" marR="73152"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r>
              <a:tr h="461264">
                <a:tc>
                  <a:txBody>
                    <a:bodyPr anchor="ctr" rtlCol="false" lIns="0" tIns="0" rIns="0" bIns="0" wrap="square"/>
                    <a:lstStyle/>
                    <a:p>
                      <a:pPr algn="l">
                        <a:lnSpc>
                          <a:spcPts val="2080"/>
                        </a:lnSpc>
                        <a:spcBef>
                          <a:spcPts val="0"/>
                        </a:spcBef>
                        <a:buNone/>
                      </a:pPr>
                      <a:r>
                        <a:rPr lang="en-US" sz="1600" b="true">
                          <a:solidFill>
                            <a:srgbClr val="111111"/>
                          </a:solidFill>
                          <a:latin typeface="Nunito Bold"/>
                          <a:ea typeface="Nunito Bold"/>
                          <a:cs typeface="Nunito Bold"/>
                          <a:sym typeface="Nunito Bold"/>
                        </a:rPr>
                        <a:t>Structure</a:t>
                      </a:r>
                    </a:p>
                  </a:txBody>
                  <a:tcPr marL="73152" marR="73152"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6ECDF"/>
                    </a:solidFill>
                  </a:tcPr>
                </a:tc>
                <a:tc>
                  <a:txBody>
                    <a:bodyPr anchor="ctr" rtlCol="false" lIns="0" tIns="0" rIns="0" bIns="0" wrap="square"/>
                    <a:lstStyle/>
                    <a:p>
                      <a:pPr algn="l">
                        <a:lnSpc>
                          <a:spcPts val="2080"/>
                        </a:lnSpc>
                        <a:spcBef>
                          <a:spcPts val="0"/>
                        </a:spcBef>
                        <a:buNone/>
                      </a:pPr>
                      <a:r>
                        <a:rPr lang="en-US" sz="1600" b="true">
                          <a:solidFill>
                            <a:srgbClr val="111111"/>
                          </a:solidFill>
                          <a:latin typeface="Nunito Semi-Bold"/>
                          <a:ea typeface="Nunito Semi-Bold"/>
                          <a:cs typeface="Nunito Semi-Bold"/>
                          <a:sym typeface="Nunito Semi-Bold"/>
                        </a:rPr>
                        <a:t>coarse regimes </a:t>
                      </a:r>
                      <a:r>
                        <a:rPr lang="en-US" sz="1600" b="true">
                          <a:solidFill>
                            <a:srgbClr val="111111"/>
                          </a:solidFill>
                          <a:latin typeface="Calibri"/>
                          <a:ea typeface="Calibri"/>
                          <a:cs typeface="Calibri"/>
                          <a:sym typeface="Calibri"/>
                        </a:rPr>
                        <a:t>→ </a:t>
                      </a:r>
                      <a:r>
                        <a:rPr lang="en-US" sz="1600" b="true">
                          <a:solidFill>
                            <a:srgbClr val="111111"/>
                          </a:solidFill>
                          <a:latin typeface="Nunito Semi-Bold"/>
                          <a:ea typeface="Nunito Semi-Bold"/>
                          <a:cs typeface="Nunito Semi-Bold"/>
                          <a:sym typeface="Nunito Semi-Bold"/>
                        </a:rPr>
                        <a:t>sub-clusters</a:t>
                      </a:r>
                    </a:p>
                  </a:txBody>
                  <a:tcPr marL="73152" marR="73152"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6ECDF"/>
                    </a:solidFill>
                  </a:tcPr>
                </a:tc>
              </a:tr>
              <a:tr h="461264">
                <a:tc>
                  <a:txBody>
                    <a:bodyPr anchor="ctr" rtlCol="false" lIns="0" tIns="0" rIns="0" bIns="0" wrap="square"/>
                    <a:lstStyle/>
                    <a:p>
                      <a:pPr algn="l">
                        <a:lnSpc>
                          <a:spcPts val="2080"/>
                        </a:lnSpc>
                        <a:spcBef>
                          <a:spcPts val="0"/>
                        </a:spcBef>
                        <a:buNone/>
                      </a:pPr>
                      <a:r>
                        <a:rPr lang="en-US" sz="1600" b="true">
                          <a:solidFill>
                            <a:srgbClr val="111111"/>
                          </a:solidFill>
                          <a:latin typeface="Nunito Bold"/>
                          <a:ea typeface="Nunito Bold"/>
                          <a:cs typeface="Nunito Bold"/>
                          <a:sym typeface="Nunito Bold"/>
                        </a:rPr>
                        <a:t>Selected clusters</a:t>
                      </a:r>
                    </a:p>
                  </a:txBody>
                  <a:tcPr marL="73152" marR="73152"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c>
                  <a:txBody>
                    <a:bodyPr anchor="ctr" rtlCol="false" lIns="0" tIns="0" rIns="0" bIns="0" wrap="square"/>
                    <a:lstStyle/>
                    <a:p>
                      <a:pPr algn="l">
                        <a:lnSpc>
                          <a:spcPts val="2080"/>
                        </a:lnSpc>
                        <a:spcBef>
                          <a:spcPts val="0"/>
                        </a:spcBef>
                        <a:buNone/>
                      </a:pPr>
                      <a:r>
                        <a:rPr lang="en-US" sz="1600" b="true">
                          <a:solidFill>
                            <a:srgbClr val="111111"/>
                          </a:solidFill>
                          <a:latin typeface="Nunito Semi-Bold"/>
                          <a:ea typeface="Nunito Semi-Bold"/>
                          <a:cs typeface="Nunito Semi-Bold"/>
                          <a:sym typeface="Nunito Semi-Bold"/>
                        </a:rPr>
                        <a:t>k = 3 </a:t>
                      </a:r>
                      <a:r>
                        <a:rPr lang="en-US" sz="1600" b="true">
                          <a:solidFill>
                            <a:srgbClr val="111111"/>
                          </a:solidFill>
                          <a:latin typeface="Calibri"/>
                          <a:ea typeface="Calibri"/>
                          <a:cs typeface="Calibri"/>
                          <a:sym typeface="Calibri"/>
                        </a:rPr>
                        <a:t>→ </a:t>
                      </a:r>
                      <a:r>
                        <a:rPr lang="en-US" sz="1600" b="true">
                          <a:solidFill>
                            <a:srgbClr val="111111"/>
                          </a:solidFill>
                          <a:latin typeface="Nunito Semi-Bold"/>
                          <a:ea typeface="Nunito Semi-Bold"/>
                          <a:cs typeface="Nunito Semi-Bold"/>
                          <a:sym typeface="Nunito Semi-Bold"/>
                        </a:rPr>
                        <a:t>9 sub-clusters</a:t>
                      </a:r>
                    </a:p>
                  </a:txBody>
                  <a:tcPr marL="73152" marR="73152"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r>
              <a:tr h="461264">
                <a:tc>
                  <a:txBody>
                    <a:bodyPr anchor="ctr" rtlCol="false" lIns="0" tIns="0" rIns="0" bIns="0" wrap="square"/>
                    <a:lstStyle/>
                    <a:p>
                      <a:pPr algn="l">
                        <a:lnSpc>
                          <a:spcPts val="2080"/>
                        </a:lnSpc>
                        <a:spcBef>
                          <a:spcPts val="0"/>
                        </a:spcBef>
                        <a:buNone/>
                      </a:pPr>
                      <a:r>
                        <a:rPr lang="en-US" sz="1600" b="true">
                          <a:solidFill>
                            <a:srgbClr val="111111"/>
                          </a:solidFill>
                          <a:latin typeface="Nunito Bold"/>
                          <a:ea typeface="Nunito Bold"/>
                          <a:cs typeface="Nunito Bold"/>
                          <a:sym typeface="Nunito Bold"/>
                        </a:rPr>
                        <a:t>Silhouette</a:t>
                      </a:r>
                    </a:p>
                  </a:txBody>
                  <a:tcPr marL="73152" marR="73152"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6ECDF"/>
                    </a:solidFill>
                  </a:tcPr>
                </a:tc>
                <a:tc>
                  <a:txBody>
                    <a:bodyPr anchor="ctr" rtlCol="false" lIns="0" tIns="0" rIns="0" bIns="0" wrap="square"/>
                    <a:lstStyle/>
                    <a:p>
                      <a:pPr algn="l">
                        <a:lnSpc>
                          <a:spcPts val="2080"/>
                        </a:lnSpc>
                        <a:spcBef>
                          <a:spcPts val="0"/>
                        </a:spcBef>
                        <a:buNone/>
                      </a:pPr>
                      <a:r>
                        <a:rPr lang="en-US" sz="1600" b="true">
                          <a:solidFill>
                            <a:srgbClr val="111111"/>
                          </a:solidFill>
                          <a:latin typeface="Nunito Semi-Bold"/>
                          <a:ea typeface="Nunito Semi-Bold"/>
                          <a:cs typeface="Nunito Semi-Bold"/>
                          <a:sym typeface="Nunito Semi-Bold"/>
                        </a:rPr>
                        <a:t>≈ 0.63</a:t>
                      </a:r>
                    </a:p>
                  </a:txBody>
                  <a:tcPr marL="73152" marR="73152"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6ECDF"/>
                    </a:solidFill>
                  </a:tcPr>
                </a:tc>
              </a:tr>
            </a:tbl>
          </a:graphicData>
        </a:graphic>
      </p:graphicFrame>
      <p:sp>
        <p:nvSpPr>
          <p:cNvPr id="26" name="TextBox 25"/>
          <p:cNvSpPr txBox="1"/>
          <p:nvPr/>
        </p:nvSpPr>
        <p:spPr>
          <a:xfrm>
            <a:off x="1028700" y="6912610"/>
            <a:ext cx="16230600" cy="320040"/>
          </a:xfrm>
          <a:prstGeom prst="rect">
            <a:avLst/>
          </a:prstGeom>
          <a:noFill/>
        </p:spPr>
        <p:txBody>
          <a:bodyPr anchor="t" rtlCol="false" lIns="0" tIns="0" rIns="0" bIns="0" wrap="square"/>
          <a:lstStyle/>
          <a:p>
            <a:pPr algn="l">
              <a:lnSpc>
                <a:spcPts val="1600"/>
              </a:lnSpc>
              <a:spcBef>
                <a:spcPts val="0"/>
              </a:spcBef>
              <a:buNone/>
            </a:pPr>
            <a:r>
              <a:rPr lang="en-US" sz="1300" b="true" spc="150">
                <a:solidFill>
                  <a:srgbClr val="1F7A8C"/>
                </a:solidFill>
                <a:latin typeface="Nunito Ultra-Bold"/>
                <a:ea typeface="Nunito Ultra-Bold"/>
                <a:cs typeface="Nunito Ultra-Bold"/>
                <a:sym typeface="Nunito Ultra-Bold"/>
              </a:rPr>
              <a:t>SAMPLE RECORDS  ·  first rows of the Aotizhongxin station file</a:t>
            </a:r>
          </a:p>
        </p:txBody>
      </p:sp>
      <p:graphicFrame>
        <p:nvGraphicFramePr>
          <p:cNvPr id="27" name="Table 26"/>
          <p:cNvGraphicFramePr>
            <a:graphicFrameLocks noGrp="1"/>
          </p:cNvGraphicFramePr>
          <p:nvPr/>
        </p:nvGraphicFramePr>
        <p:xfrm>
          <a:off x="1028700" y="7260082"/>
          <a:ext cx="16230594" cy="1705864"/>
        </p:xfrm>
        <a:graphic>
          <a:graphicData uri="http://schemas.openxmlformats.org/drawingml/2006/table">
            <a:tbl>
              <a:tblPr firstRow="0" bandRow="0" firstCol="0" lastRow="0" lastCol="0" bandCol="0">
                <a:tableStyleId>{2D5ABB26-0587-4C30-8999-92F81FD0307C}</a:tableStyleId>
              </a:tblPr>
              <a:tblGrid>
                <a:gridCol w="2233568"/>
                <a:gridCol w="2531377"/>
                <a:gridCol w="1191236"/>
                <a:gridCol w="1191236"/>
                <a:gridCol w="1042332"/>
                <a:gridCol w="1042332"/>
                <a:gridCol w="1042332"/>
                <a:gridCol w="1042332"/>
                <a:gridCol w="1191236"/>
                <a:gridCol w="1340141"/>
                <a:gridCol w="1191236"/>
                <a:gridCol w="1191236"/>
              </a:tblGrid>
              <a:tr h="426466">
                <a:tc>
                  <a:txBody>
                    <a:bodyPr anchor="ctr" rtlCol="false" lIns="0" tIns="0" rIns="0" bIns="0" wrap="square"/>
                    <a:lstStyle/>
                    <a:p>
                      <a:pPr algn="ctr">
                        <a:lnSpc>
                          <a:spcPts val="1950"/>
                        </a:lnSpc>
                        <a:spcBef>
                          <a:spcPts val="0"/>
                        </a:spcBef>
                        <a:buNone/>
                      </a:pPr>
                      <a:r>
                        <a:rPr lang="en-US" sz="1500" b="true">
                          <a:solidFill>
                            <a:srgbClr val="FFFFFF"/>
                          </a:solidFill>
                          <a:latin typeface="Nunito Bold"/>
                          <a:ea typeface="Nunito Bold"/>
                          <a:cs typeface="Nunito Bold"/>
                          <a:sym typeface="Nunito Bold"/>
                        </a:rPr>
                        <a:t>station</a:t>
                      </a:r>
                    </a:p>
                  </a:txBody>
                  <a:tcPr marL="64008" marR="64008" marT="45720" marB="45720" anchor="ctr">
                    <a:lnL w="12700" cap="flat" cmpd="sng" algn="ctr">
                      <a:solidFill>
                        <a:srgbClr val="4472C4"/>
                      </a:solidFill>
                      <a:prstDash val="solid"/>
                    </a:lnL>
                    <a:lnR w="12700" cap="flat" cmpd="sng" algn="ctr">
                      <a:solidFill>
                        <a:srgbClr val="4472C4"/>
                      </a:solidFill>
                      <a:prstDash val="solid"/>
                    </a:lnR>
                    <a:lnT w="12700" cap="flat" cmpd="sng" algn="ctr">
                      <a:solidFill>
                        <a:srgbClr val="4472C4"/>
                      </a:solidFill>
                      <a:prstDash val="solid"/>
                    </a:lnT>
                    <a:lnB w="12700" cap="flat" cmpd="sng" algn="ctr">
                      <a:solidFill>
                        <a:srgbClr val="4472C4"/>
                      </a:solidFill>
                      <a:prstDash val="solid"/>
                    </a:lnB>
                    <a:solidFill>
                      <a:srgbClr val="4472C4"/>
                    </a:solidFill>
                  </a:tcPr>
                </a:tc>
                <a:tc>
                  <a:txBody>
                    <a:bodyPr anchor="ctr" rtlCol="false" lIns="0" tIns="0" rIns="0" bIns="0" wrap="square"/>
                    <a:lstStyle/>
                    <a:p>
                      <a:pPr algn="ctr">
                        <a:lnSpc>
                          <a:spcPts val="1950"/>
                        </a:lnSpc>
                        <a:spcBef>
                          <a:spcPts val="0"/>
                        </a:spcBef>
                        <a:buNone/>
                      </a:pPr>
                      <a:r>
                        <a:rPr lang="en-US" sz="1500" b="true">
                          <a:solidFill>
                            <a:srgbClr val="FFFFFF"/>
                          </a:solidFill>
                          <a:latin typeface="Nunito Bold"/>
                          <a:ea typeface="Nunito Bold"/>
                          <a:cs typeface="Nunito Bold"/>
                          <a:sym typeface="Nunito Bold"/>
                        </a:rPr>
                        <a:t>date · hour</a:t>
                      </a:r>
                    </a:p>
                  </a:txBody>
                  <a:tcPr marL="64008" marR="64008" marT="45720" marB="45720" anchor="ctr">
                    <a:lnL w="12700" cap="flat" cmpd="sng" algn="ctr">
                      <a:solidFill>
                        <a:srgbClr val="4472C4"/>
                      </a:solidFill>
                      <a:prstDash val="solid"/>
                    </a:lnL>
                    <a:lnR w="12700" cap="flat" cmpd="sng" algn="ctr">
                      <a:solidFill>
                        <a:srgbClr val="4472C4"/>
                      </a:solidFill>
                      <a:prstDash val="solid"/>
                    </a:lnR>
                    <a:lnT w="12700" cap="flat" cmpd="sng" algn="ctr">
                      <a:solidFill>
                        <a:srgbClr val="4472C4"/>
                      </a:solidFill>
                      <a:prstDash val="solid"/>
                    </a:lnT>
                    <a:lnB w="12700" cap="flat" cmpd="sng" algn="ctr">
                      <a:solidFill>
                        <a:srgbClr val="4472C4"/>
                      </a:solidFill>
                      <a:prstDash val="solid"/>
                    </a:lnB>
                    <a:solidFill>
                      <a:srgbClr val="4472C4"/>
                    </a:solidFill>
                  </a:tcPr>
                </a:tc>
                <a:tc>
                  <a:txBody>
                    <a:bodyPr anchor="ctr" rtlCol="false" lIns="0" tIns="0" rIns="0" bIns="0" wrap="square"/>
                    <a:lstStyle/>
                    <a:p>
                      <a:pPr algn="ctr">
                        <a:lnSpc>
                          <a:spcPts val="1950"/>
                        </a:lnSpc>
                        <a:spcBef>
                          <a:spcPts val="0"/>
                        </a:spcBef>
                        <a:buNone/>
                      </a:pPr>
                      <a:r>
                        <a:rPr lang="en-US" sz="1500" b="true">
                          <a:solidFill>
                            <a:srgbClr val="FFFFFF"/>
                          </a:solidFill>
                          <a:latin typeface="Nunito Bold"/>
                          <a:ea typeface="Nunito Bold"/>
                          <a:cs typeface="Nunito Bold"/>
                          <a:sym typeface="Nunito Bold"/>
                        </a:rPr>
                        <a:t>PM2.5</a:t>
                      </a:r>
                    </a:p>
                  </a:txBody>
                  <a:tcPr marL="64008" marR="64008" marT="45720" marB="45720" anchor="ctr">
                    <a:lnL w="12700" cap="flat" cmpd="sng" algn="ctr">
                      <a:solidFill>
                        <a:srgbClr val="4472C4"/>
                      </a:solidFill>
                      <a:prstDash val="solid"/>
                    </a:lnL>
                    <a:lnR w="12700" cap="flat" cmpd="sng" algn="ctr">
                      <a:solidFill>
                        <a:srgbClr val="4472C4"/>
                      </a:solidFill>
                      <a:prstDash val="solid"/>
                    </a:lnR>
                    <a:lnT w="12700" cap="flat" cmpd="sng" algn="ctr">
                      <a:solidFill>
                        <a:srgbClr val="4472C4"/>
                      </a:solidFill>
                      <a:prstDash val="solid"/>
                    </a:lnT>
                    <a:lnB w="12700" cap="flat" cmpd="sng" algn="ctr">
                      <a:solidFill>
                        <a:srgbClr val="4472C4"/>
                      </a:solidFill>
                      <a:prstDash val="solid"/>
                    </a:lnB>
                    <a:solidFill>
                      <a:srgbClr val="4472C4"/>
                    </a:solidFill>
                  </a:tcPr>
                </a:tc>
                <a:tc>
                  <a:txBody>
                    <a:bodyPr anchor="ctr" rtlCol="false" lIns="0" tIns="0" rIns="0" bIns="0" wrap="square"/>
                    <a:lstStyle/>
                    <a:p>
                      <a:pPr algn="ctr">
                        <a:lnSpc>
                          <a:spcPts val="1950"/>
                        </a:lnSpc>
                        <a:spcBef>
                          <a:spcPts val="0"/>
                        </a:spcBef>
                        <a:buNone/>
                      </a:pPr>
                      <a:r>
                        <a:rPr lang="en-US" sz="1500" b="true">
                          <a:solidFill>
                            <a:srgbClr val="FFFFFF"/>
                          </a:solidFill>
                          <a:latin typeface="Nunito Bold"/>
                          <a:ea typeface="Nunito Bold"/>
                          <a:cs typeface="Nunito Bold"/>
                          <a:sym typeface="Nunito Bold"/>
                        </a:rPr>
                        <a:t>PM10</a:t>
                      </a:r>
                    </a:p>
                  </a:txBody>
                  <a:tcPr marL="64008" marR="64008" marT="45720" marB="45720" anchor="ctr">
                    <a:lnL w="12700" cap="flat" cmpd="sng" algn="ctr">
                      <a:solidFill>
                        <a:srgbClr val="4472C4"/>
                      </a:solidFill>
                      <a:prstDash val="solid"/>
                    </a:lnL>
                    <a:lnR w="12700" cap="flat" cmpd="sng" algn="ctr">
                      <a:solidFill>
                        <a:srgbClr val="4472C4"/>
                      </a:solidFill>
                      <a:prstDash val="solid"/>
                    </a:lnR>
                    <a:lnT w="12700" cap="flat" cmpd="sng" algn="ctr">
                      <a:solidFill>
                        <a:srgbClr val="4472C4"/>
                      </a:solidFill>
                      <a:prstDash val="solid"/>
                    </a:lnT>
                    <a:lnB w="12700" cap="flat" cmpd="sng" algn="ctr">
                      <a:solidFill>
                        <a:srgbClr val="4472C4"/>
                      </a:solidFill>
                      <a:prstDash val="solid"/>
                    </a:lnB>
                    <a:solidFill>
                      <a:srgbClr val="4472C4"/>
                    </a:solidFill>
                  </a:tcPr>
                </a:tc>
                <a:tc>
                  <a:txBody>
                    <a:bodyPr anchor="ctr" rtlCol="false" lIns="0" tIns="0" rIns="0" bIns="0" wrap="square"/>
                    <a:lstStyle/>
                    <a:p>
                      <a:pPr algn="ctr">
                        <a:lnSpc>
                          <a:spcPts val="1950"/>
                        </a:lnSpc>
                        <a:spcBef>
                          <a:spcPts val="0"/>
                        </a:spcBef>
                        <a:buNone/>
                      </a:pPr>
                      <a:r>
                        <a:rPr lang="en-US" sz="1500" b="true">
                          <a:solidFill>
                            <a:srgbClr val="FFFFFF"/>
                          </a:solidFill>
                          <a:latin typeface="Nunito Bold"/>
                          <a:ea typeface="Nunito Bold"/>
                          <a:cs typeface="Nunito Bold"/>
                          <a:sym typeface="Nunito Bold"/>
                        </a:rPr>
                        <a:t>SO₂</a:t>
                      </a:r>
                    </a:p>
                  </a:txBody>
                  <a:tcPr marL="64008" marR="64008" marT="45720" marB="45720" anchor="ctr">
                    <a:lnL w="12700" cap="flat" cmpd="sng" algn="ctr">
                      <a:solidFill>
                        <a:srgbClr val="4472C4"/>
                      </a:solidFill>
                      <a:prstDash val="solid"/>
                    </a:lnL>
                    <a:lnR w="12700" cap="flat" cmpd="sng" algn="ctr">
                      <a:solidFill>
                        <a:srgbClr val="4472C4"/>
                      </a:solidFill>
                      <a:prstDash val="solid"/>
                    </a:lnR>
                    <a:lnT w="12700" cap="flat" cmpd="sng" algn="ctr">
                      <a:solidFill>
                        <a:srgbClr val="4472C4"/>
                      </a:solidFill>
                      <a:prstDash val="solid"/>
                    </a:lnT>
                    <a:lnB w="12700" cap="flat" cmpd="sng" algn="ctr">
                      <a:solidFill>
                        <a:srgbClr val="4472C4"/>
                      </a:solidFill>
                      <a:prstDash val="solid"/>
                    </a:lnB>
                    <a:solidFill>
                      <a:srgbClr val="4472C4"/>
                    </a:solidFill>
                  </a:tcPr>
                </a:tc>
                <a:tc>
                  <a:txBody>
                    <a:bodyPr anchor="ctr" rtlCol="false" lIns="0" tIns="0" rIns="0" bIns="0" wrap="square"/>
                    <a:lstStyle/>
                    <a:p>
                      <a:pPr algn="ctr">
                        <a:lnSpc>
                          <a:spcPts val="1950"/>
                        </a:lnSpc>
                        <a:spcBef>
                          <a:spcPts val="0"/>
                        </a:spcBef>
                        <a:buNone/>
                      </a:pPr>
                      <a:r>
                        <a:rPr lang="en-US" sz="1500" b="true">
                          <a:solidFill>
                            <a:srgbClr val="FFFFFF"/>
                          </a:solidFill>
                          <a:latin typeface="Nunito Bold"/>
                          <a:ea typeface="Nunito Bold"/>
                          <a:cs typeface="Nunito Bold"/>
                          <a:sym typeface="Nunito Bold"/>
                        </a:rPr>
                        <a:t>NO₂</a:t>
                      </a:r>
                    </a:p>
                  </a:txBody>
                  <a:tcPr marL="64008" marR="64008" marT="45720" marB="45720" anchor="ctr">
                    <a:lnL w="12700" cap="flat" cmpd="sng" algn="ctr">
                      <a:solidFill>
                        <a:srgbClr val="4472C4"/>
                      </a:solidFill>
                      <a:prstDash val="solid"/>
                    </a:lnL>
                    <a:lnR w="12700" cap="flat" cmpd="sng" algn="ctr">
                      <a:solidFill>
                        <a:srgbClr val="4472C4"/>
                      </a:solidFill>
                      <a:prstDash val="solid"/>
                    </a:lnR>
                    <a:lnT w="12700" cap="flat" cmpd="sng" algn="ctr">
                      <a:solidFill>
                        <a:srgbClr val="4472C4"/>
                      </a:solidFill>
                      <a:prstDash val="solid"/>
                    </a:lnT>
                    <a:lnB w="12700" cap="flat" cmpd="sng" algn="ctr">
                      <a:solidFill>
                        <a:srgbClr val="4472C4"/>
                      </a:solidFill>
                      <a:prstDash val="solid"/>
                    </a:lnB>
                    <a:solidFill>
                      <a:srgbClr val="4472C4"/>
                    </a:solidFill>
                  </a:tcPr>
                </a:tc>
                <a:tc>
                  <a:txBody>
                    <a:bodyPr anchor="ctr" rtlCol="false" lIns="0" tIns="0" rIns="0" bIns="0" wrap="square"/>
                    <a:lstStyle/>
                    <a:p>
                      <a:pPr algn="ctr">
                        <a:lnSpc>
                          <a:spcPts val="1950"/>
                        </a:lnSpc>
                        <a:spcBef>
                          <a:spcPts val="0"/>
                        </a:spcBef>
                        <a:buNone/>
                      </a:pPr>
                      <a:r>
                        <a:rPr lang="en-US" sz="1500" b="true">
                          <a:solidFill>
                            <a:srgbClr val="FFFFFF"/>
                          </a:solidFill>
                          <a:latin typeface="Nunito Bold"/>
                          <a:ea typeface="Nunito Bold"/>
                          <a:cs typeface="Nunito Bold"/>
                          <a:sym typeface="Nunito Bold"/>
                        </a:rPr>
                        <a:t>CO</a:t>
                      </a:r>
                    </a:p>
                  </a:txBody>
                  <a:tcPr marL="64008" marR="64008" marT="45720" marB="45720" anchor="ctr">
                    <a:lnL w="12700" cap="flat" cmpd="sng" algn="ctr">
                      <a:solidFill>
                        <a:srgbClr val="4472C4"/>
                      </a:solidFill>
                      <a:prstDash val="solid"/>
                    </a:lnL>
                    <a:lnR w="12700" cap="flat" cmpd="sng" algn="ctr">
                      <a:solidFill>
                        <a:srgbClr val="4472C4"/>
                      </a:solidFill>
                      <a:prstDash val="solid"/>
                    </a:lnR>
                    <a:lnT w="12700" cap="flat" cmpd="sng" algn="ctr">
                      <a:solidFill>
                        <a:srgbClr val="4472C4"/>
                      </a:solidFill>
                      <a:prstDash val="solid"/>
                    </a:lnT>
                    <a:lnB w="12700" cap="flat" cmpd="sng" algn="ctr">
                      <a:solidFill>
                        <a:srgbClr val="4472C4"/>
                      </a:solidFill>
                      <a:prstDash val="solid"/>
                    </a:lnB>
                    <a:solidFill>
                      <a:srgbClr val="4472C4"/>
                    </a:solidFill>
                  </a:tcPr>
                </a:tc>
                <a:tc>
                  <a:txBody>
                    <a:bodyPr anchor="ctr" rtlCol="false" lIns="0" tIns="0" rIns="0" bIns="0" wrap="square"/>
                    <a:lstStyle/>
                    <a:p>
                      <a:pPr algn="ctr">
                        <a:lnSpc>
                          <a:spcPts val="1950"/>
                        </a:lnSpc>
                        <a:spcBef>
                          <a:spcPts val="0"/>
                        </a:spcBef>
                        <a:buNone/>
                      </a:pPr>
                      <a:r>
                        <a:rPr lang="en-US" sz="1500" b="true">
                          <a:solidFill>
                            <a:srgbClr val="FFFFFF"/>
                          </a:solidFill>
                          <a:latin typeface="Nunito Bold"/>
                          <a:ea typeface="Nunito Bold"/>
                          <a:cs typeface="Nunito Bold"/>
                          <a:sym typeface="Nunito Bold"/>
                        </a:rPr>
                        <a:t>O₃</a:t>
                      </a:r>
                    </a:p>
                  </a:txBody>
                  <a:tcPr marL="64008" marR="64008" marT="45720" marB="45720" anchor="ctr">
                    <a:lnL w="12700" cap="flat" cmpd="sng" algn="ctr">
                      <a:solidFill>
                        <a:srgbClr val="4472C4"/>
                      </a:solidFill>
                      <a:prstDash val="solid"/>
                    </a:lnL>
                    <a:lnR w="12700" cap="flat" cmpd="sng" algn="ctr">
                      <a:solidFill>
                        <a:srgbClr val="4472C4"/>
                      </a:solidFill>
                      <a:prstDash val="solid"/>
                    </a:lnR>
                    <a:lnT w="12700" cap="flat" cmpd="sng" algn="ctr">
                      <a:solidFill>
                        <a:srgbClr val="4472C4"/>
                      </a:solidFill>
                      <a:prstDash val="solid"/>
                    </a:lnT>
                    <a:lnB w="12700" cap="flat" cmpd="sng" algn="ctr">
                      <a:solidFill>
                        <a:srgbClr val="4472C4"/>
                      </a:solidFill>
                      <a:prstDash val="solid"/>
                    </a:lnB>
                    <a:solidFill>
                      <a:srgbClr val="4472C4"/>
                    </a:solidFill>
                  </a:tcPr>
                </a:tc>
                <a:tc>
                  <a:txBody>
                    <a:bodyPr anchor="ctr" rtlCol="false" lIns="0" tIns="0" rIns="0" bIns="0" wrap="square"/>
                    <a:lstStyle/>
                    <a:p>
                      <a:pPr algn="ctr">
                        <a:lnSpc>
                          <a:spcPts val="1950"/>
                        </a:lnSpc>
                        <a:spcBef>
                          <a:spcPts val="0"/>
                        </a:spcBef>
                        <a:buNone/>
                      </a:pPr>
                      <a:r>
                        <a:rPr lang="en-US" sz="1500" b="true">
                          <a:solidFill>
                            <a:srgbClr val="FFFFFF"/>
                          </a:solidFill>
                          <a:latin typeface="Nunito Bold"/>
                          <a:ea typeface="Nunito Bold"/>
                          <a:cs typeface="Nunito Bold"/>
                          <a:sym typeface="Nunito Bold"/>
                        </a:rPr>
                        <a:t>TEMP</a:t>
                      </a:r>
                    </a:p>
                  </a:txBody>
                  <a:tcPr marL="64008" marR="64008" marT="45720" marB="45720" anchor="ctr">
                    <a:lnL w="12700" cap="flat" cmpd="sng" algn="ctr">
                      <a:solidFill>
                        <a:srgbClr val="4472C4"/>
                      </a:solidFill>
                      <a:prstDash val="solid"/>
                    </a:lnL>
                    <a:lnR w="12700" cap="flat" cmpd="sng" algn="ctr">
                      <a:solidFill>
                        <a:srgbClr val="4472C4"/>
                      </a:solidFill>
                      <a:prstDash val="solid"/>
                    </a:lnR>
                    <a:lnT w="12700" cap="flat" cmpd="sng" algn="ctr">
                      <a:solidFill>
                        <a:srgbClr val="4472C4"/>
                      </a:solidFill>
                      <a:prstDash val="solid"/>
                    </a:lnT>
                    <a:lnB w="12700" cap="flat" cmpd="sng" algn="ctr">
                      <a:solidFill>
                        <a:srgbClr val="4472C4"/>
                      </a:solidFill>
                      <a:prstDash val="solid"/>
                    </a:lnB>
                    <a:solidFill>
                      <a:srgbClr val="4472C4"/>
                    </a:solidFill>
                  </a:tcPr>
                </a:tc>
                <a:tc>
                  <a:txBody>
                    <a:bodyPr anchor="ctr" rtlCol="false" lIns="0" tIns="0" rIns="0" bIns="0" wrap="square"/>
                    <a:lstStyle/>
                    <a:p>
                      <a:pPr algn="ctr">
                        <a:lnSpc>
                          <a:spcPts val="1950"/>
                        </a:lnSpc>
                        <a:spcBef>
                          <a:spcPts val="0"/>
                        </a:spcBef>
                        <a:buNone/>
                      </a:pPr>
                      <a:r>
                        <a:rPr lang="en-US" sz="1500" b="true">
                          <a:solidFill>
                            <a:srgbClr val="FFFFFF"/>
                          </a:solidFill>
                          <a:latin typeface="Nunito Bold"/>
                          <a:ea typeface="Nunito Bold"/>
                          <a:cs typeface="Nunito Bold"/>
                          <a:sym typeface="Nunito Bold"/>
                        </a:rPr>
                        <a:t>PRES</a:t>
                      </a:r>
                    </a:p>
                  </a:txBody>
                  <a:tcPr marL="64008" marR="64008" marT="45720" marB="45720" anchor="ctr">
                    <a:lnL w="12700" cap="flat" cmpd="sng" algn="ctr">
                      <a:solidFill>
                        <a:srgbClr val="4472C4"/>
                      </a:solidFill>
                      <a:prstDash val="solid"/>
                    </a:lnL>
                    <a:lnR w="12700" cap="flat" cmpd="sng" algn="ctr">
                      <a:solidFill>
                        <a:srgbClr val="4472C4"/>
                      </a:solidFill>
                      <a:prstDash val="solid"/>
                    </a:lnR>
                    <a:lnT w="12700" cap="flat" cmpd="sng" algn="ctr">
                      <a:solidFill>
                        <a:srgbClr val="4472C4"/>
                      </a:solidFill>
                      <a:prstDash val="solid"/>
                    </a:lnT>
                    <a:lnB w="12700" cap="flat" cmpd="sng" algn="ctr">
                      <a:solidFill>
                        <a:srgbClr val="4472C4"/>
                      </a:solidFill>
                      <a:prstDash val="solid"/>
                    </a:lnB>
                    <a:solidFill>
                      <a:srgbClr val="4472C4"/>
                    </a:solidFill>
                  </a:tcPr>
                </a:tc>
                <a:tc>
                  <a:txBody>
                    <a:bodyPr anchor="ctr" rtlCol="false" lIns="0" tIns="0" rIns="0" bIns="0" wrap="square"/>
                    <a:lstStyle/>
                    <a:p>
                      <a:pPr algn="ctr">
                        <a:lnSpc>
                          <a:spcPts val="1950"/>
                        </a:lnSpc>
                        <a:spcBef>
                          <a:spcPts val="0"/>
                        </a:spcBef>
                        <a:buNone/>
                      </a:pPr>
                      <a:r>
                        <a:rPr lang="en-US" sz="1500" b="true">
                          <a:solidFill>
                            <a:srgbClr val="FFFFFF"/>
                          </a:solidFill>
                          <a:latin typeface="Nunito Bold"/>
                          <a:ea typeface="Nunito Bold"/>
                          <a:cs typeface="Nunito Bold"/>
                          <a:sym typeface="Nunito Bold"/>
                        </a:rPr>
                        <a:t>DEWP</a:t>
                      </a:r>
                    </a:p>
                  </a:txBody>
                  <a:tcPr marL="64008" marR="64008" marT="45720" marB="45720" anchor="ctr">
                    <a:lnL w="12700" cap="flat" cmpd="sng" algn="ctr">
                      <a:solidFill>
                        <a:srgbClr val="4472C4"/>
                      </a:solidFill>
                      <a:prstDash val="solid"/>
                    </a:lnL>
                    <a:lnR w="12700" cap="flat" cmpd="sng" algn="ctr">
                      <a:solidFill>
                        <a:srgbClr val="4472C4"/>
                      </a:solidFill>
                      <a:prstDash val="solid"/>
                    </a:lnR>
                    <a:lnT w="12700" cap="flat" cmpd="sng" algn="ctr">
                      <a:solidFill>
                        <a:srgbClr val="4472C4"/>
                      </a:solidFill>
                      <a:prstDash val="solid"/>
                    </a:lnT>
                    <a:lnB w="12700" cap="flat" cmpd="sng" algn="ctr">
                      <a:solidFill>
                        <a:srgbClr val="4472C4"/>
                      </a:solidFill>
                      <a:prstDash val="solid"/>
                    </a:lnB>
                    <a:solidFill>
                      <a:srgbClr val="4472C4"/>
                    </a:solidFill>
                  </a:tcPr>
                </a:tc>
                <a:tc>
                  <a:txBody>
                    <a:bodyPr anchor="ctr" rtlCol="false" lIns="0" tIns="0" rIns="0" bIns="0" wrap="square"/>
                    <a:lstStyle/>
                    <a:p>
                      <a:pPr algn="ctr">
                        <a:lnSpc>
                          <a:spcPts val="1950"/>
                        </a:lnSpc>
                        <a:spcBef>
                          <a:spcPts val="0"/>
                        </a:spcBef>
                        <a:buNone/>
                      </a:pPr>
                      <a:r>
                        <a:rPr lang="en-US" sz="1500" b="true">
                          <a:solidFill>
                            <a:srgbClr val="FFFFFF"/>
                          </a:solidFill>
                          <a:latin typeface="Nunito Bold"/>
                          <a:ea typeface="Nunito Bold"/>
                          <a:cs typeface="Nunito Bold"/>
                          <a:sym typeface="Nunito Bold"/>
                        </a:rPr>
                        <a:t>WSPM</a:t>
                      </a:r>
                    </a:p>
                  </a:txBody>
                  <a:tcPr marL="64008" marR="64008" marT="45720" marB="45720" anchor="ctr">
                    <a:lnL w="12700" cap="flat" cmpd="sng" algn="ctr">
                      <a:solidFill>
                        <a:srgbClr val="4472C4"/>
                      </a:solidFill>
                      <a:prstDash val="solid"/>
                    </a:lnL>
                    <a:lnR w="12700" cap="flat" cmpd="sng" algn="ctr">
                      <a:solidFill>
                        <a:srgbClr val="4472C4"/>
                      </a:solidFill>
                      <a:prstDash val="solid"/>
                    </a:lnR>
                    <a:lnT w="12700" cap="flat" cmpd="sng" algn="ctr">
                      <a:solidFill>
                        <a:srgbClr val="4472C4"/>
                      </a:solidFill>
                      <a:prstDash val="solid"/>
                    </a:lnT>
                    <a:lnB w="12700" cap="flat" cmpd="sng" algn="ctr">
                      <a:solidFill>
                        <a:srgbClr val="4472C4"/>
                      </a:solidFill>
                      <a:prstDash val="solid"/>
                    </a:lnB>
                    <a:solidFill>
                      <a:srgbClr val="4472C4"/>
                    </a:solidFill>
                  </a:tcPr>
                </a:tc>
              </a:tr>
              <a:tr h="426466">
                <a:tc>
                  <a:txBody>
                    <a:bodyPr anchor="ctr" rtlCol="false" lIns="0" tIns="0" rIns="0" bIns="0" wrap="square"/>
                    <a:lstStyle/>
                    <a:p>
                      <a:pPr algn="ctr">
                        <a:lnSpc>
                          <a:spcPts val="1950"/>
                        </a:lnSpc>
                        <a:spcBef>
                          <a:spcPts val="0"/>
                        </a:spcBef>
                        <a:buNone/>
                      </a:pPr>
                      <a:r>
                        <a:rPr lang="en-US" sz="1500" b="true">
                          <a:solidFill>
                            <a:srgbClr val="111111"/>
                          </a:solidFill>
                          <a:latin typeface="Nunito Semi-Bold"/>
                          <a:ea typeface="Nunito Semi-Bold"/>
                          <a:cs typeface="Nunito Semi-Bold"/>
                          <a:sym typeface="Nunito Semi-Bold"/>
                        </a:rPr>
                        <a:t>Aotizhongxin</a:t>
                      </a:r>
                    </a:p>
                  </a:txBody>
                  <a:tcPr marL="64008" marR="64008"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c>
                  <a:txBody>
                    <a:bodyPr anchor="ctr" rtlCol="false" lIns="0" tIns="0" rIns="0" bIns="0" wrap="square"/>
                    <a:lstStyle/>
                    <a:p>
                      <a:pPr algn="ctr">
                        <a:lnSpc>
                          <a:spcPts val="1950"/>
                        </a:lnSpc>
                        <a:spcBef>
                          <a:spcPts val="0"/>
                        </a:spcBef>
                        <a:buNone/>
                      </a:pPr>
                      <a:r>
                        <a:rPr lang="en-US" sz="1500" b="true">
                          <a:solidFill>
                            <a:srgbClr val="111111"/>
                          </a:solidFill>
                          <a:latin typeface="Nunito Semi-Bold"/>
                          <a:ea typeface="Nunito Semi-Bold"/>
                          <a:cs typeface="Nunito Semi-Bold"/>
                          <a:sym typeface="Nunito Semi-Bold"/>
                        </a:rPr>
                        <a:t>2013-03-01 · 00h</a:t>
                      </a:r>
                    </a:p>
                  </a:txBody>
                  <a:tcPr marL="64008" marR="64008"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c>
                  <a:txBody>
                    <a:bodyPr anchor="ctr" rtlCol="false" lIns="0" tIns="0" rIns="0" bIns="0" wrap="square"/>
                    <a:lstStyle/>
                    <a:p>
                      <a:pPr algn="ctr">
                        <a:lnSpc>
                          <a:spcPts val="1950"/>
                        </a:lnSpc>
                        <a:spcBef>
                          <a:spcPts val="0"/>
                        </a:spcBef>
                        <a:buNone/>
                      </a:pPr>
                      <a:r>
                        <a:rPr lang="en-US" sz="1500" b="true">
                          <a:solidFill>
                            <a:srgbClr val="111111"/>
                          </a:solidFill>
                          <a:latin typeface="Nunito Semi-Bold"/>
                          <a:ea typeface="Nunito Semi-Bold"/>
                          <a:cs typeface="Nunito Semi-Bold"/>
                          <a:sym typeface="Nunito Semi-Bold"/>
                        </a:rPr>
                        <a:t>4</a:t>
                      </a:r>
                    </a:p>
                  </a:txBody>
                  <a:tcPr marL="64008" marR="64008"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c>
                  <a:txBody>
                    <a:bodyPr anchor="ctr" rtlCol="false" lIns="0" tIns="0" rIns="0" bIns="0" wrap="square"/>
                    <a:lstStyle/>
                    <a:p>
                      <a:pPr algn="ctr">
                        <a:lnSpc>
                          <a:spcPts val="1950"/>
                        </a:lnSpc>
                        <a:spcBef>
                          <a:spcPts val="0"/>
                        </a:spcBef>
                        <a:buNone/>
                      </a:pPr>
                      <a:r>
                        <a:rPr lang="en-US" sz="1500" b="true">
                          <a:solidFill>
                            <a:srgbClr val="111111"/>
                          </a:solidFill>
                          <a:latin typeface="Nunito Semi-Bold"/>
                          <a:ea typeface="Nunito Semi-Bold"/>
                          <a:cs typeface="Nunito Semi-Bold"/>
                          <a:sym typeface="Nunito Semi-Bold"/>
                        </a:rPr>
                        <a:t>4</a:t>
                      </a:r>
                    </a:p>
                  </a:txBody>
                  <a:tcPr marL="64008" marR="64008"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c>
                  <a:txBody>
                    <a:bodyPr anchor="ctr" rtlCol="false" lIns="0" tIns="0" rIns="0" bIns="0" wrap="square"/>
                    <a:lstStyle/>
                    <a:p>
                      <a:pPr algn="ctr">
                        <a:lnSpc>
                          <a:spcPts val="1950"/>
                        </a:lnSpc>
                        <a:spcBef>
                          <a:spcPts val="0"/>
                        </a:spcBef>
                        <a:buNone/>
                      </a:pPr>
                      <a:r>
                        <a:rPr lang="en-US" sz="1500" b="true">
                          <a:solidFill>
                            <a:srgbClr val="111111"/>
                          </a:solidFill>
                          <a:latin typeface="Nunito Semi-Bold"/>
                          <a:ea typeface="Nunito Semi-Bold"/>
                          <a:cs typeface="Nunito Semi-Bold"/>
                          <a:sym typeface="Nunito Semi-Bold"/>
                        </a:rPr>
                        <a:t>4</a:t>
                      </a:r>
                    </a:p>
                  </a:txBody>
                  <a:tcPr marL="64008" marR="64008"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c>
                  <a:txBody>
                    <a:bodyPr anchor="ctr" rtlCol="false" lIns="0" tIns="0" rIns="0" bIns="0" wrap="square"/>
                    <a:lstStyle/>
                    <a:p>
                      <a:pPr algn="ctr">
                        <a:lnSpc>
                          <a:spcPts val="1950"/>
                        </a:lnSpc>
                        <a:spcBef>
                          <a:spcPts val="0"/>
                        </a:spcBef>
                        <a:buNone/>
                      </a:pPr>
                      <a:r>
                        <a:rPr lang="en-US" sz="1500" b="true">
                          <a:solidFill>
                            <a:srgbClr val="111111"/>
                          </a:solidFill>
                          <a:latin typeface="Nunito Semi-Bold"/>
                          <a:ea typeface="Nunito Semi-Bold"/>
                          <a:cs typeface="Nunito Semi-Bold"/>
                          <a:sym typeface="Nunito Semi-Bold"/>
                        </a:rPr>
                        <a:t>7</a:t>
                      </a:r>
                    </a:p>
                  </a:txBody>
                  <a:tcPr marL="64008" marR="64008"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c>
                  <a:txBody>
                    <a:bodyPr anchor="ctr" rtlCol="false" lIns="0" tIns="0" rIns="0" bIns="0" wrap="square"/>
                    <a:lstStyle/>
                    <a:p>
                      <a:pPr algn="ctr">
                        <a:lnSpc>
                          <a:spcPts val="1950"/>
                        </a:lnSpc>
                        <a:spcBef>
                          <a:spcPts val="0"/>
                        </a:spcBef>
                        <a:buNone/>
                      </a:pPr>
                      <a:r>
                        <a:rPr lang="en-US" sz="1500" b="true">
                          <a:solidFill>
                            <a:srgbClr val="111111"/>
                          </a:solidFill>
                          <a:latin typeface="Nunito Semi-Bold"/>
                          <a:ea typeface="Nunito Semi-Bold"/>
                          <a:cs typeface="Nunito Semi-Bold"/>
                          <a:sym typeface="Nunito Semi-Bold"/>
                        </a:rPr>
                        <a:t>300</a:t>
                      </a:r>
                    </a:p>
                  </a:txBody>
                  <a:tcPr marL="64008" marR="64008"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c>
                  <a:txBody>
                    <a:bodyPr anchor="ctr" rtlCol="false" lIns="0" tIns="0" rIns="0" bIns="0" wrap="square"/>
                    <a:lstStyle/>
                    <a:p>
                      <a:pPr algn="ctr">
                        <a:lnSpc>
                          <a:spcPts val="1950"/>
                        </a:lnSpc>
                        <a:spcBef>
                          <a:spcPts val="0"/>
                        </a:spcBef>
                        <a:buNone/>
                      </a:pPr>
                      <a:r>
                        <a:rPr lang="en-US" sz="1500" b="true">
                          <a:solidFill>
                            <a:srgbClr val="111111"/>
                          </a:solidFill>
                          <a:latin typeface="Nunito Semi-Bold"/>
                          <a:ea typeface="Nunito Semi-Bold"/>
                          <a:cs typeface="Nunito Semi-Bold"/>
                          <a:sym typeface="Nunito Semi-Bold"/>
                        </a:rPr>
                        <a:t>77</a:t>
                      </a:r>
                    </a:p>
                  </a:txBody>
                  <a:tcPr marL="64008" marR="64008"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c>
                  <a:txBody>
                    <a:bodyPr anchor="ctr" rtlCol="false" lIns="0" tIns="0" rIns="0" bIns="0" wrap="square"/>
                    <a:lstStyle/>
                    <a:p>
                      <a:pPr algn="ctr">
                        <a:lnSpc>
                          <a:spcPts val="1950"/>
                        </a:lnSpc>
                        <a:spcBef>
                          <a:spcPts val="0"/>
                        </a:spcBef>
                        <a:buNone/>
                      </a:pPr>
                      <a:r>
                        <a:rPr lang="en-US" sz="1500" b="true">
                          <a:solidFill>
                            <a:srgbClr val="111111"/>
                          </a:solidFill>
                          <a:latin typeface="Nunito Semi-Bold"/>
                          <a:ea typeface="Nunito Semi-Bold"/>
                          <a:cs typeface="Nunito Semi-Bold"/>
                          <a:sym typeface="Nunito Semi-Bold"/>
                        </a:rPr>
                        <a:t>-0.7</a:t>
                      </a:r>
                    </a:p>
                  </a:txBody>
                  <a:tcPr marL="64008" marR="64008"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c>
                  <a:txBody>
                    <a:bodyPr anchor="ctr" rtlCol="false" lIns="0" tIns="0" rIns="0" bIns="0" wrap="square"/>
                    <a:lstStyle/>
                    <a:p>
                      <a:pPr algn="ctr">
                        <a:lnSpc>
                          <a:spcPts val="1950"/>
                        </a:lnSpc>
                        <a:spcBef>
                          <a:spcPts val="0"/>
                        </a:spcBef>
                        <a:buNone/>
                      </a:pPr>
                      <a:r>
                        <a:rPr lang="en-US" sz="1500" b="true">
                          <a:solidFill>
                            <a:srgbClr val="111111"/>
                          </a:solidFill>
                          <a:latin typeface="Nunito Semi-Bold"/>
                          <a:ea typeface="Nunito Semi-Bold"/>
                          <a:cs typeface="Nunito Semi-Bold"/>
                          <a:sym typeface="Nunito Semi-Bold"/>
                        </a:rPr>
                        <a:t>1023.0</a:t>
                      </a:r>
                    </a:p>
                  </a:txBody>
                  <a:tcPr marL="64008" marR="64008"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c>
                  <a:txBody>
                    <a:bodyPr anchor="ctr" rtlCol="false" lIns="0" tIns="0" rIns="0" bIns="0" wrap="square"/>
                    <a:lstStyle/>
                    <a:p>
                      <a:pPr algn="ctr">
                        <a:lnSpc>
                          <a:spcPts val="1950"/>
                        </a:lnSpc>
                        <a:spcBef>
                          <a:spcPts val="0"/>
                        </a:spcBef>
                        <a:buNone/>
                      </a:pPr>
                      <a:r>
                        <a:rPr lang="en-US" sz="1500" b="true">
                          <a:solidFill>
                            <a:srgbClr val="111111"/>
                          </a:solidFill>
                          <a:latin typeface="Nunito Semi-Bold"/>
                          <a:ea typeface="Nunito Semi-Bold"/>
                          <a:cs typeface="Nunito Semi-Bold"/>
                          <a:sym typeface="Nunito Semi-Bold"/>
                        </a:rPr>
                        <a:t>-18.8</a:t>
                      </a:r>
                    </a:p>
                  </a:txBody>
                  <a:tcPr marL="64008" marR="64008"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c>
                  <a:txBody>
                    <a:bodyPr anchor="ctr" rtlCol="false" lIns="0" tIns="0" rIns="0" bIns="0" wrap="square"/>
                    <a:lstStyle/>
                    <a:p>
                      <a:pPr algn="ctr">
                        <a:lnSpc>
                          <a:spcPts val="1950"/>
                        </a:lnSpc>
                        <a:spcBef>
                          <a:spcPts val="0"/>
                        </a:spcBef>
                        <a:buNone/>
                      </a:pPr>
                      <a:r>
                        <a:rPr lang="en-US" sz="1500" b="true">
                          <a:solidFill>
                            <a:srgbClr val="111111"/>
                          </a:solidFill>
                          <a:latin typeface="Nunito Semi-Bold"/>
                          <a:ea typeface="Nunito Semi-Bold"/>
                          <a:cs typeface="Nunito Semi-Bold"/>
                          <a:sym typeface="Nunito Semi-Bold"/>
                        </a:rPr>
                        <a:t>4.4</a:t>
                      </a:r>
                    </a:p>
                  </a:txBody>
                  <a:tcPr marL="64008" marR="64008"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r>
              <a:tr h="426466">
                <a:tc>
                  <a:txBody>
                    <a:bodyPr anchor="ctr" rtlCol="false" lIns="0" tIns="0" rIns="0" bIns="0" wrap="square"/>
                    <a:lstStyle/>
                    <a:p>
                      <a:pPr algn="ctr">
                        <a:lnSpc>
                          <a:spcPts val="1950"/>
                        </a:lnSpc>
                        <a:spcBef>
                          <a:spcPts val="0"/>
                        </a:spcBef>
                        <a:buNone/>
                      </a:pPr>
                      <a:r>
                        <a:rPr lang="en-US" sz="1500" b="true">
                          <a:solidFill>
                            <a:srgbClr val="111111"/>
                          </a:solidFill>
                          <a:latin typeface="Nunito Semi-Bold"/>
                          <a:ea typeface="Nunito Semi-Bold"/>
                          <a:cs typeface="Nunito Semi-Bold"/>
                          <a:sym typeface="Nunito Semi-Bold"/>
                        </a:rPr>
                        <a:t>Aotizhongxin</a:t>
                      </a:r>
                    </a:p>
                  </a:txBody>
                  <a:tcPr marL="64008" marR="64008"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6ECDF"/>
                    </a:solidFill>
                  </a:tcPr>
                </a:tc>
                <a:tc>
                  <a:txBody>
                    <a:bodyPr anchor="ctr" rtlCol="false" lIns="0" tIns="0" rIns="0" bIns="0" wrap="square"/>
                    <a:lstStyle/>
                    <a:p>
                      <a:pPr algn="ctr">
                        <a:lnSpc>
                          <a:spcPts val="1950"/>
                        </a:lnSpc>
                        <a:spcBef>
                          <a:spcPts val="0"/>
                        </a:spcBef>
                        <a:buNone/>
                      </a:pPr>
                      <a:r>
                        <a:rPr lang="en-US" sz="1500" b="true">
                          <a:solidFill>
                            <a:srgbClr val="111111"/>
                          </a:solidFill>
                          <a:latin typeface="Nunito Semi-Bold"/>
                          <a:ea typeface="Nunito Semi-Bold"/>
                          <a:cs typeface="Nunito Semi-Bold"/>
                          <a:sym typeface="Nunito Semi-Bold"/>
                        </a:rPr>
                        <a:t>2013-03-01 · 01h</a:t>
                      </a:r>
                    </a:p>
                  </a:txBody>
                  <a:tcPr marL="64008" marR="64008"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6ECDF"/>
                    </a:solidFill>
                  </a:tcPr>
                </a:tc>
                <a:tc>
                  <a:txBody>
                    <a:bodyPr anchor="ctr" rtlCol="false" lIns="0" tIns="0" rIns="0" bIns="0" wrap="square"/>
                    <a:lstStyle/>
                    <a:p>
                      <a:pPr algn="ctr">
                        <a:lnSpc>
                          <a:spcPts val="1950"/>
                        </a:lnSpc>
                        <a:spcBef>
                          <a:spcPts val="0"/>
                        </a:spcBef>
                        <a:buNone/>
                      </a:pPr>
                      <a:r>
                        <a:rPr lang="en-US" sz="1500" b="true">
                          <a:solidFill>
                            <a:srgbClr val="111111"/>
                          </a:solidFill>
                          <a:latin typeface="Nunito Semi-Bold"/>
                          <a:ea typeface="Nunito Semi-Bold"/>
                          <a:cs typeface="Nunito Semi-Bold"/>
                          <a:sym typeface="Nunito Semi-Bold"/>
                        </a:rPr>
                        <a:t>8</a:t>
                      </a:r>
                    </a:p>
                  </a:txBody>
                  <a:tcPr marL="64008" marR="64008"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6ECDF"/>
                    </a:solidFill>
                  </a:tcPr>
                </a:tc>
                <a:tc>
                  <a:txBody>
                    <a:bodyPr anchor="ctr" rtlCol="false" lIns="0" tIns="0" rIns="0" bIns="0" wrap="square"/>
                    <a:lstStyle/>
                    <a:p>
                      <a:pPr algn="ctr">
                        <a:lnSpc>
                          <a:spcPts val="1950"/>
                        </a:lnSpc>
                        <a:spcBef>
                          <a:spcPts val="0"/>
                        </a:spcBef>
                        <a:buNone/>
                      </a:pPr>
                      <a:r>
                        <a:rPr lang="en-US" sz="1500" b="true">
                          <a:solidFill>
                            <a:srgbClr val="111111"/>
                          </a:solidFill>
                          <a:latin typeface="Nunito Semi-Bold"/>
                          <a:ea typeface="Nunito Semi-Bold"/>
                          <a:cs typeface="Nunito Semi-Bold"/>
                          <a:sym typeface="Nunito Semi-Bold"/>
                        </a:rPr>
                        <a:t>8</a:t>
                      </a:r>
                    </a:p>
                  </a:txBody>
                  <a:tcPr marL="64008" marR="64008"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6ECDF"/>
                    </a:solidFill>
                  </a:tcPr>
                </a:tc>
                <a:tc>
                  <a:txBody>
                    <a:bodyPr anchor="ctr" rtlCol="false" lIns="0" tIns="0" rIns="0" bIns="0" wrap="square"/>
                    <a:lstStyle/>
                    <a:p>
                      <a:pPr algn="ctr">
                        <a:lnSpc>
                          <a:spcPts val="1950"/>
                        </a:lnSpc>
                        <a:spcBef>
                          <a:spcPts val="0"/>
                        </a:spcBef>
                        <a:buNone/>
                      </a:pPr>
                      <a:r>
                        <a:rPr lang="en-US" sz="1500" b="true">
                          <a:solidFill>
                            <a:srgbClr val="111111"/>
                          </a:solidFill>
                          <a:latin typeface="Nunito Semi-Bold"/>
                          <a:ea typeface="Nunito Semi-Bold"/>
                          <a:cs typeface="Nunito Semi-Bold"/>
                          <a:sym typeface="Nunito Semi-Bold"/>
                        </a:rPr>
                        <a:t>4</a:t>
                      </a:r>
                    </a:p>
                  </a:txBody>
                  <a:tcPr marL="64008" marR="64008"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6ECDF"/>
                    </a:solidFill>
                  </a:tcPr>
                </a:tc>
                <a:tc>
                  <a:txBody>
                    <a:bodyPr anchor="ctr" rtlCol="false" lIns="0" tIns="0" rIns="0" bIns="0" wrap="square"/>
                    <a:lstStyle/>
                    <a:p>
                      <a:pPr algn="ctr">
                        <a:lnSpc>
                          <a:spcPts val="1950"/>
                        </a:lnSpc>
                        <a:spcBef>
                          <a:spcPts val="0"/>
                        </a:spcBef>
                        <a:buNone/>
                      </a:pPr>
                      <a:r>
                        <a:rPr lang="en-US" sz="1500" b="true">
                          <a:solidFill>
                            <a:srgbClr val="111111"/>
                          </a:solidFill>
                          <a:latin typeface="Nunito Semi-Bold"/>
                          <a:ea typeface="Nunito Semi-Bold"/>
                          <a:cs typeface="Nunito Semi-Bold"/>
                          <a:sym typeface="Nunito Semi-Bold"/>
                        </a:rPr>
                        <a:t>7</a:t>
                      </a:r>
                    </a:p>
                  </a:txBody>
                  <a:tcPr marL="64008" marR="64008"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6ECDF"/>
                    </a:solidFill>
                  </a:tcPr>
                </a:tc>
                <a:tc>
                  <a:txBody>
                    <a:bodyPr anchor="ctr" rtlCol="false" lIns="0" tIns="0" rIns="0" bIns="0" wrap="square"/>
                    <a:lstStyle/>
                    <a:p>
                      <a:pPr algn="ctr">
                        <a:lnSpc>
                          <a:spcPts val="1950"/>
                        </a:lnSpc>
                        <a:spcBef>
                          <a:spcPts val="0"/>
                        </a:spcBef>
                        <a:buNone/>
                      </a:pPr>
                      <a:r>
                        <a:rPr lang="en-US" sz="1500" b="true">
                          <a:solidFill>
                            <a:srgbClr val="111111"/>
                          </a:solidFill>
                          <a:latin typeface="Nunito Semi-Bold"/>
                          <a:ea typeface="Nunito Semi-Bold"/>
                          <a:cs typeface="Nunito Semi-Bold"/>
                          <a:sym typeface="Nunito Semi-Bold"/>
                        </a:rPr>
                        <a:t>300</a:t>
                      </a:r>
                    </a:p>
                  </a:txBody>
                  <a:tcPr marL="64008" marR="64008"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6ECDF"/>
                    </a:solidFill>
                  </a:tcPr>
                </a:tc>
                <a:tc>
                  <a:txBody>
                    <a:bodyPr anchor="ctr" rtlCol="false" lIns="0" tIns="0" rIns="0" bIns="0" wrap="square"/>
                    <a:lstStyle/>
                    <a:p>
                      <a:pPr algn="ctr">
                        <a:lnSpc>
                          <a:spcPts val="1950"/>
                        </a:lnSpc>
                        <a:spcBef>
                          <a:spcPts val="0"/>
                        </a:spcBef>
                        <a:buNone/>
                      </a:pPr>
                      <a:r>
                        <a:rPr lang="en-US" sz="1500" b="true">
                          <a:solidFill>
                            <a:srgbClr val="111111"/>
                          </a:solidFill>
                          <a:latin typeface="Nunito Semi-Bold"/>
                          <a:ea typeface="Nunito Semi-Bold"/>
                          <a:cs typeface="Nunito Semi-Bold"/>
                          <a:sym typeface="Nunito Semi-Bold"/>
                        </a:rPr>
                        <a:t>77</a:t>
                      </a:r>
                    </a:p>
                  </a:txBody>
                  <a:tcPr marL="64008" marR="64008"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6ECDF"/>
                    </a:solidFill>
                  </a:tcPr>
                </a:tc>
                <a:tc>
                  <a:txBody>
                    <a:bodyPr anchor="ctr" rtlCol="false" lIns="0" tIns="0" rIns="0" bIns="0" wrap="square"/>
                    <a:lstStyle/>
                    <a:p>
                      <a:pPr algn="ctr">
                        <a:lnSpc>
                          <a:spcPts val="1950"/>
                        </a:lnSpc>
                        <a:spcBef>
                          <a:spcPts val="0"/>
                        </a:spcBef>
                        <a:buNone/>
                      </a:pPr>
                      <a:r>
                        <a:rPr lang="en-US" sz="1500" b="true">
                          <a:solidFill>
                            <a:srgbClr val="111111"/>
                          </a:solidFill>
                          <a:latin typeface="Nunito Semi-Bold"/>
                          <a:ea typeface="Nunito Semi-Bold"/>
                          <a:cs typeface="Nunito Semi-Bold"/>
                          <a:sym typeface="Nunito Semi-Bold"/>
                        </a:rPr>
                        <a:t>-1.1</a:t>
                      </a:r>
                    </a:p>
                  </a:txBody>
                  <a:tcPr marL="64008" marR="64008"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6ECDF"/>
                    </a:solidFill>
                  </a:tcPr>
                </a:tc>
                <a:tc>
                  <a:txBody>
                    <a:bodyPr anchor="ctr" rtlCol="false" lIns="0" tIns="0" rIns="0" bIns="0" wrap="square"/>
                    <a:lstStyle/>
                    <a:p>
                      <a:pPr algn="ctr">
                        <a:lnSpc>
                          <a:spcPts val="1950"/>
                        </a:lnSpc>
                        <a:spcBef>
                          <a:spcPts val="0"/>
                        </a:spcBef>
                        <a:buNone/>
                      </a:pPr>
                      <a:r>
                        <a:rPr lang="en-US" sz="1500" b="true">
                          <a:solidFill>
                            <a:srgbClr val="111111"/>
                          </a:solidFill>
                          <a:latin typeface="Nunito Semi-Bold"/>
                          <a:ea typeface="Nunito Semi-Bold"/>
                          <a:cs typeface="Nunito Semi-Bold"/>
                          <a:sym typeface="Nunito Semi-Bold"/>
                        </a:rPr>
                        <a:t>1023.2</a:t>
                      </a:r>
                    </a:p>
                  </a:txBody>
                  <a:tcPr marL="64008" marR="64008"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6ECDF"/>
                    </a:solidFill>
                  </a:tcPr>
                </a:tc>
                <a:tc>
                  <a:txBody>
                    <a:bodyPr anchor="ctr" rtlCol="false" lIns="0" tIns="0" rIns="0" bIns="0" wrap="square"/>
                    <a:lstStyle/>
                    <a:p>
                      <a:pPr algn="ctr">
                        <a:lnSpc>
                          <a:spcPts val="1950"/>
                        </a:lnSpc>
                        <a:spcBef>
                          <a:spcPts val="0"/>
                        </a:spcBef>
                        <a:buNone/>
                      </a:pPr>
                      <a:r>
                        <a:rPr lang="en-US" sz="1500" b="true">
                          <a:solidFill>
                            <a:srgbClr val="111111"/>
                          </a:solidFill>
                          <a:latin typeface="Nunito Semi-Bold"/>
                          <a:ea typeface="Nunito Semi-Bold"/>
                          <a:cs typeface="Nunito Semi-Bold"/>
                          <a:sym typeface="Nunito Semi-Bold"/>
                        </a:rPr>
                        <a:t>-18.2</a:t>
                      </a:r>
                    </a:p>
                  </a:txBody>
                  <a:tcPr marL="64008" marR="64008"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6ECDF"/>
                    </a:solidFill>
                  </a:tcPr>
                </a:tc>
                <a:tc>
                  <a:txBody>
                    <a:bodyPr anchor="ctr" rtlCol="false" lIns="0" tIns="0" rIns="0" bIns="0" wrap="square"/>
                    <a:lstStyle/>
                    <a:p>
                      <a:pPr algn="ctr">
                        <a:lnSpc>
                          <a:spcPts val="1950"/>
                        </a:lnSpc>
                        <a:spcBef>
                          <a:spcPts val="0"/>
                        </a:spcBef>
                        <a:buNone/>
                      </a:pPr>
                      <a:r>
                        <a:rPr lang="en-US" sz="1500" b="true">
                          <a:solidFill>
                            <a:srgbClr val="111111"/>
                          </a:solidFill>
                          <a:latin typeface="Nunito Semi-Bold"/>
                          <a:ea typeface="Nunito Semi-Bold"/>
                          <a:cs typeface="Nunito Semi-Bold"/>
                          <a:sym typeface="Nunito Semi-Bold"/>
                        </a:rPr>
                        <a:t>4.7</a:t>
                      </a:r>
                    </a:p>
                  </a:txBody>
                  <a:tcPr marL="64008" marR="64008"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6ECDF"/>
                    </a:solidFill>
                  </a:tcPr>
                </a:tc>
              </a:tr>
              <a:tr h="426466">
                <a:tc>
                  <a:txBody>
                    <a:bodyPr anchor="ctr" rtlCol="false" lIns="0" tIns="0" rIns="0" bIns="0" wrap="square"/>
                    <a:lstStyle/>
                    <a:p>
                      <a:pPr algn="ctr">
                        <a:lnSpc>
                          <a:spcPts val="1950"/>
                        </a:lnSpc>
                        <a:spcBef>
                          <a:spcPts val="0"/>
                        </a:spcBef>
                        <a:buNone/>
                      </a:pPr>
                      <a:r>
                        <a:rPr lang="en-US" sz="1500" b="true">
                          <a:solidFill>
                            <a:srgbClr val="111111"/>
                          </a:solidFill>
                          <a:latin typeface="Nunito Semi-Bold"/>
                          <a:ea typeface="Nunito Semi-Bold"/>
                          <a:cs typeface="Nunito Semi-Bold"/>
                          <a:sym typeface="Nunito Semi-Bold"/>
                        </a:rPr>
                        <a:t>Aotizhongxin</a:t>
                      </a:r>
                    </a:p>
                  </a:txBody>
                  <a:tcPr marL="64008" marR="64008"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c>
                  <a:txBody>
                    <a:bodyPr anchor="ctr" rtlCol="false" lIns="0" tIns="0" rIns="0" bIns="0" wrap="square"/>
                    <a:lstStyle/>
                    <a:p>
                      <a:pPr algn="ctr">
                        <a:lnSpc>
                          <a:spcPts val="1950"/>
                        </a:lnSpc>
                        <a:spcBef>
                          <a:spcPts val="0"/>
                        </a:spcBef>
                        <a:buNone/>
                      </a:pPr>
                      <a:r>
                        <a:rPr lang="en-US" sz="1500" b="true">
                          <a:solidFill>
                            <a:srgbClr val="111111"/>
                          </a:solidFill>
                          <a:latin typeface="Nunito Semi-Bold"/>
                          <a:ea typeface="Nunito Semi-Bold"/>
                          <a:cs typeface="Nunito Semi-Bold"/>
                          <a:sym typeface="Nunito Semi-Bold"/>
                        </a:rPr>
                        <a:t>2013-03-01 · 02h</a:t>
                      </a:r>
                    </a:p>
                  </a:txBody>
                  <a:tcPr marL="64008" marR="64008"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c>
                  <a:txBody>
                    <a:bodyPr anchor="ctr" rtlCol="false" lIns="0" tIns="0" rIns="0" bIns="0" wrap="square"/>
                    <a:lstStyle/>
                    <a:p>
                      <a:pPr algn="ctr">
                        <a:lnSpc>
                          <a:spcPts val="1950"/>
                        </a:lnSpc>
                        <a:spcBef>
                          <a:spcPts val="0"/>
                        </a:spcBef>
                        <a:buNone/>
                      </a:pPr>
                      <a:r>
                        <a:rPr lang="en-US" sz="1500" b="true">
                          <a:solidFill>
                            <a:srgbClr val="111111"/>
                          </a:solidFill>
                          <a:latin typeface="Nunito Semi-Bold"/>
                          <a:ea typeface="Nunito Semi-Bold"/>
                          <a:cs typeface="Nunito Semi-Bold"/>
                          <a:sym typeface="Nunito Semi-Bold"/>
                        </a:rPr>
                        <a:t>7</a:t>
                      </a:r>
                    </a:p>
                  </a:txBody>
                  <a:tcPr marL="64008" marR="64008"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c>
                  <a:txBody>
                    <a:bodyPr anchor="ctr" rtlCol="false" lIns="0" tIns="0" rIns="0" bIns="0" wrap="square"/>
                    <a:lstStyle/>
                    <a:p>
                      <a:pPr algn="ctr">
                        <a:lnSpc>
                          <a:spcPts val="1950"/>
                        </a:lnSpc>
                        <a:spcBef>
                          <a:spcPts val="0"/>
                        </a:spcBef>
                        <a:buNone/>
                      </a:pPr>
                      <a:r>
                        <a:rPr lang="en-US" sz="1500" b="true">
                          <a:solidFill>
                            <a:srgbClr val="111111"/>
                          </a:solidFill>
                          <a:latin typeface="Nunito Semi-Bold"/>
                          <a:ea typeface="Nunito Semi-Bold"/>
                          <a:cs typeface="Nunito Semi-Bold"/>
                          <a:sym typeface="Nunito Semi-Bold"/>
                        </a:rPr>
                        <a:t>7</a:t>
                      </a:r>
                    </a:p>
                  </a:txBody>
                  <a:tcPr marL="64008" marR="64008"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c>
                  <a:txBody>
                    <a:bodyPr anchor="ctr" rtlCol="false" lIns="0" tIns="0" rIns="0" bIns="0" wrap="square"/>
                    <a:lstStyle/>
                    <a:p>
                      <a:pPr algn="ctr">
                        <a:lnSpc>
                          <a:spcPts val="1950"/>
                        </a:lnSpc>
                        <a:spcBef>
                          <a:spcPts val="0"/>
                        </a:spcBef>
                        <a:buNone/>
                      </a:pPr>
                      <a:r>
                        <a:rPr lang="en-US" sz="1500" b="true">
                          <a:solidFill>
                            <a:srgbClr val="111111"/>
                          </a:solidFill>
                          <a:latin typeface="Nunito Semi-Bold"/>
                          <a:ea typeface="Nunito Semi-Bold"/>
                          <a:cs typeface="Nunito Semi-Bold"/>
                          <a:sym typeface="Nunito Semi-Bold"/>
                        </a:rPr>
                        <a:t>5</a:t>
                      </a:r>
                    </a:p>
                  </a:txBody>
                  <a:tcPr marL="64008" marR="64008"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c>
                  <a:txBody>
                    <a:bodyPr anchor="ctr" rtlCol="false" lIns="0" tIns="0" rIns="0" bIns="0" wrap="square"/>
                    <a:lstStyle/>
                    <a:p>
                      <a:pPr algn="ctr">
                        <a:lnSpc>
                          <a:spcPts val="1950"/>
                        </a:lnSpc>
                        <a:spcBef>
                          <a:spcPts val="0"/>
                        </a:spcBef>
                        <a:buNone/>
                      </a:pPr>
                      <a:r>
                        <a:rPr lang="en-US" sz="1500" b="true">
                          <a:solidFill>
                            <a:srgbClr val="111111"/>
                          </a:solidFill>
                          <a:latin typeface="Nunito Semi-Bold"/>
                          <a:ea typeface="Nunito Semi-Bold"/>
                          <a:cs typeface="Nunito Semi-Bold"/>
                          <a:sym typeface="Nunito Semi-Bold"/>
                        </a:rPr>
                        <a:t>10</a:t>
                      </a:r>
                    </a:p>
                  </a:txBody>
                  <a:tcPr marL="64008" marR="64008"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c>
                  <a:txBody>
                    <a:bodyPr anchor="ctr" rtlCol="false" lIns="0" tIns="0" rIns="0" bIns="0" wrap="square"/>
                    <a:lstStyle/>
                    <a:p>
                      <a:pPr algn="ctr">
                        <a:lnSpc>
                          <a:spcPts val="1950"/>
                        </a:lnSpc>
                        <a:spcBef>
                          <a:spcPts val="0"/>
                        </a:spcBef>
                        <a:buNone/>
                      </a:pPr>
                      <a:r>
                        <a:rPr lang="en-US" sz="1500" b="true">
                          <a:solidFill>
                            <a:srgbClr val="111111"/>
                          </a:solidFill>
                          <a:latin typeface="Nunito Semi-Bold"/>
                          <a:ea typeface="Nunito Semi-Bold"/>
                          <a:cs typeface="Nunito Semi-Bold"/>
                          <a:sym typeface="Nunito Semi-Bold"/>
                        </a:rPr>
                        <a:t>300</a:t>
                      </a:r>
                    </a:p>
                  </a:txBody>
                  <a:tcPr marL="64008" marR="64008"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c>
                  <a:txBody>
                    <a:bodyPr anchor="ctr" rtlCol="false" lIns="0" tIns="0" rIns="0" bIns="0" wrap="square"/>
                    <a:lstStyle/>
                    <a:p>
                      <a:pPr algn="ctr">
                        <a:lnSpc>
                          <a:spcPts val="1950"/>
                        </a:lnSpc>
                        <a:spcBef>
                          <a:spcPts val="0"/>
                        </a:spcBef>
                        <a:buNone/>
                      </a:pPr>
                      <a:r>
                        <a:rPr lang="en-US" sz="1500" b="true">
                          <a:solidFill>
                            <a:srgbClr val="111111"/>
                          </a:solidFill>
                          <a:latin typeface="Nunito Semi-Bold"/>
                          <a:ea typeface="Nunito Semi-Bold"/>
                          <a:cs typeface="Nunito Semi-Bold"/>
                          <a:sym typeface="Nunito Semi-Bold"/>
                        </a:rPr>
                        <a:t>73</a:t>
                      </a:r>
                    </a:p>
                  </a:txBody>
                  <a:tcPr marL="64008" marR="64008"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c>
                  <a:txBody>
                    <a:bodyPr anchor="ctr" rtlCol="false" lIns="0" tIns="0" rIns="0" bIns="0" wrap="square"/>
                    <a:lstStyle/>
                    <a:p>
                      <a:pPr algn="ctr">
                        <a:lnSpc>
                          <a:spcPts val="1950"/>
                        </a:lnSpc>
                        <a:spcBef>
                          <a:spcPts val="0"/>
                        </a:spcBef>
                        <a:buNone/>
                      </a:pPr>
                      <a:r>
                        <a:rPr lang="en-US" sz="1500" b="true">
                          <a:solidFill>
                            <a:srgbClr val="111111"/>
                          </a:solidFill>
                          <a:latin typeface="Nunito Semi-Bold"/>
                          <a:ea typeface="Nunito Semi-Bold"/>
                          <a:cs typeface="Nunito Semi-Bold"/>
                          <a:sym typeface="Nunito Semi-Bold"/>
                        </a:rPr>
                        <a:t>-1.1</a:t>
                      </a:r>
                    </a:p>
                  </a:txBody>
                  <a:tcPr marL="64008" marR="64008"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c>
                  <a:txBody>
                    <a:bodyPr anchor="ctr" rtlCol="false" lIns="0" tIns="0" rIns="0" bIns="0" wrap="square"/>
                    <a:lstStyle/>
                    <a:p>
                      <a:pPr algn="ctr">
                        <a:lnSpc>
                          <a:spcPts val="1950"/>
                        </a:lnSpc>
                        <a:spcBef>
                          <a:spcPts val="0"/>
                        </a:spcBef>
                        <a:buNone/>
                      </a:pPr>
                      <a:r>
                        <a:rPr lang="en-US" sz="1500" b="true">
                          <a:solidFill>
                            <a:srgbClr val="111111"/>
                          </a:solidFill>
                          <a:latin typeface="Nunito Semi-Bold"/>
                          <a:ea typeface="Nunito Semi-Bold"/>
                          <a:cs typeface="Nunito Semi-Bold"/>
                          <a:sym typeface="Nunito Semi-Bold"/>
                        </a:rPr>
                        <a:t>1023.5</a:t>
                      </a:r>
                    </a:p>
                  </a:txBody>
                  <a:tcPr marL="64008" marR="64008"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c>
                  <a:txBody>
                    <a:bodyPr anchor="ctr" rtlCol="false" lIns="0" tIns="0" rIns="0" bIns="0" wrap="square"/>
                    <a:lstStyle/>
                    <a:p>
                      <a:pPr algn="ctr">
                        <a:lnSpc>
                          <a:spcPts val="1950"/>
                        </a:lnSpc>
                        <a:spcBef>
                          <a:spcPts val="0"/>
                        </a:spcBef>
                        <a:buNone/>
                      </a:pPr>
                      <a:r>
                        <a:rPr lang="en-US" sz="1500" b="true">
                          <a:solidFill>
                            <a:srgbClr val="111111"/>
                          </a:solidFill>
                          <a:latin typeface="Nunito Semi-Bold"/>
                          <a:ea typeface="Nunito Semi-Bold"/>
                          <a:cs typeface="Nunito Semi-Bold"/>
                          <a:sym typeface="Nunito Semi-Bold"/>
                        </a:rPr>
                        <a:t>-18.2</a:t>
                      </a:r>
                    </a:p>
                  </a:txBody>
                  <a:tcPr marL="64008" marR="64008"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c>
                  <a:txBody>
                    <a:bodyPr anchor="ctr" rtlCol="false" lIns="0" tIns="0" rIns="0" bIns="0" wrap="square"/>
                    <a:lstStyle/>
                    <a:p>
                      <a:pPr algn="ctr">
                        <a:lnSpc>
                          <a:spcPts val="1950"/>
                        </a:lnSpc>
                        <a:spcBef>
                          <a:spcPts val="0"/>
                        </a:spcBef>
                        <a:buNone/>
                      </a:pPr>
                      <a:r>
                        <a:rPr lang="en-US" sz="1500" b="true">
                          <a:solidFill>
                            <a:srgbClr val="111111"/>
                          </a:solidFill>
                          <a:latin typeface="Nunito Semi-Bold"/>
                          <a:ea typeface="Nunito Semi-Bold"/>
                          <a:cs typeface="Nunito Semi-Bold"/>
                          <a:sym typeface="Nunito Semi-Bold"/>
                        </a:rPr>
                        <a:t>5.6</a:t>
                      </a:r>
                    </a:p>
                  </a:txBody>
                  <a:tcPr marL="64008" marR="64008"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r>
            </a:tbl>
          </a:graphicData>
        </a:graphic>
      </p:graphicFrame>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pic>
        <p:nvPicPr>
          <p:cNvPr id="2" name="Picture 1" descr="ensias_logo.jpg"/>
          <p:cNvPicPr>
            <a:picLocks noChangeAspect="1"/>
          </p:cNvPicPr>
          <p:nvPr/>
        </p:nvPicPr>
        <p:blipFill>
          <a:blip r:embed="rId2"/>
          <a:stretch>
            <a:fillRect/>
          </a:stretch>
        </p:blipFill>
        <p:spPr>
          <a:xfrm>
            <a:off x="1028700" y="9674352"/>
            <a:ext cx="542964" cy="384048"/>
          </a:xfrm>
          <a:prstGeom prst="rect">
            <a:avLst/>
          </a:prstGeom>
        </p:spPr>
      </p:pic>
      <p:sp>
        <p:nvSpPr>
          <p:cNvPr id="3" name="TextBox 2"/>
          <p:cNvSpPr txBox="1"/>
          <p:nvPr/>
        </p:nvSpPr>
        <p:spPr>
          <a:xfrm>
            <a:off x="1577340" y="9601200"/>
            <a:ext cx="14493240" cy="566928"/>
          </a:xfrm>
          <a:prstGeom prst="rect">
            <a:avLst/>
          </a:prstGeom>
          <a:noFill/>
        </p:spPr>
        <p:txBody>
          <a:bodyPr anchor="ctr" rtlCol="false" lIns="0" tIns="0" rIns="0" bIns="0" wrap="square"/>
          <a:lstStyle/>
          <a:p>
            <a:pPr algn="l">
              <a:lnSpc>
                <a:spcPts val="1200"/>
              </a:lnSpc>
              <a:spcBef>
                <a:spcPts val="0"/>
              </a:spcBef>
              <a:buNone/>
            </a:pPr>
            <a:r>
              <a:rPr lang="en-US" sz="1000" b="true">
                <a:solidFill>
                  <a:srgbClr val="8A8378"/>
                </a:solidFill>
                <a:latin typeface="Nunito Semi-Bold"/>
                <a:ea typeface="Nunito Semi-Bold"/>
                <a:cs typeface="Nunito Semi-Bold"/>
                <a:sym typeface="Nunito Semi-Bold"/>
              </a:rPr>
              <a:t>[20] Harper, F. M. &amp; Konstan, J. A. The MovieLens Datasets: History and Context. ACM TiiS 5(4), 19 (2015).  ·  McAuley, J. et al. Amazon Review Data (Amazon-Book). UCSD (2018).</a:t>
            </a:r>
          </a:p>
        </p:txBody>
      </p:sp>
      <p:sp>
        <p:nvSpPr>
          <p:cNvPr id="4" name="TextBox 3"/>
          <p:cNvSpPr txBox="1"/>
          <p:nvPr/>
        </p:nvSpPr>
        <p:spPr>
          <a:xfrm>
            <a:off x="16162020" y="9692640"/>
            <a:ext cx="1097280" cy="329184"/>
          </a:xfrm>
          <a:prstGeom prst="rect">
            <a:avLst/>
          </a:prstGeom>
          <a:noFill/>
        </p:spPr>
        <p:txBody>
          <a:bodyPr anchor="t" rtlCol="false" lIns="0" tIns="0" rIns="0" bIns="0" wrap="square"/>
          <a:lstStyle/>
          <a:p>
            <a:pPr algn="r">
              <a:lnSpc>
                <a:spcPts val="2200"/>
              </a:lnSpc>
              <a:spcBef>
                <a:spcPts val="0"/>
              </a:spcBef>
              <a:buNone/>
            </a:pPr>
            <a:r>
              <a:rPr lang="en-US" sz="1800" b="true">
                <a:solidFill>
                  <a:srgbClr val="111111"/>
                </a:solidFill>
                <a:latin typeface="Nunito Ultra-Bold"/>
                <a:ea typeface="Nunito Ultra-Bold"/>
                <a:cs typeface="Nunito Ultra-Bold"/>
                <a:sym typeface="Nunito Ultra-Bold"/>
              </a:rPr>
              <a:t>20</a:t>
            </a:r>
          </a:p>
        </p:txBody>
      </p:sp>
      <p:sp>
        <p:nvSpPr>
          <p:cNvPr id="5" name="TextBox 4"/>
          <p:cNvSpPr txBox="1"/>
          <p:nvPr/>
        </p:nvSpPr>
        <p:spPr>
          <a:xfrm>
            <a:off x="1028700" y="1389888"/>
            <a:ext cx="12938760" cy="329184"/>
          </a:xfrm>
          <a:prstGeom prst="rect">
            <a:avLst/>
          </a:prstGeom>
          <a:noFill/>
        </p:spPr>
        <p:txBody>
          <a:bodyPr anchor="t" rtlCol="false" lIns="0" tIns="0" rIns="0" bIns="0" wrap="square"/>
          <a:lstStyle/>
          <a:p>
            <a:pPr algn="l">
              <a:lnSpc>
                <a:spcPts val="2000"/>
              </a:lnSpc>
              <a:spcBef>
                <a:spcPts val="0"/>
              </a:spcBef>
              <a:buNone/>
            </a:pPr>
            <a:r>
              <a:rPr lang="en-US" sz="1500" b="true" spc="160">
                <a:solidFill>
                  <a:srgbClr val="1F7A8C"/>
                </a:solidFill>
                <a:latin typeface="Nunito Ultra-Bold"/>
                <a:ea typeface="Nunito Ultra-Bold"/>
                <a:cs typeface="Nunito Ultra-Bold"/>
                <a:sym typeface="Nunito Ultra-Bold"/>
              </a:rPr>
              <a:t>EXPERIMENTAL PROTOCOL</a:t>
            </a:r>
          </a:p>
        </p:txBody>
      </p:sp>
      <p:sp>
        <p:nvSpPr>
          <p:cNvPr id="6" name="Rounded Rectangle 5"/>
          <p:cNvSpPr/>
          <p:nvPr/>
        </p:nvSpPr>
        <p:spPr>
          <a:xfrm>
            <a:off x="14516100"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7" name="TextBox 6"/>
          <p:cNvSpPr txBox="1"/>
          <p:nvPr/>
        </p:nvSpPr>
        <p:spPr>
          <a:xfrm>
            <a:off x="14516100"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1</a:t>
            </a:r>
          </a:p>
        </p:txBody>
      </p:sp>
      <p:sp>
        <p:nvSpPr>
          <p:cNvPr id="8" name="Rounded Rectangle 7"/>
          <p:cNvSpPr/>
          <p:nvPr/>
        </p:nvSpPr>
        <p:spPr>
          <a:xfrm>
            <a:off x="14918436"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9" name="TextBox 8"/>
          <p:cNvSpPr txBox="1"/>
          <p:nvPr/>
        </p:nvSpPr>
        <p:spPr>
          <a:xfrm>
            <a:off x="14918436"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2</a:t>
            </a:r>
          </a:p>
        </p:txBody>
      </p:sp>
      <p:sp>
        <p:nvSpPr>
          <p:cNvPr id="10" name="Rounded Rectangle 9"/>
          <p:cNvSpPr/>
          <p:nvPr/>
        </p:nvSpPr>
        <p:spPr>
          <a:xfrm>
            <a:off x="15320772" y="1371600"/>
            <a:ext cx="329184" cy="329184"/>
          </a:xfrm>
          <a:prstGeom prst="roundRect">
            <a:avLst>
              <a:gd name="adj" fmla="val 16666"/>
            </a:avLst>
          </a:prstGeom>
          <a:solidFill>
            <a:srgbClr val="4472C4"/>
          </a:solidFill>
          <a:ln w="15875">
            <a:solidFill>
              <a:srgbClr val="4472C4"/>
            </a:solidFill>
          </a:ln>
        </p:spPr>
        <p:txBody>
          <a:bodyPr anchor="ctr" rtlCol="false" lIns="0" tIns="0" rIns="0" bIns="0" wrap="square"/>
          <a:lstStyle/>
          <a:p>
            <a:endParaRPr lang="en-US" sz="1800"/>
          </a:p>
        </p:txBody>
      </p:sp>
      <p:sp>
        <p:nvSpPr>
          <p:cNvPr id="11" name="TextBox 10"/>
          <p:cNvSpPr txBox="1"/>
          <p:nvPr/>
        </p:nvSpPr>
        <p:spPr>
          <a:xfrm>
            <a:off x="15320772"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FFFFFF"/>
                </a:solidFill>
                <a:latin typeface="Nunito Ultra-Bold"/>
                <a:ea typeface="Nunito Ultra-Bold"/>
                <a:cs typeface="Nunito Ultra-Bold"/>
                <a:sym typeface="Nunito Ultra-Bold"/>
              </a:rPr>
              <a:t>3</a:t>
            </a:r>
          </a:p>
        </p:txBody>
      </p:sp>
      <p:sp>
        <p:nvSpPr>
          <p:cNvPr id="12" name="Rounded Rectangle 11"/>
          <p:cNvSpPr/>
          <p:nvPr/>
        </p:nvSpPr>
        <p:spPr>
          <a:xfrm>
            <a:off x="15723108"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13" name="TextBox 12"/>
          <p:cNvSpPr txBox="1"/>
          <p:nvPr/>
        </p:nvSpPr>
        <p:spPr>
          <a:xfrm>
            <a:off x="15723108"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4</a:t>
            </a:r>
          </a:p>
        </p:txBody>
      </p:sp>
      <p:sp>
        <p:nvSpPr>
          <p:cNvPr id="14" name="Rounded Rectangle 13"/>
          <p:cNvSpPr/>
          <p:nvPr/>
        </p:nvSpPr>
        <p:spPr>
          <a:xfrm>
            <a:off x="16125444"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15" name="TextBox 14"/>
          <p:cNvSpPr txBox="1"/>
          <p:nvPr/>
        </p:nvSpPr>
        <p:spPr>
          <a:xfrm>
            <a:off x="16125444"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5</a:t>
            </a:r>
          </a:p>
        </p:txBody>
      </p:sp>
      <p:sp>
        <p:nvSpPr>
          <p:cNvPr id="16" name="Rounded Rectangle 15"/>
          <p:cNvSpPr/>
          <p:nvPr/>
        </p:nvSpPr>
        <p:spPr>
          <a:xfrm>
            <a:off x="16527780"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17" name="TextBox 16"/>
          <p:cNvSpPr txBox="1"/>
          <p:nvPr/>
        </p:nvSpPr>
        <p:spPr>
          <a:xfrm>
            <a:off x="16527780"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6</a:t>
            </a:r>
          </a:p>
        </p:txBody>
      </p:sp>
      <p:sp>
        <p:nvSpPr>
          <p:cNvPr id="18" name="Rounded Rectangle 17"/>
          <p:cNvSpPr/>
          <p:nvPr/>
        </p:nvSpPr>
        <p:spPr>
          <a:xfrm>
            <a:off x="16930116"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19" name="TextBox 18"/>
          <p:cNvSpPr txBox="1"/>
          <p:nvPr/>
        </p:nvSpPr>
        <p:spPr>
          <a:xfrm>
            <a:off x="16930116"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7</a:t>
            </a:r>
          </a:p>
        </p:txBody>
      </p:sp>
      <p:sp>
        <p:nvSpPr>
          <p:cNvPr id="20" name="TextBox 19"/>
          <p:cNvSpPr txBox="1"/>
          <p:nvPr/>
        </p:nvSpPr>
        <p:spPr>
          <a:xfrm>
            <a:off x="1028700" y="1719072"/>
            <a:ext cx="16230600" cy="730250"/>
          </a:xfrm>
          <a:prstGeom prst="rect">
            <a:avLst/>
          </a:prstGeom>
          <a:noFill/>
        </p:spPr>
        <p:txBody>
          <a:bodyPr anchor="t" rtlCol="false" lIns="0" tIns="0" rIns="0" bIns="0" wrap="square"/>
          <a:lstStyle/>
          <a:p>
            <a:pPr algn="l">
              <a:lnSpc>
                <a:spcPts val="5060"/>
              </a:lnSpc>
              <a:spcBef>
                <a:spcPts val="0"/>
              </a:spcBef>
              <a:buNone/>
            </a:pPr>
            <a:r>
              <a:rPr lang="en-US" sz="4600" b="true" spc="-230">
                <a:solidFill>
                  <a:srgbClr val="111111"/>
                </a:solidFill>
                <a:latin typeface="Roca Two Bold"/>
                <a:ea typeface="Roca Two Bold"/>
                <a:cs typeface="Roca Two Bold"/>
                <a:sym typeface="Roca Two Bold"/>
              </a:rPr>
              <a:t>MovieLens-1M</a:t>
            </a:r>
          </a:p>
        </p:txBody>
      </p:sp>
      <p:sp>
        <p:nvSpPr>
          <p:cNvPr id="21" name="Rounded Rectangle 20"/>
          <p:cNvSpPr/>
          <p:nvPr/>
        </p:nvSpPr>
        <p:spPr>
          <a:xfrm>
            <a:off x="1028700" y="2559050"/>
            <a:ext cx="1523907" cy="420624"/>
          </a:xfrm>
          <a:prstGeom prst="roundRect">
            <a:avLst>
              <a:gd name="adj" fmla="val 50000"/>
            </a:avLst>
          </a:prstGeom>
          <a:solidFill>
            <a:srgbClr val="4472C4"/>
          </a:solidFill>
          <a:ln>
            <a:noFill/>
          </a:ln>
        </p:spPr>
        <p:txBody>
          <a:bodyPr anchor="ctr" rtlCol="false" lIns="45720" tIns="0" rIns="45720" bIns="0" wrap="square"/>
          <a:lstStyle/>
          <a:p>
            <a:pPr algn="ctr">
              <a:lnSpc>
                <a:spcPts val="2160"/>
              </a:lnSpc>
              <a:spcBef>
                <a:spcPts val="0"/>
              </a:spcBef>
              <a:buNone/>
            </a:pPr>
            <a:r>
              <a:rPr lang="en-US" sz="1800" b="true">
                <a:solidFill>
                  <a:srgbClr val="FFFFFF"/>
                </a:solidFill>
                <a:latin typeface="Nunito Bold"/>
                <a:ea typeface="Nunito Bold"/>
                <a:cs typeface="Nunito Bold"/>
                <a:sym typeface="Nunito Bold"/>
              </a:rPr>
              <a:t>Datasets</a:t>
            </a:r>
          </a:p>
        </p:txBody>
      </p:sp>
      <p:sp>
        <p:nvSpPr>
          <p:cNvPr id="22" name="Rounded Rectangle 21"/>
          <p:cNvSpPr/>
          <p:nvPr/>
        </p:nvSpPr>
        <p:spPr>
          <a:xfrm>
            <a:off x="2680623" y="2559050"/>
            <a:ext cx="1349432" cy="420624"/>
          </a:xfrm>
          <a:prstGeom prst="roundRect">
            <a:avLst>
              <a:gd name="adj" fmla="val 50000"/>
            </a:avLst>
          </a:prstGeom>
          <a:noFill/>
          <a:ln w="28575">
            <a:solidFill>
              <a:srgbClr val="4472C4"/>
            </a:solidFill>
          </a:ln>
        </p:spPr>
        <p:txBody>
          <a:bodyPr anchor="ctr" rtlCol="false" lIns="45720" tIns="0" rIns="45720" bIns="0" wrap="square"/>
          <a:lstStyle/>
          <a:p>
            <a:pPr algn="ctr">
              <a:lnSpc>
                <a:spcPts val="2160"/>
              </a:lnSpc>
              <a:spcBef>
                <a:spcPts val="0"/>
              </a:spcBef>
              <a:buNone/>
            </a:pPr>
            <a:r>
              <a:rPr lang="en-US" sz="1800" b="true">
                <a:solidFill>
                  <a:srgbClr val="4472C4"/>
                </a:solidFill>
                <a:latin typeface="Nunito Bold"/>
                <a:ea typeface="Nunito Bold"/>
                <a:cs typeface="Nunito Bold"/>
                <a:sym typeface="Nunito Bold"/>
              </a:rPr>
              <a:t>Metrics</a:t>
            </a:r>
          </a:p>
        </p:txBody>
      </p:sp>
      <p:sp>
        <p:nvSpPr>
          <p:cNvPr id="23" name="Rounded Rectangle 22"/>
          <p:cNvSpPr/>
          <p:nvPr/>
        </p:nvSpPr>
        <p:spPr>
          <a:xfrm>
            <a:off x="4158071" y="2559050"/>
            <a:ext cx="1642577" cy="420624"/>
          </a:xfrm>
          <a:prstGeom prst="roundRect">
            <a:avLst>
              <a:gd name="adj" fmla="val 50000"/>
            </a:avLst>
          </a:prstGeom>
          <a:noFill/>
          <a:ln w="28575">
            <a:solidFill>
              <a:srgbClr val="4472C4"/>
            </a:solidFill>
          </a:ln>
        </p:spPr>
        <p:txBody>
          <a:bodyPr anchor="ctr" rtlCol="false" lIns="45720" tIns="0" rIns="45720" bIns="0" wrap="square"/>
          <a:lstStyle/>
          <a:p>
            <a:pPr algn="ctr">
              <a:lnSpc>
                <a:spcPts val="2160"/>
              </a:lnSpc>
              <a:spcBef>
                <a:spcPts val="0"/>
              </a:spcBef>
              <a:buNone/>
            </a:pPr>
            <a:r>
              <a:rPr lang="en-US" sz="1800" b="true">
                <a:solidFill>
                  <a:srgbClr val="4472C4"/>
                </a:solidFill>
                <a:latin typeface="Nunito Bold"/>
                <a:ea typeface="Nunito Bold"/>
                <a:cs typeface="Nunito Bold"/>
                <a:sym typeface="Nunito Bold"/>
              </a:rPr>
              <a:t>Hardware</a:t>
            </a:r>
          </a:p>
        </p:txBody>
      </p:sp>
      <p:sp>
        <p:nvSpPr>
          <p:cNvPr id="24" name="TextBox 23"/>
          <p:cNvSpPr txBox="1"/>
          <p:nvPr/>
        </p:nvSpPr>
        <p:spPr>
          <a:xfrm>
            <a:off x="1028700" y="3363722"/>
            <a:ext cx="6949440" cy="2743200"/>
          </a:xfrm>
          <a:prstGeom prst="rect">
            <a:avLst/>
          </a:prstGeom>
          <a:noFill/>
        </p:spPr>
        <p:txBody>
          <a:bodyPr anchor="t" rtlCol="false" lIns="0" tIns="0" rIns="0" bIns="0" wrap="square"/>
          <a:lstStyle/>
          <a:p>
            <a:pPr algn="l" marL="274320" indent="-274320">
              <a:lnSpc>
                <a:spcPts val="2660"/>
              </a:lnSpc>
              <a:spcBef>
                <a:spcPts val="0"/>
              </a:spcBef>
              <a:buClr>
                <a:srgbClr val="1F7A8C"/>
              </a:buClr>
              <a:buSzPct val="100000"/>
              <a:buFont typeface="Arial"/>
              <a:buChar char="•"/>
            </a:pPr>
            <a:r>
              <a:rPr lang="en-US" sz="1900" b="true">
                <a:solidFill>
                  <a:srgbClr val="111111"/>
                </a:solidFill>
                <a:latin typeface="Nunito Bold"/>
                <a:ea typeface="Nunito Bold"/>
                <a:cs typeface="Nunito Bold"/>
                <a:sym typeface="Nunito Bold"/>
              </a:rPr>
              <a:t>About 1 million ratings</a:t>
            </a:r>
            <a:r>
              <a:rPr lang="en-US" sz="1900" b="true">
                <a:solidFill>
                  <a:srgbClr val="111111"/>
                </a:solidFill>
                <a:latin typeface="Nunito Semi-Bold"/>
                <a:ea typeface="Nunito Semi-Bold"/>
                <a:cs typeface="Nunito Semi-Bold"/>
                <a:sym typeface="Nunito Semi-Bold"/>
              </a:rPr>
              <a:t> from </a:t>
            </a:r>
            <a:r>
              <a:rPr lang="en-US" sz="1900" b="true">
                <a:solidFill>
                  <a:srgbClr val="111111"/>
                </a:solidFill>
                <a:latin typeface="Nunito Bold"/>
                <a:ea typeface="Nunito Bold"/>
                <a:cs typeface="Nunito Bold"/>
                <a:sym typeface="Nunito Bold"/>
              </a:rPr>
              <a:t>6,040 users</a:t>
            </a:r>
            <a:r>
              <a:rPr lang="en-US" sz="1900" b="true">
                <a:solidFill>
                  <a:srgbClr val="111111"/>
                </a:solidFill>
                <a:latin typeface="Nunito Semi-Bold"/>
                <a:ea typeface="Nunito Semi-Bold"/>
                <a:cs typeface="Nunito Semi-Bold"/>
                <a:sym typeface="Nunito Semi-Bold"/>
              </a:rPr>
              <a:t> on </a:t>
            </a:r>
            <a:r>
              <a:rPr lang="en-US" sz="1900" b="true">
                <a:solidFill>
                  <a:srgbClr val="111111"/>
                </a:solidFill>
                <a:latin typeface="Nunito Bold"/>
                <a:ea typeface="Nunito Bold"/>
                <a:cs typeface="Nunito Bold"/>
                <a:sym typeface="Nunito Bold"/>
              </a:rPr>
              <a:t>3,706 movies</a:t>
            </a:r>
            <a:r>
              <a:rPr lang="en-US" sz="1900" b="true">
                <a:solidFill>
                  <a:srgbClr val="111111"/>
                </a:solidFill>
                <a:latin typeface="Nunito Semi-Bold"/>
                <a:ea typeface="Nunito Semi-Bold"/>
                <a:cs typeface="Nunito Semi-Bold"/>
                <a:sym typeface="Nunito Semi-Bold"/>
              </a:rPr>
              <a:t> (GroupLens, 2000).</a:t>
            </a:r>
          </a:p>
          <a:p>
            <a:pPr algn="l" marL="274320" indent="-274320">
              <a:lnSpc>
                <a:spcPts val="2660"/>
              </a:lnSpc>
              <a:spcBef>
                <a:spcPts val="800"/>
              </a:spcBef>
              <a:buClr>
                <a:srgbClr val="1F7A8C"/>
              </a:buClr>
              <a:buSzPct val="100000"/>
              <a:buFont typeface="Arial"/>
              <a:buChar char="•"/>
            </a:pPr>
            <a:r>
              <a:rPr lang="en-US" sz="1900" b="true">
                <a:solidFill>
                  <a:srgbClr val="111111"/>
                </a:solidFill>
                <a:latin typeface="Nunito Semi-Bold"/>
                <a:ea typeface="Nunito Semi-Bold"/>
                <a:cs typeface="Nunito Semi-Bold"/>
                <a:sym typeface="Nunito Semi-Bold"/>
              </a:rPr>
              <a:t>The standard benchmark for collaborative filtering for two decades: LightGCN, HCCF, HPCF and most graph recommenders report on it.</a:t>
            </a:r>
          </a:p>
          <a:p>
            <a:pPr algn="l" marL="274320" indent="-274320">
              <a:lnSpc>
                <a:spcPts val="2660"/>
              </a:lnSpc>
              <a:spcBef>
                <a:spcPts val="800"/>
              </a:spcBef>
              <a:buClr>
                <a:srgbClr val="1F7A8C"/>
              </a:buClr>
              <a:buSzPct val="100000"/>
              <a:buFont typeface="Arial"/>
              <a:buChar char="•"/>
            </a:pPr>
            <a:r>
              <a:rPr lang="en-US" sz="1900" b="true">
                <a:solidFill>
                  <a:srgbClr val="111111"/>
                </a:solidFill>
                <a:latin typeface="Nunito Semi-Bold"/>
                <a:ea typeface="Nunito Semi-Bold"/>
                <a:cs typeface="Nunito Semi-Bold"/>
                <a:sym typeface="Nunito Semi-Bold"/>
              </a:rPr>
              <a:t>Comparatively </a:t>
            </a:r>
            <a:r>
              <a:rPr lang="en-US" sz="1900" b="true">
                <a:solidFill>
                  <a:srgbClr val="111111"/>
                </a:solidFill>
                <a:latin typeface="Nunito Bold"/>
                <a:ea typeface="Nunito Bold"/>
                <a:cs typeface="Nunito Bold"/>
                <a:sym typeface="Nunito Bold"/>
              </a:rPr>
              <a:t>dense</a:t>
            </a:r>
            <a:r>
              <a:rPr lang="en-US" sz="1900" b="true">
                <a:solidFill>
                  <a:srgbClr val="111111"/>
                </a:solidFill>
                <a:latin typeface="Nunito Semi-Bold"/>
                <a:ea typeface="Nunito Semi-Bold"/>
                <a:cs typeface="Nunito Semi-Bold"/>
                <a:sym typeface="Nunito Semi-Bold"/>
              </a:rPr>
              <a:t> (0.0447); ratings &gt; 3 become positive implicit feedback. Genre is the context proxy.</a:t>
            </a:r>
          </a:p>
        </p:txBody>
      </p:sp>
      <p:graphicFrame>
        <p:nvGraphicFramePr>
          <p:cNvPr id="25" name="Table 24"/>
          <p:cNvGraphicFramePr>
            <a:graphicFrameLocks noGrp="1"/>
          </p:cNvGraphicFramePr>
          <p:nvPr/>
        </p:nvGraphicFramePr>
        <p:xfrm>
          <a:off x="8435340" y="3363722"/>
          <a:ext cx="8823959" cy="3228848"/>
        </p:xfrm>
        <a:graphic>
          <a:graphicData uri="http://schemas.openxmlformats.org/drawingml/2006/table">
            <a:tbl>
              <a:tblPr firstRow="0" bandRow="0" firstCol="0" lastRow="0" lastCol="0" bandCol="0">
                <a:tableStyleId>{2D5ABB26-0587-4C30-8999-92F81FD0307C}</a:tableStyleId>
              </a:tblPr>
              <a:tblGrid>
                <a:gridCol w="4622074"/>
                <a:gridCol w="4201885"/>
              </a:tblGrid>
              <a:tr h="461264">
                <a:tc>
                  <a:txBody>
                    <a:bodyPr anchor="ctr" rtlCol="false" lIns="0" tIns="0" rIns="0" bIns="0" wrap="square"/>
                    <a:lstStyle/>
                    <a:p>
                      <a:pPr algn="l">
                        <a:lnSpc>
                          <a:spcPts val="2080"/>
                        </a:lnSpc>
                        <a:spcBef>
                          <a:spcPts val="0"/>
                        </a:spcBef>
                        <a:buNone/>
                      </a:pPr>
                      <a:r>
                        <a:rPr lang="en-US" sz="1600" b="true">
                          <a:solidFill>
                            <a:srgbClr val="FFFFFF"/>
                          </a:solidFill>
                          <a:latin typeface="Nunito Bold"/>
                          <a:ea typeface="Nunito Bold"/>
                          <a:cs typeface="Nunito Bold"/>
                          <a:sym typeface="Nunito Bold"/>
                        </a:rPr>
                        <a:t>Specification</a:t>
                      </a:r>
                    </a:p>
                  </a:txBody>
                  <a:tcPr marL="73152" marR="73152" marT="45720" marB="45720" anchor="ctr">
                    <a:lnL w="12700" cap="flat" cmpd="sng" algn="ctr">
                      <a:solidFill>
                        <a:srgbClr val="4472C4"/>
                      </a:solidFill>
                      <a:prstDash val="solid"/>
                    </a:lnL>
                    <a:lnR w="12700" cap="flat" cmpd="sng" algn="ctr">
                      <a:solidFill>
                        <a:srgbClr val="4472C4"/>
                      </a:solidFill>
                      <a:prstDash val="solid"/>
                    </a:lnR>
                    <a:lnT w="12700" cap="flat" cmpd="sng" algn="ctr">
                      <a:solidFill>
                        <a:srgbClr val="4472C4"/>
                      </a:solidFill>
                      <a:prstDash val="solid"/>
                    </a:lnT>
                    <a:lnB w="12700" cap="flat" cmpd="sng" algn="ctr">
                      <a:solidFill>
                        <a:srgbClr val="4472C4"/>
                      </a:solidFill>
                      <a:prstDash val="solid"/>
                    </a:lnB>
                    <a:solidFill>
                      <a:srgbClr val="4472C4"/>
                    </a:solidFill>
                  </a:tcPr>
                </a:tc>
                <a:tc>
                  <a:txBody>
                    <a:bodyPr anchor="ctr" rtlCol="false" lIns="0" tIns="0" rIns="0" bIns="0" wrap="square"/>
                    <a:lstStyle/>
                    <a:p>
                      <a:pPr algn="l">
                        <a:lnSpc>
                          <a:spcPts val="2080"/>
                        </a:lnSpc>
                        <a:spcBef>
                          <a:spcPts val="0"/>
                        </a:spcBef>
                        <a:buNone/>
                      </a:pPr>
                      <a:r>
                        <a:rPr lang="en-US" sz="1600" b="true">
                          <a:solidFill>
                            <a:srgbClr val="FFFFFF"/>
                          </a:solidFill>
                          <a:latin typeface="Nunito Bold"/>
                          <a:ea typeface="Nunito Bold"/>
                          <a:cs typeface="Nunito Bold"/>
                          <a:sym typeface="Nunito Bold"/>
                        </a:rPr>
                        <a:t>MovieLens-1M</a:t>
                      </a:r>
                    </a:p>
                  </a:txBody>
                  <a:tcPr marL="73152" marR="73152" marT="45720" marB="45720" anchor="ctr">
                    <a:lnL w="12700" cap="flat" cmpd="sng" algn="ctr">
                      <a:solidFill>
                        <a:srgbClr val="4472C4"/>
                      </a:solidFill>
                      <a:prstDash val="solid"/>
                    </a:lnL>
                    <a:lnR w="12700" cap="flat" cmpd="sng" algn="ctr">
                      <a:solidFill>
                        <a:srgbClr val="4472C4"/>
                      </a:solidFill>
                      <a:prstDash val="solid"/>
                    </a:lnR>
                    <a:lnT w="12700" cap="flat" cmpd="sng" algn="ctr">
                      <a:solidFill>
                        <a:srgbClr val="4472C4"/>
                      </a:solidFill>
                      <a:prstDash val="solid"/>
                    </a:lnT>
                    <a:lnB w="12700" cap="flat" cmpd="sng" algn="ctr">
                      <a:solidFill>
                        <a:srgbClr val="4472C4"/>
                      </a:solidFill>
                      <a:prstDash val="solid"/>
                    </a:lnB>
                    <a:solidFill>
                      <a:srgbClr val="4472C4"/>
                    </a:solidFill>
                  </a:tcPr>
                </a:tc>
              </a:tr>
              <a:tr h="461264">
                <a:tc>
                  <a:txBody>
                    <a:bodyPr anchor="ctr" rtlCol="false" lIns="0" tIns="0" rIns="0" bIns="0" wrap="square"/>
                    <a:lstStyle/>
                    <a:p>
                      <a:pPr algn="l">
                        <a:lnSpc>
                          <a:spcPts val="2080"/>
                        </a:lnSpc>
                        <a:spcBef>
                          <a:spcPts val="0"/>
                        </a:spcBef>
                        <a:buNone/>
                      </a:pPr>
                      <a:r>
                        <a:rPr lang="en-US" sz="1600" b="true">
                          <a:solidFill>
                            <a:srgbClr val="111111"/>
                          </a:solidFill>
                          <a:latin typeface="Nunito Bold"/>
                          <a:ea typeface="Nunito Bold"/>
                          <a:cs typeface="Nunito Bold"/>
                          <a:sym typeface="Nunito Bold"/>
                        </a:rPr>
                        <a:t>Users</a:t>
                      </a:r>
                    </a:p>
                  </a:txBody>
                  <a:tcPr marL="73152" marR="73152"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c>
                  <a:txBody>
                    <a:bodyPr anchor="ctr" rtlCol="false" lIns="0" tIns="0" rIns="0" bIns="0" wrap="square"/>
                    <a:lstStyle/>
                    <a:p>
                      <a:pPr algn="l">
                        <a:lnSpc>
                          <a:spcPts val="2080"/>
                        </a:lnSpc>
                        <a:spcBef>
                          <a:spcPts val="0"/>
                        </a:spcBef>
                        <a:buNone/>
                      </a:pPr>
                      <a:r>
                        <a:rPr lang="en-US" sz="1600" b="true">
                          <a:solidFill>
                            <a:srgbClr val="111111"/>
                          </a:solidFill>
                          <a:latin typeface="Nunito Semi-Bold"/>
                          <a:ea typeface="Nunito Semi-Bold"/>
                          <a:cs typeface="Nunito Semi-Bold"/>
                          <a:sym typeface="Nunito Semi-Bold"/>
                        </a:rPr>
                        <a:t>6,040</a:t>
                      </a:r>
                    </a:p>
                  </a:txBody>
                  <a:tcPr marL="73152" marR="73152"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r>
              <a:tr h="461264">
                <a:tc>
                  <a:txBody>
                    <a:bodyPr anchor="ctr" rtlCol="false" lIns="0" tIns="0" rIns="0" bIns="0" wrap="square"/>
                    <a:lstStyle/>
                    <a:p>
                      <a:pPr algn="l">
                        <a:lnSpc>
                          <a:spcPts val="2080"/>
                        </a:lnSpc>
                        <a:spcBef>
                          <a:spcPts val="0"/>
                        </a:spcBef>
                        <a:buNone/>
                      </a:pPr>
                      <a:r>
                        <a:rPr lang="en-US" sz="1600" b="true">
                          <a:solidFill>
                            <a:srgbClr val="111111"/>
                          </a:solidFill>
                          <a:latin typeface="Nunito Bold"/>
                          <a:ea typeface="Nunito Bold"/>
                          <a:cs typeface="Nunito Bold"/>
                          <a:sym typeface="Nunito Bold"/>
                        </a:rPr>
                        <a:t>Items</a:t>
                      </a:r>
                    </a:p>
                  </a:txBody>
                  <a:tcPr marL="73152" marR="73152"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6ECDF"/>
                    </a:solidFill>
                  </a:tcPr>
                </a:tc>
                <a:tc>
                  <a:txBody>
                    <a:bodyPr anchor="ctr" rtlCol="false" lIns="0" tIns="0" rIns="0" bIns="0" wrap="square"/>
                    <a:lstStyle/>
                    <a:p>
                      <a:pPr algn="l">
                        <a:lnSpc>
                          <a:spcPts val="2080"/>
                        </a:lnSpc>
                        <a:spcBef>
                          <a:spcPts val="0"/>
                        </a:spcBef>
                        <a:buNone/>
                      </a:pPr>
                      <a:r>
                        <a:rPr lang="en-US" sz="1600" b="true">
                          <a:solidFill>
                            <a:srgbClr val="111111"/>
                          </a:solidFill>
                          <a:latin typeface="Nunito Semi-Bold"/>
                          <a:ea typeface="Nunito Semi-Bold"/>
                          <a:cs typeface="Nunito Semi-Bold"/>
                          <a:sym typeface="Nunito Semi-Bold"/>
                        </a:rPr>
                        <a:t>3,706 movies</a:t>
                      </a:r>
                    </a:p>
                  </a:txBody>
                  <a:tcPr marL="73152" marR="73152"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6ECDF"/>
                    </a:solidFill>
                  </a:tcPr>
                </a:tc>
              </a:tr>
              <a:tr h="461264">
                <a:tc>
                  <a:txBody>
                    <a:bodyPr anchor="ctr" rtlCol="false" lIns="0" tIns="0" rIns="0" bIns="0" wrap="square"/>
                    <a:lstStyle/>
                    <a:p>
                      <a:pPr algn="l">
                        <a:lnSpc>
                          <a:spcPts val="2080"/>
                        </a:lnSpc>
                        <a:spcBef>
                          <a:spcPts val="0"/>
                        </a:spcBef>
                        <a:buNone/>
                      </a:pPr>
                      <a:r>
                        <a:rPr lang="en-US" sz="1600" b="true">
                          <a:solidFill>
                            <a:srgbClr val="111111"/>
                          </a:solidFill>
                          <a:latin typeface="Nunito Bold"/>
                          <a:ea typeface="Nunito Bold"/>
                          <a:cs typeface="Nunito Bold"/>
                          <a:sym typeface="Nunito Bold"/>
                        </a:rPr>
                        <a:t>Interactions</a:t>
                      </a:r>
                    </a:p>
                  </a:txBody>
                  <a:tcPr marL="73152" marR="73152"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c>
                  <a:txBody>
                    <a:bodyPr anchor="ctr" rtlCol="false" lIns="0" tIns="0" rIns="0" bIns="0" wrap="square"/>
                    <a:lstStyle/>
                    <a:p>
                      <a:pPr algn="l">
                        <a:lnSpc>
                          <a:spcPts val="2080"/>
                        </a:lnSpc>
                        <a:spcBef>
                          <a:spcPts val="0"/>
                        </a:spcBef>
                        <a:buNone/>
                      </a:pPr>
                      <a:r>
                        <a:rPr lang="en-US" sz="1600" b="true">
                          <a:solidFill>
                            <a:srgbClr val="111111"/>
                          </a:solidFill>
                          <a:latin typeface="Nunito Semi-Bold"/>
                          <a:ea typeface="Nunito Semi-Bold"/>
                          <a:cs typeface="Nunito Semi-Bold"/>
                          <a:sym typeface="Nunito Semi-Bold"/>
                        </a:rPr>
                        <a:t>1,000,209</a:t>
                      </a:r>
                    </a:p>
                  </a:txBody>
                  <a:tcPr marL="73152" marR="73152"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r>
              <a:tr h="461264">
                <a:tc>
                  <a:txBody>
                    <a:bodyPr anchor="ctr" rtlCol="false" lIns="0" tIns="0" rIns="0" bIns="0" wrap="square"/>
                    <a:lstStyle/>
                    <a:p>
                      <a:pPr algn="l">
                        <a:lnSpc>
                          <a:spcPts val="2080"/>
                        </a:lnSpc>
                        <a:spcBef>
                          <a:spcPts val="0"/>
                        </a:spcBef>
                        <a:buNone/>
                      </a:pPr>
                      <a:r>
                        <a:rPr lang="en-US" sz="1600" b="true">
                          <a:solidFill>
                            <a:srgbClr val="111111"/>
                          </a:solidFill>
                          <a:latin typeface="Nunito Bold"/>
                          <a:ea typeface="Nunito Bold"/>
                          <a:cs typeface="Nunito Bold"/>
                          <a:sym typeface="Nunito Bold"/>
                        </a:rPr>
                        <a:t>Density</a:t>
                      </a:r>
                    </a:p>
                  </a:txBody>
                  <a:tcPr marL="73152" marR="73152"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6ECDF"/>
                    </a:solidFill>
                  </a:tcPr>
                </a:tc>
                <a:tc>
                  <a:txBody>
                    <a:bodyPr anchor="ctr" rtlCol="false" lIns="0" tIns="0" rIns="0" bIns="0" wrap="square"/>
                    <a:lstStyle/>
                    <a:p>
                      <a:pPr algn="l">
                        <a:lnSpc>
                          <a:spcPts val="2080"/>
                        </a:lnSpc>
                        <a:spcBef>
                          <a:spcPts val="0"/>
                        </a:spcBef>
                        <a:buNone/>
                      </a:pPr>
                      <a:r>
                        <a:rPr lang="en-US" sz="1600" b="true">
                          <a:solidFill>
                            <a:srgbClr val="111111"/>
                          </a:solidFill>
                          <a:latin typeface="Nunito Semi-Bold"/>
                          <a:ea typeface="Nunito Semi-Bold"/>
                          <a:cs typeface="Nunito Semi-Bold"/>
                          <a:sym typeface="Nunito Semi-Bold"/>
                        </a:rPr>
                        <a:t>≈ 0.0447</a:t>
                      </a:r>
                    </a:p>
                  </a:txBody>
                  <a:tcPr marL="73152" marR="73152"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6ECDF"/>
                    </a:solidFill>
                  </a:tcPr>
                </a:tc>
              </a:tr>
              <a:tr h="461264">
                <a:tc>
                  <a:txBody>
                    <a:bodyPr anchor="ctr" rtlCol="false" lIns="0" tIns="0" rIns="0" bIns="0" wrap="square"/>
                    <a:lstStyle/>
                    <a:p>
                      <a:pPr algn="l">
                        <a:lnSpc>
                          <a:spcPts val="2080"/>
                        </a:lnSpc>
                        <a:spcBef>
                          <a:spcPts val="0"/>
                        </a:spcBef>
                        <a:buNone/>
                      </a:pPr>
                      <a:r>
                        <a:rPr lang="en-US" sz="1600" b="true">
                          <a:solidFill>
                            <a:srgbClr val="111111"/>
                          </a:solidFill>
                          <a:latin typeface="Nunito Bold"/>
                          <a:ea typeface="Nunito Bold"/>
                          <a:cs typeface="Nunito Bold"/>
                          <a:sym typeface="Nunito Bold"/>
                        </a:rPr>
                        <a:t>Rating scale</a:t>
                      </a:r>
                    </a:p>
                  </a:txBody>
                  <a:tcPr marL="73152" marR="73152"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c>
                  <a:txBody>
                    <a:bodyPr anchor="ctr" rtlCol="false" lIns="0" tIns="0" rIns="0" bIns="0" wrap="square"/>
                    <a:lstStyle/>
                    <a:p>
                      <a:pPr algn="l">
                        <a:lnSpc>
                          <a:spcPts val="2080"/>
                        </a:lnSpc>
                        <a:spcBef>
                          <a:spcPts val="0"/>
                        </a:spcBef>
                        <a:buNone/>
                      </a:pPr>
                      <a:r>
                        <a:rPr lang="en-US" sz="1600" b="true">
                          <a:solidFill>
                            <a:srgbClr val="111111"/>
                          </a:solidFill>
                          <a:latin typeface="Nunito Semi-Bold"/>
                          <a:ea typeface="Nunito Semi-Bold"/>
                          <a:cs typeface="Nunito Semi-Bold"/>
                          <a:sym typeface="Nunito Semi-Bold"/>
                        </a:rPr>
                        <a:t>1 to 5 stars</a:t>
                      </a:r>
                    </a:p>
                  </a:txBody>
                  <a:tcPr marL="73152" marR="73152"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r>
              <a:tr h="461264">
                <a:tc>
                  <a:txBody>
                    <a:bodyPr anchor="ctr" rtlCol="false" lIns="0" tIns="0" rIns="0" bIns="0" wrap="square"/>
                    <a:lstStyle/>
                    <a:p>
                      <a:pPr algn="l">
                        <a:lnSpc>
                          <a:spcPts val="2080"/>
                        </a:lnSpc>
                        <a:spcBef>
                          <a:spcPts val="0"/>
                        </a:spcBef>
                        <a:buNone/>
                      </a:pPr>
                      <a:r>
                        <a:rPr lang="en-US" sz="1600" b="true">
                          <a:solidFill>
                            <a:srgbClr val="111111"/>
                          </a:solidFill>
                          <a:latin typeface="Nunito Bold"/>
                          <a:ea typeface="Nunito Bold"/>
                          <a:cs typeface="Nunito Bold"/>
                          <a:sym typeface="Nunito Bold"/>
                        </a:rPr>
                        <a:t>Min. interactions / user</a:t>
                      </a:r>
                    </a:p>
                  </a:txBody>
                  <a:tcPr marL="73152" marR="73152"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6ECDF"/>
                    </a:solidFill>
                  </a:tcPr>
                </a:tc>
                <a:tc>
                  <a:txBody>
                    <a:bodyPr anchor="ctr" rtlCol="false" lIns="0" tIns="0" rIns="0" bIns="0" wrap="square"/>
                    <a:lstStyle/>
                    <a:p>
                      <a:pPr algn="l">
                        <a:lnSpc>
                          <a:spcPts val="2080"/>
                        </a:lnSpc>
                        <a:spcBef>
                          <a:spcPts val="0"/>
                        </a:spcBef>
                        <a:buNone/>
                      </a:pPr>
                      <a:r>
                        <a:rPr lang="en-US" sz="1600" b="true">
                          <a:solidFill>
                            <a:srgbClr val="111111"/>
                          </a:solidFill>
                          <a:latin typeface="Nunito Semi-Bold"/>
                          <a:ea typeface="Nunito Semi-Bold"/>
                          <a:cs typeface="Nunito Semi-Bold"/>
                          <a:sym typeface="Nunito Semi-Bold"/>
                        </a:rPr>
                        <a:t>20</a:t>
                      </a:r>
                    </a:p>
                  </a:txBody>
                  <a:tcPr marL="73152" marR="73152"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6ECDF"/>
                    </a:solidFill>
                  </a:tcPr>
                </a:tc>
              </a:tr>
            </a:tbl>
          </a:graphicData>
        </a:graphic>
      </p:graphicFrame>
      <p:sp>
        <p:nvSpPr>
          <p:cNvPr id="26" name="TextBox 25"/>
          <p:cNvSpPr txBox="1"/>
          <p:nvPr/>
        </p:nvSpPr>
        <p:spPr>
          <a:xfrm>
            <a:off x="1028700" y="6912610"/>
            <a:ext cx="16230600" cy="320040"/>
          </a:xfrm>
          <a:prstGeom prst="rect">
            <a:avLst/>
          </a:prstGeom>
          <a:noFill/>
        </p:spPr>
        <p:txBody>
          <a:bodyPr anchor="t" rtlCol="false" lIns="0" tIns="0" rIns="0" bIns="0" wrap="square"/>
          <a:lstStyle/>
          <a:p>
            <a:pPr algn="l">
              <a:lnSpc>
                <a:spcPts val="1600"/>
              </a:lnSpc>
              <a:spcBef>
                <a:spcPts val="0"/>
              </a:spcBef>
              <a:buNone/>
            </a:pPr>
            <a:r>
              <a:rPr lang="en-US" sz="1300" b="true" spc="150">
                <a:solidFill>
                  <a:srgbClr val="1F7A8C"/>
                </a:solidFill>
                <a:latin typeface="Nunito Ultra-Bold"/>
                <a:ea typeface="Nunito Ultra-Bold"/>
                <a:cs typeface="Nunito Ultra-Bold"/>
                <a:sym typeface="Nunito Ultra-Bold"/>
              </a:rPr>
              <a:t>SAMPLE RECORDS  ·  first rows of ratings.dat joined with movies.dat</a:t>
            </a:r>
          </a:p>
        </p:txBody>
      </p:sp>
      <p:graphicFrame>
        <p:nvGraphicFramePr>
          <p:cNvPr id="27" name="Table 26"/>
          <p:cNvGraphicFramePr>
            <a:graphicFrameLocks noGrp="1"/>
          </p:cNvGraphicFramePr>
          <p:nvPr/>
        </p:nvGraphicFramePr>
        <p:xfrm>
          <a:off x="1028700" y="7260082"/>
          <a:ext cx="16230597" cy="2132330"/>
        </p:xfrm>
        <a:graphic>
          <a:graphicData uri="http://schemas.openxmlformats.org/drawingml/2006/table">
            <a:tbl>
              <a:tblPr firstRow="0" bandRow="0" firstCol="0" lastRow="0" lastCol="0" bandCol="0">
                <a:tableStyleId>{2D5ABB26-0587-4C30-8999-92F81FD0307C}</a:tableStyleId>
              </a:tblPr>
              <a:tblGrid>
                <a:gridCol w="1363915"/>
                <a:gridCol w="1363915"/>
                <a:gridCol w="5728447"/>
                <a:gridCol w="4637314"/>
                <a:gridCol w="1227524"/>
                <a:gridCol w="1909482"/>
              </a:tblGrid>
              <a:tr h="426466">
                <a:tc>
                  <a:txBody>
                    <a:bodyPr anchor="ctr" rtlCol="false" lIns="0" tIns="0" rIns="0" bIns="0" wrap="square"/>
                    <a:lstStyle/>
                    <a:p>
                      <a:pPr algn="ctr">
                        <a:lnSpc>
                          <a:spcPts val="1950"/>
                        </a:lnSpc>
                        <a:spcBef>
                          <a:spcPts val="0"/>
                        </a:spcBef>
                        <a:buNone/>
                      </a:pPr>
                      <a:r>
                        <a:rPr lang="en-US" sz="1500" b="true">
                          <a:solidFill>
                            <a:srgbClr val="FFFFFF"/>
                          </a:solidFill>
                          <a:latin typeface="Nunito Bold"/>
                          <a:ea typeface="Nunito Bold"/>
                          <a:cs typeface="Nunito Bold"/>
                          <a:sym typeface="Nunito Bold"/>
                        </a:rPr>
                        <a:t>UserID</a:t>
                      </a:r>
                    </a:p>
                  </a:txBody>
                  <a:tcPr marL="64008" marR="64008" marT="45720" marB="45720" anchor="ctr">
                    <a:lnL w="12700" cap="flat" cmpd="sng" algn="ctr">
                      <a:solidFill>
                        <a:srgbClr val="4472C4"/>
                      </a:solidFill>
                      <a:prstDash val="solid"/>
                    </a:lnL>
                    <a:lnR w="12700" cap="flat" cmpd="sng" algn="ctr">
                      <a:solidFill>
                        <a:srgbClr val="4472C4"/>
                      </a:solidFill>
                      <a:prstDash val="solid"/>
                    </a:lnR>
                    <a:lnT w="12700" cap="flat" cmpd="sng" algn="ctr">
                      <a:solidFill>
                        <a:srgbClr val="4472C4"/>
                      </a:solidFill>
                      <a:prstDash val="solid"/>
                    </a:lnT>
                    <a:lnB w="12700" cap="flat" cmpd="sng" algn="ctr">
                      <a:solidFill>
                        <a:srgbClr val="4472C4"/>
                      </a:solidFill>
                      <a:prstDash val="solid"/>
                    </a:lnB>
                    <a:solidFill>
                      <a:srgbClr val="4472C4"/>
                    </a:solidFill>
                  </a:tcPr>
                </a:tc>
                <a:tc>
                  <a:txBody>
                    <a:bodyPr anchor="ctr" rtlCol="false" lIns="0" tIns="0" rIns="0" bIns="0" wrap="square"/>
                    <a:lstStyle/>
                    <a:p>
                      <a:pPr algn="ctr">
                        <a:lnSpc>
                          <a:spcPts val="1950"/>
                        </a:lnSpc>
                        <a:spcBef>
                          <a:spcPts val="0"/>
                        </a:spcBef>
                        <a:buNone/>
                      </a:pPr>
                      <a:r>
                        <a:rPr lang="en-US" sz="1500" b="true">
                          <a:solidFill>
                            <a:srgbClr val="FFFFFF"/>
                          </a:solidFill>
                          <a:latin typeface="Nunito Bold"/>
                          <a:ea typeface="Nunito Bold"/>
                          <a:cs typeface="Nunito Bold"/>
                          <a:sym typeface="Nunito Bold"/>
                        </a:rPr>
                        <a:t>MovieID</a:t>
                      </a:r>
                    </a:p>
                  </a:txBody>
                  <a:tcPr marL="64008" marR="64008" marT="45720" marB="45720" anchor="ctr">
                    <a:lnL w="12700" cap="flat" cmpd="sng" algn="ctr">
                      <a:solidFill>
                        <a:srgbClr val="4472C4"/>
                      </a:solidFill>
                      <a:prstDash val="solid"/>
                    </a:lnL>
                    <a:lnR w="12700" cap="flat" cmpd="sng" algn="ctr">
                      <a:solidFill>
                        <a:srgbClr val="4472C4"/>
                      </a:solidFill>
                      <a:prstDash val="solid"/>
                    </a:lnR>
                    <a:lnT w="12700" cap="flat" cmpd="sng" algn="ctr">
                      <a:solidFill>
                        <a:srgbClr val="4472C4"/>
                      </a:solidFill>
                      <a:prstDash val="solid"/>
                    </a:lnT>
                    <a:lnB w="12700" cap="flat" cmpd="sng" algn="ctr">
                      <a:solidFill>
                        <a:srgbClr val="4472C4"/>
                      </a:solidFill>
                      <a:prstDash val="solid"/>
                    </a:lnB>
                    <a:solidFill>
                      <a:srgbClr val="4472C4"/>
                    </a:solidFill>
                  </a:tcPr>
                </a:tc>
                <a:tc>
                  <a:txBody>
                    <a:bodyPr anchor="ctr" rtlCol="false" lIns="0" tIns="0" rIns="0" bIns="0" wrap="square"/>
                    <a:lstStyle/>
                    <a:p>
                      <a:pPr algn="ctr">
                        <a:lnSpc>
                          <a:spcPts val="1950"/>
                        </a:lnSpc>
                        <a:spcBef>
                          <a:spcPts val="0"/>
                        </a:spcBef>
                        <a:buNone/>
                      </a:pPr>
                      <a:r>
                        <a:rPr lang="en-US" sz="1500" b="true">
                          <a:solidFill>
                            <a:srgbClr val="FFFFFF"/>
                          </a:solidFill>
                          <a:latin typeface="Nunito Bold"/>
                          <a:ea typeface="Nunito Bold"/>
                          <a:cs typeface="Nunito Bold"/>
                          <a:sym typeface="Nunito Bold"/>
                        </a:rPr>
                        <a:t>Title</a:t>
                      </a:r>
                    </a:p>
                  </a:txBody>
                  <a:tcPr marL="64008" marR="64008" marT="45720" marB="45720" anchor="ctr">
                    <a:lnL w="12700" cap="flat" cmpd="sng" algn="ctr">
                      <a:solidFill>
                        <a:srgbClr val="4472C4"/>
                      </a:solidFill>
                      <a:prstDash val="solid"/>
                    </a:lnL>
                    <a:lnR w="12700" cap="flat" cmpd="sng" algn="ctr">
                      <a:solidFill>
                        <a:srgbClr val="4472C4"/>
                      </a:solidFill>
                      <a:prstDash val="solid"/>
                    </a:lnR>
                    <a:lnT w="12700" cap="flat" cmpd="sng" algn="ctr">
                      <a:solidFill>
                        <a:srgbClr val="4472C4"/>
                      </a:solidFill>
                      <a:prstDash val="solid"/>
                    </a:lnT>
                    <a:lnB w="12700" cap="flat" cmpd="sng" algn="ctr">
                      <a:solidFill>
                        <a:srgbClr val="4472C4"/>
                      </a:solidFill>
                      <a:prstDash val="solid"/>
                    </a:lnB>
                    <a:solidFill>
                      <a:srgbClr val="4472C4"/>
                    </a:solidFill>
                  </a:tcPr>
                </a:tc>
                <a:tc>
                  <a:txBody>
                    <a:bodyPr anchor="ctr" rtlCol="false" lIns="0" tIns="0" rIns="0" bIns="0" wrap="square"/>
                    <a:lstStyle/>
                    <a:p>
                      <a:pPr algn="ctr">
                        <a:lnSpc>
                          <a:spcPts val="1950"/>
                        </a:lnSpc>
                        <a:spcBef>
                          <a:spcPts val="0"/>
                        </a:spcBef>
                        <a:buNone/>
                      </a:pPr>
                      <a:r>
                        <a:rPr lang="en-US" sz="1500" b="true">
                          <a:solidFill>
                            <a:srgbClr val="FFFFFF"/>
                          </a:solidFill>
                          <a:latin typeface="Nunito Bold"/>
                          <a:ea typeface="Nunito Bold"/>
                          <a:cs typeface="Nunito Bold"/>
                          <a:sym typeface="Nunito Bold"/>
                        </a:rPr>
                        <a:t>Genres</a:t>
                      </a:r>
                    </a:p>
                  </a:txBody>
                  <a:tcPr marL="64008" marR="64008" marT="45720" marB="45720" anchor="ctr">
                    <a:lnL w="12700" cap="flat" cmpd="sng" algn="ctr">
                      <a:solidFill>
                        <a:srgbClr val="4472C4"/>
                      </a:solidFill>
                      <a:prstDash val="solid"/>
                    </a:lnL>
                    <a:lnR w="12700" cap="flat" cmpd="sng" algn="ctr">
                      <a:solidFill>
                        <a:srgbClr val="4472C4"/>
                      </a:solidFill>
                      <a:prstDash val="solid"/>
                    </a:lnR>
                    <a:lnT w="12700" cap="flat" cmpd="sng" algn="ctr">
                      <a:solidFill>
                        <a:srgbClr val="4472C4"/>
                      </a:solidFill>
                      <a:prstDash val="solid"/>
                    </a:lnT>
                    <a:lnB w="12700" cap="flat" cmpd="sng" algn="ctr">
                      <a:solidFill>
                        <a:srgbClr val="4472C4"/>
                      </a:solidFill>
                      <a:prstDash val="solid"/>
                    </a:lnB>
                    <a:solidFill>
                      <a:srgbClr val="4472C4"/>
                    </a:solidFill>
                  </a:tcPr>
                </a:tc>
                <a:tc>
                  <a:txBody>
                    <a:bodyPr anchor="ctr" rtlCol="false" lIns="0" tIns="0" rIns="0" bIns="0" wrap="square"/>
                    <a:lstStyle/>
                    <a:p>
                      <a:pPr algn="ctr">
                        <a:lnSpc>
                          <a:spcPts val="1950"/>
                        </a:lnSpc>
                        <a:spcBef>
                          <a:spcPts val="0"/>
                        </a:spcBef>
                        <a:buNone/>
                      </a:pPr>
                      <a:r>
                        <a:rPr lang="en-US" sz="1500" b="true">
                          <a:solidFill>
                            <a:srgbClr val="FFFFFF"/>
                          </a:solidFill>
                          <a:latin typeface="Nunito Bold"/>
                          <a:ea typeface="Nunito Bold"/>
                          <a:cs typeface="Nunito Bold"/>
                          <a:sym typeface="Nunito Bold"/>
                        </a:rPr>
                        <a:t>Rating</a:t>
                      </a:r>
                    </a:p>
                  </a:txBody>
                  <a:tcPr marL="64008" marR="64008" marT="45720" marB="45720" anchor="ctr">
                    <a:lnL w="12700" cap="flat" cmpd="sng" algn="ctr">
                      <a:solidFill>
                        <a:srgbClr val="4472C4"/>
                      </a:solidFill>
                      <a:prstDash val="solid"/>
                    </a:lnL>
                    <a:lnR w="12700" cap="flat" cmpd="sng" algn="ctr">
                      <a:solidFill>
                        <a:srgbClr val="4472C4"/>
                      </a:solidFill>
                      <a:prstDash val="solid"/>
                    </a:lnR>
                    <a:lnT w="12700" cap="flat" cmpd="sng" algn="ctr">
                      <a:solidFill>
                        <a:srgbClr val="4472C4"/>
                      </a:solidFill>
                      <a:prstDash val="solid"/>
                    </a:lnT>
                    <a:lnB w="12700" cap="flat" cmpd="sng" algn="ctr">
                      <a:solidFill>
                        <a:srgbClr val="4472C4"/>
                      </a:solidFill>
                      <a:prstDash val="solid"/>
                    </a:lnB>
                    <a:solidFill>
                      <a:srgbClr val="4472C4"/>
                    </a:solidFill>
                  </a:tcPr>
                </a:tc>
                <a:tc>
                  <a:txBody>
                    <a:bodyPr anchor="ctr" rtlCol="false" lIns="0" tIns="0" rIns="0" bIns="0" wrap="square"/>
                    <a:lstStyle/>
                    <a:p>
                      <a:pPr algn="ctr">
                        <a:lnSpc>
                          <a:spcPts val="1950"/>
                        </a:lnSpc>
                        <a:spcBef>
                          <a:spcPts val="0"/>
                        </a:spcBef>
                        <a:buNone/>
                      </a:pPr>
                      <a:r>
                        <a:rPr lang="en-US" sz="1500" b="true">
                          <a:solidFill>
                            <a:srgbClr val="FFFFFF"/>
                          </a:solidFill>
                          <a:latin typeface="Nunito Bold"/>
                          <a:ea typeface="Nunito Bold"/>
                          <a:cs typeface="Nunito Bold"/>
                          <a:sym typeface="Nunito Bold"/>
                        </a:rPr>
                        <a:t>Timestamp</a:t>
                      </a:r>
                    </a:p>
                  </a:txBody>
                  <a:tcPr marL="64008" marR="64008" marT="45720" marB="45720" anchor="ctr">
                    <a:lnL w="12700" cap="flat" cmpd="sng" algn="ctr">
                      <a:solidFill>
                        <a:srgbClr val="4472C4"/>
                      </a:solidFill>
                      <a:prstDash val="solid"/>
                    </a:lnL>
                    <a:lnR w="12700" cap="flat" cmpd="sng" algn="ctr">
                      <a:solidFill>
                        <a:srgbClr val="4472C4"/>
                      </a:solidFill>
                      <a:prstDash val="solid"/>
                    </a:lnR>
                    <a:lnT w="12700" cap="flat" cmpd="sng" algn="ctr">
                      <a:solidFill>
                        <a:srgbClr val="4472C4"/>
                      </a:solidFill>
                      <a:prstDash val="solid"/>
                    </a:lnT>
                    <a:lnB w="12700" cap="flat" cmpd="sng" algn="ctr">
                      <a:solidFill>
                        <a:srgbClr val="4472C4"/>
                      </a:solidFill>
                      <a:prstDash val="solid"/>
                    </a:lnB>
                    <a:solidFill>
                      <a:srgbClr val="4472C4"/>
                    </a:solidFill>
                  </a:tcPr>
                </a:tc>
              </a:tr>
              <a:tr h="426466">
                <a:tc>
                  <a:txBody>
                    <a:bodyPr anchor="ctr" rtlCol="false" lIns="0" tIns="0" rIns="0" bIns="0" wrap="square"/>
                    <a:lstStyle/>
                    <a:p>
                      <a:pPr algn="ctr">
                        <a:lnSpc>
                          <a:spcPts val="1950"/>
                        </a:lnSpc>
                        <a:spcBef>
                          <a:spcPts val="0"/>
                        </a:spcBef>
                        <a:buNone/>
                      </a:pPr>
                      <a:r>
                        <a:rPr lang="en-US" sz="1500" b="true">
                          <a:solidFill>
                            <a:srgbClr val="111111"/>
                          </a:solidFill>
                          <a:latin typeface="Nunito Semi-Bold"/>
                          <a:ea typeface="Nunito Semi-Bold"/>
                          <a:cs typeface="Nunito Semi-Bold"/>
                          <a:sym typeface="Nunito Semi-Bold"/>
                        </a:rPr>
                        <a:t>1</a:t>
                      </a:r>
                    </a:p>
                  </a:txBody>
                  <a:tcPr marL="64008" marR="64008"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c>
                  <a:txBody>
                    <a:bodyPr anchor="ctr" rtlCol="false" lIns="0" tIns="0" rIns="0" bIns="0" wrap="square"/>
                    <a:lstStyle/>
                    <a:p>
                      <a:pPr algn="ctr">
                        <a:lnSpc>
                          <a:spcPts val="1950"/>
                        </a:lnSpc>
                        <a:spcBef>
                          <a:spcPts val="0"/>
                        </a:spcBef>
                        <a:buNone/>
                      </a:pPr>
                      <a:r>
                        <a:rPr lang="en-US" sz="1500" b="true">
                          <a:solidFill>
                            <a:srgbClr val="111111"/>
                          </a:solidFill>
                          <a:latin typeface="Nunito Semi-Bold"/>
                          <a:ea typeface="Nunito Semi-Bold"/>
                          <a:cs typeface="Nunito Semi-Bold"/>
                          <a:sym typeface="Nunito Semi-Bold"/>
                        </a:rPr>
                        <a:t>1193</a:t>
                      </a:r>
                    </a:p>
                  </a:txBody>
                  <a:tcPr marL="64008" marR="64008"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c>
                  <a:txBody>
                    <a:bodyPr anchor="ctr" rtlCol="false" lIns="0" tIns="0" rIns="0" bIns="0" wrap="square"/>
                    <a:lstStyle/>
                    <a:p>
                      <a:pPr algn="ctr">
                        <a:lnSpc>
                          <a:spcPts val="1950"/>
                        </a:lnSpc>
                        <a:spcBef>
                          <a:spcPts val="0"/>
                        </a:spcBef>
                        <a:buNone/>
                      </a:pPr>
                      <a:r>
                        <a:rPr lang="en-US" sz="1500" b="true">
                          <a:solidFill>
                            <a:srgbClr val="111111"/>
                          </a:solidFill>
                          <a:latin typeface="Nunito Semi-Bold"/>
                          <a:ea typeface="Nunito Semi-Bold"/>
                          <a:cs typeface="Nunito Semi-Bold"/>
                          <a:sym typeface="Nunito Semi-Bold"/>
                        </a:rPr>
                        <a:t>One Flew Over the Cuckoo's Nest (1975)</a:t>
                      </a:r>
                    </a:p>
                  </a:txBody>
                  <a:tcPr marL="64008" marR="64008"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c>
                  <a:txBody>
                    <a:bodyPr anchor="ctr" rtlCol="false" lIns="0" tIns="0" rIns="0" bIns="0" wrap="square"/>
                    <a:lstStyle/>
                    <a:p>
                      <a:pPr algn="ctr">
                        <a:lnSpc>
                          <a:spcPts val="1950"/>
                        </a:lnSpc>
                        <a:spcBef>
                          <a:spcPts val="0"/>
                        </a:spcBef>
                        <a:buNone/>
                      </a:pPr>
                      <a:r>
                        <a:rPr lang="en-US" sz="1500" b="true">
                          <a:solidFill>
                            <a:srgbClr val="111111"/>
                          </a:solidFill>
                          <a:latin typeface="Nunito Semi-Bold"/>
                          <a:ea typeface="Nunito Semi-Bold"/>
                          <a:cs typeface="Nunito Semi-Bold"/>
                          <a:sym typeface="Nunito Semi-Bold"/>
                        </a:rPr>
                        <a:t>Drama</a:t>
                      </a:r>
                    </a:p>
                  </a:txBody>
                  <a:tcPr marL="64008" marR="64008"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c>
                  <a:txBody>
                    <a:bodyPr anchor="ctr" rtlCol="false" lIns="0" tIns="0" rIns="0" bIns="0" wrap="square"/>
                    <a:lstStyle/>
                    <a:p>
                      <a:pPr algn="ctr">
                        <a:lnSpc>
                          <a:spcPts val="1950"/>
                        </a:lnSpc>
                        <a:spcBef>
                          <a:spcPts val="0"/>
                        </a:spcBef>
                        <a:buNone/>
                      </a:pPr>
                      <a:r>
                        <a:rPr lang="en-US" sz="1500" b="true">
                          <a:solidFill>
                            <a:srgbClr val="111111"/>
                          </a:solidFill>
                          <a:latin typeface="Nunito Semi-Bold"/>
                          <a:ea typeface="Nunito Semi-Bold"/>
                          <a:cs typeface="Nunito Semi-Bold"/>
                          <a:sym typeface="Nunito Semi-Bold"/>
                        </a:rPr>
                        <a:t>5</a:t>
                      </a:r>
                    </a:p>
                  </a:txBody>
                  <a:tcPr marL="64008" marR="64008"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c>
                  <a:txBody>
                    <a:bodyPr anchor="ctr" rtlCol="false" lIns="0" tIns="0" rIns="0" bIns="0" wrap="square"/>
                    <a:lstStyle/>
                    <a:p>
                      <a:pPr algn="ctr">
                        <a:lnSpc>
                          <a:spcPts val="1950"/>
                        </a:lnSpc>
                        <a:spcBef>
                          <a:spcPts val="0"/>
                        </a:spcBef>
                        <a:buNone/>
                      </a:pPr>
                      <a:r>
                        <a:rPr lang="en-US" sz="1500" b="true">
                          <a:solidFill>
                            <a:srgbClr val="111111"/>
                          </a:solidFill>
                          <a:latin typeface="Nunito Semi-Bold"/>
                          <a:ea typeface="Nunito Semi-Bold"/>
                          <a:cs typeface="Nunito Semi-Bold"/>
                          <a:sym typeface="Nunito Semi-Bold"/>
                        </a:rPr>
                        <a:t>978300760</a:t>
                      </a:r>
                    </a:p>
                  </a:txBody>
                  <a:tcPr marL="64008" marR="64008"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r>
              <a:tr h="426466">
                <a:tc>
                  <a:txBody>
                    <a:bodyPr anchor="ctr" rtlCol="false" lIns="0" tIns="0" rIns="0" bIns="0" wrap="square"/>
                    <a:lstStyle/>
                    <a:p>
                      <a:pPr algn="ctr">
                        <a:lnSpc>
                          <a:spcPts val="1950"/>
                        </a:lnSpc>
                        <a:spcBef>
                          <a:spcPts val="0"/>
                        </a:spcBef>
                        <a:buNone/>
                      </a:pPr>
                      <a:r>
                        <a:rPr lang="en-US" sz="1500" b="true">
                          <a:solidFill>
                            <a:srgbClr val="111111"/>
                          </a:solidFill>
                          <a:latin typeface="Nunito Semi-Bold"/>
                          <a:ea typeface="Nunito Semi-Bold"/>
                          <a:cs typeface="Nunito Semi-Bold"/>
                          <a:sym typeface="Nunito Semi-Bold"/>
                        </a:rPr>
                        <a:t>1</a:t>
                      </a:r>
                    </a:p>
                  </a:txBody>
                  <a:tcPr marL="64008" marR="64008"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6ECDF"/>
                    </a:solidFill>
                  </a:tcPr>
                </a:tc>
                <a:tc>
                  <a:txBody>
                    <a:bodyPr anchor="ctr" rtlCol="false" lIns="0" tIns="0" rIns="0" bIns="0" wrap="square"/>
                    <a:lstStyle/>
                    <a:p>
                      <a:pPr algn="ctr">
                        <a:lnSpc>
                          <a:spcPts val="1950"/>
                        </a:lnSpc>
                        <a:spcBef>
                          <a:spcPts val="0"/>
                        </a:spcBef>
                        <a:buNone/>
                      </a:pPr>
                      <a:r>
                        <a:rPr lang="en-US" sz="1500" b="true">
                          <a:solidFill>
                            <a:srgbClr val="111111"/>
                          </a:solidFill>
                          <a:latin typeface="Nunito Semi-Bold"/>
                          <a:ea typeface="Nunito Semi-Bold"/>
                          <a:cs typeface="Nunito Semi-Bold"/>
                          <a:sym typeface="Nunito Semi-Bold"/>
                        </a:rPr>
                        <a:t>661</a:t>
                      </a:r>
                    </a:p>
                  </a:txBody>
                  <a:tcPr marL="64008" marR="64008"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6ECDF"/>
                    </a:solidFill>
                  </a:tcPr>
                </a:tc>
                <a:tc>
                  <a:txBody>
                    <a:bodyPr anchor="ctr" rtlCol="false" lIns="0" tIns="0" rIns="0" bIns="0" wrap="square"/>
                    <a:lstStyle/>
                    <a:p>
                      <a:pPr algn="ctr">
                        <a:lnSpc>
                          <a:spcPts val="1950"/>
                        </a:lnSpc>
                        <a:spcBef>
                          <a:spcPts val="0"/>
                        </a:spcBef>
                        <a:buNone/>
                      </a:pPr>
                      <a:r>
                        <a:rPr lang="en-US" sz="1500" b="true">
                          <a:solidFill>
                            <a:srgbClr val="111111"/>
                          </a:solidFill>
                          <a:latin typeface="Nunito Semi-Bold"/>
                          <a:ea typeface="Nunito Semi-Bold"/>
                          <a:cs typeface="Nunito Semi-Bold"/>
                          <a:sym typeface="Nunito Semi-Bold"/>
                        </a:rPr>
                        <a:t>James and the Giant Peach (1996)</a:t>
                      </a:r>
                    </a:p>
                  </a:txBody>
                  <a:tcPr marL="64008" marR="64008"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6ECDF"/>
                    </a:solidFill>
                  </a:tcPr>
                </a:tc>
                <a:tc>
                  <a:txBody>
                    <a:bodyPr anchor="ctr" rtlCol="false" lIns="0" tIns="0" rIns="0" bIns="0" wrap="square"/>
                    <a:lstStyle/>
                    <a:p>
                      <a:pPr algn="ctr">
                        <a:lnSpc>
                          <a:spcPts val="1950"/>
                        </a:lnSpc>
                        <a:spcBef>
                          <a:spcPts val="0"/>
                        </a:spcBef>
                        <a:buNone/>
                      </a:pPr>
                      <a:r>
                        <a:rPr lang="en-US" sz="1500" b="true">
                          <a:solidFill>
                            <a:srgbClr val="111111"/>
                          </a:solidFill>
                          <a:latin typeface="Nunito Semi-Bold"/>
                          <a:ea typeface="Nunito Semi-Bold"/>
                          <a:cs typeface="Nunito Semi-Bold"/>
                          <a:sym typeface="Nunito Semi-Bold"/>
                        </a:rPr>
                        <a:t>Animation · Children's · Musical</a:t>
                      </a:r>
                    </a:p>
                  </a:txBody>
                  <a:tcPr marL="64008" marR="64008"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6ECDF"/>
                    </a:solidFill>
                  </a:tcPr>
                </a:tc>
                <a:tc>
                  <a:txBody>
                    <a:bodyPr anchor="ctr" rtlCol="false" lIns="0" tIns="0" rIns="0" bIns="0" wrap="square"/>
                    <a:lstStyle/>
                    <a:p>
                      <a:pPr algn="ctr">
                        <a:lnSpc>
                          <a:spcPts val="1950"/>
                        </a:lnSpc>
                        <a:spcBef>
                          <a:spcPts val="0"/>
                        </a:spcBef>
                        <a:buNone/>
                      </a:pPr>
                      <a:r>
                        <a:rPr lang="en-US" sz="1500" b="true">
                          <a:solidFill>
                            <a:srgbClr val="111111"/>
                          </a:solidFill>
                          <a:latin typeface="Nunito Semi-Bold"/>
                          <a:ea typeface="Nunito Semi-Bold"/>
                          <a:cs typeface="Nunito Semi-Bold"/>
                          <a:sym typeface="Nunito Semi-Bold"/>
                        </a:rPr>
                        <a:t>3</a:t>
                      </a:r>
                    </a:p>
                  </a:txBody>
                  <a:tcPr marL="64008" marR="64008"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6ECDF"/>
                    </a:solidFill>
                  </a:tcPr>
                </a:tc>
                <a:tc>
                  <a:txBody>
                    <a:bodyPr anchor="ctr" rtlCol="false" lIns="0" tIns="0" rIns="0" bIns="0" wrap="square"/>
                    <a:lstStyle/>
                    <a:p>
                      <a:pPr algn="ctr">
                        <a:lnSpc>
                          <a:spcPts val="1950"/>
                        </a:lnSpc>
                        <a:spcBef>
                          <a:spcPts val="0"/>
                        </a:spcBef>
                        <a:buNone/>
                      </a:pPr>
                      <a:r>
                        <a:rPr lang="en-US" sz="1500" b="true">
                          <a:solidFill>
                            <a:srgbClr val="111111"/>
                          </a:solidFill>
                          <a:latin typeface="Nunito Semi-Bold"/>
                          <a:ea typeface="Nunito Semi-Bold"/>
                          <a:cs typeface="Nunito Semi-Bold"/>
                          <a:sym typeface="Nunito Semi-Bold"/>
                        </a:rPr>
                        <a:t>978302109</a:t>
                      </a:r>
                    </a:p>
                  </a:txBody>
                  <a:tcPr marL="64008" marR="64008"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6ECDF"/>
                    </a:solidFill>
                  </a:tcPr>
                </a:tc>
              </a:tr>
              <a:tr h="426466">
                <a:tc>
                  <a:txBody>
                    <a:bodyPr anchor="ctr" rtlCol="false" lIns="0" tIns="0" rIns="0" bIns="0" wrap="square"/>
                    <a:lstStyle/>
                    <a:p>
                      <a:pPr algn="ctr">
                        <a:lnSpc>
                          <a:spcPts val="1950"/>
                        </a:lnSpc>
                        <a:spcBef>
                          <a:spcPts val="0"/>
                        </a:spcBef>
                        <a:buNone/>
                      </a:pPr>
                      <a:r>
                        <a:rPr lang="en-US" sz="1500" b="true">
                          <a:solidFill>
                            <a:srgbClr val="111111"/>
                          </a:solidFill>
                          <a:latin typeface="Nunito Semi-Bold"/>
                          <a:ea typeface="Nunito Semi-Bold"/>
                          <a:cs typeface="Nunito Semi-Bold"/>
                          <a:sym typeface="Nunito Semi-Bold"/>
                        </a:rPr>
                        <a:t>1</a:t>
                      </a:r>
                    </a:p>
                  </a:txBody>
                  <a:tcPr marL="64008" marR="64008"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c>
                  <a:txBody>
                    <a:bodyPr anchor="ctr" rtlCol="false" lIns="0" tIns="0" rIns="0" bIns="0" wrap="square"/>
                    <a:lstStyle/>
                    <a:p>
                      <a:pPr algn="ctr">
                        <a:lnSpc>
                          <a:spcPts val="1950"/>
                        </a:lnSpc>
                        <a:spcBef>
                          <a:spcPts val="0"/>
                        </a:spcBef>
                        <a:buNone/>
                      </a:pPr>
                      <a:r>
                        <a:rPr lang="en-US" sz="1500" b="true">
                          <a:solidFill>
                            <a:srgbClr val="111111"/>
                          </a:solidFill>
                          <a:latin typeface="Nunito Semi-Bold"/>
                          <a:ea typeface="Nunito Semi-Bold"/>
                          <a:cs typeface="Nunito Semi-Bold"/>
                          <a:sym typeface="Nunito Semi-Bold"/>
                        </a:rPr>
                        <a:t>914</a:t>
                      </a:r>
                    </a:p>
                  </a:txBody>
                  <a:tcPr marL="64008" marR="64008"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c>
                  <a:txBody>
                    <a:bodyPr anchor="ctr" rtlCol="false" lIns="0" tIns="0" rIns="0" bIns="0" wrap="square"/>
                    <a:lstStyle/>
                    <a:p>
                      <a:pPr algn="ctr">
                        <a:lnSpc>
                          <a:spcPts val="1950"/>
                        </a:lnSpc>
                        <a:spcBef>
                          <a:spcPts val="0"/>
                        </a:spcBef>
                        <a:buNone/>
                      </a:pPr>
                      <a:r>
                        <a:rPr lang="en-US" sz="1500" b="true">
                          <a:solidFill>
                            <a:srgbClr val="111111"/>
                          </a:solidFill>
                          <a:latin typeface="Nunito Semi-Bold"/>
                          <a:ea typeface="Nunito Semi-Bold"/>
                          <a:cs typeface="Nunito Semi-Bold"/>
                          <a:sym typeface="Nunito Semi-Bold"/>
                        </a:rPr>
                        <a:t>My Fair Lady (1964)</a:t>
                      </a:r>
                    </a:p>
                  </a:txBody>
                  <a:tcPr marL="64008" marR="64008"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c>
                  <a:txBody>
                    <a:bodyPr anchor="ctr" rtlCol="false" lIns="0" tIns="0" rIns="0" bIns="0" wrap="square"/>
                    <a:lstStyle/>
                    <a:p>
                      <a:pPr algn="ctr">
                        <a:lnSpc>
                          <a:spcPts val="1950"/>
                        </a:lnSpc>
                        <a:spcBef>
                          <a:spcPts val="0"/>
                        </a:spcBef>
                        <a:buNone/>
                      </a:pPr>
                      <a:r>
                        <a:rPr lang="en-US" sz="1500" b="true">
                          <a:solidFill>
                            <a:srgbClr val="111111"/>
                          </a:solidFill>
                          <a:latin typeface="Nunito Semi-Bold"/>
                          <a:ea typeface="Nunito Semi-Bold"/>
                          <a:cs typeface="Nunito Semi-Bold"/>
                          <a:sym typeface="Nunito Semi-Bold"/>
                        </a:rPr>
                        <a:t>Musical · Romance</a:t>
                      </a:r>
                    </a:p>
                  </a:txBody>
                  <a:tcPr marL="64008" marR="64008"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c>
                  <a:txBody>
                    <a:bodyPr anchor="ctr" rtlCol="false" lIns="0" tIns="0" rIns="0" bIns="0" wrap="square"/>
                    <a:lstStyle/>
                    <a:p>
                      <a:pPr algn="ctr">
                        <a:lnSpc>
                          <a:spcPts val="1950"/>
                        </a:lnSpc>
                        <a:spcBef>
                          <a:spcPts val="0"/>
                        </a:spcBef>
                        <a:buNone/>
                      </a:pPr>
                      <a:r>
                        <a:rPr lang="en-US" sz="1500" b="true">
                          <a:solidFill>
                            <a:srgbClr val="111111"/>
                          </a:solidFill>
                          <a:latin typeface="Nunito Semi-Bold"/>
                          <a:ea typeface="Nunito Semi-Bold"/>
                          <a:cs typeface="Nunito Semi-Bold"/>
                          <a:sym typeface="Nunito Semi-Bold"/>
                        </a:rPr>
                        <a:t>3</a:t>
                      </a:r>
                    </a:p>
                  </a:txBody>
                  <a:tcPr marL="64008" marR="64008"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c>
                  <a:txBody>
                    <a:bodyPr anchor="ctr" rtlCol="false" lIns="0" tIns="0" rIns="0" bIns="0" wrap="square"/>
                    <a:lstStyle/>
                    <a:p>
                      <a:pPr algn="ctr">
                        <a:lnSpc>
                          <a:spcPts val="1950"/>
                        </a:lnSpc>
                        <a:spcBef>
                          <a:spcPts val="0"/>
                        </a:spcBef>
                        <a:buNone/>
                      </a:pPr>
                      <a:r>
                        <a:rPr lang="en-US" sz="1500" b="true">
                          <a:solidFill>
                            <a:srgbClr val="111111"/>
                          </a:solidFill>
                          <a:latin typeface="Nunito Semi-Bold"/>
                          <a:ea typeface="Nunito Semi-Bold"/>
                          <a:cs typeface="Nunito Semi-Bold"/>
                          <a:sym typeface="Nunito Semi-Bold"/>
                        </a:rPr>
                        <a:t>978301968</a:t>
                      </a:r>
                    </a:p>
                  </a:txBody>
                  <a:tcPr marL="64008" marR="64008"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r>
              <a:tr h="426466">
                <a:tc>
                  <a:txBody>
                    <a:bodyPr anchor="ctr" rtlCol="false" lIns="0" tIns="0" rIns="0" bIns="0" wrap="square"/>
                    <a:lstStyle/>
                    <a:p>
                      <a:pPr algn="ctr">
                        <a:lnSpc>
                          <a:spcPts val="1950"/>
                        </a:lnSpc>
                        <a:spcBef>
                          <a:spcPts val="0"/>
                        </a:spcBef>
                        <a:buNone/>
                      </a:pPr>
                      <a:r>
                        <a:rPr lang="en-US" sz="1500" b="true">
                          <a:solidFill>
                            <a:srgbClr val="111111"/>
                          </a:solidFill>
                          <a:latin typeface="Nunito Semi-Bold"/>
                          <a:ea typeface="Nunito Semi-Bold"/>
                          <a:cs typeface="Nunito Semi-Bold"/>
                          <a:sym typeface="Nunito Semi-Bold"/>
                        </a:rPr>
                        <a:t>1</a:t>
                      </a:r>
                    </a:p>
                  </a:txBody>
                  <a:tcPr marL="64008" marR="64008"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6ECDF"/>
                    </a:solidFill>
                  </a:tcPr>
                </a:tc>
                <a:tc>
                  <a:txBody>
                    <a:bodyPr anchor="ctr" rtlCol="false" lIns="0" tIns="0" rIns="0" bIns="0" wrap="square"/>
                    <a:lstStyle/>
                    <a:p>
                      <a:pPr algn="ctr">
                        <a:lnSpc>
                          <a:spcPts val="1950"/>
                        </a:lnSpc>
                        <a:spcBef>
                          <a:spcPts val="0"/>
                        </a:spcBef>
                        <a:buNone/>
                      </a:pPr>
                      <a:r>
                        <a:rPr lang="en-US" sz="1500" b="true">
                          <a:solidFill>
                            <a:srgbClr val="111111"/>
                          </a:solidFill>
                          <a:latin typeface="Nunito Semi-Bold"/>
                          <a:ea typeface="Nunito Semi-Bold"/>
                          <a:cs typeface="Nunito Semi-Bold"/>
                          <a:sym typeface="Nunito Semi-Bold"/>
                        </a:rPr>
                        <a:t>3408</a:t>
                      </a:r>
                    </a:p>
                  </a:txBody>
                  <a:tcPr marL="64008" marR="64008"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6ECDF"/>
                    </a:solidFill>
                  </a:tcPr>
                </a:tc>
                <a:tc>
                  <a:txBody>
                    <a:bodyPr anchor="ctr" rtlCol="false" lIns="0" tIns="0" rIns="0" bIns="0" wrap="square"/>
                    <a:lstStyle/>
                    <a:p>
                      <a:pPr algn="ctr">
                        <a:lnSpc>
                          <a:spcPts val="1950"/>
                        </a:lnSpc>
                        <a:spcBef>
                          <a:spcPts val="0"/>
                        </a:spcBef>
                        <a:buNone/>
                      </a:pPr>
                      <a:r>
                        <a:rPr lang="en-US" sz="1500" b="true">
                          <a:solidFill>
                            <a:srgbClr val="111111"/>
                          </a:solidFill>
                          <a:latin typeface="Nunito Semi-Bold"/>
                          <a:ea typeface="Nunito Semi-Bold"/>
                          <a:cs typeface="Nunito Semi-Bold"/>
                          <a:sym typeface="Nunito Semi-Bold"/>
                        </a:rPr>
                        <a:t>Erin Brockovich (2000)</a:t>
                      </a:r>
                    </a:p>
                  </a:txBody>
                  <a:tcPr marL="64008" marR="64008"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6ECDF"/>
                    </a:solidFill>
                  </a:tcPr>
                </a:tc>
                <a:tc>
                  <a:txBody>
                    <a:bodyPr anchor="ctr" rtlCol="false" lIns="0" tIns="0" rIns="0" bIns="0" wrap="square"/>
                    <a:lstStyle/>
                    <a:p>
                      <a:pPr algn="ctr">
                        <a:lnSpc>
                          <a:spcPts val="1950"/>
                        </a:lnSpc>
                        <a:spcBef>
                          <a:spcPts val="0"/>
                        </a:spcBef>
                        <a:buNone/>
                      </a:pPr>
                      <a:r>
                        <a:rPr lang="en-US" sz="1500" b="true">
                          <a:solidFill>
                            <a:srgbClr val="111111"/>
                          </a:solidFill>
                          <a:latin typeface="Nunito Semi-Bold"/>
                          <a:ea typeface="Nunito Semi-Bold"/>
                          <a:cs typeface="Nunito Semi-Bold"/>
                          <a:sym typeface="Nunito Semi-Bold"/>
                        </a:rPr>
                        <a:t>Drama</a:t>
                      </a:r>
                    </a:p>
                  </a:txBody>
                  <a:tcPr marL="64008" marR="64008"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6ECDF"/>
                    </a:solidFill>
                  </a:tcPr>
                </a:tc>
                <a:tc>
                  <a:txBody>
                    <a:bodyPr anchor="ctr" rtlCol="false" lIns="0" tIns="0" rIns="0" bIns="0" wrap="square"/>
                    <a:lstStyle/>
                    <a:p>
                      <a:pPr algn="ctr">
                        <a:lnSpc>
                          <a:spcPts val="1950"/>
                        </a:lnSpc>
                        <a:spcBef>
                          <a:spcPts val="0"/>
                        </a:spcBef>
                        <a:buNone/>
                      </a:pPr>
                      <a:r>
                        <a:rPr lang="en-US" sz="1500" b="true">
                          <a:solidFill>
                            <a:srgbClr val="111111"/>
                          </a:solidFill>
                          <a:latin typeface="Nunito Semi-Bold"/>
                          <a:ea typeface="Nunito Semi-Bold"/>
                          <a:cs typeface="Nunito Semi-Bold"/>
                          <a:sym typeface="Nunito Semi-Bold"/>
                        </a:rPr>
                        <a:t>4</a:t>
                      </a:r>
                    </a:p>
                  </a:txBody>
                  <a:tcPr marL="64008" marR="64008"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6ECDF"/>
                    </a:solidFill>
                  </a:tcPr>
                </a:tc>
                <a:tc>
                  <a:txBody>
                    <a:bodyPr anchor="ctr" rtlCol="false" lIns="0" tIns="0" rIns="0" bIns="0" wrap="square"/>
                    <a:lstStyle/>
                    <a:p>
                      <a:pPr algn="ctr">
                        <a:lnSpc>
                          <a:spcPts val="1950"/>
                        </a:lnSpc>
                        <a:spcBef>
                          <a:spcPts val="0"/>
                        </a:spcBef>
                        <a:buNone/>
                      </a:pPr>
                      <a:r>
                        <a:rPr lang="en-US" sz="1500" b="true">
                          <a:solidFill>
                            <a:srgbClr val="111111"/>
                          </a:solidFill>
                          <a:latin typeface="Nunito Semi-Bold"/>
                          <a:ea typeface="Nunito Semi-Bold"/>
                          <a:cs typeface="Nunito Semi-Bold"/>
                          <a:sym typeface="Nunito Semi-Bold"/>
                        </a:rPr>
                        <a:t>978300275</a:t>
                      </a:r>
                    </a:p>
                  </a:txBody>
                  <a:tcPr marL="64008" marR="64008"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6ECDF"/>
                    </a:solidFill>
                  </a:tcPr>
                </a:tc>
              </a:tr>
            </a:tbl>
          </a:graphicData>
        </a:graphic>
      </p:graphicFrame>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pic>
        <p:nvPicPr>
          <p:cNvPr id="2" name="Picture 1" descr="ensias_logo.jpg"/>
          <p:cNvPicPr>
            <a:picLocks noChangeAspect="1"/>
          </p:cNvPicPr>
          <p:nvPr/>
        </p:nvPicPr>
        <p:blipFill>
          <a:blip r:embed="rId2"/>
          <a:stretch>
            <a:fillRect/>
          </a:stretch>
        </p:blipFill>
        <p:spPr>
          <a:xfrm>
            <a:off x="1028700" y="9674352"/>
            <a:ext cx="542964" cy="384048"/>
          </a:xfrm>
          <a:prstGeom prst="rect">
            <a:avLst/>
          </a:prstGeom>
        </p:spPr>
      </p:pic>
      <p:sp>
        <p:nvSpPr>
          <p:cNvPr id="3" name="TextBox 2"/>
          <p:cNvSpPr txBox="1"/>
          <p:nvPr/>
        </p:nvSpPr>
        <p:spPr>
          <a:xfrm>
            <a:off x="1577340" y="9601200"/>
            <a:ext cx="14493240" cy="566928"/>
          </a:xfrm>
          <a:prstGeom prst="rect">
            <a:avLst/>
          </a:prstGeom>
          <a:noFill/>
        </p:spPr>
        <p:txBody>
          <a:bodyPr anchor="ctr" rtlCol="false" lIns="0" tIns="0" rIns="0" bIns="0" wrap="square"/>
          <a:lstStyle/>
          <a:p>
            <a:pPr algn="l">
              <a:lnSpc>
                <a:spcPts val="1200"/>
              </a:lnSpc>
              <a:spcBef>
                <a:spcPts val="0"/>
              </a:spcBef>
              <a:buNone/>
            </a:pPr>
            <a:r>
              <a:rPr lang="en-US" sz="1000" b="true">
                <a:solidFill>
                  <a:srgbClr val="8A8378"/>
                </a:solidFill>
                <a:latin typeface="Nunito Semi-Bold"/>
                <a:ea typeface="Nunito Semi-Bold"/>
                <a:cs typeface="Nunito Semi-Bold"/>
                <a:sym typeface="Nunito Semi-Bold"/>
              </a:rPr>
              <a:t>[20] Harper, F. M. &amp; Konstan, J. A. The MovieLens Datasets: History and Context. ACM TiiS 5(4), 19 (2015).  ·  McAuley, J. et al. Amazon Review Data (Amazon-Book). UCSD (2018).</a:t>
            </a:r>
          </a:p>
        </p:txBody>
      </p:sp>
      <p:sp>
        <p:nvSpPr>
          <p:cNvPr id="4" name="TextBox 3"/>
          <p:cNvSpPr txBox="1"/>
          <p:nvPr/>
        </p:nvSpPr>
        <p:spPr>
          <a:xfrm>
            <a:off x="16162020" y="9692640"/>
            <a:ext cx="1097280" cy="329184"/>
          </a:xfrm>
          <a:prstGeom prst="rect">
            <a:avLst/>
          </a:prstGeom>
          <a:noFill/>
        </p:spPr>
        <p:txBody>
          <a:bodyPr anchor="t" rtlCol="false" lIns="0" tIns="0" rIns="0" bIns="0" wrap="square"/>
          <a:lstStyle/>
          <a:p>
            <a:pPr algn="r">
              <a:lnSpc>
                <a:spcPts val="2200"/>
              </a:lnSpc>
              <a:spcBef>
                <a:spcPts val="0"/>
              </a:spcBef>
              <a:buNone/>
            </a:pPr>
            <a:r>
              <a:rPr lang="en-US" sz="1800" b="true">
                <a:solidFill>
                  <a:srgbClr val="111111"/>
                </a:solidFill>
                <a:latin typeface="Nunito Ultra-Bold"/>
                <a:ea typeface="Nunito Ultra-Bold"/>
                <a:cs typeface="Nunito Ultra-Bold"/>
                <a:sym typeface="Nunito Ultra-Bold"/>
              </a:rPr>
              <a:t>21</a:t>
            </a:r>
          </a:p>
        </p:txBody>
      </p:sp>
      <p:sp>
        <p:nvSpPr>
          <p:cNvPr id="5" name="TextBox 4"/>
          <p:cNvSpPr txBox="1"/>
          <p:nvPr/>
        </p:nvSpPr>
        <p:spPr>
          <a:xfrm>
            <a:off x="1028700" y="1389888"/>
            <a:ext cx="12938760" cy="329184"/>
          </a:xfrm>
          <a:prstGeom prst="rect">
            <a:avLst/>
          </a:prstGeom>
          <a:noFill/>
        </p:spPr>
        <p:txBody>
          <a:bodyPr anchor="t" rtlCol="false" lIns="0" tIns="0" rIns="0" bIns="0" wrap="square"/>
          <a:lstStyle/>
          <a:p>
            <a:pPr algn="l">
              <a:lnSpc>
                <a:spcPts val="2000"/>
              </a:lnSpc>
              <a:spcBef>
                <a:spcPts val="0"/>
              </a:spcBef>
              <a:buNone/>
            </a:pPr>
            <a:r>
              <a:rPr lang="en-US" sz="1500" b="true" spc="160">
                <a:solidFill>
                  <a:srgbClr val="1F7A8C"/>
                </a:solidFill>
                <a:latin typeface="Nunito Ultra-Bold"/>
                <a:ea typeface="Nunito Ultra-Bold"/>
                <a:cs typeface="Nunito Ultra-Bold"/>
                <a:sym typeface="Nunito Ultra-Bold"/>
              </a:rPr>
              <a:t>EXPERIMENTAL PROTOCOL</a:t>
            </a:r>
          </a:p>
        </p:txBody>
      </p:sp>
      <p:sp>
        <p:nvSpPr>
          <p:cNvPr id="6" name="Rounded Rectangle 5"/>
          <p:cNvSpPr/>
          <p:nvPr/>
        </p:nvSpPr>
        <p:spPr>
          <a:xfrm>
            <a:off x="14516100"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7" name="TextBox 6"/>
          <p:cNvSpPr txBox="1"/>
          <p:nvPr/>
        </p:nvSpPr>
        <p:spPr>
          <a:xfrm>
            <a:off x="14516100"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1</a:t>
            </a:r>
          </a:p>
        </p:txBody>
      </p:sp>
      <p:sp>
        <p:nvSpPr>
          <p:cNvPr id="8" name="Rounded Rectangle 7"/>
          <p:cNvSpPr/>
          <p:nvPr/>
        </p:nvSpPr>
        <p:spPr>
          <a:xfrm>
            <a:off x="14918436"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9" name="TextBox 8"/>
          <p:cNvSpPr txBox="1"/>
          <p:nvPr/>
        </p:nvSpPr>
        <p:spPr>
          <a:xfrm>
            <a:off x="14918436"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2</a:t>
            </a:r>
          </a:p>
        </p:txBody>
      </p:sp>
      <p:sp>
        <p:nvSpPr>
          <p:cNvPr id="10" name="Rounded Rectangle 9"/>
          <p:cNvSpPr/>
          <p:nvPr/>
        </p:nvSpPr>
        <p:spPr>
          <a:xfrm>
            <a:off x="15320772" y="1371600"/>
            <a:ext cx="329184" cy="329184"/>
          </a:xfrm>
          <a:prstGeom prst="roundRect">
            <a:avLst>
              <a:gd name="adj" fmla="val 16666"/>
            </a:avLst>
          </a:prstGeom>
          <a:solidFill>
            <a:srgbClr val="4472C4"/>
          </a:solidFill>
          <a:ln w="15875">
            <a:solidFill>
              <a:srgbClr val="4472C4"/>
            </a:solidFill>
          </a:ln>
        </p:spPr>
        <p:txBody>
          <a:bodyPr anchor="ctr" rtlCol="false" lIns="0" tIns="0" rIns="0" bIns="0" wrap="square"/>
          <a:lstStyle/>
          <a:p>
            <a:endParaRPr lang="en-US" sz="1800"/>
          </a:p>
        </p:txBody>
      </p:sp>
      <p:sp>
        <p:nvSpPr>
          <p:cNvPr id="11" name="TextBox 10"/>
          <p:cNvSpPr txBox="1"/>
          <p:nvPr/>
        </p:nvSpPr>
        <p:spPr>
          <a:xfrm>
            <a:off x="15320772"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FFFFFF"/>
                </a:solidFill>
                <a:latin typeface="Nunito Ultra-Bold"/>
                <a:ea typeface="Nunito Ultra-Bold"/>
                <a:cs typeface="Nunito Ultra-Bold"/>
                <a:sym typeface="Nunito Ultra-Bold"/>
              </a:rPr>
              <a:t>3</a:t>
            </a:r>
          </a:p>
        </p:txBody>
      </p:sp>
      <p:sp>
        <p:nvSpPr>
          <p:cNvPr id="12" name="Rounded Rectangle 11"/>
          <p:cNvSpPr/>
          <p:nvPr/>
        </p:nvSpPr>
        <p:spPr>
          <a:xfrm>
            <a:off x="15723108"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13" name="TextBox 12"/>
          <p:cNvSpPr txBox="1"/>
          <p:nvPr/>
        </p:nvSpPr>
        <p:spPr>
          <a:xfrm>
            <a:off x="15723108"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4</a:t>
            </a:r>
          </a:p>
        </p:txBody>
      </p:sp>
      <p:sp>
        <p:nvSpPr>
          <p:cNvPr id="14" name="Rounded Rectangle 13"/>
          <p:cNvSpPr/>
          <p:nvPr/>
        </p:nvSpPr>
        <p:spPr>
          <a:xfrm>
            <a:off x="16125444"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15" name="TextBox 14"/>
          <p:cNvSpPr txBox="1"/>
          <p:nvPr/>
        </p:nvSpPr>
        <p:spPr>
          <a:xfrm>
            <a:off x="16125444"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5</a:t>
            </a:r>
          </a:p>
        </p:txBody>
      </p:sp>
      <p:sp>
        <p:nvSpPr>
          <p:cNvPr id="16" name="Rounded Rectangle 15"/>
          <p:cNvSpPr/>
          <p:nvPr/>
        </p:nvSpPr>
        <p:spPr>
          <a:xfrm>
            <a:off x="16527780"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17" name="TextBox 16"/>
          <p:cNvSpPr txBox="1"/>
          <p:nvPr/>
        </p:nvSpPr>
        <p:spPr>
          <a:xfrm>
            <a:off x="16527780"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6</a:t>
            </a:r>
          </a:p>
        </p:txBody>
      </p:sp>
      <p:sp>
        <p:nvSpPr>
          <p:cNvPr id="18" name="Rounded Rectangle 17"/>
          <p:cNvSpPr/>
          <p:nvPr/>
        </p:nvSpPr>
        <p:spPr>
          <a:xfrm>
            <a:off x="16930116"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19" name="TextBox 18"/>
          <p:cNvSpPr txBox="1"/>
          <p:nvPr/>
        </p:nvSpPr>
        <p:spPr>
          <a:xfrm>
            <a:off x="16930116"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7</a:t>
            </a:r>
          </a:p>
        </p:txBody>
      </p:sp>
      <p:sp>
        <p:nvSpPr>
          <p:cNvPr id="20" name="TextBox 19"/>
          <p:cNvSpPr txBox="1"/>
          <p:nvPr/>
        </p:nvSpPr>
        <p:spPr>
          <a:xfrm>
            <a:off x="1028700" y="1719072"/>
            <a:ext cx="16230600" cy="730250"/>
          </a:xfrm>
          <a:prstGeom prst="rect">
            <a:avLst/>
          </a:prstGeom>
          <a:noFill/>
        </p:spPr>
        <p:txBody>
          <a:bodyPr anchor="t" rtlCol="false" lIns="0" tIns="0" rIns="0" bIns="0" wrap="square"/>
          <a:lstStyle/>
          <a:p>
            <a:pPr algn="l">
              <a:lnSpc>
                <a:spcPts val="5060"/>
              </a:lnSpc>
              <a:spcBef>
                <a:spcPts val="0"/>
              </a:spcBef>
              <a:buNone/>
            </a:pPr>
            <a:r>
              <a:rPr lang="en-US" sz="4600" b="true" spc="-230">
                <a:solidFill>
                  <a:srgbClr val="111111"/>
                </a:solidFill>
                <a:latin typeface="Roca Two Bold"/>
                <a:ea typeface="Roca Two Bold"/>
                <a:cs typeface="Roca Two Bold"/>
                <a:sym typeface="Roca Two Bold"/>
              </a:rPr>
              <a:t>Amazon-Book</a:t>
            </a:r>
          </a:p>
        </p:txBody>
      </p:sp>
      <p:sp>
        <p:nvSpPr>
          <p:cNvPr id="21" name="Rounded Rectangle 20"/>
          <p:cNvSpPr/>
          <p:nvPr/>
        </p:nvSpPr>
        <p:spPr>
          <a:xfrm>
            <a:off x="1028700" y="2559050"/>
            <a:ext cx="1523907" cy="420624"/>
          </a:xfrm>
          <a:prstGeom prst="roundRect">
            <a:avLst>
              <a:gd name="adj" fmla="val 50000"/>
            </a:avLst>
          </a:prstGeom>
          <a:solidFill>
            <a:srgbClr val="4472C4"/>
          </a:solidFill>
          <a:ln>
            <a:noFill/>
          </a:ln>
        </p:spPr>
        <p:txBody>
          <a:bodyPr anchor="ctr" rtlCol="false" lIns="45720" tIns="0" rIns="45720" bIns="0" wrap="square"/>
          <a:lstStyle/>
          <a:p>
            <a:pPr algn="ctr">
              <a:lnSpc>
                <a:spcPts val="2160"/>
              </a:lnSpc>
              <a:spcBef>
                <a:spcPts val="0"/>
              </a:spcBef>
              <a:buNone/>
            </a:pPr>
            <a:r>
              <a:rPr lang="en-US" sz="1800" b="true">
                <a:solidFill>
                  <a:srgbClr val="FFFFFF"/>
                </a:solidFill>
                <a:latin typeface="Nunito Bold"/>
                <a:ea typeface="Nunito Bold"/>
                <a:cs typeface="Nunito Bold"/>
                <a:sym typeface="Nunito Bold"/>
              </a:rPr>
              <a:t>Datasets</a:t>
            </a:r>
          </a:p>
        </p:txBody>
      </p:sp>
      <p:sp>
        <p:nvSpPr>
          <p:cNvPr id="22" name="Rounded Rectangle 21"/>
          <p:cNvSpPr/>
          <p:nvPr/>
        </p:nvSpPr>
        <p:spPr>
          <a:xfrm>
            <a:off x="2680623" y="2559050"/>
            <a:ext cx="1349432" cy="420624"/>
          </a:xfrm>
          <a:prstGeom prst="roundRect">
            <a:avLst>
              <a:gd name="adj" fmla="val 50000"/>
            </a:avLst>
          </a:prstGeom>
          <a:noFill/>
          <a:ln w="28575">
            <a:solidFill>
              <a:srgbClr val="4472C4"/>
            </a:solidFill>
          </a:ln>
        </p:spPr>
        <p:txBody>
          <a:bodyPr anchor="ctr" rtlCol="false" lIns="45720" tIns="0" rIns="45720" bIns="0" wrap="square"/>
          <a:lstStyle/>
          <a:p>
            <a:pPr algn="ctr">
              <a:lnSpc>
                <a:spcPts val="2160"/>
              </a:lnSpc>
              <a:spcBef>
                <a:spcPts val="0"/>
              </a:spcBef>
              <a:buNone/>
            </a:pPr>
            <a:r>
              <a:rPr lang="en-US" sz="1800" b="true">
                <a:solidFill>
                  <a:srgbClr val="4472C4"/>
                </a:solidFill>
                <a:latin typeface="Nunito Bold"/>
                <a:ea typeface="Nunito Bold"/>
                <a:cs typeface="Nunito Bold"/>
                <a:sym typeface="Nunito Bold"/>
              </a:rPr>
              <a:t>Metrics</a:t>
            </a:r>
          </a:p>
        </p:txBody>
      </p:sp>
      <p:sp>
        <p:nvSpPr>
          <p:cNvPr id="23" name="Rounded Rectangle 22"/>
          <p:cNvSpPr/>
          <p:nvPr/>
        </p:nvSpPr>
        <p:spPr>
          <a:xfrm>
            <a:off x="4158071" y="2559050"/>
            <a:ext cx="1642577" cy="420624"/>
          </a:xfrm>
          <a:prstGeom prst="roundRect">
            <a:avLst>
              <a:gd name="adj" fmla="val 50000"/>
            </a:avLst>
          </a:prstGeom>
          <a:noFill/>
          <a:ln w="28575">
            <a:solidFill>
              <a:srgbClr val="4472C4"/>
            </a:solidFill>
          </a:ln>
        </p:spPr>
        <p:txBody>
          <a:bodyPr anchor="ctr" rtlCol="false" lIns="45720" tIns="0" rIns="45720" bIns="0" wrap="square"/>
          <a:lstStyle/>
          <a:p>
            <a:pPr algn="ctr">
              <a:lnSpc>
                <a:spcPts val="2160"/>
              </a:lnSpc>
              <a:spcBef>
                <a:spcPts val="0"/>
              </a:spcBef>
              <a:buNone/>
            </a:pPr>
            <a:r>
              <a:rPr lang="en-US" sz="1800" b="true">
                <a:solidFill>
                  <a:srgbClr val="4472C4"/>
                </a:solidFill>
                <a:latin typeface="Nunito Bold"/>
                <a:ea typeface="Nunito Bold"/>
                <a:cs typeface="Nunito Bold"/>
                <a:sym typeface="Nunito Bold"/>
              </a:rPr>
              <a:t>Hardware</a:t>
            </a:r>
          </a:p>
        </p:txBody>
      </p:sp>
      <p:sp>
        <p:nvSpPr>
          <p:cNvPr id="24" name="TextBox 23"/>
          <p:cNvSpPr txBox="1"/>
          <p:nvPr/>
        </p:nvSpPr>
        <p:spPr>
          <a:xfrm>
            <a:off x="1028700" y="3363722"/>
            <a:ext cx="6949440" cy="2743200"/>
          </a:xfrm>
          <a:prstGeom prst="rect">
            <a:avLst/>
          </a:prstGeom>
          <a:noFill/>
        </p:spPr>
        <p:txBody>
          <a:bodyPr anchor="t" rtlCol="false" lIns="0" tIns="0" rIns="0" bIns="0" wrap="square"/>
          <a:lstStyle/>
          <a:p>
            <a:pPr algn="l" marL="274320" indent="-274320">
              <a:lnSpc>
                <a:spcPts val="2660"/>
              </a:lnSpc>
              <a:spcBef>
                <a:spcPts val="0"/>
              </a:spcBef>
              <a:buClr>
                <a:srgbClr val="1F7A8C"/>
              </a:buClr>
              <a:buSzPct val="100000"/>
              <a:buFont typeface="Arial"/>
              <a:buChar char="•"/>
            </a:pPr>
            <a:r>
              <a:rPr lang="en-US" sz="1900" b="true">
                <a:solidFill>
                  <a:srgbClr val="111111"/>
                </a:solidFill>
                <a:latin typeface="Nunito Bold"/>
                <a:ea typeface="Nunito Bold"/>
                <a:cs typeface="Nunito Bold"/>
                <a:sym typeface="Nunito Bold"/>
              </a:rPr>
              <a:t>52,643 users</a:t>
            </a:r>
            <a:r>
              <a:rPr lang="en-US" sz="1900" b="true">
                <a:solidFill>
                  <a:srgbClr val="111111"/>
                </a:solidFill>
                <a:latin typeface="Nunito Semi-Bold"/>
                <a:ea typeface="Nunito Semi-Bold"/>
                <a:cs typeface="Nunito Semi-Bold"/>
                <a:sym typeface="Nunito Semi-Bold"/>
              </a:rPr>
              <a:t>, </a:t>
            </a:r>
            <a:r>
              <a:rPr lang="en-US" sz="1900" b="true">
                <a:solidFill>
                  <a:srgbClr val="111111"/>
                </a:solidFill>
                <a:latin typeface="Nunito Bold"/>
                <a:ea typeface="Nunito Bold"/>
                <a:cs typeface="Nunito Bold"/>
                <a:sym typeface="Nunito Bold"/>
              </a:rPr>
              <a:t>91,599 books</a:t>
            </a:r>
            <a:r>
              <a:rPr lang="en-US" sz="1900" b="true">
                <a:solidFill>
                  <a:srgbClr val="111111"/>
                </a:solidFill>
                <a:latin typeface="Nunito Semi-Bold"/>
                <a:ea typeface="Nunito Semi-Bold"/>
                <a:cs typeface="Nunito Semi-Bold"/>
                <a:sym typeface="Nunito Semi-Bold"/>
              </a:rPr>
              <a:t> and </a:t>
            </a:r>
            <a:r>
              <a:rPr lang="en-US" sz="1900" b="true">
                <a:solidFill>
                  <a:srgbClr val="111111"/>
                </a:solidFill>
                <a:latin typeface="Nunito Bold"/>
                <a:ea typeface="Nunito Bold"/>
                <a:cs typeface="Nunito Bold"/>
                <a:sym typeface="Nunito Bold"/>
              </a:rPr>
              <a:t>2,984,108 interactions</a:t>
            </a:r>
            <a:r>
              <a:rPr lang="en-US" sz="1900" b="true">
                <a:solidFill>
                  <a:srgbClr val="111111"/>
                </a:solidFill>
                <a:latin typeface="Nunito Semi-Bold"/>
                <a:ea typeface="Nunito Semi-Bold"/>
                <a:cs typeface="Nunito Semi-Bold"/>
                <a:sym typeface="Nunito Semi-Bold"/>
              </a:rPr>
              <a:t> from Amazon review data (McAuley Lab, UCSD).</a:t>
            </a:r>
          </a:p>
          <a:p>
            <a:pPr algn="l" marL="274320" indent="-274320">
              <a:lnSpc>
                <a:spcPts val="2660"/>
              </a:lnSpc>
              <a:spcBef>
                <a:spcPts val="800"/>
              </a:spcBef>
              <a:buClr>
                <a:srgbClr val="1F7A8C"/>
              </a:buClr>
              <a:buSzPct val="100000"/>
              <a:buFont typeface="Arial"/>
              <a:buChar char="•"/>
            </a:pPr>
            <a:r>
              <a:rPr lang="en-US" sz="1900" b="true">
                <a:solidFill>
                  <a:srgbClr val="111111"/>
                </a:solidFill>
                <a:latin typeface="Nunito Semi-Bold"/>
                <a:ea typeface="Nunito Semi-Bold"/>
                <a:cs typeface="Nunito Semi-Bold"/>
                <a:sym typeface="Nunito Semi-Bold"/>
              </a:rPr>
              <a:t>Extremely </a:t>
            </a:r>
            <a:r>
              <a:rPr lang="en-US" sz="1900" b="true">
                <a:solidFill>
                  <a:srgbClr val="111111"/>
                </a:solidFill>
                <a:latin typeface="Nunito Bold"/>
                <a:ea typeface="Nunito Bold"/>
                <a:cs typeface="Nunito Bold"/>
                <a:sym typeface="Nunito Bold"/>
              </a:rPr>
              <a:t>sparse</a:t>
            </a:r>
            <a:r>
              <a:rPr lang="en-US" sz="1900" b="true">
                <a:solidFill>
                  <a:srgbClr val="111111"/>
                </a:solidFill>
                <a:latin typeface="Nunito Semi-Bold"/>
                <a:ea typeface="Nunito Semi-Bold"/>
                <a:cs typeface="Nunito Semi-Bold"/>
                <a:sym typeface="Nunito Semi-Bold"/>
              </a:rPr>
              <a:t> (density ≈ 0.0006): the user-item matrix is almost empty.</a:t>
            </a:r>
          </a:p>
          <a:p>
            <a:pPr algn="l" marL="274320" indent="-274320">
              <a:lnSpc>
                <a:spcPts val="2660"/>
              </a:lnSpc>
              <a:spcBef>
                <a:spcPts val="800"/>
              </a:spcBef>
              <a:buClr>
                <a:srgbClr val="1F7A8C"/>
              </a:buClr>
              <a:buSzPct val="100000"/>
              <a:buFont typeface="Arial"/>
              <a:buChar char="•"/>
            </a:pPr>
            <a:r>
              <a:rPr lang="en-US" sz="1900" b="true">
                <a:solidFill>
                  <a:srgbClr val="111111"/>
                </a:solidFill>
                <a:latin typeface="Nunito Semi-Bold"/>
                <a:ea typeface="Nunito Semi-Bold"/>
                <a:cs typeface="Nunito Semi-Bold"/>
                <a:sym typeface="Nunito Semi-Bold"/>
              </a:rPr>
              <a:t>Included to test whether Shapley-guided weighting </a:t>
            </a:r>
            <a:r>
              <a:rPr lang="en-US" sz="1900" b="true">
                <a:solidFill>
                  <a:srgbClr val="111111"/>
                </a:solidFill>
                <a:latin typeface="Nunito Bold"/>
                <a:ea typeface="Nunito Bold"/>
                <a:cs typeface="Nunito Bold"/>
                <a:sym typeface="Nunito Bold"/>
              </a:rPr>
              <a:t>helps most when the signal is weakest</a:t>
            </a:r>
            <a:r>
              <a:rPr lang="en-US" sz="1900" b="true">
                <a:solidFill>
                  <a:srgbClr val="111111"/>
                </a:solidFill>
                <a:latin typeface="Nunito Semi-Bold"/>
                <a:ea typeface="Nunito Semi-Bold"/>
                <a:cs typeface="Nunito Semi-Bold"/>
                <a:sym typeface="Nunito Semi-Bold"/>
              </a:rPr>
              <a:t>; the large-scale benchmark of Contribution III.</a:t>
            </a:r>
          </a:p>
        </p:txBody>
      </p:sp>
      <p:graphicFrame>
        <p:nvGraphicFramePr>
          <p:cNvPr id="25" name="Table 24"/>
          <p:cNvGraphicFramePr>
            <a:graphicFrameLocks noGrp="1"/>
          </p:cNvGraphicFramePr>
          <p:nvPr/>
        </p:nvGraphicFramePr>
        <p:xfrm>
          <a:off x="8435340" y="3363722"/>
          <a:ext cx="8823959" cy="3228848"/>
        </p:xfrm>
        <a:graphic>
          <a:graphicData uri="http://schemas.openxmlformats.org/drawingml/2006/table">
            <a:tbl>
              <a:tblPr firstRow="0" bandRow="0" firstCol="0" lastRow="0" lastCol="0" bandCol="0">
                <a:tableStyleId>{2D5ABB26-0587-4C30-8999-92F81FD0307C}</a:tableStyleId>
              </a:tblPr>
              <a:tblGrid>
                <a:gridCol w="4622074"/>
                <a:gridCol w="4201885"/>
              </a:tblGrid>
              <a:tr h="461264">
                <a:tc>
                  <a:txBody>
                    <a:bodyPr anchor="ctr" rtlCol="false" lIns="0" tIns="0" rIns="0" bIns="0" wrap="square"/>
                    <a:lstStyle/>
                    <a:p>
                      <a:pPr algn="l">
                        <a:lnSpc>
                          <a:spcPts val="2080"/>
                        </a:lnSpc>
                        <a:spcBef>
                          <a:spcPts val="0"/>
                        </a:spcBef>
                        <a:buNone/>
                      </a:pPr>
                      <a:r>
                        <a:rPr lang="en-US" sz="1600" b="true">
                          <a:solidFill>
                            <a:srgbClr val="FFFFFF"/>
                          </a:solidFill>
                          <a:latin typeface="Nunito Bold"/>
                          <a:ea typeface="Nunito Bold"/>
                          <a:cs typeface="Nunito Bold"/>
                          <a:sym typeface="Nunito Bold"/>
                        </a:rPr>
                        <a:t>Specification</a:t>
                      </a:r>
                    </a:p>
                  </a:txBody>
                  <a:tcPr marL="73152" marR="73152" marT="45720" marB="45720" anchor="ctr">
                    <a:lnL w="12700" cap="flat" cmpd="sng" algn="ctr">
                      <a:solidFill>
                        <a:srgbClr val="4472C4"/>
                      </a:solidFill>
                      <a:prstDash val="solid"/>
                    </a:lnL>
                    <a:lnR w="12700" cap="flat" cmpd="sng" algn="ctr">
                      <a:solidFill>
                        <a:srgbClr val="4472C4"/>
                      </a:solidFill>
                      <a:prstDash val="solid"/>
                    </a:lnR>
                    <a:lnT w="12700" cap="flat" cmpd="sng" algn="ctr">
                      <a:solidFill>
                        <a:srgbClr val="4472C4"/>
                      </a:solidFill>
                      <a:prstDash val="solid"/>
                    </a:lnT>
                    <a:lnB w="12700" cap="flat" cmpd="sng" algn="ctr">
                      <a:solidFill>
                        <a:srgbClr val="4472C4"/>
                      </a:solidFill>
                      <a:prstDash val="solid"/>
                    </a:lnB>
                    <a:solidFill>
                      <a:srgbClr val="4472C4"/>
                    </a:solidFill>
                  </a:tcPr>
                </a:tc>
                <a:tc>
                  <a:txBody>
                    <a:bodyPr anchor="ctr" rtlCol="false" lIns="0" tIns="0" rIns="0" bIns="0" wrap="square"/>
                    <a:lstStyle/>
                    <a:p>
                      <a:pPr algn="l">
                        <a:lnSpc>
                          <a:spcPts val="2080"/>
                        </a:lnSpc>
                        <a:spcBef>
                          <a:spcPts val="0"/>
                        </a:spcBef>
                        <a:buNone/>
                      </a:pPr>
                      <a:r>
                        <a:rPr lang="en-US" sz="1600" b="true">
                          <a:solidFill>
                            <a:srgbClr val="FFFFFF"/>
                          </a:solidFill>
                          <a:latin typeface="Nunito Bold"/>
                          <a:ea typeface="Nunito Bold"/>
                          <a:cs typeface="Nunito Bold"/>
                          <a:sym typeface="Nunito Bold"/>
                        </a:rPr>
                        <a:t>Amazon-Book</a:t>
                      </a:r>
                    </a:p>
                  </a:txBody>
                  <a:tcPr marL="73152" marR="73152" marT="45720" marB="45720" anchor="ctr">
                    <a:lnL w="12700" cap="flat" cmpd="sng" algn="ctr">
                      <a:solidFill>
                        <a:srgbClr val="4472C4"/>
                      </a:solidFill>
                      <a:prstDash val="solid"/>
                    </a:lnL>
                    <a:lnR w="12700" cap="flat" cmpd="sng" algn="ctr">
                      <a:solidFill>
                        <a:srgbClr val="4472C4"/>
                      </a:solidFill>
                      <a:prstDash val="solid"/>
                    </a:lnR>
                    <a:lnT w="12700" cap="flat" cmpd="sng" algn="ctr">
                      <a:solidFill>
                        <a:srgbClr val="4472C4"/>
                      </a:solidFill>
                      <a:prstDash val="solid"/>
                    </a:lnT>
                    <a:lnB w="12700" cap="flat" cmpd="sng" algn="ctr">
                      <a:solidFill>
                        <a:srgbClr val="4472C4"/>
                      </a:solidFill>
                      <a:prstDash val="solid"/>
                    </a:lnB>
                    <a:solidFill>
                      <a:srgbClr val="4472C4"/>
                    </a:solidFill>
                  </a:tcPr>
                </a:tc>
              </a:tr>
              <a:tr h="461264">
                <a:tc>
                  <a:txBody>
                    <a:bodyPr anchor="ctr" rtlCol="false" lIns="0" tIns="0" rIns="0" bIns="0" wrap="square"/>
                    <a:lstStyle/>
                    <a:p>
                      <a:pPr algn="l">
                        <a:lnSpc>
                          <a:spcPts val="2080"/>
                        </a:lnSpc>
                        <a:spcBef>
                          <a:spcPts val="0"/>
                        </a:spcBef>
                        <a:buNone/>
                      </a:pPr>
                      <a:r>
                        <a:rPr lang="en-US" sz="1600" b="true">
                          <a:solidFill>
                            <a:srgbClr val="111111"/>
                          </a:solidFill>
                          <a:latin typeface="Nunito Bold"/>
                          <a:ea typeface="Nunito Bold"/>
                          <a:cs typeface="Nunito Bold"/>
                          <a:sym typeface="Nunito Bold"/>
                        </a:rPr>
                        <a:t>Users</a:t>
                      </a:r>
                    </a:p>
                  </a:txBody>
                  <a:tcPr marL="73152" marR="73152"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c>
                  <a:txBody>
                    <a:bodyPr anchor="ctr" rtlCol="false" lIns="0" tIns="0" rIns="0" bIns="0" wrap="square"/>
                    <a:lstStyle/>
                    <a:p>
                      <a:pPr algn="l">
                        <a:lnSpc>
                          <a:spcPts val="2080"/>
                        </a:lnSpc>
                        <a:spcBef>
                          <a:spcPts val="0"/>
                        </a:spcBef>
                        <a:buNone/>
                      </a:pPr>
                      <a:r>
                        <a:rPr lang="en-US" sz="1600" b="true">
                          <a:solidFill>
                            <a:srgbClr val="111111"/>
                          </a:solidFill>
                          <a:latin typeface="Nunito Semi-Bold"/>
                          <a:ea typeface="Nunito Semi-Bold"/>
                          <a:cs typeface="Nunito Semi-Bold"/>
                          <a:sym typeface="Nunito Semi-Bold"/>
                        </a:rPr>
                        <a:t>52,643</a:t>
                      </a:r>
                    </a:p>
                  </a:txBody>
                  <a:tcPr marL="73152" marR="73152"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r>
              <a:tr h="461264">
                <a:tc>
                  <a:txBody>
                    <a:bodyPr anchor="ctr" rtlCol="false" lIns="0" tIns="0" rIns="0" bIns="0" wrap="square"/>
                    <a:lstStyle/>
                    <a:p>
                      <a:pPr algn="l">
                        <a:lnSpc>
                          <a:spcPts val="2080"/>
                        </a:lnSpc>
                        <a:spcBef>
                          <a:spcPts val="0"/>
                        </a:spcBef>
                        <a:buNone/>
                      </a:pPr>
                      <a:r>
                        <a:rPr lang="en-US" sz="1600" b="true">
                          <a:solidFill>
                            <a:srgbClr val="111111"/>
                          </a:solidFill>
                          <a:latin typeface="Nunito Bold"/>
                          <a:ea typeface="Nunito Bold"/>
                          <a:cs typeface="Nunito Bold"/>
                          <a:sym typeface="Nunito Bold"/>
                        </a:rPr>
                        <a:t>Items</a:t>
                      </a:r>
                    </a:p>
                  </a:txBody>
                  <a:tcPr marL="73152" marR="73152"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6ECDF"/>
                    </a:solidFill>
                  </a:tcPr>
                </a:tc>
                <a:tc>
                  <a:txBody>
                    <a:bodyPr anchor="ctr" rtlCol="false" lIns="0" tIns="0" rIns="0" bIns="0" wrap="square"/>
                    <a:lstStyle/>
                    <a:p>
                      <a:pPr algn="l">
                        <a:lnSpc>
                          <a:spcPts val="2080"/>
                        </a:lnSpc>
                        <a:spcBef>
                          <a:spcPts val="0"/>
                        </a:spcBef>
                        <a:buNone/>
                      </a:pPr>
                      <a:r>
                        <a:rPr lang="en-US" sz="1600" b="true">
                          <a:solidFill>
                            <a:srgbClr val="111111"/>
                          </a:solidFill>
                          <a:latin typeface="Nunito Semi-Bold"/>
                          <a:ea typeface="Nunito Semi-Bold"/>
                          <a:cs typeface="Nunito Semi-Bold"/>
                          <a:sym typeface="Nunito Semi-Bold"/>
                        </a:rPr>
                        <a:t>91,599 books</a:t>
                      </a:r>
                    </a:p>
                  </a:txBody>
                  <a:tcPr marL="73152" marR="73152"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6ECDF"/>
                    </a:solidFill>
                  </a:tcPr>
                </a:tc>
              </a:tr>
              <a:tr h="461264">
                <a:tc>
                  <a:txBody>
                    <a:bodyPr anchor="ctr" rtlCol="false" lIns="0" tIns="0" rIns="0" bIns="0" wrap="square"/>
                    <a:lstStyle/>
                    <a:p>
                      <a:pPr algn="l">
                        <a:lnSpc>
                          <a:spcPts val="2080"/>
                        </a:lnSpc>
                        <a:spcBef>
                          <a:spcPts val="0"/>
                        </a:spcBef>
                        <a:buNone/>
                      </a:pPr>
                      <a:r>
                        <a:rPr lang="en-US" sz="1600" b="true">
                          <a:solidFill>
                            <a:srgbClr val="111111"/>
                          </a:solidFill>
                          <a:latin typeface="Nunito Bold"/>
                          <a:ea typeface="Nunito Bold"/>
                          <a:cs typeface="Nunito Bold"/>
                          <a:sym typeface="Nunito Bold"/>
                        </a:rPr>
                        <a:t>Interactions</a:t>
                      </a:r>
                    </a:p>
                  </a:txBody>
                  <a:tcPr marL="73152" marR="73152"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c>
                  <a:txBody>
                    <a:bodyPr anchor="ctr" rtlCol="false" lIns="0" tIns="0" rIns="0" bIns="0" wrap="square"/>
                    <a:lstStyle/>
                    <a:p>
                      <a:pPr algn="l">
                        <a:lnSpc>
                          <a:spcPts val="2080"/>
                        </a:lnSpc>
                        <a:spcBef>
                          <a:spcPts val="0"/>
                        </a:spcBef>
                        <a:buNone/>
                      </a:pPr>
                      <a:r>
                        <a:rPr lang="en-US" sz="1600" b="true">
                          <a:solidFill>
                            <a:srgbClr val="111111"/>
                          </a:solidFill>
                          <a:latin typeface="Nunito Semi-Bold"/>
                          <a:ea typeface="Nunito Semi-Bold"/>
                          <a:cs typeface="Nunito Semi-Bold"/>
                          <a:sym typeface="Nunito Semi-Bold"/>
                        </a:rPr>
                        <a:t>2,984,108</a:t>
                      </a:r>
                    </a:p>
                  </a:txBody>
                  <a:tcPr marL="73152" marR="73152"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r>
              <a:tr h="461264">
                <a:tc>
                  <a:txBody>
                    <a:bodyPr anchor="ctr" rtlCol="false" lIns="0" tIns="0" rIns="0" bIns="0" wrap="square"/>
                    <a:lstStyle/>
                    <a:p>
                      <a:pPr algn="l">
                        <a:lnSpc>
                          <a:spcPts val="2080"/>
                        </a:lnSpc>
                        <a:spcBef>
                          <a:spcPts val="0"/>
                        </a:spcBef>
                        <a:buNone/>
                      </a:pPr>
                      <a:r>
                        <a:rPr lang="en-US" sz="1600" b="true">
                          <a:solidFill>
                            <a:srgbClr val="111111"/>
                          </a:solidFill>
                          <a:latin typeface="Nunito Bold"/>
                          <a:ea typeface="Nunito Bold"/>
                          <a:cs typeface="Nunito Bold"/>
                          <a:sym typeface="Nunito Bold"/>
                        </a:rPr>
                        <a:t>Density</a:t>
                      </a:r>
                    </a:p>
                  </a:txBody>
                  <a:tcPr marL="73152" marR="73152"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6ECDF"/>
                    </a:solidFill>
                  </a:tcPr>
                </a:tc>
                <a:tc>
                  <a:txBody>
                    <a:bodyPr anchor="ctr" rtlCol="false" lIns="0" tIns="0" rIns="0" bIns="0" wrap="square"/>
                    <a:lstStyle/>
                    <a:p>
                      <a:pPr algn="l">
                        <a:lnSpc>
                          <a:spcPts val="2080"/>
                        </a:lnSpc>
                        <a:spcBef>
                          <a:spcPts val="0"/>
                        </a:spcBef>
                        <a:buNone/>
                      </a:pPr>
                      <a:r>
                        <a:rPr lang="en-US" sz="1600" b="true">
                          <a:solidFill>
                            <a:srgbClr val="111111"/>
                          </a:solidFill>
                          <a:latin typeface="Nunito Semi-Bold"/>
                          <a:ea typeface="Nunito Semi-Bold"/>
                          <a:cs typeface="Nunito Semi-Bold"/>
                          <a:sym typeface="Nunito Semi-Bold"/>
                        </a:rPr>
                        <a:t>≈ 0.0006</a:t>
                      </a:r>
                    </a:p>
                  </a:txBody>
                  <a:tcPr marL="73152" marR="73152"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6ECDF"/>
                    </a:solidFill>
                  </a:tcPr>
                </a:tc>
              </a:tr>
              <a:tr h="461264">
                <a:tc>
                  <a:txBody>
                    <a:bodyPr anchor="ctr" rtlCol="false" lIns="0" tIns="0" rIns="0" bIns="0" wrap="square"/>
                    <a:lstStyle/>
                    <a:p>
                      <a:pPr algn="l">
                        <a:lnSpc>
                          <a:spcPts val="2080"/>
                        </a:lnSpc>
                        <a:spcBef>
                          <a:spcPts val="0"/>
                        </a:spcBef>
                        <a:buNone/>
                      </a:pPr>
                      <a:r>
                        <a:rPr lang="en-US" sz="1600" b="true">
                          <a:solidFill>
                            <a:srgbClr val="111111"/>
                          </a:solidFill>
                          <a:latin typeface="Nunito Bold"/>
                          <a:ea typeface="Nunito Bold"/>
                          <a:cs typeface="Nunito Bold"/>
                          <a:sym typeface="Nunito Bold"/>
                        </a:rPr>
                        <a:t>Feedback</a:t>
                      </a:r>
                    </a:p>
                  </a:txBody>
                  <a:tcPr marL="73152" marR="73152"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c>
                  <a:txBody>
                    <a:bodyPr anchor="ctr" rtlCol="false" lIns="0" tIns="0" rIns="0" bIns="0" wrap="square"/>
                    <a:lstStyle/>
                    <a:p>
                      <a:pPr algn="l">
                        <a:lnSpc>
                          <a:spcPts val="2080"/>
                        </a:lnSpc>
                        <a:spcBef>
                          <a:spcPts val="0"/>
                        </a:spcBef>
                        <a:buNone/>
                      </a:pPr>
                      <a:r>
                        <a:rPr lang="en-US" sz="1600" b="true">
                          <a:solidFill>
                            <a:srgbClr val="111111"/>
                          </a:solidFill>
                          <a:latin typeface="Nunito Semi-Bold"/>
                          <a:ea typeface="Nunito Semi-Bold"/>
                          <a:cs typeface="Nunito Semi-Bold"/>
                          <a:sym typeface="Nunito Semi-Bold"/>
                        </a:rPr>
                        <a:t>implicit (review = interaction)</a:t>
                      </a:r>
                    </a:p>
                  </a:txBody>
                  <a:tcPr marL="73152" marR="73152"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r>
              <a:tr h="461264">
                <a:tc>
                  <a:txBody>
                    <a:bodyPr anchor="ctr" rtlCol="false" lIns="0" tIns="0" rIns="0" bIns="0" wrap="square"/>
                    <a:lstStyle/>
                    <a:p>
                      <a:pPr algn="l">
                        <a:lnSpc>
                          <a:spcPts val="2080"/>
                        </a:lnSpc>
                        <a:spcBef>
                          <a:spcPts val="0"/>
                        </a:spcBef>
                        <a:buNone/>
                      </a:pPr>
                      <a:r>
                        <a:rPr lang="en-US" sz="1600" b="true">
                          <a:solidFill>
                            <a:srgbClr val="111111"/>
                          </a:solidFill>
                          <a:latin typeface="Nunito Bold"/>
                          <a:ea typeface="Nunito Bold"/>
                          <a:cs typeface="Nunito Bold"/>
                          <a:sym typeface="Nunito Bold"/>
                        </a:rPr>
                        <a:t>Context proxy</a:t>
                      </a:r>
                    </a:p>
                  </a:txBody>
                  <a:tcPr marL="73152" marR="73152"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6ECDF"/>
                    </a:solidFill>
                  </a:tcPr>
                </a:tc>
                <a:tc>
                  <a:txBody>
                    <a:bodyPr anchor="ctr" rtlCol="false" lIns="0" tIns="0" rIns="0" bIns="0" wrap="square"/>
                    <a:lstStyle/>
                    <a:p>
                      <a:pPr algn="l">
                        <a:lnSpc>
                          <a:spcPts val="2080"/>
                        </a:lnSpc>
                        <a:spcBef>
                          <a:spcPts val="0"/>
                        </a:spcBef>
                        <a:buNone/>
                      </a:pPr>
                      <a:r>
                        <a:rPr lang="en-US" sz="1600" b="true">
                          <a:solidFill>
                            <a:srgbClr val="111111"/>
                          </a:solidFill>
                          <a:latin typeface="Nunito Semi-Bold"/>
                          <a:ea typeface="Nunito Semi-Bold"/>
                          <a:cs typeface="Nunito Semi-Bold"/>
                          <a:sym typeface="Nunito Semi-Bold"/>
                        </a:rPr>
                        <a:t>book category</a:t>
                      </a:r>
                    </a:p>
                  </a:txBody>
                  <a:tcPr marL="73152" marR="73152"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6ECDF"/>
                    </a:solidFill>
                  </a:tcPr>
                </a:tc>
              </a:tr>
            </a:tbl>
          </a:graphicData>
        </a:graphic>
      </p:graphicFrame>
      <p:sp>
        <p:nvSpPr>
          <p:cNvPr id="26" name="TextBox 25"/>
          <p:cNvSpPr txBox="1"/>
          <p:nvPr/>
        </p:nvSpPr>
        <p:spPr>
          <a:xfrm>
            <a:off x="1028700" y="6912610"/>
            <a:ext cx="16230600" cy="320040"/>
          </a:xfrm>
          <a:prstGeom prst="rect">
            <a:avLst/>
          </a:prstGeom>
          <a:noFill/>
        </p:spPr>
        <p:txBody>
          <a:bodyPr anchor="t" rtlCol="false" lIns="0" tIns="0" rIns="0" bIns="0" wrap="square"/>
          <a:lstStyle/>
          <a:p>
            <a:pPr algn="l">
              <a:lnSpc>
                <a:spcPts val="1600"/>
              </a:lnSpc>
              <a:spcBef>
                <a:spcPts val="0"/>
              </a:spcBef>
              <a:buNone/>
            </a:pPr>
            <a:r>
              <a:rPr lang="en-US" sz="1300" b="true" spc="150">
                <a:solidFill>
                  <a:srgbClr val="1F7A8C"/>
                </a:solidFill>
                <a:latin typeface="Nunito Ultra-Bold"/>
                <a:ea typeface="Nunito Ultra-Bold"/>
                <a:cs typeface="Nunito Ultra-Bold"/>
                <a:sym typeface="Nunito Ultra-Bold"/>
              </a:rPr>
              <a:t>SAMPLE RECORDS  ·  illustrative rows in the format of the public file</a:t>
            </a:r>
          </a:p>
        </p:txBody>
      </p:sp>
      <p:graphicFrame>
        <p:nvGraphicFramePr>
          <p:cNvPr id="27" name="Table 26"/>
          <p:cNvGraphicFramePr>
            <a:graphicFrameLocks noGrp="1"/>
          </p:cNvGraphicFramePr>
          <p:nvPr/>
        </p:nvGraphicFramePr>
        <p:xfrm>
          <a:off x="1028700" y="7260082"/>
          <a:ext cx="16230598" cy="1705864"/>
        </p:xfrm>
        <a:graphic>
          <a:graphicData uri="http://schemas.openxmlformats.org/drawingml/2006/table">
            <a:tbl>
              <a:tblPr firstRow="0" bandRow="0" firstCol="0" lastRow="0" lastCol="0" bandCol="0">
                <a:tableStyleId>{2D5ABB26-0587-4C30-8999-92F81FD0307C}</a:tableStyleId>
              </a:tblPr>
              <a:tblGrid>
                <a:gridCol w="2264734"/>
                <a:gridCol w="3019646"/>
                <a:gridCol w="3774558"/>
                <a:gridCol w="1509823"/>
                <a:gridCol w="5661837"/>
              </a:tblGrid>
              <a:tr h="426466">
                <a:tc>
                  <a:txBody>
                    <a:bodyPr anchor="ctr" rtlCol="false" lIns="0" tIns="0" rIns="0" bIns="0" wrap="square"/>
                    <a:lstStyle/>
                    <a:p>
                      <a:pPr algn="ctr">
                        <a:lnSpc>
                          <a:spcPts val="1950"/>
                        </a:lnSpc>
                        <a:spcBef>
                          <a:spcPts val="0"/>
                        </a:spcBef>
                        <a:buNone/>
                      </a:pPr>
                      <a:r>
                        <a:rPr lang="en-US" sz="1500" b="true">
                          <a:solidFill>
                            <a:srgbClr val="FFFFFF"/>
                          </a:solidFill>
                          <a:latin typeface="Nunito Bold"/>
                          <a:ea typeface="Nunito Bold"/>
                          <a:cs typeface="Nunito Bold"/>
                          <a:sym typeface="Nunito Bold"/>
                        </a:rPr>
                        <a:t>user_id</a:t>
                      </a:r>
                    </a:p>
                  </a:txBody>
                  <a:tcPr marL="64008" marR="64008" marT="45720" marB="45720" anchor="ctr">
                    <a:lnL w="12700" cap="flat" cmpd="sng" algn="ctr">
                      <a:solidFill>
                        <a:srgbClr val="4472C4"/>
                      </a:solidFill>
                      <a:prstDash val="solid"/>
                    </a:lnL>
                    <a:lnR w="12700" cap="flat" cmpd="sng" algn="ctr">
                      <a:solidFill>
                        <a:srgbClr val="4472C4"/>
                      </a:solidFill>
                      <a:prstDash val="solid"/>
                    </a:lnR>
                    <a:lnT w="12700" cap="flat" cmpd="sng" algn="ctr">
                      <a:solidFill>
                        <a:srgbClr val="4472C4"/>
                      </a:solidFill>
                      <a:prstDash val="solid"/>
                    </a:lnT>
                    <a:lnB w="12700" cap="flat" cmpd="sng" algn="ctr">
                      <a:solidFill>
                        <a:srgbClr val="4472C4"/>
                      </a:solidFill>
                      <a:prstDash val="solid"/>
                    </a:lnB>
                    <a:solidFill>
                      <a:srgbClr val="4472C4"/>
                    </a:solidFill>
                  </a:tcPr>
                </a:tc>
                <a:tc>
                  <a:txBody>
                    <a:bodyPr anchor="ctr" rtlCol="false" lIns="0" tIns="0" rIns="0" bIns="0" wrap="square"/>
                    <a:lstStyle/>
                    <a:p>
                      <a:pPr algn="ctr">
                        <a:lnSpc>
                          <a:spcPts val="1950"/>
                        </a:lnSpc>
                        <a:spcBef>
                          <a:spcPts val="0"/>
                        </a:spcBef>
                        <a:buNone/>
                      </a:pPr>
                      <a:r>
                        <a:rPr lang="en-US" sz="1500" b="true">
                          <a:solidFill>
                            <a:srgbClr val="FFFFFF"/>
                          </a:solidFill>
                          <a:latin typeface="Nunito Bold"/>
                          <a:ea typeface="Nunito Bold"/>
                          <a:cs typeface="Nunito Bold"/>
                          <a:sym typeface="Nunito Bold"/>
                        </a:rPr>
                        <a:t>item_id (ASIN)</a:t>
                      </a:r>
                    </a:p>
                  </a:txBody>
                  <a:tcPr marL="64008" marR="64008" marT="45720" marB="45720" anchor="ctr">
                    <a:lnL w="12700" cap="flat" cmpd="sng" algn="ctr">
                      <a:solidFill>
                        <a:srgbClr val="4472C4"/>
                      </a:solidFill>
                      <a:prstDash val="solid"/>
                    </a:lnL>
                    <a:lnR w="12700" cap="flat" cmpd="sng" algn="ctr">
                      <a:solidFill>
                        <a:srgbClr val="4472C4"/>
                      </a:solidFill>
                      <a:prstDash val="solid"/>
                    </a:lnR>
                    <a:lnT w="12700" cap="flat" cmpd="sng" algn="ctr">
                      <a:solidFill>
                        <a:srgbClr val="4472C4"/>
                      </a:solidFill>
                      <a:prstDash val="solid"/>
                    </a:lnT>
                    <a:lnB w="12700" cap="flat" cmpd="sng" algn="ctr">
                      <a:solidFill>
                        <a:srgbClr val="4472C4"/>
                      </a:solidFill>
                      <a:prstDash val="solid"/>
                    </a:lnB>
                    <a:solidFill>
                      <a:srgbClr val="4472C4"/>
                    </a:solidFill>
                  </a:tcPr>
                </a:tc>
                <a:tc>
                  <a:txBody>
                    <a:bodyPr anchor="ctr" rtlCol="false" lIns="0" tIns="0" rIns="0" bIns="0" wrap="square"/>
                    <a:lstStyle/>
                    <a:p>
                      <a:pPr algn="ctr">
                        <a:lnSpc>
                          <a:spcPts val="1950"/>
                        </a:lnSpc>
                        <a:spcBef>
                          <a:spcPts val="0"/>
                        </a:spcBef>
                        <a:buNone/>
                      </a:pPr>
                      <a:r>
                        <a:rPr lang="en-US" sz="1500" b="true">
                          <a:solidFill>
                            <a:srgbClr val="FFFFFF"/>
                          </a:solidFill>
                          <a:latin typeface="Nunito Bold"/>
                          <a:ea typeface="Nunito Bold"/>
                          <a:cs typeface="Nunito Bold"/>
                          <a:sym typeface="Nunito Bold"/>
                        </a:rPr>
                        <a:t>category</a:t>
                      </a:r>
                    </a:p>
                  </a:txBody>
                  <a:tcPr marL="64008" marR="64008" marT="45720" marB="45720" anchor="ctr">
                    <a:lnL w="12700" cap="flat" cmpd="sng" algn="ctr">
                      <a:solidFill>
                        <a:srgbClr val="4472C4"/>
                      </a:solidFill>
                      <a:prstDash val="solid"/>
                    </a:lnL>
                    <a:lnR w="12700" cap="flat" cmpd="sng" algn="ctr">
                      <a:solidFill>
                        <a:srgbClr val="4472C4"/>
                      </a:solidFill>
                      <a:prstDash val="solid"/>
                    </a:lnR>
                    <a:lnT w="12700" cap="flat" cmpd="sng" algn="ctr">
                      <a:solidFill>
                        <a:srgbClr val="4472C4"/>
                      </a:solidFill>
                      <a:prstDash val="solid"/>
                    </a:lnT>
                    <a:lnB w="12700" cap="flat" cmpd="sng" algn="ctr">
                      <a:solidFill>
                        <a:srgbClr val="4472C4"/>
                      </a:solidFill>
                      <a:prstDash val="solid"/>
                    </a:lnB>
                    <a:solidFill>
                      <a:srgbClr val="4472C4"/>
                    </a:solidFill>
                  </a:tcPr>
                </a:tc>
                <a:tc>
                  <a:txBody>
                    <a:bodyPr anchor="ctr" rtlCol="false" lIns="0" tIns="0" rIns="0" bIns="0" wrap="square"/>
                    <a:lstStyle/>
                    <a:p>
                      <a:pPr algn="ctr">
                        <a:lnSpc>
                          <a:spcPts val="1950"/>
                        </a:lnSpc>
                        <a:spcBef>
                          <a:spcPts val="0"/>
                        </a:spcBef>
                        <a:buNone/>
                      </a:pPr>
                      <a:r>
                        <a:rPr lang="en-US" sz="1500" b="true">
                          <a:solidFill>
                            <a:srgbClr val="FFFFFF"/>
                          </a:solidFill>
                          <a:latin typeface="Nunito Bold"/>
                          <a:ea typeface="Nunito Bold"/>
                          <a:cs typeface="Nunito Bold"/>
                          <a:sym typeface="Nunito Bold"/>
                        </a:rPr>
                        <a:t>rating</a:t>
                      </a:r>
                    </a:p>
                  </a:txBody>
                  <a:tcPr marL="64008" marR="64008" marT="45720" marB="45720" anchor="ctr">
                    <a:lnL w="12700" cap="flat" cmpd="sng" algn="ctr">
                      <a:solidFill>
                        <a:srgbClr val="4472C4"/>
                      </a:solidFill>
                      <a:prstDash val="solid"/>
                    </a:lnL>
                    <a:lnR w="12700" cap="flat" cmpd="sng" algn="ctr">
                      <a:solidFill>
                        <a:srgbClr val="4472C4"/>
                      </a:solidFill>
                      <a:prstDash val="solid"/>
                    </a:lnR>
                    <a:lnT w="12700" cap="flat" cmpd="sng" algn="ctr">
                      <a:solidFill>
                        <a:srgbClr val="4472C4"/>
                      </a:solidFill>
                      <a:prstDash val="solid"/>
                    </a:lnT>
                    <a:lnB w="12700" cap="flat" cmpd="sng" algn="ctr">
                      <a:solidFill>
                        <a:srgbClr val="4472C4"/>
                      </a:solidFill>
                      <a:prstDash val="solid"/>
                    </a:lnB>
                    <a:solidFill>
                      <a:srgbClr val="4472C4"/>
                    </a:solidFill>
                  </a:tcPr>
                </a:tc>
                <a:tc>
                  <a:txBody>
                    <a:bodyPr anchor="ctr" rtlCol="false" lIns="0" tIns="0" rIns="0" bIns="0" wrap="square"/>
                    <a:lstStyle/>
                    <a:p>
                      <a:pPr algn="ctr">
                        <a:lnSpc>
                          <a:spcPts val="1950"/>
                        </a:lnSpc>
                        <a:spcBef>
                          <a:spcPts val="0"/>
                        </a:spcBef>
                        <a:buNone/>
                      </a:pPr>
                      <a:r>
                        <a:rPr lang="en-US" sz="1500" b="true">
                          <a:solidFill>
                            <a:srgbClr val="FFFFFF"/>
                          </a:solidFill>
                          <a:latin typeface="Nunito Bold"/>
                          <a:ea typeface="Nunito Bold"/>
                          <a:cs typeface="Nunito Bold"/>
                          <a:sym typeface="Nunito Bold"/>
                        </a:rPr>
                        <a:t>review summary</a:t>
                      </a:r>
                    </a:p>
                  </a:txBody>
                  <a:tcPr marL="64008" marR="64008" marT="45720" marB="45720" anchor="ctr">
                    <a:lnL w="12700" cap="flat" cmpd="sng" algn="ctr">
                      <a:solidFill>
                        <a:srgbClr val="4472C4"/>
                      </a:solidFill>
                      <a:prstDash val="solid"/>
                    </a:lnL>
                    <a:lnR w="12700" cap="flat" cmpd="sng" algn="ctr">
                      <a:solidFill>
                        <a:srgbClr val="4472C4"/>
                      </a:solidFill>
                      <a:prstDash val="solid"/>
                    </a:lnR>
                    <a:lnT w="12700" cap="flat" cmpd="sng" algn="ctr">
                      <a:solidFill>
                        <a:srgbClr val="4472C4"/>
                      </a:solidFill>
                      <a:prstDash val="solid"/>
                    </a:lnT>
                    <a:lnB w="12700" cap="flat" cmpd="sng" algn="ctr">
                      <a:solidFill>
                        <a:srgbClr val="4472C4"/>
                      </a:solidFill>
                      <a:prstDash val="solid"/>
                    </a:lnB>
                    <a:solidFill>
                      <a:srgbClr val="4472C4"/>
                    </a:solidFill>
                  </a:tcPr>
                </a:tc>
              </a:tr>
              <a:tr h="426466">
                <a:tc>
                  <a:txBody>
                    <a:bodyPr anchor="ctr" rtlCol="false" lIns="0" tIns="0" rIns="0" bIns="0" wrap="square"/>
                    <a:lstStyle/>
                    <a:p>
                      <a:pPr algn="ctr">
                        <a:lnSpc>
                          <a:spcPts val="1950"/>
                        </a:lnSpc>
                        <a:spcBef>
                          <a:spcPts val="0"/>
                        </a:spcBef>
                        <a:buNone/>
                      </a:pPr>
                      <a:r>
                        <a:rPr lang="en-US" sz="1500" b="true">
                          <a:solidFill>
                            <a:srgbClr val="111111"/>
                          </a:solidFill>
                          <a:latin typeface="Nunito Semi-Bold"/>
                          <a:ea typeface="Nunito Semi-Bold"/>
                          <a:cs typeface="Nunito Semi-Bold"/>
                          <a:sym typeface="Nunito Semi-Bold"/>
                        </a:rPr>
                        <a:t>A1B2C3</a:t>
                      </a:r>
                    </a:p>
                  </a:txBody>
                  <a:tcPr marL="64008" marR="64008"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c>
                  <a:txBody>
                    <a:bodyPr anchor="ctr" rtlCol="false" lIns="0" tIns="0" rIns="0" bIns="0" wrap="square"/>
                    <a:lstStyle/>
                    <a:p>
                      <a:pPr algn="ctr">
                        <a:lnSpc>
                          <a:spcPts val="1950"/>
                        </a:lnSpc>
                        <a:spcBef>
                          <a:spcPts val="0"/>
                        </a:spcBef>
                        <a:buNone/>
                      </a:pPr>
                      <a:r>
                        <a:rPr lang="en-US" sz="1500" b="true">
                          <a:solidFill>
                            <a:srgbClr val="111111"/>
                          </a:solidFill>
                          <a:latin typeface="Nunito Semi-Bold"/>
                          <a:ea typeface="Nunito Semi-Bold"/>
                          <a:cs typeface="Nunito Semi-Bold"/>
                          <a:sym typeface="Nunito Semi-Bold"/>
                        </a:rPr>
                        <a:t>B000123XYZ</a:t>
                      </a:r>
                    </a:p>
                  </a:txBody>
                  <a:tcPr marL="64008" marR="64008"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c>
                  <a:txBody>
                    <a:bodyPr anchor="ctr" rtlCol="false" lIns="0" tIns="0" rIns="0" bIns="0" wrap="square"/>
                    <a:lstStyle/>
                    <a:p>
                      <a:pPr algn="ctr">
                        <a:lnSpc>
                          <a:spcPts val="1950"/>
                        </a:lnSpc>
                        <a:spcBef>
                          <a:spcPts val="0"/>
                        </a:spcBef>
                        <a:buNone/>
                      </a:pPr>
                      <a:r>
                        <a:rPr lang="en-US" sz="1500" b="true">
                          <a:solidFill>
                            <a:srgbClr val="111111"/>
                          </a:solidFill>
                          <a:latin typeface="Nunito Semi-Bold"/>
                          <a:ea typeface="Nunito Semi-Bold"/>
                          <a:cs typeface="Nunito Semi-Bold"/>
                          <a:sym typeface="Nunito Semi-Bold"/>
                        </a:rPr>
                        <a:t>Literature &amp; Fiction</a:t>
                      </a:r>
                    </a:p>
                  </a:txBody>
                  <a:tcPr marL="64008" marR="64008"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c>
                  <a:txBody>
                    <a:bodyPr anchor="ctr" rtlCol="false" lIns="0" tIns="0" rIns="0" bIns="0" wrap="square"/>
                    <a:lstStyle/>
                    <a:p>
                      <a:pPr algn="ctr">
                        <a:lnSpc>
                          <a:spcPts val="1950"/>
                        </a:lnSpc>
                        <a:spcBef>
                          <a:spcPts val="0"/>
                        </a:spcBef>
                        <a:buNone/>
                      </a:pPr>
                      <a:r>
                        <a:rPr lang="en-US" sz="1500" b="true">
                          <a:solidFill>
                            <a:srgbClr val="111111"/>
                          </a:solidFill>
                          <a:latin typeface="Nunito Semi-Bold"/>
                          <a:ea typeface="Nunito Semi-Bold"/>
                          <a:cs typeface="Nunito Semi-Bold"/>
                          <a:sym typeface="Nunito Semi-Bold"/>
                        </a:rPr>
                        <a:t>5</a:t>
                      </a:r>
                    </a:p>
                  </a:txBody>
                  <a:tcPr marL="64008" marR="64008"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c>
                  <a:txBody>
                    <a:bodyPr anchor="ctr" rtlCol="false" lIns="0" tIns="0" rIns="0" bIns="0" wrap="square"/>
                    <a:lstStyle/>
                    <a:p>
                      <a:pPr algn="ctr">
                        <a:lnSpc>
                          <a:spcPts val="1950"/>
                        </a:lnSpc>
                        <a:spcBef>
                          <a:spcPts val="0"/>
                        </a:spcBef>
                        <a:buNone/>
                      </a:pPr>
                      <a:r>
                        <a:rPr lang="en-US" sz="1500" b="true">
                          <a:solidFill>
                            <a:srgbClr val="111111"/>
                          </a:solidFill>
                          <a:latin typeface="Nunito Semi-Bold"/>
                          <a:ea typeface="Nunito Semi-Bold"/>
                          <a:cs typeface="Nunito Semi-Bold"/>
                          <a:sym typeface="Nunito Semi-Bold"/>
                        </a:rPr>
                        <a:t>Could not put it down</a:t>
                      </a:r>
                    </a:p>
                  </a:txBody>
                  <a:tcPr marL="64008" marR="64008"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r>
              <a:tr h="426466">
                <a:tc>
                  <a:txBody>
                    <a:bodyPr anchor="ctr" rtlCol="false" lIns="0" tIns="0" rIns="0" bIns="0" wrap="square"/>
                    <a:lstStyle/>
                    <a:p>
                      <a:pPr algn="ctr">
                        <a:lnSpc>
                          <a:spcPts val="1950"/>
                        </a:lnSpc>
                        <a:spcBef>
                          <a:spcPts val="0"/>
                        </a:spcBef>
                        <a:buNone/>
                      </a:pPr>
                      <a:r>
                        <a:rPr lang="en-US" sz="1500" b="true">
                          <a:solidFill>
                            <a:srgbClr val="111111"/>
                          </a:solidFill>
                          <a:latin typeface="Nunito Semi-Bold"/>
                          <a:ea typeface="Nunito Semi-Bold"/>
                          <a:cs typeface="Nunito Semi-Bold"/>
                          <a:sym typeface="Nunito Semi-Bold"/>
                        </a:rPr>
                        <a:t>A4D5E6</a:t>
                      </a:r>
                    </a:p>
                  </a:txBody>
                  <a:tcPr marL="64008" marR="64008"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6ECDF"/>
                    </a:solidFill>
                  </a:tcPr>
                </a:tc>
                <a:tc>
                  <a:txBody>
                    <a:bodyPr anchor="ctr" rtlCol="false" lIns="0" tIns="0" rIns="0" bIns="0" wrap="square"/>
                    <a:lstStyle/>
                    <a:p>
                      <a:pPr algn="ctr">
                        <a:lnSpc>
                          <a:spcPts val="1950"/>
                        </a:lnSpc>
                        <a:spcBef>
                          <a:spcPts val="0"/>
                        </a:spcBef>
                        <a:buNone/>
                      </a:pPr>
                      <a:r>
                        <a:rPr lang="en-US" sz="1500" b="true">
                          <a:solidFill>
                            <a:srgbClr val="111111"/>
                          </a:solidFill>
                          <a:latin typeface="Nunito Semi-Bold"/>
                          <a:ea typeface="Nunito Semi-Bold"/>
                          <a:cs typeface="Nunito Semi-Bold"/>
                          <a:sym typeface="Nunito Semi-Bold"/>
                        </a:rPr>
                        <a:t>B000456ABC</a:t>
                      </a:r>
                    </a:p>
                  </a:txBody>
                  <a:tcPr marL="64008" marR="64008"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6ECDF"/>
                    </a:solidFill>
                  </a:tcPr>
                </a:tc>
                <a:tc>
                  <a:txBody>
                    <a:bodyPr anchor="ctr" rtlCol="false" lIns="0" tIns="0" rIns="0" bIns="0" wrap="square"/>
                    <a:lstStyle/>
                    <a:p>
                      <a:pPr algn="ctr">
                        <a:lnSpc>
                          <a:spcPts val="1950"/>
                        </a:lnSpc>
                        <a:spcBef>
                          <a:spcPts val="0"/>
                        </a:spcBef>
                        <a:buNone/>
                      </a:pPr>
                      <a:r>
                        <a:rPr lang="en-US" sz="1500" b="true">
                          <a:solidFill>
                            <a:srgbClr val="111111"/>
                          </a:solidFill>
                          <a:latin typeface="Nunito Semi-Bold"/>
                          <a:ea typeface="Nunito Semi-Bold"/>
                          <a:cs typeface="Nunito Semi-Bold"/>
                          <a:sym typeface="Nunito Semi-Bold"/>
                        </a:rPr>
                        <a:t>Science &amp; Math</a:t>
                      </a:r>
                    </a:p>
                  </a:txBody>
                  <a:tcPr marL="64008" marR="64008"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6ECDF"/>
                    </a:solidFill>
                  </a:tcPr>
                </a:tc>
                <a:tc>
                  <a:txBody>
                    <a:bodyPr anchor="ctr" rtlCol="false" lIns="0" tIns="0" rIns="0" bIns="0" wrap="square"/>
                    <a:lstStyle/>
                    <a:p>
                      <a:pPr algn="ctr">
                        <a:lnSpc>
                          <a:spcPts val="1950"/>
                        </a:lnSpc>
                        <a:spcBef>
                          <a:spcPts val="0"/>
                        </a:spcBef>
                        <a:buNone/>
                      </a:pPr>
                      <a:r>
                        <a:rPr lang="en-US" sz="1500" b="true">
                          <a:solidFill>
                            <a:srgbClr val="111111"/>
                          </a:solidFill>
                          <a:latin typeface="Nunito Semi-Bold"/>
                          <a:ea typeface="Nunito Semi-Bold"/>
                          <a:cs typeface="Nunito Semi-Bold"/>
                          <a:sym typeface="Nunito Semi-Bold"/>
                        </a:rPr>
                        <a:t>4</a:t>
                      </a:r>
                    </a:p>
                  </a:txBody>
                  <a:tcPr marL="64008" marR="64008"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6ECDF"/>
                    </a:solidFill>
                  </a:tcPr>
                </a:tc>
                <a:tc>
                  <a:txBody>
                    <a:bodyPr anchor="ctr" rtlCol="false" lIns="0" tIns="0" rIns="0" bIns="0" wrap="square"/>
                    <a:lstStyle/>
                    <a:p>
                      <a:pPr algn="ctr">
                        <a:lnSpc>
                          <a:spcPts val="1950"/>
                        </a:lnSpc>
                        <a:spcBef>
                          <a:spcPts val="0"/>
                        </a:spcBef>
                        <a:buNone/>
                      </a:pPr>
                      <a:r>
                        <a:rPr lang="en-US" sz="1500" b="true">
                          <a:solidFill>
                            <a:srgbClr val="111111"/>
                          </a:solidFill>
                          <a:latin typeface="Nunito Semi-Bold"/>
                          <a:ea typeface="Nunito Semi-Bold"/>
                          <a:cs typeface="Nunito Semi-Bold"/>
                          <a:sym typeface="Nunito Semi-Bold"/>
                        </a:rPr>
                        <a:t>Clear and well written</a:t>
                      </a:r>
                    </a:p>
                  </a:txBody>
                  <a:tcPr marL="64008" marR="64008"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6ECDF"/>
                    </a:solidFill>
                  </a:tcPr>
                </a:tc>
              </a:tr>
              <a:tr h="426466">
                <a:tc>
                  <a:txBody>
                    <a:bodyPr anchor="ctr" rtlCol="false" lIns="0" tIns="0" rIns="0" bIns="0" wrap="square"/>
                    <a:lstStyle/>
                    <a:p>
                      <a:pPr algn="ctr">
                        <a:lnSpc>
                          <a:spcPts val="1950"/>
                        </a:lnSpc>
                        <a:spcBef>
                          <a:spcPts val="0"/>
                        </a:spcBef>
                        <a:buNone/>
                      </a:pPr>
                      <a:r>
                        <a:rPr lang="en-US" sz="1500" b="true">
                          <a:solidFill>
                            <a:srgbClr val="111111"/>
                          </a:solidFill>
                          <a:latin typeface="Nunito Semi-Bold"/>
                          <a:ea typeface="Nunito Semi-Bold"/>
                          <a:cs typeface="Nunito Semi-Bold"/>
                          <a:sym typeface="Nunito Semi-Bold"/>
                        </a:rPr>
                        <a:t>A7F8G9</a:t>
                      </a:r>
                    </a:p>
                  </a:txBody>
                  <a:tcPr marL="64008" marR="64008"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c>
                  <a:txBody>
                    <a:bodyPr anchor="ctr" rtlCol="false" lIns="0" tIns="0" rIns="0" bIns="0" wrap="square"/>
                    <a:lstStyle/>
                    <a:p>
                      <a:pPr algn="ctr">
                        <a:lnSpc>
                          <a:spcPts val="1950"/>
                        </a:lnSpc>
                        <a:spcBef>
                          <a:spcPts val="0"/>
                        </a:spcBef>
                        <a:buNone/>
                      </a:pPr>
                      <a:r>
                        <a:rPr lang="en-US" sz="1500" b="true">
                          <a:solidFill>
                            <a:srgbClr val="111111"/>
                          </a:solidFill>
                          <a:latin typeface="Nunito Semi-Bold"/>
                          <a:ea typeface="Nunito Semi-Bold"/>
                          <a:cs typeface="Nunito Semi-Bold"/>
                          <a:sym typeface="Nunito Semi-Bold"/>
                        </a:rPr>
                        <a:t>B000789DEF</a:t>
                      </a:r>
                    </a:p>
                  </a:txBody>
                  <a:tcPr marL="64008" marR="64008"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c>
                  <a:txBody>
                    <a:bodyPr anchor="ctr" rtlCol="false" lIns="0" tIns="0" rIns="0" bIns="0" wrap="square"/>
                    <a:lstStyle/>
                    <a:p>
                      <a:pPr algn="ctr">
                        <a:lnSpc>
                          <a:spcPts val="1950"/>
                        </a:lnSpc>
                        <a:spcBef>
                          <a:spcPts val="0"/>
                        </a:spcBef>
                        <a:buNone/>
                      </a:pPr>
                      <a:r>
                        <a:rPr lang="en-US" sz="1500" b="true">
                          <a:solidFill>
                            <a:srgbClr val="111111"/>
                          </a:solidFill>
                          <a:latin typeface="Nunito Semi-Bold"/>
                          <a:ea typeface="Nunito Semi-Bold"/>
                          <a:cs typeface="Nunito Semi-Bold"/>
                          <a:sym typeface="Nunito Semi-Bold"/>
                        </a:rPr>
                        <a:t>History</a:t>
                      </a:r>
                    </a:p>
                  </a:txBody>
                  <a:tcPr marL="64008" marR="64008"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c>
                  <a:txBody>
                    <a:bodyPr anchor="ctr" rtlCol="false" lIns="0" tIns="0" rIns="0" bIns="0" wrap="square"/>
                    <a:lstStyle/>
                    <a:p>
                      <a:pPr algn="ctr">
                        <a:lnSpc>
                          <a:spcPts val="1950"/>
                        </a:lnSpc>
                        <a:spcBef>
                          <a:spcPts val="0"/>
                        </a:spcBef>
                        <a:buNone/>
                      </a:pPr>
                      <a:r>
                        <a:rPr lang="en-US" sz="1500" b="true">
                          <a:solidFill>
                            <a:srgbClr val="111111"/>
                          </a:solidFill>
                          <a:latin typeface="Nunito Semi-Bold"/>
                          <a:ea typeface="Nunito Semi-Bold"/>
                          <a:cs typeface="Nunito Semi-Bold"/>
                          <a:sym typeface="Nunito Semi-Bold"/>
                        </a:rPr>
                        <a:t>3</a:t>
                      </a:r>
                    </a:p>
                  </a:txBody>
                  <a:tcPr marL="64008" marR="64008"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c>
                  <a:txBody>
                    <a:bodyPr anchor="ctr" rtlCol="false" lIns="0" tIns="0" rIns="0" bIns="0" wrap="square"/>
                    <a:lstStyle/>
                    <a:p>
                      <a:pPr algn="ctr">
                        <a:lnSpc>
                          <a:spcPts val="1950"/>
                        </a:lnSpc>
                        <a:spcBef>
                          <a:spcPts val="0"/>
                        </a:spcBef>
                        <a:buNone/>
                      </a:pPr>
                      <a:r>
                        <a:rPr lang="en-US" sz="1500" b="true">
                          <a:solidFill>
                            <a:srgbClr val="111111"/>
                          </a:solidFill>
                          <a:latin typeface="Nunito Semi-Bold"/>
                          <a:ea typeface="Nunito Semi-Bold"/>
                          <a:cs typeface="Nunito Semi-Bold"/>
                          <a:sym typeface="Nunito Semi-Bold"/>
                        </a:rPr>
                        <a:t>Good but slow in the middle</a:t>
                      </a:r>
                    </a:p>
                  </a:txBody>
                  <a:tcPr marL="64008" marR="64008"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r>
            </a:tbl>
          </a:graphicData>
        </a:graphic>
      </p:graphicFrame>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pic>
        <p:nvPicPr>
          <p:cNvPr id="2" name="Picture 1" descr="ensias_logo.jpg"/>
          <p:cNvPicPr>
            <a:picLocks noChangeAspect="1"/>
          </p:cNvPicPr>
          <p:nvPr/>
        </p:nvPicPr>
        <p:blipFill>
          <a:blip r:embed="rId2"/>
          <a:stretch>
            <a:fillRect/>
          </a:stretch>
        </p:blipFill>
        <p:spPr>
          <a:xfrm>
            <a:off x="1028700" y="9674352"/>
            <a:ext cx="542964" cy="384048"/>
          </a:xfrm>
          <a:prstGeom prst="rect">
            <a:avLst/>
          </a:prstGeom>
        </p:spPr>
      </p:pic>
      <p:sp>
        <p:nvSpPr>
          <p:cNvPr id="3" name="TextBox 2"/>
          <p:cNvSpPr txBox="1"/>
          <p:nvPr/>
        </p:nvSpPr>
        <p:spPr>
          <a:xfrm>
            <a:off x="1577340" y="9601200"/>
            <a:ext cx="14493240" cy="566928"/>
          </a:xfrm>
          <a:prstGeom prst="rect">
            <a:avLst/>
          </a:prstGeom>
          <a:noFill/>
        </p:spPr>
        <p:txBody>
          <a:bodyPr anchor="ctr" rtlCol="false" lIns="0" tIns="0" rIns="0" bIns="0" wrap="square"/>
          <a:lstStyle/>
          <a:p>
            <a:pPr algn="l">
              <a:lnSpc>
                <a:spcPts val="1200"/>
              </a:lnSpc>
              <a:spcBef>
                <a:spcPts val="0"/>
              </a:spcBef>
              <a:buNone/>
            </a:pPr>
            <a:r>
              <a:rPr lang="en-US" sz="1000" b="true">
                <a:solidFill>
                  <a:srgbClr val="8A8378"/>
                </a:solidFill>
                <a:latin typeface="Nunito Semi-Bold"/>
                <a:ea typeface="Nunito Semi-Bold"/>
                <a:cs typeface="Nunito Semi-Bold"/>
                <a:sym typeface="Nunito Semi-Bold"/>
              </a:rPr>
              <a:t>[12] He, X. et al. LightGCN: Simplifying and Powering Graph Convolution Network for Recommendation. SIGIR, 639–648 (2020).   [14] Xiangyi, Y. et al. Hypergraph Projection Enhanced Collaborative Filtering (HPCF). Int. J. Data Science and Analytics 19(2), 269–281 (2025).</a:t>
            </a:r>
          </a:p>
        </p:txBody>
      </p:sp>
      <p:sp>
        <p:nvSpPr>
          <p:cNvPr id="4" name="TextBox 3"/>
          <p:cNvSpPr txBox="1"/>
          <p:nvPr/>
        </p:nvSpPr>
        <p:spPr>
          <a:xfrm>
            <a:off x="16162020" y="9692640"/>
            <a:ext cx="1097280" cy="329184"/>
          </a:xfrm>
          <a:prstGeom prst="rect">
            <a:avLst/>
          </a:prstGeom>
          <a:noFill/>
        </p:spPr>
        <p:txBody>
          <a:bodyPr anchor="t" rtlCol="false" lIns="0" tIns="0" rIns="0" bIns="0" wrap="square"/>
          <a:lstStyle/>
          <a:p>
            <a:pPr algn="r">
              <a:lnSpc>
                <a:spcPts val="2200"/>
              </a:lnSpc>
              <a:spcBef>
                <a:spcPts val="0"/>
              </a:spcBef>
              <a:buNone/>
            </a:pPr>
            <a:r>
              <a:rPr lang="en-US" sz="1800" b="true">
                <a:solidFill>
                  <a:srgbClr val="111111"/>
                </a:solidFill>
                <a:latin typeface="Nunito Ultra-Bold"/>
                <a:ea typeface="Nunito Ultra-Bold"/>
                <a:cs typeface="Nunito Ultra-Bold"/>
                <a:sym typeface="Nunito Ultra-Bold"/>
              </a:rPr>
              <a:t>22</a:t>
            </a:r>
          </a:p>
        </p:txBody>
      </p:sp>
      <p:sp>
        <p:nvSpPr>
          <p:cNvPr id="5" name="TextBox 4"/>
          <p:cNvSpPr txBox="1"/>
          <p:nvPr/>
        </p:nvSpPr>
        <p:spPr>
          <a:xfrm>
            <a:off x="1028700" y="1389888"/>
            <a:ext cx="12938760" cy="329184"/>
          </a:xfrm>
          <a:prstGeom prst="rect">
            <a:avLst/>
          </a:prstGeom>
          <a:noFill/>
        </p:spPr>
        <p:txBody>
          <a:bodyPr anchor="t" rtlCol="false" lIns="0" tIns="0" rIns="0" bIns="0" wrap="square"/>
          <a:lstStyle/>
          <a:p>
            <a:pPr algn="l">
              <a:lnSpc>
                <a:spcPts val="2000"/>
              </a:lnSpc>
              <a:spcBef>
                <a:spcPts val="0"/>
              </a:spcBef>
              <a:buNone/>
            </a:pPr>
            <a:r>
              <a:rPr lang="en-US" sz="1500" b="true" spc="160">
                <a:solidFill>
                  <a:srgbClr val="1F7A8C"/>
                </a:solidFill>
                <a:latin typeface="Nunito Ultra-Bold"/>
                <a:ea typeface="Nunito Ultra-Bold"/>
                <a:cs typeface="Nunito Ultra-Bold"/>
                <a:sym typeface="Nunito Ultra-Bold"/>
              </a:rPr>
              <a:t>EXPERIMENTAL PROTOCOL</a:t>
            </a:r>
          </a:p>
        </p:txBody>
      </p:sp>
      <p:sp>
        <p:nvSpPr>
          <p:cNvPr id="6" name="Rounded Rectangle 5"/>
          <p:cNvSpPr/>
          <p:nvPr/>
        </p:nvSpPr>
        <p:spPr>
          <a:xfrm>
            <a:off x="14516100"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7" name="TextBox 6"/>
          <p:cNvSpPr txBox="1"/>
          <p:nvPr/>
        </p:nvSpPr>
        <p:spPr>
          <a:xfrm>
            <a:off x="14516100"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1</a:t>
            </a:r>
          </a:p>
        </p:txBody>
      </p:sp>
      <p:sp>
        <p:nvSpPr>
          <p:cNvPr id="8" name="Rounded Rectangle 7"/>
          <p:cNvSpPr/>
          <p:nvPr/>
        </p:nvSpPr>
        <p:spPr>
          <a:xfrm>
            <a:off x="14918436"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9" name="TextBox 8"/>
          <p:cNvSpPr txBox="1"/>
          <p:nvPr/>
        </p:nvSpPr>
        <p:spPr>
          <a:xfrm>
            <a:off x="14918436"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2</a:t>
            </a:r>
          </a:p>
        </p:txBody>
      </p:sp>
      <p:sp>
        <p:nvSpPr>
          <p:cNvPr id="10" name="Rounded Rectangle 9"/>
          <p:cNvSpPr/>
          <p:nvPr/>
        </p:nvSpPr>
        <p:spPr>
          <a:xfrm>
            <a:off x="15320772" y="1371600"/>
            <a:ext cx="329184" cy="329184"/>
          </a:xfrm>
          <a:prstGeom prst="roundRect">
            <a:avLst>
              <a:gd name="adj" fmla="val 16666"/>
            </a:avLst>
          </a:prstGeom>
          <a:solidFill>
            <a:srgbClr val="4472C4"/>
          </a:solidFill>
          <a:ln w="15875">
            <a:solidFill>
              <a:srgbClr val="4472C4"/>
            </a:solidFill>
          </a:ln>
        </p:spPr>
        <p:txBody>
          <a:bodyPr anchor="ctr" rtlCol="false" lIns="0" tIns="0" rIns="0" bIns="0" wrap="square"/>
          <a:lstStyle/>
          <a:p>
            <a:endParaRPr lang="en-US" sz="1800"/>
          </a:p>
        </p:txBody>
      </p:sp>
      <p:sp>
        <p:nvSpPr>
          <p:cNvPr id="11" name="TextBox 10"/>
          <p:cNvSpPr txBox="1"/>
          <p:nvPr/>
        </p:nvSpPr>
        <p:spPr>
          <a:xfrm>
            <a:off x="15320772"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FFFFFF"/>
                </a:solidFill>
                <a:latin typeface="Nunito Ultra-Bold"/>
                <a:ea typeface="Nunito Ultra-Bold"/>
                <a:cs typeface="Nunito Ultra-Bold"/>
                <a:sym typeface="Nunito Ultra-Bold"/>
              </a:rPr>
              <a:t>3</a:t>
            </a:r>
          </a:p>
        </p:txBody>
      </p:sp>
      <p:sp>
        <p:nvSpPr>
          <p:cNvPr id="12" name="Rounded Rectangle 11"/>
          <p:cNvSpPr/>
          <p:nvPr/>
        </p:nvSpPr>
        <p:spPr>
          <a:xfrm>
            <a:off x="15723108"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13" name="TextBox 12"/>
          <p:cNvSpPr txBox="1"/>
          <p:nvPr/>
        </p:nvSpPr>
        <p:spPr>
          <a:xfrm>
            <a:off x="15723108"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4</a:t>
            </a:r>
          </a:p>
        </p:txBody>
      </p:sp>
      <p:sp>
        <p:nvSpPr>
          <p:cNvPr id="14" name="Rounded Rectangle 13"/>
          <p:cNvSpPr/>
          <p:nvPr/>
        </p:nvSpPr>
        <p:spPr>
          <a:xfrm>
            <a:off x="16125444"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15" name="TextBox 14"/>
          <p:cNvSpPr txBox="1"/>
          <p:nvPr/>
        </p:nvSpPr>
        <p:spPr>
          <a:xfrm>
            <a:off x="16125444"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5</a:t>
            </a:r>
          </a:p>
        </p:txBody>
      </p:sp>
      <p:sp>
        <p:nvSpPr>
          <p:cNvPr id="16" name="Rounded Rectangle 15"/>
          <p:cNvSpPr/>
          <p:nvPr/>
        </p:nvSpPr>
        <p:spPr>
          <a:xfrm>
            <a:off x="16527780"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17" name="TextBox 16"/>
          <p:cNvSpPr txBox="1"/>
          <p:nvPr/>
        </p:nvSpPr>
        <p:spPr>
          <a:xfrm>
            <a:off x="16527780"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6</a:t>
            </a:r>
          </a:p>
        </p:txBody>
      </p:sp>
      <p:sp>
        <p:nvSpPr>
          <p:cNvPr id="18" name="Rounded Rectangle 17"/>
          <p:cNvSpPr/>
          <p:nvPr/>
        </p:nvSpPr>
        <p:spPr>
          <a:xfrm>
            <a:off x="16930116"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19" name="TextBox 18"/>
          <p:cNvSpPr txBox="1"/>
          <p:nvPr/>
        </p:nvSpPr>
        <p:spPr>
          <a:xfrm>
            <a:off x="16930116"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7</a:t>
            </a:r>
          </a:p>
        </p:txBody>
      </p:sp>
      <p:sp>
        <p:nvSpPr>
          <p:cNvPr id="20" name="TextBox 19"/>
          <p:cNvSpPr txBox="1"/>
          <p:nvPr/>
        </p:nvSpPr>
        <p:spPr>
          <a:xfrm>
            <a:off x="1028700" y="1719072"/>
            <a:ext cx="16230600" cy="730250"/>
          </a:xfrm>
          <a:prstGeom prst="rect">
            <a:avLst/>
          </a:prstGeom>
          <a:noFill/>
        </p:spPr>
        <p:txBody>
          <a:bodyPr anchor="t" rtlCol="false" lIns="0" tIns="0" rIns="0" bIns="0" wrap="square"/>
          <a:lstStyle/>
          <a:p>
            <a:pPr algn="l">
              <a:lnSpc>
                <a:spcPts val="5060"/>
              </a:lnSpc>
              <a:spcBef>
                <a:spcPts val="0"/>
              </a:spcBef>
              <a:buNone/>
            </a:pPr>
            <a:r>
              <a:rPr lang="en-US" sz="4600" b="true" spc="-230">
                <a:solidFill>
                  <a:srgbClr val="111111"/>
                </a:solidFill>
                <a:latin typeface="Roca Two Bold"/>
                <a:ea typeface="Roca Two Bold"/>
                <a:cs typeface="Roca Two Bold"/>
                <a:sym typeface="Roca Two Bold"/>
              </a:rPr>
              <a:t>Data Splitting &amp; Preprocessing</a:t>
            </a:r>
          </a:p>
        </p:txBody>
      </p:sp>
      <p:sp>
        <p:nvSpPr>
          <p:cNvPr id="21" name="Rounded Rectangle 20"/>
          <p:cNvSpPr/>
          <p:nvPr/>
        </p:nvSpPr>
        <p:spPr>
          <a:xfrm>
            <a:off x="1028700" y="2559050"/>
            <a:ext cx="1523907" cy="420624"/>
          </a:xfrm>
          <a:prstGeom prst="roundRect">
            <a:avLst>
              <a:gd name="adj" fmla="val 50000"/>
            </a:avLst>
          </a:prstGeom>
          <a:solidFill>
            <a:srgbClr val="4472C4"/>
          </a:solidFill>
          <a:ln>
            <a:noFill/>
          </a:ln>
        </p:spPr>
        <p:txBody>
          <a:bodyPr anchor="ctr" rtlCol="false" lIns="45720" tIns="0" rIns="45720" bIns="0" wrap="square"/>
          <a:lstStyle/>
          <a:p>
            <a:pPr algn="ctr">
              <a:lnSpc>
                <a:spcPts val="2160"/>
              </a:lnSpc>
              <a:spcBef>
                <a:spcPts val="0"/>
              </a:spcBef>
              <a:buNone/>
            </a:pPr>
            <a:r>
              <a:rPr lang="en-US" sz="1800" b="true">
                <a:solidFill>
                  <a:srgbClr val="FFFFFF"/>
                </a:solidFill>
                <a:latin typeface="Nunito Bold"/>
                <a:ea typeface="Nunito Bold"/>
                <a:cs typeface="Nunito Bold"/>
                <a:sym typeface="Nunito Bold"/>
              </a:rPr>
              <a:t>Datasets</a:t>
            </a:r>
          </a:p>
        </p:txBody>
      </p:sp>
      <p:sp>
        <p:nvSpPr>
          <p:cNvPr id="22" name="Rounded Rectangle 21"/>
          <p:cNvSpPr/>
          <p:nvPr/>
        </p:nvSpPr>
        <p:spPr>
          <a:xfrm>
            <a:off x="2680623" y="2559050"/>
            <a:ext cx="1349432" cy="420624"/>
          </a:xfrm>
          <a:prstGeom prst="roundRect">
            <a:avLst>
              <a:gd name="adj" fmla="val 50000"/>
            </a:avLst>
          </a:prstGeom>
          <a:noFill/>
          <a:ln w="28575">
            <a:solidFill>
              <a:srgbClr val="4472C4"/>
            </a:solidFill>
          </a:ln>
        </p:spPr>
        <p:txBody>
          <a:bodyPr anchor="ctr" rtlCol="false" lIns="45720" tIns="0" rIns="45720" bIns="0" wrap="square"/>
          <a:lstStyle/>
          <a:p>
            <a:pPr algn="ctr">
              <a:lnSpc>
                <a:spcPts val="2160"/>
              </a:lnSpc>
              <a:spcBef>
                <a:spcPts val="0"/>
              </a:spcBef>
              <a:buNone/>
            </a:pPr>
            <a:r>
              <a:rPr lang="en-US" sz="1800" b="true">
                <a:solidFill>
                  <a:srgbClr val="4472C4"/>
                </a:solidFill>
                <a:latin typeface="Nunito Bold"/>
                <a:ea typeface="Nunito Bold"/>
                <a:cs typeface="Nunito Bold"/>
                <a:sym typeface="Nunito Bold"/>
              </a:rPr>
              <a:t>Metrics</a:t>
            </a:r>
          </a:p>
        </p:txBody>
      </p:sp>
      <p:sp>
        <p:nvSpPr>
          <p:cNvPr id="23" name="Rounded Rectangle 22"/>
          <p:cNvSpPr/>
          <p:nvPr/>
        </p:nvSpPr>
        <p:spPr>
          <a:xfrm>
            <a:off x="4158071" y="2559050"/>
            <a:ext cx="1642577" cy="420624"/>
          </a:xfrm>
          <a:prstGeom prst="roundRect">
            <a:avLst>
              <a:gd name="adj" fmla="val 50000"/>
            </a:avLst>
          </a:prstGeom>
          <a:noFill/>
          <a:ln w="28575">
            <a:solidFill>
              <a:srgbClr val="4472C4"/>
            </a:solidFill>
          </a:ln>
        </p:spPr>
        <p:txBody>
          <a:bodyPr anchor="ctr" rtlCol="false" lIns="45720" tIns="0" rIns="45720" bIns="0" wrap="square"/>
          <a:lstStyle/>
          <a:p>
            <a:pPr algn="ctr">
              <a:lnSpc>
                <a:spcPts val="2160"/>
              </a:lnSpc>
              <a:spcBef>
                <a:spcPts val="0"/>
              </a:spcBef>
              <a:buNone/>
            </a:pPr>
            <a:r>
              <a:rPr lang="en-US" sz="1800" b="true">
                <a:solidFill>
                  <a:srgbClr val="4472C4"/>
                </a:solidFill>
                <a:latin typeface="Nunito Bold"/>
                <a:ea typeface="Nunito Bold"/>
                <a:cs typeface="Nunito Bold"/>
                <a:sym typeface="Nunito Bold"/>
              </a:rPr>
              <a:t>Hardware</a:t>
            </a:r>
          </a:p>
        </p:txBody>
      </p:sp>
      <p:sp>
        <p:nvSpPr>
          <p:cNvPr id="24" name="Rounded Rectangle 23"/>
          <p:cNvSpPr/>
          <p:nvPr/>
        </p:nvSpPr>
        <p:spPr>
          <a:xfrm>
            <a:off x="1028700" y="3592322"/>
            <a:ext cx="7932420" cy="5716270"/>
          </a:xfrm>
          <a:prstGeom prst="roundRect">
            <a:avLst>
              <a:gd name="adj" fmla="val 5438"/>
            </a:avLst>
          </a:prstGeom>
          <a:solidFill>
            <a:srgbClr val="4472C4"/>
          </a:solidFill>
          <a:ln>
            <a:noFill/>
          </a:ln>
        </p:spPr>
        <p:txBody>
          <a:bodyPr anchor="ctr" rtlCol="false" lIns="0" tIns="0" rIns="0" bIns="0" wrap="square"/>
          <a:lstStyle/>
          <a:p>
            <a:endParaRPr lang="en-US" sz="1800"/>
          </a:p>
        </p:txBody>
      </p:sp>
      <p:sp>
        <p:nvSpPr>
          <p:cNvPr id="25" name="Rounded Rectangle 24"/>
          <p:cNvSpPr/>
          <p:nvPr/>
        </p:nvSpPr>
        <p:spPr>
          <a:xfrm>
            <a:off x="1485900" y="3354578"/>
            <a:ext cx="3217901" cy="438912"/>
          </a:xfrm>
          <a:prstGeom prst="roundRect">
            <a:avLst>
              <a:gd name="adj" fmla="val 50000"/>
            </a:avLst>
          </a:prstGeom>
          <a:solidFill>
            <a:srgbClr val="FFFFFF"/>
          </a:solidFill>
          <a:ln w="28575">
            <a:solidFill>
              <a:srgbClr val="FFFFFF"/>
            </a:solidFill>
          </a:ln>
        </p:spPr>
        <p:txBody>
          <a:bodyPr anchor="ctr" rtlCol="false" lIns="45720" tIns="0" rIns="45720" bIns="0" wrap="square"/>
          <a:lstStyle/>
          <a:p>
            <a:pPr algn="ctr">
              <a:lnSpc>
                <a:spcPts val="2640"/>
              </a:lnSpc>
              <a:spcBef>
                <a:spcPts val="0"/>
              </a:spcBef>
              <a:buNone/>
            </a:pPr>
            <a:r>
              <a:rPr lang="en-US" sz="2200" b="true">
                <a:solidFill>
                  <a:srgbClr val="4472C4"/>
                </a:solidFill>
                <a:latin typeface="Nunito Bold"/>
                <a:ea typeface="Nunito Bold"/>
                <a:cs typeface="Nunito Bold"/>
                <a:sym typeface="Nunito Bold"/>
              </a:rPr>
              <a:t>Clustering (C1, C2)</a:t>
            </a:r>
          </a:p>
        </p:txBody>
      </p:sp>
      <p:sp>
        <p:nvSpPr>
          <p:cNvPr id="26" name="TextBox 25"/>
          <p:cNvSpPr txBox="1"/>
          <p:nvPr/>
        </p:nvSpPr>
        <p:spPr>
          <a:xfrm>
            <a:off x="1531620" y="4232402"/>
            <a:ext cx="6972300" cy="4801870"/>
          </a:xfrm>
          <a:prstGeom prst="rect">
            <a:avLst/>
          </a:prstGeom>
          <a:noFill/>
        </p:spPr>
        <p:txBody>
          <a:bodyPr anchor="t" rtlCol="false" lIns="0" tIns="0" rIns="0" bIns="0" wrap="square"/>
          <a:lstStyle/>
          <a:p>
            <a:pPr algn="l" marL="274320" indent="-274320">
              <a:lnSpc>
                <a:spcPts val="2800"/>
              </a:lnSpc>
              <a:spcBef>
                <a:spcPts val="0"/>
              </a:spcBef>
              <a:buClr>
                <a:srgbClr val="ECC665"/>
              </a:buClr>
              <a:buSzPct val="100000"/>
              <a:buFont typeface="Arial"/>
              <a:buChar char="•"/>
            </a:pPr>
            <a:r>
              <a:rPr lang="en-US" sz="2000" b="true">
                <a:solidFill>
                  <a:srgbClr val="FFFFFF"/>
                </a:solidFill>
                <a:latin typeface="Nunito Bold"/>
                <a:ea typeface="Nunito Bold"/>
                <a:cs typeface="Nunito Bold"/>
                <a:sym typeface="Nunito Bold"/>
              </a:rPr>
              <a:t>Five-fold cross-validation</a:t>
            </a:r>
            <a:r>
              <a:rPr lang="en-US" sz="2000" b="true">
                <a:solidFill>
                  <a:srgbClr val="FFFFFF"/>
                </a:solidFill>
                <a:latin typeface="Nunito Semi-Bold"/>
                <a:ea typeface="Nunito Semi-Bold"/>
                <a:cs typeface="Nunito Semi-Bold"/>
                <a:sym typeface="Nunito Semi-Bold"/>
              </a:rPr>
              <a:t> for surrogate / attribution stability.</a:t>
            </a:r>
          </a:p>
          <a:p>
            <a:pPr algn="l" marL="274320" indent="-274320">
              <a:lnSpc>
                <a:spcPts val="2800"/>
              </a:lnSpc>
              <a:spcBef>
                <a:spcPts val="1000"/>
              </a:spcBef>
              <a:buClr>
                <a:srgbClr val="ECC665"/>
              </a:buClr>
              <a:buSzPct val="100000"/>
              <a:buFont typeface="Arial"/>
              <a:buChar char="•"/>
            </a:pPr>
            <a:r>
              <a:rPr lang="en-US" sz="2000" b="true">
                <a:solidFill>
                  <a:srgbClr val="FFFFFF"/>
                </a:solidFill>
                <a:latin typeface="Nunito Semi-Bold"/>
                <a:ea typeface="Nunito Semi-Bold"/>
                <a:cs typeface="Nunito Semi-Bold"/>
                <a:sym typeface="Nunito Semi-Bold"/>
              </a:rPr>
              <a:t>Feature standardisation; PCA used only as a geometric and visual check.</a:t>
            </a:r>
          </a:p>
          <a:p>
            <a:pPr algn="l" marL="274320" indent="-274320">
              <a:lnSpc>
                <a:spcPts val="2800"/>
              </a:lnSpc>
              <a:spcBef>
                <a:spcPts val="1000"/>
              </a:spcBef>
              <a:buClr>
                <a:srgbClr val="ECC665"/>
              </a:buClr>
              <a:buSzPct val="100000"/>
              <a:buFont typeface="Arial"/>
              <a:buChar char="•"/>
            </a:pPr>
            <a:r>
              <a:rPr lang="en-US" sz="2000" b="true">
                <a:solidFill>
                  <a:srgbClr val="FFFFFF"/>
                </a:solidFill>
                <a:latin typeface="Nunito Semi-Bold"/>
                <a:ea typeface="Nunito Semi-Bold"/>
                <a:cs typeface="Nunito Semi-Bold"/>
                <a:sym typeface="Nunito Semi-Bold"/>
              </a:rPr>
              <a:t>Multi-criteria k selection: elbow, Silhouette, Davies–Bouldin.</a:t>
            </a:r>
          </a:p>
          <a:p>
            <a:pPr algn="l" marL="274320" indent="-274320">
              <a:lnSpc>
                <a:spcPts val="2800"/>
              </a:lnSpc>
              <a:spcBef>
                <a:spcPts val="1000"/>
              </a:spcBef>
              <a:buClr>
                <a:srgbClr val="ECC665"/>
              </a:buClr>
              <a:buSzPct val="100000"/>
              <a:buFont typeface="Arial"/>
              <a:buChar char="•"/>
            </a:pPr>
            <a:r>
              <a:rPr lang="en-US" sz="2000" b="true">
                <a:solidFill>
                  <a:srgbClr val="FFFFFF"/>
                </a:solidFill>
                <a:latin typeface="Nunito Semi-Bold"/>
                <a:ea typeface="Nunito Semi-Bold"/>
                <a:cs typeface="Nunito Semi-Bold"/>
                <a:sym typeface="Nunito Semi-Bold"/>
              </a:rPr>
              <a:t>Surrogate fidelity floor: </a:t>
            </a:r>
            <a:r>
              <a:rPr lang="en-US" sz="2000" b="true">
                <a:solidFill>
                  <a:srgbClr val="FFFFFF"/>
                </a:solidFill>
                <a:latin typeface="Nunito Bold"/>
                <a:ea typeface="Nunito Bold"/>
                <a:cs typeface="Nunito Bold"/>
                <a:sym typeface="Nunito Bold"/>
              </a:rPr>
              <a:t>macro-F1 ≈ 0.82</a:t>
            </a:r>
            <a:r>
              <a:rPr lang="en-US" sz="2000" b="true">
                <a:solidFill>
                  <a:srgbClr val="FFFFFF"/>
                </a:solidFill>
                <a:latin typeface="Nunito Semi-Bold"/>
                <a:ea typeface="Nunito Semi-Bold"/>
                <a:cs typeface="Nunito Semi-Bold"/>
                <a:sym typeface="Nunito Semi-Bold"/>
              </a:rPr>
              <a:t>.</a:t>
            </a:r>
          </a:p>
        </p:txBody>
      </p:sp>
      <p:sp>
        <p:nvSpPr>
          <p:cNvPr id="27" name="Rounded Rectangle 26"/>
          <p:cNvSpPr/>
          <p:nvPr/>
        </p:nvSpPr>
        <p:spPr>
          <a:xfrm>
            <a:off x="9326880" y="3592322"/>
            <a:ext cx="7932420" cy="5716270"/>
          </a:xfrm>
          <a:prstGeom prst="roundRect">
            <a:avLst>
              <a:gd name="adj" fmla="val 5438"/>
            </a:avLst>
          </a:prstGeom>
          <a:solidFill>
            <a:srgbClr val="F6ECDF"/>
          </a:solidFill>
          <a:ln>
            <a:noFill/>
          </a:ln>
        </p:spPr>
        <p:txBody>
          <a:bodyPr anchor="ctr" rtlCol="false" lIns="0" tIns="0" rIns="0" bIns="0" wrap="square"/>
          <a:lstStyle/>
          <a:p>
            <a:endParaRPr lang="en-US" sz="1800"/>
          </a:p>
        </p:txBody>
      </p:sp>
      <p:sp>
        <p:nvSpPr>
          <p:cNvPr id="28" name="Rounded Rectangle 27"/>
          <p:cNvSpPr/>
          <p:nvPr/>
        </p:nvSpPr>
        <p:spPr>
          <a:xfrm>
            <a:off x="9784080" y="3354578"/>
            <a:ext cx="3642955" cy="438912"/>
          </a:xfrm>
          <a:prstGeom prst="roundRect">
            <a:avLst>
              <a:gd name="adj" fmla="val 50000"/>
            </a:avLst>
          </a:prstGeom>
          <a:solidFill>
            <a:srgbClr val="4472C4"/>
          </a:solidFill>
          <a:ln w="28575">
            <a:solidFill>
              <a:srgbClr val="4472C4"/>
            </a:solidFill>
          </a:ln>
        </p:spPr>
        <p:txBody>
          <a:bodyPr anchor="ctr" rtlCol="false" lIns="45720" tIns="0" rIns="45720" bIns="0" wrap="square"/>
          <a:lstStyle/>
          <a:p>
            <a:pPr algn="ctr">
              <a:lnSpc>
                <a:spcPts val="2640"/>
              </a:lnSpc>
              <a:spcBef>
                <a:spcPts val="0"/>
              </a:spcBef>
              <a:buNone/>
            </a:pPr>
            <a:r>
              <a:rPr lang="en-US" sz="2200" b="true">
                <a:solidFill>
                  <a:srgbClr val="FFFFFF"/>
                </a:solidFill>
                <a:latin typeface="Nunito Bold"/>
                <a:ea typeface="Nunito Bold"/>
                <a:cs typeface="Nunito Bold"/>
                <a:sym typeface="Nunito Bold"/>
              </a:rPr>
              <a:t>Recommendation (C3)</a:t>
            </a:r>
          </a:p>
        </p:txBody>
      </p:sp>
      <p:sp>
        <p:nvSpPr>
          <p:cNvPr id="29" name="TextBox 28"/>
          <p:cNvSpPr txBox="1"/>
          <p:nvPr/>
        </p:nvSpPr>
        <p:spPr>
          <a:xfrm>
            <a:off x="9829800" y="4232402"/>
            <a:ext cx="6972300" cy="4801870"/>
          </a:xfrm>
          <a:prstGeom prst="rect">
            <a:avLst/>
          </a:prstGeom>
          <a:noFill/>
        </p:spPr>
        <p:txBody>
          <a:bodyPr anchor="t" rtlCol="false" lIns="0" tIns="0" rIns="0" bIns="0" wrap="square"/>
          <a:lstStyle/>
          <a:p>
            <a:pPr algn="l" marL="274320" indent="-274320">
              <a:lnSpc>
                <a:spcPts val="2800"/>
              </a:lnSpc>
              <a:spcBef>
                <a:spcPts val="0"/>
              </a:spcBef>
              <a:buClr>
                <a:srgbClr val="1F7A8C"/>
              </a:buClr>
              <a:buSzPct val="100000"/>
              <a:buFont typeface="Arial"/>
              <a:buChar char="•"/>
            </a:pPr>
            <a:r>
              <a:rPr lang="en-US" sz="2000" b="true">
                <a:solidFill>
                  <a:srgbClr val="111111"/>
                </a:solidFill>
                <a:latin typeface="Nunito Bold"/>
                <a:ea typeface="Nunito Bold"/>
                <a:cs typeface="Nunito Bold"/>
                <a:sym typeface="Nunito Bold"/>
              </a:rPr>
              <a:t>User-level, time-ordered split:</a:t>
            </a:r>
            <a:r>
              <a:rPr lang="en-US" sz="2000" b="true">
                <a:solidFill>
                  <a:srgbClr val="111111"/>
                </a:solidFill>
                <a:latin typeface="Nunito Semi-Bold"/>
                <a:ea typeface="Nunito Semi-Bold"/>
                <a:cs typeface="Nunito Semi-Bold"/>
                <a:sym typeface="Nunito Semi-Bold"/>
              </a:rPr>
              <a:t> 70 % train / 10 % validation / 20 % test.</a:t>
            </a:r>
          </a:p>
          <a:p>
            <a:pPr algn="l" marL="274320" indent="-274320">
              <a:lnSpc>
                <a:spcPts val="2800"/>
              </a:lnSpc>
              <a:spcBef>
                <a:spcPts val="1000"/>
              </a:spcBef>
              <a:buClr>
                <a:srgbClr val="1F7A8C"/>
              </a:buClr>
              <a:buSzPct val="100000"/>
              <a:buFont typeface="Arial"/>
              <a:buChar char="•"/>
            </a:pPr>
            <a:r>
              <a:rPr lang="en-US" sz="2000" b="true">
                <a:solidFill>
                  <a:srgbClr val="111111"/>
                </a:solidFill>
                <a:latin typeface="Nunito Bold"/>
                <a:ea typeface="Nunito Bold"/>
                <a:cs typeface="Nunito Bold"/>
                <a:sym typeface="Nunito Bold"/>
              </a:rPr>
              <a:t>Leave-one-out:</a:t>
            </a:r>
            <a:r>
              <a:rPr lang="en-US" sz="2000" b="true">
                <a:solidFill>
                  <a:srgbClr val="111111"/>
                </a:solidFill>
                <a:latin typeface="Nunito Semi-Bold"/>
                <a:ea typeface="Nunito Semi-Bold"/>
                <a:cs typeface="Nunito Semi-Bold"/>
                <a:sym typeface="Nunito Semi-Bold"/>
              </a:rPr>
              <a:t> the latest test positive per user is the target, ranked against negatives.</a:t>
            </a:r>
          </a:p>
          <a:p>
            <a:pPr algn="l" marL="274320" indent="-274320">
              <a:lnSpc>
                <a:spcPts val="2800"/>
              </a:lnSpc>
              <a:spcBef>
                <a:spcPts val="1000"/>
              </a:spcBef>
              <a:buClr>
                <a:srgbClr val="1F7A8C"/>
              </a:buClr>
              <a:buSzPct val="100000"/>
              <a:buFont typeface="Arial"/>
              <a:buChar char="•"/>
            </a:pPr>
            <a:r>
              <a:rPr lang="en-US" sz="2000" b="true">
                <a:solidFill>
                  <a:srgbClr val="111111"/>
                </a:solidFill>
                <a:latin typeface="Nunito Semi-Bold"/>
                <a:ea typeface="Nunito Semi-Bold"/>
                <a:cs typeface="Nunito Semi-Bold"/>
                <a:sym typeface="Nunito Semi-Bold"/>
              </a:rPr>
              <a:t>Implicit conversion: MovieLens-1M ratings &gt; 3 treated as positive.</a:t>
            </a:r>
          </a:p>
          <a:p>
            <a:pPr algn="l" marL="274320" indent="-274320">
              <a:lnSpc>
                <a:spcPts val="2960"/>
              </a:lnSpc>
              <a:spcBef>
                <a:spcPts val="1000"/>
              </a:spcBef>
              <a:buClr>
                <a:srgbClr val="1F7A8C"/>
              </a:buClr>
              <a:buSzPct val="100000"/>
              <a:buFont typeface="Arial"/>
              <a:buChar char="•"/>
            </a:pPr>
            <a:r>
              <a:rPr lang="en-US" sz="2000" b="true">
                <a:solidFill>
                  <a:srgbClr val="111111"/>
                </a:solidFill>
                <a:latin typeface="Nunito Semi-Bold"/>
                <a:ea typeface="Nunito Semi-Bold"/>
                <a:cs typeface="Nunito Semi-Bold"/>
                <a:sym typeface="Nunito Semi-Bold"/>
              </a:rPr>
              <a:t>Popularity-aware negative sampling </a:t>
            </a:r>
            <a:r>
              <a:rPr lang="en-US" sz="2000" b="true">
                <a:solidFill>
                  <a:srgbClr val="111111"/>
                </a:solidFill>
                <a:latin typeface="Nunito Bold"/>
                <a:ea typeface="Nunito Bold"/>
                <a:cs typeface="Nunito Bold"/>
                <a:sym typeface="Nunito Bold"/>
              </a:rPr>
              <a:t>q(i) </a:t>
            </a:r>
            <a:r>
              <a:rPr lang="en-US" sz="2000" b="true">
                <a:solidFill>
                  <a:srgbClr val="111111"/>
                </a:solidFill>
                <a:latin typeface="Cambria Math"/>
                <a:ea typeface="Cambria Math"/>
                <a:cs typeface="Cambria Math"/>
                <a:sym typeface="Cambria Math"/>
              </a:rPr>
              <a:t>∝ </a:t>
            </a:r>
            <a:r>
              <a:rPr lang="en-US" sz="2000" b="true">
                <a:solidFill>
                  <a:srgbClr val="111111"/>
                </a:solidFill>
                <a:latin typeface="Nunito Bold"/>
                <a:ea typeface="Nunito Bold"/>
                <a:cs typeface="Nunito Bold"/>
                <a:sym typeface="Nunito Bold"/>
              </a:rPr>
              <a:t>f</a:t>
            </a:r>
            <a:r>
              <a:rPr lang="en-US" sz="2000" b="true" baseline="-25000">
                <a:solidFill>
                  <a:srgbClr val="111111"/>
                </a:solidFill>
                <a:latin typeface="Nunito Bold"/>
                <a:ea typeface="Nunito Bold"/>
                <a:cs typeface="Nunito Bold"/>
                <a:sym typeface="Nunito Bold"/>
              </a:rPr>
              <a:t>i</a:t>
            </a:r>
            <a:r>
              <a:rPr lang="en-US" sz="2000" b="true" baseline="30000">
                <a:solidFill>
                  <a:srgbClr val="111111"/>
                </a:solidFill>
                <a:latin typeface="Calibri"/>
                <a:ea typeface="Calibri"/>
                <a:cs typeface="Calibri"/>
                <a:sym typeface="Calibri"/>
              </a:rPr>
              <a:t>η</a:t>
            </a:r>
            <a:r>
              <a:rPr lang="en-US" sz="2000" b="true">
                <a:solidFill>
                  <a:srgbClr val="111111"/>
                </a:solidFill>
                <a:latin typeface="Nunito Semi-Bold"/>
                <a:ea typeface="Nunito Semi-Bold"/>
                <a:cs typeface="Nunito Semi-Bold"/>
                <a:sym typeface="Nunito Semi-Bold"/>
              </a:rPr>
              <a:t> for harder negatives.</a:t>
            </a:r>
          </a:p>
          <a:p>
            <a:pPr algn="l" marL="274320" indent="-274320">
              <a:lnSpc>
                <a:spcPts val="2800"/>
              </a:lnSpc>
              <a:spcBef>
                <a:spcPts val="1000"/>
              </a:spcBef>
              <a:buClr>
                <a:srgbClr val="1F7A8C"/>
              </a:buClr>
              <a:buSzPct val="100000"/>
              <a:buFont typeface="Arial"/>
              <a:buChar char="•"/>
            </a:pPr>
            <a:r>
              <a:rPr lang="en-US" sz="2000" b="true">
                <a:solidFill>
                  <a:srgbClr val="111111"/>
                </a:solidFill>
                <a:latin typeface="Nunito Semi-Bold"/>
                <a:ea typeface="Nunito Semi-Bold"/>
                <a:cs typeface="Nunito Semi-Bold"/>
                <a:sym typeface="Nunito Semi-Bold"/>
              </a:rPr>
              <a:t>Reproducibility: seeds {42, 43, 44, 45, 46}; early-stopping patience 20.</a:t>
            </a:r>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pic>
        <p:nvPicPr>
          <p:cNvPr id="2" name="Picture 1" descr="ensias_logo.jpg"/>
          <p:cNvPicPr>
            <a:picLocks noChangeAspect="1"/>
          </p:cNvPicPr>
          <p:nvPr/>
        </p:nvPicPr>
        <p:blipFill>
          <a:blip r:embed="rId2"/>
          <a:stretch>
            <a:fillRect/>
          </a:stretch>
        </p:blipFill>
        <p:spPr>
          <a:xfrm>
            <a:off x="1028700" y="9674352"/>
            <a:ext cx="542964" cy="384048"/>
          </a:xfrm>
          <a:prstGeom prst="rect">
            <a:avLst/>
          </a:prstGeom>
        </p:spPr>
      </p:pic>
      <p:sp>
        <p:nvSpPr>
          <p:cNvPr id="3" name="TextBox 2"/>
          <p:cNvSpPr txBox="1"/>
          <p:nvPr/>
        </p:nvSpPr>
        <p:spPr>
          <a:xfrm>
            <a:off x="1577340" y="9601200"/>
            <a:ext cx="14493240" cy="566928"/>
          </a:xfrm>
          <a:prstGeom prst="rect">
            <a:avLst/>
          </a:prstGeom>
          <a:noFill/>
        </p:spPr>
        <p:txBody>
          <a:bodyPr anchor="ctr" rtlCol="false" lIns="0" tIns="0" rIns="0" bIns="0" wrap="square"/>
          <a:lstStyle/>
          <a:p>
            <a:pPr algn="l">
              <a:lnSpc>
                <a:spcPts val="1020"/>
              </a:lnSpc>
              <a:spcBef>
                <a:spcPts val="0"/>
              </a:spcBef>
              <a:buNone/>
            </a:pPr>
            <a:r>
              <a:rPr lang="en-US" sz="850" b="true">
                <a:solidFill>
                  <a:srgbClr val="8A8378"/>
                </a:solidFill>
                <a:latin typeface="Nunito Semi-Bold"/>
                <a:ea typeface="Nunito Semi-Bold"/>
                <a:cs typeface="Nunito Semi-Bold"/>
                <a:sym typeface="Nunito Semi-Bold"/>
              </a:rPr>
              <a:t>[7] Ribeiro, M. T., Singh, S. &amp; Guestrin, C. "Why Should I Trust You?": Explaining the Predictions of Any Classifier (LIME). KDD, 1135–1144 (2016).   [10] Koren, Y., Bell, R. &amp; Volinsky, C. Matrix Factorization Techniques for Recommender Systems. Computer 42(8), 30–37 (2009).   [11] He, X. et al. Neural Collaborative Filtering. WWW, 173–182 (2017).   [12] He, X. et al. LightGCN: Simplifying and Powering Graph Convolution Network for Recommendation. SIGIR, 639–648 (2020).   [13] Xia, L. et al. Hypergraph Contrastive Collaborative Filtering (HCCF). SIGIR, 70–79 (2022).   [14] Xiangyi, Y. et al. Hypergraph Projection Enhanced Collaborative Filtering (HPCF). Int. J. Data Science and Analytics 19(2), 269–281 (2025).   [15] Zhang, D. et al. RecDCL: Dual Contrastive Learning for Recommendation. The Web Conference, 3655–3666 (2024).</a:t>
            </a:r>
          </a:p>
        </p:txBody>
      </p:sp>
      <p:sp>
        <p:nvSpPr>
          <p:cNvPr id="4" name="TextBox 3"/>
          <p:cNvSpPr txBox="1"/>
          <p:nvPr/>
        </p:nvSpPr>
        <p:spPr>
          <a:xfrm>
            <a:off x="16162020" y="9692640"/>
            <a:ext cx="1097280" cy="329184"/>
          </a:xfrm>
          <a:prstGeom prst="rect">
            <a:avLst/>
          </a:prstGeom>
          <a:noFill/>
        </p:spPr>
        <p:txBody>
          <a:bodyPr anchor="t" rtlCol="false" lIns="0" tIns="0" rIns="0" bIns="0" wrap="square"/>
          <a:lstStyle/>
          <a:p>
            <a:pPr algn="r">
              <a:lnSpc>
                <a:spcPts val="2200"/>
              </a:lnSpc>
              <a:spcBef>
                <a:spcPts val="0"/>
              </a:spcBef>
              <a:buNone/>
            </a:pPr>
            <a:r>
              <a:rPr lang="en-US" sz="1800" b="true">
                <a:solidFill>
                  <a:srgbClr val="111111"/>
                </a:solidFill>
                <a:latin typeface="Nunito Ultra-Bold"/>
                <a:ea typeface="Nunito Ultra-Bold"/>
                <a:cs typeface="Nunito Ultra-Bold"/>
                <a:sym typeface="Nunito Ultra-Bold"/>
              </a:rPr>
              <a:t>23</a:t>
            </a:r>
          </a:p>
        </p:txBody>
      </p:sp>
      <p:sp>
        <p:nvSpPr>
          <p:cNvPr id="5" name="TextBox 4"/>
          <p:cNvSpPr txBox="1"/>
          <p:nvPr/>
        </p:nvSpPr>
        <p:spPr>
          <a:xfrm>
            <a:off x="1028700" y="1389888"/>
            <a:ext cx="12938760" cy="329184"/>
          </a:xfrm>
          <a:prstGeom prst="rect">
            <a:avLst/>
          </a:prstGeom>
          <a:noFill/>
        </p:spPr>
        <p:txBody>
          <a:bodyPr anchor="t" rtlCol="false" lIns="0" tIns="0" rIns="0" bIns="0" wrap="square"/>
          <a:lstStyle/>
          <a:p>
            <a:pPr algn="l">
              <a:lnSpc>
                <a:spcPts val="2000"/>
              </a:lnSpc>
              <a:spcBef>
                <a:spcPts val="0"/>
              </a:spcBef>
              <a:buNone/>
            </a:pPr>
            <a:r>
              <a:rPr lang="en-US" sz="1500" b="true" spc="160">
                <a:solidFill>
                  <a:srgbClr val="1F7A8C"/>
                </a:solidFill>
                <a:latin typeface="Nunito Ultra-Bold"/>
                <a:ea typeface="Nunito Ultra-Bold"/>
                <a:cs typeface="Nunito Ultra-Bold"/>
                <a:sym typeface="Nunito Ultra-Bold"/>
              </a:rPr>
              <a:t>EXPERIMENTAL PROTOCOL</a:t>
            </a:r>
          </a:p>
        </p:txBody>
      </p:sp>
      <p:sp>
        <p:nvSpPr>
          <p:cNvPr id="6" name="Rounded Rectangle 5"/>
          <p:cNvSpPr/>
          <p:nvPr/>
        </p:nvSpPr>
        <p:spPr>
          <a:xfrm>
            <a:off x="14516100"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7" name="TextBox 6"/>
          <p:cNvSpPr txBox="1"/>
          <p:nvPr/>
        </p:nvSpPr>
        <p:spPr>
          <a:xfrm>
            <a:off x="14516100"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1</a:t>
            </a:r>
          </a:p>
        </p:txBody>
      </p:sp>
      <p:sp>
        <p:nvSpPr>
          <p:cNvPr id="8" name="Rounded Rectangle 7"/>
          <p:cNvSpPr/>
          <p:nvPr/>
        </p:nvSpPr>
        <p:spPr>
          <a:xfrm>
            <a:off x="14918436"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9" name="TextBox 8"/>
          <p:cNvSpPr txBox="1"/>
          <p:nvPr/>
        </p:nvSpPr>
        <p:spPr>
          <a:xfrm>
            <a:off x="14918436"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2</a:t>
            </a:r>
          </a:p>
        </p:txBody>
      </p:sp>
      <p:sp>
        <p:nvSpPr>
          <p:cNvPr id="10" name="Rounded Rectangle 9"/>
          <p:cNvSpPr/>
          <p:nvPr/>
        </p:nvSpPr>
        <p:spPr>
          <a:xfrm>
            <a:off x="15320772" y="1371600"/>
            <a:ext cx="329184" cy="329184"/>
          </a:xfrm>
          <a:prstGeom prst="roundRect">
            <a:avLst>
              <a:gd name="adj" fmla="val 16666"/>
            </a:avLst>
          </a:prstGeom>
          <a:solidFill>
            <a:srgbClr val="4472C4"/>
          </a:solidFill>
          <a:ln w="15875">
            <a:solidFill>
              <a:srgbClr val="4472C4"/>
            </a:solidFill>
          </a:ln>
        </p:spPr>
        <p:txBody>
          <a:bodyPr anchor="ctr" rtlCol="false" lIns="0" tIns="0" rIns="0" bIns="0" wrap="square"/>
          <a:lstStyle/>
          <a:p>
            <a:endParaRPr lang="en-US" sz="1800"/>
          </a:p>
        </p:txBody>
      </p:sp>
      <p:sp>
        <p:nvSpPr>
          <p:cNvPr id="11" name="TextBox 10"/>
          <p:cNvSpPr txBox="1"/>
          <p:nvPr/>
        </p:nvSpPr>
        <p:spPr>
          <a:xfrm>
            <a:off x="15320772"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FFFFFF"/>
                </a:solidFill>
                <a:latin typeface="Nunito Ultra-Bold"/>
                <a:ea typeface="Nunito Ultra-Bold"/>
                <a:cs typeface="Nunito Ultra-Bold"/>
                <a:sym typeface="Nunito Ultra-Bold"/>
              </a:rPr>
              <a:t>3</a:t>
            </a:r>
          </a:p>
        </p:txBody>
      </p:sp>
      <p:sp>
        <p:nvSpPr>
          <p:cNvPr id="12" name="Rounded Rectangle 11"/>
          <p:cNvSpPr/>
          <p:nvPr/>
        </p:nvSpPr>
        <p:spPr>
          <a:xfrm>
            <a:off x="15723108"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13" name="TextBox 12"/>
          <p:cNvSpPr txBox="1"/>
          <p:nvPr/>
        </p:nvSpPr>
        <p:spPr>
          <a:xfrm>
            <a:off x="15723108"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4</a:t>
            </a:r>
          </a:p>
        </p:txBody>
      </p:sp>
      <p:sp>
        <p:nvSpPr>
          <p:cNvPr id="14" name="Rounded Rectangle 13"/>
          <p:cNvSpPr/>
          <p:nvPr/>
        </p:nvSpPr>
        <p:spPr>
          <a:xfrm>
            <a:off x="16125444"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15" name="TextBox 14"/>
          <p:cNvSpPr txBox="1"/>
          <p:nvPr/>
        </p:nvSpPr>
        <p:spPr>
          <a:xfrm>
            <a:off x="16125444"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5</a:t>
            </a:r>
          </a:p>
        </p:txBody>
      </p:sp>
      <p:sp>
        <p:nvSpPr>
          <p:cNvPr id="16" name="Rounded Rectangle 15"/>
          <p:cNvSpPr/>
          <p:nvPr/>
        </p:nvSpPr>
        <p:spPr>
          <a:xfrm>
            <a:off x="16527780"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17" name="TextBox 16"/>
          <p:cNvSpPr txBox="1"/>
          <p:nvPr/>
        </p:nvSpPr>
        <p:spPr>
          <a:xfrm>
            <a:off x="16527780"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6</a:t>
            </a:r>
          </a:p>
        </p:txBody>
      </p:sp>
      <p:sp>
        <p:nvSpPr>
          <p:cNvPr id="18" name="Rounded Rectangle 17"/>
          <p:cNvSpPr/>
          <p:nvPr/>
        </p:nvSpPr>
        <p:spPr>
          <a:xfrm>
            <a:off x="16930116"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19" name="TextBox 18"/>
          <p:cNvSpPr txBox="1"/>
          <p:nvPr/>
        </p:nvSpPr>
        <p:spPr>
          <a:xfrm>
            <a:off x="16930116"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7</a:t>
            </a:r>
          </a:p>
        </p:txBody>
      </p:sp>
      <p:sp>
        <p:nvSpPr>
          <p:cNvPr id="20" name="TextBox 19"/>
          <p:cNvSpPr txBox="1"/>
          <p:nvPr/>
        </p:nvSpPr>
        <p:spPr>
          <a:xfrm>
            <a:off x="1028700" y="1719072"/>
            <a:ext cx="16230600" cy="730250"/>
          </a:xfrm>
          <a:prstGeom prst="rect">
            <a:avLst/>
          </a:prstGeom>
          <a:noFill/>
        </p:spPr>
        <p:txBody>
          <a:bodyPr anchor="t" rtlCol="false" lIns="0" tIns="0" rIns="0" bIns="0" wrap="square"/>
          <a:lstStyle/>
          <a:p>
            <a:pPr algn="l">
              <a:lnSpc>
                <a:spcPts val="5060"/>
              </a:lnSpc>
              <a:spcBef>
                <a:spcPts val="0"/>
              </a:spcBef>
              <a:buNone/>
            </a:pPr>
            <a:r>
              <a:rPr lang="en-US" sz="4600" b="true" spc="-230">
                <a:solidFill>
                  <a:srgbClr val="111111"/>
                </a:solidFill>
                <a:latin typeface="Roca Two Bold"/>
                <a:ea typeface="Roca Two Bold"/>
                <a:cs typeface="Roca Two Bold"/>
                <a:sym typeface="Roca Two Bold"/>
              </a:rPr>
              <a:t>Baselines</a:t>
            </a:r>
          </a:p>
        </p:txBody>
      </p:sp>
      <p:sp>
        <p:nvSpPr>
          <p:cNvPr id="21" name="Rounded Rectangle 20"/>
          <p:cNvSpPr/>
          <p:nvPr/>
        </p:nvSpPr>
        <p:spPr>
          <a:xfrm>
            <a:off x="1028700" y="2559050"/>
            <a:ext cx="1523907" cy="420624"/>
          </a:xfrm>
          <a:prstGeom prst="roundRect">
            <a:avLst>
              <a:gd name="adj" fmla="val 50000"/>
            </a:avLst>
          </a:prstGeom>
          <a:noFill/>
          <a:ln w="28575">
            <a:solidFill>
              <a:srgbClr val="4472C4"/>
            </a:solidFill>
          </a:ln>
        </p:spPr>
        <p:txBody>
          <a:bodyPr anchor="ctr" rtlCol="false" lIns="45720" tIns="0" rIns="45720" bIns="0" wrap="square"/>
          <a:lstStyle/>
          <a:p>
            <a:pPr algn="ctr">
              <a:lnSpc>
                <a:spcPts val="2160"/>
              </a:lnSpc>
              <a:spcBef>
                <a:spcPts val="0"/>
              </a:spcBef>
              <a:buNone/>
            </a:pPr>
            <a:r>
              <a:rPr lang="en-US" sz="1800" b="true">
                <a:solidFill>
                  <a:srgbClr val="4472C4"/>
                </a:solidFill>
                <a:latin typeface="Nunito Bold"/>
                <a:ea typeface="Nunito Bold"/>
                <a:cs typeface="Nunito Bold"/>
                <a:sym typeface="Nunito Bold"/>
              </a:rPr>
              <a:t>Datasets</a:t>
            </a:r>
          </a:p>
        </p:txBody>
      </p:sp>
      <p:sp>
        <p:nvSpPr>
          <p:cNvPr id="22" name="Rounded Rectangle 21"/>
          <p:cNvSpPr/>
          <p:nvPr/>
        </p:nvSpPr>
        <p:spPr>
          <a:xfrm>
            <a:off x="2680623" y="2559050"/>
            <a:ext cx="1349432" cy="420624"/>
          </a:xfrm>
          <a:prstGeom prst="roundRect">
            <a:avLst>
              <a:gd name="adj" fmla="val 50000"/>
            </a:avLst>
          </a:prstGeom>
          <a:solidFill>
            <a:srgbClr val="4472C4"/>
          </a:solidFill>
          <a:ln>
            <a:noFill/>
          </a:ln>
        </p:spPr>
        <p:txBody>
          <a:bodyPr anchor="ctr" rtlCol="false" lIns="45720" tIns="0" rIns="45720" bIns="0" wrap="square"/>
          <a:lstStyle/>
          <a:p>
            <a:pPr algn="ctr">
              <a:lnSpc>
                <a:spcPts val="2160"/>
              </a:lnSpc>
              <a:spcBef>
                <a:spcPts val="0"/>
              </a:spcBef>
              <a:buNone/>
            </a:pPr>
            <a:r>
              <a:rPr lang="en-US" sz="1800" b="true">
                <a:solidFill>
                  <a:srgbClr val="FFFFFF"/>
                </a:solidFill>
                <a:latin typeface="Nunito Bold"/>
                <a:ea typeface="Nunito Bold"/>
                <a:cs typeface="Nunito Bold"/>
                <a:sym typeface="Nunito Bold"/>
              </a:rPr>
              <a:t>Metrics</a:t>
            </a:r>
          </a:p>
        </p:txBody>
      </p:sp>
      <p:sp>
        <p:nvSpPr>
          <p:cNvPr id="23" name="Rounded Rectangle 22"/>
          <p:cNvSpPr/>
          <p:nvPr/>
        </p:nvSpPr>
        <p:spPr>
          <a:xfrm>
            <a:off x="4158071" y="2559050"/>
            <a:ext cx="1642577" cy="420624"/>
          </a:xfrm>
          <a:prstGeom prst="roundRect">
            <a:avLst>
              <a:gd name="adj" fmla="val 50000"/>
            </a:avLst>
          </a:prstGeom>
          <a:noFill/>
          <a:ln w="28575">
            <a:solidFill>
              <a:srgbClr val="4472C4"/>
            </a:solidFill>
          </a:ln>
        </p:spPr>
        <p:txBody>
          <a:bodyPr anchor="ctr" rtlCol="false" lIns="45720" tIns="0" rIns="45720" bIns="0" wrap="square"/>
          <a:lstStyle/>
          <a:p>
            <a:pPr algn="ctr">
              <a:lnSpc>
                <a:spcPts val="2160"/>
              </a:lnSpc>
              <a:spcBef>
                <a:spcPts val="0"/>
              </a:spcBef>
              <a:buNone/>
            </a:pPr>
            <a:r>
              <a:rPr lang="en-US" sz="1800" b="true">
                <a:solidFill>
                  <a:srgbClr val="4472C4"/>
                </a:solidFill>
                <a:latin typeface="Nunito Bold"/>
                <a:ea typeface="Nunito Bold"/>
                <a:cs typeface="Nunito Bold"/>
                <a:sym typeface="Nunito Bold"/>
              </a:rPr>
              <a:t>Hardware</a:t>
            </a:r>
          </a:p>
        </p:txBody>
      </p:sp>
      <p:graphicFrame>
        <p:nvGraphicFramePr>
          <p:cNvPr id="24" name="Table 23"/>
          <p:cNvGraphicFramePr>
            <a:graphicFrameLocks noGrp="1"/>
          </p:cNvGraphicFramePr>
          <p:nvPr/>
        </p:nvGraphicFramePr>
        <p:xfrm>
          <a:off x="1028700" y="3363722"/>
          <a:ext cx="16230599" cy="4242816"/>
        </p:xfrm>
        <a:graphic>
          <a:graphicData uri="http://schemas.openxmlformats.org/drawingml/2006/table">
            <a:tbl>
              <a:tblPr firstRow="0" bandRow="0" firstCol="0" lastRow="0" lastCol="0" bandCol="0">
                <a:tableStyleId>{2D5ABB26-0587-4C30-8999-92F81FD0307C}</a:tableStyleId>
              </a:tblPr>
              <a:tblGrid>
                <a:gridCol w="2664725"/>
                <a:gridCol w="3875964"/>
                <a:gridCol w="7994176"/>
                <a:gridCol w="1695734"/>
              </a:tblGrid>
              <a:tr h="530352">
                <a:tc>
                  <a:txBody>
                    <a:bodyPr anchor="ctr" rtlCol="false" lIns="0" tIns="0" rIns="0" bIns="0" wrap="square"/>
                    <a:lstStyle/>
                    <a:p>
                      <a:pPr algn="l">
                        <a:lnSpc>
                          <a:spcPts val="2210"/>
                        </a:lnSpc>
                        <a:spcBef>
                          <a:spcPts val="0"/>
                        </a:spcBef>
                        <a:buNone/>
                      </a:pPr>
                      <a:r>
                        <a:rPr lang="en-US" sz="1700" b="true">
                          <a:solidFill>
                            <a:srgbClr val="FFFFFF"/>
                          </a:solidFill>
                          <a:latin typeface="Nunito Bold"/>
                          <a:ea typeface="Nunito Bold"/>
                          <a:cs typeface="Nunito Bold"/>
                          <a:sym typeface="Nunito Bold"/>
                        </a:rPr>
                        <a:t>Family</a:t>
                      </a:r>
                    </a:p>
                  </a:txBody>
                  <a:tcPr marL="82296" marR="82296" marT="45720" marB="45720" anchor="ctr">
                    <a:lnL w="12700" cap="flat" cmpd="sng" algn="ctr">
                      <a:solidFill>
                        <a:srgbClr val="4472C4"/>
                      </a:solidFill>
                      <a:prstDash val="solid"/>
                    </a:lnL>
                    <a:lnR w="12700" cap="flat" cmpd="sng" algn="ctr">
                      <a:solidFill>
                        <a:srgbClr val="4472C4"/>
                      </a:solidFill>
                      <a:prstDash val="solid"/>
                    </a:lnR>
                    <a:lnT w="12700" cap="flat" cmpd="sng" algn="ctr">
                      <a:solidFill>
                        <a:srgbClr val="4472C4"/>
                      </a:solidFill>
                      <a:prstDash val="solid"/>
                    </a:lnT>
                    <a:lnB w="12700" cap="flat" cmpd="sng" algn="ctr">
                      <a:solidFill>
                        <a:srgbClr val="4472C4"/>
                      </a:solidFill>
                      <a:prstDash val="solid"/>
                    </a:lnB>
                    <a:solidFill>
                      <a:srgbClr val="4472C4"/>
                    </a:solidFill>
                  </a:tcPr>
                </a:tc>
                <a:tc>
                  <a:txBody>
                    <a:bodyPr anchor="ctr" rtlCol="false" lIns="0" tIns="0" rIns="0" bIns="0" wrap="square"/>
                    <a:lstStyle/>
                    <a:p>
                      <a:pPr algn="l">
                        <a:lnSpc>
                          <a:spcPts val="2210"/>
                        </a:lnSpc>
                        <a:spcBef>
                          <a:spcPts val="0"/>
                        </a:spcBef>
                        <a:buNone/>
                      </a:pPr>
                      <a:r>
                        <a:rPr lang="en-US" sz="1700" b="true">
                          <a:solidFill>
                            <a:srgbClr val="FFFFFF"/>
                          </a:solidFill>
                          <a:latin typeface="Nunito Bold"/>
                          <a:ea typeface="Nunito Bold"/>
                          <a:cs typeface="Nunito Bold"/>
                          <a:sym typeface="Nunito Bold"/>
                        </a:rPr>
                        <a:t>Baseline</a:t>
                      </a:r>
                    </a:p>
                  </a:txBody>
                  <a:tcPr marL="82296" marR="82296" marT="45720" marB="45720" anchor="ctr">
                    <a:lnL w="12700" cap="flat" cmpd="sng" algn="ctr">
                      <a:solidFill>
                        <a:srgbClr val="4472C4"/>
                      </a:solidFill>
                      <a:prstDash val="solid"/>
                    </a:lnL>
                    <a:lnR w="12700" cap="flat" cmpd="sng" algn="ctr">
                      <a:solidFill>
                        <a:srgbClr val="4472C4"/>
                      </a:solidFill>
                      <a:prstDash val="solid"/>
                    </a:lnR>
                    <a:lnT w="12700" cap="flat" cmpd="sng" algn="ctr">
                      <a:solidFill>
                        <a:srgbClr val="4472C4"/>
                      </a:solidFill>
                      <a:prstDash val="solid"/>
                    </a:lnT>
                    <a:lnB w="12700" cap="flat" cmpd="sng" algn="ctr">
                      <a:solidFill>
                        <a:srgbClr val="4472C4"/>
                      </a:solidFill>
                      <a:prstDash val="solid"/>
                    </a:lnB>
                    <a:solidFill>
                      <a:srgbClr val="4472C4"/>
                    </a:solidFill>
                  </a:tcPr>
                </a:tc>
                <a:tc>
                  <a:txBody>
                    <a:bodyPr anchor="ctr" rtlCol="false" lIns="0" tIns="0" rIns="0" bIns="0" wrap="square"/>
                    <a:lstStyle/>
                    <a:p>
                      <a:pPr algn="l">
                        <a:lnSpc>
                          <a:spcPts val="2210"/>
                        </a:lnSpc>
                        <a:spcBef>
                          <a:spcPts val="0"/>
                        </a:spcBef>
                        <a:buNone/>
                      </a:pPr>
                      <a:r>
                        <a:rPr lang="en-US" sz="1700" b="true">
                          <a:solidFill>
                            <a:srgbClr val="FFFFFF"/>
                          </a:solidFill>
                          <a:latin typeface="Nunito Bold"/>
                          <a:ea typeface="Nunito Bold"/>
                          <a:cs typeface="Nunito Bold"/>
                          <a:sym typeface="Nunito Bold"/>
                        </a:rPr>
                        <a:t>What it represents</a:t>
                      </a:r>
                    </a:p>
                  </a:txBody>
                  <a:tcPr marL="82296" marR="82296" marT="45720" marB="45720" anchor="ctr">
                    <a:lnL w="12700" cap="flat" cmpd="sng" algn="ctr">
                      <a:solidFill>
                        <a:srgbClr val="4472C4"/>
                      </a:solidFill>
                      <a:prstDash val="solid"/>
                    </a:lnL>
                    <a:lnR w="12700" cap="flat" cmpd="sng" algn="ctr">
                      <a:solidFill>
                        <a:srgbClr val="4472C4"/>
                      </a:solidFill>
                      <a:prstDash val="solid"/>
                    </a:lnR>
                    <a:lnT w="12700" cap="flat" cmpd="sng" algn="ctr">
                      <a:solidFill>
                        <a:srgbClr val="4472C4"/>
                      </a:solidFill>
                      <a:prstDash val="solid"/>
                    </a:lnT>
                    <a:lnB w="12700" cap="flat" cmpd="sng" algn="ctr">
                      <a:solidFill>
                        <a:srgbClr val="4472C4"/>
                      </a:solidFill>
                      <a:prstDash val="solid"/>
                    </a:lnB>
                    <a:solidFill>
                      <a:srgbClr val="4472C4"/>
                    </a:solidFill>
                  </a:tcPr>
                </a:tc>
                <a:tc>
                  <a:txBody>
                    <a:bodyPr anchor="ctr" rtlCol="false" lIns="0" tIns="0" rIns="0" bIns="0" wrap="square"/>
                    <a:lstStyle/>
                    <a:p>
                      <a:pPr algn="ctr">
                        <a:lnSpc>
                          <a:spcPts val="2210"/>
                        </a:lnSpc>
                        <a:spcBef>
                          <a:spcPts val="0"/>
                        </a:spcBef>
                        <a:buNone/>
                      </a:pPr>
                      <a:r>
                        <a:rPr lang="en-US" sz="1700" b="true">
                          <a:solidFill>
                            <a:srgbClr val="FFFFFF"/>
                          </a:solidFill>
                          <a:latin typeface="Nunito Bold"/>
                          <a:ea typeface="Nunito Bold"/>
                          <a:cs typeface="Nunito Bold"/>
                          <a:sym typeface="Nunito Bold"/>
                        </a:rPr>
                        <a:t>Used in</a:t>
                      </a:r>
                    </a:p>
                  </a:txBody>
                  <a:tcPr marL="82296" marR="82296" marT="45720" marB="45720" anchor="ctr">
                    <a:lnL w="12700" cap="flat" cmpd="sng" algn="ctr">
                      <a:solidFill>
                        <a:srgbClr val="4472C4"/>
                      </a:solidFill>
                      <a:prstDash val="solid"/>
                    </a:lnL>
                    <a:lnR w="12700" cap="flat" cmpd="sng" algn="ctr">
                      <a:solidFill>
                        <a:srgbClr val="4472C4"/>
                      </a:solidFill>
                      <a:prstDash val="solid"/>
                    </a:lnR>
                    <a:lnT w="12700" cap="flat" cmpd="sng" algn="ctr">
                      <a:solidFill>
                        <a:srgbClr val="4472C4"/>
                      </a:solidFill>
                      <a:prstDash val="solid"/>
                    </a:lnT>
                    <a:lnB w="12700" cap="flat" cmpd="sng" algn="ctr">
                      <a:solidFill>
                        <a:srgbClr val="4472C4"/>
                      </a:solidFill>
                      <a:prstDash val="solid"/>
                    </a:lnB>
                    <a:solidFill>
                      <a:srgbClr val="4472C4"/>
                    </a:solidFill>
                  </a:tcPr>
                </a:tc>
              </a:tr>
              <a:tr h="530352">
                <a:tc>
                  <a:txBody>
                    <a:bodyPr anchor="ctr" rtlCol="false" lIns="0" tIns="0" rIns="0" bIns="0" wrap="square"/>
                    <a:lstStyle/>
                    <a:p>
                      <a:pPr algn="l">
                        <a:lnSpc>
                          <a:spcPts val="2210"/>
                        </a:lnSpc>
                        <a:spcBef>
                          <a:spcPts val="0"/>
                        </a:spcBef>
                        <a:buNone/>
                      </a:pPr>
                      <a:r>
                        <a:rPr lang="en-US" sz="1700" b="true">
                          <a:solidFill>
                            <a:srgbClr val="111111"/>
                          </a:solidFill>
                          <a:latin typeface="Nunito Bold"/>
                          <a:ea typeface="Nunito Bold"/>
                          <a:cs typeface="Nunito Bold"/>
                          <a:sym typeface="Nunito Bold"/>
                        </a:rPr>
                        <a:t>Explanation</a:t>
                      </a:r>
                    </a:p>
                  </a:txBody>
                  <a:tcPr marL="82296" marR="82296"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c>
                  <a:txBody>
                    <a:bodyPr anchor="ctr" rtlCol="false" lIns="0" tIns="0" rIns="0" bIns="0" wrap="square"/>
                    <a:lstStyle/>
                    <a:p>
                      <a:pPr algn="l">
                        <a:lnSpc>
                          <a:spcPts val="2210"/>
                        </a:lnSpc>
                        <a:spcBef>
                          <a:spcPts val="0"/>
                        </a:spcBef>
                        <a:buNone/>
                      </a:pPr>
                      <a:r>
                        <a:rPr lang="en-US" sz="1700" b="true">
                          <a:solidFill>
                            <a:srgbClr val="111111"/>
                          </a:solidFill>
                          <a:latin typeface="Nunito Semi-Bold"/>
                          <a:ea typeface="Nunito Semi-Bold"/>
                          <a:cs typeface="Nunito Semi-Bold"/>
                          <a:sym typeface="Nunito Semi-Bold"/>
                        </a:rPr>
                        <a:t>LIME surrogate pipeline</a:t>
                      </a:r>
                    </a:p>
                  </a:txBody>
                  <a:tcPr marL="82296" marR="82296"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c>
                  <a:txBody>
                    <a:bodyPr anchor="ctr" rtlCol="false" lIns="0" tIns="0" rIns="0" bIns="0" wrap="square"/>
                    <a:lstStyle/>
                    <a:p>
                      <a:pPr algn="l">
                        <a:lnSpc>
                          <a:spcPts val="2210"/>
                        </a:lnSpc>
                        <a:spcBef>
                          <a:spcPts val="0"/>
                        </a:spcBef>
                        <a:buNone/>
                      </a:pPr>
                      <a:r>
                        <a:rPr lang="en-US" sz="1700" b="true">
                          <a:solidFill>
                            <a:srgbClr val="111111"/>
                          </a:solidFill>
                          <a:latin typeface="Nunito Semi-Bold"/>
                          <a:ea typeface="Nunito Semi-Bold"/>
                          <a:cs typeface="Nunito Semi-Bold"/>
                          <a:sym typeface="Nunito Semi-Bold"/>
                        </a:rPr>
                        <a:t>Local surrogate explanation; the standard alternative to SHAP</a:t>
                      </a:r>
                    </a:p>
                  </a:txBody>
                  <a:tcPr marL="82296" marR="82296"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c>
                  <a:txBody>
                    <a:bodyPr anchor="ctr" rtlCol="false" lIns="0" tIns="0" rIns="0" bIns="0" wrap="square"/>
                    <a:lstStyle/>
                    <a:p>
                      <a:pPr algn="ctr">
                        <a:lnSpc>
                          <a:spcPts val="2210"/>
                        </a:lnSpc>
                        <a:spcBef>
                          <a:spcPts val="0"/>
                        </a:spcBef>
                        <a:buNone/>
                      </a:pPr>
                      <a:r>
                        <a:rPr lang="en-US" sz="1700" b="true">
                          <a:solidFill>
                            <a:srgbClr val="111111"/>
                          </a:solidFill>
                          <a:latin typeface="Nunito Semi-Bold"/>
                          <a:ea typeface="Nunito Semi-Bold"/>
                          <a:cs typeface="Nunito Semi-Bold"/>
                          <a:sym typeface="Nunito Semi-Bold"/>
                        </a:rPr>
                        <a:t>C1, C2</a:t>
                      </a:r>
                    </a:p>
                  </a:txBody>
                  <a:tcPr marL="82296" marR="82296"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r>
              <a:tr h="530352">
                <a:tc>
                  <a:txBody>
                    <a:bodyPr anchor="ctr" rtlCol="false" lIns="0" tIns="0" rIns="0" bIns="0" wrap="square"/>
                    <a:lstStyle/>
                    <a:p>
                      <a:pPr algn="l">
                        <a:lnSpc>
                          <a:spcPts val="2210"/>
                        </a:lnSpc>
                        <a:spcBef>
                          <a:spcPts val="0"/>
                        </a:spcBef>
                        <a:buNone/>
                      </a:pPr>
                      <a:r>
                        <a:rPr lang="en-US" sz="1700" b="true">
                          <a:solidFill>
                            <a:srgbClr val="111111"/>
                          </a:solidFill>
                          <a:latin typeface="Nunito Bold"/>
                          <a:ea typeface="Nunito Bold"/>
                          <a:cs typeface="Nunito Bold"/>
                          <a:sym typeface="Nunito Bold"/>
                        </a:rPr>
                        <a:t>Classical</a:t>
                      </a:r>
                    </a:p>
                  </a:txBody>
                  <a:tcPr marL="82296" marR="82296"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6ECDF"/>
                    </a:solidFill>
                  </a:tcPr>
                </a:tc>
                <a:tc>
                  <a:txBody>
                    <a:bodyPr anchor="ctr" rtlCol="false" lIns="0" tIns="0" rIns="0" bIns="0" wrap="square"/>
                    <a:lstStyle/>
                    <a:p>
                      <a:pPr algn="l">
                        <a:lnSpc>
                          <a:spcPts val="2210"/>
                        </a:lnSpc>
                        <a:spcBef>
                          <a:spcPts val="0"/>
                        </a:spcBef>
                        <a:buNone/>
                      </a:pPr>
                      <a:r>
                        <a:rPr lang="en-US" sz="1700" b="true">
                          <a:solidFill>
                            <a:srgbClr val="111111"/>
                          </a:solidFill>
                          <a:latin typeface="Nunito Semi-Bold"/>
                          <a:ea typeface="Nunito Semi-Bold"/>
                          <a:cs typeface="Nunito Semi-Bold"/>
                          <a:sym typeface="Nunito Semi-Bold"/>
                        </a:rPr>
                        <a:t>MF (BPR)</a:t>
                      </a:r>
                    </a:p>
                  </a:txBody>
                  <a:tcPr marL="82296" marR="82296"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6ECDF"/>
                    </a:solidFill>
                  </a:tcPr>
                </a:tc>
                <a:tc>
                  <a:txBody>
                    <a:bodyPr anchor="ctr" rtlCol="false" lIns="0" tIns="0" rIns="0" bIns="0" wrap="square"/>
                    <a:lstStyle/>
                    <a:p>
                      <a:pPr algn="l">
                        <a:lnSpc>
                          <a:spcPts val="2210"/>
                        </a:lnSpc>
                        <a:spcBef>
                          <a:spcPts val="0"/>
                        </a:spcBef>
                        <a:buNone/>
                      </a:pPr>
                      <a:r>
                        <a:rPr lang="en-US" sz="1700" b="true">
                          <a:solidFill>
                            <a:srgbClr val="111111"/>
                          </a:solidFill>
                          <a:latin typeface="Nunito Semi-Bold"/>
                          <a:ea typeface="Nunito Semi-Bold"/>
                          <a:cs typeface="Nunito Semi-Bold"/>
                          <a:sym typeface="Nunito Semi-Bold"/>
                        </a:rPr>
                        <a:t>Matrix factorisation with pairwise ranking loss</a:t>
                      </a:r>
                    </a:p>
                  </a:txBody>
                  <a:tcPr marL="82296" marR="82296"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6ECDF"/>
                    </a:solidFill>
                  </a:tcPr>
                </a:tc>
                <a:tc>
                  <a:txBody>
                    <a:bodyPr anchor="ctr" rtlCol="false" lIns="0" tIns="0" rIns="0" bIns="0" wrap="square"/>
                    <a:lstStyle/>
                    <a:p>
                      <a:pPr algn="ctr">
                        <a:lnSpc>
                          <a:spcPts val="2210"/>
                        </a:lnSpc>
                        <a:spcBef>
                          <a:spcPts val="0"/>
                        </a:spcBef>
                        <a:buNone/>
                      </a:pPr>
                      <a:r>
                        <a:rPr lang="en-US" sz="1700" b="true">
                          <a:solidFill>
                            <a:srgbClr val="111111"/>
                          </a:solidFill>
                          <a:latin typeface="Nunito Semi-Bold"/>
                          <a:ea typeface="Nunito Semi-Bold"/>
                          <a:cs typeface="Nunito Semi-Bold"/>
                          <a:sym typeface="Nunito Semi-Bold"/>
                        </a:rPr>
                        <a:t>C3</a:t>
                      </a:r>
                    </a:p>
                  </a:txBody>
                  <a:tcPr marL="82296" marR="82296"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6ECDF"/>
                    </a:solidFill>
                  </a:tcPr>
                </a:tc>
              </a:tr>
              <a:tr h="530352">
                <a:tc>
                  <a:txBody>
                    <a:bodyPr anchor="ctr" rtlCol="false" lIns="0" tIns="0" rIns="0" bIns="0" wrap="square"/>
                    <a:lstStyle/>
                    <a:p>
                      <a:pPr algn="l">
                        <a:lnSpc>
                          <a:spcPts val="2210"/>
                        </a:lnSpc>
                        <a:spcBef>
                          <a:spcPts val="0"/>
                        </a:spcBef>
                        <a:buNone/>
                      </a:pPr>
                      <a:r>
                        <a:rPr lang="en-US" sz="1700" b="true">
                          <a:solidFill>
                            <a:srgbClr val="111111"/>
                          </a:solidFill>
                          <a:latin typeface="Nunito Bold"/>
                          <a:ea typeface="Nunito Bold"/>
                          <a:cs typeface="Nunito Bold"/>
                          <a:sym typeface="Nunito Bold"/>
                        </a:rPr>
                        <a:t>Neural</a:t>
                      </a:r>
                    </a:p>
                  </a:txBody>
                  <a:tcPr marL="82296" marR="82296"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c>
                  <a:txBody>
                    <a:bodyPr anchor="ctr" rtlCol="false" lIns="0" tIns="0" rIns="0" bIns="0" wrap="square"/>
                    <a:lstStyle/>
                    <a:p>
                      <a:pPr algn="l">
                        <a:lnSpc>
                          <a:spcPts val="2210"/>
                        </a:lnSpc>
                        <a:spcBef>
                          <a:spcPts val="0"/>
                        </a:spcBef>
                        <a:buNone/>
                      </a:pPr>
                      <a:r>
                        <a:rPr lang="en-US" sz="1700" b="true">
                          <a:solidFill>
                            <a:srgbClr val="111111"/>
                          </a:solidFill>
                          <a:latin typeface="Nunito Semi-Bold"/>
                          <a:ea typeface="Nunito Semi-Bold"/>
                          <a:cs typeface="Nunito Semi-Bold"/>
                          <a:sym typeface="Nunito Semi-Bold"/>
                        </a:rPr>
                        <a:t>NCF</a:t>
                      </a:r>
                    </a:p>
                  </a:txBody>
                  <a:tcPr marL="82296" marR="82296"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c>
                  <a:txBody>
                    <a:bodyPr anchor="ctr" rtlCol="false" lIns="0" tIns="0" rIns="0" bIns="0" wrap="square"/>
                    <a:lstStyle/>
                    <a:p>
                      <a:pPr algn="l">
                        <a:lnSpc>
                          <a:spcPts val="2210"/>
                        </a:lnSpc>
                        <a:spcBef>
                          <a:spcPts val="0"/>
                        </a:spcBef>
                        <a:buNone/>
                      </a:pPr>
                      <a:r>
                        <a:rPr lang="en-US" sz="1700" b="true">
                          <a:solidFill>
                            <a:srgbClr val="111111"/>
                          </a:solidFill>
                          <a:latin typeface="Nunito Semi-Bold"/>
                          <a:ea typeface="Nunito Semi-Bold"/>
                          <a:cs typeface="Nunito Semi-Bold"/>
                          <a:sym typeface="Nunito Semi-Bold"/>
                        </a:rPr>
                        <a:t>Neural collaborative filtering (MLP on embeddings)</a:t>
                      </a:r>
                    </a:p>
                  </a:txBody>
                  <a:tcPr marL="82296" marR="82296"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c>
                  <a:txBody>
                    <a:bodyPr anchor="ctr" rtlCol="false" lIns="0" tIns="0" rIns="0" bIns="0" wrap="square"/>
                    <a:lstStyle/>
                    <a:p>
                      <a:pPr algn="ctr">
                        <a:lnSpc>
                          <a:spcPts val="2210"/>
                        </a:lnSpc>
                        <a:spcBef>
                          <a:spcPts val="0"/>
                        </a:spcBef>
                        <a:buNone/>
                      </a:pPr>
                      <a:r>
                        <a:rPr lang="en-US" sz="1700" b="true">
                          <a:solidFill>
                            <a:srgbClr val="111111"/>
                          </a:solidFill>
                          <a:latin typeface="Nunito Semi-Bold"/>
                          <a:ea typeface="Nunito Semi-Bold"/>
                          <a:cs typeface="Nunito Semi-Bold"/>
                          <a:sym typeface="Nunito Semi-Bold"/>
                        </a:rPr>
                        <a:t>C3</a:t>
                      </a:r>
                    </a:p>
                  </a:txBody>
                  <a:tcPr marL="82296" marR="82296"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r>
              <a:tr h="530352">
                <a:tc>
                  <a:txBody>
                    <a:bodyPr anchor="ctr" rtlCol="false" lIns="0" tIns="0" rIns="0" bIns="0" wrap="square"/>
                    <a:lstStyle/>
                    <a:p>
                      <a:pPr algn="l">
                        <a:lnSpc>
                          <a:spcPts val="2210"/>
                        </a:lnSpc>
                        <a:spcBef>
                          <a:spcPts val="0"/>
                        </a:spcBef>
                        <a:buNone/>
                      </a:pPr>
                      <a:r>
                        <a:rPr lang="en-US" sz="1700" b="true">
                          <a:solidFill>
                            <a:srgbClr val="111111"/>
                          </a:solidFill>
                          <a:latin typeface="Nunito Bold"/>
                          <a:ea typeface="Nunito Bold"/>
                          <a:cs typeface="Nunito Bold"/>
                          <a:sym typeface="Nunito Bold"/>
                        </a:rPr>
                        <a:t>Graph</a:t>
                      </a:r>
                    </a:p>
                  </a:txBody>
                  <a:tcPr marL="82296" marR="82296"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6ECDF"/>
                    </a:solidFill>
                  </a:tcPr>
                </a:tc>
                <a:tc>
                  <a:txBody>
                    <a:bodyPr anchor="ctr" rtlCol="false" lIns="0" tIns="0" rIns="0" bIns="0" wrap="square"/>
                    <a:lstStyle/>
                    <a:p>
                      <a:pPr algn="l">
                        <a:lnSpc>
                          <a:spcPts val="2210"/>
                        </a:lnSpc>
                        <a:spcBef>
                          <a:spcPts val="0"/>
                        </a:spcBef>
                        <a:buNone/>
                      </a:pPr>
                      <a:r>
                        <a:rPr lang="en-US" sz="1700" b="true">
                          <a:solidFill>
                            <a:srgbClr val="111111"/>
                          </a:solidFill>
                          <a:latin typeface="Nunito Semi-Bold"/>
                          <a:ea typeface="Nunito Semi-Bold"/>
                          <a:cs typeface="Nunito Semi-Bold"/>
                          <a:sym typeface="Nunito Semi-Bold"/>
                        </a:rPr>
                        <a:t>LightGCN</a:t>
                      </a:r>
                    </a:p>
                  </a:txBody>
                  <a:tcPr marL="82296" marR="82296"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6ECDF"/>
                    </a:solidFill>
                  </a:tcPr>
                </a:tc>
                <a:tc>
                  <a:txBody>
                    <a:bodyPr anchor="ctr" rtlCol="false" lIns="0" tIns="0" rIns="0" bIns="0" wrap="square"/>
                    <a:lstStyle/>
                    <a:p>
                      <a:pPr algn="l">
                        <a:lnSpc>
                          <a:spcPts val="2210"/>
                        </a:lnSpc>
                        <a:spcBef>
                          <a:spcPts val="0"/>
                        </a:spcBef>
                        <a:buNone/>
                      </a:pPr>
                      <a:r>
                        <a:rPr lang="en-US" sz="1700" b="true">
                          <a:solidFill>
                            <a:srgbClr val="111111"/>
                          </a:solidFill>
                          <a:latin typeface="Nunito Semi-Bold"/>
                          <a:ea typeface="Nunito Semi-Bold"/>
                          <a:cs typeface="Nunito Semi-Bold"/>
                          <a:sym typeface="Nunito Semi-Bold"/>
                        </a:rPr>
                        <a:t>Simplified graph convolution on the user-item graph</a:t>
                      </a:r>
                    </a:p>
                  </a:txBody>
                  <a:tcPr marL="82296" marR="82296"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6ECDF"/>
                    </a:solidFill>
                  </a:tcPr>
                </a:tc>
                <a:tc>
                  <a:txBody>
                    <a:bodyPr anchor="ctr" rtlCol="false" lIns="0" tIns="0" rIns="0" bIns="0" wrap="square"/>
                    <a:lstStyle/>
                    <a:p>
                      <a:pPr algn="ctr">
                        <a:lnSpc>
                          <a:spcPts val="2210"/>
                        </a:lnSpc>
                        <a:spcBef>
                          <a:spcPts val="0"/>
                        </a:spcBef>
                        <a:buNone/>
                      </a:pPr>
                      <a:r>
                        <a:rPr lang="en-US" sz="1700" b="true">
                          <a:solidFill>
                            <a:srgbClr val="111111"/>
                          </a:solidFill>
                          <a:latin typeface="Nunito Semi-Bold"/>
                          <a:ea typeface="Nunito Semi-Bold"/>
                          <a:cs typeface="Nunito Semi-Bold"/>
                          <a:sym typeface="Nunito Semi-Bold"/>
                        </a:rPr>
                        <a:t>C3</a:t>
                      </a:r>
                    </a:p>
                  </a:txBody>
                  <a:tcPr marL="82296" marR="82296"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6ECDF"/>
                    </a:solidFill>
                  </a:tcPr>
                </a:tc>
              </a:tr>
              <a:tr h="530352">
                <a:tc>
                  <a:txBody>
                    <a:bodyPr anchor="ctr" rtlCol="false" lIns="0" tIns="0" rIns="0" bIns="0" wrap="square"/>
                    <a:lstStyle/>
                    <a:p>
                      <a:pPr algn="l">
                        <a:lnSpc>
                          <a:spcPts val="2210"/>
                        </a:lnSpc>
                        <a:spcBef>
                          <a:spcPts val="0"/>
                        </a:spcBef>
                        <a:buNone/>
                      </a:pPr>
                      <a:r>
                        <a:rPr lang="en-US" sz="1700" b="true">
                          <a:solidFill>
                            <a:srgbClr val="111111"/>
                          </a:solidFill>
                          <a:latin typeface="Nunito Bold"/>
                          <a:ea typeface="Nunito Bold"/>
                          <a:cs typeface="Nunito Bold"/>
                          <a:sym typeface="Nunito Bold"/>
                        </a:rPr>
                        <a:t>Graph + contrastive</a:t>
                      </a:r>
                    </a:p>
                  </a:txBody>
                  <a:tcPr marL="82296" marR="82296"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c>
                  <a:txBody>
                    <a:bodyPr anchor="ctr" rtlCol="false" lIns="0" tIns="0" rIns="0" bIns="0" wrap="square"/>
                    <a:lstStyle/>
                    <a:p>
                      <a:pPr algn="l">
                        <a:lnSpc>
                          <a:spcPts val="2210"/>
                        </a:lnSpc>
                        <a:spcBef>
                          <a:spcPts val="0"/>
                        </a:spcBef>
                        <a:buNone/>
                      </a:pPr>
                      <a:r>
                        <a:rPr lang="en-US" sz="1700" b="true">
                          <a:solidFill>
                            <a:srgbClr val="111111"/>
                          </a:solidFill>
                          <a:latin typeface="Nunito Semi-Bold"/>
                          <a:ea typeface="Nunito Semi-Bold"/>
                          <a:cs typeface="Nunito Semi-Bold"/>
                          <a:sym typeface="Nunito Semi-Bold"/>
                        </a:rPr>
                        <a:t>RecDCL</a:t>
                      </a:r>
                    </a:p>
                  </a:txBody>
                  <a:tcPr marL="82296" marR="82296"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c>
                  <a:txBody>
                    <a:bodyPr anchor="ctr" rtlCol="false" lIns="0" tIns="0" rIns="0" bIns="0" wrap="square"/>
                    <a:lstStyle/>
                    <a:p>
                      <a:pPr algn="l">
                        <a:lnSpc>
                          <a:spcPts val="2210"/>
                        </a:lnSpc>
                        <a:spcBef>
                          <a:spcPts val="0"/>
                        </a:spcBef>
                        <a:buNone/>
                      </a:pPr>
                      <a:r>
                        <a:rPr lang="en-US" sz="1700" b="true">
                          <a:solidFill>
                            <a:srgbClr val="111111"/>
                          </a:solidFill>
                          <a:latin typeface="Nunito Semi-Bold"/>
                          <a:ea typeface="Nunito Semi-Bold"/>
                          <a:cs typeface="Nunito Semi-Bold"/>
                          <a:sym typeface="Nunito Semi-Bold"/>
                        </a:rPr>
                        <a:t>Dual contrastive learning for recommendation (2024)</a:t>
                      </a:r>
                    </a:p>
                  </a:txBody>
                  <a:tcPr marL="82296" marR="82296"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c>
                  <a:txBody>
                    <a:bodyPr anchor="ctr" rtlCol="false" lIns="0" tIns="0" rIns="0" bIns="0" wrap="square"/>
                    <a:lstStyle/>
                    <a:p>
                      <a:pPr algn="ctr">
                        <a:lnSpc>
                          <a:spcPts val="2210"/>
                        </a:lnSpc>
                        <a:spcBef>
                          <a:spcPts val="0"/>
                        </a:spcBef>
                        <a:buNone/>
                      </a:pPr>
                      <a:r>
                        <a:rPr lang="en-US" sz="1700" b="true">
                          <a:solidFill>
                            <a:srgbClr val="111111"/>
                          </a:solidFill>
                          <a:latin typeface="Nunito Semi-Bold"/>
                          <a:ea typeface="Nunito Semi-Bold"/>
                          <a:cs typeface="Nunito Semi-Bold"/>
                          <a:sym typeface="Nunito Semi-Bold"/>
                        </a:rPr>
                        <a:t>C3</a:t>
                      </a:r>
                    </a:p>
                  </a:txBody>
                  <a:tcPr marL="82296" marR="82296"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r>
              <a:tr h="530352">
                <a:tc>
                  <a:txBody>
                    <a:bodyPr anchor="ctr" rtlCol="false" lIns="0" tIns="0" rIns="0" bIns="0" wrap="square"/>
                    <a:lstStyle/>
                    <a:p>
                      <a:pPr algn="l">
                        <a:lnSpc>
                          <a:spcPts val="2210"/>
                        </a:lnSpc>
                        <a:spcBef>
                          <a:spcPts val="0"/>
                        </a:spcBef>
                        <a:buNone/>
                      </a:pPr>
                      <a:r>
                        <a:rPr lang="en-US" sz="1700" b="true">
                          <a:solidFill>
                            <a:srgbClr val="111111"/>
                          </a:solidFill>
                          <a:latin typeface="Nunito Bold"/>
                          <a:ea typeface="Nunito Bold"/>
                          <a:cs typeface="Nunito Bold"/>
                          <a:sym typeface="Nunito Bold"/>
                        </a:rPr>
                        <a:t>Hypergraph</a:t>
                      </a:r>
                    </a:p>
                  </a:txBody>
                  <a:tcPr marL="82296" marR="82296"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6ECDF"/>
                    </a:solidFill>
                  </a:tcPr>
                </a:tc>
                <a:tc>
                  <a:txBody>
                    <a:bodyPr anchor="ctr" rtlCol="false" lIns="0" tIns="0" rIns="0" bIns="0" wrap="square"/>
                    <a:lstStyle/>
                    <a:p>
                      <a:pPr algn="l">
                        <a:lnSpc>
                          <a:spcPts val="2210"/>
                        </a:lnSpc>
                        <a:spcBef>
                          <a:spcPts val="0"/>
                        </a:spcBef>
                        <a:buNone/>
                      </a:pPr>
                      <a:r>
                        <a:rPr lang="en-US" sz="1700" b="true">
                          <a:solidFill>
                            <a:srgbClr val="111111"/>
                          </a:solidFill>
                          <a:latin typeface="Nunito Semi-Bold"/>
                          <a:ea typeface="Nunito Semi-Bold"/>
                          <a:cs typeface="Nunito Semi-Bold"/>
                          <a:sym typeface="Nunito Semi-Bold"/>
                        </a:rPr>
                        <a:t>HCCF</a:t>
                      </a:r>
                    </a:p>
                  </a:txBody>
                  <a:tcPr marL="82296" marR="82296"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6ECDF"/>
                    </a:solidFill>
                  </a:tcPr>
                </a:tc>
                <a:tc>
                  <a:txBody>
                    <a:bodyPr anchor="ctr" rtlCol="false" lIns="0" tIns="0" rIns="0" bIns="0" wrap="square"/>
                    <a:lstStyle/>
                    <a:p>
                      <a:pPr algn="l">
                        <a:lnSpc>
                          <a:spcPts val="2210"/>
                        </a:lnSpc>
                        <a:spcBef>
                          <a:spcPts val="0"/>
                        </a:spcBef>
                        <a:buNone/>
                      </a:pPr>
                      <a:r>
                        <a:rPr lang="en-US" sz="1700" b="true">
                          <a:solidFill>
                            <a:srgbClr val="111111"/>
                          </a:solidFill>
                          <a:latin typeface="Nunito Semi-Bold"/>
                          <a:ea typeface="Nunito Semi-Bold"/>
                          <a:cs typeface="Nunito Semi-Bold"/>
                          <a:sym typeface="Nunito Semi-Bold"/>
                        </a:rPr>
                        <a:t>Hypergraph contrastive collaborative filtering (2022)</a:t>
                      </a:r>
                    </a:p>
                  </a:txBody>
                  <a:tcPr marL="82296" marR="82296"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6ECDF"/>
                    </a:solidFill>
                  </a:tcPr>
                </a:tc>
                <a:tc>
                  <a:txBody>
                    <a:bodyPr anchor="ctr" rtlCol="false" lIns="0" tIns="0" rIns="0" bIns="0" wrap="square"/>
                    <a:lstStyle/>
                    <a:p>
                      <a:pPr algn="ctr">
                        <a:lnSpc>
                          <a:spcPts val="2210"/>
                        </a:lnSpc>
                        <a:spcBef>
                          <a:spcPts val="0"/>
                        </a:spcBef>
                        <a:buNone/>
                      </a:pPr>
                      <a:r>
                        <a:rPr lang="en-US" sz="1700" b="true">
                          <a:solidFill>
                            <a:srgbClr val="111111"/>
                          </a:solidFill>
                          <a:latin typeface="Nunito Semi-Bold"/>
                          <a:ea typeface="Nunito Semi-Bold"/>
                          <a:cs typeface="Nunito Semi-Bold"/>
                          <a:sym typeface="Nunito Semi-Bold"/>
                        </a:rPr>
                        <a:t>C3</a:t>
                      </a:r>
                    </a:p>
                  </a:txBody>
                  <a:tcPr marL="82296" marR="82296"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6ECDF"/>
                    </a:solidFill>
                  </a:tcPr>
                </a:tc>
              </a:tr>
              <a:tr h="530352">
                <a:tc>
                  <a:txBody>
                    <a:bodyPr anchor="ctr" rtlCol="false" lIns="0" tIns="0" rIns="0" bIns="0" wrap="square"/>
                    <a:lstStyle/>
                    <a:p>
                      <a:pPr algn="l">
                        <a:lnSpc>
                          <a:spcPts val="2210"/>
                        </a:lnSpc>
                        <a:spcBef>
                          <a:spcPts val="0"/>
                        </a:spcBef>
                        <a:buNone/>
                      </a:pPr>
                      <a:r>
                        <a:rPr lang="en-US" sz="1700" b="true">
                          <a:solidFill>
                            <a:srgbClr val="111111"/>
                          </a:solidFill>
                          <a:latin typeface="Nunito Bold"/>
                          <a:ea typeface="Nunito Bold"/>
                          <a:cs typeface="Nunito Bold"/>
                          <a:sym typeface="Nunito Bold"/>
                        </a:rPr>
                        <a:t>Hypergraph</a:t>
                      </a:r>
                    </a:p>
                  </a:txBody>
                  <a:tcPr marL="82296" marR="82296"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c>
                  <a:txBody>
                    <a:bodyPr anchor="ctr" rtlCol="false" lIns="0" tIns="0" rIns="0" bIns="0" wrap="square"/>
                    <a:lstStyle/>
                    <a:p>
                      <a:pPr algn="l">
                        <a:lnSpc>
                          <a:spcPts val="2210"/>
                        </a:lnSpc>
                        <a:spcBef>
                          <a:spcPts val="0"/>
                        </a:spcBef>
                        <a:buNone/>
                      </a:pPr>
                      <a:r>
                        <a:rPr lang="en-US" sz="1700" b="true">
                          <a:solidFill>
                            <a:srgbClr val="111111"/>
                          </a:solidFill>
                          <a:latin typeface="Nunito Semi-Bold"/>
                          <a:ea typeface="Nunito Semi-Bold"/>
                          <a:cs typeface="Nunito Semi-Bold"/>
                          <a:sym typeface="Nunito Semi-Bold"/>
                        </a:rPr>
                        <a:t>HPCF  (strongest reference)</a:t>
                      </a:r>
                    </a:p>
                  </a:txBody>
                  <a:tcPr marL="82296" marR="82296"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c>
                  <a:txBody>
                    <a:bodyPr anchor="ctr" rtlCol="false" lIns="0" tIns="0" rIns="0" bIns="0" wrap="square"/>
                    <a:lstStyle/>
                    <a:p>
                      <a:pPr algn="l">
                        <a:lnSpc>
                          <a:spcPts val="2210"/>
                        </a:lnSpc>
                        <a:spcBef>
                          <a:spcPts val="0"/>
                        </a:spcBef>
                        <a:buNone/>
                      </a:pPr>
                      <a:r>
                        <a:rPr lang="en-US" sz="1700" b="true">
                          <a:solidFill>
                            <a:srgbClr val="111111"/>
                          </a:solidFill>
                          <a:latin typeface="Nunito Semi-Bold"/>
                          <a:ea typeface="Nunito Semi-Bold"/>
                          <a:cs typeface="Nunito Semi-Bold"/>
                          <a:sym typeface="Nunito Semi-Bold"/>
                        </a:rPr>
                        <a:t>Hypergraph projection enhanced collaborative filtering (2025)</a:t>
                      </a:r>
                    </a:p>
                  </a:txBody>
                  <a:tcPr marL="82296" marR="82296"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c>
                  <a:txBody>
                    <a:bodyPr anchor="ctr" rtlCol="false" lIns="0" tIns="0" rIns="0" bIns="0" wrap="square"/>
                    <a:lstStyle/>
                    <a:p>
                      <a:pPr algn="ctr">
                        <a:lnSpc>
                          <a:spcPts val="2210"/>
                        </a:lnSpc>
                        <a:spcBef>
                          <a:spcPts val="0"/>
                        </a:spcBef>
                        <a:buNone/>
                      </a:pPr>
                      <a:r>
                        <a:rPr lang="en-US" sz="1700" b="true">
                          <a:solidFill>
                            <a:srgbClr val="111111"/>
                          </a:solidFill>
                          <a:latin typeface="Nunito Semi-Bold"/>
                          <a:ea typeface="Nunito Semi-Bold"/>
                          <a:cs typeface="Nunito Semi-Bold"/>
                          <a:sym typeface="Nunito Semi-Bold"/>
                        </a:rPr>
                        <a:t>C3</a:t>
                      </a:r>
                    </a:p>
                  </a:txBody>
                  <a:tcPr marL="82296" marR="82296"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r>
            </a:tbl>
          </a:graphicData>
        </a:graphic>
      </p:graphicFrame>
      <p:sp>
        <p:nvSpPr>
          <p:cNvPr id="25" name="Rounded Rectangle 24"/>
          <p:cNvSpPr/>
          <p:nvPr/>
        </p:nvSpPr>
        <p:spPr>
          <a:xfrm>
            <a:off x="1028700" y="8155178"/>
            <a:ext cx="16230600" cy="1016254"/>
          </a:xfrm>
          <a:prstGeom prst="roundRect">
            <a:avLst>
              <a:gd name="adj" fmla="val 19795"/>
            </a:avLst>
          </a:prstGeom>
          <a:solidFill>
            <a:srgbClr val="F6ECDF"/>
          </a:solidFill>
          <a:ln w="25400">
            <a:solidFill>
              <a:srgbClr val="4472C4"/>
            </a:solidFill>
          </a:ln>
        </p:spPr>
        <p:txBody>
          <a:bodyPr anchor="ctr" rtlCol="false" lIns="0" tIns="0" rIns="0" bIns="0" wrap="square"/>
          <a:lstStyle/>
          <a:p>
            <a:endParaRPr lang="en-US" sz="1800"/>
          </a:p>
        </p:txBody>
      </p:sp>
      <p:sp>
        <p:nvSpPr>
          <p:cNvPr id="26" name="Rounded Rectangle 25"/>
          <p:cNvSpPr/>
          <p:nvPr/>
        </p:nvSpPr>
        <p:spPr>
          <a:xfrm>
            <a:off x="1348740" y="7963154"/>
            <a:ext cx="1867571" cy="384048"/>
          </a:xfrm>
          <a:prstGeom prst="roundRect">
            <a:avLst>
              <a:gd name="adj" fmla="val 50000"/>
            </a:avLst>
          </a:prstGeom>
          <a:solidFill>
            <a:srgbClr val="4472C4"/>
          </a:solidFill>
          <a:ln w="28575">
            <a:solidFill>
              <a:srgbClr val="4472C4"/>
            </a:solidFill>
          </a:ln>
        </p:spPr>
        <p:txBody>
          <a:bodyPr anchor="ctr" rtlCol="false" lIns="45720" tIns="0" rIns="45720" bIns="0" wrap="square"/>
          <a:lstStyle/>
          <a:p>
            <a:pPr algn="ctr">
              <a:lnSpc>
                <a:spcPts val="1680"/>
              </a:lnSpc>
              <a:spcBef>
                <a:spcPts val="0"/>
              </a:spcBef>
              <a:buNone/>
            </a:pPr>
            <a:r>
              <a:rPr lang="en-US" sz="1400" b="true">
                <a:solidFill>
                  <a:srgbClr val="FFFFFF"/>
                </a:solidFill>
                <a:latin typeface="Nunito Bold"/>
                <a:ea typeface="Nunito Bold"/>
                <a:cs typeface="Nunito Bold"/>
                <a:sym typeface="Nunito Bold"/>
              </a:rPr>
              <a:t>WHY THIS SET</a:t>
            </a:r>
          </a:p>
        </p:txBody>
      </p:sp>
      <p:sp>
        <p:nvSpPr>
          <p:cNvPr id="27" name="TextBox 26"/>
          <p:cNvSpPr txBox="1"/>
          <p:nvPr/>
        </p:nvSpPr>
        <p:spPr>
          <a:xfrm>
            <a:off x="1394460" y="8429498"/>
            <a:ext cx="15499080" cy="604774"/>
          </a:xfrm>
          <a:prstGeom prst="rect">
            <a:avLst/>
          </a:prstGeom>
          <a:noFill/>
        </p:spPr>
        <p:txBody>
          <a:bodyPr anchor="ctr" rtlCol="false" lIns="0" tIns="0" rIns="0" bIns="0" wrap="square"/>
          <a:lstStyle/>
          <a:p>
            <a:pPr algn="l">
              <a:lnSpc>
                <a:spcPts val="2261"/>
              </a:lnSpc>
              <a:spcBef>
                <a:spcPts val="0"/>
              </a:spcBef>
              <a:buNone/>
            </a:pPr>
            <a:r>
              <a:rPr lang="en-US" sz="1615" b="true">
                <a:solidFill>
                  <a:srgbClr val="111111"/>
                </a:solidFill>
                <a:latin typeface="Nunito Semi-Bold"/>
                <a:ea typeface="Nunito Semi-Bold"/>
                <a:cs typeface="Nunito Semi-Bold"/>
                <a:sym typeface="Nunito Semi-Bold"/>
              </a:rPr>
              <a:t>Classical, neural, graph and hypergraph families together, so the effect of </a:t>
            </a:r>
            <a:r>
              <a:rPr lang="en-US" sz="1615" b="true">
                <a:solidFill>
                  <a:srgbClr val="111111"/>
                </a:solidFill>
                <a:latin typeface="Nunito Bold"/>
                <a:ea typeface="Nunito Bold"/>
                <a:cs typeface="Nunito Bold"/>
                <a:sym typeface="Nunito Bold"/>
              </a:rPr>
              <a:t>cooperative attribution</a:t>
            </a:r>
            <a:r>
              <a:rPr lang="en-US" sz="1615" b="true">
                <a:solidFill>
                  <a:srgbClr val="111111"/>
                </a:solidFill>
                <a:latin typeface="Nunito Semi-Bold"/>
                <a:ea typeface="Nunito Semi-Bold"/>
                <a:cs typeface="Nunito Semi-Bold"/>
                <a:sym typeface="Nunito Semi-Bold"/>
              </a:rPr>
              <a:t> is not confused with a lucky model choice. HPCF is the strongest reference; all baselines were finalised in early 2026.</a:t>
            </a:r>
          </a:p>
        </p:txBody>
      </p:sp>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pic>
        <p:nvPicPr>
          <p:cNvPr id="2" name="Picture 1" descr="ensias_logo.jpg"/>
          <p:cNvPicPr>
            <a:picLocks noChangeAspect="1"/>
          </p:cNvPicPr>
          <p:nvPr/>
        </p:nvPicPr>
        <p:blipFill>
          <a:blip r:embed="rId2"/>
          <a:stretch>
            <a:fillRect/>
          </a:stretch>
        </p:blipFill>
        <p:spPr>
          <a:xfrm>
            <a:off x="1028700" y="9674352"/>
            <a:ext cx="542964" cy="384048"/>
          </a:xfrm>
          <a:prstGeom prst="rect">
            <a:avLst/>
          </a:prstGeom>
        </p:spPr>
      </p:pic>
      <p:sp>
        <p:nvSpPr>
          <p:cNvPr id="3" name="TextBox 2"/>
          <p:cNvSpPr txBox="1"/>
          <p:nvPr/>
        </p:nvSpPr>
        <p:spPr>
          <a:xfrm>
            <a:off x="1577340" y="9601200"/>
            <a:ext cx="14493240" cy="566928"/>
          </a:xfrm>
          <a:prstGeom prst="rect">
            <a:avLst/>
          </a:prstGeom>
          <a:noFill/>
        </p:spPr>
        <p:txBody>
          <a:bodyPr anchor="ctr" rtlCol="false" lIns="0" tIns="0" rIns="0" bIns="0" wrap="square"/>
          <a:lstStyle/>
          <a:p>
            <a:pPr algn="l">
              <a:lnSpc>
                <a:spcPts val="1200"/>
              </a:lnSpc>
              <a:spcBef>
                <a:spcPts val="0"/>
              </a:spcBef>
              <a:buNone/>
            </a:pPr>
            <a:r>
              <a:rPr lang="en-US" sz="1000" b="true">
                <a:solidFill>
                  <a:srgbClr val="8A8378"/>
                </a:solidFill>
                <a:latin typeface="Nunito Semi-Bold"/>
                <a:ea typeface="Nunito Semi-Bold"/>
                <a:cs typeface="Nunito Semi-Bold"/>
                <a:sym typeface="Nunito Semi-Bold"/>
              </a:rPr>
              <a:t>[17] Rousseeuw, P. J. Silhouettes: A Graphical Aid to the Interpretation and Validation of Cluster Analysis. J. Comput. Appl. Math. 20, 53–65 (1987).   [23] Zhu, Z. et al. Popularity Bias in Dynamic Recommendation. KDD, 2439–2449 (2021).  ·  Hurley, N. &amp; Zhang, M. Novelty and Diversity in Top-N Recommendation. ACM TOIT 10(4) (2011).</a:t>
            </a:r>
          </a:p>
        </p:txBody>
      </p:sp>
      <p:sp>
        <p:nvSpPr>
          <p:cNvPr id="4" name="TextBox 3"/>
          <p:cNvSpPr txBox="1"/>
          <p:nvPr/>
        </p:nvSpPr>
        <p:spPr>
          <a:xfrm>
            <a:off x="16162020" y="9692640"/>
            <a:ext cx="1097280" cy="329184"/>
          </a:xfrm>
          <a:prstGeom prst="rect">
            <a:avLst/>
          </a:prstGeom>
          <a:noFill/>
        </p:spPr>
        <p:txBody>
          <a:bodyPr anchor="t" rtlCol="false" lIns="0" tIns="0" rIns="0" bIns="0" wrap="square"/>
          <a:lstStyle/>
          <a:p>
            <a:pPr algn="r">
              <a:lnSpc>
                <a:spcPts val="2200"/>
              </a:lnSpc>
              <a:spcBef>
                <a:spcPts val="0"/>
              </a:spcBef>
              <a:buNone/>
            </a:pPr>
            <a:r>
              <a:rPr lang="en-US" sz="1800" b="true">
                <a:solidFill>
                  <a:srgbClr val="111111"/>
                </a:solidFill>
                <a:latin typeface="Nunito Ultra-Bold"/>
                <a:ea typeface="Nunito Ultra-Bold"/>
                <a:cs typeface="Nunito Ultra-Bold"/>
                <a:sym typeface="Nunito Ultra-Bold"/>
              </a:rPr>
              <a:t>24</a:t>
            </a:r>
          </a:p>
        </p:txBody>
      </p:sp>
      <p:sp>
        <p:nvSpPr>
          <p:cNvPr id="5" name="TextBox 4"/>
          <p:cNvSpPr txBox="1"/>
          <p:nvPr/>
        </p:nvSpPr>
        <p:spPr>
          <a:xfrm>
            <a:off x="1028700" y="1389888"/>
            <a:ext cx="12938760" cy="329184"/>
          </a:xfrm>
          <a:prstGeom prst="rect">
            <a:avLst/>
          </a:prstGeom>
          <a:noFill/>
        </p:spPr>
        <p:txBody>
          <a:bodyPr anchor="t" rtlCol="false" lIns="0" tIns="0" rIns="0" bIns="0" wrap="square"/>
          <a:lstStyle/>
          <a:p>
            <a:pPr algn="l">
              <a:lnSpc>
                <a:spcPts val="2000"/>
              </a:lnSpc>
              <a:spcBef>
                <a:spcPts val="0"/>
              </a:spcBef>
              <a:buNone/>
            </a:pPr>
            <a:r>
              <a:rPr lang="en-US" sz="1500" b="true" spc="160">
                <a:solidFill>
                  <a:srgbClr val="1F7A8C"/>
                </a:solidFill>
                <a:latin typeface="Nunito Ultra-Bold"/>
                <a:ea typeface="Nunito Ultra-Bold"/>
                <a:cs typeface="Nunito Ultra-Bold"/>
                <a:sym typeface="Nunito Ultra-Bold"/>
              </a:rPr>
              <a:t>EXPERIMENTAL PROTOCOL</a:t>
            </a:r>
          </a:p>
        </p:txBody>
      </p:sp>
      <p:sp>
        <p:nvSpPr>
          <p:cNvPr id="6" name="Rounded Rectangle 5"/>
          <p:cNvSpPr/>
          <p:nvPr/>
        </p:nvSpPr>
        <p:spPr>
          <a:xfrm>
            <a:off x="14516100"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7" name="TextBox 6"/>
          <p:cNvSpPr txBox="1"/>
          <p:nvPr/>
        </p:nvSpPr>
        <p:spPr>
          <a:xfrm>
            <a:off x="14516100"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1</a:t>
            </a:r>
          </a:p>
        </p:txBody>
      </p:sp>
      <p:sp>
        <p:nvSpPr>
          <p:cNvPr id="8" name="Rounded Rectangle 7"/>
          <p:cNvSpPr/>
          <p:nvPr/>
        </p:nvSpPr>
        <p:spPr>
          <a:xfrm>
            <a:off x="14918436"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9" name="TextBox 8"/>
          <p:cNvSpPr txBox="1"/>
          <p:nvPr/>
        </p:nvSpPr>
        <p:spPr>
          <a:xfrm>
            <a:off x="14918436"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2</a:t>
            </a:r>
          </a:p>
        </p:txBody>
      </p:sp>
      <p:sp>
        <p:nvSpPr>
          <p:cNvPr id="10" name="Rounded Rectangle 9"/>
          <p:cNvSpPr/>
          <p:nvPr/>
        </p:nvSpPr>
        <p:spPr>
          <a:xfrm>
            <a:off x="15320772" y="1371600"/>
            <a:ext cx="329184" cy="329184"/>
          </a:xfrm>
          <a:prstGeom prst="roundRect">
            <a:avLst>
              <a:gd name="adj" fmla="val 16666"/>
            </a:avLst>
          </a:prstGeom>
          <a:solidFill>
            <a:srgbClr val="4472C4"/>
          </a:solidFill>
          <a:ln w="15875">
            <a:solidFill>
              <a:srgbClr val="4472C4"/>
            </a:solidFill>
          </a:ln>
        </p:spPr>
        <p:txBody>
          <a:bodyPr anchor="ctr" rtlCol="false" lIns="0" tIns="0" rIns="0" bIns="0" wrap="square"/>
          <a:lstStyle/>
          <a:p>
            <a:endParaRPr lang="en-US" sz="1800"/>
          </a:p>
        </p:txBody>
      </p:sp>
      <p:sp>
        <p:nvSpPr>
          <p:cNvPr id="11" name="TextBox 10"/>
          <p:cNvSpPr txBox="1"/>
          <p:nvPr/>
        </p:nvSpPr>
        <p:spPr>
          <a:xfrm>
            <a:off x="15320772"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FFFFFF"/>
                </a:solidFill>
                <a:latin typeface="Nunito Ultra-Bold"/>
                <a:ea typeface="Nunito Ultra-Bold"/>
                <a:cs typeface="Nunito Ultra-Bold"/>
                <a:sym typeface="Nunito Ultra-Bold"/>
              </a:rPr>
              <a:t>3</a:t>
            </a:r>
          </a:p>
        </p:txBody>
      </p:sp>
      <p:sp>
        <p:nvSpPr>
          <p:cNvPr id="12" name="Rounded Rectangle 11"/>
          <p:cNvSpPr/>
          <p:nvPr/>
        </p:nvSpPr>
        <p:spPr>
          <a:xfrm>
            <a:off x="15723108"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13" name="TextBox 12"/>
          <p:cNvSpPr txBox="1"/>
          <p:nvPr/>
        </p:nvSpPr>
        <p:spPr>
          <a:xfrm>
            <a:off x="15723108"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4</a:t>
            </a:r>
          </a:p>
        </p:txBody>
      </p:sp>
      <p:sp>
        <p:nvSpPr>
          <p:cNvPr id="14" name="Rounded Rectangle 13"/>
          <p:cNvSpPr/>
          <p:nvPr/>
        </p:nvSpPr>
        <p:spPr>
          <a:xfrm>
            <a:off x="16125444"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15" name="TextBox 14"/>
          <p:cNvSpPr txBox="1"/>
          <p:nvPr/>
        </p:nvSpPr>
        <p:spPr>
          <a:xfrm>
            <a:off x="16125444"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5</a:t>
            </a:r>
          </a:p>
        </p:txBody>
      </p:sp>
      <p:sp>
        <p:nvSpPr>
          <p:cNvPr id="16" name="Rounded Rectangle 15"/>
          <p:cNvSpPr/>
          <p:nvPr/>
        </p:nvSpPr>
        <p:spPr>
          <a:xfrm>
            <a:off x="16527780"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17" name="TextBox 16"/>
          <p:cNvSpPr txBox="1"/>
          <p:nvPr/>
        </p:nvSpPr>
        <p:spPr>
          <a:xfrm>
            <a:off x="16527780"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6</a:t>
            </a:r>
          </a:p>
        </p:txBody>
      </p:sp>
      <p:sp>
        <p:nvSpPr>
          <p:cNvPr id="18" name="Rounded Rectangle 17"/>
          <p:cNvSpPr/>
          <p:nvPr/>
        </p:nvSpPr>
        <p:spPr>
          <a:xfrm>
            <a:off x="16930116"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19" name="TextBox 18"/>
          <p:cNvSpPr txBox="1"/>
          <p:nvPr/>
        </p:nvSpPr>
        <p:spPr>
          <a:xfrm>
            <a:off x="16930116"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7</a:t>
            </a:r>
          </a:p>
        </p:txBody>
      </p:sp>
      <p:sp>
        <p:nvSpPr>
          <p:cNvPr id="20" name="TextBox 19"/>
          <p:cNvSpPr txBox="1"/>
          <p:nvPr/>
        </p:nvSpPr>
        <p:spPr>
          <a:xfrm>
            <a:off x="1028700" y="1719072"/>
            <a:ext cx="16230600" cy="730250"/>
          </a:xfrm>
          <a:prstGeom prst="rect">
            <a:avLst/>
          </a:prstGeom>
          <a:noFill/>
        </p:spPr>
        <p:txBody>
          <a:bodyPr anchor="t" rtlCol="false" lIns="0" tIns="0" rIns="0" bIns="0" wrap="square"/>
          <a:lstStyle/>
          <a:p>
            <a:pPr algn="l">
              <a:lnSpc>
                <a:spcPts val="5060"/>
              </a:lnSpc>
              <a:spcBef>
                <a:spcPts val="0"/>
              </a:spcBef>
              <a:buNone/>
            </a:pPr>
            <a:r>
              <a:rPr lang="en-US" sz="4600" b="true" spc="-230">
                <a:solidFill>
                  <a:srgbClr val="111111"/>
                </a:solidFill>
                <a:latin typeface="Roca Two Bold"/>
                <a:ea typeface="Roca Two Bold"/>
                <a:cs typeface="Roca Two Bold"/>
                <a:sym typeface="Roca Two Bold"/>
              </a:rPr>
              <a:t>Evaluation Metrics</a:t>
            </a:r>
          </a:p>
        </p:txBody>
      </p:sp>
      <p:sp>
        <p:nvSpPr>
          <p:cNvPr id="21" name="Rounded Rectangle 20"/>
          <p:cNvSpPr/>
          <p:nvPr/>
        </p:nvSpPr>
        <p:spPr>
          <a:xfrm>
            <a:off x="1028700" y="2559050"/>
            <a:ext cx="1523907" cy="420624"/>
          </a:xfrm>
          <a:prstGeom prst="roundRect">
            <a:avLst>
              <a:gd name="adj" fmla="val 50000"/>
            </a:avLst>
          </a:prstGeom>
          <a:noFill/>
          <a:ln w="28575">
            <a:solidFill>
              <a:srgbClr val="4472C4"/>
            </a:solidFill>
          </a:ln>
        </p:spPr>
        <p:txBody>
          <a:bodyPr anchor="ctr" rtlCol="false" lIns="45720" tIns="0" rIns="45720" bIns="0" wrap="square"/>
          <a:lstStyle/>
          <a:p>
            <a:pPr algn="ctr">
              <a:lnSpc>
                <a:spcPts val="2160"/>
              </a:lnSpc>
              <a:spcBef>
                <a:spcPts val="0"/>
              </a:spcBef>
              <a:buNone/>
            </a:pPr>
            <a:r>
              <a:rPr lang="en-US" sz="1800" b="true">
                <a:solidFill>
                  <a:srgbClr val="4472C4"/>
                </a:solidFill>
                <a:latin typeface="Nunito Bold"/>
                <a:ea typeface="Nunito Bold"/>
                <a:cs typeface="Nunito Bold"/>
                <a:sym typeface="Nunito Bold"/>
              </a:rPr>
              <a:t>Datasets</a:t>
            </a:r>
          </a:p>
        </p:txBody>
      </p:sp>
      <p:sp>
        <p:nvSpPr>
          <p:cNvPr id="22" name="Rounded Rectangle 21"/>
          <p:cNvSpPr/>
          <p:nvPr/>
        </p:nvSpPr>
        <p:spPr>
          <a:xfrm>
            <a:off x="2680623" y="2559050"/>
            <a:ext cx="1349432" cy="420624"/>
          </a:xfrm>
          <a:prstGeom prst="roundRect">
            <a:avLst>
              <a:gd name="adj" fmla="val 50000"/>
            </a:avLst>
          </a:prstGeom>
          <a:solidFill>
            <a:srgbClr val="4472C4"/>
          </a:solidFill>
          <a:ln>
            <a:noFill/>
          </a:ln>
        </p:spPr>
        <p:txBody>
          <a:bodyPr anchor="ctr" rtlCol="false" lIns="45720" tIns="0" rIns="45720" bIns="0" wrap="square"/>
          <a:lstStyle/>
          <a:p>
            <a:pPr algn="ctr">
              <a:lnSpc>
                <a:spcPts val="2160"/>
              </a:lnSpc>
              <a:spcBef>
                <a:spcPts val="0"/>
              </a:spcBef>
              <a:buNone/>
            </a:pPr>
            <a:r>
              <a:rPr lang="en-US" sz="1800" b="true">
                <a:solidFill>
                  <a:srgbClr val="FFFFFF"/>
                </a:solidFill>
                <a:latin typeface="Nunito Bold"/>
                <a:ea typeface="Nunito Bold"/>
                <a:cs typeface="Nunito Bold"/>
                <a:sym typeface="Nunito Bold"/>
              </a:rPr>
              <a:t>Metrics</a:t>
            </a:r>
          </a:p>
        </p:txBody>
      </p:sp>
      <p:sp>
        <p:nvSpPr>
          <p:cNvPr id="23" name="Rounded Rectangle 22"/>
          <p:cNvSpPr/>
          <p:nvPr/>
        </p:nvSpPr>
        <p:spPr>
          <a:xfrm>
            <a:off x="4158071" y="2559050"/>
            <a:ext cx="1642577" cy="420624"/>
          </a:xfrm>
          <a:prstGeom prst="roundRect">
            <a:avLst>
              <a:gd name="adj" fmla="val 50000"/>
            </a:avLst>
          </a:prstGeom>
          <a:noFill/>
          <a:ln w="28575">
            <a:solidFill>
              <a:srgbClr val="4472C4"/>
            </a:solidFill>
          </a:ln>
        </p:spPr>
        <p:txBody>
          <a:bodyPr anchor="ctr" rtlCol="false" lIns="45720" tIns="0" rIns="45720" bIns="0" wrap="square"/>
          <a:lstStyle/>
          <a:p>
            <a:pPr algn="ctr">
              <a:lnSpc>
                <a:spcPts val="2160"/>
              </a:lnSpc>
              <a:spcBef>
                <a:spcPts val="0"/>
              </a:spcBef>
              <a:buNone/>
            </a:pPr>
            <a:r>
              <a:rPr lang="en-US" sz="1800" b="true">
                <a:solidFill>
                  <a:srgbClr val="4472C4"/>
                </a:solidFill>
                <a:latin typeface="Nunito Bold"/>
                <a:ea typeface="Nunito Bold"/>
                <a:cs typeface="Nunito Bold"/>
                <a:sym typeface="Nunito Bold"/>
              </a:rPr>
              <a:t>Hardware</a:t>
            </a:r>
          </a:p>
        </p:txBody>
      </p:sp>
      <p:sp>
        <p:nvSpPr>
          <p:cNvPr id="24" name="Rectangle 23"/>
          <p:cNvSpPr/>
          <p:nvPr/>
        </p:nvSpPr>
        <p:spPr>
          <a:xfrm>
            <a:off x="1028700" y="3363722"/>
            <a:ext cx="16230600" cy="384048"/>
          </a:xfrm>
          <a:prstGeom prst="rect">
            <a:avLst/>
          </a:prstGeom>
          <a:solidFill>
            <a:srgbClr val="4472C4"/>
          </a:solidFill>
          <a:ln>
            <a:noFill/>
          </a:ln>
        </p:spPr>
        <p:txBody>
          <a:bodyPr anchor="ctr" rtlCol="false" lIns="0" tIns="0" rIns="0" bIns="0" wrap="square"/>
          <a:lstStyle/>
          <a:p>
            <a:endParaRPr lang="en-US" sz="1800"/>
          </a:p>
        </p:txBody>
      </p:sp>
      <p:sp>
        <p:nvSpPr>
          <p:cNvPr id="25" name="TextBox 24"/>
          <p:cNvSpPr txBox="1"/>
          <p:nvPr/>
        </p:nvSpPr>
        <p:spPr>
          <a:xfrm>
            <a:off x="1165860" y="3363722"/>
            <a:ext cx="2377440" cy="384048"/>
          </a:xfrm>
          <a:prstGeom prst="rect">
            <a:avLst/>
          </a:prstGeom>
          <a:noFill/>
        </p:spPr>
        <p:txBody>
          <a:bodyPr anchor="ctr" rtlCol="false" lIns="0" tIns="0" rIns="0" bIns="0" wrap="square"/>
          <a:lstStyle/>
          <a:p>
            <a:pPr algn="l">
              <a:lnSpc>
                <a:spcPts val="1800"/>
              </a:lnSpc>
              <a:spcBef>
                <a:spcPts val="0"/>
              </a:spcBef>
              <a:buNone/>
            </a:pPr>
            <a:r>
              <a:rPr lang="en-US" sz="1500" b="true">
                <a:solidFill>
                  <a:srgbClr val="FFFFFF"/>
                </a:solidFill>
                <a:latin typeface="Nunito Bold"/>
                <a:ea typeface="Nunito Bold"/>
                <a:cs typeface="Nunito Bold"/>
                <a:sym typeface="Nunito Bold"/>
              </a:rPr>
              <a:t>Metric</a:t>
            </a:r>
          </a:p>
        </p:txBody>
      </p:sp>
      <p:sp>
        <p:nvSpPr>
          <p:cNvPr id="26" name="TextBox 25"/>
          <p:cNvSpPr txBox="1"/>
          <p:nvPr/>
        </p:nvSpPr>
        <p:spPr>
          <a:xfrm>
            <a:off x="3817620" y="3363722"/>
            <a:ext cx="6217920" cy="384048"/>
          </a:xfrm>
          <a:prstGeom prst="rect">
            <a:avLst/>
          </a:prstGeom>
          <a:noFill/>
        </p:spPr>
        <p:txBody>
          <a:bodyPr anchor="ctr" rtlCol="false" lIns="0" tIns="0" rIns="0" bIns="0" wrap="square"/>
          <a:lstStyle/>
          <a:p>
            <a:pPr algn="l">
              <a:lnSpc>
                <a:spcPts val="1800"/>
              </a:lnSpc>
              <a:spcBef>
                <a:spcPts val="0"/>
              </a:spcBef>
              <a:buNone/>
            </a:pPr>
            <a:r>
              <a:rPr lang="en-US" sz="1500" b="true">
                <a:solidFill>
                  <a:srgbClr val="FFFFFF"/>
                </a:solidFill>
                <a:latin typeface="Nunito Bold"/>
                <a:ea typeface="Nunito Bold"/>
                <a:cs typeface="Nunito Bold"/>
                <a:sym typeface="Nunito Bold"/>
              </a:rPr>
              <a:t>Formula</a:t>
            </a:r>
          </a:p>
        </p:txBody>
      </p:sp>
      <p:sp>
        <p:nvSpPr>
          <p:cNvPr id="27" name="TextBox 26"/>
          <p:cNvSpPr txBox="1"/>
          <p:nvPr/>
        </p:nvSpPr>
        <p:spPr>
          <a:xfrm>
            <a:off x="10309860" y="3363722"/>
            <a:ext cx="6812280" cy="384048"/>
          </a:xfrm>
          <a:prstGeom prst="rect">
            <a:avLst/>
          </a:prstGeom>
          <a:noFill/>
        </p:spPr>
        <p:txBody>
          <a:bodyPr anchor="ctr" rtlCol="false" lIns="0" tIns="0" rIns="0" bIns="0" wrap="square"/>
          <a:lstStyle/>
          <a:p>
            <a:pPr algn="l">
              <a:lnSpc>
                <a:spcPts val="1800"/>
              </a:lnSpc>
              <a:spcBef>
                <a:spcPts val="0"/>
              </a:spcBef>
              <a:buNone/>
            </a:pPr>
            <a:r>
              <a:rPr lang="en-US" sz="1500" b="true">
                <a:solidFill>
                  <a:srgbClr val="FFFFFF"/>
                </a:solidFill>
                <a:latin typeface="Nunito Bold"/>
                <a:ea typeface="Nunito Bold"/>
                <a:cs typeface="Nunito Bold"/>
                <a:sym typeface="Nunito Bold"/>
              </a:rPr>
              <a:t>Why it is used</a:t>
            </a:r>
          </a:p>
        </p:txBody>
      </p:sp>
      <p:sp>
        <p:nvSpPr>
          <p:cNvPr id="28" name="Rectangle 27"/>
          <p:cNvSpPr/>
          <p:nvPr/>
        </p:nvSpPr>
        <p:spPr>
          <a:xfrm>
            <a:off x="1028700" y="3747770"/>
            <a:ext cx="16230600" cy="739539"/>
          </a:xfrm>
          <a:prstGeom prst="rect">
            <a:avLst/>
          </a:prstGeom>
          <a:solidFill>
            <a:srgbClr val="FFFFFF"/>
          </a:solidFill>
          <a:ln>
            <a:noFill/>
          </a:ln>
        </p:spPr>
        <p:txBody>
          <a:bodyPr anchor="ctr" rtlCol="false" lIns="0" tIns="0" rIns="0" bIns="0" wrap="square"/>
          <a:lstStyle/>
          <a:p>
            <a:endParaRPr lang="en-US" sz="1800"/>
          </a:p>
        </p:txBody>
      </p:sp>
      <p:sp>
        <p:nvSpPr>
          <p:cNvPr id="29" name="TextBox 28"/>
          <p:cNvSpPr txBox="1"/>
          <p:nvPr/>
        </p:nvSpPr>
        <p:spPr>
          <a:xfrm>
            <a:off x="1165860" y="3747770"/>
            <a:ext cx="2377440" cy="739539"/>
          </a:xfrm>
          <a:prstGeom prst="rect">
            <a:avLst/>
          </a:prstGeom>
          <a:noFill/>
        </p:spPr>
        <p:txBody>
          <a:bodyPr anchor="ctr" rtlCol="false" lIns="0" tIns="0" rIns="0" bIns="0" wrap="square"/>
          <a:lstStyle/>
          <a:p>
            <a:pPr algn="l">
              <a:lnSpc>
                <a:spcPts val="1900"/>
              </a:lnSpc>
              <a:spcBef>
                <a:spcPts val="0"/>
              </a:spcBef>
              <a:buNone/>
            </a:pPr>
            <a:r>
              <a:rPr lang="en-US" sz="1600" b="true">
                <a:solidFill>
                  <a:srgbClr val="111111"/>
                </a:solidFill>
                <a:latin typeface="Nunito Bold"/>
                <a:ea typeface="Nunito Bold"/>
                <a:cs typeface="Nunito Bold"/>
                <a:sym typeface="Nunito Bold"/>
              </a:rPr>
              <a:t>NDCG@K  (main)</a:t>
            </a:r>
          </a:p>
        </p:txBody>
      </p:sp>
      <mc:AlternateContent xmlns:mc="http://schemas.openxmlformats.org/markup-compatibility/2006">
        <mc:Choice xmlns:a14="http://schemas.microsoft.com/office/drawing/2010/main" Requires="a14">
          <p:sp>
            <p:nvSpPr>
              <p:cNvPr id="30" name="Equation"/>
              <p:cNvSpPr txBox="1"/>
              <p:nvPr/>
            </p:nvSpPr>
            <p:spPr>
              <a:xfrm>
                <a:off x="3771900" y="3775202"/>
                <a:ext cx="6309360" cy="684675"/>
              </a:xfrm>
              <a:prstGeom prst="rect">
                <a:avLst/>
              </a:prstGeom>
              <a:noFill/>
            </p:spPr>
            <p:txBody>
              <a:bodyPr wrap="none" rtlCol="0" anchor="ctr" lIns="0" tIns="0" rIns="0" bIns="0"/>
              <a:lstStyle/>
              <a:p>
                <a:pPr algn="l"/>
                <a14:m xmlns:m="http://schemas.openxmlformats.org/officeDocument/2006/math">
                  <m:oMathPara>
                    <m:oMathParaPr>
                      <m:jc m:val="left"/>
                    </m:oMathParaPr>
                    <m:oMath>
                      <m:r>
                        <m:rPr>
                          <m:sty m:val="p"/>
                        </m:rPr>
                        <a:rPr lang="en-US" sz="1150">
                          <a:solidFill>
                            <a:srgbClr val="111111"/>
                          </a:solidFill>
                          <a:latin typeface="Cambria Math" panose="02040503050406030204" pitchFamily="18" charset="0"/>
                        </a:rPr>
                        <m:t xml:space="preserve">NDCG@</m:t>
                      </m:r>
                      <m:r>
                        <a:rPr lang="en-US" sz="1150" i="1">
                          <a:solidFill>
                            <a:srgbClr val="111111"/>
                          </a:solidFill>
                          <a:latin typeface="Cambria Math" panose="02040503050406030204" pitchFamily="18" charset="0"/>
                        </a:rPr>
                        <m:t xml:space="preserve">K</m:t>
                      </m:r>
                      <m:r>
                        <m:rPr>
                          <m:sty m:val="p"/>
                        </m:rPr>
                        <a:rPr lang="en-US" sz="1150">
                          <a:solidFill>
                            <a:srgbClr val="111111"/>
                          </a:solidFill>
                          <a:latin typeface="Cambria Math" panose="02040503050406030204" pitchFamily="18" charset="0"/>
                        </a:rPr>
                        <m:t xml:space="preserve">=</m:t>
                      </m:r>
                      <m:f>
                        <m:fPr>
                          <m:ctrlPr>
                            <a:rPr lang="en-US" sz="1150" i="1">
                              <a:solidFill>
                                <a:srgbClr val="111111"/>
                              </a:solidFill>
                              <a:latin typeface="Cambria Math" panose="02040503050406030204" pitchFamily="18" charset="0"/>
                            </a:rPr>
                          </m:ctrlPr>
                        </m:fPr>
                        <m:num>
                          <m:r>
                            <m:rPr>
                              <m:sty m:val="p"/>
                            </m:rPr>
                            <a:rPr lang="en-US" sz="1150">
                              <a:solidFill>
                                <a:srgbClr val="111111"/>
                              </a:solidFill>
                              <a:latin typeface="Cambria Math" panose="02040503050406030204" pitchFamily="18" charset="0"/>
                            </a:rPr>
                            <m:t xml:space="preserve">1</m:t>
                          </m:r>
                        </m:num>
                        <m:den>
                          <m:r>
                            <m:rPr>
                              <m:sty m:val="p"/>
                            </m:rPr>
                            <a:rPr lang="en-US" sz="1150">
                              <a:solidFill>
                                <a:srgbClr val="111111"/>
                              </a:solidFill>
                              <a:latin typeface="Cambria Math" panose="02040503050406030204" pitchFamily="18" charset="0"/>
                            </a:rPr>
                            <m:t xml:space="preserve">IDCG@</m:t>
                          </m:r>
                          <m:r>
                            <a:rPr lang="en-US" sz="1150" i="1">
                              <a:solidFill>
                                <a:srgbClr val="111111"/>
                              </a:solidFill>
                              <a:latin typeface="Cambria Math" panose="02040503050406030204" pitchFamily="18" charset="0"/>
                            </a:rPr>
                            <m:t xml:space="preserve">K</m:t>
                          </m:r>
                        </m:den>
                      </m:f>
                      <m:r>
                        <m:rPr>
                          <m:sty m:val="p"/>
                        </m:rPr>
                        <a:rPr lang="en-US" sz="1150">
                          <a:solidFill>
                            <a:srgbClr val="111111"/>
                          </a:solidFill>
                          <a:latin typeface="Cambria Math" panose="02040503050406030204" pitchFamily="18" charset="0"/>
                        </a:rPr>
                        <m:t xml:space="preserve"> </m:t>
                      </m:r>
                      <m:nary>
                        <m:naryPr>
                          <m:chr m:val="∑"/>
                          <m:limLoc m:val="subSup"/>
                          <m:ctrlPr>
                            <a:rPr lang="en-US" sz="1150" i="1">
                              <a:solidFill>
                                <a:srgbClr val="111111"/>
                              </a:solidFill>
                              <a:latin typeface="Cambria Math" panose="02040503050406030204" pitchFamily="18" charset="0"/>
                            </a:rPr>
                          </m:ctrlPr>
                        </m:naryPr>
                        <m:sub>
                          <m:r>
                            <a:rPr lang="en-US" sz="1150" i="1">
                              <a:solidFill>
                                <a:srgbClr val="111111"/>
                              </a:solidFill>
                              <a:latin typeface="Cambria Math" panose="02040503050406030204" pitchFamily="18" charset="0"/>
                            </a:rPr>
                            <m:t xml:space="preserve">i</m:t>
                          </m:r>
                          <m:r>
                            <m:rPr>
                              <m:sty m:val="p"/>
                            </m:rPr>
                            <a:rPr lang="en-US" sz="1150">
                              <a:solidFill>
                                <a:srgbClr val="111111"/>
                              </a:solidFill>
                              <a:latin typeface="Cambria Math" panose="02040503050406030204" pitchFamily="18" charset="0"/>
                            </a:rPr>
                            <m:t xml:space="preserve">=1</m:t>
                          </m:r>
                        </m:sub>
                        <m:sup>
                          <m:r>
                            <a:rPr lang="en-US" sz="1150" i="1">
                              <a:solidFill>
                                <a:srgbClr val="111111"/>
                              </a:solidFill>
                              <a:latin typeface="Cambria Math" panose="02040503050406030204" pitchFamily="18" charset="0"/>
                            </a:rPr>
                            <m:t xml:space="preserve">K</m:t>
                          </m:r>
                        </m:sup>
                        <m:e>
                          <m:f>
                            <m:fPr>
                              <m:ctrlPr>
                                <a:rPr lang="en-US" sz="1150" i="1">
                                  <a:solidFill>
                                    <a:srgbClr val="111111"/>
                                  </a:solidFill>
                                  <a:latin typeface="Cambria Math" panose="02040503050406030204" pitchFamily="18" charset="0"/>
                                </a:rPr>
                              </m:ctrlPr>
                            </m:fPr>
                            <m:num>
                              <m:sSub>
                                <m:sSubPr>
                                  <m:ctrlPr>
                                    <a:rPr lang="en-US" sz="1150" i="1">
                                      <a:solidFill>
                                        <a:srgbClr val="111111"/>
                                      </a:solidFill>
                                      <a:latin typeface="Cambria Math" panose="02040503050406030204" pitchFamily="18" charset="0"/>
                                    </a:rPr>
                                  </m:ctrlPr>
                                </m:sSubPr>
                                <m:e>
                                  <m:r>
                                    <m:rPr>
                                      <m:sty m:val="p"/>
                                    </m:rPr>
                                    <a:rPr lang="en-US" sz="1150">
                                      <a:solidFill>
                                        <a:srgbClr val="111111"/>
                                      </a:solidFill>
                                      <a:latin typeface="Cambria Math" panose="02040503050406030204" pitchFamily="18" charset="0"/>
                                    </a:rPr>
                                    <m:t xml:space="preserve">rel</m:t>
                                  </m:r>
                                </m:e>
                                <m:sub>
                                  <m:r>
                                    <a:rPr lang="en-US" sz="1150" i="1">
                                      <a:solidFill>
                                        <a:srgbClr val="111111"/>
                                      </a:solidFill>
                                      <a:latin typeface="Cambria Math" panose="02040503050406030204" pitchFamily="18" charset="0"/>
                                    </a:rPr>
                                    <m:t xml:space="preserve">i</m:t>
                                  </m:r>
                                </m:sub>
                              </m:sSub>
                            </m:num>
                            <m:den>
                              <m:sSub>
                                <m:sSubPr>
                                  <m:ctrlPr>
                                    <a:rPr lang="en-US" sz="1150" i="1">
                                      <a:solidFill>
                                        <a:srgbClr val="111111"/>
                                      </a:solidFill>
                                      <a:latin typeface="Cambria Math" panose="02040503050406030204" pitchFamily="18" charset="0"/>
                                    </a:rPr>
                                  </m:ctrlPr>
                                </m:sSubPr>
                                <m:e>
                                  <m:r>
                                    <m:rPr>
                                      <m:sty m:val="p"/>
                                    </m:rPr>
                                    <a:rPr lang="en-US" sz="1150">
                                      <a:solidFill>
                                        <a:srgbClr val="111111"/>
                                      </a:solidFill>
                                      <a:latin typeface="Cambria Math" panose="02040503050406030204" pitchFamily="18" charset="0"/>
                                    </a:rPr>
                                    <m:t xml:space="preserve">log</m:t>
                                  </m:r>
                                </m:e>
                                <m:sub>
                                  <m:r>
                                    <m:rPr>
                                      <m:sty m:val="p"/>
                                    </m:rPr>
                                    <a:rPr lang="en-US" sz="1150">
                                      <a:solidFill>
                                        <a:srgbClr val="111111"/>
                                      </a:solidFill>
                                      <a:latin typeface="Cambria Math" panose="02040503050406030204" pitchFamily="18" charset="0"/>
                                    </a:rPr>
                                    <m:t xml:space="preserve">2</m:t>
                                  </m:r>
                                </m:sub>
                              </m:sSub>
                              <m:r>
                                <m:rPr>
                                  <m:sty m:val="p"/>
                                </m:rPr>
                                <a:rPr lang="en-US" sz="1150">
                                  <a:solidFill>
                                    <a:srgbClr val="111111"/>
                                  </a:solidFill>
                                  <a:latin typeface="Cambria Math" panose="02040503050406030204" pitchFamily="18" charset="0"/>
                                </a:rPr>
                                <m:t xml:space="preserve">(</m:t>
                              </m:r>
                              <m:r>
                                <a:rPr lang="en-US" sz="1150" i="1">
                                  <a:solidFill>
                                    <a:srgbClr val="111111"/>
                                  </a:solidFill>
                                  <a:latin typeface="Cambria Math" panose="02040503050406030204" pitchFamily="18" charset="0"/>
                                </a:rPr>
                                <m:t xml:space="preserve">i</m:t>
                              </m:r>
                              <m:r>
                                <m:rPr>
                                  <m:sty m:val="p"/>
                                </m:rPr>
                                <a:rPr lang="en-US" sz="1150">
                                  <a:solidFill>
                                    <a:srgbClr val="111111"/>
                                  </a:solidFill>
                                  <a:latin typeface="Cambria Math" panose="02040503050406030204" pitchFamily="18" charset="0"/>
                                </a:rPr>
                                <m:t xml:space="preserve">+1)</m:t>
                              </m:r>
                            </m:den>
                          </m:f>
                        </m:e>
                      </m:nary>
                    </m:oMath>
                  </m:oMathPara>
                </a14:m>
                <a:endParaRPr lang="en-US" sz="1150"/>
              </a:p>
            </p:txBody>
          </p:sp>
        </mc:Choice>
        <mc:Fallback>
          <p:sp>
            <p:nvSpPr>
              <p:cNvPr id="30" name="Equation"/>
              <p:cNvSpPr txBox="1"/>
              <p:nvPr/>
            </p:nvSpPr>
            <p:spPr>
              <a:xfrm>
                <a:off x="3771900" y="3775202"/>
                <a:ext cx="6309360" cy="684675"/>
              </a:xfrm>
              <a:prstGeom prst="rect">
                <a:avLst/>
              </a:prstGeom>
              <a:blipFill>
                <a:blip r:embed="rId4"/>
                <a:stretch>
                  <a:fillRect/>
                </a:stretch>
              </a:blipFill>
            </p:spPr>
            <p:txBody>
              <a:bodyPr/>
              <a:lstStyle/>
              <a:p>
                <a:endParaRPr lang="en-US"/>
              </a:p>
            </p:txBody>
          </p:sp>
        </mc:Fallback>
      </mc:AlternateContent>
      <p:sp>
        <p:nvSpPr>
          <p:cNvPr id="31" name="TextBox 30"/>
          <p:cNvSpPr txBox="1"/>
          <p:nvPr/>
        </p:nvSpPr>
        <p:spPr>
          <a:xfrm>
            <a:off x="10309860" y="3747770"/>
            <a:ext cx="6812280" cy="739539"/>
          </a:xfrm>
          <a:prstGeom prst="rect">
            <a:avLst/>
          </a:prstGeom>
          <a:noFill/>
        </p:spPr>
        <p:txBody>
          <a:bodyPr anchor="ctr" rtlCol="false" lIns="0" tIns="0" rIns="0" bIns="0" wrap="square"/>
          <a:lstStyle/>
          <a:p>
            <a:pPr algn="l">
              <a:lnSpc>
                <a:spcPts val="1700"/>
              </a:lnSpc>
              <a:spcBef>
                <a:spcPts val="0"/>
              </a:spcBef>
              <a:buNone/>
            </a:pPr>
            <a:r>
              <a:rPr lang="en-US" sz="1400" b="true">
                <a:solidFill>
                  <a:srgbClr val="111111"/>
                </a:solidFill>
                <a:latin typeface="Nunito Semi-Bold"/>
                <a:ea typeface="Nunito Semi-Bold"/>
                <a:cs typeface="Nunito Semi-Bold"/>
                <a:sym typeface="Nunito Semi-Bold"/>
              </a:rPr>
              <a:t>Ranking quality; rewards relevant items placed near the top of the list.</a:t>
            </a:r>
          </a:p>
        </p:txBody>
      </p:sp>
      <p:cxnSp>
        <p:nvCxnSpPr>
          <p:cNvPr id="32" name="Connector 31"/>
          <p:cNvCxnSpPr/>
          <p:nvPr/>
        </p:nvCxnSpPr>
        <p:spPr>
          <a:xfrm>
            <a:off x="1028700" y="4487309"/>
            <a:ext cx="16230600" cy="0"/>
          </a:xfrm>
          <a:prstGeom prst="line">
            <a:avLst/>
          </a:prstGeom>
          <a:ln w="12700">
            <a:solidFill>
              <a:srgbClr val="E3D6C4"/>
            </a:solidFill>
          </a:ln>
        </p:spPr>
      </p:cxnSp>
      <p:sp>
        <p:nvSpPr>
          <p:cNvPr id="33" name="Rectangle 32"/>
          <p:cNvSpPr/>
          <p:nvPr/>
        </p:nvSpPr>
        <p:spPr>
          <a:xfrm>
            <a:off x="1028700" y="4487309"/>
            <a:ext cx="16230600" cy="739539"/>
          </a:xfrm>
          <a:prstGeom prst="rect">
            <a:avLst/>
          </a:prstGeom>
          <a:solidFill>
            <a:srgbClr val="F6ECDF"/>
          </a:solidFill>
          <a:ln>
            <a:noFill/>
          </a:ln>
        </p:spPr>
        <p:txBody>
          <a:bodyPr anchor="ctr" rtlCol="false" lIns="0" tIns="0" rIns="0" bIns="0" wrap="square"/>
          <a:lstStyle/>
          <a:p>
            <a:endParaRPr lang="en-US" sz="1800"/>
          </a:p>
        </p:txBody>
      </p:sp>
      <p:sp>
        <p:nvSpPr>
          <p:cNvPr id="34" name="TextBox 33"/>
          <p:cNvSpPr txBox="1"/>
          <p:nvPr/>
        </p:nvSpPr>
        <p:spPr>
          <a:xfrm>
            <a:off x="1165860" y="4487309"/>
            <a:ext cx="2377440" cy="739539"/>
          </a:xfrm>
          <a:prstGeom prst="rect">
            <a:avLst/>
          </a:prstGeom>
          <a:noFill/>
        </p:spPr>
        <p:txBody>
          <a:bodyPr anchor="ctr" rtlCol="false" lIns="0" tIns="0" rIns="0" bIns="0" wrap="square"/>
          <a:lstStyle/>
          <a:p>
            <a:pPr algn="l">
              <a:lnSpc>
                <a:spcPts val="1900"/>
              </a:lnSpc>
              <a:spcBef>
                <a:spcPts val="0"/>
              </a:spcBef>
              <a:buNone/>
            </a:pPr>
            <a:r>
              <a:rPr lang="en-US" sz="1600" b="true">
                <a:solidFill>
                  <a:srgbClr val="111111"/>
                </a:solidFill>
                <a:latin typeface="Nunito Bold"/>
                <a:ea typeface="Nunito Bold"/>
                <a:cs typeface="Nunito Bold"/>
                <a:sym typeface="Nunito Bold"/>
              </a:rPr>
              <a:t>Recall@K</a:t>
            </a:r>
          </a:p>
        </p:txBody>
      </p:sp>
      <mc:AlternateContent xmlns:mc="http://schemas.openxmlformats.org/markup-compatibility/2006">
        <mc:Choice xmlns:a14="http://schemas.microsoft.com/office/drawing/2010/main" Requires="a14">
          <p:sp>
            <p:nvSpPr>
              <p:cNvPr id="35" name="Equation"/>
              <p:cNvSpPr txBox="1"/>
              <p:nvPr/>
            </p:nvSpPr>
            <p:spPr>
              <a:xfrm>
                <a:off x="3771900" y="4514741"/>
                <a:ext cx="6309360" cy="684675"/>
              </a:xfrm>
              <a:prstGeom prst="rect">
                <a:avLst/>
              </a:prstGeom>
              <a:noFill/>
            </p:spPr>
            <p:txBody>
              <a:bodyPr wrap="none" rtlCol="0" anchor="ctr" lIns="0" tIns="0" rIns="0" bIns="0"/>
              <a:lstStyle/>
              <a:p>
                <a:pPr algn="l"/>
                <a14:m xmlns:m="http://schemas.openxmlformats.org/officeDocument/2006/math">
                  <m:oMathPara>
                    <m:oMathParaPr>
                      <m:jc m:val="left"/>
                    </m:oMathParaPr>
                    <m:oMath>
                      <m:r>
                        <m:rPr>
                          <m:sty m:val="p"/>
                        </m:rPr>
                        <a:rPr lang="en-US" sz="1100">
                          <a:solidFill>
                            <a:srgbClr val="111111"/>
                          </a:solidFill>
                          <a:latin typeface="Cambria Math" panose="02040503050406030204" pitchFamily="18" charset="0"/>
                        </a:rPr>
                        <m:t xml:space="preserve">Recall@</m:t>
                      </m:r>
                      <m:r>
                        <a:rPr lang="en-US" sz="1100" i="1">
                          <a:solidFill>
                            <a:srgbClr val="111111"/>
                          </a:solidFill>
                          <a:latin typeface="Cambria Math" panose="02040503050406030204" pitchFamily="18" charset="0"/>
                        </a:rPr>
                        <m:t xml:space="preserve">K</m:t>
                      </m:r>
                      <m:r>
                        <m:rPr>
                          <m:sty m:val="p"/>
                        </m:rPr>
                        <a:rPr lang="en-US" sz="1100">
                          <a:solidFill>
                            <a:srgbClr val="111111"/>
                          </a:solidFill>
                          <a:latin typeface="Cambria Math" panose="02040503050406030204" pitchFamily="18" charset="0"/>
                        </a:rPr>
                        <m:t xml:space="preserve">=</m:t>
                      </m:r>
                      <m:f>
                        <m:fPr>
                          <m:ctrlPr>
                            <a:rPr lang="en-US" sz="1100" i="1">
                              <a:solidFill>
                                <a:srgbClr val="111111"/>
                              </a:solidFill>
                              <a:latin typeface="Cambria Math" panose="02040503050406030204" pitchFamily="18" charset="0"/>
                            </a:rPr>
                          </m:ctrlPr>
                        </m:fPr>
                        <m:num>
                          <m:r>
                            <m:rPr>
                              <m:sty m:val="p"/>
                            </m:rPr>
                            <a:rPr lang="en-US" sz="1100">
                              <a:solidFill>
                                <a:srgbClr val="111111"/>
                              </a:solidFill>
                              <a:latin typeface="Cambria Math" panose="02040503050406030204" pitchFamily="18" charset="0"/>
                            </a:rPr>
                            <m:t xml:space="preserve">| </m:t>
                          </m:r>
                          <m:sSubSup>
                            <m:sSubSupPr>
                              <m:ctrlPr>
                                <a:rPr lang="en-US" sz="1100" i="1">
                                  <a:solidFill>
                                    <a:srgbClr val="111111"/>
                                  </a:solidFill>
                                  <a:latin typeface="Cambria Math" panose="02040503050406030204" pitchFamily="18" charset="0"/>
                                </a:rPr>
                              </m:ctrlPr>
                            </m:sSubSupPr>
                            <m:e>
                              <m:r>
                                <a:rPr lang="en-US" sz="1100" i="1">
                                  <a:solidFill>
                                    <a:srgbClr val="111111"/>
                                  </a:solidFill>
                                  <a:latin typeface="Cambria Math" panose="02040503050406030204" pitchFamily="18" charset="0"/>
                                </a:rPr>
                                <m:t xml:space="preserve">L</m:t>
                              </m:r>
                            </m:e>
                            <m:sub>
                              <m:r>
                                <a:rPr lang="en-US" sz="1100" i="1">
                                  <a:solidFill>
                                    <a:srgbClr val="111111"/>
                                  </a:solidFill>
                                  <a:latin typeface="Cambria Math" panose="02040503050406030204" pitchFamily="18" charset="0"/>
                                </a:rPr>
                                <m:t xml:space="preserve">u</m:t>
                              </m:r>
                            </m:sub>
                            <m:sup>
                              <m:r>
                                <a:rPr lang="en-US" sz="1100" i="1">
                                  <a:solidFill>
                                    <a:srgbClr val="111111"/>
                                  </a:solidFill>
                                  <a:latin typeface="Cambria Math" panose="02040503050406030204" pitchFamily="18" charset="0"/>
                                </a:rPr>
                                <m:t xml:space="preserve">K</m:t>
                              </m:r>
                            </m:sup>
                          </m:sSubSup>
                          <m:r>
                            <m:rPr>
                              <m:sty m:val="p"/>
                            </m:rPr>
                            <a:rPr lang="en-US" sz="1100">
                              <a:solidFill>
                                <a:srgbClr val="111111"/>
                              </a:solidFill>
                              <a:latin typeface="Cambria Math" panose="02040503050406030204" pitchFamily="18" charset="0"/>
                            </a:rPr>
                            <m:t xml:space="preserve">∩</m:t>
                          </m:r>
                          <m:sSub>
                            <m:sSubPr>
                              <m:ctrlPr>
                                <a:rPr lang="en-US" sz="1100" i="1">
                                  <a:solidFill>
                                    <a:srgbClr val="111111"/>
                                  </a:solidFill>
                                  <a:latin typeface="Cambria Math" panose="02040503050406030204" pitchFamily="18" charset="0"/>
                                </a:rPr>
                              </m:ctrlPr>
                            </m:sSubPr>
                            <m:e>
                              <m:r>
                                <m:rPr>
                                  <m:scr m:val="script"/>
                                  <m:sty m:val="p"/>
                                </m:rPr>
                                <a:rPr lang="en-US" sz="1100">
                                  <a:solidFill>
                                    <a:srgbClr val="111111"/>
                                  </a:solidFill>
                                  <a:latin typeface="Cambria Math" panose="02040503050406030204" pitchFamily="18" charset="0"/>
                                </a:rPr>
                                <m:t xml:space="preserve">R</m:t>
                              </m:r>
                            </m:e>
                            <m:sub>
                              <m:r>
                                <a:rPr lang="en-US" sz="1100" i="1">
                                  <a:solidFill>
                                    <a:srgbClr val="111111"/>
                                  </a:solidFill>
                                  <a:latin typeface="Cambria Math" panose="02040503050406030204" pitchFamily="18" charset="0"/>
                                </a:rPr>
                                <m:t xml:space="preserve">u</m:t>
                              </m:r>
                            </m:sub>
                          </m:sSub>
                          <m:r>
                            <m:rPr>
                              <m:sty m:val="p"/>
                            </m:rPr>
                            <a:rPr lang="en-US" sz="1100">
                              <a:solidFill>
                                <a:srgbClr val="111111"/>
                              </a:solidFill>
                              <a:latin typeface="Cambria Math" panose="02040503050406030204" pitchFamily="18" charset="0"/>
                            </a:rPr>
                            <m:t xml:space="preserve"> |</m:t>
                          </m:r>
                        </m:num>
                        <m:den>
                          <m:r>
                            <m:rPr>
                              <m:sty m:val="p"/>
                            </m:rPr>
                            <a:rPr lang="en-US" sz="1100">
                              <a:solidFill>
                                <a:srgbClr val="111111"/>
                              </a:solidFill>
                              <a:latin typeface="Cambria Math" panose="02040503050406030204" pitchFamily="18" charset="0"/>
                            </a:rPr>
                            <m:t xml:space="preserve">| </m:t>
                          </m:r>
                          <m:sSub>
                            <m:sSubPr>
                              <m:ctrlPr>
                                <a:rPr lang="en-US" sz="1100" i="1">
                                  <a:solidFill>
                                    <a:srgbClr val="111111"/>
                                  </a:solidFill>
                                  <a:latin typeface="Cambria Math" panose="02040503050406030204" pitchFamily="18" charset="0"/>
                                </a:rPr>
                              </m:ctrlPr>
                            </m:sSubPr>
                            <m:e>
                              <m:r>
                                <m:rPr>
                                  <m:scr m:val="script"/>
                                  <m:sty m:val="p"/>
                                </m:rPr>
                                <a:rPr lang="en-US" sz="1100">
                                  <a:solidFill>
                                    <a:srgbClr val="111111"/>
                                  </a:solidFill>
                                  <a:latin typeface="Cambria Math" panose="02040503050406030204" pitchFamily="18" charset="0"/>
                                </a:rPr>
                                <m:t xml:space="preserve">R</m:t>
                              </m:r>
                            </m:e>
                            <m:sub>
                              <m:r>
                                <a:rPr lang="en-US" sz="1100" i="1">
                                  <a:solidFill>
                                    <a:srgbClr val="111111"/>
                                  </a:solidFill>
                                  <a:latin typeface="Cambria Math" panose="02040503050406030204" pitchFamily="18" charset="0"/>
                                </a:rPr>
                                <m:t xml:space="preserve">u</m:t>
                              </m:r>
                            </m:sub>
                          </m:sSub>
                          <m:r>
                            <m:rPr>
                              <m:sty m:val="p"/>
                            </m:rPr>
                            <a:rPr lang="en-US" sz="1100">
                              <a:solidFill>
                                <a:srgbClr val="111111"/>
                              </a:solidFill>
                              <a:latin typeface="Cambria Math" panose="02040503050406030204" pitchFamily="18" charset="0"/>
                            </a:rPr>
                            <m:t xml:space="preserve"> |</m:t>
                          </m:r>
                        </m:den>
                      </m:f>
                    </m:oMath>
                  </m:oMathPara>
                </a14:m>
                <a:endParaRPr lang="en-US" sz="1100"/>
              </a:p>
            </p:txBody>
          </p:sp>
        </mc:Choice>
        <mc:Fallback>
          <p:sp>
            <p:nvSpPr>
              <p:cNvPr id="35" name="Equation"/>
              <p:cNvSpPr txBox="1"/>
              <p:nvPr/>
            </p:nvSpPr>
            <p:spPr>
              <a:xfrm>
                <a:off x="3771900" y="4514741"/>
                <a:ext cx="6309360" cy="684675"/>
              </a:xfrm>
              <a:prstGeom prst="rect">
                <a:avLst/>
              </a:prstGeom>
              <a:blipFill>
                <a:blip r:embed="rId5"/>
                <a:stretch>
                  <a:fillRect/>
                </a:stretch>
              </a:blipFill>
            </p:spPr>
            <p:txBody>
              <a:bodyPr/>
              <a:lstStyle/>
              <a:p>
                <a:endParaRPr lang="en-US"/>
              </a:p>
            </p:txBody>
          </p:sp>
        </mc:Fallback>
      </mc:AlternateContent>
      <p:sp>
        <p:nvSpPr>
          <p:cNvPr id="36" name="TextBox 35"/>
          <p:cNvSpPr txBox="1"/>
          <p:nvPr/>
        </p:nvSpPr>
        <p:spPr>
          <a:xfrm>
            <a:off x="10309860" y="4487309"/>
            <a:ext cx="6812280" cy="739539"/>
          </a:xfrm>
          <a:prstGeom prst="rect">
            <a:avLst/>
          </a:prstGeom>
          <a:noFill/>
        </p:spPr>
        <p:txBody>
          <a:bodyPr anchor="ctr" rtlCol="false" lIns="0" tIns="0" rIns="0" bIns="0" wrap="square"/>
          <a:lstStyle/>
          <a:p>
            <a:pPr algn="l">
              <a:lnSpc>
                <a:spcPts val="1700"/>
              </a:lnSpc>
              <a:spcBef>
                <a:spcPts val="0"/>
              </a:spcBef>
              <a:buNone/>
            </a:pPr>
            <a:r>
              <a:rPr lang="en-US" sz="1400" b="true">
                <a:solidFill>
                  <a:srgbClr val="111111"/>
                </a:solidFill>
                <a:latin typeface="Nunito Semi-Bold"/>
                <a:ea typeface="Nunito Semi-Bold"/>
                <a:cs typeface="Nunito Semi-Bold"/>
                <a:sym typeface="Nunito Semi-Bold"/>
              </a:rPr>
              <a:t>Share of the user's relevant items that appear in the top-K list.</a:t>
            </a:r>
          </a:p>
        </p:txBody>
      </p:sp>
      <p:cxnSp>
        <p:nvCxnSpPr>
          <p:cNvPr id="37" name="Connector 36"/>
          <p:cNvCxnSpPr/>
          <p:nvPr/>
        </p:nvCxnSpPr>
        <p:spPr>
          <a:xfrm>
            <a:off x="1028700" y="5226848"/>
            <a:ext cx="16230600" cy="0"/>
          </a:xfrm>
          <a:prstGeom prst="line">
            <a:avLst/>
          </a:prstGeom>
          <a:ln w="12700">
            <a:solidFill>
              <a:srgbClr val="E3D6C4"/>
            </a:solidFill>
          </a:ln>
        </p:spPr>
      </p:cxnSp>
      <p:sp>
        <p:nvSpPr>
          <p:cNvPr id="38" name="Rectangle 37"/>
          <p:cNvSpPr/>
          <p:nvPr/>
        </p:nvSpPr>
        <p:spPr>
          <a:xfrm>
            <a:off x="1028700" y="5226848"/>
            <a:ext cx="16230600" cy="739539"/>
          </a:xfrm>
          <a:prstGeom prst="rect">
            <a:avLst/>
          </a:prstGeom>
          <a:solidFill>
            <a:srgbClr val="FFFFFF"/>
          </a:solidFill>
          <a:ln>
            <a:noFill/>
          </a:ln>
        </p:spPr>
        <p:txBody>
          <a:bodyPr anchor="ctr" rtlCol="false" lIns="0" tIns="0" rIns="0" bIns="0" wrap="square"/>
          <a:lstStyle/>
          <a:p>
            <a:endParaRPr lang="en-US" sz="1800"/>
          </a:p>
        </p:txBody>
      </p:sp>
      <p:sp>
        <p:nvSpPr>
          <p:cNvPr id="39" name="TextBox 38"/>
          <p:cNvSpPr txBox="1"/>
          <p:nvPr/>
        </p:nvSpPr>
        <p:spPr>
          <a:xfrm>
            <a:off x="1165860" y="5226848"/>
            <a:ext cx="2377440" cy="739539"/>
          </a:xfrm>
          <a:prstGeom prst="rect">
            <a:avLst/>
          </a:prstGeom>
          <a:noFill/>
        </p:spPr>
        <p:txBody>
          <a:bodyPr anchor="ctr" rtlCol="false" lIns="0" tIns="0" rIns="0" bIns="0" wrap="square"/>
          <a:lstStyle/>
          <a:p>
            <a:pPr algn="l">
              <a:lnSpc>
                <a:spcPts val="1900"/>
              </a:lnSpc>
              <a:spcBef>
                <a:spcPts val="0"/>
              </a:spcBef>
              <a:buNone/>
            </a:pPr>
            <a:r>
              <a:rPr lang="en-US" sz="1600" b="true">
                <a:solidFill>
                  <a:srgbClr val="111111"/>
                </a:solidFill>
                <a:latin typeface="Nunito Bold"/>
                <a:ea typeface="Nunito Bold"/>
                <a:cs typeface="Nunito Bold"/>
                <a:sym typeface="Nunito Bold"/>
              </a:rPr>
              <a:t>Precision@K</a:t>
            </a:r>
          </a:p>
        </p:txBody>
      </p:sp>
      <mc:AlternateContent xmlns:mc="http://schemas.openxmlformats.org/markup-compatibility/2006">
        <mc:Choice xmlns:a14="http://schemas.microsoft.com/office/drawing/2010/main" Requires="a14">
          <p:sp>
            <p:nvSpPr>
              <p:cNvPr id="40" name="Equation"/>
              <p:cNvSpPr txBox="1"/>
              <p:nvPr/>
            </p:nvSpPr>
            <p:spPr>
              <a:xfrm>
                <a:off x="3771900" y="5254280"/>
                <a:ext cx="6309360" cy="684675"/>
              </a:xfrm>
              <a:prstGeom prst="rect">
                <a:avLst/>
              </a:prstGeom>
              <a:noFill/>
            </p:spPr>
            <p:txBody>
              <a:bodyPr wrap="none" rtlCol="0" anchor="ctr" lIns="0" tIns="0" rIns="0" bIns="0"/>
              <a:lstStyle/>
              <a:p>
                <a:pPr algn="l"/>
                <a14:m xmlns:m="http://schemas.openxmlformats.org/officeDocument/2006/math">
                  <m:oMathPara>
                    <m:oMathParaPr>
                      <m:jc m:val="left"/>
                    </m:oMathParaPr>
                    <m:oMath>
                      <m:r>
                        <m:rPr>
                          <m:sty m:val="p"/>
                        </m:rPr>
                        <a:rPr lang="en-US" sz="1250">
                          <a:solidFill>
                            <a:srgbClr val="111111"/>
                          </a:solidFill>
                          <a:latin typeface="Cambria Math" panose="02040503050406030204" pitchFamily="18" charset="0"/>
                        </a:rPr>
                        <m:t xml:space="preserve">Precision@</m:t>
                      </m:r>
                      <m:r>
                        <a:rPr lang="en-US" sz="1250" i="1">
                          <a:solidFill>
                            <a:srgbClr val="111111"/>
                          </a:solidFill>
                          <a:latin typeface="Cambria Math" panose="02040503050406030204" pitchFamily="18" charset="0"/>
                        </a:rPr>
                        <m:t xml:space="preserve">K</m:t>
                      </m:r>
                      <m:r>
                        <m:rPr>
                          <m:sty m:val="p"/>
                        </m:rPr>
                        <a:rPr lang="en-US" sz="1250">
                          <a:solidFill>
                            <a:srgbClr val="111111"/>
                          </a:solidFill>
                          <a:latin typeface="Cambria Math" panose="02040503050406030204" pitchFamily="18" charset="0"/>
                        </a:rPr>
                        <m:t xml:space="preserve">=</m:t>
                      </m:r>
                      <m:f>
                        <m:fPr>
                          <m:ctrlPr>
                            <a:rPr lang="en-US" sz="1250" i="1">
                              <a:solidFill>
                                <a:srgbClr val="111111"/>
                              </a:solidFill>
                              <a:latin typeface="Cambria Math" panose="02040503050406030204" pitchFamily="18" charset="0"/>
                            </a:rPr>
                          </m:ctrlPr>
                        </m:fPr>
                        <m:num>
                          <m:r>
                            <m:rPr>
                              <m:sty m:val="p"/>
                            </m:rPr>
                            <a:rPr lang="en-US" sz="1250">
                              <a:solidFill>
                                <a:srgbClr val="111111"/>
                              </a:solidFill>
                              <a:latin typeface="Cambria Math" panose="02040503050406030204" pitchFamily="18" charset="0"/>
                            </a:rPr>
                            <m:t xml:space="preserve">| </m:t>
                          </m:r>
                          <m:sSubSup>
                            <m:sSubSupPr>
                              <m:ctrlPr>
                                <a:rPr lang="en-US" sz="1250" i="1">
                                  <a:solidFill>
                                    <a:srgbClr val="111111"/>
                                  </a:solidFill>
                                  <a:latin typeface="Cambria Math" panose="02040503050406030204" pitchFamily="18" charset="0"/>
                                </a:rPr>
                              </m:ctrlPr>
                            </m:sSubSupPr>
                            <m:e>
                              <m:r>
                                <a:rPr lang="en-US" sz="1250" i="1">
                                  <a:solidFill>
                                    <a:srgbClr val="111111"/>
                                  </a:solidFill>
                                  <a:latin typeface="Cambria Math" panose="02040503050406030204" pitchFamily="18" charset="0"/>
                                </a:rPr>
                                <m:t xml:space="preserve">L</m:t>
                              </m:r>
                            </m:e>
                            <m:sub>
                              <m:r>
                                <a:rPr lang="en-US" sz="1250" i="1">
                                  <a:solidFill>
                                    <a:srgbClr val="111111"/>
                                  </a:solidFill>
                                  <a:latin typeface="Cambria Math" panose="02040503050406030204" pitchFamily="18" charset="0"/>
                                </a:rPr>
                                <m:t xml:space="preserve">u</m:t>
                              </m:r>
                            </m:sub>
                            <m:sup>
                              <m:r>
                                <a:rPr lang="en-US" sz="1250" i="1">
                                  <a:solidFill>
                                    <a:srgbClr val="111111"/>
                                  </a:solidFill>
                                  <a:latin typeface="Cambria Math" panose="02040503050406030204" pitchFamily="18" charset="0"/>
                                </a:rPr>
                                <m:t xml:space="preserve">K</m:t>
                              </m:r>
                            </m:sup>
                          </m:sSubSup>
                          <m:r>
                            <m:rPr>
                              <m:sty m:val="p"/>
                            </m:rPr>
                            <a:rPr lang="en-US" sz="1250">
                              <a:solidFill>
                                <a:srgbClr val="111111"/>
                              </a:solidFill>
                              <a:latin typeface="Cambria Math" panose="02040503050406030204" pitchFamily="18" charset="0"/>
                            </a:rPr>
                            <m:t xml:space="preserve">∩</m:t>
                          </m:r>
                          <m:sSub>
                            <m:sSubPr>
                              <m:ctrlPr>
                                <a:rPr lang="en-US" sz="1250" i="1">
                                  <a:solidFill>
                                    <a:srgbClr val="111111"/>
                                  </a:solidFill>
                                  <a:latin typeface="Cambria Math" panose="02040503050406030204" pitchFamily="18" charset="0"/>
                                </a:rPr>
                              </m:ctrlPr>
                            </m:sSubPr>
                            <m:e>
                              <m:r>
                                <m:rPr>
                                  <m:scr m:val="script"/>
                                  <m:sty m:val="p"/>
                                </m:rPr>
                                <a:rPr lang="en-US" sz="1250">
                                  <a:solidFill>
                                    <a:srgbClr val="111111"/>
                                  </a:solidFill>
                                  <a:latin typeface="Cambria Math" panose="02040503050406030204" pitchFamily="18" charset="0"/>
                                </a:rPr>
                                <m:t xml:space="preserve">R</m:t>
                              </m:r>
                            </m:e>
                            <m:sub>
                              <m:r>
                                <a:rPr lang="en-US" sz="1250" i="1">
                                  <a:solidFill>
                                    <a:srgbClr val="111111"/>
                                  </a:solidFill>
                                  <a:latin typeface="Cambria Math" panose="02040503050406030204" pitchFamily="18" charset="0"/>
                                </a:rPr>
                                <m:t xml:space="preserve">u</m:t>
                              </m:r>
                            </m:sub>
                          </m:sSub>
                          <m:r>
                            <m:rPr>
                              <m:sty m:val="p"/>
                            </m:rPr>
                            <a:rPr lang="en-US" sz="1250">
                              <a:solidFill>
                                <a:srgbClr val="111111"/>
                              </a:solidFill>
                              <a:latin typeface="Cambria Math" panose="02040503050406030204" pitchFamily="18" charset="0"/>
                            </a:rPr>
                            <m:t xml:space="preserve"> |</m:t>
                          </m:r>
                        </m:num>
                        <m:den>
                          <m:r>
                            <a:rPr lang="en-US" sz="1250" i="1">
                              <a:solidFill>
                                <a:srgbClr val="111111"/>
                              </a:solidFill>
                              <a:latin typeface="Cambria Math" panose="02040503050406030204" pitchFamily="18" charset="0"/>
                            </a:rPr>
                            <m:t xml:space="preserve">K</m:t>
                          </m:r>
                        </m:den>
                      </m:f>
                    </m:oMath>
                  </m:oMathPara>
                </a14:m>
                <a:endParaRPr lang="en-US" sz="1250"/>
              </a:p>
            </p:txBody>
          </p:sp>
        </mc:Choice>
        <mc:Fallback>
          <p:sp>
            <p:nvSpPr>
              <p:cNvPr id="40" name="Equation"/>
              <p:cNvSpPr txBox="1"/>
              <p:nvPr/>
            </p:nvSpPr>
            <p:spPr>
              <a:xfrm>
                <a:off x="3771900" y="5254280"/>
                <a:ext cx="6309360" cy="684675"/>
              </a:xfrm>
              <a:prstGeom prst="rect">
                <a:avLst/>
              </a:prstGeom>
              <a:blipFill>
                <a:blip r:embed="rId6"/>
                <a:stretch>
                  <a:fillRect/>
                </a:stretch>
              </a:blipFill>
            </p:spPr>
            <p:txBody>
              <a:bodyPr/>
              <a:lstStyle/>
              <a:p>
                <a:endParaRPr lang="en-US"/>
              </a:p>
            </p:txBody>
          </p:sp>
        </mc:Fallback>
      </mc:AlternateContent>
      <p:sp>
        <p:nvSpPr>
          <p:cNvPr id="41" name="TextBox 40"/>
          <p:cNvSpPr txBox="1"/>
          <p:nvPr/>
        </p:nvSpPr>
        <p:spPr>
          <a:xfrm>
            <a:off x="10309860" y="5226848"/>
            <a:ext cx="6812280" cy="739539"/>
          </a:xfrm>
          <a:prstGeom prst="rect">
            <a:avLst/>
          </a:prstGeom>
          <a:noFill/>
        </p:spPr>
        <p:txBody>
          <a:bodyPr anchor="ctr" rtlCol="false" lIns="0" tIns="0" rIns="0" bIns="0" wrap="square"/>
          <a:lstStyle/>
          <a:p>
            <a:pPr algn="l">
              <a:lnSpc>
                <a:spcPts val="1700"/>
              </a:lnSpc>
              <a:spcBef>
                <a:spcPts val="0"/>
              </a:spcBef>
              <a:buNone/>
            </a:pPr>
            <a:r>
              <a:rPr lang="en-US" sz="1400" b="true">
                <a:solidFill>
                  <a:srgbClr val="111111"/>
                </a:solidFill>
                <a:latin typeface="Nunito Semi-Bold"/>
                <a:ea typeface="Nunito Semi-Bold"/>
                <a:cs typeface="Nunito Semi-Bold"/>
                <a:sym typeface="Nunito Semi-Bold"/>
              </a:rPr>
              <a:t>Share of the top-K list that is relevant.</a:t>
            </a:r>
          </a:p>
        </p:txBody>
      </p:sp>
      <p:cxnSp>
        <p:nvCxnSpPr>
          <p:cNvPr id="42" name="Connector 41"/>
          <p:cNvCxnSpPr/>
          <p:nvPr/>
        </p:nvCxnSpPr>
        <p:spPr>
          <a:xfrm>
            <a:off x="1028700" y="5966387"/>
            <a:ext cx="16230600" cy="0"/>
          </a:xfrm>
          <a:prstGeom prst="line">
            <a:avLst/>
          </a:prstGeom>
          <a:ln w="12700">
            <a:solidFill>
              <a:srgbClr val="E3D6C4"/>
            </a:solidFill>
          </a:ln>
        </p:spPr>
      </p:cxnSp>
      <p:sp>
        <p:nvSpPr>
          <p:cNvPr id="43" name="Rectangle 42"/>
          <p:cNvSpPr/>
          <p:nvPr/>
        </p:nvSpPr>
        <p:spPr>
          <a:xfrm>
            <a:off x="1028700" y="5966387"/>
            <a:ext cx="16230600" cy="739539"/>
          </a:xfrm>
          <a:prstGeom prst="rect">
            <a:avLst/>
          </a:prstGeom>
          <a:solidFill>
            <a:srgbClr val="F6ECDF"/>
          </a:solidFill>
          <a:ln>
            <a:noFill/>
          </a:ln>
        </p:spPr>
        <p:txBody>
          <a:bodyPr anchor="ctr" rtlCol="false" lIns="0" tIns="0" rIns="0" bIns="0" wrap="square"/>
          <a:lstStyle/>
          <a:p>
            <a:endParaRPr lang="en-US" sz="1800"/>
          </a:p>
        </p:txBody>
      </p:sp>
      <p:sp>
        <p:nvSpPr>
          <p:cNvPr id="44" name="TextBox 43"/>
          <p:cNvSpPr txBox="1"/>
          <p:nvPr/>
        </p:nvSpPr>
        <p:spPr>
          <a:xfrm>
            <a:off x="1165860" y="5966387"/>
            <a:ext cx="2377440" cy="739539"/>
          </a:xfrm>
          <a:prstGeom prst="rect">
            <a:avLst/>
          </a:prstGeom>
          <a:noFill/>
        </p:spPr>
        <p:txBody>
          <a:bodyPr anchor="ctr" rtlCol="false" lIns="0" tIns="0" rIns="0" bIns="0" wrap="square"/>
          <a:lstStyle/>
          <a:p>
            <a:pPr algn="l">
              <a:lnSpc>
                <a:spcPts val="1900"/>
              </a:lnSpc>
              <a:spcBef>
                <a:spcPts val="0"/>
              </a:spcBef>
              <a:buNone/>
            </a:pPr>
            <a:r>
              <a:rPr lang="en-US" sz="1600" b="true">
                <a:solidFill>
                  <a:srgbClr val="111111"/>
                </a:solidFill>
                <a:latin typeface="Nunito Bold"/>
                <a:ea typeface="Nunito Bold"/>
                <a:cs typeface="Nunito Bold"/>
                <a:sym typeface="Nunito Bold"/>
              </a:rPr>
              <a:t>Catalogue Coverage</a:t>
            </a:r>
          </a:p>
        </p:txBody>
      </p:sp>
      <mc:AlternateContent xmlns:mc="http://schemas.openxmlformats.org/markup-compatibility/2006">
        <mc:Choice xmlns:a14="http://schemas.microsoft.com/office/drawing/2010/main" Requires="a14">
          <p:sp>
            <p:nvSpPr>
              <p:cNvPr id="45" name="Equation"/>
              <p:cNvSpPr txBox="1"/>
              <p:nvPr/>
            </p:nvSpPr>
            <p:spPr>
              <a:xfrm>
                <a:off x="3771900" y="5993819"/>
                <a:ext cx="6309360" cy="684675"/>
              </a:xfrm>
              <a:prstGeom prst="rect">
                <a:avLst/>
              </a:prstGeom>
              <a:noFill/>
            </p:spPr>
            <p:txBody>
              <a:bodyPr wrap="none" rtlCol="0" anchor="ctr" lIns="0" tIns="0" rIns="0" bIns="0"/>
              <a:lstStyle/>
              <a:p>
                <a:pPr algn="l"/>
                <a14:m xmlns:m="http://schemas.openxmlformats.org/officeDocument/2006/math">
                  <m:oMathPara>
                    <m:oMathParaPr>
                      <m:jc m:val="left"/>
                    </m:oMathParaPr>
                    <m:oMath>
                      <m:r>
                        <m:rPr>
                          <m:sty m:val="p"/>
                        </m:rPr>
                        <a:rPr lang="en-US" sz="1250">
                          <a:solidFill>
                            <a:srgbClr val="111111"/>
                          </a:solidFill>
                          <a:latin typeface="Cambria Math" panose="02040503050406030204" pitchFamily="18" charset="0"/>
                        </a:rPr>
                        <m:t xml:space="preserve">Cov=</m:t>
                      </m:r>
                      <m:f>
                        <m:fPr>
                          <m:ctrlPr>
                            <a:rPr lang="en-US" sz="1250" i="1">
                              <a:solidFill>
                                <a:srgbClr val="111111"/>
                              </a:solidFill>
                              <a:latin typeface="Cambria Math" panose="02040503050406030204" pitchFamily="18" charset="0"/>
                            </a:rPr>
                          </m:ctrlPr>
                        </m:fPr>
                        <m:num>
                          <m:d>
                            <m:dPr>
                              <m:begChr m:val="|"/>
                              <m:endChr m:val="|"/>
                              <m:ctrlPr>
                                <a:rPr lang="en-US" sz="1250" i="1">
                                  <a:solidFill>
                                    <a:srgbClr val="111111"/>
                                  </a:solidFill>
                                  <a:latin typeface="Cambria Math" panose="02040503050406030204" pitchFamily="18" charset="0"/>
                                </a:rPr>
                              </m:ctrlPr>
                            </m:dPr>
                            <m:e>
                              <m:r>
                                <m:rPr>
                                  <m:sty m:val="p"/>
                                </m:rPr>
                                <a:rPr lang="en-US" sz="1250">
                                  <a:solidFill>
                                    <a:srgbClr val="111111"/>
                                  </a:solidFill>
                                  <a:latin typeface="Cambria Math" panose="02040503050406030204" pitchFamily="18" charset="0"/>
                                </a:rPr>
                                <m:t xml:space="preserve"> </m:t>
                              </m:r>
                              <m:nary>
                                <m:naryPr>
                                  <m:chr m:val="⋃"/>
                                  <m:limLoc m:val="subSup"/>
                                  <m:supHide m:val="1"/>
                                  <m:ctrlPr>
                                    <a:rPr lang="en-US" sz="1250" i="1">
                                      <a:solidFill>
                                        <a:srgbClr val="111111"/>
                                      </a:solidFill>
                                      <a:latin typeface="Cambria Math" panose="02040503050406030204" pitchFamily="18" charset="0"/>
                                    </a:rPr>
                                  </m:ctrlPr>
                                </m:naryPr>
                                <m:sub>
                                  <m:r>
                                    <a:rPr lang="en-US" sz="1250" i="1">
                                      <a:solidFill>
                                        <a:srgbClr val="111111"/>
                                      </a:solidFill>
                                      <a:latin typeface="Cambria Math" panose="02040503050406030204" pitchFamily="18" charset="0"/>
                                    </a:rPr>
                                    <m:t xml:space="preserve">u</m:t>
                                  </m:r>
                                </m:sub>
                                <m:sup/>
                                <m:e>
                                  <m:sSubSup>
                                    <m:sSubSupPr>
                                      <m:ctrlPr>
                                        <a:rPr lang="en-US" sz="1250" i="1">
                                          <a:solidFill>
                                            <a:srgbClr val="111111"/>
                                          </a:solidFill>
                                          <a:latin typeface="Cambria Math" panose="02040503050406030204" pitchFamily="18" charset="0"/>
                                        </a:rPr>
                                      </m:ctrlPr>
                                    </m:sSubSupPr>
                                    <m:e>
                                      <m:r>
                                        <a:rPr lang="en-US" sz="1250" i="1">
                                          <a:solidFill>
                                            <a:srgbClr val="111111"/>
                                          </a:solidFill>
                                          <a:latin typeface="Cambria Math" panose="02040503050406030204" pitchFamily="18" charset="0"/>
                                        </a:rPr>
                                        <m:t xml:space="preserve">L</m:t>
                                      </m:r>
                                    </m:e>
                                    <m:sub>
                                      <m:r>
                                        <a:rPr lang="en-US" sz="1250" i="1">
                                          <a:solidFill>
                                            <a:srgbClr val="111111"/>
                                          </a:solidFill>
                                          <a:latin typeface="Cambria Math" panose="02040503050406030204" pitchFamily="18" charset="0"/>
                                        </a:rPr>
                                        <m:t xml:space="preserve">u</m:t>
                                      </m:r>
                                    </m:sub>
                                    <m:sup>
                                      <m:r>
                                        <a:rPr lang="en-US" sz="1250" i="1">
                                          <a:solidFill>
                                            <a:srgbClr val="111111"/>
                                          </a:solidFill>
                                          <a:latin typeface="Cambria Math" panose="02040503050406030204" pitchFamily="18" charset="0"/>
                                        </a:rPr>
                                        <m:t xml:space="preserve">K</m:t>
                                      </m:r>
                                    </m:sup>
                                  </m:sSubSup>
                                </m:e>
                              </m:nary>
                              <m:r>
                                <m:rPr>
                                  <m:sty m:val="p"/>
                                </m:rPr>
                                <a:rPr lang="en-US" sz="1250">
                                  <a:solidFill>
                                    <a:srgbClr val="111111"/>
                                  </a:solidFill>
                                  <a:latin typeface="Cambria Math" panose="02040503050406030204" pitchFamily="18" charset="0"/>
                                </a:rPr>
                                <m:t xml:space="preserve"> </m:t>
                              </m:r>
                            </m:e>
                          </m:d>
                        </m:num>
                        <m:den>
                          <m:d>
                            <m:dPr>
                              <m:begChr m:val="|"/>
                              <m:endChr m:val="|"/>
                              <m:ctrlPr>
                                <a:rPr lang="en-US" sz="1250" i="1">
                                  <a:solidFill>
                                    <a:srgbClr val="111111"/>
                                  </a:solidFill>
                                  <a:latin typeface="Cambria Math" panose="02040503050406030204" pitchFamily="18" charset="0"/>
                                </a:rPr>
                              </m:ctrlPr>
                            </m:dPr>
                            <m:e>
                              <m:r>
                                <m:rPr>
                                  <m:sty m:val="p"/>
                                </m:rPr>
                                <a:rPr lang="en-US" sz="1250">
                                  <a:solidFill>
                                    <a:srgbClr val="111111"/>
                                  </a:solidFill>
                                  <a:latin typeface="Cambria Math" panose="02040503050406030204" pitchFamily="18" charset="0"/>
                                </a:rPr>
                                <m:t xml:space="preserve"> </m:t>
                              </m:r>
                              <m:r>
                                <a:rPr lang="en-US" sz="1250" i="1">
                                  <a:solidFill>
                                    <a:srgbClr val="111111"/>
                                  </a:solidFill>
                                  <a:latin typeface="Cambria Math" panose="02040503050406030204" pitchFamily="18" charset="0"/>
                                </a:rPr>
                                <m:t xml:space="preserve">I</m:t>
                              </m:r>
                              <m:r>
                                <m:rPr>
                                  <m:sty m:val="p"/>
                                </m:rPr>
                                <a:rPr lang="en-US" sz="1250">
                                  <a:solidFill>
                                    <a:srgbClr val="111111"/>
                                  </a:solidFill>
                                  <a:latin typeface="Cambria Math" panose="02040503050406030204" pitchFamily="18" charset="0"/>
                                </a:rPr>
                                <m:t xml:space="preserve"> </m:t>
                              </m:r>
                            </m:e>
                          </m:d>
                        </m:den>
                      </m:f>
                    </m:oMath>
                  </m:oMathPara>
                </a14:m>
                <a:endParaRPr lang="en-US" sz="1250"/>
              </a:p>
            </p:txBody>
          </p:sp>
        </mc:Choice>
        <mc:Fallback>
          <p:sp>
            <p:nvSpPr>
              <p:cNvPr id="45" name="Equation"/>
              <p:cNvSpPr txBox="1"/>
              <p:nvPr/>
            </p:nvSpPr>
            <p:spPr>
              <a:xfrm>
                <a:off x="3771900" y="5993819"/>
                <a:ext cx="6309360" cy="684675"/>
              </a:xfrm>
              <a:prstGeom prst="rect">
                <a:avLst/>
              </a:prstGeom>
              <a:blipFill>
                <a:blip r:embed="rId7"/>
                <a:stretch>
                  <a:fillRect/>
                </a:stretch>
              </a:blipFill>
            </p:spPr>
            <p:txBody>
              <a:bodyPr/>
              <a:lstStyle/>
              <a:p>
                <a:endParaRPr lang="en-US"/>
              </a:p>
            </p:txBody>
          </p:sp>
        </mc:Fallback>
      </mc:AlternateContent>
      <p:sp>
        <p:nvSpPr>
          <p:cNvPr id="46" name="TextBox 45"/>
          <p:cNvSpPr txBox="1"/>
          <p:nvPr/>
        </p:nvSpPr>
        <p:spPr>
          <a:xfrm>
            <a:off x="10309860" y="5966387"/>
            <a:ext cx="6812280" cy="739539"/>
          </a:xfrm>
          <a:prstGeom prst="rect">
            <a:avLst/>
          </a:prstGeom>
          <a:noFill/>
        </p:spPr>
        <p:txBody>
          <a:bodyPr anchor="ctr" rtlCol="false" lIns="0" tIns="0" rIns="0" bIns="0" wrap="square"/>
          <a:lstStyle/>
          <a:p>
            <a:pPr algn="l">
              <a:lnSpc>
                <a:spcPts val="1700"/>
              </a:lnSpc>
              <a:spcBef>
                <a:spcPts val="0"/>
              </a:spcBef>
              <a:buNone/>
            </a:pPr>
            <a:r>
              <a:rPr lang="en-US" sz="1400" b="true">
                <a:solidFill>
                  <a:srgbClr val="111111"/>
                </a:solidFill>
                <a:latin typeface="Nunito Semi-Bold"/>
                <a:ea typeface="Nunito Semi-Bold"/>
                <a:cs typeface="Nunito Semi-Bold"/>
                <a:sym typeface="Nunito Semi-Bold"/>
              </a:rPr>
              <a:t>System-level diversity: how much of the catalogue is ever recommended.</a:t>
            </a:r>
          </a:p>
        </p:txBody>
      </p:sp>
      <p:cxnSp>
        <p:nvCxnSpPr>
          <p:cNvPr id="47" name="Connector 46"/>
          <p:cNvCxnSpPr/>
          <p:nvPr/>
        </p:nvCxnSpPr>
        <p:spPr>
          <a:xfrm>
            <a:off x="1028700" y="6705926"/>
            <a:ext cx="16230600" cy="0"/>
          </a:xfrm>
          <a:prstGeom prst="line">
            <a:avLst/>
          </a:prstGeom>
          <a:ln w="12700">
            <a:solidFill>
              <a:srgbClr val="E3D6C4"/>
            </a:solidFill>
          </a:ln>
        </p:spPr>
      </p:cxnSp>
      <p:sp>
        <p:nvSpPr>
          <p:cNvPr id="48" name="Rectangle 47"/>
          <p:cNvSpPr/>
          <p:nvPr/>
        </p:nvSpPr>
        <p:spPr>
          <a:xfrm>
            <a:off x="1028700" y="6705926"/>
            <a:ext cx="16230600" cy="739539"/>
          </a:xfrm>
          <a:prstGeom prst="rect">
            <a:avLst/>
          </a:prstGeom>
          <a:solidFill>
            <a:srgbClr val="FFFFFF"/>
          </a:solidFill>
          <a:ln>
            <a:noFill/>
          </a:ln>
        </p:spPr>
        <p:txBody>
          <a:bodyPr anchor="ctr" rtlCol="false" lIns="0" tIns="0" rIns="0" bIns="0" wrap="square"/>
          <a:lstStyle/>
          <a:p>
            <a:endParaRPr lang="en-US" sz="1800"/>
          </a:p>
        </p:txBody>
      </p:sp>
      <p:sp>
        <p:nvSpPr>
          <p:cNvPr id="49" name="TextBox 48"/>
          <p:cNvSpPr txBox="1"/>
          <p:nvPr/>
        </p:nvSpPr>
        <p:spPr>
          <a:xfrm>
            <a:off x="1165860" y="6705926"/>
            <a:ext cx="2377440" cy="739539"/>
          </a:xfrm>
          <a:prstGeom prst="rect">
            <a:avLst/>
          </a:prstGeom>
          <a:noFill/>
        </p:spPr>
        <p:txBody>
          <a:bodyPr anchor="ctr" rtlCol="false" lIns="0" tIns="0" rIns="0" bIns="0" wrap="square"/>
          <a:lstStyle/>
          <a:p>
            <a:pPr algn="l">
              <a:lnSpc>
                <a:spcPts val="1900"/>
              </a:lnSpc>
              <a:spcBef>
                <a:spcPts val="0"/>
              </a:spcBef>
              <a:buNone/>
            </a:pPr>
            <a:r>
              <a:rPr lang="en-US" sz="1600" b="true">
                <a:solidFill>
                  <a:srgbClr val="111111"/>
                </a:solidFill>
                <a:latin typeface="Nunito Bold"/>
                <a:ea typeface="Nunito Bold"/>
                <a:cs typeface="Nunito Bold"/>
                <a:sym typeface="Nunito Bold"/>
              </a:rPr>
              <a:t>Intra-List Diversity</a:t>
            </a:r>
          </a:p>
        </p:txBody>
      </p:sp>
      <mc:AlternateContent xmlns:mc="http://schemas.openxmlformats.org/markup-compatibility/2006">
        <mc:Choice xmlns:a14="http://schemas.microsoft.com/office/drawing/2010/main" Requires="a14">
          <p:sp>
            <p:nvSpPr>
              <p:cNvPr id="50" name="Equation"/>
              <p:cNvSpPr txBox="1"/>
              <p:nvPr/>
            </p:nvSpPr>
            <p:spPr>
              <a:xfrm>
                <a:off x="3771900" y="6733358"/>
                <a:ext cx="6309360" cy="684675"/>
              </a:xfrm>
              <a:prstGeom prst="rect">
                <a:avLst/>
              </a:prstGeom>
              <a:noFill/>
            </p:spPr>
            <p:txBody>
              <a:bodyPr wrap="none" rtlCol="0" anchor="ctr" lIns="0" tIns="0" rIns="0" bIns="0"/>
              <a:lstStyle/>
              <a:p>
                <a:pPr algn="l"/>
                <a14:m xmlns:m="http://schemas.openxmlformats.org/officeDocument/2006/math">
                  <m:oMathPara>
                    <m:oMathParaPr>
                      <m:jc m:val="left"/>
                    </m:oMathParaPr>
                    <m:oMath>
                      <m:r>
                        <m:rPr>
                          <m:sty m:val="p"/>
                        </m:rPr>
                        <a:rPr lang="en-US" sz="1150">
                          <a:solidFill>
                            <a:srgbClr val="111111"/>
                          </a:solidFill>
                          <a:latin typeface="Cambria Math" panose="02040503050406030204" pitchFamily="18" charset="0"/>
                        </a:rPr>
                        <m:t xml:space="preserve">ILD(</m:t>
                      </m:r>
                      <m:sSub>
                        <m:sSubPr>
                          <m:ctrlPr>
                            <a:rPr lang="en-US" sz="1150" i="1">
                              <a:solidFill>
                                <a:srgbClr val="111111"/>
                              </a:solidFill>
                              <a:latin typeface="Cambria Math" panose="02040503050406030204" pitchFamily="18" charset="0"/>
                            </a:rPr>
                          </m:ctrlPr>
                        </m:sSubPr>
                        <m:e>
                          <m:r>
                            <a:rPr lang="en-US" sz="1150" i="1">
                              <a:solidFill>
                                <a:srgbClr val="111111"/>
                              </a:solidFill>
                              <a:latin typeface="Cambria Math" panose="02040503050406030204" pitchFamily="18" charset="0"/>
                            </a:rPr>
                            <m:t xml:space="preserve">L</m:t>
                          </m:r>
                        </m:e>
                        <m:sub>
                          <m:r>
                            <a:rPr lang="en-US" sz="1150" i="1">
                              <a:solidFill>
                                <a:srgbClr val="111111"/>
                              </a:solidFill>
                              <a:latin typeface="Cambria Math" panose="02040503050406030204" pitchFamily="18" charset="0"/>
                            </a:rPr>
                            <m:t xml:space="preserve">u</m:t>
                          </m:r>
                        </m:sub>
                      </m:sSub>
                      <m:r>
                        <m:rPr>
                          <m:sty m:val="p"/>
                        </m:rPr>
                        <a:rPr lang="en-US" sz="1150">
                          <a:solidFill>
                            <a:srgbClr val="111111"/>
                          </a:solidFill>
                          <a:latin typeface="Cambria Math" panose="02040503050406030204" pitchFamily="18" charset="0"/>
                        </a:rPr>
                        <m:t xml:space="preserve">)=</m:t>
                      </m:r>
                      <m:f>
                        <m:fPr>
                          <m:ctrlPr>
                            <a:rPr lang="en-US" sz="1150" i="1">
                              <a:solidFill>
                                <a:srgbClr val="111111"/>
                              </a:solidFill>
                              <a:latin typeface="Cambria Math" panose="02040503050406030204" pitchFamily="18" charset="0"/>
                            </a:rPr>
                          </m:ctrlPr>
                        </m:fPr>
                        <m:num>
                          <m:r>
                            <m:rPr>
                              <m:sty m:val="p"/>
                            </m:rPr>
                            <a:rPr lang="en-US" sz="1150">
                              <a:solidFill>
                                <a:srgbClr val="111111"/>
                              </a:solidFill>
                              <a:latin typeface="Cambria Math" panose="02040503050406030204" pitchFamily="18" charset="0"/>
                            </a:rPr>
                            <m:t xml:space="preserve">2</m:t>
                          </m:r>
                        </m:num>
                        <m:den>
                          <m:r>
                            <a:rPr lang="en-US" sz="1150" i="1">
                              <a:solidFill>
                                <a:srgbClr val="111111"/>
                              </a:solidFill>
                              <a:latin typeface="Cambria Math" panose="02040503050406030204" pitchFamily="18" charset="0"/>
                            </a:rPr>
                            <m:t xml:space="preserve">K</m:t>
                          </m:r>
                          <m:r>
                            <m:rPr>
                              <m:sty m:val="p"/>
                            </m:rPr>
                            <a:rPr lang="en-US" sz="1150">
                              <a:solidFill>
                                <a:srgbClr val="111111"/>
                              </a:solidFill>
                              <a:latin typeface="Cambria Math" panose="02040503050406030204" pitchFamily="18" charset="0"/>
                            </a:rPr>
                            <m:t xml:space="preserve">(</m:t>
                          </m:r>
                          <m:r>
                            <a:rPr lang="en-US" sz="1150" i="1">
                              <a:solidFill>
                                <a:srgbClr val="111111"/>
                              </a:solidFill>
                              <a:latin typeface="Cambria Math" panose="02040503050406030204" pitchFamily="18" charset="0"/>
                            </a:rPr>
                            <m:t xml:space="preserve">K</m:t>
                          </m:r>
                          <m:r>
                            <m:rPr>
                              <m:sty m:val="p"/>
                            </m:rPr>
                            <a:rPr lang="en-US" sz="1150">
                              <a:solidFill>
                                <a:srgbClr val="111111"/>
                              </a:solidFill>
                              <a:latin typeface="Cambria Math" panose="02040503050406030204" pitchFamily="18" charset="0"/>
                            </a:rPr>
                            <m:t xml:space="preserve">−1)</m:t>
                          </m:r>
                        </m:den>
                      </m:f>
                      <m:nary>
                        <m:naryPr>
                          <m:chr m:val="∑"/>
                          <m:limLoc m:val="subSup"/>
                          <m:supHide m:val="1"/>
                          <m:ctrlPr>
                            <a:rPr lang="en-US" sz="1150" i="1">
                              <a:solidFill>
                                <a:srgbClr val="111111"/>
                              </a:solidFill>
                              <a:latin typeface="Cambria Math" panose="02040503050406030204" pitchFamily="18" charset="0"/>
                            </a:rPr>
                          </m:ctrlPr>
                        </m:naryPr>
                        <m:sub>
                          <m:r>
                            <a:rPr lang="en-US" sz="1150" i="1">
                              <a:solidFill>
                                <a:srgbClr val="111111"/>
                              </a:solidFill>
                              <a:latin typeface="Cambria Math" panose="02040503050406030204" pitchFamily="18" charset="0"/>
                            </a:rPr>
                            <m:t xml:space="preserve">i</m:t>
                          </m:r>
                          <m:r>
                            <m:rPr>
                              <m:sty m:val="p"/>
                            </m:rPr>
                            <a:rPr lang="en-US" sz="1150">
                              <a:solidFill>
                                <a:srgbClr val="111111"/>
                              </a:solidFill>
                              <a:latin typeface="Cambria Math" panose="02040503050406030204" pitchFamily="18" charset="0"/>
                            </a:rPr>
                            <m:t xml:space="preserve">&lt;</m:t>
                          </m:r>
                          <m:r>
                            <a:rPr lang="en-US" sz="1150" i="1">
                              <a:solidFill>
                                <a:srgbClr val="111111"/>
                              </a:solidFill>
                              <a:latin typeface="Cambria Math" panose="02040503050406030204" pitchFamily="18" charset="0"/>
                            </a:rPr>
                            <m:t xml:space="preserve">j</m:t>
                          </m:r>
                        </m:sub>
                        <m:sup/>
                        <m:e>
                          <m:d>
                            <m:dPr>
                              <m:ctrlPr>
                                <a:rPr lang="en-US" sz="1150" i="1">
                                  <a:solidFill>
                                    <a:srgbClr val="111111"/>
                                  </a:solidFill>
                                  <a:latin typeface="Cambria Math" panose="02040503050406030204" pitchFamily="18" charset="0"/>
                                </a:rPr>
                              </m:ctrlPr>
                            </m:dPr>
                            <m:e>
                              <m:r>
                                <m:rPr>
                                  <m:sty m:val="p"/>
                                </m:rPr>
                                <a:rPr lang="en-US" sz="1150">
                                  <a:solidFill>
                                    <a:srgbClr val="111111"/>
                                  </a:solidFill>
                                  <a:latin typeface="Cambria Math" panose="02040503050406030204" pitchFamily="18" charset="0"/>
                                </a:rPr>
                                <m:t xml:space="preserve">1−sim(</m:t>
                              </m:r>
                              <m:r>
                                <a:rPr lang="en-US" sz="1150" i="1">
                                  <a:solidFill>
                                    <a:srgbClr val="111111"/>
                                  </a:solidFill>
                                  <a:latin typeface="Cambria Math" panose="02040503050406030204" pitchFamily="18" charset="0"/>
                                </a:rPr>
                                <m:t xml:space="preserve">i</m:t>
                              </m:r>
                              <m:r>
                                <m:rPr>
                                  <m:sty m:val="p"/>
                                </m:rPr>
                                <a:rPr lang="en-US" sz="1150">
                                  <a:solidFill>
                                    <a:srgbClr val="111111"/>
                                  </a:solidFill>
                                  <a:latin typeface="Cambria Math" panose="02040503050406030204" pitchFamily="18" charset="0"/>
                                </a:rPr>
                                <m:t xml:space="preserve">,</m:t>
                              </m:r>
                              <m:r>
                                <a:rPr lang="en-US" sz="1150" i="1">
                                  <a:solidFill>
                                    <a:srgbClr val="111111"/>
                                  </a:solidFill>
                                  <a:latin typeface="Cambria Math" panose="02040503050406030204" pitchFamily="18" charset="0"/>
                                </a:rPr>
                                <m:t xml:space="preserve">j</m:t>
                              </m:r>
                              <m:r>
                                <m:rPr>
                                  <m:sty m:val="p"/>
                                </m:rPr>
                                <a:rPr lang="en-US" sz="1150">
                                  <a:solidFill>
                                    <a:srgbClr val="111111"/>
                                  </a:solidFill>
                                  <a:latin typeface="Cambria Math" panose="02040503050406030204" pitchFamily="18" charset="0"/>
                                </a:rPr>
                                <m:t xml:space="preserve">)</m:t>
                              </m:r>
                            </m:e>
                          </m:d>
                        </m:e>
                      </m:nary>
                    </m:oMath>
                  </m:oMathPara>
                </a14:m>
                <a:endParaRPr lang="en-US" sz="1150"/>
              </a:p>
            </p:txBody>
          </p:sp>
        </mc:Choice>
        <mc:Fallback>
          <p:sp>
            <p:nvSpPr>
              <p:cNvPr id="50" name="Equation"/>
              <p:cNvSpPr txBox="1"/>
              <p:nvPr/>
            </p:nvSpPr>
            <p:spPr>
              <a:xfrm>
                <a:off x="3771900" y="6733358"/>
                <a:ext cx="6309360" cy="684675"/>
              </a:xfrm>
              <a:prstGeom prst="rect">
                <a:avLst/>
              </a:prstGeom>
              <a:blipFill>
                <a:blip r:embed="rId8"/>
                <a:stretch>
                  <a:fillRect/>
                </a:stretch>
              </a:blipFill>
            </p:spPr>
            <p:txBody>
              <a:bodyPr/>
              <a:lstStyle/>
              <a:p>
                <a:endParaRPr lang="en-US"/>
              </a:p>
            </p:txBody>
          </p:sp>
        </mc:Fallback>
      </mc:AlternateContent>
      <p:sp>
        <p:nvSpPr>
          <p:cNvPr id="51" name="TextBox 50"/>
          <p:cNvSpPr txBox="1"/>
          <p:nvPr/>
        </p:nvSpPr>
        <p:spPr>
          <a:xfrm>
            <a:off x="10309860" y="6705926"/>
            <a:ext cx="6812280" cy="739539"/>
          </a:xfrm>
          <a:prstGeom prst="rect">
            <a:avLst/>
          </a:prstGeom>
          <a:noFill/>
        </p:spPr>
        <p:txBody>
          <a:bodyPr anchor="ctr" rtlCol="false" lIns="0" tIns="0" rIns="0" bIns="0" wrap="square"/>
          <a:lstStyle/>
          <a:p>
            <a:pPr algn="l">
              <a:lnSpc>
                <a:spcPts val="1700"/>
              </a:lnSpc>
              <a:spcBef>
                <a:spcPts val="0"/>
              </a:spcBef>
              <a:buNone/>
            </a:pPr>
            <a:r>
              <a:rPr lang="en-US" sz="1400" b="true">
                <a:solidFill>
                  <a:srgbClr val="111111"/>
                </a:solidFill>
                <a:latin typeface="Nunito Semi-Bold"/>
                <a:ea typeface="Nunito Semi-Bold"/>
                <a:cs typeface="Nunito Semi-Bold"/>
                <a:sym typeface="Nunito Semi-Bold"/>
              </a:rPr>
              <a:t>List-level diversity; built into the DyHuCoG coalition utility.</a:t>
            </a:r>
          </a:p>
        </p:txBody>
      </p:sp>
      <p:cxnSp>
        <p:nvCxnSpPr>
          <p:cNvPr id="52" name="Connector 51"/>
          <p:cNvCxnSpPr/>
          <p:nvPr/>
        </p:nvCxnSpPr>
        <p:spPr>
          <a:xfrm>
            <a:off x="1028700" y="7445465"/>
            <a:ext cx="16230600" cy="0"/>
          </a:xfrm>
          <a:prstGeom prst="line">
            <a:avLst/>
          </a:prstGeom>
          <a:ln w="12700">
            <a:solidFill>
              <a:srgbClr val="E3D6C4"/>
            </a:solidFill>
          </a:ln>
        </p:spPr>
      </p:cxnSp>
      <p:sp>
        <p:nvSpPr>
          <p:cNvPr id="53" name="Rectangle 52"/>
          <p:cNvSpPr/>
          <p:nvPr/>
        </p:nvSpPr>
        <p:spPr>
          <a:xfrm>
            <a:off x="1028700" y="7445465"/>
            <a:ext cx="16230600" cy="739539"/>
          </a:xfrm>
          <a:prstGeom prst="rect">
            <a:avLst/>
          </a:prstGeom>
          <a:solidFill>
            <a:srgbClr val="F6ECDF"/>
          </a:solidFill>
          <a:ln>
            <a:noFill/>
          </a:ln>
        </p:spPr>
        <p:txBody>
          <a:bodyPr anchor="ctr" rtlCol="false" lIns="0" tIns="0" rIns="0" bIns="0" wrap="square"/>
          <a:lstStyle/>
          <a:p>
            <a:endParaRPr lang="en-US" sz="1800"/>
          </a:p>
        </p:txBody>
      </p:sp>
      <p:sp>
        <p:nvSpPr>
          <p:cNvPr id="54" name="TextBox 53"/>
          <p:cNvSpPr txBox="1"/>
          <p:nvPr/>
        </p:nvSpPr>
        <p:spPr>
          <a:xfrm>
            <a:off x="1165860" y="7445465"/>
            <a:ext cx="2377440" cy="739539"/>
          </a:xfrm>
          <a:prstGeom prst="rect">
            <a:avLst/>
          </a:prstGeom>
          <a:noFill/>
        </p:spPr>
        <p:txBody>
          <a:bodyPr anchor="ctr" rtlCol="false" lIns="0" tIns="0" rIns="0" bIns="0" wrap="square"/>
          <a:lstStyle/>
          <a:p>
            <a:pPr algn="l">
              <a:lnSpc>
                <a:spcPts val="1900"/>
              </a:lnSpc>
              <a:spcBef>
                <a:spcPts val="0"/>
              </a:spcBef>
              <a:buNone/>
            </a:pPr>
            <a:r>
              <a:rPr lang="en-US" sz="1600" b="true">
                <a:solidFill>
                  <a:srgbClr val="111111"/>
                </a:solidFill>
                <a:latin typeface="Nunito Bold"/>
                <a:ea typeface="Nunito Bold"/>
                <a:cs typeface="Nunito Bold"/>
                <a:sym typeface="Nunito Bold"/>
              </a:rPr>
              <a:t>Silhouette</a:t>
            </a:r>
          </a:p>
        </p:txBody>
      </p:sp>
      <mc:AlternateContent xmlns:mc="http://schemas.openxmlformats.org/markup-compatibility/2006">
        <mc:Choice xmlns:a14="http://schemas.microsoft.com/office/drawing/2010/main" Requires="a14">
          <p:sp>
            <p:nvSpPr>
              <p:cNvPr id="55" name="Equation"/>
              <p:cNvSpPr txBox="1"/>
              <p:nvPr/>
            </p:nvSpPr>
            <p:spPr>
              <a:xfrm>
                <a:off x="3771900" y="7472897"/>
                <a:ext cx="6309360" cy="684675"/>
              </a:xfrm>
              <a:prstGeom prst="rect">
                <a:avLst/>
              </a:prstGeom>
              <a:noFill/>
            </p:spPr>
            <p:txBody>
              <a:bodyPr wrap="none" rtlCol="0" anchor="ctr" lIns="0" tIns="0" rIns="0" bIns="0"/>
              <a:lstStyle/>
              <a:p>
                <a:pPr algn="l"/>
                <a14:m xmlns:m="http://schemas.openxmlformats.org/officeDocument/2006/math">
                  <m:oMathPara>
                    <m:oMathParaPr>
                      <m:jc m:val="left"/>
                    </m:oMathParaPr>
                    <m:oMath>
                      <m:r>
                        <a:rPr lang="en-US" sz="1150" i="1">
                          <a:solidFill>
                            <a:srgbClr val="111111"/>
                          </a:solidFill>
                          <a:latin typeface="Cambria Math" panose="02040503050406030204" pitchFamily="18" charset="0"/>
                        </a:rPr>
                        <m:t xml:space="preserve">s</m:t>
                      </m:r>
                      <m:r>
                        <m:rPr>
                          <m:sty m:val="p"/>
                        </m:rPr>
                        <a:rPr lang="en-US" sz="1150">
                          <a:solidFill>
                            <a:srgbClr val="111111"/>
                          </a:solidFill>
                          <a:latin typeface="Cambria Math" panose="02040503050406030204" pitchFamily="18" charset="0"/>
                        </a:rPr>
                        <m:t xml:space="preserve">(</m:t>
                      </m:r>
                      <m:r>
                        <a:rPr lang="en-US" sz="1150" i="1">
                          <a:solidFill>
                            <a:srgbClr val="111111"/>
                          </a:solidFill>
                          <a:latin typeface="Cambria Math" panose="02040503050406030204" pitchFamily="18" charset="0"/>
                        </a:rPr>
                        <m:t xml:space="preserve">x</m:t>
                      </m:r>
                      <m:r>
                        <m:rPr>
                          <m:sty m:val="p"/>
                        </m:rPr>
                        <a:rPr lang="en-US" sz="1150">
                          <a:solidFill>
                            <a:srgbClr val="111111"/>
                          </a:solidFill>
                          <a:latin typeface="Cambria Math" panose="02040503050406030204" pitchFamily="18" charset="0"/>
                        </a:rPr>
                        <m:t xml:space="preserve">)=</m:t>
                      </m:r>
                      <m:f>
                        <m:fPr>
                          <m:ctrlPr>
                            <a:rPr lang="en-US" sz="1150" i="1">
                              <a:solidFill>
                                <a:srgbClr val="111111"/>
                              </a:solidFill>
                              <a:latin typeface="Cambria Math" panose="02040503050406030204" pitchFamily="18" charset="0"/>
                            </a:rPr>
                          </m:ctrlPr>
                        </m:fPr>
                        <m:num>
                          <m:r>
                            <a:rPr lang="en-US" sz="1150" i="1">
                              <a:solidFill>
                                <a:srgbClr val="111111"/>
                              </a:solidFill>
                              <a:latin typeface="Cambria Math" panose="02040503050406030204" pitchFamily="18" charset="0"/>
                            </a:rPr>
                            <m:t xml:space="preserve">b</m:t>
                          </m:r>
                          <m:r>
                            <m:rPr>
                              <m:sty m:val="p"/>
                            </m:rPr>
                            <a:rPr lang="en-US" sz="1150">
                              <a:solidFill>
                                <a:srgbClr val="111111"/>
                              </a:solidFill>
                              <a:latin typeface="Cambria Math" panose="02040503050406030204" pitchFamily="18" charset="0"/>
                            </a:rPr>
                            <m:t xml:space="preserve">(</m:t>
                          </m:r>
                          <m:r>
                            <a:rPr lang="en-US" sz="1150" i="1">
                              <a:solidFill>
                                <a:srgbClr val="111111"/>
                              </a:solidFill>
                              <a:latin typeface="Cambria Math" panose="02040503050406030204" pitchFamily="18" charset="0"/>
                            </a:rPr>
                            <m:t xml:space="preserve">x</m:t>
                          </m:r>
                          <m:r>
                            <m:rPr>
                              <m:sty m:val="p"/>
                            </m:rPr>
                            <a:rPr lang="en-US" sz="1150">
                              <a:solidFill>
                                <a:srgbClr val="111111"/>
                              </a:solidFill>
                              <a:latin typeface="Cambria Math" panose="02040503050406030204" pitchFamily="18" charset="0"/>
                            </a:rPr>
                            <m:t xml:space="preserve">)−</m:t>
                          </m:r>
                          <m:r>
                            <a:rPr lang="en-US" sz="1150" i="1">
                              <a:solidFill>
                                <a:srgbClr val="111111"/>
                              </a:solidFill>
                              <a:latin typeface="Cambria Math" panose="02040503050406030204" pitchFamily="18" charset="0"/>
                            </a:rPr>
                            <m:t xml:space="preserve">a</m:t>
                          </m:r>
                          <m:r>
                            <m:rPr>
                              <m:sty m:val="p"/>
                            </m:rPr>
                            <a:rPr lang="en-US" sz="1150">
                              <a:solidFill>
                                <a:srgbClr val="111111"/>
                              </a:solidFill>
                              <a:latin typeface="Cambria Math" panose="02040503050406030204" pitchFamily="18" charset="0"/>
                            </a:rPr>
                            <m:t xml:space="preserve">(</m:t>
                          </m:r>
                          <m:r>
                            <a:rPr lang="en-US" sz="1150" i="1">
                              <a:solidFill>
                                <a:srgbClr val="111111"/>
                              </a:solidFill>
                              <a:latin typeface="Cambria Math" panose="02040503050406030204" pitchFamily="18" charset="0"/>
                            </a:rPr>
                            <m:t xml:space="preserve">x</m:t>
                          </m:r>
                          <m:r>
                            <m:rPr>
                              <m:sty m:val="p"/>
                            </m:rPr>
                            <a:rPr lang="en-US" sz="1150">
                              <a:solidFill>
                                <a:srgbClr val="111111"/>
                              </a:solidFill>
                              <a:latin typeface="Cambria Math" panose="02040503050406030204" pitchFamily="18" charset="0"/>
                            </a:rPr>
                            <m:t xml:space="preserve">)</m:t>
                          </m:r>
                        </m:num>
                        <m:den>
                          <m:r>
                            <m:rPr>
                              <m:sty m:val="p"/>
                            </m:rPr>
                            <a:rPr lang="en-US" sz="1150">
                              <a:solidFill>
                                <a:srgbClr val="111111"/>
                              </a:solidFill>
                              <a:latin typeface="Cambria Math" panose="02040503050406030204" pitchFamily="18" charset="0"/>
                            </a:rPr>
                            <m:t xml:space="preserve">max{</m:t>
                          </m:r>
                          <m:r>
                            <a:rPr lang="en-US" sz="1150" i="1">
                              <a:solidFill>
                                <a:srgbClr val="111111"/>
                              </a:solidFill>
                              <a:latin typeface="Cambria Math" panose="02040503050406030204" pitchFamily="18" charset="0"/>
                            </a:rPr>
                            <m:t xml:space="preserve">a</m:t>
                          </m:r>
                          <m:r>
                            <m:rPr>
                              <m:sty m:val="p"/>
                            </m:rPr>
                            <a:rPr lang="en-US" sz="1150">
                              <a:solidFill>
                                <a:srgbClr val="111111"/>
                              </a:solidFill>
                              <a:latin typeface="Cambria Math" panose="02040503050406030204" pitchFamily="18" charset="0"/>
                            </a:rPr>
                            <m:t xml:space="preserve">(</m:t>
                          </m:r>
                          <m:r>
                            <a:rPr lang="en-US" sz="1150" i="1">
                              <a:solidFill>
                                <a:srgbClr val="111111"/>
                              </a:solidFill>
                              <a:latin typeface="Cambria Math" panose="02040503050406030204" pitchFamily="18" charset="0"/>
                            </a:rPr>
                            <m:t xml:space="preserve">x</m:t>
                          </m:r>
                          <m:r>
                            <m:rPr>
                              <m:sty m:val="p"/>
                            </m:rPr>
                            <a:rPr lang="en-US" sz="1150">
                              <a:solidFill>
                                <a:srgbClr val="111111"/>
                              </a:solidFill>
                              <a:latin typeface="Cambria Math" panose="02040503050406030204" pitchFamily="18" charset="0"/>
                            </a:rPr>
                            <m:t xml:space="preserve">), </m:t>
                          </m:r>
                          <m:r>
                            <a:rPr lang="en-US" sz="1150" i="1">
                              <a:solidFill>
                                <a:srgbClr val="111111"/>
                              </a:solidFill>
                              <a:latin typeface="Cambria Math" panose="02040503050406030204" pitchFamily="18" charset="0"/>
                            </a:rPr>
                            <m:t xml:space="preserve">b</m:t>
                          </m:r>
                          <m:r>
                            <m:rPr>
                              <m:sty m:val="p"/>
                            </m:rPr>
                            <a:rPr lang="en-US" sz="1150">
                              <a:solidFill>
                                <a:srgbClr val="111111"/>
                              </a:solidFill>
                              <a:latin typeface="Cambria Math" panose="02040503050406030204" pitchFamily="18" charset="0"/>
                            </a:rPr>
                            <m:t xml:space="preserve">(</m:t>
                          </m:r>
                          <m:r>
                            <a:rPr lang="en-US" sz="1150" i="1">
                              <a:solidFill>
                                <a:srgbClr val="111111"/>
                              </a:solidFill>
                              <a:latin typeface="Cambria Math" panose="02040503050406030204" pitchFamily="18" charset="0"/>
                            </a:rPr>
                            <m:t xml:space="preserve">x</m:t>
                          </m:r>
                          <m:r>
                            <m:rPr>
                              <m:sty m:val="p"/>
                            </m:rPr>
                            <a:rPr lang="en-US" sz="1150">
                              <a:solidFill>
                                <a:srgbClr val="111111"/>
                              </a:solidFill>
                              <a:latin typeface="Cambria Math" panose="02040503050406030204" pitchFamily="18" charset="0"/>
                            </a:rPr>
                            <m:t xml:space="preserve">)}</m:t>
                          </m:r>
                        </m:den>
                      </m:f>
                      <m:r>
                        <m:rPr>
                          <m:sty m:val="p"/>
                        </m:rPr>
                        <a:rPr lang="en-US" sz="1150">
                          <a:solidFill>
                            <a:srgbClr val="111111"/>
                          </a:solidFill>
                          <a:latin typeface="Cambria Math" panose="02040503050406030204" pitchFamily="18" charset="0"/>
                        </a:rPr>
                        <m:t xml:space="preserve">,  </m:t>
                      </m:r>
                      <m:r>
                        <a:rPr lang="en-US" sz="1150" i="1">
                          <a:solidFill>
                            <a:srgbClr val="111111"/>
                          </a:solidFill>
                          <a:latin typeface="Cambria Math" panose="02040503050406030204" pitchFamily="18" charset="0"/>
                        </a:rPr>
                        <m:t xml:space="preserve">s</m:t>
                      </m:r>
                      <m:r>
                        <m:rPr>
                          <m:sty m:val="p"/>
                        </m:rPr>
                        <a:rPr lang="en-US" sz="1150">
                          <a:solidFill>
                            <a:srgbClr val="111111"/>
                          </a:solidFill>
                          <a:latin typeface="Cambria Math" panose="02040503050406030204" pitchFamily="18" charset="0"/>
                        </a:rPr>
                        <m:t xml:space="preserve">∈[−1,1]</m:t>
                      </m:r>
                    </m:oMath>
                  </m:oMathPara>
                </a14:m>
                <a:endParaRPr lang="en-US" sz="1150"/>
              </a:p>
            </p:txBody>
          </p:sp>
        </mc:Choice>
        <mc:Fallback>
          <p:sp>
            <p:nvSpPr>
              <p:cNvPr id="55" name="Equation"/>
              <p:cNvSpPr txBox="1"/>
              <p:nvPr/>
            </p:nvSpPr>
            <p:spPr>
              <a:xfrm>
                <a:off x="3771900" y="7472897"/>
                <a:ext cx="6309360" cy="684675"/>
              </a:xfrm>
              <a:prstGeom prst="rect">
                <a:avLst/>
              </a:prstGeom>
              <a:blipFill>
                <a:blip r:embed="rId9"/>
                <a:stretch>
                  <a:fillRect/>
                </a:stretch>
              </a:blipFill>
            </p:spPr>
            <p:txBody>
              <a:bodyPr/>
              <a:lstStyle/>
              <a:p>
                <a:endParaRPr lang="en-US"/>
              </a:p>
            </p:txBody>
          </p:sp>
        </mc:Fallback>
      </mc:AlternateContent>
      <p:sp>
        <p:nvSpPr>
          <p:cNvPr id="56" name="TextBox 55"/>
          <p:cNvSpPr txBox="1"/>
          <p:nvPr/>
        </p:nvSpPr>
        <p:spPr>
          <a:xfrm>
            <a:off x="10309860" y="7445465"/>
            <a:ext cx="6812280" cy="739539"/>
          </a:xfrm>
          <a:prstGeom prst="rect">
            <a:avLst/>
          </a:prstGeom>
          <a:noFill/>
        </p:spPr>
        <p:txBody>
          <a:bodyPr anchor="ctr" rtlCol="false" lIns="0" tIns="0" rIns="0" bIns="0" wrap="square"/>
          <a:lstStyle/>
          <a:p>
            <a:pPr algn="l">
              <a:lnSpc>
                <a:spcPts val="1700"/>
              </a:lnSpc>
              <a:spcBef>
                <a:spcPts val="0"/>
              </a:spcBef>
              <a:buNone/>
            </a:pPr>
            <a:r>
              <a:rPr lang="en-US" sz="1400" b="true">
                <a:solidFill>
                  <a:srgbClr val="111111"/>
                </a:solidFill>
                <a:latin typeface="Nunito Semi-Bold"/>
                <a:ea typeface="Nunito Semi-Bold"/>
                <a:cs typeface="Nunito Semi-Bold"/>
                <a:sym typeface="Nunito Semi-Bold"/>
              </a:rPr>
              <a:t>Clustering quality; the value function of the clustering game (C1, C2).</a:t>
            </a:r>
          </a:p>
        </p:txBody>
      </p:sp>
      <p:cxnSp>
        <p:nvCxnSpPr>
          <p:cNvPr id="57" name="Connector 56"/>
          <p:cNvCxnSpPr/>
          <p:nvPr/>
        </p:nvCxnSpPr>
        <p:spPr>
          <a:xfrm>
            <a:off x="1028700" y="8185004"/>
            <a:ext cx="16230600" cy="0"/>
          </a:xfrm>
          <a:prstGeom prst="line">
            <a:avLst/>
          </a:prstGeom>
          <a:ln w="12700">
            <a:solidFill>
              <a:srgbClr val="E3D6C4"/>
            </a:solidFill>
          </a:ln>
        </p:spPr>
      </p:cxnSp>
      <p:sp>
        <p:nvSpPr>
          <p:cNvPr id="58" name="Rectangle 57"/>
          <p:cNvSpPr/>
          <p:nvPr/>
        </p:nvSpPr>
        <p:spPr>
          <a:xfrm>
            <a:off x="1028700" y="8185004"/>
            <a:ext cx="16230600" cy="739539"/>
          </a:xfrm>
          <a:prstGeom prst="rect">
            <a:avLst/>
          </a:prstGeom>
          <a:solidFill>
            <a:srgbClr val="FFFFFF"/>
          </a:solidFill>
          <a:ln>
            <a:noFill/>
          </a:ln>
        </p:spPr>
        <p:txBody>
          <a:bodyPr anchor="ctr" rtlCol="false" lIns="0" tIns="0" rIns="0" bIns="0" wrap="square"/>
          <a:lstStyle/>
          <a:p>
            <a:endParaRPr lang="en-US" sz="1800"/>
          </a:p>
        </p:txBody>
      </p:sp>
      <p:sp>
        <p:nvSpPr>
          <p:cNvPr id="59" name="TextBox 58"/>
          <p:cNvSpPr txBox="1"/>
          <p:nvPr/>
        </p:nvSpPr>
        <p:spPr>
          <a:xfrm>
            <a:off x="1165860" y="8185004"/>
            <a:ext cx="2377440" cy="739539"/>
          </a:xfrm>
          <a:prstGeom prst="rect">
            <a:avLst/>
          </a:prstGeom>
          <a:noFill/>
        </p:spPr>
        <p:txBody>
          <a:bodyPr anchor="ctr" rtlCol="false" lIns="0" tIns="0" rIns="0" bIns="0" wrap="square"/>
          <a:lstStyle/>
          <a:p>
            <a:pPr algn="l">
              <a:lnSpc>
                <a:spcPts val="1900"/>
              </a:lnSpc>
              <a:spcBef>
                <a:spcPts val="0"/>
              </a:spcBef>
              <a:buNone/>
            </a:pPr>
            <a:r>
              <a:rPr lang="en-US" sz="1600" b="true">
                <a:solidFill>
                  <a:srgbClr val="111111"/>
                </a:solidFill>
                <a:latin typeface="Nunito Bold"/>
                <a:ea typeface="Nunito Bold"/>
                <a:cs typeface="Nunito Bold"/>
                <a:sym typeface="Nunito Bold"/>
              </a:rPr>
              <a:t>Davies–Bouldin</a:t>
            </a:r>
          </a:p>
        </p:txBody>
      </p:sp>
      <mc:AlternateContent xmlns:mc="http://schemas.openxmlformats.org/markup-compatibility/2006">
        <mc:Choice xmlns:a14="http://schemas.microsoft.com/office/drawing/2010/main" Requires="a14">
          <p:sp>
            <p:nvSpPr>
              <p:cNvPr id="60" name="Equation"/>
              <p:cNvSpPr txBox="1"/>
              <p:nvPr/>
            </p:nvSpPr>
            <p:spPr>
              <a:xfrm>
                <a:off x="3771900" y="8212436"/>
                <a:ext cx="6309360" cy="684675"/>
              </a:xfrm>
              <a:prstGeom prst="rect">
                <a:avLst/>
              </a:prstGeom>
              <a:noFill/>
            </p:spPr>
            <p:txBody>
              <a:bodyPr wrap="none" rtlCol="0" anchor="ctr" lIns="0" tIns="0" rIns="0" bIns="0"/>
              <a:lstStyle/>
              <a:p>
                <a:pPr algn="l"/>
                <a14:m xmlns:m="http://schemas.openxmlformats.org/officeDocument/2006/math">
                  <m:oMathPara>
                    <m:oMathParaPr>
                      <m:jc m:val="left"/>
                    </m:oMathParaPr>
                    <m:oMath>
                      <m:r>
                        <m:rPr>
                          <m:sty m:val="p"/>
                        </m:rPr>
                        <a:rPr lang="en-US" sz="1150">
                          <a:solidFill>
                            <a:srgbClr val="111111"/>
                          </a:solidFill>
                          <a:latin typeface="Cambria Math" panose="02040503050406030204" pitchFamily="18" charset="0"/>
                        </a:rPr>
                        <m:t xml:space="preserve">DB=</m:t>
                      </m:r>
                      <m:f>
                        <m:fPr>
                          <m:ctrlPr>
                            <a:rPr lang="en-US" sz="1150" i="1">
                              <a:solidFill>
                                <a:srgbClr val="111111"/>
                              </a:solidFill>
                              <a:latin typeface="Cambria Math" panose="02040503050406030204" pitchFamily="18" charset="0"/>
                            </a:rPr>
                          </m:ctrlPr>
                        </m:fPr>
                        <m:num>
                          <m:r>
                            <m:rPr>
                              <m:sty m:val="p"/>
                            </m:rPr>
                            <a:rPr lang="en-US" sz="1150">
                              <a:solidFill>
                                <a:srgbClr val="111111"/>
                              </a:solidFill>
                              <a:latin typeface="Cambria Math" panose="02040503050406030204" pitchFamily="18" charset="0"/>
                            </a:rPr>
                            <m:t xml:space="preserve">1</m:t>
                          </m:r>
                        </m:num>
                        <m:den>
                          <m:r>
                            <a:rPr lang="en-US" sz="1150" i="1">
                              <a:solidFill>
                                <a:srgbClr val="111111"/>
                              </a:solidFill>
                              <a:latin typeface="Cambria Math" panose="02040503050406030204" pitchFamily="18" charset="0"/>
                            </a:rPr>
                            <m:t xml:space="preserve">k</m:t>
                          </m:r>
                        </m:den>
                      </m:f>
                      <m:nary>
                        <m:naryPr>
                          <m:chr m:val="∑"/>
                          <m:limLoc m:val="subSup"/>
                          <m:ctrlPr>
                            <a:rPr lang="en-US" sz="1150" i="1">
                              <a:solidFill>
                                <a:srgbClr val="111111"/>
                              </a:solidFill>
                              <a:latin typeface="Cambria Math" panose="02040503050406030204" pitchFamily="18" charset="0"/>
                            </a:rPr>
                          </m:ctrlPr>
                        </m:naryPr>
                        <m:sub>
                          <m:r>
                            <a:rPr lang="en-US" sz="1150" i="1">
                              <a:solidFill>
                                <a:srgbClr val="111111"/>
                              </a:solidFill>
                              <a:latin typeface="Cambria Math" panose="02040503050406030204" pitchFamily="18" charset="0"/>
                            </a:rPr>
                            <m:t xml:space="preserve">c</m:t>
                          </m:r>
                          <m:r>
                            <m:rPr>
                              <m:sty m:val="p"/>
                            </m:rPr>
                            <a:rPr lang="en-US" sz="1150">
                              <a:solidFill>
                                <a:srgbClr val="111111"/>
                              </a:solidFill>
                              <a:latin typeface="Cambria Math" panose="02040503050406030204" pitchFamily="18" charset="0"/>
                            </a:rPr>
                            <m:t xml:space="preserve">=1</m:t>
                          </m:r>
                        </m:sub>
                        <m:sup>
                          <m:r>
                            <a:rPr lang="en-US" sz="1150" i="1">
                              <a:solidFill>
                                <a:srgbClr val="111111"/>
                              </a:solidFill>
                              <a:latin typeface="Cambria Math" panose="02040503050406030204" pitchFamily="18" charset="0"/>
                            </a:rPr>
                            <m:t xml:space="preserve">k</m:t>
                          </m:r>
                        </m:sup>
                        <m:e>
                          <m:sSub>
                            <m:sSubPr>
                              <m:ctrlPr>
                                <a:rPr lang="en-US" sz="1150" i="1">
                                  <a:solidFill>
                                    <a:srgbClr val="111111"/>
                                  </a:solidFill>
                                  <a:latin typeface="Cambria Math" panose="02040503050406030204" pitchFamily="18" charset="0"/>
                                </a:rPr>
                              </m:ctrlPr>
                            </m:sSubPr>
                            <m:e>
                              <m:r>
                                <m:rPr>
                                  <m:sty m:val="p"/>
                                </m:rPr>
                                <a:rPr lang="en-US" sz="1150">
                                  <a:solidFill>
                                    <a:srgbClr val="111111"/>
                                  </a:solidFill>
                                  <a:latin typeface="Cambria Math" panose="02040503050406030204" pitchFamily="18" charset="0"/>
                                </a:rPr>
                                <m:t xml:space="preserve">max</m:t>
                              </m:r>
                            </m:e>
                            <m:sub>
                              <m:r>
                                <a:rPr lang="en-US" sz="1150" i="1">
                                  <a:solidFill>
                                    <a:srgbClr val="111111"/>
                                  </a:solidFill>
                                  <a:latin typeface="Cambria Math" panose="02040503050406030204" pitchFamily="18" charset="0"/>
                                </a:rPr>
                                <m:t xml:space="preserve">c′</m:t>
                              </m:r>
                              <m:r>
                                <m:rPr>
                                  <m:sty m:val="p"/>
                                </m:rPr>
                                <a:rPr lang="en-US" sz="1150">
                                  <a:solidFill>
                                    <a:srgbClr val="111111"/>
                                  </a:solidFill>
                                  <a:latin typeface="Cambria Math" panose="02040503050406030204" pitchFamily="18" charset="0"/>
                                </a:rPr>
                                <m:t xml:space="preserve">≠</m:t>
                              </m:r>
                              <m:r>
                                <a:rPr lang="en-US" sz="1150" i="1">
                                  <a:solidFill>
                                    <a:srgbClr val="111111"/>
                                  </a:solidFill>
                                  <a:latin typeface="Cambria Math" panose="02040503050406030204" pitchFamily="18" charset="0"/>
                                </a:rPr>
                                <m:t xml:space="preserve">c</m:t>
                              </m:r>
                            </m:sub>
                          </m:sSub>
                        </m:e>
                      </m:nary>
                      <m:f>
                        <m:fPr>
                          <m:ctrlPr>
                            <a:rPr lang="en-US" sz="1150" i="1">
                              <a:solidFill>
                                <a:srgbClr val="111111"/>
                              </a:solidFill>
                              <a:latin typeface="Cambria Math" panose="02040503050406030204" pitchFamily="18" charset="0"/>
                            </a:rPr>
                          </m:ctrlPr>
                        </m:fPr>
                        <m:num>
                          <m:sSub>
                            <m:sSubPr>
                              <m:ctrlPr>
                                <a:rPr lang="en-US" sz="1150" i="1">
                                  <a:solidFill>
                                    <a:srgbClr val="111111"/>
                                  </a:solidFill>
                                  <a:latin typeface="Cambria Math" panose="02040503050406030204" pitchFamily="18" charset="0"/>
                                </a:rPr>
                              </m:ctrlPr>
                            </m:sSubPr>
                            <m:e>
                              <m:r>
                                <a:rPr lang="en-US" sz="1150" i="1">
                                  <a:solidFill>
                                    <a:srgbClr val="111111"/>
                                  </a:solidFill>
                                  <a:latin typeface="Cambria Math" panose="02040503050406030204" pitchFamily="18" charset="0"/>
                                </a:rPr>
                                <m:t xml:space="preserve">σ</m:t>
                              </m:r>
                            </m:e>
                            <m:sub>
                              <m:r>
                                <a:rPr lang="en-US" sz="1150" i="1">
                                  <a:solidFill>
                                    <a:srgbClr val="111111"/>
                                  </a:solidFill>
                                  <a:latin typeface="Cambria Math" panose="02040503050406030204" pitchFamily="18" charset="0"/>
                                </a:rPr>
                                <m:t xml:space="preserve">c</m:t>
                              </m:r>
                            </m:sub>
                          </m:sSub>
                          <m:r>
                            <m:rPr>
                              <m:sty m:val="p"/>
                            </m:rPr>
                            <a:rPr lang="en-US" sz="1150">
                              <a:solidFill>
                                <a:srgbClr val="111111"/>
                              </a:solidFill>
                              <a:latin typeface="Cambria Math" panose="02040503050406030204" pitchFamily="18" charset="0"/>
                            </a:rPr>
                            <m:t xml:space="preserve">+</m:t>
                          </m:r>
                          <m:sSub>
                            <m:sSubPr>
                              <m:ctrlPr>
                                <a:rPr lang="en-US" sz="1150" i="1">
                                  <a:solidFill>
                                    <a:srgbClr val="111111"/>
                                  </a:solidFill>
                                  <a:latin typeface="Cambria Math" panose="02040503050406030204" pitchFamily="18" charset="0"/>
                                </a:rPr>
                              </m:ctrlPr>
                            </m:sSubPr>
                            <m:e>
                              <m:r>
                                <a:rPr lang="en-US" sz="1150" i="1">
                                  <a:solidFill>
                                    <a:srgbClr val="111111"/>
                                  </a:solidFill>
                                  <a:latin typeface="Cambria Math" panose="02040503050406030204" pitchFamily="18" charset="0"/>
                                </a:rPr>
                                <m:t xml:space="preserve">σ</m:t>
                              </m:r>
                            </m:e>
                            <m:sub>
                              <m:r>
                                <a:rPr lang="en-US" sz="1150" i="1">
                                  <a:solidFill>
                                    <a:srgbClr val="111111"/>
                                  </a:solidFill>
                                  <a:latin typeface="Cambria Math" panose="02040503050406030204" pitchFamily="18" charset="0"/>
                                </a:rPr>
                                <m:t xml:space="preserve">c′</m:t>
                              </m:r>
                            </m:sub>
                          </m:sSub>
                        </m:num>
                        <m:den>
                          <m:r>
                            <a:rPr lang="en-US" sz="1150" i="1">
                              <a:solidFill>
                                <a:srgbClr val="111111"/>
                              </a:solidFill>
                              <a:latin typeface="Cambria Math" panose="02040503050406030204" pitchFamily="18" charset="0"/>
                            </a:rPr>
                            <m:t xml:space="preserve">d</m:t>
                          </m:r>
                          <m:r>
                            <m:rPr>
                              <m:sty m:val="p"/>
                            </m:rPr>
                            <a:rPr lang="en-US" sz="1150">
                              <a:solidFill>
                                <a:srgbClr val="111111"/>
                              </a:solidFill>
                              <a:latin typeface="Cambria Math" panose="02040503050406030204" pitchFamily="18" charset="0"/>
                            </a:rPr>
                            <m:t xml:space="preserve">(</m:t>
                          </m:r>
                          <m:sSub>
                            <m:sSubPr>
                              <m:ctrlPr>
                                <a:rPr lang="en-US" sz="1150" i="1">
                                  <a:solidFill>
                                    <a:srgbClr val="111111"/>
                                  </a:solidFill>
                                  <a:latin typeface="Cambria Math" panose="02040503050406030204" pitchFamily="18" charset="0"/>
                                </a:rPr>
                              </m:ctrlPr>
                            </m:sSubPr>
                            <m:e>
                              <m:r>
                                <a:rPr lang="en-US" sz="1150" i="1">
                                  <a:solidFill>
                                    <a:srgbClr val="111111"/>
                                  </a:solidFill>
                                  <a:latin typeface="Cambria Math" panose="02040503050406030204" pitchFamily="18" charset="0"/>
                                </a:rPr>
                                <m:t xml:space="preserve">μ</m:t>
                              </m:r>
                            </m:e>
                            <m:sub>
                              <m:r>
                                <a:rPr lang="en-US" sz="1150" i="1">
                                  <a:solidFill>
                                    <a:srgbClr val="111111"/>
                                  </a:solidFill>
                                  <a:latin typeface="Cambria Math" panose="02040503050406030204" pitchFamily="18" charset="0"/>
                                </a:rPr>
                                <m:t xml:space="preserve">c</m:t>
                              </m:r>
                            </m:sub>
                          </m:sSub>
                          <m:r>
                            <m:rPr>
                              <m:sty m:val="p"/>
                            </m:rPr>
                            <a:rPr lang="en-US" sz="1150">
                              <a:solidFill>
                                <a:srgbClr val="111111"/>
                              </a:solidFill>
                              <a:latin typeface="Cambria Math" panose="02040503050406030204" pitchFamily="18" charset="0"/>
                            </a:rPr>
                            <m:t xml:space="preserve">,</m:t>
                          </m:r>
                          <m:sSub>
                            <m:sSubPr>
                              <m:ctrlPr>
                                <a:rPr lang="en-US" sz="1150" i="1">
                                  <a:solidFill>
                                    <a:srgbClr val="111111"/>
                                  </a:solidFill>
                                  <a:latin typeface="Cambria Math" panose="02040503050406030204" pitchFamily="18" charset="0"/>
                                </a:rPr>
                              </m:ctrlPr>
                            </m:sSubPr>
                            <m:e>
                              <m:r>
                                <a:rPr lang="en-US" sz="1150" i="1">
                                  <a:solidFill>
                                    <a:srgbClr val="111111"/>
                                  </a:solidFill>
                                  <a:latin typeface="Cambria Math" panose="02040503050406030204" pitchFamily="18" charset="0"/>
                                </a:rPr>
                                <m:t xml:space="preserve">μ</m:t>
                              </m:r>
                            </m:e>
                            <m:sub>
                              <m:r>
                                <a:rPr lang="en-US" sz="1150" i="1">
                                  <a:solidFill>
                                    <a:srgbClr val="111111"/>
                                  </a:solidFill>
                                  <a:latin typeface="Cambria Math" panose="02040503050406030204" pitchFamily="18" charset="0"/>
                                </a:rPr>
                                <m:t xml:space="preserve">c′</m:t>
                              </m:r>
                            </m:sub>
                          </m:sSub>
                          <m:r>
                            <m:rPr>
                              <m:sty m:val="p"/>
                            </m:rPr>
                            <a:rPr lang="en-US" sz="1150">
                              <a:solidFill>
                                <a:srgbClr val="111111"/>
                              </a:solidFill>
                              <a:latin typeface="Cambria Math" panose="02040503050406030204" pitchFamily="18" charset="0"/>
                            </a:rPr>
                            <m:t xml:space="preserve">)</m:t>
                          </m:r>
                        </m:den>
                      </m:f>
                    </m:oMath>
                  </m:oMathPara>
                </a14:m>
                <a:endParaRPr lang="en-US" sz="1150"/>
              </a:p>
            </p:txBody>
          </p:sp>
        </mc:Choice>
        <mc:Fallback>
          <p:sp>
            <p:nvSpPr>
              <p:cNvPr id="60" name="Equation"/>
              <p:cNvSpPr txBox="1"/>
              <p:nvPr/>
            </p:nvSpPr>
            <p:spPr>
              <a:xfrm>
                <a:off x="3771900" y="8212436"/>
                <a:ext cx="6309360" cy="684675"/>
              </a:xfrm>
              <a:prstGeom prst="rect">
                <a:avLst/>
              </a:prstGeom>
              <a:blipFill>
                <a:blip r:embed="rId10"/>
                <a:stretch>
                  <a:fillRect/>
                </a:stretch>
              </a:blipFill>
            </p:spPr>
            <p:txBody>
              <a:bodyPr/>
              <a:lstStyle/>
              <a:p>
                <a:endParaRPr lang="en-US"/>
              </a:p>
            </p:txBody>
          </p:sp>
        </mc:Fallback>
      </mc:AlternateContent>
      <p:sp>
        <p:nvSpPr>
          <p:cNvPr id="61" name="TextBox 60"/>
          <p:cNvSpPr txBox="1"/>
          <p:nvPr/>
        </p:nvSpPr>
        <p:spPr>
          <a:xfrm>
            <a:off x="10309860" y="8185004"/>
            <a:ext cx="6812280" cy="739539"/>
          </a:xfrm>
          <a:prstGeom prst="rect">
            <a:avLst/>
          </a:prstGeom>
          <a:noFill/>
        </p:spPr>
        <p:txBody>
          <a:bodyPr anchor="ctr" rtlCol="false" lIns="0" tIns="0" rIns="0" bIns="0" wrap="square"/>
          <a:lstStyle/>
          <a:p>
            <a:pPr algn="l">
              <a:lnSpc>
                <a:spcPts val="1700"/>
              </a:lnSpc>
              <a:spcBef>
                <a:spcPts val="0"/>
              </a:spcBef>
              <a:buNone/>
            </a:pPr>
            <a:r>
              <a:rPr lang="en-US" sz="1400" b="true">
                <a:solidFill>
                  <a:srgbClr val="111111"/>
                </a:solidFill>
                <a:latin typeface="Nunito Semi-Bold"/>
                <a:ea typeface="Nunito Semi-Bold"/>
                <a:cs typeface="Nunito Semi-Bold"/>
                <a:sym typeface="Nunito Semi-Bold"/>
              </a:rPr>
              <a:t>Cluster overlap; lower is better.</a:t>
            </a:r>
          </a:p>
        </p:txBody>
      </p:sp>
      <p:cxnSp>
        <p:nvCxnSpPr>
          <p:cNvPr id="62" name="Connector 61"/>
          <p:cNvCxnSpPr/>
          <p:nvPr/>
        </p:nvCxnSpPr>
        <p:spPr>
          <a:xfrm>
            <a:off x="1028700" y="8924544"/>
            <a:ext cx="16230600" cy="0"/>
          </a:xfrm>
          <a:prstGeom prst="line">
            <a:avLst/>
          </a:prstGeom>
          <a:ln w="12700">
            <a:solidFill>
              <a:srgbClr val="E3D6C4"/>
            </a:solidFill>
          </a:ln>
        </p:spPr>
      </p:cxnSp>
      <p:sp>
        <p:nvSpPr>
          <p:cNvPr id="63" name="TextBox 62"/>
          <p:cNvSpPr txBox="1"/>
          <p:nvPr/>
        </p:nvSpPr>
        <p:spPr>
          <a:xfrm>
            <a:off x="1028700" y="8997696"/>
            <a:ext cx="16230600" cy="548640"/>
          </a:xfrm>
          <a:prstGeom prst="rect">
            <a:avLst/>
          </a:prstGeom>
          <a:noFill/>
        </p:spPr>
        <p:txBody>
          <a:bodyPr anchor="t" rtlCol="false" lIns="0" tIns="0" rIns="0" bIns="0" wrap="square"/>
          <a:lstStyle/>
          <a:p>
            <a:pPr algn="l">
              <a:lnSpc>
                <a:spcPts val="1600"/>
              </a:lnSpc>
              <a:spcBef>
                <a:spcPts val="0"/>
              </a:spcBef>
              <a:buNone/>
            </a:pPr>
            <a:r>
              <a:rPr lang="en-US" sz="1300" b="true">
                <a:solidFill>
                  <a:srgbClr val="8A8378"/>
                </a:solidFill>
                <a:latin typeface="Nunito Bold"/>
                <a:ea typeface="Nunito Bold"/>
                <a:cs typeface="Nunito Bold"/>
                <a:sym typeface="Nunito Bold"/>
              </a:rPr>
              <a:t>Notation:</a:t>
            </a:r>
            <a:r>
              <a:rPr lang="en-US" sz="1300" b="true">
                <a:solidFill>
                  <a:srgbClr val="8A8378"/>
                </a:solidFill>
                <a:latin typeface="Nunito Semi-Bold"/>
                <a:ea typeface="Nunito Semi-Bold"/>
                <a:cs typeface="Nunito Semi-Bold"/>
                <a:sym typeface="Nunito Semi-Bold"/>
              </a:rPr>
              <a:t> L</a:t>
            </a:r>
            <a:r>
              <a:rPr lang="en-US" sz="1300" b="true" baseline="-25000">
                <a:solidFill>
                  <a:srgbClr val="8A8378"/>
                </a:solidFill>
                <a:latin typeface="Nunito Semi-Bold"/>
                <a:ea typeface="Nunito Semi-Bold"/>
                <a:cs typeface="Nunito Semi-Bold"/>
                <a:sym typeface="Nunito Semi-Bold"/>
              </a:rPr>
              <a:t>u</a:t>
            </a:r>
            <a:r>
              <a:rPr lang="en-US" sz="1300" b="true" baseline="30000">
                <a:solidFill>
                  <a:srgbClr val="8A8378"/>
                </a:solidFill>
                <a:latin typeface="Nunito Semi-Bold"/>
                <a:ea typeface="Nunito Semi-Bold"/>
                <a:cs typeface="Nunito Semi-Bold"/>
                <a:sym typeface="Nunito Semi-Bold"/>
              </a:rPr>
              <a:t>K</a:t>
            </a:r>
            <a:r>
              <a:rPr lang="en-US" sz="1300" b="true">
                <a:solidFill>
                  <a:srgbClr val="8A8378"/>
                </a:solidFill>
                <a:latin typeface="Nunito Semi-Bold"/>
                <a:ea typeface="Nunito Semi-Bold"/>
                <a:cs typeface="Nunito Semi-Bold"/>
                <a:sym typeface="Nunito Semi-Bold"/>
              </a:rPr>
              <a:t> = top-K list of user u; </a:t>
            </a:r>
            <a:r>
              <a:rPr lang="en-US" sz="1300" b="true">
                <a:solidFill>
                  <a:srgbClr val="8A8378"/>
                </a:solidFill>
                <a:latin typeface="Cambria Math"/>
                <a:ea typeface="Cambria Math"/>
                <a:cs typeface="Cambria Math"/>
                <a:sym typeface="Cambria Math"/>
              </a:rPr>
              <a:t>ℛ</a:t>
            </a:r>
            <a:r>
              <a:rPr lang="en-US" sz="1300" b="true" baseline="-25000">
                <a:solidFill>
                  <a:srgbClr val="8A8378"/>
                </a:solidFill>
                <a:latin typeface="Nunito Semi-Bold"/>
                <a:ea typeface="Nunito Semi-Bold"/>
                <a:cs typeface="Nunito Semi-Bold"/>
                <a:sym typeface="Nunito Semi-Bold"/>
              </a:rPr>
              <a:t>u</a:t>
            </a:r>
            <a:r>
              <a:rPr lang="en-US" sz="1300" b="true">
                <a:solidFill>
                  <a:srgbClr val="8A8378"/>
                </a:solidFill>
                <a:latin typeface="Nunito Semi-Bold"/>
                <a:ea typeface="Nunito Semi-Bold"/>
                <a:cs typeface="Nunito Semi-Bold"/>
                <a:sym typeface="Nunito Semi-Bold"/>
              </a:rPr>
              <a:t> = relevant (held-out) items of u; rel</a:t>
            </a:r>
            <a:r>
              <a:rPr lang="en-US" sz="1300" b="true" baseline="-25000">
                <a:solidFill>
                  <a:srgbClr val="8A8378"/>
                </a:solidFill>
                <a:latin typeface="Nunito Semi-Bold"/>
                <a:ea typeface="Nunito Semi-Bold"/>
                <a:cs typeface="Nunito Semi-Bold"/>
                <a:sym typeface="Nunito Semi-Bold"/>
              </a:rPr>
              <a:t>i</a:t>
            </a:r>
            <a:r>
              <a:rPr lang="en-US" sz="1300" b="true">
                <a:solidFill>
                  <a:srgbClr val="8A8378"/>
                </a:solidFill>
                <a:latin typeface="Cambria Math"/>
                <a:ea typeface="Cambria Math"/>
                <a:cs typeface="Cambria Math"/>
                <a:sym typeface="Cambria Math"/>
              </a:rPr>
              <a:t> ∈ </a:t>
            </a:r>
            <a:r>
              <a:rPr lang="en-US" sz="1300" b="true">
                <a:solidFill>
                  <a:srgbClr val="8A8378"/>
                </a:solidFill>
                <a:latin typeface="Nunito Semi-Bold"/>
                <a:ea typeface="Nunito Semi-Bold"/>
                <a:cs typeface="Nunito Semi-Bold"/>
                <a:sym typeface="Nunito Semi-Bold"/>
              </a:rPr>
              <a:t>{0,1}; a(x), b(x) = mean intra- and nearest-cluster distance; </a:t>
            </a:r>
            <a:r>
              <a:rPr lang="en-US" sz="1300" b="true">
                <a:solidFill>
                  <a:srgbClr val="8A8378"/>
                </a:solidFill>
                <a:latin typeface="Calibri"/>
                <a:ea typeface="Calibri"/>
                <a:cs typeface="Calibri"/>
                <a:sym typeface="Calibri"/>
              </a:rPr>
              <a:t>σ</a:t>
            </a:r>
            <a:r>
              <a:rPr lang="en-US" sz="1300" b="true" baseline="-25000">
                <a:solidFill>
                  <a:srgbClr val="8A8378"/>
                </a:solidFill>
                <a:latin typeface="Nunito Semi-Bold"/>
                <a:ea typeface="Nunito Semi-Bold"/>
                <a:cs typeface="Nunito Semi-Bold"/>
                <a:sym typeface="Nunito Semi-Bold"/>
              </a:rPr>
              <a:t>c</a:t>
            </a:r>
            <a:r>
              <a:rPr lang="en-US" sz="1300" b="true">
                <a:solidFill>
                  <a:srgbClr val="8A8378"/>
                </a:solidFill>
                <a:latin typeface="Nunito Semi-Bold"/>
                <a:ea typeface="Nunito Semi-Bold"/>
                <a:cs typeface="Nunito Semi-Bold"/>
                <a:sym typeface="Nunito Semi-Bold"/>
              </a:rPr>
              <a:t>, μ</a:t>
            </a:r>
            <a:r>
              <a:rPr lang="en-US" sz="1300" b="true" baseline="-25000">
                <a:solidFill>
                  <a:srgbClr val="8A8378"/>
                </a:solidFill>
                <a:latin typeface="Nunito Semi-Bold"/>
                <a:ea typeface="Nunito Semi-Bold"/>
                <a:cs typeface="Nunito Semi-Bold"/>
                <a:sym typeface="Nunito Semi-Bold"/>
              </a:rPr>
              <a:t>c</a:t>
            </a:r>
            <a:r>
              <a:rPr lang="en-US" sz="1300" b="true">
                <a:solidFill>
                  <a:srgbClr val="8A8378"/>
                </a:solidFill>
                <a:latin typeface="Nunito Semi-Bold"/>
                <a:ea typeface="Nunito Semi-Bold"/>
                <a:cs typeface="Nunito Semi-Bold"/>
                <a:sym typeface="Nunito Semi-Bold"/>
              </a:rPr>
              <a:t> = spread and centroid of cluster c. Reported at K </a:t>
            </a:r>
            <a:r>
              <a:rPr lang="en-US" sz="1300" b="true">
                <a:solidFill>
                  <a:srgbClr val="8A8378"/>
                </a:solidFill>
                <a:latin typeface="Cambria Math"/>
                <a:ea typeface="Cambria Math"/>
                <a:cs typeface="Cambria Math"/>
                <a:sym typeface="Cambria Math"/>
              </a:rPr>
              <a:t>∈ </a:t>
            </a:r>
            <a:r>
              <a:rPr lang="en-US" sz="1300" b="true">
                <a:solidFill>
                  <a:srgbClr val="8A8378"/>
                </a:solidFill>
                <a:latin typeface="Nunito Semi-Bold"/>
                <a:ea typeface="Nunito Semi-Bold"/>
                <a:cs typeface="Nunito Semi-Bold"/>
                <a:sym typeface="Nunito Semi-Bold"/>
              </a:rPr>
              <a:t>{5, 10, 20}; NDCG@20 is the main measure.</a:t>
            </a:r>
          </a:p>
        </p:txBody>
      </p:sp>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pic>
        <p:nvPicPr>
          <p:cNvPr id="2" name="Picture 1" descr="ensias_logo.jpg"/>
          <p:cNvPicPr>
            <a:picLocks noChangeAspect="1"/>
          </p:cNvPicPr>
          <p:nvPr/>
        </p:nvPicPr>
        <p:blipFill>
          <a:blip r:embed="rId2"/>
          <a:stretch>
            <a:fillRect/>
          </a:stretch>
        </p:blipFill>
        <p:spPr>
          <a:xfrm>
            <a:off x="1028700" y="9674352"/>
            <a:ext cx="542964" cy="384048"/>
          </a:xfrm>
          <a:prstGeom prst="rect">
            <a:avLst/>
          </a:prstGeom>
        </p:spPr>
      </p:pic>
      <p:sp>
        <p:nvSpPr>
          <p:cNvPr id="3" name="TextBox 2"/>
          <p:cNvSpPr txBox="1"/>
          <p:nvPr/>
        </p:nvSpPr>
        <p:spPr>
          <a:xfrm>
            <a:off x="1577340" y="9747504"/>
            <a:ext cx="12801600" cy="274320"/>
          </a:xfrm>
          <a:prstGeom prst="rect">
            <a:avLst/>
          </a:prstGeom>
          <a:noFill/>
        </p:spPr>
        <p:txBody>
          <a:bodyPr anchor="t" rtlCol="false" lIns="0" tIns="0" rIns="0" bIns="0" wrap="square"/>
          <a:lstStyle/>
          <a:p>
            <a:pPr algn="l">
              <a:lnSpc>
                <a:spcPts val="1600"/>
              </a:lnSpc>
              <a:spcBef>
                <a:spcPts val="0"/>
              </a:spcBef>
              <a:buNone/>
            </a:pPr>
            <a:r>
              <a:rPr lang="en-US" sz="1300" b="true">
                <a:solidFill>
                  <a:srgbClr val="8A8378"/>
                </a:solidFill>
                <a:latin typeface="Nunito Bold"/>
                <a:ea typeface="Nunito Bold"/>
                <a:cs typeface="Nunito Bold"/>
                <a:sym typeface="Nunito Bold"/>
              </a:rPr>
              <a:t>Cooperative Game Theory for Explainable AI in Recommendation Systems  ·  A Shapley Framework for Actionable Insight</a:t>
            </a:r>
          </a:p>
        </p:txBody>
      </p:sp>
      <p:sp>
        <p:nvSpPr>
          <p:cNvPr id="4" name="TextBox 3"/>
          <p:cNvSpPr txBox="1"/>
          <p:nvPr/>
        </p:nvSpPr>
        <p:spPr>
          <a:xfrm>
            <a:off x="16162020" y="9692640"/>
            <a:ext cx="1097280" cy="329184"/>
          </a:xfrm>
          <a:prstGeom prst="rect">
            <a:avLst/>
          </a:prstGeom>
          <a:noFill/>
        </p:spPr>
        <p:txBody>
          <a:bodyPr anchor="t" rtlCol="false" lIns="0" tIns="0" rIns="0" bIns="0" wrap="square"/>
          <a:lstStyle/>
          <a:p>
            <a:pPr algn="r">
              <a:lnSpc>
                <a:spcPts val="2200"/>
              </a:lnSpc>
              <a:spcBef>
                <a:spcPts val="0"/>
              </a:spcBef>
              <a:buNone/>
            </a:pPr>
            <a:r>
              <a:rPr lang="en-US" sz="1800" b="true">
                <a:solidFill>
                  <a:srgbClr val="111111"/>
                </a:solidFill>
                <a:latin typeface="Nunito Ultra-Bold"/>
                <a:ea typeface="Nunito Ultra-Bold"/>
                <a:cs typeface="Nunito Ultra-Bold"/>
                <a:sym typeface="Nunito Ultra-Bold"/>
              </a:rPr>
              <a:t>25</a:t>
            </a:r>
          </a:p>
        </p:txBody>
      </p:sp>
      <p:sp>
        <p:nvSpPr>
          <p:cNvPr id="5" name="TextBox 4"/>
          <p:cNvSpPr txBox="1"/>
          <p:nvPr/>
        </p:nvSpPr>
        <p:spPr>
          <a:xfrm>
            <a:off x="1028700" y="1389888"/>
            <a:ext cx="12938760" cy="329184"/>
          </a:xfrm>
          <a:prstGeom prst="rect">
            <a:avLst/>
          </a:prstGeom>
          <a:noFill/>
        </p:spPr>
        <p:txBody>
          <a:bodyPr anchor="t" rtlCol="false" lIns="0" tIns="0" rIns="0" bIns="0" wrap="square"/>
          <a:lstStyle/>
          <a:p>
            <a:pPr algn="l">
              <a:lnSpc>
                <a:spcPts val="2000"/>
              </a:lnSpc>
              <a:spcBef>
                <a:spcPts val="0"/>
              </a:spcBef>
              <a:buNone/>
            </a:pPr>
            <a:r>
              <a:rPr lang="en-US" sz="1500" b="true" spc="160">
                <a:solidFill>
                  <a:srgbClr val="1F7A8C"/>
                </a:solidFill>
                <a:latin typeface="Nunito Ultra-Bold"/>
                <a:ea typeface="Nunito Ultra-Bold"/>
                <a:cs typeface="Nunito Ultra-Bold"/>
                <a:sym typeface="Nunito Ultra-Bold"/>
              </a:rPr>
              <a:t>EXPERIMENTAL PROTOCOL</a:t>
            </a:r>
          </a:p>
        </p:txBody>
      </p:sp>
      <p:sp>
        <p:nvSpPr>
          <p:cNvPr id="6" name="Rounded Rectangle 5"/>
          <p:cNvSpPr/>
          <p:nvPr/>
        </p:nvSpPr>
        <p:spPr>
          <a:xfrm>
            <a:off x="14516100"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7" name="TextBox 6"/>
          <p:cNvSpPr txBox="1"/>
          <p:nvPr/>
        </p:nvSpPr>
        <p:spPr>
          <a:xfrm>
            <a:off x="14516100"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1</a:t>
            </a:r>
          </a:p>
        </p:txBody>
      </p:sp>
      <p:sp>
        <p:nvSpPr>
          <p:cNvPr id="8" name="Rounded Rectangle 7"/>
          <p:cNvSpPr/>
          <p:nvPr/>
        </p:nvSpPr>
        <p:spPr>
          <a:xfrm>
            <a:off x="14918436"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9" name="TextBox 8"/>
          <p:cNvSpPr txBox="1"/>
          <p:nvPr/>
        </p:nvSpPr>
        <p:spPr>
          <a:xfrm>
            <a:off x="14918436"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2</a:t>
            </a:r>
          </a:p>
        </p:txBody>
      </p:sp>
      <p:sp>
        <p:nvSpPr>
          <p:cNvPr id="10" name="Rounded Rectangle 9"/>
          <p:cNvSpPr/>
          <p:nvPr/>
        </p:nvSpPr>
        <p:spPr>
          <a:xfrm>
            <a:off x="15320772" y="1371600"/>
            <a:ext cx="329184" cy="329184"/>
          </a:xfrm>
          <a:prstGeom prst="roundRect">
            <a:avLst>
              <a:gd name="adj" fmla="val 16666"/>
            </a:avLst>
          </a:prstGeom>
          <a:solidFill>
            <a:srgbClr val="4472C4"/>
          </a:solidFill>
          <a:ln w="15875">
            <a:solidFill>
              <a:srgbClr val="4472C4"/>
            </a:solidFill>
          </a:ln>
        </p:spPr>
        <p:txBody>
          <a:bodyPr anchor="ctr" rtlCol="false" lIns="0" tIns="0" rIns="0" bIns="0" wrap="square"/>
          <a:lstStyle/>
          <a:p>
            <a:endParaRPr lang="en-US" sz="1800"/>
          </a:p>
        </p:txBody>
      </p:sp>
      <p:sp>
        <p:nvSpPr>
          <p:cNvPr id="11" name="TextBox 10"/>
          <p:cNvSpPr txBox="1"/>
          <p:nvPr/>
        </p:nvSpPr>
        <p:spPr>
          <a:xfrm>
            <a:off x="15320772"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FFFFFF"/>
                </a:solidFill>
                <a:latin typeface="Nunito Ultra-Bold"/>
                <a:ea typeface="Nunito Ultra-Bold"/>
                <a:cs typeface="Nunito Ultra-Bold"/>
                <a:sym typeface="Nunito Ultra-Bold"/>
              </a:rPr>
              <a:t>3</a:t>
            </a:r>
          </a:p>
        </p:txBody>
      </p:sp>
      <p:sp>
        <p:nvSpPr>
          <p:cNvPr id="12" name="Rounded Rectangle 11"/>
          <p:cNvSpPr/>
          <p:nvPr/>
        </p:nvSpPr>
        <p:spPr>
          <a:xfrm>
            <a:off x="15723108"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13" name="TextBox 12"/>
          <p:cNvSpPr txBox="1"/>
          <p:nvPr/>
        </p:nvSpPr>
        <p:spPr>
          <a:xfrm>
            <a:off x="15723108"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4</a:t>
            </a:r>
          </a:p>
        </p:txBody>
      </p:sp>
      <p:sp>
        <p:nvSpPr>
          <p:cNvPr id="14" name="Rounded Rectangle 13"/>
          <p:cNvSpPr/>
          <p:nvPr/>
        </p:nvSpPr>
        <p:spPr>
          <a:xfrm>
            <a:off x="16125444"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15" name="TextBox 14"/>
          <p:cNvSpPr txBox="1"/>
          <p:nvPr/>
        </p:nvSpPr>
        <p:spPr>
          <a:xfrm>
            <a:off x="16125444"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5</a:t>
            </a:r>
          </a:p>
        </p:txBody>
      </p:sp>
      <p:sp>
        <p:nvSpPr>
          <p:cNvPr id="16" name="Rounded Rectangle 15"/>
          <p:cNvSpPr/>
          <p:nvPr/>
        </p:nvSpPr>
        <p:spPr>
          <a:xfrm>
            <a:off x="16527780"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17" name="TextBox 16"/>
          <p:cNvSpPr txBox="1"/>
          <p:nvPr/>
        </p:nvSpPr>
        <p:spPr>
          <a:xfrm>
            <a:off x="16527780"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6</a:t>
            </a:r>
          </a:p>
        </p:txBody>
      </p:sp>
      <p:sp>
        <p:nvSpPr>
          <p:cNvPr id="18" name="Rounded Rectangle 17"/>
          <p:cNvSpPr/>
          <p:nvPr/>
        </p:nvSpPr>
        <p:spPr>
          <a:xfrm>
            <a:off x="16930116"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19" name="TextBox 18"/>
          <p:cNvSpPr txBox="1"/>
          <p:nvPr/>
        </p:nvSpPr>
        <p:spPr>
          <a:xfrm>
            <a:off x="16930116"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7</a:t>
            </a:r>
          </a:p>
        </p:txBody>
      </p:sp>
      <p:sp>
        <p:nvSpPr>
          <p:cNvPr id="20" name="TextBox 19"/>
          <p:cNvSpPr txBox="1"/>
          <p:nvPr/>
        </p:nvSpPr>
        <p:spPr>
          <a:xfrm>
            <a:off x="1028700" y="1719072"/>
            <a:ext cx="16230600" cy="730250"/>
          </a:xfrm>
          <a:prstGeom prst="rect">
            <a:avLst/>
          </a:prstGeom>
          <a:noFill/>
        </p:spPr>
        <p:txBody>
          <a:bodyPr anchor="t" rtlCol="false" lIns="0" tIns="0" rIns="0" bIns="0" wrap="square"/>
          <a:lstStyle/>
          <a:p>
            <a:pPr algn="l">
              <a:lnSpc>
                <a:spcPts val="5060"/>
              </a:lnSpc>
              <a:spcBef>
                <a:spcPts val="0"/>
              </a:spcBef>
              <a:buNone/>
            </a:pPr>
            <a:r>
              <a:rPr lang="en-US" sz="4600" b="true" spc="-230">
                <a:solidFill>
                  <a:srgbClr val="111111"/>
                </a:solidFill>
                <a:latin typeface="Roca Two Bold"/>
                <a:ea typeface="Roca Two Bold"/>
                <a:cs typeface="Roca Two Bold"/>
                <a:sym typeface="Roca Two Bold"/>
              </a:rPr>
              <a:t>Hardware &amp; Software</a:t>
            </a:r>
          </a:p>
        </p:txBody>
      </p:sp>
      <p:sp>
        <p:nvSpPr>
          <p:cNvPr id="21" name="Rounded Rectangle 20"/>
          <p:cNvSpPr/>
          <p:nvPr/>
        </p:nvSpPr>
        <p:spPr>
          <a:xfrm>
            <a:off x="1028700" y="2559050"/>
            <a:ext cx="1523907" cy="420624"/>
          </a:xfrm>
          <a:prstGeom prst="roundRect">
            <a:avLst>
              <a:gd name="adj" fmla="val 50000"/>
            </a:avLst>
          </a:prstGeom>
          <a:noFill/>
          <a:ln w="28575">
            <a:solidFill>
              <a:srgbClr val="4472C4"/>
            </a:solidFill>
          </a:ln>
        </p:spPr>
        <p:txBody>
          <a:bodyPr anchor="ctr" rtlCol="false" lIns="45720" tIns="0" rIns="45720" bIns="0" wrap="square"/>
          <a:lstStyle/>
          <a:p>
            <a:pPr algn="ctr">
              <a:lnSpc>
                <a:spcPts val="2160"/>
              </a:lnSpc>
              <a:spcBef>
                <a:spcPts val="0"/>
              </a:spcBef>
              <a:buNone/>
            </a:pPr>
            <a:r>
              <a:rPr lang="en-US" sz="1800" b="true">
                <a:solidFill>
                  <a:srgbClr val="4472C4"/>
                </a:solidFill>
                <a:latin typeface="Nunito Bold"/>
                <a:ea typeface="Nunito Bold"/>
                <a:cs typeface="Nunito Bold"/>
                <a:sym typeface="Nunito Bold"/>
              </a:rPr>
              <a:t>Datasets</a:t>
            </a:r>
          </a:p>
        </p:txBody>
      </p:sp>
      <p:sp>
        <p:nvSpPr>
          <p:cNvPr id="22" name="Rounded Rectangle 21"/>
          <p:cNvSpPr/>
          <p:nvPr/>
        </p:nvSpPr>
        <p:spPr>
          <a:xfrm>
            <a:off x="2680623" y="2559050"/>
            <a:ext cx="1349432" cy="420624"/>
          </a:xfrm>
          <a:prstGeom prst="roundRect">
            <a:avLst>
              <a:gd name="adj" fmla="val 50000"/>
            </a:avLst>
          </a:prstGeom>
          <a:noFill/>
          <a:ln w="28575">
            <a:solidFill>
              <a:srgbClr val="4472C4"/>
            </a:solidFill>
          </a:ln>
        </p:spPr>
        <p:txBody>
          <a:bodyPr anchor="ctr" rtlCol="false" lIns="45720" tIns="0" rIns="45720" bIns="0" wrap="square"/>
          <a:lstStyle/>
          <a:p>
            <a:pPr algn="ctr">
              <a:lnSpc>
                <a:spcPts val="2160"/>
              </a:lnSpc>
              <a:spcBef>
                <a:spcPts val="0"/>
              </a:spcBef>
              <a:buNone/>
            </a:pPr>
            <a:r>
              <a:rPr lang="en-US" sz="1800" b="true">
                <a:solidFill>
                  <a:srgbClr val="4472C4"/>
                </a:solidFill>
                <a:latin typeface="Nunito Bold"/>
                <a:ea typeface="Nunito Bold"/>
                <a:cs typeface="Nunito Bold"/>
                <a:sym typeface="Nunito Bold"/>
              </a:rPr>
              <a:t>Metrics</a:t>
            </a:r>
          </a:p>
        </p:txBody>
      </p:sp>
      <p:sp>
        <p:nvSpPr>
          <p:cNvPr id="23" name="Rounded Rectangle 22"/>
          <p:cNvSpPr/>
          <p:nvPr/>
        </p:nvSpPr>
        <p:spPr>
          <a:xfrm>
            <a:off x="4158071" y="2559050"/>
            <a:ext cx="1642577" cy="420624"/>
          </a:xfrm>
          <a:prstGeom prst="roundRect">
            <a:avLst>
              <a:gd name="adj" fmla="val 50000"/>
            </a:avLst>
          </a:prstGeom>
          <a:solidFill>
            <a:srgbClr val="4472C4"/>
          </a:solidFill>
          <a:ln>
            <a:noFill/>
          </a:ln>
        </p:spPr>
        <p:txBody>
          <a:bodyPr anchor="ctr" rtlCol="false" lIns="45720" tIns="0" rIns="45720" bIns="0" wrap="square"/>
          <a:lstStyle/>
          <a:p>
            <a:pPr algn="ctr">
              <a:lnSpc>
                <a:spcPts val="2160"/>
              </a:lnSpc>
              <a:spcBef>
                <a:spcPts val="0"/>
              </a:spcBef>
              <a:buNone/>
            </a:pPr>
            <a:r>
              <a:rPr lang="en-US" sz="1800" b="true">
                <a:solidFill>
                  <a:srgbClr val="FFFFFF"/>
                </a:solidFill>
                <a:latin typeface="Nunito Bold"/>
                <a:ea typeface="Nunito Bold"/>
                <a:cs typeface="Nunito Bold"/>
                <a:sym typeface="Nunito Bold"/>
              </a:rPr>
              <a:t>Hardware</a:t>
            </a:r>
          </a:p>
        </p:txBody>
      </p:sp>
      <p:graphicFrame>
        <p:nvGraphicFramePr>
          <p:cNvPr id="24" name="Table 23"/>
          <p:cNvGraphicFramePr>
            <a:graphicFrameLocks noGrp="1"/>
          </p:cNvGraphicFramePr>
          <p:nvPr/>
        </p:nvGraphicFramePr>
        <p:xfrm>
          <a:off x="1028700" y="3363722"/>
          <a:ext cx="16230599" cy="3108960"/>
        </p:xfrm>
        <a:graphic>
          <a:graphicData uri="http://schemas.openxmlformats.org/drawingml/2006/table">
            <a:tbl>
              <a:tblPr firstRow="0" bandRow="0" firstCol="0" lastRow="0" lastCol="0" bandCol="0">
                <a:tableStyleId>{2D5ABB26-0587-4C30-8999-92F81FD0307C}</a:tableStyleId>
              </a:tblPr>
              <a:tblGrid>
                <a:gridCol w="2705100"/>
                <a:gridCol w="2080846"/>
                <a:gridCol w="3537438"/>
                <a:gridCol w="2705100"/>
                <a:gridCol w="1456592"/>
                <a:gridCol w="3745523"/>
              </a:tblGrid>
              <a:tr h="777240">
                <a:tc>
                  <a:txBody>
                    <a:bodyPr anchor="ctr" rtlCol="false" lIns="0" tIns="0" rIns="0" bIns="0" wrap="square"/>
                    <a:lstStyle/>
                    <a:p>
                      <a:pPr algn="l">
                        <a:lnSpc>
                          <a:spcPts val="2210"/>
                        </a:lnSpc>
                        <a:spcBef>
                          <a:spcPts val="0"/>
                        </a:spcBef>
                        <a:buNone/>
                      </a:pPr>
                      <a:r>
                        <a:rPr lang="en-US" sz="1700" b="true">
                          <a:solidFill>
                            <a:srgbClr val="FFFFFF"/>
                          </a:solidFill>
                          <a:latin typeface="Nunito Bold"/>
                          <a:ea typeface="Nunito Bold"/>
                          <a:cs typeface="Nunito Bold"/>
                          <a:sym typeface="Nunito Bold"/>
                        </a:rPr>
                        <a:t>Contribution</a:t>
                      </a:r>
                    </a:p>
                  </a:txBody>
                  <a:tcPr marL="82296" marR="82296" marT="45720" marB="45720" anchor="ctr">
                    <a:lnL w="12700" cap="flat" cmpd="sng" algn="ctr">
                      <a:solidFill>
                        <a:srgbClr val="4472C4"/>
                      </a:solidFill>
                      <a:prstDash val="solid"/>
                    </a:lnL>
                    <a:lnR w="12700" cap="flat" cmpd="sng" algn="ctr">
                      <a:solidFill>
                        <a:srgbClr val="4472C4"/>
                      </a:solidFill>
                      <a:prstDash val="solid"/>
                    </a:lnR>
                    <a:lnT w="12700" cap="flat" cmpd="sng" algn="ctr">
                      <a:solidFill>
                        <a:srgbClr val="4472C4"/>
                      </a:solidFill>
                      <a:prstDash val="solid"/>
                    </a:lnT>
                    <a:lnB w="12700" cap="flat" cmpd="sng" algn="ctr">
                      <a:solidFill>
                        <a:srgbClr val="4472C4"/>
                      </a:solidFill>
                      <a:prstDash val="solid"/>
                    </a:lnB>
                    <a:solidFill>
                      <a:srgbClr val="4472C4"/>
                    </a:solidFill>
                  </a:tcPr>
                </a:tc>
                <a:tc>
                  <a:txBody>
                    <a:bodyPr anchor="ctr" rtlCol="false" lIns="0" tIns="0" rIns="0" bIns="0" wrap="square"/>
                    <a:lstStyle/>
                    <a:p>
                      <a:pPr algn="l">
                        <a:lnSpc>
                          <a:spcPts val="2210"/>
                        </a:lnSpc>
                        <a:spcBef>
                          <a:spcPts val="0"/>
                        </a:spcBef>
                        <a:buNone/>
                      </a:pPr>
                      <a:r>
                        <a:rPr lang="en-US" sz="1700" b="true">
                          <a:solidFill>
                            <a:srgbClr val="FFFFFF"/>
                          </a:solidFill>
                          <a:latin typeface="Nunito Bold"/>
                          <a:ea typeface="Nunito Bold"/>
                          <a:cs typeface="Nunito Bold"/>
                          <a:sym typeface="Nunito Bold"/>
                        </a:rPr>
                        <a:t>Hardware</a:t>
                      </a:r>
                    </a:p>
                  </a:txBody>
                  <a:tcPr marL="82296" marR="82296" marT="45720" marB="45720" anchor="ctr">
                    <a:lnL w="12700" cap="flat" cmpd="sng" algn="ctr">
                      <a:solidFill>
                        <a:srgbClr val="4472C4"/>
                      </a:solidFill>
                      <a:prstDash val="solid"/>
                    </a:lnL>
                    <a:lnR w="12700" cap="flat" cmpd="sng" algn="ctr">
                      <a:solidFill>
                        <a:srgbClr val="4472C4"/>
                      </a:solidFill>
                      <a:prstDash val="solid"/>
                    </a:lnR>
                    <a:lnT w="12700" cap="flat" cmpd="sng" algn="ctr">
                      <a:solidFill>
                        <a:srgbClr val="4472C4"/>
                      </a:solidFill>
                      <a:prstDash val="solid"/>
                    </a:lnT>
                    <a:lnB w="12700" cap="flat" cmpd="sng" algn="ctr">
                      <a:solidFill>
                        <a:srgbClr val="4472C4"/>
                      </a:solidFill>
                      <a:prstDash val="solid"/>
                    </a:lnB>
                    <a:solidFill>
                      <a:srgbClr val="4472C4"/>
                    </a:solidFill>
                  </a:tcPr>
                </a:tc>
                <a:tc>
                  <a:txBody>
                    <a:bodyPr anchor="ctr" rtlCol="false" lIns="0" tIns="0" rIns="0" bIns="0" wrap="square"/>
                    <a:lstStyle/>
                    <a:p>
                      <a:pPr algn="l">
                        <a:lnSpc>
                          <a:spcPts val="2210"/>
                        </a:lnSpc>
                        <a:spcBef>
                          <a:spcPts val="0"/>
                        </a:spcBef>
                        <a:buNone/>
                      </a:pPr>
                      <a:r>
                        <a:rPr lang="en-US" sz="1700" b="true">
                          <a:solidFill>
                            <a:srgbClr val="FFFFFF"/>
                          </a:solidFill>
                          <a:latin typeface="Nunito Bold"/>
                          <a:ea typeface="Nunito Bold"/>
                          <a:cs typeface="Nunito Bold"/>
                          <a:sym typeface="Nunito Bold"/>
                        </a:rPr>
                        <a:t>CPU / GPU</a:t>
                      </a:r>
                    </a:p>
                  </a:txBody>
                  <a:tcPr marL="82296" marR="82296" marT="45720" marB="45720" anchor="ctr">
                    <a:lnL w="12700" cap="flat" cmpd="sng" algn="ctr">
                      <a:solidFill>
                        <a:srgbClr val="4472C4"/>
                      </a:solidFill>
                      <a:prstDash val="solid"/>
                    </a:lnL>
                    <a:lnR w="12700" cap="flat" cmpd="sng" algn="ctr">
                      <a:solidFill>
                        <a:srgbClr val="4472C4"/>
                      </a:solidFill>
                      <a:prstDash val="solid"/>
                    </a:lnR>
                    <a:lnT w="12700" cap="flat" cmpd="sng" algn="ctr">
                      <a:solidFill>
                        <a:srgbClr val="4472C4"/>
                      </a:solidFill>
                      <a:prstDash val="solid"/>
                    </a:lnT>
                    <a:lnB w="12700" cap="flat" cmpd="sng" algn="ctr">
                      <a:solidFill>
                        <a:srgbClr val="4472C4"/>
                      </a:solidFill>
                      <a:prstDash val="solid"/>
                    </a:lnB>
                    <a:solidFill>
                      <a:srgbClr val="4472C4"/>
                    </a:solidFill>
                  </a:tcPr>
                </a:tc>
                <a:tc>
                  <a:txBody>
                    <a:bodyPr anchor="ctr" rtlCol="false" lIns="0" tIns="0" rIns="0" bIns="0" wrap="square"/>
                    <a:lstStyle/>
                    <a:p>
                      <a:pPr algn="l">
                        <a:lnSpc>
                          <a:spcPts val="2210"/>
                        </a:lnSpc>
                        <a:spcBef>
                          <a:spcPts val="0"/>
                        </a:spcBef>
                        <a:buNone/>
                      </a:pPr>
                      <a:r>
                        <a:rPr lang="en-US" sz="1700" b="true">
                          <a:solidFill>
                            <a:srgbClr val="FFFFFF"/>
                          </a:solidFill>
                          <a:latin typeface="Nunito Bold"/>
                          <a:ea typeface="Nunito Bold"/>
                          <a:cs typeface="Nunito Bold"/>
                          <a:sym typeface="Nunito Bold"/>
                        </a:rPr>
                        <a:t>RAM</a:t>
                      </a:r>
                    </a:p>
                  </a:txBody>
                  <a:tcPr marL="82296" marR="82296" marT="45720" marB="45720" anchor="ctr">
                    <a:lnL w="12700" cap="flat" cmpd="sng" algn="ctr">
                      <a:solidFill>
                        <a:srgbClr val="4472C4"/>
                      </a:solidFill>
                      <a:prstDash val="solid"/>
                    </a:lnL>
                    <a:lnR w="12700" cap="flat" cmpd="sng" algn="ctr">
                      <a:solidFill>
                        <a:srgbClr val="4472C4"/>
                      </a:solidFill>
                      <a:prstDash val="solid"/>
                    </a:lnR>
                    <a:lnT w="12700" cap="flat" cmpd="sng" algn="ctr">
                      <a:solidFill>
                        <a:srgbClr val="4472C4"/>
                      </a:solidFill>
                      <a:prstDash val="solid"/>
                    </a:lnT>
                    <a:lnB w="12700" cap="flat" cmpd="sng" algn="ctr">
                      <a:solidFill>
                        <a:srgbClr val="4472C4"/>
                      </a:solidFill>
                      <a:prstDash val="solid"/>
                    </a:lnB>
                    <a:solidFill>
                      <a:srgbClr val="4472C4"/>
                    </a:solidFill>
                  </a:tcPr>
                </a:tc>
                <a:tc>
                  <a:txBody>
                    <a:bodyPr anchor="ctr" rtlCol="false" lIns="0" tIns="0" rIns="0" bIns="0" wrap="square"/>
                    <a:lstStyle/>
                    <a:p>
                      <a:pPr algn="l">
                        <a:lnSpc>
                          <a:spcPts val="2210"/>
                        </a:lnSpc>
                        <a:spcBef>
                          <a:spcPts val="0"/>
                        </a:spcBef>
                        <a:buNone/>
                      </a:pPr>
                      <a:r>
                        <a:rPr lang="en-US" sz="1700" b="true">
                          <a:solidFill>
                            <a:srgbClr val="FFFFFF"/>
                          </a:solidFill>
                          <a:latin typeface="Nunito Bold"/>
                          <a:ea typeface="Nunito Bold"/>
                          <a:cs typeface="Nunito Bold"/>
                          <a:sym typeface="Nunito Bold"/>
                        </a:rPr>
                        <a:t>Storage</a:t>
                      </a:r>
                    </a:p>
                  </a:txBody>
                  <a:tcPr marL="82296" marR="82296" marT="45720" marB="45720" anchor="ctr">
                    <a:lnL w="12700" cap="flat" cmpd="sng" algn="ctr">
                      <a:solidFill>
                        <a:srgbClr val="4472C4"/>
                      </a:solidFill>
                      <a:prstDash val="solid"/>
                    </a:lnL>
                    <a:lnR w="12700" cap="flat" cmpd="sng" algn="ctr">
                      <a:solidFill>
                        <a:srgbClr val="4472C4"/>
                      </a:solidFill>
                      <a:prstDash val="solid"/>
                    </a:lnR>
                    <a:lnT w="12700" cap="flat" cmpd="sng" algn="ctr">
                      <a:solidFill>
                        <a:srgbClr val="4472C4"/>
                      </a:solidFill>
                      <a:prstDash val="solid"/>
                    </a:lnT>
                    <a:lnB w="12700" cap="flat" cmpd="sng" algn="ctr">
                      <a:solidFill>
                        <a:srgbClr val="4472C4"/>
                      </a:solidFill>
                      <a:prstDash val="solid"/>
                    </a:lnB>
                    <a:solidFill>
                      <a:srgbClr val="4472C4"/>
                    </a:solidFill>
                  </a:tcPr>
                </a:tc>
                <a:tc>
                  <a:txBody>
                    <a:bodyPr anchor="ctr" rtlCol="false" lIns="0" tIns="0" rIns="0" bIns="0" wrap="square"/>
                    <a:lstStyle/>
                    <a:p>
                      <a:pPr algn="l">
                        <a:lnSpc>
                          <a:spcPts val="2210"/>
                        </a:lnSpc>
                        <a:spcBef>
                          <a:spcPts val="0"/>
                        </a:spcBef>
                        <a:buNone/>
                      </a:pPr>
                      <a:r>
                        <a:rPr lang="en-US" sz="1700" b="true">
                          <a:solidFill>
                            <a:srgbClr val="FFFFFF"/>
                          </a:solidFill>
                          <a:latin typeface="Nunito Bold"/>
                          <a:ea typeface="Nunito Bold"/>
                          <a:cs typeface="Nunito Bold"/>
                          <a:sym typeface="Nunito Bold"/>
                        </a:rPr>
                        <a:t>Main software</a:t>
                      </a:r>
                    </a:p>
                  </a:txBody>
                  <a:tcPr marL="82296" marR="82296" marT="45720" marB="45720" anchor="ctr">
                    <a:lnL w="12700" cap="flat" cmpd="sng" algn="ctr">
                      <a:solidFill>
                        <a:srgbClr val="4472C4"/>
                      </a:solidFill>
                      <a:prstDash val="solid"/>
                    </a:lnL>
                    <a:lnR w="12700" cap="flat" cmpd="sng" algn="ctr">
                      <a:solidFill>
                        <a:srgbClr val="4472C4"/>
                      </a:solidFill>
                      <a:prstDash val="solid"/>
                    </a:lnR>
                    <a:lnT w="12700" cap="flat" cmpd="sng" algn="ctr">
                      <a:solidFill>
                        <a:srgbClr val="4472C4"/>
                      </a:solidFill>
                      <a:prstDash val="solid"/>
                    </a:lnT>
                    <a:lnB w="12700" cap="flat" cmpd="sng" algn="ctr">
                      <a:solidFill>
                        <a:srgbClr val="4472C4"/>
                      </a:solidFill>
                      <a:prstDash val="solid"/>
                    </a:lnB>
                    <a:solidFill>
                      <a:srgbClr val="4472C4"/>
                    </a:solidFill>
                  </a:tcPr>
                </a:tc>
              </a:tr>
              <a:tr h="777240">
                <a:tc>
                  <a:txBody>
                    <a:bodyPr anchor="ctr" rtlCol="false" lIns="0" tIns="0" rIns="0" bIns="0" wrap="square"/>
                    <a:lstStyle/>
                    <a:p>
                      <a:pPr algn="l">
                        <a:lnSpc>
                          <a:spcPts val="2210"/>
                        </a:lnSpc>
                        <a:spcBef>
                          <a:spcPts val="0"/>
                        </a:spcBef>
                        <a:buNone/>
                      </a:pPr>
                      <a:r>
                        <a:rPr lang="en-US" sz="1700" b="true">
                          <a:solidFill>
                            <a:srgbClr val="111111"/>
                          </a:solidFill>
                          <a:latin typeface="Nunito Bold"/>
                          <a:ea typeface="Nunito Bold"/>
                          <a:cs typeface="Nunito Bold"/>
                          <a:sym typeface="Nunito Bold"/>
                        </a:rPr>
                        <a:t>I  ·  Wine clustering</a:t>
                      </a:r>
                    </a:p>
                  </a:txBody>
                  <a:tcPr marL="82296" marR="82296"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c>
                  <a:txBody>
                    <a:bodyPr anchor="ctr" rtlCol="false" lIns="0" tIns="0" rIns="0" bIns="0" wrap="square"/>
                    <a:lstStyle/>
                    <a:p>
                      <a:pPr algn="l">
                        <a:lnSpc>
                          <a:spcPts val="2210"/>
                        </a:lnSpc>
                        <a:spcBef>
                          <a:spcPts val="0"/>
                        </a:spcBef>
                        <a:buNone/>
                      </a:pPr>
                      <a:r>
                        <a:rPr lang="en-US" sz="1700" b="true">
                          <a:solidFill>
                            <a:srgbClr val="111111"/>
                          </a:solidFill>
                          <a:latin typeface="Nunito Semi-Bold"/>
                          <a:ea typeface="Nunito Semi-Bold"/>
                          <a:cs typeface="Nunito Semi-Bold"/>
                          <a:sym typeface="Nunito Semi-Bold"/>
                        </a:rPr>
                        <a:t>Workstation</a:t>
                      </a:r>
                    </a:p>
                  </a:txBody>
                  <a:tcPr marL="82296" marR="82296"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c>
                  <a:txBody>
                    <a:bodyPr anchor="ctr" rtlCol="false" lIns="0" tIns="0" rIns="0" bIns="0" wrap="square"/>
                    <a:lstStyle/>
                    <a:p>
                      <a:pPr algn="l">
                        <a:lnSpc>
                          <a:spcPts val="2210"/>
                        </a:lnSpc>
                        <a:spcBef>
                          <a:spcPts val="0"/>
                        </a:spcBef>
                        <a:buNone/>
                      </a:pPr>
                      <a:r>
                        <a:rPr lang="en-US" sz="1700" b="true">
                          <a:solidFill>
                            <a:srgbClr val="111111"/>
                          </a:solidFill>
                          <a:latin typeface="Nunito Semi-Bold"/>
                          <a:ea typeface="Nunito Semi-Bold"/>
                          <a:cs typeface="Nunito Semi-Bold"/>
                          <a:sym typeface="Nunito Semi-Bold"/>
                        </a:rPr>
                        <a:t>Intel Core i9-14900K (24 cores)</a:t>
                      </a:r>
                    </a:p>
                  </a:txBody>
                  <a:tcPr marL="82296" marR="82296"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c>
                  <a:txBody>
                    <a:bodyPr anchor="ctr" rtlCol="false" lIns="0" tIns="0" rIns="0" bIns="0" wrap="square"/>
                    <a:lstStyle/>
                    <a:p>
                      <a:pPr algn="l">
                        <a:lnSpc>
                          <a:spcPts val="2210"/>
                        </a:lnSpc>
                        <a:spcBef>
                          <a:spcPts val="0"/>
                        </a:spcBef>
                        <a:buNone/>
                      </a:pPr>
                      <a:r>
                        <a:rPr lang="en-US" sz="1700" b="true">
                          <a:solidFill>
                            <a:srgbClr val="111111"/>
                          </a:solidFill>
                          <a:latin typeface="Nunito Semi-Bold"/>
                          <a:ea typeface="Nunito Semi-Bold"/>
                          <a:cs typeface="Nunito Semi-Bold"/>
                          <a:sym typeface="Nunito Semi-Bold"/>
                        </a:rPr>
                        <a:t>48 GB</a:t>
                      </a:r>
                    </a:p>
                  </a:txBody>
                  <a:tcPr marL="82296" marR="82296"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c>
                  <a:txBody>
                    <a:bodyPr anchor="ctr" rtlCol="false" lIns="0" tIns="0" rIns="0" bIns="0" wrap="square"/>
                    <a:lstStyle/>
                    <a:p>
                      <a:pPr algn="l">
                        <a:lnSpc>
                          <a:spcPts val="2210"/>
                        </a:lnSpc>
                        <a:spcBef>
                          <a:spcPts val="0"/>
                        </a:spcBef>
                        <a:buNone/>
                      </a:pPr>
                      <a:r>
                        <a:rPr lang="en-US" sz="1700" b="true">
                          <a:solidFill>
                            <a:srgbClr val="111111"/>
                          </a:solidFill>
                          <a:latin typeface="Nunito Semi-Bold"/>
                          <a:ea typeface="Nunito Semi-Bold"/>
                          <a:cs typeface="Nunito Semi-Bold"/>
                          <a:sym typeface="Nunito Semi-Bold"/>
                        </a:rPr>
                        <a:t>2 TB SSD</a:t>
                      </a:r>
                    </a:p>
                  </a:txBody>
                  <a:tcPr marL="82296" marR="82296"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c>
                  <a:txBody>
                    <a:bodyPr anchor="ctr" rtlCol="false" lIns="0" tIns="0" rIns="0" bIns="0" wrap="square"/>
                    <a:lstStyle/>
                    <a:p>
                      <a:pPr algn="l">
                        <a:lnSpc>
                          <a:spcPts val="2210"/>
                        </a:lnSpc>
                        <a:spcBef>
                          <a:spcPts val="0"/>
                        </a:spcBef>
                        <a:buNone/>
                      </a:pPr>
                      <a:r>
                        <a:rPr lang="en-US" sz="1700" b="true">
                          <a:solidFill>
                            <a:srgbClr val="111111"/>
                          </a:solidFill>
                          <a:latin typeface="Nunito Semi-Bold"/>
                          <a:ea typeface="Nunito Semi-Bold"/>
                          <a:cs typeface="Nunito Semi-Bold"/>
                          <a:sym typeface="Nunito Semi-Bold"/>
                        </a:rPr>
                        <a:t>scikit-learn, LightGBM, SHAP, Altair</a:t>
                      </a:r>
                    </a:p>
                  </a:txBody>
                  <a:tcPr marL="82296" marR="82296"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r>
              <a:tr h="777240">
                <a:tc>
                  <a:txBody>
                    <a:bodyPr anchor="ctr" rtlCol="false" lIns="0" tIns="0" rIns="0" bIns="0" wrap="square"/>
                    <a:lstStyle/>
                    <a:p>
                      <a:pPr algn="l">
                        <a:lnSpc>
                          <a:spcPts val="2210"/>
                        </a:lnSpc>
                        <a:spcBef>
                          <a:spcPts val="0"/>
                        </a:spcBef>
                        <a:buNone/>
                      </a:pPr>
                      <a:r>
                        <a:rPr lang="en-US" sz="1700" b="true">
                          <a:solidFill>
                            <a:srgbClr val="111111"/>
                          </a:solidFill>
                          <a:latin typeface="Nunito Bold"/>
                          <a:ea typeface="Nunito Bold"/>
                          <a:cs typeface="Nunito Bold"/>
                          <a:sym typeface="Nunito Bold"/>
                        </a:rPr>
                        <a:t>II  ·  Beijing multi-level</a:t>
                      </a:r>
                    </a:p>
                  </a:txBody>
                  <a:tcPr marL="82296" marR="82296"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6ECDF"/>
                    </a:solidFill>
                  </a:tcPr>
                </a:tc>
                <a:tc>
                  <a:txBody>
                    <a:bodyPr anchor="ctr" rtlCol="false" lIns="0" tIns="0" rIns="0" bIns="0" wrap="square"/>
                    <a:lstStyle/>
                    <a:p>
                      <a:pPr algn="l">
                        <a:lnSpc>
                          <a:spcPts val="2210"/>
                        </a:lnSpc>
                        <a:spcBef>
                          <a:spcPts val="0"/>
                        </a:spcBef>
                        <a:buNone/>
                      </a:pPr>
                      <a:r>
                        <a:rPr lang="en-US" sz="1700" b="true">
                          <a:solidFill>
                            <a:srgbClr val="111111"/>
                          </a:solidFill>
                          <a:latin typeface="Nunito Semi-Bold"/>
                          <a:ea typeface="Nunito Semi-Bold"/>
                          <a:cs typeface="Nunito Semi-Bold"/>
                          <a:sym typeface="Nunito Semi-Bold"/>
                        </a:rPr>
                        <a:t>Workstation</a:t>
                      </a:r>
                    </a:p>
                  </a:txBody>
                  <a:tcPr marL="82296" marR="82296"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6ECDF"/>
                    </a:solidFill>
                  </a:tcPr>
                </a:tc>
                <a:tc>
                  <a:txBody>
                    <a:bodyPr anchor="ctr" rtlCol="false" lIns="0" tIns="0" rIns="0" bIns="0" wrap="square"/>
                    <a:lstStyle/>
                    <a:p>
                      <a:pPr algn="l">
                        <a:lnSpc>
                          <a:spcPts val="2210"/>
                        </a:lnSpc>
                        <a:spcBef>
                          <a:spcPts val="0"/>
                        </a:spcBef>
                        <a:buNone/>
                      </a:pPr>
                      <a:r>
                        <a:rPr lang="en-US" sz="1700" b="true">
                          <a:solidFill>
                            <a:srgbClr val="111111"/>
                          </a:solidFill>
                          <a:latin typeface="Nunito Semi-Bold"/>
                          <a:ea typeface="Nunito Semi-Bold"/>
                          <a:cs typeface="Nunito Semi-Bold"/>
                          <a:sym typeface="Nunito Semi-Bold"/>
                        </a:rPr>
                        <a:t>Intel Core i9-14900K (24 cores)</a:t>
                      </a:r>
                    </a:p>
                  </a:txBody>
                  <a:tcPr marL="82296" marR="82296"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6ECDF"/>
                    </a:solidFill>
                  </a:tcPr>
                </a:tc>
                <a:tc>
                  <a:txBody>
                    <a:bodyPr anchor="ctr" rtlCol="false" lIns="0" tIns="0" rIns="0" bIns="0" wrap="square"/>
                    <a:lstStyle/>
                    <a:p>
                      <a:pPr algn="l">
                        <a:lnSpc>
                          <a:spcPts val="2210"/>
                        </a:lnSpc>
                        <a:spcBef>
                          <a:spcPts val="0"/>
                        </a:spcBef>
                        <a:buNone/>
                      </a:pPr>
                      <a:r>
                        <a:rPr lang="en-US" sz="1700" b="true">
                          <a:solidFill>
                            <a:srgbClr val="111111"/>
                          </a:solidFill>
                          <a:latin typeface="Nunito Semi-Bold"/>
                          <a:ea typeface="Nunito Semi-Bold"/>
                          <a:cs typeface="Nunito Semi-Bold"/>
                          <a:sym typeface="Nunito Semi-Bold"/>
                        </a:rPr>
                        <a:t>48 GB (full dataset in memory)</a:t>
                      </a:r>
                    </a:p>
                  </a:txBody>
                  <a:tcPr marL="82296" marR="82296"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6ECDF"/>
                    </a:solidFill>
                  </a:tcPr>
                </a:tc>
                <a:tc>
                  <a:txBody>
                    <a:bodyPr anchor="ctr" rtlCol="false" lIns="0" tIns="0" rIns="0" bIns="0" wrap="square"/>
                    <a:lstStyle/>
                    <a:p>
                      <a:pPr algn="l">
                        <a:lnSpc>
                          <a:spcPts val="2210"/>
                        </a:lnSpc>
                        <a:spcBef>
                          <a:spcPts val="0"/>
                        </a:spcBef>
                        <a:buNone/>
                      </a:pPr>
                      <a:r>
                        <a:rPr lang="en-US" sz="1700" b="true">
                          <a:solidFill>
                            <a:srgbClr val="111111"/>
                          </a:solidFill>
                          <a:latin typeface="Nunito Semi-Bold"/>
                          <a:ea typeface="Nunito Semi-Bold"/>
                          <a:cs typeface="Nunito Semi-Bold"/>
                          <a:sym typeface="Nunito Semi-Bold"/>
                        </a:rPr>
                        <a:t>2 TB SSD</a:t>
                      </a:r>
                    </a:p>
                  </a:txBody>
                  <a:tcPr marL="82296" marR="82296"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6ECDF"/>
                    </a:solidFill>
                  </a:tcPr>
                </a:tc>
                <a:tc>
                  <a:txBody>
                    <a:bodyPr anchor="ctr" rtlCol="false" lIns="0" tIns="0" rIns="0" bIns="0" wrap="square"/>
                    <a:lstStyle/>
                    <a:p>
                      <a:pPr algn="l">
                        <a:lnSpc>
                          <a:spcPts val="2210"/>
                        </a:lnSpc>
                        <a:spcBef>
                          <a:spcPts val="0"/>
                        </a:spcBef>
                        <a:buNone/>
                      </a:pPr>
                      <a:r>
                        <a:rPr lang="en-US" sz="1700" b="true">
                          <a:solidFill>
                            <a:srgbClr val="111111"/>
                          </a:solidFill>
                          <a:latin typeface="Nunito Semi-Bold"/>
                          <a:ea typeface="Nunito Semi-Bold"/>
                          <a:cs typeface="Nunito Semi-Bold"/>
                          <a:sym typeface="Nunito Semi-Bold"/>
                        </a:rPr>
                        <a:t>scikit-learn, LightGBM, SHAP</a:t>
                      </a:r>
                    </a:p>
                  </a:txBody>
                  <a:tcPr marL="82296" marR="82296"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6ECDF"/>
                    </a:solidFill>
                  </a:tcPr>
                </a:tc>
              </a:tr>
              <a:tr h="777240">
                <a:tc>
                  <a:txBody>
                    <a:bodyPr anchor="ctr" rtlCol="false" lIns="0" tIns="0" rIns="0" bIns="0" wrap="square"/>
                    <a:lstStyle/>
                    <a:p>
                      <a:pPr algn="l">
                        <a:lnSpc>
                          <a:spcPts val="2210"/>
                        </a:lnSpc>
                        <a:spcBef>
                          <a:spcPts val="0"/>
                        </a:spcBef>
                        <a:buNone/>
                      </a:pPr>
                      <a:r>
                        <a:rPr lang="en-US" sz="1700" b="true">
                          <a:solidFill>
                            <a:srgbClr val="111111"/>
                          </a:solidFill>
                          <a:latin typeface="Nunito Bold"/>
                          <a:ea typeface="Nunito Bold"/>
                          <a:cs typeface="Nunito Bold"/>
                          <a:sym typeface="Nunito Bold"/>
                        </a:rPr>
                        <a:t>III  ·  DyHuCoG</a:t>
                      </a:r>
                    </a:p>
                  </a:txBody>
                  <a:tcPr marL="82296" marR="82296"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c>
                  <a:txBody>
                    <a:bodyPr anchor="ctr" rtlCol="false" lIns="0" tIns="0" rIns="0" bIns="0" wrap="square"/>
                    <a:lstStyle/>
                    <a:p>
                      <a:pPr algn="l">
                        <a:lnSpc>
                          <a:spcPts val="2210"/>
                        </a:lnSpc>
                        <a:spcBef>
                          <a:spcPts val="0"/>
                        </a:spcBef>
                        <a:buNone/>
                      </a:pPr>
                      <a:r>
                        <a:rPr lang="en-US" sz="1700" b="true">
                          <a:solidFill>
                            <a:srgbClr val="111111"/>
                          </a:solidFill>
                          <a:latin typeface="Nunito Semi-Bold"/>
                          <a:ea typeface="Nunito Semi-Bold"/>
                          <a:cs typeface="Nunito Semi-Bold"/>
                          <a:sym typeface="Nunito Semi-Bold"/>
                        </a:rPr>
                        <a:t>Workstation + GPU</a:t>
                      </a:r>
                    </a:p>
                  </a:txBody>
                  <a:tcPr marL="82296" marR="82296"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c>
                  <a:txBody>
                    <a:bodyPr anchor="ctr" rtlCol="false" lIns="0" tIns="0" rIns="0" bIns="0" wrap="square"/>
                    <a:lstStyle/>
                    <a:p>
                      <a:pPr algn="l">
                        <a:lnSpc>
                          <a:spcPts val="2210"/>
                        </a:lnSpc>
                        <a:spcBef>
                          <a:spcPts val="0"/>
                        </a:spcBef>
                        <a:buNone/>
                      </a:pPr>
                      <a:r>
                        <a:rPr lang="en-US" sz="1700" b="true">
                          <a:solidFill>
                            <a:srgbClr val="111111"/>
                          </a:solidFill>
                          <a:latin typeface="Nunito Semi-Bold"/>
                          <a:ea typeface="Nunito Semi-Bold"/>
                          <a:cs typeface="Nunito Semi-Bold"/>
                          <a:sym typeface="Nunito Semi-Bold"/>
                        </a:rPr>
                        <a:t>NVIDIA GeForce RTX 4090 (24 GB)</a:t>
                      </a:r>
                    </a:p>
                  </a:txBody>
                  <a:tcPr marL="82296" marR="82296"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c>
                  <a:txBody>
                    <a:bodyPr anchor="ctr" rtlCol="false" lIns="0" tIns="0" rIns="0" bIns="0" wrap="square"/>
                    <a:lstStyle/>
                    <a:p>
                      <a:pPr algn="l">
                        <a:lnSpc>
                          <a:spcPts val="2210"/>
                        </a:lnSpc>
                        <a:spcBef>
                          <a:spcPts val="0"/>
                        </a:spcBef>
                        <a:buNone/>
                      </a:pPr>
                      <a:r>
                        <a:rPr lang="en-US" sz="1700" b="true">
                          <a:solidFill>
                            <a:srgbClr val="111111"/>
                          </a:solidFill>
                          <a:latin typeface="Nunito Semi-Bold"/>
                          <a:ea typeface="Nunito Semi-Bold"/>
                          <a:cs typeface="Nunito Semi-Bold"/>
                          <a:sym typeface="Nunito Semi-Bold"/>
                        </a:rPr>
                        <a:t>48 GB</a:t>
                      </a:r>
                    </a:p>
                  </a:txBody>
                  <a:tcPr marL="82296" marR="82296"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c>
                  <a:txBody>
                    <a:bodyPr anchor="ctr" rtlCol="false" lIns="0" tIns="0" rIns="0" bIns="0" wrap="square"/>
                    <a:lstStyle/>
                    <a:p>
                      <a:pPr algn="l">
                        <a:lnSpc>
                          <a:spcPts val="2210"/>
                        </a:lnSpc>
                        <a:spcBef>
                          <a:spcPts val="0"/>
                        </a:spcBef>
                        <a:buNone/>
                      </a:pPr>
                      <a:r>
                        <a:rPr lang="en-US" sz="1700" b="true">
                          <a:solidFill>
                            <a:srgbClr val="111111"/>
                          </a:solidFill>
                          <a:latin typeface="Nunito Semi-Bold"/>
                          <a:ea typeface="Nunito Semi-Bold"/>
                          <a:cs typeface="Nunito Semi-Bold"/>
                          <a:sym typeface="Nunito Semi-Bold"/>
                        </a:rPr>
                        <a:t>2 TB SSD</a:t>
                      </a:r>
                    </a:p>
                  </a:txBody>
                  <a:tcPr marL="82296" marR="82296"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c>
                  <a:txBody>
                    <a:bodyPr anchor="ctr" rtlCol="false" lIns="0" tIns="0" rIns="0" bIns="0" wrap="square"/>
                    <a:lstStyle/>
                    <a:p>
                      <a:pPr algn="l">
                        <a:lnSpc>
                          <a:spcPts val="2210"/>
                        </a:lnSpc>
                        <a:spcBef>
                          <a:spcPts val="0"/>
                        </a:spcBef>
                        <a:buNone/>
                      </a:pPr>
                      <a:r>
                        <a:rPr lang="en-US" sz="1700" b="true">
                          <a:solidFill>
                            <a:srgbClr val="111111"/>
                          </a:solidFill>
                          <a:latin typeface="Nunito Semi-Bold"/>
                          <a:ea typeface="Nunito Semi-Bold"/>
                          <a:cs typeface="Nunito Semi-Bold"/>
                          <a:sym typeface="Nunito Semi-Bold"/>
                        </a:rPr>
                        <a:t>Python 3.8, PyTorch 2.0.1, NumPy / SciPy</a:t>
                      </a:r>
                    </a:p>
                  </a:txBody>
                  <a:tcPr marL="82296" marR="82296"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r>
            </a:tbl>
          </a:graphicData>
        </a:graphic>
      </p:graphicFrame>
      <p:sp>
        <p:nvSpPr>
          <p:cNvPr id="25" name="TextBox 24"/>
          <p:cNvSpPr txBox="1"/>
          <p:nvPr/>
        </p:nvSpPr>
        <p:spPr>
          <a:xfrm>
            <a:off x="1028700" y="6545834"/>
            <a:ext cx="16230600" cy="411480"/>
          </a:xfrm>
          <a:prstGeom prst="rect">
            <a:avLst/>
          </a:prstGeom>
          <a:noFill/>
        </p:spPr>
        <p:txBody>
          <a:bodyPr anchor="t" rtlCol="false" lIns="0" tIns="0" rIns="0" bIns="0" wrap="square"/>
          <a:lstStyle/>
          <a:p>
            <a:pPr algn="l">
              <a:lnSpc>
                <a:spcPts val="1700"/>
              </a:lnSpc>
              <a:spcBef>
                <a:spcPts val="0"/>
              </a:spcBef>
              <a:buNone/>
            </a:pPr>
            <a:r>
              <a:rPr lang="en-US" sz="1300" b="true">
                <a:solidFill>
                  <a:srgbClr val="8A8378"/>
                </a:solidFill>
                <a:latin typeface="Nunito Semi-Bold"/>
                <a:ea typeface="Nunito Semi-Bold"/>
                <a:cs typeface="Nunito Semi-Bold"/>
                <a:sym typeface="Nunito Semi-Bold"/>
              </a:rPr>
              <a:t>Table 4.2 (thesis): hardware and software configuration, arranged here by contribution.</a:t>
            </a:r>
          </a:p>
        </p:txBody>
      </p:sp>
      <p:sp>
        <p:nvSpPr>
          <p:cNvPr id="26" name="Rounded Rectangle 25"/>
          <p:cNvSpPr/>
          <p:nvPr/>
        </p:nvSpPr>
        <p:spPr>
          <a:xfrm>
            <a:off x="1028700" y="7249922"/>
            <a:ext cx="7932420" cy="1967230"/>
          </a:xfrm>
          <a:prstGeom prst="roundRect">
            <a:avLst>
              <a:gd name="adj" fmla="val 15803"/>
            </a:avLst>
          </a:prstGeom>
          <a:solidFill>
            <a:srgbClr val="4472C4"/>
          </a:solidFill>
          <a:ln>
            <a:noFill/>
          </a:ln>
        </p:spPr>
        <p:txBody>
          <a:bodyPr anchor="ctr" rtlCol="false" lIns="0" tIns="0" rIns="0" bIns="0" wrap="square"/>
          <a:lstStyle/>
          <a:p>
            <a:endParaRPr lang="en-US" sz="1800"/>
          </a:p>
        </p:txBody>
      </p:sp>
      <p:sp>
        <p:nvSpPr>
          <p:cNvPr id="27" name="Rounded Rectangle 26"/>
          <p:cNvSpPr/>
          <p:nvPr/>
        </p:nvSpPr>
        <p:spPr>
          <a:xfrm>
            <a:off x="1485900" y="7012178"/>
            <a:ext cx="2678309" cy="438912"/>
          </a:xfrm>
          <a:prstGeom prst="roundRect">
            <a:avLst>
              <a:gd name="adj" fmla="val 50000"/>
            </a:avLst>
          </a:prstGeom>
          <a:solidFill>
            <a:srgbClr val="FFFFFF"/>
          </a:solidFill>
          <a:ln w="28575">
            <a:solidFill>
              <a:srgbClr val="FFFFFF"/>
            </a:solidFill>
          </a:ln>
        </p:spPr>
        <p:txBody>
          <a:bodyPr anchor="ctr" rtlCol="false" lIns="45720" tIns="0" rIns="45720" bIns="0" wrap="square"/>
          <a:lstStyle/>
          <a:p>
            <a:pPr algn="ctr">
              <a:lnSpc>
                <a:spcPts val="2640"/>
              </a:lnSpc>
              <a:spcBef>
                <a:spcPts val="0"/>
              </a:spcBef>
              <a:buNone/>
            </a:pPr>
            <a:r>
              <a:rPr lang="en-US" sz="2200" b="true">
                <a:solidFill>
                  <a:srgbClr val="4472C4"/>
                </a:solidFill>
                <a:latin typeface="Nunito Bold"/>
                <a:ea typeface="Nunito Bold"/>
                <a:cs typeface="Nunito Bold"/>
                <a:sym typeface="Nunito Bold"/>
              </a:rPr>
              <a:t>Why it matters</a:t>
            </a:r>
          </a:p>
        </p:txBody>
      </p:sp>
      <p:sp>
        <p:nvSpPr>
          <p:cNvPr id="28" name="TextBox 27"/>
          <p:cNvSpPr txBox="1"/>
          <p:nvPr/>
        </p:nvSpPr>
        <p:spPr>
          <a:xfrm>
            <a:off x="1485900" y="7798562"/>
            <a:ext cx="7063740" cy="1235710"/>
          </a:xfrm>
          <a:prstGeom prst="rect">
            <a:avLst/>
          </a:prstGeom>
          <a:noFill/>
        </p:spPr>
        <p:txBody>
          <a:bodyPr anchor="t" rtlCol="false" lIns="0" tIns="0" rIns="0" bIns="0" wrap="square"/>
          <a:lstStyle/>
          <a:p>
            <a:pPr algn="l" marL="274320" indent="-274320">
              <a:lnSpc>
                <a:spcPts val="2166"/>
              </a:lnSpc>
              <a:spcBef>
                <a:spcPts val="0"/>
              </a:spcBef>
              <a:buClr>
                <a:srgbClr val="ECC665"/>
              </a:buClr>
              <a:buSzPct val="100000"/>
              <a:buFont typeface="Arial"/>
              <a:buChar char="•"/>
            </a:pPr>
            <a:r>
              <a:rPr lang="en-US" sz="1547" b="true">
                <a:solidFill>
                  <a:srgbClr val="FFFFFF"/>
                </a:solidFill>
                <a:latin typeface="Nunito Semi-Bold"/>
                <a:ea typeface="Nunito Semi-Bold"/>
                <a:cs typeface="Nunito Semi-Bold"/>
                <a:sym typeface="Nunito Semi-Bold"/>
              </a:rPr>
              <a:t>The hardware explains the </a:t>
            </a:r>
            <a:r>
              <a:rPr lang="en-US" sz="1547" b="true">
                <a:solidFill>
                  <a:srgbClr val="FFFFFF"/>
                </a:solidFill>
                <a:latin typeface="Nunito Bold"/>
                <a:ea typeface="Nunito Bold"/>
                <a:cs typeface="Nunito Bold"/>
                <a:sym typeface="Nunito Bold"/>
              </a:rPr>
              <a:t>runtime figures</a:t>
            </a:r>
            <a:r>
              <a:rPr lang="en-US" sz="1547" b="true">
                <a:solidFill>
                  <a:srgbClr val="FFFFFF"/>
                </a:solidFill>
                <a:latin typeface="Nunito Semi-Bold"/>
                <a:ea typeface="Nunito Semi-Bold"/>
                <a:cs typeface="Nunito Semi-Bold"/>
                <a:sym typeface="Nunito Semi-Bold"/>
              </a:rPr>
              <a:t> quoted later (DyHuCoG ≈ 1.78× HPCF training time on MovieLens-1M).</a:t>
            </a:r>
          </a:p>
          <a:p>
            <a:pPr algn="l" marL="274320" indent="-274320">
              <a:lnSpc>
                <a:spcPts val="2166"/>
              </a:lnSpc>
              <a:spcBef>
                <a:spcPts val="546"/>
              </a:spcBef>
              <a:buClr>
                <a:srgbClr val="ECC665"/>
              </a:buClr>
              <a:buSzPct val="100000"/>
              <a:buFont typeface="Arial"/>
              <a:buChar char="•"/>
            </a:pPr>
            <a:r>
              <a:rPr lang="en-US" sz="1547" b="true">
                <a:solidFill>
                  <a:srgbClr val="FFFFFF"/>
                </a:solidFill>
                <a:latin typeface="Nunito Semi-Bold"/>
                <a:ea typeface="Nunito Semi-Bold"/>
                <a:cs typeface="Nunito Semi-Bold"/>
                <a:sym typeface="Nunito Semi-Bold"/>
              </a:rPr>
              <a:t>Metrics at K </a:t>
            </a:r>
            <a:r>
              <a:rPr lang="en-US" sz="1547" b="true">
                <a:solidFill>
                  <a:srgbClr val="FFFFFF"/>
                </a:solidFill>
                <a:latin typeface="Cambria Math"/>
                <a:ea typeface="Cambria Math"/>
                <a:cs typeface="Cambria Math"/>
                <a:sym typeface="Cambria Math"/>
              </a:rPr>
              <a:t>∈ </a:t>
            </a:r>
            <a:r>
              <a:rPr lang="en-US" sz="1547" b="true">
                <a:solidFill>
                  <a:srgbClr val="FFFFFF"/>
                </a:solidFill>
                <a:latin typeface="Nunito Semi-Bold"/>
                <a:ea typeface="Nunito Semi-Bold"/>
                <a:cs typeface="Nunito Semi-Bold"/>
                <a:sym typeface="Nunito Semi-Bold"/>
              </a:rPr>
              <a:t>{5, 10, 20}; five seeds; early stopping on validation NDCG@20.</a:t>
            </a:r>
          </a:p>
        </p:txBody>
      </p:sp>
      <p:sp>
        <p:nvSpPr>
          <p:cNvPr id="29" name="Rounded Rectangle 28"/>
          <p:cNvSpPr/>
          <p:nvPr/>
        </p:nvSpPr>
        <p:spPr>
          <a:xfrm>
            <a:off x="9326880" y="7249922"/>
            <a:ext cx="7932420" cy="1967230"/>
          </a:xfrm>
          <a:prstGeom prst="roundRect">
            <a:avLst>
              <a:gd name="adj" fmla="val 15803"/>
            </a:avLst>
          </a:prstGeom>
          <a:solidFill>
            <a:srgbClr val="F6ECDF"/>
          </a:solidFill>
          <a:ln>
            <a:noFill/>
          </a:ln>
        </p:spPr>
        <p:txBody>
          <a:bodyPr anchor="ctr" rtlCol="false" lIns="0" tIns="0" rIns="0" bIns="0" wrap="square"/>
          <a:lstStyle/>
          <a:p>
            <a:endParaRPr lang="en-US" sz="1800"/>
          </a:p>
        </p:txBody>
      </p:sp>
      <p:sp>
        <p:nvSpPr>
          <p:cNvPr id="30" name="Rounded Rectangle 29"/>
          <p:cNvSpPr/>
          <p:nvPr/>
        </p:nvSpPr>
        <p:spPr>
          <a:xfrm>
            <a:off x="9784080" y="7012178"/>
            <a:ext cx="1470201" cy="438912"/>
          </a:xfrm>
          <a:prstGeom prst="roundRect">
            <a:avLst>
              <a:gd name="adj" fmla="val 50000"/>
            </a:avLst>
          </a:prstGeom>
          <a:solidFill>
            <a:srgbClr val="4472C4"/>
          </a:solidFill>
          <a:ln w="28575">
            <a:solidFill>
              <a:srgbClr val="4472C4"/>
            </a:solidFill>
          </a:ln>
        </p:spPr>
        <p:txBody>
          <a:bodyPr anchor="ctr" rtlCol="false" lIns="45720" tIns="0" rIns="45720" bIns="0" wrap="square"/>
          <a:lstStyle/>
          <a:p>
            <a:pPr algn="ctr">
              <a:lnSpc>
                <a:spcPts val="2640"/>
              </a:lnSpc>
              <a:spcBef>
                <a:spcPts val="0"/>
              </a:spcBef>
              <a:buNone/>
            </a:pPr>
            <a:r>
              <a:rPr lang="en-US" sz="2200" b="true">
                <a:solidFill>
                  <a:srgbClr val="FFFFFF"/>
                </a:solidFill>
                <a:latin typeface="Nunito Bold"/>
                <a:ea typeface="Nunito Bold"/>
                <a:cs typeface="Nunito Bold"/>
                <a:sym typeface="Nunito Bold"/>
              </a:rPr>
              <a:t>Scope</a:t>
            </a:r>
          </a:p>
        </p:txBody>
      </p:sp>
      <p:sp>
        <p:nvSpPr>
          <p:cNvPr id="31" name="TextBox 30"/>
          <p:cNvSpPr txBox="1"/>
          <p:nvPr/>
        </p:nvSpPr>
        <p:spPr>
          <a:xfrm>
            <a:off x="9784080" y="7798562"/>
            <a:ext cx="7063740" cy="1235710"/>
          </a:xfrm>
          <a:prstGeom prst="rect">
            <a:avLst/>
          </a:prstGeom>
          <a:noFill/>
        </p:spPr>
        <p:txBody>
          <a:bodyPr anchor="t" rtlCol="false" lIns="0" tIns="0" rIns="0" bIns="0" wrap="square"/>
          <a:lstStyle/>
          <a:p>
            <a:pPr algn="l" marL="274320" indent="-274320">
              <a:lnSpc>
                <a:spcPts val="2166"/>
              </a:lnSpc>
              <a:spcBef>
                <a:spcPts val="0"/>
              </a:spcBef>
              <a:buClr>
                <a:srgbClr val="1F7A8C"/>
              </a:buClr>
              <a:buSzPct val="100000"/>
              <a:buFont typeface="Arial"/>
              <a:buChar char="•"/>
            </a:pPr>
            <a:r>
              <a:rPr lang="en-US" sz="1547" b="true">
                <a:solidFill>
                  <a:srgbClr val="111111"/>
                </a:solidFill>
                <a:latin typeface="Nunito Bold"/>
                <a:ea typeface="Nunito Bold"/>
                <a:cs typeface="Nunito Bold"/>
                <a:sym typeface="Nunito Bold"/>
              </a:rPr>
              <a:t>Everything runs on standard academic hardware</a:t>
            </a:r>
            <a:r>
              <a:rPr lang="en-US" sz="1547" b="true">
                <a:solidFill>
                  <a:srgbClr val="111111"/>
                </a:solidFill>
                <a:latin typeface="Nunito Semi-Bold"/>
                <a:ea typeface="Nunito Semi-Bold"/>
                <a:cs typeface="Nunito Semi-Bold"/>
                <a:sym typeface="Nunito Semi-Bold"/>
              </a:rPr>
              <a:t>; nothing needs industrial-scale compute.</a:t>
            </a:r>
          </a:p>
          <a:p>
            <a:pPr algn="l" marL="274320" indent="-274320">
              <a:lnSpc>
                <a:spcPts val="2166"/>
              </a:lnSpc>
              <a:spcBef>
                <a:spcPts val="546"/>
              </a:spcBef>
              <a:buClr>
                <a:srgbClr val="1F7A8C"/>
              </a:buClr>
              <a:buSzPct val="100000"/>
              <a:buFont typeface="Arial"/>
              <a:buChar char="•"/>
            </a:pPr>
            <a:r>
              <a:rPr lang="en-US" sz="1547" b="true">
                <a:solidFill>
                  <a:srgbClr val="111111"/>
                </a:solidFill>
                <a:latin typeface="Nunito Semi-Bold"/>
                <a:ea typeface="Nunito Semi-Bold"/>
                <a:cs typeface="Nunito Semi-Bold"/>
                <a:sym typeface="Nunito Semi-Bold"/>
              </a:rPr>
              <a:t>Clustering, surrogates, SHAP and DyHuCoG share the same seeds and splits.</a:t>
            </a:r>
          </a:p>
        </p:txBody>
      </p:sp>
    </p:spTree>
  </p:cSld>
  <p:clrMapOvr>
    <a:masterClrMapping/>
  </p:clrMapOvr>
</p:sld>
</file>

<file path=ppt/slides/slide4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pic>
        <p:nvPicPr>
          <p:cNvPr id="2" name="Picture 1" descr="ensias_logo.jpg"/>
          <p:cNvPicPr>
            <a:picLocks noChangeAspect="1"/>
          </p:cNvPicPr>
          <p:nvPr/>
        </p:nvPicPr>
        <p:blipFill>
          <a:blip r:embed="rId2"/>
          <a:stretch>
            <a:fillRect/>
          </a:stretch>
        </p:blipFill>
        <p:spPr>
          <a:xfrm>
            <a:off x="1028700" y="9674352"/>
            <a:ext cx="542964" cy="384048"/>
          </a:xfrm>
          <a:prstGeom prst="rect">
            <a:avLst/>
          </a:prstGeom>
        </p:spPr>
      </p:pic>
      <p:sp>
        <p:nvSpPr>
          <p:cNvPr id="3" name="TextBox 2"/>
          <p:cNvSpPr txBox="1"/>
          <p:nvPr/>
        </p:nvSpPr>
        <p:spPr>
          <a:xfrm>
            <a:off x="1577340" y="9747504"/>
            <a:ext cx="12801600" cy="274320"/>
          </a:xfrm>
          <a:prstGeom prst="rect">
            <a:avLst/>
          </a:prstGeom>
          <a:noFill/>
        </p:spPr>
        <p:txBody>
          <a:bodyPr anchor="t" rtlCol="false" lIns="0" tIns="0" rIns="0" bIns="0" wrap="square"/>
          <a:lstStyle/>
          <a:p>
            <a:pPr algn="l">
              <a:lnSpc>
                <a:spcPts val="1600"/>
              </a:lnSpc>
              <a:spcBef>
                <a:spcPts val="0"/>
              </a:spcBef>
              <a:buNone/>
            </a:pPr>
            <a:r>
              <a:rPr lang="en-US" sz="1300" b="true">
                <a:solidFill>
                  <a:srgbClr val="8A8378"/>
                </a:solidFill>
                <a:latin typeface="Nunito Bold"/>
                <a:ea typeface="Nunito Bold"/>
                <a:cs typeface="Nunito Bold"/>
                <a:sym typeface="Nunito Bold"/>
              </a:rPr>
              <a:t>Cooperative Game Theory for Explainable AI in Recommendation Systems  ·  A Shapley Framework for Actionable Insight</a:t>
            </a:r>
          </a:p>
        </p:txBody>
      </p:sp>
      <p:sp>
        <p:nvSpPr>
          <p:cNvPr id="4" name="TextBox 3"/>
          <p:cNvSpPr txBox="1"/>
          <p:nvPr/>
        </p:nvSpPr>
        <p:spPr>
          <a:xfrm>
            <a:off x="16162020" y="9692640"/>
            <a:ext cx="1097280" cy="329184"/>
          </a:xfrm>
          <a:prstGeom prst="rect">
            <a:avLst/>
          </a:prstGeom>
          <a:noFill/>
        </p:spPr>
        <p:txBody>
          <a:bodyPr anchor="t" rtlCol="false" lIns="0" tIns="0" rIns="0" bIns="0" wrap="square"/>
          <a:lstStyle/>
          <a:p>
            <a:pPr algn="r">
              <a:lnSpc>
                <a:spcPts val="2200"/>
              </a:lnSpc>
              <a:spcBef>
                <a:spcPts val="0"/>
              </a:spcBef>
              <a:buNone/>
            </a:pPr>
            <a:r>
              <a:rPr lang="en-US" sz="1800" b="true">
                <a:solidFill>
                  <a:srgbClr val="111111"/>
                </a:solidFill>
                <a:latin typeface="Nunito Ultra-Bold"/>
                <a:ea typeface="Nunito Ultra-Bold"/>
                <a:cs typeface="Nunito Ultra-Bold"/>
                <a:sym typeface="Nunito Ultra-Bold"/>
              </a:rPr>
              <a:t>26</a:t>
            </a:r>
          </a:p>
        </p:txBody>
      </p:sp>
      <p:sp>
        <p:nvSpPr>
          <p:cNvPr id="5" name="TextBox 4"/>
          <p:cNvSpPr txBox="1"/>
          <p:nvPr/>
        </p:nvSpPr>
        <p:spPr>
          <a:xfrm>
            <a:off x="1028700" y="2331720"/>
            <a:ext cx="14859000" cy="2286000"/>
          </a:xfrm>
          <a:prstGeom prst="rect">
            <a:avLst/>
          </a:prstGeom>
          <a:noFill/>
        </p:spPr>
        <p:txBody>
          <a:bodyPr anchor="t" rtlCol="false" lIns="0" tIns="0" rIns="0" bIns="0" wrap="square"/>
          <a:lstStyle/>
          <a:p>
            <a:pPr algn="l">
              <a:lnSpc>
                <a:spcPts val="15300"/>
              </a:lnSpc>
              <a:spcBef>
                <a:spcPts val="0"/>
              </a:spcBef>
              <a:buNone/>
            </a:pPr>
            <a:r>
              <a:rPr lang="en-US" sz="15000" b="true" spc="-870">
                <a:solidFill>
                  <a:srgbClr val="111111"/>
                </a:solidFill>
                <a:latin typeface="Roca Two Bold"/>
                <a:ea typeface="Roca Two Bold"/>
                <a:cs typeface="Roca Two Bold"/>
                <a:sym typeface="Roca Two Bold"/>
              </a:rPr>
              <a:t>Contribution I</a:t>
            </a:r>
          </a:p>
        </p:txBody>
      </p:sp>
      <p:sp>
        <p:nvSpPr>
          <p:cNvPr id="6" name="Oval 5"/>
          <p:cNvSpPr/>
          <p:nvPr/>
        </p:nvSpPr>
        <p:spPr>
          <a:xfrm>
            <a:off x="13049535" y="2918460"/>
            <a:ext cx="1005840" cy="1005840"/>
          </a:xfrm>
          <a:prstGeom prst="ellipse">
            <a:avLst/>
          </a:prstGeom>
          <a:solidFill>
            <a:srgbClr val="ECC665"/>
          </a:solidFill>
          <a:ln>
            <a:noFill/>
          </a:ln>
        </p:spPr>
        <p:txBody>
          <a:bodyPr anchor="ctr" rtlCol="false" lIns="0" tIns="0" rIns="0" bIns="0" wrap="square"/>
          <a:lstStyle/>
          <a:p>
            <a:endParaRPr lang="en-US" sz="1800"/>
          </a:p>
        </p:txBody>
      </p:sp>
      <p:sp>
        <p:nvSpPr>
          <p:cNvPr id="7" name="TextBox 6"/>
          <p:cNvSpPr txBox="1"/>
          <p:nvPr/>
        </p:nvSpPr>
        <p:spPr>
          <a:xfrm>
            <a:off x="13049535" y="2918460"/>
            <a:ext cx="1005840" cy="1005840"/>
          </a:xfrm>
          <a:prstGeom prst="rect">
            <a:avLst/>
          </a:prstGeom>
          <a:noFill/>
        </p:spPr>
        <p:txBody>
          <a:bodyPr anchor="ctr" rtlCol="false" lIns="0" tIns="0" rIns="0" bIns="0" wrap="square"/>
          <a:lstStyle/>
          <a:p>
            <a:pPr algn="ctr">
              <a:lnSpc>
                <a:spcPts val="3400"/>
              </a:lnSpc>
              <a:spcBef>
                <a:spcPts val="0"/>
              </a:spcBef>
              <a:buNone/>
            </a:pPr>
            <a:r>
              <a:rPr lang="en-US" sz="3000" b="true">
                <a:solidFill>
                  <a:srgbClr val="111111"/>
                </a:solidFill>
                <a:latin typeface="Nunito Ultra-Bold"/>
                <a:ea typeface="Nunito Ultra-Bold"/>
                <a:cs typeface="Nunito Ultra-Bold"/>
                <a:sym typeface="Nunito Ultra-Bold"/>
              </a:rPr>
              <a:t>04</a:t>
            </a:r>
          </a:p>
        </p:txBody>
      </p:sp>
      <p:sp>
        <p:nvSpPr>
          <p:cNvPr id="8" name="TextBox 7"/>
          <p:cNvSpPr txBox="1"/>
          <p:nvPr/>
        </p:nvSpPr>
        <p:spPr>
          <a:xfrm>
            <a:off x="1028700" y="4465320"/>
            <a:ext cx="16230600" cy="640080"/>
          </a:xfrm>
          <a:prstGeom prst="rect">
            <a:avLst/>
          </a:prstGeom>
          <a:noFill/>
        </p:spPr>
        <p:txBody>
          <a:bodyPr anchor="t" rtlCol="false" lIns="0" tIns="0" rIns="0" bIns="0" wrap="square"/>
          <a:lstStyle/>
          <a:p>
            <a:pPr algn="l">
              <a:lnSpc>
                <a:spcPts val="3800"/>
              </a:lnSpc>
              <a:spcBef>
                <a:spcPts val="0"/>
              </a:spcBef>
              <a:buNone/>
            </a:pPr>
            <a:r>
              <a:rPr lang="en-US" sz="3000" b="true" spc="-150">
                <a:solidFill>
                  <a:srgbClr val="4472C4"/>
                </a:solidFill>
                <a:latin typeface="Nunito Bold"/>
                <a:ea typeface="Nunito Bold"/>
                <a:cs typeface="Nunito Bold"/>
                <a:sym typeface="Nunito Bold"/>
              </a:rPr>
              <a:t>Explainable black-box clustering with Shapley values  ·  answers RQ1</a:t>
            </a:r>
          </a:p>
        </p:txBody>
      </p:sp>
      <p:sp>
        <p:nvSpPr>
          <p:cNvPr id="9" name="Rectangle 8"/>
          <p:cNvSpPr/>
          <p:nvPr/>
        </p:nvSpPr>
        <p:spPr>
          <a:xfrm>
            <a:off x="0" y="5440680"/>
            <a:ext cx="18288000" cy="4846320"/>
          </a:xfrm>
          <a:prstGeom prst="rect">
            <a:avLst/>
          </a:prstGeom>
          <a:solidFill>
            <a:srgbClr val="4472C4"/>
          </a:solidFill>
          <a:ln>
            <a:noFill/>
          </a:ln>
        </p:spPr>
        <p:txBody>
          <a:bodyPr anchor="ctr" rtlCol="false" lIns="0" tIns="0" rIns="0" bIns="0" wrap="square"/>
          <a:lstStyle/>
          <a:p>
            <a:endParaRPr lang="en-US" sz="1800"/>
          </a:p>
        </p:txBody>
      </p:sp>
      <p:sp>
        <p:nvSpPr>
          <p:cNvPr id="10" name="TextBox 9"/>
          <p:cNvSpPr txBox="1"/>
          <p:nvPr/>
        </p:nvSpPr>
        <p:spPr>
          <a:xfrm>
            <a:off x="1028700" y="5943600"/>
            <a:ext cx="5135880" cy="457200"/>
          </a:xfrm>
          <a:prstGeom prst="rect">
            <a:avLst/>
          </a:prstGeom>
          <a:noFill/>
        </p:spPr>
        <p:txBody>
          <a:bodyPr anchor="t" rtlCol="false" lIns="0" tIns="0" rIns="0" bIns="0" wrap="square"/>
          <a:lstStyle/>
          <a:p>
            <a:pPr algn="l">
              <a:lnSpc>
                <a:spcPts val="2800"/>
              </a:lnSpc>
              <a:spcBef>
                <a:spcPts val="0"/>
              </a:spcBef>
              <a:buNone/>
            </a:pPr>
            <a:r>
              <a:rPr lang="en-US" sz="2300" b="true">
                <a:solidFill>
                  <a:srgbClr val="ECC665"/>
                </a:solidFill>
                <a:latin typeface="Nunito Ultra-Bold"/>
                <a:ea typeface="Nunito Ultra-Bold"/>
                <a:cs typeface="Nunito Ultra-Bold"/>
                <a:sym typeface="Nunito Ultra-Bold"/>
              </a:rPr>
              <a:t>Objectives</a:t>
            </a:r>
          </a:p>
        </p:txBody>
      </p:sp>
      <p:cxnSp>
        <p:nvCxnSpPr>
          <p:cNvPr id="11" name="Connector 10"/>
          <p:cNvCxnSpPr/>
          <p:nvPr/>
        </p:nvCxnSpPr>
        <p:spPr>
          <a:xfrm>
            <a:off x="1028700" y="6464808"/>
            <a:ext cx="640080" cy="0"/>
          </a:xfrm>
          <a:prstGeom prst="line">
            <a:avLst/>
          </a:prstGeom>
          <a:ln w="31750">
            <a:solidFill>
              <a:srgbClr val="ECC665"/>
            </a:solidFill>
          </a:ln>
        </p:spPr>
      </p:cxnSp>
      <p:sp>
        <p:nvSpPr>
          <p:cNvPr id="12" name="TextBox 11"/>
          <p:cNvSpPr txBox="1"/>
          <p:nvPr/>
        </p:nvSpPr>
        <p:spPr>
          <a:xfrm>
            <a:off x="1028700" y="6675120"/>
            <a:ext cx="5135880" cy="3108960"/>
          </a:xfrm>
          <a:prstGeom prst="rect">
            <a:avLst/>
          </a:prstGeom>
          <a:noFill/>
        </p:spPr>
        <p:txBody>
          <a:bodyPr anchor="t" rtlCol="false" lIns="0" tIns="0" rIns="0" bIns="0" wrap="square"/>
          <a:lstStyle/>
          <a:p>
            <a:pPr algn="l">
              <a:lnSpc>
                <a:spcPts val="2940"/>
              </a:lnSpc>
              <a:spcBef>
                <a:spcPts val="0"/>
              </a:spcBef>
              <a:buNone/>
            </a:pPr>
            <a:r>
              <a:rPr lang="en-US" sz="2100" b="true">
                <a:solidFill>
                  <a:srgbClr val="FFFFFF"/>
                </a:solidFill>
                <a:latin typeface="Nunito Semi-Bold"/>
                <a:ea typeface="Nunito Semi-Bold"/>
                <a:cs typeface="Nunito Semi-Bold"/>
                <a:sym typeface="Nunito Semi-Bold"/>
              </a:rPr>
              <a:t>Cluster-level explanation that keeps feature-level attribution in the original feature space; justify Shapley over LIME.</a:t>
            </a:r>
          </a:p>
        </p:txBody>
      </p:sp>
      <p:sp>
        <p:nvSpPr>
          <p:cNvPr id="13" name="TextBox 12"/>
          <p:cNvSpPr txBox="1"/>
          <p:nvPr/>
        </p:nvSpPr>
        <p:spPr>
          <a:xfrm>
            <a:off x="6576060" y="5943600"/>
            <a:ext cx="5135880" cy="457200"/>
          </a:xfrm>
          <a:prstGeom prst="rect">
            <a:avLst/>
          </a:prstGeom>
          <a:noFill/>
        </p:spPr>
        <p:txBody>
          <a:bodyPr anchor="t" rtlCol="false" lIns="0" tIns="0" rIns="0" bIns="0" wrap="square"/>
          <a:lstStyle/>
          <a:p>
            <a:pPr algn="l">
              <a:lnSpc>
                <a:spcPts val="2800"/>
              </a:lnSpc>
              <a:spcBef>
                <a:spcPts val="0"/>
              </a:spcBef>
              <a:buNone/>
            </a:pPr>
            <a:r>
              <a:rPr lang="en-US" sz="2300" b="true">
                <a:solidFill>
                  <a:srgbClr val="ECC665"/>
                </a:solidFill>
                <a:latin typeface="Nunito Ultra-Bold"/>
                <a:ea typeface="Nunito Ultra-Bold"/>
                <a:cs typeface="Nunito Ultra-Bold"/>
                <a:sym typeface="Nunito Ultra-Bold"/>
              </a:rPr>
              <a:t>Methodology</a:t>
            </a:r>
          </a:p>
        </p:txBody>
      </p:sp>
      <p:cxnSp>
        <p:nvCxnSpPr>
          <p:cNvPr id="14" name="Connector 13"/>
          <p:cNvCxnSpPr/>
          <p:nvPr/>
        </p:nvCxnSpPr>
        <p:spPr>
          <a:xfrm>
            <a:off x="6576060" y="6464808"/>
            <a:ext cx="640080" cy="0"/>
          </a:xfrm>
          <a:prstGeom prst="line">
            <a:avLst/>
          </a:prstGeom>
          <a:ln w="31750">
            <a:solidFill>
              <a:srgbClr val="ECC665"/>
            </a:solidFill>
          </a:ln>
        </p:spPr>
      </p:cxnSp>
      <p:sp>
        <p:nvSpPr>
          <p:cNvPr id="15" name="TextBox 14"/>
          <p:cNvSpPr txBox="1"/>
          <p:nvPr/>
        </p:nvSpPr>
        <p:spPr>
          <a:xfrm>
            <a:off x="6576060" y="6675120"/>
            <a:ext cx="5135880" cy="3108960"/>
          </a:xfrm>
          <a:prstGeom prst="rect">
            <a:avLst/>
          </a:prstGeom>
          <a:noFill/>
        </p:spPr>
        <p:txBody>
          <a:bodyPr anchor="t" rtlCol="false" lIns="0" tIns="0" rIns="0" bIns="0" wrap="square"/>
          <a:lstStyle/>
          <a:p>
            <a:pPr algn="l">
              <a:lnSpc>
                <a:spcPts val="2940"/>
              </a:lnSpc>
              <a:spcBef>
                <a:spcPts val="0"/>
              </a:spcBef>
              <a:buNone/>
            </a:pPr>
            <a:r>
              <a:rPr lang="en-US" sz="2100" b="true">
                <a:solidFill>
                  <a:srgbClr val="FFFFFF"/>
                </a:solidFill>
                <a:latin typeface="Nunito Semi-Bold"/>
                <a:ea typeface="Nunito Semi-Bold"/>
                <a:cs typeface="Nunito Semi-Bold"/>
                <a:sym typeface="Nunito Semi-Bold"/>
              </a:rPr>
              <a:t>Features are players; Silhouette is the value function; a LightGBM surrogate bridges K-Means to exact TreeSHAP.</a:t>
            </a:r>
          </a:p>
        </p:txBody>
      </p:sp>
      <p:sp>
        <p:nvSpPr>
          <p:cNvPr id="16" name="TextBox 15"/>
          <p:cNvSpPr txBox="1"/>
          <p:nvPr/>
        </p:nvSpPr>
        <p:spPr>
          <a:xfrm>
            <a:off x="12123420" y="5943600"/>
            <a:ext cx="5135880" cy="457200"/>
          </a:xfrm>
          <a:prstGeom prst="rect">
            <a:avLst/>
          </a:prstGeom>
          <a:noFill/>
        </p:spPr>
        <p:txBody>
          <a:bodyPr anchor="t" rtlCol="false" lIns="0" tIns="0" rIns="0" bIns="0" wrap="square"/>
          <a:lstStyle/>
          <a:p>
            <a:pPr algn="l">
              <a:lnSpc>
                <a:spcPts val="2800"/>
              </a:lnSpc>
              <a:spcBef>
                <a:spcPts val="0"/>
              </a:spcBef>
              <a:buNone/>
            </a:pPr>
            <a:r>
              <a:rPr lang="en-US" sz="2300" b="true">
                <a:solidFill>
                  <a:srgbClr val="ECC665"/>
                </a:solidFill>
                <a:latin typeface="Nunito Ultra-Bold"/>
                <a:ea typeface="Nunito Ultra-Bold"/>
                <a:cs typeface="Nunito Ultra-Bold"/>
                <a:sym typeface="Nunito Ultra-Bold"/>
              </a:rPr>
              <a:t>Results</a:t>
            </a:r>
          </a:p>
        </p:txBody>
      </p:sp>
      <p:cxnSp>
        <p:nvCxnSpPr>
          <p:cNvPr id="17" name="Connector 16"/>
          <p:cNvCxnSpPr/>
          <p:nvPr/>
        </p:nvCxnSpPr>
        <p:spPr>
          <a:xfrm>
            <a:off x="12123420" y="6464808"/>
            <a:ext cx="640080" cy="0"/>
          </a:xfrm>
          <a:prstGeom prst="line">
            <a:avLst/>
          </a:prstGeom>
          <a:ln w="31750">
            <a:solidFill>
              <a:srgbClr val="ECC665"/>
            </a:solidFill>
          </a:ln>
        </p:spPr>
      </p:cxnSp>
      <p:sp>
        <p:nvSpPr>
          <p:cNvPr id="18" name="TextBox 17"/>
          <p:cNvSpPr txBox="1"/>
          <p:nvPr/>
        </p:nvSpPr>
        <p:spPr>
          <a:xfrm>
            <a:off x="12123420" y="6675120"/>
            <a:ext cx="5135880" cy="3108960"/>
          </a:xfrm>
          <a:prstGeom prst="rect">
            <a:avLst/>
          </a:prstGeom>
          <a:noFill/>
        </p:spPr>
        <p:txBody>
          <a:bodyPr anchor="t" rtlCol="false" lIns="0" tIns="0" rIns="0" bIns="0" wrap="square"/>
          <a:lstStyle/>
          <a:p>
            <a:pPr algn="l">
              <a:lnSpc>
                <a:spcPts val="2940"/>
              </a:lnSpc>
              <a:spcBef>
                <a:spcPts val="0"/>
              </a:spcBef>
              <a:buNone/>
            </a:pPr>
            <a:r>
              <a:rPr lang="en-US" sz="2100" b="true">
                <a:solidFill>
                  <a:srgbClr val="FFFFFF"/>
                </a:solidFill>
                <a:latin typeface="Nunito Semi-Bold"/>
                <a:ea typeface="Nunito Semi-Bold"/>
                <a:cs typeface="Nunito Semi-Bold"/>
                <a:sym typeface="Nunito Semi-Bold"/>
              </a:rPr>
              <a:t>Wine Quality: k</a:t>
            </a:r>
            <a:r>
              <a:rPr lang="en-US" sz="2100" b="true" baseline="30000">
                <a:solidFill>
                  <a:srgbClr val="FFFFFF"/>
                </a:solidFill>
                <a:latin typeface="Nunito Semi-Bold"/>
                <a:ea typeface="Nunito Semi-Bold"/>
                <a:cs typeface="Nunito Semi-Bold"/>
                <a:sym typeface="Nunito Semi-Bold"/>
              </a:rPr>
              <a:t>*</a:t>
            </a:r>
            <a:r>
              <a:rPr lang="en-US" sz="2100" b="true">
                <a:solidFill>
                  <a:srgbClr val="FFFFFF"/>
                </a:solidFill>
                <a:latin typeface="Nunito Semi-Bold"/>
                <a:ea typeface="Nunito Semi-Bold"/>
                <a:cs typeface="Nunito Semi-Bold"/>
                <a:sym typeface="Nunito Semi-Bold"/>
              </a:rPr>
              <a:t> = 3 chosen for interpretability; density </a:t>
            </a:r>
            <a:r>
              <a:rPr lang="en-US" sz="2100" b="true">
                <a:solidFill>
                  <a:srgbClr val="FFFFFF"/>
                </a:solidFill>
                <a:latin typeface="Calibri"/>
                <a:ea typeface="Calibri"/>
                <a:cs typeface="Calibri"/>
                <a:sym typeface="Calibri"/>
              </a:rPr>
              <a:t>→ </a:t>
            </a:r>
            <a:r>
              <a:rPr lang="en-US" sz="2100" b="true">
                <a:solidFill>
                  <a:srgbClr val="FFFFFF"/>
                </a:solidFill>
                <a:latin typeface="Nunito Semi-Bold"/>
                <a:ea typeface="Nunito Semi-Bold"/>
                <a:cs typeface="Nunito Semi-Bold"/>
                <a:sym typeface="Nunito Semi-Bold"/>
              </a:rPr>
              <a:t>pH </a:t>
            </a:r>
            <a:r>
              <a:rPr lang="en-US" sz="2100" b="true">
                <a:solidFill>
                  <a:srgbClr val="FFFFFF"/>
                </a:solidFill>
                <a:latin typeface="Calibri"/>
                <a:ea typeface="Calibri"/>
                <a:cs typeface="Calibri"/>
                <a:sym typeface="Calibri"/>
              </a:rPr>
              <a:t>→ </a:t>
            </a:r>
            <a:r>
              <a:rPr lang="en-US" sz="2100" b="true">
                <a:solidFill>
                  <a:srgbClr val="FFFFFF"/>
                </a:solidFill>
                <a:latin typeface="Nunito Semi-Bold"/>
                <a:ea typeface="Nunito Semi-Bold"/>
                <a:cs typeface="Nunito Semi-Bold"/>
                <a:sym typeface="Nunito Semi-Bold"/>
              </a:rPr>
              <a:t>acidity </a:t>
            </a:r>
            <a:r>
              <a:rPr lang="en-US" sz="2100" b="true">
                <a:solidFill>
                  <a:srgbClr val="FFFFFF"/>
                </a:solidFill>
                <a:latin typeface="Calibri"/>
                <a:ea typeface="Calibri"/>
                <a:cs typeface="Calibri"/>
                <a:sym typeface="Calibri"/>
              </a:rPr>
              <a:t>→ </a:t>
            </a:r>
            <a:r>
              <a:rPr lang="en-US" sz="2100" b="true">
                <a:solidFill>
                  <a:srgbClr val="FFFFFF"/>
                </a:solidFill>
                <a:latin typeface="Nunito Semi-Bold"/>
                <a:ea typeface="Nunito Semi-Bold"/>
                <a:cs typeface="Nunito Semi-Bold"/>
                <a:sym typeface="Nunito Semi-Bold"/>
              </a:rPr>
              <a:t>SO₂ </a:t>
            </a:r>
            <a:r>
              <a:rPr lang="en-US" sz="2100" b="true">
                <a:solidFill>
                  <a:srgbClr val="FFFFFF"/>
                </a:solidFill>
                <a:latin typeface="Calibri"/>
                <a:ea typeface="Calibri"/>
                <a:cs typeface="Calibri"/>
                <a:sym typeface="Calibri"/>
              </a:rPr>
              <a:t>→ </a:t>
            </a:r>
            <a:r>
              <a:rPr lang="en-US" sz="2100" b="true">
                <a:solidFill>
                  <a:srgbClr val="FFFFFF"/>
                </a:solidFill>
                <a:latin typeface="Nunito Semi-Bold"/>
                <a:ea typeface="Nunito Semi-Bold"/>
                <a:cs typeface="Nunito Semi-Bold"/>
                <a:sym typeface="Nunito Semi-Bold"/>
              </a:rPr>
              <a:t>alcohol recovered as a chemically meaningful ranking.</a:t>
            </a:r>
          </a:p>
        </p:txBody>
      </p:sp>
    </p:spTree>
  </p:cSld>
  <p:clrMapOvr>
    <a:masterClrMapping/>
  </p:clrMapOvr>
</p:sld>
</file>

<file path=ppt/slides/slide4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pic>
        <p:nvPicPr>
          <p:cNvPr id="2" name="Picture 1" descr="ensias_logo.jpg"/>
          <p:cNvPicPr>
            <a:picLocks noChangeAspect="1"/>
          </p:cNvPicPr>
          <p:nvPr/>
        </p:nvPicPr>
        <p:blipFill>
          <a:blip r:embed="rId2"/>
          <a:stretch>
            <a:fillRect/>
          </a:stretch>
        </p:blipFill>
        <p:spPr>
          <a:xfrm>
            <a:off x="1028700" y="9674352"/>
            <a:ext cx="542964" cy="384048"/>
          </a:xfrm>
          <a:prstGeom prst="rect">
            <a:avLst/>
          </a:prstGeom>
        </p:spPr>
      </p:pic>
      <p:sp>
        <p:nvSpPr>
          <p:cNvPr id="3" name="TextBox 2"/>
          <p:cNvSpPr txBox="1"/>
          <p:nvPr/>
        </p:nvSpPr>
        <p:spPr>
          <a:xfrm>
            <a:off x="1577340" y="9601200"/>
            <a:ext cx="14493240" cy="566928"/>
          </a:xfrm>
          <a:prstGeom prst="rect">
            <a:avLst/>
          </a:prstGeom>
          <a:noFill/>
        </p:spPr>
        <p:txBody>
          <a:bodyPr anchor="ctr" rtlCol="false" lIns="0" tIns="0" rIns="0" bIns="0" wrap="square"/>
          <a:lstStyle/>
          <a:p>
            <a:pPr algn="l">
              <a:lnSpc>
                <a:spcPts val="1200"/>
              </a:lnSpc>
              <a:spcBef>
                <a:spcPts val="0"/>
              </a:spcBef>
              <a:buNone/>
            </a:pPr>
            <a:r>
              <a:rPr lang="en-US" sz="1000" b="true">
                <a:solidFill>
                  <a:srgbClr val="8A8378"/>
                </a:solidFill>
                <a:latin typeface="Nunito Semi-Bold"/>
                <a:ea typeface="Nunito Semi-Bold"/>
                <a:cs typeface="Nunito Semi-Bold"/>
                <a:sym typeface="Nunito Semi-Bold"/>
              </a:rPr>
              <a:t>[5] Lundberg, S. M. &amp; Lee, S.-I. A Unified Approach to Interpreting Model Predictions (SHAP). NeurIPS 30, 4765–4774 (2017).   [6] Lundberg, S. M. et al. From Local Explanations to Global Understanding with Explainable AI for Trees (TreeSHAP). Nature Machine Intelligence 2, 56–67 (2020).   [7] Ribeiro, M. T., Singh, S. &amp; Guestrin, C. "Why Should I Trust You?": Explaining the Predictions of Any Classifier (LIME). KDD, 1135–1144 (2016).</a:t>
            </a:r>
          </a:p>
        </p:txBody>
      </p:sp>
      <p:sp>
        <p:nvSpPr>
          <p:cNvPr id="4" name="TextBox 3"/>
          <p:cNvSpPr txBox="1"/>
          <p:nvPr/>
        </p:nvSpPr>
        <p:spPr>
          <a:xfrm>
            <a:off x="16162020" y="9692640"/>
            <a:ext cx="1097280" cy="329184"/>
          </a:xfrm>
          <a:prstGeom prst="rect">
            <a:avLst/>
          </a:prstGeom>
          <a:noFill/>
        </p:spPr>
        <p:txBody>
          <a:bodyPr anchor="t" rtlCol="false" lIns="0" tIns="0" rIns="0" bIns="0" wrap="square"/>
          <a:lstStyle/>
          <a:p>
            <a:pPr algn="r">
              <a:lnSpc>
                <a:spcPts val="2200"/>
              </a:lnSpc>
              <a:spcBef>
                <a:spcPts val="0"/>
              </a:spcBef>
              <a:buNone/>
            </a:pPr>
            <a:r>
              <a:rPr lang="en-US" sz="1800" b="true">
                <a:solidFill>
                  <a:srgbClr val="111111"/>
                </a:solidFill>
                <a:latin typeface="Nunito Ultra-Bold"/>
                <a:ea typeface="Nunito Ultra-Bold"/>
                <a:cs typeface="Nunito Ultra-Bold"/>
                <a:sym typeface="Nunito Ultra-Bold"/>
              </a:rPr>
              <a:t>27</a:t>
            </a:r>
          </a:p>
        </p:txBody>
      </p:sp>
      <p:sp>
        <p:nvSpPr>
          <p:cNvPr id="5" name="TextBox 4"/>
          <p:cNvSpPr txBox="1"/>
          <p:nvPr/>
        </p:nvSpPr>
        <p:spPr>
          <a:xfrm>
            <a:off x="1028700" y="1389888"/>
            <a:ext cx="12938760" cy="329184"/>
          </a:xfrm>
          <a:prstGeom prst="rect">
            <a:avLst/>
          </a:prstGeom>
          <a:noFill/>
        </p:spPr>
        <p:txBody>
          <a:bodyPr anchor="t" rtlCol="false" lIns="0" tIns="0" rIns="0" bIns="0" wrap="square"/>
          <a:lstStyle/>
          <a:p>
            <a:pPr algn="l">
              <a:lnSpc>
                <a:spcPts val="2000"/>
              </a:lnSpc>
              <a:spcBef>
                <a:spcPts val="0"/>
              </a:spcBef>
              <a:buNone/>
            </a:pPr>
            <a:r>
              <a:rPr lang="en-US" sz="1500" b="true" spc="160">
                <a:solidFill>
                  <a:srgbClr val="1F7A8C"/>
                </a:solidFill>
                <a:latin typeface="Nunito Ultra-Bold"/>
                <a:ea typeface="Nunito Ultra-Bold"/>
                <a:cs typeface="Nunito Ultra-Bold"/>
                <a:sym typeface="Nunito Ultra-Bold"/>
              </a:rPr>
              <a:t>CONTRIBUTION I: EXPLAINABLE BLACK-BOX CLUSTERING</a:t>
            </a:r>
          </a:p>
        </p:txBody>
      </p:sp>
      <p:sp>
        <p:nvSpPr>
          <p:cNvPr id="6" name="Rounded Rectangle 5"/>
          <p:cNvSpPr/>
          <p:nvPr/>
        </p:nvSpPr>
        <p:spPr>
          <a:xfrm>
            <a:off x="14516100"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7" name="TextBox 6"/>
          <p:cNvSpPr txBox="1"/>
          <p:nvPr/>
        </p:nvSpPr>
        <p:spPr>
          <a:xfrm>
            <a:off x="14516100"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1</a:t>
            </a:r>
          </a:p>
        </p:txBody>
      </p:sp>
      <p:sp>
        <p:nvSpPr>
          <p:cNvPr id="8" name="Rounded Rectangle 7"/>
          <p:cNvSpPr/>
          <p:nvPr/>
        </p:nvSpPr>
        <p:spPr>
          <a:xfrm>
            <a:off x="14918436"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9" name="TextBox 8"/>
          <p:cNvSpPr txBox="1"/>
          <p:nvPr/>
        </p:nvSpPr>
        <p:spPr>
          <a:xfrm>
            <a:off x="14918436"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2</a:t>
            </a:r>
          </a:p>
        </p:txBody>
      </p:sp>
      <p:sp>
        <p:nvSpPr>
          <p:cNvPr id="10" name="Rounded Rectangle 9"/>
          <p:cNvSpPr/>
          <p:nvPr/>
        </p:nvSpPr>
        <p:spPr>
          <a:xfrm>
            <a:off x="15320772"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11" name="TextBox 10"/>
          <p:cNvSpPr txBox="1"/>
          <p:nvPr/>
        </p:nvSpPr>
        <p:spPr>
          <a:xfrm>
            <a:off x="15320772"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3</a:t>
            </a:r>
          </a:p>
        </p:txBody>
      </p:sp>
      <p:sp>
        <p:nvSpPr>
          <p:cNvPr id="12" name="Rounded Rectangle 11"/>
          <p:cNvSpPr/>
          <p:nvPr/>
        </p:nvSpPr>
        <p:spPr>
          <a:xfrm>
            <a:off x="15723108" y="1371600"/>
            <a:ext cx="329184" cy="329184"/>
          </a:xfrm>
          <a:prstGeom prst="roundRect">
            <a:avLst>
              <a:gd name="adj" fmla="val 16666"/>
            </a:avLst>
          </a:prstGeom>
          <a:solidFill>
            <a:srgbClr val="4472C4"/>
          </a:solidFill>
          <a:ln w="15875">
            <a:solidFill>
              <a:srgbClr val="4472C4"/>
            </a:solidFill>
          </a:ln>
        </p:spPr>
        <p:txBody>
          <a:bodyPr anchor="ctr" rtlCol="false" lIns="0" tIns="0" rIns="0" bIns="0" wrap="square"/>
          <a:lstStyle/>
          <a:p>
            <a:endParaRPr lang="en-US" sz="1800"/>
          </a:p>
        </p:txBody>
      </p:sp>
      <p:sp>
        <p:nvSpPr>
          <p:cNvPr id="13" name="TextBox 12"/>
          <p:cNvSpPr txBox="1"/>
          <p:nvPr/>
        </p:nvSpPr>
        <p:spPr>
          <a:xfrm>
            <a:off x="15723108"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FFFFFF"/>
                </a:solidFill>
                <a:latin typeface="Nunito Ultra-Bold"/>
                <a:ea typeface="Nunito Ultra-Bold"/>
                <a:cs typeface="Nunito Ultra-Bold"/>
                <a:sym typeface="Nunito Ultra-Bold"/>
              </a:rPr>
              <a:t>4</a:t>
            </a:r>
          </a:p>
        </p:txBody>
      </p:sp>
      <p:sp>
        <p:nvSpPr>
          <p:cNvPr id="14" name="Rounded Rectangle 13"/>
          <p:cNvSpPr/>
          <p:nvPr/>
        </p:nvSpPr>
        <p:spPr>
          <a:xfrm>
            <a:off x="16125444"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15" name="TextBox 14"/>
          <p:cNvSpPr txBox="1"/>
          <p:nvPr/>
        </p:nvSpPr>
        <p:spPr>
          <a:xfrm>
            <a:off x="16125444"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5</a:t>
            </a:r>
          </a:p>
        </p:txBody>
      </p:sp>
      <p:sp>
        <p:nvSpPr>
          <p:cNvPr id="16" name="Rounded Rectangle 15"/>
          <p:cNvSpPr/>
          <p:nvPr/>
        </p:nvSpPr>
        <p:spPr>
          <a:xfrm>
            <a:off x="16527780"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17" name="TextBox 16"/>
          <p:cNvSpPr txBox="1"/>
          <p:nvPr/>
        </p:nvSpPr>
        <p:spPr>
          <a:xfrm>
            <a:off x="16527780"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6</a:t>
            </a:r>
          </a:p>
        </p:txBody>
      </p:sp>
      <p:sp>
        <p:nvSpPr>
          <p:cNvPr id="18" name="Rounded Rectangle 17"/>
          <p:cNvSpPr/>
          <p:nvPr/>
        </p:nvSpPr>
        <p:spPr>
          <a:xfrm>
            <a:off x="16930116"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19" name="TextBox 18"/>
          <p:cNvSpPr txBox="1"/>
          <p:nvPr/>
        </p:nvSpPr>
        <p:spPr>
          <a:xfrm>
            <a:off x="16930116"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7</a:t>
            </a:r>
          </a:p>
        </p:txBody>
      </p:sp>
      <p:sp>
        <p:nvSpPr>
          <p:cNvPr id="20" name="TextBox 19"/>
          <p:cNvSpPr txBox="1"/>
          <p:nvPr/>
        </p:nvSpPr>
        <p:spPr>
          <a:xfrm>
            <a:off x="1028700" y="1719072"/>
            <a:ext cx="16230600" cy="730250"/>
          </a:xfrm>
          <a:prstGeom prst="rect">
            <a:avLst/>
          </a:prstGeom>
          <a:noFill/>
        </p:spPr>
        <p:txBody>
          <a:bodyPr anchor="t" rtlCol="false" lIns="0" tIns="0" rIns="0" bIns="0" wrap="square"/>
          <a:lstStyle/>
          <a:p>
            <a:pPr algn="l">
              <a:lnSpc>
                <a:spcPts val="5060"/>
              </a:lnSpc>
              <a:spcBef>
                <a:spcPts val="0"/>
              </a:spcBef>
              <a:buNone/>
            </a:pPr>
            <a:r>
              <a:rPr lang="en-US" sz="4600" b="true" spc="-230">
                <a:solidFill>
                  <a:srgbClr val="111111"/>
                </a:solidFill>
                <a:latin typeface="Roca Two Bold"/>
                <a:ea typeface="Roca Two Bold"/>
                <a:cs typeface="Roca Two Bold"/>
                <a:sym typeface="Roca Two Bold"/>
              </a:rPr>
              <a:t>Research Gap</a:t>
            </a:r>
          </a:p>
        </p:txBody>
      </p:sp>
      <p:sp>
        <p:nvSpPr>
          <p:cNvPr id="21" name="Rounded Rectangle 20"/>
          <p:cNvSpPr/>
          <p:nvPr/>
        </p:nvSpPr>
        <p:spPr>
          <a:xfrm>
            <a:off x="1028700" y="2559050"/>
            <a:ext cx="1691553" cy="420624"/>
          </a:xfrm>
          <a:prstGeom prst="roundRect">
            <a:avLst>
              <a:gd name="adj" fmla="val 50000"/>
            </a:avLst>
          </a:prstGeom>
          <a:solidFill>
            <a:srgbClr val="4472C4"/>
          </a:solidFill>
          <a:ln>
            <a:noFill/>
          </a:ln>
        </p:spPr>
        <p:txBody>
          <a:bodyPr anchor="ctr" rtlCol="false" lIns="45720" tIns="0" rIns="45720" bIns="0" wrap="square"/>
          <a:lstStyle/>
          <a:p>
            <a:pPr algn="ctr">
              <a:lnSpc>
                <a:spcPts val="2160"/>
              </a:lnSpc>
              <a:spcBef>
                <a:spcPts val="0"/>
              </a:spcBef>
              <a:buNone/>
            </a:pPr>
            <a:r>
              <a:rPr lang="en-US" sz="1800" b="true">
                <a:solidFill>
                  <a:srgbClr val="FFFFFF"/>
                </a:solidFill>
                <a:latin typeface="Nunito Bold"/>
                <a:ea typeface="Nunito Bold"/>
                <a:cs typeface="Nunito Bold"/>
                <a:sym typeface="Nunito Bold"/>
              </a:rPr>
              <a:t>Objectives</a:t>
            </a:r>
          </a:p>
        </p:txBody>
      </p:sp>
      <p:sp>
        <p:nvSpPr>
          <p:cNvPr id="22" name="Rounded Rectangle 21"/>
          <p:cNvSpPr/>
          <p:nvPr/>
        </p:nvSpPr>
        <p:spPr>
          <a:xfrm>
            <a:off x="2848269" y="2559050"/>
            <a:ext cx="1998119" cy="420624"/>
          </a:xfrm>
          <a:prstGeom prst="roundRect">
            <a:avLst>
              <a:gd name="adj" fmla="val 50000"/>
            </a:avLst>
          </a:prstGeom>
          <a:noFill/>
          <a:ln w="28575">
            <a:solidFill>
              <a:srgbClr val="4472C4"/>
            </a:solidFill>
          </a:ln>
        </p:spPr>
        <p:txBody>
          <a:bodyPr anchor="ctr" rtlCol="false" lIns="45720" tIns="0" rIns="45720" bIns="0" wrap="square"/>
          <a:lstStyle/>
          <a:p>
            <a:pPr algn="ctr">
              <a:lnSpc>
                <a:spcPts val="2160"/>
              </a:lnSpc>
              <a:spcBef>
                <a:spcPts val="0"/>
              </a:spcBef>
              <a:buNone/>
            </a:pPr>
            <a:r>
              <a:rPr lang="en-US" sz="1800" b="true">
                <a:solidFill>
                  <a:srgbClr val="4472C4"/>
                </a:solidFill>
                <a:latin typeface="Nunito Bold"/>
                <a:ea typeface="Nunito Bold"/>
                <a:cs typeface="Nunito Bold"/>
                <a:sym typeface="Nunito Bold"/>
              </a:rPr>
              <a:t>Methodology</a:t>
            </a:r>
          </a:p>
        </p:txBody>
      </p:sp>
      <p:sp>
        <p:nvSpPr>
          <p:cNvPr id="23" name="Rounded Rectangle 22"/>
          <p:cNvSpPr/>
          <p:nvPr/>
        </p:nvSpPr>
        <p:spPr>
          <a:xfrm>
            <a:off x="4974404" y="2559050"/>
            <a:ext cx="1369446" cy="420624"/>
          </a:xfrm>
          <a:prstGeom prst="roundRect">
            <a:avLst>
              <a:gd name="adj" fmla="val 50000"/>
            </a:avLst>
          </a:prstGeom>
          <a:noFill/>
          <a:ln w="28575">
            <a:solidFill>
              <a:srgbClr val="4472C4"/>
            </a:solidFill>
          </a:ln>
        </p:spPr>
        <p:txBody>
          <a:bodyPr anchor="ctr" rtlCol="false" lIns="45720" tIns="0" rIns="45720" bIns="0" wrap="square"/>
          <a:lstStyle/>
          <a:p>
            <a:pPr algn="ctr">
              <a:lnSpc>
                <a:spcPts val="2160"/>
              </a:lnSpc>
              <a:spcBef>
                <a:spcPts val="0"/>
              </a:spcBef>
              <a:buNone/>
            </a:pPr>
            <a:r>
              <a:rPr lang="en-US" sz="1800" b="true">
                <a:solidFill>
                  <a:srgbClr val="4472C4"/>
                </a:solidFill>
                <a:latin typeface="Nunito Bold"/>
                <a:ea typeface="Nunito Bold"/>
                <a:cs typeface="Nunito Bold"/>
                <a:sym typeface="Nunito Bold"/>
              </a:rPr>
              <a:t>Results</a:t>
            </a:r>
          </a:p>
        </p:txBody>
      </p:sp>
      <p:sp>
        <p:nvSpPr>
          <p:cNvPr id="24" name="Rounded Rectangle 23"/>
          <p:cNvSpPr/>
          <p:nvPr/>
        </p:nvSpPr>
        <p:spPr>
          <a:xfrm>
            <a:off x="6471866" y="2559050"/>
            <a:ext cx="1474931" cy="420624"/>
          </a:xfrm>
          <a:prstGeom prst="roundRect">
            <a:avLst>
              <a:gd name="adj" fmla="val 50000"/>
            </a:avLst>
          </a:prstGeom>
          <a:noFill/>
          <a:ln w="28575">
            <a:solidFill>
              <a:srgbClr val="4472C4"/>
            </a:solidFill>
          </a:ln>
        </p:spPr>
        <p:txBody>
          <a:bodyPr anchor="ctr" rtlCol="false" lIns="45720" tIns="0" rIns="45720" bIns="0" wrap="square"/>
          <a:lstStyle/>
          <a:p>
            <a:pPr algn="ctr">
              <a:lnSpc>
                <a:spcPts val="2160"/>
              </a:lnSpc>
              <a:spcBef>
                <a:spcPts val="0"/>
              </a:spcBef>
              <a:buNone/>
            </a:pPr>
            <a:r>
              <a:rPr lang="en-US" sz="1800" b="true">
                <a:solidFill>
                  <a:srgbClr val="4472C4"/>
                </a:solidFill>
                <a:latin typeface="Nunito Bold"/>
                <a:ea typeface="Nunito Bold"/>
                <a:cs typeface="Nunito Bold"/>
                <a:sym typeface="Nunito Bold"/>
              </a:rPr>
              <a:t>Findings</a:t>
            </a:r>
          </a:p>
        </p:txBody>
      </p:sp>
      <p:sp>
        <p:nvSpPr>
          <p:cNvPr id="25" name="TextBox 24"/>
          <p:cNvSpPr txBox="1"/>
          <p:nvPr/>
        </p:nvSpPr>
        <p:spPr>
          <a:xfrm>
            <a:off x="1028700" y="3363722"/>
            <a:ext cx="16230600" cy="3841750"/>
          </a:xfrm>
          <a:prstGeom prst="rect">
            <a:avLst/>
          </a:prstGeom>
          <a:noFill/>
        </p:spPr>
        <p:txBody>
          <a:bodyPr anchor="t" rtlCol="false" lIns="0" tIns="0" rIns="0" bIns="0" wrap="square"/>
          <a:lstStyle/>
          <a:p>
            <a:pPr algn="l" marL="274320" indent="-274320">
              <a:lnSpc>
                <a:spcPts val="2940"/>
              </a:lnSpc>
              <a:spcBef>
                <a:spcPts val="0"/>
              </a:spcBef>
              <a:buClr>
                <a:srgbClr val="1F7A8C"/>
              </a:buClr>
              <a:buSzPct val="100000"/>
              <a:buFont typeface="Arial"/>
              <a:buChar char="•"/>
            </a:pPr>
            <a:r>
              <a:rPr lang="en-US" sz="2100" b="true">
                <a:solidFill>
                  <a:srgbClr val="111111"/>
                </a:solidFill>
                <a:latin typeface="Nunito Semi-Bold"/>
                <a:ea typeface="Nunito Semi-Bold"/>
                <a:cs typeface="Nunito Semi-Bold"/>
                <a:sym typeface="Nunito Semi-Bold"/>
              </a:rPr>
              <a:t>Shapley explanation is </a:t>
            </a:r>
            <a:r>
              <a:rPr lang="en-US" sz="2100" b="true">
                <a:solidFill>
                  <a:srgbClr val="111111"/>
                </a:solidFill>
                <a:latin typeface="Nunito Bold"/>
                <a:ea typeface="Nunito Bold"/>
                <a:cs typeface="Nunito Bold"/>
                <a:sym typeface="Nunito Bold"/>
              </a:rPr>
              <a:t>standard in supervised tasks</a:t>
            </a:r>
            <a:r>
              <a:rPr lang="en-US" sz="2100" b="true">
                <a:solidFill>
                  <a:srgbClr val="111111"/>
                </a:solidFill>
                <a:latin typeface="Nunito Semi-Bold"/>
                <a:ea typeface="Nunito Semi-Bold"/>
                <a:cs typeface="Nunito Semi-Bold"/>
                <a:sym typeface="Nunito Semi-Bold"/>
              </a:rPr>
              <a:t> [5, 6], but clustering is still much less explained.</a:t>
            </a:r>
          </a:p>
          <a:p>
            <a:pPr algn="l" marL="274320" indent="-274320">
              <a:lnSpc>
                <a:spcPts val="2940"/>
              </a:lnSpc>
              <a:spcBef>
                <a:spcPts val="1200"/>
              </a:spcBef>
              <a:buClr>
                <a:srgbClr val="1F7A8C"/>
              </a:buClr>
              <a:buSzPct val="100000"/>
              <a:buFont typeface="Arial"/>
              <a:buChar char="•"/>
            </a:pPr>
            <a:r>
              <a:rPr lang="en-US" sz="2100" b="true">
                <a:solidFill>
                  <a:srgbClr val="111111"/>
                </a:solidFill>
                <a:latin typeface="Nunito Semi-Bold"/>
                <a:ea typeface="Nunito Semi-Bold"/>
                <a:cs typeface="Nunito Semi-Bold"/>
                <a:sym typeface="Nunito Semi-Bold"/>
              </a:rPr>
              <a:t>Existing clustering-interpretability methods favour </a:t>
            </a:r>
            <a:r>
              <a:rPr lang="en-US" sz="2100" b="true">
                <a:solidFill>
                  <a:srgbClr val="111111"/>
                </a:solidFill>
                <a:latin typeface="Nunito Bold"/>
                <a:ea typeface="Nunito Bold"/>
                <a:cs typeface="Nunito Bold"/>
                <a:sym typeface="Nunito Bold"/>
              </a:rPr>
              <a:t>local or global</a:t>
            </a:r>
            <a:r>
              <a:rPr lang="en-US" sz="2100" b="true">
                <a:solidFill>
                  <a:srgbClr val="111111"/>
                </a:solidFill>
                <a:latin typeface="Nunito Semi-Bold"/>
                <a:ea typeface="Nunito Semi-Bold"/>
                <a:cs typeface="Nunito Semi-Bold"/>
                <a:sym typeface="Nunito Semi-Bold"/>
              </a:rPr>
              <a:t> explanation, not both.</a:t>
            </a:r>
          </a:p>
          <a:p>
            <a:pPr algn="l" marL="274320" indent="-274320">
              <a:lnSpc>
                <a:spcPts val="2940"/>
              </a:lnSpc>
              <a:spcBef>
                <a:spcPts val="1200"/>
              </a:spcBef>
              <a:buClr>
                <a:srgbClr val="1F7A8C"/>
              </a:buClr>
              <a:buSzPct val="100000"/>
              <a:buFont typeface="Arial"/>
              <a:buChar char="•"/>
            </a:pPr>
            <a:r>
              <a:rPr lang="en-US" sz="2100" b="true">
                <a:solidFill>
                  <a:srgbClr val="111111"/>
                </a:solidFill>
                <a:latin typeface="Nunito Semi-Bold"/>
                <a:ea typeface="Nunito Semi-Bold"/>
                <a:cs typeface="Nunito Semi-Bold"/>
                <a:sym typeface="Nunito Semi-Bold"/>
              </a:rPr>
              <a:t>They often fail to scale or to stay </a:t>
            </a:r>
            <a:r>
              <a:rPr lang="en-US" sz="2100" b="true">
                <a:solidFill>
                  <a:srgbClr val="111111"/>
                </a:solidFill>
                <a:latin typeface="Nunito Bold"/>
                <a:ea typeface="Nunito Bold"/>
                <a:cs typeface="Nunito Bold"/>
                <a:sym typeface="Nunito Bold"/>
              </a:rPr>
              <a:t>consistent across clusters</a:t>
            </a:r>
            <a:r>
              <a:rPr lang="en-US" sz="2100" b="true">
                <a:solidFill>
                  <a:srgbClr val="111111"/>
                </a:solidFill>
                <a:latin typeface="Nunito Semi-Bold"/>
                <a:ea typeface="Nunito Semi-Bold"/>
                <a:cs typeface="Nunito Semi-Bold"/>
                <a:sym typeface="Nunito Semi-Bold"/>
              </a:rPr>
              <a:t>.</a:t>
            </a:r>
          </a:p>
          <a:p>
            <a:pPr algn="l" marL="274320" indent="-274320">
              <a:lnSpc>
                <a:spcPts val="2940"/>
              </a:lnSpc>
              <a:spcBef>
                <a:spcPts val="1200"/>
              </a:spcBef>
              <a:buClr>
                <a:srgbClr val="1F7A8C"/>
              </a:buClr>
              <a:buSzPct val="100000"/>
              <a:buFont typeface="Arial"/>
              <a:buChar char="•"/>
            </a:pPr>
            <a:r>
              <a:rPr lang="en-US" sz="2100" b="true">
                <a:solidFill>
                  <a:srgbClr val="111111"/>
                </a:solidFill>
                <a:latin typeface="Nunito Semi-Bold"/>
                <a:ea typeface="Nunito Semi-Bold"/>
                <a:cs typeface="Nunito Semi-Bold"/>
                <a:sym typeface="Nunito Semi-Bold"/>
              </a:rPr>
              <a:t>Clustering is the hardest test bed: the model creates its own structure, so cluster meaning must be worked out after the fact.</a:t>
            </a:r>
          </a:p>
          <a:p>
            <a:pPr algn="l" marL="274320" indent="-274320">
              <a:lnSpc>
                <a:spcPts val="2940"/>
              </a:lnSpc>
              <a:spcBef>
                <a:spcPts val="1200"/>
              </a:spcBef>
              <a:buClr>
                <a:srgbClr val="1F7A8C"/>
              </a:buClr>
              <a:buSzPct val="100000"/>
              <a:buFont typeface="Arial"/>
              <a:buChar char="•"/>
            </a:pPr>
            <a:r>
              <a:rPr lang="en-US" sz="2100" b="true">
                <a:solidFill>
                  <a:srgbClr val="111111"/>
                </a:solidFill>
                <a:latin typeface="Nunito Semi-Bold"/>
                <a:ea typeface="Nunito Semi-Bold"/>
                <a:cs typeface="Nunito Semi-Bold"/>
                <a:sym typeface="Nunito Semi-Bold"/>
              </a:rPr>
              <a:t>Local surrogates such as LIME [7] give no guarantee that the credit assigned to a feature is fair or stable.</a:t>
            </a:r>
          </a:p>
        </p:txBody>
      </p:sp>
      <p:sp>
        <p:nvSpPr>
          <p:cNvPr id="26" name="Rounded Rectangle 25"/>
          <p:cNvSpPr/>
          <p:nvPr/>
        </p:nvSpPr>
        <p:spPr>
          <a:xfrm>
            <a:off x="1028700" y="7616952"/>
            <a:ext cx="16230600" cy="1600200"/>
          </a:xfrm>
          <a:prstGeom prst="roundRect">
            <a:avLst>
              <a:gd name="adj" fmla="val 12571"/>
            </a:avLst>
          </a:prstGeom>
          <a:solidFill>
            <a:srgbClr val="F6ECDF"/>
          </a:solidFill>
          <a:ln w="25400">
            <a:solidFill>
              <a:srgbClr val="1F7A8C"/>
            </a:solidFill>
          </a:ln>
        </p:spPr>
        <p:txBody>
          <a:bodyPr anchor="ctr" rtlCol="false" lIns="0" tIns="0" rIns="0" bIns="0" wrap="square"/>
          <a:lstStyle/>
          <a:p>
            <a:endParaRPr lang="en-US" sz="1800"/>
          </a:p>
        </p:txBody>
      </p:sp>
      <p:sp>
        <p:nvSpPr>
          <p:cNvPr id="27" name="Rounded Rectangle 26"/>
          <p:cNvSpPr/>
          <p:nvPr/>
        </p:nvSpPr>
        <p:spPr>
          <a:xfrm>
            <a:off x="1348740" y="7424928"/>
            <a:ext cx="1976535" cy="384048"/>
          </a:xfrm>
          <a:prstGeom prst="roundRect">
            <a:avLst>
              <a:gd name="adj" fmla="val 50000"/>
            </a:avLst>
          </a:prstGeom>
          <a:solidFill>
            <a:srgbClr val="1F7A8C"/>
          </a:solidFill>
          <a:ln w="28575">
            <a:solidFill>
              <a:srgbClr val="1F7A8C"/>
            </a:solidFill>
          </a:ln>
        </p:spPr>
        <p:txBody>
          <a:bodyPr anchor="ctr" rtlCol="false" lIns="45720" tIns="0" rIns="45720" bIns="0" wrap="square"/>
          <a:lstStyle/>
          <a:p>
            <a:pPr algn="ctr">
              <a:lnSpc>
                <a:spcPts val="1680"/>
              </a:lnSpc>
              <a:spcBef>
                <a:spcPts val="0"/>
              </a:spcBef>
              <a:buNone/>
            </a:pPr>
            <a:r>
              <a:rPr lang="en-US" sz="1400" b="true">
                <a:solidFill>
                  <a:srgbClr val="FFFFFF"/>
                </a:solidFill>
                <a:latin typeface="Nunito Bold"/>
                <a:ea typeface="Nunito Bold"/>
                <a:cs typeface="Nunito Bold"/>
                <a:sym typeface="Nunito Bold"/>
              </a:rPr>
              <a:t>RESEARCH GAP</a:t>
            </a:r>
          </a:p>
        </p:txBody>
      </p:sp>
      <p:sp>
        <p:nvSpPr>
          <p:cNvPr id="28" name="TextBox 27"/>
          <p:cNvSpPr txBox="1"/>
          <p:nvPr/>
        </p:nvSpPr>
        <p:spPr>
          <a:xfrm>
            <a:off x="1394460" y="7891272"/>
            <a:ext cx="15499080" cy="1188720"/>
          </a:xfrm>
          <a:prstGeom prst="rect">
            <a:avLst/>
          </a:prstGeom>
          <a:noFill/>
        </p:spPr>
        <p:txBody>
          <a:bodyPr anchor="ctr" rtlCol="false" lIns="0" tIns="0" rIns="0" bIns="0" wrap="square"/>
          <a:lstStyle/>
          <a:p>
            <a:pPr algn="l">
              <a:lnSpc>
                <a:spcPts val="3080"/>
              </a:lnSpc>
              <a:spcBef>
                <a:spcPts val="0"/>
              </a:spcBef>
              <a:buNone/>
            </a:pPr>
            <a:r>
              <a:rPr lang="en-US" sz="2200" b="true">
                <a:solidFill>
                  <a:srgbClr val="111111"/>
                </a:solidFill>
                <a:latin typeface="Nunito Semi-Bold"/>
                <a:ea typeface="Nunito Semi-Bold"/>
                <a:cs typeface="Nunito Semi-Bold"/>
                <a:sym typeface="Nunito Semi-Bold"/>
              </a:rPr>
              <a:t>There is no principled, axiomatic way to explain </a:t>
            </a:r>
            <a:r>
              <a:rPr lang="en-US" sz="2200" b="true">
                <a:solidFill>
                  <a:srgbClr val="111111"/>
                </a:solidFill>
                <a:latin typeface="Nunito Bold"/>
                <a:ea typeface="Nunito Bold"/>
                <a:cs typeface="Nunito Bold"/>
                <a:sym typeface="Nunito Bold"/>
              </a:rPr>
              <a:t>why a black-box clustering put an observation in a given cluster</a:t>
            </a:r>
            <a:r>
              <a:rPr lang="en-US" sz="2200" b="true">
                <a:solidFill>
                  <a:srgbClr val="111111"/>
                </a:solidFill>
                <a:latin typeface="Nunito Semi-Bold"/>
                <a:ea typeface="Nunito Semi-Bold"/>
                <a:cs typeface="Nunito Semi-Bold"/>
                <a:sym typeface="Nunito Semi-Bold"/>
              </a:rPr>
              <a:t>, in the original feature space and consistently across clusters.</a:t>
            </a:r>
          </a:p>
        </p:txBody>
      </p:sp>
    </p:spTree>
  </p:cSld>
  <p:clrMapOvr>
    <a:masterClrMapping/>
  </p:clrMapOvr>
</p:sld>
</file>

<file path=ppt/slides/slide4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pic>
        <p:nvPicPr>
          <p:cNvPr id="2" name="Picture 1" descr="ensias_logo.jpg"/>
          <p:cNvPicPr>
            <a:picLocks noChangeAspect="1"/>
          </p:cNvPicPr>
          <p:nvPr/>
        </p:nvPicPr>
        <p:blipFill>
          <a:blip r:embed="rId2"/>
          <a:stretch>
            <a:fillRect/>
          </a:stretch>
        </p:blipFill>
        <p:spPr>
          <a:xfrm>
            <a:off x="1028700" y="9674352"/>
            <a:ext cx="542964" cy="384048"/>
          </a:xfrm>
          <a:prstGeom prst="rect">
            <a:avLst/>
          </a:prstGeom>
        </p:spPr>
      </p:pic>
      <p:sp>
        <p:nvSpPr>
          <p:cNvPr id="3" name="TextBox 2"/>
          <p:cNvSpPr txBox="1"/>
          <p:nvPr/>
        </p:nvSpPr>
        <p:spPr>
          <a:xfrm>
            <a:off x="1577340" y="9747504"/>
            <a:ext cx="12801600" cy="274320"/>
          </a:xfrm>
          <a:prstGeom prst="rect">
            <a:avLst/>
          </a:prstGeom>
          <a:noFill/>
        </p:spPr>
        <p:txBody>
          <a:bodyPr anchor="t" rtlCol="false" lIns="0" tIns="0" rIns="0" bIns="0" wrap="square"/>
          <a:lstStyle/>
          <a:p>
            <a:pPr algn="l">
              <a:lnSpc>
                <a:spcPts val="1600"/>
              </a:lnSpc>
              <a:spcBef>
                <a:spcPts val="0"/>
              </a:spcBef>
              <a:buNone/>
            </a:pPr>
            <a:r>
              <a:rPr lang="en-US" sz="1300" b="true">
                <a:solidFill>
                  <a:srgbClr val="8A8378"/>
                </a:solidFill>
                <a:latin typeface="Nunito Bold"/>
                <a:ea typeface="Nunito Bold"/>
                <a:cs typeface="Nunito Bold"/>
                <a:sym typeface="Nunito Bold"/>
              </a:rPr>
              <a:t>Cooperative Game Theory for Explainable AI in Recommendation Systems  ·  A Shapley Framework for Actionable Insight</a:t>
            </a:r>
          </a:p>
        </p:txBody>
      </p:sp>
      <p:sp>
        <p:nvSpPr>
          <p:cNvPr id="4" name="TextBox 3"/>
          <p:cNvSpPr txBox="1"/>
          <p:nvPr/>
        </p:nvSpPr>
        <p:spPr>
          <a:xfrm>
            <a:off x="16162020" y="9692640"/>
            <a:ext cx="1097280" cy="329184"/>
          </a:xfrm>
          <a:prstGeom prst="rect">
            <a:avLst/>
          </a:prstGeom>
          <a:noFill/>
        </p:spPr>
        <p:txBody>
          <a:bodyPr anchor="t" rtlCol="false" lIns="0" tIns="0" rIns="0" bIns="0" wrap="square"/>
          <a:lstStyle/>
          <a:p>
            <a:pPr algn="r">
              <a:lnSpc>
                <a:spcPts val="2200"/>
              </a:lnSpc>
              <a:spcBef>
                <a:spcPts val="0"/>
              </a:spcBef>
              <a:buNone/>
            </a:pPr>
            <a:r>
              <a:rPr lang="en-US" sz="1800" b="true">
                <a:solidFill>
                  <a:srgbClr val="111111"/>
                </a:solidFill>
                <a:latin typeface="Nunito Ultra-Bold"/>
                <a:ea typeface="Nunito Ultra-Bold"/>
                <a:cs typeface="Nunito Ultra-Bold"/>
                <a:sym typeface="Nunito Ultra-Bold"/>
              </a:rPr>
              <a:t>28</a:t>
            </a:r>
          </a:p>
        </p:txBody>
      </p:sp>
      <p:sp>
        <p:nvSpPr>
          <p:cNvPr id="5" name="TextBox 4"/>
          <p:cNvSpPr txBox="1"/>
          <p:nvPr/>
        </p:nvSpPr>
        <p:spPr>
          <a:xfrm>
            <a:off x="1028700" y="1389888"/>
            <a:ext cx="12938760" cy="329184"/>
          </a:xfrm>
          <a:prstGeom prst="rect">
            <a:avLst/>
          </a:prstGeom>
          <a:noFill/>
        </p:spPr>
        <p:txBody>
          <a:bodyPr anchor="t" rtlCol="false" lIns="0" tIns="0" rIns="0" bIns="0" wrap="square"/>
          <a:lstStyle/>
          <a:p>
            <a:pPr algn="l">
              <a:lnSpc>
                <a:spcPts val="2000"/>
              </a:lnSpc>
              <a:spcBef>
                <a:spcPts val="0"/>
              </a:spcBef>
              <a:buNone/>
            </a:pPr>
            <a:r>
              <a:rPr lang="en-US" sz="1500" b="true" spc="160">
                <a:solidFill>
                  <a:srgbClr val="1F7A8C"/>
                </a:solidFill>
                <a:latin typeface="Nunito Ultra-Bold"/>
                <a:ea typeface="Nunito Ultra-Bold"/>
                <a:cs typeface="Nunito Ultra-Bold"/>
                <a:sym typeface="Nunito Ultra-Bold"/>
              </a:rPr>
              <a:t>CONTRIBUTION I: EXPLAINABLE BLACK-BOX CLUSTERING</a:t>
            </a:r>
          </a:p>
        </p:txBody>
      </p:sp>
      <p:sp>
        <p:nvSpPr>
          <p:cNvPr id="6" name="Rounded Rectangle 5"/>
          <p:cNvSpPr/>
          <p:nvPr/>
        </p:nvSpPr>
        <p:spPr>
          <a:xfrm>
            <a:off x="14516100"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7" name="TextBox 6"/>
          <p:cNvSpPr txBox="1"/>
          <p:nvPr/>
        </p:nvSpPr>
        <p:spPr>
          <a:xfrm>
            <a:off x="14516100"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1</a:t>
            </a:r>
          </a:p>
        </p:txBody>
      </p:sp>
      <p:sp>
        <p:nvSpPr>
          <p:cNvPr id="8" name="Rounded Rectangle 7"/>
          <p:cNvSpPr/>
          <p:nvPr/>
        </p:nvSpPr>
        <p:spPr>
          <a:xfrm>
            <a:off x="14918436"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9" name="TextBox 8"/>
          <p:cNvSpPr txBox="1"/>
          <p:nvPr/>
        </p:nvSpPr>
        <p:spPr>
          <a:xfrm>
            <a:off x="14918436"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2</a:t>
            </a:r>
          </a:p>
        </p:txBody>
      </p:sp>
      <p:sp>
        <p:nvSpPr>
          <p:cNvPr id="10" name="Rounded Rectangle 9"/>
          <p:cNvSpPr/>
          <p:nvPr/>
        </p:nvSpPr>
        <p:spPr>
          <a:xfrm>
            <a:off x="15320772"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11" name="TextBox 10"/>
          <p:cNvSpPr txBox="1"/>
          <p:nvPr/>
        </p:nvSpPr>
        <p:spPr>
          <a:xfrm>
            <a:off x="15320772"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3</a:t>
            </a:r>
          </a:p>
        </p:txBody>
      </p:sp>
      <p:sp>
        <p:nvSpPr>
          <p:cNvPr id="12" name="Rounded Rectangle 11"/>
          <p:cNvSpPr/>
          <p:nvPr/>
        </p:nvSpPr>
        <p:spPr>
          <a:xfrm>
            <a:off x="15723108" y="1371600"/>
            <a:ext cx="329184" cy="329184"/>
          </a:xfrm>
          <a:prstGeom prst="roundRect">
            <a:avLst>
              <a:gd name="adj" fmla="val 16666"/>
            </a:avLst>
          </a:prstGeom>
          <a:solidFill>
            <a:srgbClr val="4472C4"/>
          </a:solidFill>
          <a:ln w="15875">
            <a:solidFill>
              <a:srgbClr val="4472C4"/>
            </a:solidFill>
          </a:ln>
        </p:spPr>
        <p:txBody>
          <a:bodyPr anchor="ctr" rtlCol="false" lIns="0" tIns="0" rIns="0" bIns="0" wrap="square"/>
          <a:lstStyle/>
          <a:p>
            <a:endParaRPr lang="en-US" sz="1800"/>
          </a:p>
        </p:txBody>
      </p:sp>
      <p:sp>
        <p:nvSpPr>
          <p:cNvPr id="13" name="TextBox 12"/>
          <p:cNvSpPr txBox="1"/>
          <p:nvPr/>
        </p:nvSpPr>
        <p:spPr>
          <a:xfrm>
            <a:off x="15723108"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FFFFFF"/>
                </a:solidFill>
                <a:latin typeface="Nunito Ultra-Bold"/>
                <a:ea typeface="Nunito Ultra-Bold"/>
                <a:cs typeface="Nunito Ultra-Bold"/>
                <a:sym typeface="Nunito Ultra-Bold"/>
              </a:rPr>
              <a:t>4</a:t>
            </a:r>
          </a:p>
        </p:txBody>
      </p:sp>
      <p:sp>
        <p:nvSpPr>
          <p:cNvPr id="14" name="Rounded Rectangle 13"/>
          <p:cNvSpPr/>
          <p:nvPr/>
        </p:nvSpPr>
        <p:spPr>
          <a:xfrm>
            <a:off x="16125444"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15" name="TextBox 14"/>
          <p:cNvSpPr txBox="1"/>
          <p:nvPr/>
        </p:nvSpPr>
        <p:spPr>
          <a:xfrm>
            <a:off x="16125444"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5</a:t>
            </a:r>
          </a:p>
        </p:txBody>
      </p:sp>
      <p:sp>
        <p:nvSpPr>
          <p:cNvPr id="16" name="Rounded Rectangle 15"/>
          <p:cNvSpPr/>
          <p:nvPr/>
        </p:nvSpPr>
        <p:spPr>
          <a:xfrm>
            <a:off x="16527780"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17" name="TextBox 16"/>
          <p:cNvSpPr txBox="1"/>
          <p:nvPr/>
        </p:nvSpPr>
        <p:spPr>
          <a:xfrm>
            <a:off x="16527780"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6</a:t>
            </a:r>
          </a:p>
        </p:txBody>
      </p:sp>
      <p:sp>
        <p:nvSpPr>
          <p:cNvPr id="18" name="Rounded Rectangle 17"/>
          <p:cNvSpPr/>
          <p:nvPr/>
        </p:nvSpPr>
        <p:spPr>
          <a:xfrm>
            <a:off x="16930116"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19" name="TextBox 18"/>
          <p:cNvSpPr txBox="1"/>
          <p:nvPr/>
        </p:nvSpPr>
        <p:spPr>
          <a:xfrm>
            <a:off x="16930116"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7</a:t>
            </a:r>
          </a:p>
        </p:txBody>
      </p:sp>
      <p:sp>
        <p:nvSpPr>
          <p:cNvPr id="20" name="TextBox 19"/>
          <p:cNvSpPr txBox="1"/>
          <p:nvPr/>
        </p:nvSpPr>
        <p:spPr>
          <a:xfrm>
            <a:off x="1028700" y="1719072"/>
            <a:ext cx="16230600" cy="730250"/>
          </a:xfrm>
          <a:prstGeom prst="rect">
            <a:avLst/>
          </a:prstGeom>
          <a:noFill/>
        </p:spPr>
        <p:txBody>
          <a:bodyPr anchor="t" rtlCol="false" lIns="0" tIns="0" rIns="0" bIns="0" wrap="square"/>
          <a:lstStyle/>
          <a:p>
            <a:pPr algn="l">
              <a:lnSpc>
                <a:spcPts val="5060"/>
              </a:lnSpc>
              <a:spcBef>
                <a:spcPts val="0"/>
              </a:spcBef>
              <a:buNone/>
            </a:pPr>
            <a:r>
              <a:rPr lang="en-US" sz="4600" b="true" spc="-230">
                <a:solidFill>
                  <a:srgbClr val="111111"/>
                </a:solidFill>
                <a:latin typeface="Roca Two Bold"/>
                <a:ea typeface="Roca Two Bold"/>
                <a:cs typeface="Roca Two Bold"/>
                <a:sym typeface="Roca Two Bold"/>
              </a:rPr>
              <a:t>RQ1 and Objectives</a:t>
            </a:r>
          </a:p>
        </p:txBody>
      </p:sp>
      <p:sp>
        <p:nvSpPr>
          <p:cNvPr id="21" name="Rounded Rectangle 20"/>
          <p:cNvSpPr/>
          <p:nvPr/>
        </p:nvSpPr>
        <p:spPr>
          <a:xfrm>
            <a:off x="1028700" y="2559050"/>
            <a:ext cx="1691553" cy="420624"/>
          </a:xfrm>
          <a:prstGeom prst="roundRect">
            <a:avLst>
              <a:gd name="adj" fmla="val 50000"/>
            </a:avLst>
          </a:prstGeom>
          <a:solidFill>
            <a:srgbClr val="4472C4"/>
          </a:solidFill>
          <a:ln>
            <a:noFill/>
          </a:ln>
        </p:spPr>
        <p:txBody>
          <a:bodyPr anchor="ctr" rtlCol="false" lIns="45720" tIns="0" rIns="45720" bIns="0" wrap="square"/>
          <a:lstStyle/>
          <a:p>
            <a:pPr algn="ctr">
              <a:lnSpc>
                <a:spcPts val="2160"/>
              </a:lnSpc>
              <a:spcBef>
                <a:spcPts val="0"/>
              </a:spcBef>
              <a:buNone/>
            </a:pPr>
            <a:r>
              <a:rPr lang="en-US" sz="1800" b="true">
                <a:solidFill>
                  <a:srgbClr val="FFFFFF"/>
                </a:solidFill>
                <a:latin typeface="Nunito Bold"/>
                <a:ea typeface="Nunito Bold"/>
                <a:cs typeface="Nunito Bold"/>
                <a:sym typeface="Nunito Bold"/>
              </a:rPr>
              <a:t>Objectives</a:t>
            </a:r>
          </a:p>
        </p:txBody>
      </p:sp>
      <p:sp>
        <p:nvSpPr>
          <p:cNvPr id="22" name="Rounded Rectangle 21"/>
          <p:cNvSpPr/>
          <p:nvPr/>
        </p:nvSpPr>
        <p:spPr>
          <a:xfrm>
            <a:off x="2848269" y="2559050"/>
            <a:ext cx="1998119" cy="420624"/>
          </a:xfrm>
          <a:prstGeom prst="roundRect">
            <a:avLst>
              <a:gd name="adj" fmla="val 50000"/>
            </a:avLst>
          </a:prstGeom>
          <a:noFill/>
          <a:ln w="28575">
            <a:solidFill>
              <a:srgbClr val="4472C4"/>
            </a:solidFill>
          </a:ln>
        </p:spPr>
        <p:txBody>
          <a:bodyPr anchor="ctr" rtlCol="false" lIns="45720" tIns="0" rIns="45720" bIns="0" wrap="square"/>
          <a:lstStyle/>
          <a:p>
            <a:pPr algn="ctr">
              <a:lnSpc>
                <a:spcPts val="2160"/>
              </a:lnSpc>
              <a:spcBef>
                <a:spcPts val="0"/>
              </a:spcBef>
              <a:buNone/>
            </a:pPr>
            <a:r>
              <a:rPr lang="en-US" sz="1800" b="true">
                <a:solidFill>
                  <a:srgbClr val="4472C4"/>
                </a:solidFill>
                <a:latin typeface="Nunito Bold"/>
                <a:ea typeface="Nunito Bold"/>
                <a:cs typeface="Nunito Bold"/>
                <a:sym typeface="Nunito Bold"/>
              </a:rPr>
              <a:t>Methodology</a:t>
            </a:r>
          </a:p>
        </p:txBody>
      </p:sp>
      <p:sp>
        <p:nvSpPr>
          <p:cNvPr id="23" name="Rounded Rectangle 22"/>
          <p:cNvSpPr/>
          <p:nvPr/>
        </p:nvSpPr>
        <p:spPr>
          <a:xfrm>
            <a:off x="4974404" y="2559050"/>
            <a:ext cx="1369446" cy="420624"/>
          </a:xfrm>
          <a:prstGeom prst="roundRect">
            <a:avLst>
              <a:gd name="adj" fmla="val 50000"/>
            </a:avLst>
          </a:prstGeom>
          <a:noFill/>
          <a:ln w="28575">
            <a:solidFill>
              <a:srgbClr val="4472C4"/>
            </a:solidFill>
          </a:ln>
        </p:spPr>
        <p:txBody>
          <a:bodyPr anchor="ctr" rtlCol="false" lIns="45720" tIns="0" rIns="45720" bIns="0" wrap="square"/>
          <a:lstStyle/>
          <a:p>
            <a:pPr algn="ctr">
              <a:lnSpc>
                <a:spcPts val="2160"/>
              </a:lnSpc>
              <a:spcBef>
                <a:spcPts val="0"/>
              </a:spcBef>
              <a:buNone/>
            </a:pPr>
            <a:r>
              <a:rPr lang="en-US" sz="1800" b="true">
                <a:solidFill>
                  <a:srgbClr val="4472C4"/>
                </a:solidFill>
                <a:latin typeface="Nunito Bold"/>
                <a:ea typeface="Nunito Bold"/>
                <a:cs typeface="Nunito Bold"/>
                <a:sym typeface="Nunito Bold"/>
              </a:rPr>
              <a:t>Results</a:t>
            </a:r>
          </a:p>
        </p:txBody>
      </p:sp>
      <p:sp>
        <p:nvSpPr>
          <p:cNvPr id="24" name="Rounded Rectangle 23"/>
          <p:cNvSpPr/>
          <p:nvPr/>
        </p:nvSpPr>
        <p:spPr>
          <a:xfrm>
            <a:off x="6471866" y="2559050"/>
            <a:ext cx="1474931" cy="420624"/>
          </a:xfrm>
          <a:prstGeom prst="roundRect">
            <a:avLst>
              <a:gd name="adj" fmla="val 50000"/>
            </a:avLst>
          </a:prstGeom>
          <a:noFill/>
          <a:ln w="28575">
            <a:solidFill>
              <a:srgbClr val="4472C4"/>
            </a:solidFill>
          </a:ln>
        </p:spPr>
        <p:txBody>
          <a:bodyPr anchor="ctr" rtlCol="false" lIns="45720" tIns="0" rIns="45720" bIns="0" wrap="square"/>
          <a:lstStyle/>
          <a:p>
            <a:pPr algn="ctr">
              <a:lnSpc>
                <a:spcPts val="2160"/>
              </a:lnSpc>
              <a:spcBef>
                <a:spcPts val="0"/>
              </a:spcBef>
              <a:buNone/>
            </a:pPr>
            <a:r>
              <a:rPr lang="en-US" sz="1800" b="true">
                <a:solidFill>
                  <a:srgbClr val="4472C4"/>
                </a:solidFill>
                <a:latin typeface="Nunito Bold"/>
                <a:ea typeface="Nunito Bold"/>
                <a:cs typeface="Nunito Bold"/>
                <a:sym typeface="Nunito Bold"/>
              </a:rPr>
              <a:t>Findings</a:t>
            </a:r>
          </a:p>
        </p:txBody>
      </p:sp>
      <p:sp>
        <p:nvSpPr>
          <p:cNvPr id="25" name="Rounded Rectangle 24"/>
          <p:cNvSpPr/>
          <p:nvPr/>
        </p:nvSpPr>
        <p:spPr>
          <a:xfrm>
            <a:off x="1028700" y="3546602"/>
            <a:ext cx="16230600" cy="1325880"/>
          </a:xfrm>
          <a:prstGeom prst="roundRect">
            <a:avLst>
              <a:gd name="adj" fmla="val 15172"/>
            </a:avLst>
          </a:prstGeom>
          <a:solidFill>
            <a:srgbClr val="F6ECDF"/>
          </a:solidFill>
          <a:ln w="25400">
            <a:solidFill>
              <a:srgbClr val="4472C4"/>
            </a:solidFill>
          </a:ln>
        </p:spPr>
        <p:txBody>
          <a:bodyPr anchor="ctr" rtlCol="false" lIns="0" tIns="0" rIns="0" bIns="0" wrap="square"/>
          <a:lstStyle/>
          <a:p>
            <a:endParaRPr lang="en-US" sz="1800"/>
          </a:p>
        </p:txBody>
      </p:sp>
      <p:sp>
        <p:nvSpPr>
          <p:cNvPr id="26" name="Rounded Rectangle 25"/>
          <p:cNvSpPr/>
          <p:nvPr/>
        </p:nvSpPr>
        <p:spPr>
          <a:xfrm>
            <a:off x="1348740" y="3354578"/>
            <a:ext cx="927910" cy="384048"/>
          </a:xfrm>
          <a:prstGeom prst="roundRect">
            <a:avLst>
              <a:gd name="adj" fmla="val 50000"/>
            </a:avLst>
          </a:prstGeom>
          <a:solidFill>
            <a:srgbClr val="4472C4"/>
          </a:solidFill>
          <a:ln w="28575">
            <a:solidFill>
              <a:srgbClr val="4472C4"/>
            </a:solidFill>
          </a:ln>
        </p:spPr>
        <p:txBody>
          <a:bodyPr anchor="ctr" rtlCol="false" lIns="45720" tIns="0" rIns="45720" bIns="0" wrap="square"/>
          <a:lstStyle/>
          <a:p>
            <a:pPr algn="ctr">
              <a:lnSpc>
                <a:spcPts val="1680"/>
              </a:lnSpc>
              <a:spcBef>
                <a:spcPts val="0"/>
              </a:spcBef>
              <a:buNone/>
            </a:pPr>
            <a:r>
              <a:rPr lang="en-US" sz="1400" b="true">
                <a:solidFill>
                  <a:srgbClr val="FFFFFF"/>
                </a:solidFill>
                <a:latin typeface="Nunito Bold"/>
                <a:ea typeface="Nunito Bold"/>
                <a:cs typeface="Nunito Bold"/>
                <a:sym typeface="Nunito Bold"/>
              </a:rPr>
              <a:t>RQ1</a:t>
            </a:r>
          </a:p>
        </p:txBody>
      </p:sp>
      <p:sp>
        <p:nvSpPr>
          <p:cNvPr id="27" name="TextBox 26"/>
          <p:cNvSpPr txBox="1"/>
          <p:nvPr/>
        </p:nvSpPr>
        <p:spPr>
          <a:xfrm>
            <a:off x="1394460" y="3820922"/>
            <a:ext cx="15499080" cy="914400"/>
          </a:xfrm>
          <a:prstGeom prst="rect">
            <a:avLst/>
          </a:prstGeom>
          <a:noFill/>
        </p:spPr>
        <p:txBody>
          <a:bodyPr anchor="ctr" rtlCol="false" lIns="0" tIns="0" rIns="0" bIns="0" wrap="square"/>
          <a:lstStyle/>
          <a:p>
            <a:pPr algn="l">
              <a:lnSpc>
                <a:spcPts val="3080"/>
              </a:lnSpc>
              <a:spcBef>
                <a:spcPts val="0"/>
              </a:spcBef>
              <a:buNone/>
            </a:pPr>
            <a:r>
              <a:rPr lang="en-US" sz="2200" b="true">
                <a:solidFill>
                  <a:srgbClr val="111111"/>
                </a:solidFill>
                <a:latin typeface="Nunito Semi-Bold"/>
                <a:ea typeface="Nunito Semi-Bold"/>
                <a:cs typeface="Nunito Semi-Bold"/>
                <a:sym typeface="Nunito Semi-Bold"/>
              </a:rPr>
              <a:t>How can Shapley values explain black-box clustering </a:t>
            </a:r>
            <a:r>
              <a:rPr lang="en-US" sz="2200" b="true">
                <a:solidFill>
                  <a:srgbClr val="111111"/>
                </a:solidFill>
                <a:latin typeface="Nunito Bold"/>
                <a:ea typeface="Nunito Bold"/>
                <a:cs typeface="Nunito Bold"/>
                <a:sym typeface="Nunito Bold"/>
              </a:rPr>
              <a:t>faithfully</a:t>
            </a:r>
            <a:r>
              <a:rPr lang="en-US" sz="2200" b="true">
                <a:solidFill>
                  <a:srgbClr val="111111"/>
                </a:solidFill>
                <a:latin typeface="Nunito Semi-Bold"/>
                <a:ea typeface="Nunito Semi-Bold"/>
                <a:cs typeface="Nunito Semi-Bold"/>
                <a:sym typeface="Nunito Semi-Bold"/>
              </a:rPr>
              <a:t>, at both instance level and cluster level?</a:t>
            </a:r>
          </a:p>
        </p:txBody>
      </p:sp>
      <p:graphicFrame>
        <p:nvGraphicFramePr>
          <p:cNvPr id="28" name="Table 27"/>
          <p:cNvGraphicFramePr>
            <a:graphicFrameLocks noGrp="1"/>
          </p:cNvGraphicFramePr>
          <p:nvPr/>
        </p:nvGraphicFramePr>
        <p:xfrm>
          <a:off x="1028700" y="5283962"/>
          <a:ext cx="16230599" cy="3291840"/>
        </p:xfrm>
        <a:graphic>
          <a:graphicData uri="http://schemas.openxmlformats.org/drawingml/2006/table">
            <a:tbl>
              <a:tblPr firstRow="0" bandRow="0" firstCol="0" lastRow="0" lastCol="0" bandCol="0">
                <a:tableStyleId>{2D5ABB26-0587-4C30-8999-92F81FD0307C}</a:tableStyleId>
              </a:tblPr>
              <a:tblGrid>
                <a:gridCol w="4785946"/>
                <a:gridCol w="7699130"/>
                <a:gridCol w="3745523"/>
              </a:tblGrid>
              <a:tr h="822960">
                <a:tc>
                  <a:txBody>
                    <a:bodyPr anchor="ctr" rtlCol="false" lIns="0" tIns="0" rIns="0" bIns="0" wrap="square"/>
                    <a:lstStyle/>
                    <a:p>
                      <a:pPr algn="l">
                        <a:lnSpc>
                          <a:spcPts val="2210"/>
                        </a:lnSpc>
                        <a:spcBef>
                          <a:spcPts val="0"/>
                        </a:spcBef>
                        <a:buNone/>
                      </a:pPr>
                      <a:r>
                        <a:rPr lang="en-US" sz="1700" b="true">
                          <a:solidFill>
                            <a:srgbClr val="FFFFFF"/>
                          </a:solidFill>
                          <a:latin typeface="Nunito Bold"/>
                          <a:ea typeface="Nunito Bold"/>
                          <a:cs typeface="Nunito Bold"/>
                          <a:sym typeface="Nunito Bold"/>
                        </a:rPr>
                        <a:t>Objective</a:t>
                      </a:r>
                    </a:p>
                  </a:txBody>
                  <a:tcPr marL="82296" marR="82296" marT="45720" marB="45720" anchor="ctr">
                    <a:lnL w="12700" cap="flat" cmpd="sng" algn="ctr">
                      <a:solidFill>
                        <a:srgbClr val="4472C4"/>
                      </a:solidFill>
                      <a:prstDash val="solid"/>
                    </a:lnL>
                    <a:lnR w="12700" cap="flat" cmpd="sng" algn="ctr">
                      <a:solidFill>
                        <a:srgbClr val="4472C4"/>
                      </a:solidFill>
                      <a:prstDash val="solid"/>
                    </a:lnR>
                    <a:lnT w="12700" cap="flat" cmpd="sng" algn="ctr">
                      <a:solidFill>
                        <a:srgbClr val="4472C4"/>
                      </a:solidFill>
                      <a:prstDash val="solid"/>
                    </a:lnT>
                    <a:lnB w="12700" cap="flat" cmpd="sng" algn="ctr">
                      <a:solidFill>
                        <a:srgbClr val="4472C4"/>
                      </a:solidFill>
                      <a:prstDash val="solid"/>
                    </a:lnB>
                    <a:solidFill>
                      <a:srgbClr val="4472C4"/>
                    </a:solidFill>
                  </a:tcPr>
                </a:tc>
                <a:tc>
                  <a:txBody>
                    <a:bodyPr anchor="ctr" rtlCol="false" lIns="0" tIns="0" rIns="0" bIns="0" wrap="square"/>
                    <a:lstStyle/>
                    <a:p>
                      <a:pPr algn="l">
                        <a:lnSpc>
                          <a:spcPts val="2210"/>
                        </a:lnSpc>
                        <a:spcBef>
                          <a:spcPts val="0"/>
                        </a:spcBef>
                        <a:buNone/>
                      </a:pPr>
                      <a:r>
                        <a:rPr lang="en-US" sz="1700" b="true">
                          <a:solidFill>
                            <a:srgbClr val="FFFFFF"/>
                          </a:solidFill>
                          <a:latin typeface="Nunito Bold"/>
                          <a:ea typeface="Nunito Bold"/>
                          <a:cs typeface="Nunito Bold"/>
                          <a:sym typeface="Nunito Bold"/>
                        </a:rPr>
                        <a:t>What it delivers</a:t>
                      </a:r>
                    </a:p>
                  </a:txBody>
                  <a:tcPr marL="82296" marR="82296" marT="45720" marB="45720" anchor="ctr">
                    <a:lnL w="12700" cap="flat" cmpd="sng" algn="ctr">
                      <a:solidFill>
                        <a:srgbClr val="4472C4"/>
                      </a:solidFill>
                      <a:prstDash val="solid"/>
                    </a:lnL>
                    <a:lnR w="12700" cap="flat" cmpd="sng" algn="ctr">
                      <a:solidFill>
                        <a:srgbClr val="4472C4"/>
                      </a:solidFill>
                      <a:prstDash val="solid"/>
                    </a:lnR>
                    <a:lnT w="12700" cap="flat" cmpd="sng" algn="ctr">
                      <a:solidFill>
                        <a:srgbClr val="4472C4"/>
                      </a:solidFill>
                      <a:prstDash val="solid"/>
                    </a:lnT>
                    <a:lnB w="12700" cap="flat" cmpd="sng" algn="ctr">
                      <a:solidFill>
                        <a:srgbClr val="4472C4"/>
                      </a:solidFill>
                      <a:prstDash val="solid"/>
                    </a:lnB>
                    <a:solidFill>
                      <a:srgbClr val="4472C4"/>
                    </a:solidFill>
                  </a:tcPr>
                </a:tc>
                <a:tc>
                  <a:txBody>
                    <a:bodyPr anchor="ctr" rtlCol="false" lIns="0" tIns="0" rIns="0" bIns="0" wrap="square"/>
                    <a:lstStyle/>
                    <a:p>
                      <a:pPr algn="l">
                        <a:lnSpc>
                          <a:spcPts val="2210"/>
                        </a:lnSpc>
                        <a:spcBef>
                          <a:spcPts val="0"/>
                        </a:spcBef>
                        <a:buNone/>
                      </a:pPr>
                      <a:r>
                        <a:rPr lang="en-US" sz="1700" b="true">
                          <a:solidFill>
                            <a:srgbClr val="FFFFFF"/>
                          </a:solidFill>
                          <a:latin typeface="Nunito Bold"/>
                          <a:ea typeface="Nunito Bold"/>
                          <a:cs typeface="Nunito Bold"/>
                          <a:sym typeface="Nunito Bold"/>
                        </a:rPr>
                        <a:t>Where it is shown</a:t>
                      </a:r>
                    </a:p>
                  </a:txBody>
                  <a:tcPr marL="82296" marR="82296" marT="45720" marB="45720" anchor="ctr">
                    <a:lnL w="12700" cap="flat" cmpd="sng" algn="ctr">
                      <a:solidFill>
                        <a:srgbClr val="4472C4"/>
                      </a:solidFill>
                      <a:prstDash val="solid"/>
                    </a:lnL>
                    <a:lnR w="12700" cap="flat" cmpd="sng" algn="ctr">
                      <a:solidFill>
                        <a:srgbClr val="4472C4"/>
                      </a:solidFill>
                      <a:prstDash val="solid"/>
                    </a:lnR>
                    <a:lnT w="12700" cap="flat" cmpd="sng" algn="ctr">
                      <a:solidFill>
                        <a:srgbClr val="4472C4"/>
                      </a:solidFill>
                      <a:prstDash val="solid"/>
                    </a:lnT>
                    <a:lnB w="12700" cap="flat" cmpd="sng" algn="ctr">
                      <a:solidFill>
                        <a:srgbClr val="4472C4"/>
                      </a:solidFill>
                      <a:prstDash val="solid"/>
                    </a:lnB>
                    <a:solidFill>
                      <a:srgbClr val="4472C4"/>
                    </a:solidFill>
                  </a:tcPr>
                </a:tc>
              </a:tr>
              <a:tr h="822960">
                <a:tc>
                  <a:txBody>
                    <a:bodyPr anchor="ctr" rtlCol="false" lIns="0" tIns="0" rIns="0" bIns="0" wrap="square"/>
                    <a:lstStyle/>
                    <a:p>
                      <a:pPr algn="l">
                        <a:lnSpc>
                          <a:spcPts val="2340"/>
                        </a:lnSpc>
                        <a:spcBef>
                          <a:spcPts val="0"/>
                        </a:spcBef>
                        <a:buNone/>
                      </a:pPr>
                      <a:r>
                        <a:rPr lang="en-US" sz="1800" b="true">
                          <a:solidFill>
                            <a:srgbClr val="111111"/>
                          </a:solidFill>
                          <a:latin typeface="Nunito Bold"/>
                          <a:ea typeface="Nunito Bold"/>
                          <a:cs typeface="Nunito Bold"/>
                          <a:sym typeface="Nunito Bold"/>
                        </a:rPr>
                        <a:t>O1  ·  Cluster-level explanation</a:t>
                      </a:r>
                    </a:p>
                  </a:txBody>
                  <a:tcPr marL="82296" marR="82296"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c>
                  <a:txBody>
                    <a:bodyPr anchor="ctr" rtlCol="false" lIns="0" tIns="0" rIns="0" bIns="0" wrap="square"/>
                    <a:lstStyle/>
                    <a:p>
                      <a:pPr algn="l">
                        <a:lnSpc>
                          <a:spcPts val="2340"/>
                        </a:lnSpc>
                        <a:spcBef>
                          <a:spcPts val="0"/>
                        </a:spcBef>
                        <a:buNone/>
                      </a:pPr>
                      <a:r>
                        <a:rPr lang="en-US" sz="1800" b="true">
                          <a:solidFill>
                            <a:srgbClr val="111111"/>
                          </a:solidFill>
                          <a:latin typeface="Nunito Semi-Bold"/>
                          <a:ea typeface="Nunito Semi-Bold"/>
                          <a:cs typeface="Nunito Semi-Bold"/>
                          <a:sym typeface="Nunito Semi-Bold"/>
                        </a:rPr>
                        <a:t>A pipeline that yields a cluster-level explanation while keeping </a:t>
                      </a:r>
                      <a:r>
                        <a:rPr lang="en-US" sz="1800" b="true">
                          <a:solidFill>
                            <a:srgbClr val="111111"/>
                          </a:solidFill>
                          <a:latin typeface="Nunito Bold"/>
                          <a:ea typeface="Nunito Bold"/>
                          <a:cs typeface="Nunito Bold"/>
                          <a:sym typeface="Nunito Bold"/>
                        </a:rPr>
                        <a:t>feature-level attribution</a:t>
                      </a:r>
                      <a:r>
                        <a:rPr lang="en-US" sz="1800" b="true">
                          <a:solidFill>
                            <a:srgbClr val="111111"/>
                          </a:solidFill>
                          <a:latin typeface="Nunito Semi-Bold"/>
                          <a:ea typeface="Nunito Semi-Bold"/>
                          <a:cs typeface="Nunito Semi-Bold"/>
                          <a:sym typeface="Nunito Semi-Bold"/>
                        </a:rPr>
                        <a:t>.</a:t>
                      </a:r>
                    </a:p>
                  </a:txBody>
                  <a:tcPr marL="82296" marR="82296"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c>
                  <a:txBody>
                    <a:bodyPr anchor="ctr" rtlCol="false" lIns="0" tIns="0" rIns="0" bIns="0" wrap="square"/>
                    <a:lstStyle/>
                    <a:p>
                      <a:pPr algn="l">
                        <a:lnSpc>
                          <a:spcPts val="2340"/>
                        </a:lnSpc>
                        <a:spcBef>
                          <a:spcPts val="0"/>
                        </a:spcBef>
                        <a:buNone/>
                      </a:pPr>
                      <a:r>
                        <a:rPr lang="en-US" sz="1800" b="true">
                          <a:solidFill>
                            <a:srgbClr val="111111"/>
                          </a:solidFill>
                          <a:latin typeface="Nunito Semi-Bold"/>
                          <a:ea typeface="Nunito Semi-Bold"/>
                          <a:cs typeface="Nunito Semi-Bold"/>
                          <a:sym typeface="Nunito Semi-Bold"/>
                        </a:rPr>
                        <a:t>Fig. 5.2, cluster profiles</a:t>
                      </a:r>
                    </a:p>
                  </a:txBody>
                  <a:tcPr marL="82296" marR="82296"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r>
              <a:tr h="822960">
                <a:tc>
                  <a:txBody>
                    <a:bodyPr anchor="ctr" rtlCol="false" lIns="0" tIns="0" rIns="0" bIns="0" wrap="square"/>
                    <a:lstStyle/>
                    <a:p>
                      <a:pPr algn="l">
                        <a:lnSpc>
                          <a:spcPts val="2340"/>
                        </a:lnSpc>
                        <a:spcBef>
                          <a:spcPts val="0"/>
                        </a:spcBef>
                        <a:buNone/>
                      </a:pPr>
                      <a:r>
                        <a:rPr lang="en-US" sz="1800" b="true">
                          <a:solidFill>
                            <a:srgbClr val="111111"/>
                          </a:solidFill>
                          <a:latin typeface="Nunito Bold"/>
                          <a:ea typeface="Nunito Bold"/>
                          <a:cs typeface="Nunito Bold"/>
                          <a:sym typeface="Nunito Bold"/>
                        </a:rPr>
                        <a:t>O2  ·  Original feature space</a:t>
                      </a:r>
                    </a:p>
                  </a:txBody>
                  <a:tcPr marL="82296" marR="82296"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6ECDF"/>
                    </a:solidFill>
                  </a:tcPr>
                </a:tc>
                <a:tc>
                  <a:txBody>
                    <a:bodyPr anchor="ctr" rtlCol="false" lIns="0" tIns="0" rIns="0" bIns="0" wrap="square"/>
                    <a:lstStyle/>
                    <a:p>
                      <a:pPr algn="l">
                        <a:lnSpc>
                          <a:spcPts val="2340"/>
                        </a:lnSpc>
                        <a:spcBef>
                          <a:spcPts val="0"/>
                        </a:spcBef>
                        <a:buNone/>
                      </a:pPr>
                      <a:r>
                        <a:rPr lang="en-US" sz="1800" b="true">
                          <a:solidFill>
                            <a:srgbClr val="111111"/>
                          </a:solidFill>
                          <a:latin typeface="Nunito Semi-Bold"/>
                          <a:ea typeface="Nunito Semi-Bold"/>
                          <a:cs typeface="Nunito Semi-Bold"/>
                          <a:sym typeface="Nunito Semi-Bold"/>
                        </a:rPr>
                        <a:t>Attribution in the </a:t>
                      </a:r>
                      <a:r>
                        <a:rPr lang="en-US" sz="1800" b="true">
                          <a:solidFill>
                            <a:srgbClr val="111111"/>
                          </a:solidFill>
                          <a:latin typeface="Nunito Bold"/>
                          <a:ea typeface="Nunito Bold"/>
                          <a:cs typeface="Nunito Bold"/>
                          <a:sym typeface="Nunito Bold"/>
                        </a:rPr>
                        <a:t>original variables</a:t>
                      </a:r>
                      <a:r>
                        <a:rPr lang="en-US" sz="1800" b="true">
                          <a:solidFill>
                            <a:srgbClr val="111111"/>
                          </a:solidFill>
                          <a:latin typeface="Nunito Semi-Bold"/>
                          <a:ea typeface="Nunito Semi-Bold"/>
                          <a:cs typeface="Nunito Semi-Bold"/>
                          <a:sym typeface="Nunito Semi-Bold"/>
                        </a:rPr>
                        <a:t> (density, pH, acidity, sulfur dioxide, alcohol), not in a reduced latent space.</a:t>
                      </a:r>
                    </a:p>
                  </a:txBody>
                  <a:tcPr marL="82296" marR="82296"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6ECDF"/>
                    </a:solidFill>
                  </a:tcPr>
                </a:tc>
                <a:tc>
                  <a:txBody>
                    <a:bodyPr anchor="ctr" rtlCol="false" lIns="0" tIns="0" rIns="0" bIns="0" wrap="square"/>
                    <a:lstStyle/>
                    <a:p>
                      <a:pPr algn="l">
                        <a:lnSpc>
                          <a:spcPts val="2340"/>
                        </a:lnSpc>
                        <a:spcBef>
                          <a:spcPts val="0"/>
                        </a:spcBef>
                        <a:buNone/>
                      </a:pPr>
                      <a:r>
                        <a:rPr lang="en-US" sz="1800" b="true">
                          <a:solidFill>
                            <a:srgbClr val="111111"/>
                          </a:solidFill>
                          <a:latin typeface="Nunito Semi-Bold"/>
                          <a:ea typeface="Nunito Semi-Bold"/>
                          <a:cs typeface="Nunito Semi-Bold"/>
                          <a:sym typeface="Nunito Semi-Bold"/>
                        </a:rPr>
                        <a:t>Fig. 5.1, global ranking</a:t>
                      </a:r>
                    </a:p>
                  </a:txBody>
                  <a:tcPr marL="82296" marR="82296"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6ECDF"/>
                    </a:solidFill>
                  </a:tcPr>
                </a:tc>
              </a:tr>
              <a:tr h="822960">
                <a:tc>
                  <a:txBody>
                    <a:bodyPr anchor="ctr" rtlCol="false" lIns="0" tIns="0" rIns="0" bIns="0" wrap="square"/>
                    <a:lstStyle/>
                    <a:p>
                      <a:pPr algn="l">
                        <a:lnSpc>
                          <a:spcPts val="2340"/>
                        </a:lnSpc>
                        <a:spcBef>
                          <a:spcPts val="0"/>
                        </a:spcBef>
                        <a:buNone/>
                      </a:pPr>
                      <a:r>
                        <a:rPr lang="en-US" sz="1800" b="true">
                          <a:solidFill>
                            <a:srgbClr val="111111"/>
                          </a:solidFill>
                          <a:latin typeface="Nunito Bold"/>
                          <a:ea typeface="Nunito Bold"/>
                          <a:cs typeface="Nunito Bold"/>
                          <a:sym typeface="Nunito Bold"/>
                        </a:rPr>
                        <a:t>O3  ·  Justify Shapley over LIME</a:t>
                      </a:r>
                    </a:p>
                  </a:txBody>
                  <a:tcPr marL="82296" marR="82296"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c>
                  <a:txBody>
                    <a:bodyPr anchor="ctr" rtlCol="false" lIns="0" tIns="0" rIns="0" bIns="0" wrap="square"/>
                    <a:lstStyle/>
                    <a:p>
                      <a:pPr algn="l">
                        <a:lnSpc>
                          <a:spcPts val="2340"/>
                        </a:lnSpc>
                        <a:spcBef>
                          <a:spcPts val="0"/>
                        </a:spcBef>
                        <a:buNone/>
                      </a:pPr>
                      <a:r>
                        <a:rPr lang="en-US" sz="1800" b="true">
                          <a:solidFill>
                            <a:srgbClr val="111111"/>
                          </a:solidFill>
                          <a:latin typeface="Nunito Semi-Bold"/>
                          <a:ea typeface="Nunito Semi-Bold"/>
                          <a:cs typeface="Nunito Semi-Bold"/>
                          <a:sym typeface="Nunito Semi-Bold"/>
                        </a:rPr>
                        <a:t>An argument from the </a:t>
                      </a:r>
                      <a:r>
                        <a:rPr lang="en-US" sz="1800" b="true">
                          <a:solidFill>
                            <a:srgbClr val="111111"/>
                          </a:solidFill>
                          <a:latin typeface="Nunito Bold"/>
                          <a:ea typeface="Nunito Bold"/>
                          <a:cs typeface="Nunito Bold"/>
                          <a:sym typeface="Nunito Bold"/>
                        </a:rPr>
                        <a:t>four axioms</a:t>
                      </a:r>
                      <a:r>
                        <a:rPr lang="en-US" sz="1800" b="true">
                          <a:solidFill>
                            <a:srgbClr val="111111"/>
                          </a:solidFill>
                          <a:latin typeface="Nunito Semi-Bold"/>
                          <a:ea typeface="Nunito Semi-Bold"/>
                          <a:cs typeface="Nunito Semi-Bold"/>
                          <a:sym typeface="Nunito Semi-Bold"/>
                        </a:rPr>
                        <a:t> for why the cooperative concept is the right one.</a:t>
                      </a:r>
                    </a:p>
                  </a:txBody>
                  <a:tcPr marL="82296" marR="82296"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c>
                  <a:txBody>
                    <a:bodyPr anchor="ctr" rtlCol="false" lIns="0" tIns="0" rIns="0" bIns="0" wrap="square"/>
                    <a:lstStyle/>
                    <a:p>
                      <a:pPr algn="l">
                        <a:lnSpc>
                          <a:spcPts val="2340"/>
                        </a:lnSpc>
                        <a:spcBef>
                          <a:spcPts val="0"/>
                        </a:spcBef>
                        <a:buNone/>
                      </a:pPr>
                      <a:r>
                        <a:rPr lang="en-US" sz="1800" b="true">
                          <a:solidFill>
                            <a:srgbClr val="111111"/>
                          </a:solidFill>
                          <a:latin typeface="Nunito Semi-Bold"/>
                          <a:ea typeface="Nunito Semi-Bold"/>
                          <a:cs typeface="Nunito Semi-Bold"/>
                          <a:sym typeface="Nunito Semi-Bold"/>
                        </a:rPr>
                        <a:t>SHAP vs LIME comparison</a:t>
                      </a:r>
                    </a:p>
                  </a:txBody>
                  <a:tcPr marL="82296" marR="82296"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r>
            </a:tbl>
          </a:graphicData>
        </a:graphic>
      </p:graphicFrame>
    </p:spTree>
  </p:cSld>
  <p:clrMapOvr>
    <a:masterClrMapping/>
  </p:clrMapOvr>
</p:sld>
</file>

<file path=ppt/slides/slide4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pic>
        <p:nvPicPr>
          <p:cNvPr id="2" name="Picture 1" descr="ensias_logo.jpg"/>
          <p:cNvPicPr>
            <a:picLocks noChangeAspect="1"/>
          </p:cNvPicPr>
          <p:nvPr/>
        </p:nvPicPr>
        <p:blipFill>
          <a:blip r:embed="rId2"/>
          <a:stretch>
            <a:fillRect/>
          </a:stretch>
        </p:blipFill>
        <p:spPr>
          <a:xfrm>
            <a:off x="1028700" y="9674352"/>
            <a:ext cx="542964" cy="384048"/>
          </a:xfrm>
          <a:prstGeom prst="rect">
            <a:avLst/>
          </a:prstGeom>
        </p:spPr>
      </p:pic>
      <p:sp>
        <p:nvSpPr>
          <p:cNvPr id="3" name="TextBox 2"/>
          <p:cNvSpPr txBox="1"/>
          <p:nvPr/>
        </p:nvSpPr>
        <p:spPr>
          <a:xfrm>
            <a:off x="1577340" y="9601200"/>
            <a:ext cx="14493240" cy="566928"/>
          </a:xfrm>
          <a:prstGeom prst="rect">
            <a:avLst/>
          </a:prstGeom>
          <a:noFill/>
        </p:spPr>
        <p:txBody>
          <a:bodyPr anchor="ctr" rtlCol="false" lIns="0" tIns="0" rIns="0" bIns="0" wrap="square"/>
          <a:lstStyle/>
          <a:p>
            <a:pPr algn="l">
              <a:lnSpc>
                <a:spcPts val="1200"/>
              </a:lnSpc>
              <a:spcBef>
                <a:spcPts val="0"/>
              </a:spcBef>
              <a:buNone/>
            </a:pPr>
            <a:r>
              <a:rPr lang="en-US" sz="1000" b="true">
                <a:solidFill>
                  <a:srgbClr val="8A8378"/>
                </a:solidFill>
                <a:latin typeface="Nunito Semi-Bold"/>
                <a:ea typeface="Nunito Semi-Bold"/>
                <a:cs typeface="Nunito Semi-Bold"/>
                <a:sym typeface="Nunito Semi-Bold"/>
              </a:rPr>
              <a:t>[4] Shapley, L. S. A Value for n-Person Games. Contributions to the Theory of Games II, 307–317, Princeton University Press (1953).   [5] Lundberg, S. M. &amp; Lee, S.-I. A Unified Approach to Interpreting Model Predictions (SHAP). NeurIPS 30, 4765–4774 (2017).</a:t>
            </a:r>
          </a:p>
        </p:txBody>
      </p:sp>
      <p:sp>
        <p:nvSpPr>
          <p:cNvPr id="4" name="TextBox 3"/>
          <p:cNvSpPr txBox="1"/>
          <p:nvPr/>
        </p:nvSpPr>
        <p:spPr>
          <a:xfrm>
            <a:off x="16162020" y="9692640"/>
            <a:ext cx="1097280" cy="329184"/>
          </a:xfrm>
          <a:prstGeom prst="rect">
            <a:avLst/>
          </a:prstGeom>
          <a:noFill/>
        </p:spPr>
        <p:txBody>
          <a:bodyPr anchor="t" rtlCol="false" lIns="0" tIns="0" rIns="0" bIns="0" wrap="square"/>
          <a:lstStyle/>
          <a:p>
            <a:pPr algn="r">
              <a:lnSpc>
                <a:spcPts val="2200"/>
              </a:lnSpc>
              <a:spcBef>
                <a:spcPts val="0"/>
              </a:spcBef>
              <a:buNone/>
            </a:pPr>
            <a:r>
              <a:rPr lang="en-US" sz="1800" b="true">
                <a:solidFill>
                  <a:srgbClr val="111111"/>
                </a:solidFill>
                <a:latin typeface="Nunito Ultra-Bold"/>
                <a:ea typeface="Nunito Ultra-Bold"/>
                <a:cs typeface="Nunito Ultra-Bold"/>
                <a:sym typeface="Nunito Ultra-Bold"/>
              </a:rPr>
              <a:t>29</a:t>
            </a:r>
          </a:p>
        </p:txBody>
      </p:sp>
      <p:sp>
        <p:nvSpPr>
          <p:cNvPr id="5" name="TextBox 4"/>
          <p:cNvSpPr txBox="1"/>
          <p:nvPr/>
        </p:nvSpPr>
        <p:spPr>
          <a:xfrm>
            <a:off x="1028700" y="1389888"/>
            <a:ext cx="12938760" cy="329184"/>
          </a:xfrm>
          <a:prstGeom prst="rect">
            <a:avLst/>
          </a:prstGeom>
          <a:noFill/>
        </p:spPr>
        <p:txBody>
          <a:bodyPr anchor="t" rtlCol="false" lIns="0" tIns="0" rIns="0" bIns="0" wrap="square"/>
          <a:lstStyle/>
          <a:p>
            <a:pPr algn="l">
              <a:lnSpc>
                <a:spcPts val="2000"/>
              </a:lnSpc>
              <a:spcBef>
                <a:spcPts val="0"/>
              </a:spcBef>
              <a:buNone/>
            </a:pPr>
            <a:r>
              <a:rPr lang="en-US" sz="1500" b="true" spc="160">
                <a:solidFill>
                  <a:srgbClr val="1F7A8C"/>
                </a:solidFill>
                <a:latin typeface="Nunito Ultra-Bold"/>
                <a:ea typeface="Nunito Ultra-Bold"/>
                <a:cs typeface="Nunito Ultra-Bold"/>
                <a:sym typeface="Nunito Ultra-Bold"/>
              </a:rPr>
              <a:t>CONTRIBUTION I: EXPLAINABLE BLACK-BOX CLUSTERING</a:t>
            </a:r>
          </a:p>
        </p:txBody>
      </p:sp>
      <p:sp>
        <p:nvSpPr>
          <p:cNvPr id="6" name="Rounded Rectangle 5"/>
          <p:cNvSpPr/>
          <p:nvPr/>
        </p:nvSpPr>
        <p:spPr>
          <a:xfrm>
            <a:off x="14516100"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7" name="TextBox 6"/>
          <p:cNvSpPr txBox="1"/>
          <p:nvPr/>
        </p:nvSpPr>
        <p:spPr>
          <a:xfrm>
            <a:off x="14516100"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1</a:t>
            </a:r>
          </a:p>
        </p:txBody>
      </p:sp>
      <p:sp>
        <p:nvSpPr>
          <p:cNvPr id="8" name="Rounded Rectangle 7"/>
          <p:cNvSpPr/>
          <p:nvPr/>
        </p:nvSpPr>
        <p:spPr>
          <a:xfrm>
            <a:off x="14918436"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9" name="TextBox 8"/>
          <p:cNvSpPr txBox="1"/>
          <p:nvPr/>
        </p:nvSpPr>
        <p:spPr>
          <a:xfrm>
            <a:off x="14918436"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2</a:t>
            </a:r>
          </a:p>
        </p:txBody>
      </p:sp>
      <p:sp>
        <p:nvSpPr>
          <p:cNvPr id="10" name="Rounded Rectangle 9"/>
          <p:cNvSpPr/>
          <p:nvPr/>
        </p:nvSpPr>
        <p:spPr>
          <a:xfrm>
            <a:off x="15320772"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11" name="TextBox 10"/>
          <p:cNvSpPr txBox="1"/>
          <p:nvPr/>
        </p:nvSpPr>
        <p:spPr>
          <a:xfrm>
            <a:off x="15320772"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3</a:t>
            </a:r>
          </a:p>
        </p:txBody>
      </p:sp>
      <p:sp>
        <p:nvSpPr>
          <p:cNvPr id="12" name="Rounded Rectangle 11"/>
          <p:cNvSpPr/>
          <p:nvPr/>
        </p:nvSpPr>
        <p:spPr>
          <a:xfrm>
            <a:off x="15723108" y="1371600"/>
            <a:ext cx="329184" cy="329184"/>
          </a:xfrm>
          <a:prstGeom prst="roundRect">
            <a:avLst>
              <a:gd name="adj" fmla="val 16666"/>
            </a:avLst>
          </a:prstGeom>
          <a:solidFill>
            <a:srgbClr val="4472C4"/>
          </a:solidFill>
          <a:ln w="15875">
            <a:solidFill>
              <a:srgbClr val="4472C4"/>
            </a:solidFill>
          </a:ln>
        </p:spPr>
        <p:txBody>
          <a:bodyPr anchor="ctr" rtlCol="false" lIns="0" tIns="0" rIns="0" bIns="0" wrap="square"/>
          <a:lstStyle/>
          <a:p>
            <a:endParaRPr lang="en-US" sz="1800"/>
          </a:p>
        </p:txBody>
      </p:sp>
      <p:sp>
        <p:nvSpPr>
          <p:cNvPr id="13" name="TextBox 12"/>
          <p:cNvSpPr txBox="1"/>
          <p:nvPr/>
        </p:nvSpPr>
        <p:spPr>
          <a:xfrm>
            <a:off x="15723108"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FFFFFF"/>
                </a:solidFill>
                <a:latin typeface="Nunito Ultra-Bold"/>
                <a:ea typeface="Nunito Ultra-Bold"/>
                <a:cs typeface="Nunito Ultra-Bold"/>
                <a:sym typeface="Nunito Ultra-Bold"/>
              </a:rPr>
              <a:t>4</a:t>
            </a:r>
          </a:p>
        </p:txBody>
      </p:sp>
      <p:sp>
        <p:nvSpPr>
          <p:cNvPr id="14" name="Rounded Rectangle 13"/>
          <p:cNvSpPr/>
          <p:nvPr/>
        </p:nvSpPr>
        <p:spPr>
          <a:xfrm>
            <a:off x="16125444"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15" name="TextBox 14"/>
          <p:cNvSpPr txBox="1"/>
          <p:nvPr/>
        </p:nvSpPr>
        <p:spPr>
          <a:xfrm>
            <a:off x="16125444"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5</a:t>
            </a:r>
          </a:p>
        </p:txBody>
      </p:sp>
      <p:sp>
        <p:nvSpPr>
          <p:cNvPr id="16" name="Rounded Rectangle 15"/>
          <p:cNvSpPr/>
          <p:nvPr/>
        </p:nvSpPr>
        <p:spPr>
          <a:xfrm>
            <a:off x="16527780"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17" name="TextBox 16"/>
          <p:cNvSpPr txBox="1"/>
          <p:nvPr/>
        </p:nvSpPr>
        <p:spPr>
          <a:xfrm>
            <a:off x="16527780"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6</a:t>
            </a:r>
          </a:p>
        </p:txBody>
      </p:sp>
      <p:sp>
        <p:nvSpPr>
          <p:cNvPr id="18" name="Rounded Rectangle 17"/>
          <p:cNvSpPr/>
          <p:nvPr/>
        </p:nvSpPr>
        <p:spPr>
          <a:xfrm>
            <a:off x="16930116"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19" name="TextBox 18"/>
          <p:cNvSpPr txBox="1"/>
          <p:nvPr/>
        </p:nvSpPr>
        <p:spPr>
          <a:xfrm>
            <a:off x="16930116"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7</a:t>
            </a:r>
          </a:p>
        </p:txBody>
      </p:sp>
      <p:sp>
        <p:nvSpPr>
          <p:cNvPr id="20" name="TextBox 19"/>
          <p:cNvSpPr txBox="1"/>
          <p:nvPr/>
        </p:nvSpPr>
        <p:spPr>
          <a:xfrm>
            <a:off x="1028700" y="1719072"/>
            <a:ext cx="16230600" cy="730250"/>
          </a:xfrm>
          <a:prstGeom prst="rect">
            <a:avLst/>
          </a:prstGeom>
          <a:noFill/>
        </p:spPr>
        <p:txBody>
          <a:bodyPr anchor="t" rtlCol="false" lIns="0" tIns="0" rIns="0" bIns="0" wrap="square"/>
          <a:lstStyle/>
          <a:p>
            <a:pPr algn="l">
              <a:lnSpc>
                <a:spcPts val="5060"/>
              </a:lnSpc>
              <a:spcBef>
                <a:spcPts val="0"/>
              </a:spcBef>
              <a:buNone/>
            </a:pPr>
            <a:r>
              <a:rPr lang="en-US" sz="4600" b="true" spc="-230">
                <a:solidFill>
                  <a:srgbClr val="111111"/>
                </a:solidFill>
                <a:latin typeface="Roca Two Bold"/>
                <a:ea typeface="Roca Two Bold"/>
                <a:cs typeface="Roca Two Bold"/>
                <a:sym typeface="Roca Two Bold"/>
              </a:rPr>
              <a:t>The Cooperative Game and the Shapley Value</a:t>
            </a:r>
          </a:p>
        </p:txBody>
      </p:sp>
      <p:sp>
        <p:nvSpPr>
          <p:cNvPr id="21" name="Rounded Rectangle 20"/>
          <p:cNvSpPr/>
          <p:nvPr/>
        </p:nvSpPr>
        <p:spPr>
          <a:xfrm>
            <a:off x="1028700" y="2559050"/>
            <a:ext cx="1691553" cy="420624"/>
          </a:xfrm>
          <a:prstGeom prst="roundRect">
            <a:avLst>
              <a:gd name="adj" fmla="val 50000"/>
            </a:avLst>
          </a:prstGeom>
          <a:noFill/>
          <a:ln w="28575">
            <a:solidFill>
              <a:srgbClr val="4472C4"/>
            </a:solidFill>
          </a:ln>
        </p:spPr>
        <p:txBody>
          <a:bodyPr anchor="ctr" rtlCol="false" lIns="45720" tIns="0" rIns="45720" bIns="0" wrap="square"/>
          <a:lstStyle/>
          <a:p>
            <a:pPr algn="ctr">
              <a:lnSpc>
                <a:spcPts val="2160"/>
              </a:lnSpc>
              <a:spcBef>
                <a:spcPts val="0"/>
              </a:spcBef>
              <a:buNone/>
            </a:pPr>
            <a:r>
              <a:rPr lang="en-US" sz="1800" b="true">
                <a:solidFill>
                  <a:srgbClr val="4472C4"/>
                </a:solidFill>
                <a:latin typeface="Nunito Bold"/>
                <a:ea typeface="Nunito Bold"/>
                <a:cs typeface="Nunito Bold"/>
                <a:sym typeface="Nunito Bold"/>
              </a:rPr>
              <a:t>Objectives</a:t>
            </a:r>
          </a:p>
        </p:txBody>
      </p:sp>
      <p:sp>
        <p:nvSpPr>
          <p:cNvPr id="22" name="Rounded Rectangle 21"/>
          <p:cNvSpPr/>
          <p:nvPr/>
        </p:nvSpPr>
        <p:spPr>
          <a:xfrm>
            <a:off x="2848269" y="2559050"/>
            <a:ext cx="1998119" cy="420624"/>
          </a:xfrm>
          <a:prstGeom prst="roundRect">
            <a:avLst>
              <a:gd name="adj" fmla="val 50000"/>
            </a:avLst>
          </a:prstGeom>
          <a:solidFill>
            <a:srgbClr val="4472C4"/>
          </a:solidFill>
          <a:ln>
            <a:noFill/>
          </a:ln>
        </p:spPr>
        <p:txBody>
          <a:bodyPr anchor="ctr" rtlCol="false" lIns="45720" tIns="0" rIns="45720" bIns="0" wrap="square"/>
          <a:lstStyle/>
          <a:p>
            <a:pPr algn="ctr">
              <a:lnSpc>
                <a:spcPts val="2160"/>
              </a:lnSpc>
              <a:spcBef>
                <a:spcPts val="0"/>
              </a:spcBef>
              <a:buNone/>
            </a:pPr>
            <a:r>
              <a:rPr lang="en-US" sz="1800" b="true">
                <a:solidFill>
                  <a:srgbClr val="FFFFFF"/>
                </a:solidFill>
                <a:latin typeface="Nunito Bold"/>
                <a:ea typeface="Nunito Bold"/>
                <a:cs typeface="Nunito Bold"/>
                <a:sym typeface="Nunito Bold"/>
              </a:rPr>
              <a:t>Methodology</a:t>
            </a:r>
          </a:p>
        </p:txBody>
      </p:sp>
      <p:sp>
        <p:nvSpPr>
          <p:cNvPr id="23" name="Rounded Rectangle 22"/>
          <p:cNvSpPr/>
          <p:nvPr/>
        </p:nvSpPr>
        <p:spPr>
          <a:xfrm>
            <a:off x="4974404" y="2559050"/>
            <a:ext cx="1369446" cy="420624"/>
          </a:xfrm>
          <a:prstGeom prst="roundRect">
            <a:avLst>
              <a:gd name="adj" fmla="val 50000"/>
            </a:avLst>
          </a:prstGeom>
          <a:noFill/>
          <a:ln w="28575">
            <a:solidFill>
              <a:srgbClr val="4472C4"/>
            </a:solidFill>
          </a:ln>
        </p:spPr>
        <p:txBody>
          <a:bodyPr anchor="ctr" rtlCol="false" lIns="45720" tIns="0" rIns="45720" bIns="0" wrap="square"/>
          <a:lstStyle/>
          <a:p>
            <a:pPr algn="ctr">
              <a:lnSpc>
                <a:spcPts val="2160"/>
              </a:lnSpc>
              <a:spcBef>
                <a:spcPts val="0"/>
              </a:spcBef>
              <a:buNone/>
            </a:pPr>
            <a:r>
              <a:rPr lang="en-US" sz="1800" b="true">
                <a:solidFill>
                  <a:srgbClr val="4472C4"/>
                </a:solidFill>
                <a:latin typeface="Nunito Bold"/>
                <a:ea typeface="Nunito Bold"/>
                <a:cs typeface="Nunito Bold"/>
                <a:sym typeface="Nunito Bold"/>
              </a:rPr>
              <a:t>Results</a:t>
            </a:r>
          </a:p>
        </p:txBody>
      </p:sp>
      <p:sp>
        <p:nvSpPr>
          <p:cNvPr id="24" name="Rounded Rectangle 23"/>
          <p:cNvSpPr/>
          <p:nvPr/>
        </p:nvSpPr>
        <p:spPr>
          <a:xfrm>
            <a:off x="6471866" y="2559050"/>
            <a:ext cx="1474931" cy="420624"/>
          </a:xfrm>
          <a:prstGeom prst="roundRect">
            <a:avLst>
              <a:gd name="adj" fmla="val 50000"/>
            </a:avLst>
          </a:prstGeom>
          <a:noFill/>
          <a:ln w="28575">
            <a:solidFill>
              <a:srgbClr val="4472C4"/>
            </a:solidFill>
          </a:ln>
        </p:spPr>
        <p:txBody>
          <a:bodyPr anchor="ctr" rtlCol="false" lIns="45720" tIns="0" rIns="45720" bIns="0" wrap="square"/>
          <a:lstStyle/>
          <a:p>
            <a:pPr algn="ctr">
              <a:lnSpc>
                <a:spcPts val="2160"/>
              </a:lnSpc>
              <a:spcBef>
                <a:spcPts val="0"/>
              </a:spcBef>
              <a:buNone/>
            </a:pPr>
            <a:r>
              <a:rPr lang="en-US" sz="1800" b="true">
                <a:solidFill>
                  <a:srgbClr val="4472C4"/>
                </a:solidFill>
                <a:latin typeface="Nunito Bold"/>
                <a:ea typeface="Nunito Bold"/>
                <a:cs typeface="Nunito Bold"/>
                <a:sym typeface="Nunito Bold"/>
              </a:rPr>
              <a:t>Findings</a:t>
            </a:r>
          </a:p>
        </p:txBody>
      </p:sp>
      <p:sp>
        <p:nvSpPr>
          <p:cNvPr id="25" name="TextBox 24"/>
          <p:cNvSpPr txBox="1"/>
          <p:nvPr/>
        </p:nvSpPr>
        <p:spPr>
          <a:xfrm>
            <a:off x="1028700" y="3363722"/>
            <a:ext cx="7680960" cy="2286000"/>
          </a:xfrm>
          <a:prstGeom prst="rect">
            <a:avLst/>
          </a:prstGeom>
          <a:noFill/>
        </p:spPr>
        <p:txBody>
          <a:bodyPr anchor="t" rtlCol="false" lIns="0" tIns="0" rIns="0" bIns="0" wrap="square"/>
          <a:lstStyle/>
          <a:p>
            <a:pPr algn="l">
              <a:lnSpc>
                <a:spcPts val="2231"/>
              </a:lnSpc>
              <a:spcBef>
                <a:spcPts val="0"/>
              </a:spcBef>
              <a:buNone/>
            </a:pPr>
            <a:r>
              <a:rPr lang="en-US" sz="1785" b="true">
                <a:solidFill>
                  <a:srgbClr val="4472C4"/>
                </a:solidFill>
                <a:latin typeface="Nunito Ultra-Bold"/>
                <a:ea typeface="Nunito Ultra-Bold"/>
                <a:cs typeface="Nunito Ultra-Bold"/>
                <a:sym typeface="Nunito Ultra-Bold"/>
              </a:rPr>
              <a:t>Three ingredients</a:t>
            </a:r>
          </a:p>
          <a:p>
            <a:pPr algn="l" marL="274320" indent="-274320">
              <a:lnSpc>
                <a:spcPts val="2390"/>
              </a:lnSpc>
              <a:spcBef>
                <a:spcPts val="0"/>
              </a:spcBef>
              <a:buClr>
                <a:srgbClr val="1F7A8C"/>
              </a:buClr>
              <a:buSzPct val="100000"/>
              <a:buFont typeface="Arial"/>
              <a:buChar char="•"/>
            </a:pPr>
            <a:r>
              <a:rPr lang="en-US" sz="1615" b="true">
                <a:solidFill>
                  <a:srgbClr val="111111"/>
                </a:solidFill>
                <a:latin typeface="Nunito Bold"/>
                <a:ea typeface="Nunito Bold"/>
                <a:cs typeface="Nunito Bold"/>
                <a:sym typeface="Nunito Bold"/>
              </a:rPr>
              <a:t>Players</a:t>
            </a:r>
            <a:r>
              <a:rPr lang="en-US" sz="1615" b="true">
                <a:solidFill>
                  <a:srgbClr val="111111"/>
                </a:solidFill>
                <a:latin typeface="Nunito Semi-Bold"/>
                <a:ea typeface="Nunito Semi-Bold"/>
                <a:cs typeface="Nunito Semi-Bold"/>
                <a:sym typeface="Nunito Semi-Bold"/>
              </a:rPr>
              <a:t> N = {1, …, n}, and a </a:t>
            </a:r>
            <a:r>
              <a:rPr lang="en-US" sz="1615" b="true">
                <a:solidFill>
                  <a:srgbClr val="111111"/>
                </a:solidFill>
                <a:latin typeface="Nunito Bold"/>
                <a:ea typeface="Nunito Bold"/>
                <a:cs typeface="Nunito Bold"/>
                <a:sym typeface="Nunito Bold"/>
              </a:rPr>
              <a:t>coalition</a:t>
            </a:r>
            <a:r>
              <a:rPr lang="en-US" sz="1615" b="true">
                <a:solidFill>
                  <a:srgbClr val="111111"/>
                </a:solidFill>
                <a:latin typeface="Nunito Semi-Bold"/>
                <a:ea typeface="Nunito Semi-Bold"/>
                <a:cs typeface="Nunito Semi-Bold"/>
                <a:sym typeface="Nunito Semi-Bold"/>
              </a:rPr>
              <a:t> S </a:t>
            </a:r>
            <a:r>
              <a:rPr lang="en-US" sz="1615" b="true">
                <a:solidFill>
                  <a:srgbClr val="111111"/>
                </a:solidFill>
                <a:latin typeface="Cambria Math"/>
                <a:ea typeface="Cambria Math"/>
                <a:cs typeface="Cambria Math"/>
                <a:sym typeface="Cambria Math"/>
              </a:rPr>
              <a:t>⊆ </a:t>
            </a:r>
            <a:r>
              <a:rPr lang="en-US" sz="1615" b="true">
                <a:solidFill>
                  <a:srgbClr val="111111"/>
                </a:solidFill>
                <a:latin typeface="Nunito Semi-Bold"/>
                <a:ea typeface="Nunito Semi-Bold"/>
                <a:cs typeface="Nunito Semi-Bold"/>
                <a:sym typeface="Nunito Semi-Bold"/>
              </a:rPr>
              <a:t>N: any group of them; there are 2</a:t>
            </a:r>
            <a:r>
              <a:rPr lang="en-US" sz="1615" b="true" baseline="30000">
                <a:solidFill>
                  <a:srgbClr val="111111"/>
                </a:solidFill>
                <a:latin typeface="Nunito Semi-Bold"/>
                <a:ea typeface="Nunito Semi-Bold"/>
                <a:cs typeface="Nunito Semi-Bold"/>
                <a:sym typeface="Nunito Semi-Bold"/>
              </a:rPr>
              <a:t>n</a:t>
            </a:r>
            <a:r>
              <a:rPr lang="en-US" sz="1615" b="true">
                <a:solidFill>
                  <a:srgbClr val="111111"/>
                </a:solidFill>
                <a:latin typeface="Nunito Semi-Bold"/>
                <a:ea typeface="Nunito Semi-Bold"/>
                <a:cs typeface="Nunito Semi-Bold"/>
                <a:sym typeface="Nunito Semi-Bold"/>
              </a:rPr>
              <a:t>.</a:t>
            </a:r>
          </a:p>
          <a:p>
            <a:pPr algn="l" marL="274320" indent="-274320">
              <a:lnSpc>
                <a:spcPts val="2390"/>
              </a:lnSpc>
              <a:spcBef>
                <a:spcPts val="680"/>
              </a:spcBef>
              <a:buClr>
                <a:srgbClr val="1F7A8C"/>
              </a:buClr>
              <a:buSzPct val="100000"/>
              <a:buFont typeface="Arial"/>
              <a:buChar char="•"/>
            </a:pPr>
            <a:r>
              <a:rPr lang="en-US" sz="1615" b="true">
                <a:solidFill>
                  <a:srgbClr val="111111"/>
                </a:solidFill>
                <a:latin typeface="Nunito Bold"/>
                <a:ea typeface="Nunito Bold"/>
                <a:cs typeface="Nunito Bold"/>
                <a:sym typeface="Nunito Bold"/>
              </a:rPr>
              <a:t>Characteristic function</a:t>
            </a:r>
            <a:r>
              <a:rPr lang="en-US" sz="1615" b="true">
                <a:solidFill>
                  <a:srgbClr val="111111"/>
                </a:solidFill>
                <a:latin typeface="Nunito Semi-Bold"/>
                <a:ea typeface="Nunito Semi-Bold"/>
                <a:cs typeface="Nunito Semi-Bold"/>
                <a:sym typeface="Nunito Semi-Bold"/>
              </a:rPr>
              <a:t> v: 2</a:t>
            </a:r>
            <a:r>
              <a:rPr lang="en-US" sz="1615" b="true" baseline="30000">
                <a:solidFill>
                  <a:srgbClr val="111111"/>
                </a:solidFill>
                <a:latin typeface="Nunito Semi-Bold"/>
                <a:ea typeface="Nunito Semi-Bold"/>
                <a:cs typeface="Nunito Semi-Bold"/>
                <a:sym typeface="Nunito Semi-Bold"/>
              </a:rPr>
              <a:t>N</a:t>
            </a:r>
            <a:r>
              <a:rPr lang="en-US" sz="1615" b="true">
                <a:solidFill>
                  <a:srgbClr val="111111"/>
                </a:solidFill>
                <a:latin typeface="Calibri"/>
                <a:ea typeface="Calibri"/>
                <a:cs typeface="Calibri"/>
                <a:sym typeface="Calibri"/>
              </a:rPr>
              <a:t> → </a:t>
            </a:r>
            <a:r>
              <a:rPr lang="en-US" sz="1615" b="true">
                <a:solidFill>
                  <a:srgbClr val="111111"/>
                </a:solidFill>
                <a:latin typeface="Cambria Math"/>
                <a:ea typeface="Cambria Math"/>
                <a:cs typeface="Cambria Math"/>
                <a:sym typeface="Cambria Math"/>
              </a:rPr>
              <a:t>ℝ </a:t>
            </a:r>
            <a:r>
              <a:rPr lang="en-US" sz="1615" b="true">
                <a:solidFill>
                  <a:srgbClr val="111111"/>
                </a:solidFill>
                <a:latin typeface="Nunito Semi-Bold"/>
                <a:ea typeface="Nunito Semi-Bold"/>
                <a:cs typeface="Nunito Semi-Bold"/>
                <a:sym typeface="Nunito Semi-Bold"/>
              </a:rPr>
              <a:t>with v(∅) = 0: the value a coalition creates </a:t>
            </a:r>
            <a:r>
              <a:rPr lang="en-US" sz="1615" b="true">
                <a:solidFill>
                  <a:srgbClr val="111111"/>
                </a:solidFill>
                <a:latin typeface="Nunito Bold"/>
                <a:ea typeface="Nunito Bold"/>
                <a:cs typeface="Nunito Bold"/>
                <a:sym typeface="Nunito Bold"/>
              </a:rPr>
              <a:t>on its own</a:t>
            </a:r>
            <a:r>
              <a:rPr lang="en-US" sz="1615" b="true">
                <a:solidFill>
                  <a:srgbClr val="111111"/>
                </a:solidFill>
                <a:latin typeface="Nunito Semi-Bold"/>
                <a:ea typeface="Nunito Semi-Bold"/>
                <a:cs typeface="Nunito Semi-Bold"/>
                <a:sym typeface="Nunito Semi-Bold"/>
              </a:rPr>
              <a:t>.</a:t>
            </a:r>
          </a:p>
          <a:p>
            <a:pPr algn="l" marL="274320" indent="-274320">
              <a:lnSpc>
                <a:spcPts val="2261"/>
              </a:lnSpc>
              <a:spcBef>
                <a:spcPts val="680"/>
              </a:spcBef>
              <a:buClr>
                <a:srgbClr val="1F7A8C"/>
              </a:buClr>
              <a:buSzPct val="100000"/>
              <a:buFont typeface="Arial"/>
              <a:buChar char="•"/>
            </a:pPr>
            <a:r>
              <a:rPr lang="en-US" sz="1615" b="true">
                <a:solidFill>
                  <a:srgbClr val="111111"/>
                </a:solidFill>
                <a:latin typeface="Nunito Bold"/>
                <a:ea typeface="Nunito Bold"/>
                <a:cs typeface="Nunito Bold"/>
                <a:sym typeface="Nunito Bold"/>
              </a:rPr>
              <a:t>The question:</a:t>
            </a:r>
            <a:r>
              <a:rPr lang="en-US" sz="1615" b="true">
                <a:solidFill>
                  <a:srgbClr val="111111"/>
                </a:solidFill>
                <a:latin typeface="Nunito Semi-Bold"/>
                <a:ea typeface="Nunito Semi-Bold"/>
                <a:cs typeface="Nunito Semi-Bold"/>
                <a:sym typeface="Nunito Semi-Bold"/>
              </a:rPr>
              <a:t> the grand coalition earns v(N), so </a:t>
            </a:r>
            <a:r>
              <a:rPr lang="en-US" sz="1615" b="true">
                <a:solidFill>
                  <a:srgbClr val="111111"/>
                </a:solidFill>
                <a:latin typeface="Nunito Bold"/>
                <a:ea typeface="Nunito Bold"/>
                <a:cs typeface="Nunito Bold"/>
                <a:sym typeface="Nunito Bold"/>
              </a:rPr>
              <a:t>how should it be shared fairly</a:t>
            </a:r>
            <a:r>
              <a:rPr lang="en-US" sz="1615" b="true">
                <a:solidFill>
                  <a:srgbClr val="111111"/>
                </a:solidFill>
                <a:latin typeface="Nunito Semi-Bold"/>
                <a:ea typeface="Nunito Semi-Bold"/>
                <a:cs typeface="Nunito Semi-Bold"/>
                <a:sym typeface="Nunito Semi-Bold"/>
              </a:rPr>
              <a:t>?</a:t>
            </a:r>
          </a:p>
        </p:txBody>
      </p:sp>
      <p:sp>
        <p:nvSpPr>
          <p:cNvPr id="26" name="Rounded Rectangle 25"/>
          <p:cNvSpPr/>
          <p:nvPr/>
        </p:nvSpPr>
        <p:spPr>
          <a:xfrm>
            <a:off x="1028700" y="5741162"/>
            <a:ext cx="7680960" cy="868680"/>
          </a:xfrm>
          <a:prstGeom prst="roundRect">
            <a:avLst>
              <a:gd name="adj" fmla="val 23157"/>
            </a:avLst>
          </a:prstGeom>
          <a:solidFill>
            <a:srgbClr val="4472C4"/>
          </a:solidFill>
          <a:ln>
            <a:noFill/>
          </a:ln>
        </p:spPr>
        <p:txBody>
          <a:bodyPr anchor="ctr" rtlCol="false" lIns="0" tIns="0" rIns="0" bIns="0" wrap="square"/>
          <a:lstStyle/>
          <a:p>
            <a:endParaRPr lang="en-US" sz="1800"/>
          </a:p>
        </p:txBody>
      </p:sp>
      <p:sp>
        <p:nvSpPr>
          <p:cNvPr id="27" name="TextBox 26"/>
          <p:cNvSpPr txBox="1"/>
          <p:nvPr/>
        </p:nvSpPr>
        <p:spPr>
          <a:xfrm>
            <a:off x="1028700" y="5805170"/>
            <a:ext cx="7680960" cy="237744"/>
          </a:xfrm>
          <a:prstGeom prst="rect">
            <a:avLst/>
          </a:prstGeom>
          <a:noFill/>
        </p:spPr>
        <p:txBody>
          <a:bodyPr anchor="t" rtlCol="false" lIns="0" tIns="0" rIns="0" bIns="0" wrap="square"/>
          <a:lstStyle/>
          <a:p>
            <a:pPr algn="ctr">
              <a:lnSpc>
                <a:spcPts val="1400"/>
              </a:lnSpc>
              <a:spcBef>
                <a:spcPts val="0"/>
              </a:spcBef>
              <a:buNone/>
            </a:pPr>
            <a:r>
              <a:rPr lang="en-US" sz="1200" b="true" spc="150">
                <a:solidFill>
                  <a:srgbClr val="ECC665"/>
                </a:solidFill>
                <a:latin typeface="Nunito Ultra-Bold"/>
                <a:ea typeface="Nunito Ultra-Bold"/>
                <a:cs typeface="Nunito Ultra-Bold"/>
                <a:sym typeface="Nunito Ultra-Bold"/>
              </a:rPr>
              <a:t>A COOPERATIVE GAME IS A PAIR</a:t>
            </a:r>
          </a:p>
        </p:txBody>
      </p:sp>
      <mc:AlternateContent xmlns:mc="http://schemas.openxmlformats.org/markup-compatibility/2006">
        <mc:Choice xmlns:a14="http://schemas.microsoft.com/office/drawing/2010/main" Requires="a14">
          <p:sp>
            <p:nvSpPr>
              <p:cNvPr id="28" name="Equation"/>
              <p:cNvSpPr txBox="1"/>
              <p:nvPr/>
            </p:nvSpPr>
            <p:spPr>
              <a:xfrm>
                <a:off x="1211580" y="6015482"/>
                <a:ext cx="7315200" cy="548640"/>
              </a:xfrm>
              <a:prstGeom prst="rect">
                <a:avLst/>
              </a:prstGeom>
              <a:noFill/>
            </p:spPr>
            <p:txBody>
              <a:bodyPr wrap="none" rtlCol="0" anchor="ctr" lIns="0" tIns="0" rIns="0" bIns="0"/>
              <a:lstStyle/>
              <a:p>
                <a:pPr algn="ctr"/>
                <a14:m xmlns:m="http://schemas.openxmlformats.org/officeDocument/2006/math">
                  <m:oMathPara>
                    <m:oMathParaPr>
                      <m:jc m:val="centerGroup"/>
                    </m:oMathParaPr>
                    <m:oMath>
                      <m:r>
                        <m:rPr>
                          <m:sty m:val="p"/>
                        </m:rPr>
                        <a:rPr lang="en-US" sz="1900">
                          <a:solidFill>
                            <a:srgbClr val="FFFFFF"/>
                          </a:solidFill>
                          <a:latin typeface="Cambria Math" panose="02040503050406030204" pitchFamily="18" charset="0"/>
                        </a:rPr>
                        <m:t xml:space="preserve">(</m:t>
                      </m:r>
                      <m:r>
                        <a:rPr lang="en-US" sz="1900" i="1">
                          <a:solidFill>
                            <a:srgbClr val="FFFFFF"/>
                          </a:solidFill>
                          <a:latin typeface="Cambria Math" panose="02040503050406030204" pitchFamily="18" charset="0"/>
                        </a:rPr>
                        <m:t xml:space="preserve">N</m:t>
                      </m:r>
                      <m:r>
                        <m:rPr>
                          <m:sty m:val="p"/>
                        </m:rPr>
                        <a:rPr lang="en-US" sz="1900">
                          <a:solidFill>
                            <a:srgbClr val="FFFFFF"/>
                          </a:solidFill>
                          <a:latin typeface="Cambria Math" panose="02040503050406030204" pitchFamily="18" charset="0"/>
                        </a:rPr>
                        <m:t xml:space="preserve">,</m:t>
                      </m:r>
                      <m:r>
                        <a:rPr lang="en-US" sz="1900" i="1">
                          <a:solidFill>
                            <a:srgbClr val="FFFFFF"/>
                          </a:solidFill>
                          <a:latin typeface="Cambria Math" panose="02040503050406030204" pitchFamily="18" charset="0"/>
                        </a:rPr>
                        <m:t xml:space="preserve">v</m:t>
                      </m:r>
                      <m:r>
                        <m:rPr>
                          <m:sty m:val="p"/>
                        </m:rPr>
                        <a:rPr lang="en-US" sz="1900">
                          <a:solidFill>
                            <a:srgbClr val="FFFFFF"/>
                          </a:solidFill>
                          <a:latin typeface="Cambria Math" panose="02040503050406030204" pitchFamily="18" charset="0"/>
                        </a:rPr>
                        <m:t xml:space="preserve">),  </m:t>
                      </m:r>
                      <m:r>
                        <a:rPr lang="en-US" sz="1900" i="1">
                          <a:solidFill>
                            <a:srgbClr val="FFFFFF"/>
                          </a:solidFill>
                          <a:latin typeface="Cambria Math" panose="02040503050406030204" pitchFamily="18" charset="0"/>
                        </a:rPr>
                        <m:t xml:space="preserve">v</m:t>
                      </m:r>
                      <m:r>
                        <m:rPr>
                          <m:sty m:val="p"/>
                        </m:rPr>
                        <a:rPr lang="en-US" sz="1900">
                          <a:solidFill>
                            <a:srgbClr val="FFFFFF"/>
                          </a:solidFill>
                          <a:latin typeface="Cambria Math" panose="02040503050406030204" pitchFamily="18" charset="0"/>
                        </a:rPr>
                        <m:t xml:space="preserve">:</m:t>
                      </m:r>
                      <m:sSup>
                        <m:sSupPr>
                          <m:ctrlPr>
                            <a:rPr lang="en-US" sz="1900" i="1">
                              <a:solidFill>
                                <a:srgbClr val="FFFFFF"/>
                              </a:solidFill>
                              <a:latin typeface="Cambria Math" panose="02040503050406030204" pitchFamily="18" charset="0"/>
                            </a:rPr>
                          </m:ctrlPr>
                        </m:sSupPr>
                        <m:e>
                          <m:r>
                            <m:rPr>
                              <m:sty m:val="p"/>
                            </m:rPr>
                            <a:rPr lang="en-US" sz="1900">
                              <a:solidFill>
                                <a:srgbClr val="FFFFFF"/>
                              </a:solidFill>
                              <a:latin typeface="Cambria Math" panose="02040503050406030204" pitchFamily="18" charset="0"/>
                            </a:rPr>
                            <m:t xml:space="preserve">2</m:t>
                          </m:r>
                        </m:e>
                        <m:sup>
                          <m:r>
                            <a:rPr lang="en-US" sz="1900" i="1">
                              <a:solidFill>
                                <a:srgbClr val="FFFFFF"/>
                              </a:solidFill>
                              <a:latin typeface="Cambria Math" panose="02040503050406030204" pitchFamily="18" charset="0"/>
                            </a:rPr>
                            <m:t xml:space="preserve">N</m:t>
                          </m:r>
                        </m:sup>
                      </m:sSup>
                      <m:r>
                        <m:rPr>
                          <m:sty m:val="p"/>
                        </m:rPr>
                        <a:rPr lang="en-US" sz="1900">
                          <a:solidFill>
                            <a:srgbClr val="FFFFFF"/>
                          </a:solidFill>
                          <a:latin typeface="Cambria Math" panose="02040503050406030204" pitchFamily="18" charset="0"/>
                        </a:rPr>
                        <m:t xml:space="preserve">→</m:t>
                      </m:r>
                      <m:r>
                        <m:rPr>
                          <m:scr m:val="double-struck"/>
                          <m:sty m:val="p"/>
                        </m:rPr>
                        <a:rPr lang="en-US" sz="1900">
                          <a:solidFill>
                            <a:srgbClr val="FFFFFF"/>
                          </a:solidFill>
                          <a:latin typeface="Cambria Math" panose="02040503050406030204" pitchFamily="18" charset="0"/>
                        </a:rPr>
                        <m:t xml:space="preserve">R</m:t>
                      </m:r>
                      <m:r>
                        <m:rPr>
                          <m:sty m:val="p"/>
                        </m:rPr>
                        <a:rPr lang="en-US" sz="1900">
                          <a:solidFill>
                            <a:srgbClr val="FFFFFF"/>
                          </a:solidFill>
                          <a:latin typeface="Cambria Math" panose="02040503050406030204" pitchFamily="18" charset="0"/>
                        </a:rPr>
                        <m:t xml:space="preserve">,  </m:t>
                      </m:r>
                      <m:r>
                        <a:rPr lang="en-US" sz="1900" i="1">
                          <a:solidFill>
                            <a:srgbClr val="FFFFFF"/>
                          </a:solidFill>
                          <a:latin typeface="Cambria Math" panose="02040503050406030204" pitchFamily="18" charset="0"/>
                        </a:rPr>
                        <m:t xml:space="preserve">v</m:t>
                      </m:r>
                      <m:r>
                        <m:rPr>
                          <m:sty m:val="p"/>
                        </m:rPr>
                        <a:rPr lang="en-US" sz="1900">
                          <a:solidFill>
                            <a:srgbClr val="FFFFFF"/>
                          </a:solidFill>
                          <a:latin typeface="Cambria Math" panose="02040503050406030204" pitchFamily="18" charset="0"/>
                        </a:rPr>
                        <m:t xml:space="preserve">(∅)=0</m:t>
                      </m:r>
                    </m:oMath>
                  </m:oMathPara>
                </a14:m>
                <a:endParaRPr lang="en-US" sz="1900"/>
              </a:p>
            </p:txBody>
          </p:sp>
        </mc:Choice>
        <mc:Fallback>
          <p:sp>
            <p:nvSpPr>
              <p:cNvPr id="28" name="Equation"/>
              <p:cNvSpPr txBox="1"/>
              <p:nvPr/>
            </p:nvSpPr>
            <p:spPr>
              <a:xfrm>
                <a:off x="1211580" y="6015482"/>
                <a:ext cx="7315200" cy="548640"/>
              </a:xfrm>
              <a:prstGeom prst="rect">
                <a:avLst/>
              </a:prstGeom>
              <a:blipFill>
                <a:blip r:embed="rId4"/>
                <a:stretch>
                  <a:fillRect/>
                </a:stretch>
              </a:blipFill>
            </p:spPr>
            <p:txBody>
              <a:bodyPr/>
              <a:lstStyle/>
              <a:p>
                <a:endParaRPr lang="en-US"/>
              </a:p>
            </p:txBody>
          </p:sp>
        </mc:Fallback>
      </mc:AlternateContent>
      <p:sp>
        <p:nvSpPr>
          <p:cNvPr id="29" name="Rounded Rectangle 28"/>
          <p:cNvSpPr/>
          <p:nvPr/>
        </p:nvSpPr>
        <p:spPr>
          <a:xfrm>
            <a:off x="1028700" y="6792722"/>
            <a:ext cx="7680960" cy="1371600"/>
          </a:xfrm>
          <a:prstGeom prst="roundRect">
            <a:avLst>
              <a:gd name="adj" fmla="val 14666"/>
            </a:avLst>
          </a:prstGeom>
          <a:solidFill>
            <a:srgbClr val="F6ECDF"/>
          </a:solidFill>
          <a:ln w="25400">
            <a:solidFill>
              <a:srgbClr val="1F7A8C"/>
            </a:solidFill>
          </a:ln>
        </p:spPr>
        <p:txBody>
          <a:bodyPr anchor="ctr" rtlCol="false" lIns="0" tIns="0" rIns="0" bIns="0" wrap="square"/>
          <a:lstStyle/>
          <a:p>
            <a:endParaRPr lang="en-US" sz="1800"/>
          </a:p>
        </p:txBody>
      </p:sp>
      <p:sp>
        <p:nvSpPr>
          <p:cNvPr id="30" name="Rounded Rectangle 29"/>
          <p:cNvSpPr/>
          <p:nvPr/>
        </p:nvSpPr>
        <p:spPr>
          <a:xfrm>
            <a:off x="1348740" y="6600698"/>
            <a:ext cx="3890835" cy="384048"/>
          </a:xfrm>
          <a:prstGeom prst="roundRect">
            <a:avLst>
              <a:gd name="adj" fmla="val 50000"/>
            </a:avLst>
          </a:prstGeom>
          <a:solidFill>
            <a:srgbClr val="1F7A8C"/>
          </a:solidFill>
          <a:ln w="28575">
            <a:solidFill>
              <a:srgbClr val="1F7A8C"/>
            </a:solidFill>
          </a:ln>
        </p:spPr>
        <p:txBody>
          <a:bodyPr anchor="ctr" rtlCol="false" lIns="45720" tIns="0" rIns="45720" bIns="0" wrap="square"/>
          <a:lstStyle/>
          <a:p>
            <a:pPr algn="ctr">
              <a:lnSpc>
                <a:spcPts val="1680"/>
              </a:lnSpc>
              <a:spcBef>
                <a:spcPts val="0"/>
              </a:spcBef>
              <a:buNone/>
            </a:pPr>
            <a:r>
              <a:rPr lang="en-US" sz="1400" b="true">
                <a:solidFill>
                  <a:srgbClr val="FFFFFF"/>
                </a:solidFill>
                <a:latin typeface="Nunito Bold"/>
                <a:ea typeface="Nunito Bold"/>
                <a:cs typeface="Nunito Bold"/>
                <a:sym typeface="Nunito Bold"/>
              </a:rPr>
              <a:t>TOY EXAMPLE: A THREE-PIECE BAND</a:t>
            </a:r>
          </a:p>
        </p:txBody>
      </p:sp>
      <p:sp>
        <p:nvSpPr>
          <p:cNvPr id="31" name="TextBox 30"/>
          <p:cNvSpPr txBox="1"/>
          <p:nvPr/>
        </p:nvSpPr>
        <p:spPr>
          <a:xfrm>
            <a:off x="1394460" y="7067042"/>
            <a:ext cx="6949440" cy="960120"/>
          </a:xfrm>
          <a:prstGeom prst="rect">
            <a:avLst/>
          </a:prstGeom>
          <a:noFill/>
        </p:spPr>
        <p:txBody>
          <a:bodyPr anchor="ctr" rtlCol="false" lIns="0" tIns="0" rIns="0" bIns="0" wrap="square"/>
          <a:lstStyle/>
          <a:p>
            <a:pPr algn="l">
              <a:lnSpc>
                <a:spcPts val="2309"/>
              </a:lnSpc>
              <a:spcBef>
                <a:spcPts val="0"/>
              </a:spcBef>
              <a:buNone/>
            </a:pPr>
            <a:r>
              <a:rPr lang="en-US" sz="1649" b="true">
                <a:solidFill>
                  <a:srgbClr val="111111"/>
                </a:solidFill>
                <a:latin typeface="Nunito Semi-Bold"/>
                <a:ea typeface="Nunito Semi-Bold"/>
                <a:cs typeface="Nunito Semi-Bold"/>
                <a:sym typeface="Nunito Semi-Bold"/>
              </a:rPr>
              <a:t>Guitar, Voice and Drums are paid for a gig. Alone they earn </a:t>
            </a:r>
            <a:r>
              <a:rPr lang="en-US" sz="1649" b="true">
                <a:solidFill>
                  <a:srgbClr val="111111"/>
                </a:solidFill>
                <a:latin typeface="Nunito Bold"/>
                <a:ea typeface="Nunito Bold"/>
                <a:cs typeface="Nunito Bold"/>
                <a:sym typeface="Nunito Bold"/>
              </a:rPr>
              <a:t>60, 40 and 20</a:t>
            </a:r>
            <a:r>
              <a:rPr lang="en-US" sz="1649" b="true">
                <a:solidFill>
                  <a:srgbClr val="111111"/>
                </a:solidFill>
                <a:latin typeface="Nunito Semi-Bold"/>
                <a:ea typeface="Nunito Semi-Bold"/>
                <a:cs typeface="Nunito Semi-Bold"/>
                <a:sym typeface="Nunito Semi-Bold"/>
              </a:rPr>
              <a:t>; Guitar and Voice together earn </a:t>
            </a:r>
            <a:r>
              <a:rPr lang="en-US" sz="1649" b="true">
                <a:solidFill>
                  <a:srgbClr val="111111"/>
                </a:solidFill>
                <a:latin typeface="Nunito Bold"/>
                <a:ea typeface="Nunito Bold"/>
                <a:cs typeface="Nunito Bold"/>
                <a:sym typeface="Nunito Bold"/>
              </a:rPr>
              <a:t>140</a:t>
            </a:r>
            <a:r>
              <a:rPr lang="en-US" sz="1649" b="true">
                <a:solidFill>
                  <a:srgbClr val="111111"/>
                </a:solidFill>
                <a:latin typeface="Nunito Semi-Bold"/>
                <a:ea typeface="Nunito Semi-Bold"/>
                <a:cs typeface="Nunito Semi-Bold"/>
                <a:sym typeface="Nunito Semi-Bold"/>
              </a:rPr>
              <a:t>, more than their sum; all three earn </a:t>
            </a:r>
            <a:r>
              <a:rPr lang="en-US" sz="1649" b="true">
                <a:solidFill>
                  <a:srgbClr val="111111"/>
                </a:solidFill>
                <a:latin typeface="Nunito Bold"/>
                <a:ea typeface="Nunito Bold"/>
                <a:cs typeface="Nunito Bold"/>
                <a:sym typeface="Nunito Bold"/>
              </a:rPr>
              <a:t>200</a:t>
            </a:r>
            <a:r>
              <a:rPr lang="en-US" sz="1649" b="true">
                <a:solidFill>
                  <a:srgbClr val="111111"/>
                </a:solidFill>
                <a:latin typeface="Nunito Semi-Bold"/>
                <a:ea typeface="Nunito Semi-Bold"/>
                <a:cs typeface="Nunito Semi-Bold"/>
                <a:sym typeface="Nunito Semi-Bold"/>
              </a:rPr>
              <a:t>. A fair split must credit what a player </a:t>
            </a:r>
            <a:r>
              <a:rPr lang="en-US" sz="1649" b="true">
                <a:solidFill>
                  <a:srgbClr val="111111"/>
                </a:solidFill>
                <a:latin typeface="Nunito Bold"/>
                <a:ea typeface="Nunito Bold"/>
                <a:cs typeface="Nunito Bold"/>
                <a:sym typeface="Nunito Bold"/>
              </a:rPr>
              <a:t>adds to the others</a:t>
            </a:r>
            <a:r>
              <a:rPr lang="en-US" sz="1649" b="true">
                <a:solidFill>
                  <a:srgbClr val="111111"/>
                </a:solidFill>
                <a:latin typeface="Nunito Semi-Bold"/>
                <a:ea typeface="Nunito Semi-Bold"/>
                <a:cs typeface="Nunito Semi-Bold"/>
                <a:sym typeface="Nunito Semi-Bold"/>
              </a:rPr>
              <a:t>.</a:t>
            </a:r>
          </a:p>
        </p:txBody>
      </p:sp>
      <p:sp>
        <p:nvSpPr>
          <p:cNvPr id="32" name="Rounded Rectangle 31"/>
          <p:cNvSpPr/>
          <p:nvPr/>
        </p:nvSpPr>
        <p:spPr>
          <a:xfrm>
            <a:off x="1028700" y="8347202"/>
            <a:ext cx="7680960" cy="1965960"/>
          </a:xfrm>
          <a:prstGeom prst="roundRect">
            <a:avLst>
              <a:gd name="adj" fmla="val 13023"/>
            </a:avLst>
          </a:prstGeom>
          <a:solidFill>
            <a:srgbClr val="111111"/>
          </a:solidFill>
          <a:ln>
            <a:noFill/>
          </a:ln>
        </p:spPr>
        <p:txBody>
          <a:bodyPr anchor="ctr" rtlCol="false" lIns="0" tIns="0" rIns="0" bIns="0" wrap="square"/>
          <a:lstStyle/>
          <a:p>
            <a:endParaRPr lang="en-US" sz="1800"/>
          </a:p>
        </p:txBody>
      </p:sp>
      <p:sp>
        <p:nvSpPr>
          <p:cNvPr id="33" name="TextBox 32"/>
          <p:cNvSpPr txBox="1"/>
          <p:nvPr/>
        </p:nvSpPr>
        <p:spPr>
          <a:xfrm>
            <a:off x="1028700" y="8475218"/>
            <a:ext cx="7680960" cy="256032"/>
          </a:xfrm>
          <a:prstGeom prst="rect">
            <a:avLst/>
          </a:prstGeom>
          <a:noFill/>
        </p:spPr>
        <p:txBody>
          <a:bodyPr anchor="t" rtlCol="false" lIns="0" tIns="0" rIns="0" bIns="0" wrap="square"/>
          <a:lstStyle/>
          <a:p>
            <a:pPr algn="ctr">
              <a:lnSpc>
                <a:spcPts val="1500"/>
              </a:lnSpc>
              <a:spcBef>
                <a:spcPts val="0"/>
              </a:spcBef>
              <a:buNone/>
            </a:pPr>
            <a:r>
              <a:rPr lang="en-US" sz="1200" b="true" spc="160">
                <a:solidFill>
                  <a:srgbClr val="ECC665"/>
                </a:solidFill>
                <a:latin typeface="Nunito Ultra-Bold"/>
                <a:ea typeface="Nunito Ultra-Bold"/>
                <a:cs typeface="Nunito Ultra-Bold"/>
                <a:sym typeface="Nunito Ultra-Bold"/>
              </a:rPr>
              <a:t>SHAPLEY VALUE OF PLAYER j  ·  SHAPLEY, 1953</a:t>
            </a:r>
          </a:p>
        </p:txBody>
      </p:sp>
      <mc:AlternateContent xmlns:mc="http://schemas.openxmlformats.org/markup-compatibility/2006">
        <mc:Choice xmlns:a14="http://schemas.microsoft.com/office/drawing/2010/main" Requires="a14">
          <p:sp>
            <p:nvSpPr>
              <p:cNvPr id="34" name="Equation"/>
              <p:cNvSpPr txBox="1"/>
              <p:nvPr/>
            </p:nvSpPr>
            <p:spPr>
              <a:xfrm>
                <a:off x="1211580" y="8749538"/>
                <a:ext cx="7315200" cy="1097280"/>
              </a:xfrm>
              <a:prstGeom prst="rect">
                <a:avLst/>
              </a:prstGeom>
              <a:noFill/>
            </p:spPr>
            <p:txBody>
              <a:bodyPr wrap="none" rtlCol="0" anchor="ctr" lIns="0" tIns="0" rIns="0" bIns="0"/>
              <a:lstStyle/>
              <a:p>
                <a:pPr algn="ctr"/>
                <a14:m xmlns:m="http://schemas.openxmlformats.org/officeDocument/2006/math">
                  <m:oMathPara>
                    <m:oMathParaPr>
                      <m:jc m:val="centerGroup"/>
                    </m:oMathParaPr>
                    <m:oMath>
                      <m:sSub>
                        <m:sSubPr>
                          <m:ctrlPr>
                            <a:rPr lang="en-US" sz="1800" i="1">
                              <a:solidFill>
                                <a:srgbClr val="FFFFFF"/>
                              </a:solidFill>
                              <a:latin typeface="Cambria Math" panose="02040503050406030204" pitchFamily="18" charset="0"/>
                            </a:rPr>
                          </m:ctrlPr>
                        </m:sSubPr>
                        <m:e>
                          <m:r>
                            <a:rPr lang="en-US" sz="1800" i="1">
                              <a:solidFill>
                                <a:srgbClr val="FFFFFF"/>
                              </a:solidFill>
                              <a:latin typeface="Cambria Math" panose="02040503050406030204" pitchFamily="18" charset="0"/>
                            </a:rPr>
                            <m:t xml:space="preserve">φ</m:t>
                          </m:r>
                        </m:e>
                        <m:sub>
                          <m:r>
                            <a:rPr lang="en-US" sz="1800" i="1">
                              <a:solidFill>
                                <a:srgbClr val="FFFFFF"/>
                              </a:solidFill>
                              <a:latin typeface="Cambria Math" panose="02040503050406030204" pitchFamily="18" charset="0"/>
                            </a:rPr>
                            <m:t xml:space="preserve">j</m:t>
                          </m:r>
                        </m:sub>
                      </m:sSub>
                      <m:r>
                        <m:rPr>
                          <m:sty m:val="p"/>
                        </m:rPr>
                        <a:rPr lang="en-US" sz="1800">
                          <a:solidFill>
                            <a:srgbClr val="FFFFFF"/>
                          </a:solidFill>
                          <a:latin typeface="Cambria Math" panose="02040503050406030204" pitchFamily="18" charset="0"/>
                        </a:rPr>
                        <m:t xml:space="preserve">(</m:t>
                      </m:r>
                      <m:r>
                        <a:rPr lang="en-US" sz="1800" i="1">
                          <a:solidFill>
                            <a:srgbClr val="FFFFFF"/>
                          </a:solidFill>
                          <a:latin typeface="Cambria Math" panose="02040503050406030204" pitchFamily="18" charset="0"/>
                        </a:rPr>
                        <m:t xml:space="preserve">v</m:t>
                      </m:r>
                      <m:r>
                        <m:rPr>
                          <m:sty m:val="p"/>
                        </m:rPr>
                        <a:rPr lang="en-US" sz="1800">
                          <a:solidFill>
                            <a:srgbClr val="FFFFFF"/>
                          </a:solidFill>
                          <a:latin typeface="Cambria Math" panose="02040503050406030204" pitchFamily="18" charset="0"/>
                        </a:rPr>
                        <m:t xml:space="preserve">)=</m:t>
                      </m:r>
                      <m:nary>
                        <m:naryPr>
                          <m:chr m:val="∑"/>
                          <m:limLoc m:val="undOvr"/>
                          <m:supHide m:val="1"/>
                          <m:ctrlPr>
                            <a:rPr lang="en-US" sz="1800" i="1">
                              <a:solidFill>
                                <a:srgbClr val="FFFFFF"/>
                              </a:solidFill>
                              <a:latin typeface="Cambria Math" panose="02040503050406030204" pitchFamily="18" charset="0"/>
                            </a:rPr>
                          </m:ctrlPr>
                        </m:naryPr>
                        <m:sub>
                          <m:r>
                            <a:rPr lang="en-US" sz="1800" i="1">
                              <a:solidFill>
                                <a:srgbClr val="FFFFFF"/>
                              </a:solidFill>
                              <a:latin typeface="Cambria Math" panose="02040503050406030204" pitchFamily="18" charset="0"/>
                            </a:rPr>
                            <m:t xml:space="preserve">S</m:t>
                          </m:r>
                          <m:r>
                            <m:rPr>
                              <m:sty m:val="p"/>
                            </m:rPr>
                            <a:rPr lang="en-US" sz="1800">
                              <a:solidFill>
                                <a:srgbClr val="FFFFFF"/>
                              </a:solidFill>
                              <a:latin typeface="Cambria Math" panose="02040503050406030204" pitchFamily="18" charset="0"/>
                            </a:rPr>
                            <m:t xml:space="preserve">⊆</m:t>
                          </m:r>
                          <m:r>
                            <a:rPr lang="en-US" sz="1800" i="1">
                              <a:solidFill>
                                <a:srgbClr val="FFFFFF"/>
                              </a:solidFill>
                              <a:latin typeface="Cambria Math" panose="02040503050406030204" pitchFamily="18" charset="0"/>
                            </a:rPr>
                            <m:t xml:space="preserve">N</m:t>
                          </m:r>
                          <m:r>
                            <m:rPr>
                              <m:sty m:val="p"/>
                            </m:rPr>
                            <a:rPr lang="en-US" sz="1800">
                              <a:solidFill>
                                <a:srgbClr val="FFFFFF"/>
                              </a:solidFill>
                              <a:latin typeface="Cambria Math" panose="02040503050406030204" pitchFamily="18" charset="0"/>
                            </a:rPr>
                            <m:t xml:space="preserve">∖{</m:t>
                          </m:r>
                          <m:r>
                            <a:rPr lang="en-US" sz="1800" i="1">
                              <a:solidFill>
                                <a:srgbClr val="FFFFFF"/>
                              </a:solidFill>
                              <a:latin typeface="Cambria Math" panose="02040503050406030204" pitchFamily="18" charset="0"/>
                            </a:rPr>
                            <m:t xml:space="preserve">j</m:t>
                          </m:r>
                          <m:r>
                            <m:rPr>
                              <m:sty m:val="p"/>
                            </m:rPr>
                            <a:rPr lang="en-US" sz="1800">
                              <a:solidFill>
                                <a:srgbClr val="FFFFFF"/>
                              </a:solidFill>
                              <a:latin typeface="Cambria Math" panose="02040503050406030204" pitchFamily="18" charset="0"/>
                            </a:rPr>
                            <m:t xml:space="preserve">}</m:t>
                          </m:r>
                        </m:sub>
                        <m:sup/>
                        <m:e>
                          <m:f>
                            <m:fPr>
                              <m:ctrlPr>
                                <a:rPr lang="en-US" sz="1800" i="1">
                                  <a:solidFill>
                                    <a:srgbClr val="FFFFFF"/>
                                  </a:solidFill>
                                  <a:latin typeface="Cambria Math" panose="02040503050406030204" pitchFamily="18" charset="0"/>
                                </a:rPr>
                              </m:ctrlPr>
                            </m:fPr>
                            <m:num>
                              <m:r>
                                <m:rPr>
                                  <m:sty m:val="p"/>
                                </m:rPr>
                                <a:rPr lang="en-US" sz="1800">
                                  <a:solidFill>
                                    <a:srgbClr val="FFFFFF"/>
                                  </a:solidFill>
                                  <a:latin typeface="Cambria Math" panose="02040503050406030204" pitchFamily="18" charset="0"/>
                                </a:rPr>
                                <m:t xml:space="preserve">|</m:t>
                              </m:r>
                              <m:r>
                                <a:rPr lang="en-US" sz="1800" i="1">
                                  <a:solidFill>
                                    <a:srgbClr val="FFFFFF"/>
                                  </a:solidFill>
                                  <a:latin typeface="Cambria Math" panose="02040503050406030204" pitchFamily="18" charset="0"/>
                                </a:rPr>
                                <m:t xml:space="preserve">S</m:t>
                              </m:r>
                              <m:r>
                                <m:rPr>
                                  <m:sty m:val="p"/>
                                </m:rPr>
                                <a:rPr lang="en-US" sz="1800">
                                  <a:solidFill>
                                    <a:srgbClr val="FFFFFF"/>
                                  </a:solidFill>
                                  <a:latin typeface="Cambria Math" panose="02040503050406030204" pitchFamily="18" charset="0"/>
                                </a:rPr>
                                <m:t xml:space="preserve">|! (</m:t>
                              </m:r>
                              <m:r>
                                <a:rPr lang="en-US" sz="1800" i="1">
                                  <a:solidFill>
                                    <a:srgbClr val="FFFFFF"/>
                                  </a:solidFill>
                                  <a:latin typeface="Cambria Math" panose="02040503050406030204" pitchFamily="18" charset="0"/>
                                </a:rPr>
                                <m:t xml:space="preserve">n</m:t>
                              </m:r>
                              <m:r>
                                <m:rPr>
                                  <m:sty m:val="p"/>
                                </m:rPr>
                                <a:rPr lang="en-US" sz="1800">
                                  <a:solidFill>
                                    <a:srgbClr val="FFFFFF"/>
                                  </a:solidFill>
                                  <a:latin typeface="Cambria Math" panose="02040503050406030204" pitchFamily="18" charset="0"/>
                                </a:rPr>
                                <m:t xml:space="preserve">−|</m:t>
                              </m:r>
                              <m:r>
                                <a:rPr lang="en-US" sz="1800" i="1">
                                  <a:solidFill>
                                    <a:srgbClr val="FFFFFF"/>
                                  </a:solidFill>
                                  <a:latin typeface="Cambria Math" panose="02040503050406030204" pitchFamily="18" charset="0"/>
                                </a:rPr>
                                <m:t xml:space="preserve">S</m:t>
                              </m:r>
                              <m:r>
                                <m:rPr>
                                  <m:sty m:val="p"/>
                                </m:rPr>
                                <a:rPr lang="en-US" sz="1800">
                                  <a:solidFill>
                                    <a:srgbClr val="FFFFFF"/>
                                  </a:solidFill>
                                  <a:latin typeface="Cambria Math" panose="02040503050406030204" pitchFamily="18" charset="0"/>
                                </a:rPr>
                                <m:t xml:space="preserve">|−1)!</m:t>
                              </m:r>
                            </m:num>
                            <m:den>
                              <m:r>
                                <a:rPr lang="en-US" sz="1800" i="1">
                                  <a:solidFill>
                                    <a:srgbClr val="FFFFFF"/>
                                  </a:solidFill>
                                  <a:latin typeface="Cambria Math" panose="02040503050406030204" pitchFamily="18" charset="0"/>
                                </a:rPr>
                                <m:t xml:space="preserve">n</m:t>
                              </m:r>
                              <m:r>
                                <m:rPr>
                                  <m:sty m:val="p"/>
                                </m:rPr>
                                <a:rPr lang="en-US" sz="1800">
                                  <a:solidFill>
                                    <a:srgbClr val="FFFFFF"/>
                                  </a:solidFill>
                                  <a:latin typeface="Cambria Math" panose="02040503050406030204" pitchFamily="18" charset="0"/>
                                </a:rPr>
                                <m:t xml:space="preserve">!</m:t>
                              </m:r>
                            </m:den>
                          </m:f>
                        </m:e>
                      </m:nary>
                      <m:r>
                        <m:rPr>
                          <m:sty m:val="p"/>
                        </m:rPr>
                        <a:rPr lang="en-US" sz="1800">
                          <a:solidFill>
                            <a:srgbClr val="FFFFFF"/>
                          </a:solidFill>
                          <a:latin typeface="Cambria Math" panose="02040503050406030204" pitchFamily="18" charset="0"/>
                        </a:rPr>
                        <m:t xml:space="preserve"> </m:t>
                      </m:r>
                      <m:d>
                        <m:dPr>
                          <m:begChr m:val="["/>
                          <m:endChr m:val="]"/>
                          <m:ctrlPr>
                            <a:rPr lang="en-US" sz="1800" i="1">
                              <a:solidFill>
                                <a:srgbClr val="FFFFFF"/>
                              </a:solidFill>
                              <a:latin typeface="Cambria Math" panose="02040503050406030204" pitchFamily="18" charset="0"/>
                            </a:rPr>
                          </m:ctrlPr>
                        </m:dPr>
                        <m:e>
                          <m:r>
                            <m:rPr>
                              <m:sty m:val="p"/>
                            </m:rPr>
                            <a:rPr lang="en-US" sz="1800">
                              <a:solidFill>
                                <a:srgbClr val="FFFFFF"/>
                              </a:solidFill>
                              <a:latin typeface="Cambria Math" panose="02040503050406030204" pitchFamily="18" charset="0"/>
                            </a:rPr>
                            <m:t xml:space="preserve"> </m:t>
                          </m:r>
                          <m:r>
                            <a:rPr lang="en-US" sz="1800" i="1">
                              <a:solidFill>
                                <a:srgbClr val="FFFFFF"/>
                              </a:solidFill>
                              <a:latin typeface="Cambria Math" panose="02040503050406030204" pitchFamily="18" charset="0"/>
                            </a:rPr>
                            <m:t xml:space="preserve">v</m:t>
                          </m:r>
                          <m:r>
                            <m:rPr>
                              <m:sty m:val="p"/>
                            </m:rPr>
                            <a:rPr lang="en-US" sz="1800">
                              <a:solidFill>
                                <a:srgbClr val="FFFFFF"/>
                              </a:solidFill>
                              <a:latin typeface="Cambria Math" panose="02040503050406030204" pitchFamily="18" charset="0"/>
                            </a:rPr>
                            <m:t xml:space="preserve">(</m:t>
                          </m:r>
                          <m:r>
                            <a:rPr lang="en-US" sz="1800" i="1">
                              <a:solidFill>
                                <a:srgbClr val="FFFFFF"/>
                              </a:solidFill>
                              <a:latin typeface="Cambria Math" panose="02040503050406030204" pitchFamily="18" charset="0"/>
                            </a:rPr>
                            <m:t xml:space="preserve">S</m:t>
                          </m:r>
                          <m:r>
                            <m:rPr>
                              <m:sty m:val="p"/>
                            </m:rPr>
                            <a:rPr lang="en-US" sz="1800">
                              <a:solidFill>
                                <a:srgbClr val="FFFFFF"/>
                              </a:solidFill>
                              <a:latin typeface="Cambria Math" panose="02040503050406030204" pitchFamily="18" charset="0"/>
                            </a:rPr>
                            <m:t xml:space="preserve">∪{</m:t>
                          </m:r>
                          <m:r>
                            <a:rPr lang="en-US" sz="1800" i="1">
                              <a:solidFill>
                                <a:srgbClr val="FFFFFF"/>
                              </a:solidFill>
                              <a:latin typeface="Cambria Math" panose="02040503050406030204" pitchFamily="18" charset="0"/>
                            </a:rPr>
                            <m:t xml:space="preserve">j</m:t>
                          </m:r>
                          <m:r>
                            <m:rPr>
                              <m:sty m:val="p"/>
                            </m:rPr>
                            <a:rPr lang="en-US" sz="1800">
                              <a:solidFill>
                                <a:srgbClr val="FFFFFF"/>
                              </a:solidFill>
                              <a:latin typeface="Cambria Math" panose="02040503050406030204" pitchFamily="18" charset="0"/>
                            </a:rPr>
                            <m:t xml:space="preserve">})−</m:t>
                          </m:r>
                          <m:r>
                            <a:rPr lang="en-US" sz="1800" i="1">
                              <a:solidFill>
                                <a:srgbClr val="FFFFFF"/>
                              </a:solidFill>
                              <a:latin typeface="Cambria Math" panose="02040503050406030204" pitchFamily="18" charset="0"/>
                            </a:rPr>
                            <m:t xml:space="preserve">v</m:t>
                          </m:r>
                          <m:r>
                            <m:rPr>
                              <m:sty m:val="p"/>
                            </m:rPr>
                            <a:rPr lang="en-US" sz="1800">
                              <a:solidFill>
                                <a:srgbClr val="FFFFFF"/>
                              </a:solidFill>
                              <a:latin typeface="Cambria Math" panose="02040503050406030204" pitchFamily="18" charset="0"/>
                            </a:rPr>
                            <m:t xml:space="preserve">(</m:t>
                          </m:r>
                          <m:r>
                            <a:rPr lang="en-US" sz="1800" i="1">
                              <a:solidFill>
                                <a:srgbClr val="FFFFFF"/>
                              </a:solidFill>
                              <a:latin typeface="Cambria Math" panose="02040503050406030204" pitchFamily="18" charset="0"/>
                            </a:rPr>
                            <m:t xml:space="preserve">S</m:t>
                          </m:r>
                          <m:r>
                            <m:rPr>
                              <m:sty m:val="p"/>
                            </m:rPr>
                            <a:rPr lang="en-US" sz="1800">
                              <a:solidFill>
                                <a:srgbClr val="FFFFFF"/>
                              </a:solidFill>
                              <a:latin typeface="Cambria Math" panose="02040503050406030204" pitchFamily="18" charset="0"/>
                            </a:rPr>
                            <m:t xml:space="preserve">) </m:t>
                          </m:r>
                        </m:e>
                      </m:d>
                    </m:oMath>
                  </m:oMathPara>
                </a14:m>
                <a:endParaRPr lang="en-US" sz="1800"/>
              </a:p>
            </p:txBody>
          </p:sp>
        </mc:Choice>
        <mc:Fallback>
          <p:sp>
            <p:nvSpPr>
              <p:cNvPr id="34" name="Equation"/>
              <p:cNvSpPr txBox="1"/>
              <p:nvPr/>
            </p:nvSpPr>
            <p:spPr>
              <a:xfrm>
                <a:off x="1211580" y="8749538"/>
                <a:ext cx="7315200" cy="1097280"/>
              </a:xfrm>
              <a:prstGeom prst="rect">
                <a:avLst/>
              </a:prstGeom>
              <a:blipFill>
                <a:blip r:embed="rId5"/>
                <a:stretch>
                  <a:fillRect/>
                </a:stretch>
              </a:blipFill>
            </p:spPr>
            <p:txBody>
              <a:bodyPr/>
              <a:lstStyle/>
              <a:p>
                <a:endParaRPr lang="en-US"/>
              </a:p>
            </p:txBody>
          </p:sp>
        </mc:Fallback>
      </mc:AlternateContent>
      <p:sp>
        <p:nvSpPr>
          <p:cNvPr id="35" name="TextBox 34"/>
          <p:cNvSpPr txBox="1"/>
          <p:nvPr/>
        </p:nvSpPr>
        <p:spPr>
          <a:xfrm>
            <a:off x="1028700" y="9883394"/>
            <a:ext cx="7680960" cy="310896"/>
          </a:xfrm>
          <a:prstGeom prst="rect">
            <a:avLst/>
          </a:prstGeom>
          <a:noFill/>
        </p:spPr>
        <p:txBody>
          <a:bodyPr anchor="t" rtlCol="false" lIns="0" tIns="0" rIns="0" bIns="0" wrap="square"/>
          <a:lstStyle/>
          <a:p>
            <a:pPr algn="ctr">
              <a:lnSpc>
                <a:spcPts val="1800"/>
              </a:lnSpc>
              <a:spcBef>
                <a:spcPts val="0"/>
              </a:spcBef>
              <a:buNone/>
            </a:pPr>
            <a:r>
              <a:rPr lang="en-US" sz="1500" b="true">
                <a:solidFill>
                  <a:srgbClr val="D6E4F7"/>
                </a:solidFill>
                <a:latin typeface="Nunito Semi-Bold"/>
                <a:ea typeface="Nunito Semi-Bold"/>
                <a:cs typeface="Nunito Semi-Bold"/>
                <a:sym typeface="Nunito Semi-Bold"/>
              </a:rPr>
              <a:t>average marginal contribution over every arrival order</a:t>
            </a:r>
          </a:p>
        </p:txBody>
      </p:sp>
      <p:sp>
        <p:nvSpPr>
          <p:cNvPr id="36" name="TextBox 35"/>
          <p:cNvSpPr txBox="1"/>
          <p:nvPr/>
        </p:nvSpPr>
        <p:spPr>
          <a:xfrm>
            <a:off x="9166860" y="3318002"/>
            <a:ext cx="8092440" cy="292608"/>
          </a:xfrm>
          <a:prstGeom prst="rect">
            <a:avLst/>
          </a:prstGeom>
          <a:noFill/>
        </p:spPr>
        <p:txBody>
          <a:bodyPr anchor="t" rtlCol="false" lIns="0" tIns="0" rIns="0" bIns="0" wrap="square"/>
          <a:lstStyle/>
          <a:p>
            <a:pPr algn="l">
              <a:lnSpc>
                <a:spcPts val="1600"/>
              </a:lnSpc>
              <a:spcBef>
                <a:spcPts val="0"/>
              </a:spcBef>
              <a:buNone/>
            </a:pPr>
            <a:r>
              <a:rPr lang="en-US" sz="1300" b="true" spc="150">
                <a:solidFill>
                  <a:srgbClr val="1F7A8C"/>
                </a:solidFill>
                <a:latin typeface="Nunito Ultra-Bold"/>
                <a:ea typeface="Nunito Ultra-Bold"/>
                <a:cs typeface="Nunito Ultra-Bold"/>
                <a:sym typeface="Nunito Ultra-Bold"/>
              </a:rPr>
              <a:t>CHARACTERISTIC FUNCTION v(S) OF THE BAND</a:t>
            </a:r>
          </a:p>
        </p:txBody>
      </p:sp>
      <p:graphicFrame>
        <p:nvGraphicFramePr>
          <p:cNvPr id="37" name="Table 36"/>
          <p:cNvGraphicFramePr>
            <a:graphicFrameLocks noGrp="1"/>
          </p:cNvGraphicFramePr>
          <p:nvPr/>
        </p:nvGraphicFramePr>
        <p:xfrm>
          <a:off x="9166860" y="3656330"/>
          <a:ext cx="8092439" cy="4150868"/>
        </p:xfrm>
        <a:graphic>
          <a:graphicData uri="http://schemas.openxmlformats.org/drawingml/2006/table">
            <a:tbl>
              <a:tblPr firstRow="0" bandRow="0" firstCol="0" lastRow="0" lastCol="0" bandCol="0">
                <a:tableStyleId>{2D5ABB26-0587-4C30-8999-92F81FD0307C}</a:tableStyleId>
              </a:tblPr>
              <a:tblGrid>
                <a:gridCol w="2427732"/>
                <a:gridCol w="3884371"/>
                <a:gridCol w="1780336"/>
              </a:tblGrid>
              <a:tr h="446532">
                <a:tc>
                  <a:txBody>
                    <a:bodyPr anchor="ctr" rtlCol="false" lIns="0" tIns="0" rIns="0" bIns="0" wrap="square"/>
                    <a:lstStyle/>
                    <a:p>
                      <a:pPr algn="ctr">
                        <a:lnSpc>
                          <a:spcPts val="1820"/>
                        </a:lnSpc>
                        <a:spcBef>
                          <a:spcPts val="0"/>
                        </a:spcBef>
                        <a:buNone/>
                      </a:pPr>
                      <a:r>
                        <a:rPr lang="en-US" sz="1400" b="true">
                          <a:solidFill>
                            <a:srgbClr val="FFFFFF"/>
                          </a:solidFill>
                          <a:latin typeface="Nunito Bold"/>
                          <a:ea typeface="Nunito Bold"/>
                          <a:cs typeface="Nunito Bold"/>
                          <a:sym typeface="Nunito Bold"/>
                        </a:rPr>
                        <a:t>Coalition S</a:t>
                      </a:r>
                    </a:p>
                  </a:txBody>
                  <a:tcPr marL="82296" marR="82296" marT="45720" marB="45720" anchor="ctr">
                    <a:lnL w="12700" cap="flat" cmpd="sng" algn="ctr">
                      <a:solidFill>
                        <a:srgbClr val="4472C4"/>
                      </a:solidFill>
                      <a:prstDash val="solid"/>
                    </a:lnL>
                    <a:lnR w="12700" cap="flat" cmpd="sng" algn="ctr">
                      <a:solidFill>
                        <a:srgbClr val="4472C4"/>
                      </a:solidFill>
                      <a:prstDash val="solid"/>
                    </a:lnR>
                    <a:lnT w="12700" cap="flat" cmpd="sng" algn="ctr">
                      <a:solidFill>
                        <a:srgbClr val="4472C4"/>
                      </a:solidFill>
                      <a:prstDash val="solid"/>
                    </a:lnT>
                    <a:lnB w="12700" cap="flat" cmpd="sng" algn="ctr">
                      <a:solidFill>
                        <a:srgbClr val="4472C4"/>
                      </a:solidFill>
                      <a:prstDash val="solid"/>
                    </a:lnB>
                    <a:solidFill>
                      <a:srgbClr val="4472C4"/>
                    </a:solidFill>
                  </a:tcPr>
                </a:tc>
                <a:tc>
                  <a:txBody>
                    <a:bodyPr anchor="ctr" rtlCol="false" lIns="0" tIns="0" rIns="0" bIns="0" wrap="square"/>
                    <a:lstStyle/>
                    <a:p>
                      <a:pPr algn="l">
                        <a:lnSpc>
                          <a:spcPts val="1820"/>
                        </a:lnSpc>
                        <a:spcBef>
                          <a:spcPts val="0"/>
                        </a:spcBef>
                        <a:buNone/>
                      </a:pPr>
                      <a:r>
                        <a:rPr lang="en-US" sz="1400" b="true">
                          <a:solidFill>
                            <a:srgbClr val="FFFFFF"/>
                          </a:solidFill>
                          <a:latin typeface="Nunito Bold"/>
                          <a:ea typeface="Nunito Bold"/>
                          <a:cs typeface="Nunito Bold"/>
                          <a:sym typeface="Nunito Bold"/>
                        </a:rPr>
                        <a:t>Who plays</a:t>
                      </a:r>
                    </a:p>
                  </a:txBody>
                  <a:tcPr marL="82296" marR="82296" marT="45720" marB="45720" anchor="ctr">
                    <a:lnL w="12700" cap="flat" cmpd="sng" algn="ctr">
                      <a:solidFill>
                        <a:srgbClr val="4472C4"/>
                      </a:solidFill>
                      <a:prstDash val="solid"/>
                    </a:lnL>
                    <a:lnR w="12700" cap="flat" cmpd="sng" algn="ctr">
                      <a:solidFill>
                        <a:srgbClr val="4472C4"/>
                      </a:solidFill>
                      <a:prstDash val="solid"/>
                    </a:lnR>
                    <a:lnT w="12700" cap="flat" cmpd="sng" algn="ctr">
                      <a:solidFill>
                        <a:srgbClr val="4472C4"/>
                      </a:solidFill>
                      <a:prstDash val="solid"/>
                    </a:lnT>
                    <a:lnB w="12700" cap="flat" cmpd="sng" algn="ctr">
                      <a:solidFill>
                        <a:srgbClr val="4472C4"/>
                      </a:solidFill>
                      <a:prstDash val="solid"/>
                    </a:lnB>
                    <a:solidFill>
                      <a:srgbClr val="4472C4"/>
                    </a:solidFill>
                  </a:tcPr>
                </a:tc>
                <a:tc>
                  <a:txBody>
                    <a:bodyPr anchor="ctr" rtlCol="false" lIns="0" tIns="0" rIns="0" bIns="0" wrap="square"/>
                    <a:lstStyle/>
                    <a:p>
                      <a:pPr algn="ctr">
                        <a:lnSpc>
                          <a:spcPts val="1820"/>
                        </a:lnSpc>
                        <a:spcBef>
                          <a:spcPts val="0"/>
                        </a:spcBef>
                        <a:buNone/>
                      </a:pPr>
                      <a:r>
                        <a:rPr lang="en-US" sz="1400" b="true">
                          <a:solidFill>
                            <a:srgbClr val="FFFFFF"/>
                          </a:solidFill>
                          <a:latin typeface="Nunito Bold"/>
                          <a:ea typeface="Nunito Bold"/>
                          <a:cs typeface="Nunito Bold"/>
                          <a:sym typeface="Nunito Bold"/>
                        </a:rPr>
                        <a:t>v(S)</a:t>
                      </a:r>
                    </a:p>
                  </a:txBody>
                  <a:tcPr marL="82296" marR="82296" marT="45720" marB="45720" anchor="ctr">
                    <a:lnL w="12700" cap="flat" cmpd="sng" algn="ctr">
                      <a:solidFill>
                        <a:srgbClr val="4472C4"/>
                      </a:solidFill>
                      <a:prstDash val="solid"/>
                    </a:lnL>
                    <a:lnR w="12700" cap="flat" cmpd="sng" algn="ctr">
                      <a:solidFill>
                        <a:srgbClr val="4472C4"/>
                      </a:solidFill>
                      <a:prstDash val="solid"/>
                    </a:lnR>
                    <a:lnT w="12700" cap="flat" cmpd="sng" algn="ctr">
                      <a:solidFill>
                        <a:srgbClr val="4472C4"/>
                      </a:solidFill>
                      <a:prstDash val="solid"/>
                    </a:lnT>
                    <a:lnB w="12700" cap="flat" cmpd="sng" algn="ctr">
                      <a:solidFill>
                        <a:srgbClr val="4472C4"/>
                      </a:solidFill>
                      <a:prstDash val="solid"/>
                    </a:lnB>
                    <a:solidFill>
                      <a:srgbClr val="4472C4"/>
                    </a:solidFill>
                  </a:tcPr>
                </a:tc>
              </a:tr>
              <a:tr h="463042">
                <a:tc>
                  <a:txBody>
                    <a:bodyPr anchor="ctr" rtlCol="false" lIns="0" tIns="0" rIns="0" bIns="0" wrap="square"/>
                    <a:lstStyle/>
                    <a:p>
                      <a:pPr algn="ctr">
                        <a:lnSpc>
                          <a:spcPts val="1950"/>
                        </a:lnSpc>
                        <a:spcBef>
                          <a:spcPts val="0"/>
                        </a:spcBef>
                        <a:buNone/>
                      </a:pPr>
                      <a:r>
                        <a:rPr lang="en-US" sz="1500" b="true">
                          <a:solidFill>
                            <a:srgbClr val="111111"/>
                          </a:solidFill>
                          <a:latin typeface="Nunito Bold"/>
                          <a:ea typeface="Nunito Bold"/>
                          <a:cs typeface="Nunito Bold"/>
                          <a:sym typeface="Nunito Bold"/>
                        </a:rPr>
                        <a:t>∅</a:t>
                      </a:r>
                    </a:p>
                  </a:txBody>
                  <a:tcPr marL="82296" marR="82296"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c>
                  <a:txBody>
                    <a:bodyPr anchor="ctr" rtlCol="false" lIns="0" tIns="0" rIns="0" bIns="0" wrap="square"/>
                    <a:lstStyle/>
                    <a:p>
                      <a:pPr algn="l">
                        <a:lnSpc>
                          <a:spcPts val="1950"/>
                        </a:lnSpc>
                        <a:spcBef>
                          <a:spcPts val="0"/>
                        </a:spcBef>
                        <a:buNone/>
                      </a:pPr>
                      <a:r>
                        <a:rPr lang="en-US" sz="1500" b="true">
                          <a:solidFill>
                            <a:srgbClr val="111111"/>
                          </a:solidFill>
                          <a:latin typeface="Nunito Semi-Bold"/>
                          <a:ea typeface="Nunito Semi-Bold"/>
                          <a:cs typeface="Nunito Semi-Bold"/>
                          <a:sym typeface="Nunito Semi-Bold"/>
                        </a:rPr>
                        <a:t>nobody</a:t>
                      </a:r>
                    </a:p>
                  </a:txBody>
                  <a:tcPr marL="82296" marR="82296"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c>
                  <a:txBody>
                    <a:bodyPr anchor="ctr" rtlCol="false" lIns="0" tIns="0" rIns="0" bIns="0" wrap="square"/>
                    <a:lstStyle/>
                    <a:p>
                      <a:pPr algn="ctr">
                        <a:lnSpc>
                          <a:spcPts val="1950"/>
                        </a:lnSpc>
                        <a:spcBef>
                          <a:spcPts val="0"/>
                        </a:spcBef>
                        <a:buNone/>
                      </a:pPr>
                      <a:r>
                        <a:rPr lang="en-US" sz="1500" b="true">
                          <a:solidFill>
                            <a:srgbClr val="111111"/>
                          </a:solidFill>
                          <a:latin typeface="Nunito Semi-Bold"/>
                          <a:ea typeface="Nunito Semi-Bold"/>
                          <a:cs typeface="Nunito Semi-Bold"/>
                          <a:sym typeface="Nunito Semi-Bold"/>
                        </a:rPr>
                        <a:t>0</a:t>
                      </a:r>
                    </a:p>
                  </a:txBody>
                  <a:tcPr marL="82296" marR="82296"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r>
              <a:tr h="463042">
                <a:tc>
                  <a:txBody>
                    <a:bodyPr anchor="ctr" rtlCol="false" lIns="0" tIns="0" rIns="0" bIns="0" wrap="square"/>
                    <a:lstStyle/>
                    <a:p>
                      <a:pPr algn="ctr">
                        <a:lnSpc>
                          <a:spcPts val="1950"/>
                        </a:lnSpc>
                        <a:spcBef>
                          <a:spcPts val="0"/>
                        </a:spcBef>
                        <a:buNone/>
                      </a:pPr>
                      <a:r>
                        <a:rPr lang="en-US" sz="1500" b="true">
                          <a:solidFill>
                            <a:srgbClr val="111111"/>
                          </a:solidFill>
                          <a:latin typeface="Nunito Bold"/>
                          <a:ea typeface="Nunito Bold"/>
                          <a:cs typeface="Nunito Bold"/>
                          <a:sym typeface="Nunito Bold"/>
                        </a:rPr>
                        <a:t>{G}</a:t>
                      </a:r>
                    </a:p>
                  </a:txBody>
                  <a:tcPr marL="82296" marR="82296"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6ECDF"/>
                    </a:solidFill>
                  </a:tcPr>
                </a:tc>
                <a:tc>
                  <a:txBody>
                    <a:bodyPr anchor="ctr" rtlCol="false" lIns="0" tIns="0" rIns="0" bIns="0" wrap="square"/>
                    <a:lstStyle/>
                    <a:p>
                      <a:pPr algn="l">
                        <a:lnSpc>
                          <a:spcPts val="1950"/>
                        </a:lnSpc>
                        <a:spcBef>
                          <a:spcPts val="0"/>
                        </a:spcBef>
                        <a:buNone/>
                      </a:pPr>
                      <a:r>
                        <a:rPr lang="en-US" sz="1500" b="true">
                          <a:solidFill>
                            <a:srgbClr val="111111"/>
                          </a:solidFill>
                          <a:latin typeface="Nunito Semi-Bold"/>
                          <a:ea typeface="Nunito Semi-Bold"/>
                          <a:cs typeface="Nunito Semi-Bold"/>
                          <a:sym typeface="Nunito Semi-Bold"/>
                        </a:rPr>
                        <a:t>Guitar alone</a:t>
                      </a:r>
                    </a:p>
                  </a:txBody>
                  <a:tcPr marL="82296" marR="82296"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6ECDF"/>
                    </a:solidFill>
                  </a:tcPr>
                </a:tc>
                <a:tc>
                  <a:txBody>
                    <a:bodyPr anchor="ctr" rtlCol="false" lIns="0" tIns="0" rIns="0" bIns="0" wrap="square"/>
                    <a:lstStyle/>
                    <a:p>
                      <a:pPr algn="ctr">
                        <a:lnSpc>
                          <a:spcPts val="1950"/>
                        </a:lnSpc>
                        <a:spcBef>
                          <a:spcPts val="0"/>
                        </a:spcBef>
                        <a:buNone/>
                      </a:pPr>
                      <a:r>
                        <a:rPr lang="en-US" sz="1500" b="true">
                          <a:solidFill>
                            <a:srgbClr val="111111"/>
                          </a:solidFill>
                          <a:latin typeface="Nunito Semi-Bold"/>
                          <a:ea typeface="Nunito Semi-Bold"/>
                          <a:cs typeface="Nunito Semi-Bold"/>
                          <a:sym typeface="Nunito Semi-Bold"/>
                        </a:rPr>
                        <a:t>60</a:t>
                      </a:r>
                    </a:p>
                  </a:txBody>
                  <a:tcPr marL="82296" marR="82296"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6ECDF"/>
                    </a:solidFill>
                  </a:tcPr>
                </a:tc>
              </a:tr>
              <a:tr h="463042">
                <a:tc>
                  <a:txBody>
                    <a:bodyPr anchor="ctr" rtlCol="false" lIns="0" tIns="0" rIns="0" bIns="0" wrap="square"/>
                    <a:lstStyle/>
                    <a:p>
                      <a:pPr algn="ctr">
                        <a:lnSpc>
                          <a:spcPts val="1950"/>
                        </a:lnSpc>
                        <a:spcBef>
                          <a:spcPts val="0"/>
                        </a:spcBef>
                        <a:buNone/>
                      </a:pPr>
                      <a:r>
                        <a:rPr lang="en-US" sz="1500" b="true">
                          <a:solidFill>
                            <a:srgbClr val="111111"/>
                          </a:solidFill>
                          <a:latin typeface="Nunito Bold"/>
                          <a:ea typeface="Nunito Bold"/>
                          <a:cs typeface="Nunito Bold"/>
                          <a:sym typeface="Nunito Bold"/>
                        </a:rPr>
                        <a:t>{V}</a:t>
                      </a:r>
                    </a:p>
                  </a:txBody>
                  <a:tcPr marL="82296" marR="82296"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c>
                  <a:txBody>
                    <a:bodyPr anchor="ctr" rtlCol="false" lIns="0" tIns="0" rIns="0" bIns="0" wrap="square"/>
                    <a:lstStyle/>
                    <a:p>
                      <a:pPr algn="l">
                        <a:lnSpc>
                          <a:spcPts val="1950"/>
                        </a:lnSpc>
                        <a:spcBef>
                          <a:spcPts val="0"/>
                        </a:spcBef>
                        <a:buNone/>
                      </a:pPr>
                      <a:r>
                        <a:rPr lang="en-US" sz="1500" b="true">
                          <a:solidFill>
                            <a:srgbClr val="111111"/>
                          </a:solidFill>
                          <a:latin typeface="Nunito Semi-Bold"/>
                          <a:ea typeface="Nunito Semi-Bold"/>
                          <a:cs typeface="Nunito Semi-Bold"/>
                          <a:sym typeface="Nunito Semi-Bold"/>
                        </a:rPr>
                        <a:t>Voice alone</a:t>
                      </a:r>
                    </a:p>
                  </a:txBody>
                  <a:tcPr marL="82296" marR="82296"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c>
                  <a:txBody>
                    <a:bodyPr anchor="ctr" rtlCol="false" lIns="0" tIns="0" rIns="0" bIns="0" wrap="square"/>
                    <a:lstStyle/>
                    <a:p>
                      <a:pPr algn="ctr">
                        <a:lnSpc>
                          <a:spcPts val="1950"/>
                        </a:lnSpc>
                        <a:spcBef>
                          <a:spcPts val="0"/>
                        </a:spcBef>
                        <a:buNone/>
                      </a:pPr>
                      <a:r>
                        <a:rPr lang="en-US" sz="1500" b="true">
                          <a:solidFill>
                            <a:srgbClr val="111111"/>
                          </a:solidFill>
                          <a:latin typeface="Nunito Semi-Bold"/>
                          <a:ea typeface="Nunito Semi-Bold"/>
                          <a:cs typeface="Nunito Semi-Bold"/>
                          <a:sym typeface="Nunito Semi-Bold"/>
                        </a:rPr>
                        <a:t>40</a:t>
                      </a:r>
                    </a:p>
                  </a:txBody>
                  <a:tcPr marL="82296" marR="82296"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r>
              <a:tr h="463042">
                <a:tc>
                  <a:txBody>
                    <a:bodyPr anchor="ctr" rtlCol="false" lIns="0" tIns="0" rIns="0" bIns="0" wrap="square"/>
                    <a:lstStyle/>
                    <a:p>
                      <a:pPr algn="ctr">
                        <a:lnSpc>
                          <a:spcPts val="1950"/>
                        </a:lnSpc>
                        <a:spcBef>
                          <a:spcPts val="0"/>
                        </a:spcBef>
                        <a:buNone/>
                      </a:pPr>
                      <a:r>
                        <a:rPr lang="en-US" sz="1500" b="true">
                          <a:solidFill>
                            <a:srgbClr val="111111"/>
                          </a:solidFill>
                          <a:latin typeface="Nunito Bold"/>
                          <a:ea typeface="Nunito Bold"/>
                          <a:cs typeface="Nunito Bold"/>
                          <a:sym typeface="Nunito Bold"/>
                        </a:rPr>
                        <a:t>{D}</a:t>
                      </a:r>
                    </a:p>
                  </a:txBody>
                  <a:tcPr marL="82296" marR="82296"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6ECDF"/>
                    </a:solidFill>
                  </a:tcPr>
                </a:tc>
                <a:tc>
                  <a:txBody>
                    <a:bodyPr anchor="ctr" rtlCol="false" lIns="0" tIns="0" rIns="0" bIns="0" wrap="square"/>
                    <a:lstStyle/>
                    <a:p>
                      <a:pPr algn="l">
                        <a:lnSpc>
                          <a:spcPts val="1950"/>
                        </a:lnSpc>
                        <a:spcBef>
                          <a:spcPts val="0"/>
                        </a:spcBef>
                        <a:buNone/>
                      </a:pPr>
                      <a:r>
                        <a:rPr lang="en-US" sz="1500" b="true">
                          <a:solidFill>
                            <a:srgbClr val="111111"/>
                          </a:solidFill>
                          <a:latin typeface="Nunito Semi-Bold"/>
                          <a:ea typeface="Nunito Semi-Bold"/>
                          <a:cs typeface="Nunito Semi-Bold"/>
                          <a:sym typeface="Nunito Semi-Bold"/>
                        </a:rPr>
                        <a:t>Drums alone</a:t>
                      </a:r>
                    </a:p>
                  </a:txBody>
                  <a:tcPr marL="82296" marR="82296"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6ECDF"/>
                    </a:solidFill>
                  </a:tcPr>
                </a:tc>
                <a:tc>
                  <a:txBody>
                    <a:bodyPr anchor="ctr" rtlCol="false" lIns="0" tIns="0" rIns="0" bIns="0" wrap="square"/>
                    <a:lstStyle/>
                    <a:p>
                      <a:pPr algn="ctr">
                        <a:lnSpc>
                          <a:spcPts val="1950"/>
                        </a:lnSpc>
                        <a:spcBef>
                          <a:spcPts val="0"/>
                        </a:spcBef>
                        <a:buNone/>
                      </a:pPr>
                      <a:r>
                        <a:rPr lang="en-US" sz="1500" b="true">
                          <a:solidFill>
                            <a:srgbClr val="111111"/>
                          </a:solidFill>
                          <a:latin typeface="Nunito Semi-Bold"/>
                          <a:ea typeface="Nunito Semi-Bold"/>
                          <a:cs typeface="Nunito Semi-Bold"/>
                          <a:sym typeface="Nunito Semi-Bold"/>
                        </a:rPr>
                        <a:t>20</a:t>
                      </a:r>
                    </a:p>
                  </a:txBody>
                  <a:tcPr marL="82296" marR="82296"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6ECDF"/>
                    </a:solidFill>
                  </a:tcPr>
                </a:tc>
              </a:tr>
              <a:tr h="463042">
                <a:tc>
                  <a:txBody>
                    <a:bodyPr anchor="ctr" rtlCol="false" lIns="0" tIns="0" rIns="0" bIns="0" wrap="square"/>
                    <a:lstStyle/>
                    <a:p>
                      <a:pPr algn="ctr">
                        <a:lnSpc>
                          <a:spcPts val="1950"/>
                        </a:lnSpc>
                        <a:spcBef>
                          <a:spcPts val="0"/>
                        </a:spcBef>
                        <a:buNone/>
                      </a:pPr>
                      <a:r>
                        <a:rPr lang="en-US" sz="1500" b="true">
                          <a:solidFill>
                            <a:srgbClr val="111111"/>
                          </a:solidFill>
                          <a:latin typeface="Nunito Bold"/>
                          <a:ea typeface="Nunito Bold"/>
                          <a:cs typeface="Nunito Bold"/>
                          <a:sym typeface="Nunito Bold"/>
                        </a:rPr>
                        <a:t>{G, V}</a:t>
                      </a:r>
                    </a:p>
                  </a:txBody>
                  <a:tcPr marL="82296" marR="82296"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c>
                  <a:txBody>
                    <a:bodyPr anchor="ctr" rtlCol="false" lIns="0" tIns="0" rIns="0" bIns="0" wrap="square"/>
                    <a:lstStyle/>
                    <a:p>
                      <a:pPr algn="l">
                        <a:lnSpc>
                          <a:spcPts val="1950"/>
                        </a:lnSpc>
                        <a:spcBef>
                          <a:spcPts val="0"/>
                        </a:spcBef>
                        <a:buNone/>
                      </a:pPr>
                      <a:r>
                        <a:rPr lang="en-US" sz="1500" b="true">
                          <a:solidFill>
                            <a:srgbClr val="111111"/>
                          </a:solidFill>
                          <a:latin typeface="Nunito Semi-Bold"/>
                          <a:ea typeface="Nunito Semi-Bold"/>
                          <a:cs typeface="Nunito Semi-Bold"/>
                          <a:sym typeface="Nunito Semi-Bold"/>
                        </a:rPr>
                        <a:t>Guitar + Voice</a:t>
                      </a:r>
                    </a:p>
                  </a:txBody>
                  <a:tcPr marL="82296" marR="82296"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c>
                  <a:txBody>
                    <a:bodyPr anchor="ctr" rtlCol="false" lIns="0" tIns="0" rIns="0" bIns="0" wrap="square"/>
                    <a:lstStyle/>
                    <a:p>
                      <a:pPr algn="ctr">
                        <a:lnSpc>
                          <a:spcPts val="1950"/>
                        </a:lnSpc>
                        <a:spcBef>
                          <a:spcPts val="0"/>
                        </a:spcBef>
                        <a:buNone/>
                      </a:pPr>
                      <a:r>
                        <a:rPr lang="en-US" sz="1500" b="true">
                          <a:solidFill>
                            <a:srgbClr val="111111"/>
                          </a:solidFill>
                          <a:latin typeface="Nunito Semi-Bold"/>
                          <a:ea typeface="Nunito Semi-Bold"/>
                          <a:cs typeface="Nunito Semi-Bold"/>
                          <a:sym typeface="Nunito Semi-Bold"/>
                        </a:rPr>
                        <a:t>140</a:t>
                      </a:r>
                    </a:p>
                  </a:txBody>
                  <a:tcPr marL="82296" marR="82296"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r>
              <a:tr h="463042">
                <a:tc>
                  <a:txBody>
                    <a:bodyPr anchor="ctr" rtlCol="false" lIns="0" tIns="0" rIns="0" bIns="0" wrap="square"/>
                    <a:lstStyle/>
                    <a:p>
                      <a:pPr algn="ctr">
                        <a:lnSpc>
                          <a:spcPts val="1950"/>
                        </a:lnSpc>
                        <a:spcBef>
                          <a:spcPts val="0"/>
                        </a:spcBef>
                        <a:buNone/>
                      </a:pPr>
                      <a:r>
                        <a:rPr lang="en-US" sz="1500" b="true">
                          <a:solidFill>
                            <a:srgbClr val="111111"/>
                          </a:solidFill>
                          <a:latin typeface="Nunito Bold"/>
                          <a:ea typeface="Nunito Bold"/>
                          <a:cs typeface="Nunito Bold"/>
                          <a:sym typeface="Nunito Bold"/>
                        </a:rPr>
                        <a:t>{G, D}</a:t>
                      </a:r>
                    </a:p>
                  </a:txBody>
                  <a:tcPr marL="82296" marR="82296"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6ECDF"/>
                    </a:solidFill>
                  </a:tcPr>
                </a:tc>
                <a:tc>
                  <a:txBody>
                    <a:bodyPr anchor="ctr" rtlCol="false" lIns="0" tIns="0" rIns="0" bIns="0" wrap="square"/>
                    <a:lstStyle/>
                    <a:p>
                      <a:pPr algn="l">
                        <a:lnSpc>
                          <a:spcPts val="1950"/>
                        </a:lnSpc>
                        <a:spcBef>
                          <a:spcPts val="0"/>
                        </a:spcBef>
                        <a:buNone/>
                      </a:pPr>
                      <a:r>
                        <a:rPr lang="en-US" sz="1500" b="true">
                          <a:solidFill>
                            <a:srgbClr val="111111"/>
                          </a:solidFill>
                          <a:latin typeface="Nunito Semi-Bold"/>
                          <a:ea typeface="Nunito Semi-Bold"/>
                          <a:cs typeface="Nunito Semi-Bold"/>
                          <a:sym typeface="Nunito Semi-Bold"/>
                        </a:rPr>
                        <a:t>Guitar + Drums</a:t>
                      </a:r>
                    </a:p>
                  </a:txBody>
                  <a:tcPr marL="82296" marR="82296"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6ECDF"/>
                    </a:solidFill>
                  </a:tcPr>
                </a:tc>
                <a:tc>
                  <a:txBody>
                    <a:bodyPr anchor="ctr" rtlCol="false" lIns="0" tIns="0" rIns="0" bIns="0" wrap="square"/>
                    <a:lstStyle/>
                    <a:p>
                      <a:pPr algn="ctr">
                        <a:lnSpc>
                          <a:spcPts val="1950"/>
                        </a:lnSpc>
                        <a:spcBef>
                          <a:spcPts val="0"/>
                        </a:spcBef>
                        <a:buNone/>
                      </a:pPr>
                      <a:r>
                        <a:rPr lang="en-US" sz="1500" b="true">
                          <a:solidFill>
                            <a:srgbClr val="111111"/>
                          </a:solidFill>
                          <a:latin typeface="Nunito Semi-Bold"/>
                          <a:ea typeface="Nunito Semi-Bold"/>
                          <a:cs typeface="Nunito Semi-Bold"/>
                          <a:sym typeface="Nunito Semi-Bold"/>
                        </a:rPr>
                        <a:t>100</a:t>
                      </a:r>
                    </a:p>
                  </a:txBody>
                  <a:tcPr marL="82296" marR="82296"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6ECDF"/>
                    </a:solidFill>
                  </a:tcPr>
                </a:tc>
              </a:tr>
              <a:tr h="463042">
                <a:tc>
                  <a:txBody>
                    <a:bodyPr anchor="ctr" rtlCol="false" lIns="0" tIns="0" rIns="0" bIns="0" wrap="square"/>
                    <a:lstStyle/>
                    <a:p>
                      <a:pPr algn="ctr">
                        <a:lnSpc>
                          <a:spcPts val="1950"/>
                        </a:lnSpc>
                        <a:spcBef>
                          <a:spcPts val="0"/>
                        </a:spcBef>
                        <a:buNone/>
                      </a:pPr>
                      <a:r>
                        <a:rPr lang="en-US" sz="1500" b="true">
                          <a:solidFill>
                            <a:srgbClr val="111111"/>
                          </a:solidFill>
                          <a:latin typeface="Nunito Bold"/>
                          <a:ea typeface="Nunito Bold"/>
                          <a:cs typeface="Nunito Bold"/>
                          <a:sym typeface="Nunito Bold"/>
                        </a:rPr>
                        <a:t>{V, D}</a:t>
                      </a:r>
                    </a:p>
                  </a:txBody>
                  <a:tcPr marL="82296" marR="82296"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c>
                  <a:txBody>
                    <a:bodyPr anchor="ctr" rtlCol="false" lIns="0" tIns="0" rIns="0" bIns="0" wrap="square"/>
                    <a:lstStyle/>
                    <a:p>
                      <a:pPr algn="l">
                        <a:lnSpc>
                          <a:spcPts val="1950"/>
                        </a:lnSpc>
                        <a:spcBef>
                          <a:spcPts val="0"/>
                        </a:spcBef>
                        <a:buNone/>
                      </a:pPr>
                      <a:r>
                        <a:rPr lang="en-US" sz="1500" b="true">
                          <a:solidFill>
                            <a:srgbClr val="111111"/>
                          </a:solidFill>
                          <a:latin typeface="Nunito Semi-Bold"/>
                          <a:ea typeface="Nunito Semi-Bold"/>
                          <a:cs typeface="Nunito Semi-Bold"/>
                          <a:sym typeface="Nunito Semi-Bold"/>
                        </a:rPr>
                        <a:t>Voice + Drums</a:t>
                      </a:r>
                    </a:p>
                  </a:txBody>
                  <a:tcPr marL="82296" marR="82296"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c>
                  <a:txBody>
                    <a:bodyPr anchor="ctr" rtlCol="false" lIns="0" tIns="0" rIns="0" bIns="0" wrap="square"/>
                    <a:lstStyle/>
                    <a:p>
                      <a:pPr algn="ctr">
                        <a:lnSpc>
                          <a:spcPts val="1950"/>
                        </a:lnSpc>
                        <a:spcBef>
                          <a:spcPts val="0"/>
                        </a:spcBef>
                        <a:buNone/>
                      </a:pPr>
                      <a:r>
                        <a:rPr lang="en-US" sz="1500" b="true">
                          <a:solidFill>
                            <a:srgbClr val="111111"/>
                          </a:solidFill>
                          <a:latin typeface="Nunito Semi-Bold"/>
                          <a:ea typeface="Nunito Semi-Bold"/>
                          <a:cs typeface="Nunito Semi-Bold"/>
                          <a:sym typeface="Nunito Semi-Bold"/>
                        </a:rPr>
                        <a:t>80</a:t>
                      </a:r>
                    </a:p>
                  </a:txBody>
                  <a:tcPr marL="82296" marR="82296"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r>
              <a:tr h="463042">
                <a:tc>
                  <a:txBody>
                    <a:bodyPr anchor="ctr" rtlCol="false" lIns="0" tIns="0" rIns="0" bIns="0" wrap="square"/>
                    <a:lstStyle/>
                    <a:p>
                      <a:pPr algn="ctr">
                        <a:lnSpc>
                          <a:spcPts val="1950"/>
                        </a:lnSpc>
                        <a:spcBef>
                          <a:spcPts val="0"/>
                        </a:spcBef>
                        <a:buNone/>
                      </a:pPr>
                      <a:r>
                        <a:rPr lang="en-US" sz="1500" b="true">
                          <a:solidFill>
                            <a:srgbClr val="111111"/>
                          </a:solidFill>
                          <a:latin typeface="Nunito Bold"/>
                          <a:ea typeface="Nunito Bold"/>
                          <a:cs typeface="Nunito Bold"/>
                          <a:sym typeface="Nunito Bold"/>
                        </a:rPr>
                        <a:t>{G, V, D}</a:t>
                      </a:r>
                    </a:p>
                  </a:txBody>
                  <a:tcPr marL="82296" marR="82296"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6ECDF"/>
                    </a:solidFill>
                  </a:tcPr>
                </a:tc>
                <a:tc>
                  <a:txBody>
                    <a:bodyPr anchor="ctr" rtlCol="false" lIns="0" tIns="0" rIns="0" bIns="0" wrap="square"/>
                    <a:lstStyle/>
                    <a:p>
                      <a:pPr algn="l">
                        <a:lnSpc>
                          <a:spcPts val="1950"/>
                        </a:lnSpc>
                        <a:spcBef>
                          <a:spcPts val="0"/>
                        </a:spcBef>
                        <a:buNone/>
                      </a:pPr>
                      <a:r>
                        <a:rPr lang="en-US" sz="1500" b="true">
                          <a:solidFill>
                            <a:srgbClr val="111111"/>
                          </a:solidFill>
                          <a:latin typeface="Nunito Semi-Bold"/>
                          <a:ea typeface="Nunito Semi-Bold"/>
                          <a:cs typeface="Nunito Semi-Bold"/>
                          <a:sym typeface="Nunito Semi-Bold"/>
                        </a:rPr>
                        <a:t>the whole band</a:t>
                      </a:r>
                    </a:p>
                  </a:txBody>
                  <a:tcPr marL="82296" marR="82296"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6ECDF"/>
                    </a:solidFill>
                  </a:tcPr>
                </a:tc>
                <a:tc>
                  <a:txBody>
                    <a:bodyPr anchor="ctr" rtlCol="false" lIns="0" tIns="0" rIns="0" bIns="0" wrap="square"/>
                    <a:lstStyle/>
                    <a:p>
                      <a:pPr algn="ctr">
                        <a:lnSpc>
                          <a:spcPts val="1950"/>
                        </a:lnSpc>
                        <a:spcBef>
                          <a:spcPts val="0"/>
                        </a:spcBef>
                        <a:buNone/>
                      </a:pPr>
                      <a:r>
                        <a:rPr lang="en-US" sz="1500" b="true">
                          <a:solidFill>
                            <a:srgbClr val="111111"/>
                          </a:solidFill>
                          <a:latin typeface="Nunito Semi-Bold"/>
                          <a:ea typeface="Nunito Semi-Bold"/>
                          <a:cs typeface="Nunito Semi-Bold"/>
                          <a:sym typeface="Nunito Semi-Bold"/>
                        </a:rPr>
                        <a:t>200</a:t>
                      </a:r>
                    </a:p>
                  </a:txBody>
                  <a:tcPr marL="82296" marR="82296"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6ECDF"/>
                    </a:solidFill>
                  </a:tcPr>
                </a:tc>
              </a:tr>
            </a:tbl>
          </a:graphicData>
        </a:graphic>
      </p:graphicFrame>
      <p:sp>
        <p:nvSpPr>
          <p:cNvPr id="38" name="Rounded Rectangle 37"/>
          <p:cNvSpPr/>
          <p:nvPr/>
        </p:nvSpPr>
        <p:spPr>
          <a:xfrm>
            <a:off x="9166860" y="8008366"/>
            <a:ext cx="8092440" cy="1143000"/>
          </a:xfrm>
          <a:prstGeom prst="roundRect">
            <a:avLst>
              <a:gd name="adj" fmla="val 16000"/>
            </a:avLst>
          </a:prstGeom>
          <a:solidFill>
            <a:srgbClr val="F6ECDF"/>
          </a:solidFill>
          <a:ln>
            <a:noFill/>
          </a:ln>
        </p:spPr>
        <p:txBody>
          <a:bodyPr anchor="ctr" rtlCol="false" lIns="274320" tIns="73152" rIns="274320" bIns="73152" wrap="square"/>
          <a:lstStyle/>
          <a:p>
            <a:pPr algn="l">
              <a:lnSpc>
                <a:spcPts val="1900"/>
              </a:lnSpc>
              <a:spcBef>
                <a:spcPts val="0"/>
              </a:spcBef>
              <a:buNone/>
            </a:pPr>
            <a:r>
              <a:rPr lang="en-US" sz="1500" b="true">
                <a:solidFill>
                  <a:srgbClr val="111111"/>
                </a:solidFill>
                <a:latin typeface="Nunito Semi-Bold"/>
                <a:ea typeface="Nunito Semi-Bold"/>
                <a:cs typeface="Nunito Semi-Bold"/>
                <a:sym typeface="Nunito Semi-Bold"/>
              </a:rPr>
              <a:t>One arrival order, V </a:t>
            </a:r>
            <a:r>
              <a:rPr lang="en-US" sz="1500" b="true">
                <a:solidFill>
                  <a:srgbClr val="111111"/>
                </a:solidFill>
                <a:latin typeface="Calibri"/>
                <a:ea typeface="Calibri"/>
                <a:cs typeface="Calibri"/>
                <a:sym typeface="Calibri"/>
              </a:rPr>
              <a:t>→ </a:t>
            </a:r>
            <a:r>
              <a:rPr lang="en-US" sz="1500" b="true">
                <a:solidFill>
                  <a:srgbClr val="111111"/>
                </a:solidFill>
                <a:latin typeface="Nunito Semi-Bold"/>
                <a:ea typeface="Nunito Semi-Bold"/>
                <a:cs typeface="Nunito Semi-Bold"/>
                <a:sym typeface="Nunito Semi-Bold"/>
              </a:rPr>
              <a:t>D </a:t>
            </a:r>
            <a:r>
              <a:rPr lang="en-US" sz="1500" b="true">
                <a:solidFill>
                  <a:srgbClr val="111111"/>
                </a:solidFill>
                <a:latin typeface="Calibri"/>
                <a:ea typeface="Calibri"/>
                <a:cs typeface="Calibri"/>
                <a:sym typeface="Calibri"/>
              </a:rPr>
              <a:t>→ </a:t>
            </a:r>
            <a:r>
              <a:rPr lang="en-US" sz="1500" b="true">
                <a:solidFill>
                  <a:srgbClr val="111111"/>
                </a:solidFill>
                <a:latin typeface="Nunito Semi-Bold"/>
                <a:ea typeface="Nunito Semi-Bold"/>
                <a:cs typeface="Nunito Semi-Bold"/>
                <a:sym typeface="Nunito Semi-Bold"/>
              </a:rPr>
              <a:t>G: Voice adds </a:t>
            </a:r>
            <a:r>
              <a:rPr lang="en-US" sz="1500" b="true">
                <a:solidFill>
                  <a:srgbClr val="111111"/>
                </a:solidFill>
                <a:latin typeface="Nunito Bold"/>
                <a:ea typeface="Nunito Bold"/>
                <a:cs typeface="Nunito Bold"/>
                <a:sym typeface="Nunito Bold"/>
              </a:rPr>
              <a:t>40</a:t>
            </a:r>
            <a:r>
              <a:rPr lang="en-US" sz="1500" b="true">
                <a:solidFill>
                  <a:srgbClr val="111111"/>
                </a:solidFill>
                <a:latin typeface="Nunito Semi-Bold"/>
                <a:ea typeface="Nunito Semi-Bold"/>
                <a:cs typeface="Nunito Semi-Bold"/>
                <a:sym typeface="Nunito Semi-Bold"/>
              </a:rPr>
              <a:t>, Drums takes 40 </a:t>
            </a:r>
            <a:r>
              <a:rPr lang="en-US" sz="1500" b="true">
                <a:solidFill>
                  <a:srgbClr val="111111"/>
                </a:solidFill>
                <a:latin typeface="Calibri"/>
                <a:ea typeface="Calibri"/>
                <a:cs typeface="Calibri"/>
                <a:sym typeface="Calibri"/>
              </a:rPr>
              <a:t>→ </a:t>
            </a:r>
            <a:r>
              <a:rPr lang="en-US" sz="1500" b="true">
                <a:solidFill>
                  <a:srgbClr val="111111"/>
                </a:solidFill>
                <a:latin typeface="Nunito Semi-Bold"/>
                <a:ea typeface="Nunito Semi-Bold"/>
                <a:cs typeface="Nunito Semi-Bold"/>
                <a:sym typeface="Nunito Semi-Bold"/>
              </a:rPr>
              <a:t>80 (</a:t>
            </a:r>
            <a:r>
              <a:rPr lang="en-US" sz="1500" b="true">
                <a:solidFill>
                  <a:srgbClr val="111111"/>
                </a:solidFill>
                <a:latin typeface="Nunito Bold"/>
                <a:ea typeface="Nunito Bold"/>
                <a:cs typeface="Nunito Bold"/>
                <a:sym typeface="Nunito Bold"/>
              </a:rPr>
              <a:t>+40</a:t>
            </a:r>
            <a:r>
              <a:rPr lang="en-US" sz="1500" b="true">
                <a:solidFill>
                  <a:srgbClr val="111111"/>
                </a:solidFill>
                <a:latin typeface="Nunito Semi-Bold"/>
                <a:ea typeface="Nunito Semi-Bold"/>
                <a:cs typeface="Nunito Semi-Bold"/>
                <a:sym typeface="Nunito Semi-Bold"/>
              </a:rPr>
              <a:t>), Guitar completes the band, 80 </a:t>
            </a:r>
            <a:r>
              <a:rPr lang="en-US" sz="1500" b="true">
                <a:solidFill>
                  <a:srgbClr val="111111"/>
                </a:solidFill>
                <a:latin typeface="Calibri"/>
                <a:ea typeface="Calibri"/>
                <a:cs typeface="Calibri"/>
                <a:sym typeface="Calibri"/>
              </a:rPr>
              <a:t>→ </a:t>
            </a:r>
            <a:r>
              <a:rPr lang="en-US" sz="1500" b="true">
                <a:solidFill>
                  <a:srgbClr val="111111"/>
                </a:solidFill>
                <a:latin typeface="Nunito Semi-Bold"/>
                <a:ea typeface="Nunito Semi-Bold"/>
                <a:cs typeface="Nunito Semi-Bold"/>
                <a:sym typeface="Nunito Semi-Bold"/>
              </a:rPr>
              <a:t>200 (</a:t>
            </a:r>
            <a:r>
              <a:rPr lang="en-US" sz="1500" b="true">
                <a:solidFill>
                  <a:srgbClr val="111111"/>
                </a:solidFill>
                <a:latin typeface="Nunito Bold"/>
                <a:ea typeface="Nunito Bold"/>
                <a:cs typeface="Nunito Bold"/>
                <a:sym typeface="Nunito Bold"/>
              </a:rPr>
              <a:t>+120</a:t>
            </a:r>
            <a:r>
              <a:rPr lang="en-US" sz="1500" b="true">
                <a:solidFill>
                  <a:srgbClr val="111111"/>
                </a:solidFill>
                <a:latin typeface="Nunito Semi-Bold"/>
                <a:ea typeface="Nunito Semi-Bold"/>
                <a:cs typeface="Nunito Semi-Bold"/>
                <a:sym typeface="Nunito Semi-Bold"/>
              </a:rPr>
              <a:t>). Averaged over all six orders: </a:t>
            </a:r>
            <a:r>
              <a:rPr lang="en-US" sz="1500" b="true">
                <a:solidFill>
                  <a:srgbClr val="111111"/>
                </a:solidFill>
                <a:latin typeface="Nunito Bold"/>
                <a:ea typeface="Nunito Bold"/>
                <a:cs typeface="Nunito Bold"/>
                <a:sym typeface="Nunito Bold"/>
              </a:rPr>
              <a:t>90 / 70 / 40</a:t>
            </a:r>
            <a:r>
              <a:rPr lang="en-US" sz="1500" b="true">
                <a:solidFill>
                  <a:srgbClr val="111111"/>
                </a:solidFill>
                <a:latin typeface="Nunito Semi-Bold"/>
                <a:ea typeface="Nunito Semi-Bold"/>
                <a:cs typeface="Nunito Semi-Bold"/>
                <a:sym typeface="Nunito Semi-Bold"/>
              </a:rPr>
              <a:t>, which sums to 200.</a:t>
            </a:r>
          </a:p>
        </p:txBody>
      </p:sp>
      <p:sp>
        <p:nvSpPr>
          <p:cNvPr id="39" name="Rounded Rectangle 38"/>
          <p:cNvSpPr/>
          <p:nvPr/>
        </p:nvSpPr>
        <p:spPr>
          <a:xfrm>
            <a:off x="9166860" y="9334246"/>
            <a:ext cx="3945636" cy="594360"/>
          </a:xfrm>
          <a:prstGeom prst="roundRect">
            <a:avLst>
              <a:gd name="adj" fmla="val 30769"/>
            </a:avLst>
          </a:prstGeom>
          <a:solidFill>
            <a:srgbClr val="F6ECDF"/>
          </a:solidFill>
          <a:ln>
            <a:noFill/>
          </a:ln>
        </p:spPr>
        <p:txBody>
          <a:bodyPr anchor="ctr" rtlCol="false" lIns="91440" tIns="45720" rIns="91440" bIns="45720" wrap="square"/>
          <a:lstStyle/>
          <a:p>
            <a:pPr algn="ctr">
              <a:lnSpc>
                <a:spcPts val="1840"/>
              </a:lnSpc>
              <a:spcBef>
                <a:spcPts val="0"/>
              </a:spcBef>
              <a:buNone/>
            </a:pPr>
            <a:r>
              <a:rPr lang="en-US" sz="1600" b="true">
                <a:solidFill>
                  <a:srgbClr val="111111"/>
                </a:solidFill>
                <a:latin typeface="Nunito Bold"/>
                <a:ea typeface="Nunito Bold"/>
                <a:cs typeface="Nunito Bold"/>
                <a:sym typeface="Nunito Bold"/>
              </a:rPr>
              <a:t>Efficiency</a:t>
            </a:r>
          </a:p>
          <a:p>
            <a:pPr algn="ctr">
              <a:lnSpc>
                <a:spcPts val="1440"/>
              </a:lnSpc>
              <a:spcBef>
                <a:spcPts val="300"/>
              </a:spcBef>
              <a:buNone/>
            </a:pPr>
            <a:r>
              <a:rPr lang="en-US" sz="1200" b="true">
                <a:solidFill>
                  <a:srgbClr val="8A8378"/>
                </a:solidFill>
                <a:latin typeface="Nunito Semi-Bold"/>
                <a:ea typeface="Nunito Semi-Bold"/>
                <a:cs typeface="Nunito Semi-Bold"/>
                <a:sym typeface="Nunito Semi-Bold"/>
              </a:rPr>
              <a:t>the shares add up to v(N)</a:t>
            </a:r>
          </a:p>
        </p:txBody>
      </p:sp>
      <p:sp>
        <p:nvSpPr>
          <p:cNvPr id="40" name="Rounded Rectangle 39"/>
          <p:cNvSpPr/>
          <p:nvPr/>
        </p:nvSpPr>
        <p:spPr>
          <a:xfrm>
            <a:off x="13313664" y="9334246"/>
            <a:ext cx="3945636" cy="594360"/>
          </a:xfrm>
          <a:prstGeom prst="roundRect">
            <a:avLst>
              <a:gd name="adj" fmla="val 30769"/>
            </a:avLst>
          </a:prstGeom>
          <a:solidFill>
            <a:srgbClr val="F6ECDF"/>
          </a:solidFill>
          <a:ln>
            <a:noFill/>
          </a:ln>
        </p:spPr>
        <p:txBody>
          <a:bodyPr anchor="ctr" rtlCol="false" lIns="91440" tIns="45720" rIns="91440" bIns="45720" wrap="square"/>
          <a:lstStyle/>
          <a:p>
            <a:pPr algn="ctr">
              <a:lnSpc>
                <a:spcPts val="1840"/>
              </a:lnSpc>
              <a:spcBef>
                <a:spcPts val="0"/>
              </a:spcBef>
              <a:buNone/>
            </a:pPr>
            <a:r>
              <a:rPr lang="en-US" sz="1600" b="true">
                <a:solidFill>
                  <a:srgbClr val="111111"/>
                </a:solidFill>
                <a:latin typeface="Nunito Bold"/>
                <a:ea typeface="Nunito Bold"/>
                <a:cs typeface="Nunito Bold"/>
                <a:sym typeface="Nunito Bold"/>
              </a:rPr>
              <a:t>Symmetry</a:t>
            </a:r>
          </a:p>
          <a:p>
            <a:pPr algn="ctr">
              <a:lnSpc>
                <a:spcPts val="1440"/>
              </a:lnSpc>
              <a:spcBef>
                <a:spcPts val="300"/>
              </a:spcBef>
              <a:buNone/>
            </a:pPr>
            <a:r>
              <a:rPr lang="en-US" sz="1200" b="true">
                <a:solidFill>
                  <a:srgbClr val="8A8378"/>
                </a:solidFill>
                <a:latin typeface="Nunito Semi-Bold"/>
                <a:ea typeface="Nunito Semi-Bold"/>
                <a:cs typeface="Nunito Semi-Bold"/>
                <a:sym typeface="Nunito Semi-Bold"/>
              </a:rPr>
              <a:t>equal contributors, equal credit</a:t>
            </a:r>
          </a:p>
        </p:txBody>
      </p:sp>
      <p:sp>
        <p:nvSpPr>
          <p:cNvPr id="41" name="Rounded Rectangle 40"/>
          <p:cNvSpPr/>
          <p:nvPr/>
        </p:nvSpPr>
        <p:spPr>
          <a:xfrm>
            <a:off x="9166860" y="10111486"/>
            <a:ext cx="3945636" cy="594360"/>
          </a:xfrm>
          <a:prstGeom prst="roundRect">
            <a:avLst>
              <a:gd name="adj" fmla="val 30769"/>
            </a:avLst>
          </a:prstGeom>
          <a:solidFill>
            <a:srgbClr val="F6ECDF"/>
          </a:solidFill>
          <a:ln>
            <a:noFill/>
          </a:ln>
        </p:spPr>
        <p:txBody>
          <a:bodyPr anchor="ctr" rtlCol="false" lIns="91440" tIns="45720" rIns="91440" bIns="45720" wrap="square"/>
          <a:lstStyle/>
          <a:p>
            <a:pPr algn="ctr">
              <a:lnSpc>
                <a:spcPts val="1840"/>
              </a:lnSpc>
              <a:spcBef>
                <a:spcPts val="0"/>
              </a:spcBef>
              <a:buNone/>
            </a:pPr>
            <a:r>
              <a:rPr lang="en-US" sz="1600" b="true">
                <a:solidFill>
                  <a:srgbClr val="111111"/>
                </a:solidFill>
                <a:latin typeface="Nunito Bold"/>
                <a:ea typeface="Nunito Bold"/>
                <a:cs typeface="Nunito Bold"/>
                <a:sym typeface="Nunito Bold"/>
              </a:rPr>
              <a:t>Null player</a:t>
            </a:r>
          </a:p>
          <a:p>
            <a:pPr algn="ctr">
              <a:lnSpc>
                <a:spcPts val="1440"/>
              </a:lnSpc>
              <a:spcBef>
                <a:spcPts val="300"/>
              </a:spcBef>
              <a:buNone/>
            </a:pPr>
            <a:r>
              <a:rPr lang="en-US" sz="1200" b="true">
                <a:solidFill>
                  <a:srgbClr val="8A8378"/>
                </a:solidFill>
                <a:latin typeface="Nunito Semi-Bold"/>
                <a:ea typeface="Nunito Semi-Bold"/>
                <a:cs typeface="Nunito Semi-Bold"/>
                <a:sym typeface="Nunito Semi-Bold"/>
              </a:rPr>
              <a:t>adds nothing </a:t>
            </a:r>
            <a:r>
              <a:rPr lang="en-US" sz="1200" b="true">
                <a:solidFill>
                  <a:srgbClr val="8A8378"/>
                </a:solidFill>
                <a:latin typeface="Calibri"/>
                <a:ea typeface="Calibri"/>
                <a:cs typeface="Calibri"/>
                <a:sym typeface="Calibri"/>
              </a:rPr>
              <a:t>→ </a:t>
            </a:r>
            <a:r>
              <a:rPr lang="en-US" sz="1200" b="true">
                <a:solidFill>
                  <a:srgbClr val="8A8378"/>
                </a:solidFill>
                <a:latin typeface="Nunito Semi-Bold"/>
                <a:ea typeface="Nunito Semi-Bold"/>
                <a:cs typeface="Nunito Semi-Bold"/>
                <a:sym typeface="Nunito Semi-Bold"/>
              </a:rPr>
              <a:t>gets nothing</a:t>
            </a:r>
          </a:p>
        </p:txBody>
      </p:sp>
      <p:sp>
        <p:nvSpPr>
          <p:cNvPr id="42" name="Rounded Rectangle 41"/>
          <p:cNvSpPr/>
          <p:nvPr/>
        </p:nvSpPr>
        <p:spPr>
          <a:xfrm>
            <a:off x="13313664" y="10111486"/>
            <a:ext cx="3945636" cy="594360"/>
          </a:xfrm>
          <a:prstGeom prst="roundRect">
            <a:avLst>
              <a:gd name="adj" fmla="val 30769"/>
            </a:avLst>
          </a:prstGeom>
          <a:solidFill>
            <a:srgbClr val="F6ECDF"/>
          </a:solidFill>
          <a:ln>
            <a:noFill/>
          </a:ln>
        </p:spPr>
        <p:txBody>
          <a:bodyPr anchor="ctr" rtlCol="false" lIns="91440" tIns="45720" rIns="91440" bIns="45720" wrap="square"/>
          <a:lstStyle/>
          <a:p>
            <a:pPr algn="ctr">
              <a:lnSpc>
                <a:spcPts val="1840"/>
              </a:lnSpc>
              <a:spcBef>
                <a:spcPts val="0"/>
              </a:spcBef>
              <a:buNone/>
            </a:pPr>
            <a:r>
              <a:rPr lang="en-US" sz="1600" b="true">
                <a:solidFill>
                  <a:srgbClr val="111111"/>
                </a:solidFill>
                <a:latin typeface="Nunito Bold"/>
                <a:ea typeface="Nunito Bold"/>
                <a:cs typeface="Nunito Bold"/>
                <a:sym typeface="Nunito Bold"/>
              </a:rPr>
              <a:t>Additivity</a:t>
            </a:r>
          </a:p>
          <a:p>
            <a:pPr algn="ctr">
              <a:lnSpc>
                <a:spcPts val="1440"/>
              </a:lnSpc>
              <a:spcBef>
                <a:spcPts val="300"/>
              </a:spcBef>
              <a:buNone/>
            </a:pPr>
            <a:r>
              <a:rPr lang="en-US" sz="1200" b="true">
                <a:solidFill>
                  <a:srgbClr val="8A8378"/>
                </a:solidFill>
                <a:latin typeface="Nunito Semi-Bold"/>
                <a:ea typeface="Nunito Semi-Bold"/>
                <a:cs typeface="Nunito Semi-Bold"/>
                <a:sym typeface="Nunito Semi-Bold"/>
              </a:rPr>
              <a:t>linear across games</a:t>
            </a:r>
          </a:p>
        </p:txBody>
      </p:sp>
      <p:sp>
        <p:nvSpPr>
          <p:cNvPr id="43" name="Rounded Rectangle 42"/>
          <p:cNvSpPr/>
          <p:nvPr/>
        </p:nvSpPr>
        <p:spPr>
          <a:xfrm>
            <a:off x="9166860" y="10934446"/>
            <a:ext cx="8092440" cy="-1671574"/>
          </a:xfrm>
          <a:prstGeom prst="roundRect">
            <a:avLst>
              <a:gd name="adj" fmla="val 0"/>
            </a:avLst>
          </a:prstGeom>
          <a:solidFill>
            <a:srgbClr val="1F7A8C"/>
          </a:solidFill>
          <a:ln>
            <a:noFill/>
          </a:ln>
        </p:spPr>
        <p:txBody>
          <a:bodyPr anchor="ctr" rtlCol="false" lIns="274320" tIns="73152" rIns="274320" bIns="73152" wrap="square"/>
          <a:lstStyle/>
          <a:p>
            <a:pPr algn="ctr">
              <a:lnSpc>
                <a:spcPts val="2000"/>
              </a:lnSpc>
              <a:spcBef>
                <a:spcPts val="0"/>
              </a:spcBef>
              <a:buNone/>
            </a:pPr>
            <a:r>
              <a:rPr lang="en-US" sz="1600" b="true">
                <a:solidFill>
                  <a:srgbClr val="FFFFFF"/>
                </a:solidFill>
                <a:latin typeface="Nunito Bold"/>
                <a:ea typeface="Nunito Bold"/>
                <a:cs typeface="Nunito Bold"/>
                <a:sym typeface="Nunito Bold"/>
              </a:rPr>
              <a:t>Why this rule:</a:t>
            </a:r>
            <a:r>
              <a:rPr lang="en-US" sz="1600" b="true">
                <a:solidFill>
                  <a:srgbClr val="FFFFFF"/>
                </a:solidFill>
                <a:latin typeface="Nunito Semi-Bold"/>
                <a:ea typeface="Nunito Semi-Bold"/>
                <a:cs typeface="Nunito Semi-Bold"/>
                <a:sym typeface="Nunito Semi-Bold"/>
              </a:rPr>
              <a:t> Shapley proved it is the </a:t>
            </a:r>
            <a:r>
              <a:rPr lang="en-US" sz="1600" b="true">
                <a:solidFill>
                  <a:srgbClr val="FFFFFF"/>
                </a:solidFill>
                <a:latin typeface="Nunito Bold"/>
                <a:ea typeface="Nunito Bold"/>
                <a:cs typeface="Nunito Bold"/>
                <a:sym typeface="Nunito Bold"/>
              </a:rPr>
              <a:t>only</a:t>
            </a:r>
            <a:r>
              <a:rPr lang="en-US" sz="1600" b="true">
                <a:solidFill>
                  <a:srgbClr val="FFFFFF"/>
                </a:solidFill>
                <a:latin typeface="Nunito Semi-Bold"/>
                <a:ea typeface="Nunito Semi-Bold"/>
                <a:cs typeface="Nunito Semi-Bold"/>
                <a:sym typeface="Nunito Semi-Bold"/>
              </a:rPr>
              <a:t> allocation satisfying all four axioms at once.</a:t>
            </a:r>
          </a:p>
        </p:txBody>
      </p:sp>
    </p:spTree>
  </p:cSld>
  <p:clrMapOvr>
    <a:masterClrMapping/>
  </p:clrMapOvr>
</p:sld>
</file>

<file path=ppt/slides/slide4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pic>
        <p:nvPicPr>
          <p:cNvPr id="2" name="Picture 1" descr="ensias_logo.jpg"/>
          <p:cNvPicPr>
            <a:picLocks noChangeAspect="1"/>
          </p:cNvPicPr>
          <p:nvPr/>
        </p:nvPicPr>
        <p:blipFill>
          <a:blip r:embed="rId2"/>
          <a:stretch>
            <a:fillRect/>
          </a:stretch>
        </p:blipFill>
        <p:spPr>
          <a:xfrm>
            <a:off x="1028700" y="9674352"/>
            <a:ext cx="542964" cy="384048"/>
          </a:xfrm>
          <a:prstGeom prst="rect">
            <a:avLst/>
          </a:prstGeom>
        </p:spPr>
      </p:pic>
      <p:sp>
        <p:nvSpPr>
          <p:cNvPr id="3" name="TextBox 2"/>
          <p:cNvSpPr txBox="1"/>
          <p:nvPr/>
        </p:nvSpPr>
        <p:spPr>
          <a:xfrm>
            <a:off x="1577340" y="9747504"/>
            <a:ext cx="12801600" cy="274320"/>
          </a:xfrm>
          <a:prstGeom prst="rect">
            <a:avLst/>
          </a:prstGeom>
          <a:noFill/>
        </p:spPr>
        <p:txBody>
          <a:bodyPr anchor="t" rtlCol="false" lIns="0" tIns="0" rIns="0" bIns="0" wrap="square"/>
          <a:lstStyle/>
          <a:p>
            <a:pPr algn="l">
              <a:lnSpc>
                <a:spcPts val="1600"/>
              </a:lnSpc>
              <a:spcBef>
                <a:spcPts val="0"/>
              </a:spcBef>
              <a:buNone/>
            </a:pPr>
            <a:r>
              <a:rPr lang="en-US" sz="1300" b="true">
                <a:solidFill>
                  <a:srgbClr val="8A8378"/>
                </a:solidFill>
                <a:latin typeface="Nunito Bold"/>
                <a:ea typeface="Nunito Bold"/>
                <a:cs typeface="Nunito Bold"/>
                <a:sym typeface="Nunito Bold"/>
              </a:rPr>
              <a:t>Cooperative Game Theory for Explainable AI in Recommendation Systems  ·  A Shapley Framework for Actionable Insight</a:t>
            </a:r>
          </a:p>
        </p:txBody>
      </p:sp>
      <p:sp>
        <p:nvSpPr>
          <p:cNvPr id="4" name="TextBox 3"/>
          <p:cNvSpPr txBox="1"/>
          <p:nvPr/>
        </p:nvSpPr>
        <p:spPr>
          <a:xfrm>
            <a:off x="16162020" y="9692640"/>
            <a:ext cx="1097280" cy="329184"/>
          </a:xfrm>
          <a:prstGeom prst="rect">
            <a:avLst/>
          </a:prstGeom>
          <a:noFill/>
        </p:spPr>
        <p:txBody>
          <a:bodyPr anchor="t" rtlCol="false" lIns="0" tIns="0" rIns="0" bIns="0" wrap="square"/>
          <a:lstStyle/>
          <a:p>
            <a:pPr algn="r">
              <a:lnSpc>
                <a:spcPts val="2200"/>
              </a:lnSpc>
              <a:spcBef>
                <a:spcPts val="0"/>
              </a:spcBef>
              <a:buNone/>
            </a:pPr>
            <a:r>
              <a:rPr lang="en-US" sz="1800" b="true">
                <a:solidFill>
                  <a:srgbClr val="111111"/>
                </a:solidFill>
                <a:latin typeface="Nunito Ultra-Bold"/>
                <a:ea typeface="Nunito Ultra-Bold"/>
                <a:cs typeface="Nunito Ultra-Bold"/>
                <a:sym typeface="Nunito Ultra-Bold"/>
              </a:rPr>
              <a:t>30</a:t>
            </a:r>
          </a:p>
        </p:txBody>
      </p:sp>
      <p:sp>
        <p:nvSpPr>
          <p:cNvPr id="5" name="TextBox 4"/>
          <p:cNvSpPr txBox="1"/>
          <p:nvPr/>
        </p:nvSpPr>
        <p:spPr>
          <a:xfrm>
            <a:off x="1028700" y="1389888"/>
            <a:ext cx="12938760" cy="329184"/>
          </a:xfrm>
          <a:prstGeom prst="rect">
            <a:avLst/>
          </a:prstGeom>
          <a:noFill/>
        </p:spPr>
        <p:txBody>
          <a:bodyPr anchor="t" rtlCol="false" lIns="0" tIns="0" rIns="0" bIns="0" wrap="square"/>
          <a:lstStyle/>
          <a:p>
            <a:pPr algn="l">
              <a:lnSpc>
                <a:spcPts val="2000"/>
              </a:lnSpc>
              <a:spcBef>
                <a:spcPts val="0"/>
              </a:spcBef>
              <a:buNone/>
            </a:pPr>
            <a:r>
              <a:rPr lang="en-US" sz="1500" b="true" spc="160">
                <a:solidFill>
                  <a:srgbClr val="1F7A8C"/>
                </a:solidFill>
                <a:latin typeface="Nunito Ultra-Bold"/>
                <a:ea typeface="Nunito Ultra-Bold"/>
                <a:cs typeface="Nunito Ultra-Bold"/>
                <a:sym typeface="Nunito Ultra-Bold"/>
              </a:rPr>
              <a:t>CONTRIBUTION I: EXPLAINABLE BLACK-BOX CLUSTERING</a:t>
            </a:r>
          </a:p>
        </p:txBody>
      </p:sp>
      <p:sp>
        <p:nvSpPr>
          <p:cNvPr id="6" name="Rounded Rectangle 5"/>
          <p:cNvSpPr/>
          <p:nvPr/>
        </p:nvSpPr>
        <p:spPr>
          <a:xfrm>
            <a:off x="14516100"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7" name="TextBox 6"/>
          <p:cNvSpPr txBox="1"/>
          <p:nvPr/>
        </p:nvSpPr>
        <p:spPr>
          <a:xfrm>
            <a:off x="14516100"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1</a:t>
            </a:r>
          </a:p>
        </p:txBody>
      </p:sp>
      <p:sp>
        <p:nvSpPr>
          <p:cNvPr id="8" name="Rounded Rectangle 7"/>
          <p:cNvSpPr/>
          <p:nvPr/>
        </p:nvSpPr>
        <p:spPr>
          <a:xfrm>
            <a:off x="14918436"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9" name="TextBox 8"/>
          <p:cNvSpPr txBox="1"/>
          <p:nvPr/>
        </p:nvSpPr>
        <p:spPr>
          <a:xfrm>
            <a:off x="14918436"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2</a:t>
            </a:r>
          </a:p>
        </p:txBody>
      </p:sp>
      <p:sp>
        <p:nvSpPr>
          <p:cNvPr id="10" name="Rounded Rectangle 9"/>
          <p:cNvSpPr/>
          <p:nvPr/>
        </p:nvSpPr>
        <p:spPr>
          <a:xfrm>
            <a:off x="15320772"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11" name="TextBox 10"/>
          <p:cNvSpPr txBox="1"/>
          <p:nvPr/>
        </p:nvSpPr>
        <p:spPr>
          <a:xfrm>
            <a:off x="15320772"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3</a:t>
            </a:r>
          </a:p>
        </p:txBody>
      </p:sp>
      <p:sp>
        <p:nvSpPr>
          <p:cNvPr id="12" name="Rounded Rectangle 11"/>
          <p:cNvSpPr/>
          <p:nvPr/>
        </p:nvSpPr>
        <p:spPr>
          <a:xfrm>
            <a:off x="15723108" y="1371600"/>
            <a:ext cx="329184" cy="329184"/>
          </a:xfrm>
          <a:prstGeom prst="roundRect">
            <a:avLst>
              <a:gd name="adj" fmla="val 16666"/>
            </a:avLst>
          </a:prstGeom>
          <a:solidFill>
            <a:srgbClr val="4472C4"/>
          </a:solidFill>
          <a:ln w="15875">
            <a:solidFill>
              <a:srgbClr val="4472C4"/>
            </a:solidFill>
          </a:ln>
        </p:spPr>
        <p:txBody>
          <a:bodyPr anchor="ctr" rtlCol="false" lIns="0" tIns="0" rIns="0" bIns="0" wrap="square"/>
          <a:lstStyle/>
          <a:p>
            <a:endParaRPr lang="en-US" sz="1800"/>
          </a:p>
        </p:txBody>
      </p:sp>
      <p:sp>
        <p:nvSpPr>
          <p:cNvPr id="13" name="TextBox 12"/>
          <p:cNvSpPr txBox="1"/>
          <p:nvPr/>
        </p:nvSpPr>
        <p:spPr>
          <a:xfrm>
            <a:off x="15723108"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FFFFFF"/>
                </a:solidFill>
                <a:latin typeface="Nunito Ultra-Bold"/>
                <a:ea typeface="Nunito Ultra-Bold"/>
                <a:cs typeface="Nunito Ultra-Bold"/>
                <a:sym typeface="Nunito Ultra-Bold"/>
              </a:rPr>
              <a:t>4</a:t>
            </a:r>
          </a:p>
        </p:txBody>
      </p:sp>
      <p:sp>
        <p:nvSpPr>
          <p:cNvPr id="14" name="Rounded Rectangle 13"/>
          <p:cNvSpPr/>
          <p:nvPr/>
        </p:nvSpPr>
        <p:spPr>
          <a:xfrm>
            <a:off x="16125444"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15" name="TextBox 14"/>
          <p:cNvSpPr txBox="1"/>
          <p:nvPr/>
        </p:nvSpPr>
        <p:spPr>
          <a:xfrm>
            <a:off x="16125444"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5</a:t>
            </a:r>
          </a:p>
        </p:txBody>
      </p:sp>
      <p:sp>
        <p:nvSpPr>
          <p:cNvPr id="16" name="Rounded Rectangle 15"/>
          <p:cNvSpPr/>
          <p:nvPr/>
        </p:nvSpPr>
        <p:spPr>
          <a:xfrm>
            <a:off x="16527780"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17" name="TextBox 16"/>
          <p:cNvSpPr txBox="1"/>
          <p:nvPr/>
        </p:nvSpPr>
        <p:spPr>
          <a:xfrm>
            <a:off x="16527780"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6</a:t>
            </a:r>
          </a:p>
        </p:txBody>
      </p:sp>
      <p:sp>
        <p:nvSpPr>
          <p:cNvPr id="18" name="Rounded Rectangle 17"/>
          <p:cNvSpPr/>
          <p:nvPr/>
        </p:nvSpPr>
        <p:spPr>
          <a:xfrm>
            <a:off x="16930116"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19" name="TextBox 18"/>
          <p:cNvSpPr txBox="1"/>
          <p:nvPr/>
        </p:nvSpPr>
        <p:spPr>
          <a:xfrm>
            <a:off x="16930116"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7</a:t>
            </a:r>
          </a:p>
        </p:txBody>
      </p:sp>
      <p:sp>
        <p:nvSpPr>
          <p:cNvPr id="20" name="TextBox 19"/>
          <p:cNvSpPr txBox="1"/>
          <p:nvPr/>
        </p:nvSpPr>
        <p:spPr>
          <a:xfrm>
            <a:off x="1028700" y="1719072"/>
            <a:ext cx="16230600" cy="730250"/>
          </a:xfrm>
          <a:prstGeom prst="rect">
            <a:avLst/>
          </a:prstGeom>
          <a:noFill/>
        </p:spPr>
        <p:txBody>
          <a:bodyPr anchor="t" rtlCol="false" lIns="0" tIns="0" rIns="0" bIns="0" wrap="square"/>
          <a:lstStyle/>
          <a:p>
            <a:pPr algn="l">
              <a:lnSpc>
                <a:spcPts val="5060"/>
              </a:lnSpc>
              <a:spcBef>
                <a:spcPts val="0"/>
              </a:spcBef>
              <a:buNone/>
            </a:pPr>
            <a:r>
              <a:rPr lang="en-US" sz="4600" b="true" spc="-230">
                <a:solidFill>
                  <a:srgbClr val="111111"/>
                </a:solidFill>
                <a:latin typeface="Roca Two Bold"/>
                <a:ea typeface="Roca Two Bold"/>
                <a:cs typeface="Roca Two Bold"/>
                <a:sym typeface="Roca Two Bold"/>
              </a:rPr>
              <a:t>The Bridge: LightGBM Surrogate + TreeSHAP</a:t>
            </a:r>
          </a:p>
        </p:txBody>
      </p:sp>
      <p:sp>
        <p:nvSpPr>
          <p:cNvPr id="21" name="Rounded Rectangle 20"/>
          <p:cNvSpPr/>
          <p:nvPr/>
        </p:nvSpPr>
        <p:spPr>
          <a:xfrm>
            <a:off x="1028700" y="2559050"/>
            <a:ext cx="1691553" cy="420624"/>
          </a:xfrm>
          <a:prstGeom prst="roundRect">
            <a:avLst>
              <a:gd name="adj" fmla="val 50000"/>
            </a:avLst>
          </a:prstGeom>
          <a:noFill/>
          <a:ln w="28575">
            <a:solidFill>
              <a:srgbClr val="4472C4"/>
            </a:solidFill>
          </a:ln>
        </p:spPr>
        <p:txBody>
          <a:bodyPr anchor="ctr" rtlCol="false" lIns="45720" tIns="0" rIns="45720" bIns="0" wrap="square"/>
          <a:lstStyle/>
          <a:p>
            <a:pPr algn="ctr">
              <a:lnSpc>
                <a:spcPts val="2160"/>
              </a:lnSpc>
              <a:spcBef>
                <a:spcPts val="0"/>
              </a:spcBef>
              <a:buNone/>
            </a:pPr>
            <a:r>
              <a:rPr lang="en-US" sz="1800" b="true">
                <a:solidFill>
                  <a:srgbClr val="4472C4"/>
                </a:solidFill>
                <a:latin typeface="Nunito Bold"/>
                <a:ea typeface="Nunito Bold"/>
                <a:cs typeface="Nunito Bold"/>
                <a:sym typeface="Nunito Bold"/>
              </a:rPr>
              <a:t>Objectives</a:t>
            </a:r>
          </a:p>
        </p:txBody>
      </p:sp>
      <p:sp>
        <p:nvSpPr>
          <p:cNvPr id="22" name="Rounded Rectangle 21"/>
          <p:cNvSpPr/>
          <p:nvPr/>
        </p:nvSpPr>
        <p:spPr>
          <a:xfrm>
            <a:off x="2848269" y="2559050"/>
            <a:ext cx="1998119" cy="420624"/>
          </a:xfrm>
          <a:prstGeom prst="roundRect">
            <a:avLst>
              <a:gd name="adj" fmla="val 50000"/>
            </a:avLst>
          </a:prstGeom>
          <a:solidFill>
            <a:srgbClr val="4472C4"/>
          </a:solidFill>
          <a:ln>
            <a:noFill/>
          </a:ln>
        </p:spPr>
        <p:txBody>
          <a:bodyPr anchor="ctr" rtlCol="false" lIns="45720" tIns="0" rIns="45720" bIns="0" wrap="square"/>
          <a:lstStyle/>
          <a:p>
            <a:pPr algn="ctr">
              <a:lnSpc>
                <a:spcPts val="2160"/>
              </a:lnSpc>
              <a:spcBef>
                <a:spcPts val="0"/>
              </a:spcBef>
              <a:buNone/>
            </a:pPr>
            <a:r>
              <a:rPr lang="en-US" sz="1800" b="true">
                <a:solidFill>
                  <a:srgbClr val="FFFFFF"/>
                </a:solidFill>
                <a:latin typeface="Nunito Bold"/>
                <a:ea typeface="Nunito Bold"/>
                <a:cs typeface="Nunito Bold"/>
                <a:sym typeface="Nunito Bold"/>
              </a:rPr>
              <a:t>Methodology</a:t>
            </a:r>
          </a:p>
        </p:txBody>
      </p:sp>
      <p:sp>
        <p:nvSpPr>
          <p:cNvPr id="23" name="Rounded Rectangle 22"/>
          <p:cNvSpPr/>
          <p:nvPr/>
        </p:nvSpPr>
        <p:spPr>
          <a:xfrm>
            <a:off x="4974404" y="2559050"/>
            <a:ext cx="1369446" cy="420624"/>
          </a:xfrm>
          <a:prstGeom prst="roundRect">
            <a:avLst>
              <a:gd name="adj" fmla="val 50000"/>
            </a:avLst>
          </a:prstGeom>
          <a:noFill/>
          <a:ln w="28575">
            <a:solidFill>
              <a:srgbClr val="4472C4"/>
            </a:solidFill>
          </a:ln>
        </p:spPr>
        <p:txBody>
          <a:bodyPr anchor="ctr" rtlCol="false" lIns="45720" tIns="0" rIns="45720" bIns="0" wrap="square"/>
          <a:lstStyle/>
          <a:p>
            <a:pPr algn="ctr">
              <a:lnSpc>
                <a:spcPts val="2160"/>
              </a:lnSpc>
              <a:spcBef>
                <a:spcPts val="0"/>
              </a:spcBef>
              <a:buNone/>
            </a:pPr>
            <a:r>
              <a:rPr lang="en-US" sz="1800" b="true">
                <a:solidFill>
                  <a:srgbClr val="4472C4"/>
                </a:solidFill>
                <a:latin typeface="Nunito Bold"/>
                <a:ea typeface="Nunito Bold"/>
                <a:cs typeface="Nunito Bold"/>
                <a:sym typeface="Nunito Bold"/>
              </a:rPr>
              <a:t>Results</a:t>
            </a:r>
          </a:p>
        </p:txBody>
      </p:sp>
      <p:sp>
        <p:nvSpPr>
          <p:cNvPr id="24" name="Rounded Rectangle 23"/>
          <p:cNvSpPr/>
          <p:nvPr/>
        </p:nvSpPr>
        <p:spPr>
          <a:xfrm>
            <a:off x="6471866" y="2559050"/>
            <a:ext cx="1474931" cy="420624"/>
          </a:xfrm>
          <a:prstGeom prst="roundRect">
            <a:avLst>
              <a:gd name="adj" fmla="val 50000"/>
            </a:avLst>
          </a:prstGeom>
          <a:noFill/>
          <a:ln w="28575">
            <a:solidFill>
              <a:srgbClr val="4472C4"/>
            </a:solidFill>
          </a:ln>
        </p:spPr>
        <p:txBody>
          <a:bodyPr anchor="ctr" rtlCol="false" lIns="45720" tIns="0" rIns="45720" bIns="0" wrap="square"/>
          <a:lstStyle/>
          <a:p>
            <a:pPr algn="ctr">
              <a:lnSpc>
                <a:spcPts val="2160"/>
              </a:lnSpc>
              <a:spcBef>
                <a:spcPts val="0"/>
              </a:spcBef>
              <a:buNone/>
            </a:pPr>
            <a:r>
              <a:rPr lang="en-US" sz="1800" b="true">
                <a:solidFill>
                  <a:srgbClr val="4472C4"/>
                </a:solidFill>
                <a:latin typeface="Nunito Bold"/>
                <a:ea typeface="Nunito Bold"/>
                <a:cs typeface="Nunito Bold"/>
                <a:sym typeface="Nunito Bold"/>
              </a:rPr>
              <a:t>Findings</a:t>
            </a:r>
          </a:p>
        </p:txBody>
      </p:sp>
      <p:sp>
        <p:nvSpPr>
          <p:cNvPr id="25" name="Rounded Rectangle 24"/>
          <p:cNvSpPr/>
          <p:nvPr/>
        </p:nvSpPr>
        <p:spPr>
          <a:xfrm>
            <a:off x="1028700" y="3455162"/>
            <a:ext cx="2926080" cy="1188720"/>
          </a:xfrm>
          <a:prstGeom prst="roundRect">
            <a:avLst>
              <a:gd name="adj" fmla="val 16923"/>
            </a:avLst>
          </a:prstGeom>
          <a:solidFill>
            <a:srgbClr val="4472C4"/>
          </a:solidFill>
          <a:ln>
            <a:noFill/>
          </a:ln>
        </p:spPr>
        <p:txBody>
          <a:bodyPr anchor="ctr" rtlCol="false" lIns="91440" tIns="45720" rIns="91440" bIns="45720" wrap="square"/>
          <a:lstStyle/>
          <a:p>
            <a:pPr algn="ctr">
              <a:lnSpc>
                <a:spcPts val="2530"/>
              </a:lnSpc>
              <a:spcBef>
                <a:spcPts val="0"/>
              </a:spcBef>
              <a:buNone/>
            </a:pPr>
            <a:r>
              <a:rPr lang="en-US" sz="2200" b="true">
                <a:solidFill>
                  <a:srgbClr val="FFFFFF"/>
                </a:solidFill>
                <a:latin typeface="Nunito Bold"/>
                <a:ea typeface="Nunito Bold"/>
                <a:cs typeface="Nunito Bold"/>
                <a:sym typeface="Nunito Bold"/>
              </a:rPr>
              <a:t>K-Means</a:t>
            </a:r>
          </a:p>
          <a:p>
            <a:pPr algn="ctr">
              <a:lnSpc>
                <a:spcPts val="1920"/>
              </a:lnSpc>
              <a:spcBef>
                <a:spcPts val="300"/>
              </a:spcBef>
              <a:buNone/>
            </a:pPr>
            <a:r>
              <a:rPr lang="en-US" sz="1600" b="true">
                <a:solidFill>
                  <a:srgbClr val="FFFFFF"/>
                </a:solidFill>
                <a:latin typeface="Nunito Semi-Bold"/>
                <a:ea typeface="Nunito Semi-Bold"/>
                <a:cs typeface="Nunito Semi-Bold"/>
                <a:sym typeface="Nunito Semi-Bold"/>
              </a:rPr>
              <a:t>cluster labels</a:t>
            </a:r>
          </a:p>
        </p:txBody>
      </p:sp>
      <p:cxnSp>
        <p:nvCxnSpPr>
          <p:cNvPr id="26" name="Connector 25"/>
          <p:cNvCxnSpPr/>
          <p:nvPr/>
        </p:nvCxnSpPr>
        <p:spPr>
          <a:xfrm>
            <a:off x="4027932" y="4049522"/>
            <a:ext cx="1362456" cy="0"/>
          </a:xfrm>
          <a:prstGeom prst="line">
            <a:avLst/>
          </a:prstGeom>
          <a:ln w="31750">
            <a:solidFill>
              <a:srgbClr val="4472C4"/>
            </a:solidFill>
            <a:tailEnd type="triangle" w="med" len="med"/>
          </a:ln>
        </p:spPr>
      </p:cxnSp>
      <p:sp>
        <p:nvSpPr>
          <p:cNvPr id="27" name="Rounded Rectangle 26"/>
          <p:cNvSpPr/>
          <p:nvPr/>
        </p:nvSpPr>
        <p:spPr>
          <a:xfrm>
            <a:off x="5463540" y="3455162"/>
            <a:ext cx="2926080" cy="1188720"/>
          </a:xfrm>
          <a:prstGeom prst="roundRect">
            <a:avLst>
              <a:gd name="adj" fmla="val 16923"/>
            </a:avLst>
          </a:prstGeom>
          <a:solidFill>
            <a:srgbClr val="4472C4"/>
          </a:solidFill>
          <a:ln>
            <a:noFill/>
          </a:ln>
        </p:spPr>
        <p:txBody>
          <a:bodyPr anchor="ctr" rtlCol="false" lIns="91440" tIns="45720" rIns="91440" bIns="45720" wrap="square"/>
          <a:lstStyle/>
          <a:p>
            <a:pPr algn="ctr">
              <a:lnSpc>
                <a:spcPts val="2530"/>
              </a:lnSpc>
              <a:spcBef>
                <a:spcPts val="0"/>
              </a:spcBef>
              <a:buNone/>
            </a:pPr>
            <a:r>
              <a:rPr lang="en-US" sz="2200" b="true">
                <a:solidFill>
                  <a:srgbClr val="FFFFFF"/>
                </a:solidFill>
                <a:latin typeface="Nunito Bold"/>
                <a:ea typeface="Nunito Bold"/>
                <a:cs typeface="Nunito Bold"/>
                <a:sym typeface="Nunito Bold"/>
              </a:rPr>
              <a:t>LightGBM</a:t>
            </a:r>
          </a:p>
          <a:p>
            <a:pPr algn="ctr">
              <a:lnSpc>
                <a:spcPts val="1920"/>
              </a:lnSpc>
              <a:spcBef>
                <a:spcPts val="300"/>
              </a:spcBef>
              <a:buNone/>
            </a:pPr>
            <a:r>
              <a:rPr lang="en-US" sz="1600" b="true">
                <a:solidFill>
                  <a:srgbClr val="FFFFFF"/>
                </a:solidFill>
                <a:latin typeface="Nunito Semi-Bold"/>
                <a:ea typeface="Nunito Semi-Bold"/>
                <a:cs typeface="Nunito Semi-Bold"/>
                <a:sym typeface="Nunito Semi-Bold"/>
              </a:rPr>
              <a:t>multiclass surrogate</a:t>
            </a:r>
          </a:p>
        </p:txBody>
      </p:sp>
      <p:cxnSp>
        <p:nvCxnSpPr>
          <p:cNvPr id="28" name="Connector 27"/>
          <p:cNvCxnSpPr/>
          <p:nvPr/>
        </p:nvCxnSpPr>
        <p:spPr>
          <a:xfrm>
            <a:off x="8462772" y="4049522"/>
            <a:ext cx="1362456" cy="0"/>
          </a:xfrm>
          <a:prstGeom prst="line">
            <a:avLst/>
          </a:prstGeom>
          <a:ln w="31750">
            <a:solidFill>
              <a:srgbClr val="4472C4"/>
            </a:solidFill>
            <a:tailEnd type="triangle" w="med" len="med"/>
          </a:ln>
        </p:spPr>
      </p:cxnSp>
      <p:sp>
        <p:nvSpPr>
          <p:cNvPr id="29" name="Rounded Rectangle 28"/>
          <p:cNvSpPr/>
          <p:nvPr/>
        </p:nvSpPr>
        <p:spPr>
          <a:xfrm>
            <a:off x="9898380" y="3455162"/>
            <a:ext cx="2926080" cy="1188720"/>
          </a:xfrm>
          <a:prstGeom prst="roundRect">
            <a:avLst>
              <a:gd name="adj" fmla="val 16923"/>
            </a:avLst>
          </a:prstGeom>
          <a:solidFill>
            <a:srgbClr val="111111"/>
          </a:solidFill>
          <a:ln>
            <a:noFill/>
          </a:ln>
        </p:spPr>
        <p:txBody>
          <a:bodyPr anchor="ctr" rtlCol="false" lIns="91440" tIns="45720" rIns="91440" bIns="45720" wrap="square"/>
          <a:lstStyle/>
          <a:p>
            <a:pPr algn="ctr">
              <a:lnSpc>
                <a:spcPts val="2530"/>
              </a:lnSpc>
              <a:spcBef>
                <a:spcPts val="0"/>
              </a:spcBef>
              <a:buNone/>
            </a:pPr>
            <a:r>
              <a:rPr lang="en-US" sz="2200" b="true">
                <a:solidFill>
                  <a:srgbClr val="FFFFFF"/>
                </a:solidFill>
                <a:latin typeface="Nunito Bold"/>
                <a:ea typeface="Nunito Bold"/>
                <a:cs typeface="Nunito Bold"/>
                <a:sym typeface="Nunito Bold"/>
              </a:rPr>
              <a:t>TreeSHAP</a:t>
            </a:r>
          </a:p>
          <a:p>
            <a:pPr algn="ctr">
              <a:lnSpc>
                <a:spcPts val="1920"/>
              </a:lnSpc>
              <a:spcBef>
                <a:spcPts val="300"/>
              </a:spcBef>
              <a:buNone/>
            </a:pPr>
            <a:r>
              <a:rPr lang="en-US" sz="1600" b="true">
                <a:solidFill>
                  <a:srgbClr val="FFFFFF"/>
                </a:solidFill>
                <a:latin typeface="Nunito Semi-Bold"/>
                <a:ea typeface="Nunito Semi-Bold"/>
                <a:cs typeface="Nunito Semi-Bold"/>
                <a:sym typeface="Nunito Semi-Bold"/>
              </a:rPr>
              <a:t>exact attribution</a:t>
            </a:r>
          </a:p>
        </p:txBody>
      </p:sp>
      <p:cxnSp>
        <p:nvCxnSpPr>
          <p:cNvPr id="30" name="Connector 29"/>
          <p:cNvCxnSpPr/>
          <p:nvPr/>
        </p:nvCxnSpPr>
        <p:spPr>
          <a:xfrm>
            <a:off x="12897612" y="4049522"/>
            <a:ext cx="1362456" cy="0"/>
          </a:xfrm>
          <a:prstGeom prst="line">
            <a:avLst/>
          </a:prstGeom>
          <a:ln w="31750">
            <a:solidFill>
              <a:srgbClr val="4472C4"/>
            </a:solidFill>
            <a:tailEnd type="triangle" w="med" len="med"/>
          </a:ln>
        </p:spPr>
      </p:cxnSp>
      <p:sp>
        <p:nvSpPr>
          <p:cNvPr id="31" name="Rounded Rectangle 30"/>
          <p:cNvSpPr/>
          <p:nvPr/>
        </p:nvSpPr>
        <p:spPr>
          <a:xfrm>
            <a:off x="14333220" y="3455162"/>
            <a:ext cx="2926080" cy="1188720"/>
          </a:xfrm>
          <a:prstGeom prst="roundRect">
            <a:avLst>
              <a:gd name="adj" fmla="val 16923"/>
            </a:avLst>
          </a:prstGeom>
          <a:solidFill>
            <a:srgbClr val="1F7A8C"/>
          </a:solidFill>
          <a:ln>
            <a:noFill/>
          </a:ln>
        </p:spPr>
        <p:txBody>
          <a:bodyPr anchor="ctr" rtlCol="false" lIns="91440" tIns="45720" rIns="91440" bIns="45720" wrap="square"/>
          <a:lstStyle/>
          <a:p>
            <a:pPr algn="ctr">
              <a:lnSpc>
                <a:spcPts val="2530"/>
              </a:lnSpc>
              <a:spcBef>
                <a:spcPts val="0"/>
              </a:spcBef>
              <a:buNone/>
            </a:pPr>
            <a:r>
              <a:rPr lang="en-US" sz="2200" b="true">
                <a:solidFill>
                  <a:srgbClr val="FFFFFF"/>
                </a:solidFill>
                <a:latin typeface="Nunito Bold"/>
                <a:ea typeface="Nunito Bold"/>
                <a:cs typeface="Nunito Bold"/>
                <a:sym typeface="Nunito Bold"/>
              </a:rPr>
              <a:t>Explanation</a:t>
            </a:r>
          </a:p>
          <a:p>
            <a:pPr algn="ctr">
              <a:lnSpc>
                <a:spcPts val="1920"/>
              </a:lnSpc>
              <a:spcBef>
                <a:spcPts val="300"/>
              </a:spcBef>
              <a:buNone/>
            </a:pPr>
            <a:r>
              <a:rPr lang="en-US" sz="1600" b="true">
                <a:solidFill>
                  <a:srgbClr val="FFFFFF"/>
                </a:solidFill>
                <a:latin typeface="Nunito Semi-Bold"/>
                <a:ea typeface="Nunito Semi-Bold"/>
                <a:cs typeface="Nunito Semi-Bold"/>
                <a:sym typeface="Nunito Semi-Bold"/>
              </a:rPr>
              <a:t>original feature space</a:t>
            </a:r>
          </a:p>
        </p:txBody>
      </p:sp>
      <p:sp>
        <p:nvSpPr>
          <p:cNvPr id="32" name="Rounded Rectangle 31"/>
          <p:cNvSpPr/>
          <p:nvPr/>
        </p:nvSpPr>
        <p:spPr>
          <a:xfrm>
            <a:off x="1028700" y="5283962"/>
            <a:ext cx="7932420" cy="4070350"/>
          </a:xfrm>
          <a:prstGeom prst="roundRect">
            <a:avLst>
              <a:gd name="adj" fmla="val 7638"/>
            </a:avLst>
          </a:prstGeom>
          <a:solidFill>
            <a:srgbClr val="4472C4"/>
          </a:solidFill>
          <a:ln>
            <a:noFill/>
          </a:ln>
        </p:spPr>
        <p:txBody>
          <a:bodyPr anchor="ctr" rtlCol="false" lIns="0" tIns="0" rIns="0" bIns="0" wrap="square"/>
          <a:lstStyle/>
          <a:p>
            <a:endParaRPr lang="en-US" sz="1800"/>
          </a:p>
        </p:txBody>
      </p:sp>
      <p:sp>
        <p:nvSpPr>
          <p:cNvPr id="33" name="Rounded Rectangle 32"/>
          <p:cNvSpPr/>
          <p:nvPr/>
        </p:nvSpPr>
        <p:spPr>
          <a:xfrm>
            <a:off x="1485900" y="5046218"/>
            <a:ext cx="1292063" cy="438912"/>
          </a:xfrm>
          <a:prstGeom prst="roundRect">
            <a:avLst>
              <a:gd name="adj" fmla="val 50000"/>
            </a:avLst>
          </a:prstGeom>
          <a:solidFill>
            <a:srgbClr val="FFFFFF"/>
          </a:solidFill>
          <a:ln w="28575">
            <a:solidFill>
              <a:srgbClr val="FFFFFF"/>
            </a:solidFill>
          </a:ln>
        </p:spPr>
        <p:txBody>
          <a:bodyPr anchor="ctr" rtlCol="false" lIns="45720" tIns="0" rIns="45720" bIns="0" wrap="square"/>
          <a:lstStyle/>
          <a:p>
            <a:pPr algn="ctr">
              <a:lnSpc>
                <a:spcPts val="2640"/>
              </a:lnSpc>
              <a:spcBef>
                <a:spcPts val="0"/>
              </a:spcBef>
              <a:buNone/>
            </a:pPr>
            <a:r>
              <a:rPr lang="en-US" sz="2200" b="true">
                <a:solidFill>
                  <a:srgbClr val="4472C4"/>
                </a:solidFill>
                <a:latin typeface="Nunito Bold"/>
                <a:ea typeface="Nunito Bold"/>
                <a:cs typeface="Nunito Bold"/>
                <a:sym typeface="Nunito Bold"/>
              </a:rPr>
              <a:t>How</a:t>
            </a:r>
          </a:p>
        </p:txBody>
      </p:sp>
      <p:sp>
        <p:nvSpPr>
          <p:cNvPr id="34" name="TextBox 33"/>
          <p:cNvSpPr txBox="1"/>
          <p:nvPr/>
        </p:nvSpPr>
        <p:spPr>
          <a:xfrm>
            <a:off x="1531620" y="5924042"/>
            <a:ext cx="6972300" cy="3155950"/>
          </a:xfrm>
          <a:prstGeom prst="rect">
            <a:avLst/>
          </a:prstGeom>
          <a:noFill/>
        </p:spPr>
        <p:txBody>
          <a:bodyPr anchor="t" rtlCol="false" lIns="0" tIns="0" rIns="0" bIns="0" wrap="square"/>
          <a:lstStyle/>
          <a:p>
            <a:pPr algn="l" marL="274320" indent="-274320">
              <a:lnSpc>
                <a:spcPts val="2800"/>
              </a:lnSpc>
              <a:spcBef>
                <a:spcPts val="0"/>
              </a:spcBef>
              <a:buClr>
                <a:srgbClr val="ECC665"/>
              </a:buClr>
              <a:buSzPct val="100000"/>
              <a:buFont typeface="Arial"/>
              <a:buChar char="•"/>
            </a:pPr>
            <a:r>
              <a:rPr lang="en-US" sz="2000" b="true">
                <a:solidFill>
                  <a:srgbClr val="FFFFFF"/>
                </a:solidFill>
                <a:latin typeface="Nunito Semi-Bold"/>
                <a:ea typeface="Nunito Semi-Bold"/>
                <a:cs typeface="Nunito Semi-Bold"/>
                <a:sym typeface="Nunito Semi-Bold"/>
              </a:rPr>
              <a:t>Once K-Means produces cluster labels, train a </a:t>
            </a:r>
            <a:r>
              <a:rPr lang="en-US" sz="2000" b="true">
                <a:solidFill>
                  <a:srgbClr val="FFFFFF"/>
                </a:solidFill>
                <a:latin typeface="Nunito Bold"/>
                <a:ea typeface="Nunito Bold"/>
                <a:cs typeface="Nunito Bold"/>
                <a:sym typeface="Nunito Bold"/>
              </a:rPr>
              <a:t>LightGBM multiclass surrogate</a:t>
            </a:r>
            <a:r>
              <a:rPr lang="en-US" sz="2000" b="true">
                <a:solidFill>
                  <a:srgbClr val="FFFFFF"/>
                </a:solidFill>
                <a:latin typeface="Nunito Semi-Bold"/>
                <a:ea typeface="Nunito Semi-Bold"/>
                <a:cs typeface="Nunito Semi-Bold"/>
                <a:sym typeface="Nunito Semi-Bold"/>
              </a:rPr>
              <a:t> to predict them from the original features.</a:t>
            </a:r>
          </a:p>
          <a:p>
            <a:pPr algn="l" marL="274320" indent="-274320">
              <a:lnSpc>
                <a:spcPts val="2800"/>
              </a:lnSpc>
              <a:spcBef>
                <a:spcPts val="1000"/>
              </a:spcBef>
              <a:buClr>
                <a:srgbClr val="ECC665"/>
              </a:buClr>
              <a:buSzPct val="100000"/>
              <a:buFont typeface="Arial"/>
              <a:buChar char="•"/>
            </a:pPr>
            <a:r>
              <a:rPr lang="en-US" sz="2000" b="true">
                <a:solidFill>
                  <a:srgbClr val="FFFFFF"/>
                </a:solidFill>
                <a:latin typeface="Nunito Semi-Bold"/>
                <a:ea typeface="Nunito Semi-Bold"/>
                <a:cs typeface="Nunito Semi-Bold"/>
                <a:sym typeface="Nunito Semi-Bold"/>
              </a:rPr>
              <a:t>Apply </a:t>
            </a:r>
            <a:r>
              <a:rPr lang="en-US" sz="2000" b="true">
                <a:solidFill>
                  <a:srgbClr val="FFFFFF"/>
                </a:solidFill>
                <a:latin typeface="Nunito Bold"/>
                <a:ea typeface="Nunito Bold"/>
                <a:cs typeface="Nunito Bold"/>
                <a:sym typeface="Nunito Bold"/>
              </a:rPr>
              <a:t>TreeSHAP</a:t>
            </a:r>
            <a:r>
              <a:rPr lang="en-US" sz="2000" b="true">
                <a:solidFill>
                  <a:srgbClr val="FFFFFF"/>
                </a:solidFill>
                <a:latin typeface="Nunito Semi-Bold"/>
                <a:ea typeface="Nunito Semi-Bold"/>
                <a:cs typeface="Nunito Semi-Bold"/>
                <a:sym typeface="Nunito Semi-Bold"/>
              </a:rPr>
              <a:t> to the surrogate: fast, exact tree-based attribution in the original feature space.</a:t>
            </a:r>
          </a:p>
          <a:p>
            <a:pPr algn="l" marL="274320" indent="-274320">
              <a:lnSpc>
                <a:spcPts val="2800"/>
              </a:lnSpc>
              <a:spcBef>
                <a:spcPts val="1000"/>
              </a:spcBef>
              <a:buClr>
                <a:srgbClr val="ECC665"/>
              </a:buClr>
              <a:buSzPct val="100000"/>
              <a:buFont typeface="Arial"/>
              <a:buChar char="•"/>
            </a:pPr>
            <a:r>
              <a:rPr lang="en-US" sz="2000" b="true">
                <a:solidFill>
                  <a:srgbClr val="FFFFFF"/>
                </a:solidFill>
                <a:latin typeface="Nunito Semi-Bold"/>
                <a:ea typeface="Nunito Semi-Bold"/>
                <a:cs typeface="Nunito Semi-Bold"/>
                <a:sym typeface="Nunito Semi-Bold"/>
              </a:rPr>
              <a:t>Aggregate into </a:t>
            </a:r>
            <a:r>
              <a:rPr lang="en-US" sz="2000" b="true">
                <a:solidFill>
                  <a:srgbClr val="FFFFFF"/>
                </a:solidFill>
                <a:latin typeface="Nunito Bold"/>
                <a:ea typeface="Nunito Bold"/>
                <a:cs typeface="Nunito Bold"/>
                <a:sym typeface="Nunito Bold"/>
              </a:rPr>
              <a:t>global importance</a:t>
            </a:r>
            <a:r>
              <a:rPr lang="en-US" sz="2000" b="true">
                <a:solidFill>
                  <a:srgbClr val="FFFFFF"/>
                </a:solidFill>
                <a:latin typeface="Nunito Semi-Bold"/>
                <a:ea typeface="Nunito Semi-Bold"/>
                <a:cs typeface="Nunito Semi-Bold"/>
                <a:sym typeface="Nunito Semi-Bold"/>
              </a:rPr>
              <a:t>, </a:t>
            </a:r>
            <a:r>
              <a:rPr lang="en-US" sz="2000" b="true">
                <a:solidFill>
                  <a:srgbClr val="FFFFFF"/>
                </a:solidFill>
                <a:latin typeface="Nunito Bold"/>
                <a:ea typeface="Nunito Bold"/>
                <a:cs typeface="Nunito Bold"/>
                <a:sym typeface="Nunito Bold"/>
              </a:rPr>
              <a:t>cluster-specific profiles</a:t>
            </a:r>
            <a:r>
              <a:rPr lang="en-US" sz="2000" b="true">
                <a:solidFill>
                  <a:srgbClr val="FFFFFF"/>
                </a:solidFill>
                <a:latin typeface="Nunito Semi-Bold"/>
                <a:ea typeface="Nunito Semi-Bold"/>
                <a:cs typeface="Nunito Semi-Bold"/>
                <a:sym typeface="Nunito Semi-Bold"/>
              </a:rPr>
              <a:t> and </a:t>
            </a:r>
            <a:r>
              <a:rPr lang="en-US" sz="2000" b="true">
                <a:solidFill>
                  <a:srgbClr val="FFFFFF"/>
                </a:solidFill>
                <a:latin typeface="Nunito Bold"/>
                <a:ea typeface="Nunito Bold"/>
                <a:cs typeface="Nunito Bold"/>
                <a:sym typeface="Nunito Bold"/>
              </a:rPr>
              <a:t>local force plots</a:t>
            </a:r>
            <a:r>
              <a:rPr lang="en-US" sz="2000" b="true">
                <a:solidFill>
                  <a:srgbClr val="FFFFFF"/>
                </a:solidFill>
                <a:latin typeface="Nunito Semi-Bold"/>
                <a:ea typeface="Nunito Semi-Bold"/>
                <a:cs typeface="Nunito Semi-Bold"/>
                <a:sym typeface="Nunito Semi-Bold"/>
              </a:rPr>
              <a:t>.</a:t>
            </a:r>
          </a:p>
        </p:txBody>
      </p:sp>
      <p:sp>
        <p:nvSpPr>
          <p:cNvPr id="35" name="Rounded Rectangle 34"/>
          <p:cNvSpPr/>
          <p:nvPr/>
        </p:nvSpPr>
        <p:spPr>
          <a:xfrm>
            <a:off x="9326880" y="5283962"/>
            <a:ext cx="7932420" cy="4070350"/>
          </a:xfrm>
          <a:prstGeom prst="roundRect">
            <a:avLst>
              <a:gd name="adj" fmla="val 7638"/>
            </a:avLst>
          </a:prstGeom>
          <a:solidFill>
            <a:srgbClr val="F6ECDF"/>
          </a:solidFill>
          <a:ln>
            <a:noFill/>
          </a:ln>
        </p:spPr>
        <p:txBody>
          <a:bodyPr anchor="ctr" rtlCol="false" lIns="0" tIns="0" rIns="0" bIns="0" wrap="square"/>
          <a:lstStyle/>
          <a:p>
            <a:endParaRPr lang="en-US" sz="1800"/>
          </a:p>
        </p:txBody>
      </p:sp>
      <p:sp>
        <p:nvSpPr>
          <p:cNvPr id="36" name="Rounded Rectangle 35"/>
          <p:cNvSpPr/>
          <p:nvPr/>
        </p:nvSpPr>
        <p:spPr>
          <a:xfrm>
            <a:off x="9784080" y="5046218"/>
            <a:ext cx="1298395" cy="438912"/>
          </a:xfrm>
          <a:prstGeom prst="roundRect">
            <a:avLst>
              <a:gd name="adj" fmla="val 50000"/>
            </a:avLst>
          </a:prstGeom>
          <a:solidFill>
            <a:srgbClr val="4472C4"/>
          </a:solidFill>
          <a:ln w="28575">
            <a:solidFill>
              <a:srgbClr val="4472C4"/>
            </a:solidFill>
          </a:ln>
        </p:spPr>
        <p:txBody>
          <a:bodyPr anchor="ctr" rtlCol="false" lIns="45720" tIns="0" rIns="45720" bIns="0" wrap="square"/>
          <a:lstStyle/>
          <a:p>
            <a:pPr algn="ctr">
              <a:lnSpc>
                <a:spcPts val="2640"/>
              </a:lnSpc>
              <a:spcBef>
                <a:spcPts val="0"/>
              </a:spcBef>
              <a:buNone/>
            </a:pPr>
            <a:r>
              <a:rPr lang="en-US" sz="2200" b="true">
                <a:solidFill>
                  <a:srgbClr val="FFFFFF"/>
                </a:solidFill>
                <a:latin typeface="Nunito Bold"/>
                <a:ea typeface="Nunito Bold"/>
                <a:cs typeface="Nunito Bold"/>
                <a:sym typeface="Nunito Bold"/>
              </a:rPr>
              <a:t>Why</a:t>
            </a:r>
          </a:p>
        </p:txBody>
      </p:sp>
      <p:sp>
        <p:nvSpPr>
          <p:cNvPr id="37" name="TextBox 36"/>
          <p:cNvSpPr txBox="1"/>
          <p:nvPr/>
        </p:nvSpPr>
        <p:spPr>
          <a:xfrm>
            <a:off x="9829800" y="5924042"/>
            <a:ext cx="6972300" cy="3155950"/>
          </a:xfrm>
          <a:prstGeom prst="rect">
            <a:avLst/>
          </a:prstGeom>
          <a:noFill/>
        </p:spPr>
        <p:txBody>
          <a:bodyPr anchor="t" rtlCol="false" lIns="0" tIns="0" rIns="0" bIns="0" wrap="square"/>
          <a:lstStyle/>
          <a:p>
            <a:pPr algn="l" marL="274320" indent="-274320">
              <a:lnSpc>
                <a:spcPts val="2548"/>
              </a:lnSpc>
              <a:spcBef>
                <a:spcPts val="0"/>
              </a:spcBef>
              <a:buClr>
                <a:srgbClr val="1F7A8C"/>
              </a:buClr>
              <a:buSzPct val="100000"/>
              <a:buFont typeface="Arial"/>
              <a:buChar char="•"/>
            </a:pPr>
            <a:r>
              <a:rPr lang="en-US" sz="1820" b="true">
                <a:solidFill>
                  <a:srgbClr val="111111"/>
                </a:solidFill>
                <a:latin typeface="Nunito Semi-Bold"/>
                <a:ea typeface="Nunito Semi-Bold"/>
                <a:cs typeface="Nunito Semi-Bold"/>
                <a:sym typeface="Nunito Semi-Bold"/>
              </a:rPr>
              <a:t>Direct TreeSHAP on K-Means is impossible: it explains </a:t>
            </a:r>
            <a:r>
              <a:rPr lang="en-US" sz="1820" b="true">
                <a:solidFill>
                  <a:srgbClr val="111111"/>
                </a:solidFill>
                <a:latin typeface="Nunito Bold"/>
                <a:ea typeface="Nunito Bold"/>
                <a:cs typeface="Nunito Bold"/>
                <a:sym typeface="Nunito Bold"/>
              </a:rPr>
              <a:t>tree models, not centroids</a:t>
            </a:r>
            <a:r>
              <a:rPr lang="en-US" sz="1820" b="true">
                <a:solidFill>
                  <a:srgbClr val="111111"/>
                </a:solidFill>
                <a:latin typeface="Nunito Semi-Bold"/>
                <a:ea typeface="Nunito Semi-Bold"/>
                <a:cs typeface="Nunito Semi-Bold"/>
                <a:sym typeface="Nunito Semi-Bold"/>
              </a:rPr>
              <a:t>.</a:t>
            </a:r>
          </a:p>
          <a:p>
            <a:pPr algn="l" marL="274320" indent="-274320">
              <a:lnSpc>
                <a:spcPts val="2548"/>
              </a:lnSpc>
              <a:spcBef>
                <a:spcPts val="910"/>
              </a:spcBef>
              <a:buClr>
                <a:srgbClr val="1F7A8C"/>
              </a:buClr>
              <a:buSzPct val="100000"/>
              <a:buFont typeface="Arial"/>
              <a:buChar char="•"/>
            </a:pPr>
            <a:r>
              <a:rPr lang="en-US" sz="1820" b="true">
                <a:solidFill>
                  <a:srgbClr val="111111"/>
                </a:solidFill>
                <a:latin typeface="Nunito Semi-Bold"/>
                <a:ea typeface="Nunito Semi-Bold"/>
                <a:cs typeface="Nunito Semi-Bold"/>
                <a:sym typeface="Nunito Semi-Bold"/>
              </a:rPr>
              <a:t>Explaining the PCA representation would move attribution away from the interpretable variables.</a:t>
            </a:r>
          </a:p>
          <a:p>
            <a:pPr algn="l" marL="274320" indent="-274320">
              <a:lnSpc>
                <a:spcPts val="2548"/>
              </a:lnSpc>
              <a:spcBef>
                <a:spcPts val="910"/>
              </a:spcBef>
              <a:buClr>
                <a:srgbClr val="1F7A8C"/>
              </a:buClr>
              <a:buSzPct val="100000"/>
              <a:buFont typeface="Arial"/>
              <a:buChar char="•"/>
            </a:pPr>
            <a:r>
              <a:rPr lang="en-US" sz="1820" b="true">
                <a:solidFill>
                  <a:srgbClr val="111111"/>
                </a:solidFill>
                <a:latin typeface="Nunito Semi-Bold"/>
                <a:ea typeface="Nunito Semi-Bold"/>
                <a:cs typeface="Nunito Semi-Bold"/>
                <a:sym typeface="Nunito Semi-Bold"/>
              </a:rPr>
              <a:t>The surrogate keeps the </a:t>
            </a:r>
            <a:r>
              <a:rPr lang="en-US" sz="1820" b="true">
                <a:solidFill>
                  <a:srgbClr val="111111"/>
                </a:solidFill>
                <a:latin typeface="Nunito Bold"/>
                <a:ea typeface="Nunito Bold"/>
                <a:cs typeface="Nunito Bold"/>
                <a:sym typeface="Nunito Bold"/>
              </a:rPr>
              <a:t>chemistry / pollution terms</a:t>
            </a:r>
            <a:r>
              <a:rPr lang="en-US" sz="1820" b="true">
                <a:solidFill>
                  <a:srgbClr val="111111"/>
                </a:solidFill>
                <a:latin typeface="Nunito Semi-Bold"/>
                <a:ea typeface="Nunito Semi-Bold"/>
                <a:cs typeface="Nunito Semi-Bold"/>
                <a:sym typeface="Nunito Semi-Bold"/>
              </a:rPr>
              <a:t> that make the analysis actionable.</a:t>
            </a:r>
          </a:p>
          <a:p>
            <a:pPr algn="l" marL="274320" indent="-274320">
              <a:lnSpc>
                <a:spcPts val="2548"/>
              </a:lnSpc>
              <a:spcBef>
                <a:spcPts val="910"/>
              </a:spcBef>
              <a:buClr>
                <a:srgbClr val="1F7A8C"/>
              </a:buClr>
              <a:buSzPct val="100000"/>
              <a:buFont typeface="Arial"/>
              <a:buChar char="•"/>
            </a:pPr>
            <a:r>
              <a:rPr lang="en-US" sz="1820" b="true">
                <a:solidFill>
                  <a:srgbClr val="111111"/>
                </a:solidFill>
                <a:latin typeface="Nunito Bold"/>
                <a:ea typeface="Nunito Bold"/>
                <a:cs typeface="Nunito Bold"/>
                <a:sym typeface="Nunito Bold"/>
              </a:rPr>
              <a:t>Validity condition:</a:t>
            </a:r>
            <a:r>
              <a:rPr lang="en-US" sz="1820" b="true">
                <a:solidFill>
                  <a:srgbClr val="111111"/>
                </a:solidFill>
                <a:latin typeface="Nunito Semi-Bold"/>
                <a:ea typeface="Nunito Semi-Bold"/>
                <a:cs typeface="Nunito Semi-Bold"/>
                <a:sym typeface="Nunito Semi-Bold"/>
              </a:rPr>
              <a:t> surrogate fidelity is high, with </a:t>
            </a:r>
            <a:r>
              <a:rPr lang="en-US" sz="1820" b="true">
                <a:solidFill>
                  <a:srgbClr val="111111"/>
                </a:solidFill>
                <a:latin typeface="Nunito Bold"/>
                <a:ea typeface="Nunito Bold"/>
                <a:cs typeface="Nunito Bold"/>
                <a:sym typeface="Nunito Bold"/>
              </a:rPr>
              <a:t>macro-F1 ≈ 0.82</a:t>
            </a:r>
            <a:r>
              <a:rPr lang="en-US" sz="1820" b="true">
                <a:solidFill>
                  <a:srgbClr val="111111"/>
                </a:solidFill>
                <a:latin typeface="Nunito Semi-Bold"/>
                <a:ea typeface="Nunito Semi-Bold"/>
                <a:cs typeface="Nunito Semi-Bold"/>
                <a:sym typeface="Nunito Semi-Bold"/>
              </a:rPr>
              <a:t> as the floor.</a:t>
            </a:r>
          </a:p>
        </p:txBody>
      </p:sp>
    </p:spTree>
  </p:cSld>
  <p:clrMapOvr>
    <a:masterClrMapping/>
  </p:clrMapOvr>
</p:sld>
</file>

<file path=ppt/slides/slide4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pic>
        <p:nvPicPr>
          <p:cNvPr id="2" name="Picture 1" descr="ensias_logo.jpg"/>
          <p:cNvPicPr>
            <a:picLocks noChangeAspect="1"/>
          </p:cNvPicPr>
          <p:nvPr/>
        </p:nvPicPr>
        <p:blipFill>
          <a:blip r:embed="rId2"/>
          <a:stretch>
            <a:fillRect/>
          </a:stretch>
        </p:blipFill>
        <p:spPr>
          <a:xfrm>
            <a:off x="1028700" y="9674352"/>
            <a:ext cx="542964" cy="384048"/>
          </a:xfrm>
          <a:prstGeom prst="rect">
            <a:avLst/>
          </a:prstGeom>
        </p:spPr>
      </p:pic>
      <p:sp>
        <p:nvSpPr>
          <p:cNvPr id="3" name="TextBox 2"/>
          <p:cNvSpPr txBox="1"/>
          <p:nvPr/>
        </p:nvSpPr>
        <p:spPr>
          <a:xfrm>
            <a:off x="1577340" y="9601200"/>
            <a:ext cx="14493240" cy="566928"/>
          </a:xfrm>
          <a:prstGeom prst="rect">
            <a:avLst/>
          </a:prstGeom>
          <a:noFill/>
        </p:spPr>
        <p:txBody>
          <a:bodyPr anchor="ctr" rtlCol="false" lIns="0" tIns="0" rIns="0" bIns="0" wrap="square"/>
          <a:lstStyle/>
          <a:p>
            <a:pPr algn="l">
              <a:lnSpc>
                <a:spcPts val="1200"/>
              </a:lnSpc>
              <a:spcBef>
                <a:spcPts val="0"/>
              </a:spcBef>
              <a:buNone/>
            </a:pPr>
            <a:r>
              <a:rPr lang="en-US" sz="1000" b="true">
                <a:solidFill>
                  <a:srgbClr val="8A8378"/>
                </a:solidFill>
                <a:latin typeface="Nunito Semi-Bold"/>
                <a:ea typeface="Nunito Semi-Bold"/>
                <a:cs typeface="Nunito Semi-Bold"/>
                <a:sym typeface="Nunito Semi-Bold"/>
              </a:rPr>
              <a:t>[6] Lundberg, S. M. et al. From Local Explanations to Global Understanding with Explainable AI for Trees (TreeSHAP). Nature Machine Intelligence 2, 56–67 (2020).   [7] Ribeiro, M. T., Singh, S. &amp; Guestrin, C. "Why Should I Trust You?": Explaining the Predictions of Any Classifier (LIME). KDD, 1135–1144 (2016).   [17] Rousseeuw, P. J. Silhouettes: A Graphical Aid to the Interpretation and Validation of Cluster Analysis. J. Comput. Appl. Math. 20, 53–65 (1987).</a:t>
            </a:r>
          </a:p>
        </p:txBody>
      </p:sp>
      <p:sp>
        <p:nvSpPr>
          <p:cNvPr id="4" name="TextBox 3"/>
          <p:cNvSpPr txBox="1"/>
          <p:nvPr/>
        </p:nvSpPr>
        <p:spPr>
          <a:xfrm>
            <a:off x="16162020" y="9692640"/>
            <a:ext cx="1097280" cy="329184"/>
          </a:xfrm>
          <a:prstGeom prst="rect">
            <a:avLst/>
          </a:prstGeom>
          <a:noFill/>
        </p:spPr>
        <p:txBody>
          <a:bodyPr anchor="t" rtlCol="false" lIns="0" tIns="0" rIns="0" bIns="0" wrap="square"/>
          <a:lstStyle/>
          <a:p>
            <a:pPr algn="r">
              <a:lnSpc>
                <a:spcPts val="2200"/>
              </a:lnSpc>
              <a:spcBef>
                <a:spcPts val="0"/>
              </a:spcBef>
              <a:buNone/>
            </a:pPr>
            <a:r>
              <a:rPr lang="en-US" sz="1800" b="true">
                <a:solidFill>
                  <a:srgbClr val="111111"/>
                </a:solidFill>
                <a:latin typeface="Nunito Ultra-Bold"/>
                <a:ea typeface="Nunito Ultra-Bold"/>
                <a:cs typeface="Nunito Ultra-Bold"/>
                <a:sym typeface="Nunito Ultra-Bold"/>
              </a:rPr>
              <a:t>31</a:t>
            </a:r>
          </a:p>
        </p:txBody>
      </p:sp>
      <p:sp>
        <p:nvSpPr>
          <p:cNvPr id="5" name="TextBox 4"/>
          <p:cNvSpPr txBox="1"/>
          <p:nvPr/>
        </p:nvSpPr>
        <p:spPr>
          <a:xfrm>
            <a:off x="1028700" y="1389888"/>
            <a:ext cx="12938760" cy="329184"/>
          </a:xfrm>
          <a:prstGeom prst="rect">
            <a:avLst/>
          </a:prstGeom>
          <a:noFill/>
        </p:spPr>
        <p:txBody>
          <a:bodyPr anchor="t" rtlCol="false" lIns="0" tIns="0" rIns="0" bIns="0" wrap="square"/>
          <a:lstStyle/>
          <a:p>
            <a:pPr algn="l">
              <a:lnSpc>
                <a:spcPts val="2000"/>
              </a:lnSpc>
              <a:spcBef>
                <a:spcPts val="0"/>
              </a:spcBef>
              <a:buNone/>
            </a:pPr>
            <a:r>
              <a:rPr lang="en-US" sz="1500" b="true" spc="160">
                <a:solidFill>
                  <a:srgbClr val="1F7A8C"/>
                </a:solidFill>
                <a:latin typeface="Nunito Ultra-Bold"/>
                <a:ea typeface="Nunito Ultra-Bold"/>
                <a:cs typeface="Nunito Ultra-Bold"/>
                <a:sym typeface="Nunito Ultra-Bold"/>
              </a:rPr>
              <a:t>CONTRIBUTION I: EXPLAINABLE BLACK-BOX CLUSTERING</a:t>
            </a:r>
          </a:p>
        </p:txBody>
      </p:sp>
      <p:sp>
        <p:nvSpPr>
          <p:cNvPr id="6" name="Rounded Rectangle 5"/>
          <p:cNvSpPr/>
          <p:nvPr/>
        </p:nvSpPr>
        <p:spPr>
          <a:xfrm>
            <a:off x="14516100"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7" name="TextBox 6"/>
          <p:cNvSpPr txBox="1"/>
          <p:nvPr/>
        </p:nvSpPr>
        <p:spPr>
          <a:xfrm>
            <a:off x="14516100"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1</a:t>
            </a:r>
          </a:p>
        </p:txBody>
      </p:sp>
      <p:sp>
        <p:nvSpPr>
          <p:cNvPr id="8" name="Rounded Rectangle 7"/>
          <p:cNvSpPr/>
          <p:nvPr/>
        </p:nvSpPr>
        <p:spPr>
          <a:xfrm>
            <a:off x="14918436"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9" name="TextBox 8"/>
          <p:cNvSpPr txBox="1"/>
          <p:nvPr/>
        </p:nvSpPr>
        <p:spPr>
          <a:xfrm>
            <a:off x="14918436"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2</a:t>
            </a:r>
          </a:p>
        </p:txBody>
      </p:sp>
      <p:sp>
        <p:nvSpPr>
          <p:cNvPr id="10" name="Rounded Rectangle 9"/>
          <p:cNvSpPr/>
          <p:nvPr/>
        </p:nvSpPr>
        <p:spPr>
          <a:xfrm>
            <a:off x="15320772"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11" name="TextBox 10"/>
          <p:cNvSpPr txBox="1"/>
          <p:nvPr/>
        </p:nvSpPr>
        <p:spPr>
          <a:xfrm>
            <a:off x="15320772"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3</a:t>
            </a:r>
          </a:p>
        </p:txBody>
      </p:sp>
      <p:sp>
        <p:nvSpPr>
          <p:cNvPr id="12" name="Rounded Rectangle 11"/>
          <p:cNvSpPr/>
          <p:nvPr/>
        </p:nvSpPr>
        <p:spPr>
          <a:xfrm>
            <a:off x="15723108" y="1371600"/>
            <a:ext cx="329184" cy="329184"/>
          </a:xfrm>
          <a:prstGeom prst="roundRect">
            <a:avLst>
              <a:gd name="adj" fmla="val 16666"/>
            </a:avLst>
          </a:prstGeom>
          <a:solidFill>
            <a:srgbClr val="4472C4"/>
          </a:solidFill>
          <a:ln w="15875">
            <a:solidFill>
              <a:srgbClr val="4472C4"/>
            </a:solidFill>
          </a:ln>
        </p:spPr>
        <p:txBody>
          <a:bodyPr anchor="ctr" rtlCol="false" lIns="0" tIns="0" rIns="0" bIns="0" wrap="square"/>
          <a:lstStyle/>
          <a:p>
            <a:endParaRPr lang="en-US" sz="1800"/>
          </a:p>
        </p:txBody>
      </p:sp>
      <p:sp>
        <p:nvSpPr>
          <p:cNvPr id="13" name="TextBox 12"/>
          <p:cNvSpPr txBox="1"/>
          <p:nvPr/>
        </p:nvSpPr>
        <p:spPr>
          <a:xfrm>
            <a:off x="15723108"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FFFFFF"/>
                </a:solidFill>
                <a:latin typeface="Nunito Ultra-Bold"/>
                <a:ea typeface="Nunito Ultra-Bold"/>
                <a:cs typeface="Nunito Ultra-Bold"/>
                <a:sym typeface="Nunito Ultra-Bold"/>
              </a:rPr>
              <a:t>4</a:t>
            </a:r>
          </a:p>
        </p:txBody>
      </p:sp>
      <p:sp>
        <p:nvSpPr>
          <p:cNvPr id="14" name="Rounded Rectangle 13"/>
          <p:cNvSpPr/>
          <p:nvPr/>
        </p:nvSpPr>
        <p:spPr>
          <a:xfrm>
            <a:off x="16125444"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15" name="TextBox 14"/>
          <p:cNvSpPr txBox="1"/>
          <p:nvPr/>
        </p:nvSpPr>
        <p:spPr>
          <a:xfrm>
            <a:off x="16125444"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5</a:t>
            </a:r>
          </a:p>
        </p:txBody>
      </p:sp>
      <p:sp>
        <p:nvSpPr>
          <p:cNvPr id="16" name="Rounded Rectangle 15"/>
          <p:cNvSpPr/>
          <p:nvPr/>
        </p:nvSpPr>
        <p:spPr>
          <a:xfrm>
            <a:off x="16527780"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17" name="TextBox 16"/>
          <p:cNvSpPr txBox="1"/>
          <p:nvPr/>
        </p:nvSpPr>
        <p:spPr>
          <a:xfrm>
            <a:off x="16527780"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6</a:t>
            </a:r>
          </a:p>
        </p:txBody>
      </p:sp>
      <p:sp>
        <p:nvSpPr>
          <p:cNvPr id="18" name="Rounded Rectangle 17"/>
          <p:cNvSpPr/>
          <p:nvPr/>
        </p:nvSpPr>
        <p:spPr>
          <a:xfrm>
            <a:off x="16930116"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19" name="TextBox 18"/>
          <p:cNvSpPr txBox="1"/>
          <p:nvPr/>
        </p:nvSpPr>
        <p:spPr>
          <a:xfrm>
            <a:off x="16930116"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7</a:t>
            </a:r>
          </a:p>
        </p:txBody>
      </p:sp>
      <p:sp>
        <p:nvSpPr>
          <p:cNvPr id="20" name="TextBox 19"/>
          <p:cNvSpPr txBox="1"/>
          <p:nvPr/>
        </p:nvSpPr>
        <p:spPr>
          <a:xfrm>
            <a:off x="1028700" y="1719072"/>
            <a:ext cx="16230600" cy="730250"/>
          </a:xfrm>
          <a:prstGeom prst="rect">
            <a:avLst/>
          </a:prstGeom>
          <a:noFill/>
        </p:spPr>
        <p:txBody>
          <a:bodyPr anchor="t" rtlCol="false" lIns="0" tIns="0" rIns="0" bIns="0" wrap="square"/>
          <a:lstStyle/>
          <a:p>
            <a:pPr algn="l">
              <a:lnSpc>
                <a:spcPts val="5060"/>
              </a:lnSpc>
              <a:spcBef>
                <a:spcPts val="0"/>
              </a:spcBef>
              <a:buNone/>
            </a:pPr>
            <a:r>
              <a:rPr lang="en-US" sz="4600" b="true" spc="-230">
                <a:solidFill>
                  <a:srgbClr val="111111"/>
                </a:solidFill>
                <a:latin typeface="Roca Two Bold"/>
                <a:ea typeface="Roca Two Bold"/>
                <a:cs typeface="Roca Two Bold"/>
                <a:sym typeface="Roca Two Bold"/>
              </a:rPr>
              <a:t>Evaluation Protocol</a:t>
            </a:r>
          </a:p>
        </p:txBody>
      </p:sp>
      <p:sp>
        <p:nvSpPr>
          <p:cNvPr id="21" name="Rounded Rectangle 20"/>
          <p:cNvSpPr/>
          <p:nvPr/>
        </p:nvSpPr>
        <p:spPr>
          <a:xfrm>
            <a:off x="1028700" y="2559050"/>
            <a:ext cx="1691553" cy="420624"/>
          </a:xfrm>
          <a:prstGeom prst="roundRect">
            <a:avLst>
              <a:gd name="adj" fmla="val 50000"/>
            </a:avLst>
          </a:prstGeom>
          <a:noFill/>
          <a:ln w="28575">
            <a:solidFill>
              <a:srgbClr val="4472C4"/>
            </a:solidFill>
          </a:ln>
        </p:spPr>
        <p:txBody>
          <a:bodyPr anchor="ctr" rtlCol="false" lIns="45720" tIns="0" rIns="45720" bIns="0" wrap="square"/>
          <a:lstStyle/>
          <a:p>
            <a:pPr algn="ctr">
              <a:lnSpc>
                <a:spcPts val="2160"/>
              </a:lnSpc>
              <a:spcBef>
                <a:spcPts val="0"/>
              </a:spcBef>
              <a:buNone/>
            </a:pPr>
            <a:r>
              <a:rPr lang="en-US" sz="1800" b="true">
                <a:solidFill>
                  <a:srgbClr val="4472C4"/>
                </a:solidFill>
                <a:latin typeface="Nunito Bold"/>
                <a:ea typeface="Nunito Bold"/>
                <a:cs typeface="Nunito Bold"/>
                <a:sym typeface="Nunito Bold"/>
              </a:rPr>
              <a:t>Objectives</a:t>
            </a:r>
          </a:p>
        </p:txBody>
      </p:sp>
      <p:sp>
        <p:nvSpPr>
          <p:cNvPr id="22" name="Rounded Rectangle 21"/>
          <p:cNvSpPr/>
          <p:nvPr/>
        </p:nvSpPr>
        <p:spPr>
          <a:xfrm>
            <a:off x="2848269" y="2559050"/>
            <a:ext cx="1998119" cy="420624"/>
          </a:xfrm>
          <a:prstGeom prst="roundRect">
            <a:avLst>
              <a:gd name="adj" fmla="val 50000"/>
            </a:avLst>
          </a:prstGeom>
          <a:noFill/>
          <a:ln w="28575">
            <a:solidFill>
              <a:srgbClr val="4472C4"/>
            </a:solidFill>
          </a:ln>
        </p:spPr>
        <p:txBody>
          <a:bodyPr anchor="ctr" rtlCol="false" lIns="45720" tIns="0" rIns="45720" bIns="0" wrap="square"/>
          <a:lstStyle/>
          <a:p>
            <a:pPr algn="ctr">
              <a:lnSpc>
                <a:spcPts val="2160"/>
              </a:lnSpc>
              <a:spcBef>
                <a:spcPts val="0"/>
              </a:spcBef>
              <a:buNone/>
            </a:pPr>
            <a:r>
              <a:rPr lang="en-US" sz="1800" b="true">
                <a:solidFill>
                  <a:srgbClr val="4472C4"/>
                </a:solidFill>
                <a:latin typeface="Nunito Bold"/>
                <a:ea typeface="Nunito Bold"/>
                <a:cs typeface="Nunito Bold"/>
                <a:sym typeface="Nunito Bold"/>
              </a:rPr>
              <a:t>Methodology</a:t>
            </a:r>
          </a:p>
        </p:txBody>
      </p:sp>
      <p:sp>
        <p:nvSpPr>
          <p:cNvPr id="23" name="Rounded Rectangle 22"/>
          <p:cNvSpPr/>
          <p:nvPr/>
        </p:nvSpPr>
        <p:spPr>
          <a:xfrm>
            <a:off x="4974404" y="2559050"/>
            <a:ext cx="1369446" cy="420624"/>
          </a:xfrm>
          <a:prstGeom prst="roundRect">
            <a:avLst>
              <a:gd name="adj" fmla="val 50000"/>
            </a:avLst>
          </a:prstGeom>
          <a:solidFill>
            <a:srgbClr val="4472C4"/>
          </a:solidFill>
          <a:ln>
            <a:noFill/>
          </a:ln>
        </p:spPr>
        <p:txBody>
          <a:bodyPr anchor="ctr" rtlCol="false" lIns="45720" tIns="0" rIns="45720" bIns="0" wrap="square"/>
          <a:lstStyle/>
          <a:p>
            <a:pPr algn="ctr">
              <a:lnSpc>
                <a:spcPts val="2160"/>
              </a:lnSpc>
              <a:spcBef>
                <a:spcPts val="0"/>
              </a:spcBef>
              <a:buNone/>
            </a:pPr>
            <a:r>
              <a:rPr lang="en-US" sz="1800" b="true">
                <a:solidFill>
                  <a:srgbClr val="FFFFFF"/>
                </a:solidFill>
                <a:latin typeface="Nunito Bold"/>
                <a:ea typeface="Nunito Bold"/>
                <a:cs typeface="Nunito Bold"/>
                <a:sym typeface="Nunito Bold"/>
              </a:rPr>
              <a:t>Results</a:t>
            </a:r>
          </a:p>
        </p:txBody>
      </p:sp>
      <p:sp>
        <p:nvSpPr>
          <p:cNvPr id="24" name="Rounded Rectangle 23"/>
          <p:cNvSpPr/>
          <p:nvPr/>
        </p:nvSpPr>
        <p:spPr>
          <a:xfrm>
            <a:off x="6471866" y="2559050"/>
            <a:ext cx="1474931" cy="420624"/>
          </a:xfrm>
          <a:prstGeom prst="roundRect">
            <a:avLst>
              <a:gd name="adj" fmla="val 50000"/>
            </a:avLst>
          </a:prstGeom>
          <a:noFill/>
          <a:ln w="28575">
            <a:solidFill>
              <a:srgbClr val="4472C4"/>
            </a:solidFill>
          </a:ln>
        </p:spPr>
        <p:txBody>
          <a:bodyPr anchor="ctr" rtlCol="false" lIns="45720" tIns="0" rIns="45720" bIns="0" wrap="square"/>
          <a:lstStyle/>
          <a:p>
            <a:pPr algn="ctr">
              <a:lnSpc>
                <a:spcPts val="2160"/>
              </a:lnSpc>
              <a:spcBef>
                <a:spcPts val="0"/>
              </a:spcBef>
              <a:buNone/>
            </a:pPr>
            <a:r>
              <a:rPr lang="en-US" sz="1800" b="true">
                <a:solidFill>
                  <a:srgbClr val="4472C4"/>
                </a:solidFill>
                <a:latin typeface="Nunito Bold"/>
                <a:ea typeface="Nunito Bold"/>
                <a:cs typeface="Nunito Bold"/>
                <a:sym typeface="Nunito Bold"/>
              </a:rPr>
              <a:t>Findings</a:t>
            </a:r>
          </a:p>
        </p:txBody>
      </p:sp>
      <p:graphicFrame>
        <p:nvGraphicFramePr>
          <p:cNvPr id="25" name="Table 24"/>
          <p:cNvGraphicFramePr>
            <a:graphicFrameLocks noGrp="1"/>
          </p:cNvGraphicFramePr>
          <p:nvPr/>
        </p:nvGraphicFramePr>
        <p:xfrm>
          <a:off x="1028700" y="3363722"/>
          <a:ext cx="9966960" cy="4617212"/>
        </p:xfrm>
        <a:graphic>
          <a:graphicData uri="http://schemas.openxmlformats.org/drawingml/2006/table">
            <a:tbl>
              <a:tblPr firstRow="0" bandRow="0" firstCol="0" lastRow="0" lastCol="0" bandCol="0">
                <a:tableStyleId>{2D5ABB26-0587-4C30-8999-92F81FD0307C}</a:tableStyleId>
              </a:tblPr>
              <a:tblGrid>
                <a:gridCol w="2377440"/>
                <a:gridCol w="7589520"/>
              </a:tblGrid>
              <a:tr h="548640">
                <a:tc>
                  <a:txBody>
                    <a:bodyPr anchor="ctr" rtlCol="false" lIns="0" tIns="0" rIns="0" bIns="0" wrap="square"/>
                    <a:lstStyle/>
                    <a:p>
                      <a:pPr algn="l">
                        <a:lnSpc>
                          <a:spcPts val="2210"/>
                        </a:lnSpc>
                        <a:spcBef>
                          <a:spcPts val="0"/>
                        </a:spcBef>
                        <a:buNone/>
                      </a:pPr>
                      <a:r>
                        <a:rPr lang="en-US" sz="1700" b="true">
                          <a:solidFill>
                            <a:srgbClr val="FFFFFF"/>
                          </a:solidFill>
                          <a:latin typeface="Nunito Bold"/>
                          <a:ea typeface="Nunito Bold"/>
                          <a:cs typeface="Nunito Bold"/>
                          <a:sym typeface="Nunito Bold"/>
                        </a:rPr>
                        <a:t>Step</a:t>
                      </a:r>
                    </a:p>
                  </a:txBody>
                  <a:tcPr marL="82296" marR="82296" marT="45720" marB="45720" anchor="ctr">
                    <a:lnL w="12700" cap="flat" cmpd="sng" algn="ctr">
                      <a:solidFill>
                        <a:srgbClr val="4472C4"/>
                      </a:solidFill>
                      <a:prstDash val="solid"/>
                    </a:lnL>
                    <a:lnR w="12700" cap="flat" cmpd="sng" algn="ctr">
                      <a:solidFill>
                        <a:srgbClr val="4472C4"/>
                      </a:solidFill>
                      <a:prstDash val="solid"/>
                    </a:lnR>
                    <a:lnT w="12700" cap="flat" cmpd="sng" algn="ctr">
                      <a:solidFill>
                        <a:srgbClr val="4472C4"/>
                      </a:solidFill>
                      <a:prstDash val="solid"/>
                    </a:lnT>
                    <a:lnB w="12700" cap="flat" cmpd="sng" algn="ctr">
                      <a:solidFill>
                        <a:srgbClr val="4472C4"/>
                      </a:solidFill>
                      <a:prstDash val="solid"/>
                    </a:lnB>
                    <a:solidFill>
                      <a:srgbClr val="4472C4"/>
                    </a:solidFill>
                  </a:tcPr>
                </a:tc>
                <a:tc>
                  <a:txBody>
                    <a:bodyPr anchor="ctr" rtlCol="false" lIns="0" tIns="0" rIns="0" bIns="0" wrap="square"/>
                    <a:lstStyle/>
                    <a:p>
                      <a:pPr algn="l">
                        <a:lnSpc>
                          <a:spcPts val="2210"/>
                        </a:lnSpc>
                        <a:spcBef>
                          <a:spcPts val="0"/>
                        </a:spcBef>
                        <a:buNone/>
                      </a:pPr>
                      <a:r>
                        <a:rPr lang="en-US" sz="1700" b="true">
                          <a:solidFill>
                            <a:srgbClr val="FFFFFF"/>
                          </a:solidFill>
                          <a:latin typeface="Nunito Bold"/>
                          <a:ea typeface="Nunito Bold"/>
                          <a:cs typeface="Nunito Bold"/>
                          <a:sym typeface="Nunito Bold"/>
                        </a:rPr>
                        <a:t>Setting used in this contribution</a:t>
                      </a:r>
                    </a:p>
                  </a:txBody>
                  <a:tcPr marL="82296" marR="82296" marT="45720" marB="45720" anchor="ctr">
                    <a:lnL w="12700" cap="flat" cmpd="sng" algn="ctr">
                      <a:solidFill>
                        <a:srgbClr val="4472C4"/>
                      </a:solidFill>
                      <a:prstDash val="solid"/>
                    </a:lnL>
                    <a:lnR w="12700" cap="flat" cmpd="sng" algn="ctr">
                      <a:solidFill>
                        <a:srgbClr val="4472C4"/>
                      </a:solidFill>
                      <a:prstDash val="solid"/>
                    </a:lnR>
                    <a:lnT w="12700" cap="flat" cmpd="sng" algn="ctr">
                      <a:solidFill>
                        <a:srgbClr val="4472C4"/>
                      </a:solidFill>
                      <a:prstDash val="solid"/>
                    </a:lnT>
                    <a:lnB w="12700" cap="flat" cmpd="sng" algn="ctr">
                      <a:solidFill>
                        <a:srgbClr val="4472C4"/>
                      </a:solidFill>
                      <a:prstDash val="solid"/>
                    </a:lnB>
                    <a:solidFill>
                      <a:srgbClr val="4472C4"/>
                    </a:solidFill>
                  </a:tcPr>
                </a:tc>
              </a:tr>
              <a:tr h="548640">
                <a:tc>
                  <a:txBody>
                    <a:bodyPr anchor="ctr" rtlCol="false" lIns="0" tIns="0" rIns="0" bIns="0" wrap="square"/>
                    <a:lstStyle/>
                    <a:p>
                      <a:pPr algn="l">
                        <a:lnSpc>
                          <a:spcPts val="2210"/>
                        </a:lnSpc>
                        <a:spcBef>
                          <a:spcPts val="0"/>
                        </a:spcBef>
                        <a:buNone/>
                      </a:pPr>
                      <a:r>
                        <a:rPr lang="en-US" sz="1700" b="true">
                          <a:solidFill>
                            <a:srgbClr val="111111"/>
                          </a:solidFill>
                          <a:latin typeface="Nunito Bold"/>
                          <a:ea typeface="Nunito Bold"/>
                          <a:cs typeface="Nunito Bold"/>
                          <a:sym typeface="Nunito Bold"/>
                        </a:rPr>
                        <a:t>Dataset</a:t>
                      </a:r>
                    </a:p>
                  </a:txBody>
                  <a:tcPr marL="82296" marR="82296"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c>
                  <a:txBody>
                    <a:bodyPr anchor="ctr" rtlCol="false" lIns="0" tIns="0" rIns="0" bIns="0" wrap="square"/>
                    <a:lstStyle/>
                    <a:p>
                      <a:pPr algn="l">
                        <a:lnSpc>
                          <a:spcPts val="2210"/>
                        </a:lnSpc>
                        <a:spcBef>
                          <a:spcPts val="0"/>
                        </a:spcBef>
                        <a:buNone/>
                      </a:pPr>
                      <a:r>
                        <a:rPr lang="en-US" sz="1700" b="true">
                          <a:solidFill>
                            <a:srgbClr val="111111"/>
                          </a:solidFill>
                          <a:latin typeface="Nunito Semi-Bold"/>
                          <a:ea typeface="Nunito Semi-Bold"/>
                          <a:cs typeface="Nunito Semi-Bold"/>
                          <a:sym typeface="Nunito Semi-Bold"/>
                        </a:rPr>
                        <a:t>Wine Quality, 4,898 samples × 11 standardised chemical features</a:t>
                      </a:r>
                    </a:p>
                  </a:txBody>
                  <a:tcPr marL="82296" marR="82296"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r>
              <a:tr h="548640">
                <a:tc>
                  <a:txBody>
                    <a:bodyPr anchor="ctr" rtlCol="false" lIns="0" tIns="0" rIns="0" bIns="0" wrap="square"/>
                    <a:lstStyle/>
                    <a:p>
                      <a:pPr algn="l">
                        <a:lnSpc>
                          <a:spcPts val="2210"/>
                        </a:lnSpc>
                        <a:spcBef>
                          <a:spcPts val="0"/>
                        </a:spcBef>
                        <a:buNone/>
                      </a:pPr>
                      <a:r>
                        <a:rPr lang="en-US" sz="1700" b="true">
                          <a:solidFill>
                            <a:srgbClr val="111111"/>
                          </a:solidFill>
                          <a:latin typeface="Nunito Bold"/>
                          <a:ea typeface="Nunito Bold"/>
                          <a:cs typeface="Nunito Bold"/>
                          <a:sym typeface="Nunito Bold"/>
                        </a:rPr>
                        <a:t>Clustering</a:t>
                      </a:r>
                    </a:p>
                  </a:txBody>
                  <a:tcPr marL="82296" marR="82296"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6ECDF"/>
                    </a:solidFill>
                  </a:tcPr>
                </a:tc>
                <a:tc>
                  <a:txBody>
                    <a:bodyPr anchor="ctr" rtlCol="false" lIns="0" tIns="0" rIns="0" bIns="0" wrap="square"/>
                    <a:lstStyle/>
                    <a:p>
                      <a:pPr algn="l">
                        <a:lnSpc>
                          <a:spcPts val="2210"/>
                        </a:lnSpc>
                        <a:spcBef>
                          <a:spcPts val="0"/>
                        </a:spcBef>
                        <a:buNone/>
                      </a:pPr>
                      <a:r>
                        <a:rPr lang="en-US" sz="1700" b="true">
                          <a:solidFill>
                            <a:srgbClr val="111111"/>
                          </a:solidFill>
                          <a:latin typeface="Nunito Semi-Bold"/>
                          <a:ea typeface="Nunito Semi-Bold"/>
                          <a:cs typeface="Nunito Semi-Bold"/>
                          <a:sym typeface="Nunito Semi-Bold"/>
                        </a:rPr>
                        <a:t>K-Means++ on the PCA-stabilised data; k scanned over 2 … 10</a:t>
                      </a:r>
                    </a:p>
                  </a:txBody>
                  <a:tcPr marL="82296" marR="82296"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6ECDF"/>
                    </a:solidFill>
                  </a:tcPr>
                </a:tc>
              </a:tr>
              <a:tr h="548640">
                <a:tc>
                  <a:txBody>
                    <a:bodyPr anchor="ctr" rtlCol="false" lIns="0" tIns="0" rIns="0" bIns="0" wrap="square"/>
                    <a:lstStyle/>
                    <a:p>
                      <a:pPr algn="l">
                        <a:lnSpc>
                          <a:spcPts val="2210"/>
                        </a:lnSpc>
                        <a:spcBef>
                          <a:spcPts val="0"/>
                        </a:spcBef>
                        <a:buNone/>
                      </a:pPr>
                      <a:r>
                        <a:rPr lang="en-US" sz="1700" b="true">
                          <a:solidFill>
                            <a:srgbClr val="111111"/>
                          </a:solidFill>
                          <a:latin typeface="Nunito Bold"/>
                          <a:ea typeface="Nunito Bold"/>
                          <a:cs typeface="Nunito Bold"/>
                          <a:sym typeface="Nunito Bold"/>
                        </a:rPr>
                        <a:t>Choice of k</a:t>
                      </a:r>
                    </a:p>
                  </a:txBody>
                  <a:tcPr marL="82296" marR="82296"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c>
                  <a:txBody>
                    <a:bodyPr anchor="ctr" rtlCol="false" lIns="0" tIns="0" rIns="0" bIns="0" wrap="square"/>
                    <a:lstStyle/>
                    <a:p>
                      <a:pPr algn="l">
                        <a:lnSpc>
                          <a:spcPts val="2210"/>
                        </a:lnSpc>
                        <a:spcBef>
                          <a:spcPts val="0"/>
                        </a:spcBef>
                        <a:buNone/>
                      </a:pPr>
                      <a:r>
                        <a:rPr lang="en-US" sz="1700" b="true">
                          <a:solidFill>
                            <a:srgbClr val="111111"/>
                          </a:solidFill>
                          <a:latin typeface="Nunito Semi-Bold"/>
                          <a:ea typeface="Nunito Semi-Bold"/>
                          <a:cs typeface="Nunito Semi-Bold"/>
                          <a:sym typeface="Nunito Semi-Bold"/>
                        </a:rPr>
                        <a:t>Elbow + Silhouette + Davies–Bouldin, then an interpretability check</a:t>
                      </a:r>
                    </a:p>
                  </a:txBody>
                  <a:tcPr marL="82296" marR="82296"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r>
              <a:tr h="776732">
                <a:tc>
                  <a:txBody>
                    <a:bodyPr anchor="ctr" rtlCol="false" lIns="0" tIns="0" rIns="0" bIns="0" wrap="square"/>
                    <a:lstStyle/>
                    <a:p>
                      <a:pPr algn="l">
                        <a:lnSpc>
                          <a:spcPts val="2210"/>
                        </a:lnSpc>
                        <a:spcBef>
                          <a:spcPts val="0"/>
                        </a:spcBef>
                        <a:buNone/>
                      </a:pPr>
                      <a:r>
                        <a:rPr lang="en-US" sz="1700" b="true">
                          <a:solidFill>
                            <a:srgbClr val="111111"/>
                          </a:solidFill>
                          <a:latin typeface="Nunito Bold"/>
                          <a:ea typeface="Nunito Bold"/>
                          <a:cs typeface="Nunito Bold"/>
                          <a:sym typeface="Nunito Bold"/>
                        </a:rPr>
                        <a:t>Surrogate</a:t>
                      </a:r>
                    </a:p>
                  </a:txBody>
                  <a:tcPr marL="82296" marR="82296"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6ECDF"/>
                    </a:solidFill>
                  </a:tcPr>
                </a:tc>
                <a:tc>
                  <a:txBody>
                    <a:bodyPr anchor="ctr" rtlCol="false" lIns="0" tIns="0" rIns="0" bIns="0" wrap="square"/>
                    <a:lstStyle/>
                    <a:p>
                      <a:pPr algn="l">
                        <a:lnSpc>
                          <a:spcPts val="2210"/>
                        </a:lnSpc>
                        <a:spcBef>
                          <a:spcPts val="0"/>
                        </a:spcBef>
                        <a:buNone/>
                      </a:pPr>
                      <a:r>
                        <a:rPr lang="en-US" sz="1700" b="true">
                          <a:solidFill>
                            <a:srgbClr val="111111"/>
                          </a:solidFill>
                          <a:latin typeface="Nunito Semi-Bold"/>
                          <a:ea typeface="Nunito Semi-Bold"/>
                          <a:cs typeface="Nunito Semi-Bold"/>
                          <a:sym typeface="Nunito Semi-Bold"/>
                        </a:rPr>
                        <a:t>LightGBM multiclass, five-fold cross-validation, macro-F1 as fidelity score</a:t>
                      </a:r>
                    </a:p>
                  </a:txBody>
                  <a:tcPr marL="82296" marR="82296"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6ECDF"/>
                    </a:solidFill>
                  </a:tcPr>
                </a:tc>
              </a:tr>
              <a:tr h="548640">
                <a:tc>
                  <a:txBody>
                    <a:bodyPr anchor="ctr" rtlCol="false" lIns="0" tIns="0" rIns="0" bIns="0" wrap="square"/>
                    <a:lstStyle/>
                    <a:p>
                      <a:pPr algn="l">
                        <a:lnSpc>
                          <a:spcPts val="2210"/>
                        </a:lnSpc>
                        <a:spcBef>
                          <a:spcPts val="0"/>
                        </a:spcBef>
                        <a:buNone/>
                      </a:pPr>
                      <a:r>
                        <a:rPr lang="en-US" sz="1700" b="true">
                          <a:solidFill>
                            <a:srgbClr val="111111"/>
                          </a:solidFill>
                          <a:latin typeface="Nunito Bold"/>
                          <a:ea typeface="Nunito Bold"/>
                          <a:cs typeface="Nunito Bold"/>
                          <a:sym typeface="Nunito Bold"/>
                        </a:rPr>
                        <a:t>Attribution</a:t>
                      </a:r>
                    </a:p>
                  </a:txBody>
                  <a:tcPr marL="82296" marR="82296"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c>
                  <a:txBody>
                    <a:bodyPr anchor="ctr" rtlCol="false" lIns="0" tIns="0" rIns="0" bIns="0" wrap="square"/>
                    <a:lstStyle/>
                    <a:p>
                      <a:pPr algn="l">
                        <a:lnSpc>
                          <a:spcPts val="2210"/>
                        </a:lnSpc>
                        <a:spcBef>
                          <a:spcPts val="0"/>
                        </a:spcBef>
                        <a:buNone/>
                      </a:pPr>
                      <a:r>
                        <a:rPr lang="en-US" sz="1700" b="true">
                          <a:solidFill>
                            <a:srgbClr val="111111"/>
                          </a:solidFill>
                          <a:latin typeface="Nunito Semi-Bold"/>
                          <a:ea typeface="Nunito Semi-Bold"/>
                          <a:cs typeface="Nunito Semi-Bold"/>
                          <a:sym typeface="Nunito Semi-Bold"/>
                        </a:rPr>
                        <a:t>Exact TreeSHAP on the surrogate, in the original 11-feature space</a:t>
                      </a:r>
                    </a:p>
                  </a:txBody>
                  <a:tcPr marL="82296" marR="82296"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r>
              <a:tr h="548640">
                <a:tc>
                  <a:txBody>
                    <a:bodyPr anchor="ctr" rtlCol="false" lIns="0" tIns="0" rIns="0" bIns="0" wrap="square"/>
                    <a:lstStyle/>
                    <a:p>
                      <a:pPr algn="l">
                        <a:lnSpc>
                          <a:spcPts val="2210"/>
                        </a:lnSpc>
                        <a:spcBef>
                          <a:spcPts val="0"/>
                        </a:spcBef>
                        <a:buNone/>
                      </a:pPr>
                      <a:r>
                        <a:rPr lang="en-US" sz="1700" b="true">
                          <a:solidFill>
                            <a:srgbClr val="111111"/>
                          </a:solidFill>
                          <a:latin typeface="Nunito Bold"/>
                          <a:ea typeface="Nunito Bold"/>
                          <a:cs typeface="Nunito Bold"/>
                          <a:sym typeface="Nunito Bold"/>
                        </a:rPr>
                        <a:t>Outputs</a:t>
                      </a:r>
                    </a:p>
                  </a:txBody>
                  <a:tcPr marL="82296" marR="82296"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6ECDF"/>
                    </a:solidFill>
                  </a:tcPr>
                </a:tc>
                <a:tc>
                  <a:txBody>
                    <a:bodyPr anchor="ctr" rtlCol="false" lIns="0" tIns="0" rIns="0" bIns="0" wrap="square"/>
                    <a:lstStyle/>
                    <a:p>
                      <a:pPr algn="l">
                        <a:lnSpc>
                          <a:spcPts val="2210"/>
                        </a:lnSpc>
                        <a:spcBef>
                          <a:spcPts val="0"/>
                        </a:spcBef>
                        <a:buNone/>
                      </a:pPr>
                      <a:r>
                        <a:rPr lang="en-US" sz="1700" b="true">
                          <a:solidFill>
                            <a:srgbClr val="111111"/>
                          </a:solidFill>
                          <a:latin typeface="Nunito Semi-Bold"/>
                          <a:ea typeface="Nunito Semi-Bold"/>
                          <a:cs typeface="Nunito Semi-Bold"/>
                          <a:sym typeface="Nunito Semi-Bold"/>
                        </a:rPr>
                        <a:t>Global mean |SHAP| ranking, per-cluster profiles, local force plots</a:t>
                      </a:r>
                    </a:p>
                  </a:txBody>
                  <a:tcPr marL="82296" marR="82296"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6ECDF"/>
                    </a:solidFill>
                  </a:tcPr>
                </a:tc>
              </a:tr>
              <a:tr h="548640">
                <a:tc>
                  <a:txBody>
                    <a:bodyPr anchor="ctr" rtlCol="false" lIns="0" tIns="0" rIns="0" bIns="0" wrap="square"/>
                    <a:lstStyle/>
                    <a:p>
                      <a:pPr algn="l">
                        <a:lnSpc>
                          <a:spcPts val="2210"/>
                        </a:lnSpc>
                        <a:spcBef>
                          <a:spcPts val="0"/>
                        </a:spcBef>
                        <a:buNone/>
                      </a:pPr>
                      <a:r>
                        <a:rPr lang="en-US" sz="1700" b="true">
                          <a:solidFill>
                            <a:srgbClr val="111111"/>
                          </a:solidFill>
                          <a:latin typeface="Nunito Bold"/>
                          <a:ea typeface="Nunito Bold"/>
                          <a:cs typeface="Nunito Bold"/>
                          <a:sym typeface="Nunito Bold"/>
                        </a:rPr>
                        <a:t>Comparison</a:t>
                      </a:r>
                    </a:p>
                  </a:txBody>
                  <a:tcPr marL="82296" marR="82296"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c>
                  <a:txBody>
                    <a:bodyPr anchor="ctr" rtlCol="false" lIns="0" tIns="0" rIns="0" bIns="0" wrap="square"/>
                    <a:lstStyle/>
                    <a:p>
                      <a:pPr algn="l">
                        <a:lnSpc>
                          <a:spcPts val="2210"/>
                        </a:lnSpc>
                        <a:spcBef>
                          <a:spcPts val="0"/>
                        </a:spcBef>
                        <a:buNone/>
                      </a:pPr>
                      <a:r>
                        <a:rPr lang="en-US" sz="1700" b="true">
                          <a:solidFill>
                            <a:srgbClr val="111111"/>
                          </a:solidFill>
                          <a:latin typeface="Nunito Semi-Bold"/>
                          <a:ea typeface="Nunito Semi-Bold"/>
                          <a:cs typeface="Nunito Semi-Bold"/>
                          <a:sym typeface="Nunito Semi-Bold"/>
                        </a:rPr>
                        <a:t>LIME-based surrogate explanation on the same partition</a:t>
                      </a:r>
                    </a:p>
                  </a:txBody>
                  <a:tcPr marL="82296" marR="82296"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r>
            </a:tbl>
          </a:graphicData>
        </a:graphic>
      </p:graphicFrame>
      <p:sp>
        <p:nvSpPr>
          <p:cNvPr id="26" name="Rounded Rectangle 25"/>
          <p:cNvSpPr/>
          <p:nvPr/>
        </p:nvSpPr>
        <p:spPr>
          <a:xfrm>
            <a:off x="11452860" y="3592322"/>
            <a:ext cx="5806440" cy="5670550"/>
          </a:xfrm>
          <a:prstGeom prst="roundRect">
            <a:avLst>
              <a:gd name="adj" fmla="val 5482"/>
            </a:avLst>
          </a:prstGeom>
          <a:solidFill>
            <a:srgbClr val="4472C4"/>
          </a:solidFill>
          <a:ln>
            <a:noFill/>
          </a:ln>
        </p:spPr>
        <p:txBody>
          <a:bodyPr anchor="ctr" rtlCol="false" lIns="0" tIns="0" rIns="0" bIns="0" wrap="square"/>
          <a:lstStyle/>
          <a:p>
            <a:endParaRPr lang="en-US" sz="1800"/>
          </a:p>
        </p:txBody>
      </p:sp>
      <p:sp>
        <p:nvSpPr>
          <p:cNvPr id="27" name="Rounded Rectangle 26"/>
          <p:cNvSpPr/>
          <p:nvPr/>
        </p:nvSpPr>
        <p:spPr>
          <a:xfrm>
            <a:off x="11910060" y="3354578"/>
            <a:ext cx="3849870" cy="438912"/>
          </a:xfrm>
          <a:prstGeom prst="roundRect">
            <a:avLst>
              <a:gd name="adj" fmla="val 50000"/>
            </a:avLst>
          </a:prstGeom>
          <a:solidFill>
            <a:srgbClr val="FFFFFF"/>
          </a:solidFill>
          <a:ln w="28575">
            <a:solidFill>
              <a:srgbClr val="FFFFFF"/>
            </a:solidFill>
          </a:ln>
        </p:spPr>
        <p:txBody>
          <a:bodyPr anchor="ctr" rtlCol="false" lIns="45720" tIns="0" rIns="45720" bIns="0" wrap="square"/>
          <a:lstStyle/>
          <a:p>
            <a:pPr algn="ctr">
              <a:lnSpc>
                <a:spcPts val="2640"/>
              </a:lnSpc>
              <a:spcBef>
                <a:spcPts val="0"/>
              </a:spcBef>
              <a:buNone/>
            </a:pPr>
            <a:r>
              <a:rPr lang="en-US" sz="2200" b="true">
                <a:solidFill>
                  <a:srgbClr val="4472C4"/>
                </a:solidFill>
                <a:latin typeface="Nunito Bold"/>
                <a:ea typeface="Nunito Bold"/>
                <a:cs typeface="Nunito Bold"/>
                <a:sym typeface="Nunito Bold"/>
              </a:rPr>
              <a:t>What counts as success</a:t>
            </a:r>
          </a:p>
        </p:txBody>
      </p:sp>
      <p:sp>
        <p:nvSpPr>
          <p:cNvPr id="28" name="TextBox 27"/>
          <p:cNvSpPr txBox="1"/>
          <p:nvPr/>
        </p:nvSpPr>
        <p:spPr>
          <a:xfrm>
            <a:off x="11910060" y="4232402"/>
            <a:ext cx="4937760" cy="4756150"/>
          </a:xfrm>
          <a:prstGeom prst="rect">
            <a:avLst/>
          </a:prstGeom>
          <a:noFill/>
        </p:spPr>
        <p:txBody>
          <a:bodyPr anchor="t" rtlCol="false" lIns="0" tIns="0" rIns="0" bIns="0" wrap="square"/>
          <a:lstStyle/>
          <a:p>
            <a:pPr algn="l" marL="274320" indent="-274320">
              <a:lnSpc>
                <a:spcPts val="2660"/>
              </a:lnSpc>
              <a:spcBef>
                <a:spcPts val="0"/>
              </a:spcBef>
              <a:buClr>
                <a:srgbClr val="ECC665"/>
              </a:buClr>
              <a:buSzPct val="100000"/>
              <a:buFont typeface="Arial"/>
              <a:buChar char="•"/>
            </a:pPr>
            <a:r>
              <a:rPr lang="en-US" sz="1900" b="true">
                <a:solidFill>
                  <a:srgbClr val="FFFFFF"/>
                </a:solidFill>
                <a:latin typeface="Nunito Bold"/>
                <a:ea typeface="Nunito Bold"/>
                <a:cs typeface="Nunito Bold"/>
                <a:sym typeface="Nunito Bold"/>
              </a:rPr>
              <a:t>Fidelity floor met:</a:t>
            </a:r>
            <a:r>
              <a:rPr lang="en-US" sz="1900" b="true">
                <a:solidFill>
                  <a:srgbClr val="FFFFFF"/>
                </a:solidFill>
                <a:latin typeface="Nunito Semi-Bold"/>
                <a:ea typeface="Nunito Semi-Bold"/>
                <a:cs typeface="Nunito Semi-Bold"/>
                <a:sym typeface="Nunito Semi-Bold"/>
              </a:rPr>
              <a:t> macro-F1 ≈ 0.82 or higher, otherwise the explanation is not trusted.</a:t>
            </a:r>
          </a:p>
          <a:p>
            <a:pPr algn="l" marL="274320" indent="-274320">
              <a:lnSpc>
                <a:spcPts val="2660"/>
              </a:lnSpc>
              <a:spcBef>
                <a:spcPts val="1000"/>
              </a:spcBef>
              <a:buClr>
                <a:srgbClr val="ECC665"/>
              </a:buClr>
              <a:buSzPct val="100000"/>
              <a:buFont typeface="Arial"/>
              <a:buChar char="•"/>
            </a:pPr>
            <a:r>
              <a:rPr lang="en-US" sz="1900" b="true">
                <a:solidFill>
                  <a:srgbClr val="FFFFFF"/>
                </a:solidFill>
                <a:latin typeface="Nunito Bold"/>
                <a:ea typeface="Nunito Bold"/>
                <a:cs typeface="Nunito Bold"/>
                <a:sym typeface="Nunito Bold"/>
              </a:rPr>
              <a:t>Global ranking is chemically meaningful:</a:t>
            </a:r>
            <a:r>
              <a:rPr lang="en-US" sz="1900" b="true">
                <a:solidFill>
                  <a:srgbClr val="FFFFFF"/>
                </a:solidFill>
                <a:latin typeface="Nunito Semi-Bold"/>
                <a:ea typeface="Nunito Semi-Bold"/>
                <a:cs typeface="Nunito Semi-Bold"/>
                <a:sym typeface="Nunito Semi-Bold"/>
              </a:rPr>
              <a:t> the top features are ones an expert would name.</a:t>
            </a:r>
          </a:p>
          <a:p>
            <a:pPr algn="l" marL="274320" indent="-274320">
              <a:lnSpc>
                <a:spcPts val="2660"/>
              </a:lnSpc>
              <a:spcBef>
                <a:spcPts val="1000"/>
              </a:spcBef>
              <a:buClr>
                <a:srgbClr val="ECC665"/>
              </a:buClr>
              <a:buSzPct val="100000"/>
              <a:buFont typeface="Arial"/>
              <a:buChar char="•"/>
            </a:pPr>
            <a:r>
              <a:rPr lang="en-US" sz="1900" b="true">
                <a:solidFill>
                  <a:srgbClr val="FFFFFF"/>
                </a:solidFill>
                <a:latin typeface="Nunito Bold"/>
                <a:ea typeface="Nunito Bold"/>
                <a:cs typeface="Nunito Bold"/>
                <a:sym typeface="Nunito Bold"/>
              </a:rPr>
              <a:t>Clusters have distinct signatures:</a:t>
            </a:r>
            <a:r>
              <a:rPr lang="en-US" sz="1900" b="true">
                <a:solidFill>
                  <a:srgbClr val="FFFFFF"/>
                </a:solidFill>
                <a:latin typeface="Nunito Semi-Bold"/>
                <a:ea typeface="Nunito Semi-Bold"/>
                <a:cs typeface="Nunito Semi-Bold"/>
                <a:sym typeface="Nunito Semi-Bold"/>
              </a:rPr>
              <a:t> the same features, different weights per cluster.</a:t>
            </a:r>
          </a:p>
          <a:p>
            <a:pPr algn="l" marL="274320" indent="-274320">
              <a:lnSpc>
                <a:spcPts val="2660"/>
              </a:lnSpc>
              <a:spcBef>
                <a:spcPts val="1000"/>
              </a:spcBef>
              <a:buClr>
                <a:srgbClr val="ECC665"/>
              </a:buClr>
              <a:buSzPct val="100000"/>
              <a:buFont typeface="Arial"/>
              <a:buChar char="•"/>
            </a:pPr>
            <a:r>
              <a:rPr lang="en-US" sz="1900" b="true">
                <a:solidFill>
                  <a:srgbClr val="FFFFFF"/>
                </a:solidFill>
                <a:latin typeface="Nunito Bold"/>
                <a:ea typeface="Nunito Bold"/>
                <a:cs typeface="Nunito Bold"/>
                <a:sym typeface="Nunito Bold"/>
              </a:rPr>
              <a:t>Shapley beats LIME</a:t>
            </a:r>
            <a:r>
              <a:rPr lang="en-US" sz="1900" b="true">
                <a:solidFill>
                  <a:srgbClr val="FFFFFF"/>
                </a:solidFill>
                <a:latin typeface="Nunito Semi-Bold"/>
                <a:ea typeface="Nunito Semi-Bold"/>
                <a:cs typeface="Nunito Semi-Bold"/>
                <a:sym typeface="Nunito Semi-Bold"/>
              </a:rPr>
              <a:t> on stability and cross-cluster comparison.</a:t>
            </a:r>
          </a:p>
        </p:txBody>
      </p:sp>
    </p:spTree>
  </p:cSld>
  <p:clrMapOvr>
    <a:masterClrMapping/>
  </p:clrMapOvr>
</p:sld>
</file>

<file path=ppt/slides/slide4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pic>
        <p:nvPicPr>
          <p:cNvPr id="2" name="Picture 1" descr="ensias_logo.jpg"/>
          <p:cNvPicPr>
            <a:picLocks noChangeAspect="1"/>
          </p:cNvPicPr>
          <p:nvPr/>
        </p:nvPicPr>
        <p:blipFill>
          <a:blip r:embed="rId2"/>
          <a:stretch>
            <a:fillRect/>
          </a:stretch>
        </p:blipFill>
        <p:spPr>
          <a:xfrm>
            <a:off x="1028700" y="9674352"/>
            <a:ext cx="542964" cy="384048"/>
          </a:xfrm>
          <a:prstGeom prst="rect">
            <a:avLst/>
          </a:prstGeom>
        </p:spPr>
      </p:pic>
      <p:sp>
        <p:nvSpPr>
          <p:cNvPr id="3" name="TextBox 2"/>
          <p:cNvSpPr txBox="1"/>
          <p:nvPr/>
        </p:nvSpPr>
        <p:spPr>
          <a:xfrm>
            <a:off x="1577340" y="9747504"/>
            <a:ext cx="12801600" cy="274320"/>
          </a:xfrm>
          <a:prstGeom prst="rect">
            <a:avLst/>
          </a:prstGeom>
          <a:noFill/>
        </p:spPr>
        <p:txBody>
          <a:bodyPr anchor="t" rtlCol="false" lIns="0" tIns="0" rIns="0" bIns="0" wrap="square"/>
          <a:lstStyle/>
          <a:p>
            <a:pPr algn="l">
              <a:lnSpc>
                <a:spcPts val="1600"/>
              </a:lnSpc>
              <a:spcBef>
                <a:spcPts val="0"/>
              </a:spcBef>
              <a:buNone/>
            </a:pPr>
            <a:r>
              <a:rPr lang="en-US" sz="1300" b="true">
                <a:solidFill>
                  <a:srgbClr val="8A8378"/>
                </a:solidFill>
                <a:latin typeface="Nunito Bold"/>
                <a:ea typeface="Nunito Bold"/>
                <a:cs typeface="Nunito Bold"/>
                <a:sym typeface="Nunito Bold"/>
              </a:rPr>
              <a:t>Cooperative Game Theory for Explainable AI in Recommendation Systems  ·  A Shapley Framework for Actionable Insight</a:t>
            </a:r>
          </a:p>
        </p:txBody>
      </p:sp>
      <p:sp>
        <p:nvSpPr>
          <p:cNvPr id="4" name="TextBox 3"/>
          <p:cNvSpPr txBox="1"/>
          <p:nvPr/>
        </p:nvSpPr>
        <p:spPr>
          <a:xfrm>
            <a:off x="16162020" y="9692640"/>
            <a:ext cx="1097280" cy="329184"/>
          </a:xfrm>
          <a:prstGeom prst="rect">
            <a:avLst/>
          </a:prstGeom>
          <a:noFill/>
        </p:spPr>
        <p:txBody>
          <a:bodyPr anchor="t" rtlCol="false" lIns="0" tIns="0" rIns="0" bIns="0" wrap="square"/>
          <a:lstStyle/>
          <a:p>
            <a:pPr algn="r">
              <a:lnSpc>
                <a:spcPts val="2200"/>
              </a:lnSpc>
              <a:spcBef>
                <a:spcPts val="0"/>
              </a:spcBef>
              <a:buNone/>
            </a:pPr>
            <a:r>
              <a:rPr lang="en-US" sz="1800" b="true">
                <a:solidFill>
                  <a:srgbClr val="111111"/>
                </a:solidFill>
                <a:latin typeface="Nunito Ultra-Bold"/>
                <a:ea typeface="Nunito Ultra-Bold"/>
                <a:cs typeface="Nunito Ultra-Bold"/>
                <a:sym typeface="Nunito Ultra-Bold"/>
              </a:rPr>
              <a:t>32</a:t>
            </a:r>
          </a:p>
        </p:txBody>
      </p:sp>
      <p:sp>
        <p:nvSpPr>
          <p:cNvPr id="5" name="TextBox 4"/>
          <p:cNvSpPr txBox="1"/>
          <p:nvPr/>
        </p:nvSpPr>
        <p:spPr>
          <a:xfrm>
            <a:off x="1028700" y="1389888"/>
            <a:ext cx="12938760" cy="329184"/>
          </a:xfrm>
          <a:prstGeom prst="rect">
            <a:avLst/>
          </a:prstGeom>
          <a:noFill/>
        </p:spPr>
        <p:txBody>
          <a:bodyPr anchor="t" rtlCol="false" lIns="0" tIns="0" rIns="0" bIns="0" wrap="square"/>
          <a:lstStyle/>
          <a:p>
            <a:pPr algn="l">
              <a:lnSpc>
                <a:spcPts val="2000"/>
              </a:lnSpc>
              <a:spcBef>
                <a:spcPts val="0"/>
              </a:spcBef>
              <a:buNone/>
            </a:pPr>
            <a:r>
              <a:rPr lang="en-US" sz="1500" b="true" spc="160">
                <a:solidFill>
                  <a:srgbClr val="1F7A8C"/>
                </a:solidFill>
                <a:latin typeface="Nunito Ultra-Bold"/>
                <a:ea typeface="Nunito Ultra-Bold"/>
                <a:cs typeface="Nunito Ultra-Bold"/>
                <a:sym typeface="Nunito Ultra-Bold"/>
              </a:rPr>
              <a:t>CONTRIBUTION I: EXPLAINABLE BLACK-BOX CLUSTERING</a:t>
            </a:r>
          </a:p>
        </p:txBody>
      </p:sp>
      <p:sp>
        <p:nvSpPr>
          <p:cNvPr id="6" name="Rounded Rectangle 5"/>
          <p:cNvSpPr/>
          <p:nvPr/>
        </p:nvSpPr>
        <p:spPr>
          <a:xfrm>
            <a:off x="14516100"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7" name="TextBox 6"/>
          <p:cNvSpPr txBox="1"/>
          <p:nvPr/>
        </p:nvSpPr>
        <p:spPr>
          <a:xfrm>
            <a:off x="14516100"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1</a:t>
            </a:r>
          </a:p>
        </p:txBody>
      </p:sp>
      <p:sp>
        <p:nvSpPr>
          <p:cNvPr id="8" name="Rounded Rectangle 7"/>
          <p:cNvSpPr/>
          <p:nvPr/>
        </p:nvSpPr>
        <p:spPr>
          <a:xfrm>
            <a:off x="14918436"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9" name="TextBox 8"/>
          <p:cNvSpPr txBox="1"/>
          <p:nvPr/>
        </p:nvSpPr>
        <p:spPr>
          <a:xfrm>
            <a:off x="14918436"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2</a:t>
            </a:r>
          </a:p>
        </p:txBody>
      </p:sp>
      <p:sp>
        <p:nvSpPr>
          <p:cNvPr id="10" name="Rounded Rectangle 9"/>
          <p:cNvSpPr/>
          <p:nvPr/>
        </p:nvSpPr>
        <p:spPr>
          <a:xfrm>
            <a:off x="15320772"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11" name="TextBox 10"/>
          <p:cNvSpPr txBox="1"/>
          <p:nvPr/>
        </p:nvSpPr>
        <p:spPr>
          <a:xfrm>
            <a:off x="15320772"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3</a:t>
            </a:r>
          </a:p>
        </p:txBody>
      </p:sp>
      <p:sp>
        <p:nvSpPr>
          <p:cNvPr id="12" name="Rounded Rectangle 11"/>
          <p:cNvSpPr/>
          <p:nvPr/>
        </p:nvSpPr>
        <p:spPr>
          <a:xfrm>
            <a:off x="15723108" y="1371600"/>
            <a:ext cx="329184" cy="329184"/>
          </a:xfrm>
          <a:prstGeom prst="roundRect">
            <a:avLst>
              <a:gd name="adj" fmla="val 16666"/>
            </a:avLst>
          </a:prstGeom>
          <a:solidFill>
            <a:srgbClr val="4472C4"/>
          </a:solidFill>
          <a:ln w="15875">
            <a:solidFill>
              <a:srgbClr val="4472C4"/>
            </a:solidFill>
          </a:ln>
        </p:spPr>
        <p:txBody>
          <a:bodyPr anchor="ctr" rtlCol="false" lIns="0" tIns="0" rIns="0" bIns="0" wrap="square"/>
          <a:lstStyle/>
          <a:p>
            <a:endParaRPr lang="en-US" sz="1800"/>
          </a:p>
        </p:txBody>
      </p:sp>
      <p:sp>
        <p:nvSpPr>
          <p:cNvPr id="13" name="TextBox 12"/>
          <p:cNvSpPr txBox="1"/>
          <p:nvPr/>
        </p:nvSpPr>
        <p:spPr>
          <a:xfrm>
            <a:off x="15723108"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FFFFFF"/>
                </a:solidFill>
                <a:latin typeface="Nunito Ultra-Bold"/>
                <a:ea typeface="Nunito Ultra-Bold"/>
                <a:cs typeface="Nunito Ultra-Bold"/>
                <a:sym typeface="Nunito Ultra-Bold"/>
              </a:rPr>
              <a:t>4</a:t>
            </a:r>
          </a:p>
        </p:txBody>
      </p:sp>
      <p:sp>
        <p:nvSpPr>
          <p:cNvPr id="14" name="Rounded Rectangle 13"/>
          <p:cNvSpPr/>
          <p:nvPr/>
        </p:nvSpPr>
        <p:spPr>
          <a:xfrm>
            <a:off x="16125444"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15" name="TextBox 14"/>
          <p:cNvSpPr txBox="1"/>
          <p:nvPr/>
        </p:nvSpPr>
        <p:spPr>
          <a:xfrm>
            <a:off x="16125444"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5</a:t>
            </a:r>
          </a:p>
        </p:txBody>
      </p:sp>
      <p:sp>
        <p:nvSpPr>
          <p:cNvPr id="16" name="Rounded Rectangle 15"/>
          <p:cNvSpPr/>
          <p:nvPr/>
        </p:nvSpPr>
        <p:spPr>
          <a:xfrm>
            <a:off x="16527780"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17" name="TextBox 16"/>
          <p:cNvSpPr txBox="1"/>
          <p:nvPr/>
        </p:nvSpPr>
        <p:spPr>
          <a:xfrm>
            <a:off x="16527780"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6</a:t>
            </a:r>
          </a:p>
        </p:txBody>
      </p:sp>
      <p:sp>
        <p:nvSpPr>
          <p:cNvPr id="18" name="Rounded Rectangle 17"/>
          <p:cNvSpPr/>
          <p:nvPr/>
        </p:nvSpPr>
        <p:spPr>
          <a:xfrm>
            <a:off x="16930116"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19" name="TextBox 18"/>
          <p:cNvSpPr txBox="1"/>
          <p:nvPr/>
        </p:nvSpPr>
        <p:spPr>
          <a:xfrm>
            <a:off x="16930116"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7</a:t>
            </a:r>
          </a:p>
        </p:txBody>
      </p:sp>
      <p:sp>
        <p:nvSpPr>
          <p:cNvPr id="20" name="TextBox 19"/>
          <p:cNvSpPr txBox="1"/>
          <p:nvPr/>
        </p:nvSpPr>
        <p:spPr>
          <a:xfrm>
            <a:off x="1028700" y="1719072"/>
            <a:ext cx="16230600" cy="730250"/>
          </a:xfrm>
          <a:prstGeom prst="rect">
            <a:avLst/>
          </a:prstGeom>
          <a:noFill/>
        </p:spPr>
        <p:txBody>
          <a:bodyPr anchor="t" rtlCol="false" lIns="0" tIns="0" rIns="0" bIns="0" wrap="square"/>
          <a:lstStyle/>
          <a:p>
            <a:pPr algn="l">
              <a:lnSpc>
                <a:spcPts val="5060"/>
              </a:lnSpc>
              <a:spcBef>
                <a:spcPts val="0"/>
              </a:spcBef>
              <a:buNone/>
            </a:pPr>
            <a:r>
              <a:rPr lang="en-US" sz="4600" b="true" spc="-230">
                <a:solidFill>
                  <a:srgbClr val="111111"/>
                </a:solidFill>
                <a:latin typeface="Roca Two Bold"/>
                <a:ea typeface="Roca Two Bold"/>
                <a:cs typeface="Roca Two Bold"/>
                <a:sym typeface="Roca Two Bold"/>
              </a:rPr>
              <a:t>Choosing k: Interpretability over Geometry</a:t>
            </a:r>
          </a:p>
        </p:txBody>
      </p:sp>
      <p:sp>
        <p:nvSpPr>
          <p:cNvPr id="21" name="Rounded Rectangle 20"/>
          <p:cNvSpPr/>
          <p:nvPr/>
        </p:nvSpPr>
        <p:spPr>
          <a:xfrm>
            <a:off x="1028700" y="2559050"/>
            <a:ext cx="1691553" cy="420624"/>
          </a:xfrm>
          <a:prstGeom prst="roundRect">
            <a:avLst>
              <a:gd name="adj" fmla="val 50000"/>
            </a:avLst>
          </a:prstGeom>
          <a:noFill/>
          <a:ln w="28575">
            <a:solidFill>
              <a:srgbClr val="4472C4"/>
            </a:solidFill>
          </a:ln>
        </p:spPr>
        <p:txBody>
          <a:bodyPr anchor="ctr" rtlCol="false" lIns="45720" tIns="0" rIns="45720" bIns="0" wrap="square"/>
          <a:lstStyle/>
          <a:p>
            <a:pPr algn="ctr">
              <a:lnSpc>
                <a:spcPts val="2160"/>
              </a:lnSpc>
              <a:spcBef>
                <a:spcPts val="0"/>
              </a:spcBef>
              <a:buNone/>
            </a:pPr>
            <a:r>
              <a:rPr lang="en-US" sz="1800" b="true">
                <a:solidFill>
                  <a:srgbClr val="4472C4"/>
                </a:solidFill>
                <a:latin typeface="Nunito Bold"/>
                <a:ea typeface="Nunito Bold"/>
                <a:cs typeface="Nunito Bold"/>
                <a:sym typeface="Nunito Bold"/>
              </a:rPr>
              <a:t>Objectives</a:t>
            </a:r>
          </a:p>
        </p:txBody>
      </p:sp>
      <p:sp>
        <p:nvSpPr>
          <p:cNvPr id="22" name="Rounded Rectangle 21"/>
          <p:cNvSpPr/>
          <p:nvPr/>
        </p:nvSpPr>
        <p:spPr>
          <a:xfrm>
            <a:off x="2848269" y="2559050"/>
            <a:ext cx="1998119" cy="420624"/>
          </a:xfrm>
          <a:prstGeom prst="roundRect">
            <a:avLst>
              <a:gd name="adj" fmla="val 50000"/>
            </a:avLst>
          </a:prstGeom>
          <a:noFill/>
          <a:ln w="28575">
            <a:solidFill>
              <a:srgbClr val="4472C4"/>
            </a:solidFill>
          </a:ln>
        </p:spPr>
        <p:txBody>
          <a:bodyPr anchor="ctr" rtlCol="false" lIns="45720" tIns="0" rIns="45720" bIns="0" wrap="square"/>
          <a:lstStyle/>
          <a:p>
            <a:pPr algn="ctr">
              <a:lnSpc>
                <a:spcPts val="2160"/>
              </a:lnSpc>
              <a:spcBef>
                <a:spcPts val="0"/>
              </a:spcBef>
              <a:buNone/>
            </a:pPr>
            <a:r>
              <a:rPr lang="en-US" sz="1800" b="true">
                <a:solidFill>
                  <a:srgbClr val="4472C4"/>
                </a:solidFill>
                <a:latin typeface="Nunito Bold"/>
                <a:ea typeface="Nunito Bold"/>
                <a:cs typeface="Nunito Bold"/>
                <a:sym typeface="Nunito Bold"/>
              </a:rPr>
              <a:t>Methodology</a:t>
            </a:r>
          </a:p>
        </p:txBody>
      </p:sp>
      <p:sp>
        <p:nvSpPr>
          <p:cNvPr id="23" name="Rounded Rectangle 22"/>
          <p:cNvSpPr/>
          <p:nvPr/>
        </p:nvSpPr>
        <p:spPr>
          <a:xfrm>
            <a:off x="4974404" y="2559050"/>
            <a:ext cx="1369446" cy="420624"/>
          </a:xfrm>
          <a:prstGeom prst="roundRect">
            <a:avLst>
              <a:gd name="adj" fmla="val 50000"/>
            </a:avLst>
          </a:prstGeom>
          <a:solidFill>
            <a:srgbClr val="4472C4"/>
          </a:solidFill>
          <a:ln>
            <a:noFill/>
          </a:ln>
        </p:spPr>
        <p:txBody>
          <a:bodyPr anchor="ctr" rtlCol="false" lIns="45720" tIns="0" rIns="45720" bIns="0" wrap="square"/>
          <a:lstStyle/>
          <a:p>
            <a:pPr algn="ctr">
              <a:lnSpc>
                <a:spcPts val="2160"/>
              </a:lnSpc>
              <a:spcBef>
                <a:spcPts val="0"/>
              </a:spcBef>
              <a:buNone/>
            </a:pPr>
            <a:r>
              <a:rPr lang="en-US" sz="1800" b="true">
                <a:solidFill>
                  <a:srgbClr val="FFFFFF"/>
                </a:solidFill>
                <a:latin typeface="Nunito Bold"/>
                <a:ea typeface="Nunito Bold"/>
                <a:cs typeface="Nunito Bold"/>
                <a:sym typeface="Nunito Bold"/>
              </a:rPr>
              <a:t>Results</a:t>
            </a:r>
          </a:p>
        </p:txBody>
      </p:sp>
      <p:sp>
        <p:nvSpPr>
          <p:cNvPr id="24" name="Rounded Rectangle 23"/>
          <p:cNvSpPr/>
          <p:nvPr/>
        </p:nvSpPr>
        <p:spPr>
          <a:xfrm>
            <a:off x="6471866" y="2559050"/>
            <a:ext cx="1474931" cy="420624"/>
          </a:xfrm>
          <a:prstGeom prst="roundRect">
            <a:avLst>
              <a:gd name="adj" fmla="val 50000"/>
            </a:avLst>
          </a:prstGeom>
          <a:noFill/>
          <a:ln w="28575">
            <a:solidFill>
              <a:srgbClr val="4472C4"/>
            </a:solidFill>
          </a:ln>
        </p:spPr>
        <p:txBody>
          <a:bodyPr anchor="ctr" rtlCol="false" lIns="45720" tIns="0" rIns="45720" bIns="0" wrap="square"/>
          <a:lstStyle/>
          <a:p>
            <a:pPr algn="ctr">
              <a:lnSpc>
                <a:spcPts val="2160"/>
              </a:lnSpc>
              <a:spcBef>
                <a:spcPts val="0"/>
              </a:spcBef>
              <a:buNone/>
            </a:pPr>
            <a:r>
              <a:rPr lang="en-US" sz="1800" b="true">
                <a:solidFill>
                  <a:srgbClr val="4472C4"/>
                </a:solidFill>
                <a:latin typeface="Nunito Bold"/>
                <a:ea typeface="Nunito Bold"/>
                <a:cs typeface="Nunito Bold"/>
                <a:sym typeface="Nunito Bold"/>
              </a:rPr>
              <a:t>Findings</a:t>
            </a:r>
          </a:p>
        </p:txBody>
      </p:sp>
      <p:sp>
        <p:nvSpPr>
          <p:cNvPr id="25" name="TextBox 24"/>
          <p:cNvSpPr txBox="1"/>
          <p:nvPr/>
        </p:nvSpPr>
        <p:spPr>
          <a:xfrm>
            <a:off x="1028700" y="3363722"/>
            <a:ext cx="7863840" cy="5944870"/>
          </a:xfrm>
          <a:prstGeom prst="rect">
            <a:avLst/>
          </a:prstGeom>
          <a:noFill/>
        </p:spPr>
        <p:txBody>
          <a:bodyPr anchor="t" rtlCol="false" lIns="0" tIns="0" rIns="0" bIns="0" wrap="square"/>
          <a:lstStyle/>
          <a:p>
            <a:pPr algn="l" marL="274320" indent="-274320">
              <a:lnSpc>
                <a:spcPts val="2940"/>
              </a:lnSpc>
              <a:spcBef>
                <a:spcPts val="0"/>
              </a:spcBef>
              <a:buClr>
                <a:srgbClr val="1F7A8C"/>
              </a:buClr>
              <a:buSzPct val="100000"/>
              <a:buFont typeface="Arial"/>
              <a:buChar char="•"/>
            </a:pPr>
            <a:r>
              <a:rPr lang="en-US" sz="2100" b="true">
                <a:solidFill>
                  <a:srgbClr val="111111"/>
                </a:solidFill>
                <a:latin typeface="Nunito Semi-Bold"/>
                <a:ea typeface="Nunito Semi-Bold"/>
                <a:cs typeface="Nunito Semi-Bold"/>
                <a:sym typeface="Nunito Semi-Bold"/>
              </a:rPr>
              <a:t>Multi-criteria evaluation across </a:t>
            </a:r>
            <a:r>
              <a:rPr lang="en-US" sz="2100" b="true">
                <a:solidFill>
                  <a:srgbClr val="111111"/>
                </a:solidFill>
                <a:latin typeface="Nunito Bold"/>
                <a:ea typeface="Nunito Bold"/>
                <a:cs typeface="Nunito Bold"/>
                <a:sym typeface="Nunito Bold"/>
              </a:rPr>
              <a:t>k </a:t>
            </a:r>
            <a:r>
              <a:rPr lang="en-US" sz="2100" b="true">
                <a:solidFill>
                  <a:srgbClr val="111111"/>
                </a:solidFill>
                <a:latin typeface="Cambria Math"/>
                <a:ea typeface="Cambria Math"/>
                <a:cs typeface="Cambria Math"/>
                <a:sym typeface="Cambria Math"/>
              </a:rPr>
              <a:t>∈ </a:t>
            </a:r>
            <a:r>
              <a:rPr lang="en-US" sz="2100" b="true">
                <a:solidFill>
                  <a:srgbClr val="111111"/>
                </a:solidFill>
                <a:latin typeface="Nunito Bold"/>
                <a:ea typeface="Nunito Bold"/>
                <a:cs typeface="Nunito Bold"/>
                <a:sym typeface="Nunito Bold"/>
              </a:rPr>
              <a:t>{2 … 10}</a:t>
            </a:r>
            <a:r>
              <a:rPr lang="en-US" sz="2100" b="true">
                <a:solidFill>
                  <a:srgbClr val="111111"/>
                </a:solidFill>
                <a:latin typeface="Nunito Semi-Bold"/>
                <a:ea typeface="Nunito Semi-Bold"/>
                <a:cs typeface="Nunito Semi-Bold"/>
                <a:sym typeface="Nunito Semi-Bold"/>
              </a:rPr>
              <a:t> using elbow, Silhouette and Davies–Bouldin.</a:t>
            </a:r>
          </a:p>
          <a:p>
            <a:pPr algn="l" marL="274320" indent="-274320">
              <a:lnSpc>
                <a:spcPts val="3108"/>
              </a:lnSpc>
              <a:spcBef>
                <a:spcPts val="1000"/>
              </a:spcBef>
              <a:buClr>
                <a:srgbClr val="1F7A8C"/>
              </a:buClr>
              <a:buSzPct val="100000"/>
              <a:buFont typeface="Arial"/>
              <a:buChar char="•"/>
            </a:pPr>
            <a:r>
              <a:rPr lang="en-US" sz="2100" b="true">
                <a:solidFill>
                  <a:srgbClr val="111111"/>
                </a:solidFill>
                <a:latin typeface="Nunito Semi-Bold"/>
                <a:ea typeface="Nunito Semi-Bold"/>
                <a:cs typeface="Nunito Semi-Bold"/>
                <a:sym typeface="Nunito Semi-Bold"/>
              </a:rPr>
              <a:t>We select </a:t>
            </a:r>
            <a:r>
              <a:rPr lang="en-US" sz="2100" b="true">
                <a:solidFill>
                  <a:srgbClr val="111111"/>
                </a:solidFill>
                <a:latin typeface="Nunito Bold"/>
                <a:ea typeface="Nunito Bold"/>
                <a:cs typeface="Nunito Bold"/>
                <a:sym typeface="Nunito Bold"/>
              </a:rPr>
              <a:t>k</a:t>
            </a:r>
            <a:r>
              <a:rPr lang="en-US" sz="2100" b="true" baseline="30000">
                <a:solidFill>
                  <a:srgbClr val="111111"/>
                </a:solidFill>
                <a:latin typeface="Nunito Bold"/>
                <a:ea typeface="Nunito Bold"/>
                <a:cs typeface="Nunito Bold"/>
                <a:sym typeface="Nunito Bold"/>
              </a:rPr>
              <a:t>*</a:t>
            </a:r>
            <a:r>
              <a:rPr lang="en-US" sz="2100" b="true">
                <a:solidFill>
                  <a:srgbClr val="111111"/>
                </a:solidFill>
                <a:latin typeface="Nunito Bold"/>
                <a:ea typeface="Nunito Bold"/>
                <a:cs typeface="Nunito Bold"/>
                <a:sym typeface="Nunito Bold"/>
              </a:rPr>
              <a:t> = 3, even though it is NOT the best geometry</a:t>
            </a:r>
            <a:r>
              <a:rPr lang="en-US" sz="2100" b="true">
                <a:solidFill>
                  <a:srgbClr val="111111"/>
                </a:solidFill>
                <a:latin typeface="Nunito Semi-Bold"/>
                <a:ea typeface="Nunito Semi-Bold"/>
                <a:cs typeface="Nunito Semi-Bold"/>
                <a:sym typeface="Nunito Semi-Bold"/>
              </a:rPr>
              <a:t>.</a:t>
            </a:r>
          </a:p>
          <a:p>
            <a:pPr algn="l" marL="658368" indent="-256032">
              <a:lnSpc>
                <a:spcPts val="2660"/>
              </a:lnSpc>
              <a:spcBef>
                <a:spcPts val="300"/>
              </a:spcBef>
              <a:buClr>
                <a:srgbClr val="4472C4"/>
              </a:buClr>
              <a:buSzPct val="100000"/>
              <a:buFont typeface="Arial"/>
              <a:buChar char="–"/>
            </a:pPr>
            <a:r>
              <a:rPr lang="en-US" sz="1900" b="true">
                <a:solidFill>
                  <a:srgbClr val="111111"/>
                </a:solidFill>
                <a:latin typeface="Nunito Semi-Bold"/>
                <a:ea typeface="Nunito Semi-Bold"/>
                <a:cs typeface="Nunito Semi-Bold"/>
                <a:sym typeface="Nunito Semi-Bold"/>
              </a:rPr>
              <a:t>k = 2: Silhouette 0.214, Davies–Bouldin 1.775 (better separation).</a:t>
            </a:r>
          </a:p>
          <a:p>
            <a:pPr algn="l" marL="658368" indent="-256032">
              <a:lnSpc>
                <a:spcPts val="2660"/>
              </a:lnSpc>
              <a:spcBef>
                <a:spcPts val="300"/>
              </a:spcBef>
              <a:buClr>
                <a:srgbClr val="4472C4"/>
              </a:buClr>
              <a:buSzPct val="100000"/>
              <a:buFont typeface="Arial"/>
              <a:buChar char="–"/>
            </a:pPr>
            <a:r>
              <a:rPr lang="en-US" sz="1900" b="true">
                <a:solidFill>
                  <a:srgbClr val="111111"/>
                </a:solidFill>
                <a:latin typeface="Nunito Semi-Bold"/>
                <a:ea typeface="Nunito Semi-Bold"/>
                <a:cs typeface="Nunito Semi-Bold"/>
                <a:sym typeface="Nunito Semi-Bold"/>
              </a:rPr>
              <a:t>k = 3: Silhouette 0.144, Davies–Bouldin 2.097 (weaker separation).</a:t>
            </a:r>
          </a:p>
          <a:p>
            <a:pPr algn="l" marL="274320" indent="-274320">
              <a:lnSpc>
                <a:spcPts val="2940"/>
              </a:lnSpc>
              <a:spcBef>
                <a:spcPts val="1000"/>
              </a:spcBef>
              <a:buClr>
                <a:srgbClr val="1F7A8C"/>
              </a:buClr>
              <a:buSzPct val="100000"/>
              <a:buFont typeface="Arial"/>
              <a:buChar char="•"/>
            </a:pPr>
            <a:r>
              <a:rPr lang="en-US" sz="2100" b="true">
                <a:solidFill>
                  <a:srgbClr val="111111"/>
                </a:solidFill>
                <a:latin typeface="Nunito Bold"/>
                <a:ea typeface="Nunito Bold"/>
                <a:cs typeface="Nunito Bold"/>
                <a:sym typeface="Nunito Bold"/>
              </a:rPr>
              <a:t>Why:</a:t>
            </a:r>
            <a:r>
              <a:rPr lang="en-US" sz="2100" b="true">
                <a:solidFill>
                  <a:srgbClr val="111111"/>
                </a:solidFill>
                <a:latin typeface="Nunito Semi-Bold"/>
                <a:ea typeface="Nunito Semi-Bold"/>
                <a:cs typeface="Nunito Semi-Bold"/>
                <a:sym typeface="Nunito Semi-Bold"/>
              </a:rPr>
              <a:t> three clusters give a richer, more meaningful wine partition </a:t>
            </a:r>
            <a:r>
              <a:rPr lang="en-US" sz="2100" b="true">
                <a:solidFill>
                  <a:srgbClr val="111111"/>
                </a:solidFill>
                <a:latin typeface="Calibri"/>
                <a:ea typeface="Calibri"/>
                <a:cs typeface="Calibri"/>
                <a:sym typeface="Calibri"/>
              </a:rPr>
              <a:t>→ </a:t>
            </a:r>
            <a:r>
              <a:rPr lang="en-US" sz="2100" b="true">
                <a:solidFill>
                  <a:srgbClr val="111111"/>
                </a:solidFill>
                <a:latin typeface="Nunito Bold"/>
                <a:ea typeface="Nunito Bold"/>
                <a:cs typeface="Nunito Bold"/>
                <a:sym typeface="Nunito Bold"/>
              </a:rPr>
              <a:t>more actionable</a:t>
            </a:r>
            <a:r>
              <a:rPr lang="en-US" sz="2100" b="true">
                <a:solidFill>
                  <a:srgbClr val="111111"/>
                </a:solidFill>
                <a:latin typeface="Nunito Semi-Bold"/>
                <a:ea typeface="Nunito Semi-Bold"/>
                <a:cs typeface="Nunito Semi-Bold"/>
                <a:sym typeface="Nunito Semi-Bold"/>
              </a:rPr>
              <a:t>.</a:t>
            </a:r>
          </a:p>
          <a:p>
            <a:pPr algn="l" marL="274320" indent="-274320">
              <a:lnSpc>
                <a:spcPts val="2940"/>
              </a:lnSpc>
              <a:spcBef>
                <a:spcPts val="1000"/>
              </a:spcBef>
              <a:buClr>
                <a:srgbClr val="1F7A8C"/>
              </a:buClr>
              <a:buSzPct val="100000"/>
              <a:buFont typeface="Arial"/>
              <a:buChar char="•"/>
            </a:pPr>
            <a:r>
              <a:rPr lang="en-US" sz="2100" b="true">
                <a:solidFill>
                  <a:srgbClr val="111111"/>
                </a:solidFill>
                <a:latin typeface="Nunito Semi-Bold"/>
                <a:ea typeface="Nunito Semi-Bold"/>
                <a:cs typeface="Nunito Semi-Bold"/>
                <a:sym typeface="Nunito Semi-Bold"/>
              </a:rPr>
              <a:t>Note: the higher Silhouette ≈ 0.63 belongs to Beijing (C2), not to this wine partition.</a:t>
            </a:r>
          </a:p>
        </p:txBody>
      </p:sp>
      <p:graphicFrame>
        <p:nvGraphicFramePr>
          <p:cNvPr id="26" name="Table 25"/>
          <p:cNvGraphicFramePr>
            <a:graphicFrameLocks noGrp="1"/>
          </p:cNvGraphicFramePr>
          <p:nvPr/>
        </p:nvGraphicFramePr>
        <p:xfrm>
          <a:off x="9441180" y="3363722"/>
          <a:ext cx="7818120" cy="2284984"/>
        </p:xfrm>
        <a:graphic>
          <a:graphicData uri="http://schemas.openxmlformats.org/drawingml/2006/table">
            <a:tbl>
              <a:tblPr firstRow="0" bandRow="0" firstCol="0" lastRow="0" lastCol="0" bandCol="0">
                <a:tableStyleId>{2D5ABB26-0587-4C30-8999-92F81FD0307C}</a:tableStyleId>
              </a:tblPr>
              <a:tblGrid>
                <a:gridCol w="977265"/>
                <a:gridCol w="1563624"/>
                <a:gridCol w="1954530"/>
                <a:gridCol w="3322701"/>
              </a:tblGrid>
              <a:tr h="776732">
                <a:tc>
                  <a:txBody>
                    <a:bodyPr anchor="ctr" rtlCol="false" lIns="0" tIns="0" rIns="0" bIns="0" wrap="square"/>
                    <a:lstStyle/>
                    <a:p>
                      <a:pPr algn="ctr">
                        <a:lnSpc>
                          <a:spcPts val="2210"/>
                        </a:lnSpc>
                        <a:spcBef>
                          <a:spcPts val="0"/>
                        </a:spcBef>
                        <a:buNone/>
                      </a:pPr>
                      <a:r>
                        <a:rPr lang="en-US" sz="1700" b="true">
                          <a:solidFill>
                            <a:srgbClr val="FFFFFF"/>
                          </a:solidFill>
                          <a:latin typeface="Nunito Bold"/>
                          <a:ea typeface="Nunito Bold"/>
                          <a:cs typeface="Nunito Bold"/>
                          <a:sym typeface="Nunito Bold"/>
                        </a:rPr>
                        <a:t>k</a:t>
                      </a:r>
                    </a:p>
                  </a:txBody>
                  <a:tcPr marL="82296" marR="82296" marT="45720" marB="45720" anchor="ctr">
                    <a:lnL w="12700" cap="flat" cmpd="sng" algn="ctr">
                      <a:solidFill>
                        <a:srgbClr val="4472C4"/>
                      </a:solidFill>
                      <a:prstDash val="solid"/>
                    </a:lnL>
                    <a:lnR w="12700" cap="flat" cmpd="sng" algn="ctr">
                      <a:solidFill>
                        <a:srgbClr val="4472C4"/>
                      </a:solidFill>
                      <a:prstDash val="solid"/>
                    </a:lnR>
                    <a:lnT w="12700" cap="flat" cmpd="sng" algn="ctr">
                      <a:solidFill>
                        <a:srgbClr val="4472C4"/>
                      </a:solidFill>
                      <a:prstDash val="solid"/>
                    </a:lnT>
                    <a:lnB w="12700" cap="flat" cmpd="sng" algn="ctr">
                      <a:solidFill>
                        <a:srgbClr val="4472C4"/>
                      </a:solidFill>
                      <a:prstDash val="solid"/>
                    </a:lnB>
                    <a:solidFill>
                      <a:srgbClr val="4472C4"/>
                    </a:solidFill>
                  </a:tcPr>
                </a:tc>
                <a:tc>
                  <a:txBody>
                    <a:bodyPr anchor="ctr" rtlCol="false" lIns="0" tIns="0" rIns="0" bIns="0" wrap="square"/>
                    <a:lstStyle/>
                    <a:p>
                      <a:pPr algn="ctr">
                        <a:lnSpc>
                          <a:spcPts val="2210"/>
                        </a:lnSpc>
                        <a:spcBef>
                          <a:spcPts val="0"/>
                        </a:spcBef>
                        <a:buNone/>
                      </a:pPr>
                      <a:r>
                        <a:rPr lang="en-US" sz="1700" b="true">
                          <a:solidFill>
                            <a:srgbClr val="FFFFFF"/>
                          </a:solidFill>
                          <a:latin typeface="Nunito Bold"/>
                          <a:ea typeface="Nunito Bold"/>
                          <a:cs typeface="Nunito Bold"/>
                          <a:sym typeface="Nunito Bold"/>
                        </a:rPr>
                        <a:t>Silhouette </a:t>
                      </a:r>
                      <a:r>
                        <a:rPr lang="en-US" sz="1700" b="true">
                          <a:solidFill>
                            <a:srgbClr val="FFFFFF"/>
                          </a:solidFill>
                          <a:latin typeface="Calibri"/>
                          <a:ea typeface="Calibri"/>
                          <a:cs typeface="Calibri"/>
                          <a:sym typeface="Calibri"/>
                        </a:rPr>
                        <a:t>↑</a:t>
                      </a:r>
                    </a:p>
                  </a:txBody>
                  <a:tcPr marL="82296" marR="82296" marT="45720" marB="45720" anchor="ctr">
                    <a:lnL w="12700" cap="flat" cmpd="sng" algn="ctr">
                      <a:solidFill>
                        <a:srgbClr val="4472C4"/>
                      </a:solidFill>
                      <a:prstDash val="solid"/>
                    </a:lnL>
                    <a:lnR w="12700" cap="flat" cmpd="sng" algn="ctr">
                      <a:solidFill>
                        <a:srgbClr val="4472C4"/>
                      </a:solidFill>
                      <a:prstDash val="solid"/>
                    </a:lnR>
                    <a:lnT w="12700" cap="flat" cmpd="sng" algn="ctr">
                      <a:solidFill>
                        <a:srgbClr val="4472C4"/>
                      </a:solidFill>
                      <a:prstDash val="solid"/>
                    </a:lnT>
                    <a:lnB w="12700" cap="flat" cmpd="sng" algn="ctr">
                      <a:solidFill>
                        <a:srgbClr val="4472C4"/>
                      </a:solidFill>
                      <a:prstDash val="solid"/>
                    </a:lnB>
                    <a:solidFill>
                      <a:srgbClr val="4472C4"/>
                    </a:solidFill>
                  </a:tcPr>
                </a:tc>
                <a:tc>
                  <a:txBody>
                    <a:bodyPr anchor="ctr" rtlCol="false" lIns="0" tIns="0" rIns="0" bIns="0" wrap="square"/>
                    <a:lstStyle/>
                    <a:p>
                      <a:pPr algn="ctr">
                        <a:lnSpc>
                          <a:spcPts val="2210"/>
                        </a:lnSpc>
                        <a:spcBef>
                          <a:spcPts val="0"/>
                        </a:spcBef>
                        <a:buNone/>
                      </a:pPr>
                      <a:r>
                        <a:rPr lang="en-US" sz="1700" b="true">
                          <a:solidFill>
                            <a:srgbClr val="FFFFFF"/>
                          </a:solidFill>
                          <a:latin typeface="Nunito Bold"/>
                          <a:ea typeface="Nunito Bold"/>
                          <a:cs typeface="Nunito Bold"/>
                          <a:sym typeface="Nunito Bold"/>
                        </a:rPr>
                        <a:t>Davies–Bouldin </a:t>
                      </a:r>
                      <a:r>
                        <a:rPr lang="en-US" sz="1700" b="true">
                          <a:solidFill>
                            <a:srgbClr val="FFFFFF"/>
                          </a:solidFill>
                          <a:latin typeface="Calibri"/>
                          <a:ea typeface="Calibri"/>
                          <a:cs typeface="Calibri"/>
                          <a:sym typeface="Calibri"/>
                        </a:rPr>
                        <a:t>↓</a:t>
                      </a:r>
                    </a:p>
                  </a:txBody>
                  <a:tcPr marL="82296" marR="82296" marT="45720" marB="45720" anchor="ctr">
                    <a:lnL w="12700" cap="flat" cmpd="sng" algn="ctr">
                      <a:solidFill>
                        <a:srgbClr val="4472C4"/>
                      </a:solidFill>
                      <a:prstDash val="solid"/>
                    </a:lnL>
                    <a:lnR w="12700" cap="flat" cmpd="sng" algn="ctr">
                      <a:solidFill>
                        <a:srgbClr val="4472C4"/>
                      </a:solidFill>
                      <a:prstDash val="solid"/>
                    </a:lnR>
                    <a:lnT w="12700" cap="flat" cmpd="sng" algn="ctr">
                      <a:solidFill>
                        <a:srgbClr val="4472C4"/>
                      </a:solidFill>
                      <a:prstDash val="solid"/>
                    </a:lnT>
                    <a:lnB w="12700" cap="flat" cmpd="sng" algn="ctr">
                      <a:solidFill>
                        <a:srgbClr val="4472C4"/>
                      </a:solidFill>
                      <a:prstDash val="solid"/>
                    </a:lnB>
                    <a:solidFill>
                      <a:srgbClr val="4472C4"/>
                    </a:solidFill>
                  </a:tcPr>
                </a:tc>
                <a:tc>
                  <a:txBody>
                    <a:bodyPr anchor="ctr" rtlCol="false" lIns="0" tIns="0" rIns="0" bIns="0" wrap="square"/>
                    <a:lstStyle/>
                    <a:p>
                      <a:pPr algn="l">
                        <a:lnSpc>
                          <a:spcPts val="2210"/>
                        </a:lnSpc>
                        <a:spcBef>
                          <a:spcPts val="0"/>
                        </a:spcBef>
                        <a:buNone/>
                      </a:pPr>
                      <a:r>
                        <a:rPr lang="en-US" sz="1700" b="true">
                          <a:solidFill>
                            <a:srgbClr val="FFFFFF"/>
                          </a:solidFill>
                          <a:latin typeface="Nunito Bold"/>
                          <a:ea typeface="Nunito Bold"/>
                          <a:cs typeface="Nunito Bold"/>
                          <a:sym typeface="Nunito Bold"/>
                        </a:rPr>
                        <a:t>Reading</a:t>
                      </a:r>
                    </a:p>
                  </a:txBody>
                  <a:tcPr marL="82296" marR="82296" marT="45720" marB="45720" anchor="ctr">
                    <a:lnL w="12700" cap="flat" cmpd="sng" algn="ctr">
                      <a:solidFill>
                        <a:srgbClr val="4472C4"/>
                      </a:solidFill>
                      <a:prstDash val="solid"/>
                    </a:lnL>
                    <a:lnR w="12700" cap="flat" cmpd="sng" algn="ctr">
                      <a:solidFill>
                        <a:srgbClr val="4472C4"/>
                      </a:solidFill>
                      <a:prstDash val="solid"/>
                    </a:lnR>
                    <a:lnT w="12700" cap="flat" cmpd="sng" algn="ctr">
                      <a:solidFill>
                        <a:srgbClr val="4472C4"/>
                      </a:solidFill>
                      <a:prstDash val="solid"/>
                    </a:lnT>
                    <a:lnB w="12700" cap="flat" cmpd="sng" algn="ctr">
                      <a:solidFill>
                        <a:srgbClr val="4472C4"/>
                      </a:solidFill>
                      <a:prstDash val="solid"/>
                    </a:lnB>
                    <a:solidFill>
                      <a:srgbClr val="4472C4"/>
                    </a:solidFill>
                  </a:tcPr>
                </a:tc>
              </a:tr>
              <a:tr h="776732">
                <a:tc>
                  <a:txBody>
                    <a:bodyPr anchor="ctr" rtlCol="false" lIns="0" tIns="0" rIns="0" bIns="0" wrap="square"/>
                    <a:lstStyle/>
                    <a:p>
                      <a:pPr algn="ctr">
                        <a:lnSpc>
                          <a:spcPts val="2210"/>
                        </a:lnSpc>
                        <a:spcBef>
                          <a:spcPts val="0"/>
                        </a:spcBef>
                        <a:buNone/>
                      </a:pPr>
                      <a:r>
                        <a:rPr lang="en-US" sz="1700" b="true">
                          <a:solidFill>
                            <a:srgbClr val="111111"/>
                          </a:solidFill>
                          <a:latin typeface="Nunito Bold"/>
                          <a:ea typeface="Nunito Bold"/>
                          <a:cs typeface="Nunito Bold"/>
                          <a:sym typeface="Nunito Bold"/>
                        </a:rPr>
                        <a:t>2</a:t>
                      </a:r>
                    </a:p>
                  </a:txBody>
                  <a:tcPr marL="82296" marR="82296"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c>
                  <a:txBody>
                    <a:bodyPr anchor="ctr" rtlCol="false" lIns="0" tIns="0" rIns="0" bIns="0" wrap="square"/>
                    <a:lstStyle/>
                    <a:p>
                      <a:pPr algn="ctr">
                        <a:lnSpc>
                          <a:spcPts val="2210"/>
                        </a:lnSpc>
                        <a:spcBef>
                          <a:spcPts val="0"/>
                        </a:spcBef>
                        <a:buNone/>
                      </a:pPr>
                      <a:r>
                        <a:rPr lang="en-US" sz="1700" b="true">
                          <a:solidFill>
                            <a:srgbClr val="111111"/>
                          </a:solidFill>
                          <a:latin typeface="Nunito Semi-Bold"/>
                          <a:ea typeface="Nunito Semi-Bold"/>
                          <a:cs typeface="Nunito Semi-Bold"/>
                          <a:sym typeface="Nunito Semi-Bold"/>
                        </a:rPr>
                        <a:t>0.214</a:t>
                      </a:r>
                    </a:p>
                  </a:txBody>
                  <a:tcPr marL="82296" marR="82296"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c>
                  <a:txBody>
                    <a:bodyPr anchor="ctr" rtlCol="false" lIns="0" tIns="0" rIns="0" bIns="0" wrap="square"/>
                    <a:lstStyle/>
                    <a:p>
                      <a:pPr algn="ctr">
                        <a:lnSpc>
                          <a:spcPts val="2210"/>
                        </a:lnSpc>
                        <a:spcBef>
                          <a:spcPts val="0"/>
                        </a:spcBef>
                        <a:buNone/>
                      </a:pPr>
                      <a:r>
                        <a:rPr lang="en-US" sz="1700" b="true">
                          <a:solidFill>
                            <a:srgbClr val="111111"/>
                          </a:solidFill>
                          <a:latin typeface="Nunito Semi-Bold"/>
                          <a:ea typeface="Nunito Semi-Bold"/>
                          <a:cs typeface="Nunito Semi-Bold"/>
                          <a:sym typeface="Nunito Semi-Bold"/>
                        </a:rPr>
                        <a:t>1.775</a:t>
                      </a:r>
                    </a:p>
                  </a:txBody>
                  <a:tcPr marL="82296" marR="82296"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c>
                  <a:txBody>
                    <a:bodyPr anchor="ctr" rtlCol="false" lIns="0" tIns="0" rIns="0" bIns="0" wrap="square"/>
                    <a:lstStyle/>
                    <a:p>
                      <a:pPr algn="l">
                        <a:lnSpc>
                          <a:spcPts val="2210"/>
                        </a:lnSpc>
                        <a:spcBef>
                          <a:spcPts val="0"/>
                        </a:spcBef>
                        <a:buNone/>
                      </a:pPr>
                      <a:r>
                        <a:rPr lang="en-US" sz="1700" b="true">
                          <a:solidFill>
                            <a:srgbClr val="111111"/>
                          </a:solidFill>
                          <a:latin typeface="Nunito Semi-Bold"/>
                          <a:ea typeface="Nunito Semi-Bold"/>
                          <a:cs typeface="Nunito Semi-Bold"/>
                          <a:sym typeface="Nunito Semi-Bold"/>
                        </a:rPr>
                        <a:t>best geometry, coarse meaning</a:t>
                      </a:r>
                    </a:p>
                  </a:txBody>
                  <a:tcPr marL="82296" marR="82296"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r>
              <a:tr h="731520">
                <a:tc>
                  <a:txBody>
                    <a:bodyPr anchor="ctr" rtlCol="false" lIns="0" tIns="0" rIns="0" bIns="0" wrap="square"/>
                    <a:lstStyle/>
                    <a:p>
                      <a:pPr algn="ctr">
                        <a:lnSpc>
                          <a:spcPts val="2210"/>
                        </a:lnSpc>
                        <a:spcBef>
                          <a:spcPts val="0"/>
                        </a:spcBef>
                        <a:buNone/>
                      </a:pPr>
                      <a:r>
                        <a:rPr lang="en-US" sz="1700" b="true">
                          <a:solidFill>
                            <a:srgbClr val="111111"/>
                          </a:solidFill>
                          <a:latin typeface="Nunito Bold"/>
                          <a:ea typeface="Nunito Bold"/>
                          <a:cs typeface="Nunito Bold"/>
                          <a:sym typeface="Nunito Bold"/>
                        </a:rPr>
                        <a:t>3 </a:t>
                      </a:r>
                      <a:r>
                        <a:rPr lang="en-US" sz="1700" b="true">
                          <a:solidFill>
                            <a:srgbClr val="111111"/>
                          </a:solidFill>
                          <a:latin typeface="Cambria Math"/>
                          <a:ea typeface="Cambria Math"/>
                          <a:cs typeface="Cambria Math"/>
                          <a:sym typeface="Cambria Math"/>
                        </a:rPr>
                        <a:t>★</a:t>
                      </a:r>
                    </a:p>
                  </a:txBody>
                  <a:tcPr marL="82296" marR="82296"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6ECDF"/>
                    </a:solidFill>
                  </a:tcPr>
                </a:tc>
                <a:tc>
                  <a:txBody>
                    <a:bodyPr anchor="ctr" rtlCol="false" lIns="0" tIns="0" rIns="0" bIns="0" wrap="square"/>
                    <a:lstStyle/>
                    <a:p>
                      <a:pPr algn="ctr">
                        <a:lnSpc>
                          <a:spcPts val="2210"/>
                        </a:lnSpc>
                        <a:spcBef>
                          <a:spcPts val="0"/>
                        </a:spcBef>
                        <a:buNone/>
                      </a:pPr>
                      <a:r>
                        <a:rPr lang="en-US" sz="1700" b="true">
                          <a:solidFill>
                            <a:srgbClr val="111111"/>
                          </a:solidFill>
                          <a:latin typeface="Nunito Semi-Bold"/>
                          <a:ea typeface="Nunito Semi-Bold"/>
                          <a:cs typeface="Nunito Semi-Bold"/>
                          <a:sym typeface="Nunito Semi-Bold"/>
                        </a:rPr>
                        <a:t>0.144</a:t>
                      </a:r>
                    </a:p>
                  </a:txBody>
                  <a:tcPr marL="82296" marR="82296"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6ECDF"/>
                    </a:solidFill>
                  </a:tcPr>
                </a:tc>
                <a:tc>
                  <a:txBody>
                    <a:bodyPr anchor="ctr" rtlCol="false" lIns="0" tIns="0" rIns="0" bIns="0" wrap="square"/>
                    <a:lstStyle/>
                    <a:p>
                      <a:pPr algn="ctr">
                        <a:lnSpc>
                          <a:spcPts val="2210"/>
                        </a:lnSpc>
                        <a:spcBef>
                          <a:spcPts val="0"/>
                        </a:spcBef>
                        <a:buNone/>
                      </a:pPr>
                      <a:r>
                        <a:rPr lang="en-US" sz="1700" b="true">
                          <a:solidFill>
                            <a:srgbClr val="111111"/>
                          </a:solidFill>
                          <a:latin typeface="Nunito Semi-Bold"/>
                          <a:ea typeface="Nunito Semi-Bold"/>
                          <a:cs typeface="Nunito Semi-Bold"/>
                          <a:sym typeface="Nunito Semi-Bold"/>
                        </a:rPr>
                        <a:t>2.097</a:t>
                      </a:r>
                    </a:p>
                  </a:txBody>
                  <a:tcPr marL="82296" marR="82296"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6ECDF"/>
                    </a:solidFill>
                  </a:tcPr>
                </a:tc>
                <a:tc>
                  <a:txBody>
                    <a:bodyPr anchor="ctr" rtlCol="false" lIns="0" tIns="0" rIns="0" bIns="0" wrap="square"/>
                    <a:lstStyle/>
                    <a:p>
                      <a:pPr algn="l">
                        <a:lnSpc>
                          <a:spcPts val="2210"/>
                        </a:lnSpc>
                        <a:spcBef>
                          <a:spcPts val="0"/>
                        </a:spcBef>
                        <a:buNone/>
                      </a:pPr>
                      <a:r>
                        <a:rPr lang="en-US" sz="1700" b="true">
                          <a:solidFill>
                            <a:srgbClr val="111111"/>
                          </a:solidFill>
                          <a:latin typeface="Nunito Semi-Bold"/>
                          <a:ea typeface="Nunito Semi-Bold"/>
                          <a:cs typeface="Nunito Semi-Bold"/>
                          <a:sym typeface="Nunito Semi-Bold"/>
                        </a:rPr>
                        <a:t>richer wine partition · selected</a:t>
                      </a:r>
                    </a:p>
                  </a:txBody>
                  <a:tcPr marL="82296" marR="82296"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6ECDF"/>
                    </a:solidFill>
                  </a:tcPr>
                </a:tc>
              </a:tr>
            </a:tbl>
          </a:graphicData>
        </a:graphic>
      </p:graphicFrame>
      <p:sp>
        <p:nvSpPr>
          <p:cNvPr id="27" name="Rounded Rectangle 26"/>
          <p:cNvSpPr/>
          <p:nvPr/>
        </p:nvSpPr>
        <p:spPr>
          <a:xfrm>
            <a:off x="9441180" y="6014466"/>
            <a:ext cx="3771900" cy="3294126"/>
          </a:xfrm>
          <a:prstGeom prst="roundRect">
            <a:avLst>
              <a:gd name="adj" fmla="val 8327"/>
            </a:avLst>
          </a:prstGeom>
          <a:solidFill>
            <a:srgbClr val="4472C4"/>
          </a:solidFill>
          <a:ln>
            <a:noFill/>
          </a:ln>
        </p:spPr>
        <p:txBody>
          <a:bodyPr anchor="ctr" rtlCol="false" lIns="137160" tIns="91440" rIns="137160" bIns="91440" wrap="square"/>
          <a:lstStyle/>
          <a:p>
            <a:pPr algn="ctr">
              <a:lnSpc>
                <a:spcPts val="4400"/>
              </a:lnSpc>
              <a:spcBef>
                <a:spcPts val="0"/>
              </a:spcBef>
              <a:buNone/>
            </a:pPr>
            <a:r>
              <a:rPr lang="en-US" sz="4000" b="true">
                <a:solidFill>
                  <a:srgbClr val="ECC665"/>
                </a:solidFill>
                <a:latin typeface="Nunito Ultra-Bold"/>
                <a:ea typeface="Nunito Ultra-Bold"/>
                <a:cs typeface="Nunito Ultra-Bold"/>
                <a:sym typeface="Nunito Ultra-Bold"/>
              </a:rPr>
              <a:t>k</a:t>
            </a:r>
            <a:r>
              <a:rPr lang="en-US" sz="4000" b="true" baseline="30000">
                <a:solidFill>
                  <a:srgbClr val="ECC665"/>
                </a:solidFill>
                <a:latin typeface="Nunito Ultra-Bold"/>
                <a:ea typeface="Nunito Ultra-Bold"/>
                <a:cs typeface="Nunito Ultra-Bold"/>
                <a:sym typeface="Nunito Ultra-Bold"/>
              </a:rPr>
              <a:t>*</a:t>
            </a:r>
            <a:r>
              <a:rPr lang="en-US" sz="4000" b="true">
                <a:solidFill>
                  <a:srgbClr val="ECC665"/>
                </a:solidFill>
                <a:latin typeface="Nunito Ultra-Bold"/>
                <a:ea typeface="Nunito Ultra-Bold"/>
                <a:cs typeface="Nunito Ultra-Bold"/>
                <a:sym typeface="Nunito Ultra-Bold"/>
              </a:rPr>
              <a:t> = 3</a:t>
            </a:r>
          </a:p>
          <a:p>
            <a:pPr algn="ctr">
              <a:lnSpc>
                <a:spcPts val="2125"/>
              </a:lnSpc>
              <a:spcBef>
                <a:spcPts val="400"/>
              </a:spcBef>
              <a:buNone/>
            </a:pPr>
            <a:r>
              <a:rPr lang="en-US" sz="1700" b="true">
                <a:solidFill>
                  <a:srgbClr val="FFFFFF"/>
                </a:solidFill>
                <a:latin typeface="Nunito Semi-Bold"/>
                <a:ea typeface="Nunito Semi-Bold"/>
                <a:cs typeface="Nunito Semi-Bold"/>
                <a:sym typeface="Nunito Semi-Bold"/>
              </a:rPr>
              <a:t>chosen on </a:t>
            </a:r>
            <a:r>
              <a:rPr lang="en-US" sz="1700" b="true">
                <a:solidFill>
                  <a:srgbClr val="FFFFFF"/>
                </a:solidFill>
                <a:latin typeface="Nunito Bold"/>
                <a:ea typeface="Nunito Bold"/>
                <a:cs typeface="Nunito Bold"/>
                <a:sym typeface="Nunito Bold"/>
              </a:rPr>
              <a:t>interpretability</a:t>
            </a:r>
            <a:r>
              <a:rPr lang="en-US" sz="1700" b="true">
                <a:solidFill>
                  <a:srgbClr val="FFFFFF"/>
                </a:solidFill>
                <a:latin typeface="Nunito Semi-Bold"/>
                <a:ea typeface="Nunito Semi-Bold"/>
                <a:cs typeface="Nunito Semi-Bold"/>
                <a:sym typeface="Nunito Semi-Bold"/>
              </a:rPr>
              <a:t> grounds</a:t>
            </a:r>
          </a:p>
        </p:txBody>
      </p:sp>
      <p:sp>
        <p:nvSpPr>
          <p:cNvPr id="28" name="Rounded Rectangle 27"/>
          <p:cNvSpPr/>
          <p:nvPr/>
        </p:nvSpPr>
        <p:spPr>
          <a:xfrm>
            <a:off x="13487400" y="6014466"/>
            <a:ext cx="3771900" cy="3294126"/>
          </a:xfrm>
          <a:prstGeom prst="roundRect">
            <a:avLst>
              <a:gd name="adj" fmla="val 8327"/>
            </a:avLst>
          </a:prstGeom>
          <a:solidFill>
            <a:srgbClr val="1F7A8C"/>
          </a:solidFill>
          <a:ln>
            <a:noFill/>
          </a:ln>
        </p:spPr>
        <p:txBody>
          <a:bodyPr anchor="ctr" rtlCol="false" lIns="137160" tIns="91440" rIns="137160" bIns="91440" wrap="square"/>
          <a:lstStyle/>
          <a:p>
            <a:pPr algn="ctr">
              <a:lnSpc>
                <a:spcPts val="4400"/>
              </a:lnSpc>
              <a:spcBef>
                <a:spcPts val="0"/>
              </a:spcBef>
              <a:buNone/>
            </a:pPr>
            <a:r>
              <a:rPr lang="en-US" sz="4000" b="true">
                <a:solidFill>
                  <a:srgbClr val="FFFFFF"/>
                </a:solidFill>
                <a:latin typeface="Nunito Ultra-Bold"/>
                <a:ea typeface="Nunito Ultra-Bold"/>
                <a:cs typeface="Nunito Ultra-Bold"/>
                <a:sym typeface="Nunito Ultra-Bold"/>
              </a:rPr>
              <a:t>0.82</a:t>
            </a:r>
          </a:p>
          <a:p>
            <a:pPr algn="ctr">
              <a:lnSpc>
                <a:spcPts val="2125"/>
              </a:lnSpc>
              <a:spcBef>
                <a:spcPts val="400"/>
              </a:spcBef>
              <a:buNone/>
            </a:pPr>
            <a:r>
              <a:rPr lang="en-US" sz="1700" b="true">
                <a:solidFill>
                  <a:srgbClr val="FFFFFF"/>
                </a:solidFill>
                <a:latin typeface="Nunito Semi-Bold"/>
                <a:ea typeface="Nunito Semi-Bold"/>
                <a:cs typeface="Nunito Semi-Bold"/>
                <a:sym typeface="Nunito Semi-Bold"/>
              </a:rPr>
              <a:t>surrogate </a:t>
            </a:r>
            <a:r>
              <a:rPr lang="en-US" sz="1700" b="true">
                <a:solidFill>
                  <a:srgbClr val="FFFFFF"/>
                </a:solidFill>
                <a:latin typeface="Nunito Bold"/>
                <a:ea typeface="Nunito Bold"/>
                <a:cs typeface="Nunito Bold"/>
                <a:sym typeface="Nunito Bold"/>
              </a:rPr>
              <a:t>macro-F1</a:t>
            </a:r>
            <a:r>
              <a:rPr lang="en-US" sz="1700" b="true">
                <a:solidFill>
                  <a:srgbClr val="FFFFFF"/>
                </a:solidFill>
                <a:latin typeface="Nunito Semi-Bold"/>
                <a:ea typeface="Nunito Semi-Bold"/>
                <a:cs typeface="Nunito Semi-Bold"/>
                <a:sym typeface="Nunito Semi-Bold"/>
              </a:rPr>
              <a:t> · fidelity floor met</a:t>
            </a:r>
          </a:p>
        </p:txBody>
      </p:sp>
    </p:spTree>
  </p:cSld>
  <p:clrMapOvr>
    <a:masterClrMapping/>
  </p:clrMapOvr>
</p:sld>
</file>

<file path=ppt/slides/slide4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pic>
        <p:nvPicPr>
          <p:cNvPr id="2" name="Picture 1" descr="ensias_logo.jpg"/>
          <p:cNvPicPr>
            <a:picLocks noChangeAspect="1"/>
          </p:cNvPicPr>
          <p:nvPr/>
        </p:nvPicPr>
        <p:blipFill>
          <a:blip r:embed="rId2"/>
          <a:stretch>
            <a:fillRect/>
          </a:stretch>
        </p:blipFill>
        <p:spPr>
          <a:xfrm>
            <a:off x="1028700" y="9674352"/>
            <a:ext cx="542964" cy="384048"/>
          </a:xfrm>
          <a:prstGeom prst="rect">
            <a:avLst/>
          </a:prstGeom>
        </p:spPr>
      </p:pic>
      <p:sp>
        <p:nvSpPr>
          <p:cNvPr id="3" name="TextBox 2"/>
          <p:cNvSpPr txBox="1"/>
          <p:nvPr/>
        </p:nvSpPr>
        <p:spPr>
          <a:xfrm>
            <a:off x="1577340" y="9601200"/>
            <a:ext cx="14493240" cy="566928"/>
          </a:xfrm>
          <a:prstGeom prst="rect">
            <a:avLst/>
          </a:prstGeom>
          <a:noFill/>
        </p:spPr>
        <p:txBody>
          <a:bodyPr anchor="ctr" rtlCol="false" lIns="0" tIns="0" rIns="0" bIns="0" wrap="square"/>
          <a:lstStyle/>
          <a:p>
            <a:pPr algn="l">
              <a:lnSpc>
                <a:spcPts val="1200"/>
              </a:lnSpc>
              <a:spcBef>
                <a:spcPts val="0"/>
              </a:spcBef>
              <a:buNone/>
            </a:pPr>
            <a:r>
              <a:rPr lang="en-US" sz="1000" b="true">
                <a:solidFill>
                  <a:srgbClr val="8A8378"/>
                </a:solidFill>
                <a:latin typeface="Nunito Semi-Bold"/>
                <a:ea typeface="Nunito Semi-Bold"/>
                <a:cs typeface="Nunito Semi-Bold"/>
                <a:sym typeface="Nunito Semi-Bold"/>
              </a:rPr>
              <a:t>[1] Louhichi, M., Nesmaoui, R., Mbarek, M. &amp; Lazaar, M. Shapley Values for Explaining the Black Box Nature of Machine Learning Model Clustering. Procedia Computer Science 220, 806–811 (2023).</a:t>
            </a:r>
          </a:p>
        </p:txBody>
      </p:sp>
      <p:sp>
        <p:nvSpPr>
          <p:cNvPr id="4" name="TextBox 3"/>
          <p:cNvSpPr txBox="1"/>
          <p:nvPr/>
        </p:nvSpPr>
        <p:spPr>
          <a:xfrm>
            <a:off x="16162020" y="9692640"/>
            <a:ext cx="1097280" cy="329184"/>
          </a:xfrm>
          <a:prstGeom prst="rect">
            <a:avLst/>
          </a:prstGeom>
          <a:noFill/>
        </p:spPr>
        <p:txBody>
          <a:bodyPr anchor="t" rtlCol="false" lIns="0" tIns="0" rIns="0" bIns="0" wrap="square"/>
          <a:lstStyle/>
          <a:p>
            <a:pPr algn="r">
              <a:lnSpc>
                <a:spcPts val="2200"/>
              </a:lnSpc>
              <a:spcBef>
                <a:spcPts val="0"/>
              </a:spcBef>
              <a:buNone/>
            </a:pPr>
            <a:r>
              <a:rPr lang="en-US" sz="1800" b="true">
                <a:solidFill>
                  <a:srgbClr val="111111"/>
                </a:solidFill>
                <a:latin typeface="Nunito Ultra-Bold"/>
                <a:ea typeface="Nunito Ultra-Bold"/>
                <a:cs typeface="Nunito Ultra-Bold"/>
                <a:sym typeface="Nunito Ultra-Bold"/>
              </a:rPr>
              <a:t>33</a:t>
            </a:r>
          </a:p>
        </p:txBody>
      </p:sp>
      <p:sp>
        <p:nvSpPr>
          <p:cNvPr id="5" name="TextBox 4"/>
          <p:cNvSpPr txBox="1"/>
          <p:nvPr/>
        </p:nvSpPr>
        <p:spPr>
          <a:xfrm>
            <a:off x="1028700" y="1389888"/>
            <a:ext cx="12938760" cy="329184"/>
          </a:xfrm>
          <a:prstGeom prst="rect">
            <a:avLst/>
          </a:prstGeom>
          <a:noFill/>
        </p:spPr>
        <p:txBody>
          <a:bodyPr anchor="t" rtlCol="false" lIns="0" tIns="0" rIns="0" bIns="0" wrap="square"/>
          <a:lstStyle/>
          <a:p>
            <a:pPr algn="l">
              <a:lnSpc>
                <a:spcPts val="2000"/>
              </a:lnSpc>
              <a:spcBef>
                <a:spcPts val="0"/>
              </a:spcBef>
              <a:buNone/>
            </a:pPr>
            <a:r>
              <a:rPr lang="en-US" sz="1500" b="true" spc="160">
                <a:solidFill>
                  <a:srgbClr val="1F7A8C"/>
                </a:solidFill>
                <a:latin typeface="Nunito Ultra-Bold"/>
                <a:ea typeface="Nunito Ultra-Bold"/>
                <a:cs typeface="Nunito Ultra-Bold"/>
                <a:sym typeface="Nunito Ultra-Bold"/>
              </a:rPr>
              <a:t>CONTRIBUTION I: EXPLAINABLE BLACK-BOX CLUSTERING</a:t>
            </a:r>
          </a:p>
        </p:txBody>
      </p:sp>
      <p:sp>
        <p:nvSpPr>
          <p:cNvPr id="6" name="Rounded Rectangle 5"/>
          <p:cNvSpPr/>
          <p:nvPr/>
        </p:nvSpPr>
        <p:spPr>
          <a:xfrm>
            <a:off x="14516100"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7" name="TextBox 6"/>
          <p:cNvSpPr txBox="1"/>
          <p:nvPr/>
        </p:nvSpPr>
        <p:spPr>
          <a:xfrm>
            <a:off x="14516100"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1</a:t>
            </a:r>
          </a:p>
        </p:txBody>
      </p:sp>
      <p:sp>
        <p:nvSpPr>
          <p:cNvPr id="8" name="Rounded Rectangle 7"/>
          <p:cNvSpPr/>
          <p:nvPr/>
        </p:nvSpPr>
        <p:spPr>
          <a:xfrm>
            <a:off x="14918436"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9" name="TextBox 8"/>
          <p:cNvSpPr txBox="1"/>
          <p:nvPr/>
        </p:nvSpPr>
        <p:spPr>
          <a:xfrm>
            <a:off x="14918436"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2</a:t>
            </a:r>
          </a:p>
        </p:txBody>
      </p:sp>
      <p:sp>
        <p:nvSpPr>
          <p:cNvPr id="10" name="Rounded Rectangle 9"/>
          <p:cNvSpPr/>
          <p:nvPr/>
        </p:nvSpPr>
        <p:spPr>
          <a:xfrm>
            <a:off x="15320772"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11" name="TextBox 10"/>
          <p:cNvSpPr txBox="1"/>
          <p:nvPr/>
        </p:nvSpPr>
        <p:spPr>
          <a:xfrm>
            <a:off x="15320772"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3</a:t>
            </a:r>
          </a:p>
        </p:txBody>
      </p:sp>
      <p:sp>
        <p:nvSpPr>
          <p:cNvPr id="12" name="Rounded Rectangle 11"/>
          <p:cNvSpPr/>
          <p:nvPr/>
        </p:nvSpPr>
        <p:spPr>
          <a:xfrm>
            <a:off x="15723108" y="1371600"/>
            <a:ext cx="329184" cy="329184"/>
          </a:xfrm>
          <a:prstGeom prst="roundRect">
            <a:avLst>
              <a:gd name="adj" fmla="val 16666"/>
            </a:avLst>
          </a:prstGeom>
          <a:solidFill>
            <a:srgbClr val="4472C4"/>
          </a:solidFill>
          <a:ln w="15875">
            <a:solidFill>
              <a:srgbClr val="4472C4"/>
            </a:solidFill>
          </a:ln>
        </p:spPr>
        <p:txBody>
          <a:bodyPr anchor="ctr" rtlCol="false" lIns="0" tIns="0" rIns="0" bIns="0" wrap="square"/>
          <a:lstStyle/>
          <a:p>
            <a:endParaRPr lang="en-US" sz="1800"/>
          </a:p>
        </p:txBody>
      </p:sp>
      <p:sp>
        <p:nvSpPr>
          <p:cNvPr id="13" name="TextBox 12"/>
          <p:cNvSpPr txBox="1"/>
          <p:nvPr/>
        </p:nvSpPr>
        <p:spPr>
          <a:xfrm>
            <a:off x="15723108"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FFFFFF"/>
                </a:solidFill>
                <a:latin typeface="Nunito Ultra-Bold"/>
                <a:ea typeface="Nunito Ultra-Bold"/>
                <a:cs typeface="Nunito Ultra-Bold"/>
                <a:sym typeface="Nunito Ultra-Bold"/>
              </a:rPr>
              <a:t>4</a:t>
            </a:r>
          </a:p>
        </p:txBody>
      </p:sp>
      <p:sp>
        <p:nvSpPr>
          <p:cNvPr id="14" name="Rounded Rectangle 13"/>
          <p:cNvSpPr/>
          <p:nvPr/>
        </p:nvSpPr>
        <p:spPr>
          <a:xfrm>
            <a:off x="16125444"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15" name="TextBox 14"/>
          <p:cNvSpPr txBox="1"/>
          <p:nvPr/>
        </p:nvSpPr>
        <p:spPr>
          <a:xfrm>
            <a:off x="16125444"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5</a:t>
            </a:r>
          </a:p>
        </p:txBody>
      </p:sp>
      <p:sp>
        <p:nvSpPr>
          <p:cNvPr id="16" name="Rounded Rectangle 15"/>
          <p:cNvSpPr/>
          <p:nvPr/>
        </p:nvSpPr>
        <p:spPr>
          <a:xfrm>
            <a:off x="16527780"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17" name="TextBox 16"/>
          <p:cNvSpPr txBox="1"/>
          <p:nvPr/>
        </p:nvSpPr>
        <p:spPr>
          <a:xfrm>
            <a:off x="16527780"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6</a:t>
            </a:r>
          </a:p>
        </p:txBody>
      </p:sp>
      <p:sp>
        <p:nvSpPr>
          <p:cNvPr id="18" name="Rounded Rectangle 17"/>
          <p:cNvSpPr/>
          <p:nvPr/>
        </p:nvSpPr>
        <p:spPr>
          <a:xfrm>
            <a:off x="16930116"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19" name="TextBox 18"/>
          <p:cNvSpPr txBox="1"/>
          <p:nvPr/>
        </p:nvSpPr>
        <p:spPr>
          <a:xfrm>
            <a:off x="16930116"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7</a:t>
            </a:r>
          </a:p>
        </p:txBody>
      </p:sp>
      <p:sp>
        <p:nvSpPr>
          <p:cNvPr id="20" name="TextBox 19"/>
          <p:cNvSpPr txBox="1"/>
          <p:nvPr/>
        </p:nvSpPr>
        <p:spPr>
          <a:xfrm>
            <a:off x="1028700" y="1719072"/>
            <a:ext cx="16230600" cy="730250"/>
          </a:xfrm>
          <a:prstGeom prst="rect">
            <a:avLst/>
          </a:prstGeom>
          <a:noFill/>
        </p:spPr>
        <p:txBody>
          <a:bodyPr anchor="t" rtlCol="false" lIns="0" tIns="0" rIns="0" bIns="0" wrap="square"/>
          <a:lstStyle/>
          <a:p>
            <a:pPr algn="l">
              <a:lnSpc>
                <a:spcPts val="5060"/>
              </a:lnSpc>
              <a:spcBef>
                <a:spcPts val="0"/>
              </a:spcBef>
              <a:buNone/>
            </a:pPr>
            <a:r>
              <a:rPr lang="en-US" sz="4600" b="true" spc="-230">
                <a:solidFill>
                  <a:srgbClr val="111111"/>
                </a:solidFill>
                <a:latin typeface="Roca Two Bold"/>
                <a:ea typeface="Roca Two Bold"/>
                <a:cs typeface="Roca Two Bold"/>
                <a:sym typeface="Roca Two Bold"/>
              </a:rPr>
              <a:t>Global SHAP Ranking: Wine Quality</a:t>
            </a:r>
          </a:p>
        </p:txBody>
      </p:sp>
      <p:sp>
        <p:nvSpPr>
          <p:cNvPr id="21" name="Rounded Rectangle 20"/>
          <p:cNvSpPr/>
          <p:nvPr/>
        </p:nvSpPr>
        <p:spPr>
          <a:xfrm>
            <a:off x="1028700" y="2559050"/>
            <a:ext cx="1691553" cy="420624"/>
          </a:xfrm>
          <a:prstGeom prst="roundRect">
            <a:avLst>
              <a:gd name="adj" fmla="val 50000"/>
            </a:avLst>
          </a:prstGeom>
          <a:noFill/>
          <a:ln w="28575">
            <a:solidFill>
              <a:srgbClr val="4472C4"/>
            </a:solidFill>
          </a:ln>
        </p:spPr>
        <p:txBody>
          <a:bodyPr anchor="ctr" rtlCol="false" lIns="45720" tIns="0" rIns="45720" bIns="0" wrap="square"/>
          <a:lstStyle/>
          <a:p>
            <a:pPr algn="ctr">
              <a:lnSpc>
                <a:spcPts val="2160"/>
              </a:lnSpc>
              <a:spcBef>
                <a:spcPts val="0"/>
              </a:spcBef>
              <a:buNone/>
            </a:pPr>
            <a:r>
              <a:rPr lang="en-US" sz="1800" b="true">
                <a:solidFill>
                  <a:srgbClr val="4472C4"/>
                </a:solidFill>
                <a:latin typeface="Nunito Bold"/>
                <a:ea typeface="Nunito Bold"/>
                <a:cs typeface="Nunito Bold"/>
                <a:sym typeface="Nunito Bold"/>
              </a:rPr>
              <a:t>Objectives</a:t>
            </a:r>
          </a:p>
        </p:txBody>
      </p:sp>
      <p:sp>
        <p:nvSpPr>
          <p:cNvPr id="22" name="Rounded Rectangle 21"/>
          <p:cNvSpPr/>
          <p:nvPr/>
        </p:nvSpPr>
        <p:spPr>
          <a:xfrm>
            <a:off x="2848269" y="2559050"/>
            <a:ext cx="1998119" cy="420624"/>
          </a:xfrm>
          <a:prstGeom prst="roundRect">
            <a:avLst>
              <a:gd name="adj" fmla="val 50000"/>
            </a:avLst>
          </a:prstGeom>
          <a:noFill/>
          <a:ln w="28575">
            <a:solidFill>
              <a:srgbClr val="4472C4"/>
            </a:solidFill>
          </a:ln>
        </p:spPr>
        <p:txBody>
          <a:bodyPr anchor="ctr" rtlCol="false" lIns="45720" tIns="0" rIns="45720" bIns="0" wrap="square"/>
          <a:lstStyle/>
          <a:p>
            <a:pPr algn="ctr">
              <a:lnSpc>
                <a:spcPts val="2160"/>
              </a:lnSpc>
              <a:spcBef>
                <a:spcPts val="0"/>
              </a:spcBef>
              <a:buNone/>
            </a:pPr>
            <a:r>
              <a:rPr lang="en-US" sz="1800" b="true">
                <a:solidFill>
                  <a:srgbClr val="4472C4"/>
                </a:solidFill>
                <a:latin typeface="Nunito Bold"/>
                <a:ea typeface="Nunito Bold"/>
                <a:cs typeface="Nunito Bold"/>
                <a:sym typeface="Nunito Bold"/>
              </a:rPr>
              <a:t>Methodology</a:t>
            </a:r>
          </a:p>
        </p:txBody>
      </p:sp>
      <p:sp>
        <p:nvSpPr>
          <p:cNvPr id="23" name="Rounded Rectangle 22"/>
          <p:cNvSpPr/>
          <p:nvPr/>
        </p:nvSpPr>
        <p:spPr>
          <a:xfrm>
            <a:off x="4974404" y="2559050"/>
            <a:ext cx="1369446" cy="420624"/>
          </a:xfrm>
          <a:prstGeom prst="roundRect">
            <a:avLst>
              <a:gd name="adj" fmla="val 50000"/>
            </a:avLst>
          </a:prstGeom>
          <a:solidFill>
            <a:srgbClr val="4472C4"/>
          </a:solidFill>
          <a:ln>
            <a:noFill/>
          </a:ln>
        </p:spPr>
        <p:txBody>
          <a:bodyPr anchor="ctr" rtlCol="false" lIns="45720" tIns="0" rIns="45720" bIns="0" wrap="square"/>
          <a:lstStyle/>
          <a:p>
            <a:pPr algn="ctr">
              <a:lnSpc>
                <a:spcPts val="2160"/>
              </a:lnSpc>
              <a:spcBef>
                <a:spcPts val="0"/>
              </a:spcBef>
              <a:buNone/>
            </a:pPr>
            <a:r>
              <a:rPr lang="en-US" sz="1800" b="true">
                <a:solidFill>
                  <a:srgbClr val="FFFFFF"/>
                </a:solidFill>
                <a:latin typeface="Nunito Bold"/>
                <a:ea typeface="Nunito Bold"/>
                <a:cs typeface="Nunito Bold"/>
                <a:sym typeface="Nunito Bold"/>
              </a:rPr>
              <a:t>Results</a:t>
            </a:r>
          </a:p>
        </p:txBody>
      </p:sp>
      <p:sp>
        <p:nvSpPr>
          <p:cNvPr id="24" name="Rounded Rectangle 23"/>
          <p:cNvSpPr/>
          <p:nvPr/>
        </p:nvSpPr>
        <p:spPr>
          <a:xfrm>
            <a:off x="6471866" y="2559050"/>
            <a:ext cx="1474931" cy="420624"/>
          </a:xfrm>
          <a:prstGeom prst="roundRect">
            <a:avLst>
              <a:gd name="adj" fmla="val 50000"/>
            </a:avLst>
          </a:prstGeom>
          <a:noFill/>
          <a:ln w="28575">
            <a:solidFill>
              <a:srgbClr val="4472C4"/>
            </a:solidFill>
          </a:ln>
        </p:spPr>
        <p:txBody>
          <a:bodyPr anchor="ctr" rtlCol="false" lIns="45720" tIns="0" rIns="45720" bIns="0" wrap="square"/>
          <a:lstStyle/>
          <a:p>
            <a:pPr algn="ctr">
              <a:lnSpc>
                <a:spcPts val="2160"/>
              </a:lnSpc>
              <a:spcBef>
                <a:spcPts val="0"/>
              </a:spcBef>
              <a:buNone/>
            </a:pPr>
            <a:r>
              <a:rPr lang="en-US" sz="1800" b="true">
                <a:solidFill>
                  <a:srgbClr val="4472C4"/>
                </a:solidFill>
                <a:latin typeface="Nunito Bold"/>
                <a:ea typeface="Nunito Bold"/>
                <a:cs typeface="Nunito Bold"/>
                <a:sym typeface="Nunito Bold"/>
              </a:rPr>
              <a:t>Findings</a:t>
            </a:r>
          </a:p>
        </p:txBody>
      </p:sp>
      <p:sp>
        <p:nvSpPr>
          <p:cNvPr id="25" name="TextBox 24"/>
          <p:cNvSpPr txBox="1"/>
          <p:nvPr/>
        </p:nvSpPr>
        <p:spPr>
          <a:xfrm>
            <a:off x="1028700" y="3363722"/>
            <a:ext cx="6583680" cy="5853430"/>
          </a:xfrm>
          <a:prstGeom prst="rect">
            <a:avLst/>
          </a:prstGeom>
          <a:noFill/>
        </p:spPr>
        <p:txBody>
          <a:bodyPr anchor="t" rtlCol="false" lIns="0" tIns="0" rIns="0" bIns="0" wrap="square"/>
          <a:lstStyle/>
          <a:p>
            <a:pPr algn="l">
              <a:lnSpc>
                <a:spcPts val="2750"/>
              </a:lnSpc>
              <a:spcBef>
                <a:spcPts val="0"/>
              </a:spcBef>
              <a:buNone/>
            </a:pPr>
            <a:r>
              <a:rPr lang="en-US" sz="2200" b="true">
                <a:solidFill>
                  <a:srgbClr val="4472C4"/>
                </a:solidFill>
                <a:latin typeface="Nunito Ultra-Bold"/>
                <a:ea typeface="Nunito Ultra-Bold"/>
                <a:cs typeface="Nunito Ultra-Bold"/>
                <a:sym typeface="Nunito Ultra-Bold"/>
              </a:rPr>
              <a:t>Reading the ranking</a:t>
            </a:r>
          </a:p>
          <a:p>
            <a:pPr algn="l" marL="274320" indent="-274320">
              <a:lnSpc>
                <a:spcPts val="2660"/>
              </a:lnSpc>
              <a:spcBef>
                <a:spcPts val="0"/>
              </a:spcBef>
              <a:buClr>
                <a:srgbClr val="1F7A8C"/>
              </a:buClr>
              <a:buSzPct val="100000"/>
              <a:buFont typeface="Arial"/>
              <a:buChar char="•"/>
            </a:pPr>
            <a:r>
              <a:rPr lang="en-US" sz="1900" b="true">
                <a:solidFill>
                  <a:srgbClr val="111111"/>
                </a:solidFill>
                <a:latin typeface="Nunito Semi-Bold"/>
                <a:ea typeface="Nunito Semi-Bold"/>
                <a:cs typeface="Nunito Semi-Bold"/>
                <a:sym typeface="Nunito Semi-Bold"/>
              </a:rPr>
              <a:t>Mean |SHAP| ranks </a:t>
            </a:r>
            <a:r>
              <a:rPr lang="en-US" sz="1900" b="true">
                <a:solidFill>
                  <a:srgbClr val="111111"/>
                </a:solidFill>
                <a:latin typeface="Nunito Bold"/>
                <a:ea typeface="Nunito Bold"/>
                <a:cs typeface="Nunito Bold"/>
                <a:sym typeface="Nunito Bold"/>
              </a:rPr>
              <a:t>density</a:t>
            </a:r>
            <a:r>
              <a:rPr lang="en-US" sz="1900" b="true">
                <a:solidFill>
                  <a:srgbClr val="111111"/>
                </a:solidFill>
                <a:latin typeface="Nunito Semi-Bold"/>
                <a:ea typeface="Nunito Semi-Bold"/>
                <a:cs typeface="Nunito Semi-Bold"/>
                <a:sym typeface="Nunito Semi-Bold"/>
              </a:rPr>
              <a:t> first, then </a:t>
            </a:r>
            <a:r>
              <a:rPr lang="en-US" sz="1900" b="true">
                <a:solidFill>
                  <a:srgbClr val="111111"/>
                </a:solidFill>
                <a:latin typeface="Nunito Bold"/>
                <a:ea typeface="Nunito Bold"/>
                <a:cs typeface="Nunito Bold"/>
                <a:sym typeface="Nunito Bold"/>
              </a:rPr>
              <a:t>pH</a:t>
            </a:r>
            <a:r>
              <a:rPr lang="en-US" sz="1900" b="true">
                <a:solidFill>
                  <a:srgbClr val="111111"/>
                </a:solidFill>
                <a:latin typeface="Nunito Semi-Bold"/>
                <a:ea typeface="Nunito Semi-Bold"/>
                <a:cs typeface="Nunito Semi-Bold"/>
                <a:sym typeface="Nunito Semi-Bold"/>
              </a:rPr>
              <a:t>, </a:t>
            </a:r>
            <a:r>
              <a:rPr lang="en-US" sz="1900" b="true">
                <a:solidFill>
                  <a:srgbClr val="111111"/>
                </a:solidFill>
                <a:latin typeface="Nunito Bold"/>
                <a:ea typeface="Nunito Bold"/>
                <a:cs typeface="Nunito Bold"/>
                <a:sym typeface="Nunito Bold"/>
              </a:rPr>
              <a:t>fixed acidity</a:t>
            </a:r>
            <a:r>
              <a:rPr lang="en-US" sz="1900" b="true">
                <a:solidFill>
                  <a:srgbClr val="111111"/>
                </a:solidFill>
                <a:latin typeface="Nunito Semi-Bold"/>
                <a:ea typeface="Nunito Semi-Bold"/>
                <a:cs typeface="Nunito Semi-Bold"/>
                <a:sym typeface="Nunito Semi-Bold"/>
              </a:rPr>
              <a:t>, </a:t>
            </a:r>
            <a:r>
              <a:rPr lang="en-US" sz="1900" b="true">
                <a:solidFill>
                  <a:srgbClr val="111111"/>
                </a:solidFill>
                <a:latin typeface="Nunito Bold"/>
                <a:ea typeface="Nunito Bold"/>
                <a:cs typeface="Nunito Bold"/>
                <a:sym typeface="Nunito Bold"/>
              </a:rPr>
              <a:t>sulfur dioxide</a:t>
            </a:r>
            <a:r>
              <a:rPr lang="en-US" sz="1900" b="true">
                <a:solidFill>
                  <a:srgbClr val="111111"/>
                </a:solidFill>
                <a:latin typeface="Nunito Semi-Bold"/>
                <a:ea typeface="Nunito Semi-Bold"/>
                <a:cs typeface="Nunito Semi-Bold"/>
                <a:sym typeface="Nunito Semi-Bold"/>
              </a:rPr>
              <a:t> and </a:t>
            </a:r>
            <a:r>
              <a:rPr lang="en-US" sz="1900" b="true">
                <a:solidFill>
                  <a:srgbClr val="111111"/>
                </a:solidFill>
                <a:latin typeface="Nunito Bold"/>
                <a:ea typeface="Nunito Bold"/>
                <a:cs typeface="Nunito Bold"/>
                <a:sym typeface="Nunito Bold"/>
              </a:rPr>
              <a:t>alcohol</a:t>
            </a:r>
            <a:r>
              <a:rPr lang="en-US" sz="1900" b="true">
                <a:solidFill>
                  <a:srgbClr val="111111"/>
                </a:solidFill>
                <a:latin typeface="Nunito Semi-Bold"/>
                <a:ea typeface="Nunito Semi-Bold"/>
                <a:cs typeface="Nunito Semi-Bold"/>
                <a:sym typeface="Nunito Semi-Bold"/>
              </a:rPr>
              <a:t>.</a:t>
            </a:r>
          </a:p>
          <a:p>
            <a:pPr algn="l" marL="274320" indent="-274320">
              <a:lnSpc>
                <a:spcPts val="2660"/>
              </a:lnSpc>
              <a:spcBef>
                <a:spcPts val="1000"/>
              </a:spcBef>
              <a:buClr>
                <a:srgbClr val="1F7A8C"/>
              </a:buClr>
              <a:buSzPct val="100000"/>
              <a:buFont typeface="Arial"/>
              <a:buChar char="•"/>
            </a:pPr>
            <a:r>
              <a:rPr lang="en-US" sz="1900" b="true">
                <a:solidFill>
                  <a:srgbClr val="111111"/>
                </a:solidFill>
                <a:latin typeface="Nunito Semi-Bold"/>
                <a:ea typeface="Nunito Semi-Bold"/>
                <a:cs typeface="Nunito Semi-Bold"/>
                <a:sym typeface="Nunito Semi-Bold"/>
              </a:rPr>
              <a:t>The main drivers relate to </a:t>
            </a:r>
            <a:r>
              <a:rPr lang="en-US" sz="1900" b="true">
                <a:solidFill>
                  <a:srgbClr val="111111"/>
                </a:solidFill>
                <a:latin typeface="Nunito Bold"/>
                <a:ea typeface="Nunito Bold"/>
                <a:cs typeface="Nunito Bold"/>
                <a:sym typeface="Nunito Bold"/>
              </a:rPr>
              <a:t>structure, preservation and sensory balance</a:t>
            </a:r>
            <a:r>
              <a:rPr lang="en-US" sz="1900" b="true">
                <a:solidFill>
                  <a:srgbClr val="111111"/>
                </a:solidFill>
                <a:latin typeface="Nunito Semi-Bold"/>
                <a:ea typeface="Nunito Semi-Bold"/>
                <a:cs typeface="Nunito Semi-Bold"/>
                <a:sym typeface="Nunito Semi-Bold"/>
              </a:rPr>
              <a:t>.</a:t>
            </a:r>
          </a:p>
          <a:p>
            <a:pPr algn="l" marL="274320" indent="-274320">
              <a:lnSpc>
                <a:spcPts val="2660"/>
              </a:lnSpc>
              <a:spcBef>
                <a:spcPts val="1000"/>
              </a:spcBef>
              <a:buClr>
                <a:srgbClr val="1F7A8C"/>
              </a:buClr>
              <a:buSzPct val="100000"/>
              <a:buFont typeface="Arial"/>
              <a:buChar char="•"/>
            </a:pPr>
            <a:r>
              <a:rPr lang="en-US" sz="1900" b="true">
                <a:solidFill>
                  <a:srgbClr val="111111"/>
                </a:solidFill>
                <a:latin typeface="Nunito Semi-Bold"/>
                <a:ea typeface="Nunito Semi-Bold"/>
                <a:cs typeface="Nunito Semi-Bold"/>
                <a:sym typeface="Nunito Semi-Bold"/>
              </a:rPr>
              <a:t>This is </a:t>
            </a:r>
            <a:r>
              <a:rPr lang="en-US" sz="1900" b="true">
                <a:solidFill>
                  <a:srgbClr val="111111"/>
                </a:solidFill>
                <a:latin typeface="Nunito Bold"/>
                <a:ea typeface="Nunito Bold"/>
                <a:cs typeface="Nunito Bold"/>
                <a:sym typeface="Nunito Bold"/>
              </a:rPr>
              <a:t>NOT a random side effect of the classifier</a:t>
            </a:r>
            <a:r>
              <a:rPr lang="en-US" sz="1900" b="true">
                <a:solidFill>
                  <a:srgbClr val="111111"/>
                </a:solidFill>
                <a:latin typeface="Nunito Semi-Bold"/>
                <a:ea typeface="Nunito Semi-Bold"/>
                <a:cs typeface="Nunito Semi-Bold"/>
                <a:sym typeface="Nunito Semi-Bold"/>
              </a:rPr>
              <a:t>: the surrogate reproduces the partition from the original variables, so the ranking reflects the partition itself.</a:t>
            </a:r>
          </a:p>
          <a:p>
            <a:pPr algn="l" marL="274320" indent="-274320">
              <a:lnSpc>
                <a:spcPts val="2660"/>
              </a:lnSpc>
              <a:spcBef>
                <a:spcPts val="1000"/>
              </a:spcBef>
              <a:buClr>
                <a:srgbClr val="1F7A8C"/>
              </a:buClr>
              <a:buSzPct val="100000"/>
              <a:buFont typeface="Arial"/>
              <a:buChar char="•"/>
            </a:pPr>
            <a:r>
              <a:rPr lang="en-US" sz="1900" b="true">
                <a:solidFill>
                  <a:srgbClr val="111111"/>
                </a:solidFill>
                <a:latin typeface="Nunito Semi-Bold"/>
                <a:ea typeface="Nunito Semi-Bold"/>
                <a:cs typeface="Nunito Semi-Bold"/>
                <a:sym typeface="Nunito Semi-Bold"/>
              </a:rPr>
              <a:t>Density and pH separate wine styles; sulfur dioxide reflects preservation; alcohol shapes body.</a:t>
            </a:r>
          </a:p>
          <a:p>
            <a:pPr algn="l" marL="274320" indent="-274320">
              <a:lnSpc>
                <a:spcPts val="2660"/>
              </a:lnSpc>
              <a:spcBef>
                <a:spcPts val="1000"/>
              </a:spcBef>
              <a:buClr>
                <a:srgbClr val="1F7A8C"/>
              </a:buClr>
              <a:buSzPct val="100000"/>
              <a:buFont typeface="Arial"/>
              <a:buChar char="•"/>
            </a:pPr>
            <a:r>
              <a:rPr lang="en-US" sz="1900" b="true">
                <a:solidFill>
                  <a:srgbClr val="111111"/>
                </a:solidFill>
                <a:latin typeface="Nunito Semi-Bold"/>
                <a:ea typeface="Nunito Semi-Bold"/>
                <a:cs typeface="Nunito Semi-Bold"/>
                <a:sym typeface="Nunito Semi-Bold"/>
              </a:rPr>
              <a:t>Each driver is a </a:t>
            </a:r>
            <a:r>
              <a:rPr lang="en-US" sz="1900" b="true">
                <a:solidFill>
                  <a:srgbClr val="111111"/>
                </a:solidFill>
                <a:latin typeface="Nunito Bold"/>
                <a:ea typeface="Nunito Bold"/>
                <a:cs typeface="Nunito Bold"/>
                <a:sym typeface="Nunito Bold"/>
              </a:rPr>
              <a:t>domain-level factor that can be changed</a:t>
            </a:r>
            <a:r>
              <a:rPr lang="en-US" sz="1900" b="true">
                <a:solidFill>
                  <a:srgbClr val="111111"/>
                </a:solidFill>
                <a:latin typeface="Nunito Semi-Bold"/>
                <a:ea typeface="Nunito Semi-Bold"/>
                <a:cs typeface="Nunito Semi-Bold"/>
                <a:sym typeface="Nunito Semi-Bold"/>
              </a:rPr>
              <a:t>: exactly Definition 1.1 of an actionable insight.</a:t>
            </a:r>
          </a:p>
        </p:txBody>
      </p:sp>
      <p:sp>
        <p:nvSpPr>
          <p:cNvPr id="26" name="Rounded Rectangle 25"/>
          <p:cNvSpPr/>
          <p:nvPr/>
        </p:nvSpPr>
        <p:spPr>
          <a:xfrm>
            <a:off x="8069580" y="3363722"/>
            <a:ext cx="9189720" cy="4097400"/>
          </a:xfrm>
          <a:prstGeom prst="roundRect">
            <a:avLst>
              <a:gd name="adj" fmla="val 5579"/>
            </a:avLst>
          </a:prstGeom>
          <a:solidFill>
            <a:srgbClr val="FFFFFF"/>
          </a:solidFill>
          <a:ln w="15875">
            <a:solidFill>
              <a:srgbClr val="E3D6C4"/>
            </a:solidFill>
          </a:ln>
        </p:spPr>
        <p:txBody>
          <a:bodyPr anchor="ctr" rtlCol="false" lIns="0" tIns="0" rIns="0" bIns="0" wrap="square"/>
          <a:lstStyle/>
          <a:p>
            <a:endParaRPr lang="en-US" sz="1800"/>
          </a:p>
        </p:txBody>
      </p:sp>
      <p:pic>
        <p:nvPicPr>
          <p:cNvPr id="27" name="Picture 26" descr="fig5_1_wine_global.png"/>
          <p:cNvPicPr>
            <a:picLocks noChangeAspect="1"/>
          </p:cNvPicPr>
          <p:nvPr/>
        </p:nvPicPr>
        <p:blipFill>
          <a:blip r:embed="rId4"/>
          <a:stretch>
            <a:fillRect/>
          </a:stretch>
        </p:blipFill>
        <p:spPr>
          <a:xfrm>
            <a:off x="9984489" y="3546602"/>
            <a:ext cx="5359901" cy="3320160"/>
          </a:xfrm>
          <a:prstGeom prst="rect">
            <a:avLst/>
          </a:prstGeom>
        </p:spPr>
      </p:pic>
      <p:sp>
        <p:nvSpPr>
          <p:cNvPr id="28" name="TextBox 27"/>
          <p:cNvSpPr txBox="1"/>
          <p:nvPr/>
        </p:nvSpPr>
        <p:spPr>
          <a:xfrm>
            <a:off x="8069580" y="7003923"/>
            <a:ext cx="9189720" cy="411480"/>
          </a:xfrm>
          <a:prstGeom prst="rect">
            <a:avLst/>
          </a:prstGeom>
          <a:noFill/>
        </p:spPr>
        <p:txBody>
          <a:bodyPr anchor="ctr" rtlCol="false" lIns="0" tIns="0" rIns="0" bIns="0" wrap="square"/>
          <a:lstStyle/>
          <a:p>
            <a:pPr algn="ctr">
              <a:lnSpc>
                <a:spcPts val="1700"/>
              </a:lnSpc>
              <a:spcBef>
                <a:spcPts val="0"/>
              </a:spcBef>
              <a:buNone/>
            </a:pPr>
            <a:r>
              <a:rPr lang="en-US" sz="1400" b="true">
                <a:solidFill>
                  <a:srgbClr val="8A8378"/>
                </a:solidFill>
                <a:latin typeface="Nunito Semi-Bold"/>
                <a:ea typeface="Nunito Semi-Bold"/>
                <a:cs typeface="Nunito Semi-Bold"/>
                <a:sym typeface="Nunito Semi-Bold"/>
              </a:rPr>
              <a:t>Fig. 5.1 (thesis): global SHAP feature importance for the wine clustering surrogate</a:t>
            </a:r>
          </a:p>
        </p:txBody>
      </p:sp>
      <p:sp>
        <p:nvSpPr>
          <p:cNvPr id="29" name="Rounded Rectangle 28"/>
          <p:cNvSpPr/>
          <p:nvPr/>
        </p:nvSpPr>
        <p:spPr>
          <a:xfrm>
            <a:off x="8069580" y="7625715"/>
            <a:ext cx="9189720" cy="1591437"/>
          </a:xfrm>
          <a:prstGeom prst="roundRect">
            <a:avLst>
              <a:gd name="adj" fmla="val 14364"/>
            </a:avLst>
          </a:prstGeom>
          <a:solidFill>
            <a:srgbClr val="FFFFFF"/>
          </a:solidFill>
          <a:ln w="15875">
            <a:solidFill>
              <a:srgbClr val="E3D6C4"/>
            </a:solidFill>
          </a:ln>
        </p:spPr>
        <p:txBody>
          <a:bodyPr anchor="ctr" rtlCol="false" lIns="0" tIns="0" rIns="0" bIns="0" wrap="square"/>
          <a:lstStyle/>
          <a:p>
            <a:endParaRPr lang="en-US" sz="1800"/>
          </a:p>
        </p:txBody>
      </p:sp>
      <p:pic>
        <p:nvPicPr>
          <p:cNvPr id="30" name="Picture 29" descr="fig5_2_wine_clusters.png"/>
          <p:cNvPicPr>
            <a:picLocks noChangeAspect="1"/>
          </p:cNvPicPr>
          <p:nvPr/>
        </p:nvPicPr>
        <p:blipFill>
          <a:blip r:embed="rId5"/>
          <a:stretch>
            <a:fillRect/>
          </a:stretch>
        </p:blipFill>
        <p:spPr>
          <a:xfrm>
            <a:off x="10379599" y="7808595"/>
            <a:ext cx="4569680" cy="814197"/>
          </a:xfrm>
          <a:prstGeom prst="rect">
            <a:avLst/>
          </a:prstGeom>
        </p:spPr>
      </p:pic>
      <p:sp>
        <p:nvSpPr>
          <p:cNvPr id="31" name="TextBox 30"/>
          <p:cNvSpPr txBox="1"/>
          <p:nvPr/>
        </p:nvSpPr>
        <p:spPr>
          <a:xfrm>
            <a:off x="8069580" y="8759952"/>
            <a:ext cx="9189720" cy="411480"/>
          </a:xfrm>
          <a:prstGeom prst="rect">
            <a:avLst/>
          </a:prstGeom>
          <a:noFill/>
        </p:spPr>
        <p:txBody>
          <a:bodyPr anchor="ctr" rtlCol="false" lIns="0" tIns="0" rIns="0" bIns="0" wrap="square"/>
          <a:lstStyle/>
          <a:p>
            <a:pPr algn="ctr">
              <a:lnSpc>
                <a:spcPts val="1700"/>
              </a:lnSpc>
              <a:spcBef>
                <a:spcPts val="0"/>
              </a:spcBef>
              <a:buNone/>
            </a:pPr>
            <a:r>
              <a:rPr lang="en-US" sz="1400" b="true">
                <a:solidFill>
                  <a:srgbClr val="8A8378"/>
                </a:solidFill>
                <a:latin typeface="Nunito Semi-Bold"/>
                <a:ea typeface="Nunito Semi-Bold"/>
                <a:cs typeface="Nunito Semi-Bold"/>
                <a:sym typeface="Nunito Semi-Bold"/>
              </a:rPr>
              <a:t>Fig. 5.2 (thesis): per-cluster SHAP signatures</a:t>
            </a:r>
          </a:p>
        </p:txBody>
      </p:sp>
    </p:spTree>
  </p:cSld>
  <p:clrMapOvr>
    <a:masterClrMapping/>
  </p:clrMapOvr>
</p:sld>
</file>

<file path=ppt/slides/slide4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pic>
        <p:nvPicPr>
          <p:cNvPr id="2" name="Picture 1" descr="ensias_logo.jpg"/>
          <p:cNvPicPr>
            <a:picLocks noChangeAspect="1"/>
          </p:cNvPicPr>
          <p:nvPr/>
        </p:nvPicPr>
        <p:blipFill>
          <a:blip r:embed="rId2"/>
          <a:stretch>
            <a:fillRect/>
          </a:stretch>
        </p:blipFill>
        <p:spPr>
          <a:xfrm>
            <a:off x="1028700" y="9674352"/>
            <a:ext cx="542964" cy="384048"/>
          </a:xfrm>
          <a:prstGeom prst="rect">
            <a:avLst/>
          </a:prstGeom>
        </p:spPr>
      </p:pic>
      <p:sp>
        <p:nvSpPr>
          <p:cNvPr id="3" name="TextBox 2"/>
          <p:cNvSpPr txBox="1"/>
          <p:nvPr/>
        </p:nvSpPr>
        <p:spPr>
          <a:xfrm>
            <a:off x="1577340" y="9747504"/>
            <a:ext cx="12801600" cy="274320"/>
          </a:xfrm>
          <a:prstGeom prst="rect">
            <a:avLst/>
          </a:prstGeom>
          <a:noFill/>
        </p:spPr>
        <p:txBody>
          <a:bodyPr anchor="t" rtlCol="false" lIns="0" tIns="0" rIns="0" bIns="0" wrap="square"/>
          <a:lstStyle/>
          <a:p>
            <a:pPr algn="l">
              <a:lnSpc>
                <a:spcPts val="1600"/>
              </a:lnSpc>
              <a:spcBef>
                <a:spcPts val="0"/>
              </a:spcBef>
              <a:buNone/>
            </a:pPr>
            <a:r>
              <a:rPr lang="en-US" sz="1300" b="true">
                <a:solidFill>
                  <a:srgbClr val="8A8378"/>
                </a:solidFill>
                <a:latin typeface="Nunito Bold"/>
                <a:ea typeface="Nunito Bold"/>
                <a:cs typeface="Nunito Bold"/>
                <a:sym typeface="Nunito Bold"/>
              </a:rPr>
              <a:t>Cooperative Game Theory for Explainable AI in Recommendation Systems  ·  A Shapley Framework for Actionable Insight</a:t>
            </a:r>
          </a:p>
        </p:txBody>
      </p:sp>
      <p:sp>
        <p:nvSpPr>
          <p:cNvPr id="4" name="TextBox 3"/>
          <p:cNvSpPr txBox="1"/>
          <p:nvPr/>
        </p:nvSpPr>
        <p:spPr>
          <a:xfrm>
            <a:off x="16162020" y="9692640"/>
            <a:ext cx="1097280" cy="329184"/>
          </a:xfrm>
          <a:prstGeom prst="rect">
            <a:avLst/>
          </a:prstGeom>
          <a:noFill/>
        </p:spPr>
        <p:txBody>
          <a:bodyPr anchor="t" rtlCol="false" lIns="0" tIns="0" rIns="0" bIns="0" wrap="square"/>
          <a:lstStyle/>
          <a:p>
            <a:pPr algn="r">
              <a:lnSpc>
                <a:spcPts val="2200"/>
              </a:lnSpc>
              <a:spcBef>
                <a:spcPts val="0"/>
              </a:spcBef>
              <a:buNone/>
            </a:pPr>
            <a:r>
              <a:rPr lang="en-US" sz="1800" b="true">
                <a:solidFill>
                  <a:srgbClr val="111111"/>
                </a:solidFill>
                <a:latin typeface="Nunito Ultra-Bold"/>
                <a:ea typeface="Nunito Ultra-Bold"/>
                <a:cs typeface="Nunito Ultra-Bold"/>
                <a:sym typeface="Nunito Ultra-Bold"/>
              </a:rPr>
              <a:t>34</a:t>
            </a:r>
          </a:p>
        </p:txBody>
      </p:sp>
      <p:sp>
        <p:nvSpPr>
          <p:cNvPr id="5" name="TextBox 4"/>
          <p:cNvSpPr txBox="1"/>
          <p:nvPr/>
        </p:nvSpPr>
        <p:spPr>
          <a:xfrm>
            <a:off x="1028700" y="1389888"/>
            <a:ext cx="12938760" cy="329184"/>
          </a:xfrm>
          <a:prstGeom prst="rect">
            <a:avLst/>
          </a:prstGeom>
          <a:noFill/>
        </p:spPr>
        <p:txBody>
          <a:bodyPr anchor="t" rtlCol="false" lIns="0" tIns="0" rIns="0" bIns="0" wrap="square"/>
          <a:lstStyle/>
          <a:p>
            <a:pPr algn="l">
              <a:lnSpc>
                <a:spcPts val="2000"/>
              </a:lnSpc>
              <a:spcBef>
                <a:spcPts val="0"/>
              </a:spcBef>
              <a:buNone/>
            </a:pPr>
            <a:r>
              <a:rPr lang="en-US" sz="1500" b="true" spc="160">
                <a:solidFill>
                  <a:srgbClr val="1F7A8C"/>
                </a:solidFill>
                <a:latin typeface="Nunito Ultra-Bold"/>
                <a:ea typeface="Nunito Ultra-Bold"/>
                <a:cs typeface="Nunito Ultra-Bold"/>
                <a:sym typeface="Nunito Ultra-Bold"/>
              </a:rPr>
              <a:t>CONTRIBUTION I: EXPLAINABLE BLACK-BOX CLUSTERING</a:t>
            </a:r>
          </a:p>
        </p:txBody>
      </p:sp>
      <p:sp>
        <p:nvSpPr>
          <p:cNvPr id="6" name="Rounded Rectangle 5"/>
          <p:cNvSpPr/>
          <p:nvPr/>
        </p:nvSpPr>
        <p:spPr>
          <a:xfrm>
            <a:off x="14516100"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7" name="TextBox 6"/>
          <p:cNvSpPr txBox="1"/>
          <p:nvPr/>
        </p:nvSpPr>
        <p:spPr>
          <a:xfrm>
            <a:off x="14516100"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1</a:t>
            </a:r>
          </a:p>
        </p:txBody>
      </p:sp>
      <p:sp>
        <p:nvSpPr>
          <p:cNvPr id="8" name="Rounded Rectangle 7"/>
          <p:cNvSpPr/>
          <p:nvPr/>
        </p:nvSpPr>
        <p:spPr>
          <a:xfrm>
            <a:off x="14918436"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9" name="TextBox 8"/>
          <p:cNvSpPr txBox="1"/>
          <p:nvPr/>
        </p:nvSpPr>
        <p:spPr>
          <a:xfrm>
            <a:off x="14918436"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2</a:t>
            </a:r>
          </a:p>
        </p:txBody>
      </p:sp>
      <p:sp>
        <p:nvSpPr>
          <p:cNvPr id="10" name="Rounded Rectangle 9"/>
          <p:cNvSpPr/>
          <p:nvPr/>
        </p:nvSpPr>
        <p:spPr>
          <a:xfrm>
            <a:off x="15320772"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11" name="TextBox 10"/>
          <p:cNvSpPr txBox="1"/>
          <p:nvPr/>
        </p:nvSpPr>
        <p:spPr>
          <a:xfrm>
            <a:off x="15320772"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3</a:t>
            </a:r>
          </a:p>
        </p:txBody>
      </p:sp>
      <p:sp>
        <p:nvSpPr>
          <p:cNvPr id="12" name="Rounded Rectangle 11"/>
          <p:cNvSpPr/>
          <p:nvPr/>
        </p:nvSpPr>
        <p:spPr>
          <a:xfrm>
            <a:off x="15723108" y="1371600"/>
            <a:ext cx="329184" cy="329184"/>
          </a:xfrm>
          <a:prstGeom prst="roundRect">
            <a:avLst>
              <a:gd name="adj" fmla="val 16666"/>
            </a:avLst>
          </a:prstGeom>
          <a:solidFill>
            <a:srgbClr val="4472C4"/>
          </a:solidFill>
          <a:ln w="15875">
            <a:solidFill>
              <a:srgbClr val="4472C4"/>
            </a:solidFill>
          </a:ln>
        </p:spPr>
        <p:txBody>
          <a:bodyPr anchor="ctr" rtlCol="false" lIns="0" tIns="0" rIns="0" bIns="0" wrap="square"/>
          <a:lstStyle/>
          <a:p>
            <a:endParaRPr lang="en-US" sz="1800"/>
          </a:p>
        </p:txBody>
      </p:sp>
      <p:sp>
        <p:nvSpPr>
          <p:cNvPr id="13" name="TextBox 12"/>
          <p:cNvSpPr txBox="1"/>
          <p:nvPr/>
        </p:nvSpPr>
        <p:spPr>
          <a:xfrm>
            <a:off x="15723108"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FFFFFF"/>
                </a:solidFill>
                <a:latin typeface="Nunito Ultra-Bold"/>
                <a:ea typeface="Nunito Ultra-Bold"/>
                <a:cs typeface="Nunito Ultra-Bold"/>
                <a:sym typeface="Nunito Ultra-Bold"/>
              </a:rPr>
              <a:t>4</a:t>
            </a:r>
          </a:p>
        </p:txBody>
      </p:sp>
      <p:sp>
        <p:nvSpPr>
          <p:cNvPr id="14" name="Rounded Rectangle 13"/>
          <p:cNvSpPr/>
          <p:nvPr/>
        </p:nvSpPr>
        <p:spPr>
          <a:xfrm>
            <a:off x="16125444"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15" name="TextBox 14"/>
          <p:cNvSpPr txBox="1"/>
          <p:nvPr/>
        </p:nvSpPr>
        <p:spPr>
          <a:xfrm>
            <a:off x="16125444"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5</a:t>
            </a:r>
          </a:p>
        </p:txBody>
      </p:sp>
      <p:sp>
        <p:nvSpPr>
          <p:cNvPr id="16" name="Rounded Rectangle 15"/>
          <p:cNvSpPr/>
          <p:nvPr/>
        </p:nvSpPr>
        <p:spPr>
          <a:xfrm>
            <a:off x="16527780"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17" name="TextBox 16"/>
          <p:cNvSpPr txBox="1"/>
          <p:nvPr/>
        </p:nvSpPr>
        <p:spPr>
          <a:xfrm>
            <a:off x="16527780"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6</a:t>
            </a:r>
          </a:p>
        </p:txBody>
      </p:sp>
      <p:sp>
        <p:nvSpPr>
          <p:cNvPr id="18" name="Rounded Rectangle 17"/>
          <p:cNvSpPr/>
          <p:nvPr/>
        </p:nvSpPr>
        <p:spPr>
          <a:xfrm>
            <a:off x="16930116"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19" name="TextBox 18"/>
          <p:cNvSpPr txBox="1"/>
          <p:nvPr/>
        </p:nvSpPr>
        <p:spPr>
          <a:xfrm>
            <a:off x="16930116"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7</a:t>
            </a:r>
          </a:p>
        </p:txBody>
      </p:sp>
      <p:sp>
        <p:nvSpPr>
          <p:cNvPr id="20" name="TextBox 19"/>
          <p:cNvSpPr txBox="1"/>
          <p:nvPr/>
        </p:nvSpPr>
        <p:spPr>
          <a:xfrm>
            <a:off x="1028700" y="1719072"/>
            <a:ext cx="16230600" cy="730250"/>
          </a:xfrm>
          <a:prstGeom prst="rect">
            <a:avLst/>
          </a:prstGeom>
          <a:noFill/>
        </p:spPr>
        <p:txBody>
          <a:bodyPr anchor="t" rtlCol="false" lIns="0" tIns="0" rIns="0" bIns="0" wrap="square"/>
          <a:lstStyle/>
          <a:p>
            <a:pPr algn="l">
              <a:lnSpc>
                <a:spcPts val="5060"/>
              </a:lnSpc>
              <a:spcBef>
                <a:spcPts val="0"/>
              </a:spcBef>
              <a:buNone/>
            </a:pPr>
            <a:r>
              <a:rPr lang="en-US" sz="4600" b="true" spc="-230">
                <a:solidFill>
                  <a:srgbClr val="111111"/>
                </a:solidFill>
                <a:latin typeface="Roca Two Bold"/>
                <a:ea typeface="Roca Two Bold"/>
                <a:cs typeface="Roca Two Bold"/>
                <a:sym typeface="Roca Two Bold"/>
              </a:rPr>
              <a:t>Answer to RQ1</a:t>
            </a:r>
          </a:p>
        </p:txBody>
      </p:sp>
      <p:sp>
        <p:nvSpPr>
          <p:cNvPr id="21" name="Rounded Rectangle 20"/>
          <p:cNvSpPr/>
          <p:nvPr/>
        </p:nvSpPr>
        <p:spPr>
          <a:xfrm>
            <a:off x="1028700" y="2559050"/>
            <a:ext cx="1691553" cy="420624"/>
          </a:xfrm>
          <a:prstGeom prst="roundRect">
            <a:avLst>
              <a:gd name="adj" fmla="val 50000"/>
            </a:avLst>
          </a:prstGeom>
          <a:noFill/>
          <a:ln w="28575">
            <a:solidFill>
              <a:srgbClr val="4472C4"/>
            </a:solidFill>
          </a:ln>
        </p:spPr>
        <p:txBody>
          <a:bodyPr anchor="ctr" rtlCol="false" lIns="45720" tIns="0" rIns="45720" bIns="0" wrap="square"/>
          <a:lstStyle/>
          <a:p>
            <a:pPr algn="ctr">
              <a:lnSpc>
                <a:spcPts val="2160"/>
              </a:lnSpc>
              <a:spcBef>
                <a:spcPts val="0"/>
              </a:spcBef>
              <a:buNone/>
            </a:pPr>
            <a:r>
              <a:rPr lang="en-US" sz="1800" b="true">
                <a:solidFill>
                  <a:srgbClr val="4472C4"/>
                </a:solidFill>
                <a:latin typeface="Nunito Bold"/>
                <a:ea typeface="Nunito Bold"/>
                <a:cs typeface="Nunito Bold"/>
                <a:sym typeface="Nunito Bold"/>
              </a:rPr>
              <a:t>Objectives</a:t>
            </a:r>
          </a:p>
        </p:txBody>
      </p:sp>
      <p:sp>
        <p:nvSpPr>
          <p:cNvPr id="22" name="Rounded Rectangle 21"/>
          <p:cNvSpPr/>
          <p:nvPr/>
        </p:nvSpPr>
        <p:spPr>
          <a:xfrm>
            <a:off x="2848269" y="2559050"/>
            <a:ext cx="1998119" cy="420624"/>
          </a:xfrm>
          <a:prstGeom prst="roundRect">
            <a:avLst>
              <a:gd name="adj" fmla="val 50000"/>
            </a:avLst>
          </a:prstGeom>
          <a:noFill/>
          <a:ln w="28575">
            <a:solidFill>
              <a:srgbClr val="4472C4"/>
            </a:solidFill>
          </a:ln>
        </p:spPr>
        <p:txBody>
          <a:bodyPr anchor="ctr" rtlCol="false" lIns="45720" tIns="0" rIns="45720" bIns="0" wrap="square"/>
          <a:lstStyle/>
          <a:p>
            <a:pPr algn="ctr">
              <a:lnSpc>
                <a:spcPts val="2160"/>
              </a:lnSpc>
              <a:spcBef>
                <a:spcPts val="0"/>
              </a:spcBef>
              <a:buNone/>
            </a:pPr>
            <a:r>
              <a:rPr lang="en-US" sz="1800" b="true">
                <a:solidFill>
                  <a:srgbClr val="4472C4"/>
                </a:solidFill>
                <a:latin typeface="Nunito Bold"/>
                <a:ea typeface="Nunito Bold"/>
                <a:cs typeface="Nunito Bold"/>
                <a:sym typeface="Nunito Bold"/>
              </a:rPr>
              <a:t>Methodology</a:t>
            </a:r>
          </a:p>
        </p:txBody>
      </p:sp>
      <p:sp>
        <p:nvSpPr>
          <p:cNvPr id="23" name="Rounded Rectangle 22"/>
          <p:cNvSpPr/>
          <p:nvPr/>
        </p:nvSpPr>
        <p:spPr>
          <a:xfrm>
            <a:off x="4974404" y="2559050"/>
            <a:ext cx="1369446" cy="420624"/>
          </a:xfrm>
          <a:prstGeom prst="roundRect">
            <a:avLst>
              <a:gd name="adj" fmla="val 50000"/>
            </a:avLst>
          </a:prstGeom>
          <a:noFill/>
          <a:ln w="28575">
            <a:solidFill>
              <a:srgbClr val="4472C4"/>
            </a:solidFill>
          </a:ln>
        </p:spPr>
        <p:txBody>
          <a:bodyPr anchor="ctr" rtlCol="false" lIns="45720" tIns="0" rIns="45720" bIns="0" wrap="square"/>
          <a:lstStyle/>
          <a:p>
            <a:pPr algn="ctr">
              <a:lnSpc>
                <a:spcPts val="2160"/>
              </a:lnSpc>
              <a:spcBef>
                <a:spcPts val="0"/>
              </a:spcBef>
              <a:buNone/>
            </a:pPr>
            <a:r>
              <a:rPr lang="en-US" sz="1800" b="true">
                <a:solidFill>
                  <a:srgbClr val="4472C4"/>
                </a:solidFill>
                <a:latin typeface="Nunito Bold"/>
                <a:ea typeface="Nunito Bold"/>
                <a:cs typeface="Nunito Bold"/>
                <a:sym typeface="Nunito Bold"/>
              </a:rPr>
              <a:t>Results</a:t>
            </a:r>
          </a:p>
        </p:txBody>
      </p:sp>
      <p:sp>
        <p:nvSpPr>
          <p:cNvPr id="24" name="Rounded Rectangle 23"/>
          <p:cNvSpPr/>
          <p:nvPr/>
        </p:nvSpPr>
        <p:spPr>
          <a:xfrm>
            <a:off x="6471866" y="2559050"/>
            <a:ext cx="1474931" cy="420624"/>
          </a:xfrm>
          <a:prstGeom prst="roundRect">
            <a:avLst>
              <a:gd name="adj" fmla="val 50000"/>
            </a:avLst>
          </a:prstGeom>
          <a:solidFill>
            <a:srgbClr val="4472C4"/>
          </a:solidFill>
          <a:ln>
            <a:noFill/>
          </a:ln>
        </p:spPr>
        <p:txBody>
          <a:bodyPr anchor="ctr" rtlCol="false" lIns="45720" tIns="0" rIns="45720" bIns="0" wrap="square"/>
          <a:lstStyle/>
          <a:p>
            <a:pPr algn="ctr">
              <a:lnSpc>
                <a:spcPts val="2160"/>
              </a:lnSpc>
              <a:spcBef>
                <a:spcPts val="0"/>
              </a:spcBef>
              <a:buNone/>
            </a:pPr>
            <a:r>
              <a:rPr lang="en-US" sz="1800" b="true">
                <a:solidFill>
                  <a:srgbClr val="FFFFFF"/>
                </a:solidFill>
                <a:latin typeface="Nunito Bold"/>
                <a:ea typeface="Nunito Bold"/>
                <a:cs typeface="Nunito Bold"/>
                <a:sym typeface="Nunito Bold"/>
              </a:rPr>
              <a:t>Findings</a:t>
            </a:r>
          </a:p>
        </p:txBody>
      </p:sp>
      <p:sp>
        <p:nvSpPr>
          <p:cNvPr id="25" name="Rounded Rectangle 24"/>
          <p:cNvSpPr/>
          <p:nvPr/>
        </p:nvSpPr>
        <p:spPr>
          <a:xfrm>
            <a:off x="1028700" y="3546602"/>
            <a:ext cx="16230600" cy="1463040"/>
          </a:xfrm>
          <a:prstGeom prst="roundRect">
            <a:avLst>
              <a:gd name="adj" fmla="val 13750"/>
            </a:avLst>
          </a:prstGeom>
          <a:solidFill>
            <a:srgbClr val="F6ECDF"/>
          </a:solidFill>
          <a:ln w="25400">
            <a:solidFill>
              <a:srgbClr val="4472C4"/>
            </a:solidFill>
          </a:ln>
        </p:spPr>
        <p:txBody>
          <a:bodyPr anchor="ctr" rtlCol="false" lIns="0" tIns="0" rIns="0" bIns="0" wrap="square"/>
          <a:lstStyle/>
          <a:p>
            <a:endParaRPr lang="en-US" sz="1800"/>
          </a:p>
        </p:txBody>
      </p:sp>
      <p:sp>
        <p:nvSpPr>
          <p:cNvPr id="26" name="Rounded Rectangle 25"/>
          <p:cNvSpPr/>
          <p:nvPr/>
        </p:nvSpPr>
        <p:spPr>
          <a:xfrm>
            <a:off x="1348740" y="3354578"/>
            <a:ext cx="2112238" cy="384048"/>
          </a:xfrm>
          <a:prstGeom prst="roundRect">
            <a:avLst>
              <a:gd name="adj" fmla="val 50000"/>
            </a:avLst>
          </a:prstGeom>
          <a:solidFill>
            <a:srgbClr val="4472C4"/>
          </a:solidFill>
          <a:ln w="28575">
            <a:solidFill>
              <a:srgbClr val="4472C4"/>
            </a:solidFill>
          </a:ln>
        </p:spPr>
        <p:txBody>
          <a:bodyPr anchor="ctr" rtlCol="false" lIns="45720" tIns="0" rIns="45720" bIns="0" wrap="square"/>
          <a:lstStyle/>
          <a:p>
            <a:pPr algn="ctr">
              <a:lnSpc>
                <a:spcPts val="1680"/>
              </a:lnSpc>
              <a:spcBef>
                <a:spcPts val="0"/>
              </a:spcBef>
              <a:buNone/>
            </a:pPr>
            <a:r>
              <a:rPr lang="en-US" sz="1400" b="true">
                <a:solidFill>
                  <a:srgbClr val="FFFFFF"/>
                </a:solidFill>
                <a:latin typeface="Nunito Bold"/>
                <a:ea typeface="Nunito Bold"/>
                <a:cs typeface="Nunito Bold"/>
                <a:sym typeface="Nunito Bold"/>
              </a:rPr>
              <a:t>ANSWER TO RQ1</a:t>
            </a:r>
          </a:p>
        </p:txBody>
      </p:sp>
      <p:sp>
        <p:nvSpPr>
          <p:cNvPr id="27" name="TextBox 26"/>
          <p:cNvSpPr txBox="1"/>
          <p:nvPr/>
        </p:nvSpPr>
        <p:spPr>
          <a:xfrm>
            <a:off x="1394460" y="3820922"/>
            <a:ext cx="15499080" cy="1051560"/>
          </a:xfrm>
          <a:prstGeom prst="rect">
            <a:avLst/>
          </a:prstGeom>
          <a:noFill/>
        </p:spPr>
        <p:txBody>
          <a:bodyPr anchor="ctr" rtlCol="false" lIns="0" tIns="0" rIns="0" bIns="0" wrap="square"/>
          <a:lstStyle/>
          <a:p>
            <a:pPr algn="l">
              <a:lnSpc>
                <a:spcPts val="3080"/>
              </a:lnSpc>
              <a:spcBef>
                <a:spcPts val="0"/>
              </a:spcBef>
              <a:buNone/>
            </a:pPr>
            <a:r>
              <a:rPr lang="en-US" sz="2200" b="true">
                <a:solidFill>
                  <a:srgbClr val="111111"/>
                </a:solidFill>
                <a:latin typeface="Nunito Bold"/>
                <a:ea typeface="Nunito Bold"/>
                <a:cs typeface="Nunito Bold"/>
                <a:sym typeface="Nunito Bold"/>
              </a:rPr>
              <a:t>Yes.</a:t>
            </a:r>
            <a:r>
              <a:rPr lang="en-US" sz="2200" b="true">
                <a:solidFill>
                  <a:srgbClr val="111111"/>
                </a:solidFill>
                <a:latin typeface="Nunito Semi-Bold"/>
                <a:ea typeface="Nunito Semi-Bold"/>
                <a:cs typeface="Nunito Semi-Bold"/>
                <a:sym typeface="Nunito Semi-Bold"/>
              </a:rPr>
              <a:t> Shapley values explain a black-box partition </a:t>
            </a:r>
            <a:r>
              <a:rPr lang="en-US" sz="2200" b="true">
                <a:solidFill>
                  <a:srgbClr val="111111"/>
                </a:solidFill>
                <a:latin typeface="Nunito Bold"/>
                <a:ea typeface="Nunito Bold"/>
                <a:cs typeface="Nunito Bold"/>
                <a:sym typeface="Nunito Bold"/>
              </a:rPr>
              <a:t>faithfully</a:t>
            </a:r>
            <a:r>
              <a:rPr lang="en-US" sz="2200" b="true">
                <a:solidFill>
                  <a:srgbClr val="111111"/>
                </a:solidFill>
                <a:latin typeface="Nunito Semi-Bold"/>
                <a:ea typeface="Nunito Semi-Bold"/>
                <a:cs typeface="Nunito Semi-Bold"/>
                <a:sym typeface="Nunito Semi-Bold"/>
              </a:rPr>
              <a:t> (given a high-fidelity surrogate) and </a:t>
            </a:r>
            <a:r>
              <a:rPr lang="en-US" sz="2200" b="true">
                <a:solidFill>
                  <a:srgbClr val="111111"/>
                </a:solidFill>
                <a:latin typeface="Nunito Bold"/>
                <a:ea typeface="Nunito Bold"/>
                <a:cs typeface="Nunito Bold"/>
                <a:sym typeface="Nunito Bold"/>
              </a:rPr>
              <a:t>consistently</a:t>
            </a:r>
            <a:r>
              <a:rPr lang="en-US" sz="2200" b="true">
                <a:solidFill>
                  <a:srgbClr val="111111"/>
                </a:solidFill>
                <a:latin typeface="Nunito Semi-Bold"/>
                <a:ea typeface="Nunito Semi-Bold"/>
                <a:cs typeface="Nunito Semi-Bold"/>
                <a:sym typeface="Nunito Semi-Bold"/>
              </a:rPr>
              <a:t> at cluster level, in the original feature space.</a:t>
            </a:r>
          </a:p>
        </p:txBody>
      </p:sp>
      <p:graphicFrame>
        <p:nvGraphicFramePr>
          <p:cNvPr id="28" name="Table 27"/>
          <p:cNvGraphicFramePr>
            <a:graphicFrameLocks noGrp="1"/>
          </p:cNvGraphicFramePr>
          <p:nvPr/>
        </p:nvGraphicFramePr>
        <p:xfrm>
          <a:off x="1028700" y="5421122"/>
          <a:ext cx="16230599" cy="3141472"/>
        </p:xfrm>
        <a:graphic>
          <a:graphicData uri="http://schemas.openxmlformats.org/drawingml/2006/table">
            <a:tbl>
              <a:tblPr firstRow="0" bandRow="0" firstCol="0" lastRow="0" lastCol="0" bandCol="0">
                <a:tableStyleId>{2D5ABB26-0587-4C30-8999-92F81FD0307C}</a:tableStyleId>
              </a:tblPr>
              <a:tblGrid>
                <a:gridCol w="5410200"/>
                <a:gridCol w="1456592"/>
                <a:gridCol w="9363807"/>
              </a:tblGrid>
              <a:tr h="777240">
                <a:tc>
                  <a:txBody>
                    <a:bodyPr anchor="ctr" rtlCol="false" lIns="0" tIns="0" rIns="0" bIns="0" wrap="square"/>
                    <a:lstStyle/>
                    <a:p>
                      <a:pPr algn="l">
                        <a:lnSpc>
                          <a:spcPts val="2210"/>
                        </a:lnSpc>
                        <a:spcBef>
                          <a:spcPts val="0"/>
                        </a:spcBef>
                        <a:buNone/>
                      </a:pPr>
                      <a:r>
                        <a:rPr lang="en-US" sz="1700" b="true">
                          <a:solidFill>
                            <a:srgbClr val="FFFFFF"/>
                          </a:solidFill>
                          <a:latin typeface="Nunito Bold"/>
                          <a:ea typeface="Nunito Bold"/>
                          <a:cs typeface="Nunito Bold"/>
                          <a:sym typeface="Nunito Bold"/>
                        </a:rPr>
                        <a:t>Objective</a:t>
                      </a:r>
                    </a:p>
                  </a:txBody>
                  <a:tcPr marL="82296" marR="82296" marT="45720" marB="45720" anchor="ctr">
                    <a:lnL w="12700" cap="flat" cmpd="sng" algn="ctr">
                      <a:solidFill>
                        <a:srgbClr val="4472C4"/>
                      </a:solidFill>
                      <a:prstDash val="solid"/>
                    </a:lnL>
                    <a:lnR w="12700" cap="flat" cmpd="sng" algn="ctr">
                      <a:solidFill>
                        <a:srgbClr val="4472C4"/>
                      </a:solidFill>
                      <a:prstDash val="solid"/>
                    </a:lnR>
                    <a:lnT w="12700" cap="flat" cmpd="sng" algn="ctr">
                      <a:solidFill>
                        <a:srgbClr val="4472C4"/>
                      </a:solidFill>
                      <a:prstDash val="solid"/>
                    </a:lnT>
                    <a:lnB w="12700" cap="flat" cmpd="sng" algn="ctr">
                      <a:solidFill>
                        <a:srgbClr val="4472C4"/>
                      </a:solidFill>
                      <a:prstDash val="solid"/>
                    </a:lnB>
                    <a:solidFill>
                      <a:srgbClr val="4472C4"/>
                    </a:solidFill>
                  </a:tcPr>
                </a:tc>
                <a:tc>
                  <a:txBody>
                    <a:bodyPr anchor="ctr" rtlCol="false" lIns="0" tIns="0" rIns="0" bIns="0" wrap="square"/>
                    <a:lstStyle/>
                    <a:p>
                      <a:pPr algn="ctr">
                        <a:lnSpc>
                          <a:spcPts val="2210"/>
                        </a:lnSpc>
                        <a:spcBef>
                          <a:spcPts val="0"/>
                        </a:spcBef>
                        <a:buNone/>
                      </a:pPr>
                      <a:r>
                        <a:rPr lang="en-US" sz="1700" b="true">
                          <a:solidFill>
                            <a:srgbClr val="FFFFFF"/>
                          </a:solidFill>
                          <a:latin typeface="Nunito Bold"/>
                          <a:ea typeface="Nunito Bold"/>
                          <a:cs typeface="Nunito Bold"/>
                          <a:sym typeface="Nunito Bold"/>
                        </a:rPr>
                        <a:t>Status</a:t>
                      </a:r>
                    </a:p>
                  </a:txBody>
                  <a:tcPr marL="82296" marR="82296" marT="45720" marB="45720" anchor="ctr">
                    <a:lnL w="12700" cap="flat" cmpd="sng" algn="ctr">
                      <a:solidFill>
                        <a:srgbClr val="4472C4"/>
                      </a:solidFill>
                      <a:prstDash val="solid"/>
                    </a:lnL>
                    <a:lnR w="12700" cap="flat" cmpd="sng" algn="ctr">
                      <a:solidFill>
                        <a:srgbClr val="4472C4"/>
                      </a:solidFill>
                      <a:prstDash val="solid"/>
                    </a:lnR>
                    <a:lnT w="12700" cap="flat" cmpd="sng" algn="ctr">
                      <a:solidFill>
                        <a:srgbClr val="4472C4"/>
                      </a:solidFill>
                      <a:prstDash val="solid"/>
                    </a:lnT>
                    <a:lnB w="12700" cap="flat" cmpd="sng" algn="ctr">
                      <a:solidFill>
                        <a:srgbClr val="4472C4"/>
                      </a:solidFill>
                      <a:prstDash val="solid"/>
                    </a:lnB>
                    <a:solidFill>
                      <a:srgbClr val="4472C4"/>
                    </a:solidFill>
                  </a:tcPr>
                </a:tc>
                <a:tc>
                  <a:txBody>
                    <a:bodyPr anchor="ctr" rtlCol="false" lIns="0" tIns="0" rIns="0" bIns="0" wrap="square"/>
                    <a:lstStyle/>
                    <a:p>
                      <a:pPr algn="l">
                        <a:lnSpc>
                          <a:spcPts val="2210"/>
                        </a:lnSpc>
                        <a:spcBef>
                          <a:spcPts val="0"/>
                        </a:spcBef>
                        <a:buNone/>
                      </a:pPr>
                      <a:r>
                        <a:rPr lang="en-US" sz="1700" b="true">
                          <a:solidFill>
                            <a:srgbClr val="FFFFFF"/>
                          </a:solidFill>
                          <a:latin typeface="Nunito Bold"/>
                          <a:ea typeface="Nunito Bold"/>
                          <a:cs typeface="Nunito Bold"/>
                          <a:sym typeface="Nunito Bold"/>
                        </a:rPr>
                        <a:t>Evidence</a:t>
                      </a:r>
                    </a:p>
                  </a:txBody>
                  <a:tcPr marL="82296" marR="82296" marT="45720" marB="45720" anchor="ctr">
                    <a:lnL w="12700" cap="flat" cmpd="sng" algn="ctr">
                      <a:solidFill>
                        <a:srgbClr val="4472C4"/>
                      </a:solidFill>
                      <a:prstDash val="solid"/>
                    </a:lnL>
                    <a:lnR w="12700" cap="flat" cmpd="sng" algn="ctr">
                      <a:solidFill>
                        <a:srgbClr val="4472C4"/>
                      </a:solidFill>
                      <a:prstDash val="solid"/>
                    </a:lnR>
                    <a:lnT w="12700" cap="flat" cmpd="sng" algn="ctr">
                      <a:solidFill>
                        <a:srgbClr val="4472C4"/>
                      </a:solidFill>
                      <a:prstDash val="solid"/>
                    </a:lnT>
                    <a:lnB w="12700" cap="flat" cmpd="sng" algn="ctr">
                      <a:solidFill>
                        <a:srgbClr val="4472C4"/>
                      </a:solidFill>
                      <a:prstDash val="solid"/>
                    </a:lnB>
                    <a:solidFill>
                      <a:srgbClr val="4472C4"/>
                    </a:solidFill>
                  </a:tcPr>
                </a:tc>
              </a:tr>
              <a:tr h="809752">
                <a:tc>
                  <a:txBody>
                    <a:bodyPr anchor="ctr" rtlCol="false" lIns="0" tIns="0" rIns="0" bIns="0" wrap="square"/>
                    <a:lstStyle/>
                    <a:p>
                      <a:pPr algn="l">
                        <a:lnSpc>
                          <a:spcPts val="2340"/>
                        </a:lnSpc>
                        <a:spcBef>
                          <a:spcPts val="0"/>
                        </a:spcBef>
                        <a:buNone/>
                      </a:pPr>
                      <a:r>
                        <a:rPr lang="en-US" sz="1800" b="true">
                          <a:solidFill>
                            <a:srgbClr val="111111"/>
                          </a:solidFill>
                          <a:latin typeface="Nunito Bold"/>
                          <a:ea typeface="Nunito Bold"/>
                          <a:cs typeface="Nunito Bold"/>
                          <a:sym typeface="Nunito Bold"/>
                        </a:rPr>
                        <a:t>O1  ·  Cluster-level explanation with feature-level attribution</a:t>
                      </a:r>
                    </a:p>
                  </a:txBody>
                  <a:tcPr marL="82296" marR="82296"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c>
                  <a:txBody>
                    <a:bodyPr anchor="ctr" rtlCol="false" lIns="0" tIns="0" rIns="0" bIns="0" wrap="square"/>
                    <a:lstStyle/>
                    <a:p>
                      <a:pPr algn="ctr">
                        <a:lnSpc>
                          <a:spcPts val="2340"/>
                        </a:lnSpc>
                        <a:spcBef>
                          <a:spcPts val="0"/>
                        </a:spcBef>
                        <a:buNone/>
                      </a:pPr>
                      <a:r>
                        <a:rPr lang="en-US" sz="1800" b="true">
                          <a:solidFill>
                            <a:srgbClr val="111111"/>
                          </a:solidFill>
                          <a:latin typeface="Nunito Semi-Bold"/>
                          <a:ea typeface="Nunito Semi-Bold"/>
                          <a:cs typeface="Nunito Semi-Bold"/>
                          <a:sym typeface="Nunito Semi-Bold"/>
                        </a:rPr>
                        <a:t>Met</a:t>
                      </a:r>
                    </a:p>
                  </a:txBody>
                  <a:tcPr marL="82296" marR="82296"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c>
                  <a:txBody>
                    <a:bodyPr anchor="ctr" rtlCol="false" lIns="0" tIns="0" rIns="0" bIns="0" wrap="square"/>
                    <a:lstStyle/>
                    <a:p>
                      <a:pPr algn="l">
                        <a:lnSpc>
                          <a:spcPts val="2340"/>
                        </a:lnSpc>
                        <a:spcBef>
                          <a:spcPts val="0"/>
                        </a:spcBef>
                        <a:buNone/>
                      </a:pPr>
                      <a:r>
                        <a:rPr lang="en-US" sz="1800" b="true">
                          <a:solidFill>
                            <a:srgbClr val="111111"/>
                          </a:solidFill>
                          <a:latin typeface="Nunito Semi-Bold"/>
                          <a:ea typeface="Nunito Semi-Bold"/>
                          <a:cs typeface="Nunito Semi-Bold"/>
                          <a:sym typeface="Nunito Semi-Bold"/>
                        </a:rPr>
                        <a:t>Global ranking + per-cluster SHAP profiles (Fig. 5.1, 5.2) + local force plots</a:t>
                      </a:r>
                    </a:p>
                  </a:txBody>
                  <a:tcPr marL="82296" marR="82296"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r>
              <a:tr h="777240">
                <a:tc>
                  <a:txBody>
                    <a:bodyPr anchor="ctr" rtlCol="false" lIns="0" tIns="0" rIns="0" bIns="0" wrap="square"/>
                    <a:lstStyle/>
                    <a:p>
                      <a:pPr algn="l">
                        <a:lnSpc>
                          <a:spcPts val="2340"/>
                        </a:lnSpc>
                        <a:spcBef>
                          <a:spcPts val="0"/>
                        </a:spcBef>
                        <a:buNone/>
                      </a:pPr>
                      <a:r>
                        <a:rPr lang="en-US" sz="1800" b="true">
                          <a:solidFill>
                            <a:srgbClr val="111111"/>
                          </a:solidFill>
                          <a:latin typeface="Nunito Bold"/>
                          <a:ea typeface="Nunito Bold"/>
                          <a:cs typeface="Nunito Bold"/>
                          <a:sym typeface="Nunito Bold"/>
                        </a:rPr>
                        <a:t>O2  ·  Attribution in the original feature space</a:t>
                      </a:r>
                    </a:p>
                  </a:txBody>
                  <a:tcPr marL="82296" marR="82296"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6ECDF"/>
                    </a:solidFill>
                  </a:tcPr>
                </a:tc>
                <a:tc>
                  <a:txBody>
                    <a:bodyPr anchor="ctr" rtlCol="false" lIns="0" tIns="0" rIns="0" bIns="0" wrap="square"/>
                    <a:lstStyle/>
                    <a:p>
                      <a:pPr algn="ctr">
                        <a:lnSpc>
                          <a:spcPts val="2340"/>
                        </a:lnSpc>
                        <a:spcBef>
                          <a:spcPts val="0"/>
                        </a:spcBef>
                        <a:buNone/>
                      </a:pPr>
                      <a:r>
                        <a:rPr lang="en-US" sz="1800" b="true">
                          <a:solidFill>
                            <a:srgbClr val="111111"/>
                          </a:solidFill>
                          <a:latin typeface="Nunito Semi-Bold"/>
                          <a:ea typeface="Nunito Semi-Bold"/>
                          <a:cs typeface="Nunito Semi-Bold"/>
                          <a:sym typeface="Nunito Semi-Bold"/>
                        </a:rPr>
                        <a:t>Met</a:t>
                      </a:r>
                    </a:p>
                  </a:txBody>
                  <a:tcPr marL="82296" marR="82296"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6ECDF"/>
                    </a:solidFill>
                  </a:tcPr>
                </a:tc>
                <a:tc>
                  <a:txBody>
                    <a:bodyPr anchor="ctr" rtlCol="false" lIns="0" tIns="0" rIns="0" bIns="0" wrap="square"/>
                    <a:lstStyle/>
                    <a:p>
                      <a:pPr algn="l">
                        <a:lnSpc>
                          <a:spcPts val="2340"/>
                        </a:lnSpc>
                        <a:spcBef>
                          <a:spcPts val="0"/>
                        </a:spcBef>
                        <a:buNone/>
                      </a:pPr>
                      <a:r>
                        <a:rPr lang="en-US" sz="1800" b="true">
                          <a:solidFill>
                            <a:srgbClr val="111111"/>
                          </a:solidFill>
                          <a:latin typeface="Nunito Semi-Bold"/>
                          <a:ea typeface="Nunito Semi-Bold"/>
                          <a:cs typeface="Nunito Semi-Bold"/>
                          <a:sym typeface="Nunito Semi-Bold"/>
                        </a:rPr>
                        <a:t>Density, pH, fixed acidity, sulfur dioxide, alcohol: no latent space</a:t>
                      </a:r>
                    </a:p>
                  </a:txBody>
                  <a:tcPr marL="82296" marR="82296"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6ECDF"/>
                    </a:solidFill>
                  </a:tcPr>
                </a:tc>
              </a:tr>
              <a:tr h="777240">
                <a:tc>
                  <a:txBody>
                    <a:bodyPr anchor="ctr" rtlCol="false" lIns="0" tIns="0" rIns="0" bIns="0" wrap="square"/>
                    <a:lstStyle/>
                    <a:p>
                      <a:pPr algn="l">
                        <a:lnSpc>
                          <a:spcPts val="2340"/>
                        </a:lnSpc>
                        <a:spcBef>
                          <a:spcPts val="0"/>
                        </a:spcBef>
                        <a:buNone/>
                      </a:pPr>
                      <a:r>
                        <a:rPr lang="en-US" sz="1800" b="true">
                          <a:solidFill>
                            <a:srgbClr val="111111"/>
                          </a:solidFill>
                          <a:latin typeface="Nunito Bold"/>
                          <a:ea typeface="Nunito Bold"/>
                          <a:cs typeface="Nunito Bold"/>
                          <a:sym typeface="Nunito Bold"/>
                        </a:rPr>
                        <a:t>O3  ·  Shapley justified over LIME</a:t>
                      </a:r>
                    </a:p>
                  </a:txBody>
                  <a:tcPr marL="82296" marR="82296"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c>
                  <a:txBody>
                    <a:bodyPr anchor="ctr" rtlCol="false" lIns="0" tIns="0" rIns="0" bIns="0" wrap="square"/>
                    <a:lstStyle/>
                    <a:p>
                      <a:pPr algn="ctr">
                        <a:lnSpc>
                          <a:spcPts val="2340"/>
                        </a:lnSpc>
                        <a:spcBef>
                          <a:spcPts val="0"/>
                        </a:spcBef>
                        <a:buNone/>
                      </a:pPr>
                      <a:r>
                        <a:rPr lang="en-US" sz="1800" b="true">
                          <a:solidFill>
                            <a:srgbClr val="111111"/>
                          </a:solidFill>
                          <a:latin typeface="Nunito Semi-Bold"/>
                          <a:ea typeface="Nunito Semi-Bold"/>
                          <a:cs typeface="Nunito Semi-Bold"/>
                          <a:sym typeface="Nunito Semi-Bold"/>
                        </a:rPr>
                        <a:t>Met</a:t>
                      </a:r>
                    </a:p>
                  </a:txBody>
                  <a:tcPr marL="82296" marR="82296"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c>
                  <a:txBody>
                    <a:bodyPr anchor="ctr" rtlCol="false" lIns="0" tIns="0" rIns="0" bIns="0" wrap="square"/>
                    <a:lstStyle/>
                    <a:p>
                      <a:pPr algn="l">
                        <a:lnSpc>
                          <a:spcPts val="2340"/>
                        </a:lnSpc>
                        <a:spcBef>
                          <a:spcPts val="0"/>
                        </a:spcBef>
                        <a:buNone/>
                      </a:pPr>
                      <a:r>
                        <a:rPr lang="en-US" sz="1800" b="true">
                          <a:solidFill>
                            <a:srgbClr val="111111"/>
                          </a:solidFill>
                          <a:latin typeface="Nunito Semi-Bold"/>
                          <a:ea typeface="Nunito Semi-Bold"/>
                          <a:cs typeface="Nunito Semi-Bold"/>
                          <a:sym typeface="Nunito Semi-Bold"/>
                        </a:rPr>
                        <a:t>Four axioms; higher stability and cross-cluster comparability</a:t>
                      </a:r>
                    </a:p>
                  </a:txBody>
                  <a:tcPr marL="82296" marR="82296"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r>
            </a:tbl>
          </a:graphicData>
        </a:graphic>
      </p:graphicFrame>
    </p:spTree>
  </p:cSld>
  <p:clrMapOvr>
    <a:masterClrMapping/>
  </p:clrMapOvr>
</p:sld>
</file>

<file path=ppt/slides/slide5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pic>
        <p:nvPicPr>
          <p:cNvPr id="2" name="Picture 1" descr="ensias_logo.jpg"/>
          <p:cNvPicPr>
            <a:picLocks noChangeAspect="1"/>
          </p:cNvPicPr>
          <p:nvPr/>
        </p:nvPicPr>
        <p:blipFill>
          <a:blip r:embed="rId2"/>
          <a:stretch>
            <a:fillRect/>
          </a:stretch>
        </p:blipFill>
        <p:spPr>
          <a:xfrm>
            <a:off x="1028700" y="9674352"/>
            <a:ext cx="542964" cy="384048"/>
          </a:xfrm>
          <a:prstGeom prst="rect">
            <a:avLst/>
          </a:prstGeom>
        </p:spPr>
      </p:pic>
      <p:sp>
        <p:nvSpPr>
          <p:cNvPr id="3" name="TextBox 2"/>
          <p:cNvSpPr txBox="1"/>
          <p:nvPr/>
        </p:nvSpPr>
        <p:spPr>
          <a:xfrm>
            <a:off x="1577340" y="9601200"/>
            <a:ext cx="14493240" cy="566928"/>
          </a:xfrm>
          <a:prstGeom prst="rect">
            <a:avLst/>
          </a:prstGeom>
          <a:noFill/>
        </p:spPr>
        <p:txBody>
          <a:bodyPr anchor="ctr" rtlCol="false" lIns="0" tIns="0" rIns="0" bIns="0" wrap="square"/>
          <a:lstStyle/>
          <a:p>
            <a:pPr algn="l">
              <a:lnSpc>
                <a:spcPts val="1200"/>
              </a:lnSpc>
              <a:spcBef>
                <a:spcPts val="0"/>
              </a:spcBef>
              <a:buNone/>
            </a:pPr>
            <a:r>
              <a:rPr lang="en-US" sz="1000" b="true">
                <a:solidFill>
                  <a:srgbClr val="8A8378"/>
                </a:solidFill>
                <a:latin typeface="Nunito Semi-Bold"/>
                <a:ea typeface="Nunito Semi-Bold"/>
                <a:cs typeface="Nunito Semi-Bold"/>
                <a:sym typeface="Nunito Semi-Bold"/>
              </a:rPr>
              <a:t>[1] Louhichi, M., Nesmaoui, R., Mbarek, M. &amp; Lazaar, M. Shapley Values for Explaining the Black Box Nature of Machine Learning Model Clustering. Procedia Computer Science 220, 806–811 (2023).</a:t>
            </a:r>
          </a:p>
        </p:txBody>
      </p:sp>
      <p:sp>
        <p:nvSpPr>
          <p:cNvPr id="4" name="TextBox 3"/>
          <p:cNvSpPr txBox="1"/>
          <p:nvPr/>
        </p:nvSpPr>
        <p:spPr>
          <a:xfrm>
            <a:off x="16162020" y="9692640"/>
            <a:ext cx="1097280" cy="329184"/>
          </a:xfrm>
          <a:prstGeom prst="rect">
            <a:avLst/>
          </a:prstGeom>
          <a:noFill/>
        </p:spPr>
        <p:txBody>
          <a:bodyPr anchor="t" rtlCol="false" lIns="0" tIns="0" rIns="0" bIns="0" wrap="square"/>
          <a:lstStyle/>
          <a:p>
            <a:pPr algn="r">
              <a:lnSpc>
                <a:spcPts val="2200"/>
              </a:lnSpc>
              <a:spcBef>
                <a:spcPts val="0"/>
              </a:spcBef>
              <a:buNone/>
            </a:pPr>
            <a:r>
              <a:rPr lang="en-US" sz="1800" b="true">
                <a:solidFill>
                  <a:srgbClr val="111111"/>
                </a:solidFill>
                <a:latin typeface="Nunito Ultra-Bold"/>
                <a:ea typeface="Nunito Ultra-Bold"/>
                <a:cs typeface="Nunito Ultra-Bold"/>
                <a:sym typeface="Nunito Ultra-Bold"/>
              </a:rPr>
              <a:t>35</a:t>
            </a:r>
          </a:p>
        </p:txBody>
      </p:sp>
      <p:sp>
        <p:nvSpPr>
          <p:cNvPr id="5" name="TextBox 4"/>
          <p:cNvSpPr txBox="1"/>
          <p:nvPr/>
        </p:nvSpPr>
        <p:spPr>
          <a:xfrm>
            <a:off x="1028700" y="1389888"/>
            <a:ext cx="12938760" cy="329184"/>
          </a:xfrm>
          <a:prstGeom prst="rect">
            <a:avLst/>
          </a:prstGeom>
          <a:noFill/>
        </p:spPr>
        <p:txBody>
          <a:bodyPr anchor="t" rtlCol="false" lIns="0" tIns="0" rIns="0" bIns="0" wrap="square"/>
          <a:lstStyle/>
          <a:p>
            <a:pPr algn="l">
              <a:lnSpc>
                <a:spcPts val="2000"/>
              </a:lnSpc>
              <a:spcBef>
                <a:spcPts val="0"/>
              </a:spcBef>
              <a:buNone/>
            </a:pPr>
            <a:r>
              <a:rPr lang="en-US" sz="1500" b="true" spc="160">
                <a:solidFill>
                  <a:srgbClr val="1F7A8C"/>
                </a:solidFill>
                <a:latin typeface="Nunito Ultra-Bold"/>
                <a:ea typeface="Nunito Ultra-Bold"/>
                <a:cs typeface="Nunito Ultra-Bold"/>
                <a:sym typeface="Nunito Ultra-Bold"/>
              </a:rPr>
              <a:t>CONTRIBUTION I: EXPLAINABLE BLACK-BOX CLUSTERING</a:t>
            </a:r>
          </a:p>
        </p:txBody>
      </p:sp>
      <p:sp>
        <p:nvSpPr>
          <p:cNvPr id="6" name="Rounded Rectangle 5"/>
          <p:cNvSpPr/>
          <p:nvPr/>
        </p:nvSpPr>
        <p:spPr>
          <a:xfrm>
            <a:off x="14516100"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7" name="TextBox 6"/>
          <p:cNvSpPr txBox="1"/>
          <p:nvPr/>
        </p:nvSpPr>
        <p:spPr>
          <a:xfrm>
            <a:off x="14516100"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1</a:t>
            </a:r>
          </a:p>
        </p:txBody>
      </p:sp>
      <p:sp>
        <p:nvSpPr>
          <p:cNvPr id="8" name="Rounded Rectangle 7"/>
          <p:cNvSpPr/>
          <p:nvPr/>
        </p:nvSpPr>
        <p:spPr>
          <a:xfrm>
            <a:off x="14918436"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9" name="TextBox 8"/>
          <p:cNvSpPr txBox="1"/>
          <p:nvPr/>
        </p:nvSpPr>
        <p:spPr>
          <a:xfrm>
            <a:off x="14918436"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2</a:t>
            </a:r>
          </a:p>
        </p:txBody>
      </p:sp>
      <p:sp>
        <p:nvSpPr>
          <p:cNvPr id="10" name="Rounded Rectangle 9"/>
          <p:cNvSpPr/>
          <p:nvPr/>
        </p:nvSpPr>
        <p:spPr>
          <a:xfrm>
            <a:off x="15320772"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11" name="TextBox 10"/>
          <p:cNvSpPr txBox="1"/>
          <p:nvPr/>
        </p:nvSpPr>
        <p:spPr>
          <a:xfrm>
            <a:off x="15320772"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3</a:t>
            </a:r>
          </a:p>
        </p:txBody>
      </p:sp>
      <p:sp>
        <p:nvSpPr>
          <p:cNvPr id="12" name="Rounded Rectangle 11"/>
          <p:cNvSpPr/>
          <p:nvPr/>
        </p:nvSpPr>
        <p:spPr>
          <a:xfrm>
            <a:off x="15723108" y="1371600"/>
            <a:ext cx="329184" cy="329184"/>
          </a:xfrm>
          <a:prstGeom prst="roundRect">
            <a:avLst>
              <a:gd name="adj" fmla="val 16666"/>
            </a:avLst>
          </a:prstGeom>
          <a:solidFill>
            <a:srgbClr val="4472C4"/>
          </a:solidFill>
          <a:ln w="15875">
            <a:solidFill>
              <a:srgbClr val="4472C4"/>
            </a:solidFill>
          </a:ln>
        </p:spPr>
        <p:txBody>
          <a:bodyPr anchor="ctr" rtlCol="false" lIns="0" tIns="0" rIns="0" bIns="0" wrap="square"/>
          <a:lstStyle/>
          <a:p>
            <a:endParaRPr lang="en-US" sz="1800"/>
          </a:p>
        </p:txBody>
      </p:sp>
      <p:sp>
        <p:nvSpPr>
          <p:cNvPr id="13" name="TextBox 12"/>
          <p:cNvSpPr txBox="1"/>
          <p:nvPr/>
        </p:nvSpPr>
        <p:spPr>
          <a:xfrm>
            <a:off x="15723108"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FFFFFF"/>
                </a:solidFill>
                <a:latin typeface="Nunito Ultra-Bold"/>
                <a:ea typeface="Nunito Ultra-Bold"/>
                <a:cs typeface="Nunito Ultra-Bold"/>
                <a:sym typeface="Nunito Ultra-Bold"/>
              </a:rPr>
              <a:t>4</a:t>
            </a:r>
          </a:p>
        </p:txBody>
      </p:sp>
      <p:sp>
        <p:nvSpPr>
          <p:cNvPr id="14" name="Rounded Rectangle 13"/>
          <p:cNvSpPr/>
          <p:nvPr/>
        </p:nvSpPr>
        <p:spPr>
          <a:xfrm>
            <a:off x="16125444"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15" name="TextBox 14"/>
          <p:cNvSpPr txBox="1"/>
          <p:nvPr/>
        </p:nvSpPr>
        <p:spPr>
          <a:xfrm>
            <a:off x="16125444"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5</a:t>
            </a:r>
          </a:p>
        </p:txBody>
      </p:sp>
      <p:sp>
        <p:nvSpPr>
          <p:cNvPr id="16" name="Rounded Rectangle 15"/>
          <p:cNvSpPr/>
          <p:nvPr/>
        </p:nvSpPr>
        <p:spPr>
          <a:xfrm>
            <a:off x="16527780"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17" name="TextBox 16"/>
          <p:cNvSpPr txBox="1"/>
          <p:nvPr/>
        </p:nvSpPr>
        <p:spPr>
          <a:xfrm>
            <a:off x="16527780"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6</a:t>
            </a:r>
          </a:p>
        </p:txBody>
      </p:sp>
      <p:sp>
        <p:nvSpPr>
          <p:cNvPr id="18" name="Rounded Rectangle 17"/>
          <p:cNvSpPr/>
          <p:nvPr/>
        </p:nvSpPr>
        <p:spPr>
          <a:xfrm>
            <a:off x="16930116"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19" name="TextBox 18"/>
          <p:cNvSpPr txBox="1"/>
          <p:nvPr/>
        </p:nvSpPr>
        <p:spPr>
          <a:xfrm>
            <a:off x="16930116"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7</a:t>
            </a:r>
          </a:p>
        </p:txBody>
      </p:sp>
      <p:sp>
        <p:nvSpPr>
          <p:cNvPr id="20" name="TextBox 19"/>
          <p:cNvSpPr txBox="1"/>
          <p:nvPr/>
        </p:nvSpPr>
        <p:spPr>
          <a:xfrm>
            <a:off x="1028700" y="1719072"/>
            <a:ext cx="16230600" cy="730250"/>
          </a:xfrm>
          <a:prstGeom prst="rect">
            <a:avLst/>
          </a:prstGeom>
          <a:noFill/>
        </p:spPr>
        <p:txBody>
          <a:bodyPr anchor="t" rtlCol="false" lIns="0" tIns="0" rIns="0" bIns="0" wrap="square"/>
          <a:lstStyle/>
          <a:p>
            <a:pPr algn="l">
              <a:lnSpc>
                <a:spcPts val="5060"/>
              </a:lnSpc>
              <a:spcBef>
                <a:spcPts val="0"/>
              </a:spcBef>
              <a:buNone/>
            </a:pPr>
            <a:r>
              <a:rPr lang="en-US" sz="4600" b="true" spc="-230">
                <a:solidFill>
                  <a:srgbClr val="111111"/>
                </a:solidFill>
                <a:latin typeface="Roca Two Bold"/>
                <a:ea typeface="Roca Two Bold"/>
                <a:cs typeface="Roca Two Bold"/>
                <a:sym typeface="Roca Two Bold"/>
              </a:rPr>
              <a:t>Key Findings</a:t>
            </a:r>
          </a:p>
        </p:txBody>
      </p:sp>
      <p:sp>
        <p:nvSpPr>
          <p:cNvPr id="21" name="Rounded Rectangle 20"/>
          <p:cNvSpPr/>
          <p:nvPr/>
        </p:nvSpPr>
        <p:spPr>
          <a:xfrm>
            <a:off x="1028700" y="2559050"/>
            <a:ext cx="1691553" cy="420624"/>
          </a:xfrm>
          <a:prstGeom prst="roundRect">
            <a:avLst>
              <a:gd name="adj" fmla="val 50000"/>
            </a:avLst>
          </a:prstGeom>
          <a:noFill/>
          <a:ln w="28575">
            <a:solidFill>
              <a:srgbClr val="4472C4"/>
            </a:solidFill>
          </a:ln>
        </p:spPr>
        <p:txBody>
          <a:bodyPr anchor="ctr" rtlCol="false" lIns="45720" tIns="0" rIns="45720" bIns="0" wrap="square"/>
          <a:lstStyle/>
          <a:p>
            <a:pPr algn="ctr">
              <a:lnSpc>
                <a:spcPts val="2160"/>
              </a:lnSpc>
              <a:spcBef>
                <a:spcPts val="0"/>
              </a:spcBef>
              <a:buNone/>
            </a:pPr>
            <a:r>
              <a:rPr lang="en-US" sz="1800" b="true">
                <a:solidFill>
                  <a:srgbClr val="4472C4"/>
                </a:solidFill>
                <a:latin typeface="Nunito Bold"/>
                <a:ea typeface="Nunito Bold"/>
                <a:cs typeface="Nunito Bold"/>
                <a:sym typeface="Nunito Bold"/>
              </a:rPr>
              <a:t>Objectives</a:t>
            </a:r>
          </a:p>
        </p:txBody>
      </p:sp>
      <p:sp>
        <p:nvSpPr>
          <p:cNvPr id="22" name="Rounded Rectangle 21"/>
          <p:cNvSpPr/>
          <p:nvPr/>
        </p:nvSpPr>
        <p:spPr>
          <a:xfrm>
            <a:off x="2848269" y="2559050"/>
            <a:ext cx="1998119" cy="420624"/>
          </a:xfrm>
          <a:prstGeom prst="roundRect">
            <a:avLst>
              <a:gd name="adj" fmla="val 50000"/>
            </a:avLst>
          </a:prstGeom>
          <a:noFill/>
          <a:ln w="28575">
            <a:solidFill>
              <a:srgbClr val="4472C4"/>
            </a:solidFill>
          </a:ln>
        </p:spPr>
        <p:txBody>
          <a:bodyPr anchor="ctr" rtlCol="false" lIns="45720" tIns="0" rIns="45720" bIns="0" wrap="square"/>
          <a:lstStyle/>
          <a:p>
            <a:pPr algn="ctr">
              <a:lnSpc>
                <a:spcPts val="2160"/>
              </a:lnSpc>
              <a:spcBef>
                <a:spcPts val="0"/>
              </a:spcBef>
              <a:buNone/>
            </a:pPr>
            <a:r>
              <a:rPr lang="en-US" sz="1800" b="true">
                <a:solidFill>
                  <a:srgbClr val="4472C4"/>
                </a:solidFill>
                <a:latin typeface="Nunito Bold"/>
                <a:ea typeface="Nunito Bold"/>
                <a:cs typeface="Nunito Bold"/>
                <a:sym typeface="Nunito Bold"/>
              </a:rPr>
              <a:t>Methodology</a:t>
            </a:r>
          </a:p>
        </p:txBody>
      </p:sp>
      <p:sp>
        <p:nvSpPr>
          <p:cNvPr id="23" name="Rounded Rectangle 22"/>
          <p:cNvSpPr/>
          <p:nvPr/>
        </p:nvSpPr>
        <p:spPr>
          <a:xfrm>
            <a:off x="4974404" y="2559050"/>
            <a:ext cx="1369446" cy="420624"/>
          </a:xfrm>
          <a:prstGeom prst="roundRect">
            <a:avLst>
              <a:gd name="adj" fmla="val 50000"/>
            </a:avLst>
          </a:prstGeom>
          <a:noFill/>
          <a:ln w="28575">
            <a:solidFill>
              <a:srgbClr val="4472C4"/>
            </a:solidFill>
          </a:ln>
        </p:spPr>
        <p:txBody>
          <a:bodyPr anchor="ctr" rtlCol="false" lIns="45720" tIns="0" rIns="45720" bIns="0" wrap="square"/>
          <a:lstStyle/>
          <a:p>
            <a:pPr algn="ctr">
              <a:lnSpc>
                <a:spcPts val="2160"/>
              </a:lnSpc>
              <a:spcBef>
                <a:spcPts val="0"/>
              </a:spcBef>
              <a:buNone/>
            </a:pPr>
            <a:r>
              <a:rPr lang="en-US" sz="1800" b="true">
                <a:solidFill>
                  <a:srgbClr val="4472C4"/>
                </a:solidFill>
                <a:latin typeface="Nunito Bold"/>
                <a:ea typeface="Nunito Bold"/>
                <a:cs typeface="Nunito Bold"/>
                <a:sym typeface="Nunito Bold"/>
              </a:rPr>
              <a:t>Results</a:t>
            </a:r>
          </a:p>
        </p:txBody>
      </p:sp>
      <p:sp>
        <p:nvSpPr>
          <p:cNvPr id="24" name="Rounded Rectangle 23"/>
          <p:cNvSpPr/>
          <p:nvPr/>
        </p:nvSpPr>
        <p:spPr>
          <a:xfrm>
            <a:off x="6471866" y="2559050"/>
            <a:ext cx="1474931" cy="420624"/>
          </a:xfrm>
          <a:prstGeom prst="roundRect">
            <a:avLst>
              <a:gd name="adj" fmla="val 50000"/>
            </a:avLst>
          </a:prstGeom>
          <a:solidFill>
            <a:srgbClr val="4472C4"/>
          </a:solidFill>
          <a:ln>
            <a:noFill/>
          </a:ln>
        </p:spPr>
        <p:txBody>
          <a:bodyPr anchor="ctr" rtlCol="false" lIns="45720" tIns="0" rIns="45720" bIns="0" wrap="square"/>
          <a:lstStyle/>
          <a:p>
            <a:pPr algn="ctr">
              <a:lnSpc>
                <a:spcPts val="2160"/>
              </a:lnSpc>
              <a:spcBef>
                <a:spcPts val="0"/>
              </a:spcBef>
              <a:buNone/>
            </a:pPr>
            <a:r>
              <a:rPr lang="en-US" sz="1800" b="true">
                <a:solidFill>
                  <a:srgbClr val="FFFFFF"/>
                </a:solidFill>
                <a:latin typeface="Nunito Bold"/>
                <a:ea typeface="Nunito Bold"/>
                <a:cs typeface="Nunito Bold"/>
                <a:sym typeface="Nunito Bold"/>
              </a:rPr>
              <a:t>Findings</a:t>
            </a:r>
          </a:p>
        </p:txBody>
      </p:sp>
      <p:sp>
        <p:nvSpPr>
          <p:cNvPr id="25" name="Rounded Rectangle 24"/>
          <p:cNvSpPr/>
          <p:nvPr/>
        </p:nvSpPr>
        <p:spPr>
          <a:xfrm>
            <a:off x="1028700" y="3363722"/>
            <a:ext cx="16230600" cy="1339913"/>
          </a:xfrm>
          <a:prstGeom prst="roundRect">
            <a:avLst>
              <a:gd name="adj" fmla="val 15013"/>
            </a:avLst>
          </a:prstGeom>
          <a:solidFill>
            <a:srgbClr val="F6ECDF"/>
          </a:solidFill>
          <a:ln>
            <a:noFill/>
          </a:ln>
        </p:spPr>
        <p:txBody>
          <a:bodyPr anchor="ctr" rtlCol="false" lIns="0" tIns="0" rIns="0" bIns="0" wrap="square"/>
          <a:lstStyle/>
          <a:p>
            <a:endParaRPr lang="en-US" sz="1800"/>
          </a:p>
        </p:txBody>
      </p:sp>
      <p:sp>
        <p:nvSpPr>
          <p:cNvPr id="26" name="Oval 25"/>
          <p:cNvSpPr/>
          <p:nvPr/>
        </p:nvSpPr>
        <p:spPr>
          <a:xfrm>
            <a:off x="1303020" y="3750214"/>
            <a:ext cx="566928" cy="566928"/>
          </a:xfrm>
          <a:prstGeom prst="ellipse">
            <a:avLst/>
          </a:prstGeom>
          <a:solidFill>
            <a:srgbClr val="4472C4"/>
          </a:solidFill>
          <a:ln>
            <a:noFill/>
          </a:ln>
        </p:spPr>
        <p:txBody>
          <a:bodyPr anchor="ctr" rtlCol="false" lIns="0" tIns="0" rIns="0" bIns="0" wrap="square"/>
          <a:lstStyle/>
          <a:p>
            <a:pPr algn="ctr">
              <a:lnSpc>
                <a:spcPts val="2200"/>
              </a:lnSpc>
              <a:spcBef>
                <a:spcPts val="0"/>
              </a:spcBef>
              <a:buNone/>
            </a:pPr>
            <a:r>
              <a:rPr lang="en-US" sz="2000" b="true">
                <a:solidFill>
                  <a:srgbClr val="FFFFFF"/>
                </a:solidFill>
                <a:latin typeface="Nunito Ultra-Bold"/>
                <a:ea typeface="Nunito Ultra-Bold"/>
                <a:cs typeface="Nunito Ultra-Bold"/>
                <a:sym typeface="Nunito Ultra-Bold"/>
              </a:rPr>
              <a:t>1</a:t>
            </a:r>
          </a:p>
        </p:txBody>
      </p:sp>
      <p:sp>
        <p:nvSpPr>
          <p:cNvPr id="27" name="TextBox 26"/>
          <p:cNvSpPr txBox="1"/>
          <p:nvPr/>
        </p:nvSpPr>
        <p:spPr>
          <a:xfrm>
            <a:off x="2171700" y="3473450"/>
            <a:ext cx="14767560" cy="1120457"/>
          </a:xfrm>
          <a:prstGeom prst="rect">
            <a:avLst/>
          </a:prstGeom>
          <a:noFill/>
        </p:spPr>
        <p:txBody>
          <a:bodyPr anchor="ctr" rtlCol="false" lIns="0" tIns="0" rIns="0" bIns="0" wrap="square"/>
          <a:lstStyle/>
          <a:p>
            <a:pPr algn="l">
              <a:lnSpc>
                <a:spcPts val="2500"/>
              </a:lnSpc>
              <a:spcBef>
                <a:spcPts val="0"/>
              </a:spcBef>
              <a:buNone/>
            </a:pPr>
            <a:r>
              <a:rPr lang="en-US" sz="2100" b="true">
                <a:solidFill>
                  <a:srgbClr val="4472C4"/>
                </a:solidFill>
                <a:latin typeface="Nunito Ultra-Bold"/>
                <a:ea typeface="Nunito Ultra-Bold"/>
                <a:cs typeface="Nunito Ultra-Bold"/>
                <a:sym typeface="Nunito Ultra-Bold"/>
              </a:rPr>
              <a:t>A black-box partition can be explained at two levels at once</a:t>
            </a:r>
          </a:p>
          <a:p>
            <a:pPr algn="l">
              <a:lnSpc>
                <a:spcPts val="2400"/>
              </a:lnSpc>
              <a:spcBef>
                <a:spcPts val="400"/>
              </a:spcBef>
              <a:buNone/>
            </a:pPr>
            <a:r>
              <a:rPr lang="en-US" sz="1900" b="true">
                <a:solidFill>
                  <a:srgbClr val="111111"/>
                </a:solidFill>
                <a:latin typeface="Nunito Semi-Bold"/>
                <a:ea typeface="Nunito Semi-Bold"/>
                <a:cs typeface="Nunito Semi-Bold"/>
                <a:sym typeface="Nunito Semi-Bold"/>
              </a:rPr>
              <a:t>Cluster-level meaning is tied to single feature contributions, so the explanation is both global and local.</a:t>
            </a:r>
          </a:p>
        </p:txBody>
      </p:sp>
      <p:sp>
        <p:nvSpPr>
          <p:cNvPr id="28" name="Rounded Rectangle 27"/>
          <p:cNvSpPr/>
          <p:nvPr/>
        </p:nvSpPr>
        <p:spPr>
          <a:xfrm>
            <a:off x="1028700" y="4868227"/>
            <a:ext cx="16230600" cy="1339913"/>
          </a:xfrm>
          <a:prstGeom prst="roundRect">
            <a:avLst>
              <a:gd name="adj" fmla="val 15013"/>
            </a:avLst>
          </a:prstGeom>
          <a:solidFill>
            <a:srgbClr val="FBF4EB"/>
          </a:solidFill>
          <a:ln>
            <a:noFill/>
          </a:ln>
        </p:spPr>
        <p:txBody>
          <a:bodyPr anchor="ctr" rtlCol="false" lIns="0" tIns="0" rIns="0" bIns="0" wrap="square"/>
          <a:lstStyle/>
          <a:p>
            <a:endParaRPr lang="en-US" sz="1800"/>
          </a:p>
        </p:txBody>
      </p:sp>
      <p:sp>
        <p:nvSpPr>
          <p:cNvPr id="29" name="Oval 28"/>
          <p:cNvSpPr/>
          <p:nvPr/>
        </p:nvSpPr>
        <p:spPr>
          <a:xfrm>
            <a:off x="1303020" y="5254720"/>
            <a:ext cx="566928" cy="566928"/>
          </a:xfrm>
          <a:prstGeom prst="ellipse">
            <a:avLst/>
          </a:prstGeom>
          <a:solidFill>
            <a:srgbClr val="4472C4"/>
          </a:solidFill>
          <a:ln>
            <a:noFill/>
          </a:ln>
        </p:spPr>
        <p:txBody>
          <a:bodyPr anchor="ctr" rtlCol="false" lIns="0" tIns="0" rIns="0" bIns="0" wrap="square"/>
          <a:lstStyle/>
          <a:p>
            <a:pPr algn="ctr">
              <a:lnSpc>
                <a:spcPts val="2200"/>
              </a:lnSpc>
              <a:spcBef>
                <a:spcPts val="0"/>
              </a:spcBef>
              <a:buNone/>
            </a:pPr>
            <a:r>
              <a:rPr lang="en-US" sz="2000" b="true">
                <a:solidFill>
                  <a:srgbClr val="FFFFFF"/>
                </a:solidFill>
                <a:latin typeface="Nunito Ultra-Bold"/>
                <a:ea typeface="Nunito Ultra-Bold"/>
                <a:cs typeface="Nunito Ultra-Bold"/>
                <a:sym typeface="Nunito Ultra-Bold"/>
              </a:rPr>
              <a:t>2</a:t>
            </a:r>
          </a:p>
        </p:txBody>
      </p:sp>
      <p:sp>
        <p:nvSpPr>
          <p:cNvPr id="30" name="TextBox 29"/>
          <p:cNvSpPr txBox="1"/>
          <p:nvPr/>
        </p:nvSpPr>
        <p:spPr>
          <a:xfrm>
            <a:off x="2171700" y="4977955"/>
            <a:ext cx="14767560" cy="1120457"/>
          </a:xfrm>
          <a:prstGeom prst="rect">
            <a:avLst/>
          </a:prstGeom>
          <a:noFill/>
        </p:spPr>
        <p:txBody>
          <a:bodyPr anchor="ctr" rtlCol="false" lIns="0" tIns="0" rIns="0" bIns="0" wrap="square"/>
          <a:lstStyle/>
          <a:p>
            <a:pPr algn="l">
              <a:lnSpc>
                <a:spcPts val="2500"/>
              </a:lnSpc>
              <a:spcBef>
                <a:spcPts val="0"/>
              </a:spcBef>
              <a:buNone/>
            </a:pPr>
            <a:r>
              <a:rPr lang="en-US" sz="2100" b="true">
                <a:solidFill>
                  <a:srgbClr val="4472C4"/>
                </a:solidFill>
                <a:latin typeface="Nunito Ultra-Bold"/>
                <a:ea typeface="Nunito Ultra-Bold"/>
                <a:cs typeface="Nunito Ultra-Bold"/>
                <a:sym typeface="Nunito Ultra-Bold"/>
              </a:rPr>
              <a:t>Attribution lands in the chemistry, not in a latent space</a:t>
            </a:r>
          </a:p>
          <a:p>
            <a:pPr algn="l">
              <a:lnSpc>
                <a:spcPts val="2400"/>
              </a:lnSpc>
              <a:spcBef>
                <a:spcPts val="400"/>
              </a:spcBef>
              <a:buNone/>
            </a:pPr>
            <a:r>
              <a:rPr lang="en-US" sz="1900" b="true">
                <a:solidFill>
                  <a:srgbClr val="111111"/>
                </a:solidFill>
                <a:latin typeface="Nunito Semi-Bold"/>
                <a:ea typeface="Nunito Semi-Bold"/>
                <a:cs typeface="Nunito Semi-Bold"/>
                <a:sym typeface="Nunito Semi-Bold"/>
              </a:rPr>
              <a:t>Density, pH, fixed acidity, sulfur dioxide and alcohol: variables a wine maker can act on.</a:t>
            </a:r>
          </a:p>
        </p:txBody>
      </p:sp>
      <p:sp>
        <p:nvSpPr>
          <p:cNvPr id="31" name="Rounded Rectangle 30"/>
          <p:cNvSpPr/>
          <p:nvPr/>
        </p:nvSpPr>
        <p:spPr>
          <a:xfrm>
            <a:off x="1028700" y="6372733"/>
            <a:ext cx="16230600" cy="1339913"/>
          </a:xfrm>
          <a:prstGeom prst="roundRect">
            <a:avLst>
              <a:gd name="adj" fmla="val 15013"/>
            </a:avLst>
          </a:prstGeom>
          <a:solidFill>
            <a:srgbClr val="F6ECDF"/>
          </a:solidFill>
          <a:ln>
            <a:noFill/>
          </a:ln>
        </p:spPr>
        <p:txBody>
          <a:bodyPr anchor="ctr" rtlCol="false" lIns="0" tIns="0" rIns="0" bIns="0" wrap="square"/>
          <a:lstStyle/>
          <a:p>
            <a:endParaRPr lang="en-US" sz="1800"/>
          </a:p>
        </p:txBody>
      </p:sp>
      <p:sp>
        <p:nvSpPr>
          <p:cNvPr id="32" name="Oval 31"/>
          <p:cNvSpPr/>
          <p:nvPr/>
        </p:nvSpPr>
        <p:spPr>
          <a:xfrm>
            <a:off x="1303020" y="6759225"/>
            <a:ext cx="566928" cy="566928"/>
          </a:xfrm>
          <a:prstGeom prst="ellipse">
            <a:avLst/>
          </a:prstGeom>
          <a:solidFill>
            <a:srgbClr val="4472C4"/>
          </a:solidFill>
          <a:ln>
            <a:noFill/>
          </a:ln>
        </p:spPr>
        <p:txBody>
          <a:bodyPr anchor="ctr" rtlCol="false" lIns="0" tIns="0" rIns="0" bIns="0" wrap="square"/>
          <a:lstStyle/>
          <a:p>
            <a:pPr algn="ctr">
              <a:lnSpc>
                <a:spcPts val="2200"/>
              </a:lnSpc>
              <a:spcBef>
                <a:spcPts val="0"/>
              </a:spcBef>
              <a:buNone/>
            </a:pPr>
            <a:r>
              <a:rPr lang="en-US" sz="2000" b="true">
                <a:solidFill>
                  <a:srgbClr val="FFFFFF"/>
                </a:solidFill>
                <a:latin typeface="Nunito Ultra-Bold"/>
                <a:ea typeface="Nunito Ultra-Bold"/>
                <a:cs typeface="Nunito Ultra-Bold"/>
                <a:sym typeface="Nunito Ultra-Bold"/>
              </a:rPr>
              <a:t>3</a:t>
            </a:r>
          </a:p>
        </p:txBody>
      </p:sp>
      <p:sp>
        <p:nvSpPr>
          <p:cNvPr id="33" name="TextBox 32"/>
          <p:cNvSpPr txBox="1"/>
          <p:nvPr/>
        </p:nvSpPr>
        <p:spPr>
          <a:xfrm>
            <a:off x="2171700" y="6482461"/>
            <a:ext cx="14767560" cy="1120457"/>
          </a:xfrm>
          <a:prstGeom prst="rect">
            <a:avLst/>
          </a:prstGeom>
          <a:noFill/>
        </p:spPr>
        <p:txBody>
          <a:bodyPr anchor="ctr" rtlCol="false" lIns="0" tIns="0" rIns="0" bIns="0" wrap="square"/>
          <a:lstStyle/>
          <a:p>
            <a:pPr algn="l">
              <a:lnSpc>
                <a:spcPts val="2500"/>
              </a:lnSpc>
              <a:spcBef>
                <a:spcPts val="0"/>
              </a:spcBef>
              <a:buNone/>
            </a:pPr>
            <a:r>
              <a:rPr lang="en-US" sz="2100" b="true">
                <a:solidFill>
                  <a:srgbClr val="4472C4"/>
                </a:solidFill>
                <a:latin typeface="Nunito Ultra-Bold"/>
                <a:ea typeface="Nunito Ultra-Bold"/>
                <a:cs typeface="Nunito Ultra-Bold"/>
                <a:sym typeface="Nunito Ultra-Bold"/>
              </a:rPr>
              <a:t>Interpretability can outrank geometry when choosing k</a:t>
            </a:r>
          </a:p>
          <a:p>
            <a:pPr algn="l">
              <a:lnSpc>
                <a:spcPts val="2400"/>
              </a:lnSpc>
              <a:spcBef>
                <a:spcPts val="400"/>
              </a:spcBef>
              <a:buNone/>
            </a:pPr>
            <a:r>
              <a:rPr lang="en-US" sz="1900" b="true">
                <a:solidFill>
                  <a:srgbClr val="111111"/>
                </a:solidFill>
                <a:latin typeface="Nunito Semi-Bold"/>
                <a:ea typeface="Nunito Semi-Bold"/>
                <a:cs typeface="Nunito Semi-Bold"/>
                <a:sym typeface="Nunito Semi-Bold"/>
              </a:rPr>
              <a:t>k = 3 was kept over k = 2 despite a lower Silhouette because it gives a richer, more useful partition.</a:t>
            </a:r>
          </a:p>
        </p:txBody>
      </p:sp>
      <p:sp>
        <p:nvSpPr>
          <p:cNvPr id="34" name="Rounded Rectangle 33"/>
          <p:cNvSpPr/>
          <p:nvPr/>
        </p:nvSpPr>
        <p:spPr>
          <a:xfrm>
            <a:off x="1028700" y="7877238"/>
            <a:ext cx="16230600" cy="1339913"/>
          </a:xfrm>
          <a:prstGeom prst="roundRect">
            <a:avLst>
              <a:gd name="adj" fmla="val 15013"/>
            </a:avLst>
          </a:prstGeom>
          <a:solidFill>
            <a:srgbClr val="FBF4EB"/>
          </a:solidFill>
          <a:ln>
            <a:noFill/>
          </a:ln>
        </p:spPr>
        <p:txBody>
          <a:bodyPr anchor="ctr" rtlCol="false" lIns="0" tIns="0" rIns="0" bIns="0" wrap="square"/>
          <a:lstStyle/>
          <a:p>
            <a:endParaRPr lang="en-US" sz="1800"/>
          </a:p>
        </p:txBody>
      </p:sp>
      <p:sp>
        <p:nvSpPr>
          <p:cNvPr id="35" name="Oval 34"/>
          <p:cNvSpPr/>
          <p:nvPr/>
        </p:nvSpPr>
        <p:spPr>
          <a:xfrm>
            <a:off x="1303020" y="8263731"/>
            <a:ext cx="566928" cy="566928"/>
          </a:xfrm>
          <a:prstGeom prst="ellipse">
            <a:avLst/>
          </a:prstGeom>
          <a:solidFill>
            <a:srgbClr val="4472C4"/>
          </a:solidFill>
          <a:ln>
            <a:noFill/>
          </a:ln>
        </p:spPr>
        <p:txBody>
          <a:bodyPr anchor="ctr" rtlCol="false" lIns="0" tIns="0" rIns="0" bIns="0" wrap="square"/>
          <a:lstStyle/>
          <a:p>
            <a:pPr algn="ctr">
              <a:lnSpc>
                <a:spcPts val="2200"/>
              </a:lnSpc>
              <a:spcBef>
                <a:spcPts val="0"/>
              </a:spcBef>
              <a:buNone/>
            </a:pPr>
            <a:r>
              <a:rPr lang="en-US" sz="2000" b="true">
                <a:solidFill>
                  <a:srgbClr val="FFFFFF"/>
                </a:solidFill>
                <a:latin typeface="Nunito Ultra-Bold"/>
                <a:ea typeface="Nunito Ultra-Bold"/>
                <a:cs typeface="Nunito Ultra-Bold"/>
                <a:sym typeface="Nunito Ultra-Bold"/>
              </a:rPr>
              <a:t>4</a:t>
            </a:r>
          </a:p>
        </p:txBody>
      </p:sp>
      <p:sp>
        <p:nvSpPr>
          <p:cNvPr id="36" name="TextBox 35"/>
          <p:cNvSpPr txBox="1"/>
          <p:nvPr/>
        </p:nvSpPr>
        <p:spPr>
          <a:xfrm>
            <a:off x="2171700" y="7986966"/>
            <a:ext cx="14767560" cy="1120457"/>
          </a:xfrm>
          <a:prstGeom prst="rect">
            <a:avLst/>
          </a:prstGeom>
          <a:noFill/>
        </p:spPr>
        <p:txBody>
          <a:bodyPr anchor="ctr" rtlCol="false" lIns="0" tIns="0" rIns="0" bIns="0" wrap="square"/>
          <a:lstStyle/>
          <a:p>
            <a:pPr algn="l">
              <a:lnSpc>
                <a:spcPts val="2500"/>
              </a:lnSpc>
              <a:spcBef>
                <a:spcPts val="0"/>
              </a:spcBef>
              <a:buNone/>
            </a:pPr>
            <a:r>
              <a:rPr lang="en-US" sz="2100" b="true">
                <a:solidFill>
                  <a:srgbClr val="4472C4"/>
                </a:solidFill>
                <a:latin typeface="Nunito Ultra-Bold"/>
                <a:ea typeface="Nunito Ultra-Bold"/>
                <a:cs typeface="Nunito Ultra-Bold"/>
                <a:sym typeface="Nunito Ultra-Bold"/>
              </a:rPr>
              <a:t>The cooperative concept is what makes the explanation trustworthy</a:t>
            </a:r>
          </a:p>
          <a:p>
            <a:pPr algn="l">
              <a:lnSpc>
                <a:spcPts val="2400"/>
              </a:lnSpc>
              <a:spcBef>
                <a:spcPts val="400"/>
              </a:spcBef>
              <a:buNone/>
            </a:pPr>
            <a:r>
              <a:rPr lang="en-US" sz="1900" b="true">
                <a:solidFill>
                  <a:srgbClr val="111111"/>
                </a:solidFill>
                <a:latin typeface="Nunito Semi-Bold"/>
                <a:ea typeface="Nunito Semi-Bold"/>
                <a:cs typeface="Nunito Semi-Bold"/>
                <a:sym typeface="Nunito Semi-Bold"/>
              </a:rPr>
              <a:t>Efficiency, symmetry, null player and additivity give guarantees that a local surrogate such as LIME does not.</a:t>
            </a:r>
          </a:p>
        </p:txBody>
      </p:sp>
    </p:spTree>
  </p:cSld>
  <p:clrMapOvr>
    <a:masterClrMapping/>
  </p:clrMapOvr>
</p:sld>
</file>

<file path=ppt/slides/slide5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pic>
        <p:nvPicPr>
          <p:cNvPr id="2" name="Picture 1" descr="ensias_logo.jpg"/>
          <p:cNvPicPr>
            <a:picLocks noChangeAspect="1"/>
          </p:cNvPicPr>
          <p:nvPr/>
        </p:nvPicPr>
        <p:blipFill>
          <a:blip r:embed="rId2"/>
          <a:stretch>
            <a:fillRect/>
          </a:stretch>
        </p:blipFill>
        <p:spPr>
          <a:xfrm>
            <a:off x="1028700" y="9674352"/>
            <a:ext cx="542964" cy="384048"/>
          </a:xfrm>
          <a:prstGeom prst="rect">
            <a:avLst/>
          </a:prstGeom>
        </p:spPr>
      </p:pic>
      <p:sp>
        <p:nvSpPr>
          <p:cNvPr id="3" name="TextBox 2"/>
          <p:cNvSpPr txBox="1"/>
          <p:nvPr/>
        </p:nvSpPr>
        <p:spPr>
          <a:xfrm>
            <a:off x="1577340" y="9747504"/>
            <a:ext cx="12801600" cy="274320"/>
          </a:xfrm>
          <a:prstGeom prst="rect">
            <a:avLst/>
          </a:prstGeom>
          <a:noFill/>
        </p:spPr>
        <p:txBody>
          <a:bodyPr anchor="t" rtlCol="false" lIns="0" tIns="0" rIns="0" bIns="0" wrap="square"/>
          <a:lstStyle/>
          <a:p>
            <a:pPr algn="l">
              <a:lnSpc>
                <a:spcPts val="1600"/>
              </a:lnSpc>
              <a:spcBef>
                <a:spcPts val="0"/>
              </a:spcBef>
              <a:buNone/>
            </a:pPr>
            <a:r>
              <a:rPr lang="en-US" sz="1300" b="true">
                <a:solidFill>
                  <a:srgbClr val="8A8378"/>
                </a:solidFill>
                <a:latin typeface="Nunito Bold"/>
                <a:ea typeface="Nunito Bold"/>
                <a:cs typeface="Nunito Bold"/>
                <a:sym typeface="Nunito Bold"/>
              </a:rPr>
              <a:t>Cooperative Game Theory for Explainable AI in Recommendation Systems  ·  A Shapley Framework for Actionable Insight</a:t>
            </a:r>
          </a:p>
        </p:txBody>
      </p:sp>
      <p:sp>
        <p:nvSpPr>
          <p:cNvPr id="4" name="TextBox 3"/>
          <p:cNvSpPr txBox="1"/>
          <p:nvPr/>
        </p:nvSpPr>
        <p:spPr>
          <a:xfrm>
            <a:off x="16162020" y="9692640"/>
            <a:ext cx="1097280" cy="329184"/>
          </a:xfrm>
          <a:prstGeom prst="rect">
            <a:avLst/>
          </a:prstGeom>
          <a:noFill/>
        </p:spPr>
        <p:txBody>
          <a:bodyPr anchor="t" rtlCol="false" lIns="0" tIns="0" rIns="0" bIns="0" wrap="square"/>
          <a:lstStyle/>
          <a:p>
            <a:pPr algn="r">
              <a:lnSpc>
                <a:spcPts val="2200"/>
              </a:lnSpc>
              <a:spcBef>
                <a:spcPts val="0"/>
              </a:spcBef>
              <a:buNone/>
            </a:pPr>
            <a:r>
              <a:rPr lang="en-US" sz="1800" b="true">
                <a:solidFill>
                  <a:srgbClr val="111111"/>
                </a:solidFill>
                <a:latin typeface="Nunito Ultra-Bold"/>
                <a:ea typeface="Nunito Ultra-Bold"/>
                <a:cs typeface="Nunito Ultra-Bold"/>
                <a:sym typeface="Nunito Ultra-Bold"/>
              </a:rPr>
              <a:t>36</a:t>
            </a:r>
          </a:p>
        </p:txBody>
      </p:sp>
      <p:sp>
        <p:nvSpPr>
          <p:cNvPr id="5" name="TextBox 4"/>
          <p:cNvSpPr txBox="1"/>
          <p:nvPr/>
        </p:nvSpPr>
        <p:spPr>
          <a:xfrm>
            <a:off x="1028700" y="1389888"/>
            <a:ext cx="12938760" cy="329184"/>
          </a:xfrm>
          <a:prstGeom prst="rect">
            <a:avLst/>
          </a:prstGeom>
          <a:noFill/>
        </p:spPr>
        <p:txBody>
          <a:bodyPr anchor="t" rtlCol="false" lIns="0" tIns="0" rIns="0" bIns="0" wrap="square"/>
          <a:lstStyle/>
          <a:p>
            <a:pPr algn="l">
              <a:lnSpc>
                <a:spcPts val="2000"/>
              </a:lnSpc>
              <a:spcBef>
                <a:spcPts val="0"/>
              </a:spcBef>
              <a:buNone/>
            </a:pPr>
            <a:r>
              <a:rPr lang="en-US" sz="1500" b="true" spc="160">
                <a:solidFill>
                  <a:srgbClr val="1F7A8C"/>
                </a:solidFill>
                <a:latin typeface="Nunito Ultra-Bold"/>
                <a:ea typeface="Nunito Ultra-Bold"/>
                <a:cs typeface="Nunito Ultra-Bold"/>
                <a:sym typeface="Nunito Ultra-Bold"/>
              </a:rPr>
              <a:t>CONTRIBUTION I: EXPLAINABLE BLACK-BOX CLUSTERING</a:t>
            </a:r>
          </a:p>
        </p:txBody>
      </p:sp>
      <p:sp>
        <p:nvSpPr>
          <p:cNvPr id="6" name="Rounded Rectangle 5"/>
          <p:cNvSpPr/>
          <p:nvPr/>
        </p:nvSpPr>
        <p:spPr>
          <a:xfrm>
            <a:off x="14516100"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7" name="TextBox 6"/>
          <p:cNvSpPr txBox="1"/>
          <p:nvPr/>
        </p:nvSpPr>
        <p:spPr>
          <a:xfrm>
            <a:off x="14516100"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1</a:t>
            </a:r>
          </a:p>
        </p:txBody>
      </p:sp>
      <p:sp>
        <p:nvSpPr>
          <p:cNvPr id="8" name="Rounded Rectangle 7"/>
          <p:cNvSpPr/>
          <p:nvPr/>
        </p:nvSpPr>
        <p:spPr>
          <a:xfrm>
            <a:off x="14918436"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9" name="TextBox 8"/>
          <p:cNvSpPr txBox="1"/>
          <p:nvPr/>
        </p:nvSpPr>
        <p:spPr>
          <a:xfrm>
            <a:off x="14918436"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2</a:t>
            </a:r>
          </a:p>
        </p:txBody>
      </p:sp>
      <p:sp>
        <p:nvSpPr>
          <p:cNvPr id="10" name="Rounded Rectangle 9"/>
          <p:cNvSpPr/>
          <p:nvPr/>
        </p:nvSpPr>
        <p:spPr>
          <a:xfrm>
            <a:off x="15320772"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11" name="TextBox 10"/>
          <p:cNvSpPr txBox="1"/>
          <p:nvPr/>
        </p:nvSpPr>
        <p:spPr>
          <a:xfrm>
            <a:off x="15320772"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3</a:t>
            </a:r>
          </a:p>
        </p:txBody>
      </p:sp>
      <p:sp>
        <p:nvSpPr>
          <p:cNvPr id="12" name="Rounded Rectangle 11"/>
          <p:cNvSpPr/>
          <p:nvPr/>
        </p:nvSpPr>
        <p:spPr>
          <a:xfrm>
            <a:off x="15723108" y="1371600"/>
            <a:ext cx="329184" cy="329184"/>
          </a:xfrm>
          <a:prstGeom prst="roundRect">
            <a:avLst>
              <a:gd name="adj" fmla="val 16666"/>
            </a:avLst>
          </a:prstGeom>
          <a:solidFill>
            <a:srgbClr val="4472C4"/>
          </a:solidFill>
          <a:ln w="15875">
            <a:solidFill>
              <a:srgbClr val="4472C4"/>
            </a:solidFill>
          </a:ln>
        </p:spPr>
        <p:txBody>
          <a:bodyPr anchor="ctr" rtlCol="false" lIns="0" tIns="0" rIns="0" bIns="0" wrap="square"/>
          <a:lstStyle/>
          <a:p>
            <a:endParaRPr lang="en-US" sz="1800"/>
          </a:p>
        </p:txBody>
      </p:sp>
      <p:sp>
        <p:nvSpPr>
          <p:cNvPr id="13" name="TextBox 12"/>
          <p:cNvSpPr txBox="1"/>
          <p:nvPr/>
        </p:nvSpPr>
        <p:spPr>
          <a:xfrm>
            <a:off x="15723108"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FFFFFF"/>
                </a:solidFill>
                <a:latin typeface="Nunito Ultra-Bold"/>
                <a:ea typeface="Nunito Ultra-Bold"/>
                <a:cs typeface="Nunito Ultra-Bold"/>
                <a:sym typeface="Nunito Ultra-Bold"/>
              </a:rPr>
              <a:t>4</a:t>
            </a:r>
          </a:p>
        </p:txBody>
      </p:sp>
      <p:sp>
        <p:nvSpPr>
          <p:cNvPr id="14" name="Rounded Rectangle 13"/>
          <p:cNvSpPr/>
          <p:nvPr/>
        </p:nvSpPr>
        <p:spPr>
          <a:xfrm>
            <a:off x="16125444"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15" name="TextBox 14"/>
          <p:cNvSpPr txBox="1"/>
          <p:nvPr/>
        </p:nvSpPr>
        <p:spPr>
          <a:xfrm>
            <a:off x="16125444"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5</a:t>
            </a:r>
          </a:p>
        </p:txBody>
      </p:sp>
      <p:sp>
        <p:nvSpPr>
          <p:cNvPr id="16" name="Rounded Rectangle 15"/>
          <p:cNvSpPr/>
          <p:nvPr/>
        </p:nvSpPr>
        <p:spPr>
          <a:xfrm>
            <a:off x="16527780"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17" name="TextBox 16"/>
          <p:cNvSpPr txBox="1"/>
          <p:nvPr/>
        </p:nvSpPr>
        <p:spPr>
          <a:xfrm>
            <a:off x="16527780"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6</a:t>
            </a:r>
          </a:p>
        </p:txBody>
      </p:sp>
      <p:sp>
        <p:nvSpPr>
          <p:cNvPr id="18" name="Rounded Rectangle 17"/>
          <p:cNvSpPr/>
          <p:nvPr/>
        </p:nvSpPr>
        <p:spPr>
          <a:xfrm>
            <a:off x="16930116"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19" name="TextBox 18"/>
          <p:cNvSpPr txBox="1"/>
          <p:nvPr/>
        </p:nvSpPr>
        <p:spPr>
          <a:xfrm>
            <a:off x="16930116"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7</a:t>
            </a:r>
          </a:p>
        </p:txBody>
      </p:sp>
      <p:sp>
        <p:nvSpPr>
          <p:cNvPr id="20" name="TextBox 19"/>
          <p:cNvSpPr txBox="1"/>
          <p:nvPr/>
        </p:nvSpPr>
        <p:spPr>
          <a:xfrm>
            <a:off x="1028700" y="1719072"/>
            <a:ext cx="16230600" cy="730250"/>
          </a:xfrm>
          <a:prstGeom prst="rect">
            <a:avLst/>
          </a:prstGeom>
          <a:noFill/>
        </p:spPr>
        <p:txBody>
          <a:bodyPr anchor="t" rtlCol="false" lIns="0" tIns="0" rIns="0" bIns="0" wrap="square"/>
          <a:lstStyle/>
          <a:p>
            <a:pPr algn="l">
              <a:lnSpc>
                <a:spcPts val="5060"/>
              </a:lnSpc>
              <a:spcBef>
                <a:spcPts val="0"/>
              </a:spcBef>
              <a:buNone/>
            </a:pPr>
            <a:r>
              <a:rPr lang="en-US" sz="4600" b="true" spc="-230">
                <a:solidFill>
                  <a:srgbClr val="111111"/>
                </a:solidFill>
                <a:latin typeface="Roca Two Bold"/>
                <a:ea typeface="Roca Two Bold"/>
                <a:cs typeface="Roca Two Bold"/>
                <a:sym typeface="Roca Two Bold"/>
              </a:rPr>
              <a:t>Limitations</a:t>
            </a:r>
          </a:p>
        </p:txBody>
      </p:sp>
      <p:sp>
        <p:nvSpPr>
          <p:cNvPr id="21" name="Rounded Rectangle 20"/>
          <p:cNvSpPr/>
          <p:nvPr/>
        </p:nvSpPr>
        <p:spPr>
          <a:xfrm>
            <a:off x="1028700" y="2559050"/>
            <a:ext cx="1691553" cy="420624"/>
          </a:xfrm>
          <a:prstGeom prst="roundRect">
            <a:avLst>
              <a:gd name="adj" fmla="val 50000"/>
            </a:avLst>
          </a:prstGeom>
          <a:noFill/>
          <a:ln w="28575">
            <a:solidFill>
              <a:srgbClr val="4472C4"/>
            </a:solidFill>
          </a:ln>
        </p:spPr>
        <p:txBody>
          <a:bodyPr anchor="ctr" rtlCol="false" lIns="45720" tIns="0" rIns="45720" bIns="0" wrap="square"/>
          <a:lstStyle/>
          <a:p>
            <a:pPr algn="ctr">
              <a:lnSpc>
                <a:spcPts val="2160"/>
              </a:lnSpc>
              <a:spcBef>
                <a:spcPts val="0"/>
              </a:spcBef>
              <a:buNone/>
            </a:pPr>
            <a:r>
              <a:rPr lang="en-US" sz="1800" b="true">
                <a:solidFill>
                  <a:srgbClr val="4472C4"/>
                </a:solidFill>
                <a:latin typeface="Nunito Bold"/>
                <a:ea typeface="Nunito Bold"/>
                <a:cs typeface="Nunito Bold"/>
                <a:sym typeface="Nunito Bold"/>
              </a:rPr>
              <a:t>Objectives</a:t>
            </a:r>
          </a:p>
        </p:txBody>
      </p:sp>
      <p:sp>
        <p:nvSpPr>
          <p:cNvPr id="22" name="Rounded Rectangle 21"/>
          <p:cNvSpPr/>
          <p:nvPr/>
        </p:nvSpPr>
        <p:spPr>
          <a:xfrm>
            <a:off x="2848269" y="2559050"/>
            <a:ext cx="1998119" cy="420624"/>
          </a:xfrm>
          <a:prstGeom prst="roundRect">
            <a:avLst>
              <a:gd name="adj" fmla="val 50000"/>
            </a:avLst>
          </a:prstGeom>
          <a:noFill/>
          <a:ln w="28575">
            <a:solidFill>
              <a:srgbClr val="4472C4"/>
            </a:solidFill>
          </a:ln>
        </p:spPr>
        <p:txBody>
          <a:bodyPr anchor="ctr" rtlCol="false" lIns="45720" tIns="0" rIns="45720" bIns="0" wrap="square"/>
          <a:lstStyle/>
          <a:p>
            <a:pPr algn="ctr">
              <a:lnSpc>
                <a:spcPts val="2160"/>
              </a:lnSpc>
              <a:spcBef>
                <a:spcPts val="0"/>
              </a:spcBef>
              <a:buNone/>
            </a:pPr>
            <a:r>
              <a:rPr lang="en-US" sz="1800" b="true">
                <a:solidFill>
                  <a:srgbClr val="4472C4"/>
                </a:solidFill>
                <a:latin typeface="Nunito Bold"/>
                <a:ea typeface="Nunito Bold"/>
                <a:cs typeface="Nunito Bold"/>
                <a:sym typeface="Nunito Bold"/>
              </a:rPr>
              <a:t>Methodology</a:t>
            </a:r>
          </a:p>
        </p:txBody>
      </p:sp>
      <p:sp>
        <p:nvSpPr>
          <p:cNvPr id="23" name="Rounded Rectangle 22"/>
          <p:cNvSpPr/>
          <p:nvPr/>
        </p:nvSpPr>
        <p:spPr>
          <a:xfrm>
            <a:off x="4974404" y="2559050"/>
            <a:ext cx="1369446" cy="420624"/>
          </a:xfrm>
          <a:prstGeom prst="roundRect">
            <a:avLst>
              <a:gd name="adj" fmla="val 50000"/>
            </a:avLst>
          </a:prstGeom>
          <a:noFill/>
          <a:ln w="28575">
            <a:solidFill>
              <a:srgbClr val="4472C4"/>
            </a:solidFill>
          </a:ln>
        </p:spPr>
        <p:txBody>
          <a:bodyPr anchor="ctr" rtlCol="false" lIns="45720" tIns="0" rIns="45720" bIns="0" wrap="square"/>
          <a:lstStyle/>
          <a:p>
            <a:pPr algn="ctr">
              <a:lnSpc>
                <a:spcPts val="2160"/>
              </a:lnSpc>
              <a:spcBef>
                <a:spcPts val="0"/>
              </a:spcBef>
              <a:buNone/>
            </a:pPr>
            <a:r>
              <a:rPr lang="en-US" sz="1800" b="true">
                <a:solidFill>
                  <a:srgbClr val="4472C4"/>
                </a:solidFill>
                <a:latin typeface="Nunito Bold"/>
                <a:ea typeface="Nunito Bold"/>
                <a:cs typeface="Nunito Bold"/>
                <a:sym typeface="Nunito Bold"/>
              </a:rPr>
              <a:t>Results</a:t>
            </a:r>
          </a:p>
        </p:txBody>
      </p:sp>
      <p:sp>
        <p:nvSpPr>
          <p:cNvPr id="24" name="Rounded Rectangle 23"/>
          <p:cNvSpPr/>
          <p:nvPr/>
        </p:nvSpPr>
        <p:spPr>
          <a:xfrm>
            <a:off x="6471866" y="2559050"/>
            <a:ext cx="1474931" cy="420624"/>
          </a:xfrm>
          <a:prstGeom prst="roundRect">
            <a:avLst>
              <a:gd name="adj" fmla="val 50000"/>
            </a:avLst>
          </a:prstGeom>
          <a:solidFill>
            <a:srgbClr val="4472C4"/>
          </a:solidFill>
          <a:ln>
            <a:noFill/>
          </a:ln>
        </p:spPr>
        <p:txBody>
          <a:bodyPr anchor="ctr" rtlCol="false" lIns="45720" tIns="0" rIns="45720" bIns="0" wrap="square"/>
          <a:lstStyle/>
          <a:p>
            <a:pPr algn="ctr">
              <a:lnSpc>
                <a:spcPts val="2160"/>
              </a:lnSpc>
              <a:spcBef>
                <a:spcPts val="0"/>
              </a:spcBef>
              <a:buNone/>
            </a:pPr>
            <a:r>
              <a:rPr lang="en-US" sz="1800" b="true">
                <a:solidFill>
                  <a:srgbClr val="FFFFFF"/>
                </a:solidFill>
                <a:latin typeface="Nunito Bold"/>
                <a:ea typeface="Nunito Bold"/>
                <a:cs typeface="Nunito Bold"/>
                <a:sym typeface="Nunito Bold"/>
              </a:rPr>
              <a:t>Findings</a:t>
            </a:r>
          </a:p>
        </p:txBody>
      </p:sp>
      <p:sp>
        <p:nvSpPr>
          <p:cNvPr id="25" name="Rounded Rectangle 24"/>
          <p:cNvSpPr/>
          <p:nvPr/>
        </p:nvSpPr>
        <p:spPr>
          <a:xfrm>
            <a:off x="1028700" y="3363722"/>
            <a:ext cx="7955280" cy="2172335"/>
          </a:xfrm>
          <a:prstGeom prst="roundRect">
            <a:avLst>
              <a:gd name="adj" fmla="val 11786"/>
            </a:avLst>
          </a:prstGeom>
          <a:solidFill>
            <a:srgbClr val="4472C4"/>
          </a:solidFill>
          <a:ln>
            <a:noFill/>
          </a:ln>
        </p:spPr>
        <p:txBody>
          <a:bodyPr anchor="ctr" rtlCol="false" lIns="0" tIns="0" rIns="0" bIns="0" wrap="square"/>
          <a:lstStyle/>
          <a:p>
            <a:endParaRPr lang="en-US" sz="1800"/>
          </a:p>
        </p:txBody>
      </p:sp>
      <p:sp>
        <p:nvSpPr>
          <p:cNvPr id="26" name="TextBox 25"/>
          <p:cNvSpPr txBox="1"/>
          <p:nvPr/>
        </p:nvSpPr>
        <p:spPr>
          <a:xfrm>
            <a:off x="1394460" y="3638042"/>
            <a:ext cx="7223760" cy="1715135"/>
          </a:xfrm>
          <a:prstGeom prst="rect">
            <a:avLst/>
          </a:prstGeom>
          <a:noFill/>
        </p:spPr>
        <p:txBody>
          <a:bodyPr anchor="t" rtlCol="false" lIns="0" tIns="0" rIns="0" bIns="0" wrap="square"/>
          <a:lstStyle/>
          <a:p>
            <a:pPr algn="l">
              <a:lnSpc>
                <a:spcPts val="1800"/>
              </a:lnSpc>
              <a:spcBef>
                <a:spcPts val="0"/>
              </a:spcBef>
              <a:buNone/>
            </a:pPr>
            <a:r>
              <a:rPr lang="en-US" sz="1400" b="true" spc="160">
                <a:solidFill>
                  <a:srgbClr val="ECC665"/>
                </a:solidFill>
                <a:latin typeface="Nunito Ultra-Bold"/>
                <a:ea typeface="Nunito Ultra-Bold"/>
                <a:cs typeface="Nunito Ultra-Bold"/>
                <a:sym typeface="Nunito Ultra-Bold"/>
              </a:rPr>
              <a:t>SURROGATE DEPENDENCE</a:t>
            </a:r>
          </a:p>
          <a:p>
            <a:pPr algn="l">
              <a:lnSpc>
                <a:spcPts val="2400"/>
              </a:lnSpc>
              <a:spcBef>
                <a:spcPts val="800"/>
              </a:spcBef>
              <a:buNone/>
            </a:pPr>
            <a:r>
              <a:rPr lang="en-US" sz="1900" b="true">
                <a:solidFill>
                  <a:srgbClr val="FFFFFF"/>
                </a:solidFill>
                <a:latin typeface="Nunito Semi-Bold"/>
                <a:ea typeface="Nunito Semi-Bold"/>
                <a:cs typeface="Nunito Semi-Bold"/>
                <a:sym typeface="Nunito Semi-Bold"/>
              </a:rPr>
              <a:t>Fidelity depends on the </a:t>
            </a:r>
            <a:r>
              <a:rPr lang="en-US" sz="1900" b="true">
                <a:solidFill>
                  <a:srgbClr val="FFFFFF"/>
                </a:solidFill>
                <a:latin typeface="Nunito Bold"/>
                <a:ea typeface="Nunito Bold"/>
                <a:cs typeface="Nunito Bold"/>
                <a:sym typeface="Nunito Bold"/>
              </a:rPr>
              <a:t>LightGBM surrogate</a:t>
            </a:r>
            <a:r>
              <a:rPr lang="en-US" sz="1900" b="true">
                <a:solidFill>
                  <a:srgbClr val="FFFFFF"/>
                </a:solidFill>
                <a:latin typeface="Nunito Semi-Bold"/>
                <a:ea typeface="Nunito Semi-Bold"/>
                <a:cs typeface="Nunito Semi-Bold"/>
                <a:sym typeface="Nunito Semi-Bold"/>
              </a:rPr>
              <a:t>, not on the K-Means geometry directly; the fidelity floor must be checked every time.</a:t>
            </a:r>
          </a:p>
        </p:txBody>
      </p:sp>
      <p:sp>
        <p:nvSpPr>
          <p:cNvPr id="27" name="Rounded Rectangle 26"/>
          <p:cNvSpPr/>
          <p:nvPr/>
        </p:nvSpPr>
        <p:spPr>
          <a:xfrm>
            <a:off x="9304020" y="3363722"/>
            <a:ext cx="7955280" cy="2172335"/>
          </a:xfrm>
          <a:prstGeom prst="roundRect">
            <a:avLst>
              <a:gd name="adj" fmla="val 11786"/>
            </a:avLst>
          </a:prstGeom>
          <a:solidFill>
            <a:srgbClr val="2F5597"/>
          </a:solidFill>
          <a:ln>
            <a:noFill/>
          </a:ln>
        </p:spPr>
        <p:txBody>
          <a:bodyPr anchor="ctr" rtlCol="false" lIns="0" tIns="0" rIns="0" bIns="0" wrap="square"/>
          <a:lstStyle/>
          <a:p>
            <a:endParaRPr lang="en-US" sz="1800"/>
          </a:p>
        </p:txBody>
      </p:sp>
      <p:sp>
        <p:nvSpPr>
          <p:cNvPr id="28" name="TextBox 27"/>
          <p:cNvSpPr txBox="1"/>
          <p:nvPr/>
        </p:nvSpPr>
        <p:spPr>
          <a:xfrm>
            <a:off x="9669780" y="3638042"/>
            <a:ext cx="7223760" cy="1715135"/>
          </a:xfrm>
          <a:prstGeom prst="rect">
            <a:avLst/>
          </a:prstGeom>
          <a:noFill/>
        </p:spPr>
        <p:txBody>
          <a:bodyPr anchor="t" rtlCol="false" lIns="0" tIns="0" rIns="0" bIns="0" wrap="square"/>
          <a:lstStyle/>
          <a:p>
            <a:pPr algn="l">
              <a:lnSpc>
                <a:spcPts val="1800"/>
              </a:lnSpc>
              <a:spcBef>
                <a:spcPts val="0"/>
              </a:spcBef>
              <a:buNone/>
            </a:pPr>
            <a:r>
              <a:rPr lang="en-US" sz="1400" b="true" spc="160">
                <a:solidFill>
                  <a:srgbClr val="ECC665"/>
                </a:solidFill>
                <a:latin typeface="Nunito Ultra-Bold"/>
                <a:ea typeface="Nunito Ultra-Bold"/>
                <a:cs typeface="Nunito Ultra-Bold"/>
                <a:sym typeface="Nunito Ultra-Bold"/>
              </a:rPr>
              <a:t>TABULAR ONLY</a:t>
            </a:r>
          </a:p>
          <a:p>
            <a:pPr algn="l">
              <a:lnSpc>
                <a:spcPts val="2400"/>
              </a:lnSpc>
              <a:spcBef>
                <a:spcPts val="800"/>
              </a:spcBef>
              <a:buNone/>
            </a:pPr>
            <a:r>
              <a:rPr lang="en-US" sz="1900" b="true">
                <a:solidFill>
                  <a:srgbClr val="FFFFFF"/>
                </a:solidFill>
                <a:latin typeface="Nunito Semi-Bold"/>
                <a:ea typeface="Nunito Semi-Bold"/>
                <a:cs typeface="Nunito Semi-Bold"/>
                <a:sym typeface="Nunito Semi-Bold"/>
              </a:rPr>
              <a:t>Limited to </a:t>
            </a:r>
            <a:r>
              <a:rPr lang="en-US" sz="1900" b="true">
                <a:solidFill>
                  <a:srgbClr val="FFFFFF"/>
                </a:solidFill>
                <a:latin typeface="Nunito Bold"/>
                <a:ea typeface="Nunito Bold"/>
                <a:cs typeface="Nunito Bold"/>
                <a:sym typeface="Nunito Bold"/>
              </a:rPr>
              <a:t>tabular data</a:t>
            </a:r>
            <a:r>
              <a:rPr lang="en-US" sz="1900" b="true">
                <a:solidFill>
                  <a:srgbClr val="FFFFFF"/>
                </a:solidFill>
                <a:latin typeface="Nunito Semi-Bold"/>
                <a:ea typeface="Nunito Semi-Bold"/>
                <a:cs typeface="Nunito Semi-Bold"/>
                <a:sym typeface="Nunito Semi-Bold"/>
              </a:rPr>
              <a:t>; no structured, graph or image input in this contribution.</a:t>
            </a:r>
          </a:p>
        </p:txBody>
      </p:sp>
      <p:sp>
        <p:nvSpPr>
          <p:cNvPr id="29" name="Rounded Rectangle 28"/>
          <p:cNvSpPr/>
          <p:nvPr/>
        </p:nvSpPr>
        <p:spPr>
          <a:xfrm>
            <a:off x="1028700" y="5810377"/>
            <a:ext cx="7955280" cy="2172335"/>
          </a:xfrm>
          <a:prstGeom prst="roundRect">
            <a:avLst>
              <a:gd name="adj" fmla="val 11786"/>
            </a:avLst>
          </a:prstGeom>
          <a:solidFill>
            <a:srgbClr val="2F5597"/>
          </a:solidFill>
          <a:ln>
            <a:noFill/>
          </a:ln>
        </p:spPr>
        <p:txBody>
          <a:bodyPr anchor="ctr" rtlCol="false" lIns="0" tIns="0" rIns="0" bIns="0" wrap="square"/>
          <a:lstStyle/>
          <a:p>
            <a:endParaRPr lang="en-US" sz="1800"/>
          </a:p>
        </p:txBody>
      </p:sp>
      <p:sp>
        <p:nvSpPr>
          <p:cNvPr id="30" name="TextBox 29"/>
          <p:cNvSpPr txBox="1"/>
          <p:nvPr/>
        </p:nvSpPr>
        <p:spPr>
          <a:xfrm>
            <a:off x="1394460" y="6084697"/>
            <a:ext cx="7223760" cy="1715135"/>
          </a:xfrm>
          <a:prstGeom prst="rect">
            <a:avLst/>
          </a:prstGeom>
          <a:noFill/>
        </p:spPr>
        <p:txBody>
          <a:bodyPr anchor="t" rtlCol="false" lIns="0" tIns="0" rIns="0" bIns="0" wrap="square"/>
          <a:lstStyle/>
          <a:p>
            <a:pPr algn="l">
              <a:lnSpc>
                <a:spcPts val="1800"/>
              </a:lnSpc>
              <a:spcBef>
                <a:spcPts val="0"/>
              </a:spcBef>
              <a:buNone/>
            </a:pPr>
            <a:r>
              <a:rPr lang="en-US" sz="1400" b="true" spc="160">
                <a:solidFill>
                  <a:srgbClr val="ECC665"/>
                </a:solidFill>
                <a:latin typeface="Nunito Ultra-Bold"/>
                <a:ea typeface="Nunito Ultra-Bold"/>
                <a:cs typeface="Nunito Ultra-Bold"/>
                <a:sym typeface="Nunito Ultra-Bold"/>
              </a:rPr>
              <a:t>SINGLE LEVEL</a:t>
            </a:r>
          </a:p>
          <a:p>
            <a:pPr algn="l">
              <a:lnSpc>
                <a:spcPts val="2400"/>
              </a:lnSpc>
              <a:spcBef>
                <a:spcPts val="800"/>
              </a:spcBef>
              <a:buNone/>
            </a:pPr>
            <a:r>
              <a:rPr lang="en-US" sz="1900" b="true">
                <a:solidFill>
                  <a:srgbClr val="FFFFFF"/>
                </a:solidFill>
                <a:latin typeface="Nunito Semi-Bold"/>
                <a:ea typeface="Nunito Semi-Bold"/>
                <a:cs typeface="Nunito Semi-Bold"/>
                <a:sym typeface="Nunito Semi-Bold"/>
              </a:rPr>
              <a:t>Cannot explain how importance changes between a partition and its </a:t>
            </a:r>
            <a:r>
              <a:rPr lang="en-US" sz="1900" b="true">
                <a:solidFill>
                  <a:srgbClr val="FFFFFF"/>
                </a:solidFill>
                <a:latin typeface="Nunito Bold"/>
                <a:ea typeface="Nunito Bold"/>
                <a:cs typeface="Nunito Bold"/>
                <a:sym typeface="Nunito Bold"/>
              </a:rPr>
              <a:t>sub-partitions</a:t>
            </a:r>
            <a:r>
              <a:rPr lang="en-US" sz="1900" b="true">
                <a:solidFill>
                  <a:srgbClr val="FFFFFF"/>
                </a:solidFill>
                <a:latin typeface="Nunito Semi-Bold"/>
                <a:ea typeface="Nunito Semi-Bold"/>
                <a:cs typeface="Nunito Semi-Bold"/>
                <a:sym typeface="Nunito Semi-Bold"/>
              </a:rPr>
              <a:t>.</a:t>
            </a:r>
          </a:p>
        </p:txBody>
      </p:sp>
      <p:sp>
        <p:nvSpPr>
          <p:cNvPr id="31" name="Rounded Rectangle 30"/>
          <p:cNvSpPr/>
          <p:nvPr/>
        </p:nvSpPr>
        <p:spPr>
          <a:xfrm>
            <a:off x="9304020" y="5810377"/>
            <a:ext cx="7955280" cy="2172335"/>
          </a:xfrm>
          <a:prstGeom prst="roundRect">
            <a:avLst>
              <a:gd name="adj" fmla="val 11786"/>
            </a:avLst>
          </a:prstGeom>
          <a:solidFill>
            <a:srgbClr val="4472C4"/>
          </a:solidFill>
          <a:ln>
            <a:noFill/>
          </a:ln>
        </p:spPr>
        <p:txBody>
          <a:bodyPr anchor="ctr" rtlCol="false" lIns="0" tIns="0" rIns="0" bIns="0" wrap="square"/>
          <a:lstStyle/>
          <a:p>
            <a:endParaRPr lang="en-US" sz="1800"/>
          </a:p>
        </p:txBody>
      </p:sp>
      <p:sp>
        <p:nvSpPr>
          <p:cNvPr id="32" name="TextBox 31"/>
          <p:cNvSpPr txBox="1"/>
          <p:nvPr/>
        </p:nvSpPr>
        <p:spPr>
          <a:xfrm>
            <a:off x="9669780" y="6084697"/>
            <a:ext cx="7223760" cy="1715135"/>
          </a:xfrm>
          <a:prstGeom prst="rect">
            <a:avLst/>
          </a:prstGeom>
          <a:noFill/>
        </p:spPr>
        <p:txBody>
          <a:bodyPr anchor="t" rtlCol="false" lIns="0" tIns="0" rIns="0" bIns="0" wrap="square"/>
          <a:lstStyle/>
          <a:p>
            <a:pPr algn="l">
              <a:lnSpc>
                <a:spcPts val="1800"/>
              </a:lnSpc>
              <a:spcBef>
                <a:spcPts val="0"/>
              </a:spcBef>
              <a:buNone/>
            </a:pPr>
            <a:r>
              <a:rPr lang="en-US" sz="1400" b="true" spc="160">
                <a:solidFill>
                  <a:srgbClr val="ECC665"/>
                </a:solidFill>
                <a:latin typeface="Nunito Ultra-Bold"/>
                <a:ea typeface="Nunito Ultra-Bold"/>
                <a:cs typeface="Nunito Ultra-Bold"/>
                <a:sym typeface="Nunito Ultra-Bold"/>
              </a:rPr>
              <a:t>SMOOTHING</a:t>
            </a:r>
          </a:p>
          <a:p>
            <a:pPr algn="l">
              <a:lnSpc>
                <a:spcPts val="2400"/>
              </a:lnSpc>
              <a:spcBef>
                <a:spcPts val="800"/>
              </a:spcBef>
              <a:buNone/>
            </a:pPr>
            <a:r>
              <a:rPr lang="en-US" sz="1900" b="true">
                <a:solidFill>
                  <a:srgbClr val="FFFFFF"/>
                </a:solidFill>
                <a:latin typeface="Nunito Semi-Bold"/>
                <a:ea typeface="Nunito Semi-Bold"/>
                <a:cs typeface="Nunito Semi-Bold"/>
                <a:sym typeface="Nunito Semi-Bold"/>
              </a:rPr>
              <a:t>The surrogate approximation smooths out variation between single observations.</a:t>
            </a:r>
          </a:p>
        </p:txBody>
      </p:sp>
      <p:sp>
        <p:nvSpPr>
          <p:cNvPr id="33" name="Rounded Rectangle 32"/>
          <p:cNvSpPr/>
          <p:nvPr/>
        </p:nvSpPr>
        <p:spPr>
          <a:xfrm>
            <a:off x="1028700" y="8348472"/>
            <a:ext cx="16230600" cy="960120"/>
          </a:xfrm>
          <a:prstGeom prst="roundRect">
            <a:avLst>
              <a:gd name="adj" fmla="val 23809"/>
            </a:avLst>
          </a:prstGeom>
          <a:noFill/>
          <a:ln w="31750">
            <a:solidFill>
              <a:srgbClr val="1F7A8C"/>
            </a:solidFill>
          </a:ln>
        </p:spPr>
        <p:txBody>
          <a:bodyPr anchor="ctr" rtlCol="false" lIns="457200" tIns="91440" rIns="457200" bIns="91440" wrap="square"/>
          <a:lstStyle/>
          <a:p>
            <a:pPr algn="ctr">
              <a:lnSpc>
                <a:spcPts val="2500"/>
              </a:lnSpc>
              <a:spcBef>
                <a:spcPts val="0"/>
              </a:spcBef>
              <a:buNone/>
            </a:pPr>
            <a:r>
              <a:rPr lang="en-US" sz="2000" b="true">
                <a:solidFill>
                  <a:srgbClr val="111111"/>
                </a:solidFill>
                <a:latin typeface="Nunito Semi-Bold"/>
                <a:ea typeface="Nunito Semi-Bold"/>
                <a:cs typeface="Nunito Semi-Bold"/>
                <a:sym typeface="Nunito Semi-Bold"/>
              </a:rPr>
              <a:t>The </a:t>
            </a:r>
            <a:r>
              <a:rPr lang="en-US" sz="2000" b="true">
                <a:solidFill>
                  <a:srgbClr val="111111"/>
                </a:solidFill>
                <a:latin typeface="Nunito Bold"/>
                <a:ea typeface="Nunito Bold"/>
                <a:cs typeface="Nunito Bold"/>
                <a:sym typeface="Nunito Bold"/>
              </a:rPr>
              <a:t>single-level</a:t>
            </a:r>
            <a:r>
              <a:rPr lang="en-US" sz="2000" b="true">
                <a:solidFill>
                  <a:srgbClr val="111111"/>
                </a:solidFill>
                <a:latin typeface="Nunito Semi-Bold"/>
                <a:ea typeface="Nunito Semi-Bold"/>
                <a:cs typeface="Nunito Semi-Bold"/>
                <a:sym typeface="Nunito Semi-Bold"/>
              </a:rPr>
              <a:t> limitation is the one that matters most for what follows: real data are rarely flat.</a:t>
            </a:r>
          </a:p>
        </p:txBody>
      </p:sp>
    </p:spTree>
  </p:cSld>
  <p:clrMapOvr>
    <a:masterClrMapping/>
  </p:clrMapOvr>
</p:sld>
</file>

<file path=ppt/slides/slide5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pic>
        <p:nvPicPr>
          <p:cNvPr id="2" name="Picture 1" descr="ensias_logo.jpg"/>
          <p:cNvPicPr>
            <a:picLocks noChangeAspect="1"/>
          </p:cNvPicPr>
          <p:nvPr/>
        </p:nvPicPr>
        <p:blipFill>
          <a:blip r:embed="rId2"/>
          <a:stretch>
            <a:fillRect/>
          </a:stretch>
        </p:blipFill>
        <p:spPr>
          <a:xfrm>
            <a:off x="1028700" y="9674352"/>
            <a:ext cx="542964" cy="384048"/>
          </a:xfrm>
          <a:prstGeom prst="rect">
            <a:avLst/>
          </a:prstGeom>
        </p:spPr>
      </p:pic>
      <p:sp>
        <p:nvSpPr>
          <p:cNvPr id="3" name="TextBox 2"/>
          <p:cNvSpPr txBox="1"/>
          <p:nvPr/>
        </p:nvSpPr>
        <p:spPr>
          <a:xfrm>
            <a:off x="1577340" y="9747504"/>
            <a:ext cx="12801600" cy="274320"/>
          </a:xfrm>
          <a:prstGeom prst="rect">
            <a:avLst/>
          </a:prstGeom>
          <a:noFill/>
        </p:spPr>
        <p:txBody>
          <a:bodyPr anchor="t" rtlCol="false" lIns="0" tIns="0" rIns="0" bIns="0" wrap="square"/>
          <a:lstStyle/>
          <a:p>
            <a:pPr algn="l">
              <a:lnSpc>
                <a:spcPts val="1600"/>
              </a:lnSpc>
              <a:spcBef>
                <a:spcPts val="0"/>
              </a:spcBef>
              <a:buNone/>
            </a:pPr>
            <a:r>
              <a:rPr lang="en-US" sz="1300" b="true">
                <a:solidFill>
                  <a:srgbClr val="8A8378"/>
                </a:solidFill>
                <a:latin typeface="Nunito Bold"/>
                <a:ea typeface="Nunito Bold"/>
                <a:cs typeface="Nunito Bold"/>
                <a:sym typeface="Nunito Bold"/>
              </a:rPr>
              <a:t>Cooperative Game Theory for Explainable AI in Recommendation Systems  ·  A Shapley Framework for Actionable Insight</a:t>
            </a:r>
          </a:p>
        </p:txBody>
      </p:sp>
      <p:sp>
        <p:nvSpPr>
          <p:cNvPr id="4" name="TextBox 3"/>
          <p:cNvSpPr txBox="1"/>
          <p:nvPr/>
        </p:nvSpPr>
        <p:spPr>
          <a:xfrm>
            <a:off x="16162020" y="9692640"/>
            <a:ext cx="1097280" cy="329184"/>
          </a:xfrm>
          <a:prstGeom prst="rect">
            <a:avLst/>
          </a:prstGeom>
          <a:noFill/>
        </p:spPr>
        <p:txBody>
          <a:bodyPr anchor="t" rtlCol="false" lIns="0" tIns="0" rIns="0" bIns="0" wrap="square"/>
          <a:lstStyle/>
          <a:p>
            <a:pPr algn="r">
              <a:lnSpc>
                <a:spcPts val="2200"/>
              </a:lnSpc>
              <a:spcBef>
                <a:spcPts val="0"/>
              </a:spcBef>
              <a:buNone/>
            </a:pPr>
            <a:r>
              <a:rPr lang="en-US" sz="1800" b="true">
                <a:solidFill>
                  <a:srgbClr val="111111"/>
                </a:solidFill>
                <a:latin typeface="Nunito Ultra-Bold"/>
                <a:ea typeface="Nunito Ultra-Bold"/>
                <a:cs typeface="Nunito Ultra-Bold"/>
                <a:sym typeface="Nunito Ultra-Bold"/>
              </a:rPr>
              <a:t>37</a:t>
            </a:r>
          </a:p>
        </p:txBody>
      </p:sp>
      <p:sp>
        <p:nvSpPr>
          <p:cNvPr id="5" name="TextBox 4"/>
          <p:cNvSpPr txBox="1"/>
          <p:nvPr/>
        </p:nvSpPr>
        <p:spPr>
          <a:xfrm>
            <a:off x="1028700" y="1389888"/>
            <a:ext cx="12938760" cy="329184"/>
          </a:xfrm>
          <a:prstGeom prst="rect">
            <a:avLst/>
          </a:prstGeom>
          <a:noFill/>
        </p:spPr>
        <p:txBody>
          <a:bodyPr anchor="t" rtlCol="false" lIns="0" tIns="0" rIns="0" bIns="0" wrap="square"/>
          <a:lstStyle/>
          <a:p>
            <a:pPr algn="l">
              <a:lnSpc>
                <a:spcPts val="2000"/>
              </a:lnSpc>
              <a:spcBef>
                <a:spcPts val="0"/>
              </a:spcBef>
              <a:buNone/>
            </a:pPr>
            <a:r>
              <a:rPr lang="en-US" sz="1500" b="true" spc="160">
                <a:solidFill>
                  <a:srgbClr val="1F7A8C"/>
                </a:solidFill>
                <a:latin typeface="Nunito Ultra-Bold"/>
                <a:ea typeface="Nunito Ultra-Bold"/>
                <a:cs typeface="Nunito Ultra-Bold"/>
                <a:sym typeface="Nunito Ultra-Bold"/>
              </a:rPr>
              <a:t>CONTRIBUTION I: EXPLAINABLE BLACK-BOX CLUSTERING</a:t>
            </a:r>
          </a:p>
        </p:txBody>
      </p:sp>
      <p:sp>
        <p:nvSpPr>
          <p:cNvPr id="6" name="Rounded Rectangle 5"/>
          <p:cNvSpPr/>
          <p:nvPr/>
        </p:nvSpPr>
        <p:spPr>
          <a:xfrm>
            <a:off x="14516100"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7" name="TextBox 6"/>
          <p:cNvSpPr txBox="1"/>
          <p:nvPr/>
        </p:nvSpPr>
        <p:spPr>
          <a:xfrm>
            <a:off x="14516100"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1</a:t>
            </a:r>
          </a:p>
        </p:txBody>
      </p:sp>
      <p:sp>
        <p:nvSpPr>
          <p:cNvPr id="8" name="Rounded Rectangle 7"/>
          <p:cNvSpPr/>
          <p:nvPr/>
        </p:nvSpPr>
        <p:spPr>
          <a:xfrm>
            <a:off x="14918436"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9" name="TextBox 8"/>
          <p:cNvSpPr txBox="1"/>
          <p:nvPr/>
        </p:nvSpPr>
        <p:spPr>
          <a:xfrm>
            <a:off x="14918436"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2</a:t>
            </a:r>
          </a:p>
        </p:txBody>
      </p:sp>
      <p:sp>
        <p:nvSpPr>
          <p:cNvPr id="10" name="Rounded Rectangle 9"/>
          <p:cNvSpPr/>
          <p:nvPr/>
        </p:nvSpPr>
        <p:spPr>
          <a:xfrm>
            <a:off x="15320772"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11" name="TextBox 10"/>
          <p:cNvSpPr txBox="1"/>
          <p:nvPr/>
        </p:nvSpPr>
        <p:spPr>
          <a:xfrm>
            <a:off x="15320772"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3</a:t>
            </a:r>
          </a:p>
        </p:txBody>
      </p:sp>
      <p:sp>
        <p:nvSpPr>
          <p:cNvPr id="12" name="Rounded Rectangle 11"/>
          <p:cNvSpPr/>
          <p:nvPr/>
        </p:nvSpPr>
        <p:spPr>
          <a:xfrm>
            <a:off x="15723108" y="1371600"/>
            <a:ext cx="329184" cy="329184"/>
          </a:xfrm>
          <a:prstGeom prst="roundRect">
            <a:avLst>
              <a:gd name="adj" fmla="val 16666"/>
            </a:avLst>
          </a:prstGeom>
          <a:solidFill>
            <a:srgbClr val="4472C4"/>
          </a:solidFill>
          <a:ln w="15875">
            <a:solidFill>
              <a:srgbClr val="4472C4"/>
            </a:solidFill>
          </a:ln>
        </p:spPr>
        <p:txBody>
          <a:bodyPr anchor="ctr" rtlCol="false" lIns="0" tIns="0" rIns="0" bIns="0" wrap="square"/>
          <a:lstStyle/>
          <a:p>
            <a:endParaRPr lang="en-US" sz="1800"/>
          </a:p>
        </p:txBody>
      </p:sp>
      <p:sp>
        <p:nvSpPr>
          <p:cNvPr id="13" name="TextBox 12"/>
          <p:cNvSpPr txBox="1"/>
          <p:nvPr/>
        </p:nvSpPr>
        <p:spPr>
          <a:xfrm>
            <a:off x="15723108"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FFFFFF"/>
                </a:solidFill>
                <a:latin typeface="Nunito Ultra-Bold"/>
                <a:ea typeface="Nunito Ultra-Bold"/>
                <a:cs typeface="Nunito Ultra-Bold"/>
                <a:sym typeface="Nunito Ultra-Bold"/>
              </a:rPr>
              <a:t>4</a:t>
            </a:r>
          </a:p>
        </p:txBody>
      </p:sp>
      <p:sp>
        <p:nvSpPr>
          <p:cNvPr id="14" name="Rounded Rectangle 13"/>
          <p:cNvSpPr/>
          <p:nvPr/>
        </p:nvSpPr>
        <p:spPr>
          <a:xfrm>
            <a:off x="16125444"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15" name="TextBox 14"/>
          <p:cNvSpPr txBox="1"/>
          <p:nvPr/>
        </p:nvSpPr>
        <p:spPr>
          <a:xfrm>
            <a:off x="16125444"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5</a:t>
            </a:r>
          </a:p>
        </p:txBody>
      </p:sp>
      <p:sp>
        <p:nvSpPr>
          <p:cNvPr id="16" name="Rounded Rectangle 15"/>
          <p:cNvSpPr/>
          <p:nvPr/>
        </p:nvSpPr>
        <p:spPr>
          <a:xfrm>
            <a:off x="16527780"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17" name="TextBox 16"/>
          <p:cNvSpPr txBox="1"/>
          <p:nvPr/>
        </p:nvSpPr>
        <p:spPr>
          <a:xfrm>
            <a:off x="16527780"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6</a:t>
            </a:r>
          </a:p>
        </p:txBody>
      </p:sp>
      <p:sp>
        <p:nvSpPr>
          <p:cNvPr id="18" name="Rounded Rectangle 17"/>
          <p:cNvSpPr/>
          <p:nvPr/>
        </p:nvSpPr>
        <p:spPr>
          <a:xfrm>
            <a:off x="16930116"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19" name="TextBox 18"/>
          <p:cNvSpPr txBox="1"/>
          <p:nvPr/>
        </p:nvSpPr>
        <p:spPr>
          <a:xfrm>
            <a:off x="16930116"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7</a:t>
            </a:r>
          </a:p>
        </p:txBody>
      </p:sp>
      <p:sp>
        <p:nvSpPr>
          <p:cNvPr id="20" name="TextBox 19"/>
          <p:cNvSpPr txBox="1"/>
          <p:nvPr/>
        </p:nvSpPr>
        <p:spPr>
          <a:xfrm>
            <a:off x="1028700" y="1719072"/>
            <a:ext cx="16230600" cy="730250"/>
          </a:xfrm>
          <a:prstGeom prst="rect">
            <a:avLst/>
          </a:prstGeom>
          <a:noFill/>
        </p:spPr>
        <p:txBody>
          <a:bodyPr anchor="t" rtlCol="false" lIns="0" tIns="0" rIns="0" bIns="0" wrap="square"/>
          <a:lstStyle/>
          <a:p>
            <a:pPr algn="l">
              <a:lnSpc>
                <a:spcPts val="5060"/>
              </a:lnSpc>
              <a:spcBef>
                <a:spcPts val="0"/>
              </a:spcBef>
              <a:buNone/>
            </a:pPr>
            <a:r>
              <a:rPr lang="en-US" sz="4600" b="true" spc="-230">
                <a:solidFill>
                  <a:srgbClr val="111111"/>
                </a:solidFill>
                <a:latin typeface="Roca Two Bold"/>
                <a:ea typeface="Roca Two Bold"/>
                <a:cs typeface="Roca Two Bold"/>
                <a:sym typeface="Roca Two Bold"/>
              </a:rPr>
              <a:t>Takeaway: Contribution I</a:t>
            </a:r>
          </a:p>
        </p:txBody>
      </p:sp>
      <p:sp>
        <p:nvSpPr>
          <p:cNvPr id="21" name="Rounded Rectangle 20"/>
          <p:cNvSpPr/>
          <p:nvPr/>
        </p:nvSpPr>
        <p:spPr>
          <a:xfrm>
            <a:off x="1028700" y="2559050"/>
            <a:ext cx="1691553" cy="420624"/>
          </a:xfrm>
          <a:prstGeom prst="roundRect">
            <a:avLst>
              <a:gd name="adj" fmla="val 50000"/>
            </a:avLst>
          </a:prstGeom>
          <a:noFill/>
          <a:ln w="28575">
            <a:solidFill>
              <a:srgbClr val="4472C4"/>
            </a:solidFill>
          </a:ln>
        </p:spPr>
        <p:txBody>
          <a:bodyPr anchor="ctr" rtlCol="false" lIns="45720" tIns="0" rIns="45720" bIns="0" wrap="square"/>
          <a:lstStyle/>
          <a:p>
            <a:pPr algn="ctr">
              <a:lnSpc>
                <a:spcPts val="2160"/>
              </a:lnSpc>
              <a:spcBef>
                <a:spcPts val="0"/>
              </a:spcBef>
              <a:buNone/>
            </a:pPr>
            <a:r>
              <a:rPr lang="en-US" sz="1800" b="true">
                <a:solidFill>
                  <a:srgbClr val="4472C4"/>
                </a:solidFill>
                <a:latin typeface="Nunito Bold"/>
                <a:ea typeface="Nunito Bold"/>
                <a:cs typeface="Nunito Bold"/>
                <a:sym typeface="Nunito Bold"/>
              </a:rPr>
              <a:t>Objectives</a:t>
            </a:r>
          </a:p>
        </p:txBody>
      </p:sp>
      <p:sp>
        <p:nvSpPr>
          <p:cNvPr id="22" name="Rounded Rectangle 21"/>
          <p:cNvSpPr/>
          <p:nvPr/>
        </p:nvSpPr>
        <p:spPr>
          <a:xfrm>
            <a:off x="2848269" y="2559050"/>
            <a:ext cx="1998119" cy="420624"/>
          </a:xfrm>
          <a:prstGeom prst="roundRect">
            <a:avLst>
              <a:gd name="adj" fmla="val 50000"/>
            </a:avLst>
          </a:prstGeom>
          <a:noFill/>
          <a:ln w="28575">
            <a:solidFill>
              <a:srgbClr val="4472C4"/>
            </a:solidFill>
          </a:ln>
        </p:spPr>
        <p:txBody>
          <a:bodyPr anchor="ctr" rtlCol="false" lIns="45720" tIns="0" rIns="45720" bIns="0" wrap="square"/>
          <a:lstStyle/>
          <a:p>
            <a:pPr algn="ctr">
              <a:lnSpc>
                <a:spcPts val="2160"/>
              </a:lnSpc>
              <a:spcBef>
                <a:spcPts val="0"/>
              </a:spcBef>
              <a:buNone/>
            </a:pPr>
            <a:r>
              <a:rPr lang="en-US" sz="1800" b="true">
                <a:solidFill>
                  <a:srgbClr val="4472C4"/>
                </a:solidFill>
                <a:latin typeface="Nunito Bold"/>
                <a:ea typeface="Nunito Bold"/>
                <a:cs typeface="Nunito Bold"/>
                <a:sym typeface="Nunito Bold"/>
              </a:rPr>
              <a:t>Methodology</a:t>
            </a:r>
          </a:p>
        </p:txBody>
      </p:sp>
      <p:sp>
        <p:nvSpPr>
          <p:cNvPr id="23" name="Rounded Rectangle 22"/>
          <p:cNvSpPr/>
          <p:nvPr/>
        </p:nvSpPr>
        <p:spPr>
          <a:xfrm>
            <a:off x="4974404" y="2559050"/>
            <a:ext cx="1369446" cy="420624"/>
          </a:xfrm>
          <a:prstGeom prst="roundRect">
            <a:avLst>
              <a:gd name="adj" fmla="val 50000"/>
            </a:avLst>
          </a:prstGeom>
          <a:noFill/>
          <a:ln w="28575">
            <a:solidFill>
              <a:srgbClr val="4472C4"/>
            </a:solidFill>
          </a:ln>
        </p:spPr>
        <p:txBody>
          <a:bodyPr anchor="ctr" rtlCol="false" lIns="45720" tIns="0" rIns="45720" bIns="0" wrap="square"/>
          <a:lstStyle/>
          <a:p>
            <a:pPr algn="ctr">
              <a:lnSpc>
                <a:spcPts val="2160"/>
              </a:lnSpc>
              <a:spcBef>
                <a:spcPts val="0"/>
              </a:spcBef>
              <a:buNone/>
            </a:pPr>
            <a:r>
              <a:rPr lang="en-US" sz="1800" b="true">
                <a:solidFill>
                  <a:srgbClr val="4472C4"/>
                </a:solidFill>
                <a:latin typeface="Nunito Bold"/>
                <a:ea typeface="Nunito Bold"/>
                <a:cs typeface="Nunito Bold"/>
                <a:sym typeface="Nunito Bold"/>
              </a:rPr>
              <a:t>Results</a:t>
            </a:r>
          </a:p>
        </p:txBody>
      </p:sp>
      <p:sp>
        <p:nvSpPr>
          <p:cNvPr id="24" name="Rounded Rectangle 23"/>
          <p:cNvSpPr/>
          <p:nvPr/>
        </p:nvSpPr>
        <p:spPr>
          <a:xfrm>
            <a:off x="6471866" y="2559050"/>
            <a:ext cx="1474931" cy="420624"/>
          </a:xfrm>
          <a:prstGeom prst="roundRect">
            <a:avLst>
              <a:gd name="adj" fmla="val 50000"/>
            </a:avLst>
          </a:prstGeom>
          <a:solidFill>
            <a:srgbClr val="4472C4"/>
          </a:solidFill>
          <a:ln>
            <a:noFill/>
          </a:ln>
        </p:spPr>
        <p:txBody>
          <a:bodyPr anchor="ctr" rtlCol="false" lIns="45720" tIns="0" rIns="45720" bIns="0" wrap="square"/>
          <a:lstStyle/>
          <a:p>
            <a:pPr algn="ctr">
              <a:lnSpc>
                <a:spcPts val="2160"/>
              </a:lnSpc>
              <a:spcBef>
                <a:spcPts val="0"/>
              </a:spcBef>
              <a:buNone/>
            </a:pPr>
            <a:r>
              <a:rPr lang="en-US" sz="1800" b="true">
                <a:solidFill>
                  <a:srgbClr val="FFFFFF"/>
                </a:solidFill>
                <a:latin typeface="Nunito Bold"/>
                <a:ea typeface="Nunito Bold"/>
                <a:cs typeface="Nunito Bold"/>
                <a:sym typeface="Nunito Bold"/>
              </a:rPr>
              <a:t>Findings</a:t>
            </a:r>
          </a:p>
        </p:txBody>
      </p:sp>
      <p:sp>
        <p:nvSpPr>
          <p:cNvPr id="25" name="Rounded Rectangle 24"/>
          <p:cNvSpPr/>
          <p:nvPr/>
        </p:nvSpPr>
        <p:spPr>
          <a:xfrm>
            <a:off x="1028700" y="3363722"/>
            <a:ext cx="5196840" cy="2651760"/>
          </a:xfrm>
          <a:prstGeom prst="roundRect">
            <a:avLst>
              <a:gd name="adj" fmla="val 10344"/>
            </a:avLst>
          </a:prstGeom>
          <a:solidFill>
            <a:srgbClr val="4472C4"/>
          </a:solidFill>
          <a:ln>
            <a:noFill/>
          </a:ln>
        </p:spPr>
        <p:txBody>
          <a:bodyPr anchor="ctr" rtlCol="false" lIns="0" tIns="0" rIns="0" bIns="0" wrap="square"/>
          <a:lstStyle/>
          <a:p>
            <a:endParaRPr lang="en-US" sz="1800"/>
          </a:p>
        </p:txBody>
      </p:sp>
      <p:sp>
        <p:nvSpPr>
          <p:cNvPr id="26" name="TextBox 25"/>
          <p:cNvSpPr txBox="1"/>
          <p:nvPr/>
        </p:nvSpPr>
        <p:spPr>
          <a:xfrm>
            <a:off x="1394460" y="3683762"/>
            <a:ext cx="4465320" cy="2103120"/>
          </a:xfrm>
          <a:prstGeom prst="rect">
            <a:avLst/>
          </a:prstGeom>
          <a:noFill/>
        </p:spPr>
        <p:txBody>
          <a:bodyPr anchor="t" rtlCol="false" lIns="0" tIns="0" rIns="0" bIns="0" wrap="square"/>
          <a:lstStyle/>
          <a:p>
            <a:pPr algn="l">
              <a:lnSpc>
                <a:spcPts val="3200"/>
              </a:lnSpc>
              <a:spcBef>
                <a:spcPts val="0"/>
              </a:spcBef>
              <a:buNone/>
            </a:pPr>
            <a:r>
              <a:rPr lang="en-US" sz="2800" b="true" spc="-120">
                <a:solidFill>
                  <a:srgbClr val="ECC665"/>
                </a:solidFill>
                <a:latin typeface="Roca Two Bold"/>
                <a:ea typeface="Roca Two Bold"/>
                <a:cs typeface="Roca Two Bold"/>
                <a:sym typeface="Roca Two Bold"/>
              </a:rPr>
              <a:t>Single lens</a:t>
            </a:r>
          </a:p>
          <a:p>
            <a:pPr algn="l">
              <a:lnSpc>
                <a:spcPts val="2400"/>
              </a:lnSpc>
              <a:spcBef>
                <a:spcPts val="1000"/>
              </a:spcBef>
              <a:buNone/>
            </a:pPr>
            <a:r>
              <a:rPr lang="en-US" sz="1900" b="true">
                <a:solidFill>
                  <a:srgbClr val="F7F2EA"/>
                </a:solidFill>
                <a:latin typeface="Nunito Semi-Bold"/>
                <a:ea typeface="Nunito Semi-Bold"/>
                <a:cs typeface="Nunito Semi-Bold"/>
                <a:sym typeface="Nunito Semi-Bold"/>
              </a:rPr>
              <a:t>One axiomatic rule explains the whole partition, cluster by cluster.</a:t>
            </a:r>
          </a:p>
        </p:txBody>
      </p:sp>
      <p:sp>
        <p:nvSpPr>
          <p:cNvPr id="27" name="Rounded Rectangle 26"/>
          <p:cNvSpPr/>
          <p:nvPr/>
        </p:nvSpPr>
        <p:spPr>
          <a:xfrm>
            <a:off x="6545580" y="3363722"/>
            <a:ext cx="5196840" cy="2651760"/>
          </a:xfrm>
          <a:prstGeom prst="roundRect">
            <a:avLst>
              <a:gd name="adj" fmla="val 10344"/>
            </a:avLst>
          </a:prstGeom>
          <a:solidFill>
            <a:srgbClr val="2F5597"/>
          </a:solidFill>
          <a:ln>
            <a:noFill/>
          </a:ln>
        </p:spPr>
        <p:txBody>
          <a:bodyPr anchor="ctr" rtlCol="false" lIns="0" tIns="0" rIns="0" bIns="0" wrap="square"/>
          <a:lstStyle/>
          <a:p>
            <a:endParaRPr lang="en-US" sz="1800"/>
          </a:p>
        </p:txBody>
      </p:sp>
      <p:sp>
        <p:nvSpPr>
          <p:cNvPr id="28" name="TextBox 27"/>
          <p:cNvSpPr txBox="1"/>
          <p:nvPr/>
        </p:nvSpPr>
        <p:spPr>
          <a:xfrm>
            <a:off x="6911340" y="3683762"/>
            <a:ext cx="4465320" cy="2103120"/>
          </a:xfrm>
          <a:prstGeom prst="rect">
            <a:avLst/>
          </a:prstGeom>
          <a:noFill/>
        </p:spPr>
        <p:txBody>
          <a:bodyPr anchor="t" rtlCol="false" lIns="0" tIns="0" rIns="0" bIns="0" wrap="square"/>
          <a:lstStyle/>
          <a:p>
            <a:pPr algn="l">
              <a:lnSpc>
                <a:spcPts val="3200"/>
              </a:lnSpc>
              <a:spcBef>
                <a:spcPts val="0"/>
              </a:spcBef>
              <a:buNone/>
            </a:pPr>
            <a:r>
              <a:rPr lang="en-US" sz="2800" b="true" spc="-120">
                <a:solidFill>
                  <a:srgbClr val="ECC665"/>
                </a:solidFill>
                <a:latin typeface="Roca Two Bold"/>
                <a:ea typeface="Roca Two Bold"/>
                <a:cs typeface="Roca Two Bold"/>
                <a:sym typeface="Roca Two Bold"/>
              </a:rPr>
              <a:t>Original space</a:t>
            </a:r>
          </a:p>
          <a:p>
            <a:pPr algn="l">
              <a:lnSpc>
                <a:spcPts val="2400"/>
              </a:lnSpc>
              <a:spcBef>
                <a:spcPts val="1000"/>
              </a:spcBef>
              <a:buNone/>
            </a:pPr>
            <a:r>
              <a:rPr lang="en-US" sz="1900" b="true">
                <a:solidFill>
                  <a:srgbClr val="F7F2EA"/>
                </a:solidFill>
                <a:latin typeface="Nunito Semi-Bold"/>
                <a:ea typeface="Nunito Semi-Bold"/>
                <a:cs typeface="Nunito Semi-Bold"/>
                <a:sym typeface="Nunito Semi-Bold"/>
              </a:rPr>
              <a:t>The answer comes back in variables an expert can change.</a:t>
            </a:r>
          </a:p>
        </p:txBody>
      </p:sp>
      <p:sp>
        <p:nvSpPr>
          <p:cNvPr id="29" name="Rounded Rectangle 28"/>
          <p:cNvSpPr/>
          <p:nvPr/>
        </p:nvSpPr>
        <p:spPr>
          <a:xfrm>
            <a:off x="12062460" y="3363722"/>
            <a:ext cx="5196840" cy="2651760"/>
          </a:xfrm>
          <a:prstGeom prst="roundRect">
            <a:avLst>
              <a:gd name="adj" fmla="val 10344"/>
            </a:avLst>
          </a:prstGeom>
          <a:solidFill>
            <a:srgbClr val="1F7A8C"/>
          </a:solidFill>
          <a:ln>
            <a:noFill/>
          </a:ln>
        </p:spPr>
        <p:txBody>
          <a:bodyPr anchor="ctr" rtlCol="false" lIns="0" tIns="0" rIns="0" bIns="0" wrap="square"/>
          <a:lstStyle/>
          <a:p>
            <a:endParaRPr lang="en-US" sz="1800"/>
          </a:p>
        </p:txBody>
      </p:sp>
      <p:sp>
        <p:nvSpPr>
          <p:cNvPr id="30" name="TextBox 29"/>
          <p:cNvSpPr txBox="1"/>
          <p:nvPr/>
        </p:nvSpPr>
        <p:spPr>
          <a:xfrm>
            <a:off x="12428220" y="3683762"/>
            <a:ext cx="4465320" cy="2103120"/>
          </a:xfrm>
          <a:prstGeom prst="rect">
            <a:avLst/>
          </a:prstGeom>
          <a:noFill/>
        </p:spPr>
        <p:txBody>
          <a:bodyPr anchor="t" rtlCol="false" lIns="0" tIns="0" rIns="0" bIns="0" wrap="square"/>
          <a:lstStyle/>
          <a:p>
            <a:pPr algn="l">
              <a:lnSpc>
                <a:spcPts val="3200"/>
              </a:lnSpc>
              <a:spcBef>
                <a:spcPts val="0"/>
              </a:spcBef>
              <a:buNone/>
            </a:pPr>
            <a:r>
              <a:rPr lang="en-US" sz="2800" b="true" spc="-120">
                <a:solidFill>
                  <a:srgbClr val="FFFFFF"/>
                </a:solidFill>
                <a:latin typeface="Roca Two Bold"/>
                <a:ea typeface="Roca Two Bold"/>
                <a:cs typeface="Roca Two Bold"/>
                <a:sym typeface="Roca Two Bold"/>
              </a:rPr>
              <a:t>But…</a:t>
            </a:r>
          </a:p>
          <a:p>
            <a:pPr algn="l">
              <a:lnSpc>
                <a:spcPts val="2400"/>
              </a:lnSpc>
              <a:spcBef>
                <a:spcPts val="1000"/>
              </a:spcBef>
              <a:buNone/>
            </a:pPr>
            <a:r>
              <a:rPr lang="en-US" sz="1900" b="true">
                <a:solidFill>
                  <a:srgbClr val="F7F2EA"/>
                </a:solidFill>
                <a:latin typeface="Nunito Semi-Bold"/>
                <a:ea typeface="Nunito Semi-Bold"/>
                <a:cs typeface="Nunito Semi-Bold"/>
                <a:sym typeface="Nunito Semi-Bold"/>
              </a:rPr>
              <a:t>Real data are rarely single-level: broad groups contain nested sub-groups.</a:t>
            </a:r>
          </a:p>
        </p:txBody>
      </p:sp>
      <p:sp>
        <p:nvSpPr>
          <p:cNvPr id="31" name="Rounded Rectangle 30"/>
          <p:cNvSpPr/>
          <p:nvPr/>
        </p:nvSpPr>
        <p:spPr>
          <a:xfrm>
            <a:off x="1028700" y="6472682"/>
            <a:ext cx="16230600" cy="1600200"/>
          </a:xfrm>
          <a:prstGeom prst="roundRect">
            <a:avLst>
              <a:gd name="adj" fmla="val 12571"/>
            </a:avLst>
          </a:prstGeom>
          <a:solidFill>
            <a:srgbClr val="F6ECDF"/>
          </a:solidFill>
          <a:ln w="25400">
            <a:solidFill>
              <a:srgbClr val="1F7A8C"/>
            </a:solidFill>
          </a:ln>
        </p:spPr>
        <p:txBody>
          <a:bodyPr anchor="ctr" rtlCol="false" lIns="0" tIns="0" rIns="0" bIns="0" wrap="square"/>
          <a:lstStyle/>
          <a:p>
            <a:endParaRPr lang="en-US" sz="1800"/>
          </a:p>
        </p:txBody>
      </p:sp>
      <p:sp>
        <p:nvSpPr>
          <p:cNvPr id="32" name="Rounded Rectangle 31"/>
          <p:cNvSpPr/>
          <p:nvPr/>
        </p:nvSpPr>
        <p:spPr>
          <a:xfrm>
            <a:off x="1348740" y="6280658"/>
            <a:ext cx="3367987" cy="384048"/>
          </a:xfrm>
          <a:prstGeom prst="roundRect">
            <a:avLst>
              <a:gd name="adj" fmla="val 50000"/>
            </a:avLst>
          </a:prstGeom>
          <a:solidFill>
            <a:srgbClr val="1F7A8C"/>
          </a:solidFill>
          <a:ln w="28575">
            <a:solidFill>
              <a:srgbClr val="1F7A8C"/>
            </a:solidFill>
          </a:ln>
        </p:spPr>
        <p:txBody>
          <a:bodyPr anchor="ctr" rtlCol="false" lIns="45720" tIns="0" rIns="45720" bIns="0" wrap="square"/>
          <a:lstStyle/>
          <a:p>
            <a:pPr algn="ctr">
              <a:lnSpc>
                <a:spcPts val="1680"/>
              </a:lnSpc>
              <a:spcBef>
                <a:spcPts val="0"/>
              </a:spcBef>
              <a:buNone/>
            </a:pPr>
            <a:r>
              <a:rPr lang="en-US" sz="1400" b="true">
                <a:solidFill>
                  <a:srgbClr val="FFFFFF"/>
                </a:solidFill>
                <a:latin typeface="Nunito Bold"/>
                <a:ea typeface="Nunito Bold"/>
                <a:cs typeface="Nunito Bold"/>
                <a:sym typeface="Nunito Bold"/>
              </a:rPr>
              <a:t>TAKEAWAY  ·  CONTRIBUTION I</a:t>
            </a:r>
          </a:p>
        </p:txBody>
      </p:sp>
      <p:sp>
        <p:nvSpPr>
          <p:cNvPr id="33" name="TextBox 32"/>
          <p:cNvSpPr txBox="1"/>
          <p:nvPr/>
        </p:nvSpPr>
        <p:spPr>
          <a:xfrm>
            <a:off x="1394460" y="6747002"/>
            <a:ext cx="15499080" cy="1188720"/>
          </a:xfrm>
          <a:prstGeom prst="rect">
            <a:avLst/>
          </a:prstGeom>
          <a:noFill/>
        </p:spPr>
        <p:txBody>
          <a:bodyPr anchor="ctr" rtlCol="false" lIns="0" tIns="0" rIns="0" bIns="0" wrap="square"/>
          <a:lstStyle/>
          <a:p>
            <a:pPr algn="l">
              <a:lnSpc>
                <a:spcPts val="3220"/>
              </a:lnSpc>
              <a:spcBef>
                <a:spcPts val="0"/>
              </a:spcBef>
              <a:buNone/>
            </a:pPr>
            <a:r>
              <a:rPr lang="en-US" sz="2300" b="true">
                <a:solidFill>
                  <a:srgbClr val="111111"/>
                </a:solidFill>
                <a:latin typeface="Nunito Semi-Bold"/>
                <a:ea typeface="Nunito Semi-Bold"/>
                <a:cs typeface="Nunito Semi-Bold"/>
                <a:sym typeface="Nunito Semi-Bold"/>
              </a:rPr>
              <a:t>Shapley attribution is a </a:t>
            </a:r>
            <a:r>
              <a:rPr lang="en-US" sz="2300" b="true">
                <a:solidFill>
                  <a:srgbClr val="111111"/>
                </a:solidFill>
                <a:latin typeface="Nunito Bold"/>
                <a:ea typeface="Nunito Bold"/>
                <a:cs typeface="Nunito Bold"/>
                <a:sym typeface="Nunito Bold"/>
              </a:rPr>
              <a:t>well-founded lens</a:t>
            </a:r>
            <a:r>
              <a:rPr lang="en-US" sz="2300" b="true">
                <a:solidFill>
                  <a:srgbClr val="111111"/>
                </a:solidFill>
                <a:latin typeface="Nunito Semi-Bold"/>
                <a:ea typeface="Nunito Semi-Bold"/>
                <a:cs typeface="Nunito Semi-Bold"/>
                <a:sym typeface="Nunito Semi-Bold"/>
              </a:rPr>
              <a:t> for explaining an unsupervised partition, and keeping it in the </a:t>
            </a:r>
            <a:r>
              <a:rPr lang="en-US" sz="2300" b="true">
                <a:solidFill>
                  <a:srgbClr val="111111"/>
                </a:solidFill>
                <a:latin typeface="Nunito Bold"/>
                <a:ea typeface="Nunito Bold"/>
                <a:cs typeface="Nunito Bold"/>
                <a:sym typeface="Nunito Bold"/>
              </a:rPr>
              <a:t>original feature space</a:t>
            </a:r>
            <a:r>
              <a:rPr lang="en-US" sz="2300" b="true">
                <a:solidFill>
                  <a:srgbClr val="111111"/>
                </a:solidFill>
                <a:latin typeface="Nunito Semi-Bold"/>
                <a:ea typeface="Nunito Semi-Bold"/>
                <a:cs typeface="Nunito Semi-Bold"/>
                <a:sym typeface="Nunito Semi-Bold"/>
              </a:rPr>
              <a:t> is what makes the explanation actionable.</a:t>
            </a:r>
          </a:p>
        </p:txBody>
      </p:sp>
      <p:sp>
        <p:nvSpPr>
          <p:cNvPr id="34" name="Rounded Rectangle 33"/>
          <p:cNvSpPr/>
          <p:nvPr/>
        </p:nvSpPr>
        <p:spPr>
          <a:xfrm>
            <a:off x="1028700" y="8392922"/>
            <a:ext cx="16230600" cy="961390"/>
          </a:xfrm>
          <a:prstGeom prst="roundRect">
            <a:avLst>
              <a:gd name="adj" fmla="val 23778"/>
            </a:avLst>
          </a:prstGeom>
          <a:solidFill>
            <a:srgbClr val="4472C4"/>
          </a:solidFill>
          <a:ln>
            <a:noFill/>
          </a:ln>
        </p:spPr>
        <p:txBody>
          <a:bodyPr anchor="ctr" rtlCol="false" lIns="457200" tIns="45720" rIns="457200" bIns="45720" wrap="square"/>
          <a:lstStyle/>
          <a:p>
            <a:pPr algn="ctr">
              <a:lnSpc>
                <a:spcPts val="2500"/>
              </a:lnSpc>
              <a:spcBef>
                <a:spcPts val="0"/>
              </a:spcBef>
              <a:buNone/>
            </a:pPr>
            <a:r>
              <a:rPr lang="en-US" sz="2000" b="true">
                <a:solidFill>
                  <a:srgbClr val="FFFFFF"/>
                </a:solidFill>
                <a:latin typeface="Nunito Bold"/>
                <a:ea typeface="Nunito Bold"/>
                <a:cs typeface="Nunito Bold"/>
                <a:sym typeface="Nunito Bold"/>
              </a:rPr>
              <a:t>Next question:</a:t>
            </a:r>
            <a:r>
              <a:rPr lang="en-US" sz="2000" b="true">
                <a:solidFill>
                  <a:srgbClr val="FFFFFF"/>
                </a:solidFill>
                <a:latin typeface="Nunito Semi-Bold"/>
                <a:ea typeface="Nunito Semi-Bold"/>
                <a:cs typeface="Nunito Semi-Bold"/>
                <a:sym typeface="Nunito Semi-Bold"/>
              </a:rPr>
              <a:t> does this logic survive scale and hierarchy?  </a:t>
            </a:r>
            <a:r>
              <a:rPr lang="en-US" sz="2000" b="true">
                <a:solidFill>
                  <a:srgbClr val="FFFFFF"/>
                </a:solidFill>
                <a:latin typeface="Calibri"/>
                <a:ea typeface="Calibri"/>
                <a:cs typeface="Calibri"/>
                <a:sym typeface="Calibri"/>
              </a:rPr>
              <a:t>→  </a:t>
            </a:r>
            <a:r>
              <a:rPr lang="en-US" sz="2000" b="true">
                <a:solidFill>
                  <a:srgbClr val="FFFFFF"/>
                </a:solidFill>
                <a:latin typeface="Nunito Semi-Bold"/>
                <a:ea typeface="Nunito Semi-Bold"/>
                <a:cs typeface="Nunito Semi-Bold"/>
                <a:sym typeface="Nunito Semi-Bold"/>
              </a:rPr>
              <a:t>Contribution II</a:t>
            </a:r>
          </a:p>
        </p:txBody>
      </p:sp>
    </p:spTree>
  </p:cSld>
  <p:clrMapOvr>
    <a:masterClrMapping/>
  </p:clrMapOvr>
</p:sld>
</file>

<file path=ppt/slides/slide5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pic>
        <p:nvPicPr>
          <p:cNvPr id="2" name="Picture 1" descr="ensias_logo.jpg"/>
          <p:cNvPicPr>
            <a:picLocks noChangeAspect="1"/>
          </p:cNvPicPr>
          <p:nvPr/>
        </p:nvPicPr>
        <p:blipFill>
          <a:blip r:embed="rId2"/>
          <a:stretch>
            <a:fillRect/>
          </a:stretch>
        </p:blipFill>
        <p:spPr>
          <a:xfrm>
            <a:off x="1028700" y="9674352"/>
            <a:ext cx="542964" cy="384048"/>
          </a:xfrm>
          <a:prstGeom prst="rect">
            <a:avLst/>
          </a:prstGeom>
        </p:spPr>
      </p:pic>
      <p:sp>
        <p:nvSpPr>
          <p:cNvPr id="3" name="TextBox 2"/>
          <p:cNvSpPr txBox="1"/>
          <p:nvPr/>
        </p:nvSpPr>
        <p:spPr>
          <a:xfrm>
            <a:off x="1577340" y="9747504"/>
            <a:ext cx="12801600" cy="274320"/>
          </a:xfrm>
          <a:prstGeom prst="rect">
            <a:avLst/>
          </a:prstGeom>
          <a:noFill/>
        </p:spPr>
        <p:txBody>
          <a:bodyPr anchor="t" rtlCol="false" lIns="0" tIns="0" rIns="0" bIns="0" wrap="square"/>
          <a:lstStyle/>
          <a:p>
            <a:pPr algn="l">
              <a:lnSpc>
                <a:spcPts val="1600"/>
              </a:lnSpc>
              <a:spcBef>
                <a:spcPts val="0"/>
              </a:spcBef>
              <a:buNone/>
            </a:pPr>
            <a:r>
              <a:rPr lang="en-US" sz="1300" b="true">
                <a:solidFill>
                  <a:srgbClr val="8A8378"/>
                </a:solidFill>
                <a:latin typeface="Nunito Bold"/>
                <a:ea typeface="Nunito Bold"/>
                <a:cs typeface="Nunito Bold"/>
                <a:sym typeface="Nunito Bold"/>
              </a:rPr>
              <a:t>Cooperative Game Theory for Explainable AI in Recommendation Systems  ·  A Shapley Framework for Actionable Insight</a:t>
            </a:r>
          </a:p>
        </p:txBody>
      </p:sp>
      <p:sp>
        <p:nvSpPr>
          <p:cNvPr id="4" name="TextBox 3"/>
          <p:cNvSpPr txBox="1"/>
          <p:nvPr/>
        </p:nvSpPr>
        <p:spPr>
          <a:xfrm>
            <a:off x="16162020" y="9692640"/>
            <a:ext cx="1097280" cy="329184"/>
          </a:xfrm>
          <a:prstGeom prst="rect">
            <a:avLst/>
          </a:prstGeom>
          <a:noFill/>
        </p:spPr>
        <p:txBody>
          <a:bodyPr anchor="t" rtlCol="false" lIns="0" tIns="0" rIns="0" bIns="0" wrap="square"/>
          <a:lstStyle/>
          <a:p>
            <a:pPr algn="r">
              <a:lnSpc>
                <a:spcPts val="2200"/>
              </a:lnSpc>
              <a:spcBef>
                <a:spcPts val="0"/>
              </a:spcBef>
              <a:buNone/>
            </a:pPr>
            <a:r>
              <a:rPr lang="en-US" sz="1800" b="true">
                <a:solidFill>
                  <a:srgbClr val="111111"/>
                </a:solidFill>
                <a:latin typeface="Nunito Ultra-Bold"/>
                <a:ea typeface="Nunito Ultra-Bold"/>
                <a:cs typeface="Nunito Ultra-Bold"/>
                <a:sym typeface="Nunito Ultra-Bold"/>
              </a:rPr>
              <a:t>38</a:t>
            </a:r>
          </a:p>
        </p:txBody>
      </p:sp>
      <p:sp>
        <p:nvSpPr>
          <p:cNvPr id="5" name="TextBox 4"/>
          <p:cNvSpPr txBox="1"/>
          <p:nvPr/>
        </p:nvSpPr>
        <p:spPr>
          <a:xfrm>
            <a:off x="1028700" y="2331720"/>
            <a:ext cx="14859000" cy="2286000"/>
          </a:xfrm>
          <a:prstGeom prst="rect">
            <a:avLst/>
          </a:prstGeom>
          <a:noFill/>
        </p:spPr>
        <p:txBody>
          <a:bodyPr anchor="t" rtlCol="false" lIns="0" tIns="0" rIns="0" bIns="0" wrap="square"/>
          <a:lstStyle/>
          <a:p>
            <a:pPr algn="l">
              <a:lnSpc>
                <a:spcPts val="15300"/>
              </a:lnSpc>
              <a:spcBef>
                <a:spcPts val="0"/>
              </a:spcBef>
              <a:buNone/>
            </a:pPr>
            <a:r>
              <a:rPr lang="en-US" sz="15000" b="true" spc="-870">
                <a:solidFill>
                  <a:srgbClr val="111111"/>
                </a:solidFill>
                <a:latin typeface="Roca Two Bold"/>
                <a:ea typeface="Roca Two Bold"/>
                <a:cs typeface="Roca Two Bold"/>
                <a:sym typeface="Roca Two Bold"/>
              </a:rPr>
              <a:t>Contribution II</a:t>
            </a:r>
          </a:p>
        </p:txBody>
      </p:sp>
      <p:sp>
        <p:nvSpPr>
          <p:cNvPr id="6" name="Oval 5"/>
          <p:cNvSpPr/>
          <p:nvPr/>
        </p:nvSpPr>
        <p:spPr>
          <a:xfrm>
            <a:off x="13590479" y="2918460"/>
            <a:ext cx="1005840" cy="1005840"/>
          </a:xfrm>
          <a:prstGeom prst="ellipse">
            <a:avLst/>
          </a:prstGeom>
          <a:solidFill>
            <a:srgbClr val="ECC665"/>
          </a:solidFill>
          <a:ln>
            <a:noFill/>
          </a:ln>
        </p:spPr>
        <p:txBody>
          <a:bodyPr anchor="ctr" rtlCol="false" lIns="0" tIns="0" rIns="0" bIns="0" wrap="square"/>
          <a:lstStyle/>
          <a:p>
            <a:endParaRPr lang="en-US" sz="1800"/>
          </a:p>
        </p:txBody>
      </p:sp>
      <p:sp>
        <p:nvSpPr>
          <p:cNvPr id="7" name="TextBox 6"/>
          <p:cNvSpPr txBox="1"/>
          <p:nvPr/>
        </p:nvSpPr>
        <p:spPr>
          <a:xfrm>
            <a:off x="13590479" y="2918460"/>
            <a:ext cx="1005840" cy="1005840"/>
          </a:xfrm>
          <a:prstGeom prst="rect">
            <a:avLst/>
          </a:prstGeom>
          <a:noFill/>
        </p:spPr>
        <p:txBody>
          <a:bodyPr anchor="ctr" rtlCol="false" lIns="0" tIns="0" rIns="0" bIns="0" wrap="square"/>
          <a:lstStyle/>
          <a:p>
            <a:pPr algn="ctr">
              <a:lnSpc>
                <a:spcPts val="3400"/>
              </a:lnSpc>
              <a:spcBef>
                <a:spcPts val="0"/>
              </a:spcBef>
              <a:buNone/>
            </a:pPr>
            <a:r>
              <a:rPr lang="en-US" sz="3000" b="true">
                <a:solidFill>
                  <a:srgbClr val="111111"/>
                </a:solidFill>
                <a:latin typeface="Nunito Ultra-Bold"/>
                <a:ea typeface="Nunito Ultra-Bold"/>
                <a:cs typeface="Nunito Ultra-Bold"/>
                <a:sym typeface="Nunito Ultra-Bold"/>
              </a:rPr>
              <a:t>05</a:t>
            </a:r>
          </a:p>
        </p:txBody>
      </p:sp>
      <p:sp>
        <p:nvSpPr>
          <p:cNvPr id="8" name="TextBox 7"/>
          <p:cNvSpPr txBox="1"/>
          <p:nvPr/>
        </p:nvSpPr>
        <p:spPr>
          <a:xfrm>
            <a:off x="1028700" y="4465320"/>
            <a:ext cx="16230600" cy="640080"/>
          </a:xfrm>
          <a:prstGeom prst="rect">
            <a:avLst/>
          </a:prstGeom>
          <a:noFill/>
        </p:spPr>
        <p:txBody>
          <a:bodyPr anchor="t" rtlCol="false" lIns="0" tIns="0" rIns="0" bIns="0" wrap="square"/>
          <a:lstStyle/>
          <a:p>
            <a:pPr algn="l">
              <a:lnSpc>
                <a:spcPts val="3800"/>
              </a:lnSpc>
              <a:spcBef>
                <a:spcPts val="0"/>
              </a:spcBef>
              <a:buNone/>
            </a:pPr>
            <a:r>
              <a:rPr lang="en-US" sz="3000" b="true" spc="-150">
                <a:solidFill>
                  <a:srgbClr val="4472C4"/>
                </a:solidFill>
                <a:latin typeface="Nunito Bold"/>
                <a:ea typeface="Nunito Bold"/>
                <a:cs typeface="Nunito Bold"/>
                <a:sym typeface="Nunito Bold"/>
              </a:rPr>
              <a:t>Enhanced multi-level XAI for large-scale clustering  ·  answers RQ2</a:t>
            </a:r>
          </a:p>
        </p:txBody>
      </p:sp>
      <p:sp>
        <p:nvSpPr>
          <p:cNvPr id="9" name="Rectangle 8"/>
          <p:cNvSpPr/>
          <p:nvPr/>
        </p:nvSpPr>
        <p:spPr>
          <a:xfrm>
            <a:off x="0" y="5440680"/>
            <a:ext cx="18288000" cy="4846320"/>
          </a:xfrm>
          <a:prstGeom prst="rect">
            <a:avLst/>
          </a:prstGeom>
          <a:solidFill>
            <a:srgbClr val="4472C4"/>
          </a:solidFill>
          <a:ln>
            <a:noFill/>
          </a:ln>
        </p:spPr>
        <p:txBody>
          <a:bodyPr anchor="ctr" rtlCol="false" lIns="0" tIns="0" rIns="0" bIns="0" wrap="square"/>
          <a:lstStyle/>
          <a:p>
            <a:endParaRPr lang="en-US" sz="1800"/>
          </a:p>
        </p:txBody>
      </p:sp>
      <p:sp>
        <p:nvSpPr>
          <p:cNvPr id="10" name="TextBox 9"/>
          <p:cNvSpPr txBox="1"/>
          <p:nvPr/>
        </p:nvSpPr>
        <p:spPr>
          <a:xfrm>
            <a:off x="1028700" y="5943600"/>
            <a:ext cx="5135880" cy="457200"/>
          </a:xfrm>
          <a:prstGeom prst="rect">
            <a:avLst/>
          </a:prstGeom>
          <a:noFill/>
        </p:spPr>
        <p:txBody>
          <a:bodyPr anchor="t" rtlCol="false" lIns="0" tIns="0" rIns="0" bIns="0" wrap="square"/>
          <a:lstStyle/>
          <a:p>
            <a:pPr algn="l">
              <a:lnSpc>
                <a:spcPts val="2800"/>
              </a:lnSpc>
              <a:spcBef>
                <a:spcPts val="0"/>
              </a:spcBef>
              <a:buNone/>
            </a:pPr>
            <a:r>
              <a:rPr lang="en-US" sz="2300" b="true">
                <a:solidFill>
                  <a:srgbClr val="ECC665"/>
                </a:solidFill>
                <a:latin typeface="Nunito Ultra-Bold"/>
                <a:ea typeface="Nunito Ultra-Bold"/>
                <a:cs typeface="Nunito Ultra-Bold"/>
                <a:sym typeface="Nunito Ultra-Bold"/>
              </a:rPr>
              <a:t>Objectives</a:t>
            </a:r>
          </a:p>
        </p:txBody>
      </p:sp>
      <p:cxnSp>
        <p:nvCxnSpPr>
          <p:cNvPr id="11" name="Connector 10"/>
          <p:cNvCxnSpPr/>
          <p:nvPr/>
        </p:nvCxnSpPr>
        <p:spPr>
          <a:xfrm>
            <a:off x="1028700" y="6464808"/>
            <a:ext cx="640080" cy="0"/>
          </a:xfrm>
          <a:prstGeom prst="line">
            <a:avLst/>
          </a:prstGeom>
          <a:ln w="31750">
            <a:solidFill>
              <a:srgbClr val="ECC665"/>
            </a:solidFill>
          </a:ln>
        </p:spPr>
      </p:cxnSp>
      <p:sp>
        <p:nvSpPr>
          <p:cNvPr id="12" name="TextBox 11"/>
          <p:cNvSpPr txBox="1"/>
          <p:nvPr/>
        </p:nvSpPr>
        <p:spPr>
          <a:xfrm>
            <a:off x="1028700" y="6675120"/>
            <a:ext cx="5135880" cy="3108960"/>
          </a:xfrm>
          <a:prstGeom prst="rect">
            <a:avLst/>
          </a:prstGeom>
          <a:noFill/>
        </p:spPr>
        <p:txBody>
          <a:bodyPr anchor="t" rtlCol="false" lIns="0" tIns="0" rIns="0" bIns="0" wrap="square"/>
          <a:lstStyle/>
          <a:p>
            <a:pPr algn="l">
              <a:lnSpc>
                <a:spcPts val="2940"/>
              </a:lnSpc>
              <a:spcBef>
                <a:spcPts val="0"/>
              </a:spcBef>
              <a:buNone/>
            </a:pPr>
            <a:r>
              <a:rPr lang="en-US" sz="2100" b="true">
                <a:solidFill>
                  <a:srgbClr val="FFFFFF"/>
                </a:solidFill>
                <a:latin typeface="Nunito Semi-Bold"/>
                <a:ea typeface="Nunito Semi-Bold"/>
                <a:cs typeface="Nunito Semi-Bold"/>
                <a:sym typeface="Nunito Semi-Bold"/>
              </a:rPr>
              <a:t>A truly multi-level workflow, a formal cross-level consistency argument (Proposition 6.1), validation on a very different large dataset.</a:t>
            </a:r>
          </a:p>
        </p:txBody>
      </p:sp>
      <p:sp>
        <p:nvSpPr>
          <p:cNvPr id="13" name="TextBox 12"/>
          <p:cNvSpPr txBox="1"/>
          <p:nvPr/>
        </p:nvSpPr>
        <p:spPr>
          <a:xfrm>
            <a:off x="6576060" y="5943600"/>
            <a:ext cx="5135880" cy="457200"/>
          </a:xfrm>
          <a:prstGeom prst="rect">
            <a:avLst/>
          </a:prstGeom>
          <a:noFill/>
        </p:spPr>
        <p:txBody>
          <a:bodyPr anchor="t" rtlCol="false" lIns="0" tIns="0" rIns="0" bIns="0" wrap="square"/>
          <a:lstStyle/>
          <a:p>
            <a:pPr algn="l">
              <a:lnSpc>
                <a:spcPts val="2800"/>
              </a:lnSpc>
              <a:spcBef>
                <a:spcPts val="0"/>
              </a:spcBef>
              <a:buNone/>
            </a:pPr>
            <a:r>
              <a:rPr lang="en-US" sz="2300" b="true">
                <a:solidFill>
                  <a:srgbClr val="ECC665"/>
                </a:solidFill>
                <a:latin typeface="Nunito Ultra-Bold"/>
                <a:ea typeface="Nunito Ultra-Bold"/>
                <a:cs typeface="Nunito Ultra-Bold"/>
                <a:sym typeface="Nunito Ultra-Bold"/>
              </a:rPr>
              <a:t>Methodology</a:t>
            </a:r>
          </a:p>
        </p:txBody>
      </p:sp>
      <p:cxnSp>
        <p:nvCxnSpPr>
          <p:cNvPr id="14" name="Connector 13"/>
          <p:cNvCxnSpPr/>
          <p:nvPr/>
        </p:nvCxnSpPr>
        <p:spPr>
          <a:xfrm>
            <a:off x="6576060" y="6464808"/>
            <a:ext cx="640080" cy="0"/>
          </a:xfrm>
          <a:prstGeom prst="line">
            <a:avLst/>
          </a:prstGeom>
          <a:ln w="31750">
            <a:solidFill>
              <a:srgbClr val="ECC665"/>
            </a:solidFill>
          </a:ln>
        </p:spPr>
      </p:cxnSp>
      <p:sp>
        <p:nvSpPr>
          <p:cNvPr id="15" name="TextBox 14"/>
          <p:cNvSpPr txBox="1"/>
          <p:nvPr/>
        </p:nvSpPr>
        <p:spPr>
          <a:xfrm>
            <a:off x="6576060" y="6675120"/>
            <a:ext cx="5135880" cy="3108960"/>
          </a:xfrm>
          <a:prstGeom prst="rect">
            <a:avLst/>
          </a:prstGeom>
          <a:noFill/>
        </p:spPr>
        <p:txBody>
          <a:bodyPr anchor="t" rtlCol="false" lIns="0" tIns="0" rIns="0" bIns="0" wrap="square"/>
          <a:lstStyle/>
          <a:p>
            <a:pPr algn="l">
              <a:lnSpc>
                <a:spcPts val="2940"/>
              </a:lnSpc>
              <a:spcBef>
                <a:spcPts val="0"/>
              </a:spcBef>
              <a:buNone/>
            </a:pPr>
            <a:r>
              <a:rPr lang="en-US" sz="2100" b="true">
                <a:solidFill>
                  <a:srgbClr val="FFFFFF"/>
                </a:solidFill>
                <a:latin typeface="Nunito Semi-Bold"/>
                <a:ea typeface="Nunito Semi-Bold"/>
                <a:cs typeface="Nunito Semi-Bold"/>
                <a:sym typeface="Nunito Semi-Bold"/>
              </a:rPr>
              <a:t>Recursive clustering, level-specific surrogates in the same feature space, size-weighted cross-level SHAP aggregation.</a:t>
            </a:r>
          </a:p>
        </p:txBody>
      </p:sp>
      <p:sp>
        <p:nvSpPr>
          <p:cNvPr id="16" name="TextBox 15"/>
          <p:cNvSpPr txBox="1"/>
          <p:nvPr/>
        </p:nvSpPr>
        <p:spPr>
          <a:xfrm>
            <a:off x="12123420" y="5943600"/>
            <a:ext cx="5135880" cy="457200"/>
          </a:xfrm>
          <a:prstGeom prst="rect">
            <a:avLst/>
          </a:prstGeom>
          <a:noFill/>
        </p:spPr>
        <p:txBody>
          <a:bodyPr anchor="t" rtlCol="false" lIns="0" tIns="0" rIns="0" bIns="0" wrap="square"/>
          <a:lstStyle/>
          <a:p>
            <a:pPr algn="l">
              <a:lnSpc>
                <a:spcPts val="2800"/>
              </a:lnSpc>
              <a:spcBef>
                <a:spcPts val="0"/>
              </a:spcBef>
              <a:buNone/>
            </a:pPr>
            <a:r>
              <a:rPr lang="en-US" sz="2300" b="true">
                <a:solidFill>
                  <a:srgbClr val="ECC665"/>
                </a:solidFill>
                <a:latin typeface="Nunito Ultra-Bold"/>
                <a:ea typeface="Nunito Ultra-Bold"/>
                <a:cs typeface="Nunito Ultra-Bold"/>
                <a:sym typeface="Nunito Ultra-Bold"/>
              </a:rPr>
              <a:t>Results</a:t>
            </a:r>
          </a:p>
        </p:txBody>
      </p:sp>
      <p:cxnSp>
        <p:nvCxnSpPr>
          <p:cNvPr id="17" name="Connector 16"/>
          <p:cNvCxnSpPr/>
          <p:nvPr/>
        </p:nvCxnSpPr>
        <p:spPr>
          <a:xfrm>
            <a:off x="12123420" y="6464808"/>
            <a:ext cx="640080" cy="0"/>
          </a:xfrm>
          <a:prstGeom prst="line">
            <a:avLst/>
          </a:prstGeom>
          <a:ln w="31750">
            <a:solidFill>
              <a:srgbClr val="ECC665"/>
            </a:solidFill>
          </a:ln>
        </p:spPr>
      </p:cxnSp>
      <p:sp>
        <p:nvSpPr>
          <p:cNvPr id="18" name="TextBox 17"/>
          <p:cNvSpPr txBox="1"/>
          <p:nvPr/>
        </p:nvSpPr>
        <p:spPr>
          <a:xfrm>
            <a:off x="12123420" y="6675120"/>
            <a:ext cx="5135880" cy="3108960"/>
          </a:xfrm>
          <a:prstGeom prst="rect">
            <a:avLst/>
          </a:prstGeom>
          <a:noFill/>
        </p:spPr>
        <p:txBody>
          <a:bodyPr anchor="t" rtlCol="false" lIns="0" tIns="0" rIns="0" bIns="0" wrap="square"/>
          <a:lstStyle/>
          <a:p>
            <a:pPr algn="l">
              <a:lnSpc>
                <a:spcPts val="2940"/>
              </a:lnSpc>
              <a:spcBef>
                <a:spcPts val="0"/>
              </a:spcBef>
              <a:buNone/>
            </a:pPr>
            <a:r>
              <a:rPr lang="en-US" sz="2100" b="true">
                <a:solidFill>
                  <a:srgbClr val="FFFFFF"/>
                </a:solidFill>
                <a:latin typeface="Nunito Semi-Bold"/>
                <a:ea typeface="Nunito Semi-Bold"/>
                <a:cs typeface="Nunito Semi-Bold"/>
                <a:sym typeface="Nunito Semi-Bold"/>
              </a:rPr>
              <a:t>Beijing Air Quality (383,585 records): Silhouette ≈ 0.63, three atmospheric regimes, weather variables at the centre of the structure.</a:t>
            </a:r>
          </a:p>
        </p:txBody>
      </p:sp>
    </p:spTree>
  </p:cSld>
  <p:clrMapOvr>
    <a:masterClrMapping/>
  </p:clrMapOvr>
</p:sld>
</file>

<file path=ppt/slides/slide5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pic>
        <p:nvPicPr>
          <p:cNvPr id="2" name="Picture 1" descr="ensias_logo.jpg"/>
          <p:cNvPicPr>
            <a:picLocks noChangeAspect="1"/>
          </p:cNvPicPr>
          <p:nvPr/>
        </p:nvPicPr>
        <p:blipFill>
          <a:blip r:embed="rId2"/>
          <a:stretch>
            <a:fillRect/>
          </a:stretch>
        </p:blipFill>
        <p:spPr>
          <a:xfrm>
            <a:off x="1028700" y="9674352"/>
            <a:ext cx="542964" cy="384048"/>
          </a:xfrm>
          <a:prstGeom prst="rect">
            <a:avLst/>
          </a:prstGeom>
        </p:spPr>
      </p:pic>
      <p:sp>
        <p:nvSpPr>
          <p:cNvPr id="3" name="TextBox 2"/>
          <p:cNvSpPr txBox="1"/>
          <p:nvPr/>
        </p:nvSpPr>
        <p:spPr>
          <a:xfrm>
            <a:off x="1577340" y="9601200"/>
            <a:ext cx="14493240" cy="566928"/>
          </a:xfrm>
          <a:prstGeom prst="rect">
            <a:avLst/>
          </a:prstGeom>
          <a:noFill/>
        </p:spPr>
        <p:txBody>
          <a:bodyPr anchor="ctr" rtlCol="false" lIns="0" tIns="0" rIns="0" bIns="0" wrap="square"/>
          <a:lstStyle/>
          <a:p>
            <a:pPr algn="l">
              <a:lnSpc>
                <a:spcPts val="1200"/>
              </a:lnSpc>
              <a:spcBef>
                <a:spcPts val="0"/>
              </a:spcBef>
              <a:buNone/>
            </a:pPr>
            <a:r>
              <a:rPr lang="en-US" sz="1000" b="true">
                <a:solidFill>
                  <a:srgbClr val="8A8378"/>
                </a:solidFill>
                <a:latin typeface="Nunito Semi-Bold"/>
                <a:ea typeface="Nunito Semi-Bold"/>
                <a:cs typeface="Nunito Semi-Bold"/>
                <a:sym typeface="Nunito Semi-Bold"/>
              </a:rPr>
              <a:t>[2] Louhichi, M., Nesmaoui, R. &amp; Lazaar, M. Game Theory Meets Explainable AI: An Enhanced Approach to Understanding Black Box Models Through Shapley Values. IJACSA 16(7), 716–725 (2025).   [18] Gramegna, A. &amp; Giudici, P. SHAP and LIME: An Evaluation of Discriminative Power in Credit Risk. Frontiers in AI 4, 752558 (2021).</a:t>
            </a:r>
          </a:p>
        </p:txBody>
      </p:sp>
      <p:sp>
        <p:nvSpPr>
          <p:cNvPr id="4" name="TextBox 3"/>
          <p:cNvSpPr txBox="1"/>
          <p:nvPr/>
        </p:nvSpPr>
        <p:spPr>
          <a:xfrm>
            <a:off x="16162020" y="9692640"/>
            <a:ext cx="1097280" cy="329184"/>
          </a:xfrm>
          <a:prstGeom prst="rect">
            <a:avLst/>
          </a:prstGeom>
          <a:noFill/>
        </p:spPr>
        <p:txBody>
          <a:bodyPr anchor="t" rtlCol="false" lIns="0" tIns="0" rIns="0" bIns="0" wrap="square"/>
          <a:lstStyle/>
          <a:p>
            <a:pPr algn="r">
              <a:lnSpc>
                <a:spcPts val="2200"/>
              </a:lnSpc>
              <a:spcBef>
                <a:spcPts val="0"/>
              </a:spcBef>
              <a:buNone/>
            </a:pPr>
            <a:r>
              <a:rPr lang="en-US" sz="1800" b="true">
                <a:solidFill>
                  <a:srgbClr val="111111"/>
                </a:solidFill>
                <a:latin typeface="Nunito Ultra-Bold"/>
                <a:ea typeface="Nunito Ultra-Bold"/>
                <a:cs typeface="Nunito Ultra-Bold"/>
                <a:sym typeface="Nunito Ultra-Bold"/>
              </a:rPr>
              <a:t>39</a:t>
            </a:r>
          </a:p>
        </p:txBody>
      </p:sp>
      <p:sp>
        <p:nvSpPr>
          <p:cNvPr id="5" name="TextBox 4"/>
          <p:cNvSpPr txBox="1"/>
          <p:nvPr/>
        </p:nvSpPr>
        <p:spPr>
          <a:xfrm>
            <a:off x="1028700" y="1389888"/>
            <a:ext cx="12938760" cy="329184"/>
          </a:xfrm>
          <a:prstGeom prst="rect">
            <a:avLst/>
          </a:prstGeom>
          <a:noFill/>
        </p:spPr>
        <p:txBody>
          <a:bodyPr anchor="t" rtlCol="false" lIns="0" tIns="0" rIns="0" bIns="0" wrap="square"/>
          <a:lstStyle/>
          <a:p>
            <a:pPr algn="l">
              <a:lnSpc>
                <a:spcPts val="2000"/>
              </a:lnSpc>
              <a:spcBef>
                <a:spcPts val="0"/>
              </a:spcBef>
              <a:buNone/>
            </a:pPr>
            <a:r>
              <a:rPr lang="en-US" sz="1500" b="true" spc="160">
                <a:solidFill>
                  <a:srgbClr val="1F7A8C"/>
                </a:solidFill>
                <a:latin typeface="Nunito Ultra-Bold"/>
                <a:ea typeface="Nunito Ultra-Bold"/>
                <a:cs typeface="Nunito Ultra-Bold"/>
                <a:sym typeface="Nunito Ultra-Bold"/>
              </a:rPr>
              <a:t>CONTRIBUTION II: MULTI-LEVEL XAI FOR LARGE-SCALE CLUSTERING</a:t>
            </a:r>
          </a:p>
        </p:txBody>
      </p:sp>
      <p:sp>
        <p:nvSpPr>
          <p:cNvPr id="6" name="Rounded Rectangle 5"/>
          <p:cNvSpPr/>
          <p:nvPr/>
        </p:nvSpPr>
        <p:spPr>
          <a:xfrm>
            <a:off x="14516100"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7" name="TextBox 6"/>
          <p:cNvSpPr txBox="1"/>
          <p:nvPr/>
        </p:nvSpPr>
        <p:spPr>
          <a:xfrm>
            <a:off x="14516100"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1</a:t>
            </a:r>
          </a:p>
        </p:txBody>
      </p:sp>
      <p:sp>
        <p:nvSpPr>
          <p:cNvPr id="8" name="Rounded Rectangle 7"/>
          <p:cNvSpPr/>
          <p:nvPr/>
        </p:nvSpPr>
        <p:spPr>
          <a:xfrm>
            <a:off x="14918436"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9" name="TextBox 8"/>
          <p:cNvSpPr txBox="1"/>
          <p:nvPr/>
        </p:nvSpPr>
        <p:spPr>
          <a:xfrm>
            <a:off x="14918436"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2</a:t>
            </a:r>
          </a:p>
        </p:txBody>
      </p:sp>
      <p:sp>
        <p:nvSpPr>
          <p:cNvPr id="10" name="Rounded Rectangle 9"/>
          <p:cNvSpPr/>
          <p:nvPr/>
        </p:nvSpPr>
        <p:spPr>
          <a:xfrm>
            <a:off x="15320772"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11" name="TextBox 10"/>
          <p:cNvSpPr txBox="1"/>
          <p:nvPr/>
        </p:nvSpPr>
        <p:spPr>
          <a:xfrm>
            <a:off x="15320772"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3</a:t>
            </a:r>
          </a:p>
        </p:txBody>
      </p:sp>
      <p:sp>
        <p:nvSpPr>
          <p:cNvPr id="12" name="Rounded Rectangle 11"/>
          <p:cNvSpPr/>
          <p:nvPr/>
        </p:nvSpPr>
        <p:spPr>
          <a:xfrm>
            <a:off x="15723108"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13" name="TextBox 12"/>
          <p:cNvSpPr txBox="1"/>
          <p:nvPr/>
        </p:nvSpPr>
        <p:spPr>
          <a:xfrm>
            <a:off x="15723108"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4</a:t>
            </a:r>
          </a:p>
        </p:txBody>
      </p:sp>
      <p:sp>
        <p:nvSpPr>
          <p:cNvPr id="14" name="Rounded Rectangle 13"/>
          <p:cNvSpPr/>
          <p:nvPr/>
        </p:nvSpPr>
        <p:spPr>
          <a:xfrm>
            <a:off x="16125444" y="1371600"/>
            <a:ext cx="329184" cy="329184"/>
          </a:xfrm>
          <a:prstGeom prst="roundRect">
            <a:avLst>
              <a:gd name="adj" fmla="val 16666"/>
            </a:avLst>
          </a:prstGeom>
          <a:solidFill>
            <a:srgbClr val="4472C4"/>
          </a:solidFill>
          <a:ln w="15875">
            <a:solidFill>
              <a:srgbClr val="4472C4"/>
            </a:solidFill>
          </a:ln>
        </p:spPr>
        <p:txBody>
          <a:bodyPr anchor="ctr" rtlCol="false" lIns="0" tIns="0" rIns="0" bIns="0" wrap="square"/>
          <a:lstStyle/>
          <a:p>
            <a:endParaRPr lang="en-US" sz="1800"/>
          </a:p>
        </p:txBody>
      </p:sp>
      <p:sp>
        <p:nvSpPr>
          <p:cNvPr id="15" name="TextBox 14"/>
          <p:cNvSpPr txBox="1"/>
          <p:nvPr/>
        </p:nvSpPr>
        <p:spPr>
          <a:xfrm>
            <a:off x="16125444"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FFFFFF"/>
                </a:solidFill>
                <a:latin typeface="Nunito Ultra-Bold"/>
                <a:ea typeface="Nunito Ultra-Bold"/>
                <a:cs typeface="Nunito Ultra-Bold"/>
                <a:sym typeface="Nunito Ultra-Bold"/>
              </a:rPr>
              <a:t>5</a:t>
            </a:r>
          </a:p>
        </p:txBody>
      </p:sp>
      <p:sp>
        <p:nvSpPr>
          <p:cNvPr id="16" name="Rounded Rectangle 15"/>
          <p:cNvSpPr/>
          <p:nvPr/>
        </p:nvSpPr>
        <p:spPr>
          <a:xfrm>
            <a:off x="16527780"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17" name="TextBox 16"/>
          <p:cNvSpPr txBox="1"/>
          <p:nvPr/>
        </p:nvSpPr>
        <p:spPr>
          <a:xfrm>
            <a:off x="16527780"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6</a:t>
            </a:r>
          </a:p>
        </p:txBody>
      </p:sp>
      <p:sp>
        <p:nvSpPr>
          <p:cNvPr id="18" name="Rounded Rectangle 17"/>
          <p:cNvSpPr/>
          <p:nvPr/>
        </p:nvSpPr>
        <p:spPr>
          <a:xfrm>
            <a:off x="16930116"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19" name="TextBox 18"/>
          <p:cNvSpPr txBox="1"/>
          <p:nvPr/>
        </p:nvSpPr>
        <p:spPr>
          <a:xfrm>
            <a:off x="16930116"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7</a:t>
            </a:r>
          </a:p>
        </p:txBody>
      </p:sp>
      <p:sp>
        <p:nvSpPr>
          <p:cNvPr id="20" name="TextBox 19"/>
          <p:cNvSpPr txBox="1"/>
          <p:nvPr/>
        </p:nvSpPr>
        <p:spPr>
          <a:xfrm>
            <a:off x="1028700" y="1719072"/>
            <a:ext cx="16230600" cy="730250"/>
          </a:xfrm>
          <a:prstGeom prst="rect">
            <a:avLst/>
          </a:prstGeom>
          <a:noFill/>
        </p:spPr>
        <p:txBody>
          <a:bodyPr anchor="t" rtlCol="false" lIns="0" tIns="0" rIns="0" bIns="0" wrap="square"/>
          <a:lstStyle/>
          <a:p>
            <a:pPr algn="l">
              <a:lnSpc>
                <a:spcPts val="5060"/>
              </a:lnSpc>
              <a:spcBef>
                <a:spcPts val="0"/>
              </a:spcBef>
              <a:buNone/>
            </a:pPr>
            <a:r>
              <a:rPr lang="en-US" sz="4600" b="true" spc="-230">
                <a:solidFill>
                  <a:srgbClr val="111111"/>
                </a:solidFill>
                <a:latin typeface="Roca Two Bold"/>
                <a:ea typeface="Roca Two Bold"/>
                <a:cs typeface="Roca Two Bold"/>
                <a:sym typeface="Roca Two Bold"/>
              </a:rPr>
              <a:t>Research Gap</a:t>
            </a:r>
          </a:p>
        </p:txBody>
      </p:sp>
      <p:sp>
        <p:nvSpPr>
          <p:cNvPr id="21" name="Rounded Rectangle 20"/>
          <p:cNvSpPr/>
          <p:nvPr/>
        </p:nvSpPr>
        <p:spPr>
          <a:xfrm>
            <a:off x="1028700" y="2559050"/>
            <a:ext cx="1691553" cy="420624"/>
          </a:xfrm>
          <a:prstGeom prst="roundRect">
            <a:avLst>
              <a:gd name="adj" fmla="val 50000"/>
            </a:avLst>
          </a:prstGeom>
          <a:solidFill>
            <a:srgbClr val="4472C4"/>
          </a:solidFill>
          <a:ln>
            <a:noFill/>
          </a:ln>
        </p:spPr>
        <p:txBody>
          <a:bodyPr anchor="ctr" rtlCol="false" lIns="45720" tIns="0" rIns="45720" bIns="0" wrap="square"/>
          <a:lstStyle/>
          <a:p>
            <a:pPr algn="ctr">
              <a:lnSpc>
                <a:spcPts val="2160"/>
              </a:lnSpc>
              <a:spcBef>
                <a:spcPts val="0"/>
              </a:spcBef>
              <a:buNone/>
            </a:pPr>
            <a:r>
              <a:rPr lang="en-US" sz="1800" b="true">
                <a:solidFill>
                  <a:srgbClr val="FFFFFF"/>
                </a:solidFill>
                <a:latin typeface="Nunito Bold"/>
                <a:ea typeface="Nunito Bold"/>
                <a:cs typeface="Nunito Bold"/>
                <a:sym typeface="Nunito Bold"/>
              </a:rPr>
              <a:t>Objectives</a:t>
            </a:r>
          </a:p>
        </p:txBody>
      </p:sp>
      <p:sp>
        <p:nvSpPr>
          <p:cNvPr id="22" name="Rounded Rectangle 21"/>
          <p:cNvSpPr/>
          <p:nvPr/>
        </p:nvSpPr>
        <p:spPr>
          <a:xfrm>
            <a:off x="2848269" y="2559050"/>
            <a:ext cx="1998119" cy="420624"/>
          </a:xfrm>
          <a:prstGeom prst="roundRect">
            <a:avLst>
              <a:gd name="adj" fmla="val 50000"/>
            </a:avLst>
          </a:prstGeom>
          <a:noFill/>
          <a:ln w="28575">
            <a:solidFill>
              <a:srgbClr val="4472C4"/>
            </a:solidFill>
          </a:ln>
        </p:spPr>
        <p:txBody>
          <a:bodyPr anchor="ctr" rtlCol="false" lIns="45720" tIns="0" rIns="45720" bIns="0" wrap="square"/>
          <a:lstStyle/>
          <a:p>
            <a:pPr algn="ctr">
              <a:lnSpc>
                <a:spcPts val="2160"/>
              </a:lnSpc>
              <a:spcBef>
                <a:spcPts val="0"/>
              </a:spcBef>
              <a:buNone/>
            </a:pPr>
            <a:r>
              <a:rPr lang="en-US" sz="1800" b="true">
                <a:solidFill>
                  <a:srgbClr val="4472C4"/>
                </a:solidFill>
                <a:latin typeface="Nunito Bold"/>
                <a:ea typeface="Nunito Bold"/>
                <a:cs typeface="Nunito Bold"/>
                <a:sym typeface="Nunito Bold"/>
              </a:rPr>
              <a:t>Methodology</a:t>
            </a:r>
          </a:p>
        </p:txBody>
      </p:sp>
      <p:sp>
        <p:nvSpPr>
          <p:cNvPr id="23" name="Rounded Rectangle 22"/>
          <p:cNvSpPr/>
          <p:nvPr/>
        </p:nvSpPr>
        <p:spPr>
          <a:xfrm>
            <a:off x="4974404" y="2559050"/>
            <a:ext cx="1369446" cy="420624"/>
          </a:xfrm>
          <a:prstGeom prst="roundRect">
            <a:avLst>
              <a:gd name="adj" fmla="val 50000"/>
            </a:avLst>
          </a:prstGeom>
          <a:noFill/>
          <a:ln w="28575">
            <a:solidFill>
              <a:srgbClr val="4472C4"/>
            </a:solidFill>
          </a:ln>
        </p:spPr>
        <p:txBody>
          <a:bodyPr anchor="ctr" rtlCol="false" lIns="45720" tIns="0" rIns="45720" bIns="0" wrap="square"/>
          <a:lstStyle/>
          <a:p>
            <a:pPr algn="ctr">
              <a:lnSpc>
                <a:spcPts val="2160"/>
              </a:lnSpc>
              <a:spcBef>
                <a:spcPts val="0"/>
              </a:spcBef>
              <a:buNone/>
            </a:pPr>
            <a:r>
              <a:rPr lang="en-US" sz="1800" b="true">
                <a:solidFill>
                  <a:srgbClr val="4472C4"/>
                </a:solidFill>
                <a:latin typeface="Nunito Bold"/>
                <a:ea typeface="Nunito Bold"/>
                <a:cs typeface="Nunito Bold"/>
                <a:sym typeface="Nunito Bold"/>
              </a:rPr>
              <a:t>Results</a:t>
            </a:r>
          </a:p>
        </p:txBody>
      </p:sp>
      <p:sp>
        <p:nvSpPr>
          <p:cNvPr id="24" name="Rounded Rectangle 23"/>
          <p:cNvSpPr/>
          <p:nvPr/>
        </p:nvSpPr>
        <p:spPr>
          <a:xfrm>
            <a:off x="6471866" y="2559050"/>
            <a:ext cx="1474931" cy="420624"/>
          </a:xfrm>
          <a:prstGeom prst="roundRect">
            <a:avLst>
              <a:gd name="adj" fmla="val 50000"/>
            </a:avLst>
          </a:prstGeom>
          <a:noFill/>
          <a:ln w="28575">
            <a:solidFill>
              <a:srgbClr val="4472C4"/>
            </a:solidFill>
          </a:ln>
        </p:spPr>
        <p:txBody>
          <a:bodyPr anchor="ctr" rtlCol="false" lIns="45720" tIns="0" rIns="45720" bIns="0" wrap="square"/>
          <a:lstStyle/>
          <a:p>
            <a:pPr algn="ctr">
              <a:lnSpc>
                <a:spcPts val="2160"/>
              </a:lnSpc>
              <a:spcBef>
                <a:spcPts val="0"/>
              </a:spcBef>
              <a:buNone/>
            </a:pPr>
            <a:r>
              <a:rPr lang="en-US" sz="1800" b="true">
                <a:solidFill>
                  <a:srgbClr val="4472C4"/>
                </a:solidFill>
                <a:latin typeface="Nunito Bold"/>
                <a:ea typeface="Nunito Bold"/>
                <a:cs typeface="Nunito Bold"/>
                <a:sym typeface="Nunito Bold"/>
              </a:rPr>
              <a:t>Findings</a:t>
            </a:r>
          </a:p>
        </p:txBody>
      </p:sp>
      <p:sp>
        <p:nvSpPr>
          <p:cNvPr id="25" name="TextBox 24"/>
          <p:cNvSpPr txBox="1"/>
          <p:nvPr/>
        </p:nvSpPr>
        <p:spPr>
          <a:xfrm>
            <a:off x="1028700" y="3363722"/>
            <a:ext cx="16230600" cy="3841750"/>
          </a:xfrm>
          <a:prstGeom prst="rect">
            <a:avLst/>
          </a:prstGeom>
          <a:noFill/>
        </p:spPr>
        <p:txBody>
          <a:bodyPr anchor="t" rtlCol="false" lIns="0" tIns="0" rIns="0" bIns="0" wrap="square"/>
          <a:lstStyle/>
          <a:p>
            <a:pPr algn="l" marL="274320" indent="-274320">
              <a:lnSpc>
                <a:spcPts val="2940"/>
              </a:lnSpc>
              <a:spcBef>
                <a:spcPts val="0"/>
              </a:spcBef>
              <a:buClr>
                <a:srgbClr val="1F7A8C"/>
              </a:buClr>
              <a:buSzPct val="100000"/>
              <a:buFont typeface="Arial"/>
              <a:buChar char="•"/>
            </a:pPr>
            <a:r>
              <a:rPr lang="en-US" sz="2100" b="true">
                <a:solidFill>
                  <a:srgbClr val="111111"/>
                </a:solidFill>
                <a:latin typeface="Nunito Semi-Bold"/>
                <a:ea typeface="Nunito Semi-Bold"/>
                <a:cs typeface="Nunito Semi-Bold"/>
                <a:sym typeface="Nunito Semi-Bold"/>
              </a:rPr>
              <a:t>Once clustering is multi-level, feature importance must stay readable </a:t>
            </a:r>
            <a:r>
              <a:rPr lang="en-US" sz="2100" b="true">
                <a:solidFill>
                  <a:srgbClr val="111111"/>
                </a:solidFill>
                <a:latin typeface="Nunito Bold"/>
                <a:ea typeface="Nunito Bold"/>
                <a:cs typeface="Nunito Bold"/>
                <a:sym typeface="Nunito Bold"/>
              </a:rPr>
              <a:t>within a cluster, across sub-clusters and across the levels</a:t>
            </a:r>
            <a:r>
              <a:rPr lang="en-US" sz="2100" b="true">
                <a:solidFill>
                  <a:srgbClr val="111111"/>
                </a:solidFill>
                <a:latin typeface="Nunito Semi-Bold"/>
                <a:ea typeface="Nunito Semi-Bold"/>
                <a:cs typeface="Nunito Semi-Bold"/>
                <a:sym typeface="Nunito Semi-Bold"/>
              </a:rPr>
              <a:t>.</a:t>
            </a:r>
          </a:p>
          <a:p>
            <a:pPr algn="l" marL="274320" indent="-274320">
              <a:lnSpc>
                <a:spcPts val="2940"/>
              </a:lnSpc>
              <a:spcBef>
                <a:spcPts val="1200"/>
              </a:spcBef>
              <a:buClr>
                <a:srgbClr val="1F7A8C"/>
              </a:buClr>
              <a:buSzPct val="100000"/>
              <a:buFont typeface="Arial"/>
              <a:buChar char="•"/>
            </a:pPr>
            <a:r>
              <a:rPr lang="en-US" sz="2100" b="true">
                <a:solidFill>
                  <a:srgbClr val="111111"/>
                </a:solidFill>
                <a:latin typeface="Nunito Semi-Bold"/>
                <a:ea typeface="Nunito Semi-Bold"/>
                <a:cs typeface="Nunito Semi-Bold"/>
                <a:sym typeface="Nunito Semi-Bold"/>
              </a:rPr>
              <a:t>Large-scale data make exact explanation </a:t>
            </a:r>
            <a:r>
              <a:rPr lang="en-US" sz="2100" b="true">
                <a:solidFill>
                  <a:srgbClr val="111111"/>
                </a:solidFill>
                <a:latin typeface="Nunito Bold"/>
                <a:ea typeface="Nunito Bold"/>
                <a:cs typeface="Nunito Bold"/>
                <a:sym typeface="Nunito Bold"/>
              </a:rPr>
              <a:t>too costly to compute</a:t>
            </a:r>
            <a:r>
              <a:rPr lang="en-US" sz="2100" b="true">
                <a:solidFill>
                  <a:srgbClr val="111111"/>
                </a:solidFill>
                <a:latin typeface="Nunito Semi-Bold"/>
                <a:ea typeface="Nunito Semi-Bold"/>
                <a:cs typeface="Nunito Semi-Bold"/>
                <a:sym typeface="Nunito Semi-Bold"/>
              </a:rPr>
              <a:t>: 383,585 records cannot be explained coalition by coalition.</a:t>
            </a:r>
          </a:p>
          <a:p>
            <a:pPr algn="l" marL="274320" indent="-274320">
              <a:lnSpc>
                <a:spcPts val="2940"/>
              </a:lnSpc>
              <a:spcBef>
                <a:spcPts val="1200"/>
              </a:spcBef>
              <a:buClr>
                <a:srgbClr val="1F7A8C"/>
              </a:buClr>
              <a:buSzPct val="100000"/>
              <a:buFont typeface="Arial"/>
              <a:buChar char="•"/>
            </a:pPr>
            <a:r>
              <a:rPr lang="en-US" sz="2100" b="true">
                <a:solidFill>
                  <a:srgbClr val="111111"/>
                </a:solidFill>
                <a:latin typeface="Nunito Semi-Bold"/>
                <a:ea typeface="Nunito Semi-Bold"/>
                <a:cs typeface="Nunito Semi-Bold"/>
                <a:sym typeface="Nunito Semi-Bold"/>
              </a:rPr>
              <a:t>A flat explanation may be true yet </a:t>
            </a:r>
            <a:r>
              <a:rPr lang="en-US" sz="2100" b="true">
                <a:solidFill>
                  <a:srgbClr val="111111"/>
                </a:solidFill>
                <a:latin typeface="Nunito Bold"/>
                <a:ea typeface="Nunito Bold"/>
                <a:cs typeface="Nunito Bold"/>
                <a:sym typeface="Nunito Bold"/>
              </a:rPr>
              <a:t>incomplete</a:t>
            </a:r>
            <a:r>
              <a:rPr lang="en-US" sz="2100" b="true">
                <a:solidFill>
                  <a:srgbClr val="111111"/>
                </a:solidFill>
                <a:latin typeface="Nunito Semi-Bold"/>
                <a:ea typeface="Nunito Semi-Bold"/>
                <a:cs typeface="Nunito Semi-Bold"/>
                <a:sym typeface="Nunito Semi-Bold"/>
              </a:rPr>
              <a:t>: it cannot show how importance changes inside a cluster.</a:t>
            </a:r>
          </a:p>
          <a:p>
            <a:pPr algn="l" marL="274320" indent="-274320">
              <a:lnSpc>
                <a:spcPts val="2940"/>
              </a:lnSpc>
              <a:spcBef>
                <a:spcPts val="1200"/>
              </a:spcBef>
              <a:buClr>
                <a:srgbClr val="1F7A8C"/>
              </a:buClr>
              <a:buSzPct val="100000"/>
              <a:buFont typeface="Arial"/>
              <a:buChar char="•"/>
            </a:pPr>
            <a:r>
              <a:rPr lang="en-US" sz="2100" b="true">
                <a:solidFill>
                  <a:srgbClr val="111111"/>
                </a:solidFill>
                <a:latin typeface="Nunito Semi-Bold"/>
                <a:ea typeface="Nunito Semi-Bold"/>
                <a:cs typeface="Nunito Semi-Bold"/>
                <a:sym typeface="Nunito Semi-Bold"/>
              </a:rPr>
              <a:t>Existing hierarchical clustering work reports structure but gives </a:t>
            </a:r>
            <a:r>
              <a:rPr lang="en-US" sz="2100" b="true">
                <a:solidFill>
                  <a:srgbClr val="111111"/>
                </a:solidFill>
                <a:latin typeface="Nunito Bold"/>
                <a:ea typeface="Nunito Bold"/>
                <a:cs typeface="Nunito Bold"/>
                <a:sym typeface="Nunito Bold"/>
              </a:rPr>
              <a:t>no formal link</a:t>
            </a:r>
            <a:r>
              <a:rPr lang="en-US" sz="2100" b="true">
                <a:solidFill>
                  <a:srgbClr val="111111"/>
                </a:solidFill>
                <a:latin typeface="Nunito Semi-Bold"/>
                <a:ea typeface="Nunito Semi-Bold"/>
                <a:cs typeface="Nunito Semi-Bold"/>
                <a:sym typeface="Nunito Semi-Bold"/>
              </a:rPr>
              <a:t> between the explanation of a parent and that of its children.</a:t>
            </a:r>
          </a:p>
        </p:txBody>
      </p:sp>
      <p:sp>
        <p:nvSpPr>
          <p:cNvPr id="26" name="Rounded Rectangle 25"/>
          <p:cNvSpPr/>
          <p:nvPr/>
        </p:nvSpPr>
        <p:spPr>
          <a:xfrm>
            <a:off x="1028700" y="7616952"/>
            <a:ext cx="16230600" cy="1600200"/>
          </a:xfrm>
          <a:prstGeom prst="roundRect">
            <a:avLst>
              <a:gd name="adj" fmla="val 12571"/>
            </a:avLst>
          </a:prstGeom>
          <a:solidFill>
            <a:srgbClr val="F6ECDF"/>
          </a:solidFill>
          <a:ln w="25400">
            <a:solidFill>
              <a:srgbClr val="1F7A8C"/>
            </a:solidFill>
          </a:ln>
        </p:spPr>
        <p:txBody>
          <a:bodyPr anchor="ctr" rtlCol="false" lIns="0" tIns="0" rIns="0" bIns="0" wrap="square"/>
          <a:lstStyle/>
          <a:p>
            <a:endParaRPr lang="en-US" sz="1800"/>
          </a:p>
        </p:txBody>
      </p:sp>
      <p:sp>
        <p:nvSpPr>
          <p:cNvPr id="27" name="Rounded Rectangle 26"/>
          <p:cNvSpPr/>
          <p:nvPr/>
        </p:nvSpPr>
        <p:spPr>
          <a:xfrm>
            <a:off x="1348740" y="7424928"/>
            <a:ext cx="1976535" cy="384048"/>
          </a:xfrm>
          <a:prstGeom prst="roundRect">
            <a:avLst>
              <a:gd name="adj" fmla="val 50000"/>
            </a:avLst>
          </a:prstGeom>
          <a:solidFill>
            <a:srgbClr val="1F7A8C"/>
          </a:solidFill>
          <a:ln w="28575">
            <a:solidFill>
              <a:srgbClr val="1F7A8C"/>
            </a:solidFill>
          </a:ln>
        </p:spPr>
        <p:txBody>
          <a:bodyPr anchor="ctr" rtlCol="false" lIns="45720" tIns="0" rIns="45720" bIns="0" wrap="square"/>
          <a:lstStyle/>
          <a:p>
            <a:pPr algn="ctr">
              <a:lnSpc>
                <a:spcPts val="1680"/>
              </a:lnSpc>
              <a:spcBef>
                <a:spcPts val="0"/>
              </a:spcBef>
              <a:buNone/>
            </a:pPr>
            <a:r>
              <a:rPr lang="en-US" sz="1400" b="true">
                <a:solidFill>
                  <a:srgbClr val="FFFFFF"/>
                </a:solidFill>
                <a:latin typeface="Nunito Bold"/>
                <a:ea typeface="Nunito Bold"/>
                <a:cs typeface="Nunito Bold"/>
                <a:sym typeface="Nunito Bold"/>
              </a:rPr>
              <a:t>RESEARCH GAP</a:t>
            </a:r>
          </a:p>
        </p:txBody>
      </p:sp>
      <p:sp>
        <p:nvSpPr>
          <p:cNvPr id="28" name="TextBox 27"/>
          <p:cNvSpPr txBox="1"/>
          <p:nvPr/>
        </p:nvSpPr>
        <p:spPr>
          <a:xfrm>
            <a:off x="1394460" y="7891272"/>
            <a:ext cx="15499080" cy="1188720"/>
          </a:xfrm>
          <a:prstGeom prst="rect">
            <a:avLst/>
          </a:prstGeom>
          <a:noFill/>
        </p:spPr>
        <p:txBody>
          <a:bodyPr anchor="ctr" rtlCol="false" lIns="0" tIns="0" rIns="0" bIns="0" wrap="square"/>
          <a:lstStyle/>
          <a:p>
            <a:pPr algn="l">
              <a:lnSpc>
                <a:spcPts val="3080"/>
              </a:lnSpc>
              <a:spcBef>
                <a:spcPts val="0"/>
              </a:spcBef>
              <a:buNone/>
            </a:pPr>
            <a:r>
              <a:rPr lang="en-US" sz="2200" b="true">
                <a:solidFill>
                  <a:srgbClr val="111111"/>
                </a:solidFill>
                <a:latin typeface="Nunito Semi-Bold"/>
                <a:ea typeface="Nunito Semi-Bold"/>
                <a:cs typeface="Nunito Semi-Bold"/>
                <a:sym typeface="Nunito Semi-Bold"/>
              </a:rPr>
              <a:t>There is no multi-level explanation method for large-scale clustering that is </a:t>
            </a:r>
            <a:r>
              <a:rPr lang="en-US" sz="2200" b="true">
                <a:solidFill>
                  <a:srgbClr val="111111"/>
                </a:solidFill>
                <a:latin typeface="Nunito Bold"/>
                <a:ea typeface="Nunito Bold"/>
                <a:cs typeface="Nunito Bold"/>
                <a:sym typeface="Nunito Bold"/>
              </a:rPr>
              <a:t>both computationally feasible and provably consistent across levels</a:t>
            </a:r>
            <a:r>
              <a:rPr lang="en-US" sz="2200" b="true">
                <a:solidFill>
                  <a:srgbClr val="111111"/>
                </a:solidFill>
                <a:latin typeface="Nunito Semi-Bold"/>
                <a:ea typeface="Nunito Semi-Bold"/>
                <a:cs typeface="Nunito Semi-Bold"/>
                <a:sym typeface="Nunito Semi-Bold"/>
              </a:rPr>
              <a:t>.</a:t>
            </a:r>
          </a:p>
        </p:txBody>
      </p:sp>
    </p:spTree>
  </p:cSld>
  <p:clrMapOvr>
    <a:masterClrMapping/>
  </p:clrMapOvr>
</p:sld>
</file>

<file path=ppt/slides/slide5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pic>
        <p:nvPicPr>
          <p:cNvPr id="2" name="Picture 1" descr="ensias_logo.jpg"/>
          <p:cNvPicPr>
            <a:picLocks noChangeAspect="1"/>
          </p:cNvPicPr>
          <p:nvPr/>
        </p:nvPicPr>
        <p:blipFill>
          <a:blip r:embed="rId2"/>
          <a:stretch>
            <a:fillRect/>
          </a:stretch>
        </p:blipFill>
        <p:spPr>
          <a:xfrm>
            <a:off x="1028700" y="9674352"/>
            <a:ext cx="542964" cy="384048"/>
          </a:xfrm>
          <a:prstGeom prst="rect">
            <a:avLst/>
          </a:prstGeom>
        </p:spPr>
      </p:pic>
      <p:sp>
        <p:nvSpPr>
          <p:cNvPr id="3" name="TextBox 2"/>
          <p:cNvSpPr txBox="1"/>
          <p:nvPr/>
        </p:nvSpPr>
        <p:spPr>
          <a:xfrm>
            <a:off x="1577340" y="9747504"/>
            <a:ext cx="12801600" cy="274320"/>
          </a:xfrm>
          <a:prstGeom prst="rect">
            <a:avLst/>
          </a:prstGeom>
          <a:noFill/>
        </p:spPr>
        <p:txBody>
          <a:bodyPr anchor="t" rtlCol="false" lIns="0" tIns="0" rIns="0" bIns="0" wrap="square"/>
          <a:lstStyle/>
          <a:p>
            <a:pPr algn="l">
              <a:lnSpc>
                <a:spcPts val="1600"/>
              </a:lnSpc>
              <a:spcBef>
                <a:spcPts val="0"/>
              </a:spcBef>
              <a:buNone/>
            </a:pPr>
            <a:r>
              <a:rPr lang="en-US" sz="1300" b="true">
                <a:solidFill>
                  <a:srgbClr val="8A8378"/>
                </a:solidFill>
                <a:latin typeface="Nunito Bold"/>
                <a:ea typeface="Nunito Bold"/>
                <a:cs typeface="Nunito Bold"/>
                <a:sym typeface="Nunito Bold"/>
              </a:rPr>
              <a:t>Cooperative Game Theory for Explainable AI in Recommendation Systems  ·  A Shapley Framework for Actionable Insight</a:t>
            </a:r>
          </a:p>
        </p:txBody>
      </p:sp>
      <p:sp>
        <p:nvSpPr>
          <p:cNvPr id="4" name="TextBox 3"/>
          <p:cNvSpPr txBox="1"/>
          <p:nvPr/>
        </p:nvSpPr>
        <p:spPr>
          <a:xfrm>
            <a:off x="16162020" y="9692640"/>
            <a:ext cx="1097280" cy="329184"/>
          </a:xfrm>
          <a:prstGeom prst="rect">
            <a:avLst/>
          </a:prstGeom>
          <a:noFill/>
        </p:spPr>
        <p:txBody>
          <a:bodyPr anchor="t" rtlCol="false" lIns="0" tIns="0" rIns="0" bIns="0" wrap="square"/>
          <a:lstStyle/>
          <a:p>
            <a:pPr algn="r">
              <a:lnSpc>
                <a:spcPts val="2200"/>
              </a:lnSpc>
              <a:spcBef>
                <a:spcPts val="0"/>
              </a:spcBef>
              <a:buNone/>
            </a:pPr>
            <a:r>
              <a:rPr lang="en-US" sz="1800" b="true">
                <a:solidFill>
                  <a:srgbClr val="111111"/>
                </a:solidFill>
                <a:latin typeface="Nunito Ultra-Bold"/>
                <a:ea typeface="Nunito Ultra-Bold"/>
                <a:cs typeface="Nunito Ultra-Bold"/>
                <a:sym typeface="Nunito Ultra-Bold"/>
              </a:rPr>
              <a:t>40</a:t>
            </a:r>
          </a:p>
        </p:txBody>
      </p:sp>
      <p:sp>
        <p:nvSpPr>
          <p:cNvPr id="5" name="TextBox 4"/>
          <p:cNvSpPr txBox="1"/>
          <p:nvPr/>
        </p:nvSpPr>
        <p:spPr>
          <a:xfrm>
            <a:off x="1028700" y="1389888"/>
            <a:ext cx="12938760" cy="329184"/>
          </a:xfrm>
          <a:prstGeom prst="rect">
            <a:avLst/>
          </a:prstGeom>
          <a:noFill/>
        </p:spPr>
        <p:txBody>
          <a:bodyPr anchor="t" rtlCol="false" lIns="0" tIns="0" rIns="0" bIns="0" wrap="square"/>
          <a:lstStyle/>
          <a:p>
            <a:pPr algn="l">
              <a:lnSpc>
                <a:spcPts val="2000"/>
              </a:lnSpc>
              <a:spcBef>
                <a:spcPts val="0"/>
              </a:spcBef>
              <a:buNone/>
            </a:pPr>
            <a:r>
              <a:rPr lang="en-US" sz="1500" b="true" spc="160">
                <a:solidFill>
                  <a:srgbClr val="1F7A8C"/>
                </a:solidFill>
                <a:latin typeface="Nunito Ultra-Bold"/>
                <a:ea typeface="Nunito Ultra-Bold"/>
                <a:cs typeface="Nunito Ultra-Bold"/>
                <a:sym typeface="Nunito Ultra-Bold"/>
              </a:rPr>
              <a:t>CONTRIBUTION II: MULTI-LEVEL XAI FOR LARGE-SCALE CLUSTERING</a:t>
            </a:r>
          </a:p>
        </p:txBody>
      </p:sp>
      <p:sp>
        <p:nvSpPr>
          <p:cNvPr id="6" name="Rounded Rectangle 5"/>
          <p:cNvSpPr/>
          <p:nvPr/>
        </p:nvSpPr>
        <p:spPr>
          <a:xfrm>
            <a:off x="14516100"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7" name="TextBox 6"/>
          <p:cNvSpPr txBox="1"/>
          <p:nvPr/>
        </p:nvSpPr>
        <p:spPr>
          <a:xfrm>
            <a:off x="14516100"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1</a:t>
            </a:r>
          </a:p>
        </p:txBody>
      </p:sp>
      <p:sp>
        <p:nvSpPr>
          <p:cNvPr id="8" name="Rounded Rectangle 7"/>
          <p:cNvSpPr/>
          <p:nvPr/>
        </p:nvSpPr>
        <p:spPr>
          <a:xfrm>
            <a:off x="14918436"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9" name="TextBox 8"/>
          <p:cNvSpPr txBox="1"/>
          <p:nvPr/>
        </p:nvSpPr>
        <p:spPr>
          <a:xfrm>
            <a:off x="14918436"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2</a:t>
            </a:r>
          </a:p>
        </p:txBody>
      </p:sp>
      <p:sp>
        <p:nvSpPr>
          <p:cNvPr id="10" name="Rounded Rectangle 9"/>
          <p:cNvSpPr/>
          <p:nvPr/>
        </p:nvSpPr>
        <p:spPr>
          <a:xfrm>
            <a:off x="15320772"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11" name="TextBox 10"/>
          <p:cNvSpPr txBox="1"/>
          <p:nvPr/>
        </p:nvSpPr>
        <p:spPr>
          <a:xfrm>
            <a:off x="15320772"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3</a:t>
            </a:r>
          </a:p>
        </p:txBody>
      </p:sp>
      <p:sp>
        <p:nvSpPr>
          <p:cNvPr id="12" name="Rounded Rectangle 11"/>
          <p:cNvSpPr/>
          <p:nvPr/>
        </p:nvSpPr>
        <p:spPr>
          <a:xfrm>
            <a:off x="15723108"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13" name="TextBox 12"/>
          <p:cNvSpPr txBox="1"/>
          <p:nvPr/>
        </p:nvSpPr>
        <p:spPr>
          <a:xfrm>
            <a:off x="15723108"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4</a:t>
            </a:r>
          </a:p>
        </p:txBody>
      </p:sp>
      <p:sp>
        <p:nvSpPr>
          <p:cNvPr id="14" name="Rounded Rectangle 13"/>
          <p:cNvSpPr/>
          <p:nvPr/>
        </p:nvSpPr>
        <p:spPr>
          <a:xfrm>
            <a:off x="16125444" y="1371600"/>
            <a:ext cx="329184" cy="329184"/>
          </a:xfrm>
          <a:prstGeom prst="roundRect">
            <a:avLst>
              <a:gd name="adj" fmla="val 16666"/>
            </a:avLst>
          </a:prstGeom>
          <a:solidFill>
            <a:srgbClr val="4472C4"/>
          </a:solidFill>
          <a:ln w="15875">
            <a:solidFill>
              <a:srgbClr val="4472C4"/>
            </a:solidFill>
          </a:ln>
        </p:spPr>
        <p:txBody>
          <a:bodyPr anchor="ctr" rtlCol="false" lIns="0" tIns="0" rIns="0" bIns="0" wrap="square"/>
          <a:lstStyle/>
          <a:p>
            <a:endParaRPr lang="en-US" sz="1800"/>
          </a:p>
        </p:txBody>
      </p:sp>
      <p:sp>
        <p:nvSpPr>
          <p:cNvPr id="15" name="TextBox 14"/>
          <p:cNvSpPr txBox="1"/>
          <p:nvPr/>
        </p:nvSpPr>
        <p:spPr>
          <a:xfrm>
            <a:off x="16125444"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FFFFFF"/>
                </a:solidFill>
                <a:latin typeface="Nunito Ultra-Bold"/>
                <a:ea typeface="Nunito Ultra-Bold"/>
                <a:cs typeface="Nunito Ultra-Bold"/>
                <a:sym typeface="Nunito Ultra-Bold"/>
              </a:rPr>
              <a:t>5</a:t>
            </a:r>
          </a:p>
        </p:txBody>
      </p:sp>
      <p:sp>
        <p:nvSpPr>
          <p:cNvPr id="16" name="Rounded Rectangle 15"/>
          <p:cNvSpPr/>
          <p:nvPr/>
        </p:nvSpPr>
        <p:spPr>
          <a:xfrm>
            <a:off x="16527780"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17" name="TextBox 16"/>
          <p:cNvSpPr txBox="1"/>
          <p:nvPr/>
        </p:nvSpPr>
        <p:spPr>
          <a:xfrm>
            <a:off x="16527780"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6</a:t>
            </a:r>
          </a:p>
        </p:txBody>
      </p:sp>
      <p:sp>
        <p:nvSpPr>
          <p:cNvPr id="18" name="Rounded Rectangle 17"/>
          <p:cNvSpPr/>
          <p:nvPr/>
        </p:nvSpPr>
        <p:spPr>
          <a:xfrm>
            <a:off x="16930116"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19" name="TextBox 18"/>
          <p:cNvSpPr txBox="1"/>
          <p:nvPr/>
        </p:nvSpPr>
        <p:spPr>
          <a:xfrm>
            <a:off x="16930116"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7</a:t>
            </a:r>
          </a:p>
        </p:txBody>
      </p:sp>
      <p:sp>
        <p:nvSpPr>
          <p:cNvPr id="20" name="TextBox 19"/>
          <p:cNvSpPr txBox="1"/>
          <p:nvPr/>
        </p:nvSpPr>
        <p:spPr>
          <a:xfrm>
            <a:off x="1028700" y="1719072"/>
            <a:ext cx="16230600" cy="730250"/>
          </a:xfrm>
          <a:prstGeom prst="rect">
            <a:avLst/>
          </a:prstGeom>
          <a:noFill/>
        </p:spPr>
        <p:txBody>
          <a:bodyPr anchor="t" rtlCol="false" lIns="0" tIns="0" rIns="0" bIns="0" wrap="square"/>
          <a:lstStyle/>
          <a:p>
            <a:pPr algn="l">
              <a:lnSpc>
                <a:spcPts val="5060"/>
              </a:lnSpc>
              <a:spcBef>
                <a:spcPts val="0"/>
              </a:spcBef>
              <a:buNone/>
            </a:pPr>
            <a:r>
              <a:rPr lang="en-US" sz="4600" b="true" spc="-230">
                <a:solidFill>
                  <a:srgbClr val="111111"/>
                </a:solidFill>
                <a:latin typeface="Roca Two Bold"/>
                <a:ea typeface="Roca Two Bold"/>
                <a:cs typeface="Roca Two Bold"/>
                <a:sym typeface="Roca Two Bold"/>
              </a:rPr>
              <a:t>RQ2 and Objectives</a:t>
            </a:r>
          </a:p>
        </p:txBody>
      </p:sp>
      <p:sp>
        <p:nvSpPr>
          <p:cNvPr id="21" name="Rounded Rectangle 20"/>
          <p:cNvSpPr/>
          <p:nvPr/>
        </p:nvSpPr>
        <p:spPr>
          <a:xfrm>
            <a:off x="1028700" y="2559050"/>
            <a:ext cx="1691553" cy="420624"/>
          </a:xfrm>
          <a:prstGeom prst="roundRect">
            <a:avLst>
              <a:gd name="adj" fmla="val 50000"/>
            </a:avLst>
          </a:prstGeom>
          <a:solidFill>
            <a:srgbClr val="4472C4"/>
          </a:solidFill>
          <a:ln>
            <a:noFill/>
          </a:ln>
        </p:spPr>
        <p:txBody>
          <a:bodyPr anchor="ctr" rtlCol="false" lIns="45720" tIns="0" rIns="45720" bIns="0" wrap="square"/>
          <a:lstStyle/>
          <a:p>
            <a:pPr algn="ctr">
              <a:lnSpc>
                <a:spcPts val="2160"/>
              </a:lnSpc>
              <a:spcBef>
                <a:spcPts val="0"/>
              </a:spcBef>
              <a:buNone/>
            </a:pPr>
            <a:r>
              <a:rPr lang="en-US" sz="1800" b="true">
                <a:solidFill>
                  <a:srgbClr val="FFFFFF"/>
                </a:solidFill>
                <a:latin typeface="Nunito Bold"/>
                <a:ea typeface="Nunito Bold"/>
                <a:cs typeface="Nunito Bold"/>
                <a:sym typeface="Nunito Bold"/>
              </a:rPr>
              <a:t>Objectives</a:t>
            </a:r>
          </a:p>
        </p:txBody>
      </p:sp>
      <p:sp>
        <p:nvSpPr>
          <p:cNvPr id="22" name="Rounded Rectangle 21"/>
          <p:cNvSpPr/>
          <p:nvPr/>
        </p:nvSpPr>
        <p:spPr>
          <a:xfrm>
            <a:off x="2848269" y="2559050"/>
            <a:ext cx="1998119" cy="420624"/>
          </a:xfrm>
          <a:prstGeom prst="roundRect">
            <a:avLst>
              <a:gd name="adj" fmla="val 50000"/>
            </a:avLst>
          </a:prstGeom>
          <a:noFill/>
          <a:ln w="28575">
            <a:solidFill>
              <a:srgbClr val="4472C4"/>
            </a:solidFill>
          </a:ln>
        </p:spPr>
        <p:txBody>
          <a:bodyPr anchor="ctr" rtlCol="false" lIns="45720" tIns="0" rIns="45720" bIns="0" wrap="square"/>
          <a:lstStyle/>
          <a:p>
            <a:pPr algn="ctr">
              <a:lnSpc>
                <a:spcPts val="2160"/>
              </a:lnSpc>
              <a:spcBef>
                <a:spcPts val="0"/>
              </a:spcBef>
              <a:buNone/>
            </a:pPr>
            <a:r>
              <a:rPr lang="en-US" sz="1800" b="true">
                <a:solidFill>
                  <a:srgbClr val="4472C4"/>
                </a:solidFill>
                <a:latin typeface="Nunito Bold"/>
                <a:ea typeface="Nunito Bold"/>
                <a:cs typeface="Nunito Bold"/>
                <a:sym typeface="Nunito Bold"/>
              </a:rPr>
              <a:t>Methodology</a:t>
            </a:r>
          </a:p>
        </p:txBody>
      </p:sp>
      <p:sp>
        <p:nvSpPr>
          <p:cNvPr id="23" name="Rounded Rectangle 22"/>
          <p:cNvSpPr/>
          <p:nvPr/>
        </p:nvSpPr>
        <p:spPr>
          <a:xfrm>
            <a:off x="4974404" y="2559050"/>
            <a:ext cx="1369446" cy="420624"/>
          </a:xfrm>
          <a:prstGeom prst="roundRect">
            <a:avLst>
              <a:gd name="adj" fmla="val 50000"/>
            </a:avLst>
          </a:prstGeom>
          <a:noFill/>
          <a:ln w="28575">
            <a:solidFill>
              <a:srgbClr val="4472C4"/>
            </a:solidFill>
          </a:ln>
        </p:spPr>
        <p:txBody>
          <a:bodyPr anchor="ctr" rtlCol="false" lIns="45720" tIns="0" rIns="45720" bIns="0" wrap="square"/>
          <a:lstStyle/>
          <a:p>
            <a:pPr algn="ctr">
              <a:lnSpc>
                <a:spcPts val="2160"/>
              </a:lnSpc>
              <a:spcBef>
                <a:spcPts val="0"/>
              </a:spcBef>
              <a:buNone/>
            </a:pPr>
            <a:r>
              <a:rPr lang="en-US" sz="1800" b="true">
                <a:solidFill>
                  <a:srgbClr val="4472C4"/>
                </a:solidFill>
                <a:latin typeface="Nunito Bold"/>
                <a:ea typeface="Nunito Bold"/>
                <a:cs typeface="Nunito Bold"/>
                <a:sym typeface="Nunito Bold"/>
              </a:rPr>
              <a:t>Results</a:t>
            </a:r>
          </a:p>
        </p:txBody>
      </p:sp>
      <p:sp>
        <p:nvSpPr>
          <p:cNvPr id="24" name="Rounded Rectangle 23"/>
          <p:cNvSpPr/>
          <p:nvPr/>
        </p:nvSpPr>
        <p:spPr>
          <a:xfrm>
            <a:off x="6471866" y="2559050"/>
            <a:ext cx="1474931" cy="420624"/>
          </a:xfrm>
          <a:prstGeom prst="roundRect">
            <a:avLst>
              <a:gd name="adj" fmla="val 50000"/>
            </a:avLst>
          </a:prstGeom>
          <a:noFill/>
          <a:ln w="28575">
            <a:solidFill>
              <a:srgbClr val="4472C4"/>
            </a:solidFill>
          </a:ln>
        </p:spPr>
        <p:txBody>
          <a:bodyPr anchor="ctr" rtlCol="false" lIns="45720" tIns="0" rIns="45720" bIns="0" wrap="square"/>
          <a:lstStyle/>
          <a:p>
            <a:pPr algn="ctr">
              <a:lnSpc>
                <a:spcPts val="2160"/>
              </a:lnSpc>
              <a:spcBef>
                <a:spcPts val="0"/>
              </a:spcBef>
              <a:buNone/>
            </a:pPr>
            <a:r>
              <a:rPr lang="en-US" sz="1800" b="true">
                <a:solidFill>
                  <a:srgbClr val="4472C4"/>
                </a:solidFill>
                <a:latin typeface="Nunito Bold"/>
                <a:ea typeface="Nunito Bold"/>
                <a:cs typeface="Nunito Bold"/>
                <a:sym typeface="Nunito Bold"/>
              </a:rPr>
              <a:t>Findings</a:t>
            </a:r>
          </a:p>
        </p:txBody>
      </p:sp>
      <p:sp>
        <p:nvSpPr>
          <p:cNvPr id="25" name="Rounded Rectangle 24"/>
          <p:cNvSpPr/>
          <p:nvPr/>
        </p:nvSpPr>
        <p:spPr>
          <a:xfrm>
            <a:off x="1028700" y="3546602"/>
            <a:ext cx="16230600" cy="1325880"/>
          </a:xfrm>
          <a:prstGeom prst="roundRect">
            <a:avLst>
              <a:gd name="adj" fmla="val 15172"/>
            </a:avLst>
          </a:prstGeom>
          <a:solidFill>
            <a:srgbClr val="F6ECDF"/>
          </a:solidFill>
          <a:ln w="25400">
            <a:solidFill>
              <a:srgbClr val="4472C4"/>
            </a:solidFill>
          </a:ln>
        </p:spPr>
        <p:txBody>
          <a:bodyPr anchor="ctr" rtlCol="false" lIns="0" tIns="0" rIns="0" bIns="0" wrap="square"/>
          <a:lstStyle/>
          <a:p>
            <a:endParaRPr lang="en-US" sz="1800"/>
          </a:p>
        </p:txBody>
      </p:sp>
      <p:sp>
        <p:nvSpPr>
          <p:cNvPr id="26" name="Rounded Rectangle 25"/>
          <p:cNvSpPr/>
          <p:nvPr/>
        </p:nvSpPr>
        <p:spPr>
          <a:xfrm>
            <a:off x="1348740" y="3354578"/>
            <a:ext cx="927910" cy="384048"/>
          </a:xfrm>
          <a:prstGeom prst="roundRect">
            <a:avLst>
              <a:gd name="adj" fmla="val 50000"/>
            </a:avLst>
          </a:prstGeom>
          <a:solidFill>
            <a:srgbClr val="4472C4"/>
          </a:solidFill>
          <a:ln w="28575">
            <a:solidFill>
              <a:srgbClr val="4472C4"/>
            </a:solidFill>
          </a:ln>
        </p:spPr>
        <p:txBody>
          <a:bodyPr anchor="ctr" rtlCol="false" lIns="45720" tIns="0" rIns="45720" bIns="0" wrap="square"/>
          <a:lstStyle/>
          <a:p>
            <a:pPr algn="ctr">
              <a:lnSpc>
                <a:spcPts val="1680"/>
              </a:lnSpc>
              <a:spcBef>
                <a:spcPts val="0"/>
              </a:spcBef>
              <a:buNone/>
            </a:pPr>
            <a:r>
              <a:rPr lang="en-US" sz="1400" b="true">
                <a:solidFill>
                  <a:srgbClr val="FFFFFF"/>
                </a:solidFill>
                <a:latin typeface="Nunito Bold"/>
                <a:ea typeface="Nunito Bold"/>
                <a:cs typeface="Nunito Bold"/>
                <a:sym typeface="Nunito Bold"/>
              </a:rPr>
              <a:t>RQ2</a:t>
            </a:r>
          </a:p>
        </p:txBody>
      </p:sp>
      <p:sp>
        <p:nvSpPr>
          <p:cNvPr id="27" name="TextBox 26"/>
          <p:cNvSpPr txBox="1"/>
          <p:nvPr/>
        </p:nvSpPr>
        <p:spPr>
          <a:xfrm>
            <a:off x="1394460" y="3820922"/>
            <a:ext cx="15499080" cy="914400"/>
          </a:xfrm>
          <a:prstGeom prst="rect">
            <a:avLst/>
          </a:prstGeom>
          <a:noFill/>
        </p:spPr>
        <p:txBody>
          <a:bodyPr anchor="ctr" rtlCol="false" lIns="0" tIns="0" rIns="0" bIns="0" wrap="square"/>
          <a:lstStyle/>
          <a:p>
            <a:pPr algn="l">
              <a:lnSpc>
                <a:spcPts val="3080"/>
              </a:lnSpc>
              <a:spcBef>
                <a:spcPts val="0"/>
              </a:spcBef>
              <a:buNone/>
            </a:pPr>
            <a:r>
              <a:rPr lang="en-US" sz="2200" b="true">
                <a:solidFill>
                  <a:srgbClr val="111111"/>
                </a:solidFill>
                <a:latin typeface="Nunito Semi-Bold"/>
                <a:ea typeface="Nunito Semi-Bold"/>
                <a:cs typeface="Nunito Semi-Bold"/>
                <a:sym typeface="Nunito Semi-Bold"/>
              </a:rPr>
              <a:t>How can the Shapley explanation extend to </a:t>
            </a:r>
            <a:r>
              <a:rPr lang="en-US" sz="2200" b="true">
                <a:solidFill>
                  <a:srgbClr val="111111"/>
                </a:solidFill>
                <a:latin typeface="Nunito Bold"/>
                <a:ea typeface="Nunito Bold"/>
                <a:cs typeface="Nunito Bold"/>
                <a:sym typeface="Nunito Bold"/>
              </a:rPr>
              <a:t>large-scale, multi-level clustering</a:t>
            </a:r>
            <a:r>
              <a:rPr lang="en-US" sz="2200" b="true">
                <a:solidFill>
                  <a:srgbClr val="111111"/>
                </a:solidFill>
                <a:latin typeface="Nunito Semi-Bold"/>
                <a:ea typeface="Nunito Semi-Bold"/>
                <a:cs typeface="Nunito Semi-Bold"/>
                <a:sym typeface="Nunito Semi-Bold"/>
              </a:rPr>
              <a:t> while staying feasible and consistent?</a:t>
            </a:r>
          </a:p>
        </p:txBody>
      </p:sp>
      <p:graphicFrame>
        <p:nvGraphicFramePr>
          <p:cNvPr id="28" name="Table 27"/>
          <p:cNvGraphicFramePr>
            <a:graphicFrameLocks noGrp="1"/>
          </p:cNvGraphicFramePr>
          <p:nvPr/>
        </p:nvGraphicFramePr>
        <p:xfrm>
          <a:off x="1028700" y="5283962"/>
          <a:ext cx="16230599" cy="3291840"/>
        </p:xfrm>
        <a:graphic>
          <a:graphicData uri="http://schemas.openxmlformats.org/drawingml/2006/table">
            <a:tbl>
              <a:tblPr firstRow="0" bandRow="0" firstCol="0" lastRow="0" lastCol="0" bandCol="0">
                <a:tableStyleId>{2D5ABB26-0587-4C30-8999-92F81FD0307C}</a:tableStyleId>
              </a:tblPr>
              <a:tblGrid>
                <a:gridCol w="4785946"/>
                <a:gridCol w="7699130"/>
                <a:gridCol w="3745523"/>
              </a:tblGrid>
              <a:tr h="822960">
                <a:tc>
                  <a:txBody>
                    <a:bodyPr anchor="ctr" rtlCol="false" lIns="0" tIns="0" rIns="0" bIns="0" wrap="square"/>
                    <a:lstStyle/>
                    <a:p>
                      <a:pPr algn="l">
                        <a:lnSpc>
                          <a:spcPts val="2210"/>
                        </a:lnSpc>
                        <a:spcBef>
                          <a:spcPts val="0"/>
                        </a:spcBef>
                        <a:buNone/>
                      </a:pPr>
                      <a:r>
                        <a:rPr lang="en-US" sz="1700" b="true">
                          <a:solidFill>
                            <a:srgbClr val="FFFFFF"/>
                          </a:solidFill>
                          <a:latin typeface="Nunito Bold"/>
                          <a:ea typeface="Nunito Bold"/>
                          <a:cs typeface="Nunito Bold"/>
                          <a:sym typeface="Nunito Bold"/>
                        </a:rPr>
                        <a:t>Objective</a:t>
                      </a:r>
                    </a:p>
                  </a:txBody>
                  <a:tcPr marL="82296" marR="82296" marT="45720" marB="45720" anchor="ctr">
                    <a:lnL w="12700" cap="flat" cmpd="sng" algn="ctr">
                      <a:solidFill>
                        <a:srgbClr val="4472C4"/>
                      </a:solidFill>
                      <a:prstDash val="solid"/>
                    </a:lnL>
                    <a:lnR w="12700" cap="flat" cmpd="sng" algn="ctr">
                      <a:solidFill>
                        <a:srgbClr val="4472C4"/>
                      </a:solidFill>
                      <a:prstDash val="solid"/>
                    </a:lnR>
                    <a:lnT w="12700" cap="flat" cmpd="sng" algn="ctr">
                      <a:solidFill>
                        <a:srgbClr val="4472C4"/>
                      </a:solidFill>
                      <a:prstDash val="solid"/>
                    </a:lnT>
                    <a:lnB w="12700" cap="flat" cmpd="sng" algn="ctr">
                      <a:solidFill>
                        <a:srgbClr val="4472C4"/>
                      </a:solidFill>
                      <a:prstDash val="solid"/>
                    </a:lnB>
                    <a:solidFill>
                      <a:srgbClr val="4472C4"/>
                    </a:solidFill>
                  </a:tcPr>
                </a:tc>
                <a:tc>
                  <a:txBody>
                    <a:bodyPr anchor="ctr" rtlCol="false" lIns="0" tIns="0" rIns="0" bIns="0" wrap="square"/>
                    <a:lstStyle/>
                    <a:p>
                      <a:pPr algn="l">
                        <a:lnSpc>
                          <a:spcPts val="2210"/>
                        </a:lnSpc>
                        <a:spcBef>
                          <a:spcPts val="0"/>
                        </a:spcBef>
                        <a:buNone/>
                      </a:pPr>
                      <a:r>
                        <a:rPr lang="en-US" sz="1700" b="true">
                          <a:solidFill>
                            <a:srgbClr val="FFFFFF"/>
                          </a:solidFill>
                          <a:latin typeface="Nunito Bold"/>
                          <a:ea typeface="Nunito Bold"/>
                          <a:cs typeface="Nunito Bold"/>
                          <a:sym typeface="Nunito Bold"/>
                        </a:rPr>
                        <a:t>What it delivers</a:t>
                      </a:r>
                    </a:p>
                  </a:txBody>
                  <a:tcPr marL="82296" marR="82296" marT="45720" marB="45720" anchor="ctr">
                    <a:lnL w="12700" cap="flat" cmpd="sng" algn="ctr">
                      <a:solidFill>
                        <a:srgbClr val="4472C4"/>
                      </a:solidFill>
                      <a:prstDash val="solid"/>
                    </a:lnL>
                    <a:lnR w="12700" cap="flat" cmpd="sng" algn="ctr">
                      <a:solidFill>
                        <a:srgbClr val="4472C4"/>
                      </a:solidFill>
                      <a:prstDash val="solid"/>
                    </a:lnR>
                    <a:lnT w="12700" cap="flat" cmpd="sng" algn="ctr">
                      <a:solidFill>
                        <a:srgbClr val="4472C4"/>
                      </a:solidFill>
                      <a:prstDash val="solid"/>
                    </a:lnT>
                    <a:lnB w="12700" cap="flat" cmpd="sng" algn="ctr">
                      <a:solidFill>
                        <a:srgbClr val="4472C4"/>
                      </a:solidFill>
                      <a:prstDash val="solid"/>
                    </a:lnB>
                    <a:solidFill>
                      <a:srgbClr val="4472C4"/>
                    </a:solidFill>
                  </a:tcPr>
                </a:tc>
                <a:tc>
                  <a:txBody>
                    <a:bodyPr anchor="ctr" rtlCol="false" lIns="0" tIns="0" rIns="0" bIns="0" wrap="square"/>
                    <a:lstStyle/>
                    <a:p>
                      <a:pPr algn="l">
                        <a:lnSpc>
                          <a:spcPts val="2210"/>
                        </a:lnSpc>
                        <a:spcBef>
                          <a:spcPts val="0"/>
                        </a:spcBef>
                        <a:buNone/>
                      </a:pPr>
                      <a:r>
                        <a:rPr lang="en-US" sz="1700" b="true">
                          <a:solidFill>
                            <a:srgbClr val="FFFFFF"/>
                          </a:solidFill>
                          <a:latin typeface="Nunito Bold"/>
                          <a:ea typeface="Nunito Bold"/>
                          <a:cs typeface="Nunito Bold"/>
                          <a:sym typeface="Nunito Bold"/>
                        </a:rPr>
                        <a:t>Where it is shown</a:t>
                      </a:r>
                    </a:p>
                  </a:txBody>
                  <a:tcPr marL="82296" marR="82296" marT="45720" marB="45720" anchor="ctr">
                    <a:lnL w="12700" cap="flat" cmpd="sng" algn="ctr">
                      <a:solidFill>
                        <a:srgbClr val="4472C4"/>
                      </a:solidFill>
                      <a:prstDash val="solid"/>
                    </a:lnL>
                    <a:lnR w="12700" cap="flat" cmpd="sng" algn="ctr">
                      <a:solidFill>
                        <a:srgbClr val="4472C4"/>
                      </a:solidFill>
                      <a:prstDash val="solid"/>
                    </a:lnR>
                    <a:lnT w="12700" cap="flat" cmpd="sng" algn="ctr">
                      <a:solidFill>
                        <a:srgbClr val="4472C4"/>
                      </a:solidFill>
                      <a:prstDash val="solid"/>
                    </a:lnT>
                    <a:lnB w="12700" cap="flat" cmpd="sng" algn="ctr">
                      <a:solidFill>
                        <a:srgbClr val="4472C4"/>
                      </a:solidFill>
                      <a:prstDash val="solid"/>
                    </a:lnB>
                    <a:solidFill>
                      <a:srgbClr val="4472C4"/>
                    </a:solidFill>
                  </a:tcPr>
                </a:tc>
              </a:tr>
              <a:tr h="822960">
                <a:tc>
                  <a:txBody>
                    <a:bodyPr anchor="ctr" rtlCol="false" lIns="0" tIns="0" rIns="0" bIns="0" wrap="square"/>
                    <a:lstStyle/>
                    <a:p>
                      <a:pPr algn="l">
                        <a:lnSpc>
                          <a:spcPts val="2340"/>
                        </a:lnSpc>
                        <a:spcBef>
                          <a:spcPts val="0"/>
                        </a:spcBef>
                        <a:buNone/>
                      </a:pPr>
                      <a:r>
                        <a:rPr lang="en-US" sz="1800" b="true">
                          <a:solidFill>
                            <a:srgbClr val="111111"/>
                          </a:solidFill>
                          <a:latin typeface="Nunito Bold"/>
                          <a:ea typeface="Nunito Bold"/>
                          <a:cs typeface="Nunito Bold"/>
                          <a:sym typeface="Nunito Bold"/>
                        </a:rPr>
                        <a:t>O1  ·  A truly multi-level workflow</a:t>
                      </a:r>
                    </a:p>
                  </a:txBody>
                  <a:tcPr marL="82296" marR="82296"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c>
                  <a:txBody>
                    <a:bodyPr anchor="ctr" rtlCol="false" lIns="0" tIns="0" rIns="0" bIns="0" wrap="square"/>
                    <a:lstStyle/>
                    <a:p>
                      <a:pPr algn="l">
                        <a:lnSpc>
                          <a:spcPts val="2340"/>
                        </a:lnSpc>
                        <a:spcBef>
                          <a:spcPts val="0"/>
                        </a:spcBef>
                        <a:buNone/>
                      </a:pPr>
                      <a:r>
                        <a:rPr lang="en-US" sz="1800" b="true">
                          <a:solidFill>
                            <a:srgbClr val="111111"/>
                          </a:solidFill>
                          <a:latin typeface="Nunito Semi-Bold"/>
                          <a:ea typeface="Nunito Semi-Bold"/>
                          <a:cs typeface="Nunito Semi-Bold"/>
                          <a:sym typeface="Nunito Semi-Bold"/>
                        </a:rPr>
                        <a:t>Recursive clustering with </a:t>
                      </a:r>
                      <a:r>
                        <a:rPr lang="en-US" sz="1800" b="true">
                          <a:solidFill>
                            <a:srgbClr val="111111"/>
                          </a:solidFill>
                          <a:latin typeface="Nunito Bold"/>
                          <a:ea typeface="Nunito Bold"/>
                          <a:cs typeface="Nunito Bold"/>
                          <a:sym typeface="Nunito Bold"/>
                        </a:rPr>
                        <a:t>level-specific surrogates</a:t>
                      </a:r>
                      <a:r>
                        <a:rPr lang="en-US" sz="1800" b="true">
                          <a:solidFill>
                            <a:srgbClr val="111111"/>
                          </a:solidFill>
                          <a:latin typeface="Nunito Semi-Bold"/>
                          <a:ea typeface="Nunito Semi-Bold"/>
                          <a:cs typeface="Nunito Semi-Bold"/>
                          <a:sym typeface="Nunito Semi-Bold"/>
                        </a:rPr>
                        <a:t>, not a rerun of the single-level pipeline.</a:t>
                      </a:r>
                    </a:p>
                  </a:txBody>
                  <a:tcPr marL="82296" marR="82296"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c>
                  <a:txBody>
                    <a:bodyPr anchor="ctr" rtlCol="false" lIns="0" tIns="0" rIns="0" bIns="0" wrap="square"/>
                    <a:lstStyle/>
                    <a:p>
                      <a:pPr algn="l">
                        <a:lnSpc>
                          <a:spcPts val="2340"/>
                        </a:lnSpc>
                        <a:spcBef>
                          <a:spcPts val="0"/>
                        </a:spcBef>
                        <a:buNone/>
                      </a:pPr>
                      <a:r>
                        <a:rPr lang="en-US" sz="1800" b="true">
                          <a:solidFill>
                            <a:srgbClr val="111111"/>
                          </a:solidFill>
                          <a:latin typeface="Nunito Semi-Bold"/>
                          <a:ea typeface="Nunito Semi-Bold"/>
                          <a:cs typeface="Nunito Semi-Bold"/>
                          <a:sym typeface="Nunito Semi-Bold"/>
                        </a:rPr>
                        <a:t>Workflow, Fig. 6.3</a:t>
                      </a:r>
                    </a:p>
                  </a:txBody>
                  <a:tcPr marL="82296" marR="82296"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r>
              <a:tr h="822960">
                <a:tc>
                  <a:txBody>
                    <a:bodyPr anchor="ctr" rtlCol="false" lIns="0" tIns="0" rIns="0" bIns="0" wrap="square"/>
                    <a:lstStyle/>
                    <a:p>
                      <a:pPr algn="l">
                        <a:lnSpc>
                          <a:spcPts val="2340"/>
                        </a:lnSpc>
                        <a:spcBef>
                          <a:spcPts val="0"/>
                        </a:spcBef>
                        <a:buNone/>
                      </a:pPr>
                      <a:r>
                        <a:rPr lang="en-US" sz="1800" b="true">
                          <a:solidFill>
                            <a:srgbClr val="111111"/>
                          </a:solidFill>
                          <a:latin typeface="Nunito Bold"/>
                          <a:ea typeface="Nunito Bold"/>
                          <a:cs typeface="Nunito Bold"/>
                          <a:sym typeface="Nunito Bold"/>
                        </a:rPr>
                        <a:t>O2  ·  A formal consistency argument</a:t>
                      </a:r>
                    </a:p>
                  </a:txBody>
                  <a:tcPr marL="82296" marR="82296"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6ECDF"/>
                    </a:solidFill>
                  </a:tcPr>
                </a:tc>
                <a:tc>
                  <a:txBody>
                    <a:bodyPr anchor="ctr" rtlCol="false" lIns="0" tIns="0" rIns="0" bIns="0" wrap="square"/>
                    <a:lstStyle/>
                    <a:p>
                      <a:pPr algn="l">
                        <a:lnSpc>
                          <a:spcPts val="2340"/>
                        </a:lnSpc>
                        <a:spcBef>
                          <a:spcPts val="0"/>
                        </a:spcBef>
                        <a:buNone/>
                      </a:pPr>
                      <a:r>
                        <a:rPr lang="en-US" sz="1800" b="true">
                          <a:solidFill>
                            <a:srgbClr val="111111"/>
                          </a:solidFill>
                          <a:latin typeface="Nunito Bold"/>
                          <a:ea typeface="Nunito Bold"/>
                          <a:cs typeface="Nunito Bold"/>
                          <a:sym typeface="Nunito Bold"/>
                        </a:rPr>
                        <a:t>Proposition 6.1</a:t>
                      </a:r>
                      <a:r>
                        <a:rPr lang="en-US" sz="1800" b="true">
                          <a:solidFill>
                            <a:srgbClr val="111111"/>
                          </a:solidFill>
                          <a:latin typeface="Nunito Semi-Bold"/>
                          <a:ea typeface="Nunito Semi-Bold"/>
                          <a:cs typeface="Nunito Semi-Bold"/>
                          <a:sym typeface="Nunito Semi-Bold"/>
                        </a:rPr>
                        <a:t>: parent importance equals the size-weighted expectation over its children.</a:t>
                      </a:r>
                    </a:p>
                  </a:txBody>
                  <a:tcPr marL="82296" marR="82296"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6ECDF"/>
                    </a:solidFill>
                  </a:tcPr>
                </a:tc>
                <a:tc>
                  <a:txBody>
                    <a:bodyPr anchor="ctr" rtlCol="false" lIns="0" tIns="0" rIns="0" bIns="0" wrap="square"/>
                    <a:lstStyle/>
                    <a:p>
                      <a:pPr algn="l">
                        <a:lnSpc>
                          <a:spcPts val="2340"/>
                        </a:lnSpc>
                        <a:spcBef>
                          <a:spcPts val="0"/>
                        </a:spcBef>
                        <a:buNone/>
                      </a:pPr>
                      <a:r>
                        <a:rPr lang="en-US" sz="1800" b="true">
                          <a:solidFill>
                            <a:srgbClr val="111111"/>
                          </a:solidFill>
                          <a:latin typeface="Nunito Semi-Bold"/>
                          <a:ea typeface="Nunito Semi-Bold"/>
                          <a:cs typeface="Nunito Semi-Bold"/>
                          <a:sym typeface="Nunito Semi-Bold"/>
                        </a:rPr>
                        <a:t>Proposition 6.1</a:t>
                      </a:r>
                    </a:p>
                  </a:txBody>
                  <a:tcPr marL="82296" marR="82296"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6ECDF"/>
                    </a:solidFill>
                  </a:tcPr>
                </a:tc>
              </a:tr>
              <a:tr h="822960">
                <a:tc>
                  <a:txBody>
                    <a:bodyPr anchor="ctr" rtlCol="false" lIns="0" tIns="0" rIns="0" bIns="0" wrap="square"/>
                    <a:lstStyle/>
                    <a:p>
                      <a:pPr algn="l">
                        <a:lnSpc>
                          <a:spcPts val="2340"/>
                        </a:lnSpc>
                        <a:spcBef>
                          <a:spcPts val="0"/>
                        </a:spcBef>
                        <a:buNone/>
                      </a:pPr>
                      <a:r>
                        <a:rPr lang="en-US" sz="1800" b="true">
                          <a:solidFill>
                            <a:srgbClr val="111111"/>
                          </a:solidFill>
                          <a:latin typeface="Nunito Bold"/>
                          <a:ea typeface="Nunito Bold"/>
                          <a:cs typeface="Nunito Bold"/>
                          <a:sym typeface="Nunito Bold"/>
                        </a:rPr>
                        <a:t>O3  ·  Validation at scale on new data</a:t>
                      </a:r>
                    </a:p>
                  </a:txBody>
                  <a:tcPr marL="82296" marR="82296"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c>
                  <a:txBody>
                    <a:bodyPr anchor="ctr" rtlCol="false" lIns="0" tIns="0" rIns="0" bIns="0" wrap="square"/>
                    <a:lstStyle/>
                    <a:p>
                      <a:pPr algn="l">
                        <a:lnSpc>
                          <a:spcPts val="2340"/>
                        </a:lnSpc>
                        <a:spcBef>
                          <a:spcPts val="0"/>
                        </a:spcBef>
                        <a:buNone/>
                      </a:pPr>
                      <a:r>
                        <a:rPr lang="en-US" sz="1800" b="true">
                          <a:solidFill>
                            <a:srgbClr val="111111"/>
                          </a:solidFill>
                          <a:latin typeface="Nunito Semi-Bold"/>
                          <a:ea typeface="Nunito Semi-Bold"/>
                          <a:cs typeface="Nunito Semi-Bold"/>
                          <a:sym typeface="Nunito Semi-Bold"/>
                        </a:rPr>
                        <a:t>Beijing Multi-Site Air Quality: </a:t>
                      </a:r>
                      <a:r>
                        <a:rPr lang="en-US" sz="1800" b="true">
                          <a:solidFill>
                            <a:srgbClr val="111111"/>
                          </a:solidFill>
                          <a:latin typeface="Nunito Bold"/>
                          <a:ea typeface="Nunito Bold"/>
                          <a:cs typeface="Nunito Bold"/>
                          <a:sym typeface="Nunito Bold"/>
                        </a:rPr>
                        <a:t>383,585 hourly records</a:t>
                      </a:r>
                      <a:r>
                        <a:rPr lang="en-US" sz="1800" b="true">
                          <a:solidFill>
                            <a:srgbClr val="111111"/>
                          </a:solidFill>
                          <a:latin typeface="Nunito Semi-Bold"/>
                          <a:ea typeface="Nunito Semi-Bold"/>
                          <a:cs typeface="Nunito Semi-Bold"/>
                          <a:sym typeface="Nunito Semi-Bold"/>
                        </a:rPr>
                        <a:t>, a domain far from wine.</a:t>
                      </a:r>
                    </a:p>
                  </a:txBody>
                  <a:tcPr marL="82296" marR="82296"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c>
                  <a:txBody>
                    <a:bodyPr anchor="ctr" rtlCol="false" lIns="0" tIns="0" rIns="0" bIns="0" wrap="square"/>
                    <a:lstStyle/>
                    <a:p>
                      <a:pPr algn="l">
                        <a:lnSpc>
                          <a:spcPts val="2340"/>
                        </a:lnSpc>
                        <a:spcBef>
                          <a:spcPts val="0"/>
                        </a:spcBef>
                        <a:buNone/>
                      </a:pPr>
                      <a:r>
                        <a:rPr lang="en-US" sz="1800" b="true">
                          <a:solidFill>
                            <a:srgbClr val="111111"/>
                          </a:solidFill>
                          <a:latin typeface="Nunito Semi-Bold"/>
                          <a:ea typeface="Nunito Semi-Bold"/>
                          <a:cs typeface="Nunito Semi-Bold"/>
                          <a:sym typeface="Nunito Semi-Bold"/>
                        </a:rPr>
                        <a:t>Table 6.1, Fig. 6.1, 6.2</a:t>
                      </a:r>
                    </a:p>
                  </a:txBody>
                  <a:tcPr marL="82296" marR="82296"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r>
            </a:tbl>
          </a:graphicData>
        </a:graphic>
      </p:graphicFrame>
    </p:spTree>
  </p:cSld>
  <p:clrMapOvr>
    <a:masterClrMapping/>
  </p:clrMapOvr>
</p:sld>
</file>

<file path=ppt/slides/slide5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pic>
        <p:nvPicPr>
          <p:cNvPr id="2" name="Picture 1" descr="ensias_logo.jpg"/>
          <p:cNvPicPr>
            <a:picLocks noChangeAspect="1"/>
          </p:cNvPicPr>
          <p:nvPr/>
        </p:nvPicPr>
        <p:blipFill>
          <a:blip r:embed="rId2"/>
          <a:stretch>
            <a:fillRect/>
          </a:stretch>
        </p:blipFill>
        <p:spPr>
          <a:xfrm>
            <a:off x="1028700" y="9674352"/>
            <a:ext cx="542964" cy="384048"/>
          </a:xfrm>
          <a:prstGeom prst="rect">
            <a:avLst/>
          </a:prstGeom>
        </p:spPr>
      </p:pic>
      <p:sp>
        <p:nvSpPr>
          <p:cNvPr id="3" name="TextBox 2"/>
          <p:cNvSpPr txBox="1"/>
          <p:nvPr/>
        </p:nvSpPr>
        <p:spPr>
          <a:xfrm>
            <a:off x="1577340" y="9747504"/>
            <a:ext cx="12801600" cy="274320"/>
          </a:xfrm>
          <a:prstGeom prst="rect">
            <a:avLst/>
          </a:prstGeom>
          <a:noFill/>
        </p:spPr>
        <p:txBody>
          <a:bodyPr anchor="t" rtlCol="false" lIns="0" tIns="0" rIns="0" bIns="0" wrap="square"/>
          <a:lstStyle/>
          <a:p>
            <a:pPr algn="l">
              <a:lnSpc>
                <a:spcPts val="1600"/>
              </a:lnSpc>
              <a:spcBef>
                <a:spcPts val="0"/>
              </a:spcBef>
              <a:buNone/>
            </a:pPr>
            <a:r>
              <a:rPr lang="en-US" sz="1300" b="true">
                <a:solidFill>
                  <a:srgbClr val="8A8378"/>
                </a:solidFill>
                <a:latin typeface="Nunito Bold"/>
                <a:ea typeface="Nunito Bold"/>
                <a:cs typeface="Nunito Bold"/>
                <a:sym typeface="Nunito Bold"/>
              </a:rPr>
              <a:t>Cooperative Game Theory for Explainable AI in Recommendation Systems  ·  A Shapley Framework for Actionable Insight</a:t>
            </a:r>
          </a:p>
        </p:txBody>
      </p:sp>
      <p:sp>
        <p:nvSpPr>
          <p:cNvPr id="4" name="TextBox 3"/>
          <p:cNvSpPr txBox="1"/>
          <p:nvPr/>
        </p:nvSpPr>
        <p:spPr>
          <a:xfrm>
            <a:off x="16162020" y="9692640"/>
            <a:ext cx="1097280" cy="329184"/>
          </a:xfrm>
          <a:prstGeom prst="rect">
            <a:avLst/>
          </a:prstGeom>
          <a:noFill/>
        </p:spPr>
        <p:txBody>
          <a:bodyPr anchor="t" rtlCol="false" lIns="0" tIns="0" rIns="0" bIns="0" wrap="square"/>
          <a:lstStyle/>
          <a:p>
            <a:pPr algn="r">
              <a:lnSpc>
                <a:spcPts val="2200"/>
              </a:lnSpc>
              <a:spcBef>
                <a:spcPts val="0"/>
              </a:spcBef>
              <a:buNone/>
            </a:pPr>
            <a:r>
              <a:rPr lang="en-US" sz="1800" b="true">
                <a:solidFill>
                  <a:srgbClr val="111111"/>
                </a:solidFill>
                <a:latin typeface="Nunito Ultra-Bold"/>
                <a:ea typeface="Nunito Ultra-Bold"/>
                <a:cs typeface="Nunito Ultra-Bold"/>
                <a:sym typeface="Nunito Ultra-Bold"/>
              </a:rPr>
              <a:t>41</a:t>
            </a:r>
          </a:p>
        </p:txBody>
      </p:sp>
      <p:sp>
        <p:nvSpPr>
          <p:cNvPr id="5" name="TextBox 4"/>
          <p:cNvSpPr txBox="1"/>
          <p:nvPr/>
        </p:nvSpPr>
        <p:spPr>
          <a:xfrm>
            <a:off x="1028700" y="1389888"/>
            <a:ext cx="12938760" cy="329184"/>
          </a:xfrm>
          <a:prstGeom prst="rect">
            <a:avLst/>
          </a:prstGeom>
          <a:noFill/>
        </p:spPr>
        <p:txBody>
          <a:bodyPr anchor="t" rtlCol="false" lIns="0" tIns="0" rIns="0" bIns="0" wrap="square"/>
          <a:lstStyle/>
          <a:p>
            <a:pPr algn="l">
              <a:lnSpc>
                <a:spcPts val="2000"/>
              </a:lnSpc>
              <a:spcBef>
                <a:spcPts val="0"/>
              </a:spcBef>
              <a:buNone/>
            </a:pPr>
            <a:r>
              <a:rPr lang="en-US" sz="1500" b="true" spc="160">
                <a:solidFill>
                  <a:srgbClr val="1F7A8C"/>
                </a:solidFill>
                <a:latin typeface="Nunito Ultra-Bold"/>
                <a:ea typeface="Nunito Ultra-Bold"/>
                <a:cs typeface="Nunito Ultra-Bold"/>
                <a:sym typeface="Nunito Ultra-Bold"/>
              </a:rPr>
              <a:t>CONTRIBUTION II: MULTI-LEVEL XAI FOR LARGE-SCALE CLUSTERING</a:t>
            </a:r>
          </a:p>
        </p:txBody>
      </p:sp>
      <p:sp>
        <p:nvSpPr>
          <p:cNvPr id="6" name="Rounded Rectangle 5"/>
          <p:cNvSpPr/>
          <p:nvPr/>
        </p:nvSpPr>
        <p:spPr>
          <a:xfrm>
            <a:off x="14516100"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7" name="TextBox 6"/>
          <p:cNvSpPr txBox="1"/>
          <p:nvPr/>
        </p:nvSpPr>
        <p:spPr>
          <a:xfrm>
            <a:off x="14516100"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1</a:t>
            </a:r>
          </a:p>
        </p:txBody>
      </p:sp>
      <p:sp>
        <p:nvSpPr>
          <p:cNvPr id="8" name="Rounded Rectangle 7"/>
          <p:cNvSpPr/>
          <p:nvPr/>
        </p:nvSpPr>
        <p:spPr>
          <a:xfrm>
            <a:off x="14918436"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9" name="TextBox 8"/>
          <p:cNvSpPr txBox="1"/>
          <p:nvPr/>
        </p:nvSpPr>
        <p:spPr>
          <a:xfrm>
            <a:off x="14918436"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2</a:t>
            </a:r>
          </a:p>
        </p:txBody>
      </p:sp>
      <p:sp>
        <p:nvSpPr>
          <p:cNvPr id="10" name="Rounded Rectangle 9"/>
          <p:cNvSpPr/>
          <p:nvPr/>
        </p:nvSpPr>
        <p:spPr>
          <a:xfrm>
            <a:off x="15320772"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11" name="TextBox 10"/>
          <p:cNvSpPr txBox="1"/>
          <p:nvPr/>
        </p:nvSpPr>
        <p:spPr>
          <a:xfrm>
            <a:off x="15320772"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3</a:t>
            </a:r>
          </a:p>
        </p:txBody>
      </p:sp>
      <p:sp>
        <p:nvSpPr>
          <p:cNvPr id="12" name="Rounded Rectangle 11"/>
          <p:cNvSpPr/>
          <p:nvPr/>
        </p:nvSpPr>
        <p:spPr>
          <a:xfrm>
            <a:off x="15723108"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13" name="TextBox 12"/>
          <p:cNvSpPr txBox="1"/>
          <p:nvPr/>
        </p:nvSpPr>
        <p:spPr>
          <a:xfrm>
            <a:off x="15723108"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4</a:t>
            </a:r>
          </a:p>
        </p:txBody>
      </p:sp>
      <p:sp>
        <p:nvSpPr>
          <p:cNvPr id="14" name="Rounded Rectangle 13"/>
          <p:cNvSpPr/>
          <p:nvPr/>
        </p:nvSpPr>
        <p:spPr>
          <a:xfrm>
            <a:off x="16125444" y="1371600"/>
            <a:ext cx="329184" cy="329184"/>
          </a:xfrm>
          <a:prstGeom prst="roundRect">
            <a:avLst>
              <a:gd name="adj" fmla="val 16666"/>
            </a:avLst>
          </a:prstGeom>
          <a:solidFill>
            <a:srgbClr val="4472C4"/>
          </a:solidFill>
          <a:ln w="15875">
            <a:solidFill>
              <a:srgbClr val="4472C4"/>
            </a:solidFill>
          </a:ln>
        </p:spPr>
        <p:txBody>
          <a:bodyPr anchor="ctr" rtlCol="false" lIns="0" tIns="0" rIns="0" bIns="0" wrap="square"/>
          <a:lstStyle/>
          <a:p>
            <a:endParaRPr lang="en-US" sz="1800"/>
          </a:p>
        </p:txBody>
      </p:sp>
      <p:sp>
        <p:nvSpPr>
          <p:cNvPr id="15" name="TextBox 14"/>
          <p:cNvSpPr txBox="1"/>
          <p:nvPr/>
        </p:nvSpPr>
        <p:spPr>
          <a:xfrm>
            <a:off x="16125444"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FFFFFF"/>
                </a:solidFill>
                <a:latin typeface="Nunito Ultra-Bold"/>
                <a:ea typeface="Nunito Ultra-Bold"/>
                <a:cs typeface="Nunito Ultra-Bold"/>
                <a:sym typeface="Nunito Ultra-Bold"/>
              </a:rPr>
              <a:t>5</a:t>
            </a:r>
          </a:p>
        </p:txBody>
      </p:sp>
      <p:sp>
        <p:nvSpPr>
          <p:cNvPr id="16" name="Rounded Rectangle 15"/>
          <p:cNvSpPr/>
          <p:nvPr/>
        </p:nvSpPr>
        <p:spPr>
          <a:xfrm>
            <a:off x="16527780"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17" name="TextBox 16"/>
          <p:cNvSpPr txBox="1"/>
          <p:nvPr/>
        </p:nvSpPr>
        <p:spPr>
          <a:xfrm>
            <a:off x="16527780"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6</a:t>
            </a:r>
          </a:p>
        </p:txBody>
      </p:sp>
      <p:sp>
        <p:nvSpPr>
          <p:cNvPr id="18" name="Rounded Rectangle 17"/>
          <p:cNvSpPr/>
          <p:nvPr/>
        </p:nvSpPr>
        <p:spPr>
          <a:xfrm>
            <a:off x="16930116"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19" name="TextBox 18"/>
          <p:cNvSpPr txBox="1"/>
          <p:nvPr/>
        </p:nvSpPr>
        <p:spPr>
          <a:xfrm>
            <a:off x="16930116"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7</a:t>
            </a:r>
          </a:p>
        </p:txBody>
      </p:sp>
      <p:sp>
        <p:nvSpPr>
          <p:cNvPr id="20" name="TextBox 19"/>
          <p:cNvSpPr txBox="1"/>
          <p:nvPr/>
        </p:nvSpPr>
        <p:spPr>
          <a:xfrm>
            <a:off x="1028700" y="1719072"/>
            <a:ext cx="16230600" cy="730250"/>
          </a:xfrm>
          <a:prstGeom prst="rect">
            <a:avLst/>
          </a:prstGeom>
          <a:noFill/>
        </p:spPr>
        <p:txBody>
          <a:bodyPr anchor="t" rtlCol="false" lIns="0" tIns="0" rIns="0" bIns="0" wrap="square"/>
          <a:lstStyle/>
          <a:p>
            <a:pPr algn="l">
              <a:lnSpc>
                <a:spcPts val="5060"/>
              </a:lnSpc>
              <a:spcBef>
                <a:spcPts val="0"/>
              </a:spcBef>
              <a:buNone/>
            </a:pPr>
            <a:r>
              <a:rPr lang="en-US" sz="4600" b="true" spc="-230">
                <a:solidFill>
                  <a:srgbClr val="111111"/>
                </a:solidFill>
                <a:latin typeface="Roca Two Bold"/>
                <a:ea typeface="Roca Two Bold"/>
                <a:cs typeface="Roca Two Bold"/>
                <a:sym typeface="Roca Two Bold"/>
              </a:rPr>
              <a:t>Multi-Level Workflow with Cross-Level Aggregation</a:t>
            </a:r>
          </a:p>
        </p:txBody>
      </p:sp>
      <p:sp>
        <p:nvSpPr>
          <p:cNvPr id="21" name="Rounded Rectangle 20"/>
          <p:cNvSpPr/>
          <p:nvPr/>
        </p:nvSpPr>
        <p:spPr>
          <a:xfrm>
            <a:off x="1028700" y="2559050"/>
            <a:ext cx="1691553" cy="420624"/>
          </a:xfrm>
          <a:prstGeom prst="roundRect">
            <a:avLst>
              <a:gd name="adj" fmla="val 50000"/>
            </a:avLst>
          </a:prstGeom>
          <a:noFill/>
          <a:ln w="28575">
            <a:solidFill>
              <a:srgbClr val="4472C4"/>
            </a:solidFill>
          </a:ln>
        </p:spPr>
        <p:txBody>
          <a:bodyPr anchor="ctr" rtlCol="false" lIns="45720" tIns="0" rIns="45720" bIns="0" wrap="square"/>
          <a:lstStyle/>
          <a:p>
            <a:pPr algn="ctr">
              <a:lnSpc>
                <a:spcPts val="2160"/>
              </a:lnSpc>
              <a:spcBef>
                <a:spcPts val="0"/>
              </a:spcBef>
              <a:buNone/>
            </a:pPr>
            <a:r>
              <a:rPr lang="en-US" sz="1800" b="true">
                <a:solidFill>
                  <a:srgbClr val="4472C4"/>
                </a:solidFill>
                <a:latin typeface="Nunito Bold"/>
                <a:ea typeface="Nunito Bold"/>
                <a:cs typeface="Nunito Bold"/>
                <a:sym typeface="Nunito Bold"/>
              </a:rPr>
              <a:t>Objectives</a:t>
            </a:r>
          </a:p>
        </p:txBody>
      </p:sp>
      <p:sp>
        <p:nvSpPr>
          <p:cNvPr id="22" name="Rounded Rectangle 21"/>
          <p:cNvSpPr/>
          <p:nvPr/>
        </p:nvSpPr>
        <p:spPr>
          <a:xfrm>
            <a:off x="2848269" y="2559050"/>
            <a:ext cx="1998119" cy="420624"/>
          </a:xfrm>
          <a:prstGeom prst="roundRect">
            <a:avLst>
              <a:gd name="adj" fmla="val 50000"/>
            </a:avLst>
          </a:prstGeom>
          <a:solidFill>
            <a:srgbClr val="4472C4"/>
          </a:solidFill>
          <a:ln>
            <a:noFill/>
          </a:ln>
        </p:spPr>
        <p:txBody>
          <a:bodyPr anchor="ctr" rtlCol="false" lIns="45720" tIns="0" rIns="45720" bIns="0" wrap="square"/>
          <a:lstStyle/>
          <a:p>
            <a:pPr algn="ctr">
              <a:lnSpc>
                <a:spcPts val="2160"/>
              </a:lnSpc>
              <a:spcBef>
                <a:spcPts val="0"/>
              </a:spcBef>
              <a:buNone/>
            </a:pPr>
            <a:r>
              <a:rPr lang="en-US" sz="1800" b="true">
                <a:solidFill>
                  <a:srgbClr val="FFFFFF"/>
                </a:solidFill>
                <a:latin typeface="Nunito Bold"/>
                <a:ea typeface="Nunito Bold"/>
                <a:cs typeface="Nunito Bold"/>
                <a:sym typeface="Nunito Bold"/>
              </a:rPr>
              <a:t>Methodology</a:t>
            </a:r>
          </a:p>
        </p:txBody>
      </p:sp>
      <p:sp>
        <p:nvSpPr>
          <p:cNvPr id="23" name="Rounded Rectangle 22"/>
          <p:cNvSpPr/>
          <p:nvPr/>
        </p:nvSpPr>
        <p:spPr>
          <a:xfrm>
            <a:off x="4974404" y="2559050"/>
            <a:ext cx="1369446" cy="420624"/>
          </a:xfrm>
          <a:prstGeom prst="roundRect">
            <a:avLst>
              <a:gd name="adj" fmla="val 50000"/>
            </a:avLst>
          </a:prstGeom>
          <a:noFill/>
          <a:ln w="28575">
            <a:solidFill>
              <a:srgbClr val="4472C4"/>
            </a:solidFill>
          </a:ln>
        </p:spPr>
        <p:txBody>
          <a:bodyPr anchor="ctr" rtlCol="false" lIns="45720" tIns="0" rIns="45720" bIns="0" wrap="square"/>
          <a:lstStyle/>
          <a:p>
            <a:pPr algn="ctr">
              <a:lnSpc>
                <a:spcPts val="2160"/>
              </a:lnSpc>
              <a:spcBef>
                <a:spcPts val="0"/>
              </a:spcBef>
              <a:buNone/>
            </a:pPr>
            <a:r>
              <a:rPr lang="en-US" sz="1800" b="true">
                <a:solidFill>
                  <a:srgbClr val="4472C4"/>
                </a:solidFill>
                <a:latin typeface="Nunito Bold"/>
                <a:ea typeface="Nunito Bold"/>
                <a:cs typeface="Nunito Bold"/>
                <a:sym typeface="Nunito Bold"/>
              </a:rPr>
              <a:t>Results</a:t>
            </a:r>
          </a:p>
        </p:txBody>
      </p:sp>
      <p:sp>
        <p:nvSpPr>
          <p:cNvPr id="24" name="Rounded Rectangle 23"/>
          <p:cNvSpPr/>
          <p:nvPr/>
        </p:nvSpPr>
        <p:spPr>
          <a:xfrm>
            <a:off x="6471866" y="2559050"/>
            <a:ext cx="1474931" cy="420624"/>
          </a:xfrm>
          <a:prstGeom prst="roundRect">
            <a:avLst>
              <a:gd name="adj" fmla="val 50000"/>
            </a:avLst>
          </a:prstGeom>
          <a:noFill/>
          <a:ln w="28575">
            <a:solidFill>
              <a:srgbClr val="4472C4"/>
            </a:solidFill>
          </a:ln>
        </p:spPr>
        <p:txBody>
          <a:bodyPr anchor="ctr" rtlCol="false" lIns="45720" tIns="0" rIns="45720" bIns="0" wrap="square"/>
          <a:lstStyle/>
          <a:p>
            <a:pPr algn="ctr">
              <a:lnSpc>
                <a:spcPts val="2160"/>
              </a:lnSpc>
              <a:spcBef>
                <a:spcPts val="0"/>
              </a:spcBef>
              <a:buNone/>
            </a:pPr>
            <a:r>
              <a:rPr lang="en-US" sz="1800" b="true">
                <a:solidFill>
                  <a:srgbClr val="4472C4"/>
                </a:solidFill>
                <a:latin typeface="Nunito Bold"/>
                <a:ea typeface="Nunito Bold"/>
                <a:cs typeface="Nunito Bold"/>
                <a:sym typeface="Nunito Bold"/>
              </a:rPr>
              <a:t>Findings</a:t>
            </a:r>
          </a:p>
        </p:txBody>
      </p:sp>
      <p:sp>
        <p:nvSpPr>
          <p:cNvPr id="25" name="TextBox 24"/>
          <p:cNvSpPr txBox="1"/>
          <p:nvPr/>
        </p:nvSpPr>
        <p:spPr>
          <a:xfrm>
            <a:off x="1028700" y="3363722"/>
            <a:ext cx="7680960" cy="5944870"/>
          </a:xfrm>
          <a:prstGeom prst="rect">
            <a:avLst/>
          </a:prstGeom>
          <a:noFill/>
        </p:spPr>
        <p:txBody>
          <a:bodyPr anchor="t" rtlCol="false" lIns="0" tIns="0" rIns="0" bIns="0" wrap="square"/>
          <a:lstStyle/>
          <a:p>
            <a:pPr algn="l" marL="274320" indent="-274320">
              <a:lnSpc>
                <a:spcPts val="2940"/>
              </a:lnSpc>
              <a:spcBef>
                <a:spcPts val="0"/>
              </a:spcBef>
              <a:buClr>
                <a:srgbClr val="1F7A8C"/>
              </a:buClr>
              <a:buSzPct val="100000"/>
              <a:buFont typeface="Arial"/>
              <a:buChar char="•"/>
            </a:pPr>
            <a:r>
              <a:rPr lang="en-US" sz="2100" b="true">
                <a:solidFill>
                  <a:srgbClr val="111111"/>
                </a:solidFill>
                <a:latin typeface="Nunito Bold"/>
                <a:ea typeface="Nunito Bold"/>
                <a:cs typeface="Nunito Bold"/>
                <a:sym typeface="Nunito Bold"/>
              </a:rPr>
              <a:t>Recursive / nested:</a:t>
            </a:r>
            <a:r>
              <a:rPr lang="en-US" sz="2100" b="true">
                <a:solidFill>
                  <a:srgbClr val="111111"/>
                </a:solidFill>
                <a:latin typeface="Nunito Semi-Bold"/>
                <a:ea typeface="Nunito Semi-Bold"/>
                <a:cs typeface="Nunito Semi-Bold"/>
                <a:sym typeface="Nunito Semi-Bold"/>
              </a:rPr>
              <a:t> coarse clustering on the full dataset, then split each cluster again.</a:t>
            </a:r>
          </a:p>
          <a:p>
            <a:pPr algn="l" marL="274320" indent="-274320">
              <a:lnSpc>
                <a:spcPts val="2940"/>
              </a:lnSpc>
              <a:spcBef>
                <a:spcPts val="1200"/>
              </a:spcBef>
              <a:buClr>
                <a:srgbClr val="1F7A8C"/>
              </a:buClr>
              <a:buSzPct val="100000"/>
              <a:buFont typeface="Arial"/>
              <a:buChar char="•"/>
            </a:pPr>
            <a:r>
              <a:rPr lang="en-US" sz="2100" b="true">
                <a:solidFill>
                  <a:srgbClr val="111111"/>
                </a:solidFill>
                <a:latin typeface="Nunito Semi-Bold"/>
                <a:ea typeface="Nunito Semi-Bold"/>
                <a:cs typeface="Nunito Semi-Bold"/>
                <a:sym typeface="Nunito Semi-Bold"/>
              </a:rPr>
              <a:t>For each level, train a </a:t>
            </a:r>
            <a:r>
              <a:rPr lang="en-US" sz="2100" b="true">
                <a:solidFill>
                  <a:srgbClr val="111111"/>
                </a:solidFill>
                <a:latin typeface="Nunito Bold"/>
                <a:ea typeface="Nunito Bold"/>
                <a:cs typeface="Nunito Bold"/>
                <a:sym typeface="Nunito Bold"/>
              </a:rPr>
              <a:t>level-specific surrogate</a:t>
            </a:r>
            <a:r>
              <a:rPr lang="en-US" sz="2100" b="true">
                <a:solidFill>
                  <a:srgbClr val="111111"/>
                </a:solidFill>
                <a:latin typeface="Nunito Semi-Bold"/>
                <a:ea typeface="Nunito Semi-Bold"/>
                <a:cs typeface="Nunito Semi-Bold"/>
                <a:sym typeface="Nunito Semi-Bold"/>
              </a:rPr>
              <a:t> and compute SHAP in the </a:t>
            </a:r>
            <a:r>
              <a:rPr lang="en-US" sz="2100" b="true">
                <a:solidFill>
                  <a:srgbClr val="111111"/>
                </a:solidFill>
                <a:latin typeface="Nunito Bold"/>
                <a:ea typeface="Nunito Bold"/>
                <a:cs typeface="Nunito Bold"/>
                <a:sym typeface="Nunito Bold"/>
              </a:rPr>
              <a:t>SAME original feature space</a:t>
            </a:r>
            <a:r>
              <a:rPr lang="en-US" sz="2100" b="true">
                <a:solidFill>
                  <a:srgbClr val="111111"/>
                </a:solidFill>
                <a:latin typeface="Nunito Semi-Bold"/>
                <a:ea typeface="Nunito Semi-Bold"/>
                <a:cs typeface="Nunito Semi-Bold"/>
                <a:sym typeface="Nunito Semi-Bold"/>
              </a:rPr>
              <a:t>.</a:t>
            </a:r>
          </a:p>
          <a:p>
            <a:pPr algn="l" marL="274320" indent="-274320">
              <a:lnSpc>
                <a:spcPts val="2940"/>
              </a:lnSpc>
              <a:spcBef>
                <a:spcPts val="1200"/>
              </a:spcBef>
              <a:buClr>
                <a:srgbClr val="1F7A8C"/>
              </a:buClr>
              <a:buSzPct val="100000"/>
              <a:buFont typeface="Arial"/>
              <a:buChar char="•"/>
            </a:pPr>
            <a:r>
              <a:rPr lang="en-US" sz="2100" b="true">
                <a:solidFill>
                  <a:srgbClr val="111111"/>
                </a:solidFill>
                <a:latin typeface="Nunito Semi-Bold"/>
                <a:ea typeface="Nunito Semi-Bold"/>
                <a:cs typeface="Nunito Semi-Bold"/>
                <a:sym typeface="Nunito Semi-Bold"/>
              </a:rPr>
              <a:t>Cross-level aggregation is </a:t>
            </a:r>
            <a:r>
              <a:rPr lang="en-US" sz="2100" b="true">
                <a:solidFill>
                  <a:srgbClr val="111111"/>
                </a:solidFill>
                <a:latin typeface="Nunito Bold"/>
                <a:ea typeface="Nunito Bold"/>
                <a:cs typeface="Nunito Bold"/>
                <a:sym typeface="Nunito Bold"/>
              </a:rPr>
              <a:t>NOT a naive average</a:t>
            </a:r>
            <a:r>
              <a:rPr lang="en-US" sz="2100" b="true">
                <a:solidFill>
                  <a:srgbClr val="111111"/>
                </a:solidFill>
                <a:latin typeface="Nunito Semi-Bold"/>
                <a:ea typeface="Nunito Semi-Bold"/>
                <a:cs typeface="Nunito Semi-Bold"/>
                <a:sym typeface="Nunito Semi-Bold"/>
              </a:rPr>
              <a:t>: it respects cluster size and nesting structure.</a:t>
            </a:r>
          </a:p>
          <a:p>
            <a:pPr algn="l" marL="658368" indent="-256032">
              <a:lnSpc>
                <a:spcPts val="2660"/>
              </a:lnSpc>
              <a:spcBef>
                <a:spcPts val="300"/>
              </a:spcBef>
              <a:buClr>
                <a:srgbClr val="4472C4"/>
              </a:buClr>
              <a:buSzPct val="100000"/>
              <a:buFont typeface="Arial"/>
              <a:buChar char="–"/>
            </a:pPr>
            <a:r>
              <a:rPr lang="en-US" sz="1900" b="true">
                <a:solidFill>
                  <a:srgbClr val="111111"/>
                </a:solidFill>
                <a:latin typeface="Nunito Semi-Bold"/>
                <a:ea typeface="Nunito Semi-Bold"/>
                <a:cs typeface="Nunito Semi-Bold"/>
                <a:sym typeface="Nunito Semi-Bold"/>
              </a:rPr>
              <a:t>Parent-level attribution = an </a:t>
            </a:r>
            <a:r>
              <a:rPr lang="en-US" sz="1900" b="true">
                <a:solidFill>
                  <a:srgbClr val="111111"/>
                </a:solidFill>
                <a:latin typeface="Nunito Bold"/>
                <a:ea typeface="Nunito Bold"/>
                <a:cs typeface="Nunito Bold"/>
                <a:sym typeface="Nunito Bold"/>
              </a:rPr>
              <a:t>expectation over the explanations of its children</a:t>
            </a:r>
            <a:r>
              <a:rPr lang="en-US" sz="1900" b="true">
                <a:solidFill>
                  <a:srgbClr val="111111"/>
                </a:solidFill>
                <a:latin typeface="Nunito Semi-Bold"/>
                <a:ea typeface="Nunito Semi-Bold"/>
                <a:cs typeface="Nunito Semi-Bold"/>
                <a:sym typeface="Nunito Semi-Bold"/>
              </a:rPr>
              <a:t>.</a:t>
            </a:r>
          </a:p>
          <a:p>
            <a:pPr algn="l" marL="658368" indent="-256032">
              <a:lnSpc>
                <a:spcPts val="2660"/>
              </a:lnSpc>
              <a:spcBef>
                <a:spcPts val="300"/>
              </a:spcBef>
              <a:buClr>
                <a:srgbClr val="4472C4"/>
              </a:buClr>
              <a:buSzPct val="100000"/>
              <a:buFont typeface="Arial"/>
              <a:buChar char="–"/>
            </a:pPr>
            <a:r>
              <a:rPr lang="en-US" sz="1900" b="true">
                <a:solidFill>
                  <a:srgbClr val="111111"/>
                </a:solidFill>
                <a:latin typeface="Nunito Semi-Bold"/>
                <a:ea typeface="Nunito Semi-Bold"/>
                <a:cs typeface="Nunito Semi-Bold"/>
                <a:sym typeface="Nunito Semi-Bold"/>
              </a:rPr>
              <a:t>The hierarchy is a practical analysis tool, not a claim that nature is really organised this way.</a:t>
            </a:r>
          </a:p>
        </p:txBody>
      </p:sp>
      <p:sp>
        <p:nvSpPr>
          <p:cNvPr id="26" name="Rounded Rectangle 25"/>
          <p:cNvSpPr/>
          <p:nvPr/>
        </p:nvSpPr>
        <p:spPr>
          <a:xfrm>
            <a:off x="11258550" y="3363722"/>
            <a:ext cx="4000500" cy="868680"/>
          </a:xfrm>
          <a:prstGeom prst="roundRect">
            <a:avLst>
              <a:gd name="adj" fmla="val 21052"/>
            </a:avLst>
          </a:prstGeom>
          <a:solidFill>
            <a:srgbClr val="111111"/>
          </a:solidFill>
          <a:ln>
            <a:noFill/>
          </a:ln>
        </p:spPr>
        <p:txBody>
          <a:bodyPr anchor="ctr" rtlCol="false" lIns="91440" tIns="45720" rIns="91440" bIns="45720" wrap="square"/>
          <a:lstStyle/>
          <a:p>
            <a:pPr algn="ctr">
              <a:lnSpc>
                <a:spcPts val="2070"/>
              </a:lnSpc>
              <a:spcBef>
                <a:spcPts val="0"/>
              </a:spcBef>
              <a:buNone/>
            </a:pPr>
            <a:r>
              <a:rPr lang="en-US" sz="1800" b="true">
                <a:solidFill>
                  <a:srgbClr val="FFFFFF"/>
                </a:solidFill>
                <a:latin typeface="Nunito Bold"/>
                <a:ea typeface="Nunito Bold"/>
                <a:cs typeface="Nunito Bold"/>
                <a:sym typeface="Nunito Bold"/>
              </a:rPr>
              <a:t>Level 1 · coarse clustering (k = 3)</a:t>
            </a:r>
          </a:p>
        </p:txBody>
      </p:sp>
      <p:sp>
        <p:nvSpPr>
          <p:cNvPr id="27" name="Rounded Rectangle 26"/>
          <p:cNvSpPr/>
          <p:nvPr/>
        </p:nvSpPr>
        <p:spPr>
          <a:xfrm>
            <a:off x="9258300" y="4826762"/>
            <a:ext cx="2514600" cy="1234440"/>
          </a:xfrm>
          <a:prstGeom prst="roundRect">
            <a:avLst>
              <a:gd name="adj" fmla="val 14814"/>
            </a:avLst>
          </a:prstGeom>
          <a:solidFill>
            <a:srgbClr val="4472C4"/>
          </a:solidFill>
          <a:ln>
            <a:noFill/>
          </a:ln>
        </p:spPr>
        <p:txBody>
          <a:bodyPr anchor="ctr" rtlCol="false" lIns="91440" tIns="45720" rIns="91440" bIns="45720" wrap="square"/>
          <a:lstStyle/>
          <a:p>
            <a:pPr algn="ctr">
              <a:lnSpc>
                <a:spcPts val="2185"/>
              </a:lnSpc>
              <a:spcBef>
                <a:spcPts val="0"/>
              </a:spcBef>
              <a:buNone/>
            </a:pPr>
            <a:r>
              <a:rPr lang="en-US" sz="1900" b="true">
                <a:solidFill>
                  <a:srgbClr val="FFFFFF"/>
                </a:solidFill>
                <a:latin typeface="Nunito Bold"/>
                <a:ea typeface="Nunito Bold"/>
                <a:cs typeface="Nunito Bold"/>
                <a:sym typeface="Nunito Bold"/>
              </a:rPr>
              <a:t>Regime A</a:t>
            </a:r>
          </a:p>
          <a:p>
            <a:pPr algn="ctr">
              <a:lnSpc>
                <a:spcPts val="1680"/>
              </a:lnSpc>
              <a:spcBef>
                <a:spcPts val="300"/>
              </a:spcBef>
              <a:buNone/>
            </a:pPr>
            <a:r>
              <a:rPr lang="en-US" sz="1400" b="true">
                <a:solidFill>
                  <a:srgbClr val="FFFFFF"/>
                </a:solidFill>
                <a:latin typeface="Nunito Semi-Bold"/>
                <a:ea typeface="Nunito Semi-Bold"/>
                <a:cs typeface="Nunito Semi-Bold"/>
                <a:sym typeface="Nunito Semi-Bold"/>
              </a:rPr>
              <a:t>temp · dew point · ozone</a:t>
            </a:r>
          </a:p>
        </p:txBody>
      </p:sp>
      <p:cxnSp>
        <p:nvCxnSpPr>
          <p:cNvPr id="28" name="Connector 27"/>
          <p:cNvCxnSpPr/>
          <p:nvPr/>
        </p:nvCxnSpPr>
        <p:spPr>
          <a:xfrm flipH="1">
            <a:off x="10515600" y="4278122"/>
            <a:ext cx="2743200" cy="502920"/>
          </a:xfrm>
          <a:prstGeom prst="line">
            <a:avLst/>
          </a:prstGeom>
          <a:ln w="25400">
            <a:solidFill>
              <a:srgbClr val="4472C4"/>
            </a:solidFill>
            <a:tailEnd type="triangle" w="med" len="med"/>
          </a:ln>
        </p:spPr>
      </p:cxnSp>
      <p:sp>
        <p:nvSpPr>
          <p:cNvPr id="29" name="Rounded Rectangle 28"/>
          <p:cNvSpPr/>
          <p:nvPr/>
        </p:nvSpPr>
        <p:spPr>
          <a:xfrm>
            <a:off x="9258300" y="6518402"/>
            <a:ext cx="1202436" cy="640080"/>
          </a:xfrm>
          <a:prstGeom prst="roundRect">
            <a:avLst>
              <a:gd name="adj" fmla="val 17142"/>
            </a:avLst>
          </a:prstGeom>
          <a:solidFill>
            <a:srgbClr val="F6ECDF"/>
          </a:solidFill>
          <a:ln>
            <a:noFill/>
          </a:ln>
        </p:spPr>
        <p:txBody>
          <a:bodyPr anchor="ctr" rtlCol="false" lIns="91440" tIns="45720" rIns="91440" bIns="45720" wrap="square"/>
          <a:lstStyle/>
          <a:p>
            <a:pPr algn="ctr">
              <a:lnSpc>
                <a:spcPts val="1610"/>
              </a:lnSpc>
              <a:spcBef>
                <a:spcPts val="0"/>
              </a:spcBef>
              <a:buNone/>
            </a:pPr>
            <a:r>
              <a:rPr lang="en-US" sz="1400" b="true">
                <a:solidFill>
                  <a:srgbClr val="111111"/>
                </a:solidFill>
                <a:latin typeface="Nunito Bold"/>
                <a:ea typeface="Nunito Bold"/>
                <a:cs typeface="Nunito Bold"/>
                <a:sym typeface="Nunito Bold"/>
              </a:rPr>
              <a:t>sub 1</a:t>
            </a:r>
          </a:p>
        </p:txBody>
      </p:sp>
      <p:cxnSp>
        <p:nvCxnSpPr>
          <p:cNvPr id="30" name="Connector 29"/>
          <p:cNvCxnSpPr/>
          <p:nvPr/>
        </p:nvCxnSpPr>
        <p:spPr>
          <a:xfrm flipH="1">
            <a:off x="9859518" y="6088634"/>
            <a:ext cx="656082" cy="393192"/>
          </a:xfrm>
          <a:prstGeom prst="line">
            <a:avLst/>
          </a:prstGeom>
          <a:ln w="19050">
            <a:solidFill>
              <a:srgbClr val="4472C4"/>
            </a:solidFill>
            <a:tailEnd type="triangle" w="med" len="med"/>
          </a:ln>
        </p:spPr>
      </p:cxnSp>
      <p:sp>
        <p:nvSpPr>
          <p:cNvPr id="31" name="Rounded Rectangle 30"/>
          <p:cNvSpPr/>
          <p:nvPr/>
        </p:nvSpPr>
        <p:spPr>
          <a:xfrm>
            <a:off x="10570464" y="6518402"/>
            <a:ext cx="1202436" cy="640080"/>
          </a:xfrm>
          <a:prstGeom prst="roundRect">
            <a:avLst>
              <a:gd name="adj" fmla="val 17142"/>
            </a:avLst>
          </a:prstGeom>
          <a:solidFill>
            <a:srgbClr val="F6ECDF"/>
          </a:solidFill>
          <a:ln>
            <a:noFill/>
          </a:ln>
        </p:spPr>
        <p:txBody>
          <a:bodyPr anchor="ctr" rtlCol="false" lIns="91440" tIns="45720" rIns="91440" bIns="45720" wrap="square"/>
          <a:lstStyle/>
          <a:p>
            <a:pPr algn="ctr">
              <a:lnSpc>
                <a:spcPts val="1610"/>
              </a:lnSpc>
              <a:spcBef>
                <a:spcPts val="0"/>
              </a:spcBef>
              <a:buNone/>
            </a:pPr>
            <a:r>
              <a:rPr lang="en-US" sz="1400" b="true">
                <a:solidFill>
                  <a:srgbClr val="111111"/>
                </a:solidFill>
                <a:latin typeface="Nunito Bold"/>
                <a:ea typeface="Nunito Bold"/>
                <a:cs typeface="Nunito Bold"/>
                <a:sym typeface="Nunito Bold"/>
              </a:rPr>
              <a:t>sub 2</a:t>
            </a:r>
          </a:p>
        </p:txBody>
      </p:sp>
      <p:cxnSp>
        <p:nvCxnSpPr>
          <p:cNvPr id="32" name="Connector 31"/>
          <p:cNvCxnSpPr/>
          <p:nvPr/>
        </p:nvCxnSpPr>
        <p:spPr>
          <a:xfrm>
            <a:off x="10515600" y="6088634"/>
            <a:ext cx="656082" cy="393192"/>
          </a:xfrm>
          <a:prstGeom prst="line">
            <a:avLst/>
          </a:prstGeom>
          <a:ln w="19050">
            <a:solidFill>
              <a:srgbClr val="4472C4"/>
            </a:solidFill>
            <a:tailEnd type="triangle" w="med" len="med"/>
          </a:ln>
        </p:spPr>
      </p:cxnSp>
      <p:sp>
        <p:nvSpPr>
          <p:cNvPr id="33" name="Rounded Rectangle 32"/>
          <p:cNvSpPr/>
          <p:nvPr/>
        </p:nvSpPr>
        <p:spPr>
          <a:xfrm>
            <a:off x="12001500" y="4826762"/>
            <a:ext cx="2514600" cy="1234440"/>
          </a:xfrm>
          <a:prstGeom prst="roundRect">
            <a:avLst>
              <a:gd name="adj" fmla="val 14814"/>
            </a:avLst>
          </a:prstGeom>
          <a:solidFill>
            <a:srgbClr val="2F5597"/>
          </a:solidFill>
          <a:ln>
            <a:noFill/>
          </a:ln>
        </p:spPr>
        <p:txBody>
          <a:bodyPr anchor="ctr" rtlCol="false" lIns="91440" tIns="45720" rIns="91440" bIns="45720" wrap="square"/>
          <a:lstStyle/>
          <a:p>
            <a:pPr algn="ctr">
              <a:lnSpc>
                <a:spcPts val="2185"/>
              </a:lnSpc>
              <a:spcBef>
                <a:spcPts val="0"/>
              </a:spcBef>
              <a:buNone/>
            </a:pPr>
            <a:r>
              <a:rPr lang="en-US" sz="1900" b="true">
                <a:solidFill>
                  <a:srgbClr val="FFFFFF"/>
                </a:solidFill>
                <a:latin typeface="Nunito Bold"/>
                <a:ea typeface="Nunito Bold"/>
                <a:cs typeface="Nunito Bold"/>
                <a:sym typeface="Nunito Bold"/>
              </a:rPr>
              <a:t>Regime B</a:t>
            </a:r>
          </a:p>
          <a:p>
            <a:pPr algn="ctr">
              <a:lnSpc>
                <a:spcPts val="1680"/>
              </a:lnSpc>
              <a:spcBef>
                <a:spcPts val="300"/>
              </a:spcBef>
              <a:buNone/>
            </a:pPr>
            <a:r>
              <a:rPr lang="en-US" sz="1400" b="true">
                <a:solidFill>
                  <a:srgbClr val="FFFFFF"/>
                </a:solidFill>
                <a:latin typeface="Nunito Semi-Bold"/>
                <a:ea typeface="Nunito Semi-Bold"/>
                <a:cs typeface="Nunito Semi-Bold"/>
                <a:sym typeface="Nunito Semi-Bold"/>
              </a:rPr>
              <a:t>CO · SO₂ · PM · wind</a:t>
            </a:r>
          </a:p>
        </p:txBody>
      </p:sp>
      <p:cxnSp>
        <p:nvCxnSpPr>
          <p:cNvPr id="34" name="Connector 33"/>
          <p:cNvCxnSpPr/>
          <p:nvPr/>
        </p:nvCxnSpPr>
        <p:spPr>
          <a:xfrm>
            <a:off x="13258800" y="4278122"/>
            <a:ext cx="0" cy="502920"/>
          </a:xfrm>
          <a:prstGeom prst="line">
            <a:avLst/>
          </a:prstGeom>
          <a:ln w="25400">
            <a:solidFill>
              <a:srgbClr val="4472C4"/>
            </a:solidFill>
            <a:tailEnd type="triangle" w="med" len="med"/>
          </a:ln>
        </p:spPr>
      </p:cxnSp>
      <p:sp>
        <p:nvSpPr>
          <p:cNvPr id="35" name="Rounded Rectangle 34"/>
          <p:cNvSpPr/>
          <p:nvPr/>
        </p:nvSpPr>
        <p:spPr>
          <a:xfrm>
            <a:off x="12001500" y="6518402"/>
            <a:ext cx="1202436" cy="640080"/>
          </a:xfrm>
          <a:prstGeom prst="roundRect">
            <a:avLst>
              <a:gd name="adj" fmla="val 17142"/>
            </a:avLst>
          </a:prstGeom>
          <a:solidFill>
            <a:srgbClr val="F6ECDF"/>
          </a:solidFill>
          <a:ln>
            <a:noFill/>
          </a:ln>
        </p:spPr>
        <p:txBody>
          <a:bodyPr anchor="ctr" rtlCol="false" lIns="91440" tIns="45720" rIns="91440" bIns="45720" wrap="square"/>
          <a:lstStyle/>
          <a:p>
            <a:pPr algn="ctr">
              <a:lnSpc>
                <a:spcPts val="1610"/>
              </a:lnSpc>
              <a:spcBef>
                <a:spcPts val="0"/>
              </a:spcBef>
              <a:buNone/>
            </a:pPr>
            <a:r>
              <a:rPr lang="en-US" sz="1400" b="true">
                <a:solidFill>
                  <a:srgbClr val="111111"/>
                </a:solidFill>
                <a:latin typeface="Nunito Bold"/>
                <a:ea typeface="Nunito Bold"/>
                <a:cs typeface="Nunito Bold"/>
                <a:sym typeface="Nunito Bold"/>
              </a:rPr>
              <a:t>sub 1</a:t>
            </a:r>
          </a:p>
        </p:txBody>
      </p:sp>
      <p:cxnSp>
        <p:nvCxnSpPr>
          <p:cNvPr id="36" name="Connector 35"/>
          <p:cNvCxnSpPr/>
          <p:nvPr/>
        </p:nvCxnSpPr>
        <p:spPr>
          <a:xfrm flipH="1">
            <a:off x="12602718" y="6088634"/>
            <a:ext cx="656082" cy="393192"/>
          </a:xfrm>
          <a:prstGeom prst="line">
            <a:avLst/>
          </a:prstGeom>
          <a:ln w="19050">
            <a:solidFill>
              <a:srgbClr val="4472C4"/>
            </a:solidFill>
            <a:tailEnd type="triangle" w="med" len="med"/>
          </a:ln>
        </p:spPr>
      </p:cxnSp>
      <p:sp>
        <p:nvSpPr>
          <p:cNvPr id="37" name="Rounded Rectangle 36"/>
          <p:cNvSpPr/>
          <p:nvPr/>
        </p:nvSpPr>
        <p:spPr>
          <a:xfrm>
            <a:off x="13313664" y="6518402"/>
            <a:ext cx="1202436" cy="640080"/>
          </a:xfrm>
          <a:prstGeom prst="roundRect">
            <a:avLst>
              <a:gd name="adj" fmla="val 17142"/>
            </a:avLst>
          </a:prstGeom>
          <a:solidFill>
            <a:srgbClr val="F6ECDF"/>
          </a:solidFill>
          <a:ln>
            <a:noFill/>
          </a:ln>
        </p:spPr>
        <p:txBody>
          <a:bodyPr anchor="ctr" rtlCol="false" lIns="91440" tIns="45720" rIns="91440" bIns="45720" wrap="square"/>
          <a:lstStyle/>
          <a:p>
            <a:pPr algn="ctr">
              <a:lnSpc>
                <a:spcPts val="1610"/>
              </a:lnSpc>
              <a:spcBef>
                <a:spcPts val="0"/>
              </a:spcBef>
              <a:buNone/>
            </a:pPr>
            <a:r>
              <a:rPr lang="en-US" sz="1400" b="true">
                <a:solidFill>
                  <a:srgbClr val="111111"/>
                </a:solidFill>
                <a:latin typeface="Nunito Bold"/>
                <a:ea typeface="Nunito Bold"/>
                <a:cs typeface="Nunito Bold"/>
                <a:sym typeface="Nunito Bold"/>
              </a:rPr>
              <a:t>sub 2</a:t>
            </a:r>
          </a:p>
        </p:txBody>
      </p:sp>
      <p:cxnSp>
        <p:nvCxnSpPr>
          <p:cNvPr id="38" name="Connector 37"/>
          <p:cNvCxnSpPr/>
          <p:nvPr/>
        </p:nvCxnSpPr>
        <p:spPr>
          <a:xfrm>
            <a:off x="13258800" y="6088634"/>
            <a:ext cx="656082" cy="393192"/>
          </a:xfrm>
          <a:prstGeom prst="line">
            <a:avLst/>
          </a:prstGeom>
          <a:ln w="19050">
            <a:solidFill>
              <a:srgbClr val="4472C4"/>
            </a:solidFill>
            <a:tailEnd type="triangle" w="med" len="med"/>
          </a:ln>
        </p:spPr>
      </p:cxnSp>
      <p:sp>
        <p:nvSpPr>
          <p:cNvPr id="39" name="Rounded Rectangle 38"/>
          <p:cNvSpPr/>
          <p:nvPr/>
        </p:nvSpPr>
        <p:spPr>
          <a:xfrm>
            <a:off x="14744700" y="4826762"/>
            <a:ext cx="2514600" cy="1234440"/>
          </a:xfrm>
          <a:prstGeom prst="roundRect">
            <a:avLst>
              <a:gd name="adj" fmla="val 14814"/>
            </a:avLst>
          </a:prstGeom>
          <a:solidFill>
            <a:srgbClr val="1F7A8C"/>
          </a:solidFill>
          <a:ln>
            <a:noFill/>
          </a:ln>
        </p:spPr>
        <p:txBody>
          <a:bodyPr anchor="ctr" rtlCol="false" lIns="91440" tIns="45720" rIns="91440" bIns="45720" wrap="square"/>
          <a:lstStyle/>
          <a:p>
            <a:pPr algn="ctr">
              <a:lnSpc>
                <a:spcPts val="2185"/>
              </a:lnSpc>
              <a:spcBef>
                <a:spcPts val="0"/>
              </a:spcBef>
              <a:buNone/>
            </a:pPr>
            <a:r>
              <a:rPr lang="en-US" sz="1900" b="true">
                <a:solidFill>
                  <a:srgbClr val="FFFFFF"/>
                </a:solidFill>
                <a:latin typeface="Nunito Bold"/>
                <a:ea typeface="Nunito Bold"/>
                <a:cs typeface="Nunito Bold"/>
                <a:sym typeface="Nunito Bold"/>
              </a:rPr>
              <a:t>Regime C</a:t>
            </a:r>
          </a:p>
          <a:p>
            <a:pPr algn="ctr">
              <a:lnSpc>
                <a:spcPts val="1680"/>
              </a:lnSpc>
              <a:spcBef>
                <a:spcPts val="300"/>
              </a:spcBef>
              <a:buNone/>
            </a:pPr>
            <a:r>
              <a:rPr lang="en-US" sz="1400" b="true">
                <a:solidFill>
                  <a:srgbClr val="FFFFFF"/>
                </a:solidFill>
                <a:latin typeface="Nunito Semi-Bold"/>
                <a:ea typeface="Nunito Semi-Bold"/>
                <a:cs typeface="Nunito Semi-Bold"/>
                <a:sym typeface="Nunito Semi-Bold"/>
              </a:rPr>
              <a:t>clean air · weather</a:t>
            </a:r>
          </a:p>
        </p:txBody>
      </p:sp>
      <p:cxnSp>
        <p:nvCxnSpPr>
          <p:cNvPr id="40" name="Connector 39"/>
          <p:cNvCxnSpPr/>
          <p:nvPr/>
        </p:nvCxnSpPr>
        <p:spPr>
          <a:xfrm>
            <a:off x="13258800" y="4278122"/>
            <a:ext cx="2743200" cy="502920"/>
          </a:xfrm>
          <a:prstGeom prst="line">
            <a:avLst/>
          </a:prstGeom>
          <a:ln w="25400">
            <a:solidFill>
              <a:srgbClr val="4472C4"/>
            </a:solidFill>
            <a:tailEnd type="triangle" w="med" len="med"/>
          </a:ln>
        </p:spPr>
      </p:cxnSp>
      <p:sp>
        <p:nvSpPr>
          <p:cNvPr id="41" name="Rounded Rectangle 40"/>
          <p:cNvSpPr/>
          <p:nvPr/>
        </p:nvSpPr>
        <p:spPr>
          <a:xfrm>
            <a:off x="14744700" y="6518402"/>
            <a:ext cx="1202436" cy="640080"/>
          </a:xfrm>
          <a:prstGeom prst="roundRect">
            <a:avLst>
              <a:gd name="adj" fmla="val 17142"/>
            </a:avLst>
          </a:prstGeom>
          <a:solidFill>
            <a:srgbClr val="F6ECDF"/>
          </a:solidFill>
          <a:ln>
            <a:noFill/>
          </a:ln>
        </p:spPr>
        <p:txBody>
          <a:bodyPr anchor="ctr" rtlCol="false" lIns="91440" tIns="45720" rIns="91440" bIns="45720" wrap="square"/>
          <a:lstStyle/>
          <a:p>
            <a:pPr algn="ctr">
              <a:lnSpc>
                <a:spcPts val="1610"/>
              </a:lnSpc>
              <a:spcBef>
                <a:spcPts val="0"/>
              </a:spcBef>
              <a:buNone/>
            </a:pPr>
            <a:r>
              <a:rPr lang="en-US" sz="1400" b="true">
                <a:solidFill>
                  <a:srgbClr val="111111"/>
                </a:solidFill>
                <a:latin typeface="Nunito Bold"/>
                <a:ea typeface="Nunito Bold"/>
                <a:cs typeface="Nunito Bold"/>
                <a:sym typeface="Nunito Bold"/>
              </a:rPr>
              <a:t>sub 1</a:t>
            </a:r>
          </a:p>
        </p:txBody>
      </p:sp>
      <p:cxnSp>
        <p:nvCxnSpPr>
          <p:cNvPr id="42" name="Connector 41"/>
          <p:cNvCxnSpPr/>
          <p:nvPr/>
        </p:nvCxnSpPr>
        <p:spPr>
          <a:xfrm flipH="1">
            <a:off x="15345918" y="6088634"/>
            <a:ext cx="656082" cy="393192"/>
          </a:xfrm>
          <a:prstGeom prst="line">
            <a:avLst/>
          </a:prstGeom>
          <a:ln w="19050">
            <a:solidFill>
              <a:srgbClr val="4472C4"/>
            </a:solidFill>
            <a:tailEnd type="triangle" w="med" len="med"/>
          </a:ln>
        </p:spPr>
      </p:cxnSp>
      <p:sp>
        <p:nvSpPr>
          <p:cNvPr id="43" name="Rounded Rectangle 42"/>
          <p:cNvSpPr/>
          <p:nvPr/>
        </p:nvSpPr>
        <p:spPr>
          <a:xfrm>
            <a:off x="16056864" y="6518402"/>
            <a:ext cx="1202436" cy="640080"/>
          </a:xfrm>
          <a:prstGeom prst="roundRect">
            <a:avLst>
              <a:gd name="adj" fmla="val 17142"/>
            </a:avLst>
          </a:prstGeom>
          <a:solidFill>
            <a:srgbClr val="F6ECDF"/>
          </a:solidFill>
          <a:ln>
            <a:noFill/>
          </a:ln>
        </p:spPr>
        <p:txBody>
          <a:bodyPr anchor="ctr" rtlCol="false" lIns="91440" tIns="45720" rIns="91440" bIns="45720" wrap="square"/>
          <a:lstStyle/>
          <a:p>
            <a:pPr algn="ctr">
              <a:lnSpc>
                <a:spcPts val="1610"/>
              </a:lnSpc>
              <a:spcBef>
                <a:spcPts val="0"/>
              </a:spcBef>
              <a:buNone/>
            </a:pPr>
            <a:r>
              <a:rPr lang="en-US" sz="1400" b="true">
                <a:solidFill>
                  <a:srgbClr val="111111"/>
                </a:solidFill>
                <a:latin typeface="Nunito Bold"/>
                <a:ea typeface="Nunito Bold"/>
                <a:cs typeface="Nunito Bold"/>
                <a:sym typeface="Nunito Bold"/>
              </a:rPr>
              <a:t>sub 2</a:t>
            </a:r>
          </a:p>
        </p:txBody>
      </p:sp>
      <p:cxnSp>
        <p:nvCxnSpPr>
          <p:cNvPr id="44" name="Connector 43"/>
          <p:cNvCxnSpPr/>
          <p:nvPr/>
        </p:nvCxnSpPr>
        <p:spPr>
          <a:xfrm>
            <a:off x="16002000" y="6088634"/>
            <a:ext cx="656082" cy="393192"/>
          </a:xfrm>
          <a:prstGeom prst="line">
            <a:avLst/>
          </a:prstGeom>
          <a:ln w="19050">
            <a:solidFill>
              <a:srgbClr val="4472C4"/>
            </a:solidFill>
            <a:tailEnd type="triangle" w="med" len="med"/>
          </a:ln>
        </p:spPr>
      </p:cxnSp>
      <p:sp>
        <p:nvSpPr>
          <p:cNvPr id="45" name="Rounded Rectangle 44"/>
          <p:cNvSpPr/>
          <p:nvPr/>
        </p:nvSpPr>
        <p:spPr>
          <a:xfrm>
            <a:off x="9258300" y="7341362"/>
            <a:ext cx="8001000" cy="1967230"/>
          </a:xfrm>
          <a:prstGeom prst="roundRect">
            <a:avLst>
              <a:gd name="adj" fmla="val 11620"/>
            </a:avLst>
          </a:prstGeom>
          <a:solidFill>
            <a:srgbClr val="4472C4"/>
          </a:solidFill>
          <a:ln>
            <a:noFill/>
          </a:ln>
        </p:spPr>
        <p:txBody>
          <a:bodyPr anchor="ctr" rtlCol="false" lIns="0" tIns="0" rIns="0" bIns="0" wrap="square"/>
          <a:lstStyle/>
          <a:p>
            <a:endParaRPr lang="en-US" sz="1800"/>
          </a:p>
        </p:txBody>
      </p:sp>
      <p:sp>
        <p:nvSpPr>
          <p:cNvPr id="46" name="TextBox 45"/>
          <p:cNvSpPr txBox="1"/>
          <p:nvPr/>
        </p:nvSpPr>
        <p:spPr>
          <a:xfrm>
            <a:off x="9258300" y="7487666"/>
            <a:ext cx="8001000" cy="274320"/>
          </a:xfrm>
          <a:prstGeom prst="rect">
            <a:avLst/>
          </a:prstGeom>
          <a:noFill/>
        </p:spPr>
        <p:txBody>
          <a:bodyPr anchor="t" rtlCol="false" lIns="0" tIns="0" rIns="0" bIns="0" wrap="square"/>
          <a:lstStyle/>
          <a:p>
            <a:pPr algn="ctr">
              <a:lnSpc>
                <a:spcPts val="1700"/>
              </a:lnSpc>
              <a:spcBef>
                <a:spcPts val="0"/>
              </a:spcBef>
              <a:buNone/>
            </a:pPr>
            <a:r>
              <a:rPr lang="en-US" sz="1300" b="true" spc="150">
                <a:solidFill>
                  <a:srgbClr val="ECC665"/>
                </a:solidFill>
                <a:latin typeface="Nunito Ultra-Bold"/>
                <a:ea typeface="Nunito Ultra-Bold"/>
                <a:cs typeface="Nunito Ultra-Bold"/>
                <a:sym typeface="Nunito Ultra-Bold"/>
              </a:rPr>
              <a:t>PROPOSITION 6.1  ·  CROSS-LEVEL CONSISTENCY</a:t>
            </a:r>
          </a:p>
        </p:txBody>
      </p:sp>
      <mc:AlternateContent xmlns:mc="http://schemas.openxmlformats.org/markup-compatibility/2006">
        <mc:Choice xmlns:a14="http://schemas.microsoft.com/office/drawing/2010/main" Requires="a14">
          <p:sp>
            <p:nvSpPr>
              <p:cNvPr id="47" name="Equation"/>
              <p:cNvSpPr txBox="1"/>
              <p:nvPr/>
            </p:nvSpPr>
            <p:spPr>
              <a:xfrm>
                <a:off x="9441180" y="7761986"/>
                <a:ext cx="7635240" cy="960120"/>
              </a:xfrm>
              <a:prstGeom prst="rect">
                <a:avLst/>
              </a:prstGeom>
              <a:noFill/>
            </p:spPr>
            <p:txBody>
              <a:bodyPr wrap="none" rtlCol="0" anchor="ctr" lIns="0" tIns="0" rIns="0" bIns="0"/>
              <a:lstStyle/>
              <a:p>
                <a:pPr algn="ctr"/>
                <a14:m xmlns:m="http://schemas.openxmlformats.org/officeDocument/2006/math">
                  <m:oMathPara>
                    <m:oMathParaPr>
                      <m:jc m:val="centerGroup"/>
                    </m:oMathParaPr>
                    <m:oMath>
                      <m:sSubSup>
                        <m:sSubSupPr>
                          <m:ctrlPr>
                            <a:rPr lang="en-US" sz="2200" i="1">
                              <a:solidFill>
                                <a:srgbClr val="FFFFFF"/>
                              </a:solidFill>
                              <a:latin typeface="Cambria Math" panose="02040503050406030204" pitchFamily="18" charset="0"/>
                            </a:rPr>
                          </m:ctrlPr>
                        </m:sSubSupPr>
                        <m:e>
                          <m:r>
                            <a:rPr lang="en-US" sz="2200" i="1">
                              <a:solidFill>
                                <a:srgbClr val="FFFFFF"/>
                              </a:solidFill>
                              <a:latin typeface="Cambria Math" panose="02040503050406030204" pitchFamily="18" charset="0"/>
                            </a:rPr>
                            <m:t xml:space="preserve">Φ</m:t>
                          </m:r>
                        </m:e>
                        <m:sub>
                          <m:r>
                            <a:rPr lang="en-US" sz="2200" i="1">
                              <a:solidFill>
                                <a:srgbClr val="FFFFFF"/>
                              </a:solidFill>
                              <a:latin typeface="Cambria Math" panose="02040503050406030204" pitchFamily="18" charset="0"/>
                            </a:rPr>
                            <m:t xml:space="preserve">j</m:t>
                          </m:r>
                        </m:sub>
                        <m:sup>
                          <m:r>
                            <m:rPr>
                              <m:sty m:val="p"/>
                            </m:rPr>
                            <a:rPr lang="en-US" sz="2200">
                              <a:solidFill>
                                <a:srgbClr val="FFFFFF"/>
                              </a:solidFill>
                              <a:latin typeface="Cambria Math" panose="02040503050406030204" pitchFamily="18" charset="0"/>
                            </a:rPr>
                            <m:t xml:space="preserve">(</m:t>
                          </m:r>
                          <m:r>
                            <a:rPr lang="en-US" sz="2200" i="1">
                              <a:solidFill>
                                <a:srgbClr val="FFFFFF"/>
                              </a:solidFill>
                              <a:latin typeface="Cambria Math" panose="02040503050406030204" pitchFamily="18" charset="0"/>
                            </a:rPr>
                            <m:t xml:space="preserve">l</m:t>
                          </m:r>
                          <m:r>
                            <m:rPr>
                              <m:sty m:val="p"/>
                            </m:rPr>
                            <a:rPr lang="en-US" sz="2200">
                              <a:solidFill>
                                <a:srgbClr val="FFFFFF"/>
                              </a:solidFill>
                              <a:latin typeface="Cambria Math" panose="02040503050406030204" pitchFamily="18" charset="0"/>
                            </a:rPr>
                            <m:t xml:space="preserve">,</m:t>
                          </m:r>
                          <m:r>
                            <a:rPr lang="en-US" sz="2200" i="1">
                              <a:solidFill>
                                <a:srgbClr val="FFFFFF"/>
                              </a:solidFill>
                              <a:latin typeface="Cambria Math" panose="02040503050406030204" pitchFamily="18" charset="0"/>
                            </a:rPr>
                            <m:t xml:space="preserve">c</m:t>
                          </m:r>
                          <m:r>
                            <m:rPr>
                              <m:sty m:val="p"/>
                            </m:rPr>
                            <a:rPr lang="en-US" sz="2200">
                              <a:solidFill>
                                <a:srgbClr val="FFFFFF"/>
                              </a:solidFill>
                              <a:latin typeface="Cambria Math" panose="02040503050406030204" pitchFamily="18" charset="0"/>
                            </a:rPr>
                            <m:t xml:space="preserve">)</m:t>
                          </m:r>
                        </m:sup>
                      </m:sSubSup>
                      <m:r>
                        <m:rPr>
                          <m:sty m:val="p"/>
                        </m:rPr>
                        <a:rPr lang="en-US" sz="2200">
                          <a:solidFill>
                            <a:srgbClr val="FFFFFF"/>
                          </a:solidFill>
                          <a:latin typeface="Cambria Math" panose="02040503050406030204" pitchFamily="18" charset="0"/>
                        </a:rPr>
                        <m:t xml:space="preserve">=</m:t>
                      </m:r>
                      <m:nary>
                        <m:naryPr>
                          <m:chr m:val="∑"/>
                          <m:limLoc m:val="subSup"/>
                          <m:supHide m:val="1"/>
                          <m:ctrlPr>
                            <a:rPr lang="en-US" sz="2200" i="1">
                              <a:solidFill>
                                <a:srgbClr val="FFFFFF"/>
                              </a:solidFill>
                              <a:latin typeface="Cambria Math" panose="02040503050406030204" pitchFamily="18" charset="0"/>
                            </a:rPr>
                          </m:ctrlPr>
                        </m:naryPr>
                        <m:sub>
                          <m:r>
                            <a:rPr lang="en-US" sz="2200" i="1">
                              <a:solidFill>
                                <a:srgbClr val="FFFFFF"/>
                              </a:solidFill>
                              <a:latin typeface="Cambria Math" panose="02040503050406030204" pitchFamily="18" charset="0"/>
                            </a:rPr>
                            <m:t xml:space="preserve">c′</m:t>
                          </m:r>
                          <m:r>
                            <m:rPr>
                              <m:sty m:val="p"/>
                            </m:rPr>
                            <a:rPr lang="en-US" sz="2200">
                              <a:solidFill>
                                <a:srgbClr val="FFFFFF"/>
                              </a:solidFill>
                              <a:latin typeface="Cambria Math" panose="02040503050406030204" pitchFamily="18" charset="0"/>
                            </a:rPr>
                            <m:t xml:space="preserve">∈child(</m:t>
                          </m:r>
                          <m:r>
                            <a:rPr lang="en-US" sz="2200" i="1">
                              <a:solidFill>
                                <a:srgbClr val="FFFFFF"/>
                              </a:solidFill>
                              <a:latin typeface="Cambria Math" panose="02040503050406030204" pitchFamily="18" charset="0"/>
                            </a:rPr>
                            <m:t xml:space="preserve">c</m:t>
                          </m:r>
                          <m:r>
                            <m:rPr>
                              <m:sty m:val="p"/>
                            </m:rPr>
                            <a:rPr lang="en-US" sz="2200">
                              <a:solidFill>
                                <a:srgbClr val="FFFFFF"/>
                              </a:solidFill>
                              <a:latin typeface="Cambria Math" panose="02040503050406030204" pitchFamily="18" charset="0"/>
                            </a:rPr>
                            <m:t xml:space="preserve">)</m:t>
                          </m:r>
                        </m:sub>
                        <m:sup/>
                        <m:e>
                          <m:r>
                            <m:rPr>
                              <m:sty m:val="p"/>
                            </m:rPr>
                            <a:rPr lang="en-US" sz="2200">
                              <a:solidFill>
                                <a:srgbClr val="FFFFFF"/>
                              </a:solidFill>
                              <a:latin typeface="Cambria Math" panose="02040503050406030204" pitchFamily="18" charset="0"/>
                            </a:rPr>
                            <m:t xml:space="preserve"> </m:t>
                          </m:r>
                        </m:e>
                      </m:nary>
                      <m:sSub>
                        <m:sSubPr>
                          <m:ctrlPr>
                            <a:rPr lang="en-US" sz="2200" i="1">
                              <a:solidFill>
                                <a:srgbClr val="FFFFFF"/>
                              </a:solidFill>
                              <a:latin typeface="Cambria Math" panose="02040503050406030204" pitchFamily="18" charset="0"/>
                            </a:rPr>
                          </m:ctrlPr>
                        </m:sSubPr>
                        <m:e>
                          <m:r>
                            <a:rPr lang="en-US" sz="2200" i="1">
                              <a:solidFill>
                                <a:srgbClr val="FFFFFF"/>
                              </a:solidFill>
                              <a:latin typeface="Cambria Math" panose="02040503050406030204" pitchFamily="18" charset="0"/>
                            </a:rPr>
                            <m:t xml:space="preserve">w</m:t>
                          </m:r>
                        </m:e>
                        <m:sub>
                          <m:r>
                            <a:rPr lang="en-US" sz="2200" i="1">
                              <a:solidFill>
                                <a:srgbClr val="FFFFFF"/>
                              </a:solidFill>
                              <a:latin typeface="Cambria Math" panose="02040503050406030204" pitchFamily="18" charset="0"/>
                            </a:rPr>
                            <m:t xml:space="preserve">c′</m:t>
                          </m:r>
                        </m:sub>
                      </m:sSub>
                      <m:r>
                        <m:rPr>
                          <m:sty m:val="p"/>
                        </m:rPr>
                        <a:rPr lang="en-US" sz="2200">
                          <a:solidFill>
                            <a:srgbClr val="FFFFFF"/>
                          </a:solidFill>
                          <a:latin typeface="Cambria Math" panose="02040503050406030204" pitchFamily="18" charset="0"/>
                        </a:rPr>
                        <m:t xml:space="preserve"> </m:t>
                      </m:r>
                      <m:sSubSup>
                        <m:sSubSupPr>
                          <m:ctrlPr>
                            <a:rPr lang="en-US" sz="2200" i="1">
                              <a:solidFill>
                                <a:srgbClr val="FFFFFF"/>
                              </a:solidFill>
                              <a:latin typeface="Cambria Math" panose="02040503050406030204" pitchFamily="18" charset="0"/>
                            </a:rPr>
                          </m:ctrlPr>
                        </m:sSubSupPr>
                        <m:e>
                          <m:r>
                            <a:rPr lang="en-US" sz="2200" i="1">
                              <a:solidFill>
                                <a:srgbClr val="FFFFFF"/>
                              </a:solidFill>
                              <a:latin typeface="Cambria Math" panose="02040503050406030204" pitchFamily="18" charset="0"/>
                            </a:rPr>
                            <m:t xml:space="preserve">Φ</m:t>
                          </m:r>
                        </m:e>
                        <m:sub>
                          <m:r>
                            <a:rPr lang="en-US" sz="2200" i="1">
                              <a:solidFill>
                                <a:srgbClr val="FFFFFF"/>
                              </a:solidFill>
                              <a:latin typeface="Cambria Math" panose="02040503050406030204" pitchFamily="18" charset="0"/>
                            </a:rPr>
                            <m:t xml:space="preserve">j</m:t>
                          </m:r>
                        </m:sub>
                        <m:sup>
                          <m:r>
                            <m:rPr>
                              <m:sty m:val="p"/>
                            </m:rPr>
                            <a:rPr lang="en-US" sz="2200">
                              <a:solidFill>
                                <a:srgbClr val="FFFFFF"/>
                              </a:solidFill>
                              <a:latin typeface="Cambria Math" panose="02040503050406030204" pitchFamily="18" charset="0"/>
                            </a:rPr>
                            <m:t xml:space="preserve">(</m:t>
                          </m:r>
                          <m:r>
                            <a:rPr lang="en-US" sz="2200" i="1">
                              <a:solidFill>
                                <a:srgbClr val="FFFFFF"/>
                              </a:solidFill>
                              <a:latin typeface="Cambria Math" panose="02040503050406030204" pitchFamily="18" charset="0"/>
                            </a:rPr>
                            <m:t xml:space="preserve">l</m:t>
                          </m:r>
                          <m:r>
                            <m:rPr>
                              <m:sty m:val="p"/>
                            </m:rPr>
                            <a:rPr lang="en-US" sz="2200">
                              <a:solidFill>
                                <a:srgbClr val="FFFFFF"/>
                              </a:solidFill>
                              <a:latin typeface="Cambria Math" panose="02040503050406030204" pitchFamily="18" charset="0"/>
                            </a:rPr>
                            <m:t xml:space="preserve">+1, </m:t>
                          </m:r>
                          <m:r>
                            <a:rPr lang="en-US" sz="2200" i="1">
                              <a:solidFill>
                                <a:srgbClr val="FFFFFF"/>
                              </a:solidFill>
                              <a:latin typeface="Cambria Math" panose="02040503050406030204" pitchFamily="18" charset="0"/>
                            </a:rPr>
                            <m:t xml:space="preserve">c′</m:t>
                          </m:r>
                          <m:r>
                            <m:rPr>
                              <m:sty m:val="p"/>
                            </m:rPr>
                            <a:rPr lang="en-US" sz="2200">
                              <a:solidFill>
                                <a:srgbClr val="FFFFFF"/>
                              </a:solidFill>
                              <a:latin typeface="Cambria Math" panose="02040503050406030204" pitchFamily="18" charset="0"/>
                            </a:rPr>
                            <m:t xml:space="preserve">)</m:t>
                          </m:r>
                        </m:sup>
                      </m:sSubSup>
                      <m:r>
                        <m:rPr>
                          <m:sty m:val="p"/>
                        </m:rPr>
                        <a:rPr lang="en-US" sz="2200">
                          <a:solidFill>
                            <a:srgbClr val="FFFFFF"/>
                          </a:solidFill>
                          <a:latin typeface="Cambria Math" panose="02040503050406030204" pitchFamily="18" charset="0"/>
                        </a:rPr>
                        <m:t xml:space="preserve">+</m:t>
                      </m:r>
                      <m:sSub>
                        <m:sSubPr>
                          <m:ctrlPr>
                            <a:rPr lang="en-US" sz="2200" i="1">
                              <a:solidFill>
                                <a:srgbClr val="FFFFFF"/>
                              </a:solidFill>
                              <a:latin typeface="Cambria Math" panose="02040503050406030204" pitchFamily="18" charset="0"/>
                            </a:rPr>
                          </m:ctrlPr>
                        </m:sSubPr>
                        <m:e>
                          <m:r>
                            <a:rPr lang="en-US" sz="2200" i="1">
                              <a:solidFill>
                                <a:srgbClr val="FFFFFF"/>
                              </a:solidFill>
                              <a:latin typeface="Cambria Math" panose="02040503050406030204" pitchFamily="18" charset="0"/>
                            </a:rPr>
                            <m:t xml:space="preserve">ε</m:t>
                          </m:r>
                        </m:e>
                        <m:sub>
                          <m:r>
                            <a:rPr lang="en-US" sz="2200" i="1">
                              <a:solidFill>
                                <a:srgbClr val="FFFFFF"/>
                              </a:solidFill>
                              <a:latin typeface="Cambria Math" panose="02040503050406030204" pitchFamily="18" charset="0"/>
                            </a:rPr>
                            <m:t xml:space="preserve">j</m:t>
                          </m:r>
                        </m:sub>
                      </m:sSub>
                    </m:oMath>
                  </m:oMathPara>
                </a14:m>
                <a:endParaRPr lang="en-US" sz="2200"/>
              </a:p>
            </p:txBody>
          </p:sp>
        </mc:Choice>
        <mc:Fallback>
          <p:sp>
            <p:nvSpPr>
              <p:cNvPr id="47" name="Equation"/>
              <p:cNvSpPr txBox="1"/>
              <p:nvPr/>
            </p:nvSpPr>
            <p:spPr>
              <a:xfrm>
                <a:off x="9441180" y="7761986"/>
                <a:ext cx="7635240" cy="960120"/>
              </a:xfrm>
              <a:prstGeom prst="rect">
                <a:avLst/>
              </a:prstGeom>
              <a:blipFill>
                <a:blip r:embed="rId4"/>
                <a:stretch>
                  <a:fillRect/>
                </a:stretch>
              </a:blipFill>
            </p:spPr>
            <p:txBody>
              <a:bodyPr/>
              <a:lstStyle/>
              <a:p>
                <a:endParaRPr lang="en-US"/>
              </a:p>
            </p:txBody>
          </p:sp>
        </mc:Fallback>
      </mc:AlternateContent>
      <mc:AlternateContent xmlns:mc="http://schemas.openxmlformats.org/markup-compatibility/2006">
        <mc:Choice xmlns:a14="http://schemas.microsoft.com/office/drawing/2010/main" Requires="a14">
          <p:sp>
            <p:nvSpPr>
              <p:cNvPr id="48" name="Equation"/>
              <p:cNvSpPr txBox="1"/>
              <p:nvPr/>
            </p:nvSpPr>
            <p:spPr>
              <a:xfrm>
                <a:off x="9441180" y="8712962"/>
                <a:ext cx="7635240" cy="457200"/>
              </a:xfrm>
              <a:prstGeom prst="rect">
                <a:avLst/>
              </a:prstGeom>
              <a:noFill/>
            </p:spPr>
            <p:txBody>
              <a:bodyPr wrap="none" rtlCol="0" anchor="ctr" lIns="0" tIns="0" rIns="0" bIns="0"/>
              <a:lstStyle/>
              <a:p>
                <a:pPr algn="ctr"/>
                <a14:m xmlns:m="http://schemas.openxmlformats.org/officeDocument/2006/math">
                  <m:oMathPara>
                    <m:oMathParaPr>
                      <m:jc m:val="centerGroup"/>
                    </m:oMathParaPr>
                    <m:oMath>
                      <m:sSub>
                        <m:sSubPr>
                          <m:ctrlPr>
                            <a:rPr lang="en-US" sz="1400" i="1">
                              <a:solidFill>
                                <a:srgbClr val="D6E4F7"/>
                              </a:solidFill>
                              <a:latin typeface="Cambria Math" panose="02040503050406030204" pitchFamily="18" charset="0"/>
                            </a:rPr>
                          </m:ctrlPr>
                        </m:sSubPr>
                        <m:e>
                          <m:r>
                            <a:rPr lang="en-US" sz="1400" i="1">
                              <a:solidFill>
                                <a:srgbClr val="D6E4F7"/>
                              </a:solidFill>
                              <a:latin typeface="Cambria Math" panose="02040503050406030204" pitchFamily="18" charset="0"/>
                            </a:rPr>
                            <m:t xml:space="preserve">w</m:t>
                          </m:r>
                        </m:e>
                        <m:sub>
                          <m:r>
                            <a:rPr lang="en-US" sz="1400" i="1">
                              <a:solidFill>
                                <a:srgbClr val="D6E4F7"/>
                              </a:solidFill>
                              <a:latin typeface="Cambria Math" panose="02040503050406030204" pitchFamily="18" charset="0"/>
                            </a:rPr>
                            <m:t xml:space="preserve">c′</m:t>
                          </m:r>
                        </m:sub>
                      </m:sSub>
                      <m:r>
                        <m:rPr>
                          <m:sty m:val="p"/>
                        </m:rPr>
                        <a:rPr lang="en-US" sz="1400">
                          <a:solidFill>
                            <a:srgbClr val="D6E4F7"/>
                          </a:solidFill>
                          <a:latin typeface="Cambria Math" panose="02040503050406030204" pitchFamily="18" charset="0"/>
                        </a:rPr>
                        <m:t xml:space="preserve">=|</m:t>
                      </m:r>
                      <m:r>
                        <a:rPr lang="en-US" sz="1400" i="1">
                          <a:solidFill>
                            <a:srgbClr val="D6E4F7"/>
                          </a:solidFill>
                          <a:latin typeface="Cambria Math" panose="02040503050406030204" pitchFamily="18" charset="0"/>
                        </a:rPr>
                        <m:t xml:space="preserve">c′</m:t>
                      </m:r>
                      <m:r>
                        <m:rPr>
                          <m:sty m:val="p"/>
                        </m:rPr>
                        <a:rPr lang="en-US" sz="1400">
                          <a:solidFill>
                            <a:srgbClr val="D6E4F7"/>
                          </a:solidFill>
                          <a:latin typeface="Cambria Math" panose="02040503050406030204" pitchFamily="18" charset="0"/>
                        </a:rPr>
                        <m:t xml:space="preserve">| / |</m:t>
                      </m:r>
                      <m:r>
                        <a:rPr lang="en-US" sz="1400" i="1">
                          <a:solidFill>
                            <a:srgbClr val="D6E4F7"/>
                          </a:solidFill>
                          <a:latin typeface="Cambria Math" panose="02040503050406030204" pitchFamily="18" charset="0"/>
                        </a:rPr>
                        <m:t xml:space="preserve">c</m:t>
                      </m:r>
                      <m:r>
                        <m:rPr>
                          <m:sty m:val="p"/>
                        </m:rPr>
                        <a:rPr lang="en-US" sz="1400">
                          <a:solidFill>
                            <a:srgbClr val="D6E4F7"/>
                          </a:solidFill>
                          <a:latin typeface="Cambria Math" panose="02040503050406030204" pitchFamily="18" charset="0"/>
                        </a:rPr>
                        <m:t xml:space="preserve">|,  </m:t>
                      </m:r>
                      <m:sSub>
                        <m:sSubPr>
                          <m:ctrlPr>
                            <a:rPr lang="en-US" sz="1400" i="1">
                              <a:solidFill>
                                <a:srgbClr val="D6E4F7"/>
                              </a:solidFill>
                              <a:latin typeface="Cambria Math" panose="02040503050406030204" pitchFamily="18" charset="0"/>
                            </a:rPr>
                          </m:ctrlPr>
                        </m:sSubPr>
                        <m:e>
                          <m:r>
                            <a:rPr lang="en-US" sz="1400" i="1">
                              <a:solidFill>
                                <a:srgbClr val="D6E4F7"/>
                              </a:solidFill>
                              <a:latin typeface="Cambria Math" panose="02040503050406030204" pitchFamily="18" charset="0"/>
                            </a:rPr>
                            <m:t xml:space="preserve">ε</m:t>
                          </m:r>
                        </m:e>
                        <m:sub>
                          <m:r>
                            <a:rPr lang="en-US" sz="1400" i="1">
                              <a:solidFill>
                                <a:srgbClr val="D6E4F7"/>
                              </a:solidFill>
                              <a:latin typeface="Cambria Math" panose="02040503050406030204" pitchFamily="18" charset="0"/>
                            </a:rPr>
                            <m:t xml:space="preserve">j</m:t>
                          </m:r>
                        </m:sub>
                      </m:sSub>
                      <m:r>
                        <m:rPr>
                          <m:sty m:val="p"/>
                        </m:rPr>
                        <a:rPr lang="en-US" sz="1400">
                          <a:solidFill>
                            <a:srgbClr val="D6E4F7"/>
                          </a:solidFill>
                          <a:latin typeface="Cambria Math" panose="02040503050406030204" pitchFamily="18" charset="0"/>
                        </a:rPr>
                        <m:t xml:space="preserve">→0</m:t>
                      </m:r>
                      <m:r>
                        <m:rPr>
                          <m:nor/>
                        </m:rPr>
                        <a:rPr lang="en-US" sz="1400">
                          <a:solidFill>
                            <a:srgbClr val="D6E4F7"/>
                          </a:solidFill>
                          <a:latin typeface="Cambria Math" panose="02040503050406030204" pitchFamily="18" charset="0"/>
                        </a:rPr>
                        <m:t xml:space="preserve">  under perfect surrogate fidelity</m:t>
                      </m:r>
                    </m:oMath>
                  </m:oMathPara>
                </a14:m>
                <a:endParaRPr lang="en-US" sz="1400"/>
              </a:p>
            </p:txBody>
          </p:sp>
        </mc:Choice>
        <mc:Fallback>
          <p:sp>
            <p:nvSpPr>
              <p:cNvPr id="48" name="Equation"/>
              <p:cNvSpPr txBox="1"/>
              <p:nvPr/>
            </p:nvSpPr>
            <p:spPr>
              <a:xfrm>
                <a:off x="9441180" y="8712962"/>
                <a:ext cx="7635240" cy="457200"/>
              </a:xfrm>
              <a:prstGeom prst="rect">
                <a:avLst/>
              </a:prstGeom>
              <a:blipFill>
                <a:blip r:embed="rId5"/>
                <a:stretch>
                  <a:fillRect/>
                </a:stretch>
              </a:blipFill>
            </p:spPr>
            <p:txBody>
              <a:bodyPr/>
              <a:lstStyle/>
              <a:p>
                <a:endParaRPr lang="en-US"/>
              </a:p>
            </p:txBody>
          </p:sp>
        </mc:Fallback>
      </mc:AlternateContent>
    </p:spTree>
  </p:cSld>
  <p:clrMapOvr>
    <a:masterClrMapping/>
  </p:clrMapOvr>
</p:sld>
</file>

<file path=ppt/slides/slide5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pic>
        <p:nvPicPr>
          <p:cNvPr id="2" name="Picture 1" descr="ensias_logo.jpg"/>
          <p:cNvPicPr>
            <a:picLocks noChangeAspect="1"/>
          </p:cNvPicPr>
          <p:nvPr/>
        </p:nvPicPr>
        <p:blipFill>
          <a:blip r:embed="rId2"/>
          <a:stretch>
            <a:fillRect/>
          </a:stretch>
        </p:blipFill>
        <p:spPr>
          <a:xfrm>
            <a:off x="1028700" y="9674352"/>
            <a:ext cx="542964" cy="384048"/>
          </a:xfrm>
          <a:prstGeom prst="rect">
            <a:avLst/>
          </a:prstGeom>
        </p:spPr>
      </p:pic>
      <p:sp>
        <p:nvSpPr>
          <p:cNvPr id="3" name="TextBox 2"/>
          <p:cNvSpPr txBox="1"/>
          <p:nvPr/>
        </p:nvSpPr>
        <p:spPr>
          <a:xfrm>
            <a:off x="1577340" y="9747504"/>
            <a:ext cx="12801600" cy="274320"/>
          </a:xfrm>
          <a:prstGeom prst="rect">
            <a:avLst/>
          </a:prstGeom>
          <a:noFill/>
        </p:spPr>
        <p:txBody>
          <a:bodyPr anchor="t" rtlCol="false" lIns="0" tIns="0" rIns="0" bIns="0" wrap="square"/>
          <a:lstStyle/>
          <a:p>
            <a:pPr algn="l">
              <a:lnSpc>
                <a:spcPts val="1600"/>
              </a:lnSpc>
              <a:spcBef>
                <a:spcPts val="0"/>
              </a:spcBef>
              <a:buNone/>
            </a:pPr>
            <a:r>
              <a:rPr lang="en-US" sz="1300" b="true">
                <a:solidFill>
                  <a:srgbClr val="8A8378"/>
                </a:solidFill>
                <a:latin typeface="Nunito Bold"/>
                <a:ea typeface="Nunito Bold"/>
                <a:cs typeface="Nunito Bold"/>
                <a:sym typeface="Nunito Bold"/>
              </a:rPr>
              <a:t>Cooperative Game Theory for Explainable AI in Recommendation Systems  ·  A Shapley Framework for Actionable Insight</a:t>
            </a:r>
          </a:p>
        </p:txBody>
      </p:sp>
      <p:sp>
        <p:nvSpPr>
          <p:cNvPr id="4" name="TextBox 3"/>
          <p:cNvSpPr txBox="1"/>
          <p:nvPr/>
        </p:nvSpPr>
        <p:spPr>
          <a:xfrm>
            <a:off x="16162020" y="9692640"/>
            <a:ext cx="1097280" cy="329184"/>
          </a:xfrm>
          <a:prstGeom prst="rect">
            <a:avLst/>
          </a:prstGeom>
          <a:noFill/>
        </p:spPr>
        <p:txBody>
          <a:bodyPr anchor="t" rtlCol="false" lIns="0" tIns="0" rIns="0" bIns="0" wrap="square"/>
          <a:lstStyle/>
          <a:p>
            <a:pPr algn="r">
              <a:lnSpc>
                <a:spcPts val="2200"/>
              </a:lnSpc>
              <a:spcBef>
                <a:spcPts val="0"/>
              </a:spcBef>
              <a:buNone/>
            </a:pPr>
            <a:r>
              <a:rPr lang="en-US" sz="1800" b="true">
                <a:solidFill>
                  <a:srgbClr val="111111"/>
                </a:solidFill>
                <a:latin typeface="Nunito Ultra-Bold"/>
                <a:ea typeface="Nunito Ultra-Bold"/>
                <a:cs typeface="Nunito Ultra-Bold"/>
                <a:sym typeface="Nunito Ultra-Bold"/>
              </a:rPr>
              <a:t>42</a:t>
            </a:r>
          </a:p>
        </p:txBody>
      </p:sp>
      <p:sp>
        <p:nvSpPr>
          <p:cNvPr id="5" name="TextBox 4"/>
          <p:cNvSpPr txBox="1"/>
          <p:nvPr/>
        </p:nvSpPr>
        <p:spPr>
          <a:xfrm>
            <a:off x="1028700" y="1389888"/>
            <a:ext cx="12938760" cy="329184"/>
          </a:xfrm>
          <a:prstGeom prst="rect">
            <a:avLst/>
          </a:prstGeom>
          <a:noFill/>
        </p:spPr>
        <p:txBody>
          <a:bodyPr anchor="t" rtlCol="false" lIns="0" tIns="0" rIns="0" bIns="0" wrap="square"/>
          <a:lstStyle/>
          <a:p>
            <a:pPr algn="l">
              <a:lnSpc>
                <a:spcPts val="2000"/>
              </a:lnSpc>
              <a:spcBef>
                <a:spcPts val="0"/>
              </a:spcBef>
              <a:buNone/>
            </a:pPr>
            <a:r>
              <a:rPr lang="en-US" sz="1500" b="true" spc="160">
                <a:solidFill>
                  <a:srgbClr val="1F7A8C"/>
                </a:solidFill>
                <a:latin typeface="Nunito Ultra-Bold"/>
                <a:ea typeface="Nunito Ultra-Bold"/>
                <a:cs typeface="Nunito Ultra-Bold"/>
                <a:sym typeface="Nunito Ultra-Bold"/>
              </a:rPr>
              <a:t>CONTRIBUTION II: MULTI-LEVEL XAI FOR LARGE-SCALE CLUSTERING</a:t>
            </a:r>
          </a:p>
        </p:txBody>
      </p:sp>
      <p:sp>
        <p:nvSpPr>
          <p:cNvPr id="6" name="Rounded Rectangle 5"/>
          <p:cNvSpPr/>
          <p:nvPr/>
        </p:nvSpPr>
        <p:spPr>
          <a:xfrm>
            <a:off x="14516100"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7" name="TextBox 6"/>
          <p:cNvSpPr txBox="1"/>
          <p:nvPr/>
        </p:nvSpPr>
        <p:spPr>
          <a:xfrm>
            <a:off x="14516100"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1</a:t>
            </a:r>
          </a:p>
        </p:txBody>
      </p:sp>
      <p:sp>
        <p:nvSpPr>
          <p:cNvPr id="8" name="Rounded Rectangle 7"/>
          <p:cNvSpPr/>
          <p:nvPr/>
        </p:nvSpPr>
        <p:spPr>
          <a:xfrm>
            <a:off x="14918436"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9" name="TextBox 8"/>
          <p:cNvSpPr txBox="1"/>
          <p:nvPr/>
        </p:nvSpPr>
        <p:spPr>
          <a:xfrm>
            <a:off x="14918436"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2</a:t>
            </a:r>
          </a:p>
        </p:txBody>
      </p:sp>
      <p:sp>
        <p:nvSpPr>
          <p:cNvPr id="10" name="Rounded Rectangle 9"/>
          <p:cNvSpPr/>
          <p:nvPr/>
        </p:nvSpPr>
        <p:spPr>
          <a:xfrm>
            <a:off x="15320772"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11" name="TextBox 10"/>
          <p:cNvSpPr txBox="1"/>
          <p:nvPr/>
        </p:nvSpPr>
        <p:spPr>
          <a:xfrm>
            <a:off x="15320772"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3</a:t>
            </a:r>
          </a:p>
        </p:txBody>
      </p:sp>
      <p:sp>
        <p:nvSpPr>
          <p:cNvPr id="12" name="Rounded Rectangle 11"/>
          <p:cNvSpPr/>
          <p:nvPr/>
        </p:nvSpPr>
        <p:spPr>
          <a:xfrm>
            <a:off x="15723108"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13" name="TextBox 12"/>
          <p:cNvSpPr txBox="1"/>
          <p:nvPr/>
        </p:nvSpPr>
        <p:spPr>
          <a:xfrm>
            <a:off x="15723108"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4</a:t>
            </a:r>
          </a:p>
        </p:txBody>
      </p:sp>
      <p:sp>
        <p:nvSpPr>
          <p:cNvPr id="14" name="Rounded Rectangle 13"/>
          <p:cNvSpPr/>
          <p:nvPr/>
        </p:nvSpPr>
        <p:spPr>
          <a:xfrm>
            <a:off x="16125444" y="1371600"/>
            <a:ext cx="329184" cy="329184"/>
          </a:xfrm>
          <a:prstGeom prst="roundRect">
            <a:avLst>
              <a:gd name="adj" fmla="val 16666"/>
            </a:avLst>
          </a:prstGeom>
          <a:solidFill>
            <a:srgbClr val="4472C4"/>
          </a:solidFill>
          <a:ln w="15875">
            <a:solidFill>
              <a:srgbClr val="4472C4"/>
            </a:solidFill>
          </a:ln>
        </p:spPr>
        <p:txBody>
          <a:bodyPr anchor="ctr" rtlCol="false" lIns="0" tIns="0" rIns="0" bIns="0" wrap="square"/>
          <a:lstStyle/>
          <a:p>
            <a:endParaRPr lang="en-US" sz="1800"/>
          </a:p>
        </p:txBody>
      </p:sp>
      <p:sp>
        <p:nvSpPr>
          <p:cNvPr id="15" name="TextBox 14"/>
          <p:cNvSpPr txBox="1"/>
          <p:nvPr/>
        </p:nvSpPr>
        <p:spPr>
          <a:xfrm>
            <a:off x="16125444"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FFFFFF"/>
                </a:solidFill>
                <a:latin typeface="Nunito Ultra-Bold"/>
                <a:ea typeface="Nunito Ultra-Bold"/>
                <a:cs typeface="Nunito Ultra-Bold"/>
                <a:sym typeface="Nunito Ultra-Bold"/>
              </a:rPr>
              <a:t>5</a:t>
            </a:r>
          </a:p>
        </p:txBody>
      </p:sp>
      <p:sp>
        <p:nvSpPr>
          <p:cNvPr id="16" name="Rounded Rectangle 15"/>
          <p:cNvSpPr/>
          <p:nvPr/>
        </p:nvSpPr>
        <p:spPr>
          <a:xfrm>
            <a:off x="16527780"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17" name="TextBox 16"/>
          <p:cNvSpPr txBox="1"/>
          <p:nvPr/>
        </p:nvSpPr>
        <p:spPr>
          <a:xfrm>
            <a:off x="16527780"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6</a:t>
            </a:r>
          </a:p>
        </p:txBody>
      </p:sp>
      <p:sp>
        <p:nvSpPr>
          <p:cNvPr id="18" name="Rounded Rectangle 17"/>
          <p:cNvSpPr/>
          <p:nvPr/>
        </p:nvSpPr>
        <p:spPr>
          <a:xfrm>
            <a:off x="16930116"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19" name="TextBox 18"/>
          <p:cNvSpPr txBox="1"/>
          <p:nvPr/>
        </p:nvSpPr>
        <p:spPr>
          <a:xfrm>
            <a:off x="16930116"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7</a:t>
            </a:r>
          </a:p>
        </p:txBody>
      </p:sp>
      <p:sp>
        <p:nvSpPr>
          <p:cNvPr id="20" name="TextBox 19"/>
          <p:cNvSpPr txBox="1"/>
          <p:nvPr/>
        </p:nvSpPr>
        <p:spPr>
          <a:xfrm>
            <a:off x="1028700" y="1719072"/>
            <a:ext cx="16230600" cy="730250"/>
          </a:xfrm>
          <a:prstGeom prst="rect">
            <a:avLst/>
          </a:prstGeom>
          <a:noFill/>
        </p:spPr>
        <p:txBody>
          <a:bodyPr anchor="t" rtlCol="false" lIns="0" tIns="0" rIns="0" bIns="0" wrap="square"/>
          <a:lstStyle/>
          <a:p>
            <a:pPr algn="l">
              <a:lnSpc>
                <a:spcPts val="5060"/>
              </a:lnSpc>
              <a:spcBef>
                <a:spcPts val="0"/>
              </a:spcBef>
              <a:buNone/>
            </a:pPr>
            <a:r>
              <a:rPr lang="en-US" sz="4600" b="true" spc="-230">
                <a:solidFill>
                  <a:srgbClr val="111111"/>
                </a:solidFill>
                <a:latin typeface="Roca Two Bold"/>
                <a:ea typeface="Roca Two Bold"/>
                <a:cs typeface="Roca Two Bold"/>
                <a:sym typeface="Roca Two Bold"/>
              </a:rPr>
              <a:t>Proposition 6.1: Cross-Level Consistency</a:t>
            </a:r>
          </a:p>
        </p:txBody>
      </p:sp>
      <p:sp>
        <p:nvSpPr>
          <p:cNvPr id="21" name="Rounded Rectangle 20"/>
          <p:cNvSpPr/>
          <p:nvPr/>
        </p:nvSpPr>
        <p:spPr>
          <a:xfrm>
            <a:off x="1028700" y="2559050"/>
            <a:ext cx="1691553" cy="420624"/>
          </a:xfrm>
          <a:prstGeom prst="roundRect">
            <a:avLst>
              <a:gd name="adj" fmla="val 50000"/>
            </a:avLst>
          </a:prstGeom>
          <a:noFill/>
          <a:ln w="28575">
            <a:solidFill>
              <a:srgbClr val="4472C4"/>
            </a:solidFill>
          </a:ln>
        </p:spPr>
        <p:txBody>
          <a:bodyPr anchor="ctr" rtlCol="false" lIns="45720" tIns="0" rIns="45720" bIns="0" wrap="square"/>
          <a:lstStyle/>
          <a:p>
            <a:pPr algn="ctr">
              <a:lnSpc>
                <a:spcPts val="2160"/>
              </a:lnSpc>
              <a:spcBef>
                <a:spcPts val="0"/>
              </a:spcBef>
              <a:buNone/>
            </a:pPr>
            <a:r>
              <a:rPr lang="en-US" sz="1800" b="true">
                <a:solidFill>
                  <a:srgbClr val="4472C4"/>
                </a:solidFill>
                <a:latin typeface="Nunito Bold"/>
                <a:ea typeface="Nunito Bold"/>
                <a:cs typeface="Nunito Bold"/>
                <a:sym typeface="Nunito Bold"/>
              </a:rPr>
              <a:t>Objectives</a:t>
            </a:r>
          </a:p>
        </p:txBody>
      </p:sp>
      <p:sp>
        <p:nvSpPr>
          <p:cNvPr id="22" name="Rounded Rectangle 21"/>
          <p:cNvSpPr/>
          <p:nvPr/>
        </p:nvSpPr>
        <p:spPr>
          <a:xfrm>
            <a:off x="2848269" y="2559050"/>
            <a:ext cx="1998119" cy="420624"/>
          </a:xfrm>
          <a:prstGeom prst="roundRect">
            <a:avLst>
              <a:gd name="adj" fmla="val 50000"/>
            </a:avLst>
          </a:prstGeom>
          <a:solidFill>
            <a:srgbClr val="4472C4"/>
          </a:solidFill>
          <a:ln>
            <a:noFill/>
          </a:ln>
        </p:spPr>
        <p:txBody>
          <a:bodyPr anchor="ctr" rtlCol="false" lIns="45720" tIns="0" rIns="45720" bIns="0" wrap="square"/>
          <a:lstStyle/>
          <a:p>
            <a:pPr algn="ctr">
              <a:lnSpc>
                <a:spcPts val="2160"/>
              </a:lnSpc>
              <a:spcBef>
                <a:spcPts val="0"/>
              </a:spcBef>
              <a:buNone/>
            </a:pPr>
            <a:r>
              <a:rPr lang="en-US" sz="1800" b="true">
                <a:solidFill>
                  <a:srgbClr val="FFFFFF"/>
                </a:solidFill>
                <a:latin typeface="Nunito Bold"/>
                <a:ea typeface="Nunito Bold"/>
                <a:cs typeface="Nunito Bold"/>
                <a:sym typeface="Nunito Bold"/>
              </a:rPr>
              <a:t>Methodology</a:t>
            </a:r>
          </a:p>
        </p:txBody>
      </p:sp>
      <p:sp>
        <p:nvSpPr>
          <p:cNvPr id="23" name="Rounded Rectangle 22"/>
          <p:cNvSpPr/>
          <p:nvPr/>
        </p:nvSpPr>
        <p:spPr>
          <a:xfrm>
            <a:off x="4974404" y="2559050"/>
            <a:ext cx="1369446" cy="420624"/>
          </a:xfrm>
          <a:prstGeom prst="roundRect">
            <a:avLst>
              <a:gd name="adj" fmla="val 50000"/>
            </a:avLst>
          </a:prstGeom>
          <a:noFill/>
          <a:ln w="28575">
            <a:solidFill>
              <a:srgbClr val="4472C4"/>
            </a:solidFill>
          </a:ln>
        </p:spPr>
        <p:txBody>
          <a:bodyPr anchor="ctr" rtlCol="false" lIns="45720" tIns="0" rIns="45720" bIns="0" wrap="square"/>
          <a:lstStyle/>
          <a:p>
            <a:pPr algn="ctr">
              <a:lnSpc>
                <a:spcPts val="2160"/>
              </a:lnSpc>
              <a:spcBef>
                <a:spcPts val="0"/>
              </a:spcBef>
              <a:buNone/>
            </a:pPr>
            <a:r>
              <a:rPr lang="en-US" sz="1800" b="true">
                <a:solidFill>
                  <a:srgbClr val="4472C4"/>
                </a:solidFill>
                <a:latin typeface="Nunito Bold"/>
                <a:ea typeface="Nunito Bold"/>
                <a:cs typeface="Nunito Bold"/>
                <a:sym typeface="Nunito Bold"/>
              </a:rPr>
              <a:t>Results</a:t>
            </a:r>
          </a:p>
        </p:txBody>
      </p:sp>
      <p:sp>
        <p:nvSpPr>
          <p:cNvPr id="24" name="Rounded Rectangle 23"/>
          <p:cNvSpPr/>
          <p:nvPr/>
        </p:nvSpPr>
        <p:spPr>
          <a:xfrm>
            <a:off x="6471866" y="2559050"/>
            <a:ext cx="1474931" cy="420624"/>
          </a:xfrm>
          <a:prstGeom prst="roundRect">
            <a:avLst>
              <a:gd name="adj" fmla="val 50000"/>
            </a:avLst>
          </a:prstGeom>
          <a:noFill/>
          <a:ln w="28575">
            <a:solidFill>
              <a:srgbClr val="4472C4"/>
            </a:solidFill>
          </a:ln>
        </p:spPr>
        <p:txBody>
          <a:bodyPr anchor="ctr" rtlCol="false" lIns="45720" tIns="0" rIns="45720" bIns="0" wrap="square"/>
          <a:lstStyle/>
          <a:p>
            <a:pPr algn="ctr">
              <a:lnSpc>
                <a:spcPts val="2160"/>
              </a:lnSpc>
              <a:spcBef>
                <a:spcPts val="0"/>
              </a:spcBef>
              <a:buNone/>
            </a:pPr>
            <a:r>
              <a:rPr lang="en-US" sz="1800" b="true">
                <a:solidFill>
                  <a:srgbClr val="4472C4"/>
                </a:solidFill>
                <a:latin typeface="Nunito Bold"/>
                <a:ea typeface="Nunito Bold"/>
                <a:cs typeface="Nunito Bold"/>
                <a:sym typeface="Nunito Bold"/>
              </a:rPr>
              <a:t>Findings</a:t>
            </a:r>
          </a:p>
        </p:txBody>
      </p:sp>
      <p:sp>
        <p:nvSpPr>
          <p:cNvPr id="25" name="Oval 24"/>
          <p:cNvSpPr/>
          <p:nvPr/>
        </p:nvSpPr>
        <p:spPr>
          <a:xfrm>
            <a:off x="1028700" y="3555746"/>
            <a:ext cx="274320" cy="274320"/>
          </a:xfrm>
          <a:prstGeom prst="ellipse">
            <a:avLst/>
          </a:prstGeom>
          <a:solidFill>
            <a:srgbClr val="1F7A8C"/>
          </a:solidFill>
          <a:ln>
            <a:noFill/>
          </a:ln>
        </p:spPr>
        <p:txBody>
          <a:bodyPr anchor="ctr" rtlCol="false" lIns="0" tIns="0" rIns="0" bIns="0" wrap="square"/>
          <a:lstStyle/>
          <a:p>
            <a:pPr algn="ctr">
              <a:lnSpc>
                <a:spcPts val="2860"/>
              </a:lnSpc>
              <a:spcBef>
                <a:spcPts val="0"/>
              </a:spcBef>
              <a:buNone/>
            </a:pPr>
          </a:p>
        </p:txBody>
      </p:sp>
      <mc:AlternateContent xmlns:mc="http://schemas.openxmlformats.org/markup-compatibility/2006">
        <mc:Choice xmlns:a14="http://schemas.microsoft.com/office/drawing/2010/main" Requires="a14">
          <p:sp>
            <p:nvSpPr>
              <p:cNvPr id="26" name="Equation"/>
              <p:cNvSpPr txBox="1"/>
              <p:nvPr/>
            </p:nvSpPr>
            <p:spPr>
              <a:xfrm>
                <a:off x="1440180" y="3363722"/>
                <a:ext cx="3840480" cy="658368"/>
              </a:xfrm>
              <a:prstGeom prst="rect">
                <a:avLst/>
              </a:prstGeom>
              <a:noFill/>
            </p:spPr>
            <p:txBody>
              <a:bodyPr wrap="none" rtlCol="0" anchor="ctr" lIns="0" tIns="0" rIns="0" bIns="0"/>
              <a:lstStyle/>
              <a:p>
                <a:pPr algn="l"/>
                <a14:m xmlns:m="http://schemas.openxmlformats.org/officeDocument/2006/math">
                  <m:oMathPara>
                    <m:oMathParaPr>
                      <m:jc m:val="left"/>
                    </m:oMathParaPr>
                    <m:oMath>
                      <m:sSubSup>
                        <m:sSubSupPr>
                          <m:ctrlPr>
                            <a:rPr lang="en-US" sz="1800" i="1">
                              <a:solidFill>
                                <a:srgbClr val="4472C4"/>
                              </a:solidFill>
                              <a:latin typeface="Cambria Math" panose="02040503050406030204" pitchFamily="18" charset="0"/>
                            </a:rPr>
                          </m:ctrlPr>
                        </m:sSubSupPr>
                        <m:e>
                          <m:r>
                            <a:rPr lang="en-US" sz="1800" i="1">
                              <a:solidFill>
                                <a:srgbClr val="4472C4"/>
                              </a:solidFill>
                              <a:latin typeface="Cambria Math" panose="02040503050406030204" pitchFamily="18" charset="0"/>
                            </a:rPr>
                            <m:t xml:space="preserve">Φ</m:t>
                          </m:r>
                        </m:e>
                        <m:sub>
                          <m:r>
                            <a:rPr lang="en-US" sz="1800" i="1">
                              <a:solidFill>
                                <a:srgbClr val="4472C4"/>
                              </a:solidFill>
                              <a:latin typeface="Cambria Math" panose="02040503050406030204" pitchFamily="18" charset="0"/>
                            </a:rPr>
                            <m:t xml:space="preserve">j</m:t>
                          </m:r>
                        </m:sub>
                        <m:sup>
                          <m:r>
                            <m:rPr>
                              <m:sty m:val="p"/>
                            </m:rPr>
                            <a:rPr lang="en-US" sz="1800">
                              <a:solidFill>
                                <a:srgbClr val="4472C4"/>
                              </a:solidFill>
                              <a:latin typeface="Cambria Math" panose="02040503050406030204" pitchFamily="18" charset="0"/>
                            </a:rPr>
                            <m:t xml:space="preserve">(</m:t>
                          </m:r>
                          <m:r>
                            <a:rPr lang="en-US" sz="1800" i="1">
                              <a:solidFill>
                                <a:srgbClr val="4472C4"/>
                              </a:solidFill>
                              <a:latin typeface="Cambria Math" panose="02040503050406030204" pitchFamily="18" charset="0"/>
                            </a:rPr>
                            <m:t xml:space="preserve">l</m:t>
                          </m:r>
                          <m:r>
                            <m:rPr>
                              <m:sty m:val="p"/>
                            </m:rPr>
                            <a:rPr lang="en-US" sz="1800">
                              <a:solidFill>
                                <a:srgbClr val="4472C4"/>
                              </a:solidFill>
                              <a:latin typeface="Cambria Math" panose="02040503050406030204" pitchFamily="18" charset="0"/>
                            </a:rPr>
                            <m:t xml:space="preserve">,</m:t>
                          </m:r>
                          <m:r>
                            <a:rPr lang="en-US" sz="1800" i="1">
                              <a:solidFill>
                                <a:srgbClr val="4472C4"/>
                              </a:solidFill>
                              <a:latin typeface="Cambria Math" panose="02040503050406030204" pitchFamily="18" charset="0"/>
                            </a:rPr>
                            <m:t xml:space="preserve">c</m:t>
                          </m:r>
                          <m:r>
                            <m:rPr>
                              <m:sty m:val="p"/>
                            </m:rPr>
                            <a:rPr lang="en-US" sz="1800">
                              <a:solidFill>
                                <a:srgbClr val="4472C4"/>
                              </a:solidFill>
                              <a:latin typeface="Cambria Math" panose="02040503050406030204" pitchFamily="18" charset="0"/>
                            </a:rPr>
                            <m:t xml:space="preserve">)</m:t>
                          </m:r>
                        </m:sup>
                      </m:sSubSup>
                      <m:r>
                        <m:rPr>
                          <m:sty m:val="p"/>
                        </m:rPr>
                        <a:rPr lang="en-US" sz="1800">
                          <a:solidFill>
                            <a:srgbClr val="4472C4"/>
                          </a:solidFill>
                          <a:latin typeface="Cambria Math" panose="02040503050406030204" pitchFamily="18" charset="0"/>
                        </a:rPr>
                        <m:t xml:space="preserve">=</m:t>
                      </m:r>
                      <m:sSub>
                        <m:sSubPr>
                          <m:ctrlPr>
                            <a:rPr lang="en-US" sz="1800" i="1">
                              <a:solidFill>
                                <a:srgbClr val="4472C4"/>
                              </a:solidFill>
                              <a:latin typeface="Cambria Math" panose="02040503050406030204" pitchFamily="18" charset="0"/>
                            </a:rPr>
                          </m:ctrlPr>
                        </m:sSubPr>
                        <m:e>
                          <m:r>
                            <m:rPr>
                              <m:scr m:val="double-struck"/>
                              <m:sty m:val="p"/>
                            </m:rPr>
                            <a:rPr lang="en-US" sz="1800">
                              <a:solidFill>
                                <a:srgbClr val="4472C4"/>
                              </a:solidFill>
                              <a:latin typeface="Cambria Math" panose="02040503050406030204" pitchFamily="18" charset="0"/>
                            </a:rPr>
                            <m:t xml:space="preserve">E</m:t>
                          </m:r>
                        </m:e>
                        <m:sub>
                          <m:r>
                            <a:rPr lang="en-US" sz="1800" i="1">
                              <a:solidFill>
                                <a:srgbClr val="4472C4"/>
                              </a:solidFill>
                              <a:latin typeface="Cambria Math" panose="02040503050406030204" pitchFamily="18" charset="0"/>
                            </a:rPr>
                            <m:t xml:space="preserve">x</m:t>
                          </m:r>
                          <m:r>
                            <m:rPr>
                              <m:sty m:val="p"/>
                            </m:rPr>
                            <a:rPr lang="en-US" sz="1800">
                              <a:solidFill>
                                <a:srgbClr val="4472C4"/>
                              </a:solidFill>
                              <a:latin typeface="Cambria Math" panose="02040503050406030204" pitchFamily="18" charset="0"/>
                            </a:rPr>
                            <m:t xml:space="preserve">∈</m:t>
                          </m:r>
                          <m:r>
                            <a:rPr lang="en-US" sz="1800" i="1">
                              <a:solidFill>
                                <a:srgbClr val="4472C4"/>
                              </a:solidFill>
                              <a:latin typeface="Cambria Math" panose="02040503050406030204" pitchFamily="18" charset="0"/>
                            </a:rPr>
                            <m:t xml:space="preserve">c</m:t>
                          </m:r>
                        </m:sub>
                      </m:sSub>
                      <m:d>
                        <m:dPr>
                          <m:begChr m:val="["/>
                          <m:endChr m:val="]"/>
                          <m:ctrlPr>
                            <a:rPr lang="en-US" sz="1800" i="1">
                              <a:solidFill>
                                <a:srgbClr val="4472C4"/>
                              </a:solidFill>
                              <a:latin typeface="Cambria Math" panose="02040503050406030204" pitchFamily="18" charset="0"/>
                            </a:rPr>
                          </m:ctrlPr>
                        </m:dPr>
                        <m:e>
                          <m:r>
                            <m:rPr>
                              <m:sty m:val="p"/>
                            </m:rPr>
                            <a:rPr lang="en-US" sz="1800">
                              <a:solidFill>
                                <a:srgbClr val="4472C4"/>
                              </a:solidFill>
                              <a:latin typeface="Cambria Math" panose="02040503050406030204" pitchFamily="18" charset="0"/>
                            </a:rPr>
                            <m:t xml:space="preserve"> </m:t>
                          </m:r>
                          <m:d>
                            <m:dPr>
                              <m:begChr m:val="|"/>
                              <m:endChr m:val="|"/>
                              <m:ctrlPr>
                                <a:rPr lang="en-US" sz="1800" i="1">
                                  <a:solidFill>
                                    <a:srgbClr val="4472C4"/>
                                  </a:solidFill>
                                  <a:latin typeface="Cambria Math" panose="02040503050406030204" pitchFamily="18" charset="0"/>
                                </a:rPr>
                              </m:ctrlPr>
                            </m:dPr>
                            <m:e>
                              <m:sSubSup>
                                <m:sSubSupPr>
                                  <m:ctrlPr>
                                    <a:rPr lang="en-US" sz="1800" i="1">
                                      <a:solidFill>
                                        <a:srgbClr val="4472C4"/>
                                      </a:solidFill>
                                      <a:latin typeface="Cambria Math" panose="02040503050406030204" pitchFamily="18" charset="0"/>
                                    </a:rPr>
                                  </m:ctrlPr>
                                </m:sSubSupPr>
                                <m:e>
                                  <m:r>
                                    <a:rPr lang="en-US" sz="1800" i="1">
                                      <a:solidFill>
                                        <a:srgbClr val="4472C4"/>
                                      </a:solidFill>
                                      <a:latin typeface="Cambria Math" panose="02040503050406030204" pitchFamily="18" charset="0"/>
                                    </a:rPr>
                                    <m:t xml:space="preserve">φ</m:t>
                                  </m:r>
                                </m:e>
                                <m:sub>
                                  <m:r>
                                    <a:rPr lang="en-US" sz="1800" i="1">
                                      <a:solidFill>
                                        <a:srgbClr val="4472C4"/>
                                      </a:solidFill>
                                      <a:latin typeface="Cambria Math" panose="02040503050406030204" pitchFamily="18" charset="0"/>
                                    </a:rPr>
                                    <m:t xml:space="preserve">j</m:t>
                                  </m:r>
                                </m:sub>
                                <m:sup>
                                  <m:r>
                                    <m:rPr>
                                      <m:sty m:val="p"/>
                                    </m:rPr>
                                    <a:rPr lang="en-US" sz="1800">
                                      <a:solidFill>
                                        <a:srgbClr val="4472C4"/>
                                      </a:solidFill>
                                      <a:latin typeface="Cambria Math" panose="02040503050406030204" pitchFamily="18" charset="0"/>
                                    </a:rPr>
                                    <m:t xml:space="preserve">(</m:t>
                                  </m:r>
                                  <m:r>
                                    <a:rPr lang="en-US" sz="1800" i="1">
                                      <a:solidFill>
                                        <a:srgbClr val="4472C4"/>
                                      </a:solidFill>
                                      <a:latin typeface="Cambria Math" panose="02040503050406030204" pitchFamily="18" charset="0"/>
                                    </a:rPr>
                                    <m:t xml:space="preserve">l</m:t>
                                  </m:r>
                                  <m:r>
                                    <m:rPr>
                                      <m:sty m:val="p"/>
                                    </m:rPr>
                                    <a:rPr lang="en-US" sz="1800">
                                      <a:solidFill>
                                        <a:srgbClr val="4472C4"/>
                                      </a:solidFill>
                                      <a:latin typeface="Cambria Math" panose="02040503050406030204" pitchFamily="18" charset="0"/>
                                    </a:rPr>
                                    <m:t xml:space="preserve">)</m:t>
                                  </m:r>
                                </m:sup>
                              </m:sSubSup>
                              <m:r>
                                <m:rPr>
                                  <m:sty m:val="p"/>
                                </m:rPr>
                                <a:rPr lang="en-US" sz="1800">
                                  <a:solidFill>
                                    <a:srgbClr val="4472C4"/>
                                  </a:solidFill>
                                  <a:latin typeface="Cambria Math" panose="02040503050406030204" pitchFamily="18" charset="0"/>
                                </a:rPr>
                                <m:t xml:space="preserve">(</m:t>
                              </m:r>
                              <m:r>
                                <a:rPr lang="en-US" sz="1800" i="1">
                                  <a:solidFill>
                                    <a:srgbClr val="4472C4"/>
                                  </a:solidFill>
                                  <a:latin typeface="Cambria Math" panose="02040503050406030204" pitchFamily="18" charset="0"/>
                                </a:rPr>
                                <m:t xml:space="preserve">x</m:t>
                              </m:r>
                              <m:r>
                                <m:rPr>
                                  <m:sty m:val="p"/>
                                </m:rPr>
                                <a:rPr lang="en-US" sz="1800">
                                  <a:solidFill>
                                    <a:srgbClr val="4472C4"/>
                                  </a:solidFill>
                                  <a:latin typeface="Cambria Math" panose="02040503050406030204" pitchFamily="18" charset="0"/>
                                </a:rPr>
                                <m:t xml:space="preserve">)</m:t>
                              </m:r>
                            </m:e>
                          </m:d>
                          <m:r>
                            <m:rPr>
                              <m:sty m:val="p"/>
                            </m:rPr>
                            <a:rPr lang="en-US" sz="1800">
                              <a:solidFill>
                                <a:srgbClr val="4472C4"/>
                              </a:solidFill>
                              <a:latin typeface="Cambria Math" panose="02040503050406030204" pitchFamily="18" charset="0"/>
                            </a:rPr>
                            <m:t xml:space="preserve"> </m:t>
                          </m:r>
                        </m:e>
                      </m:d>
                    </m:oMath>
                  </m:oMathPara>
                </a14:m>
                <a:endParaRPr lang="en-US" sz="1800"/>
              </a:p>
            </p:txBody>
          </p:sp>
        </mc:Choice>
        <mc:Fallback>
          <p:sp>
            <p:nvSpPr>
              <p:cNvPr id="26" name="Equation"/>
              <p:cNvSpPr txBox="1"/>
              <p:nvPr/>
            </p:nvSpPr>
            <p:spPr>
              <a:xfrm>
                <a:off x="1440180" y="3363722"/>
                <a:ext cx="3840480" cy="658368"/>
              </a:xfrm>
              <a:prstGeom prst="rect">
                <a:avLst/>
              </a:prstGeom>
              <a:blipFill>
                <a:blip r:embed="rId4"/>
                <a:stretch>
                  <a:fillRect/>
                </a:stretch>
              </a:blipFill>
            </p:spPr>
            <p:txBody>
              <a:bodyPr/>
              <a:lstStyle/>
              <a:p>
                <a:endParaRPr lang="en-US"/>
              </a:p>
            </p:txBody>
          </p:sp>
        </mc:Fallback>
      </mc:AlternateContent>
      <p:sp>
        <p:nvSpPr>
          <p:cNvPr id="27" name="TextBox 26"/>
          <p:cNvSpPr txBox="1"/>
          <p:nvPr/>
        </p:nvSpPr>
        <p:spPr>
          <a:xfrm>
            <a:off x="5463540" y="3363722"/>
            <a:ext cx="3794760" cy="658368"/>
          </a:xfrm>
          <a:prstGeom prst="rect">
            <a:avLst/>
          </a:prstGeom>
          <a:noFill/>
        </p:spPr>
        <p:txBody>
          <a:bodyPr anchor="ctr" rtlCol="false" lIns="0" tIns="0" rIns="0" bIns="0" wrap="square"/>
          <a:lstStyle/>
          <a:p>
            <a:pPr algn="l">
              <a:lnSpc>
                <a:spcPts val="2100"/>
              </a:lnSpc>
              <a:spcBef>
                <a:spcPts val="0"/>
              </a:spcBef>
              <a:buNone/>
            </a:pPr>
            <a:r>
              <a:rPr lang="en-US" sz="1700" b="true">
                <a:solidFill>
                  <a:srgbClr val="111111"/>
                </a:solidFill>
                <a:latin typeface="Nunito Semi-Bold"/>
                <a:ea typeface="Nunito Semi-Bold"/>
                <a:cs typeface="Nunito Semi-Bold"/>
                <a:sym typeface="Nunito Semi-Bold"/>
              </a:rPr>
              <a:t>expected absolute SHAP importance of feature j at level l in cluster c</a:t>
            </a:r>
          </a:p>
        </p:txBody>
      </p:sp>
      <p:sp>
        <p:nvSpPr>
          <p:cNvPr id="28" name="Oval 27"/>
          <p:cNvSpPr/>
          <p:nvPr/>
        </p:nvSpPr>
        <p:spPr>
          <a:xfrm>
            <a:off x="1028700" y="4287266"/>
            <a:ext cx="274320" cy="274320"/>
          </a:xfrm>
          <a:prstGeom prst="ellipse">
            <a:avLst/>
          </a:prstGeom>
          <a:solidFill>
            <a:srgbClr val="1F7A8C"/>
          </a:solidFill>
          <a:ln>
            <a:noFill/>
          </a:ln>
        </p:spPr>
        <p:txBody>
          <a:bodyPr anchor="ctr" rtlCol="false" lIns="0" tIns="0" rIns="0" bIns="0" wrap="square"/>
          <a:lstStyle/>
          <a:p>
            <a:pPr algn="ctr">
              <a:lnSpc>
                <a:spcPts val="2860"/>
              </a:lnSpc>
              <a:spcBef>
                <a:spcPts val="0"/>
              </a:spcBef>
              <a:buNone/>
            </a:pPr>
          </a:p>
        </p:txBody>
      </p:sp>
      <mc:AlternateContent xmlns:mc="http://schemas.openxmlformats.org/markup-compatibility/2006">
        <mc:Choice xmlns:a14="http://schemas.microsoft.com/office/drawing/2010/main" Requires="a14">
          <p:sp>
            <p:nvSpPr>
              <p:cNvPr id="29" name="Equation"/>
              <p:cNvSpPr txBox="1"/>
              <p:nvPr/>
            </p:nvSpPr>
            <p:spPr>
              <a:xfrm>
                <a:off x="1440180" y="4095242"/>
                <a:ext cx="3840480" cy="658368"/>
              </a:xfrm>
              <a:prstGeom prst="rect">
                <a:avLst/>
              </a:prstGeom>
              <a:noFill/>
            </p:spPr>
            <p:txBody>
              <a:bodyPr wrap="none" rtlCol="0" anchor="ctr" lIns="0" tIns="0" rIns="0" bIns="0"/>
              <a:lstStyle/>
              <a:p>
                <a:pPr algn="l"/>
                <a14:m xmlns:m="http://schemas.openxmlformats.org/officeDocument/2006/math">
                  <m:oMathPara>
                    <m:oMathParaPr>
                      <m:jc m:val="left"/>
                    </m:oMathParaPr>
                    <m:oMath>
                      <m:sSub>
                        <m:sSubPr>
                          <m:ctrlPr>
                            <a:rPr lang="en-US" sz="2100" i="1">
                              <a:solidFill>
                                <a:srgbClr val="4472C4"/>
                              </a:solidFill>
                              <a:latin typeface="Cambria Math" panose="02040503050406030204" pitchFamily="18" charset="0"/>
                            </a:rPr>
                          </m:ctrlPr>
                        </m:sSubPr>
                        <m:e>
                          <m:r>
                            <a:rPr lang="en-US" sz="2100" i="1">
                              <a:solidFill>
                                <a:srgbClr val="4472C4"/>
                              </a:solidFill>
                              <a:latin typeface="Cambria Math" panose="02040503050406030204" pitchFamily="18" charset="0"/>
                            </a:rPr>
                            <m:t xml:space="preserve">w</m:t>
                          </m:r>
                        </m:e>
                        <m:sub>
                          <m:r>
                            <a:rPr lang="en-US" sz="2100" i="1">
                              <a:solidFill>
                                <a:srgbClr val="4472C4"/>
                              </a:solidFill>
                              <a:latin typeface="Cambria Math" panose="02040503050406030204" pitchFamily="18" charset="0"/>
                            </a:rPr>
                            <m:t xml:space="preserve">c′</m:t>
                          </m:r>
                        </m:sub>
                      </m:sSub>
                      <m:r>
                        <m:rPr>
                          <m:sty m:val="p"/>
                        </m:rPr>
                        <a:rPr lang="en-US" sz="2100">
                          <a:solidFill>
                            <a:srgbClr val="4472C4"/>
                          </a:solidFill>
                          <a:latin typeface="Cambria Math" panose="02040503050406030204" pitchFamily="18" charset="0"/>
                        </a:rPr>
                        <m:t xml:space="preserve">=|</m:t>
                      </m:r>
                      <m:r>
                        <a:rPr lang="en-US" sz="2100" i="1">
                          <a:solidFill>
                            <a:srgbClr val="4472C4"/>
                          </a:solidFill>
                          <a:latin typeface="Cambria Math" panose="02040503050406030204" pitchFamily="18" charset="0"/>
                        </a:rPr>
                        <m:t xml:space="preserve">c′</m:t>
                      </m:r>
                      <m:r>
                        <m:rPr>
                          <m:sty m:val="p"/>
                        </m:rPr>
                        <a:rPr lang="en-US" sz="2100">
                          <a:solidFill>
                            <a:srgbClr val="4472C4"/>
                          </a:solidFill>
                          <a:latin typeface="Cambria Math" panose="02040503050406030204" pitchFamily="18" charset="0"/>
                        </a:rPr>
                        <m:t xml:space="preserve">| / |</m:t>
                      </m:r>
                      <m:r>
                        <a:rPr lang="en-US" sz="2100" i="1">
                          <a:solidFill>
                            <a:srgbClr val="4472C4"/>
                          </a:solidFill>
                          <a:latin typeface="Cambria Math" panose="02040503050406030204" pitchFamily="18" charset="0"/>
                        </a:rPr>
                        <m:t xml:space="preserve">c</m:t>
                      </m:r>
                      <m:r>
                        <m:rPr>
                          <m:sty m:val="p"/>
                        </m:rPr>
                        <a:rPr lang="en-US" sz="2100">
                          <a:solidFill>
                            <a:srgbClr val="4472C4"/>
                          </a:solidFill>
                          <a:latin typeface="Cambria Math" panose="02040503050406030204" pitchFamily="18" charset="0"/>
                        </a:rPr>
                        <m:t xml:space="preserve">|</m:t>
                      </m:r>
                    </m:oMath>
                  </m:oMathPara>
                </a14:m>
                <a:endParaRPr lang="en-US" sz="2100"/>
              </a:p>
            </p:txBody>
          </p:sp>
        </mc:Choice>
        <mc:Fallback>
          <p:sp>
            <p:nvSpPr>
              <p:cNvPr id="29" name="Equation"/>
              <p:cNvSpPr txBox="1"/>
              <p:nvPr/>
            </p:nvSpPr>
            <p:spPr>
              <a:xfrm>
                <a:off x="1440180" y="4095242"/>
                <a:ext cx="3840480" cy="658368"/>
              </a:xfrm>
              <a:prstGeom prst="rect">
                <a:avLst/>
              </a:prstGeom>
              <a:blipFill>
                <a:blip r:embed="rId5"/>
                <a:stretch>
                  <a:fillRect/>
                </a:stretch>
              </a:blipFill>
            </p:spPr>
            <p:txBody>
              <a:bodyPr/>
              <a:lstStyle/>
              <a:p>
                <a:endParaRPr lang="en-US"/>
              </a:p>
            </p:txBody>
          </p:sp>
        </mc:Fallback>
      </mc:AlternateContent>
      <p:sp>
        <p:nvSpPr>
          <p:cNvPr id="30" name="TextBox 29"/>
          <p:cNvSpPr txBox="1"/>
          <p:nvPr/>
        </p:nvSpPr>
        <p:spPr>
          <a:xfrm>
            <a:off x="5463540" y="4095242"/>
            <a:ext cx="3794760" cy="658368"/>
          </a:xfrm>
          <a:prstGeom prst="rect">
            <a:avLst/>
          </a:prstGeom>
          <a:noFill/>
        </p:spPr>
        <p:txBody>
          <a:bodyPr anchor="ctr" rtlCol="false" lIns="0" tIns="0" rIns="0" bIns="0" wrap="square"/>
          <a:lstStyle/>
          <a:p>
            <a:pPr algn="l">
              <a:lnSpc>
                <a:spcPts val="2100"/>
              </a:lnSpc>
              <a:spcBef>
                <a:spcPts val="0"/>
              </a:spcBef>
              <a:buNone/>
            </a:pPr>
            <a:r>
              <a:rPr lang="en-US" sz="1700" b="true">
                <a:solidFill>
                  <a:srgbClr val="111111"/>
                </a:solidFill>
                <a:latin typeface="Nunito Semi-Bold"/>
                <a:ea typeface="Nunito Semi-Bold"/>
                <a:cs typeface="Nunito Semi-Bold"/>
                <a:sym typeface="Nunito Semi-Bold"/>
              </a:rPr>
              <a:t>relative size of child c′ within parent c</a:t>
            </a:r>
          </a:p>
        </p:txBody>
      </p:sp>
      <p:sp>
        <p:nvSpPr>
          <p:cNvPr id="31" name="TextBox 30"/>
          <p:cNvSpPr txBox="1"/>
          <p:nvPr/>
        </p:nvSpPr>
        <p:spPr>
          <a:xfrm>
            <a:off x="1028700" y="4936490"/>
            <a:ext cx="8229600" cy="365760"/>
          </a:xfrm>
          <a:prstGeom prst="rect">
            <a:avLst/>
          </a:prstGeom>
          <a:noFill/>
        </p:spPr>
        <p:txBody>
          <a:bodyPr anchor="t" rtlCol="false" lIns="0" tIns="0" rIns="0" bIns="0" wrap="square"/>
          <a:lstStyle/>
          <a:p>
            <a:pPr algn="l">
              <a:lnSpc>
                <a:spcPts val="2700"/>
              </a:lnSpc>
              <a:spcBef>
                <a:spcPts val="0"/>
              </a:spcBef>
              <a:buNone/>
            </a:pPr>
            <a:r>
              <a:rPr lang="en-US" sz="2100" b="true">
                <a:solidFill>
                  <a:srgbClr val="111111"/>
                </a:solidFill>
                <a:latin typeface="Nunito Semi-Bold"/>
                <a:ea typeface="Nunito Semi-Bold"/>
                <a:cs typeface="Nunito Semi-Bold"/>
                <a:sym typeface="Nunito Semi-Bold"/>
              </a:rPr>
              <a:t>For a </a:t>
            </a:r>
            <a:r>
              <a:rPr lang="en-US" sz="2100" b="true">
                <a:solidFill>
                  <a:srgbClr val="111111"/>
                </a:solidFill>
                <a:latin typeface="Nunito Bold"/>
                <a:ea typeface="Nunito Bold"/>
                <a:cs typeface="Nunito Bold"/>
                <a:sym typeface="Nunito Bold"/>
              </a:rPr>
              <a:t>strict nested hierarchy</a:t>
            </a:r>
            <a:r>
              <a:rPr lang="en-US" sz="2100" b="true">
                <a:solidFill>
                  <a:srgbClr val="111111"/>
                </a:solidFill>
                <a:latin typeface="Nunito Semi-Bold"/>
                <a:ea typeface="Nunito Semi-Bold"/>
                <a:cs typeface="Nunito Semi-Bold"/>
                <a:sym typeface="Nunito Semi-Bold"/>
              </a:rPr>
              <a:t> on a consistent feature space:</a:t>
            </a:r>
          </a:p>
        </p:txBody>
      </p:sp>
      <p:sp>
        <p:nvSpPr>
          <p:cNvPr id="32" name="Rounded Rectangle 31"/>
          <p:cNvSpPr/>
          <p:nvPr/>
        </p:nvSpPr>
        <p:spPr>
          <a:xfrm>
            <a:off x="1028700" y="5393690"/>
            <a:ext cx="8229600" cy="1508760"/>
          </a:xfrm>
          <a:prstGeom prst="roundRect">
            <a:avLst>
              <a:gd name="adj" fmla="val 12121"/>
            </a:avLst>
          </a:prstGeom>
          <a:solidFill>
            <a:srgbClr val="D9E2F3"/>
          </a:solidFill>
          <a:ln>
            <a:noFill/>
          </a:ln>
        </p:spPr>
        <p:txBody>
          <a:bodyPr anchor="ctr" rtlCol="false" lIns="0" tIns="0" rIns="0" bIns="0" wrap="square"/>
          <a:lstStyle/>
          <a:p>
            <a:endParaRPr lang="en-US" sz="1800"/>
          </a:p>
        </p:txBody>
      </p:sp>
      <mc:AlternateContent xmlns:mc="http://schemas.openxmlformats.org/markup-compatibility/2006">
        <mc:Choice xmlns:a14="http://schemas.microsoft.com/office/drawing/2010/main" Requires="a14">
          <p:sp>
            <p:nvSpPr>
              <p:cNvPr id="33" name="Equation"/>
              <p:cNvSpPr txBox="1"/>
              <p:nvPr/>
            </p:nvSpPr>
            <p:spPr>
              <a:xfrm>
                <a:off x="1211580" y="5393690"/>
                <a:ext cx="7863840" cy="1508760"/>
              </a:xfrm>
              <a:prstGeom prst="rect">
                <a:avLst/>
              </a:prstGeom>
              <a:noFill/>
            </p:spPr>
            <p:txBody>
              <a:bodyPr wrap="none" rtlCol="0" anchor="ctr" lIns="0" tIns="0" rIns="0" bIns="0"/>
              <a:lstStyle/>
              <a:p>
                <a:pPr algn="ctr"/>
                <a14:m xmlns:m="http://schemas.openxmlformats.org/officeDocument/2006/math">
                  <m:oMathPara>
                    <m:oMathParaPr>
                      <m:jc m:val="centerGroup"/>
                    </m:oMathParaPr>
                    <m:oMath>
                      <m:sSubSup>
                        <m:sSubSupPr>
                          <m:ctrlPr>
                            <a:rPr lang="en-US" sz="2550" i="1">
                              <a:solidFill>
                                <a:srgbClr val="4472C4"/>
                              </a:solidFill>
                              <a:latin typeface="Cambria Math" panose="02040503050406030204" pitchFamily="18" charset="0"/>
                            </a:rPr>
                          </m:ctrlPr>
                        </m:sSubSupPr>
                        <m:e>
                          <m:r>
                            <a:rPr lang="en-US" sz="2550" i="1">
                              <a:solidFill>
                                <a:srgbClr val="4472C4"/>
                              </a:solidFill>
                              <a:latin typeface="Cambria Math" panose="02040503050406030204" pitchFamily="18" charset="0"/>
                            </a:rPr>
                            <m:t xml:space="preserve">Φ</m:t>
                          </m:r>
                        </m:e>
                        <m:sub>
                          <m:r>
                            <a:rPr lang="en-US" sz="2550" i="1">
                              <a:solidFill>
                                <a:srgbClr val="4472C4"/>
                              </a:solidFill>
                              <a:latin typeface="Cambria Math" panose="02040503050406030204" pitchFamily="18" charset="0"/>
                            </a:rPr>
                            <m:t xml:space="preserve">j</m:t>
                          </m:r>
                        </m:sub>
                        <m:sup>
                          <m:r>
                            <m:rPr>
                              <m:sty m:val="p"/>
                            </m:rPr>
                            <a:rPr lang="en-US" sz="2550">
                              <a:solidFill>
                                <a:srgbClr val="4472C4"/>
                              </a:solidFill>
                              <a:latin typeface="Cambria Math" panose="02040503050406030204" pitchFamily="18" charset="0"/>
                            </a:rPr>
                            <m:t xml:space="preserve">(</m:t>
                          </m:r>
                          <m:r>
                            <a:rPr lang="en-US" sz="2550" i="1">
                              <a:solidFill>
                                <a:srgbClr val="4472C4"/>
                              </a:solidFill>
                              <a:latin typeface="Cambria Math" panose="02040503050406030204" pitchFamily="18" charset="0"/>
                            </a:rPr>
                            <m:t xml:space="preserve">l</m:t>
                          </m:r>
                          <m:r>
                            <m:rPr>
                              <m:sty m:val="p"/>
                            </m:rPr>
                            <a:rPr lang="en-US" sz="2550">
                              <a:solidFill>
                                <a:srgbClr val="4472C4"/>
                              </a:solidFill>
                              <a:latin typeface="Cambria Math" panose="02040503050406030204" pitchFamily="18" charset="0"/>
                            </a:rPr>
                            <m:t xml:space="preserve">,</m:t>
                          </m:r>
                          <m:r>
                            <a:rPr lang="en-US" sz="2550" i="1">
                              <a:solidFill>
                                <a:srgbClr val="4472C4"/>
                              </a:solidFill>
                              <a:latin typeface="Cambria Math" panose="02040503050406030204" pitchFamily="18" charset="0"/>
                            </a:rPr>
                            <m:t xml:space="preserve">c</m:t>
                          </m:r>
                          <m:r>
                            <m:rPr>
                              <m:sty m:val="p"/>
                            </m:rPr>
                            <a:rPr lang="en-US" sz="2550">
                              <a:solidFill>
                                <a:srgbClr val="4472C4"/>
                              </a:solidFill>
                              <a:latin typeface="Cambria Math" panose="02040503050406030204" pitchFamily="18" charset="0"/>
                            </a:rPr>
                            <m:t xml:space="preserve">)</m:t>
                          </m:r>
                        </m:sup>
                      </m:sSubSup>
                      <m:r>
                        <m:rPr>
                          <m:sty m:val="p"/>
                        </m:rPr>
                        <a:rPr lang="en-US" sz="2550">
                          <a:solidFill>
                            <a:srgbClr val="4472C4"/>
                          </a:solidFill>
                          <a:latin typeface="Cambria Math" panose="02040503050406030204" pitchFamily="18" charset="0"/>
                        </a:rPr>
                        <m:t xml:space="preserve">=</m:t>
                      </m:r>
                      <m:nary>
                        <m:naryPr>
                          <m:chr m:val="∑"/>
                          <m:limLoc m:val="undOvr"/>
                          <m:supHide m:val="1"/>
                          <m:ctrlPr>
                            <a:rPr lang="en-US" sz="2550" i="1">
                              <a:solidFill>
                                <a:srgbClr val="4472C4"/>
                              </a:solidFill>
                              <a:latin typeface="Cambria Math" panose="02040503050406030204" pitchFamily="18" charset="0"/>
                            </a:rPr>
                          </m:ctrlPr>
                        </m:naryPr>
                        <m:sub>
                          <m:r>
                            <a:rPr lang="en-US" sz="2550" i="1">
                              <a:solidFill>
                                <a:srgbClr val="4472C4"/>
                              </a:solidFill>
                              <a:latin typeface="Cambria Math" panose="02040503050406030204" pitchFamily="18" charset="0"/>
                            </a:rPr>
                            <m:t xml:space="preserve">c′</m:t>
                          </m:r>
                          <m:r>
                            <m:rPr>
                              <m:sty m:val="p"/>
                            </m:rPr>
                            <a:rPr lang="en-US" sz="2550">
                              <a:solidFill>
                                <a:srgbClr val="4472C4"/>
                              </a:solidFill>
                              <a:latin typeface="Cambria Math" panose="02040503050406030204" pitchFamily="18" charset="0"/>
                            </a:rPr>
                            <m:t xml:space="preserve">∈child(</m:t>
                          </m:r>
                          <m:r>
                            <a:rPr lang="en-US" sz="2550" i="1">
                              <a:solidFill>
                                <a:srgbClr val="4472C4"/>
                              </a:solidFill>
                              <a:latin typeface="Cambria Math" panose="02040503050406030204" pitchFamily="18" charset="0"/>
                            </a:rPr>
                            <m:t xml:space="preserve">c</m:t>
                          </m:r>
                          <m:r>
                            <m:rPr>
                              <m:sty m:val="p"/>
                            </m:rPr>
                            <a:rPr lang="en-US" sz="2550">
                              <a:solidFill>
                                <a:srgbClr val="4472C4"/>
                              </a:solidFill>
                              <a:latin typeface="Cambria Math" panose="02040503050406030204" pitchFamily="18" charset="0"/>
                            </a:rPr>
                            <m:t xml:space="preserve">)</m:t>
                          </m:r>
                        </m:sub>
                        <m:sup/>
                        <m:e>
                          <m:sSub>
                            <m:sSubPr>
                              <m:ctrlPr>
                                <a:rPr lang="en-US" sz="2550" i="1">
                                  <a:solidFill>
                                    <a:srgbClr val="4472C4"/>
                                  </a:solidFill>
                                  <a:latin typeface="Cambria Math" panose="02040503050406030204" pitchFamily="18" charset="0"/>
                                </a:rPr>
                              </m:ctrlPr>
                            </m:sSubPr>
                            <m:e>
                              <m:r>
                                <a:rPr lang="en-US" sz="2550" i="1">
                                  <a:solidFill>
                                    <a:srgbClr val="4472C4"/>
                                  </a:solidFill>
                                  <a:latin typeface="Cambria Math" panose="02040503050406030204" pitchFamily="18" charset="0"/>
                                </a:rPr>
                                <m:t xml:space="preserve">w</m:t>
                              </m:r>
                            </m:e>
                            <m:sub>
                              <m:r>
                                <a:rPr lang="en-US" sz="2550" i="1">
                                  <a:solidFill>
                                    <a:srgbClr val="4472C4"/>
                                  </a:solidFill>
                                  <a:latin typeface="Cambria Math" panose="02040503050406030204" pitchFamily="18" charset="0"/>
                                </a:rPr>
                                <m:t xml:space="preserve">c′</m:t>
                              </m:r>
                            </m:sub>
                          </m:sSub>
                        </m:e>
                      </m:nary>
                      <m:r>
                        <m:rPr>
                          <m:sty m:val="p"/>
                        </m:rPr>
                        <a:rPr lang="en-US" sz="2550">
                          <a:solidFill>
                            <a:srgbClr val="4472C4"/>
                          </a:solidFill>
                          <a:latin typeface="Cambria Math" panose="02040503050406030204" pitchFamily="18" charset="0"/>
                        </a:rPr>
                        <m:t xml:space="preserve"> </m:t>
                      </m:r>
                      <m:sSubSup>
                        <m:sSubSupPr>
                          <m:ctrlPr>
                            <a:rPr lang="en-US" sz="2550" i="1">
                              <a:solidFill>
                                <a:srgbClr val="4472C4"/>
                              </a:solidFill>
                              <a:latin typeface="Cambria Math" panose="02040503050406030204" pitchFamily="18" charset="0"/>
                            </a:rPr>
                          </m:ctrlPr>
                        </m:sSubSupPr>
                        <m:e>
                          <m:r>
                            <a:rPr lang="en-US" sz="2550" i="1">
                              <a:solidFill>
                                <a:srgbClr val="4472C4"/>
                              </a:solidFill>
                              <a:latin typeface="Cambria Math" panose="02040503050406030204" pitchFamily="18" charset="0"/>
                            </a:rPr>
                            <m:t xml:space="preserve">Φ</m:t>
                          </m:r>
                        </m:e>
                        <m:sub>
                          <m:r>
                            <a:rPr lang="en-US" sz="2550" i="1">
                              <a:solidFill>
                                <a:srgbClr val="4472C4"/>
                              </a:solidFill>
                              <a:latin typeface="Cambria Math" panose="02040503050406030204" pitchFamily="18" charset="0"/>
                            </a:rPr>
                            <m:t xml:space="preserve">j</m:t>
                          </m:r>
                        </m:sub>
                        <m:sup>
                          <m:r>
                            <m:rPr>
                              <m:sty m:val="p"/>
                            </m:rPr>
                            <a:rPr lang="en-US" sz="2550">
                              <a:solidFill>
                                <a:srgbClr val="4472C4"/>
                              </a:solidFill>
                              <a:latin typeface="Cambria Math" panose="02040503050406030204" pitchFamily="18" charset="0"/>
                            </a:rPr>
                            <m:t xml:space="preserve">(</m:t>
                          </m:r>
                          <m:r>
                            <a:rPr lang="en-US" sz="2550" i="1">
                              <a:solidFill>
                                <a:srgbClr val="4472C4"/>
                              </a:solidFill>
                              <a:latin typeface="Cambria Math" panose="02040503050406030204" pitchFamily="18" charset="0"/>
                            </a:rPr>
                            <m:t xml:space="preserve">l</m:t>
                          </m:r>
                          <m:r>
                            <m:rPr>
                              <m:sty m:val="p"/>
                            </m:rPr>
                            <a:rPr lang="en-US" sz="2550">
                              <a:solidFill>
                                <a:srgbClr val="4472C4"/>
                              </a:solidFill>
                              <a:latin typeface="Cambria Math" panose="02040503050406030204" pitchFamily="18" charset="0"/>
                            </a:rPr>
                            <m:t xml:space="preserve">+1, </m:t>
                          </m:r>
                          <m:r>
                            <a:rPr lang="en-US" sz="2550" i="1">
                              <a:solidFill>
                                <a:srgbClr val="4472C4"/>
                              </a:solidFill>
                              <a:latin typeface="Cambria Math" panose="02040503050406030204" pitchFamily="18" charset="0"/>
                            </a:rPr>
                            <m:t xml:space="preserve">c′</m:t>
                          </m:r>
                          <m:r>
                            <m:rPr>
                              <m:sty m:val="p"/>
                            </m:rPr>
                            <a:rPr lang="en-US" sz="2550">
                              <a:solidFill>
                                <a:srgbClr val="4472C4"/>
                              </a:solidFill>
                              <a:latin typeface="Cambria Math" panose="02040503050406030204" pitchFamily="18" charset="0"/>
                            </a:rPr>
                            <m:t xml:space="preserve">)</m:t>
                          </m:r>
                        </m:sup>
                      </m:sSubSup>
                      <m:r>
                        <m:rPr>
                          <m:sty m:val="p"/>
                        </m:rPr>
                        <a:rPr lang="en-US" sz="2550">
                          <a:solidFill>
                            <a:srgbClr val="4472C4"/>
                          </a:solidFill>
                          <a:latin typeface="Cambria Math" panose="02040503050406030204" pitchFamily="18" charset="0"/>
                        </a:rPr>
                        <m:t xml:space="preserve">+</m:t>
                      </m:r>
                      <m:sSub>
                        <m:sSubPr>
                          <m:ctrlPr>
                            <a:rPr lang="en-US" sz="2550" i="1">
                              <a:solidFill>
                                <a:srgbClr val="4472C4"/>
                              </a:solidFill>
                              <a:latin typeface="Cambria Math" panose="02040503050406030204" pitchFamily="18" charset="0"/>
                            </a:rPr>
                          </m:ctrlPr>
                        </m:sSubPr>
                        <m:e>
                          <m:r>
                            <a:rPr lang="en-US" sz="2550" i="1">
                              <a:solidFill>
                                <a:srgbClr val="4472C4"/>
                              </a:solidFill>
                              <a:latin typeface="Cambria Math" panose="02040503050406030204" pitchFamily="18" charset="0"/>
                            </a:rPr>
                            <m:t xml:space="preserve">ε</m:t>
                          </m:r>
                        </m:e>
                        <m:sub>
                          <m:r>
                            <a:rPr lang="en-US" sz="2550" i="1">
                              <a:solidFill>
                                <a:srgbClr val="4472C4"/>
                              </a:solidFill>
                              <a:latin typeface="Cambria Math" panose="02040503050406030204" pitchFamily="18" charset="0"/>
                            </a:rPr>
                            <m:t xml:space="preserve">j</m:t>
                          </m:r>
                        </m:sub>
                      </m:sSub>
                    </m:oMath>
                  </m:oMathPara>
                </a14:m>
                <a:endParaRPr lang="en-US" sz="2550"/>
              </a:p>
            </p:txBody>
          </p:sp>
        </mc:Choice>
        <mc:Fallback>
          <p:sp>
            <p:nvSpPr>
              <p:cNvPr id="33" name="Equation"/>
              <p:cNvSpPr txBox="1"/>
              <p:nvPr/>
            </p:nvSpPr>
            <p:spPr>
              <a:xfrm>
                <a:off x="1211580" y="5393690"/>
                <a:ext cx="7863840" cy="1508760"/>
              </a:xfrm>
              <a:prstGeom prst="rect">
                <a:avLst/>
              </a:prstGeom>
              <a:blipFill>
                <a:blip r:embed="rId6"/>
                <a:stretch>
                  <a:fillRect/>
                </a:stretch>
              </a:blipFill>
            </p:spPr>
            <p:txBody>
              <a:bodyPr/>
              <a:lstStyle/>
              <a:p>
                <a:endParaRPr lang="en-US"/>
              </a:p>
            </p:txBody>
          </p:sp>
        </mc:Fallback>
      </mc:AlternateContent>
      <p:sp>
        <p:nvSpPr>
          <p:cNvPr id="34" name="TextBox 33"/>
          <p:cNvSpPr txBox="1"/>
          <p:nvPr/>
        </p:nvSpPr>
        <p:spPr>
          <a:xfrm>
            <a:off x="1028700" y="7131050"/>
            <a:ext cx="8229600" cy="2177542"/>
          </a:xfrm>
          <a:prstGeom prst="rect">
            <a:avLst/>
          </a:prstGeom>
          <a:noFill/>
        </p:spPr>
        <p:txBody>
          <a:bodyPr anchor="t" rtlCol="false" lIns="0" tIns="0" rIns="0" bIns="0" wrap="square"/>
          <a:lstStyle/>
          <a:p>
            <a:pPr algn="l" marL="274320" indent="-274320">
              <a:lnSpc>
                <a:spcPts val="2782"/>
              </a:lnSpc>
              <a:spcBef>
                <a:spcPts val="0"/>
              </a:spcBef>
              <a:buClr>
                <a:srgbClr val="1F7A8C"/>
              </a:buClr>
              <a:buSzPct val="100000"/>
              <a:buFont typeface="Arial"/>
              <a:buChar char="•"/>
            </a:pPr>
            <a:r>
              <a:rPr lang="en-US" sz="1880" b="true">
                <a:solidFill>
                  <a:srgbClr val="111111"/>
                </a:solidFill>
                <a:latin typeface="Calibri"/>
                <a:ea typeface="Calibri"/>
                <a:cs typeface="Calibri"/>
                <a:sym typeface="Calibri"/>
              </a:rPr>
              <a:t>ε</a:t>
            </a:r>
            <a:r>
              <a:rPr lang="en-US" sz="1880" b="true" baseline="-25000">
                <a:solidFill>
                  <a:srgbClr val="111111"/>
                </a:solidFill>
                <a:latin typeface="Nunito Bold"/>
                <a:ea typeface="Nunito Bold"/>
                <a:cs typeface="Nunito Bold"/>
                <a:sym typeface="Nunito Bold"/>
              </a:rPr>
              <a:t>j</a:t>
            </a:r>
            <a:r>
              <a:rPr lang="en-US" sz="1880" b="true">
                <a:solidFill>
                  <a:srgbClr val="111111"/>
                </a:solidFill>
                <a:latin typeface="Nunito Semi-Bold"/>
                <a:ea typeface="Nunito Semi-Bold"/>
                <a:cs typeface="Nunito Semi-Bold"/>
                <a:sym typeface="Nunito Semi-Bold"/>
              </a:rPr>
              <a:t> is a residual from surrogate mismatch; it vanishes under perfect fidelity.</a:t>
            </a:r>
          </a:p>
          <a:p>
            <a:pPr algn="l" marL="274320" indent="-274320">
              <a:lnSpc>
                <a:spcPts val="2632"/>
              </a:lnSpc>
              <a:spcBef>
                <a:spcPts val="940"/>
              </a:spcBef>
              <a:buClr>
                <a:srgbClr val="1F7A8C"/>
              </a:buClr>
              <a:buSzPct val="100000"/>
              <a:buFont typeface="Arial"/>
              <a:buChar char="•"/>
            </a:pPr>
            <a:r>
              <a:rPr lang="en-US" sz="1880" b="true">
                <a:solidFill>
                  <a:srgbClr val="111111"/>
                </a:solidFill>
                <a:latin typeface="Nunito Semi-Bold"/>
                <a:ea typeface="Nunito Semi-Bold"/>
                <a:cs typeface="Nunito Semi-Bold"/>
                <a:sym typeface="Nunito Semi-Bold"/>
              </a:rPr>
              <a:t>Derived via the </a:t>
            </a:r>
            <a:r>
              <a:rPr lang="en-US" sz="1880" b="true">
                <a:solidFill>
                  <a:srgbClr val="111111"/>
                </a:solidFill>
                <a:latin typeface="Nunito Bold"/>
                <a:ea typeface="Nunito Bold"/>
                <a:cs typeface="Nunito Bold"/>
                <a:sym typeface="Nunito Bold"/>
              </a:rPr>
              <a:t>law of total expectation</a:t>
            </a:r>
            <a:r>
              <a:rPr lang="en-US" sz="1880" b="true">
                <a:solidFill>
                  <a:srgbClr val="111111"/>
                </a:solidFill>
                <a:latin typeface="Nunito Semi-Bold"/>
                <a:ea typeface="Nunito Semi-Bold"/>
                <a:cs typeface="Nunito Semi-Bold"/>
                <a:sym typeface="Nunito Semi-Bold"/>
              </a:rPr>
              <a:t> (children partition the parent).</a:t>
            </a:r>
          </a:p>
          <a:p>
            <a:pPr algn="l" marL="274320" indent="-274320">
              <a:lnSpc>
                <a:spcPts val="2632"/>
              </a:lnSpc>
              <a:spcBef>
                <a:spcPts val="940"/>
              </a:spcBef>
              <a:buClr>
                <a:srgbClr val="1F7A8C"/>
              </a:buClr>
              <a:buSzPct val="100000"/>
              <a:buFont typeface="Arial"/>
              <a:buChar char="•"/>
            </a:pPr>
            <a:r>
              <a:rPr lang="en-US" sz="1880" b="true">
                <a:solidFill>
                  <a:srgbClr val="111111"/>
                </a:solidFill>
                <a:latin typeface="Nunito Semi-Bold"/>
                <a:ea typeface="Nunito Semi-Bold"/>
                <a:cs typeface="Nunito Semi-Bold"/>
                <a:sym typeface="Nunito Semi-Bold"/>
              </a:rPr>
              <a:t>Does </a:t>
            </a:r>
            <a:r>
              <a:rPr lang="en-US" sz="1880" b="true">
                <a:solidFill>
                  <a:srgbClr val="111111"/>
                </a:solidFill>
                <a:latin typeface="Nunito Bold"/>
                <a:ea typeface="Nunito Bold"/>
                <a:cs typeface="Nunito Bold"/>
                <a:sym typeface="Nunito Bold"/>
              </a:rPr>
              <a:t>NOT</a:t>
            </a:r>
            <a:r>
              <a:rPr lang="en-US" sz="1880" b="true">
                <a:solidFill>
                  <a:srgbClr val="111111"/>
                </a:solidFill>
                <a:latin typeface="Nunito Semi-Bold"/>
                <a:ea typeface="Nunito Semi-Bold"/>
                <a:cs typeface="Nunito Semi-Bold"/>
                <a:sym typeface="Nunito Semi-Bold"/>
              </a:rPr>
              <a:t> mean explanations are identical across levels. It means differences can be </a:t>
            </a:r>
            <a:r>
              <a:rPr lang="en-US" sz="1880" b="true">
                <a:solidFill>
                  <a:srgbClr val="111111"/>
                </a:solidFill>
                <a:latin typeface="Nunito Bold"/>
                <a:ea typeface="Nunito Bold"/>
                <a:cs typeface="Nunito Bold"/>
                <a:sym typeface="Nunito Bold"/>
              </a:rPr>
              <a:t>interpreted</a:t>
            </a:r>
            <a:r>
              <a:rPr lang="en-US" sz="1880" b="true">
                <a:solidFill>
                  <a:srgbClr val="111111"/>
                </a:solidFill>
                <a:latin typeface="Nunito Semi-Bold"/>
                <a:ea typeface="Nunito Semi-Bold"/>
                <a:cs typeface="Nunito Semi-Bold"/>
                <a:sym typeface="Nunito Semi-Bold"/>
              </a:rPr>
              <a:t>, not ruled out as inconsistency.</a:t>
            </a:r>
          </a:p>
        </p:txBody>
      </p:sp>
      <p:sp>
        <p:nvSpPr>
          <p:cNvPr id="35" name="Rounded Rectangle 34"/>
          <p:cNvSpPr/>
          <p:nvPr/>
        </p:nvSpPr>
        <p:spPr>
          <a:xfrm>
            <a:off x="9806940" y="3592322"/>
            <a:ext cx="7452360" cy="3017520"/>
          </a:xfrm>
          <a:prstGeom prst="roundRect">
            <a:avLst>
              <a:gd name="adj" fmla="val 10303"/>
            </a:avLst>
          </a:prstGeom>
          <a:solidFill>
            <a:srgbClr val="4472C4"/>
          </a:solidFill>
          <a:ln>
            <a:noFill/>
          </a:ln>
        </p:spPr>
        <p:txBody>
          <a:bodyPr anchor="ctr" rtlCol="false" lIns="0" tIns="0" rIns="0" bIns="0" wrap="square"/>
          <a:lstStyle/>
          <a:p>
            <a:endParaRPr lang="en-US" sz="1800"/>
          </a:p>
        </p:txBody>
      </p:sp>
      <p:sp>
        <p:nvSpPr>
          <p:cNvPr id="36" name="Rounded Rectangle 35"/>
          <p:cNvSpPr/>
          <p:nvPr/>
        </p:nvSpPr>
        <p:spPr>
          <a:xfrm>
            <a:off x="10264140" y="3354578"/>
            <a:ext cx="2678309" cy="438912"/>
          </a:xfrm>
          <a:prstGeom prst="roundRect">
            <a:avLst>
              <a:gd name="adj" fmla="val 50000"/>
            </a:avLst>
          </a:prstGeom>
          <a:solidFill>
            <a:srgbClr val="FFFFFF"/>
          </a:solidFill>
          <a:ln w="28575">
            <a:solidFill>
              <a:srgbClr val="FFFFFF"/>
            </a:solidFill>
          </a:ln>
        </p:spPr>
        <p:txBody>
          <a:bodyPr anchor="ctr" rtlCol="false" lIns="45720" tIns="0" rIns="45720" bIns="0" wrap="square"/>
          <a:lstStyle/>
          <a:p>
            <a:pPr algn="ctr">
              <a:lnSpc>
                <a:spcPts val="2640"/>
              </a:lnSpc>
              <a:spcBef>
                <a:spcPts val="0"/>
              </a:spcBef>
              <a:buNone/>
            </a:pPr>
            <a:r>
              <a:rPr lang="en-US" sz="2200" b="true">
                <a:solidFill>
                  <a:srgbClr val="4472C4"/>
                </a:solidFill>
                <a:latin typeface="Nunito Bold"/>
                <a:ea typeface="Nunito Bold"/>
                <a:cs typeface="Nunito Bold"/>
                <a:sym typeface="Nunito Bold"/>
              </a:rPr>
              <a:t>Why it matters</a:t>
            </a:r>
          </a:p>
        </p:txBody>
      </p:sp>
      <p:sp>
        <p:nvSpPr>
          <p:cNvPr id="37" name="TextBox 36"/>
          <p:cNvSpPr txBox="1"/>
          <p:nvPr/>
        </p:nvSpPr>
        <p:spPr>
          <a:xfrm>
            <a:off x="10264140" y="4232402"/>
            <a:ext cx="6583680" cy="2103120"/>
          </a:xfrm>
          <a:prstGeom prst="rect">
            <a:avLst/>
          </a:prstGeom>
          <a:noFill/>
        </p:spPr>
        <p:txBody>
          <a:bodyPr anchor="t" rtlCol="false" lIns="0" tIns="0" rIns="0" bIns="0" wrap="square"/>
          <a:lstStyle/>
          <a:p>
            <a:pPr algn="l" marL="274320" indent="-274320">
              <a:lnSpc>
                <a:spcPts val="2660"/>
              </a:lnSpc>
              <a:spcBef>
                <a:spcPts val="0"/>
              </a:spcBef>
              <a:buClr>
                <a:srgbClr val="ECC665"/>
              </a:buClr>
              <a:buSzPct val="100000"/>
              <a:buFont typeface="Arial"/>
              <a:buChar char="•"/>
            </a:pPr>
            <a:r>
              <a:rPr lang="en-US" sz="1900" b="true">
                <a:solidFill>
                  <a:srgbClr val="FFFFFF"/>
                </a:solidFill>
                <a:latin typeface="Nunito Semi-Bold"/>
                <a:ea typeface="Nunito Semi-Bold"/>
                <a:cs typeface="Nunito Semi-Bold"/>
                <a:sym typeface="Nunito Semi-Bold"/>
              </a:rPr>
              <a:t>Gives the multi-level explanation a </a:t>
            </a:r>
            <a:r>
              <a:rPr lang="en-US" sz="1900" b="true">
                <a:solidFill>
                  <a:srgbClr val="FFFFFF"/>
                </a:solidFill>
                <a:latin typeface="Nunito Bold"/>
                <a:ea typeface="Nunito Bold"/>
                <a:cs typeface="Nunito Bold"/>
                <a:sym typeface="Nunito Bold"/>
              </a:rPr>
              <a:t>formal backbone</a:t>
            </a:r>
            <a:r>
              <a:rPr lang="en-US" sz="1900" b="true">
                <a:solidFill>
                  <a:srgbClr val="FFFFFF"/>
                </a:solidFill>
                <a:latin typeface="Nunito Semi-Bold"/>
                <a:ea typeface="Nunito Semi-Bold"/>
                <a:cs typeface="Nunito Semi-Bold"/>
                <a:sym typeface="Nunito Semi-Bold"/>
              </a:rPr>
              <a:t>.</a:t>
            </a:r>
          </a:p>
          <a:p>
            <a:pPr algn="l" marL="274320" indent="-274320">
              <a:lnSpc>
                <a:spcPts val="2660"/>
              </a:lnSpc>
              <a:spcBef>
                <a:spcPts val="800"/>
              </a:spcBef>
              <a:buClr>
                <a:srgbClr val="ECC665"/>
              </a:buClr>
              <a:buSzPct val="100000"/>
              <a:buFont typeface="Arial"/>
              <a:buChar char="•"/>
            </a:pPr>
            <a:r>
              <a:rPr lang="en-US" sz="1900" b="true">
                <a:solidFill>
                  <a:srgbClr val="FFFFFF"/>
                </a:solidFill>
                <a:latin typeface="Nunito Semi-Bold"/>
                <a:ea typeface="Nunito Semi-Bold"/>
                <a:cs typeface="Nunito Semi-Bold"/>
                <a:sym typeface="Nunito Semi-Bold"/>
              </a:rPr>
              <a:t>Parent importance is an </a:t>
            </a:r>
            <a:r>
              <a:rPr lang="en-US" sz="1900" b="true">
                <a:solidFill>
                  <a:srgbClr val="FFFFFF"/>
                </a:solidFill>
                <a:latin typeface="Nunito Bold"/>
                <a:ea typeface="Nunito Bold"/>
                <a:cs typeface="Nunito Bold"/>
                <a:sym typeface="Nunito Bold"/>
              </a:rPr>
              <a:t>accounting identity</a:t>
            </a:r>
            <a:r>
              <a:rPr lang="en-US" sz="1900" b="true">
                <a:solidFill>
                  <a:srgbClr val="FFFFFF"/>
                </a:solidFill>
                <a:latin typeface="Nunito Semi-Bold"/>
                <a:ea typeface="Nunito Semi-Bold"/>
                <a:cs typeface="Nunito Semi-Bold"/>
                <a:sym typeface="Nunito Semi-Bold"/>
              </a:rPr>
              <a:t> over the children, not a separate story.</a:t>
            </a:r>
          </a:p>
          <a:p>
            <a:pPr algn="l" marL="274320" indent="-274320">
              <a:lnSpc>
                <a:spcPts val="2660"/>
              </a:lnSpc>
              <a:spcBef>
                <a:spcPts val="800"/>
              </a:spcBef>
              <a:buClr>
                <a:srgbClr val="ECC665"/>
              </a:buClr>
              <a:buSzPct val="100000"/>
              <a:buFont typeface="Arial"/>
              <a:buChar char="•"/>
            </a:pPr>
            <a:r>
              <a:rPr lang="en-US" sz="1900" b="true">
                <a:solidFill>
                  <a:srgbClr val="FFFFFF"/>
                </a:solidFill>
                <a:latin typeface="Nunito Semi-Bold"/>
                <a:ea typeface="Nunito Semi-Bold"/>
                <a:cs typeface="Nunito Semi-Bold"/>
                <a:sym typeface="Nunito Semi-Bold"/>
              </a:rPr>
              <a:t>Turns cross-level differences into </a:t>
            </a:r>
            <a:r>
              <a:rPr lang="en-US" sz="1900" b="true">
                <a:solidFill>
                  <a:srgbClr val="FFFFFF"/>
                </a:solidFill>
                <a:latin typeface="Nunito Bold"/>
                <a:ea typeface="Nunito Bold"/>
                <a:cs typeface="Nunito Bold"/>
                <a:sym typeface="Nunito Bold"/>
              </a:rPr>
              <a:t>interpretable signal</a:t>
            </a:r>
            <a:r>
              <a:rPr lang="en-US" sz="1900" b="true">
                <a:solidFill>
                  <a:srgbClr val="FFFFFF"/>
                </a:solidFill>
                <a:latin typeface="Nunito Semi-Bold"/>
                <a:ea typeface="Nunito Semi-Bold"/>
                <a:cs typeface="Nunito Semi-Bold"/>
                <a:sym typeface="Nunito Semi-Bold"/>
              </a:rPr>
              <a:t>.</a:t>
            </a:r>
          </a:p>
        </p:txBody>
      </p:sp>
      <p:sp>
        <p:nvSpPr>
          <p:cNvPr id="38" name="Rounded Rectangle 37"/>
          <p:cNvSpPr/>
          <p:nvPr/>
        </p:nvSpPr>
        <p:spPr>
          <a:xfrm>
            <a:off x="9806940" y="6929882"/>
            <a:ext cx="3589020" cy="2378710"/>
          </a:xfrm>
          <a:prstGeom prst="roundRect">
            <a:avLst>
              <a:gd name="adj" fmla="val 11532"/>
            </a:avLst>
          </a:prstGeom>
          <a:solidFill>
            <a:srgbClr val="F6ECDF"/>
          </a:solidFill>
          <a:ln>
            <a:noFill/>
          </a:ln>
        </p:spPr>
        <p:txBody>
          <a:bodyPr anchor="ctr" rtlCol="false" lIns="137160" tIns="91440" rIns="137160" bIns="91440" wrap="square"/>
          <a:lstStyle/>
          <a:p>
            <a:pPr algn="ctr">
              <a:lnSpc>
                <a:spcPts val="3740"/>
              </a:lnSpc>
              <a:spcBef>
                <a:spcPts val="0"/>
              </a:spcBef>
              <a:buNone/>
            </a:pPr>
            <a:r>
              <a:rPr lang="en-US" sz="3400" b="true">
                <a:solidFill>
                  <a:srgbClr val="4472C4"/>
                </a:solidFill>
                <a:latin typeface="Nunito Ultra-Bold"/>
                <a:ea typeface="Nunito Ultra-Bold"/>
                <a:cs typeface="Nunito Ultra-Bold"/>
                <a:sym typeface="Nunito Ultra-Bold"/>
              </a:rPr>
              <a:t>383,585</a:t>
            </a:r>
          </a:p>
          <a:p>
            <a:pPr algn="ctr">
              <a:lnSpc>
                <a:spcPts val="2125"/>
              </a:lnSpc>
              <a:spcBef>
                <a:spcPts val="400"/>
              </a:spcBef>
              <a:buNone/>
            </a:pPr>
            <a:r>
              <a:rPr lang="en-US" sz="1700" b="true">
                <a:solidFill>
                  <a:srgbClr val="111111"/>
                </a:solidFill>
                <a:latin typeface="Nunito Semi-Bold"/>
                <a:ea typeface="Nunito Semi-Bold"/>
                <a:cs typeface="Nunito Semi-Bold"/>
                <a:sym typeface="Nunito Semi-Bold"/>
              </a:rPr>
              <a:t>hourly records · </a:t>
            </a:r>
            <a:r>
              <a:rPr lang="en-US" sz="1700" b="true">
                <a:solidFill>
                  <a:srgbClr val="111111"/>
                </a:solidFill>
                <a:latin typeface="Nunito Bold"/>
                <a:ea typeface="Nunito Bold"/>
                <a:cs typeface="Nunito Bold"/>
                <a:sym typeface="Nunito Bold"/>
              </a:rPr>
              <a:t>11</a:t>
            </a:r>
            <a:r>
              <a:rPr lang="en-US" sz="1700" b="true">
                <a:solidFill>
                  <a:srgbClr val="111111"/>
                </a:solidFill>
                <a:latin typeface="Nunito Semi-Bold"/>
                <a:ea typeface="Nunito Semi-Bold"/>
                <a:cs typeface="Nunito Semi-Bold"/>
                <a:sym typeface="Nunito Semi-Bold"/>
              </a:rPr>
              <a:t> variables</a:t>
            </a:r>
          </a:p>
        </p:txBody>
      </p:sp>
      <p:sp>
        <p:nvSpPr>
          <p:cNvPr id="39" name="Rounded Rectangle 38"/>
          <p:cNvSpPr/>
          <p:nvPr/>
        </p:nvSpPr>
        <p:spPr>
          <a:xfrm>
            <a:off x="13670280" y="6929882"/>
            <a:ext cx="3589020" cy="2378710"/>
          </a:xfrm>
          <a:prstGeom prst="roundRect">
            <a:avLst>
              <a:gd name="adj" fmla="val 11532"/>
            </a:avLst>
          </a:prstGeom>
          <a:solidFill>
            <a:srgbClr val="F6ECDF"/>
          </a:solidFill>
          <a:ln>
            <a:noFill/>
          </a:ln>
        </p:spPr>
        <p:txBody>
          <a:bodyPr anchor="ctr" rtlCol="false" lIns="137160" tIns="91440" rIns="137160" bIns="91440" wrap="square"/>
          <a:lstStyle/>
          <a:p>
            <a:pPr algn="ctr">
              <a:lnSpc>
                <a:spcPts val="3740"/>
              </a:lnSpc>
              <a:spcBef>
                <a:spcPts val="0"/>
              </a:spcBef>
              <a:buNone/>
            </a:pPr>
            <a:r>
              <a:rPr lang="en-US" sz="3400" b="true">
                <a:solidFill>
                  <a:srgbClr val="1F7A8C"/>
                </a:solidFill>
                <a:latin typeface="Nunito Ultra-Bold"/>
                <a:ea typeface="Nunito Ultra-Bold"/>
                <a:cs typeface="Nunito Ultra-Bold"/>
                <a:sym typeface="Nunito Ultra-Bold"/>
              </a:rPr>
              <a:t>3 </a:t>
            </a:r>
            <a:r>
              <a:rPr lang="en-US" sz="3400" b="true">
                <a:solidFill>
                  <a:srgbClr val="1F7A8C"/>
                </a:solidFill>
                <a:latin typeface="Calibri"/>
                <a:ea typeface="Calibri"/>
                <a:cs typeface="Calibri"/>
                <a:sym typeface="Calibri"/>
              </a:rPr>
              <a:t>→ </a:t>
            </a:r>
            <a:r>
              <a:rPr lang="en-US" sz="3400" b="true">
                <a:solidFill>
                  <a:srgbClr val="1F7A8C"/>
                </a:solidFill>
                <a:latin typeface="Nunito Ultra-Bold"/>
                <a:ea typeface="Nunito Ultra-Bold"/>
                <a:cs typeface="Nunito Ultra-Bold"/>
                <a:sym typeface="Nunito Ultra-Bold"/>
              </a:rPr>
              <a:t>9</a:t>
            </a:r>
          </a:p>
          <a:p>
            <a:pPr algn="ctr">
              <a:lnSpc>
                <a:spcPts val="2125"/>
              </a:lnSpc>
              <a:spcBef>
                <a:spcPts val="400"/>
              </a:spcBef>
              <a:buNone/>
            </a:pPr>
            <a:r>
              <a:rPr lang="en-US" sz="1700" b="true">
                <a:solidFill>
                  <a:srgbClr val="111111"/>
                </a:solidFill>
                <a:latin typeface="Nunito Semi-Bold"/>
                <a:ea typeface="Nunito Semi-Bold"/>
                <a:cs typeface="Nunito Semi-Bold"/>
                <a:sym typeface="Nunito Semi-Bold"/>
              </a:rPr>
              <a:t>coarse regimes </a:t>
            </a:r>
            <a:r>
              <a:rPr lang="en-US" sz="1700" b="true">
                <a:solidFill>
                  <a:srgbClr val="111111"/>
                </a:solidFill>
                <a:latin typeface="Calibri"/>
                <a:ea typeface="Calibri"/>
                <a:cs typeface="Calibri"/>
                <a:sym typeface="Calibri"/>
              </a:rPr>
              <a:t>→ </a:t>
            </a:r>
            <a:r>
              <a:rPr lang="en-US" sz="1700" b="true">
                <a:solidFill>
                  <a:srgbClr val="111111"/>
                </a:solidFill>
                <a:latin typeface="Nunito Semi-Bold"/>
                <a:ea typeface="Nunito Semi-Bold"/>
                <a:cs typeface="Nunito Semi-Bold"/>
                <a:sym typeface="Nunito Semi-Bold"/>
              </a:rPr>
              <a:t>nested sub-clusters</a:t>
            </a:r>
          </a:p>
        </p:txBody>
      </p:sp>
    </p:spTree>
  </p:cSld>
  <p:clrMapOvr>
    <a:masterClrMapping/>
  </p:clrMapOvr>
</p:sld>
</file>

<file path=ppt/slides/slide5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pic>
        <p:nvPicPr>
          <p:cNvPr id="2" name="Picture 1" descr="ensias_logo.jpg"/>
          <p:cNvPicPr>
            <a:picLocks noChangeAspect="1"/>
          </p:cNvPicPr>
          <p:nvPr/>
        </p:nvPicPr>
        <p:blipFill>
          <a:blip r:embed="rId2"/>
          <a:stretch>
            <a:fillRect/>
          </a:stretch>
        </p:blipFill>
        <p:spPr>
          <a:xfrm>
            <a:off x="1028700" y="9674352"/>
            <a:ext cx="542964" cy="384048"/>
          </a:xfrm>
          <a:prstGeom prst="rect">
            <a:avLst/>
          </a:prstGeom>
        </p:spPr>
      </p:pic>
      <p:sp>
        <p:nvSpPr>
          <p:cNvPr id="3" name="TextBox 2"/>
          <p:cNvSpPr txBox="1"/>
          <p:nvPr/>
        </p:nvSpPr>
        <p:spPr>
          <a:xfrm>
            <a:off x="1577340" y="9601200"/>
            <a:ext cx="14493240" cy="566928"/>
          </a:xfrm>
          <a:prstGeom prst="rect">
            <a:avLst/>
          </a:prstGeom>
          <a:noFill/>
        </p:spPr>
        <p:txBody>
          <a:bodyPr anchor="ctr" rtlCol="false" lIns="0" tIns="0" rIns="0" bIns="0" wrap="square"/>
          <a:lstStyle/>
          <a:p>
            <a:pPr algn="l">
              <a:lnSpc>
                <a:spcPts val="1200"/>
              </a:lnSpc>
              <a:spcBef>
                <a:spcPts val="0"/>
              </a:spcBef>
              <a:buNone/>
            </a:pPr>
            <a:r>
              <a:rPr lang="en-US" sz="1000" b="true">
                <a:solidFill>
                  <a:srgbClr val="8A8378"/>
                </a:solidFill>
                <a:latin typeface="Nunito Semi-Bold"/>
                <a:ea typeface="Nunito Semi-Bold"/>
                <a:cs typeface="Nunito Semi-Bold"/>
                <a:sym typeface="Nunito Semi-Bold"/>
              </a:rPr>
              <a:t>[17] Rousseeuw, P. J. Silhouettes: A Graphical Aid to the Interpretation and Validation of Cluster Analysis. J. Comput. Appl. Math. 20, 53–65 (1987).   [19] Cortez, P. et al. Wine Quality. UCI Machine Learning Repository (2009).  ·  Dua, D. &amp; Taniskidou, E. Beijing Multi-Site Air Quality Data. UCI Machine Learning Repository (2017).</a:t>
            </a:r>
          </a:p>
        </p:txBody>
      </p:sp>
      <p:sp>
        <p:nvSpPr>
          <p:cNvPr id="4" name="TextBox 3"/>
          <p:cNvSpPr txBox="1"/>
          <p:nvPr/>
        </p:nvSpPr>
        <p:spPr>
          <a:xfrm>
            <a:off x="16162020" y="9692640"/>
            <a:ext cx="1097280" cy="329184"/>
          </a:xfrm>
          <a:prstGeom prst="rect">
            <a:avLst/>
          </a:prstGeom>
          <a:noFill/>
        </p:spPr>
        <p:txBody>
          <a:bodyPr anchor="t" rtlCol="false" lIns="0" tIns="0" rIns="0" bIns="0" wrap="square"/>
          <a:lstStyle/>
          <a:p>
            <a:pPr algn="r">
              <a:lnSpc>
                <a:spcPts val="2200"/>
              </a:lnSpc>
              <a:spcBef>
                <a:spcPts val="0"/>
              </a:spcBef>
              <a:buNone/>
            </a:pPr>
            <a:r>
              <a:rPr lang="en-US" sz="1800" b="true">
                <a:solidFill>
                  <a:srgbClr val="111111"/>
                </a:solidFill>
                <a:latin typeface="Nunito Ultra-Bold"/>
                <a:ea typeface="Nunito Ultra-Bold"/>
                <a:cs typeface="Nunito Ultra-Bold"/>
                <a:sym typeface="Nunito Ultra-Bold"/>
              </a:rPr>
              <a:t>43</a:t>
            </a:r>
          </a:p>
        </p:txBody>
      </p:sp>
      <p:sp>
        <p:nvSpPr>
          <p:cNvPr id="5" name="TextBox 4"/>
          <p:cNvSpPr txBox="1"/>
          <p:nvPr/>
        </p:nvSpPr>
        <p:spPr>
          <a:xfrm>
            <a:off x="1028700" y="1389888"/>
            <a:ext cx="12938760" cy="329184"/>
          </a:xfrm>
          <a:prstGeom prst="rect">
            <a:avLst/>
          </a:prstGeom>
          <a:noFill/>
        </p:spPr>
        <p:txBody>
          <a:bodyPr anchor="t" rtlCol="false" lIns="0" tIns="0" rIns="0" bIns="0" wrap="square"/>
          <a:lstStyle/>
          <a:p>
            <a:pPr algn="l">
              <a:lnSpc>
                <a:spcPts val="2000"/>
              </a:lnSpc>
              <a:spcBef>
                <a:spcPts val="0"/>
              </a:spcBef>
              <a:buNone/>
            </a:pPr>
            <a:r>
              <a:rPr lang="en-US" sz="1500" b="true" spc="160">
                <a:solidFill>
                  <a:srgbClr val="1F7A8C"/>
                </a:solidFill>
                <a:latin typeface="Nunito Ultra-Bold"/>
                <a:ea typeface="Nunito Ultra-Bold"/>
                <a:cs typeface="Nunito Ultra-Bold"/>
                <a:sym typeface="Nunito Ultra-Bold"/>
              </a:rPr>
              <a:t>CONTRIBUTION II: MULTI-LEVEL XAI FOR LARGE-SCALE CLUSTERING</a:t>
            </a:r>
          </a:p>
        </p:txBody>
      </p:sp>
      <p:sp>
        <p:nvSpPr>
          <p:cNvPr id="6" name="Rounded Rectangle 5"/>
          <p:cNvSpPr/>
          <p:nvPr/>
        </p:nvSpPr>
        <p:spPr>
          <a:xfrm>
            <a:off x="14516100"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7" name="TextBox 6"/>
          <p:cNvSpPr txBox="1"/>
          <p:nvPr/>
        </p:nvSpPr>
        <p:spPr>
          <a:xfrm>
            <a:off x="14516100"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1</a:t>
            </a:r>
          </a:p>
        </p:txBody>
      </p:sp>
      <p:sp>
        <p:nvSpPr>
          <p:cNvPr id="8" name="Rounded Rectangle 7"/>
          <p:cNvSpPr/>
          <p:nvPr/>
        </p:nvSpPr>
        <p:spPr>
          <a:xfrm>
            <a:off x="14918436"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9" name="TextBox 8"/>
          <p:cNvSpPr txBox="1"/>
          <p:nvPr/>
        </p:nvSpPr>
        <p:spPr>
          <a:xfrm>
            <a:off x="14918436"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2</a:t>
            </a:r>
          </a:p>
        </p:txBody>
      </p:sp>
      <p:sp>
        <p:nvSpPr>
          <p:cNvPr id="10" name="Rounded Rectangle 9"/>
          <p:cNvSpPr/>
          <p:nvPr/>
        </p:nvSpPr>
        <p:spPr>
          <a:xfrm>
            <a:off x="15320772"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11" name="TextBox 10"/>
          <p:cNvSpPr txBox="1"/>
          <p:nvPr/>
        </p:nvSpPr>
        <p:spPr>
          <a:xfrm>
            <a:off x="15320772"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3</a:t>
            </a:r>
          </a:p>
        </p:txBody>
      </p:sp>
      <p:sp>
        <p:nvSpPr>
          <p:cNvPr id="12" name="Rounded Rectangle 11"/>
          <p:cNvSpPr/>
          <p:nvPr/>
        </p:nvSpPr>
        <p:spPr>
          <a:xfrm>
            <a:off x="15723108"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13" name="TextBox 12"/>
          <p:cNvSpPr txBox="1"/>
          <p:nvPr/>
        </p:nvSpPr>
        <p:spPr>
          <a:xfrm>
            <a:off x="15723108"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4</a:t>
            </a:r>
          </a:p>
        </p:txBody>
      </p:sp>
      <p:sp>
        <p:nvSpPr>
          <p:cNvPr id="14" name="Rounded Rectangle 13"/>
          <p:cNvSpPr/>
          <p:nvPr/>
        </p:nvSpPr>
        <p:spPr>
          <a:xfrm>
            <a:off x="16125444" y="1371600"/>
            <a:ext cx="329184" cy="329184"/>
          </a:xfrm>
          <a:prstGeom prst="roundRect">
            <a:avLst>
              <a:gd name="adj" fmla="val 16666"/>
            </a:avLst>
          </a:prstGeom>
          <a:solidFill>
            <a:srgbClr val="4472C4"/>
          </a:solidFill>
          <a:ln w="15875">
            <a:solidFill>
              <a:srgbClr val="4472C4"/>
            </a:solidFill>
          </a:ln>
        </p:spPr>
        <p:txBody>
          <a:bodyPr anchor="ctr" rtlCol="false" lIns="0" tIns="0" rIns="0" bIns="0" wrap="square"/>
          <a:lstStyle/>
          <a:p>
            <a:endParaRPr lang="en-US" sz="1800"/>
          </a:p>
        </p:txBody>
      </p:sp>
      <p:sp>
        <p:nvSpPr>
          <p:cNvPr id="15" name="TextBox 14"/>
          <p:cNvSpPr txBox="1"/>
          <p:nvPr/>
        </p:nvSpPr>
        <p:spPr>
          <a:xfrm>
            <a:off x="16125444"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FFFFFF"/>
                </a:solidFill>
                <a:latin typeface="Nunito Ultra-Bold"/>
                <a:ea typeface="Nunito Ultra-Bold"/>
                <a:cs typeface="Nunito Ultra-Bold"/>
                <a:sym typeface="Nunito Ultra-Bold"/>
              </a:rPr>
              <a:t>5</a:t>
            </a:r>
          </a:p>
        </p:txBody>
      </p:sp>
      <p:sp>
        <p:nvSpPr>
          <p:cNvPr id="16" name="Rounded Rectangle 15"/>
          <p:cNvSpPr/>
          <p:nvPr/>
        </p:nvSpPr>
        <p:spPr>
          <a:xfrm>
            <a:off x="16527780"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17" name="TextBox 16"/>
          <p:cNvSpPr txBox="1"/>
          <p:nvPr/>
        </p:nvSpPr>
        <p:spPr>
          <a:xfrm>
            <a:off x="16527780"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6</a:t>
            </a:r>
          </a:p>
        </p:txBody>
      </p:sp>
      <p:sp>
        <p:nvSpPr>
          <p:cNvPr id="18" name="Rounded Rectangle 17"/>
          <p:cNvSpPr/>
          <p:nvPr/>
        </p:nvSpPr>
        <p:spPr>
          <a:xfrm>
            <a:off x="16930116"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19" name="TextBox 18"/>
          <p:cNvSpPr txBox="1"/>
          <p:nvPr/>
        </p:nvSpPr>
        <p:spPr>
          <a:xfrm>
            <a:off x="16930116"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7</a:t>
            </a:r>
          </a:p>
        </p:txBody>
      </p:sp>
      <p:sp>
        <p:nvSpPr>
          <p:cNvPr id="20" name="TextBox 19"/>
          <p:cNvSpPr txBox="1"/>
          <p:nvPr/>
        </p:nvSpPr>
        <p:spPr>
          <a:xfrm>
            <a:off x="1028700" y="1719072"/>
            <a:ext cx="16230600" cy="730250"/>
          </a:xfrm>
          <a:prstGeom prst="rect">
            <a:avLst/>
          </a:prstGeom>
          <a:noFill/>
        </p:spPr>
        <p:txBody>
          <a:bodyPr anchor="t" rtlCol="false" lIns="0" tIns="0" rIns="0" bIns="0" wrap="square"/>
          <a:lstStyle/>
          <a:p>
            <a:pPr algn="l">
              <a:lnSpc>
                <a:spcPts val="5060"/>
              </a:lnSpc>
              <a:spcBef>
                <a:spcPts val="0"/>
              </a:spcBef>
              <a:buNone/>
            </a:pPr>
            <a:r>
              <a:rPr lang="en-US" sz="4600" b="true" spc="-230">
                <a:solidFill>
                  <a:srgbClr val="111111"/>
                </a:solidFill>
                <a:latin typeface="Roca Two Bold"/>
                <a:ea typeface="Roca Two Bold"/>
                <a:cs typeface="Roca Two Bold"/>
                <a:sym typeface="Roca Two Bold"/>
              </a:rPr>
              <a:t>Evaluation Protocol</a:t>
            </a:r>
          </a:p>
        </p:txBody>
      </p:sp>
      <p:sp>
        <p:nvSpPr>
          <p:cNvPr id="21" name="Rounded Rectangle 20"/>
          <p:cNvSpPr/>
          <p:nvPr/>
        </p:nvSpPr>
        <p:spPr>
          <a:xfrm>
            <a:off x="1028700" y="2559050"/>
            <a:ext cx="1691553" cy="420624"/>
          </a:xfrm>
          <a:prstGeom prst="roundRect">
            <a:avLst>
              <a:gd name="adj" fmla="val 50000"/>
            </a:avLst>
          </a:prstGeom>
          <a:noFill/>
          <a:ln w="28575">
            <a:solidFill>
              <a:srgbClr val="4472C4"/>
            </a:solidFill>
          </a:ln>
        </p:spPr>
        <p:txBody>
          <a:bodyPr anchor="ctr" rtlCol="false" lIns="45720" tIns="0" rIns="45720" bIns="0" wrap="square"/>
          <a:lstStyle/>
          <a:p>
            <a:pPr algn="ctr">
              <a:lnSpc>
                <a:spcPts val="2160"/>
              </a:lnSpc>
              <a:spcBef>
                <a:spcPts val="0"/>
              </a:spcBef>
              <a:buNone/>
            </a:pPr>
            <a:r>
              <a:rPr lang="en-US" sz="1800" b="true">
                <a:solidFill>
                  <a:srgbClr val="4472C4"/>
                </a:solidFill>
                <a:latin typeface="Nunito Bold"/>
                <a:ea typeface="Nunito Bold"/>
                <a:cs typeface="Nunito Bold"/>
                <a:sym typeface="Nunito Bold"/>
              </a:rPr>
              <a:t>Objectives</a:t>
            </a:r>
          </a:p>
        </p:txBody>
      </p:sp>
      <p:sp>
        <p:nvSpPr>
          <p:cNvPr id="22" name="Rounded Rectangle 21"/>
          <p:cNvSpPr/>
          <p:nvPr/>
        </p:nvSpPr>
        <p:spPr>
          <a:xfrm>
            <a:off x="2848269" y="2559050"/>
            <a:ext cx="1998119" cy="420624"/>
          </a:xfrm>
          <a:prstGeom prst="roundRect">
            <a:avLst>
              <a:gd name="adj" fmla="val 50000"/>
            </a:avLst>
          </a:prstGeom>
          <a:noFill/>
          <a:ln w="28575">
            <a:solidFill>
              <a:srgbClr val="4472C4"/>
            </a:solidFill>
          </a:ln>
        </p:spPr>
        <p:txBody>
          <a:bodyPr anchor="ctr" rtlCol="false" lIns="45720" tIns="0" rIns="45720" bIns="0" wrap="square"/>
          <a:lstStyle/>
          <a:p>
            <a:pPr algn="ctr">
              <a:lnSpc>
                <a:spcPts val="2160"/>
              </a:lnSpc>
              <a:spcBef>
                <a:spcPts val="0"/>
              </a:spcBef>
              <a:buNone/>
            </a:pPr>
            <a:r>
              <a:rPr lang="en-US" sz="1800" b="true">
                <a:solidFill>
                  <a:srgbClr val="4472C4"/>
                </a:solidFill>
                <a:latin typeface="Nunito Bold"/>
                <a:ea typeface="Nunito Bold"/>
                <a:cs typeface="Nunito Bold"/>
                <a:sym typeface="Nunito Bold"/>
              </a:rPr>
              <a:t>Methodology</a:t>
            </a:r>
          </a:p>
        </p:txBody>
      </p:sp>
      <p:sp>
        <p:nvSpPr>
          <p:cNvPr id="23" name="Rounded Rectangle 22"/>
          <p:cNvSpPr/>
          <p:nvPr/>
        </p:nvSpPr>
        <p:spPr>
          <a:xfrm>
            <a:off x="4974404" y="2559050"/>
            <a:ext cx="1369446" cy="420624"/>
          </a:xfrm>
          <a:prstGeom prst="roundRect">
            <a:avLst>
              <a:gd name="adj" fmla="val 50000"/>
            </a:avLst>
          </a:prstGeom>
          <a:solidFill>
            <a:srgbClr val="4472C4"/>
          </a:solidFill>
          <a:ln>
            <a:noFill/>
          </a:ln>
        </p:spPr>
        <p:txBody>
          <a:bodyPr anchor="ctr" rtlCol="false" lIns="45720" tIns="0" rIns="45720" bIns="0" wrap="square"/>
          <a:lstStyle/>
          <a:p>
            <a:pPr algn="ctr">
              <a:lnSpc>
                <a:spcPts val="2160"/>
              </a:lnSpc>
              <a:spcBef>
                <a:spcPts val="0"/>
              </a:spcBef>
              <a:buNone/>
            </a:pPr>
            <a:r>
              <a:rPr lang="en-US" sz="1800" b="true">
                <a:solidFill>
                  <a:srgbClr val="FFFFFF"/>
                </a:solidFill>
                <a:latin typeface="Nunito Bold"/>
                <a:ea typeface="Nunito Bold"/>
                <a:cs typeface="Nunito Bold"/>
                <a:sym typeface="Nunito Bold"/>
              </a:rPr>
              <a:t>Results</a:t>
            </a:r>
          </a:p>
        </p:txBody>
      </p:sp>
      <p:sp>
        <p:nvSpPr>
          <p:cNvPr id="24" name="Rounded Rectangle 23"/>
          <p:cNvSpPr/>
          <p:nvPr/>
        </p:nvSpPr>
        <p:spPr>
          <a:xfrm>
            <a:off x="6471866" y="2559050"/>
            <a:ext cx="1474931" cy="420624"/>
          </a:xfrm>
          <a:prstGeom prst="roundRect">
            <a:avLst>
              <a:gd name="adj" fmla="val 50000"/>
            </a:avLst>
          </a:prstGeom>
          <a:noFill/>
          <a:ln w="28575">
            <a:solidFill>
              <a:srgbClr val="4472C4"/>
            </a:solidFill>
          </a:ln>
        </p:spPr>
        <p:txBody>
          <a:bodyPr anchor="ctr" rtlCol="false" lIns="45720" tIns="0" rIns="45720" bIns="0" wrap="square"/>
          <a:lstStyle/>
          <a:p>
            <a:pPr algn="ctr">
              <a:lnSpc>
                <a:spcPts val="2160"/>
              </a:lnSpc>
              <a:spcBef>
                <a:spcPts val="0"/>
              </a:spcBef>
              <a:buNone/>
            </a:pPr>
            <a:r>
              <a:rPr lang="en-US" sz="1800" b="true">
                <a:solidFill>
                  <a:srgbClr val="4472C4"/>
                </a:solidFill>
                <a:latin typeface="Nunito Bold"/>
                <a:ea typeface="Nunito Bold"/>
                <a:cs typeface="Nunito Bold"/>
                <a:sym typeface="Nunito Bold"/>
              </a:rPr>
              <a:t>Findings</a:t>
            </a:r>
          </a:p>
        </p:txBody>
      </p:sp>
      <p:graphicFrame>
        <p:nvGraphicFramePr>
          <p:cNvPr id="25" name="Table 24"/>
          <p:cNvGraphicFramePr>
            <a:graphicFrameLocks noGrp="1"/>
          </p:cNvGraphicFramePr>
          <p:nvPr/>
        </p:nvGraphicFramePr>
        <p:xfrm>
          <a:off x="1028700" y="3363722"/>
          <a:ext cx="9966960" cy="4845304"/>
        </p:xfrm>
        <a:graphic>
          <a:graphicData uri="http://schemas.openxmlformats.org/drawingml/2006/table">
            <a:tbl>
              <a:tblPr firstRow="0" bandRow="0" firstCol="0" lastRow="0" lastCol="0" bandCol="0">
                <a:tableStyleId>{2D5ABB26-0587-4C30-8999-92F81FD0307C}</a:tableStyleId>
              </a:tblPr>
              <a:tblGrid>
                <a:gridCol w="2377440"/>
                <a:gridCol w="7589520"/>
              </a:tblGrid>
              <a:tr h="548640">
                <a:tc>
                  <a:txBody>
                    <a:bodyPr anchor="ctr" rtlCol="false" lIns="0" tIns="0" rIns="0" bIns="0" wrap="square"/>
                    <a:lstStyle/>
                    <a:p>
                      <a:pPr algn="l">
                        <a:lnSpc>
                          <a:spcPts val="2210"/>
                        </a:lnSpc>
                        <a:spcBef>
                          <a:spcPts val="0"/>
                        </a:spcBef>
                        <a:buNone/>
                      </a:pPr>
                      <a:r>
                        <a:rPr lang="en-US" sz="1700" b="true">
                          <a:solidFill>
                            <a:srgbClr val="FFFFFF"/>
                          </a:solidFill>
                          <a:latin typeface="Nunito Bold"/>
                          <a:ea typeface="Nunito Bold"/>
                          <a:cs typeface="Nunito Bold"/>
                          <a:sym typeface="Nunito Bold"/>
                        </a:rPr>
                        <a:t>Step</a:t>
                      </a:r>
                    </a:p>
                  </a:txBody>
                  <a:tcPr marL="82296" marR="82296" marT="45720" marB="45720" anchor="ctr">
                    <a:lnL w="12700" cap="flat" cmpd="sng" algn="ctr">
                      <a:solidFill>
                        <a:srgbClr val="4472C4"/>
                      </a:solidFill>
                      <a:prstDash val="solid"/>
                    </a:lnL>
                    <a:lnR w="12700" cap="flat" cmpd="sng" algn="ctr">
                      <a:solidFill>
                        <a:srgbClr val="4472C4"/>
                      </a:solidFill>
                      <a:prstDash val="solid"/>
                    </a:lnR>
                    <a:lnT w="12700" cap="flat" cmpd="sng" algn="ctr">
                      <a:solidFill>
                        <a:srgbClr val="4472C4"/>
                      </a:solidFill>
                      <a:prstDash val="solid"/>
                    </a:lnT>
                    <a:lnB w="12700" cap="flat" cmpd="sng" algn="ctr">
                      <a:solidFill>
                        <a:srgbClr val="4472C4"/>
                      </a:solidFill>
                      <a:prstDash val="solid"/>
                    </a:lnB>
                    <a:solidFill>
                      <a:srgbClr val="4472C4"/>
                    </a:solidFill>
                  </a:tcPr>
                </a:tc>
                <a:tc>
                  <a:txBody>
                    <a:bodyPr anchor="ctr" rtlCol="false" lIns="0" tIns="0" rIns="0" bIns="0" wrap="square"/>
                    <a:lstStyle/>
                    <a:p>
                      <a:pPr algn="l">
                        <a:lnSpc>
                          <a:spcPts val="2210"/>
                        </a:lnSpc>
                        <a:spcBef>
                          <a:spcPts val="0"/>
                        </a:spcBef>
                        <a:buNone/>
                      </a:pPr>
                      <a:r>
                        <a:rPr lang="en-US" sz="1700" b="true">
                          <a:solidFill>
                            <a:srgbClr val="FFFFFF"/>
                          </a:solidFill>
                          <a:latin typeface="Nunito Bold"/>
                          <a:ea typeface="Nunito Bold"/>
                          <a:cs typeface="Nunito Bold"/>
                          <a:sym typeface="Nunito Bold"/>
                        </a:rPr>
                        <a:t>Setting used in this contribution</a:t>
                      </a:r>
                    </a:p>
                  </a:txBody>
                  <a:tcPr marL="82296" marR="82296" marT="45720" marB="45720" anchor="ctr">
                    <a:lnL w="12700" cap="flat" cmpd="sng" algn="ctr">
                      <a:solidFill>
                        <a:srgbClr val="4472C4"/>
                      </a:solidFill>
                      <a:prstDash val="solid"/>
                    </a:lnL>
                    <a:lnR w="12700" cap="flat" cmpd="sng" algn="ctr">
                      <a:solidFill>
                        <a:srgbClr val="4472C4"/>
                      </a:solidFill>
                      <a:prstDash val="solid"/>
                    </a:lnR>
                    <a:lnT w="12700" cap="flat" cmpd="sng" algn="ctr">
                      <a:solidFill>
                        <a:srgbClr val="4472C4"/>
                      </a:solidFill>
                      <a:prstDash val="solid"/>
                    </a:lnT>
                    <a:lnB w="12700" cap="flat" cmpd="sng" algn="ctr">
                      <a:solidFill>
                        <a:srgbClr val="4472C4"/>
                      </a:solidFill>
                      <a:prstDash val="solid"/>
                    </a:lnB>
                    <a:solidFill>
                      <a:srgbClr val="4472C4"/>
                    </a:solidFill>
                  </a:tcPr>
                </a:tc>
              </a:tr>
              <a:tr h="548640">
                <a:tc>
                  <a:txBody>
                    <a:bodyPr anchor="ctr" rtlCol="false" lIns="0" tIns="0" rIns="0" bIns="0" wrap="square"/>
                    <a:lstStyle/>
                    <a:p>
                      <a:pPr algn="l">
                        <a:lnSpc>
                          <a:spcPts val="2210"/>
                        </a:lnSpc>
                        <a:spcBef>
                          <a:spcPts val="0"/>
                        </a:spcBef>
                        <a:buNone/>
                      </a:pPr>
                      <a:r>
                        <a:rPr lang="en-US" sz="1700" b="true">
                          <a:solidFill>
                            <a:srgbClr val="111111"/>
                          </a:solidFill>
                          <a:latin typeface="Nunito Bold"/>
                          <a:ea typeface="Nunito Bold"/>
                          <a:cs typeface="Nunito Bold"/>
                          <a:sym typeface="Nunito Bold"/>
                        </a:rPr>
                        <a:t>Dataset</a:t>
                      </a:r>
                    </a:p>
                  </a:txBody>
                  <a:tcPr marL="82296" marR="82296"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c>
                  <a:txBody>
                    <a:bodyPr anchor="ctr" rtlCol="false" lIns="0" tIns="0" rIns="0" bIns="0" wrap="square"/>
                    <a:lstStyle/>
                    <a:p>
                      <a:pPr algn="l">
                        <a:lnSpc>
                          <a:spcPts val="2210"/>
                        </a:lnSpc>
                        <a:spcBef>
                          <a:spcPts val="0"/>
                        </a:spcBef>
                        <a:buNone/>
                      </a:pPr>
                      <a:r>
                        <a:rPr lang="en-US" sz="1700" b="true">
                          <a:solidFill>
                            <a:srgbClr val="111111"/>
                          </a:solidFill>
                          <a:latin typeface="Nunito Semi-Bold"/>
                          <a:ea typeface="Nunito Semi-Bold"/>
                          <a:cs typeface="Nunito Semi-Bold"/>
                          <a:sym typeface="Nunito Semi-Bold"/>
                        </a:rPr>
                        <a:t>Beijing Multi-Site Air Quality, 383,585 hourly records × 11 variables</a:t>
                      </a:r>
                    </a:p>
                  </a:txBody>
                  <a:tcPr marL="82296" marR="82296"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r>
              <a:tr h="776732">
                <a:tc>
                  <a:txBody>
                    <a:bodyPr anchor="ctr" rtlCol="false" lIns="0" tIns="0" rIns="0" bIns="0" wrap="square"/>
                    <a:lstStyle/>
                    <a:p>
                      <a:pPr algn="l">
                        <a:lnSpc>
                          <a:spcPts val="2210"/>
                        </a:lnSpc>
                        <a:spcBef>
                          <a:spcPts val="0"/>
                        </a:spcBef>
                        <a:buNone/>
                      </a:pPr>
                      <a:r>
                        <a:rPr lang="en-US" sz="1700" b="true">
                          <a:solidFill>
                            <a:srgbClr val="111111"/>
                          </a:solidFill>
                          <a:latin typeface="Nunito Bold"/>
                          <a:ea typeface="Nunito Bold"/>
                          <a:cs typeface="Nunito Bold"/>
                          <a:sym typeface="Nunito Bold"/>
                        </a:rPr>
                        <a:t>Level 1</a:t>
                      </a:r>
                    </a:p>
                  </a:txBody>
                  <a:tcPr marL="82296" marR="82296"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6ECDF"/>
                    </a:solidFill>
                  </a:tcPr>
                </a:tc>
                <a:tc>
                  <a:txBody>
                    <a:bodyPr anchor="ctr" rtlCol="false" lIns="0" tIns="0" rIns="0" bIns="0" wrap="square"/>
                    <a:lstStyle/>
                    <a:p>
                      <a:pPr algn="l">
                        <a:lnSpc>
                          <a:spcPts val="2210"/>
                        </a:lnSpc>
                        <a:spcBef>
                          <a:spcPts val="0"/>
                        </a:spcBef>
                        <a:buNone/>
                      </a:pPr>
                      <a:r>
                        <a:rPr lang="en-US" sz="1700" b="true">
                          <a:solidFill>
                            <a:srgbClr val="111111"/>
                          </a:solidFill>
                          <a:latin typeface="Nunito Semi-Bold"/>
                          <a:ea typeface="Nunito Semi-Bold"/>
                          <a:cs typeface="Nunito Semi-Bold"/>
                          <a:sym typeface="Nunito Semi-Bold"/>
                        </a:rPr>
                        <a:t>K-Means++ on the full dataset; k chosen by elbow, Silhouette and Davies–Bouldin</a:t>
                      </a:r>
                    </a:p>
                  </a:txBody>
                  <a:tcPr marL="82296" marR="82296"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6ECDF"/>
                    </a:solidFill>
                  </a:tcPr>
                </a:tc>
              </a:tr>
              <a:tr h="548640">
                <a:tc>
                  <a:txBody>
                    <a:bodyPr anchor="ctr" rtlCol="false" lIns="0" tIns="0" rIns="0" bIns="0" wrap="square"/>
                    <a:lstStyle/>
                    <a:p>
                      <a:pPr algn="l">
                        <a:lnSpc>
                          <a:spcPts val="2210"/>
                        </a:lnSpc>
                        <a:spcBef>
                          <a:spcPts val="0"/>
                        </a:spcBef>
                        <a:buNone/>
                      </a:pPr>
                      <a:r>
                        <a:rPr lang="en-US" sz="1700" b="true">
                          <a:solidFill>
                            <a:srgbClr val="111111"/>
                          </a:solidFill>
                          <a:latin typeface="Nunito Bold"/>
                          <a:ea typeface="Nunito Bold"/>
                          <a:cs typeface="Nunito Bold"/>
                          <a:sym typeface="Nunito Bold"/>
                        </a:rPr>
                        <a:t>Level 2</a:t>
                      </a:r>
                    </a:p>
                  </a:txBody>
                  <a:tcPr marL="82296" marR="82296"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c>
                  <a:txBody>
                    <a:bodyPr anchor="ctr" rtlCol="false" lIns="0" tIns="0" rIns="0" bIns="0" wrap="square"/>
                    <a:lstStyle/>
                    <a:p>
                      <a:pPr algn="l">
                        <a:lnSpc>
                          <a:spcPts val="2210"/>
                        </a:lnSpc>
                        <a:spcBef>
                          <a:spcPts val="0"/>
                        </a:spcBef>
                        <a:buNone/>
                      </a:pPr>
                      <a:r>
                        <a:rPr lang="en-US" sz="1700" b="true">
                          <a:solidFill>
                            <a:srgbClr val="111111"/>
                          </a:solidFill>
                          <a:latin typeface="Nunito Semi-Bold"/>
                          <a:ea typeface="Nunito Semi-Bold"/>
                          <a:cs typeface="Nunito Semi-Bold"/>
                          <a:sym typeface="Nunito Semi-Bold"/>
                        </a:rPr>
                        <a:t>Each coarse cluster split again into sub-clusters (3 </a:t>
                      </a:r>
                      <a:r>
                        <a:rPr lang="en-US" sz="1700" b="true">
                          <a:solidFill>
                            <a:srgbClr val="111111"/>
                          </a:solidFill>
                          <a:latin typeface="Calibri"/>
                          <a:ea typeface="Calibri"/>
                          <a:cs typeface="Calibri"/>
                          <a:sym typeface="Calibri"/>
                        </a:rPr>
                        <a:t>→ </a:t>
                      </a:r>
                      <a:r>
                        <a:rPr lang="en-US" sz="1700" b="true">
                          <a:solidFill>
                            <a:srgbClr val="111111"/>
                          </a:solidFill>
                          <a:latin typeface="Nunito Semi-Bold"/>
                          <a:ea typeface="Nunito Semi-Bold"/>
                          <a:cs typeface="Nunito Semi-Bold"/>
                          <a:sym typeface="Nunito Semi-Bold"/>
                        </a:rPr>
                        <a:t>9)</a:t>
                      </a:r>
                    </a:p>
                  </a:txBody>
                  <a:tcPr marL="82296" marR="82296"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r>
              <a:tr h="548640">
                <a:tc>
                  <a:txBody>
                    <a:bodyPr anchor="ctr" rtlCol="false" lIns="0" tIns="0" rIns="0" bIns="0" wrap="square"/>
                    <a:lstStyle/>
                    <a:p>
                      <a:pPr algn="l">
                        <a:lnSpc>
                          <a:spcPts val="2210"/>
                        </a:lnSpc>
                        <a:spcBef>
                          <a:spcPts val="0"/>
                        </a:spcBef>
                        <a:buNone/>
                      </a:pPr>
                      <a:r>
                        <a:rPr lang="en-US" sz="1700" b="true">
                          <a:solidFill>
                            <a:srgbClr val="111111"/>
                          </a:solidFill>
                          <a:latin typeface="Nunito Bold"/>
                          <a:ea typeface="Nunito Bold"/>
                          <a:cs typeface="Nunito Bold"/>
                          <a:sym typeface="Nunito Bold"/>
                        </a:rPr>
                        <a:t>Surrogates</a:t>
                      </a:r>
                    </a:p>
                  </a:txBody>
                  <a:tcPr marL="82296" marR="82296"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6ECDF"/>
                    </a:solidFill>
                  </a:tcPr>
                </a:tc>
                <a:tc>
                  <a:txBody>
                    <a:bodyPr anchor="ctr" rtlCol="false" lIns="0" tIns="0" rIns="0" bIns="0" wrap="square"/>
                    <a:lstStyle/>
                    <a:p>
                      <a:pPr algn="l">
                        <a:lnSpc>
                          <a:spcPts val="2210"/>
                        </a:lnSpc>
                        <a:spcBef>
                          <a:spcPts val="0"/>
                        </a:spcBef>
                        <a:buNone/>
                      </a:pPr>
                      <a:r>
                        <a:rPr lang="en-US" sz="1700" b="true">
                          <a:solidFill>
                            <a:srgbClr val="111111"/>
                          </a:solidFill>
                          <a:latin typeface="Nunito Semi-Bold"/>
                          <a:ea typeface="Nunito Semi-Bold"/>
                          <a:cs typeface="Nunito Semi-Bold"/>
                          <a:sym typeface="Nunito Semi-Bold"/>
                        </a:rPr>
                        <a:t>One LightGBM surrogate per level, five-fold cross-validation</a:t>
                      </a:r>
                    </a:p>
                  </a:txBody>
                  <a:tcPr marL="82296" marR="82296"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6ECDF"/>
                    </a:solidFill>
                  </a:tcPr>
                </a:tc>
              </a:tr>
              <a:tr h="548640">
                <a:tc>
                  <a:txBody>
                    <a:bodyPr anchor="ctr" rtlCol="false" lIns="0" tIns="0" rIns="0" bIns="0" wrap="square"/>
                    <a:lstStyle/>
                    <a:p>
                      <a:pPr algn="l">
                        <a:lnSpc>
                          <a:spcPts val="2210"/>
                        </a:lnSpc>
                        <a:spcBef>
                          <a:spcPts val="0"/>
                        </a:spcBef>
                        <a:buNone/>
                      </a:pPr>
                      <a:r>
                        <a:rPr lang="en-US" sz="1700" b="true">
                          <a:solidFill>
                            <a:srgbClr val="111111"/>
                          </a:solidFill>
                          <a:latin typeface="Nunito Bold"/>
                          <a:ea typeface="Nunito Bold"/>
                          <a:cs typeface="Nunito Bold"/>
                          <a:sym typeface="Nunito Bold"/>
                        </a:rPr>
                        <a:t>Attribution</a:t>
                      </a:r>
                    </a:p>
                  </a:txBody>
                  <a:tcPr marL="82296" marR="82296"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c>
                  <a:txBody>
                    <a:bodyPr anchor="ctr" rtlCol="false" lIns="0" tIns="0" rIns="0" bIns="0" wrap="square"/>
                    <a:lstStyle/>
                    <a:p>
                      <a:pPr algn="l">
                        <a:lnSpc>
                          <a:spcPts val="2210"/>
                        </a:lnSpc>
                        <a:spcBef>
                          <a:spcPts val="0"/>
                        </a:spcBef>
                        <a:buNone/>
                      </a:pPr>
                      <a:r>
                        <a:rPr lang="en-US" sz="1700" b="true">
                          <a:solidFill>
                            <a:srgbClr val="111111"/>
                          </a:solidFill>
                          <a:latin typeface="Nunito Semi-Bold"/>
                          <a:ea typeface="Nunito Semi-Bold"/>
                          <a:cs typeface="Nunito Semi-Bold"/>
                          <a:sym typeface="Nunito Semi-Bold"/>
                        </a:rPr>
                        <a:t>Exact TreeSHAP per level, always in the original 11-variable space</a:t>
                      </a:r>
                    </a:p>
                  </a:txBody>
                  <a:tcPr marL="82296" marR="82296"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r>
              <a:tr h="548640">
                <a:tc>
                  <a:txBody>
                    <a:bodyPr anchor="ctr" rtlCol="false" lIns="0" tIns="0" rIns="0" bIns="0" wrap="square"/>
                    <a:lstStyle/>
                    <a:p>
                      <a:pPr algn="l">
                        <a:lnSpc>
                          <a:spcPts val="2210"/>
                        </a:lnSpc>
                        <a:spcBef>
                          <a:spcPts val="0"/>
                        </a:spcBef>
                        <a:buNone/>
                      </a:pPr>
                      <a:r>
                        <a:rPr lang="en-US" sz="1700" b="true">
                          <a:solidFill>
                            <a:srgbClr val="111111"/>
                          </a:solidFill>
                          <a:latin typeface="Nunito Bold"/>
                          <a:ea typeface="Nunito Bold"/>
                          <a:cs typeface="Nunito Bold"/>
                          <a:sym typeface="Nunito Bold"/>
                        </a:rPr>
                        <a:t>Aggregation</a:t>
                      </a:r>
                    </a:p>
                  </a:txBody>
                  <a:tcPr marL="82296" marR="82296"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6ECDF"/>
                    </a:solidFill>
                  </a:tcPr>
                </a:tc>
                <a:tc>
                  <a:txBody>
                    <a:bodyPr anchor="ctr" rtlCol="false" lIns="0" tIns="0" rIns="0" bIns="0" wrap="square"/>
                    <a:lstStyle/>
                    <a:p>
                      <a:pPr algn="l">
                        <a:lnSpc>
                          <a:spcPts val="2210"/>
                        </a:lnSpc>
                        <a:spcBef>
                          <a:spcPts val="0"/>
                        </a:spcBef>
                        <a:buNone/>
                      </a:pPr>
                      <a:r>
                        <a:rPr lang="en-US" sz="1700" b="true">
                          <a:solidFill>
                            <a:srgbClr val="111111"/>
                          </a:solidFill>
                          <a:latin typeface="Nunito Semi-Bold"/>
                          <a:ea typeface="Nunito Semi-Bold"/>
                          <a:cs typeface="Nunito Semi-Bold"/>
                          <a:sym typeface="Nunito Semi-Bold"/>
                        </a:rPr>
                        <a:t>Size-weighted cross-level aggregation (Proposition 6.1)</a:t>
                      </a:r>
                    </a:p>
                  </a:txBody>
                  <a:tcPr marL="82296" marR="82296"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6ECDF"/>
                    </a:solidFill>
                  </a:tcPr>
                </a:tc>
              </a:tr>
              <a:tr h="776732">
                <a:tc>
                  <a:txBody>
                    <a:bodyPr anchor="ctr" rtlCol="false" lIns="0" tIns="0" rIns="0" bIns="0" wrap="square"/>
                    <a:lstStyle/>
                    <a:p>
                      <a:pPr algn="l">
                        <a:lnSpc>
                          <a:spcPts val="2210"/>
                        </a:lnSpc>
                        <a:spcBef>
                          <a:spcPts val="0"/>
                        </a:spcBef>
                        <a:buNone/>
                      </a:pPr>
                      <a:r>
                        <a:rPr lang="en-US" sz="1700" b="true">
                          <a:solidFill>
                            <a:srgbClr val="111111"/>
                          </a:solidFill>
                          <a:latin typeface="Nunito Bold"/>
                          <a:ea typeface="Nunito Bold"/>
                          <a:cs typeface="Nunito Bold"/>
                          <a:sym typeface="Nunito Bold"/>
                        </a:rPr>
                        <a:t>Sensitivity</a:t>
                      </a:r>
                    </a:p>
                  </a:txBody>
                  <a:tcPr marL="82296" marR="82296"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c>
                  <a:txBody>
                    <a:bodyPr anchor="ctr" rtlCol="false" lIns="0" tIns="0" rIns="0" bIns="0" wrap="square"/>
                    <a:lstStyle/>
                    <a:p>
                      <a:pPr algn="l">
                        <a:lnSpc>
                          <a:spcPts val="2210"/>
                        </a:lnSpc>
                        <a:spcBef>
                          <a:spcPts val="0"/>
                        </a:spcBef>
                        <a:buNone/>
                      </a:pPr>
                      <a:r>
                        <a:rPr lang="en-US" sz="1700" b="true">
                          <a:solidFill>
                            <a:srgbClr val="111111"/>
                          </a:solidFill>
                          <a:latin typeface="Nunito Semi-Bold"/>
                          <a:ea typeface="Nunito Semi-Bold"/>
                          <a:cs typeface="Nunito Semi-Bold"/>
                          <a:sym typeface="Nunito Semi-Bold"/>
                        </a:rPr>
                        <a:t>Repeat with small changes in k, projection dimension and surrogate depth</a:t>
                      </a:r>
                    </a:p>
                  </a:txBody>
                  <a:tcPr marL="82296" marR="82296"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r>
            </a:tbl>
          </a:graphicData>
        </a:graphic>
      </p:graphicFrame>
      <p:sp>
        <p:nvSpPr>
          <p:cNvPr id="26" name="Rounded Rectangle 25"/>
          <p:cNvSpPr/>
          <p:nvPr/>
        </p:nvSpPr>
        <p:spPr>
          <a:xfrm>
            <a:off x="11452860" y="3592322"/>
            <a:ext cx="5806440" cy="5670550"/>
          </a:xfrm>
          <a:prstGeom prst="roundRect">
            <a:avLst>
              <a:gd name="adj" fmla="val 5482"/>
            </a:avLst>
          </a:prstGeom>
          <a:solidFill>
            <a:srgbClr val="4472C4"/>
          </a:solidFill>
          <a:ln>
            <a:noFill/>
          </a:ln>
        </p:spPr>
        <p:txBody>
          <a:bodyPr anchor="ctr" rtlCol="false" lIns="0" tIns="0" rIns="0" bIns="0" wrap="square"/>
          <a:lstStyle/>
          <a:p>
            <a:endParaRPr lang="en-US" sz="1800"/>
          </a:p>
        </p:txBody>
      </p:sp>
      <p:sp>
        <p:nvSpPr>
          <p:cNvPr id="27" name="Rounded Rectangle 26"/>
          <p:cNvSpPr/>
          <p:nvPr/>
        </p:nvSpPr>
        <p:spPr>
          <a:xfrm>
            <a:off x="11910060" y="3354578"/>
            <a:ext cx="3849870" cy="438912"/>
          </a:xfrm>
          <a:prstGeom prst="roundRect">
            <a:avLst>
              <a:gd name="adj" fmla="val 50000"/>
            </a:avLst>
          </a:prstGeom>
          <a:solidFill>
            <a:srgbClr val="FFFFFF"/>
          </a:solidFill>
          <a:ln w="28575">
            <a:solidFill>
              <a:srgbClr val="FFFFFF"/>
            </a:solidFill>
          </a:ln>
        </p:spPr>
        <p:txBody>
          <a:bodyPr anchor="ctr" rtlCol="false" lIns="45720" tIns="0" rIns="45720" bIns="0" wrap="square"/>
          <a:lstStyle/>
          <a:p>
            <a:pPr algn="ctr">
              <a:lnSpc>
                <a:spcPts val="2640"/>
              </a:lnSpc>
              <a:spcBef>
                <a:spcPts val="0"/>
              </a:spcBef>
              <a:buNone/>
            </a:pPr>
            <a:r>
              <a:rPr lang="en-US" sz="2200" b="true">
                <a:solidFill>
                  <a:srgbClr val="4472C4"/>
                </a:solidFill>
                <a:latin typeface="Nunito Bold"/>
                <a:ea typeface="Nunito Bold"/>
                <a:cs typeface="Nunito Bold"/>
                <a:sym typeface="Nunito Bold"/>
              </a:rPr>
              <a:t>What counts as success</a:t>
            </a:r>
          </a:p>
        </p:txBody>
      </p:sp>
      <p:sp>
        <p:nvSpPr>
          <p:cNvPr id="28" name="TextBox 27"/>
          <p:cNvSpPr txBox="1"/>
          <p:nvPr/>
        </p:nvSpPr>
        <p:spPr>
          <a:xfrm>
            <a:off x="11910060" y="4232402"/>
            <a:ext cx="4937760" cy="4756150"/>
          </a:xfrm>
          <a:prstGeom prst="rect">
            <a:avLst/>
          </a:prstGeom>
          <a:noFill/>
        </p:spPr>
        <p:txBody>
          <a:bodyPr anchor="t" rtlCol="false" lIns="0" tIns="0" rIns="0" bIns="0" wrap="square"/>
          <a:lstStyle/>
          <a:p>
            <a:pPr algn="l" marL="274320" indent="-274320">
              <a:lnSpc>
                <a:spcPts val="2660"/>
              </a:lnSpc>
              <a:spcBef>
                <a:spcPts val="0"/>
              </a:spcBef>
              <a:buClr>
                <a:srgbClr val="ECC665"/>
              </a:buClr>
              <a:buSzPct val="100000"/>
              <a:buFont typeface="Arial"/>
              <a:buChar char="•"/>
            </a:pPr>
            <a:r>
              <a:rPr lang="en-US" sz="1900" b="true">
                <a:solidFill>
                  <a:srgbClr val="FFFFFF"/>
                </a:solidFill>
                <a:latin typeface="Nunito Bold"/>
                <a:ea typeface="Nunito Bold"/>
                <a:cs typeface="Nunito Bold"/>
                <a:sym typeface="Nunito Bold"/>
              </a:rPr>
              <a:t>Separation is strong:</a:t>
            </a:r>
            <a:r>
              <a:rPr lang="en-US" sz="1900" b="true">
                <a:solidFill>
                  <a:srgbClr val="FFFFFF"/>
                </a:solidFill>
                <a:latin typeface="Nunito Semi-Bold"/>
                <a:ea typeface="Nunito Semi-Bold"/>
                <a:cs typeface="Nunito Semi-Bold"/>
                <a:sym typeface="Nunito Semi-Bold"/>
              </a:rPr>
              <a:t> Silhouette and Davies–Bouldin clearly better than the wine case.</a:t>
            </a:r>
          </a:p>
          <a:p>
            <a:pPr algn="l" marL="274320" indent="-274320">
              <a:lnSpc>
                <a:spcPts val="2660"/>
              </a:lnSpc>
              <a:spcBef>
                <a:spcPts val="1000"/>
              </a:spcBef>
              <a:buClr>
                <a:srgbClr val="ECC665"/>
              </a:buClr>
              <a:buSzPct val="100000"/>
              <a:buFont typeface="Arial"/>
              <a:buChar char="•"/>
            </a:pPr>
            <a:r>
              <a:rPr lang="en-US" sz="1900" b="true">
                <a:solidFill>
                  <a:srgbClr val="FFFFFF"/>
                </a:solidFill>
                <a:latin typeface="Nunito Bold"/>
                <a:ea typeface="Nunito Bold"/>
                <a:cs typeface="Nunito Bold"/>
                <a:sym typeface="Nunito Bold"/>
              </a:rPr>
              <a:t>Regimes have a physical reading:</a:t>
            </a:r>
            <a:r>
              <a:rPr lang="en-US" sz="1900" b="true">
                <a:solidFill>
                  <a:srgbClr val="FFFFFF"/>
                </a:solidFill>
                <a:latin typeface="Nunito Semi-Bold"/>
                <a:ea typeface="Nunito Semi-Bold"/>
                <a:cs typeface="Nunito Semi-Bold"/>
                <a:sym typeface="Nunito Semi-Bold"/>
              </a:rPr>
              <a:t> each cluster maps to a known atmospheric situation.</a:t>
            </a:r>
          </a:p>
          <a:p>
            <a:pPr algn="l" marL="274320" indent="-274320">
              <a:lnSpc>
                <a:spcPts val="2660"/>
              </a:lnSpc>
              <a:spcBef>
                <a:spcPts val="1000"/>
              </a:spcBef>
              <a:buClr>
                <a:srgbClr val="ECC665"/>
              </a:buClr>
              <a:buSzPct val="100000"/>
              <a:buFont typeface="Arial"/>
              <a:buChar char="•"/>
            </a:pPr>
            <a:r>
              <a:rPr lang="en-US" sz="1900" b="true">
                <a:solidFill>
                  <a:srgbClr val="FFFFFF"/>
                </a:solidFill>
                <a:latin typeface="Nunito Bold"/>
                <a:ea typeface="Nunito Bold"/>
                <a:cs typeface="Nunito Bold"/>
                <a:sym typeface="Nunito Bold"/>
              </a:rPr>
              <a:t>Cross-level differences are interpretable</a:t>
            </a:r>
            <a:r>
              <a:rPr lang="en-US" sz="1900" b="true">
                <a:solidFill>
                  <a:srgbClr val="FFFFFF"/>
                </a:solidFill>
                <a:latin typeface="Nunito Semi-Bold"/>
                <a:ea typeface="Nunito Semi-Bold"/>
                <a:cs typeface="Nunito Semi-Bold"/>
                <a:sym typeface="Nunito Semi-Bold"/>
              </a:rPr>
              <a:t>, not contradictions (Proposition 6.1).</a:t>
            </a:r>
          </a:p>
          <a:p>
            <a:pPr algn="l" marL="274320" indent="-274320">
              <a:lnSpc>
                <a:spcPts val="2660"/>
              </a:lnSpc>
              <a:spcBef>
                <a:spcPts val="1000"/>
              </a:spcBef>
              <a:buClr>
                <a:srgbClr val="ECC665"/>
              </a:buClr>
              <a:buSzPct val="100000"/>
              <a:buFont typeface="Arial"/>
              <a:buChar char="•"/>
            </a:pPr>
            <a:r>
              <a:rPr lang="en-US" sz="1900" b="true">
                <a:solidFill>
                  <a:srgbClr val="FFFFFF"/>
                </a:solidFill>
                <a:latin typeface="Nunito Bold"/>
                <a:ea typeface="Nunito Bold"/>
                <a:cs typeface="Nunito Bold"/>
                <a:sym typeface="Nunito Bold"/>
              </a:rPr>
              <a:t>Leading drivers are stable</a:t>
            </a:r>
            <a:r>
              <a:rPr lang="en-US" sz="1900" b="true">
                <a:solidFill>
                  <a:srgbClr val="FFFFFF"/>
                </a:solidFill>
                <a:latin typeface="Nunito Semi-Bold"/>
                <a:ea typeface="Nunito Semi-Bold"/>
                <a:cs typeface="Nunito Semi-Bold"/>
                <a:sym typeface="Nunito Semi-Bold"/>
              </a:rPr>
              <a:t> under sensitivity changes.</a:t>
            </a:r>
          </a:p>
        </p:txBody>
      </p:sp>
    </p:spTree>
  </p:cSld>
  <p:clrMapOvr>
    <a:masterClrMapping/>
  </p:clrMapOvr>
</p:sld>
</file>

<file path=ppt/slides/slide5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pic>
        <p:nvPicPr>
          <p:cNvPr id="2" name="Picture 1" descr="ensias_logo.jpg"/>
          <p:cNvPicPr>
            <a:picLocks noChangeAspect="1"/>
          </p:cNvPicPr>
          <p:nvPr/>
        </p:nvPicPr>
        <p:blipFill>
          <a:blip r:embed="rId2"/>
          <a:stretch>
            <a:fillRect/>
          </a:stretch>
        </p:blipFill>
        <p:spPr>
          <a:xfrm>
            <a:off x="1028700" y="9674352"/>
            <a:ext cx="542964" cy="384048"/>
          </a:xfrm>
          <a:prstGeom prst="rect">
            <a:avLst/>
          </a:prstGeom>
        </p:spPr>
      </p:pic>
      <p:sp>
        <p:nvSpPr>
          <p:cNvPr id="3" name="TextBox 2"/>
          <p:cNvSpPr txBox="1"/>
          <p:nvPr/>
        </p:nvSpPr>
        <p:spPr>
          <a:xfrm>
            <a:off x="1577340" y="9747504"/>
            <a:ext cx="12801600" cy="274320"/>
          </a:xfrm>
          <a:prstGeom prst="rect">
            <a:avLst/>
          </a:prstGeom>
          <a:noFill/>
        </p:spPr>
        <p:txBody>
          <a:bodyPr anchor="t" rtlCol="false" lIns="0" tIns="0" rIns="0" bIns="0" wrap="square"/>
          <a:lstStyle/>
          <a:p>
            <a:pPr algn="l">
              <a:lnSpc>
                <a:spcPts val="1600"/>
              </a:lnSpc>
              <a:spcBef>
                <a:spcPts val="0"/>
              </a:spcBef>
              <a:buNone/>
            </a:pPr>
            <a:r>
              <a:rPr lang="en-US" sz="1300" b="true">
                <a:solidFill>
                  <a:srgbClr val="8A8378"/>
                </a:solidFill>
                <a:latin typeface="Nunito Bold"/>
                <a:ea typeface="Nunito Bold"/>
                <a:cs typeface="Nunito Bold"/>
                <a:sym typeface="Nunito Bold"/>
              </a:rPr>
              <a:t>Cooperative Game Theory for Explainable AI in Recommendation Systems  ·  A Shapley Framework for Actionable Insight</a:t>
            </a:r>
          </a:p>
        </p:txBody>
      </p:sp>
      <p:sp>
        <p:nvSpPr>
          <p:cNvPr id="4" name="TextBox 3"/>
          <p:cNvSpPr txBox="1"/>
          <p:nvPr/>
        </p:nvSpPr>
        <p:spPr>
          <a:xfrm>
            <a:off x="16162020" y="9692640"/>
            <a:ext cx="1097280" cy="329184"/>
          </a:xfrm>
          <a:prstGeom prst="rect">
            <a:avLst/>
          </a:prstGeom>
          <a:noFill/>
        </p:spPr>
        <p:txBody>
          <a:bodyPr anchor="t" rtlCol="false" lIns="0" tIns="0" rIns="0" bIns="0" wrap="square"/>
          <a:lstStyle/>
          <a:p>
            <a:pPr algn="r">
              <a:lnSpc>
                <a:spcPts val="2200"/>
              </a:lnSpc>
              <a:spcBef>
                <a:spcPts val="0"/>
              </a:spcBef>
              <a:buNone/>
            </a:pPr>
            <a:r>
              <a:rPr lang="en-US" sz="1800" b="true">
                <a:solidFill>
                  <a:srgbClr val="111111"/>
                </a:solidFill>
                <a:latin typeface="Nunito Ultra-Bold"/>
                <a:ea typeface="Nunito Ultra-Bold"/>
                <a:cs typeface="Nunito Ultra-Bold"/>
                <a:sym typeface="Nunito Ultra-Bold"/>
              </a:rPr>
              <a:t>44</a:t>
            </a:r>
          </a:p>
        </p:txBody>
      </p:sp>
      <p:sp>
        <p:nvSpPr>
          <p:cNvPr id="5" name="TextBox 4"/>
          <p:cNvSpPr txBox="1"/>
          <p:nvPr/>
        </p:nvSpPr>
        <p:spPr>
          <a:xfrm>
            <a:off x="1028700" y="1389888"/>
            <a:ext cx="12938760" cy="329184"/>
          </a:xfrm>
          <a:prstGeom prst="rect">
            <a:avLst/>
          </a:prstGeom>
          <a:noFill/>
        </p:spPr>
        <p:txBody>
          <a:bodyPr anchor="t" rtlCol="false" lIns="0" tIns="0" rIns="0" bIns="0" wrap="square"/>
          <a:lstStyle/>
          <a:p>
            <a:pPr algn="l">
              <a:lnSpc>
                <a:spcPts val="2000"/>
              </a:lnSpc>
              <a:spcBef>
                <a:spcPts val="0"/>
              </a:spcBef>
              <a:buNone/>
            </a:pPr>
            <a:r>
              <a:rPr lang="en-US" sz="1500" b="true" spc="160">
                <a:solidFill>
                  <a:srgbClr val="1F7A8C"/>
                </a:solidFill>
                <a:latin typeface="Nunito Ultra-Bold"/>
                <a:ea typeface="Nunito Ultra-Bold"/>
                <a:cs typeface="Nunito Ultra-Bold"/>
                <a:sym typeface="Nunito Ultra-Bold"/>
              </a:rPr>
              <a:t>CONTRIBUTION II: MULTI-LEVEL XAI FOR LARGE-SCALE CLUSTERING</a:t>
            </a:r>
          </a:p>
        </p:txBody>
      </p:sp>
      <p:sp>
        <p:nvSpPr>
          <p:cNvPr id="6" name="Rounded Rectangle 5"/>
          <p:cNvSpPr/>
          <p:nvPr/>
        </p:nvSpPr>
        <p:spPr>
          <a:xfrm>
            <a:off x="14516100"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7" name="TextBox 6"/>
          <p:cNvSpPr txBox="1"/>
          <p:nvPr/>
        </p:nvSpPr>
        <p:spPr>
          <a:xfrm>
            <a:off x="14516100"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1</a:t>
            </a:r>
          </a:p>
        </p:txBody>
      </p:sp>
      <p:sp>
        <p:nvSpPr>
          <p:cNvPr id="8" name="Rounded Rectangle 7"/>
          <p:cNvSpPr/>
          <p:nvPr/>
        </p:nvSpPr>
        <p:spPr>
          <a:xfrm>
            <a:off x="14918436"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9" name="TextBox 8"/>
          <p:cNvSpPr txBox="1"/>
          <p:nvPr/>
        </p:nvSpPr>
        <p:spPr>
          <a:xfrm>
            <a:off x="14918436"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2</a:t>
            </a:r>
          </a:p>
        </p:txBody>
      </p:sp>
      <p:sp>
        <p:nvSpPr>
          <p:cNvPr id="10" name="Rounded Rectangle 9"/>
          <p:cNvSpPr/>
          <p:nvPr/>
        </p:nvSpPr>
        <p:spPr>
          <a:xfrm>
            <a:off x="15320772"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11" name="TextBox 10"/>
          <p:cNvSpPr txBox="1"/>
          <p:nvPr/>
        </p:nvSpPr>
        <p:spPr>
          <a:xfrm>
            <a:off x="15320772"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3</a:t>
            </a:r>
          </a:p>
        </p:txBody>
      </p:sp>
      <p:sp>
        <p:nvSpPr>
          <p:cNvPr id="12" name="Rounded Rectangle 11"/>
          <p:cNvSpPr/>
          <p:nvPr/>
        </p:nvSpPr>
        <p:spPr>
          <a:xfrm>
            <a:off x="15723108"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13" name="TextBox 12"/>
          <p:cNvSpPr txBox="1"/>
          <p:nvPr/>
        </p:nvSpPr>
        <p:spPr>
          <a:xfrm>
            <a:off x="15723108"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4</a:t>
            </a:r>
          </a:p>
        </p:txBody>
      </p:sp>
      <p:sp>
        <p:nvSpPr>
          <p:cNvPr id="14" name="Rounded Rectangle 13"/>
          <p:cNvSpPr/>
          <p:nvPr/>
        </p:nvSpPr>
        <p:spPr>
          <a:xfrm>
            <a:off x="16125444" y="1371600"/>
            <a:ext cx="329184" cy="329184"/>
          </a:xfrm>
          <a:prstGeom prst="roundRect">
            <a:avLst>
              <a:gd name="adj" fmla="val 16666"/>
            </a:avLst>
          </a:prstGeom>
          <a:solidFill>
            <a:srgbClr val="4472C4"/>
          </a:solidFill>
          <a:ln w="15875">
            <a:solidFill>
              <a:srgbClr val="4472C4"/>
            </a:solidFill>
          </a:ln>
        </p:spPr>
        <p:txBody>
          <a:bodyPr anchor="ctr" rtlCol="false" lIns="0" tIns="0" rIns="0" bIns="0" wrap="square"/>
          <a:lstStyle/>
          <a:p>
            <a:endParaRPr lang="en-US" sz="1800"/>
          </a:p>
        </p:txBody>
      </p:sp>
      <p:sp>
        <p:nvSpPr>
          <p:cNvPr id="15" name="TextBox 14"/>
          <p:cNvSpPr txBox="1"/>
          <p:nvPr/>
        </p:nvSpPr>
        <p:spPr>
          <a:xfrm>
            <a:off x="16125444"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FFFFFF"/>
                </a:solidFill>
                <a:latin typeface="Nunito Ultra-Bold"/>
                <a:ea typeface="Nunito Ultra-Bold"/>
                <a:cs typeface="Nunito Ultra-Bold"/>
                <a:sym typeface="Nunito Ultra-Bold"/>
              </a:rPr>
              <a:t>5</a:t>
            </a:r>
          </a:p>
        </p:txBody>
      </p:sp>
      <p:sp>
        <p:nvSpPr>
          <p:cNvPr id="16" name="Rounded Rectangle 15"/>
          <p:cNvSpPr/>
          <p:nvPr/>
        </p:nvSpPr>
        <p:spPr>
          <a:xfrm>
            <a:off x="16527780"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17" name="TextBox 16"/>
          <p:cNvSpPr txBox="1"/>
          <p:nvPr/>
        </p:nvSpPr>
        <p:spPr>
          <a:xfrm>
            <a:off x="16527780"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6</a:t>
            </a:r>
          </a:p>
        </p:txBody>
      </p:sp>
      <p:sp>
        <p:nvSpPr>
          <p:cNvPr id="18" name="Rounded Rectangle 17"/>
          <p:cNvSpPr/>
          <p:nvPr/>
        </p:nvSpPr>
        <p:spPr>
          <a:xfrm>
            <a:off x="16930116"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19" name="TextBox 18"/>
          <p:cNvSpPr txBox="1"/>
          <p:nvPr/>
        </p:nvSpPr>
        <p:spPr>
          <a:xfrm>
            <a:off x="16930116"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7</a:t>
            </a:r>
          </a:p>
        </p:txBody>
      </p:sp>
      <p:sp>
        <p:nvSpPr>
          <p:cNvPr id="20" name="TextBox 19"/>
          <p:cNvSpPr txBox="1"/>
          <p:nvPr/>
        </p:nvSpPr>
        <p:spPr>
          <a:xfrm>
            <a:off x="1028700" y="1719072"/>
            <a:ext cx="16230600" cy="730250"/>
          </a:xfrm>
          <a:prstGeom prst="rect">
            <a:avLst/>
          </a:prstGeom>
          <a:noFill/>
        </p:spPr>
        <p:txBody>
          <a:bodyPr anchor="t" rtlCol="false" lIns="0" tIns="0" rIns="0" bIns="0" wrap="square"/>
          <a:lstStyle/>
          <a:p>
            <a:pPr algn="l">
              <a:lnSpc>
                <a:spcPts val="5060"/>
              </a:lnSpc>
              <a:spcBef>
                <a:spcPts val="0"/>
              </a:spcBef>
              <a:buNone/>
            </a:pPr>
            <a:r>
              <a:rPr lang="en-US" sz="4600" b="true" spc="-230">
                <a:solidFill>
                  <a:srgbClr val="111111"/>
                </a:solidFill>
                <a:latin typeface="Roca Two Bold"/>
                <a:ea typeface="Roca Two Bold"/>
                <a:cs typeface="Roca Two Bold"/>
                <a:sym typeface="Roca Two Bold"/>
              </a:rPr>
              <a:t>Coarse-Level Clustering: Beijing Air Quality</a:t>
            </a:r>
          </a:p>
        </p:txBody>
      </p:sp>
      <p:sp>
        <p:nvSpPr>
          <p:cNvPr id="21" name="Rounded Rectangle 20"/>
          <p:cNvSpPr/>
          <p:nvPr/>
        </p:nvSpPr>
        <p:spPr>
          <a:xfrm>
            <a:off x="1028700" y="2559050"/>
            <a:ext cx="1691553" cy="420624"/>
          </a:xfrm>
          <a:prstGeom prst="roundRect">
            <a:avLst>
              <a:gd name="adj" fmla="val 50000"/>
            </a:avLst>
          </a:prstGeom>
          <a:noFill/>
          <a:ln w="28575">
            <a:solidFill>
              <a:srgbClr val="4472C4"/>
            </a:solidFill>
          </a:ln>
        </p:spPr>
        <p:txBody>
          <a:bodyPr anchor="ctr" rtlCol="false" lIns="45720" tIns="0" rIns="45720" bIns="0" wrap="square"/>
          <a:lstStyle/>
          <a:p>
            <a:pPr algn="ctr">
              <a:lnSpc>
                <a:spcPts val="2160"/>
              </a:lnSpc>
              <a:spcBef>
                <a:spcPts val="0"/>
              </a:spcBef>
              <a:buNone/>
            </a:pPr>
            <a:r>
              <a:rPr lang="en-US" sz="1800" b="true">
                <a:solidFill>
                  <a:srgbClr val="4472C4"/>
                </a:solidFill>
                <a:latin typeface="Nunito Bold"/>
                <a:ea typeface="Nunito Bold"/>
                <a:cs typeface="Nunito Bold"/>
                <a:sym typeface="Nunito Bold"/>
              </a:rPr>
              <a:t>Objectives</a:t>
            </a:r>
          </a:p>
        </p:txBody>
      </p:sp>
      <p:sp>
        <p:nvSpPr>
          <p:cNvPr id="22" name="Rounded Rectangle 21"/>
          <p:cNvSpPr/>
          <p:nvPr/>
        </p:nvSpPr>
        <p:spPr>
          <a:xfrm>
            <a:off x="2848269" y="2559050"/>
            <a:ext cx="1998119" cy="420624"/>
          </a:xfrm>
          <a:prstGeom prst="roundRect">
            <a:avLst>
              <a:gd name="adj" fmla="val 50000"/>
            </a:avLst>
          </a:prstGeom>
          <a:noFill/>
          <a:ln w="28575">
            <a:solidFill>
              <a:srgbClr val="4472C4"/>
            </a:solidFill>
          </a:ln>
        </p:spPr>
        <p:txBody>
          <a:bodyPr anchor="ctr" rtlCol="false" lIns="45720" tIns="0" rIns="45720" bIns="0" wrap="square"/>
          <a:lstStyle/>
          <a:p>
            <a:pPr algn="ctr">
              <a:lnSpc>
                <a:spcPts val="2160"/>
              </a:lnSpc>
              <a:spcBef>
                <a:spcPts val="0"/>
              </a:spcBef>
              <a:buNone/>
            </a:pPr>
            <a:r>
              <a:rPr lang="en-US" sz="1800" b="true">
                <a:solidFill>
                  <a:srgbClr val="4472C4"/>
                </a:solidFill>
                <a:latin typeface="Nunito Bold"/>
                <a:ea typeface="Nunito Bold"/>
                <a:cs typeface="Nunito Bold"/>
                <a:sym typeface="Nunito Bold"/>
              </a:rPr>
              <a:t>Methodology</a:t>
            </a:r>
          </a:p>
        </p:txBody>
      </p:sp>
      <p:sp>
        <p:nvSpPr>
          <p:cNvPr id="23" name="Rounded Rectangle 22"/>
          <p:cNvSpPr/>
          <p:nvPr/>
        </p:nvSpPr>
        <p:spPr>
          <a:xfrm>
            <a:off x="4974404" y="2559050"/>
            <a:ext cx="1369446" cy="420624"/>
          </a:xfrm>
          <a:prstGeom prst="roundRect">
            <a:avLst>
              <a:gd name="adj" fmla="val 50000"/>
            </a:avLst>
          </a:prstGeom>
          <a:solidFill>
            <a:srgbClr val="4472C4"/>
          </a:solidFill>
          <a:ln>
            <a:noFill/>
          </a:ln>
        </p:spPr>
        <p:txBody>
          <a:bodyPr anchor="ctr" rtlCol="false" lIns="45720" tIns="0" rIns="45720" bIns="0" wrap="square"/>
          <a:lstStyle/>
          <a:p>
            <a:pPr algn="ctr">
              <a:lnSpc>
                <a:spcPts val="2160"/>
              </a:lnSpc>
              <a:spcBef>
                <a:spcPts val="0"/>
              </a:spcBef>
              <a:buNone/>
            </a:pPr>
            <a:r>
              <a:rPr lang="en-US" sz="1800" b="true">
                <a:solidFill>
                  <a:srgbClr val="FFFFFF"/>
                </a:solidFill>
                <a:latin typeface="Nunito Bold"/>
                <a:ea typeface="Nunito Bold"/>
                <a:cs typeface="Nunito Bold"/>
                <a:sym typeface="Nunito Bold"/>
              </a:rPr>
              <a:t>Results</a:t>
            </a:r>
          </a:p>
        </p:txBody>
      </p:sp>
      <p:sp>
        <p:nvSpPr>
          <p:cNvPr id="24" name="Rounded Rectangle 23"/>
          <p:cNvSpPr/>
          <p:nvPr/>
        </p:nvSpPr>
        <p:spPr>
          <a:xfrm>
            <a:off x="6471866" y="2559050"/>
            <a:ext cx="1474931" cy="420624"/>
          </a:xfrm>
          <a:prstGeom prst="roundRect">
            <a:avLst>
              <a:gd name="adj" fmla="val 50000"/>
            </a:avLst>
          </a:prstGeom>
          <a:noFill/>
          <a:ln w="28575">
            <a:solidFill>
              <a:srgbClr val="4472C4"/>
            </a:solidFill>
          </a:ln>
        </p:spPr>
        <p:txBody>
          <a:bodyPr anchor="ctr" rtlCol="false" lIns="45720" tIns="0" rIns="45720" bIns="0" wrap="square"/>
          <a:lstStyle/>
          <a:p>
            <a:pPr algn="ctr">
              <a:lnSpc>
                <a:spcPts val="2160"/>
              </a:lnSpc>
              <a:spcBef>
                <a:spcPts val="0"/>
              </a:spcBef>
              <a:buNone/>
            </a:pPr>
            <a:r>
              <a:rPr lang="en-US" sz="1800" b="true">
                <a:solidFill>
                  <a:srgbClr val="4472C4"/>
                </a:solidFill>
                <a:latin typeface="Nunito Bold"/>
                <a:ea typeface="Nunito Bold"/>
                <a:cs typeface="Nunito Bold"/>
                <a:sym typeface="Nunito Bold"/>
              </a:rPr>
              <a:t>Findings</a:t>
            </a:r>
          </a:p>
        </p:txBody>
      </p:sp>
      <p:sp>
        <p:nvSpPr>
          <p:cNvPr id="25" name="Rounded Rectangle 24"/>
          <p:cNvSpPr/>
          <p:nvPr/>
        </p:nvSpPr>
        <p:spPr>
          <a:xfrm>
            <a:off x="1028700" y="3455162"/>
            <a:ext cx="5196840" cy="2103120"/>
          </a:xfrm>
          <a:prstGeom prst="roundRect">
            <a:avLst>
              <a:gd name="adj" fmla="val 13043"/>
            </a:avLst>
          </a:prstGeom>
          <a:solidFill>
            <a:srgbClr val="4472C4"/>
          </a:solidFill>
          <a:ln>
            <a:noFill/>
          </a:ln>
        </p:spPr>
        <p:txBody>
          <a:bodyPr anchor="ctr" rtlCol="false" lIns="137160" tIns="91440" rIns="137160" bIns="91440" wrap="square"/>
          <a:lstStyle/>
          <a:p>
            <a:pPr algn="ctr">
              <a:lnSpc>
                <a:spcPts val="4400"/>
              </a:lnSpc>
              <a:spcBef>
                <a:spcPts val="0"/>
              </a:spcBef>
              <a:buNone/>
            </a:pPr>
            <a:r>
              <a:rPr lang="en-US" sz="4000" b="true">
                <a:solidFill>
                  <a:srgbClr val="ECC665"/>
                </a:solidFill>
                <a:latin typeface="Nunito Ultra-Bold"/>
                <a:ea typeface="Nunito Ultra-Bold"/>
                <a:cs typeface="Nunito Ultra-Bold"/>
                <a:sym typeface="Nunito Ultra-Bold"/>
              </a:rPr>
              <a:t>k = 3</a:t>
            </a:r>
          </a:p>
          <a:p>
            <a:pPr algn="ctr">
              <a:lnSpc>
                <a:spcPts val="2125"/>
              </a:lnSpc>
              <a:spcBef>
                <a:spcPts val="400"/>
              </a:spcBef>
              <a:buNone/>
            </a:pPr>
            <a:r>
              <a:rPr lang="en-US" sz="1700" b="true">
                <a:solidFill>
                  <a:srgbClr val="FFFFFF"/>
                </a:solidFill>
                <a:latin typeface="Nunito Semi-Bold"/>
                <a:ea typeface="Nunito Semi-Bold"/>
                <a:cs typeface="Nunito Semi-Bold"/>
                <a:sym typeface="Nunito Semi-Bold"/>
              </a:rPr>
              <a:t>all </a:t>
            </a:r>
            <a:r>
              <a:rPr lang="en-US" sz="1700" b="true">
                <a:solidFill>
                  <a:srgbClr val="FFFFFF"/>
                </a:solidFill>
                <a:latin typeface="Nunito Bold"/>
                <a:ea typeface="Nunito Bold"/>
                <a:cs typeface="Nunito Bold"/>
                <a:sym typeface="Nunito Bold"/>
              </a:rPr>
              <a:t>k-selection criteria</a:t>
            </a:r>
            <a:r>
              <a:rPr lang="en-US" sz="1700" b="true">
                <a:solidFill>
                  <a:srgbClr val="FFFFFF"/>
                </a:solidFill>
                <a:latin typeface="Nunito Semi-Bold"/>
                <a:ea typeface="Nunito Semi-Bold"/>
                <a:cs typeface="Nunito Semi-Bold"/>
                <a:sym typeface="Nunito Semi-Bold"/>
              </a:rPr>
              <a:t> agree</a:t>
            </a:r>
          </a:p>
        </p:txBody>
      </p:sp>
      <p:sp>
        <p:nvSpPr>
          <p:cNvPr id="26" name="Rounded Rectangle 25"/>
          <p:cNvSpPr/>
          <p:nvPr/>
        </p:nvSpPr>
        <p:spPr>
          <a:xfrm>
            <a:off x="6545580" y="3455162"/>
            <a:ext cx="5196840" cy="2103120"/>
          </a:xfrm>
          <a:prstGeom prst="roundRect">
            <a:avLst>
              <a:gd name="adj" fmla="val 13043"/>
            </a:avLst>
          </a:prstGeom>
          <a:solidFill>
            <a:srgbClr val="2F5597"/>
          </a:solidFill>
          <a:ln>
            <a:noFill/>
          </a:ln>
        </p:spPr>
        <p:txBody>
          <a:bodyPr anchor="ctr" rtlCol="false" lIns="137160" tIns="91440" rIns="137160" bIns="91440" wrap="square"/>
          <a:lstStyle/>
          <a:p>
            <a:pPr algn="ctr">
              <a:lnSpc>
                <a:spcPts val="4400"/>
              </a:lnSpc>
              <a:spcBef>
                <a:spcPts val="0"/>
              </a:spcBef>
              <a:buNone/>
            </a:pPr>
            <a:r>
              <a:rPr lang="en-US" sz="4000" b="true">
                <a:solidFill>
                  <a:srgbClr val="ECC665"/>
                </a:solidFill>
                <a:latin typeface="Nunito Ultra-Bold"/>
                <a:ea typeface="Nunito Ultra-Bold"/>
                <a:cs typeface="Nunito Ultra-Bold"/>
                <a:sym typeface="Nunito Ultra-Bold"/>
              </a:rPr>
              <a:t>≈ 0.63</a:t>
            </a:r>
          </a:p>
          <a:p>
            <a:pPr algn="ctr">
              <a:lnSpc>
                <a:spcPts val="2125"/>
              </a:lnSpc>
              <a:spcBef>
                <a:spcPts val="400"/>
              </a:spcBef>
              <a:buNone/>
            </a:pPr>
            <a:r>
              <a:rPr lang="en-US" sz="1700" b="true">
                <a:solidFill>
                  <a:srgbClr val="FFFFFF"/>
                </a:solidFill>
                <a:latin typeface="Nunito Bold"/>
                <a:ea typeface="Nunito Bold"/>
                <a:cs typeface="Nunito Bold"/>
                <a:sym typeface="Nunito Bold"/>
              </a:rPr>
              <a:t>Silhouette</a:t>
            </a:r>
            <a:r>
              <a:rPr lang="en-US" sz="1700" b="true">
                <a:solidFill>
                  <a:srgbClr val="FFFFFF"/>
                </a:solidFill>
                <a:latin typeface="Nunito Semi-Bold"/>
                <a:ea typeface="Nunito Semi-Bold"/>
                <a:cs typeface="Nunito Semi-Bold"/>
                <a:sym typeface="Nunito Semi-Bold"/>
              </a:rPr>
              <a:t> · much stronger separation than wine</a:t>
            </a:r>
          </a:p>
        </p:txBody>
      </p:sp>
      <p:sp>
        <p:nvSpPr>
          <p:cNvPr id="27" name="Rounded Rectangle 26"/>
          <p:cNvSpPr/>
          <p:nvPr/>
        </p:nvSpPr>
        <p:spPr>
          <a:xfrm>
            <a:off x="12062460" y="3455162"/>
            <a:ext cx="5196840" cy="2103120"/>
          </a:xfrm>
          <a:prstGeom prst="roundRect">
            <a:avLst>
              <a:gd name="adj" fmla="val 13043"/>
            </a:avLst>
          </a:prstGeom>
          <a:solidFill>
            <a:srgbClr val="1F7A8C"/>
          </a:solidFill>
          <a:ln>
            <a:noFill/>
          </a:ln>
        </p:spPr>
        <p:txBody>
          <a:bodyPr anchor="ctr" rtlCol="false" lIns="137160" tIns="91440" rIns="137160" bIns="91440" wrap="square"/>
          <a:lstStyle/>
          <a:p>
            <a:pPr algn="ctr">
              <a:lnSpc>
                <a:spcPts val="4400"/>
              </a:lnSpc>
              <a:spcBef>
                <a:spcPts val="0"/>
              </a:spcBef>
              <a:buNone/>
            </a:pPr>
            <a:r>
              <a:rPr lang="en-US" sz="4000" b="true">
                <a:solidFill>
                  <a:srgbClr val="FFFFFF"/>
                </a:solidFill>
                <a:latin typeface="Nunito Ultra-Bold"/>
                <a:ea typeface="Nunito Ultra-Bold"/>
                <a:cs typeface="Nunito Ultra-Bold"/>
                <a:sym typeface="Nunito Ultra-Bold"/>
              </a:rPr>
              <a:t>≈ 0.55</a:t>
            </a:r>
          </a:p>
          <a:p>
            <a:pPr algn="ctr">
              <a:lnSpc>
                <a:spcPts val="2125"/>
              </a:lnSpc>
              <a:spcBef>
                <a:spcPts val="400"/>
              </a:spcBef>
              <a:buNone/>
            </a:pPr>
            <a:r>
              <a:rPr lang="en-US" sz="1700" b="true">
                <a:solidFill>
                  <a:srgbClr val="FFFFFF"/>
                </a:solidFill>
                <a:latin typeface="Nunito Bold"/>
                <a:ea typeface="Nunito Bold"/>
                <a:cs typeface="Nunito Bold"/>
                <a:sym typeface="Nunito Bold"/>
              </a:rPr>
              <a:t>Davies–Bouldin</a:t>
            </a:r>
            <a:r>
              <a:rPr lang="en-US" sz="1700" b="true">
                <a:solidFill>
                  <a:srgbClr val="FFFFFF"/>
                </a:solidFill>
                <a:latin typeface="Nunito Semi-Bold"/>
                <a:ea typeface="Nunito Semi-Bold"/>
                <a:cs typeface="Nunito Semi-Bold"/>
                <a:sym typeface="Nunito Semi-Bold"/>
              </a:rPr>
              <a:t> · clusters rarely overlap</a:t>
            </a:r>
          </a:p>
        </p:txBody>
      </p:sp>
      <p:sp>
        <p:nvSpPr>
          <p:cNvPr id="28" name="TextBox 27"/>
          <p:cNvSpPr txBox="1"/>
          <p:nvPr/>
        </p:nvSpPr>
        <p:spPr>
          <a:xfrm>
            <a:off x="1028700" y="5604002"/>
            <a:ext cx="16230600" cy="411480"/>
          </a:xfrm>
          <a:prstGeom prst="rect">
            <a:avLst/>
          </a:prstGeom>
          <a:noFill/>
        </p:spPr>
        <p:txBody>
          <a:bodyPr anchor="t" rtlCol="false" lIns="0" tIns="0" rIns="0" bIns="0" wrap="square"/>
          <a:lstStyle/>
          <a:p>
            <a:pPr algn="l">
              <a:lnSpc>
                <a:spcPts val="1700"/>
              </a:lnSpc>
              <a:spcBef>
                <a:spcPts val="0"/>
              </a:spcBef>
              <a:buNone/>
            </a:pPr>
            <a:r>
              <a:rPr lang="en-US" sz="1300" b="true">
                <a:solidFill>
                  <a:srgbClr val="8A8378"/>
                </a:solidFill>
                <a:latin typeface="Nunito Semi-Bold"/>
                <a:ea typeface="Nunito Semi-Bold"/>
                <a:cs typeface="Nunito Semi-Bold"/>
                <a:sym typeface="Nunito Semi-Bold"/>
              </a:rPr>
              <a:t>Table 6.1 (thesis): validation metrics for the large-scale clustering study (k = 3, Silhouette 0.63, Davies–Bouldin 0.55).</a:t>
            </a:r>
          </a:p>
        </p:txBody>
      </p:sp>
      <p:sp>
        <p:nvSpPr>
          <p:cNvPr id="29" name="Rounded Rectangle 28"/>
          <p:cNvSpPr/>
          <p:nvPr/>
        </p:nvSpPr>
        <p:spPr>
          <a:xfrm>
            <a:off x="1028700" y="6244082"/>
            <a:ext cx="7932420" cy="3110230"/>
          </a:xfrm>
          <a:prstGeom prst="roundRect">
            <a:avLst>
              <a:gd name="adj" fmla="val 9995"/>
            </a:avLst>
          </a:prstGeom>
          <a:solidFill>
            <a:srgbClr val="F6ECDF"/>
          </a:solidFill>
          <a:ln>
            <a:noFill/>
          </a:ln>
        </p:spPr>
        <p:txBody>
          <a:bodyPr anchor="ctr" rtlCol="false" lIns="0" tIns="0" rIns="0" bIns="0" wrap="square"/>
          <a:lstStyle/>
          <a:p>
            <a:endParaRPr lang="en-US" sz="1800"/>
          </a:p>
        </p:txBody>
      </p:sp>
      <p:sp>
        <p:nvSpPr>
          <p:cNvPr id="30" name="Rounded Rectangle 29"/>
          <p:cNvSpPr/>
          <p:nvPr/>
        </p:nvSpPr>
        <p:spPr>
          <a:xfrm>
            <a:off x="1485900" y="6006338"/>
            <a:ext cx="1445739" cy="438912"/>
          </a:xfrm>
          <a:prstGeom prst="roundRect">
            <a:avLst>
              <a:gd name="adj" fmla="val 50000"/>
            </a:avLst>
          </a:prstGeom>
          <a:solidFill>
            <a:srgbClr val="4472C4"/>
          </a:solidFill>
          <a:ln w="28575">
            <a:solidFill>
              <a:srgbClr val="4472C4"/>
            </a:solidFill>
          </a:ln>
        </p:spPr>
        <p:txBody>
          <a:bodyPr anchor="ctr" rtlCol="false" lIns="45720" tIns="0" rIns="45720" bIns="0" wrap="square"/>
          <a:lstStyle/>
          <a:p>
            <a:pPr algn="ctr">
              <a:lnSpc>
                <a:spcPts val="2640"/>
              </a:lnSpc>
              <a:spcBef>
                <a:spcPts val="0"/>
              </a:spcBef>
              <a:buNone/>
            </a:pPr>
            <a:r>
              <a:rPr lang="en-US" sz="2200" b="true">
                <a:solidFill>
                  <a:srgbClr val="FFFFFF"/>
                </a:solidFill>
                <a:latin typeface="Nunito Bold"/>
                <a:ea typeface="Nunito Bold"/>
                <a:cs typeface="Nunito Bold"/>
                <a:sym typeface="Nunito Bold"/>
              </a:rPr>
              <a:t>Setup</a:t>
            </a:r>
          </a:p>
        </p:txBody>
      </p:sp>
      <p:sp>
        <p:nvSpPr>
          <p:cNvPr id="31" name="TextBox 30"/>
          <p:cNvSpPr txBox="1"/>
          <p:nvPr/>
        </p:nvSpPr>
        <p:spPr>
          <a:xfrm>
            <a:off x="1531620" y="6884162"/>
            <a:ext cx="6972300" cy="2195830"/>
          </a:xfrm>
          <a:prstGeom prst="rect">
            <a:avLst/>
          </a:prstGeom>
          <a:noFill/>
        </p:spPr>
        <p:txBody>
          <a:bodyPr anchor="t" rtlCol="false" lIns="0" tIns="0" rIns="0" bIns="0" wrap="square"/>
          <a:lstStyle/>
          <a:p>
            <a:pPr algn="l" marL="274320" indent="-274320">
              <a:lnSpc>
                <a:spcPts val="2464"/>
              </a:lnSpc>
              <a:spcBef>
                <a:spcPts val="0"/>
              </a:spcBef>
              <a:buClr>
                <a:srgbClr val="1F7A8C"/>
              </a:buClr>
              <a:buSzPct val="100000"/>
              <a:buFont typeface="Arial"/>
              <a:buChar char="•"/>
            </a:pPr>
            <a:r>
              <a:rPr lang="en-US" sz="1760" b="true">
                <a:solidFill>
                  <a:srgbClr val="111111"/>
                </a:solidFill>
                <a:latin typeface="Nunito Semi-Bold"/>
                <a:ea typeface="Nunito Semi-Bold"/>
                <a:cs typeface="Nunito Semi-Bold"/>
                <a:sym typeface="Nunito Semi-Bold"/>
              </a:rPr>
              <a:t>Full dataset: </a:t>
            </a:r>
            <a:r>
              <a:rPr lang="en-US" sz="1760" b="true">
                <a:solidFill>
                  <a:srgbClr val="111111"/>
                </a:solidFill>
                <a:latin typeface="Nunito Bold"/>
                <a:ea typeface="Nunito Bold"/>
                <a:cs typeface="Nunito Bold"/>
                <a:sym typeface="Nunito Bold"/>
              </a:rPr>
              <a:t>383,585 hourly records</a:t>
            </a:r>
            <a:r>
              <a:rPr lang="en-US" sz="1760" b="true">
                <a:solidFill>
                  <a:srgbClr val="111111"/>
                </a:solidFill>
                <a:latin typeface="Nunito Semi-Bold"/>
                <a:ea typeface="Nunito Semi-Bold"/>
                <a:cs typeface="Nunito Semi-Bold"/>
                <a:sym typeface="Nunito Semi-Bold"/>
              </a:rPr>
              <a:t>, 11 pollutant + weather variables.</a:t>
            </a:r>
          </a:p>
          <a:p>
            <a:pPr algn="l" marL="274320" indent="-274320">
              <a:lnSpc>
                <a:spcPts val="2464"/>
              </a:lnSpc>
              <a:spcBef>
                <a:spcPts val="880"/>
              </a:spcBef>
              <a:buClr>
                <a:srgbClr val="1F7A8C"/>
              </a:buClr>
              <a:buSzPct val="100000"/>
              <a:buFont typeface="Arial"/>
              <a:buChar char="•"/>
            </a:pPr>
            <a:r>
              <a:rPr lang="en-US" sz="1760" b="true">
                <a:solidFill>
                  <a:srgbClr val="111111"/>
                </a:solidFill>
                <a:latin typeface="Nunito Semi-Bold"/>
                <a:ea typeface="Nunito Semi-Bold"/>
                <a:cs typeface="Nunito Semi-Bold"/>
                <a:sym typeface="Nunito Semi-Bold"/>
              </a:rPr>
              <a:t>PCA projection (2 components) used </a:t>
            </a:r>
            <a:r>
              <a:rPr lang="en-US" sz="1760" b="true">
                <a:solidFill>
                  <a:srgbClr val="111111"/>
                </a:solidFill>
                <a:latin typeface="Nunito Bold"/>
                <a:ea typeface="Nunito Bold"/>
                <a:cs typeface="Nunito Bold"/>
                <a:sym typeface="Nunito Bold"/>
              </a:rPr>
              <a:t>only for visual inspection</a:t>
            </a:r>
            <a:r>
              <a:rPr lang="en-US" sz="1760" b="true">
                <a:solidFill>
                  <a:srgbClr val="111111"/>
                </a:solidFill>
                <a:latin typeface="Nunito Semi-Bold"/>
                <a:ea typeface="Nunito Semi-Bold"/>
                <a:cs typeface="Nunito Semi-Bold"/>
                <a:sym typeface="Nunito Semi-Bold"/>
              </a:rPr>
              <a:t>.</a:t>
            </a:r>
          </a:p>
          <a:p>
            <a:pPr algn="l" marL="274320" indent="-274320">
              <a:lnSpc>
                <a:spcPts val="2464"/>
              </a:lnSpc>
              <a:spcBef>
                <a:spcPts val="880"/>
              </a:spcBef>
              <a:buClr>
                <a:srgbClr val="1F7A8C"/>
              </a:buClr>
              <a:buSzPct val="100000"/>
              <a:buFont typeface="Arial"/>
              <a:buChar char="•"/>
            </a:pPr>
            <a:r>
              <a:rPr lang="en-US" sz="1760" b="true">
                <a:solidFill>
                  <a:srgbClr val="111111"/>
                </a:solidFill>
                <a:latin typeface="Nunito Semi-Bold"/>
                <a:ea typeface="Nunito Semi-Bold"/>
                <a:cs typeface="Nunito Semi-Bold"/>
                <a:sym typeface="Nunito Semi-Bold"/>
              </a:rPr>
              <a:t>Level-specific LightGBM surrogates; TreeSHAP in the original variable space.</a:t>
            </a:r>
          </a:p>
        </p:txBody>
      </p:sp>
      <p:sp>
        <p:nvSpPr>
          <p:cNvPr id="32" name="Rounded Rectangle 31"/>
          <p:cNvSpPr/>
          <p:nvPr/>
        </p:nvSpPr>
        <p:spPr>
          <a:xfrm>
            <a:off x="9326880" y="6244082"/>
            <a:ext cx="7932420" cy="3110230"/>
          </a:xfrm>
          <a:prstGeom prst="roundRect">
            <a:avLst>
              <a:gd name="adj" fmla="val 9995"/>
            </a:avLst>
          </a:prstGeom>
          <a:solidFill>
            <a:srgbClr val="4472C4"/>
          </a:solidFill>
          <a:ln>
            <a:noFill/>
          </a:ln>
        </p:spPr>
        <p:txBody>
          <a:bodyPr anchor="ctr" rtlCol="false" lIns="0" tIns="0" rIns="0" bIns="0" wrap="square"/>
          <a:lstStyle/>
          <a:p>
            <a:endParaRPr lang="en-US" sz="1800"/>
          </a:p>
        </p:txBody>
      </p:sp>
      <p:sp>
        <p:nvSpPr>
          <p:cNvPr id="33" name="Rounded Rectangle 32"/>
          <p:cNvSpPr/>
          <p:nvPr/>
        </p:nvSpPr>
        <p:spPr>
          <a:xfrm>
            <a:off x="9784080" y="6006338"/>
            <a:ext cx="2048930" cy="438912"/>
          </a:xfrm>
          <a:prstGeom prst="roundRect">
            <a:avLst>
              <a:gd name="adj" fmla="val 50000"/>
            </a:avLst>
          </a:prstGeom>
          <a:solidFill>
            <a:srgbClr val="FFFFFF"/>
          </a:solidFill>
          <a:ln w="28575">
            <a:solidFill>
              <a:srgbClr val="FFFFFF"/>
            </a:solidFill>
          </a:ln>
        </p:spPr>
        <p:txBody>
          <a:bodyPr anchor="ctr" rtlCol="false" lIns="45720" tIns="0" rIns="45720" bIns="0" wrap="square"/>
          <a:lstStyle/>
          <a:p>
            <a:pPr algn="ctr">
              <a:lnSpc>
                <a:spcPts val="2640"/>
              </a:lnSpc>
              <a:spcBef>
                <a:spcPts val="0"/>
              </a:spcBef>
              <a:buNone/>
            </a:pPr>
            <a:r>
              <a:rPr lang="en-US" sz="2200" b="true">
                <a:solidFill>
                  <a:srgbClr val="4472C4"/>
                </a:solidFill>
                <a:latin typeface="Nunito Bold"/>
                <a:ea typeface="Nunito Bold"/>
                <a:cs typeface="Nunito Bold"/>
                <a:sym typeface="Nunito Bold"/>
              </a:rPr>
              <a:t>Sensitivity</a:t>
            </a:r>
          </a:p>
        </p:txBody>
      </p:sp>
      <p:sp>
        <p:nvSpPr>
          <p:cNvPr id="34" name="TextBox 33"/>
          <p:cNvSpPr txBox="1"/>
          <p:nvPr/>
        </p:nvSpPr>
        <p:spPr>
          <a:xfrm>
            <a:off x="9829800" y="6884162"/>
            <a:ext cx="6972300" cy="2195830"/>
          </a:xfrm>
          <a:prstGeom prst="rect">
            <a:avLst/>
          </a:prstGeom>
          <a:noFill/>
        </p:spPr>
        <p:txBody>
          <a:bodyPr anchor="t" rtlCol="false" lIns="0" tIns="0" rIns="0" bIns="0" wrap="square"/>
          <a:lstStyle/>
          <a:p>
            <a:pPr algn="l" marL="274320" indent="-274320">
              <a:lnSpc>
                <a:spcPts val="2464"/>
              </a:lnSpc>
              <a:spcBef>
                <a:spcPts val="0"/>
              </a:spcBef>
              <a:buClr>
                <a:srgbClr val="ECC665"/>
              </a:buClr>
              <a:buSzPct val="100000"/>
              <a:buFont typeface="Arial"/>
              <a:buChar char="•"/>
            </a:pPr>
            <a:r>
              <a:rPr lang="en-US" sz="1760" b="true">
                <a:solidFill>
                  <a:srgbClr val="FFFFFF"/>
                </a:solidFill>
                <a:latin typeface="Nunito Semi-Bold"/>
                <a:ea typeface="Nunito Semi-Bold"/>
                <a:cs typeface="Nunito Semi-Bold"/>
                <a:sym typeface="Nunito Semi-Bold"/>
              </a:rPr>
              <a:t>Robust to small changes in </a:t>
            </a:r>
            <a:r>
              <a:rPr lang="en-US" sz="1760" b="true">
                <a:solidFill>
                  <a:srgbClr val="FFFFFF"/>
                </a:solidFill>
                <a:latin typeface="Nunito Bold"/>
                <a:ea typeface="Nunito Bold"/>
                <a:cs typeface="Nunito Bold"/>
                <a:sym typeface="Nunito Bold"/>
              </a:rPr>
              <a:t>k</a:t>
            </a:r>
            <a:r>
              <a:rPr lang="en-US" sz="1760" b="true">
                <a:solidFill>
                  <a:srgbClr val="FFFFFF"/>
                </a:solidFill>
                <a:latin typeface="Nunito Semi-Bold"/>
                <a:ea typeface="Nunito Semi-Bold"/>
                <a:cs typeface="Nunito Semi-Bold"/>
                <a:sym typeface="Nunito Semi-Bold"/>
              </a:rPr>
              <a:t>, projection dimension and surrogate depth.</a:t>
            </a:r>
          </a:p>
          <a:p>
            <a:pPr algn="l" marL="274320" indent="-274320">
              <a:lnSpc>
                <a:spcPts val="2464"/>
              </a:lnSpc>
              <a:spcBef>
                <a:spcPts val="880"/>
              </a:spcBef>
              <a:buClr>
                <a:srgbClr val="ECC665"/>
              </a:buClr>
              <a:buSzPct val="100000"/>
              <a:buFont typeface="Arial"/>
              <a:buChar char="•"/>
            </a:pPr>
            <a:r>
              <a:rPr lang="en-US" sz="1760" b="true">
                <a:solidFill>
                  <a:srgbClr val="FFFFFF"/>
                </a:solidFill>
                <a:latin typeface="Nunito Semi-Bold"/>
                <a:ea typeface="Nunito Semi-Bold"/>
                <a:cs typeface="Nunito Semi-Bold"/>
                <a:sym typeface="Nunito Semi-Bold"/>
              </a:rPr>
              <a:t>Only </a:t>
            </a:r>
            <a:r>
              <a:rPr lang="en-US" sz="1760" b="true">
                <a:solidFill>
                  <a:srgbClr val="FFFFFF"/>
                </a:solidFill>
                <a:latin typeface="Nunito Bold"/>
                <a:ea typeface="Nunito Bold"/>
                <a:cs typeface="Nunito Bold"/>
                <a:sym typeface="Nunito Bold"/>
              </a:rPr>
              <a:t>low-ranked variables shift</a:t>
            </a:r>
            <a:r>
              <a:rPr lang="en-US" sz="1760" b="true">
                <a:solidFill>
                  <a:srgbClr val="FFFFFF"/>
                </a:solidFill>
                <a:latin typeface="Nunito Semi-Bold"/>
                <a:ea typeface="Nunito Semi-Bold"/>
                <a:cs typeface="Nunito Semi-Bold"/>
                <a:sym typeface="Nunito Semi-Bold"/>
              </a:rPr>
              <a:t>; the leading drivers are stable.</a:t>
            </a:r>
          </a:p>
          <a:p>
            <a:pPr algn="l" marL="274320" indent="-274320">
              <a:lnSpc>
                <a:spcPts val="2464"/>
              </a:lnSpc>
              <a:spcBef>
                <a:spcPts val="880"/>
              </a:spcBef>
              <a:buClr>
                <a:srgbClr val="ECC665"/>
              </a:buClr>
              <a:buSzPct val="100000"/>
              <a:buFont typeface="Arial"/>
              <a:buChar char="•"/>
            </a:pPr>
            <a:r>
              <a:rPr lang="en-US" sz="1760" b="true">
                <a:solidFill>
                  <a:srgbClr val="FFFFFF"/>
                </a:solidFill>
                <a:latin typeface="Nunito Semi-Bold"/>
                <a:ea typeface="Nunito Semi-Bold"/>
                <a:cs typeface="Nunito Semi-Bold"/>
                <a:sym typeface="Nunito Semi-Bold"/>
              </a:rPr>
              <a:t>Comparison point: SHAP-based clustering literature (Gramegna &amp; Giudici, credit risk) reports Silhouette </a:t>
            </a:r>
            <a:r>
              <a:rPr lang="en-US" sz="1760" b="true">
                <a:solidFill>
                  <a:srgbClr val="FFFFFF"/>
                </a:solidFill>
                <a:latin typeface="Nunito Bold"/>
                <a:ea typeface="Nunito Bold"/>
                <a:cs typeface="Nunito Bold"/>
                <a:sym typeface="Nunito Bold"/>
              </a:rPr>
              <a:t>0.37</a:t>
            </a:r>
            <a:r>
              <a:rPr lang="en-US" sz="1760" b="true">
                <a:solidFill>
                  <a:srgbClr val="FFFFFF"/>
                </a:solidFill>
                <a:latin typeface="Nunito Semi-Bold"/>
                <a:ea typeface="Nunito Semi-Bold"/>
                <a:cs typeface="Nunito Semi-Bold"/>
                <a:sym typeface="Nunito Semi-Bold"/>
              </a:rPr>
              <a:t>.</a:t>
            </a:r>
          </a:p>
        </p:txBody>
      </p:sp>
    </p:spTree>
  </p:cSld>
  <p:clrMapOvr>
    <a:masterClrMapping/>
  </p:clrMapOvr>
</p:sld>
</file>

<file path=ppt/slides/slide6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pic>
        <p:nvPicPr>
          <p:cNvPr id="2" name="Picture 1" descr="ensias_logo.jpg"/>
          <p:cNvPicPr>
            <a:picLocks noChangeAspect="1"/>
          </p:cNvPicPr>
          <p:nvPr/>
        </p:nvPicPr>
        <p:blipFill>
          <a:blip r:embed="rId2"/>
          <a:stretch>
            <a:fillRect/>
          </a:stretch>
        </p:blipFill>
        <p:spPr>
          <a:xfrm>
            <a:off x="1028700" y="9674352"/>
            <a:ext cx="542964" cy="384048"/>
          </a:xfrm>
          <a:prstGeom prst="rect">
            <a:avLst/>
          </a:prstGeom>
        </p:spPr>
      </p:pic>
      <p:sp>
        <p:nvSpPr>
          <p:cNvPr id="3" name="TextBox 2"/>
          <p:cNvSpPr txBox="1"/>
          <p:nvPr/>
        </p:nvSpPr>
        <p:spPr>
          <a:xfrm>
            <a:off x="1577340" y="9601200"/>
            <a:ext cx="14493240" cy="566928"/>
          </a:xfrm>
          <a:prstGeom prst="rect">
            <a:avLst/>
          </a:prstGeom>
          <a:noFill/>
        </p:spPr>
        <p:txBody>
          <a:bodyPr anchor="ctr" rtlCol="false" lIns="0" tIns="0" rIns="0" bIns="0" wrap="square"/>
          <a:lstStyle/>
          <a:p>
            <a:pPr algn="l">
              <a:lnSpc>
                <a:spcPts val="1200"/>
              </a:lnSpc>
              <a:spcBef>
                <a:spcPts val="0"/>
              </a:spcBef>
              <a:buNone/>
            </a:pPr>
            <a:r>
              <a:rPr lang="en-US" sz="1000" b="true">
                <a:solidFill>
                  <a:srgbClr val="8A8378"/>
                </a:solidFill>
                <a:latin typeface="Nunito Semi-Bold"/>
                <a:ea typeface="Nunito Semi-Bold"/>
                <a:cs typeface="Nunito Semi-Bold"/>
                <a:sym typeface="Nunito Semi-Bold"/>
              </a:rPr>
              <a:t>[2] Louhichi, M., Nesmaoui, R. &amp; Lazaar, M. Game Theory Meets Explainable AI: An Enhanced Approach to Understanding Black Box Models Through Shapley Values. IJACSA 16(7), 716–725 (2025).</a:t>
            </a:r>
          </a:p>
        </p:txBody>
      </p:sp>
      <p:sp>
        <p:nvSpPr>
          <p:cNvPr id="4" name="TextBox 3"/>
          <p:cNvSpPr txBox="1"/>
          <p:nvPr/>
        </p:nvSpPr>
        <p:spPr>
          <a:xfrm>
            <a:off x="16162020" y="9692640"/>
            <a:ext cx="1097280" cy="329184"/>
          </a:xfrm>
          <a:prstGeom prst="rect">
            <a:avLst/>
          </a:prstGeom>
          <a:noFill/>
        </p:spPr>
        <p:txBody>
          <a:bodyPr anchor="t" rtlCol="false" lIns="0" tIns="0" rIns="0" bIns="0" wrap="square"/>
          <a:lstStyle/>
          <a:p>
            <a:pPr algn="r">
              <a:lnSpc>
                <a:spcPts val="2200"/>
              </a:lnSpc>
              <a:spcBef>
                <a:spcPts val="0"/>
              </a:spcBef>
              <a:buNone/>
            </a:pPr>
            <a:r>
              <a:rPr lang="en-US" sz="1800" b="true">
                <a:solidFill>
                  <a:srgbClr val="111111"/>
                </a:solidFill>
                <a:latin typeface="Nunito Ultra-Bold"/>
                <a:ea typeface="Nunito Ultra-Bold"/>
                <a:cs typeface="Nunito Ultra-Bold"/>
                <a:sym typeface="Nunito Ultra-Bold"/>
              </a:rPr>
              <a:t>45</a:t>
            </a:r>
          </a:p>
        </p:txBody>
      </p:sp>
      <p:sp>
        <p:nvSpPr>
          <p:cNvPr id="5" name="TextBox 4"/>
          <p:cNvSpPr txBox="1"/>
          <p:nvPr/>
        </p:nvSpPr>
        <p:spPr>
          <a:xfrm>
            <a:off x="1028700" y="1389888"/>
            <a:ext cx="12938760" cy="329184"/>
          </a:xfrm>
          <a:prstGeom prst="rect">
            <a:avLst/>
          </a:prstGeom>
          <a:noFill/>
        </p:spPr>
        <p:txBody>
          <a:bodyPr anchor="t" rtlCol="false" lIns="0" tIns="0" rIns="0" bIns="0" wrap="square"/>
          <a:lstStyle/>
          <a:p>
            <a:pPr algn="l">
              <a:lnSpc>
                <a:spcPts val="2000"/>
              </a:lnSpc>
              <a:spcBef>
                <a:spcPts val="0"/>
              </a:spcBef>
              <a:buNone/>
            </a:pPr>
            <a:r>
              <a:rPr lang="en-US" sz="1500" b="true" spc="160">
                <a:solidFill>
                  <a:srgbClr val="1F7A8C"/>
                </a:solidFill>
                <a:latin typeface="Nunito Ultra-Bold"/>
                <a:ea typeface="Nunito Ultra-Bold"/>
                <a:cs typeface="Nunito Ultra-Bold"/>
                <a:sym typeface="Nunito Ultra-Bold"/>
              </a:rPr>
              <a:t>CONTRIBUTION II: MULTI-LEVEL XAI FOR LARGE-SCALE CLUSTERING</a:t>
            </a:r>
          </a:p>
        </p:txBody>
      </p:sp>
      <p:sp>
        <p:nvSpPr>
          <p:cNvPr id="6" name="Rounded Rectangle 5"/>
          <p:cNvSpPr/>
          <p:nvPr/>
        </p:nvSpPr>
        <p:spPr>
          <a:xfrm>
            <a:off x="14516100"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7" name="TextBox 6"/>
          <p:cNvSpPr txBox="1"/>
          <p:nvPr/>
        </p:nvSpPr>
        <p:spPr>
          <a:xfrm>
            <a:off x="14516100"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1</a:t>
            </a:r>
          </a:p>
        </p:txBody>
      </p:sp>
      <p:sp>
        <p:nvSpPr>
          <p:cNvPr id="8" name="Rounded Rectangle 7"/>
          <p:cNvSpPr/>
          <p:nvPr/>
        </p:nvSpPr>
        <p:spPr>
          <a:xfrm>
            <a:off x="14918436"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9" name="TextBox 8"/>
          <p:cNvSpPr txBox="1"/>
          <p:nvPr/>
        </p:nvSpPr>
        <p:spPr>
          <a:xfrm>
            <a:off x="14918436"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2</a:t>
            </a:r>
          </a:p>
        </p:txBody>
      </p:sp>
      <p:sp>
        <p:nvSpPr>
          <p:cNvPr id="10" name="Rounded Rectangle 9"/>
          <p:cNvSpPr/>
          <p:nvPr/>
        </p:nvSpPr>
        <p:spPr>
          <a:xfrm>
            <a:off x="15320772"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11" name="TextBox 10"/>
          <p:cNvSpPr txBox="1"/>
          <p:nvPr/>
        </p:nvSpPr>
        <p:spPr>
          <a:xfrm>
            <a:off x="15320772"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3</a:t>
            </a:r>
          </a:p>
        </p:txBody>
      </p:sp>
      <p:sp>
        <p:nvSpPr>
          <p:cNvPr id="12" name="Rounded Rectangle 11"/>
          <p:cNvSpPr/>
          <p:nvPr/>
        </p:nvSpPr>
        <p:spPr>
          <a:xfrm>
            <a:off x="15723108"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13" name="TextBox 12"/>
          <p:cNvSpPr txBox="1"/>
          <p:nvPr/>
        </p:nvSpPr>
        <p:spPr>
          <a:xfrm>
            <a:off x="15723108"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4</a:t>
            </a:r>
          </a:p>
        </p:txBody>
      </p:sp>
      <p:sp>
        <p:nvSpPr>
          <p:cNvPr id="14" name="Rounded Rectangle 13"/>
          <p:cNvSpPr/>
          <p:nvPr/>
        </p:nvSpPr>
        <p:spPr>
          <a:xfrm>
            <a:off x="16125444" y="1371600"/>
            <a:ext cx="329184" cy="329184"/>
          </a:xfrm>
          <a:prstGeom prst="roundRect">
            <a:avLst>
              <a:gd name="adj" fmla="val 16666"/>
            </a:avLst>
          </a:prstGeom>
          <a:solidFill>
            <a:srgbClr val="4472C4"/>
          </a:solidFill>
          <a:ln w="15875">
            <a:solidFill>
              <a:srgbClr val="4472C4"/>
            </a:solidFill>
          </a:ln>
        </p:spPr>
        <p:txBody>
          <a:bodyPr anchor="ctr" rtlCol="false" lIns="0" tIns="0" rIns="0" bIns="0" wrap="square"/>
          <a:lstStyle/>
          <a:p>
            <a:endParaRPr lang="en-US" sz="1800"/>
          </a:p>
        </p:txBody>
      </p:sp>
      <p:sp>
        <p:nvSpPr>
          <p:cNvPr id="15" name="TextBox 14"/>
          <p:cNvSpPr txBox="1"/>
          <p:nvPr/>
        </p:nvSpPr>
        <p:spPr>
          <a:xfrm>
            <a:off x="16125444"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FFFFFF"/>
                </a:solidFill>
                <a:latin typeface="Nunito Ultra-Bold"/>
                <a:ea typeface="Nunito Ultra-Bold"/>
                <a:cs typeface="Nunito Ultra-Bold"/>
                <a:sym typeface="Nunito Ultra-Bold"/>
              </a:rPr>
              <a:t>5</a:t>
            </a:r>
          </a:p>
        </p:txBody>
      </p:sp>
      <p:sp>
        <p:nvSpPr>
          <p:cNvPr id="16" name="Rounded Rectangle 15"/>
          <p:cNvSpPr/>
          <p:nvPr/>
        </p:nvSpPr>
        <p:spPr>
          <a:xfrm>
            <a:off x="16527780"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17" name="TextBox 16"/>
          <p:cNvSpPr txBox="1"/>
          <p:nvPr/>
        </p:nvSpPr>
        <p:spPr>
          <a:xfrm>
            <a:off x="16527780"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6</a:t>
            </a:r>
          </a:p>
        </p:txBody>
      </p:sp>
      <p:sp>
        <p:nvSpPr>
          <p:cNvPr id="18" name="Rounded Rectangle 17"/>
          <p:cNvSpPr/>
          <p:nvPr/>
        </p:nvSpPr>
        <p:spPr>
          <a:xfrm>
            <a:off x="16930116"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19" name="TextBox 18"/>
          <p:cNvSpPr txBox="1"/>
          <p:nvPr/>
        </p:nvSpPr>
        <p:spPr>
          <a:xfrm>
            <a:off x="16930116"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7</a:t>
            </a:r>
          </a:p>
        </p:txBody>
      </p:sp>
      <p:sp>
        <p:nvSpPr>
          <p:cNvPr id="20" name="TextBox 19"/>
          <p:cNvSpPr txBox="1"/>
          <p:nvPr/>
        </p:nvSpPr>
        <p:spPr>
          <a:xfrm>
            <a:off x="1028700" y="1719072"/>
            <a:ext cx="16230600" cy="730250"/>
          </a:xfrm>
          <a:prstGeom prst="rect">
            <a:avLst/>
          </a:prstGeom>
          <a:noFill/>
        </p:spPr>
        <p:txBody>
          <a:bodyPr anchor="t" rtlCol="false" lIns="0" tIns="0" rIns="0" bIns="0" wrap="square"/>
          <a:lstStyle/>
          <a:p>
            <a:pPr algn="l">
              <a:lnSpc>
                <a:spcPts val="5060"/>
              </a:lnSpc>
              <a:spcBef>
                <a:spcPts val="0"/>
              </a:spcBef>
              <a:buNone/>
            </a:pPr>
            <a:r>
              <a:rPr lang="en-US" sz="4600" b="true" spc="-230">
                <a:solidFill>
                  <a:srgbClr val="111111"/>
                </a:solidFill>
                <a:latin typeface="Roca Two Bold"/>
                <a:ea typeface="Roca Two Bold"/>
                <a:cs typeface="Roca Two Bold"/>
                <a:sym typeface="Roca Two Bold"/>
              </a:rPr>
              <a:t>Global SHAP Ranking: Weather Variables Are Central</a:t>
            </a:r>
          </a:p>
        </p:txBody>
      </p:sp>
      <p:sp>
        <p:nvSpPr>
          <p:cNvPr id="21" name="Rounded Rectangle 20"/>
          <p:cNvSpPr/>
          <p:nvPr/>
        </p:nvSpPr>
        <p:spPr>
          <a:xfrm>
            <a:off x="1028700" y="2559050"/>
            <a:ext cx="1691553" cy="420624"/>
          </a:xfrm>
          <a:prstGeom prst="roundRect">
            <a:avLst>
              <a:gd name="adj" fmla="val 50000"/>
            </a:avLst>
          </a:prstGeom>
          <a:noFill/>
          <a:ln w="28575">
            <a:solidFill>
              <a:srgbClr val="4472C4"/>
            </a:solidFill>
          </a:ln>
        </p:spPr>
        <p:txBody>
          <a:bodyPr anchor="ctr" rtlCol="false" lIns="45720" tIns="0" rIns="45720" bIns="0" wrap="square"/>
          <a:lstStyle/>
          <a:p>
            <a:pPr algn="ctr">
              <a:lnSpc>
                <a:spcPts val="2160"/>
              </a:lnSpc>
              <a:spcBef>
                <a:spcPts val="0"/>
              </a:spcBef>
              <a:buNone/>
            </a:pPr>
            <a:r>
              <a:rPr lang="en-US" sz="1800" b="true">
                <a:solidFill>
                  <a:srgbClr val="4472C4"/>
                </a:solidFill>
                <a:latin typeface="Nunito Bold"/>
                <a:ea typeface="Nunito Bold"/>
                <a:cs typeface="Nunito Bold"/>
                <a:sym typeface="Nunito Bold"/>
              </a:rPr>
              <a:t>Objectives</a:t>
            </a:r>
          </a:p>
        </p:txBody>
      </p:sp>
      <p:sp>
        <p:nvSpPr>
          <p:cNvPr id="22" name="Rounded Rectangle 21"/>
          <p:cNvSpPr/>
          <p:nvPr/>
        </p:nvSpPr>
        <p:spPr>
          <a:xfrm>
            <a:off x="2848269" y="2559050"/>
            <a:ext cx="1998119" cy="420624"/>
          </a:xfrm>
          <a:prstGeom prst="roundRect">
            <a:avLst>
              <a:gd name="adj" fmla="val 50000"/>
            </a:avLst>
          </a:prstGeom>
          <a:noFill/>
          <a:ln w="28575">
            <a:solidFill>
              <a:srgbClr val="4472C4"/>
            </a:solidFill>
          </a:ln>
        </p:spPr>
        <p:txBody>
          <a:bodyPr anchor="ctr" rtlCol="false" lIns="45720" tIns="0" rIns="45720" bIns="0" wrap="square"/>
          <a:lstStyle/>
          <a:p>
            <a:pPr algn="ctr">
              <a:lnSpc>
                <a:spcPts val="2160"/>
              </a:lnSpc>
              <a:spcBef>
                <a:spcPts val="0"/>
              </a:spcBef>
              <a:buNone/>
            </a:pPr>
            <a:r>
              <a:rPr lang="en-US" sz="1800" b="true">
                <a:solidFill>
                  <a:srgbClr val="4472C4"/>
                </a:solidFill>
                <a:latin typeface="Nunito Bold"/>
                <a:ea typeface="Nunito Bold"/>
                <a:cs typeface="Nunito Bold"/>
                <a:sym typeface="Nunito Bold"/>
              </a:rPr>
              <a:t>Methodology</a:t>
            </a:r>
          </a:p>
        </p:txBody>
      </p:sp>
      <p:sp>
        <p:nvSpPr>
          <p:cNvPr id="23" name="Rounded Rectangle 22"/>
          <p:cNvSpPr/>
          <p:nvPr/>
        </p:nvSpPr>
        <p:spPr>
          <a:xfrm>
            <a:off x="4974404" y="2559050"/>
            <a:ext cx="1369446" cy="420624"/>
          </a:xfrm>
          <a:prstGeom prst="roundRect">
            <a:avLst>
              <a:gd name="adj" fmla="val 50000"/>
            </a:avLst>
          </a:prstGeom>
          <a:solidFill>
            <a:srgbClr val="4472C4"/>
          </a:solidFill>
          <a:ln>
            <a:noFill/>
          </a:ln>
        </p:spPr>
        <p:txBody>
          <a:bodyPr anchor="ctr" rtlCol="false" lIns="45720" tIns="0" rIns="45720" bIns="0" wrap="square"/>
          <a:lstStyle/>
          <a:p>
            <a:pPr algn="ctr">
              <a:lnSpc>
                <a:spcPts val="2160"/>
              </a:lnSpc>
              <a:spcBef>
                <a:spcPts val="0"/>
              </a:spcBef>
              <a:buNone/>
            </a:pPr>
            <a:r>
              <a:rPr lang="en-US" sz="1800" b="true">
                <a:solidFill>
                  <a:srgbClr val="FFFFFF"/>
                </a:solidFill>
                <a:latin typeface="Nunito Bold"/>
                <a:ea typeface="Nunito Bold"/>
                <a:cs typeface="Nunito Bold"/>
                <a:sym typeface="Nunito Bold"/>
              </a:rPr>
              <a:t>Results</a:t>
            </a:r>
          </a:p>
        </p:txBody>
      </p:sp>
      <p:sp>
        <p:nvSpPr>
          <p:cNvPr id="24" name="Rounded Rectangle 23"/>
          <p:cNvSpPr/>
          <p:nvPr/>
        </p:nvSpPr>
        <p:spPr>
          <a:xfrm>
            <a:off x="6471866" y="2559050"/>
            <a:ext cx="1474931" cy="420624"/>
          </a:xfrm>
          <a:prstGeom prst="roundRect">
            <a:avLst>
              <a:gd name="adj" fmla="val 50000"/>
            </a:avLst>
          </a:prstGeom>
          <a:noFill/>
          <a:ln w="28575">
            <a:solidFill>
              <a:srgbClr val="4472C4"/>
            </a:solidFill>
          </a:ln>
        </p:spPr>
        <p:txBody>
          <a:bodyPr anchor="ctr" rtlCol="false" lIns="45720" tIns="0" rIns="45720" bIns="0" wrap="square"/>
          <a:lstStyle/>
          <a:p>
            <a:pPr algn="ctr">
              <a:lnSpc>
                <a:spcPts val="2160"/>
              </a:lnSpc>
              <a:spcBef>
                <a:spcPts val="0"/>
              </a:spcBef>
              <a:buNone/>
            </a:pPr>
            <a:r>
              <a:rPr lang="en-US" sz="1800" b="true">
                <a:solidFill>
                  <a:srgbClr val="4472C4"/>
                </a:solidFill>
                <a:latin typeface="Nunito Bold"/>
                <a:ea typeface="Nunito Bold"/>
                <a:cs typeface="Nunito Bold"/>
                <a:sym typeface="Nunito Bold"/>
              </a:rPr>
              <a:t>Findings</a:t>
            </a:r>
          </a:p>
        </p:txBody>
      </p:sp>
      <p:sp>
        <p:nvSpPr>
          <p:cNvPr id="25" name="TextBox 24"/>
          <p:cNvSpPr txBox="1"/>
          <p:nvPr/>
        </p:nvSpPr>
        <p:spPr>
          <a:xfrm>
            <a:off x="1028700" y="3363722"/>
            <a:ext cx="6766560" cy="5853430"/>
          </a:xfrm>
          <a:prstGeom prst="rect">
            <a:avLst/>
          </a:prstGeom>
          <a:noFill/>
        </p:spPr>
        <p:txBody>
          <a:bodyPr anchor="t" rtlCol="false" lIns="0" tIns="0" rIns="0" bIns="0" wrap="square"/>
          <a:lstStyle/>
          <a:p>
            <a:pPr algn="l">
              <a:lnSpc>
                <a:spcPts val="2750"/>
              </a:lnSpc>
              <a:spcBef>
                <a:spcPts val="0"/>
              </a:spcBef>
              <a:buNone/>
            </a:pPr>
            <a:r>
              <a:rPr lang="en-US" sz="2200" b="true">
                <a:solidFill>
                  <a:srgbClr val="4472C4"/>
                </a:solidFill>
                <a:latin typeface="Nunito Ultra-Bold"/>
                <a:ea typeface="Nunito Ultra-Bold"/>
                <a:cs typeface="Nunito Ultra-Bold"/>
                <a:sym typeface="Nunito Ultra-Bold"/>
              </a:rPr>
              <a:t>Reading the ranking</a:t>
            </a:r>
          </a:p>
          <a:p>
            <a:pPr algn="l" marL="274320" indent="-274320">
              <a:lnSpc>
                <a:spcPts val="2660"/>
              </a:lnSpc>
              <a:spcBef>
                <a:spcPts val="0"/>
              </a:spcBef>
              <a:buClr>
                <a:srgbClr val="1F7A8C"/>
              </a:buClr>
              <a:buSzPct val="100000"/>
              <a:buFont typeface="Arial"/>
              <a:buChar char="•"/>
            </a:pPr>
            <a:r>
              <a:rPr lang="en-US" sz="1900" b="true">
                <a:solidFill>
                  <a:srgbClr val="111111"/>
                </a:solidFill>
                <a:latin typeface="Nunito Bold"/>
                <a:ea typeface="Nunito Bold"/>
                <a:cs typeface="Nunito Bold"/>
                <a:sym typeface="Nunito Bold"/>
              </a:rPr>
              <a:t>Temperature, dew point and pressure</a:t>
            </a:r>
            <a:r>
              <a:rPr lang="en-US" sz="1900" b="true">
                <a:solidFill>
                  <a:srgbClr val="111111"/>
                </a:solidFill>
                <a:latin typeface="Nunito Semi-Bold"/>
                <a:ea typeface="Nunito Semi-Bold"/>
                <a:cs typeface="Nunito Semi-Bold"/>
                <a:sym typeface="Nunito Semi-Bold"/>
              </a:rPr>
              <a:t> lead the ranking; CO, NO₂, PM10 and PM2.5 follow.</a:t>
            </a:r>
          </a:p>
          <a:p>
            <a:pPr algn="l" marL="274320" indent="-274320">
              <a:lnSpc>
                <a:spcPts val="2660"/>
              </a:lnSpc>
              <a:spcBef>
                <a:spcPts val="1000"/>
              </a:spcBef>
              <a:buClr>
                <a:srgbClr val="1F7A8C"/>
              </a:buClr>
              <a:buSzPct val="100000"/>
              <a:buFont typeface="Arial"/>
              <a:buChar char="•"/>
            </a:pPr>
            <a:r>
              <a:rPr lang="en-US" sz="1900" b="true">
                <a:solidFill>
                  <a:srgbClr val="111111"/>
                </a:solidFill>
                <a:latin typeface="Nunito Semi-Bold"/>
                <a:ea typeface="Nunito Semi-Bold"/>
                <a:cs typeface="Nunito Semi-Bold"/>
                <a:sym typeface="Nunito Semi-Bold"/>
              </a:rPr>
              <a:t>It is </a:t>
            </a:r>
            <a:r>
              <a:rPr lang="en-US" sz="1900" b="true">
                <a:solidFill>
                  <a:srgbClr val="111111"/>
                </a:solidFill>
                <a:latin typeface="Nunito Bold"/>
                <a:ea typeface="Nunito Bold"/>
                <a:cs typeface="Nunito Bold"/>
                <a:sym typeface="Nunito Bold"/>
              </a:rPr>
              <a:t>NOT only pollutant concentrations</a:t>
            </a:r>
            <a:r>
              <a:rPr lang="en-US" sz="1900" b="true">
                <a:solidFill>
                  <a:srgbClr val="111111"/>
                </a:solidFill>
                <a:latin typeface="Nunito Semi-Bold"/>
                <a:ea typeface="Nunito Semi-Bold"/>
                <a:cs typeface="Nunito Semi-Bold"/>
                <a:sym typeface="Nunito Semi-Bold"/>
              </a:rPr>
              <a:t> that matter: weather variables play a </a:t>
            </a:r>
            <a:r>
              <a:rPr lang="en-US" sz="1900" b="true">
                <a:solidFill>
                  <a:srgbClr val="111111"/>
                </a:solidFill>
                <a:latin typeface="Nunito Bold"/>
                <a:ea typeface="Nunito Bold"/>
                <a:cs typeface="Nunito Bold"/>
                <a:sym typeface="Nunito Bold"/>
              </a:rPr>
              <a:t>central role in the structure</a:t>
            </a:r>
            <a:r>
              <a:rPr lang="en-US" sz="1900" b="true">
                <a:solidFill>
                  <a:srgbClr val="111111"/>
                </a:solidFill>
                <a:latin typeface="Nunito Semi-Bold"/>
                <a:ea typeface="Nunito Semi-Bold"/>
                <a:cs typeface="Nunito Semi-Bold"/>
                <a:sym typeface="Nunito Semi-Bold"/>
              </a:rPr>
              <a:t>.</a:t>
            </a:r>
          </a:p>
          <a:p>
            <a:pPr algn="l" marL="274320" indent="-274320">
              <a:lnSpc>
                <a:spcPts val="2660"/>
              </a:lnSpc>
              <a:spcBef>
                <a:spcPts val="1000"/>
              </a:spcBef>
              <a:buClr>
                <a:srgbClr val="1F7A8C"/>
              </a:buClr>
              <a:buSzPct val="100000"/>
              <a:buFont typeface="Arial"/>
              <a:buChar char="•"/>
            </a:pPr>
            <a:r>
              <a:rPr lang="en-US" sz="1900" b="true">
                <a:solidFill>
                  <a:srgbClr val="111111"/>
                </a:solidFill>
                <a:latin typeface="Nunito Semi-Bold"/>
                <a:ea typeface="Nunito Semi-Bold"/>
                <a:cs typeface="Nunito Semi-Bold"/>
                <a:sym typeface="Nunito Semi-Bold"/>
              </a:rPr>
              <a:t>Temperature, dew point and pressure control </a:t>
            </a:r>
            <a:r>
              <a:rPr lang="en-US" sz="1900" b="true">
                <a:solidFill>
                  <a:srgbClr val="111111"/>
                </a:solidFill>
                <a:latin typeface="Nunito Bold"/>
                <a:ea typeface="Nunito Bold"/>
                <a:cs typeface="Nunito Bold"/>
                <a:sym typeface="Nunito Bold"/>
              </a:rPr>
              <a:t>dispersion, trapping and sunlight-driven chemistry</a:t>
            </a:r>
            <a:r>
              <a:rPr lang="en-US" sz="1900" b="true">
                <a:solidFill>
                  <a:srgbClr val="111111"/>
                </a:solidFill>
                <a:latin typeface="Nunito Semi-Bold"/>
                <a:ea typeface="Nunito Semi-Bold"/>
                <a:cs typeface="Nunito Semi-Bold"/>
                <a:sym typeface="Nunito Semi-Bold"/>
              </a:rPr>
              <a:t>.</a:t>
            </a:r>
          </a:p>
          <a:p>
            <a:pPr algn="l" marL="274320" indent="-274320">
              <a:lnSpc>
                <a:spcPts val="2660"/>
              </a:lnSpc>
              <a:spcBef>
                <a:spcPts val="1000"/>
              </a:spcBef>
              <a:buClr>
                <a:srgbClr val="1F7A8C"/>
              </a:buClr>
              <a:buSzPct val="100000"/>
              <a:buFont typeface="Arial"/>
              <a:buChar char="•"/>
            </a:pPr>
            <a:r>
              <a:rPr lang="en-US" sz="1900" b="true">
                <a:solidFill>
                  <a:srgbClr val="111111"/>
                </a:solidFill>
                <a:latin typeface="Nunito Semi-Bold"/>
                <a:ea typeface="Nunito Semi-Bold"/>
                <a:cs typeface="Nunito Semi-Bold"/>
                <a:sym typeface="Nunito Semi-Bold"/>
              </a:rPr>
              <a:t>This is the kind of insight that flat summaries often fail to make explicit.</a:t>
            </a:r>
          </a:p>
        </p:txBody>
      </p:sp>
      <p:sp>
        <p:nvSpPr>
          <p:cNvPr id="26" name="Rounded Rectangle 25"/>
          <p:cNvSpPr/>
          <p:nvPr/>
        </p:nvSpPr>
        <p:spPr>
          <a:xfrm>
            <a:off x="8252460" y="3363722"/>
            <a:ext cx="9006840" cy="5853430"/>
          </a:xfrm>
          <a:prstGeom prst="roundRect">
            <a:avLst>
              <a:gd name="adj" fmla="val 3905"/>
            </a:avLst>
          </a:prstGeom>
          <a:solidFill>
            <a:srgbClr val="FFFFFF"/>
          </a:solidFill>
          <a:ln w="15875">
            <a:solidFill>
              <a:srgbClr val="E3D6C4"/>
            </a:solidFill>
          </a:ln>
        </p:spPr>
        <p:txBody>
          <a:bodyPr anchor="ctr" rtlCol="false" lIns="0" tIns="0" rIns="0" bIns="0" wrap="square"/>
          <a:lstStyle/>
          <a:p>
            <a:endParaRPr lang="en-US" sz="1800"/>
          </a:p>
        </p:txBody>
      </p:sp>
      <p:pic>
        <p:nvPicPr>
          <p:cNvPr id="27" name="Picture 26" descr="fig6_1_beijing_global.png"/>
          <p:cNvPicPr>
            <a:picLocks noChangeAspect="1"/>
          </p:cNvPicPr>
          <p:nvPr/>
        </p:nvPicPr>
        <p:blipFill>
          <a:blip r:embed="rId4"/>
          <a:stretch>
            <a:fillRect/>
          </a:stretch>
        </p:blipFill>
        <p:spPr>
          <a:xfrm>
            <a:off x="9013665" y="3546602"/>
            <a:ext cx="7484428" cy="5076190"/>
          </a:xfrm>
          <a:prstGeom prst="rect">
            <a:avLst/>
          </a:prstGeom>
        </p:spPr>
      </p:pic>
      <p:sp>
        <p:nvSpPr>
          <p:cNvPr id="28" name="TextBox 27"/>
          <p:cNvSpPr txBox="1"/>
          <p:nvPr/>
        </p:nvSpPr>
        <p:spPr>
          <a:xfrm>
            <a:off x="8252460" y="8759952"/>
            <a:ext cx="9006840" cy="411480"/>
          </a:xfrm>
          <a:prstGeom prst="rect">
            <a:avLst/>
          </a:prstGeom>
          <a:noFill/>
        </p:spPr>
        <p:txBody>
          <a:bodyPr anchor="ctr" rtlCol="false" lIns="0" tIns="0" rIns="0" bIns="0" wrap="square"/>
          <a:lstStyle/>
          <a:p>
            <a:pPr algn="ctr">
              <a:lnSpc>
                <a:spcPts val="1700"/>
              </a:lnSpc>
              <a:spcBef>
                <a:spcPts val="0"/>
              </a:spcBef>
              <a:buNone/>
            </a:pPr>
            <a:r>
              <a:rPr lang="en-US" sz="1400" b="true">
                <a:solidFill>
                  <a:srgbClr val="8A8378"/>
                </a:solidFill>
                <a:latin typeface="Nunito Semi-Bold"/>
                <a:ea typeface="Nunito Semi-Bold"/>
                <a:cs typeface="Nunito Semi-Bold"/>
                <a:sym typeface="Nunito Semi-Bold"/>
              </a:rPr>
              <a:t>Fig. 6.1 (thesis): global SHAP importance at the coarse level, Beijing Air Quality</a:t>
            </a:r>
          </a:p>
        </p:txBody>
      </p:sp>
    </p:spTree>
  </p:cSld>
  <p:clrMapOvr>
    <a:masterClrMapping/>
  </p:clrMapOvr>
</p:sld>
</file>

<file path=ppt/slides/slide6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pic>
        <p:nvPicPr>
          <p:cNvPr id="2" name="Picture 1" descr="ensias_logo.jpg"/>
          <p:cNvPicPr>
            <a:picLocks noChangeAspect="1"/>
          </p:cNvPicPr>
          <p:nvPr/>
        </p:nvPicPr>
        <p:blipFill>
          <a:blip r:embed="rId2"/>
          <a:stretch>
            <a:fillRect/>
          </a:stretch>
        </p:blipFill>
        <p:spPr>
          <a:xfrm>
            <a:off x="1028700" y="9674352"/>
            <a:ext cx="542964" cy="384048"/>
          </a:xfrm>
          <a:prstGeom prst="rect">
            <a:avLst/>
          </a:prstGeom>
        </p:spPr>
      </p:pic>
      <p:sp>
        <p:nvSpPr>
          <p:cNvPr id="3" name="TextBox 2"/>
          <p:cNvSpPr txBox="1"/>
          <p:nvPr/>
        </p:nvSpPr>
        <p:spPr>
          <a:xfrm>
            <a:off x="1577340" y="9601200"/>
            <a:ext cx="14493240" cy="566928"/>
          </a:xfrm>
          <a:prstGeom prst="rect">
            <a:avLst/>
          </a:prstGeom>
          <a:noFill/>
        </p:spPr>
        <p:txBody>
          <a:bodyPr anchor="ctr" rtlCol="false" lIns="0" tIns="0" rIns="0" bIns="0" wrap="square"/>
          <a:lstStyle/>
          <a:p>
            <a:pPr algn="l">
              <a:lnSpc>
                <a:spcPts val="1200"/>
              </a:lnSpc>
              <a:spcBef>
                <a:spcPts val="0"/>
              </a:spcBef>
              <a:buNone/>
            </a:pPr>
            <a:r>
              <a:rPr lang="en-US" sz="1000" b="true">
                <a:solidFill>
                  <a:srgbClr val="8A8378"/>
                </a:solidFill>
                <a:latin typeface="Nunito Semi-Bold"/>
                <a:ea typeface="Nunito Semi-Bold"/>
                <a:cs typeface="Nunito Semi-Bold"/>
                <a:sym typeface="Nunito Semi-Bold"/>
              </a:rPr>
              <a:t>[2] Louhichi, M., Nesmaoui, R. &amp; Lazaar, M. Game Theory Meets Explainable AI: An Enhanced Approach to Understanding Black Box Models Through Shapley Values. IJACSA 16(7), 716–725 (2025).</a:t>
            </a:r>
          </a:p>
        </p:txBody>
      </p:sp>
      <p:sp>
        <p:nvSpPr>
          <p:cNvPr id="4" name="TextBox 3"/>
          <p:cNvSpPr txBox="1"/>
          <p:nvPr/>
        </p:nvSpPr>
        <p:spPr>
          <a:xfrm>
            <a:off x="16162020" y="9692640"/>
            <a:ext cx="1097280" cy="329184"/>
          </a:xfrm>
          <a:prstGeom prst="rect">
            <a:avLst/>
          </a:prstGeom>
          <a:noFill/>
        </p:spPr>
        <p:txBody>
          <a:bodyPr anchor="t" rtlCol="false" lIns="0" tIns="0" rIns="0" bIns="0" wrap="square"/>
          <a:lstStyle/>
          <a:p>
            <a:pPr algn="r">
              <a:lnSpc>
                <a:spcPts val="2200"/>
              </a:lnSpc>
              <a:spcBef>
                <a:spcPts val="0"/>
              </a:spcBef>
              <a:buNone/>
            </a:pPr>
            <a:r>
              <a:rPr lang="en-US" sz="1800" b="true">
                <a:solidFill>
                  <a:srgbClr val="111111"/>
                </a:solidFill>
                <a:latin typeface="Nunito Ultra-Bold"/>
                <a:ea typeface="Nunito Ultra-Bold"/>
                <a:cs typeface="Nunito Ultra-Bold"/>
                <a:sym typeface="Nunito Ultra-Bold"/>
              </a:rPr>
              <a:t>46</a:t>
            </a:r>
          </a:p>
        </p:txBody>
      </p:sp>
      <p:sp>
        <p:nvSpPr>
          <p:cNvPr id="5" name="TextBox 4"/>
          <p:cNvSpPr txBox="1"/>
          <p:nvPr/>
        </p:nvSpPr>
        <p:spPr>
          <a:xfrm>
            <a:off x="1028700" y="1389888"/>
            <a:ext cx="12938760" cy="329184"/>
          </a:xfrm>
          <a:prstGeom prst="rect">
            <a:avLst/>
          </a:prstGeom>
          <a:noFill/>
        </p:spPr>
        <p:txBody>
          <a:bodyPr anchor="t" rtlCol="false" lIns="0" tIns="0" rIns="0" bIns="0" wrap="square"/>
          <a:lstStyle/>
          <a:p>
            <a:pPr algn="l">
              <a:lnSpc>
                <a:spcPts val="2000"/>
              </a:lnSpc>
              <a:spcBef>
                <a:spcPts val="0"/>
              </a:spcBef>
              <a:buNone/>
            </a:pPr>
            <a:r>
              <a:rPr lang="en-US" sz="1500" b="true" spc="160">
                <a:solidFill>
                  <a:srgbClr val="1F7A8C"/>
                </a:solidFill>
                <a:latin typeface="Nunito Ultra-Bold"/>
                <a:ea typeface="Nunito Ultra-Bold"/>
                <a:cs typeface="Nunito Ultra-Bold"/>
                <a:sym typeface="Nunito Ultra-Bold"/>
              </a:rPr>
              <a:t>CONTRIBUTION II: MULTI-LEVEL XAI FOR LARGE-SCALE CLUSTERING</a:t>
            </a:r>
          </a:p>
        </p:txBody>
      </p:sp>
      <p:sp>
        <p:nvSpPr>
          <p:cNvPr id="6" name="Rounded Rectangle 5"/>
          <p:cNvSpPr/>
          <p:nvPr/>
        </p:nvSpPr>
        <p:spPr>
          <a:xfrm>
            <a:off x="14516100"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7" name="TextBox 6"/>
          <p:cNvSpPr txBox="1"/>
          <p:nvPr/>
        </p:nvSpPr>
        <p:spPr>
          <a:xfrm>
            <a:off x="14516100"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1</a:t>
            </a:r>
          </a:p>
        </p:txBody>
      </p:sp>
      <p:sp>
        <p:nvSpPr>
          <p:cNvPr id="8" name="Rounded Rectangle 7"/>
          <p:cNvSpPr/>
          <p:nvPr/>
        </p:nvSpPr>
        <p:spPr>
          <a:xfrm>
            <a:off x="14918436"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9" name="TextBox 8"/>
          <p:cNvSpPr txBox="1"/>
          <p:nvPr/>
        </p:nvSpPr>
        <p:spPr>
          <a:xfrm>
            <a:off x="14918436"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2</a:t>
            </a:r>
          </a:p>
        </p:txBody>
      </p:sp>
      <p:sp>
        <p:nvSpPr>
          <p:cNvPr id="10" name="Rounded Rectangle 9"/>
          <p:cNvSpPr/>
          <p:nvPr/>
        </p:nvSpPr>
        <p:spPr>
          <a:xfrm>
            <a:off x="15320772"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11" name="TextBox 10"/>
          <p:cNvSpPr txBox="1"/>
          <p:nvPr/>
        </p:nvSpPr>
        <p:spPr>
          <a:xfrm>
            <a:off x="15320772"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3</a:t>
            </a:r>
          </a:p>
        </p:txBody>
      </p:sp>
      <p:sp>
        <p:nvSpPr>
          <p:cNvPr id="12" name="Rounded Rectangle 11"/>
          <p:cNvSpPr/>
          <p:nvPr/>
        </p:nvSpPr>
        <p:spPr>
          <a:xfrm>
            <a:off x="15723108"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13" name="TextBox 12"/>
          <p:cNvSpPr txBox="1"/>
          <p:nvPr/>
        </p:nvSpPr>
        <p:spPr>
          <a:xfrm>
            <a:off x="15723108"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4</a:t>
            </a:r>
          </a:p>
        </p:txBody>
      </p:sp>
      <p:sp>
        <p:nvSpPr>
          <p:cNvPr id="14" name="Rounded Rectangle 13"/>
          <p:cNvSpPr/>
          <p:nvPr/>
        </p:nvSpPr>
        <p:spPr>
          <a:xfrm>
            <a:off x="16125444" y="1371600"/>
            <a:ext cx="329184" cy="329184"/>
          </a:xfrm>
          <a:prstGeom prst="roundRect">
            <a:avLst>
              <a:gd name="adj" fmla="val 16666"/>
            </a:avLst>
          </a:prstGeom>
          <a:solidFill>
            <a:srgbClr val="4472C4"/>
          </a:solidFill>
          <a:ln w="15875">
            <a:solidFill>
              <a:srgbClr val="4472C4"/>
            </a:solidFill>
          </a:ln>
        </p:spPr>
        <p:txBody>
          <a:bodyPr anchor="ctr" rtlCol="false" lIns="0" tIns="0" rIns="0" bIns="0" wrap="square"/>
          <a:lstStyle/>
          <a:p>
            <a:endParaRPr lang="en-US" sz="1800"/>
          </a:p>
        </p:txBody>
      </p:sp>
      <p:sp>
        <p:nvSpPr>
          <p:cNvPr id="15" name="TextBox 14"/>
          <p:cNvSpPr txBox="1"/>
          <p:nvPr/>
        </p:nvSpPr>
        <p:spPr>
          <a:xfrm>
            <a:off x="16125444"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FFFFFF"/>
                </a:solidFill>
                <a:latin typeface="Nunito Ultra-Bold"/>
                <a:ea typeface="Nunito Ultra-Bold"/>
                <a:cs typeface="Nunito Ultra-Bold"/>
                <a:sym typeface="Nunito Ultra-Bold"/>
              </a:rPr>
              <a:t>5</a:t>
            </a:r>
          </a:p>
        </p:txBody>
      </p:sp>
      <p:sp>
        <p:nvSpPr>
          <p:cNvPr id="16" name="Rounded Rectangle 15"/>
          <p:cNvSpPr/>
          <p:nvPr/>
        </p:nvSpPr>
        <p:spPr>
          <a:xfrm>
            <a:off x="16527780"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17" name="TextBox 16"/>
          <p:cNvSpPr txBox="1"/>
          <p:nvPr/>
        </p:nvSpPr>
        <p:spPr>
          <a:xfrm>
            <a:off x="16527780"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6</a:t>
            </a:r>
          </a:p>
        </p:txBody>
      </p:sp>
      <p:sp>
        <p:nvSpPr>
          <p:cNvPr id="18" name="Rounded Rectangle 17"/>
          <p:cNvSpPr/>
          <p:nvPr/>
        </p:nvSpPr>
        <p:spPr>
          <a:xfrm>
            <a:off x="16930116"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19" name="TextBox 18"/>
          <p:cNvSpPr txBox="1"/>
          <p:nvPr/>
        </p:nvSpPr>
        <p:spPr>
          <a:xfrm>
            <a:off x="16930116"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7</a:t>
            </a:r>
          </a:p>
        </p:txBody>
      </p:sp>
      <p:sp>
        <p:nvSpPr>
          <p:cNvPr id="20" name="TextBox 19"/>
          <p:cNvSpPr txBox="1"/>
          <p:nvPr/>
        </p:nvSpPr>
        <p:spPr>
          <a:xfrm>
            <a:off x="1028700" y="1719072"/>
            <a:ext cx="16230600" cy="730250"/>
          </a:xfrm>
          <a:prstGeom prst="rect">
            <a:avLst/>
          </a:prstGeom>
          <a:noFill/>
        </p:spPr>
        <p:txBody>
          <a:bodyPr anchor="t" rtlCol="false" lIns="0" tIns="0" rIns="0" bIns="0" wrap="square"/>
          <a:lstStyle/>
          <a:p>
            <a:pPr algn="l">
              <a:lnSpc>
                <a:spcPts val="5060"/>
              </a:lnSpc>
              <a:spcBef>
                <a:spcPts val="0"/>
              </a:spcBef>
              <a:buNone/>
            </a:pPr>
            <a:r>
              <a:rPr lang="en-US" sz="4600" b="true" spc="-230">
                <a:solidFill>
                  <a:srgbClr val="111111"/>
                </a:solidFill>
                <a:latin typeface="Roca Two Bold"/>
                <a:ea typeface="Roca Two Bold"/>
                <a:cs typeface="Roca Two Bold"/>
                <a:sym typeface="Roca Two Bold"/>
              </a:rPr>
              <a:t>How Importance Changes Across Levels</a:t>
            </a:r>
          </a:p>
        </p:txBody>
      </p:sp>
      <p:sp>
        <p:nvSpPr>
          <p:cNvPr id="21" name="Rounded Rectangle 20"/>
          <p:cNvSpPr/>
          <p:nvPr/>
        </p:nvSpPr>
        <p:spPr>
          <a:xfrm>
            <a:off x="1028700" y="2559050"/>
            <a:ext cx="1691553" cy="420624"/>
          </a:xfrm>
          <a:prstGeom prst="roundRect">
            <a:avLst>
              <a:gd name="adj" fmla="val 50000"/>
            </a:avLst>
          </a:prstGeom>
          <a:noFill/>
          <a:ln w="28575">
            <a:solidFill>
              <a:srgbClr val="4472C4"/>
            </a:solidFill>
          </a:ln>
        </p:spPr>
        <p:txBody>
          <a:bodyPr anchor="ctr" rtlCol="false" lIns="45720" tIns="0" rIns="45720" bIns="0" wrap="square"/>
          <a:lstStyle/>
          <a:p>
            <a:pPr algn="ctr">
              <a:lnSpc>
                <a:spcPts val="2160"/>
              </a:lnSpc>
              <a:spcBef>
                <a:spcPts val="0"/>
              </a:spcBef>
              <a:buNone/>
            </a:pPr>
            <a:r>
              <a:rPr lang="en-US" sz="1800" b="true">
                <a:solidFill>
                  <a:srgbClr val="4472C4"/>
                </a:solidFill>
                <a:latin typeface="Nunito Bold"/>
                <a:ea typeface="Nunito Bold"/>
                <a:cs typeface="Nunito Bold"/>
                <a:sym typeface="Nunito Bold"/>
              </a:rPr>
              <a:t>Objectives</a:t>
            </a:r>
          </a:p>
        </p:txBody>
      </p:sp>
      <p:sp>
        <p:nvSpPr>
          <p:cNvPr id="22" name="Rounded Rectangle 21"/>
          <p:cNvSpPr/>
          <p:nvPr/>
        </p:nvSpPr>
        <p:spPr>
          <a:xfrm>
            <a:off x="2848269" y="2559050"/>
            <a:ext cx="1998119" cy="420624"/>
          </a:xfrm>
          <a:prstGeom prst="roundRect">
            <a:avLst>
              <a:gd name="adj" fmla="val 50000"/>
            </a:avLst>
          </a:prstGeom>
          <a:noFill/>
          <a:ln w="28575">
            <a:solidFill>
              <a:srgbClr val="4472C4"/>
            </a:solidFill>
          </a:ln>
        </p:spPr>
        <p:txBody>
          <a:bodyPr anchor="ctr" rtlCol="false" lIns="45720" tIns="0" rIns="45720" bIns="0" wrap="square"/>
          <a:lstStyle/>
          <a:p>
            <a:pPr algn="ctr">
              <a:lnSpc>
                <a:spcPts val="2160"/>
              </a:lnSpc>
              <a:spcBef>
                <a:spcPts val="0"/>
              </a:spcBef>
              <a:buNone/>
            </a:pPr>
            <a:r>
              <a:rPr lang="en-US" sz="1800" b="true">
                <a:solidFill>
                  <a:srgbClr val="4472C4"/>
                </a:solidFill>
                <a:latin typeface="Nunito Bold"/>
                <a:ea typeface="Nunito Bold"/>
                <a:cs typeface="Nunito Bold"/>
                <a:sym typeface="Nunito Bold"/>
              </a:rPr>
              <a:t>Methodology</a:t>
            </a:r>
          </a:p>
        </p:txBody>
      </p:sp>
      <p:sp>
        <p:nvSpPr>
          <p:cNvPr id="23" name="Rounded Rectangle 22"/>
          <p:cNvSpPr/>
          <p:nvPr/>
        </p:nvSpPr>
        <p:spPr>
          <a:xfrm>
            <a:off x="4974404" y="2559050"/>
            <a:ext cx="1369446" cy="420624"/>
          </a:xfrm>
          <a:prstGeom prst="roundRect">
            <a:avLst>
              <a:gd name="adj" fmla="val 50000"/>
            </a:avLst>
          </a:prstGeom>
          <a:solidFill>
            <a:srgbClr val="4472C4"/>
          </a:solidFill>
          <a:ln>
            <a:noFill/>
          </a:ln>
        </p:spPr>
        <p:txBody>
          <a:bodyPr anchor="ctr" rtlCol="false" lIns="45720" tIns="0" rIns="45720" bIns="0" wrap="square"/>
          <a:lstStyle/>
          <a:p>
            <a:pPr algn="ctr">
              <a:lnSpc>
                <a:spcPts val="2160"/>
              </a:lnSpc>
              <a:spcBef>
                <a:spcPts val="0"/>
              </a:spcBef>
              <a:buNone/>
            </a:pPr>
            <a:r>
              <a:rPr lang="en-US" sz="1800" b="true">
                <a:solidFill>
                  <a:srgbClr val="FFFFFF"/>
                </a:solidFill>
                <a:latin typeface="Nunito Bold"/>
                <a:ea typeface="Nunito Bold"/>
                <a:cs typeface="Nunito Bold"/>
                <a:sym typeface="Nunito Bold"/>
              </a:rPr>
              <a:t>Results</a:t>
            </a:r>
          </a:p>
        </p:txBody>
      </p:sp>
      <p:sp>
        <p:nvSpPr>
          <p:cNvPr id="24" name="Rounded Rectangle 23"/>
          <p:cNvSpPr/>
          <p:nvPr/>
        </p:nvSpPr>
        <p:spPr>
          <a:xfrm>
            <a:off x="6471866" y="2559050"/>
            <a:ext cx="1474931" cy="420624"/>
          </a:xfrm>
          <a:prstGeom prst="roundRect">
            <a:avLst>
              <a:gd name="adj" fmla="val 50000"/>
            </a:avLst>
          </a:prstGeom>
          <a:noFill/>
          <a:ln w="28575">
            <a:solidFill>
              <a:srgbClr val="4472C4"/>
            </a:solidFill>
          </a:ln>
        </p:spPr>
        <p:txBody>
          <a:bodyPr anchor="ctr" rtlCol="false" lIns="45720" tIns="0" rIns="45720" bIns="0" wrap="square"/>
          <a:lstStyle/>
          <a:p>
            <a:pPr algn="ctr">
              <a:lnSpc>
                <a:spcPts val="2160"/>
              </a:lnSpc>
              <a:spcBef>
                <a:spcPts val="0"/>
              </a:spcBef>
              <a:buNone/>
            </a:pPr>
            <a:r>
              <a:rPr lang="en-US" sz="1800" b="true">
                <a:solidFill>
                  <a:srgbClr val="4472C4"/>
                </a:solidFill>
                <a:latin typeface="Nunito Bold"/>
                <a:ea typeface="Nunito Bold"/>
                <a:cs typeface="Nunito Bold"/>
                <a:sym typeface="Nunito Bold"/>
              </a:rPr>
              <a:t>Findings</a:t>
            </a:r>
          </a:p>
        </p:txBody>
      </p:sp>
      <p:sp>
        <p:nvSpPr>
          <p:cNvPr id="25" name="Rounded Rectangle 24"/>
          <p:cNvSpPr/>
          <p:nvPr/>
        </p:nvSpPr>
        <p:spPr>
          <a:xfrm>
            <a:off x="1028700" y="3363722"/>
            <a:ext cx="16230600" cy="2331720"/>
          </a:xfrm>
          <a:prstGeom prst="roundRect">
            <a:avLst>
              <a:gd name="adj" fmla="val 9803"/>
            </a:avLst>
          </a:prstGeom>
          <a:solidFill>
            <a:srgbClr val="FFFFFF"/>
          </a:solidFill>
          <a:ln w="15875">
            <a:solidFill>
              <a:srgbClr val="E3D6C4"/>
            </a:solidFill>
          </a:ln>
        </p:spPr>
        <p:txBody>
          <a:bodyPr anchor="ctr" rtlCol="false" lIns="0" tIns="0" rIns="0" bIns="0" wrap="square"/>
          <a:lstStyle/>
          <a:p>
            <a:endParaRPr lang="en-US" sz="1800"/>
          </a:p>
        </p:txBody>
      </p:sp>
      <p:pic>
        <p:nvPicPr>
          <p:cNvPr id="26" name="Picture 25" descr="fig6_3_beijing_multilevel.png"/>
          <p:cNvPicPr>
            <a:picLocks noChangeAspect="1"/>
          </p:cNvPicPr>
          <p:nvPr/>
        </p:nvPicPr>
        <p:blipFill>
          <a:blip r:embed="rId4"/>
          <a:stretch>
            <a:fillRect/>
          </a:stretch>
        </p:blipFill>
        <p:spPr>
          <a:xfrm>
            <a:off x="6273209" y="3500882"/>
            <a:ext cx="5741581" cy="1645920"/>
          </a:xfrm>
          <a:prstGeom prst="rect">
            <a:avLst/>
          </a:prstGeom>
        </p:spPr>
      </p:pic>
      <p:sp>
        <p:nvSpPr>
          <p:cNvPr id="27" name="TextBox 26"/>
          <p:cNvSpPr txBox="1"/>
          <p:nvPr/>
        </p:nvSpPr>
        <p:spPr>
          <a:xfrm>
            <a:off x="1028700" y="5238242"/>
            <a:ext cx="16230600" cy="411480"/>
          </a:xfrm>
          <a:prstGeom prst="rect">
            <a:avLst/>
          </a:prstGeom>
          <a:noFill/>
        </p:spPr>
        <p:txBody>
          <a:bodyPr anchor="ctr" rtlCol="false" lIns="0" tIns="0" rIns="0" bIns="0" wrap="square"/>
          <a:lstStyle/>
          <a:p>
            <a:pPr algn="ctr">
              <a:lnSpc>
                <a:spcPts val="1700"/>
              </a:lnSpc>
              <a:spcBef>
                <a:spcPts val="0"/>
              </a:spcBef>
              <a:buNone/>
            </a:pPr>
            <a:r>
              <a:rPr lang="en-US" sz="1400" b="true">
                <a:solidFill>
                  <a:srgbClr val="8A8378"/>
                </a:solidFill>
                <a:latin typeface="Nunito Semi-Bold"/>
                <a:ea typeface="Nunito Semi-Bold"/>
                <a:cs typeface="Nunito Semi-Bold"/>
                <a:sym typeface="Nunito Semi-Bold"/>
              </a:rPr>
              <a:t>Fig. 6.3 (thesis): SHAP importance per sub-cluster, level 2 of the hierarchy</a:t>
            </a:r>
          </a:p>
        </p:txBody>
      </p:sp>
      <p:sp>
        <p:nvSpPr>
          <p:cNvPr id="28" name="Rounded Rectangle 27"/>
          <p:cNvSpPr/>
          <p:nvPr/>
        </p:nvSpPr>
        <p:spPr>
          <a:xfrm>
            <a:off x="1028700" y="6198362"/>
            <a:ext cx="7932420" cy="2148840"/>
          </a:xfrm>
          <a:prstGeom prst="roundRect">
            <a:avLst>
              <a:gd name="adj" fmla="val 14468"/>
            </a:avLst>
          </a:prstGeom>
          <a:solidFill>
            <a:srgbClr val="4472C4"/>
          </a:solidFill>
          <a:ln>
            <a:noFill/>
          </a:ln>
        </p:spPr>
        <p:txBody>
          <a:bodyPr anchor="ctr" rtlCol="false" lIns="0" tIns="0" rIns="0" bIns="0" wrap="square"/>
          <a:lstStyle/>
          <a:p>
            <a:endParaRPr lang="en-US" sz="1800"/>
          </a:p>
        </p:txBody>
      </p:sp>
      <p:sp>
        <p:nvSpPr>
          <p:cNvPr id="29" name="Rounded Rectangle 28"/>
          <p:cNvSpPr/>
          <p:nvPr/>
        </p:nvSpPr>
        <p:spPr>
          <a:xfrm>
            <a:off x="1485900" y="5960618"/>
            <a:ext cx="4739404" cy="438912"/>
          </a:xfrm>
          <a:prstGeom prst="roundRect">
            <a:avLst>
              <a:gd name="adj" fmla="val 50000"/>
            </a:avLst>
          </a:prstGeom>
          <a:solidFill>
            <a:srgbClr val="FFFFFF"/>
          </a:solidFill>
          <a:ln w="28575">
            <a:solidFill>
              <a:srgbClr val="FFFFFF"/>
            </a:solidFill>
          </a:ln>
        </p:spPr>
        <p:txBody>
          <a:bodyPr anchor="ctr" rtlCol="false" lIns="45720" tIns="0" rIns="45720" bIns="0" wrap="square"/>
          <a:lstStyle/>
          <a:p>
            <a:pPr algn="ctr">
              <a:lnSpc>
                <a:spcPts val="2640"/>
              </a:lnSpc>
              <a:spcBef>
                <a:spcPts val="0"/>
              </a:spcBef>
              <a:buNone/>
            </a:pPr>
            <a:r>
              <a:rPr lang="en-US" sz="2200" b="true">
                <a:solidFill>
                  <a:srgbClr val="4472C4"/>
                </a:solidFill>
                <a:latin typeface="Nunito Bold"/>
                <a:ea typeface="Nunito Bold"/>
                <a:cs typeface="Nunito Bold"/>
                <a:sym typeface="Nunito Bold"/>
              </a:rPr>
              <a:t>Coarse level · regime selection</a:t>
            </a:r>
          </a:p>
        </p:txBody>
      </p:sp>
      <p:sp>
        <p:nvSpPr>
          <p:cNvPr id="30" name="TextBox 29"/>
          <p:cNvSpPr txBox="1"/>
          <p:nvPr/>
        </p:nvSpPr>
        <p:spPr>
          <a:xfrm>
            <a:off x="1485900" y="6747002"/>
            <a:ext cx="7063740" cy="1371600"/>
          </a:xfrm>
          <a:prstGeom prst="rect">
            <a:avLst/>
          </a:prstGeom>
          <a:noFill/>
        </p:spPr>
        <p:txBody>
          <a:bodyPr anchor="t" rtlCol="false" lIns="0" tIns="0" rIns="0" bIns="0" wrap="square"/>
          <a:lstStyle/>
          <a:p>
            <a:pPr algn="l" marL="274320" indent="-274320">
              <a:lnSpc>
                <a:spcPts val="2520"/>
              </a:lnSpc>
              <a:spcBef>
                <a:spcPts val="0"/>
              </a:spcBef>
              <a:buClr>
                <a:srgbClr val="ECC665"/>
              </a:buClr>
              <a:buSzPct val="100000"/>
              <a:buFont typeface="Arial"/>
              <a:buChar char="•"/>
            </a:pPr>
            <a:r>
              <a:rPr lang="en-US" sz="1800" b="true">
                <a:solidFill>
                  <a:srgbClr val="FFFFFF"/>
                </a:solidFill>
                <a:latin typeface="Nunito Bold"/>
                <a:ea typeface="Nunito Bold"/>
                <a:cs typeface="Nunito Bold"/>
                <a:sym typeface="Nunito Bold"/>
              </a:rPr>
              <a:t>Temperature and dew point dominate</a:t>
            </a:r>
            <a:r>
              <a:rPr lang="en-US" sz="1800" b="true">
                <a:solidFill>
                  <a:srgbClr val="FFFFFF"/>
                </a:solidFill>
                <a:latin typeface="Nunito Semi-Bold"/>
                <a:ea typeface="Nunito Semi-Bold"/>
                <a:cs typeface="Nunito Semi-Bold"/>
                <a:sym typeface="Nunito Semi-Bold"/>
              </a:rPr>
              <a:t>: they separate the broad atmospheric regimes.</a:t>
            </a:r>
          </a:p>
          <a:p>
            <a:pPr algn="l" marL="274320" indent="-274320">
              <a:lnSpc>
                <a:spcPts val="2520"/>
              </a:lnSpc>
              <a:spcBef>
                <a:spcPts val="600"/>
              </a:spcBef>
              <a:buClr>
                <a:srgbClr val="ECC665"/>
              </a:buClr>
              <a:buSzPct val="100000"/>
              <a:buFont typeface="Arial"/>
              <a:buChar char="•"/>
            </a:pPr>
            <a:r>
              <a:rPr lang="en-US" sz="1800" b="true">
                <a:solidFill>
                  <a:srgbClr val="FFFFFF"/>
                </a:solidFill>
                <a:latin typeface="Nunito Semi-Bold"/>
                <a:ea typeface="Nunito Semi-Bold"/>
                <a:cs typeface="Nunito Semi-Bold"/>
                <a:sym typeface="Nunito Semi-Bold"/>
              </a:rPr>
              <a:t>Parent-level story = which regime the observation belongs to.</a:t>
            </a:r>
          </a:p>
        </p:txBody>
      </p:sp>
      <p:sp>
        <p:nvSpPr>
          <p:cNvPr id="31" name="Rounded Rectangle 30"/>
          <p:cNvSpPr/>
          <p:nvPr/>
        </p:nvSpPr>
        <p:spPr>
          <a:xfrm>
            <a:off x="9326880" y="6198362"/>
            <a:ext cx="7932420" cy="2148840"/>
          </a:xfrm>
          <a:prstGeom prst="roundRect">
            <a:avLst>
              <a:gd name="adj" fmla="val 14468"/>
            </a:avLst>
          </a:prstGeom>
          <a:solidFill>
            <a:srgbClr val="F6ECDF"/>
          </a:solidFill>
          <a:ln>
            <a:noFill/>
          </a:ln>
        </p:spPr>
        <p:txBody>
          <a:bodyPr anchor="ctr" rtlCol="false" lIns="0" tIns="0" rIns="0" bIns="0" wrap="square"/>
          <a:lstStyle/>
          <a:p>
            <a:endParaRPr lang="en-US" sz="1800"/>
          </a:p>
        </p:txBody>
      </p:sp>
      <p:sp>
        <p:nvSpPr>
          <p:cNvPr id="32" name="Rounded Rectangle 31"/>
          <p:cNvSpPr/>
          <p:nvPr/>
        </p:nvSpPr>
        <p:spPr>
          <a:xfrm>
            <a:off x="9784080" y="5960618"/>
            <a:ext cx="6203063" cy="438912"/>
          </a:xfrm>
          <a:prstGeom prst="roundRect">
            <a:avLst>
              <a:gd name="adj" fmla="val 50000"/>
            </a:avLst>
          </a:prstGeom>
          <a:solidFill>
            <a:srgbClr val="4472C4"/>
          </a:solidFill>
          <a:ln w="28575">
            <a:solidFill>
              <a:srgbClr val="4472C4"/>
            </a:solidFill>
          </a:ln>
        </p:spPr>
        <p:txBody>
          <a:bodyPr anchor="ctr" rtlCol="false" lIns="45720" tIns="0" rIns="45720" bIns="0" wrap="square"/>
          <a:lstStyle/>
          <a:p>
            <a:pPr algn="ctr">
              <a:lnSpc>
                <a:spcPts val="2640"/>
              </a:lnSpc>
              <a:spcBef>
                <a:spcPts val="0"/>
              </a:spcBef>
              <a:buNone/>
            </a:pPr>
            <a:r>
              <a:rPr lang="en-US" sz="2200" b="true">
                <a:solidFill>
                  <a:srgbClr val="FFFFFF"/>
                </a:solidFill>
                <a:latin typeface="Nunito Bold"/>
                <a:ea typeface="Nunito Bold"/>
                <a:cs typeface="Nunito Bold"/>
                <a:sym typeface="Nunito Bold"/>
              </a:rPr>
              <a:t>Within clusters · variation inside a regime</a:t>
            </a:r>
          </a:p>
        </p:txBody>
      </p:sp>
      <p:sp>
        <p:nvSpPr>
          <p:cNvPr id="33" name="TextBox 32"/>
          <p:cNvSpPr txBox="1"/>
          <p:nvPr/>
        </p:nvSpPr>
        <p:spPr>
          <a:xfrm>
            <a:off x="9784080" y="6747002"/>
            <a:ext cx="7063740" cy="1371600"/>
          </a:xfrm>
          <a:prstGeom prst="rect">
            <a:avLst/>
          </a:prstGeom>
          <a:noFill/>
        </p:spPr>
        <p:txBody>
          <a:bodyPr anchor="t" rtlCol="false" lIns="0" tIns="0" rIns="0" bIns="0" wrap="square"/>
          <a:lstStyle/>
          <a:p>
            <a:pPr algn="l" marL="274320" indent="-274320">
              <a:lnSpc>
                <a:spcPts val="2520"/>
              </a:lnSpc>
              <a:spcBef>
                <a:spcPts val="0"/>
              </a:spcBef>
              <a:buClr>
                <a:srgbClr val="1F7A8C"/>
              </a:buClr>
              <a:buSzPct val="100000"/>
              <a:buFont typeface="Arial"/>
              <a:buChar char="•"/>
            </a:pPr>
            <a:r>
              <a:rPr lang="en-US" sz="1800" b="true">
                <a:solidFill>
                  <a:srgbClr val="111111"/>
                </a:solidFill>
                <a:latin typeface="Nunito Bold"/>
                <a:ea typeface="Nunito Bold"/>
                <a:cs typeface="Nunito Bold"/>
                <a:sym typeface="Nunito Bold"/>
              </a:rPr>
              <a:t>CO, SO₂, PM10, wind speed, pressure or ozone</a:t>
            </a:r>
            <a:r>
              <a:rPr lang="en-US" sz="1800" b="true">
                <a:solidFill>
                  <a:srgbClr val="111111"/>
                </a:solidFill>
                <a:latin typeface="Nunito Semi-Bold"/>
                <a:ea typeface="Nunito Semi-Bold"/>
                <a:cs typeface="Nunito Semi-Bold"/>
                <a:sym typeface="Nunito Semi-Bold"/>
              </a:rPr>
              <a:t> become more informative.</a:t>
            </a:r>
          </a:p>
          <a:p>
            <a:pPr algn="l" marL="274320" indent="-274320">
              <a:lnSpc>
                <a:spcPts val="2520"/>
              </a:lnSpc>
              <a:spcBef>
                <a:spcPts val="600"/>
              </a:spcBef>
              <a:buClr>
                <a:srgbClr val="1F7A8C"/>
              </a:buClr>
              <a:buSzPct val="100000"/>
              <a:buFont typeface="Arial"/>
              <a:buChar char="•"/>
            </a:pPr>
            <a:r>
              <a:rPr lang="en-US" sz="1800" b="true">
                <a:solidFill>
                  <a:srgbClr val="111111"/>
                </a:solidFill>
                <a:latin typeface="Nunito Semi-Bold"/>
                <a:ea typeface="Nunito Semi-Bold"/>
                <a:cs typeface="Nunito Semi-Bold"/>
                <a:sym typeface="Nunito Semi-Bold"/>
              </a:rPr>
              <a:t>Cluster-level story = what varies once the regime is fixed.</a:t>
            </a:r>
          </a:p>
        </p:txBody>
      </p:sp>
      <p:sp>
        <p:nvSpPr>
          <p:cNvPr id="34" name="Rounded Rectangle 33"/>
          <p:cNvSpPr/>
          <p:nvPr/>
        </p:nvSpPr>
        <p:spPr>
          <a:xfrm>
            <a:off x="1028700" y="8621522"/>
            <a:ext cx="16230600" cy="595630"/>
          </a:xfrm>
          <a:prstGeom prst="roundRect">
            <a:avLst>
              <a:gd name="adj" fmla="val 46055"/>
            </a:avLst>
          </a:prstGeom>
          <a:noFill/>
          <a:ln w="31750">
            <a:solidFill>
              <a:srgbClr val="1F7A8C"/>
            </a:solidFill>
          </a:ln>
        </p:spPr>
        <p:txBody>
          <a:bodyPr anchor="ctr" rtlCol="false" lIns="0" tIns="0" rIns="0" bIns="0" wrap="square"/>
          <a:lstStyle/>
          <a:p>
            <a:endParaRPr lang="en-US" sz="1800"/>
          </a:p>
        </p:txBody>
      </p:sp>
      <p:sp>
        <p:nvSpPr>
          <p:cNvPr id="35" name="TextBox 34"/>
          <p:cNvSpPr txBox="1"/>
          <p:nvPr/>
        </p:nvSpPr>
        <p:spPr>
          <a:xfrm>
            <a:off x="1485900" y="8731250"/>
            <a:ext cx="15316200" cy="376174"/>
          </a:xfrm>
          <a:prstGeom prst="rect">
            <a:avLst/>
          </a:prstGeom>
          <a:noFill/>
        </p:spPr>
        <p:txBody>
          <a:bodyPr anchor="ctr" rtlCol="false" lIns="0" tIns="0" rIns="0" bIns="0" wrap="square"/>
          <a:lstStyle/>
          <a:p>
            <a:pPr algn="l">
              <a:lnSpc>
                <a:spcPts val="1764"/>
              </a:lnSpc>
              <a:spcBef>
                <a:spcPts val="0"/>
              </a:spcBef>
              <a:buNone/>
            </a:pPr>
            <a:r>
              <a:rPr lang="en-US" sz="1260" b="true">
                <a:solidFill>
                  <a:srgbClr val="111111"/>
                </a:solidFill>
                <a:latin typeface="Nunito Bold"/>
                <a:ea typeface="Nunito Bold"/>
                <a:cs typeface="Nunito Bold"/>
                <a:sym typeface="Nunito Bold"/>
              </a:rPr>
              <a:t>This change is NOT a contradiction. It is exactly what a multi-level explanation should reveal.</a:t>
            </a:r>
            <a:r>
              <a:rPr lang="en-US" sz="1260" b="true">
                <a:solidFill>
                  <a:srgbClr val="111111"/>
                </a:solidFill>
                <a:latin typeface="Nunito Semi-Bold"/>
                <a:ea typeface="Nunito Semi-Bold"/>
                <a:cs typeface="Nunito Semi-Bold"/>
                <a:sym typeface="Nunito Semi-Bold"/>
              </a:rPr>
              <a:t> A variable can be </a:t>
            </a:r>
            <a:r>
              <a:rPr lang="en-US" sz="1260" b="true">
                <a:solidFill>
                  <a:srgbClr val="111111"/>
                </a:solidFill>
                <a:latin typeface="Nunito Bold"/>
                <a:ea typeface="Nunito Bold"/>
                <a:cs typeface="Nunito Bold"/>
                <a:sym typeface="Nunito Bold"/>
              </a:rPr>
              <a:t>globally important yet locally uninformative</a:t>
            </a:r>
            <a:r>
              <a:rPr lang="en-US" sz="1260" b="true">
                <a:solidFill>
                  <a:srgbClr val="111111"/>
                </a:solidFill>
                <a:latin typeface="Nunito Semi-Bold"/>
                <a:ea typeface="Nunito Semi-Bold"/>
                <a:cs typeface="Nunito Semi-Bold"/>
                <a:sym typeface="Nunito Semi-Bold"/>
              </a:rPr>
              <a:t> inside a sub-cluster; Proposition 6.1 guarantees the two readings agree, up to the surrogate residual.</a:t>
            </a:r>
          </a:p>
        </p:txBody>
      </p:sp>
    </p:spTree>
  </p:cSld>
  <p:clrMapOvr>
    <a:masterClrMapping/>
  </p:clrMapOvr>
</p:sld>
</file>

<file path=ppt/slides/slide6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pic>
        <p:nvPicPr>
          <p:cNvPr id="2" name="Picture 1" descr="ensias_logo.jpg"/>
          <p:cNvPicPr>
            <a:picLocks noChangeAspect="1"/>
          </p:cNvPicPr>
          <p:nvPr/>
        </p:nvPicPr>
        <p:blipFill>
          <a:blip r:embed="rId2"/>
          <a:stretch>
            <a:fillRect/>
          </a:stretch>
        </p:blipFill>
        <p:spPr>
          <a:xfrm>
            <a:off x="1028700" y="9674352"/>
            <a:ext cx="542964" cy="384048"/>
          </a:xfrm>
          <a:prstGeom prst="rect">
            <a:avLst/>
          </a:prstGeom>
        </p:spPr>
      </p:pic>
      <p:sp>
        <p:nvSpPr>
          <p:cNvPr id="3" name="TextBox 2"/>
          <p:cNvSpPr txBox="1"/>
          <p:nvPr/>
        </p:nvSpPr>
        <p:spPr>
          <a:xfrm>
            <a:off x="1577340" y="9747504"/>
            <a:ext cx="12801600" cy="274320"/>
          </a:xfrm>
          <a:prstGeom prst="rect">
            <a:avLst/>
          </a:prstGeom>
          <a:noFill/>
        </p:spPr>
        <p:txBody>
          <a:bodyPr anchor="t" rtlCol="false" lIns="0" tIns="0" rIns="0" bIns="0" wrap="square"/>
          <a:lstStyle/>
          <a:p>
            <a:pPr algn="l">
              <a:lnSpc>
                <a:spcPts val="1600"/>
              </a:lnSpc>
              <a:spcBef>
                <a:spcPts val="0"/>
              </a:spcBef>
              <a:buNone/>
            </a:pPr>
            <a:r>
              <a:rPr lang="en-US" sz="1300" b="true">
                <a:solidFill>
                  <a:srgbClr val="8A8378"/>
                </a:solidFill>
                <a:latin typeface="Nunito Bold"/>
                <a:ea typeface="Nunito Bold"/>
                <a:cs typeface="Nunito Bold"/>
                <a:sym typeface="Nunito Bold"/>
              </a:rPr>
              <a:t>Cooperative Game Theory for Explainable AI in Recommendation Systems  ·  A Shapley Framework for Actionable Insight</a:t>
            </a:r>
          </a:p>
        </p:txBody>
      </p:sp>
      <p:sp>
        <p:nvSpPr>
          <p:cNvPr id="4" name="TextBox 3"/>
          <p:cNvSpPr txBox="1"/>
          <p:nvPr/>
        </p:nvSpPr>
        <p:spPr>
          <a:xfrm>
            <a:off x="16162020" y="9692640"/>
            <a:ext cx="1097280" cy="329184"/>
          </a:xfrm>
          <a:prstGeom prst="rect">
            <a:avLst/>
          </a:prstGeom>
          <a:noFill/>
        </p:spPr>
        <p:txBody>
          <a:bodyPr anchor="t" rtlCol="false" lIns="0" tIns="0" rIns="0" bIns="0" wrap="square"/>
          <a:lstStyle/>
          <a:p>
            <a:pPr algn="r">
              <a:lnSpc>
                <a:spcPts val="2200"/>
              </a:lnSpc>
              <a:spcBef>
                <a:spcPts val="0"/>
              </a:spcBef>
              <a:buNone/>
            </a:pPr>
            <a:r>
              <a:rPr lang="en-US" sz="1800" b="true">
                <a:solidFill>
                  <a:srgbClr val="111111"/>
                </a:solidFill>
                <a:latin typeface="Nunito Ultra-Bold"/>
                <a:ea typeface="Nunito Ultra-Bold"/>
                <a:cs typeface="Nunito Ultra-Bold"/>
                <a:sym typeface="Nunito Ultra-Bold"/>
              </a:rPr>
              <a:t>47</a:t>
            </a:r>
          </a:p>
        </p:txBody>
      </p:sp>
      <p:sp>
        <p:nvSpPr>
          <p:cNvPr id="5" name="TextBox 4"/>
          <p:cNvSpPr txBox="1"/>
          <p:nvPr/>
        </p:nvSpPr>
        <p:spPr>
          <a:xfrm>
            <a:off x="1028700" y="1389888"/>
            <a:ext cx="12938760" cy="329184"/>
          </a:xfrm>
          <a:prstGeom prst="rect">
            <a:avLst/>
          </a:prstGeom>
          <a:noFill/>
        </p:spPr>
        <p:txBody>
          <a:bodyPr anchor="t" rtlCol="false" lIns="0" tIns="0" rIns="0" bIns="0" wrap="square"/>
          <a:lstStyle/>
          <a:p>
            <a:pPr algn="l">
              <a:lnSpc>
                <a:spcPts val="2000"/>
              </a:lnSpc>
              <a:spcBef>
                <a:spcPts val="0"/>
              </a:spcBef>
              <a:buNone/>
            </a:pPr>
            <a:r>
              <a:rPr lang="en-US" sz="1500" b="true" spc="160">
                <a:solidFill>
                  <a:srgbClr val="1F7A8C"/>
                </a:solidFill>
                <a:latin typeface="Nunito Ultra-Bold"/>
                <a:ea typeface="Nunito Ultra-Bold"/>
                <a:cs typeface="Nunito Ultra-Bold"/>
                <a:sym typeface="Nunito Ultra-Bold"/>
              </a:rPr>
              <a:t>CONTRIBUTION II: MULTI-LEVEL XAI FOR LARGE-SCALE CLUSTERING</a:t>
            </a:r>
          </a:p>
        </p:txBody>
      </p:sp>
      <p:sp>
        <p:nvSpPr>
          <p:cNvPr id="6" name="Rounded Rectangle 5"/>
          <p:cNvSpPr/>
          <p:nvPr/>
        </p:nvSpPr>
        <p:spPr>
          <a:xfrm>
            <a:off x="14516100"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7" name="TextBox 6"/>
          <p:cNvSpPr txBox="1"/>
          <p:nvPr/>
        </p:nvSpPr>
        <p:spPr>
          <a:xfrm>
            <a:off x="14516100"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1</a:t>
            </a:r>
          </a:p>
        </p:txBody>
      </p:sp>
      <p:sp>
        <p:nvSpPr>
          <p:cNvPr id="8" name="Rounded Rectangle 7"/>
          <p:cNvSpPr/>
          <p:nvPr/>
        </p:nvSpPr>
        <p:spPr>
          <a:xfrm>
            <a:off x="14918436"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9" name="TextBox 8"/>
          <p:cNvSpPr txBox="1"/>
          <p:nvPr/>
        </p:nvSpPr>
        <p:spPr>
          <a:xfrm>
            <a:off x="14918436"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2</a:t>
            </a:r>
          </a:p>
        </p:txBody>
      </p:sp>
      <p:sp>
        <p:nvSpPr>
          <p:cNvPr id="10" name="Rounded Rectangle 9"/>
          <p:cNvSpPr/>
          <p:nvPr/>
        </p:nvSpPr>
        <p:spPr>
          <a:xfrm>
            <a:off x="15320772"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11" name="TextBox 10"/>
          <p:cNvSpPr txBox="1"/>
          <p:nvPr/>
        </p:nvSpPr>
        <p:spPr>
          <a:xfrm>
            <a:off x="15320772"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3</a:t>
            </a:r>
          </a:p>
        </p:txBody>
      </p:sp>
      <p:sp>
        <p:nvSpPr>
          <p:cNvPr id="12" name="Rounded Rectangle 11"/>
          <p:cNvSpPr/>
          <p:nvPr/>
        </p:nvSpPr>
        <p:spPr>
          <a:xfrm>
            <a:off x="15723108"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13" name="TextBox 12"/>
          <p:cNvSpPr txBox="1"/>
          <p:nvPr/>
        </p:nvSpPr>
        <p:spPr>
          <a:xfrm>
            <a:off x="15723108"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4</a:t>
            </a:r>
          </a:p>
        </p:txBody>
      </p:sp>
      <p:sp>
        <p:nvSpPr>
          <p:cNvPr id="14" name="Rounded Rectangle 13"/>
          <p:cNvSpPr/>
          <p:nvPr/>
        </p:nvSpPr>
        <p:spPr>
          <a:xfrm>
            <a:off x="16125444" y="1371600"/>
            <a:ext cx="329184" cy="329184"/>
          </a:xfrm>
          <a:prstGeom prst="roundRect">
            <a:avLst>
              <a:gd name="adj" fmla="val 16666"/>
            </a:avLst>
          </a:prstGeom>
          <a:solidFill>
            <a:srgbClr val="4472C4"/>
          </a:solidFill>
          <a:ln w="15875">
            <a:solidFill>
              <a:srgbClr val="4472C4"/>
            </a:solidFill>
          </a:ln>
        </p:spPr>
        <p:txBody>
          <a:bodyPr anchor="ctr" rtlCol="false" lIns="0" tIns="0" rIns="0" bIns="0" wrap="square"/>
          <a:lstStyle/>
          <a:p>
            <a:endParaRPr lang="en-US" sz="1800"/>
          </a:p>
        </p:txBody>
      </p:sp>
      <p:sp>
        <p:nvSpPr>
          <p:cNvPr id="15" name="TextBox 14"/>
          <p:cNvSpPr txBox="1"/>
          <p:nvPr/>
        </p:nvSpPr>
        <p:spPr>
          <a:xfrm>
            <a:off x="16125444"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FFFFFF"/>
                </a:solidFill>
                <a:latin typeface="Nunito Ultra-Bold"/>
                <a:ea typeface="Nunito Ultra-Bold"/>
                <a:cs typeface="Nunito Ultra-Bold"/>
                <a:sym typeface="Nunito Ultra-Bold"/>
              </a:rPr>
              <a:t>5</a:t>
            </a:r>
          </a:p>
        </p:txBody>
      </p:sp>
      <p:sp>
        <p:nvSpPr>
          <p:cNvPr id="16" name="Rounded Rectangle 15"/>
          <p:cNvSpPr/>
          <p:nvPr/>
        </p:nvSpPr>
        <p:spPr>
          <a:xfrm>
            <a:off x="16527780"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17" name="TextBox 16"/>
          <p:cNvSpPr txBox="1"/>
          <p:nvPr/>
        </p:nvSpPr>
        <p:spPr>
          <a:xfrm>
            <a:off x="16527780"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6</a:t>
            </a:r>
          </a:p>
        </p:txBody>
      </p:sp>
      <p:sp>
        <p:nvSpPr>
          <p:cNvPr id="18" name="Rounded Rectangle 17"/>
          <p:cNvSpPr/>
          <p:nvPr/>
        </p:nvSpPr>
        <p:spPr>
          <a:xfrm>
            <a:off x="16930116"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19" name="TextBox 18"/>
          <p:cNvSpPr txBox="1"/>
          <p:nvPr/>
        </p:nvSpPr>
        <p:spPr>
          <a:xfrm>
            <a:off x="16930116"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7</a:t>
            </a:r>
          </a:p>
        </p:txBody>
      </p:sp>
      <p:sp>
        <p:nvSpPr>
          <p:cNvPr id="20" name="TextBox 19"/>
          <p:cNvSpPr txBox="1"/>
          <p:nvPr/>
        </p:nvSpPr>
        <p:spPr>
          <a:xfrm>
            <a:off x="1028700" y="1719072"/>
            <a:ext cx="16230600" cy="730250"/>
          </a:xfrm>
          <a:prstGeom prst="rect">
            <a:avLst/>
          </a:prstGeom>
          <a:noFill/>
        </p:spPr>
        <p:txBody>
          <a:bodyPr anchor="t" rtlCol="false" lIns="0" tIns="0" rIns="0" bIns="0" wrap="square"/>
          <a:lstStyle/>
          <a:p>
            <a:pPr algn="l">
              <a:lnSpc>
                <a:spcPts val="5060"/>
              </a:lnSpc>
              <a:spcBef>
                <a:spcPts val="0"/>
              </a:spcBef>
              <a:buNone/>
            </a:pPr>
            <a:r>
              <a:rPr lang="en-US" sz="4600" b="true" spc="-230">
                <a:solidFill>
                  <a:srgbClr val="111111"/>
                </a:solidFill>
                <a:latin typeface="Roca Two Bold"/>
                <a:ea typeface="Roca Two Bold"/>
                <a:cs typeface="Roca Two Bold"/>
                <a:sym typeface="Roca Two Bold"/>
              </a:rPr>
              <a:t>Answer to RQ2</a:t>
            </a:r>
          </a:p>
        </p:txBody>
      </p:sp>
      <p:sp>
        <p:nvSpPr>
          <p:cNvPr id="21" name="Rounded Rectangle 20"/>
          <p:cNvSpPr/>
          <p:nvPr/>
        </p:nvSpPr>
        <p:spPr>
          <a:xfrm>
            <a:off x="1028700" y="2559050"/>
            <a:ext cx="1691553" cy="420624"/>
          </a:xfrm>
          <a:prstGeom prst="roundRect">
            <a:avLst>
              <a:gd name="adj" fmla="val 50000"/>
            </a:avLst>
          </a:prstGeom>
          <a:noFill/>
          <a:ln w="28575">
            <a:solidFill>
              <a:srgbClr val="4472C4"/>
            </a:solidFill>
          </a:ln>
        </p:spPr>
        <p:txBody>
          <a:bodyPr anchor="ctr" rtlCol="false" lIns="45720" tIns="0" rIns="45720" bIns="0" wrap="square"/>
          <a:lstStyle/>
          <a:p>
            <a:pPr algn="ctr">
              <a:lnSpc>
                <a:spcPts val="2160"/>
              </a:lnSpc>
              <a:spcBef>
                <a:spcPts val="0"/>
              </a:spcBef>
              <a:buNone/>
            </a:pPr>
            <a:r>
              <a:rPr lang="en-US" sz="1800" b="true">
                <a:solidFill>
                  <a:srgbClr val="4472C4"/>
                </a:solidFill>
                <a:latin typeface="Nunito Bold"/>
                <a:ea typeface="Nunito Bold"/>
                <a:cs typeface="Nunito Bold"/>
                <a:sym typeface="Nunito Bold"/>
              </a:rPr>
              <a:t>Objectives</a:t>
            </a:r>
          </a:p>
        </p:txBody>
      </p:sp>
      <p:sp>
        <p:nvSpPr>
          <p:cNvPr id="22" name="Rounded Rectangle 21"/>
          <p:cNvSpPr/>
          <p:nvPr/>
        </p:nvSpPr>
        <p:spPr>
          <a:xfrm>
            <a:off x="2848269" y="2559050"/>
            <a:ext cx="1998119" cy="420624"/>
          </a:xfrm>
          <a:prstGeom prst="roundRect">
            <a:avLst>
              <a:gd name="adj" fmla="val 50000"/>
            </a:avLst>
          </a:prstGeom>
          <a:noFill/>
          <a:ln w="28575">
            <a:solidFill>
              <a:srgbClr val="4472C4"/>
            </a:solidFill>
          </a:ln>
        </p:spPr>
        <p:txBody>
          <a:bodyPr anchor="ctr" rtlCol="false" lIns="45720" tIns="0" rIns="45720" bIns="0" wrap="square"/>
          <a:lstStyle/>
          <a:p>
            <a:pPr algn="ctr">
              <a:lnSpc>
                <a:spcPts val="2160"/>
              </a:lnSpc>
              <a:spcBef>
                <a:spcPts val="0"/>
              </a:spcBef>
              <a:buNone/>
            </a:pPr>
            <a:r>
              <a:rPr lang="en-US" sz="1800" b="true">
                <a:solidFill>
                  <a:srgbClr val="4472C4"/>
                </a:solidFill>
                <a:latin typeface="Nunito Bold"/>
                <a:ea typeface="Nunito Bold"/>
                <a:cs typeface="Nunito Bold"/>
                <a:sym typeface="Nunito Bold"/>
              </a:rPr>
              <a:t>Methodology</a:t>
            </a:r>
          </a:p>
        </p:txBody>
      </p:sp>
      <p:sp>
        <p:nvSpPr>
          <p:cNvPr id="23" name="Rounded Rectangle 22"/>
          <p:cNvSpPr/>
          <p:nvPr/>
        </p:nvSpPr>
        <p:spPr>
          <a:xfrm>
            <a:off x="4974404" y="2559050"/>
            <a:ext cx="1369446" cy="420624"/>
          </a:xfrm>
          <a:prstGeom prst="roundRect">
            <a:avLst>
              <a:gd name="adj" fmla="val 50000"/>
            </a:avLst>
          </a:prstGeom>
          <a:noFill/>
          <a:ln w="28575">
            <a:solidFill>
              <a:srgbClr val="4472C4"/>
            </a:solidFill>
          </a:ln>
        </p:spPr>
        <p:txBody>
          <a:bodyPr anchor="ctr" rtlCol="false" lIns="45720" tIns="0" rIns="45720" bIns="0" wrap="square"/>
          <a:lstStyle/>
          <a:p>
            <a:pPr algn="ctr">
              <a:lnSpc>
                <a:spcPts val="2160"/>
              </a:lnSpc>
              <a:spcBef>
                <a:spcPts val="0"/>
              </a:spcBef>
              <a:buNone/>
            </a:pPr>
            <a:r>
              <a:rPr lang="en-US" sz="1800" b="true">
                <a:solidFill>
                  <a:srgbClr val="4472C4"/>
                </a:solidFill>
                <a:latin typeface="Nunito Bold"/>
                <a:ea typeface="Nunito Bold"/>
                <a:cs typeface="Nunito Bold"/>
                <a:sym typeface="Nunito Bold"/>
              </a:rPr>
              <a:t>Results</a:t>
            </a:r>
          </a:p>
        </p:txBody>
      </p:sp>
      <p:sp>
        <p:nvSpPr>
          <p:cNvPr id="24" name="Rounded Rectangle 23"/>
          <p:cNvSpPr/>
          <p:nvPr/>
        </p:nvSpPr>
        <p:spPr>
          <a:xfrm>
            <a:off x="6471866" y="2559050"/>
            <a:ext cx="1474931" cy="420624"/>
          </a:xfrm>
          <a:prstGeom prst="roundRect">
            <a:avLst>
              <a:gd name="adj" fmla="val 50000"/>
            </a:avLst>
          </a:prstGeom>
          <a:solidFill>
            <a:srgbClr val="4472C4"/>
          </a:solidFill>
          <a:ln>
            <a:noFill/>
          </a:ln>
        </p:spPr>
        <p:txBody>
          <a:bodyPr anchor="ctr" rtlCol="false" lIns="45720" tIns="0" rIns="45720" bIns="0" wrap="square"/>
          <a:lstStyle/>
          <a:p>
            <a:pPr algn="ctr">
              <a:lnSpc>
                <a:spcPts val="2160"/>
              </a:lnSpc>
              <a:spcBef>
                <a:spcPts val="0"/>
              </a:spcBef>
              <a:buNone/>
            </a:pPr>
            <a:r>
              <a:rPr lang="en-US" sz="1800" b="true">
                <a:solidFill>
                  <a:srgbClr val="FFFFFF"/>
                </a:solidFill>
                <a:latin typeface="Nunito Bold"/>
                <a:ea typeface="Nunito Bold"/>
                <a:cs typeface="Nunito Bold"/>
                <a:sym typeface="Nunito Bold"/>
              </a:rPr>
              <a:t>Findings</a:t>
            </a:r>
          </a:p>
        </p:txBody>
      </p:sp>
      <p:sp>
        <p:nvSpPr>
          <p:cNvPr id="25" name="Rounded Rectangle 24"/>
          <p:cNvSpPr/>
          <p:nvPr/>
        </p:nvSpPr>
        <p:spPr>
          <a:xfrm>
            <a:off x="1028700" y="3546602"/>
            <a:ext cx="16230600" cy="1463040"/>
          </a:xfrm>
          <a:prstGeom prst="roundRect">
            <a:avLst>
              <a:gd name="adj" fmla="val 13750"/>
            </a:avLst>
          </a:prstGeom>
          <a:solidFill>
            <a:srgbClr val="F6ECDF"/>
          </a:solidFill>
          <a:ln w="25400">
            <a:solidFill>
              <a:srgbClr val="4472C4"/>
            </a:solidFill>
          </a:ln>
        </p:spPr>
        <p:txBody>
          <a:bodyPr anchor="ctr" rtlCol="false" lIns="0" tIns="0" rIns="0" bIns="0" wrap="square"/>
          <a:lstStyle/>
          <a:p>
            <a:endParaRPr lang="en-US" sz="1800"/>
          </a:p>
        </p:txBody>
      </p:sp>
      <p:sp>
        <p:nvSpPr>
          <p:cNvPr id="26" name="Rounded Rectangle 25"/>
          <p:cNvSpPr/>
          <p:nvPr/>
        </p:nvSpPr>
        <p:spPr>
          <a:xfrm>
            <a:off x="1348740" y="3354578"/>
            <a:ext cx="2112238" cy="384048"/>
          </a:xfrm>
          <a:prstGeom prst="roundRect">
            <a:avLst>
              <a:gd name="adj" fmla="val 50000"/>
            </a:avLst>
          </a:prstGeom>
          <a:solidFill>
            <a:srgbClr val="4472C4"/>
          </a:solidFill>
          <a:ln w="28575">
            <a:solidFill>
              <a:srgbClr val="4472C4"/>
            </a:solidFill>
          </a:ln>
        </p:spPr>
        <p:txBody>
          <a:bodyPr anchor="ctr" rtlCol="false" lIns="45720" tIns="0" rIns="45720" bIns="0" wrap="square"/>
          <a:lstStyle/>
          <a:p>
            <a:pPr algn="ctr">
              <a:lnSpc>
                <a:spcPts val="1680"/>
              </a:lnSpc>
              <a:spcBef>
                <a:spcPts val="0"/>
              </a:spcBef>
              <a:buNone/>
            </a:pPr>
            <a:r>
              <a:rPr lang="en-US" sz="1400" b="true">
                <a:solidFill>
                  <a:srgbClr val="FFFFFF"/>
                </a:solidFill>
                <a:latin typeface="Nunito Bold"/>
                <a:ea typeface="Nunito Bold"/>
                <a:cs typeface="Nunito Bold"/>
                <a:sym typeface="Nunito Bold"/>
              </a:rPr>
              <a:t>ANSWER TO RQ2</a:t>
            </a:r>
          </a:p>
        </p:txBody>
      </p:sp>
      <p:sp>
        <p:nvSpPr>
          <p:cNvPr id="27" name="TextBox 26"/>
          <p:cNvSpPr txBox="1"/>
          <p:nvPr/>
        </p:nvSpPr>
        <p:spPr>
          <a:xfrm>
            <a:off x="1394460" y="3820922"/>
            <a:ext cx="15499080" cy="1051560"/>
          </a:xfrm>
          <a:prstGeom prst="rect">
            <a:avLst/>
          </a:prstGeom>
          <a:noFill/>
        </p:spPr>
        <p:txBody>
          <a:bodyPr anchor="ctr" rtlCol="false" lIns="0" tIns="0" rIns="0" bIns="0" wrap="square"/>
          <a:lstStyle/>
          <a:p>
            <a:pPr algn="l">
              <a:lnSpc>
                <a:spcPts val="3080"/>
              </a:lnSpc>
              <a:spcBef>
                <a:spcPts val="0"/>
              </a:spcBef>
              <a:buNone/>
            </a:pPr>
            <a:r>
              <a:rPr lang="en-US" sz="2200" b="true">
                <a:solidFill>
                  <a:srgbClr val="111111"/>
                </a:solidFill>
                <a:latin typeface="Nunito Bold"/>
                <a:ea typeface="Nunito Bold"/>
                <a:cs typeface="Nunito Bold"/>
                <a:sym typeface="Nunito Bold"/>
              </a:rPr>
              <a:t>Yes, within bounds.</a:t>
            </a:r>
            <a:r>
              <a:rPr lang="en-US" sz="2200" b="true">
                <a:solidFill>
                  <a:srgbClr val="111111"/>
                </a:solidFill>
                <a:latin typeface="Nunito Semi-Bold"/>
                <a:ea typeface="Nunito Semi-Bold"/>
                <a:cs typeface="Nunito Semi-Bold"/>
                <a:sym typeface="Nunito Semi-Bold"/>
              </a:rPr>
              <a:t> Consistency is kept at scale and across levels: a nested workflow with level-specific surrogates, backed by Proposition 6.1, explains 383,585 records in the original variable space.</a:t>
            </a:r>
          </a:p>
        </p:txBody>
      </p:sp>
      <p:graphicFrame>
        <p:nvGraphicFramePr>
          <p:cNvPr id="28" name="Table 27"/>
          <p:cNvGraphicFramePr>
            <a:graphicFrameLocks noGrp="1"/>
          </p:cNvGraphicFramePr>
          <p:nvPr/>
        </p:nvGraphicFramePr>
        <p:xfrm>
          <a:off x="1028700" y="5421122"/>
          <a:ext cx="16230599" cy="3173984"/>
        </p:xfrm>
        <a:graphic>
          <a:graphicData uri="http://schemas.openxmlformats.org/drawingml/2006/table">
            <a:tbl>
              <a:tblPr firstRow="0" bandRow="0" firstCol="0" lastRow="0" lastCol="0" bandCol="0">
                <a:tableStyleId>{2D5ABB26-0587-4C30-8999-92F81FD0307C}</a:tableStyleId>
              </a:tblPr>
              <a:tblGrid>
                <a:gridCol w="5410200"/>
                <a:gridCol w="1456592"/>
                <a:gridCol w="9363807"/>
              </a:tblGrid>
              <a:tr h="777240">
                <a:tc>
                  <a:txBody>
                    <a:bodyPr anchor="ctr" rtlCol="false" lIns="0" tIns="0" rIns="0" bIns="0" wrap="square"/>
                    <a:lstStyle/>
                    <a:p>
                      <a:pPr algn="l">
                        <a:lnSpc>
                          <a:spcPts val="2210"/>
                        </a:lnSpc>
                        <a:spcBef>
                          <a:spcPts val="0"/>
                        </a:spcBef>
                        <a:buNone/>
                      </a:pPr>
                      <a:r>
                        <a:rPr lang="en-US" sz="1700" b="true">
                          <a:solidFill>
                            <a:srgbClr val="FFFFFF"/>
                          </a:solidFill>
                          <a:latin typeface="Nunito Bold"/>
                          <a:ea typeface="Nunito Bold"/>
                          <a:cs typeface="Nunito Bold"/>
                          <a:sym typeface="Nunito Bold"/>
                        </a:rPr>
                        <a:t>Objective</a:t>
                      </a:r>
                    </a:p>
                  </a:txBody>
                  <a:tcPr marL="82296" marR="82296" marT="45720" marB="45720" anchor="ctr">
                    <a:lnL w="12700" cap="flat" cmpd="sng" algn="ctr">
                      <a:solidFill>
                        <a:srgbClr val="4472C4"/>
                      </a:solidFill>
                      <a:prstDash val="solid"/>
                    </a:lnL>
                    <a:lnR w="12700" cap="flat" cmpd="sng" algn="ctr">
                      <a:solidFill>
                        <a:srgbClr val="4472C4"/>
                      </a:solidFill>
                      <a:prstDash val="solid"/>
                    </a:lnR>
                    <a:lnT w="12700" cap="flat" cmpd="sng" algn="ctr">
                      <a:solidFill>
                        <a:srgbClr val="4472C4"/>
                      </a:solidFill>
                      <a:prstDash val="solid"/>
                    </a:lnT>
                    <a:lnB w="12700" cap="flat" cmpd="sng" algn="ctr">
                      <a:solidFill>
                        <a:srgbClr val="4472C4"/>
                      </a:solidFill>
                      <a:prstDash val="solid"/>
                    </a:lnB>
                    <a:solidFill>
                      <a:srgbClr val="4472C4"/>
                    </a:solidFill>
                  </a:tcPr>
                </a:tc>
                <a:tc>
                  <a:txBody>
                    <a:bodyPr anchor="ctr" rtlCol="false" lIns="0" tIns="0" rIns="0" bIns="0" wrap="square"/>
                    <a:lstStyle/>
                    <a:p>
                      <a:pPr algn="ctr">
                        <a:lnSpc>
                          <a:spcPts val="2210"/>
                        </a:lnSpc>
                        <a:spcBef>
                          <a:spcPts val="0"/>
                        </a:spcBef>
                        <a:buNone/>
                      </a:pPr>
                      <a:r>
                        <a:rPr lang="en-US" sz="1700" b="true">
                          <a:solidFill>
                            <a:srgbClr val="FFFFFF"/>
                          </a:solidFill>
                          <a:latin typeface="Nunito Bold"/>
                          <a:ea typeface="Nunito Bold"/>
                          <a:cs typeface="Nunito Bold"/>
                          <a:sym typeface="Nunito Bold"/>
                        </a:rPr>
                        <a:t>Status</a:t>
                      </a:r>
                    </a:p>
                  </a:txBody>
                  <a:tcPr marL="82296" marR="82296" marT="45720" marB="45720" anchor="ctr">
                    <a:lnL w="12700" cap="flat" cmpd="sng" algn="ctr">
                      <a:solidFill>
                        <a:srgbClr val="4472C4"/>
                      </a:solidFill>
                      <a:prstDash val="solid"/>
                    </a:lnL>
                    <a:lnR w="12700" cap="flat" cmpd="sng" algn="ctr">
                      <a:solidFill>
                        <a:srgbClr val="4472C4"/>
                      </a:solidFill>
                      <a:prstDash val="solid"/>
                    </a:lnR>
                    <a:lnT w="12700" cap="flat" cmpd="sng" algn="ctr">
                      <a:solidFill>
                        <a:srgbClr val="4472C4"/>
                      </a:solidFill>
                      <a:prstDash val="solid"/>
                    </a:lnT>
                    <a:lnB w="12700" cap="flat" cmpd="sng" algn="ctr">
                      <a:solidFill>
                        <a:srgbClr val="4472C4"/>
                      </a:solidFill>
                      <a:prstDash val="solid"/>
                    </a:lnB>
                    <a:solidFill>
                      <a:srgbClr val="4472C4"/>
                    </a:solidFill>
                  </a:tcPr>
                </a:tc>
                <a:tc>
                  <a:txBody>
                    <a:bodyPr anchor="ctr" rtlCol="false" lIns="0" tIns="0" rIns="0" bIns="0" wrap="square"/>
                    <a:lstStyle/>
                    <a:p>
                      <a:pPr algn="l">
                        <a:lnSpc>
                          <a:spcPts val="2210"/>
                        </a:lnSpc>
                        <a:spcBef>
                          <a:spcPts val="0"/>
                        </a:spcBef>
                        <a:buNone/>
                      </a:pPr>
                      <a:r>
                        <a:rPr lang="en-US" sz="1700" b="true">
                          <a:solidFill>
                            <a:srgbClr val="FFFFFF"/>
                          </a:solidFill>
                          <a:latin typeface="Nunito Bold"/>
                          <a:ea typeface="Nunito Bold"/>
                          <a:cs typeface="Nunito Bold"/>
                          <a:sym typeface="Nunito Bold"/>
                        </a:rPr>
                        <a:t>Evidence</a:t>
                      </a:r>
                    </a:p>
                  </a:txBody>
                  <a:tcPr marL="82296" marR="82296" marT="45720" marB="45720" anchor="ctr">
                    <a:lnL w="12700" cap="flat" cmpd="sng" algn="ctr">
                      <a:solidFill>
                        <a:srgbClr val="4472C4"/>
                      </a:solidFill>
                      <a:prstDash val="solid"/>
                    </a:lnL>
                    <a:lnR w="12700" cap="flat" cmpd="sng" algn="ctr">
                      <a:solidFill>
                        <a:srgbClr val="4472C4"/>
                      </a:solidFill>
                      <a:prstDash val="solid"/>
                    </a:lnR>
                    <a:lnT w="12700" cap="flat" cmpd="sng" algn="ctr">
                      <a:solidFill>
                        <a:srgbClr val="4472C4"/>
                      </a:solidFill>
                      <a:prstDash val="solid"/>
                    </a:lnT>
                    <a:lnB w="12700" cap="flat" cmpd="sng" algn="ctr">
                      <a:solidFill>
                        <a:srgbClr val="4472C4"/>
                      </a:solidFill>
                      <a:prstDash val="solid"/>
                    </a:lnB>
                    <a:solidFill>
                      <a:srgbClr val="4472C4"/>
                    </a:solidFill>
                  </a:tcPr>
                </a:tc>
              </a:tr>
              <a:tr h="809752">
                <a:tc>
                  <a:txBody>
                    <a:bodyPr anchor="ctr" rtlCol="false" lIns="0" tIns="0" rIns="0" bIns="0" wrap="square"/>
                    <a:lstStyle/>
                    <a:p>
                      <a:pPr algn="l">
                        <a:lnSpc>
                          <a:spcPts val="2340"/>
                        </a:lnSpc>
                        <a:spcBef>
                          <a:spcPts val="0"/>
                        </a:spcBef>
                        <a:buNone/>
                      </a:pPr>
                      <a:r>
                        <a:rPr lang="en-US" sz="1800" b="true">
                          <a:solidFill>
                            <a:srgbClr val="111111"/>
                          </a:solidFill>
                          <a:latin typeface="Nunito Bold"/>
                          <a:ea typeface="Nunito Bold"/>
                          <a:cs typeface="Nunito Bold"/>
                          <a:sym typeface="Nunito Bold"/>
                        </a:rPr>
                        <a:t>O1  ·  A truly multi-level workflow</a:t>
                      </a:r>
                    </a:p>
                  </a:txBody>
                  <a:tcPr marL="82296" marR="82296"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c>
                  <a:txBody>
                    <a:bodyPr anchor="ctr" rtlCol="false" lIns="0" tIns="0" rIns="0" bIns="0" wrap="square"/>
                    <a:lstStyle/>
                    <a:p>
                      <a:pPr algn="ctr">
                        <a:lnSpc>
                          <a:spcPts val="2340"/>
                        </a:lnSpc>
                        <a:spcBef>
                          <a:spcPts val="0"/>
                        </a:spcBef>
                        <a:buNone/>
                      </a:pPr>
                      <a:r>
                        <a:rPr lang="en-US" sz="1800" b="true">
                          <a:solidFill>
                            <a:srgbClr val="111111"/>
                          </a:solidFill>
                          <a:latin typeface="Nunito Semi-Bold"/>
                          <a:ea typeface="Nunito Semi-Bold"/>
                          <a:cs typeface="Nunito Semi-Bold"/>
                          <a:sym typeface="Nunito Semi-Bold"/>
                        </a:rPr>
                        <a:t>Met</a:t>
                      </a:r>
                    </a:p>
                  </a:txBody>
                  <a:tcPr marL="82296" marR="82296"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c>
                  <a:txBody>
                    <a:bodyPr anchor="ctr" rtlCol="false" lIns="0" tIns="0" rIns="0" bIns="0" wrap="square"/>
                    <a:lstStyle/>
                    <a:p>
                      <a:pPr algn="l">
                        <a:lnSpc>
                          <a:spcPts val="2340"/>
                        </a:lnSpc>
                        <a:spcBef>
                          <a:spcPts val="0"/>
                        </a:spcBef>
                        <a:buNone/>
                      </a:pPr>
                      <a:r>
                        <a:rPr lang="en-US" sz="1800" b="true">
                          <a:solidFill>
                            <a:srgbClr val="111111"/>
                          </a:solidFill>
                          <a:latin typeface="Nunito Semi-Bold"/>
                          <a:ea typeface="Nunito Semi-Bold"/>
                          <a:cs typeface="Nunito Semi-Bold"/>
                          <a:sym typeface="Nunito Semi-Bold"/>
                        </a:rPr>
                        <a:t>Coarse regimes, then sub-clusters, each with its own surrogate; no single flat summary</a:t>
                      </a:r>
                    </a:p>
                  </a:txBody>
                  <a:tcPr marL="82296" marR="82296"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r>
              <a:tr h="777240">
                <a:tc>
                  <a:txBody>
                    <a:bodyPr anchor="ctr" rtlCol="false" lIns="0" tIns="0" rIns="0" bIns="0" wrap="square"/>
                    <a:lstStyle/>
                    <a:p>
                      <a:pPr algn="l">
                        <a:lnSpc>
                          <a:spcPts val="2340"/>
                        </a:lnSpc>
                        <a:spcBef>
                          <a:spcPts val="0"/>
                        </a:spcBef>
                        <a:buNone/>
                      </a:pPr>
                      <a:r>
                        <a:rPr lang="en-US" sz="1800" b="true">
                          <a:solidFill>
                            <a:srgbClr val="111111"/>
                          </a:solidFill>
                          <a:latin typeface="Nunito Bold"/>
                          <a:ea typeface="Nunito Bold"/>
                          <a:cs typeface="Nunito Bold"/>
                          <a:sym typeface="Nunito Bold"/>
                        </a:rPr>
                        <a:t>O2  ·  Formal cross-level consistency</a:t>
                      </a:r>
                    </a:p>
                  </a:txBody>
                  <a:tcPr marL="82296" marR="82296"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6ECDF"/>
                    </a:solidFill>
                  </a:tcPr>
                </a:tc>
                <a:tc>
                  <a:txBody>
                    <a:bodyPr anchor="ctr" rtlCol="false" lIns="0" tIns="0" rIns="0" bIns="0" wrap="square"/>
                    <a:lstStyle/>
                    <a:p>
                      <a:pPr algn="ctr">
                        <a:lnSpc>
                          <a:spcPts val="2340"/>
                        </a:lnSpc>
                        <a:spcBef>
                          <a:spcPts val="0"/>
                        </a:spcBef>
                        <a:buNone/>
                      </a:pPr>
                      <a:r>
                        <a:rPr lang="en-US" sz="1800" b="true">
                          <a:solidFill>
                            <a:srgbClr val="111111"/>
                          </a:solidFill>
                          <a:latin typeface="Nunito Semi-Bold"/>
                          <a:ea typeface="Nunito Semi-Bold"/>
                          <a:cs typeface="Nunito Semi-Bold"/>
                          <a:sym typeface="Nunito Semi-Bold"/>
                        </a:rPr>
                        <a:t>Met</a:t>
                      </a:r>
                    </a:p>
                  </a:txBody>
                  <a:tcPr marL="82296" marR="82296"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6ECDF"/>
                    </a:solidFill>
                  </a:tcPr>
                </a:tc>
                <a:tc>
                  <a:txBody>
                    <a:bodyPr anchor="ctr" rtlCol="false" lIns="0" tIns="0" rIns="0" bIns="0" wrap="square"/>
                    <a:lstStyle/>
                    <a:p>
                      <a:pPr algn="l">
                        <a:lnSpc>
                          <a:spcPts val="2340"/>
                        </a:lnSpc>
                        <a:spcBef>
                          <a:spcPts val="0"/>
                        </a:spcBef>
                        <a:buNone/>
                      </a:pPr>
                      <a:r>
                        <a:rPr lang="en-US" sz="1800" b="true">
                          <a:solidFill>
                            <a:srgbClr val="111111"/>
                          </a:solidFill>
                          <a:latin typeface="Nunito Semi-Bold"/>
                          <a:ea typeface="Nunito Semi-Bold"/>
                          <a:cs typeface="Nunito Semi-Bold"/>
                          <a:sym typeface="Nunito Semi-Bold"/>
                        </a:rPr>
                        <a:t>Proposition 6.1: parent importance = size-weighted expectation over children, up to </a:t>
                      </a:r>
                      <a:r>
                        <a:rPr lang="en-US" sz="1800" b="true">
                          <a:solidFill>
                            <a:srgbClr val="111111"/>
                          </a:solidFill>
                          <a:latin typeface="Calibri"/>
                          <a:ea typeface="Calibri"/>
                          <a:cs typeface="Calibri"/>
                          <a:sym typeface="Calibri"/>
                        </a:rPr>
                        <a:t>ε</a:t>
                      </a:r>
                      <a:r>
                        <a:rPr lang="en-US" sz="1800" b="true" baseline="-25000">
                          <a:solidFill>
                            <a:srgbClr val="111111"/>
                          </a:solidFill>
                          <a:latin typeface="Nunito Semi-Bold"/>
                          <a:ea typeface="Nunito Semi-Bold"/>
                          <a:cs typeface="Nunito Semi-Bold"/>
                          <a:sym typeface="Nunito Semi-Bold"/>
                        </a:rPr>
                        <a:t>j</a:t>
                      </a:r>
                    </a:p>
                  </a:txBody>
                  <a:tcPr marL="82296" marR="82296"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6ECDF"/>
                    </a:solidFill>
                  </a:tcPr>
                </a:tc>
              </a:tr>
              <a:tr h="809752">
                <a:tc>
                  <a:txBody>
                    <a:bodyPr anchor="ctr" rtlCol="false" lIns="0" tIns="0" rIns="0" bIns="0" wrap="square"/>
                    <a:lstStyle/>
                    <a:p>
                      <a:pPr algn="l">
                        <a:lnSpc>
                          <a:spcPts val="2340"/>
                        </a:lnSpc>
                        <a:spcBef>
                          <a:spcPts val="0"/>
                        </a:spcBef>
                        <a:buNone/>
                      </a:pPr>
                      <a:r>
                        <a:rPr lang="en-US" sz="1800" b="true">
                          <a:solidFill>
                            <a:srgbClr val="111111"/>
                          </a:solidFill>
                          <a:latin typeface="Nunito Bold"/>
                          <a:ea typeface="Nunito Bold"/>
                          <a:cs typeface="Nunito Bold"/>
                          <a:sym typeface="Nunito Bold"/>
                        </a:rPr>
                        <a:t>O3  ·  Validation on very different large-scale data</a:t>
                      </a:r>
                    </a:p>
                  </a:txBody>
                  <a:tcPr marL="82296" marR="82296"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c>
                  <a:txBody>
                    <a:bodyPr anchor="ctr" rtlCol="false" lIns="0" tIns="0" rIns="0" bIns="0" wrap="square"/>
                    <a:lstStyle/>
                    <a:p>
                      <a:pPr algn="ctr">
                        <a:lnSpc>
                          <a:spcPts val="2340"/>
                        </a:lnSpc>
                        <a:spcBef>
                          <a:spcPts val="0"/>
                        </a:spcBef>
                        <a:buNone/>
                      </a:pPr>
                      <a:r>
                        <a:rPr lang="en-US" sz="1800" b="true">
                          <a:solidFill>
                            <a:srgbClr val="111111"/>
                          </a:solidFill>
                          <a:latin typeface="Nunito Semi-Bold"/>
                          <a:ea typeface="Nunito Semi-Bold"/>
                          <a:cs typeface="Nunito Semi-Bold"/>
                          <a:sym typeface="Nunito Semi-Bold"/>
                        </a:rPr>
                        <a:t>Met</a:t>
                      </a:r>
                    </a:p>
                  </a:txBody>
                  <a:tcPr marL="82296" marR="82296"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c>
                  <a:txBody>
                    <a:bodyPr anchor="ctr" rtlCol="false" lIns="0" tIns="0" rIns="0" bIns="0" wrap="square"/>
                    <a:lstStyle/>
                    <a:p>
                      <a:pPr algn="l">
                        <a:lnSpc>
                          <a:spcPts val="2340"/>
                        </a:lnSpc>
                        <a:spcBef>
                          <a:spcPts val="0"/>
                        </a:spcBef>
                        <a:buNone/>
                      </a:pPr>
                      <a:r>
                        <a:rPr lang="en-US" sz="1800" b="true">
                          <a:solidFill>
                            <a:srgbClr val="111111"/>
                          </a:solidFill>
                          <a:latin typeface="Nunito Semi-Bold"/>
                          <a:ea typeface="Nunito Semi-Bold"/>
                          <a:cs typeface="Nunito Semi-Bold"/>
                          <a:sym typeface="Nunito Semi-Bold"/>
                        </a:rPr>
                        <a:t>Beijing Air Quality: Silhouette ≈ 0.63, three physically meaningful regimes</a:t>
                      </a:r>
                    </a:p>
                  </a:txBody>
                  <a:tcPr marL="82296" marR="82296"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r>
            </a:tbl>
          </a:graphicData>
        </a:graphic>
      </p:graphicFrame>
    </p:spTree>
  </p:cSld>
  <p:clrMapOvr>
    <a:masterClrMapping/>
  </p:clrMapOvr>
</p:sld>
</file>

<file path=ppt/slides/slide6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pic>
        <p:nvPicPr>
          <p:cNvPr id="2" name="Picture 1" descr="ensias_logo.jpg"/>
          <p:cNvPicPr>
            <a:picLocks noChangeAspect="1"/>
          </p:cNvPicPr>
          <p:nvPr/>
        </p:nvPicPr>
        <p:blipFill>
          <a:blip r:embed="rId2"/>
          <a:stretch>
            <a:fillRect/>
          </a:stretch>
        </p:blipFill>
        <p:spPr>
          <a:xfrm>
            <a:off x="1028700" y="9674352"/>
            <a:ext cx="542964" cy="384048"/>
          </a:xfrm>
          <a:prstGeom prst="rect">
            <a:avLst/>
          </a:prstGeom>
        </p:spPr>
      </p:pic>
      <p:sp>
        <p:nvSpPr>
          <p:cNvPr id="3" name="TextBox 2"/>
          <p:cNvSpPr txBox="1"/>
          <p:nvPr/>
        </p:nvSpPr>
        <p:spPr>
          <a:xfrm>
            <a:off x="1577340" y="9601200"/>
            <a:ext cx="14493240" cy="566928"/>
          </a:xfrm>
          <a:prstGeom prst="rect">
            <a:avLst/>
          </a:prstGeom>
          <a:noFill/>
        </p:spPr>
        <p:txBody>
          <a:bodyPr anchor="ctr" rtlCol="false" lIns="0" tIns="0" rIns="0" bIns="0" wrap="square"/>
          <a:lstStyle/>
          <a:p>
            <a:pPr algn="l">
              <a:lnSpc>
                <a:spcPts val="1200"/>
              </a:lnSpc>
              <a:spcBef>
                <a:spcPts val="0"/>
              </a:spcBef>
              <a:buNone/>
            </a:pPr>
            <a:r>
              <a:rPr lang="en-US" sz="1000" b="true">
                <a:solidFill>
                  <a:srgbClr val="8A8378"/>
                </a:solidFill>
                <a:latin typeface="Nunito Semi-Bold"/>
                <a:ea typeface="Nunito Semi-Bold"/>
                <a:cs typeface="Nunito Semi-Bold"/>
                <a:sym typeface="Nunito Semi-Bold"/>
              </a:rPr>
              <a:t>[2] Louhichi, M., Nesmaoui, R. &amp; Lazaar, M. Game Theory Meets Explainable AI: An Enhanced Approach to Understanding Black Box Models Through Shapley Values. IJACSA 16(7), 716–725 (2025).   [18] Gramegna, A. &amp; Giudici, P. SHAP and LIME: An Evaluation of Discriminative Power in Credit Risk. Frontiers in AI 4, 752558 (2021).</a:t>
            </a:r>
          </a:p>
        </p:txBody>
      </p:sp>
      <p:sp>
        <p:nvSpPr>
          <p:cNvPr id="4" name="TextBox 3"/>
          <p:cNvSpPr txBox="1"/>
          <p:nvPr/>
        </p:nvSpPr>
        <p:spPr>
          <a:xfrm>
            <a:off x="16162020" y="9692640"/>
            <a:ext cx="1097280" cy="329184"/>
          </a:xfrm>
          <a:prstGeom prst="rect">
            <a:avLst/>
          </a:prstGeom>
          <a:noFill/>
        </p:spPr>
        <p:txBody>
          <a:bodyPr anchor="t" rtlCol="false" lIns="0" tIns="0" rIns="0" bIns="0" wrap="square"/>
          <a:lstStyle/>
          <a:p>
            <a:pPr algn="r">
              <a:lnSpc>
                <a:spcPts val="2200"/>
              </a:lnSpc>
              <a:spcBef>
                <a:spcPts val="0"/>
              </a:spcBef>
              <a:buNone/>
            </a:pPr>
            <a:r>
              <a:rPr lang="en-US" sz="1800" b="true">
                <a:solidFill>
                  <a:srgbClr val="111111"/>
                </a:solidFill>
                <a:latin typeface="Nunito Ultra-Bold"/>
                <a:ea typeface="Nunito Ultra-Bold"/>
                <a:cs typeface="Nunito Ultra-Bold"/>
                <a:sym typeface="Nunito Ultra-Bold"/>
              </a:rPr>
              <a:t>48</a:t>
            </a:r>
          </a:p>
        </p:txBody>
      </p:sp>
      <p:sp>
        <p:nvSpPr>
          <p:cNvPr id="5" name="TextBox 4"/>
          <p:cNvSpPr txBox="1"/>
          <p:nvPr/>
        </p:nvSpPr>
        <p:spPr>
          <a:xfrm>
            <a:off x="1028700" y="1389888"/>
            <a:ext cx="12938760" cy="329184"/>
          </a:xfrm>
          <a:prstGeom prst="rect">
            <a:avLst/>
          </a:prstGeom>
          <a:noFill/>
        </p:spPr>
        <p:txBody>
          <a:bodyPr anchor="t" rtlCol="false" lIns="0" tIns="0" rIns="0" bIns="0" wrap="square"/>
          <a:lstStyle/>
          <a:p>
            <a:pPr algn="l">
              <a:lnSpc>
                <a:spcPts val="2000"/>
              </a:lnSpc>
              <a:spcBef>
                <a:spcPts val="0"/>
              </a:spcBef>
              <a:buNone/>
            </a:pPr>
            <a:r>
              <a:rPr lang="en-US" sz="1500" b="true" spc="160">
                <a:solidFill>
                  <a:srgbClr val="1F7A8C"/>
                </a:solidFill>
                <a:latin typeface="Nunito Ultra-Bold"/>
                <a:ea typeface="Nunito Ultra-Bold"/>
                <a:cs typeface="Nunito Ultra-Bold"/>
                <a:sym typeface="Nunito Ultra-Bold"/>
              </a:rPr>
              <a:t>CONTRIBUTION II: MULTI-LEVEL XAI FOR LARGE-SCALE CLUSTERING</a:t>
            </a:r>
          </a:p>
        </p:txBody>
      </p:sp>
      <p:sp>
        <p:nvSpPr>
          <p:cNvPr id="6" name="Rounded Rectangle 5"/>
          <p:cNvSpPr/>
          <p:nvPr/>
        </p:nvSpPr>
        <p:spPr>
          <a:xfrm>
            <a:off x="14516100"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7" name="TextBox 6"/>
          <p:cNvSpPr txBox="1"/>
          <p:nvPr/>
        </p:nvSpPr>
        <p:spPr>
          <a:xfrm>
            <a:off x="14516100"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1</a:t>
            </a:r>
          </a:p>
        </p:txBody>
      </p:sp>
      <p:sp>
        <p:nvSpPr>
          <p:cNvPr id="8" name="Rounded Rectangle 7"/>
          <p:cNvSpPr/>
          <p:nvPr/>
        </p:nvSpPr>
        <p:spPr>
          <a:xfrm>
            <a:off x="14918436"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9" name="TextBox 8"/>
          <p:cNvSpPr txBox="1"/>
          <p:nvPr/>
        </p:nvSpPr>
        <p:spPr>
          <a:xfrm>
            <a:off x="14918436"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2</a:t>
            </a:r>
          </a:p>
        </p:txBody>
      </p:sp>
      <p:sp>
        <p:nvSpPr>
          <p:cNvPr id="10" name="Rounded Rectangle 9"/>
          <p:cNvSpPr/>
          <p:nvPr/>
        </p:nvSpPr>
        <p:spPr>
          <a:xfrm>
            <a:off x="15320772"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11" name="TextBox 10"/>
          <p:cNvSpPr txBox="1"/>
          <p:nvPr/>
        </p:nvSpPr>
        <p:spPr>
          <a:xfrm>
            <a:off x="15320772"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3</a:t>
            </a:r>
          </a:p>
        </p:txBody>
      </p:sp>
      <p:sp>
        <p:nvSpPr>
          <p:cNvPr id="12" name="Rounded Rectangle 11"/>
          <p:cNvSpPr/>
          <p:nvPr/>
        </p:nvSpPr>
        <p:spPr>
          <a:xfrm>
            <a:off x="15723108"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13" name="TextBox 12"/>
          <p:cNvSpPr txBox="1"/>
          <p:nvPr/>
        </p:nvSpPr>
        <p:spPr>
          <a:xfrm>
            <a:off x="15723108"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4</a:t>
            </a:r>
          </a:p>
        </p:txBody>
      </p:sp>
      <p:sp>
        <p:nvSpPr>
          <p:cNvPr id="14" name="Rounded Rectangle 13"/>
          <p:cNvSpPr/>
          <p:nvPr/>
        </p:nvSpPr>
        <p:spPr>
          <a:xfrm>
            <a:off x="16125444" y="1371600"/>
            <a:ext cx="329184" cy="329184"/>
          </a:xfrm>
          <a:prstGeom prst="roundRect">
            <a:avLst>
              <a:gd name="adj" fmla="val 16666"/>
            </a:avLst>
          </a:prstGeom>
          <a:solidFill>
            <a:srgbClr val="4472C4"/>
          </a:solidFill>
          <a:ln w="15875">
            <a:solidFill>
              <a:srgbClr val="4472C4"/>
            </a:solidFill>
          </a:ln>
        </p:spPr>
        <p:txBody>
          <a:bodyPr anchor="ctr" rtlCol="false" lIns="0" tIns="0" rIns="0" bIns="0" wrap="square"/>
          <a:lstStyle/>
          <a:p>
            <a:endParaRPr lang="en-US" sz="1800"/>
          </a:p>
        </p:txBody>
      </p:sp>
      <p:sp>
        <p:nvSpPr>
          <p:cNvPr id="15" name="TextBox 14"/>
          <p:cNvSpPr txBox="1"/>
          <p:nvPr/>
        </p:nvSpPr>
        <p:spPr>
          <a:xfrm>
            <a:off x="16125444"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FFFFFF"/>
                </a:solidFill>
                <a:latin typeface="Nunito Ultra-Bold"/>
                <a:ea typeface="Nunito Ultra-Bold"/>
                <a:cs typeface="Nunito Ultra-Bold"/>
                <a:sym typeface="Nunito Ultra-Bold"/>
              </a:rPr>
              <a:t>5</a:t>
            </a:r>
          </a:p>
        </p:txBody>
      </p:sp>
      <p:sp>
        <p:nvSpPr>
          <p:cNvPr id="16" name="Rounded Rectangle 15"/>
          <p:cNvSpPr/>
          <p:nvPr/>
        </p:nvSpPr>
        <p:spPr>
          <a:xfrm>
            <a:off x="16527780"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17" name="TextBox 16"/>
          <p:cNvSpPr txBox="1"/>
          <p:nvPr/>
        </p:nvSpPr>
        <p:spPr>
          <a:xfrm>
            <a:off x="16527780"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6</a:t>
            </a:r>
          </a:p>
        </p:txBody>
      </p:sp>
      <p:sp>
        <p:nvSpPr>
          <p:cNvPr id="18" name="Rounded Rectangle 17"/>
          <p:cNvSpPr/>
          <p:nvPr/>
        </p:nvSpPr>
        <p:spPr>
          <a:xfrm>
            <a:off x="16930116"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19" name="TextBox 18"/>
          <p:cNvSpPr txBox="1"/>
          <p:nvPr/>
        </p:nvSpPr>
        <p:spPr>
          <a:xfrm>
            <a:off x="16930116"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7</a:t>
            </a:r>
          </a:p>
        </p:txBody>
      </p:sp>
      <p:sp>
        <p:nvSpPr>
          <p:cNvPr id="20" name="TextBox 19"/>
          <p:cNvSpPr txBox="1"/>
          <p:nvPr/>
        </p:nvSpPr>
        <p:spPr>
          <a:xfrm>
            <a:off x="1028700" y="1719072"/>
            <a:ext cx="16230600" cy="730250"/>
          </a:xfrm>
          <a:prstGeom prst="rect">
            <a:avLst/>
          </a:prstGeom>
          <a:noFill/>
        </p:spPr>
        <p:txBody>
          <a:bodyPr anchor="t" rtlCol="false" lIns="0" tIns="0" rIns="0" bIns="0" wrap="square"/>
          <a:lstStyle/>
          <a:p>
            <a:pPr algn="l">
              <a:lnSpc>
                <a:spcPts val="5060"/>
              </a:lnSpc>
              <a:spcBef>
                <a:spcPts val="0"/>
              </a:spcBef>
              <a:buNone/>
            </a:pPr>
            <a:r>
              <a:rPr lang="en-US" sz="4600" b="true" spc="-230">
                <a:solidFill>
                  <a:srgbClr val="111111"/>
                </a:solidFill>
                <a:latin typeface="Roca Two Bold"/>
                <a:ea typeface="Roca Two Bold"/>
                <a:cs typeface="Roca Two Bold"/>
                <a:sym typeface="Roca Two Bold"/>
              </a:rPr>
              <a:t>Key Findings</a:t>
            </a:r>
          </a:p>
        </p:txBody>
      </p:sp>
      <p:sp>
        <p:nvSpPr>
          <p:cNvPr id="21" name="Rounded Rectangle 20"/>
          <p:cNvSpPr/>
          <p:nvPr/>
        </p:nvSpPr>
        <p:spPr>
          <a:xfrm>
            <a:off x="1028700" y="2559050"/>
            <a:ext cx="1691553" cy="420624"/>
          </a:xfrm>
          <a:prstGeom prst="roundRect">
            <a:avLst>
              <a:gd name="adj" fmla="val 50000"/>
            </a:avLst>
          </a:prstGeom>
          <a:noFill/>
          <a:ln w="28575">
            <a:solidFill>
              <a:srgbClr val="4472C4"/>
            </a:solidFill>
          </a:ln>
        </p:spPr>
        <p:txBody>
          <a:bodyPr anchor="ctr" rtlCol="false" lIns="45720" tIns="0" rIns="45720" bIns="0" wrap="square"/>
          <a:lstStyle/>
          <a:p>
            <a:pPr algn="ctr">
              <a:lnSpc>
                <a:spcPts val="2160"/>
              </a:lnSpc>
              <a:spcBef>
                <a:spcPts val="0"/>
              </a:spcBef>
              <a:buNone/>
            </a:pPr>
            <a:r>
              <a:rPr lang="en-US" sz="1800" b="true">
                <a:solidFill>
                  <a:srgbClr val="4472C4"/>
                </a:solidFill>
                <a:latin typeface="Nunito Bold"/>
                <a:ea typeface="Nunito Bold"/>
                <a:cs typeface="Nunito Bold"/>
                <a:sym typeface="Nunito Bold"/>
              </a:rPr>
              <a:t>Objectives</a:t>
            </a:r>
          </a:p>
        </p:txBody>
      </p:sp>
      <p:sp>
        <p:nvSpPr>
          <p:cNvPr id="22" name="Rounded Rectangle 21"/>
          <p:cNvSpPr/>
          <p:nvPr/>
        </p:nvSpPr>
        <p:spPr>
          <a:xfrm>
            <a:off x="2848269" y="2559050"/>
            <a:ext cx="1998119" cy="420624"/>
          </a:xfrm>
          <a:prstGeom prst="roundRect">
            <a:avLst>
              <a:gd name="adj" fmla="val 50000"/>
            </a:avLst>
          </a:prstGeom>
          <a:noFill/>
          <a:ln w="28575">
            <a:solidFill>
              <a:srgbClr val="4472C4"/>
            </a:solidFill>
          </a:ln>
        </p:spPr>
        <p:txBody>
          <a:bodyPr anchor="ctr" rtlCol="false" lIns="45720" tIns="0" rIns="45720" bIns="0" wrap="square"/>
          <a:lstStyle/>
          <a:p>
            <a:pPr algn="ctr">
              <a:lnSpc>
                <a:spcPts val="2160"/>
              </a:lnSpc>
              <a:spcBef>
                <a:spcPts val="0"/>
              </a:spcBef>
              <a:buNone/>
            </a:pPr>
            <a:r>
              <a:rPr lang="en-US" sz="1800" b="true">
                <a:solidFill>
                  <a:srgbClr val="4472C4"/>
                </a:solidFill>
                <a:latin typeface="Nunito Bold"/>
                <a:ea typeface="Nunito Bold"/>
                <a:cs typeface="Nunito Bold"/>
                <a:sym typeface="Nunito Bold"/>
              </a:rPr>
              <a:t>Methodology</a:t>
            </a:r>
          </a:p>
        </p:txBody>
      </p:sp>
      <p:sp>
        <p:nvSpPr>
          <p:cNvPr id="23" name="Rounded Rectangle 22"/>
          <p:cNvSpPr/>
          <p:nvPr/>
        </p:nvSpPr>
        <p:spPr>
          <a:xfrm>
            <a:off x="4974404" y="2559050"/>
            <a:ext cx="1369446" cy="420624"/>
          </a:xfrm>
          <a:prstGeom prst="roundRect">
            <a:avLst>
              <a:gd name="adj" fmla="val 50000"/>
            </a:avLst>
          </a:prstGeom>
          <a:noFill/>
          <a:ln w="28575">
            <a:solidFill>
              <a:srgbClr val="4472C4"/>
            </a:solidFill>
          </a:ln>
        </p:spPr>
        <p:txBody>
          <a:bodyPr anchor="ctr" rtlCol="false" lIns="45720" tIns="0" rIns="45720" bIns="0" wrap="square"/>
          <a:lstStyle/>
          <a:p>
            <a:pPr algn="ctr">
              <a:lnSpc>
                <a:spcPts val="2160"/>
              </a:lnSpc>
              <a:spcBef>
                <a:spcPts val="0"/>
              </a:spcBef>
              <a:buNone/>
            </a:pPr>
            <a:r>
              <a:rPr lang="en-US" sz="1800" b="true">
                <a:solidFill>
                  <a:srgbClr val="4472C4"/>
                </a:solidFill>
                <a:latin typeface="Nunito Bold"/>
                <a:ea typeface="Nunito Bold"/>
                <a:cs typeface="Nunito Bold"/>
                <a:sym typeface="Nunito Bold"/>
              </a:rPr>
              <a:t>Results</a:t>
            </a:r>
          </a:p>
        </p:txBody>
      </p:sp>
      <p:sp>
        <p:nvSpPr>
          <p:cNvPr id="24" name="Rounded Rectangle 23"/>
          <p:cNvSpPr/>
          <p:nvPr/>
        </p:nvSpPr>
        <p:spPr>
          <a:xfrm>
            <a:off x="6471866" y="2559050"/>
            <a:ext cx="1474931" cy="420624"/>
          </a:xfrm>
          <a:prstGeom prst="roundRect">
            <a:avLst>
              <a:gd name="adj" fmla="val 50000"/>
            </a:avLst>
          </a:prstGeom>
          <a:solidFill>
            <a:srgbClr val="4472C4"/>
          </a:solidFill>
          <a:ln>
            <a:noFill/>
          </a:ln>
        </p:spPr>
        <p:txBody>
          <a:bodyPr anchor="ctr" rtlCol="false" lIns="45720" tIns="0" rIns="45720" bIns="0" wrap="square"/>
          <a:lstStyle/>
          <a:p>
            <a:pPr algn="ctr">
              <a:lnSpc>
                <a:spcPts val="2160"/>
              </a:lnSpc>
              <a:spcBef>
                <a:spcPts val="0"/>
              </a:spcBef>
              <a:buNone/>
            </a:pPr>
            <a:r>
              <a:rPr lang="en-US" sz="1800" b="true">
                <a:solidFill>
                  <a:srgbClr val="FFFFFF"/>
                </a:solidFill>
                <a:latin typeface="Nunito Bold"/>
                <a:ea typeface="Nunito Bold"/>
                <a:cs typeface="Nunito Bold"/>
                <a:sym typeface="Nunito Bold"/>
              </a:rPr>
              <a:t>Findings</a:t>
            </a:r>
          </a:p>
        </p:txBody>
      </p:sp>
      <p:sp>
        <p:nvSpPr>
          <p:cNvPr id="25" name="Rounded Rectangle 24"/>
          <p:cNvSpPr/>
          <p:nvPr/>
        </p:nvSpPr>
        <p:spPr>
          <a:xfrm>
            <a:off x="1028700" y="3363722"/>
            <a:ext cx="16230600" cy="1339913"/>
          </a:xfrm>
          <a:prstGeom prst="roundRect">
            <a:avLst>
              <a:gd name="adj" fmla="val 15013"/>
            </a:avLst>
          </a:prstGeom>
          <a:solidFill>
            <a:srgbClr val="F6ECDF"/>
          </a:solidFill>
          <a:ln>
            <a:noFill/>
          </a:ln>
        </p:spPr>
        <p:txBody>
          <a:bodyPr anchor="ctr" rtlCol="false" lIns="0" tIns="0" rIns="0" bIns="0" wrap="square"/>
          <a:lstStyle/>
          <a:p>
            <a:endParaRPr lang="en-US" sz="1800"/>
          </a:p>
        </p:txBody>
      </p:sp>
      <p:sp>
        <p:nvSpPr>
          <p:cNvPr id="26" name="Oval 25"/>
          <p:cNvSpPr/>
          <p:nvPr/>
        </p:nvSpPr>
        <p:spPr>
          <a:xfrm>
            <a:off x="1303020" y="3750214"/>
            <a:ext cx="566928" cy="566928"/>
          </a:xfrm>
          <a:prstGeom prst="ellipse">
            <a:avLst/>
          </a:prstGeom>
          <a:solidFill>
            <a:srgbClr val="4472C4"/>
          </a:solidFill>
          <a:ln>
            <a:noFill/>
          </a:ln>
        </p:spPr>
        <p:txBody>
          <a:bodyPr anchor="ctr" rtlCol="false" lIns="0" tIns="0" rIns="0" bIns="0" wrap="square"/>
          <a:lstStyle/>
          <a:p>
            <a:pPr algn="ctr">
              <a:lnSpc>
                <a:spcPts val="2200"/>
              </a:lnSpc>
              <a:spcBef>
                <a:spcPts val="0"/>
              </a:spcBef>
              <a:buNone/>
            </a:pPr>
            <a:r>
              <a:rPr lang="en-US" sz="2000" b="true">
                <a:solidFill>
                  <a:srgbClr val="FFFFFF"/>
                </a:solidFill>
                <a:latin typeface="Nunito Ultra-Bold"/>
                <a:ea typeface="Nunito Ultra-Bold"/>
                <a:cs typeface="Nunito Ultra-Bold"/>
                <a:sym typeface="Nunito Ultra-Bold"/>
              </a:rPr>
              <a:t>1</a:t>
            </a:r>
          </a:p>
        </p:txBody>
      </p:sp>
      <p:sp>
        <p:nvSpPr>
          <p:cNvPr id="27" name="TextBox 26"/>
          <p:cNvSpPr txBox="1"/>
          <p:nvPr/>
        </p:nvSpPr>
        <p:spPr>
          <a:xfrm>
            <a:off x="2171700" y="3473450"/>
            <a:ext cx="14767560" cy="1120457"/>
          </a:xfrm>
          <a:prstGeom prst="rect">
            <a:avLst/>
          </a:prstGeom>
          <a:noFill/>
        </p:spPr>
        <p:txBody>
          <a:bodyPr anchor="ctr" rtlCol="false" lIns="0" tIns="0" rIns="0" bIns="0" wrap="square"/>
          <a:lstStyle/>
          <a:p>
            <a:pPr algn="l">
              <a:lnSpc>
                <a:spcPts val="2500"/>
              </a:lnSpc>
              <a:spcBef>
                <a:spcPts val="0"/>
              </a:spcBef>
              <a:buNone/>
            </a:pPr>
            <a:r>
              <a:rPr lang="en-US" sz="2100" b="true">
                <a:solidFill>
                  <a:srgbClr val="4472C4"/>
                </a:solidFill>
                <a:latin typeface="Nunito Ultra-Bold"/>
                <a:ea typeface="Nunito Ultra-Bold"/>
                <a:cs typeface="Nunito Ultra-Bold"/>
                <a:sym typeface="Nunito Ultra-Bold"/>
              </a:rPr>
              <a:t>Weather, not only pollution, defines the structure</a:t>
            </a:r>
          </a:p>
          <a:p>
            <a:pPr algn="l">
              <a:lnSpc>
                <a:spcPts val="2400"/>
              </a:lnSpc>
              <a:spcBef>
                <a:spcPts val="400"/>
              </a:spcBef>
              <a:buNone/>
            </a:pPr>
            <a:r>
              <a:rPr lang="en-US" sz="1900" b="true">
                <a:solidFill>
                  <a:srgbClr val="111111"/>
                </a:solidFill>
                <a:latin typeface="Nunito Semi-Bold"/>
                <a:ea typeface="Nunito Semi-Bold"/>
                <a:cs typeface="Nunito Semi-Bold"/>
                <a:sym typeface="Nunito Semi-Bold"/>
              </a:rPr>
              <a:t>Temperature, dew point and pressure lead the coarse-level ranking; they set the regime that pollutants then vary within.</a:t>
            </a:r>
          </a:p>
        </p:txBody>
      </p:sp>
      <p:sp>
        <p:nvSpPr>
          <p:cNvPr id="28" name="Rounded Rectangle 27"/>
          <p:cNvSpPr/>
          <p:nvPr/>
        </p:nvSpPr>
        <p:spPr>
          <a:xfrm>
            <a:off x="1028700" y="4868227"/>
            <a:ext cx="16230600" cy="1339913"/>
          </a:xfrm>
          <a:prstGeom prst="roundRect">
            <a:avLst>
              <a:gd name="adj" fmla="val 15013"/>
            </a:avLst>
          </a:prstGeom>
          <a:solidFill>
            <a:srgbClr val="FBF4EB"/>
          </a:solidFill>
          <a:ln>
            <a:noFill/>
          </a:ln>
        </p:spPr>
        <p:txBody>
          <a:bodyPr anchor="ctr" rtlCol="false" lIns="0" tIns="0" rIns="0" bIns="0" wrap="square"/>
          <a:lstStyle/>
          <a:p>
            <a:endParaRPr lang="en-US" sz="1800"/>
          </a:p>
        </p:txBody>
      </p:sp>
      <p:sp>
        <p:nvSpPr>
          <p:cNvPr id="29" name="Oval 28"/>
          <p:cNvSpPr/>
          <p:nvPr/>
        </p:nvSpPr>
        <p:spPr>
          <a:xfrm>
            <a:off x="1303020" y="5254720"/>
            <a:ext cx="566928" cy="566928"/>
          </a:xfrm>
          <a:prstGeom prst="ellipse">
            <a:avLst/>
          </a:prstGeom>
          <a:solidFill>
            <a:srgbClr val="4472C4"/>
          </a:solidFill>
          <a:ln>
            <a:noFill/>
          </a:ln>
        </p:spPr>
        <p:txBody>
          <a:bodyPr anchor="ctr" rtlCol="false" lIns="0" tIns="0" rIns="0" bIns="0" wrap="square"/>
          <a:lstStyle/>
          <a:p>
            <a:pPr algn="ctr">
              <a:lnSpc>
                <a:spcPts val="2200"/>
              </a:lnSpc>
              <a:spcBef>
                <a:spcPts val="0"/>
              </a:spcBef>
              <a:buNone/>
            </a:pPr>
            <a:r>
              <a:rPr lang="en-US" sz="2000" b="true">
                <a:solidFill>
                  <a:srgbClr val="FFFFFF"/>
                </a:solidFill>
                <a:latin typeface="Nunito Ultra-Bold"/>
                <a:ea typeface="Nunito Ultra-Bold"/>
                <a:cs typeface="Nunito Ultra-Bold"/>
                <a:sym typeface="Nunito Ultra-Bold"/>
              </a:rPr>
              <a:t>2</a:t>
            </a:r>
          </a:p>
        </p:txBody>
      </p:sp>
      <p:sp>
        <p:nvSpPr>
          <p:cNvPr id="30" name="TextBox 29"/>
          <p:cNvSpPr txBox="1"/>
          <p:nvPr/>
        </p:nvSpPr>
        <p:spPr>
          <a:xfrm>
            <a:off x="2171700" y="4977955"/>
            <a:ext cx="14767560" cy="1120457"/>
          </a:xfrm>
          <a:prstGeom prst="rect">
            <a:avLst/>
          </a:prstGeom>
          <a:noFill/>
        </p:spPr>
        <p:txBody>
          <a:bodyPr anchor="ctr" rtlCol="false" lIns="0" tIns="0" rIns="0" bIns="0" wrap="square"/>
          <a:lstStyle/>
          <a:p>
            <a:pPr algn="l">
              <a:lnSpc>
                <a:spcPts val="2500"/>
              </a:lnSpc>
              <a:spcBef>
                <a:spcPts val="0"/>
              </a:spcBef>
              <a:buNone/>
            </a:pPr>
            <a:r>
              <a:rPr lang="en-US" sz="2100" b="true">
                <a:solidFill>
                  <a:srgbClr val="4472C4"/>
                </a:solidFill>
                <a:latin typeface="Nunito Ultra-Bold"/>
                <a:ea typeface="Nunito Ultra-Bold"/>
                <a:cs typeface="Nunito Ultra-Bold"/>
                <a:sym typeface="Nunito Ultra-Bold"/>
              </a:rPr>
              <a:t>Importance legitimately changes with the level</a:t>
            </a:r>
          </a:p>
          <a:p>
            <a:pPr algn="l">
              <a:lnSpc>
                <a:spcPts val="2400"/>
              </a:lnSpc>
              <a:spcBef>
                <a:spcPts val="400"/>
              </a:spcBef>
              <a:buNone/>
            </a:pPr>
            <a:r>
              <a:rPr lang="en-US" sz="1900" b="true">
                <a:solidFill>
                  <a:srgbClr val="111111"/>
                </a:solidFill>
                <a:latin typeface="Nunito Semi-Bold"/>
                <a:ea typeface="Nunito Semi-Bold"/>
                <a:cs typeface="Nunito Semi-Bold"/>
                <a:sym typeface="Nunito Semi-Bold"/>
              </a:rPr>
              <a:t>A variable can be globally important yet locally uninformative; Proposition 6.1 makes that difference interpretable rather than contradictory.</a:t>
            </a:r>
          </a:p>
        </p:txBody>
      </p:sp>
      <p:sp>
        <p:nvSpPr>
          <p:cNvPr id="31" name="Rounded Rectangle 30"/>
          <p:cNvSpPr/>
          <p:nvPr/>
        </p:nvSpPr>
        <p:spPr>
          <a:xfrm>
            <a:off x="1028700" y="6372733"/>
            <a:ext cx="16230600" cy="1339913"/>
          </a:xfrm>
          <a:prstGeom prst="roundRect">
            <a:avLst>
              <a:gd name="adj" fmla="val 15013"/>
            </a:avLst>
          </a:prstGeom>
          <a:solidFill>
            <a:srgbClr val="F6ECDF"/>
          </a:solidFill>
          <a:ln>
            <a:noFill/>
          </a:ln>
        </p:spPr>
        <p:txBody>
          <a:bodyPr anchor="ctr" rtlCol="false" lIns="0" tIns="0" rIns="0" bIns="0" wrap="square"/>
          <a:lstStyle/>
          <a:p>
            <a:endParaRPr lang="en-US" sz="1800"/>
          </a:p>
        </p:txBody>
      </p:sp>
      <p:sp>
        <p:nvSpPr>
          <p:cNvPr id="32" name="Oval 31"/>
          <p:cNvSpPr/>
          <p:nvPr/>
        </p:nvSpPr>
        <p:spPr>
          <a:xfrm>
            <a:off x="1303020" y="6759225"/>
            <a:ext cx="566928" cy="566928"/>
          </a:xfrm>
          <a:prstGeom prst="ellipse">
            <a:avLst/>
          </a:prstGeom>
          <a:solidFill>
            <a:srgbClr val="4472C4"/>
          </a:solidFill>
          <a:ln>
            <a:noFill/>
          </a:ln>
        </p:spPr>
        <p:txBody>
          <a:bodyPr anchor="ctr" rtlCol="false" lIns="0" tIns="0" rIns="0" bIns="0" wrap="square"/>
          <a:lstStyle/>
          <a:p>
            <a:pPr algn="ctr">
              <a:lnSpc>
                <a:spcPts val="2200"/>
              </a:lnSpc>
              <a:spcBef>
                <a:spcPts val="0"/>
              </a:spcBef>
              <a:buNone/>
            </a:pPr>
            <a:r>
              <a:rPr lang="en-US" sz="2000" b="true">
                <a:solidFill>
                  <a:srgbClr val="FFFFFF"/>
                </a:solidFill>
                <a:latin typeface="Nunito Ultra-Bold"/>
                <a:ea typeface="Nunito Ultra-Bold"/>
                <a:cs typeface="Nunito Ultra-Bold"/>
                <a:sym typeface="Nunito Ultra-Bold"/>
              </a:rPr>
              <a:t>3</a:t>
            </a:r>
          </a:p>
        </p:txBody>
      </p:sp>
      <p:sp>
        <p:nvSpPr>
          <p:cNvPr id="33" name="TextBox 32"/>
          <p:cNvSpPr txBox="1"/>
          <p:nvPr/>
        </p:nvSpPr>
        <p:spPr>
          <a:xfrm>
            <a:off x="2171700" y="6482461"/>
            <a:ext cx="14767560" cy="1120457"/>
          </a:xfrm>
          <a:prstGeom prst="rect">
            <a:avLst/>
          </a:prstGeom>
          <a:noFill/>
        </p:spPr>
        <p:txBody>
          <a:bodyPr anchor="ctr" rtlCol="false" lIns="0" tIns="0" rIns="0" bIns="0" wrap="square"/>
          <a:lstStyle/>
          <a:p>
            <a:pPr algn="l">
              <a:lnSpc>
                <a:spcPts val="2500"/>
              </a:lnSpc>
              <a:spcBef>
                <a:spcPts val="0"/>
              </a:spcBef>
              <a:buNone/>
            </a:pPr>
            <a:r>
              <a:rPr lang="en-US" sz="2100" b="true">
                <a:solidFill>
                  <a:srgbClr val="4472C4"/>
                </a:solidFill>
                <a:latin typeface="Nunito Ultra-Bold"/>
                <a:ea typeface="Nunito Ultra-Bold"/>
                <a:cs typeface="Nunito Ultra-Bold"/>
                <a:sym typeface="Nunito Ultra-Bold"/>
              </a:rPr>
              <a:t>The explanation scales</a:t>
            </a:r>
          </a:p>
          <a:p>
            <a:pPr algn="l">
              <a:lnSpc>
                <a:spcPts val="2400"/>
              </a:lnSpc>
              <a:spcBef>
                <a:spcPts val="400"/>
              </a:spcBef>
              <a:buNone/>
            </a:pPr>
            <a:r>
              <a:rPr lang="en-US" sz="1900" b="true">
                <a:solidFill>
                  <a:srgbClr val="111111"/>
                </a:solidFill>
                <a:latin typeface="Nunito Semi-Bold"/>
                <a:ea typeface="Nunito Semi-Bold"/>
                <a:cs typeface="Nunito Semi-Bold"/>
                <a:sym typeface="Nunito Semi-Bold"/>
              </a:rPr>
              <a:t>Level-specific surrogates and exact TreeSHAP keep the cost linear in the data, not exponential in the features.</a:t>
            </a:r>
          </a:p>
        </p:txBody>
      </p:sp>
      <p:sp>
        <p:nvSpPr>
          <p:cNvPr id="34" name="Rounded Rectangle 33"/>
          <p:cNvSpPr/>
          <p:nvPr/>
        </p:nvSpPr>
        <p:spPr>
          <a:xfrm>
            <a:off x="1028700" y="7877238"/>
            <a:ext cx="16230600" cy="1339913"/>
          </a:xfrm>
          <a:prstGeom prst="roundRect">
            <a:avLst>
              <a:gd name="adj" fmla="val 15013"/>
            </a:avLst>
          </a:prstGeom>
          <a:solidFill>
            <a:srgbClr val="FBF4EB"/>
          </a:solidFill>
          <a:ln>
            <a:noFill/>
          </a:ln>
        </p:spPr>
        <p:txBody>
          <a:bodyPr anchor="ctr" rtlCol="false" lIns="0" tIns="0" rIns="0" bIns="0" wrap="square"/>
          <a:lstStyle/>
          <a:p>
            <a:endParaRPr lang="en-US" sz="1800"/>
          </a:p>
        </p:txBody>
      </p:sp>
      <p:sp>
        <p:nvSpPr>
          <p:cNvPr id="35" name="Oval 34"/>
          <p:cNvSpPr/>
          <p:nvPr/>
        </p:nvSpPr>
        <p:spPr>
          <a:xfrm>
            <a:off x="1303020" y="8263731"/>
            <a:ext cx="566928" cy="566928"/>
          </a:xfrm>
          <a:prstGeom prst="ellipse">
            <a:avLst/>
          </a:prstGeom>
          <a:solidFill>
            <a:srgbClr val="4472C4"/>
          </a:solidFill>
          <a:ln>
            <a:noFill/>
          </a:ln>
        </p:spPr>
        <p:txBody>
          <a:bodyPr anchor="ctr" rtlCol="false" lIns="0" tIns="0" rIns="0" bIns="0" wrap="square"/>
          <a:lstStyle/>
          <a:p>
            <a:pPr algn="ctr">
              <a:lnSpc>
                <a:spcPts val="2200"/>
              </a:lnSpc>
              <a:spcBef>
                <a:spcPts val="0"/>
              </a:spcBef>
              <a:buNone/>
            </a:pPr>
            <a:r>
              <a:rPr lang="en-US" sz="2000" b="true">
                <a:solidFill>
                  <a:srgbClr val="FFFFFF"/>
                </a:solidFill>
                <a:latin typeface="Nunito Ultra-Bold"/>
                <a:ea typeface="Nunito Ultra-Bold"/>
                <a:cs typeface="Nunito Ultra-Bold"/>
                <a:sym typeface="Nunito Ultra-Bold"/>
              </a:rPr>
              <a:t>4</a:t>
            </a:r>
          </a:p>
        </p:txBody>
      </p:sp>
      <p:sp>
        <p:nvSpPr>
          <p:cNvPr id="36" name="TextBox 35"/>
          <p:cNvSpPr txBox="1"/>
          <p:nvPr/>
        </p:nvSpPr>
        <p:spPr>
          <a:xfrm>
            <a:off x="2171700" y="7986966"/>
            <a:ext cx="14767560" cy="1120457"/>
          </a:xfrm>
          <a:prstGeom prst="rect">
            <a:avLst/>
          </a:prstGeom>
          <a:noFill/>
        </p:spPr>
        <p:txBody>
          <a:bodyPr anchor="ctr" rtlCol="false" lIns="0" tIns="0" rIns="0" bIns="0" wrap="square"/>
          <a:lstStyle/>
          <a:p>
            <a:pPr algn="l">
              <a:lnSpc>
                <a:spcPts val="2500"/>
              </a:lnSpc>
              <a:spcBef>
                <a:spcPts val="0"/>
              </a:spcBef>
              <a:buNone/>
            </a:pPr>
            <a:r>
              <a:rPr lang="en-US" sz="2100" b="true">
                <a:solidFill>
                  <a:srgbClr val="4472C4"/>
                </a:solidFill>
                <a:latin typeface="Nunito Ultra-Bold"/>
                <a:ea typeface="Nunito Ultra-Bold"/>
                <a:cs typeface="Nunito Ultra-Bold"/>
                <a:sym typeface="Nunito Ultra-Bold"/>
              </a:rPr>
              <a:t>The logic transfers across domains</a:t>
            </a:r>
          </a:p>
          <a:p>
            <a:pPr algn="l">
              <a:lnSpc>
                <a:spcPts val="2400"/>
              </a:lnSpc>
              <a:spcBef>
                <a:spcPts val="400"/>
              </a:spcBef>
              <a:buNone/>
            </a:pPr>
            <a:r>
              <a:rPr lang="en-US" sz="1900" b="true">
                <a:solidFill>
                  <a:srgbClr val="111111"/>
                </a:solidFill>
                <a:latin typeface="Nunito Semi-Bold"/>
                <a:ea typeface="Nunito Semi-Bold"/>
                <a:cs typeface="Nunito Semi-Bold"/>
                <a:sym typeface="Nunito Semi-Bold"/>
              </a:rPr>
              <a:t>Same pipeline, same reading, from 4,898 wines to 383,585 hourly air-quality records, with a Silhouette ≈ 0.63 against 0.37 in the reference SHAP-clustering study.</a:t>
            </a:r>
          </a:p>
        </p:txBody>
      </p:sp>
    </p:spTree>
  </p:cSld>
  <p:clrMapOvr>
    <a:masterClrMapping/>
  </p:clrMapOvr>
</p:sld>
</file>

<file path=ppt/slides/slide6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pic>
        <p:nvPicPr>
          <p:cNvPr id="2" name="Picture 1" descr="ensias_logo.jpg"/>
          <p:cNvPicPr>
            <a:picLocks noChangeAspect="1"/>
          </p:cNvPicPr>
          <p:nvPr/>
        </p:nvPicPr>
        <p:blipFill>
          <a:blip r:embed="rId2"/>
          <a:stretch>
            <a:fillRect/>
          </a:stretch>
        </p:blipFill>
        <p:spPr>
          <a:xfrm>
            <a:off x="1028700" y="9674352"/>
            <a:ext cx="542964" cy="384048"/>
          </a:xfrm>
          <a:prstGeom prst="rect">
            <a:avLst/>
          </a:prstGeom>
        </p:spPr>
      </p:pic>
      <p:sp>
        <p:nvSpPr>
          <p:cNvPr id="3" name="TextBox 2"/>
          <p:cNvSpPr txBox="1"/>
          <p:nvPr/>
        </p:nvSpPr>
        <p:spPr>
          <a:xfrm>
            <a:off x="1577340" y="9747504"/>
            <a:ext cx="12801600" cy="274320"/>
          </a:xfrm>
          <a:prstGeom prst="rect">
            <a:avLst/>
          </a:prstGeom>
          <a:noFill/>
        </p:spPr>
        <p:txBody>
          <a:bodyPr anchor="t" rtlCol="false" lIns="0" tIns="0" rIns="0" bIns="0" wrap="square"/>
          <a:lstStyle/>
          <a:p>
            <a:pPr algn="l">
              <a:lnSpc>
                <a:spcPts val="1600"/>
              </a:lnSpc>
              <a:spcBef>
                <a:spcPts val="0"/>
              </a:spcBef>
              <a:buNone/>
            </a:pPr>
            <a:r>
              <a:rPr lang="en-US" sz="1300" b="true">
                <a:solidFill>
                  <a:srgbClr val="8A8378"/>
                </a:solidFill>
                <a:latin typeface="Nunito Bold"/>
                <a:ea typeface="Nunito Bold"/>
                <a:cs typeface="Nunito Bold"/>
                <a:sym typeface="Nunito Bold"/>
              </a:rPr>
              <a:t>Cooperative Game Theory for Explainable AI in Recommendation Systems  ·  A Shapley Framework for Actionable Insight</a:t>
            </a:r>
          </a:p>
        </p:txBody>
      </p:sp>
      <p:sp>
        <p:nvSpPr>
          <p:cNvPr id="4" name="TextBox 3"/>
          <p:cNvSpPr txBox="1"/>
          <p:nvPr/>
        </p:nvSpPr>
        <p:spPr>
          <a:xfrm>
            <a:off x="16162020" y="9692640"/>
            <a:ext cx="1097280" cy="329184"/>
          </a:xfrm>
          <a:prstGeom prst="rect">
            <a:avLst/>
          </a:prstGeom>
          <a:noFill/>
        </p:spPr>
        <p:txBody>
          <a:bodyPr anchor="t" rtlCol="false" lIns="0" tIns="0" rIns="0" bIns="0" wrap="square"/>
          <a:lstStyle/>
          <a:p>
            <a:pPr algn="r">
              <a:lnSpc>
                <a:spcPts val="2200"/>
              </a:lnSpc>
              <a:spcBef>
                <a:spcPts val="0"/>
              </a:spcBef>
              <a:buNone/>
            </a:pPr>
            <a:r>
              <a:rPr lang="en-US" sz="1800" b="true">
                <a:solidFill>
                  <a:srgbClr val="111111"/>
                </a:solidFill>
                <a:latin typeface="Nunito Ultra-Bold"/>
                <a:ea typeface="Nunito Ultra-Bold"/>
                <a:cs typeface="Nunito Ultra-Bold"/>
                <a:sym typeface="Nunito Ultra-Bold"/>
              </a:rPr>
              <a:t>49</a:t>
            </a:r>
          </a:p>
        </p:txBody>
      </p:sp>
      <p:sp>
        <p:nvSpPr>
          <p:cNvPr id="5" name="TextBox 4"/>
          <p:cNvSpPr txBox="1"/>
          <p:nvPr/>
        </p:nvSpPr>
        <p:spPr>
          <a:xfrm>
            <a:off x="1028700" y="1389888"/>
            <a:ext cx="12938760" cy="329184"/>
          </a:xfrm>
          <a:prstGeom prst="rect">
            <a:avLst/>
          </a:prstGeom>
          <a:noFill/>
        </p:spPr>
        <p:txBody>
          <a:bodyPr anchor="t" rtlCol="false" lIns="0" tIns="0" rIns="0" bIns="0" wrap="square"/>
          <a:lstStyle/>
          <a:p>
            <a:pPr algn="l">
              <a:lnSpc>
                <a:spcPts val="2000"/>
              </a:lnSpc>
              <a:spcBef>
                <a:spcPts val="0"/>
              </a:spcBef>
              <a:buNone/>
            </a:pPr>
            <a:r>
              <a:rPr lang="en-US" sz="1500" b="true" spc="160">
                <a:solidFill>
                  <a:srgbClr val="1F7A8C"/>
                </a:solidFill>
                <a:latin typeface="Nunito Ultra-Bold"/>
                <a:ea typeface="Nunito Ultra-Bold"/>
                <a:cs typeface="Nunito Ultra-Bold"/>
                <a:sym typeface="Nunito Ultra-Bold"/>
              </a:rPr>
              <a:t>CONTRIBUTION II: MULTI-LEVEL XAI FOR LARGE-SCALE CLUSTERING</a:t>
            </a:r>
          </a:p>
        </p:txBody>
      </p:sp>
      <p:sp>
        <p:nvSpPr>
          <p:cNvPr id="6" name="Rounded Rectangle 5"/>
          <p:cNvSpPr/>
          <p:nvPr/>
        </p:nvSpPr>
        <p:spPr>
          <a:xfrm>
            <a:off x="14516100"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7" name="TextBox 6"/>
          <p:cNvSpPr txBox="1"/>
          <p:nvPr/>
        </p:nvSpPr>
        <p:spPr>
          <a:xfrm>
            <a:off x="14516100"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1</a:t>
            </a:r>
          </a:p>
        </p:txBody>
      </p:sp>
      <p:sp>
        <p:nvSpPr>
          <p:cNvPr id="8" name="Rounded Rectangle 7"/>
          <p:cNvSpPr/>
          <p:nvPr/>
        </p:nvSpPr>
        <p:spPr>
          <a:xfrm>
            <a:off x="14918436"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9" name="TextBox 8"/>
          <p:cNvSpPr txBox="1"/>
          <p:nvPr/>
        </p:nvSpPr>
        <p:spPr>
          <a:xfrm>
            <a:off x="14918436"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2</a:t>
            </a:r>
          </a:p>
        </p:txBody>
      </p:sp>
      <p:sp>
        <p:nvSpPr>
          <p:cNvPr id="10" name="Rounded Rectangle 9"/>
          <p:cNvSpPr/>
          <p:nvPr/>
        </p:nvSpPr>
        <p:spPr>
          <a:xfrm>
            <a:off x="15320772"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11" name="TextBox 10"/>
          <p:cNvSpPr txBox="1"/>
          <p:nvPr/>
        </p:nvSpPr>
        <p:spPr>
          <a:xfrm>
            <a:off x="15320772"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3</a:t>
            </a:r>
          </a:p>
        </p:txBody>
      </p:sp>
      <p:sp>
        <p:nvSpPr>
          <p:cNvPr id="12" name="Rounded Rectangle 11"/>
          <p:cNvSpPr/>
          <p:nvPr/>
        </p:nvSpPr>
        <p:spPr>
          <a:xfrm>
            <a:off x="15723108"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13" name="TextBox 12"/>
          <p:cNvSpPr txBox="1"/>
          <p:nvPr/>
        </p:nvSpPr>
        <p:spPr>
          <a:xfrm>
            <a:off x="15723108"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4</a:t>
            </a:r>
          </a:p>
        </p:txBody>
      </p:sp>
      <p:sp>
        <p:nvSpPr>
          <p:cNvPr id="14" name="Rounded Rectangle 13"/>
          <p:cNvSpPr/>
          <p:nvPr/>
        </p:nvSpPr>
        <p:spPr>
          <a:xfrm>
            <a:off x="16125444" y="1371600"/>
            <a:ext cx="329184" cy="329184"/>
          </a:xfrm>
          <a:prstGeom prst="roundRect">
            <a:avLst>
              <a:gd name="adj" fmla="val 16666"/>
            </a:avLst>
          </a:prstGeom>
          <a:solidFill>
            <a:srgbClr val="4472C4"/>
          </a:solidFill>
          <a:ln w="15875">
            <a:solidFill>
              <a:srgbClr val="4472C4"/>
            </a:solidFill>
          </a:ln>
        </p:spPr>
        <p:txBody>
          <a:bodyPr anchor="ctr" rtlCol="false" lIns="0" tIns="0" rIns="0" bIns="0" wrap="square"/>
          <a:lstStyle/>
          <a:p>
            <a:endParaRPr lang="en-US" sz="1800"/>
          </a:p>
        </p:txBody>
      </p:sp>
      <p:sp>
        <p:nvSpPr>
          <p:cNvPr id="15" name="TextBox 14"/>
          <p:cNvSpPr txBox="1"/>
          <p:nvPr/>
        </p:nvSpPr>
        <p:spPr>
          <a:xfrm>
            <a:off x="16125444"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FFFFFF"/>
                </a:solidFill>
                <a:latin typeface="Nunito Ultra-Bold"/>
                <a:ea typeface="Nunito Ultra-Bold"/>
                <a:cs typeface="Nunito Ultra-Bold"/>
                <a:sym typeface="Nunito Ultra-Bold"/>
              </a:rPr>
              <a:t>5</a:t>
            </a:r>
          </a:p>
        </p:txBody>
      </p:sp>
      <p:sp>
        <p:nvSpPr>
          <p:cNvPr id="16" name="Rounded Rectangle 15"/>
          <p:cNvSpPr/>
          <p:nvPr/>
        </p:nvSpPr>
        <p:spPr>
          <a:xfrm>
            <a:off x="16527780"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17" name="TextBox 16"/>
          <p:cNvSpPr txBox="1"/>
          <p:nvPr/>
        </p:nvSpPr>
        <p:spPr>
          <a:xfrm>
            <a:off x="16527780"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6</a:t>
            </a:r>
          </a:p>
        </p:txBody>
      </p:sp>
      <p:sp>
        <p:nvSpPr>
          <p:cNvPr id="18" name="Rounded Rectangle 17"/>
          <p:cNvSpPr/>
          <p:nvPr/>
        </p:nvSpPr>
        <p:spPr>
          <a:xfrm>
            <a:off x="16930116"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19" name="TextBox 18"/>
          <p:cNvSpPr txBox="1"/>
          <p:nvPr/>
        </p:nvSpPr>
        <p:spPr>
          <a:xfrm>
            <a:off x="16930116"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7</a:t>
            </a:r>
          </a:p>
        </p:txBody>
      </p:sp>
      <p:sp>
        <p:nvSpPr>
          <p:cNvPr id="20" name="TextBox 19"/>
          <p:cNvSpPr txBox="1"/>
          <p:nvPr/>
        </p:nvSpPr>
        <p:spPr>
          <a:xfrm>
            <a:off x="1028700" y="1719072"/>
            <a:ext cx="16230600" cy="730250"/>
          </a:xfrm>
          <a:prstGeom prst="rect">
            <a:avLst/>
          </a:prstGeom>
          <a:noFill/>
        </p:spPr>
        <p:txBody>
          <a:bodyPr anchor="t" rtlCol="false" lIns="0" tIns="0" rIns="0" bIns="0" wrap="square"/>
          <a:lstStyle/>
          <a:p>
            <a:pPr algn="l">
              <a:lnSpc>
                <a:spcPts val="5060"/>
              </a:lnSpc>
              <a:spcBef>
                <a:spcPts val="0"/>
              </a:spcBef>
              <a:buNone/>
            </a:pPr>
            <a:r>
              <a:rPr lang="en-US" sz="4600" b="true" spc="-230">
                <a:solidFill>
                  <a:srgbClr val="111111"/>
                </a:solidFill>
                <a:latin typeface="Roca Two Bold"/>
                <a:ea typeface="Roca Two Bold"/>
                <a:cs typeface="Roca Two Bold"/>
                <a:sym typeface="Roca Two Bold"/>
              </a:rPr>
              <a:t>Limitations</a:t>
            </a:r>
          </a:p>
        </p:txBody>
      </p:sp>
      <p:sp>
        <p:nvSpPr>
          <p:cNvPr id="21" name="Rounded Rectangle 20"/>
          <p:cNvSpPr/>
          <p:nvPr/>
        </p:nvSpPr>
        <p:spPr>
          <a:xfrm>
            <a:off x="1028700" y="2559050"/>
            <a:ext cx="1691553" cy="420624"/>
          </a:xfrm>
          <a:prstGeom prst="roundRect">
            <a:avLst>
              <a:gd name="adj" fmla="val 50000"/>
            </a:avLst>
          </a:prstGeom>
          <a:noFill/>
          <a:ln w="28575">
            <a:solidFill>
              <a:srgbClr val="4472C4"/>
            </a:solidFill>
          </a:ln>
        </p:spPr>
        <p:txBody>
          <a:bodyPr anchor="ctr" rtlCol="false" lIns="45720" tIns="0" rIns="45720" bIns="0" wrap="square"/>
          <a:lstStyle/>
          <a:p>
            <a:pPr algn="ctr">
              <a:lnSpc>
                <a:spcPts val="2160"/>
              </a:lnSpc>
              <a:spcBef>
                <a:spcPts val="0"/>
              </a:spcBef>
              <a:buNone/>
            </a:pPr>
            <a:r>
              <a:rPr lang="en-US" sz="1800" b="true">
                <a:solidFill>
                  <a:srgbClr val="4472C4"/>
                </a:solidFill>
                <a:latin typeface="Nunito Bold"/>
                <a:ea typeface="Nunito Bold"/>
                <a:cs typeface="Nunito Bold"/>
                <a:sym typeface="Nunito Bold"/>
              </a:rPr>
              <a:t>Objectives</a:t>
            </a:r>
          </a:p>
        </p:txBody>
      </p:sp>
      <p:sp>
        <p:nvSpPr>
          <p:cNvPr id="22" name="Rounded Rectangle 21"/>
          <p:cNvSpPr/>
          <p:nvPr/>
        </p:nvSpPr>
        <p:spPr>
          <a:xfrm>
            <a:off x="2848269" y="2559050"/>
            <a:ext cx="1998119" cy="420624"/>
          </a:xfrm>
          <a:prstGeom prst="roundRect">
            <a:avLst>
              <a:gd name="adj" fmla="val 50000"/>
            </a:avLst>
          </a:prstGeom>
          <a:noFill/>
          <a:ln w="28575">
            <a:solidFill>
              <a:srgbClr val="4472C4"/>
            </a:solidFill>
          </a:ln>
        </p:spPr>
        <p:txBody>
          <a:bodyPr anchor="ctr" rtlCol="false" lIns="45720" tIns="0" rIns="45720" bIns="0" wrap="square"/>
          <a:lstStyle/>
          <a:p>
            <a:pPr algn="ctr">
              <a:lnSpc>
                <a:spcPts val="2160"/>
              </a:lnSpc>
              <a:spcBef>
                <a:spcPts val="0"/>
              </a:spcBef>
              <a:buNone/>
            </a:pPr>
            <a:r>
              <a:rPr lang="en-US" sz="1800" b="true">
                <a:solidFill>
                  <a:srgbClr val="4472C4"/>
                </a:solidFill>
                <a:latin typeface="Nunito Bold"/>
                <a:ea typeface="Nunito Bold"/>
                <a:cs typeface="Nunito Bold"/>
                <a:sym typeface="Nunito Bold"/>
              </a:rPr>
              <a:t>Methodology</a:t>
            </a:r>
          </a:p>
        </p:txBody>
      </p:sp>
      <p:sp>
        <p:nvSpPr>
          <p:cNvPr id="23" name="Rounded Rectangle 22"/>
          <p:cNvSpPr/>
          <p:nvPr/>
        </p:nvSpPr>
        <p:spPr>
          <a:xfrm>
            <a:off x="4974404" y="2559050"/>
            <a:ext cx="1369446" cy="420624"/>
          </a:xfrm>
          <a:prstGeom prst="roundRect">
            <a:avLst>
              <a:gd name="adj" fmla="val 50000"/>
            </a:avLst>
          </a:prstGeom>
          <a:noFill/>
          <a:ln w="28575">
            <a:solidFill>
              <a:srgbClr val="4472C4"/>
            </a:solidFill>
          </a:ln>
        </p:spPr>
        <p:txBody>
          <a:bodyPr anchor="ctr" rtlCol="false" lIns="45720" tIns="0" rIns="45720" bIns="0" wrap="square"/>
          <a:lstStyle/>
          <a:p>
            <a:pPr algn="ctr">
              <a:lnSpc>
                <a:spcPts val="2160"/>
              </a:lnSpc>
              <a:spcBef>
                <a:spcPts val="0"/>
              </a:spcBef>
              <a:buNone/>
            </a:pPr>
            <a:r>
              <a:rPr lang="en-US" sz="1800" b="true">
                <a:solidFill>
                  <a:srgbClr val="4472C4"/>
                </a:solidFill>
                <a:latin typeface="Nunito Bold"/>
                <a:ea typeface="Nunito Bold"/>
                <a:cs typeface="Nunito Bold"/>
                <a:sym typeface="Nunito Bold"/>
              </a:rPr>
              <a:t>Results</a:t>
            </a:r>
          </a:p>
        </p:txBody>
      </p:sp>
      <p:sp>
        <p:nvSpPr>
          <p:cNvPr id="24" name="Rounded Rectangle 23"/>
          <p:cNvSpPr/>
          <p:nvPr/>
        </p:nvSpPr>
        <p:spPr>
          <a:xfrm>
            <a:off x="6471866" y="2559050"/>
            <a:ext cx="1474931" cy="420624"/>
          </a:xfrm>
          <a:prstGeom prst="roundRect">
            <a:avLst>
              <a:gd name="adj" fmla="val 50000"/>
            </a:avLst>
          </a:prstGeom>
          <a:solidFill>
            <a:srgbClr val="4472C4"/>
          </a:solidFill>
          <a:ln>
            <a:noFill/>
          </a:ln>
        </p:spPr>
        <p:txBody>
          <a:bodyPr anchor="ctr" rtlCol="false" lIns="45720" tIns="0" rIns="45720" bIns="0" wrap="square"/>
          <a:lstStyle/>
          <a:p>
            <a:pPr algn="ctr">
              <a:lnSpc>
                <a:spcPts val="2160"/>
              </a:lnSpc>
              <a:spcBef>
                <a:spcPts val="0"/>
              </a:spcBef>
              <a:buNone/>
            </a:pPr>
            <a:r>
              <a:rPr lang="en-US" sz="1800" b="true">
                <a:solidFill>
                  <a:srgbClr val="FFFFFF"/>
                </a:solidFill>
                <a:latin typeface="Nunito Bold"/>
                <a:ea typeface="Nunito Bold"/>
                <a:cs typeface="Nunito Bold"/>
                <a:sym typeface="Nunito Bold"/>
              </a:rPr>
              <a:t>Findings</a:t>
            </a:r>
          </a:p>
        </p:txBody>
      </p:sp>
      <p:sp>
        <p:nvSpPr>
          <p:cNvPr id="25" name="Rounded Rectangle 24"/>
          <p:cNvSpPr/>
          <p:nvPr/>
        </p:nvSpPr>
        <p:spPr>
          <a:xfrm>
            <a:off x="1028700" y="3363722"/>
            <a:ext cx="7955280" cy="2172335"/>
          </a:xfrm>
          <a:prstGeom prst="roundRect">
            <a:avLst>
              <a:gd name="adj" fmla="val 11786"/>
            </a:avLst>
          </a:prstGeom>
          <a:solidFill>
            <a:srgbClr val="4472C4"/>
          </a:solidFill>
          <a:ln>
            <a:noFill/>
          </a:ln>
        </p:spPr>
        <p:txBody>
          <a:bodyPr anchor="ctr" rtlCol="false" lIns="0" tIns="0" rIns="0" bIns="0" wrap="square"/>
          <a:lstStyle/>
          <a:p>
            <a:endParaRPr lang="en-US" sz="1800"/>
          </a:p>
        </p:txBody>
      </p:sp>
      <p:sp>
        <p:nvSpPr>
          <p:cNvPr id="26" name="TextBox 25"/>
          <p:cNvSpPr txBox="1"/>
          <p:nvPr/>
        </p:nvSpPr>
        <p:spPr>
          <a:xfrm>
            <a:off x="1394460" y="3638042"/>
            <a:ext cx="7223760" cy="1715135"/>
          </a:xfrm>
          <a:prstGeom prst="rect">
            <a:avLst/>
          </a:prstGeom>
          <a:noFill/>
        </p:spPr>
        <p:txBody>
          <a:bodyPr anchor="t" rtlCol="false" lIns="0" tIns="0" rIns="0" bIns="0" wrap="square"/>
          <a:lstStyle/>
          <a:p>
            <a:pPr algn="l">
              <a:lnSpc>
                <a:spcPts val="1800"/>
              </a:lnSpc>
              <a:spcBef>
                <a:spcPts val="0"/>
              </a:spcBef>
              <a:buNone/>
            </a:pPr>
            <a:r>
              <a:rPr lang="en-US" sz="1400" b="true" spc="160">
                <a:solidFill>
                  <a:srgbClr val="ECC665"/>
                </a:solidFill>
                <a:latin typeface="Nunito Ultra-Bold"/>
                <a:ea typeface="Nunito Ultra-Bold"/>
                <a:cs typeface="Nunito Ultra-Bold"/>
                <a:sym typeface="Nunito Ultra-Bold"/>
              </a:rPr>
              <a:t>STATIC CLUSTERING</a:t>
            </a:r>
          </a:p>
          <a:p>
            <a:pPr algn="l">
              <a:lnSpc>
                <a:spcPts val="2400"/>
              </a:lnSpc>
              <a:spcBef>
                <a:spcPts val="800"/>
              </a:spcBef>
              <a:buNone/>
            </a:pPr>
            <a:r>
              <a:rPr lang="en-US" sz="1900" b="true">
                <a:solidFill>
                  <a:srgbClr val="FFFFFF"/>
                </a:solidFill>
                <a:latin typeface="Nunito Semi-Bold"/>
                <a:ea typeface="Nunito Semi-Bold"/>
                <a:cs typeface="Nunito Semi-Bold"/>
                <a:sym typeface="Nunito Semi-Bold"/>
              </a:rPr>
              <a:t>The partition is </a:t>
            </a:r>
            <a:r>
              <a:rPr lang="en-US" sz="1900" b="true">
                <a:solidFill>
                  <a:srgbClr val="FFFFFF"/>
                </a:solidFill>
                <a:latin typeface="Nunito Bold"/>
                <a:ea typeface="Nunito Bold"/>
                <a:cs typeface="Nunito Bold"/>
                <a:sym typeface="Nunito Bold"/>
              </a:rPr>
              <a:t>static</a:t>
            </a:r>
            <a:r>
              <a:rPr lang="en-US" sz="1900" b="true">
                <a:solidFill>
                  <a:srgbClr val="FFFFFF"/>
                </a:solidFill>
                <a:latin typeface="Nunito Semi-Bold"/>
                <a:ea typeface="Nunito Semi-Bold"/>
                <a:cs typeface="Nunito Semi-Bold"/>
                <a:sym typeface="Nunito Semi-Bold"/>
              </a:rPr>
              <a:t>, even though the Beijing data are temporal; drift between years is not modelled.</a:t>
            </a:r>
          </a:p>
        </p:txBody>
      </p:sp>
      <p:sp>
        <p:nvSpPr>
          <p:cNvPr id="27" name="Rounded Rectangle 26"/>
          <p:cNvSpPr/>
          <p:nvPr/>
        </p:nvSpPr>
        <p:spPr>
          <a:xfrm>
            <a:off x="9304020" y="3363722"/>
            <a:ext cx="7955280" cy="2172335"/>
          </a:xfrm>
          <a:prstGeom prst="roundRect">
            <a:avLst>
              <a:gd name="adj" fmla="val 11786"/>
            </a:avLst>
          </a:prstGeom>
          <a:solidFill>
            <a:srgbClr val="2F5597"/>
          </a:solidFill>
          <a:ln>
            <a:noFill/>
          </a:ln>
        </p:spPr>
        <p:txBody>
          <a:bodyPr anchor="ctr" rtlCol="false" lIns="0" tIns="0" rIns="0" bIns="0" wrap="square"/>
          <a:lstStyle/>
          <a:p>
            <a:endParaRPr lang="en-US" sz="1800"/>
          </a:p>
        </p:txBody>
      </p:sp>
      <p:sp>
        <p:nvSpPr>
          <p:cNvPr id="28" name="TextBox 27"/>
          <p:cNvSpPr txBox="1"/>
          <p:nvPr/>
        </p:nvSpPr>
        <p:spPr>
          <a:xfrm>
            <a:off x="9669780" y="3638042"/>
            <a:ext cx="7223760" cy="1715135"/>
          </a:xfrm>
          <a:prstGeom prst="rect">
            <a:avLst/>
          </a:prstGeom>
          <a:noFill/>
        </p:spPr>
        <p:txBody>
          <a:bodyPr anchor="t" rtlCol="false" lIns="0" tIns="0" rIns="0" bIns="0" wrap="square"/>
          <a:lstStyle/>
          <a:p>
            <a:pPr algn="l">
              <a:lnSpc>
                <a:spcPts val="1800"/>
              </a:lnSpc>
              <a:spcBef>
                <a:spcPts val="0"/>
              </a:spcBef>
              <a:buNone/>
            </a:pPr>
            <a:r>
              <a:rPr lang="en-US" sz="1400" b="true" spc="160">
                <a:solidFill>
                  <a:srgbClr val="ECC665"/>
                </a:solidFill>
                <a:latin typeface="Nunito Ultra-Bold"/>
                <a:ea typeface="Nunito Ultra-Bold"/>
                <a:cs typeface="Nunito Ultra-Bold"/>
                <a:sym typeface="Nunito Ultra-Bold"/>
              </a:rPr>
              <a:t>SMOOTHING</a:t>
            </a:r>
          </a:p>
          <a:p>
            <a:pPr algn="l">
              <a:lnSpc>
                <a:spcPts val="2400"/>
              </a:lnSpc>
              <a:spcBef>
                <a:spcPts val="800"/>
              </a:spcBef>
              <a:buNone/>
            </a:pPr>
            <a:r>
              <a:rPr lang="en-US" sz="1900" b="true">
                <a:solidFill>
                  <a:srgbClr val="FFFFFF"/>
                </a:solidFill>
                <a:latin typeface="Nunito Semi-Bold"/>
                <a:ea typeface="Nunito Semi-Bold"/>
                <a:cs typeface="Nunito Semi-Bold"/>
                <a:sym typeface="Nunito Semi-Bold"/>
              </a:rPr>
              <a:t>Surrogate-based SHAP plus representative-instance reporting </a:t>
            </a:r>
            <a:r>
              <a:rPr lang="en-US" sz="1900" b="true">
                <a:solidFill>
                  <a:srgbClr val="FFFFFF"/>
                </a:solidFill>
                <a:latin typeface="Nunito Bold"/>
                <a:ea typeface="Nunito Bold"/>
                <a:cs typeface="Nunito Bold"/>
                <a:sym typeface="Nunito Bold"/>
              </a:rPr>
              <a:t>smooth out variation between single observations</a:t>
            </a:r>
            <a:r>
              <a:rPr lang="en-US" sz="1900" b="true">
                <a:solidFill>
                  <a:srgbClr val="FFFFFF"/>
                </a:solidFill>
                <a:latin typeface="Nunito Semi-Bold"/>
                <a:ea typeface="Nunito Semi-Bold"/>
                <a:cs typeface="Nunito Semi-Bold"/>
                <a:sym typeface="Nunito Semi-Bold"/>
              </a:rPr>
              <a:t>.</a:t>
            </a:r>
          </a:p>
        </p:txBody>
      </p:sp>
      <p:sp>
        <p:nvSpPr>
          <p:cNvPr id="29" name="Rounded Rectangle 28"/>
          <p:cNvSpPr/>
          <p:nvPr/>
        </p:nvSpPr>
        <p:spPr>
          <a:xfrm>
            <a:off x="1028700" y="5810377"/>
            <a:ext cx="7955280" cy="2172335"/>
          </a:xfrm>
          <a:prstGeom prst="roundRect">
            <a:avLst>
              <a:gd name="adj" fmla="val 11786"/>
            </a:avLst>
          </a:prstGeom>
          <a:solidFill>
            <a:srgbClr val="2F5597"/>
          </a:solidFill>
          <a:ln>
            <a:noFill/>
          </a:ln>
        </p:spPr>
        <p:txBody>
          <a:bodyPr anchor="ctr" rtlCol="false" lIns="0" tIns="0" rIns="0" bIns="0" wrap="square"/>
          <a:lstStyle/>
          <a:p>
            <a:endParaRPr lang="en-US" sz="1800"/>
          </a:p>
        </p:txBody>
      </p:sp>
      <p:sp>
        <p:nvSpPr>
          <p:cNvPr id="30" name="TextBox 29"/>
          <p:cNvSpPr txBox="1"/>
          <p:nvPr/>
        </p:nvSpPr>
        <p:spPr>
          <a:xfrm>
            <a:off x="1394460" y="6084697"/>
            <a:ext cx="7223760" cy="1715135"/>
          </a:xfrm>
          <a:prstGeom prst="rect">
            <a:avLst/>
          </a:prstGeom>
          <a:noFill/>
        </p:spPr>
        <p:txBody>
          <a:bodyPr anchor="t" rtlCol="false" lIns="0" tIns="0" rIns="0" bIns="0" wrap="square"/>
          <a:lstStyle/>
          <a:p>
            <a:pPr algn="l">
              <a:lnSpc>
                <a:spcPts val="1800"/>
              </a:lnSpc>
              <a:spcBef>
                <a:spcPts val="0"/>
              </a:spcBef>
              <a:buNone/>
            </a:pPr>
            <a:r>
              <a:rPr lang="en-US" sz="1400" b="true" spc="160">
                <a:solidFill>
                  <a:srgbClr val="ECC665"/>
                </a:solidFill>
                <a:latin typeface="Nunito Ultra-Bold"/>
                <a:ea typeface="Nunito Ultra-Bold"/>
                <a:cs typeface="Nunito Ultra-Bold"/>
                <a:sym typeface="Nunito Ultra-Bold"/>
              </a:rPr>
              <a:t>TABULAR ONLY</a:t>
            </a:r>
          </a:p>
          <a:p>
            <a:pPr algn="l">
              <a:lnSpc>
                <a:spcPts val="2400"/>
              </a:lnSpc>
              <a:spcBef>
                <a:spcPts val="800"/>
              </a:spcBef>
              <a:buNone/>
            </a:pPr>
            <a:r>
              <a:rPr lang="en-US" sz="1900" b="true">
                <a:solidFill>
                  <a:srgbClr val="FFFFFF"/>
                </a:solidFill>
                <a:latin typeface="Nunito Semi-Bold"/>
                <a:ea typeface="Nunito Semi-Bold"/>
                <a:cs typeface="Nunito Semi-Bold"/>
                <a:sym typeface="Nunito Semi-Bold"/>
              </a:rPr>
              <a:t>Still limited to </a:t>
            </a:r>
            <a:r>
              <a:rPr lang="en-US" sz="1900" b="true">
                <a:solidFill>
                  <a:srgbClr val="FFFFFF"/>
                </a:solidFill>
                <a:latin typeface="Nunito Bold"/>
                <a:ea typeface="Nunito Bold"/>
                <a:cs typeface="Nunito Bold"/>
                <a:sym typeface="Nunito Bold"/>
              </a:rPr>
              <a:t>tabular data</a:t>
            </a:r>
            <a:r>
              <a:rPr lang="en-US" sz="1900" b="true">
                <a:solidFill>
                  <a:srgbClr val="FFFFFF"/>
                </a:solidFill>
                <a:latin typeface="Nunito Semi-Bold"/>
                <a:ea typeface="Nunito Semi-Bold"/>
                <a:cs typeface="Nunito Semi-Bold"/>
                <a:sym typeface="Nunito Semi-Bold"/>
              </a:rPr>
              <a:t>; no graph, text or image input.</a:t>
            </a:r>
          </a:p>
        </p:txBody>
      </p:sp>
      <p:sp>
        <p:nvSpPr>
          <p:cNvPr id="31" name="Rounded Rectangle 30"/>
          <p:cNvSpPr/>
          <p:nvPr/>
        </p:nvSpPr>
        <p:spPr>
          <a:xfrm>
            <a:off x="9304020" y="5810377"/>
            <a:ext cx="7955280" cy="2172335"/>
          </a:xfrm>
          <a:prstGeom prst="roundRect">
            <a:avLst>
              <a:gd name="adj" fmla="val 11786"/>
            </a:avLst>
          </a:prstGeom>
          <a:solidFill>
            <a:srgbClr val="4472C4"/>
          </a:solidFill>
          <a:ln>
            <a:noFill/>
          </a:ln>
        </p:spPr>
        <p:txBody>
          <a:bodyPr anchor="ctr" rtlCol="false" lIns="0" tIns="0" rIns="0" bIns="0" wrap="square"/>
          <a:lstStyle/>
          <a:p>
            <a:endParaRPr lang="en-US" sz="1800"/>
          </a:p>
        </p:txBody>
      </p:sp>
      <p:sp>
        <p:nvSpPr>
          <p:cNvPr id="32" name="TextBox 31"/>
          <p:cNvSpPr txBox="1"/>
          <p:nvPr/>
        </p:nvSpPr>
        <p:spPr>
          <a:xfrm>
            <a:off x="9669780" y="6084697"/>
            <a:ext cx="7223760" cy="1715135"/>
          </a:xfrm>
          <a:prstGeom prst="rect">
            <a:avLst/>
          </a:prstGeom>
          <a:noFill/>
        </p:spPr>
        <p:txBody>
          <a:bodyPr anchor="t" rtlCol="false" lIns="0" tIns="0" rIns="0" bIns="0" wrap="square"/>
          <a:lstStyle/>
          <a:p>
            <a:pPr algn="l">
              <a:lnSpc>
                <a:spcPts val="1800"/>
              </a:lnSpc>
              <a:spcBef>
                <a:spcPts val="0"/>
              </a:spcBef>
              <a:buNone/>
            </a:pPr>
            <a:r>
              <a:rPr lang="en-US" sz="1400" b="true" spc="160">
                <a:solidFill>
                  <a:srgbClr val="ECC665"/>
                </a:solidFill>
                <a:latin typeface="Nunito Ultra-Bold"/>
                <a:ea typeface="Nunito Ultra-Bold"/>
                <a:cs typeface="Nunito Ultra-Bold"/>
                <a:sym typeface="Nunito Ultra-Bold"/>
              </a:rPr>
              <a:t>POST-HOC</a:t>
            </a:r>
          </a:p>
          <a:p>
            <a:pPr algn="l">
              <a:lnSpc>
                <a:spcPts val="2400"/>
              </a:lnSpc>
              <a:spcBef>
                <a:spcPts val="800"/>
              </a:spcBef>
              <a:buNone/>
            </a:pPr>
            <a:r>
              <a:rPr lang="en-US" sz="1900" b="true">
                <a:solidFill>
                  <a:srgbClr val="FFFFFF"/>
                </a:solidFill>
                <a:latin typeface="Nunito Semi-Bold"/>
                <a:ea typeface="Nunito Semi-Bold"/>
                <a:cs typeface="Nunito Semi-Bold"/>
                <a:sym typeface="Nunito Semi-Bold"/>
              </a:rPr>
              <a:t>Still an explanation of a </a:t>
            </a:r>
            <a:r>
              <a:rPr lang="en-US" sz="1900" b="true">
                <a:solidFill>
                  <a:srgbClr val="FFFFFF"/>
                </a:solidFill>
                <a:latin typeface="Nunito Bold"/>
                <a:ea typeface="Nunito Bold"/>
                <a:cs typeface="Nunito Bold"/>
                <a:sym typeface="Nunito Bold"/>
              </a:rPr>
              <a:t>pre-computed partition</a:t>
            </a:r>
            <a:r>
              <a:rPr lang="en-US" sz="1900" b="true">
                <a:solidFill>
                  <a:srgbClr val="FFFFFF"/>
                </a:solidFill>
                <a:latin typeface="Nunito Semi-Bold"/>
                <a:ea typeface="Nunito Semi-Bold"/>
                <a:cs typeface="Nunito Semi-Bold"/>
                <a:sym typeface="Nunito Semi-Bold"/>
              </a:rPr>
              <a:t>: attribution does not influence learning.</a:t>
            </a:r>
          </a:p>
        </p:txBody>
      </p:sp>
      <p:sp>
        <p:nvSpPr>
          <p:cNvPr id="33" name="Rounded Rectangle 32"/>
          <p:cNvSpPr/>
          <p:nvPr/>
        </p:nvSpPr>
        <p:spPr>
          <a:xfrm>
            <a:off x="1028700" y="8348472"/>
            <a:ext cx="16230600" cy="960120"/>
          </a:xfrm>
          <a:prstGeom prst="roundRect">
            <a:avLst>
              <a:gd name="adj" fmla="val 23809"/>
            </a:avLst>
          </a:prstGeom>
          <a:noFill/>
          <a:ln w="31750">
            <a:solidFill>
              <a:srgbClr val="1F7A8C"/>
            </a:solidFill>
          </a:ln>
        </p:spPr>
        <p:txBody>
          <a:bodyPr anchor="ctr" rtlCol="false" lIns="457200" tIns="91440" rIns="457200" bIns="91440" wrap="square"/>
          <a:lstStyle/>
          <a:p>
            <a:pPr algn="ctr">
              <a:lnSpc>
                <a:spcPts val="2500"/>
              </a:lnSpc>
              <a:spcBef>
                <a:spcPts val="0"/>
              </a:spcBef>
              <a:buNone/>
            </a:pPr>
            <a:r>
              <a:rPr lang="en-US" sz="2000" b="true">
                <a:solidFill>
                  <a:srgbClr val="111111"/>
                </a:solidFill>
                <a:latin typeface="Nunito Semi-Bold"/>
                <a:ea typeface="Nunito Semi-Bold"/>
                <a:cs typeface="Nunito Semi-Bold"/>
                <a:sym typeface="Nunito Semi-Bold"/>
              </a:rPr>
              <a:t>The </a:t>
            </a:r>
            <a:r>
              <a:rPr lang="en-US" sz="2000" b="true">
                <a:solidFill>
                  <a:srgbClr val="111111"/>
                </a:solidFill>
                <a:latin typeface="Nunito Bold"/>
                <a:ea typeface="Nunito Bold"/>
                <a:cs typeface="Nunito Bold"/>
                <a:sym typeface="Nunito Bold"/>
              </a:rPr>
              <a:t>post-hoc</a:t>
            </a:r>
            <a:r>
              <a:rPr lang="en-US" sz="2000" b="true">
                <a:solidFill>
                  <a:srgbClr val="111111"/>
                </a:solidFill>
                <a:latin typeface="Nunito Semi-Bold"/>
                <a:ea typeface="Nunito Semi-Bold"/>
                <a:cs typeface="Nunito Semi-Bold"/>
                <a:sym typeface="Nunito Semi-Bold"/>
              </a:rPr>
              <a:t> limitation is the one that opens the door to Contribution III: what if attribution could shape the learning itself?</a:t>
            </a:r>
          </a:p>
        </p:txBody>
      </p:sp>
    </p:spTree>
  </p:cSld>
  <p:clrMapOvr>
    <a:masterClrMapping/>
  </p:clrMapOvr>
</p:sld>
</file>

<file path=ppt/slides/slide6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pic>
        <p:nvPicPr>
          <p:cNvPr id="2" name="Picture 1" descr="ensias_logo.jpg"/>
          <p:cNvPicPr>
            <a:picLocks noChangeAspect="1"/>
          </p:cNvPicPr>
          <p:nvPr/>
        </p:nvPicPr>
        <p:blipFill>
          <a:blip r:embed="rId2"/>
          <a:stretch>
            <a:fillRect/>
          </a:stretch>
        </p:blipFill>
        <p:spPr>
          <a:xfrm>
            <a:off x="1028700" y="9674352"/>
            <a:ext cx="542964" cy="384048"/>
          </a:xfrm>
          <a:prstGeom prst="rect">
            <a:avLst/>
          </a:prstGeom>
        </p:spPr>
      </p:pic>
      <p:sp>
        <p:nvSpPr>
          <p:cNvPr id="3" name="TextBox 2"/>
          <p:cNvSpPr txBox="1"/>
          <p:nvPr/>
        </p:nvSpPr>
        <p:spPr>
          <a:xfrm>
            <a:off x="1577340" y="9747504"/>
            <a:ext cx="12801600" cy="274320"/>
          </a:xfrm>
          <a:prstGeom prst="rect">
            <a:avLst/>
          </a:prstGeom>
          <a:noFill/>
        </p:spPr>
        <p:txBody>
          <a:bodyPr anchor="t" rtlCol="false" lIns="0" tIns="0" rIns="0" bIns="0" wrap="square"/>
          <a:lstStyle/>
          <a:p>
            <a:pPr algn="l">
              <a:lnSpc>
                <a:spcPts val="1600"/>
              </a:lnSpc>
              <a:spcBef>
                <a:spcPts val="0"/>
              </a:spcBef>
              <a:buNone/>
            </a:pPr>
            <a:r>
              <a:rPr lang="en-US" sz="1300" b="true">
                <a:solidFill>
                  <a:srgbClr val="8A8378"/>
                </a:solidFill>
                <a:latin typeface="Nunito Bold"/>
                <a:ea typeface="Nunito Bold"/>
                <a:cs typeface="Nunito Bold"/>
                <a:sym typeface="Nunito Bold"/>
              </a:rPr>
              <a:t>Cooperative Game Theory for Explainable AI in Recommendation Systems  ·  A Shapley Framework for Actionable Insight</a:t>
            </a:r>
          </a:p>
        </p:txBody>
      </p:sp>
      <p:sp>
        <p:nvSpPr>
          <p:cNvPr id="4" name="TextBox 3"/>
          <p:cNvSpPr txBox="1"/>
          <p:nvPr/>
        </p:nvSpPr>
        <p:spPr>
          <a:xfrm>
            <a:off x="16162020" y="9692640"/>
            <a:ext cx="1097280" cy="329184"/>
          </a:xfrm>
          <a:prstGeom prst="rect">
            <a:avLst/>
          </a:prstGeom>
          <a:noFill/>
        </p:spPr>
        <p:txBody>
          <a:bodyPr anchor="t" rtlCol="false" lIns="0" tIns="0" rIns="0" bIns="0" wrap="square"/>
          <a:lstStyle/>
          <a:p>
            <a:pPr algn="r">
              <a:lnSpc>
                <a:spcPts val="2200"/>
              </a:lnSpc>
              <a:spcBef>
                <a:spcPts val="0"/>
              </a:spcBef>
              <a:buNone/>
            </a:pPr>
            <a:r>
              <a:rPr lang="en-US" sz="1800" b="true">
                <a:solidFill>
                  <a:srgbClr val="111111"/>
                </a:solidFill>
                <a:latin typeface="Nunito Ultra-Bold"/>
                <a:ea typeface="Nunito Ultra-Bold"/>
                <a:cs typeface="Nunito Ultra-Bold"/>
                <a:sym typeface="Nunito Ultra-Bold"/>
              </a:rPr>
              <a:t>50</a:t>
            </a:r>
          </a:p>
        </p:txBody>
      </p:sp>
      <p:sp>
        <p:nvSpPr>
          <p:cNvPr id="5" name="TextBox 4"/>
          <p:cNvSpPr txBox="1"/>
          <p:nvPr/>
        </p:nvSpPr>
        <p:spPr>
          <a:xfrm>
            <a:off x="1028700" y="1389888"/>
            <a:ext cx="12938760" cy="329184"/>
          </a:xfrm>
          <a:prstGeom prst="rect">
            <a:avLst/>
          </a:prstGeom>
          <a:noFill/>
        </p:spPr>
        <p:txBody>
          <a:bodyPr anchor="t" rtlCol="false" lIns="0" tIns="0" rIns="0" bIns="0" wrap="square"/>
          <a:lstStyle/>
          <a:p>
            <a:pPr algn="l">
              <a:lnSpc>
                <a:spcPts val="2000"/>
              </a:lnSpc>
              <a:spcBef>
                <a:spcPts val="0"/>
              </a:spcBef>
              <a:buNone/>
            </a:pPr>
            <a:r>
              <a:rPr lang="en-US" sz="1500" b="true" spc="160">
                <a:solidFill>
                  <a:srgbClr val="1F7A8C"/>
                </a:solidFill>
                <a:latin typeface="Nunito Ultra-Bold"/>
                <a:ea typeface="Nunito Ultra-Bold"/>
                <a:cs typeface="Nunito Ultra-Bold"/>
                <a:sym typeface="Nunito Ultra-Bold"/>
              </a:rPr>
              <a:t>CONTRIBUTION II: MULTI-LEVEL XAI FOR LARGE-SCALE CLUSTERING</a:t>
            </a:r>
          </a:p>
        </p:txBody>
      </p:sp>
      <p:sp>
        <p:nvSpPr>
          <p:cNvPr id="6" name="Rounded Rectangle 5"/>
          <p:cNvSpPr/>
          <p:nvPr/>
        </p:nvSpPr>
        <p:spPr>
          <a:xfrm>
            <a:off x="14516100"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7" name="TextBox 6"/>
          <p:cNvSpPr txBox="1"/>
          <p:nvPr/>
        </p:nvSpPr>
        <p:spPr>
          <a:xfrm>
            <a:off x="14516100"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1</a:t>
            </a:r>
          </a:p>
        </p:txBody>
      </p:sp>
      <p:sp>
        <p:nvSpPr>
          <p:cNvPr id="8" name="Rounded Rectangle 7"/>
          <p:cNvSpPr/>
          <p:nvPr/>
        </p:nvSpPr>
        <p:spPr>
          <a:xfrm>
            <a:off x="14918436"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9" name="TextBox 8"/>
          <p:cNvSpPr txBox="1"/>
          <p:nvPr/>
        </p:nvSpPr>
        <p:spPr>
          <a:xfrm>
            <a:off x="14918436"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2</a:t>
            </a:r>
          </a:p>
        </p:txBody>
      </p:sp>
      <p:sp>
        <p:nvSpPr>
          <p:cNvPr id="10" name="Rounded Rectangle 9"/>
          <p:cNvSpPr/>
          <p:nvPr/>
        </p:nvSpPr>
        <p:spPr>
          <a:xfrm>
            <a:off x="15320772"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11" name="TextBox 10"/>
          <p:cNvSpPr txBox="1"/>
          <p:nvPr/>
        </p:nvSpPr>
        <p:spPr>
          <a:xfrm>
            <a:off x="15320772"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3</a:t>
            </a:r>
          </a:p>
        </p:txBody>
      </p:sp>
      <p:sp>
        <p:nvSpPr>
          <p:cNvPr id="12" name="Rounded Rectangle 11"/>
          <p:cNvSpPr/>
          <p:nvPr/>
        </p:nvSpPr>
        <p:spPr>
          <a:xfrm>
            <a:off x="15723108"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13" name="TextBox 12"/>
          <p:cNvSpPr txBox="1"/>
          <p:nvPr/>
        </p:nvSpPr>
        <p:spPr>
          <a:xfrm>
            <a:off x="15723108"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4</a:t>
            </a:r>
          </a:p>
        </p:txBody>
      </p:sp>
      <p:sp>
        <p:nvSpPr>
          <p:cNvPr id="14" name="Rounded Rectangle 13"/>
          <p:cNvSpPr/>
          <p:nvPr/>
        </p:nvSpPr>
        <p:spPr>
          <a:xfrm>
            <a:off x="16125444" y="1371600"/>
            <a:ext cx="329184" cy="329184"/>
          </a:xfrm>
          <a:prstGeom prst="roundRect">
            <a:avLst>
              <a:gd name="adj" fmla="val 16666"/>
            </a:avLst>
          </a:prstGeom>
          <a:solidFill>
            <a:srgbClr val="4472C4"/>
          </a:solidFill>
          <a:ln w="15875">
            <a:solidFill>
              <a:srgbClr val="4472C4"/>
            </a:solidFill>
          </a:ln>
        </p:spPr>
        <p:txBody>
          <a:bodyPr anchor="ctr" rtlCol="false" lIns="0" tIns="0" rIns="0" bIns="0" wrap="square"/>
          <a:lstStyle/>
          <a:p>
            <a:endParaRPr lang="en-US" sz="1800"/>
          </a:p>
        </p:txBody>
      </p:sp>
      <p:sp>
        <p:nvSpPr>
          <p:cNvPr id="15" name="TextBox 14"/>
          <p:cNvSpPr txBox="1"/>
          <p:nvPr/>
        </p:nvSpPr>
        <p:spPr>
          <a:xfrm>
            <a:off x="16125444"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FFFFFF"/>
                </a:solidFill>
                <a:latin typeface="Nunito Ultra-Bold"/>
                <a:ea typeface="Nunito Ultra-Bold"/>
                <a:cs typeface="Nunito Ultra-Bold"/>
                <a:sym typeface="Nunito Ultra-Bold"/>
              </a:rPr>
              <a:t>5</a:t>
            </a:r>
          </a:p>
        </p:txBody>
      </p:sp>
      <p:sp>
        <p:nvSpPr>
          <p:cNvPr id="16" name="Rounded Rectangle 15"/>
          <p:cNvSpPr/>
          <p:nvPr/>
        </p:nvSpPr>
        <p:spPr>
          <a:xfrm>
            <a:off x="16527780"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17" name="TextBox 16"/>
          <p:cNvSpPr txBox="1"/>
          <p:nvPr/>
        </p:nvSpPr>
        <p:spPr>
          <a:xfrm>
            <a:off x="16527780"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6</a:t>
            </a:r>
          </a:p>
        </p:txBody>
      </p:sp>
      <p:sp>
        <p:nvSpPr>
          <p:cNvPr id="18" name="Rounded Rectangle 17"/>
          <p:cNvSpPr/>
          <p:nvPr/>
        </p:nvSpPr>
        <p:spPr>
          <a:xfrm>
            <a:off x="16930116"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19" name="TextBox 18"/>
          <p:cNvSpPr txBox="1"/>
          <p:nvPr/>
        </p:nvSpPr>
        <p:spPr>
          <a:xfrm>
            <a:off x="16930116"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7</a:t>
            </a:r>
          </a:p>
        </p:txBody>
      </p:sp>
      <p:sp>
        <p:nvSpPr>
          <p:cNvPr id="20" name="TextBox 19"/>
          <p:cNvSpPr txBox="1"/>
          <p:nvPr/>
        </p:nvSpPr>
        <p:spPr>
          <a:xfrm>
            <a:off x="1028700" y="1719072"/>
            <a:ext cx="16230600" cy="730250"/>
          </a:xfrm>
          <a:prstGeom prst="rect">
            <a:avLst/>
          </a:prstGeom>
          <a:noFill/>
        </p:spPr>
        <p:txBody>
          <a:bodyPr anchor="t" rtlCol="false" lIns="0" tIns="0" rIns="0" bIns="0" wrap="square"/>
          <a:lstStyle/>
          <a:p>
            <a:pPr algn="l">
              <a:lnSpc>
                <a:spcPts val="5060"/>
              </a:lnSpc>
              <a:spcBef>
                <a:spcPts val="0"/>
              </a:spcBef>
              <a:buNone/>
            </a:pPr>
            <a:r>
              <a:rPr lang="en-US" sz="4600" b="true" spc="-230">
                <a:solidFill>
                  <a:srgbClr val="111111"/>
                </a:solidFill>
                <a:latin typeface="Roca Two Bold"/>
                <a:ea typeface="Roca Two Bold"/>
                <a:cs typeface="Roca Two Bold"/>
                <a:sym typeface="Roca Two Bold"/>
              </a:rPr>
              <a:t>Takeaway: Contribution II</a:t>
            </a:r>
          </a:p>
        </p:txBody>
      </p:sp>
      <p:sp>
        <p:nvSpPr>
          <p:cNvPr id="21" name="Rounded Rectangle 20"/>
          <p:cNvSpPr/>
          <p:nvPr/>
        </p:nvSpPr>
        <p:spPr>
          <a:xfrm>
            <a:off x="1028700" y="2559050"/>
            <a:ext cx="1691553" cy="420624"/>
          </a:xfrm>
          <a:prstGeom prst="roundRect">
            <a:avLst>
              <a:gd name="adj" fmla="val 50000"/>
            </a:avLst>
          </a:prstGeom>
          <a:noFill/>
          <a:ln w="28575">
            <a:solidFill>
              <a:srgbClr val="4472C4"/>
            </a:solidFill>
          </a:ln>
        </p:spPr>
        <p:txBody>
          <a:bodyPr anchor="ctr" rtlCol="false" lIns="45720" tIns="0" rIns="45720" bIns="0" wrap="square"/>
          <a:lstStyle/>
          <a:p>
            <a:pPr algn="ctr">
              <a:lnSpc>
                <a:spcPts val="2160"/>
              </a:lnSpc>
              <a:spcBef>
                <a:spcPts val="0"/>
              </a:spcBef>
              <a:buNone/>
            </a:pPr>
            <a:r>
              <a:rPr lang="en-US" sz="1800" b="true">
                <a:solidFill>
                  <a:srgbClr val="4472C4"/>
                </a:solidFill>
                <a:latin typeface="Nunito Bold"/>
                <a:ea typeface="Nunito Bold"/>
                <a:cs typeface="Nunito Bold"/>
                <a:sym typeface="Nunito Bold"/>
              </a:rPr>
              <a:t>Objectives</a:t>
            </a:r>
          </a:p>
        </p:txBody>
      </p:sp>
      <p:sp>
        <p:nvSpPr>
          <p:cNvPr id="22" name="Rounded Rectangle 21"/>
          <p:cNvSpPr/>
          <p:nvPr/>
        </p:nvSpPr>
        <p:spPr>
          <a:xfrm>
            <a:off x="2848269" y="2559050"/>
            <a:ext cx="1998119" cy="420624"/>
          </a:xfrm>
          <a:prstGeom prst="roundRect">
            <a:avLst>
              <a:gd name="adj" fmla="val 50000"/>
            </a:avLst>
          </a:prstGeom>
          <a:noFill/>
          <a:ln w="28575">
            <a:solidFill>
              <a:srgbClr val="4472C4"/>
            </a:solidFill>
          </a:ln>
        </p:spPr>
        <p:txBody>
          <a:bodyPr anchor="ctr" rtlCol="false" lIns="45720" tIns="0" rIns="45720" bIns="0" wrap="square"/>
          <a:lstStyle/>
          <a:p>
            <a:pPr algn="ctr">
              <a:lnSpc>
                <a:spcPts val="2160"/>
              </a:lnSpc>
              <a:spcBef>
                <a:spcPts val="0"/>
              </a:spcBef>
              <a:buNone/>
            </a:pPr>
            <a:r>
              <a:rPr lang="en-US" sz="1800" b="true">
                <a:solidFill>
                  <a:srgbClr val="4472C4"/>
                </a:solidFill>
                <a:latin typeface="Nunito Bold"/>
                <a:ea typeface="Nunito Bold"/>
                <a:cs typeface="Nunito Bold"/>
                <a:sym typeface="Nunito Bold"/>
              </a:rPr>
              <a:t>Methodology</a:t>
            </a:r>
          </a:p>
        </p:txBody>
      </p:sp>
      <p:sp>
        <p:nvSpPr>
          <p:cNvPr id="23" name="Rounded Rectangle 22"/>
          <p:cNvSpPr/>
          <p:nvPr/>
        </p:nvSpPr>
        <p:spPr>
          <a:xfrm>
            <a:off x="4974404" y="2559050"/>
            <a:ext cx="1369446" cy="420624"/>
          </a:xfrm>
          <a:prstGeom prst="roundRect">
            <a:avLst>
              <a:gd name="adj" fmla="val 50000"/>
            </a:avLst>
          </a:prstGeom>
          <a:noFill/>
          <a:ln w="28575">
            <a:solidFill>
              <a:srgbClr val="4472C4"/>
            </a:solidFill>
          </a:ln>
        </p:spPr>
        <p:txBody>
          <a:bodyPr anchor="ctr" rtlCol="false" lIns="45720" tIns="0" rIns="45720" bIns="0" wrap="square"/>
          <a:lstStyle/>
          <a:p>
            <a:pPr algn="ctr">
              <a:lnSpc>
                <a:spcPts val="2160"/>
              </a:lnSpc>
              <a:spcBef>
                <a:spcPts val="0"/>
              </a:spcBef>
              <a:buNone/>
            </a:pPr>
            <a:r>
              <a:rPr lang="en-US" sz="1800" b="true">
                <a:solidFill>
                  <a:srgbClr val="4472C4"/>
                </a:solidFill>
                <a:latin typeface="Nunito Bold"/>
                <a:ea typeface="Nunito Bold"/>
                <a:cs typeface="Nunito Bold"/>
                <a:sym typeface="Nunito Bold"/>
              </a:rPr>
              <a:t>Results</a:t>
            </a:r>
          </a:p>
        </p:txBody>
      </p:sp>
      <p:sp>
        <p:nvSpPr>
          <p:cNvPr id="24" name="Rounded Rectangle 23"/>
          <p:cNvSpPr/>
          <p:nvPr/>
        </p:nvSpPr>
        <p:spPr>
          <a:xfrm>
            <a:off x="6471866" y="2559050"/>
            <a:ext cx="1474931" cy="420624"/>
          </a:xfrm>
          <a:prstGeom prst="roundRect">
            <a:avLst>
              <a:gd name="adj" fmla="val 50000"/>
            </a:avLst>
          </a:prstGeom>
          <a:solidFill>
            <a:srgbClr val="4472C4"/>
          </a:solidFill>
          <a:ln>
            <a:noFill/>
          </a:ln>
        </p:spPr>
        <p:txBody>
          <a:bodyPr anchor="ctr" rtlCol="false" lIns="45720" tIns="0" rIns="45720" bIns="0" wrap="square"/>
          <a:lstStyle/>
          <a:p>
            <a:pPr algn="ctr">
              <a:lnSpc>
                <a:spcPts val="2160"/>
              </a:lnSpc>
              <a:spcBef>
                <a:spcPts val="0"/>
              </a:spcBef>
              <a:buNone/>
            </a:pPr>
            <a:r>
              <a:rPr lang="en-US" sz="1800" b="true">
                <a:solidFill>
                  <a:srgbClr val="FFFFFF"/>
                </a:solidFill>
                <a:latin typeface="Nunito Bold"/>
                <a:ea typeface="Nunito Bold"/>
                <a:cs typeface="Nunito Bold"/>
                <a:sym typeface="Nunito Bold"/>
              </a:rPr>
              <a:t>Findings</a:t>
            </a:r>
          </a:p>
        </p:txBody>
      </p:sp>
      <p:sp>
        <p:nvSpPr>
          <p:cNvPr id="25" name="Rounded Rectangle 24"/>
          <p:cNvSpPr/>
          <p:nvPr/>
        </p:nvSpPr>
        <p:spPr>
          <a:xfrm>
            <a:off x="1028700" y="3363722"/>
            <a:ext cx="5196840" cy="2651760"/>
          </a:xfrm>
          <a:prstGeom prst="roundRect">
            <a:avLst>
              <a:gd name="adj" fmla="val 10344"/>
            </a:avLst>
          </a:prstGeom>
          <a:solidFill>
            <a:srgbClr val="4472C4"/>
          </a:solidFill>
          <a:ln>
            <a:noFill/>
          </a:ln>
        </p:spPr>
        <p:txBody>
          <a:bodyPr anchor="ctr" rtlCol="false" lIns="0" tIns="0" rIns="0" bIns="0" wrap="square"/>
          <a:lstStyle/>
          <a:p>
            <a:endParaRPr lang="en-US" sz="1800"/>
          </a:p>
        </p:txBody>
      </p:sp>
      <p:sp>
        <p:nvSpPr>
          <p:cNvPr id="26" name="TextBox 25"/>
          <p:cNvSpPr txBox="1"/>
          <p:nvPr/>
        </p:nvSpPr>
        <p:spPr>
          <a:xfrm>
            <a:off x="1394460" y="3683762"/>
            <a:ext cx="4465320" cy="2103120"/>
          </a:xfrm>
          <a:prstGeom prst="rect">
            <a:avLst/>
          </a:prstGeom>
          <a:noFill/>
        </p:spPr>
        <p:txBody>
          <a:bodyPr anchor="t" rtlCol="false" lIns="0" tIns="0" rIns="0" bIns="0" wrap="square"/>
          <a:lstStyle/>
          <a:p>
            <a:pPr algn="l">
              <a:lnSpc>
                <a:spcPts val="3200"/>
              </a:lnSpc>
              <a:spcBef>
                <a:spcPts val="0"/>
              </a:spcBef>
              <a:buNone/>
            </a:pPr>
            <a:r>
              <a:rPr lang="en-US" sz="2800" b="true" spc="-120">
                <a:solidFill>
                  <a:srgbClr val="ECC665"/>
                </a:solidFill>
                <a:latin typeface="Roca Two Bold"/>
                <a:ea typeface="Roca Two Bold"/>
                <a:cs typeface="Roca Two Bold"/>
                <a:sym typeface="Roca Two Bold"/>
              </a:rPr>
              <a:t>Consistent</a:t>
            </a:r>
          </a:p>
          <a:p>
            <a:pPr algn="l">
              <a:lnSpc>
                <a:spcPts val="2400"/>
              </a:lnSpc>
              <a:spcBef>
                <a:spcPts val="1000"/>
              </a:spcBef>
              <a:buNone/>
            </a:pPr>
            <a:r>
              <a:rPr lang="en-US" sz="1900" b="true">
                <a:solidFill>
                  <a:srgbClr val="F7F2EA"/>
                </a:solidFill>
                <a:latin typeface="Nunito Semi-Bold"/>
                <a:ea typeface="Nunito Semi-Bold"/>
                <a:cs typeface="Nunito Semi-Bold"/>
                <a:sym typeface="Nunito Semi-Bold"/>
              </a:rPr>
              <a:t>Parent and child explanations agree by construction (Proposition 6.1).</a:t>
            </a:r>
          </a:p>
        </p:txBody>
      </p:sp>
      <p:sp>
        <p:nvSpPr>
          <p:cNvPr id="27" name="Rounded Rectangle 26"/>
          <p:cNvSpPr/>
          <p:nvPr/>
        </p:nvSpPr>
        <p:spPr>
          <a:xfrm>
            <a:off x="6545580" y="3363722"/>
            <a:ext cx="5196840" cy="2651760"/>
          </a:xfrm>
          <a:prstGeom prst="roundRect">
            <a:avLst>
              <a:gd name="adj" fmla="val 10344"/>
            </a:avLst>
          </a:prstGeom>
          <a:solidFill>
            <a:srgbClr val="2F5597"/>
          </a:solidFill>
          <a:ln>
            <a:noFill/>
          </a:ln>
        </p:spPr>
        <p:txBody>
          <a:bodyPr anchor="ctr" rtlCol="false" lIns="0" tIns="0" rIns="0" bIns="0" wrap="square"/>
          <a:lstStyle/>
          <a:p>
            <a:endParaRPr lang="en-US" sz="1800"/>
          </a:p>
        </p:txBody>
      </p:sp>
      <p:sp>
        <p:nvSpPr>
          <p:cNvPr id="28" name="TextBox 27"/>
          <p:cNvSpPr txBox="1"/>
          <p:nvPr/>
        </p:nvSpPr>
        <p:spPr>
          <a:xfrm>
            <a:off x="6911340" y="3683762"/>
            <a:ext cx="4465320" cy="2103120"/>
          </a:xfrm>
          <a:prstGeom prst="rect">
            <a:avLst/>
          </a:prstGeom>
          <a:noFill/>
        </p:spPr>
        <p:txBody>
          <a:bodyPr anchor="t" rtlCol="false" lIns="0" tIns="0" rIns="0" bIns="0" wrap="square"/>
          <a:lstStyle/>
          <a:p>
            <a:pPr algn="l">
              <a:lnSpc>
                <a:spcPts val="3200"/>
              </a:lnSpc>
              <a:spcBef>
                <a:spcPts val="0"/>
              </a:spcBef>
              <a:buNone/>
            </a:pPr>
            <a:r>
              <a:rPr lang="en-US" sz="2800" b="true" spc="-120">
                <a:solidFill>
                  <a:srgbClr val="ECC665"/>
                </a:solidFill>
                <a:latin typeface="Roca Two Bold"/>
                <a:ea typeface="Roca Two Bold"/>
                <a:cs typeface="Roca Two Bold"/>
                <a:sym typeface="Roca Two Bold"/>
              </a:rPr>
              <a:t>Against scale</a:t>
            </a:r>
          </a:p>
          <a:p>
            <a:pPr algn="l">
              <a:lnSpc>
                <a:spcPts val="2400"/>
              </a:lnSpc>
              <a:spcBef>
                <a:spcPts val="1000"/>
              </a:spcBef>
              <a:buNone/>
            </a:pPr>
            <a:r>
              <a:rPr lang="en-US" sz="1900" b="true">
                <a:solidFill>
                  <a:srgbClr val="F7F2EA"/>
                </a:solidFill>
                <a:latin typeface="Nunito Semi-Bold"/>
                <a:ea typeface="Nunito Semi-Bold"/>
                <a:cs typeface="Nunito Semi-Bold"/>
                <a:sym typeface="Nunito Semi-Bold"/>
              </a:rPr>
              <a:t>383,585 records explained with level-specific surrogates, at a linear cost.</a:t>
            </a:r>
          </a:p>
        </p:txBody>
      </p:sp>
      <p:sp>
        <p:nvSpPr>
          <p:cNvPr id="29" name="Rounded Rectangle 28"/>
          <p:cNvSpPr/>
          <p:nvPr/>
        </p:nvSpPr>
        <p:spPr>
          <a:xfrm>
            <a:off x="12062460" y="3363722"/>
            <a:ext cx="5196840" cy="2651760"/>
          </a:xfrm>
          <a:prstGeom prst="roundRect">
            <a:avLst>
              <a:gd name="adj" fmla="val 10344"/>
            </a:avLst>
          </a:prstGeom>
          <a:solidFill>
            <a:srgbClr val="1F7A8C"/>
          </a:solidFill>
          <a:ln>
            <a:noFill/>
          </a:ln>
        </p:spPr>
        <p:txBody>
          <a:bodyPr anchor="ctr" rtlCol="false" lIns="0" tIns="0" rIns="0" bIns="0" wrap="square"/>
          <a:lstStyle/>
          <a:p>
            <a:endParaRPr lang="en-US" sz="1800"/>
          </a:p>
        </p:txBody>
      </p:sp>
      <p:sp>
        <p:nvSpPr>
          <p:cNvPr id="30" name="TextBox 29"/>
          <p:cNvSpPr txBox="1"/>
          <p:nvPr/>
        </p:nvSpPr>
        <p:spPr>
          <a:xfrm>
            <a:off x="12428220" y="3683762"/>
            <a:ext cx="4465320" cy="2103120"/>
          </a:xfrm>
          <a:prstGeom prst="rect">
            <a:avLst/>
          </a:prstGeom>
          <a:noFill/>
        </p:spPr>
        <p:txBody>
          <a:bodyPr anchor="t" rtlCol="false" lIns="0" tIns="0" rIns="0" bIns="0" wrap="square"/>
          <a:lstStyle/>
          <a:p>
            <a:pPr algn="l">
              <a:lnSpc>
                <a:spcPts val="3200"/>
              </a:lnSpc>
              <a:spcBef>
                <a:spcPts val="0"/>
              </a:spcBef>
              <a:buNone/>
            </a:pPr>
            <a:r>
              <a:rPr lang="en-US" sz="2800" b="true" spc="-120">
                <a:solidFill>
                  <a:srgbClr val="FFFFFF"/>
                </a:solidFill>
                <a:latin typeface="Roca Two Bold"/>
                <a:ea typeface="Roca Two Bold"/>
                <a:cs typeface="Roca Two Bold"/>
                <a:sym typeface="Roca Two Bold"/>
              </a:rPr>
              <a:t>Still post-hoc</a:t>
            </a:r>
          </a:p>
          <a:p>
            <a:pPr algn="l">
              <a:lnSpc>
                <a:spcPts val="2400"/>
              </a:lnSpc>
              <a:spcBef>
                <a:spcPts val="1000"/>
              </a:spcBef>
              <a:buNone/>
            </a:pPr>
            <a:r>
              <a:rPr lang="en-US" sz="1900" b="true">
                <a:solidFill>
                  <a:srgbClr val="F7F2EA"/>
                </a:solidFill>
                <a:latin typeface="Nunito Semi-Bold"/>
                <a:ea typeface="Nunito Semi-Bold"/>
                <a:cs typeface="Nunito Semi-Bold"/>
                <a:sym typeface="Nunito Semi-Bold"/>
              </a:rPr>
              <a:t>The attribution explains a partition that was already computed.</a:t>
            </a:r>
          </a:p>
        </p:txBody>
      </p:sp>
      <p:sp>
        <p:nvSpPr>
          <p:cNvPr id="31" name="Rounded Rectangle 30"/>
          <p:cNvSpPr/>
          <p:nvPr/>
        </p:nvSpPr>
        <p:spPr>
          <a:xfrm>
            <a:off x="1028700" y="6472682"/>
            <a:ext cx="16230600" cy="1600200"/>
          </a:xfrm>
          <a:prstGeom prst="roundRect">
            <a:avLst>
              <a:gd name="adj" fmla="val 12571"/>
            </a:avLst>
          </a:prstGeom>
          <a:solidFill>
            <a:srgbClr val="F6ECDF"/>
          </a:solidFill>
          <a:ln w="25400">
            <a:solidFill>
              <a:srgbClr val="1F7A8C"/>
            </a:solidFill>
          </a:ln>
        </p:spPr>
        <p:txBody>
          <a:bodyPr anchor="ctr" rtlCol="false" lIns="0" tIns="0" rIns="0" bIns="0" wrap="square"/>
          <a:lstStyle/>
          <a:p>
            <a:endParaRPr lang="en-US" sz="1800"/>
          </a:p>
        </p:txBody>
      </p:sp>
      <p:sp>
        <p:nvSpPr>
          <p:cNvPr id="32" name="Rounded Rectangle 31"/>
          <p:cNvSpPr/>
          <p:nvPr/>
        </p:nvSpPr>
        <p:spPr>
          <a:xfrm>
            <a:off x="1348740" y="6280658"/>
            <a:ext cx="3419631" cy="384048"/>
          </a:xfrm>
          <a:prstGeom prst="roundRect">
            <a:avLst>
              <a:gd name="adj" fmla="val 50000"/>
            </a:avLst>
          </a:prstGeom>
          <a:solidFill>
            <a:srgbClr val="1F7A8C"/>
          </a:solidFill>
          <a:ln w="28575">
            <a:solidFill>
              <a:srgbClr val="1F7A8C"/>
            </a:solidFill>
          </a:ln>
        </p:spPr>
        <p:txBody>
          <a:bodyPr anchor="ctr" rtlCol="false" lIns="45720" tIns="0" rIns="45720" bIns="0" wrap="square"/>
          <a:lstStyle/>
          <a:p>
            <a:pPr algn="ctr">
              <a:lnSpc>
                <a:spcPts val="1680"/>
              </a:lnSpc>
              <a:spcBef>
                <a:spcPts val="0"/>
              </a:spcBef>
              <a:buNone/>
            </a:pPr>
            <a:r>
              <a:rPr lang="en-US" sz="1400" b="true">
                <a:solidFill>
                  <a:srgbClr val="FFFFFF"/>
                </a:solidFill>
                <a:latin typeface="Nunito Bold"/>
                <a:ea typeface="Nunito Bold"/>
                <a:cs typeface="Nunito Bold"/>
                <a:sym typeface="Nunito Bold"/>
              </a:rPr>
              <a:t>TAKEAWAY  ·  CONTRIBUTION II</a:t>
            </a:r>
          </a:p>
        </p:txBody>
      </p:sp>
      <p:sp>
        <p:nvSpPr>
          <p:cNvPr id="33" name="TextBox 32"/>
          <p:cNvSpPr txBox="1"/>
          <p:nvPr/>
        </p:nvSpPr>
        <p:spPr>
          <a:xfrm>
            <a:off x="1394460" y="6747002"/>
            <a:ext cx="15499080" cy="1188720"/>
          </a:xfrm>
          <a:prstGeom prst="rect">
            <a:avLst/>
          </a:prstGeom>
          <a:noFill/>
        </p:spPr>
        <p:txBody>
          <a:bodyPr anchor="ctr" rtlCol="false" lIns="0" tIns="0" rIns="0" bIns="0" wrap="square"/>
          <a:lstStyle/>
          <a:p>
            <a:pPr algn="l">
              <a:lnSpc>
                <a:spcPts val="3220"/>
              </a:lnSpc>
              <a:spcBef>
                <a:spcPts val="0"/>
              </a:spcBef>
              <a:buNone/>
            </a:pPr>
            <a:r>
              <a:rPr lang="en-US" sz="2300" b="true">
                <a:solidFill>
                  <a:srgbClr val="111111"/>
                </a:solidFill>
                <a:latin typeface="Nunito Semi-Bold"/>
                <a:ea typeface="Nunito Semi-Bold"/>
                <a:cs typeface="Nunito Semi-Bold"/>
                <a:sym typeface="Nunito Semi-Bold"/>
              </a:rPr>
              <a:t>Shapley attribution stays </a:t>
            </a:r>
            <a:r>
              <a:rPr lang="en-US" sz="2300" b="true">
                <a:solidFill>
                  <a:srgbClr val="111111"/>
                </a:solidFill>
                <a:latin typeface="Nunito Bold"/>
                <a:ea typeface="Nunito Bold"/>
                <a:cs typeface="Nunito Bold"/>
                <a:sym typeface="Nunito Bold"/>
              </a:rPr>
              <a:t>consistent across levels of detail</a:t>
            </a:r>
            <a:r>
              <a:rPr lang="en-US" sz="2300" b="true">
                <a:solidFill>
                  <a:srgbClr val="111111"/>
                </a:solidFill>
                <a:latin typeface="Nunito Semi-Bold"/>
                <a:ea typeface="Nunito Semi-Bold"/>
                <a:cs typeface="Nunito Semi-Bold"/>
                <a:sym typeface="Nunito Semi-Bold"/>
              </a:rPr>
              <a:t> when the hierarchy is explicit, so explanations become interpretable </a:t>
            </a:r>
            <a:r>
              <a:rPr lang="en-US" sz="2300" b="true">
                <a:solidFill>
                  <a:srgbClr val="111111"/>
                </a:solidFill>
                <a:latin typeface="Nunito Bold"/>
                <a:ea typeface="Nunito Bold"/>
                <a:cs typeface="Nunito Bold"/>
                <a:sym typeface="Nunito Bold"/>
              </a:rPr>
              <a:t>against scale</a:t>
            </a:r>
            <a:r>
              <a:rPr lang="en-US" sz="2300" b="true">
                <a:solidFill>
                  <a:srgbClr val="111111"/>
                </a:solidFill>
                <a:latin typeface="Nunito Semi-Bold"/>
                <a:ea typeface="Nunito Semi-Bold"/>
                <a:cs typeface="Nunito Semi-Bold"/>
                <a:sym typeface="Nunito Semi-Bold"/>
              </a:rPr>
              <a:t>, not just against one flat partition.</a:t>
            </a:r>
          </a:p>
        </p:txBody>
      </p:sp>
      <p:sp>
        <p:nvSpPr>
          <p:cNvPr id="34" name="Rounded Rectangle 33"/>
          <p:cNvSpPr/>
          <p:nvPr/>
        </p:nvSpPr>
        <p:spPr>
          <a:xfrm>
            <a:off x="1028700" y="8392922"/>
            <a:ext cx="16230600" cy="961390"/>
          </a:xfrm>
          <a:prstGeom prst="roundRect">
            <a:avLst>
              <a:gd name="adj" fmla="val 23778"/>
            </a:avLst>
          </a:prstGeom>
          <a:solidFill>
            <a:srgbClr val="4472C4"/>
          </a:solidFill>
          <a:ln>
            <a:noFill/>
          </a:ln>
        </p:spPr>
        <p:txBody>
          <a:bodyPr anchor="ctr" rtlCol="false" lIns="457200" tIns="45720" rIns="457200" bIns="45720" wrap="square"/>
          <a:lstStyle/>
          <a:p>
            <a:pPr algn="ctr">
              <a:lnSpc>
                <a:spcPts val="2500"/>
              </a:lnSpc>
              <a:spcBef>
                <a:spcPts val="0"/>
              </a:spcBef>
              <a:buNone/>
            </a:pPr>
            <a:r>
              <a:rPr lang="en-US" sz="2000" b="true">
                <a:solidFill>
                  <a:srgbClr val="FFFFFF"/>
                </a:solidFill>
                <a:latin typeface="Nunito Bold"/>
                <a:ea typeface="Nunito Bold"/>
                <a:cs typeface="Nunito Bold"/>
                <a:sym typeface="Nunito Bold"/>
              </a:rPr>
              <a:t>Next step:</a:t>
            </a:r>
            <a:r>
              <a:rPr lang="en-US" sz="2000" b="true">
                <a:solidFill>
                  <a:srgbClr val="FFFFFF"/>
                </a:solidFill>
                <a:latin typeface="Nunito Semi-Bold"/>
                <a:ea typeface="Nunito Semi-Bold"/>
                <a:cs typeface="Nunito Semi-Bold"/>
                <a:sym typeface="Nunito Semi-Bold"/>
              </a:rPr>
              <a:t> let attribution shape the learning itself  </a:t>
            </a:r>
            <a:r>
              <a:rPr lang="en-US" sz="2000" b="true">
                <a:solidFill>
                  <a:srgbClr val="FFFFFF"/>
                </a:solidFill>
                <a:latin typeface="Calibri"/>
                <a:ea typeface="Calibri"/>
                <a:cs typeface="Calibri"/>
                <a:sym typeface="Calibri"/>
              </a:rPr>
              <a:t>→  </a:t>
            </a:r>
            <a:r>
              <a:rPr lang="en-US" sz="2000" b="true">
                <a:solidFill>
                  <a:srgbClr val="FFFFFF"/>
                </a:solidFill>
                <a:latin typeface="Nunito Semi-Bold"/>
                <a:ea typeface="Nunito Semi-Bold"/>
                <a:cs typeface="Nunito Semi-Bold"/>
                <a:sym typeface="Nunito Semi-Bold"/>
              </a:rPr>
              <a:t>Contribution III</a:t>
            </a:r>
          </a:p>
        </p:txBody>
      </p:sp>
    </p:spTree>
  </p:cSld>
  <p:clrMapOvr>
    <a:masterClrMapping/>
  </p:clrMapOvr>
</p:sld>
</file>

<file path=ppt/slides/slide6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pic>
        <p:nvPicPr>
          <p:cNvPr id="2" name="Picture 1" descr="ensias_logo.jpg"/>
          <p:cNvPicPr>
            <a:picLocks noChangeAspect="1"/>
          </p:cNvPicPr>
          <p:nvPr/>
        </p:nvPicPr>
        <p:blipFill>
          <a:blip r:embed="rId2"/>
          <a:stretch>
            <a:fillRect/>
          </a:stretch>
        </p:blipFill>
        <p:spPr>
          <a:xfrm>
            <a:off x="1028700" y="9674352"/>
            <a:ext cx="542964" cy="384048"/>
          </a:xfrm>
          <a:prstGeom prst="rect">
            <a:avLst/>
          </a:prstGeom>
        </p:spPr>
      </p:pic>
      <p:sp>
        <p:nvSpPr>
          <p:cNvPr id="3" name="TextBox 2"/>
          <p:cNvSpPr txBox="1"/>
          <p:nvPr/>
        </p:nvSpPr>
        <p:spPr>
          <a:xfrm>
            <a:off x="1577340" y="9747504"/>
            <a:ext cx="12801600" cy="274320"/>
          </a:xfrm>
          <a:prstGeom prst="rect">
            <a:avLst/>
          </a:prstGeom>
          <a:noFill/>
        </p:spPr>
        <p:txBody>
          <a:bodyPr anchor="t" rtlCol="false" lIns="0" tIns="0" rIns="0" bIns="0" wrap="square"/>
          <a:lstStyle/>
          <a:p>
            <a:pPr algn="l">
              <a:lnSpc>
                <a:spcPts val="1600"/>
              </a:lnSpc>
              <a:spcBef>
                <a:spcPts val="0"/>
              </a:spcBef>
              <a:buNone/>
            </a:pPr>
            <a:r>
              <a:rPr lang="en-US" sz="1300" b="true">
                <a:solidFill>
                  <a:srgbClr val="8A8378"/>
                </a:solidFill>
                <a:latin typeface="Nunito Bold"/>
                <a:ea typeface="Nunito Bold"/>
                <a:cs typeface="Nunito Bold"/>
                <a:sym typeface="Nunito Bold"/>
              </a:rPr>
              <a:t>Cooperative Game Theory for Explainable AI in Recommendation Systems  ·  A Shapley Framework for Actionable Insight</a:t>
            </a:r>
          </a:p>
        </p:txBody>
      </p:sp>
      <p:sp>
        <p:nvSpPr>
          <p:cNvPr id="4" name="TextBox 3"/>
          <p:cNvSpPr txBox="1"/>
          <p:nvPr/>
        </p:nvSpPr>
        <p:spPr>
          <a:xfrm>
            <a:off x="16162020" y="9692640"/>
            <a:ext cx="1097280" cy="329184"/>
          </a:xfrm>
          <a:prstGeom prst="rect">
            <a:avLst/>
          </a:prstGeom>
          <a:noFill/>
        </p:spPr>
        <p:txBody>
          <a:bodyPr anchor="t" rtlCol="false" lIns="0" tIns="0" rIns="0" bIns="0" wrap="square"/>
          <a:lstStyle/>
          <a:p>
            <a:pPr algn="r">
              <a:lnSpc>
                <a:spcPts val="2200"/>
              </a:lnSpc>
              <a:spcBef>
                <a:spcPts val="0"/>
              </a:spcBef>
              <a:buNone/>
            </a:pPr>
            <a:r>
              <a:rPr lang="en-US" sz="1800" b="true">
                <a:solidFill>
                  <a:srgbClr val="111111"/>
                </a:solidFill>
                <a:latin typeface="Nunito Ultra-Bold"/>
                <a:ea typeface="Nunito Ultra-Bold"/>
                <a:cs typeface="Nunito Ultra-Bold"/>
                <a:sym typeface="Nunito Ultra-Bold"/>
              </a:rPr>
              <a:t>51</a:t>
            </a:r>
          </a:p>
        </p:txBody>
      </p:sp>
      <p:sp>
        <p:nvSpPr>
          <p:cNvPr id="5" name="TextBox 4"/>
          <p:cNvSpPr txBox="1"/>
          <p:nvPr/>
        </p:nvSpPr>
        <p:spPr>
          <a:xfrm>
            <a:off x="1028700" y="2331720"/>
            <a:ext cx="14859000" cy="2286000"/>
          </a:xfrm>
          <a:prstGeom prst="rect">
            <a:avLst/>
          </a:prstGeom>
          <a:noFill/>
        </p:spPr>
        <p:txBody>
          <a:bodyPr anchor="t" rtlCol="false" lIns="0" tIns="0" rIns="0" bIns="0" wrap="square"/>
          <a:lstStyle/>
          <a:p>
            <a:pPr algn="l">
              <a:lnSpc>
                <a:spcPts val="15300"/>
              </a:lnSpc>
              <a:spcBef>
                <a:spcPts val="0"/>
              </a:spcBef>
              <a:buNone/>
            </a:pPr>
            <a:r>
              <a:rPr lang="en-US" sz="15000" b="true" spc="-870">
                <a:solidFill>
                  <a:srgbClr val="111111"/>
                </a:solidFill>
                <a:latin typeface="Roca Two Bold"/>
                <a:ea typeface="Roca Two Bold"/>
                <a:cs typeface="Roca Two Bold"/>
                <a:sym typeface="Roca Two Bold"/>
              </a:rPr>
              <a:t>Contribution III</a:t>
            </a:r>
          </a:p>
        </p:txBody>
      </p:sp>
      <p:sp>
        <p:nvSpPr>
          <p:cNvPr id="6" name="Oval 5"/>
          <p:cNvSpPr/>
          <p:nvPr/>
        </p:nvSpPr>
        <p:spPr>
          <a:xfrm>
            <a:off x="14131423" y="2918460"/>
            <a:ext cx="1005840" cy="1005840"/>
          </a:xfrm>
          <a:prstGeom prst="ellipse">
            <a:avLst/>
          </a:prstGeom>
          <a:solidFill>
            <a:srgbClr val="ECC665"/>
          </a:solidFill>
          <a:ln>
            <a:noFill/>
          </a:ln>
        </p:spPr>
        <p:txBody>
          <a:bodyPr anchor="ctr" rtlCol="false" lIns="0" tIns="0" rIns="0" bIns="0" wrap="square"/>
          <a:lstStyle/>
          <a:p>
            <a:endParaRPr lang="en-US" sz="1800"/>
          </a:p>
        </p:txBody>
      </p:sp>
      <p:sp>
        <p:nvSpPr>
          <p:cNvPr id="7" name="TextBox 6"/>
          <p:cNvSpPr txBox="1"/>
          <p:nvPr/>
        </p:nvSpPr>
        <p:spPr>
          <a:xfrm>
            <a:off x="14131423" y="2918460"/>
            <a:ext cx="1005840" cy="1005840"/>
          </a:xfrm>
          <a:prstGeom prst="rect">
            <a:avLst/>
          </a:prstGeom>
          <a:noFill/>
        </p:spPr>
        <p:txBody>
          <a:bodyPr anchor="ctr" rtlCol="false" lIns="0" tIns="0" rIns="0" bIns="0" wrap="square"/>
          <a:lstStyle/>
          <a:p>
            <a:pPr algn="ctr">
              <a:lnSpc>
                <a:spcPts val="3400"/>
              </a:lnSpc>
              <a:spcBef>
                <a:spcPts val="0"/>
              </a:spcBef>
              <a:buNone/>
            </a:pPr>
            <a:r>
              <a:rPr lang="en-US" sz="3000" b="true">
                <a:solidFill>
                  <a:srgbClr val="111111"/>
                </a:solidFill>
                <a:latin typeface="Nunito Ultra-Bold"/>
                <a:ea typeface="Nunito Ultra-Bold"/>
                <a:cs typeface="Nunito Ultra-Bold"/>
                <a:sym typeface="Nunito Ultra-Bold"/>
              </a:rPr>
              <a:t>06</a:t>
            </a:r>
          </a:p>
        </p:txBody>
      </p:sp>
      <p:sp>
        <p:nvSpPr>
          <p:cNvPr id="8" name="TextBox 7"/>
          <p:cNvSpPr txBox="1"/>
          <p:nvPr/>
        </p:nvSpPr>
        <p:spPr>
          <a:xfrm>
            <a:off x="1028700" y="4465320"/>
            <a:ext cx="16230600" cy="640080"/>
          </a:xfrm>
          <a:prstGeom prst="rect">
            <a:avLst/>
          </a:prstGeom>
          <a:noFill/>
        </p:spPr>
        <p:txBody>
          <a:bodyPr anchor="t" rtlCol="false" lIns="0" tIns="0" rIns="0" bIns="0" wrap="square"/>
          <a:lstStyle/>
          <a:p>
            <a:pPr algn="l">
              <a:lnSpc>
                <a:spcPts val="3800"/>
              </a:lnSpc>
              <a:spcBef>
                <a:spcPts val="0"/>
              </a:spcBef>
              <a:buNone/>
            </a:pPr>
            <a:r>
              <a:rPr lang="en-US" sz="3000" b="true" spc="-150">
                <a:solidFill>
                  <a:srgbClr val="4472C4"/>
                </a:solidFill>
                <a:latin typeface="Nunito Bold"/>
                <a:ea typeface="Nunito Bold"/>
                <a:cs typeface="Nunito Bold"/>
                <a:sym typeface="Nunito Bold"/>
              </a:rPr>
              <a:t>DyHuCoG: a Dynamic Hypergraph Cooperative Game for recommendation  ·  answers RQ3 &amp; RQ4</a:t>
            </a:r>
          </a:p>
        </p:txBody>
      </p:sp>
      <p:sp>
        <p:nvSpPr>
          <p:cNvPr id="9" name="Rectangle 8"/>
          <p:cNvSpPr/>
          <p:nvPr/>
        </p:nvSpPr>
        <p:spPr>
          <a:xfrm>
            <a:off x="0" y="5440680"/>
            <a:ext cx="18288000" cy="4846320"/>
          </a:xfrm>
          <a:prstGeom prst="rect">
            <a:avLst/>
          </a:prstGeom>
          <a:solidFill>
            <a:srgbClr val="4472C4"/>
          </a:solidFill>
          <a:ln>
            <a:noFill/>
          </a:ln>
        </p:spPr>
        <p:txBody>
          <a:bodyPr anchor="ctr" rtlCol="false" lIns="0" tIns="0" rIns="0" bIns="0" wrap="square"/>
          <a:lstStyle/>
          <a:p>
            <a:endParaRPr lang="en-US" sz="1800"/>
          </a:p>
        </p:txBody>
      </p:sp>
      <p:sp>
        <p:nvSpPr>
          <p:cNvPr id="10" name="TextBox 9"/>
          <p:cNvSpPr txBox="1"/>
          <p:nvPr/>
        </p:nvSpPr>
        <p:spPr>
          <a:xfrm>
            <a:off x="1028700" y="5943600"/>
            <a:ext cx="5135880" cy="457200"/>
          </a:xfrm>
          <a:prstGeom prst="rect">
            <a:avLst/>
          </a:prstGeom>
          <a:noFill/>
        </p:spPr>
        <p:txBody>
          <a:bodyPr anchor="t" rtlCol="false" lIns="0" tIns="0" rIns="0" bIns="0" wrap="square"/>
          <a:lstStyle/>
          <a:p>
            <a:pPr algn="l">
              <a:lnSpc>
                <a:spcPts val="2800"/>
              </a:lnSpc>
              <a:spcBef>
                <a:spcPts val="0"/>
              </a:spcBef>
              <a:buNone/>
            </a:pPr>
            <a:r>
              <a:rPr lang="en-US" sz="2300" b="true">
                <a:solidFill>
                  <a:srgbClr val="ECC665"/>
                </a:solidFill>
                <a:latin typeface="Nunito Ultra-Bold"/>
                <a:ea typeface="Nunito Ultra-Bold"/>
                <a:cs typeface="Nunito Ultra-Bold"/>
                <a:sym typeface="Nunito Ultra-Bold"/>
              </a:rPr>
              <a:t>Objectives</a:t>
            </a:r>
          </a:p>
        </p:txBody>
      </p:sp>
      <p:cxnSp>
        <p:nvCxnSpPr>
          <p:cNvPr id="11" name="Connector 10"/>
          <p:cNvCxnSpPr/>
          <p:nvPr/>
        </p:nvCxnSpPr>
        <p:spPr>
          <a:xfrm>
            <a:off x="1028700" y="6464808"/>
            <a:ext cx="640080" cy="0"/>
          </a:xfrm>
          <a:prstGeom prst="line">
            <a:avLst/>
          </a:prstGeom>
          <a:ln w="31750">
            <a:solidFill>
              <a:srgbClr val="ECC665"/>
            </a:solidFill>
          </a:ln>
        </p:spPr>
      </p:cxnSp>
      <p:sp>
        <p:nvSpPr>
          <p:cNvPr id="12" name="TextBox 11"/>
          <p:cNvSpPr txBox="1"/>
          <p:nvPr/>
        </p:nvSpPr>
        <p:spPr>
          <a:xfrm>
            <a:off x="1028700" y="6675120"/>
            <a:ext cx="5135880" cy="3108960"/>
          </a:xfrm>
          <a:prstGeom prst="rect">
            <a:avLst/>
          </a:prstGeom>
          <a:noFill/>
        </p:spPr>
        <p:txBody>
          <a:bodyPr anchor="t" rtlCol="false" lIns="0" tIns="0" rIns="0" bIns="0" wrap="square"/>
          <a:lstStyle/>
          <a:p>
            <a:pPr algn="l">
              <a:lnSpc>
                <a:spcPts val="2940"/>
              </a:lnSpc>
              <a:spcBef>
                <a:spcPts val="0"/>
              </a:spcBef>
              <a:buNone/>
            </a:pPr>
            <a:r>
              <a:rPr lang="en-US" sz="2100" b="true">
                <a:solidFill>
                  <a:srgbClr val="FFFFFF"/>
                </a:solidFill>
                <a:latin typeface="Nunito Semi-Bold"/>
                <a:ea typeface="Nunito Semi-Bold"/>
                <a:cs typeface="Nunito Semi-Bold"/>
                <a:sym typeface="Nunito Semi-Bold"/>
              </a:rPr>
              <a:t>Formulate recommendation as a cooperative game over users, items and contexts; make attribution an in-training signal.</a:t>
            </a:r>
          </a:p>
        </p:txBody>
      </p:sp>
      <p:sp>
        <p:nvSpPr>
          <p:cNvPr id="13" name="TextBox 12"/>
          <p:cNvSpPr txBox="1"/>
          <p:nvPr/>
        </p:nvSpPr>
        <p:spPr>
          <a:xfrm>
            <a:off x="6576060" y="5943600"/>
            <a:ext cx="5135880" cy="457200"/>
          </a:xfrm>
          <a:prstGeom prst="rect">
            <a:avLst/>
          </a:prstGeom>
          <a:noFill/>
        </p:spPr>
        <p:txBody>
          <a:bodyPr anchor="t" rtlCol="false" lIns="0" tIns="0" rIns="0" bIns="0" wrap="square"/>
          <a:lstStyle/>
          <a:p>
            <a:pPr algn="l">
              <a:lnSpc>
                <a:spcPts val="2800"/>
              </a:lnSpc>
              <a:spcBef>
                <a:spcPts val="0"/>
              </a:spcBef>
              <a:buNone/>
            </a:pPr>
            <a:r>
              <a:rPr lang="en-US" sz="2300" b="true">
                <a:solidFill>
                  <a:srgbClr val="ECC665"/>
                </a:solidFill>
                <a:latin typeface="Nunito Ultra-Bold"/>
                <a:ea typeface="Nunito Ultra-Bold"/>
                <a:cs typeface="Nunito Ultra-Bold"/>
                <a:sym typeface="Nunito Ultra-Bold"/>
              </a:rPr>
              <a:t>Methodology</a:t>
            </a:r>
          </a:p>
        </p:txBody>
      </p:sp>
      <p:cxnSp>
        <p:nvCxnSpPr>
          <p:cNvPr id="14" name="Connector 13"/>
          <p:cNvCxnSpPr/>
          <p:nvPr/>
        </p:nvCxnSpPr>
        <p:spPr>
          <a:xfrm>
            <a:off x="6576060" y="6464808"/>
            <a:ext cx="640080" cy="0"/>
          </a:xfrm>
          <a:prstGeom prst="line">
            <a:avLst/>
          </a:prstGeom>
          <a:ln w="31750">
            <a:solidFill>
              <a:srgbClr val="ECC665"/>
            </a:solidFill>
          </a:ln>
        </p:spPr>
      </p:cxnSp>
      <p:sp>
        <p:nvSpPr>
          <p:cNvPr id="15" name="TextBox 14"/>
          <p:cNvSpPr txBox="1"/>
          <p:nvPr/>
        </p:nvSpPr>
        <p:spPr>
          <a:xfrm>
            <a:off x="6576060" y="6675120"/>
            <a:ext cx="5135880" cy="3108960"/>
          </a:xfrm>
          <a:prstGeom prst="rect">
            <a:avLst/>
          </a:prstGeom>
          <a:noFill/>
        </p:spPr>
        <p:txBody>
          <a:bodyPr anchor="t" rtlCol="false" lIns="0" tIns="0" rIns="0" bIns="0" wrap="square"/>
          <a:lstStyle/>
          <a:p>
            <a:pPr algn="l">
              <a:lnSpc>
                <a:spcPts val="2940"/>
              </a:lnSpc>
              <a:spcBef>
                <a:spcPts val="0"/>
              </a:spcBef>
              <a:buNone/>
            </a:pPr>
            <a:r>
              <a:rPr lang="en-US" sz="2100" b="true">
                <a:solidFill>
                  <a:srgbClr val="FFFFFF"/>
                </a:solidFill>
                <a:latin typeface="Nunito Semi-Bold"/>
                <a:ea typeface="Nunito Semi-Bold"/>
                <a:cs typeface="Nunito Semi-Bold"/>
                <a:sym typeface="Nunito Semi-Bold"/>
              </a:rPr>
              <a:t>Preference-aware Monte Carlo Shapley </a:t>
            </a:r>
            <a:r>
              <a:rPr lang="en-US" sz="2100" b="true">
                <a:solidFill>
                  <a:srgbClr val="FFFFFF"/>
                </a:solidFill>
                <a:latin typeface="Calibri"/>
                <a:ea typeface="Calibri"/>
                <a:cs typeface="Calibri"/>
                <a:sym typeface="Calibri"/>
              </a:rPr>
              <a:t>→ </a:t>
            </a:r>
            <a:r>
              <a:rPr lang="en-US" sz="2100" b="true">
                <a:solidFill>
                  <a:srgbClr val="FFFFFF"/>
                </a:solidFill>
                <a:latin typeface="Nunito Semi-Bold"/>
                <a:ea typeface="Nunito Semi-Bold"/>
                <a:cs typeface="Nunito Semi-Bold"/>
                <a:sym typeface="Nunito Semi-Bold"/>
              </a:rPr>
              <a:t>dynamic hypergraph edge weights </a:t>
            </a:r>
            <a:r>
              <a:rPr lang="en-US" sz="2100" b="true">
                <a:solidFill>
                  <a:srgbClr val="FFFFFF"/>
                </a:solidFill>
                <a:latin typeface="Calibri"/>
                <a:ea typeface="Calibri"/>
                <a:cs typeface="Calibri"/>
                <a:sym typeface="Calibri"/>
              </a:rPr>
              <a:t>→ </a:t>
            </a:r>
            <a:r>
              <a:rPr lang="en-US" sz="2100" b="true">
                <a:solidFill>
                  <a:srgbClr val="FFFFFF"/>
                </a:solidFill>
                <a:latin typeface="Nunito Semi-Bold"/>
                <a:ea typeface="Nunito Semi-Bold"/>
                <a:cs typeface="Nunito Semi-Bold"/>
                <a:sym typeface="Nunito Semi-Bold"/>
              </a:rPr>
              <a:t>attention-gated, context-aware scoring; multi-objective loss.</a:t>
            </a:r>
          </a:p>
        </p:txBody>
      </p:sp>
      <p:sp>
        <p:nvSpPr>
          <p:cNvPr id="16" name="TextBox 15"/>
          <p:cNvSpPr txBox="1"/>
          <p:nvPr/>
        </p:nvSpPr>
        <p:spPr>
          <a:xfrm>
            <a:off x="12123420" y="5943600"/>
            <a:ext cx="5135880" cy="457200"/>
          </a:xfrm>
          <a:prstGeom prst="rect">
            <a:avLst/>
          </a:prstGeom>
          <a:noFill/>
        </p:spPr>
        <p:txBody>
          <a:bodyPr anchor="t" rtlCol="false" lIns="0" tIns="0" rIns="0" bIns="0" wrap="square"/>
          <a:lstStyle/>
          <a:p>
            <a:pPr algn="l">
              <a:lnSpc>
                <a:spcPts val="2800"/>
              </a:lnSpc>
              <a:spcBef>
                <a:spcPts val="0"/>
              </a:spcBef>
              <a:buNone/>
            </a:pPr>
            <a:r>
              <a:rPr lang="en-US" sz="2300" b="true">
                <a:solidFill>
                  <a:srgbClr val="ECC665"/>
                </a:solidFill>
                <a:latin typeface="Nunito Ultra-Bold"/>
                <a:ea typeface="Nunito Ultra-Bold"/>
                <a:cs typeface="Nunito Ultra-Bold"/>
                <a:sym typeface="Nunito Ultra-Bold"/>
              </a:rPr>
              <a:t>Results</a:t>
            </a:r>
          </a:p>
        </p:txBody>
      </p:sp>
      <p:cxnSp>
        <p:nvCxnSpPr>
          <p:cNvPr id="17" name="Connector 16"/>
          <p:cNvCxnSpPr/>
          <p:nvPr/>
        </p:nvCxnSpPr>
        <p:spPr>
          <a:xfrm>
            <a:off x="12123420" y="6464808"/>
            <a:ext cx="640080" cy="0"/>
          </a:xfrm>
          <a:prstGeom prst="line">
            <a:avLst/>
          </a:prstGeom>
          <a:ln w="31750">
            <a:solidFill>
              <a:srgbClr val="ECC665"/>
            </a:solidFill>
          </a:ln>
        </p:spPr>
      </p:cxnSp>
      <p:sp>
        <p:nvSpPr>
          <p:cNvPr id="18" name="TextBox 17"/>
          <p:cNvSpPr txBox="1"/>
          <p:nvPr/>
        </p:nvSpPr>
        <p:spPr>
          <a:xfrm>
            <a:off x="12123420" y="6675120"/>
            <a:ext cx="5135880" cy="3108960"/>
          </a:xfrm>
          <a:prstGeom prst="rect">
            <a:avLst/>
          </a:prstGeom>
          <a:noFill/>
        </p:spPr>
        <p:txBody>
          <a:bodyPr anchor="t" rtlCol="false" lIns="0" tIns="0" rIns="0" bIns="0" wrap="square"/>
          <a:lstStyle/>
          <a:p>
            <a:pPr algn="l">
              <a:lnSpc>
                <a:spcPts val="2940"/>
              </a:lnSpc>
              <a:spcBef>
                <a:spcPts val="0"/>
              </a:spcBef>
              <a:buNone/>
            </a:pPr>
            <a:r>
              <a:rPr lang="en-US" sz="2100" b="true">
                <a:solidFill>
                  <a:srgbClr val="FFFFFF"/>
                </a:solidFill>
                <a:latin typeface="Nunito Semi-Bold"/>
                <a:ea typeface="Nunito Semi-Bold"/>
                <a:cs typeface="Nunito Semi-Bold"/>
                <a:sym typeface="Nunito Semi-Bold"/>
              </a:rPr>
              <a:t>MovieLens-1M &amp; Amazon-Book: NDCG, Recall, Coverage and ILD improve together over HPCF; largest gains on the sparsest data.</a:t>
            </a:r>
          </a:p>
        </p:txBody>
      </p:sp>
    </p:spTree>
  </p:cSld>
  <p:clrMapOvr>
    <a:masterClrMapping/>
  </p:clrMapOvr>
</p:sld>
</file>

<file path=ppt/slides/slide6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pic>
        <p:nvPicPr>
          <p:cNvPr id="2" name="Picture 1" descr="ensias_logo.jpg"/>
          <p:cNvPicPr>
            <a:picLocks noChangeAspect="1"/>
          </p:cNvPicPr>
          <p:nvPr/>
        </p:nvPicPr>
        <p:blipFill>
          <a:blip r:embed="rId2"/>
          <a:stretch>
            <a:fillRect/>
          </a:stretch>
        </p:blipFill>
        <p:spPr>
          <a:xfrm>
            <a:off x="1028700" y="9674352"/>
            <a:ext cx="542964" cy="384048"/>
          </a:xfrm>
          <a:prstGeom prst="rect">
            <a:avLst/>
          </a:prstGeom>
        </p:spPr>
      </p:pic>
      <p:sp>
        <p:nvSpPr>
          <p:cNvPr id="3" name="TextBox 2"/>
          <p:cNvSpPr txBox="1"/>
          <p:nvPr/>
        </p:nvSpPr>
        <p:spPr>
          <a:xfrm>
            <a:off x="1577340" y="9601200"/>
            <a:ext cx="14493240" cy="566928"/>
          </a:xfrm>
          <a:prstGeom prst="rect">
            <a:avLst/>
          </a:prstGeom>
          <a:noFill/>
        </p:spPr>
        <p:txBody>
          <a:bodyPr anchor="ctr" rtlCol="false" lIns="0" tIns="0" rIns="0" bIns="0" wrap="square"/>
          <a:lstStyle/>
          <a:p>
            <a:pPr algn="l">
              <a:lnSpc>
                <a:spcPts val="1200"/>
              </a:lnSpc>
              <a:spcBef>
                <a:spcPts val="0"/>
              </a:spcBef>
              <a:buNone/>
            </a:pPr>
            <a:r>
              <a:rPr lang="en-US" sz="1000" b="true">
                <a:solidFill>
                  <a:srgbClr val="8A8378"/>
                </a:solidFill>
                <a:latin typeface="Nunito Semi-Bold"/>
                <a:ea typeface="Nunito Semi-Bold"/>
                <a:cs typeface="Nunito Semi-Bold"/>
                <a:sym typeface="Nunito Semi-Bold"/>
              </a:rPr>
              <a:t>[12] He, X. et al. LightGCN: Simplifying and Powering Graph Convolution Network for Recommendation. SIGIR, 639–648 (2020).   [13] Xia, L. et al. Hypergraph Contrastive Collaborative Filtering (HCCF). SIGIR, 70–79 (2022).   [14] Xiangyi, Y. et al. Hypergraph Projection Enhanced Collaborative Filtering (HPCF). Int. J. Data Science and Analytics 19(2), 269–281 (2025).   [21] Zhang, Y. &amp; Chen, X. Explainable Recommendation: A Survey and New Perspectives. Foundations and Trends in IR 14(1), 1–101 (2020).   [23] Zhu, Z. et al. Popularity Bias in Dynamic Recommendation. KDD, 2439–2449 (2021).  ·  Hurley, N. &amp; Zhang, M. Novelty and Diversity in Top-N Recommendation. ACM TOIT 10(4) (2011).</a:t>
            </a:r>
          </a:p>
        </p:txBody>
      </p:sp>
      <p:sp>
        <p:nvSpPr>
          <p:cNvPr id="4" name="TextBox 3"/>
          <p:cNvSpPr txBox="1"/>
          <p:nvPr/>
        </p:nvSpPr>
        <p:spPr>
          <a:xfrm>
            <a:off x="16162020" y="9692640"/>
            <a:ext cx="1097280" cy="329184"/>
          </a:xfrm>
          <a:prstGeom prst="rect">
            <a:avLst/>
          </a:prstGeom>
          <a:noFill/>
        </p:spPr>
        <p:txBody>
          <a:bodyPr anchor="t" rtlCol="false" lIns="0" tIns="0" rIns="0" bIns="0" wrap="square"/>
          <a:lstStyle/>
          <a:p>
            <a:pPr algn="r">
              <a:lnSpc>
                <a:spcPts val="2200"/>
              </a:lnSpc>
              <a:spcBef>
                <a:spcPts val="0"/>
              </a:spcBef>
              <a:buNone/>
            </a:pPr>
            <a:r>
              <a:rPr lang="en-US" sz="1800" b="true">
                <a:solidFill>
                  <a:srgbClr val="111111"/>
                </a:solidFill>
                <a:latin typeface="Nunito Ultra-Bold"/>
                <a:ea typeface="Nunito Ultra-Bold"/>
                <a:cs typeface="Nunito Ultra-Bold"/>
                <a:sym typeface="Nunito Ultra-Bold"/>
              </a:rPr>
              <a:t>52</a:t>
            </a:r>
          </a:p>
        </p:txBody>
      </p:sp>
      <p:sp>
        <p:nvSpPr>
          <p:cNvPr id="5" name="TextBox 4"/>
          <p:cNvSpPr txBox="1"/>
          <p:nvPr/>
        </p:nvSpPr>
        <p:spPr>
          <a:xfrm>
            <a:off x="1028700" y="1389888"/>
            <a:ext cx="12938760" cy="329184"/>
          </a:xfrm>
          <a:prstGeom prst="rect">
            <a:avLst/>
          </a:prstGeom>
          <a:noFill/>
        </p:spPr>
        <p:txBody>
          <a:bodyPr anchor="t" rtlCol="false" lIns="0" tIns="0" rIns="0" bIns="0" wrap="square"/>
          <a:lstStyle/>
          <a:p>
            <a:pPr algn="l">
              <a:lnSpc>
                <a:spcPts val="2000"/>
              </a:lnSpc>
              <a:spcBef>
                <a:spcPts val="0"/>
              </a:spcBef>
              <a:buNone/>
            </a:pPr>
            <a:r>
              <a:rPr lang="en-US" sz="1500" b="true" spc="160">
                <a:solidFill>
                  <a:srgbClr val="1F7A8C"/>
                </a:solidFill>
                <a:latin typeface="Nunito Ultra-Bold"/>
                <a:ea typeface="Nunito Ultra-Bold"/>
                <a:cs typeface="Nunito Ultra-Bold"/>
                <a:sym typeface="Nunito Ultra-Bold"/>
              </a:rPr>
              <a:t>CONTRIBUTION III: DYHUCOG, A DYNAMIC HYPERGRAPH COOPERATIVE GAME</a:t>
            </a:r>
          </a:p>
        </p:txBody>
      </p:sp>
      <p:sp>
        <p:nvSpPr>
          <p:cNvPr id="6" name="Rounded Rectangle 5"/>
          <p:cNvSpPr/>
          <p:nvPr/>
        </p:nvSpPr>
        <p:spPr>
          <a:xfrm>
            <a:off x="14516100"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7" name="TextBox 6"/>
          <p:cNvSpPr txBox="1"/>
          <p:nvPr/>
        </p:nvSpPr>
        <p:spPr>
          <a:xfrm>
            <a:off x="14516100"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1</a:t>
            </a:r>
          </a:p>
        </p:txBody>
      </p:sp>
      <p:sp>
        <p:nvSpPr>
          <p:cNvPr id="8" name="Rounded Rectangle 7"/>
          <p:cNvSpPr/>
          <p:nvPr/>
        </p:nvSpPr>
        <p:spPr>
          <a:xfrm>
            <a:off x="14918436"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9" name="TextBox 8"/>
          <p:cNvSpPr txBox="1"/>
          <p:nvPr/>
        </p:nvSpPr>
        <p:spPr>
          <a:xfrm>
            <a:off x="14918436"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2</a:t>
            </a:r>
          </a:p>
        </p:txBody>
      </p:sp>
      <p:sp>
        <p:nvSpPr>
          <p:cNvPr id="10" name="Rounded Rectangle 9"/>
          <p:cNvSpPr/>
          <p:nvPr/>
        </p:nvSpPr>
        <p:spPr>
          <a:xfrm>
            <a:off x="15320772"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11" name="TextBox 10"/>
          <p:cNvSpPr txBox="1"/>
          <p:nvPr/>
        </p:nvSpPr>
        <p:spPr>
          <a:xfrm>
            <a:off x="15320772"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3</a:t>
            </a:r>
          </a:p>
        </p:txBody>
      </p:sp>
      <p:sp>
        <p:nvSpPr>
          <p:cNvPr id="12" name="Rounded Rectangle 11"/>
          <p:cNvSpPr/>
          <p:nvPr/>
        </p:nvSpPr>
        <p:spPr>
          <a:xfrm>
            <a:off x="15723108"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13" name="TextBox 12"/>
          <p:cNvSpPr txBox="1"/>
          <p:nvPr/>
        </p:nvSpPr>
        <p:spPr>
          <a:xfrm>
            <a:off x="15723108"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4</a:t>
            </a:r>
          </a:p>
        </p:txBody>
      </p:sp>
      <p:sp>
        <p:nvSpPr>
          <p:cNvPr id="14" name="Rounded Rectangle 13"/>
          <p:cNvSpPr/>
          <p:nvPr/>
        </p:nvSpPr>
        <p:spPr>
          <a:xfrm>
            <a:off x="16125444"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15" name="TextBox 14"/>
          <p:cNvSpPr txBox="1"/>
          <p:nvPr/>
        </p:nvSpPr>
        <p:spPr>
          <a:xfrm>
            <a:off x="16125444"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5</a:t>
            </a:r>
          </a:p>
        </p:txBody>
      </p:sp>
      <p:sp>
        <p:nvSpPr>
          <p:cNvPr id="16" name="Rounded Rectangle 15"/>
          <p:cNvSpPr/>
          <p:nvPr/>
        </p:nvSpPr>
        <p:spPr>
          <a:xfrm>
            <a:off x="16527780" y="1371600"/>
            <a:ext cx="329184" cy="329184"/>
          </a:xfrm>
          <a:prstGeom prst="roundRect">
            <a:avLst>
              <a:gd name="adj" fmla="val 16666"/>
            </a:avLst>
          </a:prstGeom>
          <a:solidFill>
            <a:srgbClr val="4472C4"/>
          </a:solidFill>
          <a:ln w="15875">
            <a:solidFill>
              <a:srgbClr val="4472C4"/>
            </a:solidFill>
          </a:ln>
        </p:spPr>
        <p:txBody>
          <a:bodyPr anchor="ctr" rtlCol="false" lIns="0" tIns="0" rIns="0" bIns="0" wrap="square"/>
          <a:lstStyle/>
          <a:p>
            <a:endParaRPr lang="en-US" sz="1800"/>
          </a:p>
        </p:txBody>
      </p:sp>
      <p:sp>
        <p:nvSpPr>
          <p:cNvPr id="17" name="TextBox 16"/>
          <p:cNvSpPr txBox="1"/>
          <p:nvPr/>
        </p:nvSpPr>
        <p:spPr>
          <a:xfrm>
            <a:off x="16527780"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FFFFFF"/>
                </a:solidFill>
                <a:latin typeface="Nunito Ultra-Bold"/>
                <a:ea typeface="Nunito Ultra-Bold"/>
                <a:cs typeface="Nunito Ultra-Bold"/>
                <a:sym typeface="Nunito Ultra-Bold"/>
              </a:rPr>
              <a:t>6</a:t>
            </a:r>
          </a:p>
        </p:txBody>
      </p:sp>
      <p:sp>
        <p:nvSpPr>
          <p:cNvPr id="18" name="Rounded Rectangle 17"/>
          <p:cNvSpPr/>
          <p:nvPr/>
        </p:nvSpPr>
        <p:spPr>
          <a:xfrm>
            <a:off x="16930116"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19" name="TextBox 18"/>
          <p:cNvSpPr txBox="1"/>
          <p:nvPr/>
        </p:nvSpPr>
        <p:spPr>
          <a:xfrm>
            <a:off x="16930116"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7</a:t>
            </a:r>
          </a:p>
        </p:txBody>
      </p:sp>
      <p:sp>
        <p:nvSpPr>
          <p:cNvPr id="20" name="TextBox 19"/>
          <p:cNvSpPr txBox="1"/>
          <p:nvPr/>
        </p:nvSpPr>
        <p:spPr>
          <a:xfrm>
            <a:off x="1028700" y="1719072"/>
            <a:ext cx="16230600" cy="730250"/>
          </a:xfrm>
          <a:prstGeom prst="rect">
            <a:avLst/>
          </a:prstGeom>
          <a:noFill/>
        </p:spPr>
        <p:txBody>
          <a:bodyPr anchor="t" rtlCol="false" lIns="0" tIns="0" rIns="0" bIns="0" wrap="square"/>
          <a:lstStyle/>
          <a:p>
            <a:pPr algn="l">
              <a:lnSpc>
                <a:spcPts val="5060"/>
              </a:lnSpc>
              <a:spcBef>
                <a:spcPts val="0"/>
              </a:spcBef>
              <a:buNone/>
            </a:pPr>
            <a:r>
              <a:rPr lang="en-US" sz="4600" b="true" spc="-230">
                <a:solidFill>
                  <a:srgbClr val="111111"/>
                </a:solidFill>
                <a:latin typeface="Roca Two Bold"/>
                <a:ea typeface="Roca Two Bold"/>
                <a:cs typeface="Roca Two Bold"/>
                <a:sym typeface="Roca Two Bold"/>
              </a:rPr>
              <a:t>Research Gap</a:t>
            </a:r>
          </a:p>
        </p:txBody>
      </p:sp>
      <p:sp>
        <p:nvSpPr>
          <p:cNvPr id="21" name="Rounded Rectangle 20"/>
          <p:cNvSpPr/>
          <p:nvPr/>
        </p:nvSpPr>
        <p:spPr>
          <a:xfrm>
            <a:off x="1028700" y="2559050"/>
            <a:ext cx="1691553" cy="420624"/>
          </a:xfrm>
          <a:prstGeom prst="roundRect">
            <a:avLst>
              <a:gd name="adj" fmla="val 50000"/>
            </a:avLst>
          </a:prstGeom>
          <a:solidFill>
            <a:srgbClr val="4472C4"/>
          </a:solidFill>
          <a:ln>
            <a:noFill/>
          </a:ln>
        </p:spPr>
        <p:txBody>
          <a:bodyPr anchor="ctr" rtlCol="false" lIns="45720" tIns="0" rIns="45720" bIns="0" wrap="square"/>
          <a:lstStyle/>
          <a:p>
            <a:pPr algn="ctr">
              <a:lnSpc>
                <a:spcPts val="2160"/>
              </a:lnSpc>
              <a:spcBef>
                <a:spcPts val="0"/>
              </a:spcBef>
              <a:buNone/>
            </a:pPr>
            <a:r>
              <a:rPr lang="en-US" sz="1800" b="true">
                <a:solidFill>
                  <a:srgbClr val="FFFFFF"/>
                </a:solidFill>
                <a:latin typeface="Nunito Bold"/>
                <a:ea typeface="Nunito Bold"/>
                <a:cs typeface="Nunito Bold"/>
                <a:sym typeface="Nunito Bold"/>
              </a:rPr>
              <a:t>Objectives</a:t>
            </a:r>
          </a:p>
        </p:txBody>
      </p:sp>
      <p:sp>
        <p:nvSpPr>
          <p:cNvPr id="22" name="Rounded Rectangle 21"/>
          <p:cNvSpPr/>
          <p:nvPr/>
        </p:nvSpPr>
        <p:spPr>
          <a:xfrm>
            <a:off x="2848269" y="2559050"/>
            <a:ext cx="1998119" cy="420624"/>
          </a:xfrm>
          <a:prstGeom prst="roundRect">
            <a:avLst>
              <a:gd name="adj" fmla="val 50000"/>
            </a:avLst>
          </a:prstGeom>
          <a:noFill/>
          <a:ln w="28575">
            <a:solidFill>
              <a:srgbClr val="4472C4"/>
            </a:solidFill>
          </a:ln>
        </p:spPr>
        <p:txBody>
          <a:bodyPr anchor="ctr" rtlCol="false" lIns="45720" tIns="0" rIns="45720" bIns="0" wrap="square"/>
          <a:lstStyle/>
          <a:p>
            <a:pPr algn="ctr">
              <a:lnSpc>
                <a:spcPts val="2160"/>
              </a:lnSpc>
              <a:spcBef>
                <a:spcPts val="0"/>
              </a:spcBef>
              <a:buNone/>
            </a:pPr>
            <a:r>
              <a:rPr lang="en-US" sz="1800" b="true">
                <a:solidFill>
                  <a:srgbClr val="4472C4"/>
                </a:solidFill>
                <a:latin typeface="Nunito Bold"/>
                <a:ea typeface="Nunito Bold"/>
                <a:cs typeface="Nunito Bold"/>
                <a:sym typeface="Nunito Bold"/>
              </a:rPr>
              <a:t>Methodology</a:t>
            </a:r>
          </a:p>
        </p:txBody>
      </p:sp>
      <p:sp>
        <p:nvSpPr>
          <p:cNvPr id="23" name="Rounded Rectangle 22"/>
          <p:cNvSpPr/>
          <p:nvPr/>
        </p:nvSpPr>
        <p:spPr>
          <a:xfrm>
            <a:off x="4974404" y="2559050"/>
            <a:ext cx="1369446" cy="420624"/>
          </a:xfrm>
          <a:prstGeom prst="roundRect">
            <a:avLst>
              <a:gd name="adj" fmla="val 50000"/>
            </a:avLst>
          </a:prstGeom>
          <a:noFill/>
          <a:ln w="28575">
            <a:solidFill>
              <a:srgbClr val="4472C4"/>
            </a:solidFill>
          </a:ln>
        </p:spPr>
        <p:txBody>
          <a:bodyPr anchor="ctr" rtlCol="false" lIns="45720" tIns="0" rIns="45720" bIns="0" wrap="square"/>
          <a:lstStyle/>
          <a:p>
            <a:pPr algn="ctr">
              <a:lnSpc>
                <a:spcPts val="2160"/>
              </a:lnSpc>
              <a:spcBef>
                <a:spcPts val="0"/>
              </a:spcBef>
              <a:buNone/>
            </a:pPr>
            <a:r>
              <a:rPr lang="en-US" sz="1800" b="true">
                <a:solidFill>
                  <a:srgbClr val="4472C4"/>
                </a:solidFill>
                <a:latin typeface="Nunito Bold"/>
                <a:ea typeface="Nunito Bold"/>
                <a:cs typeface="Nunito Bold"/>
                <a:sym typeface="Nunito Bold"/>
              </a:rPr>
              <a:t>Results</a:t>
            </a:r>
          </a:p>
        </p:txBody>
      </p:sp>
      <p:sp>
        <p:nvSpPr>
          <p:cNvPr id="24" name="Rounded Rectangle 23"/>
          <p:cNvSpPr/>
          <p:nvPr/>
        </p:nvSpPr>
        <p:spPr>
          <a:xfrm>
            <a:off x="6471866" y="2559050"/>
            <a:ext cx="1474931" cy="420624"/>
          </a:xfrm>
          <a:prstGeom prst="roundRect">
            <a:avLst>
              <a:gd name="adj" fmla="val 50000"/>
            </a:avLst>
          </a:prstGeom>
          <a:noFill/>
          <a:ln w="28575">
            <a:solidFill>
              <a:srgbClr val="4472C4"/>
            </a:solidFill>
          </a:ln>
        </p:spPr>
        <p:txBody>
          <a:bodyPr anchor="ctr" rtlCol="false" lIns="45720" tIns="0" rIns="45720" bIns="0" wrap="square"/>
          <a:lstStyle/>
          <a:p>
            <a:pPr algn="ctr">
              <a:lnSpc>
                <a:spcPts val="2160"/>
              </a:lnSpc>
              <a:spcBef>
                <a:spcPts val="0"/>
              </a:spcBef>
              <a:buNone/>
            </a:pPr>
            <a:r>
              <a:rPr lang="en-US" sz="1800" b="true">
                <a:solidFill>
                  <a:srgbClr val="4472C4"/>
                </a:solidFill>
                <a:latin typeface="Nunito Bold"/>
                <a:ea typeface="Nunito Bold"/>
                <a:cs typeface="Nunito Bold"/>
                <a:sym typeface="Nunito Bold"/>
              </a:rPr>
              <a:t>Findings</a:t>
            </a:r>
          </a:p>
        </p:txBody>
      </p:sp>
      <p:sp>
        <p:nvSpPr>
          <p:cNvPr id="25" name="TextBox 24"/>
          <p:cNvSpPr txBox="1"/>
          <p:nvPr/>
        </p:nvSpPr>
        <p:spPr>
          <a:xfrm>
            <a:off x="1028700" y="3363722"/>
            <a:ext cx="16230600" cy="3841750"/>
          </a:xfrm>
          <a:prstGeom prst="rect">
            <a:avLst/>
          </a:prstGeom>
          <a:noFill/>
        </p:spPr>
        <p:txBody>
          <a:bodyPr anchor="t" rtlCol="false" lIns="0" tIns="0" rIns="0" bIns="0" wrap="square"/>
          <a:lstStyle/>
          <a:p>
            <a:pPr algn="l" marL="274320" indent="-274320">
              <a:lnSpc>
                <a:spcPts val="2940"/>
              </a:lnSpc>
              <a:spcBef>
                <a:spcPts val="0"/>
              </a:spcBef>
              <a:buClr>
                <a:srgbClr val="1F7A8C"/>
              </a:buClr>
              <a:buSzPct val="100000"/>
              <a:buFont typeface="Arial"/>
              <a:buChar char="•"/>
            </a:pPr>
            <a:r>
              <a:rPr lang="en-US" sz="2100" b="true">
                <a:solidFill>
                  <a:srgbClr val="111111"/>
                </a:solidFill>
                <a:latin typeface="Nunito Semi-Bold"/>
                <a:ea typeface="Nunito Semi-Bold"/>
                <a:cs typeface="Nunito Semi-Bold"/>
                <a:sym typeface="Nunito Semi-Bold"/>
              </a:rPr>
              <a:t>Graph and hypergraph recommenders [12, 13, 14] treat message importance as </a:t>
            </a:r>
            <a:r>
              <a:rPr lang="en-US" sz="2100" b="true">
                <a:solidFill>
                  <a:srgbClr val="111111"/>
                </a:solidFill>
                <a:latin typeface="Nunito Bold"/>
                <a:ea typeface="Nunito Bold"/>
                <a:cs typeface="Nunito Bold"/>
                <a:sym typeface="Nunito Bold"/>
              </a:rPr>
              <a:t>uniform or attention-weighted</a:t>
            </a:r>
            <a:r>
              <a:rPr lang="en-US" sz="2100" b="true">
                <a:solidFill>
                  <a:srgbClr val="111111"/>
                </a:solidFill>
                <a:latin typeface="Nunito Semi-Bold"/>
                <a:ea typeface="Nunito Semi-Bold"/>
                <a:cs typeface="Nunito Semi-Bold"/>
                <a:sym typeface="Nunito Semi-Bold"/>
              </a:rPr>
              <a:t>, with no well-founded </a:t>
            </a:r>
            <a:r>
              <a:rPr lang="en-US" sz="2100" b="true">
                <a:solidFill>
                  <a:srgbClr val="111111"/>
                </a:solidFill>
                <a:latin typeface="Nunito Bold"/>
                <a:ea typeface="Nunito Bold"/>
                <a:cs typeface="Nunito Bold"/>
                <a:sym typeface="Nunito Bold"/>
              </a:rPr>
              <a:t>marginal-contribution</a:t>
            </a:r>
            <a:r>
              <a:rPr lang="en-US" sz="2100" b="true">
                <a:solidFill>
                  <a:srgbClr val="111111"/>
                </a:solidFill>
                <a:latin typeface="Nunito Semi-Bold"/>
                <a:ea typeface="Nunito Semi-Bold"/>
                <a:cs typeface="Nunito Semi-Bold"/>
                <a:sym typeface="Nunito Semi-Bold"/>
              </a:rPr>
              <a:t> account.</a:t>
            </a:r>
          </a:p>
          <a:p>
            <a:pPr algn="l" marL="274320" indent="-274320">
              <a:lnSpc>
                <a:spcPts val="2940"/>
              </a:lnSpc>
              <a:spcBef>
                <a:spcPts val="1200"/>
              </a:spcBef>
              <a:buClr>
                <a:srgbClr val="1F7A8C"/>
              </a:buClr>
              <a:buSzPct val="100000"/>
              <a:buFont typeface="Arial"/>
              <a:buChar char="•"/>
            </a:pPr>
            <a:r>
              <a:rPr lang="en-US" sz="2100" b="true">
                <a:solidFill>
                  <a:srgbClr val="111111"/>
                </a:solidFill>
                <a:latin typeface="Nunito Semi-Bold"/>
                <a:ea typeface="Nunito Semi-Bold"/>
                <a:cs typeface="Nunito Semi-Bold"/>
                <a:sym typeface="Nunito Semi-Bold"/>
              </a:rPr>
              <a:t>Diversity is often a secondary goal or a </a:t>
            </a:r>
            <a:r>
              <a:rPr lang="en-US" sz="2100" b="true">
                <a:solidFill>
                  <a:srgbClr val="111111"/>
                </a:solidFill>
                <a:latin typeface="Nunito Bold"/>
                <a:ea typeface="Nunito Bold"/>
                <a:cs typeface="Nunito Bold"/>
                <a:sym typeface="Nunito Bold"/>
              </a:rPr>
              <a:t>re-ranking heuristic</a:t>
            </a:r>
            <a:r>
              <a:rPr lang="en-US" sz="2100" b="true">
                <a:solidFill>
                  <a:srgbClr val="111111"/>
                </a:solidFill>
                <a:latin typeface="Nunito Semi-Bold"/>
                <a:ea typeface="Nunito Semi-Bold"/>
                <a:cs typeface="Nunito Semi-Bold"/>
                <a:sym typeface="Nunito Semi-Bold"/>
              </a:rPr>
              <a:t> applied after the model has been trained [23].</a:t>
            </a:r>
          </a:p>
          <a:p>
            <a:pPr algn="l" marL="274320" indent="-274320">
              <a:lnSpc>
                <a:spcPts val="2940"/>
              </a:lnSpc>
              <a:spcBef>
                <a:spcPts val="1200"/>
              </a:spcBef>
              <a:buClr>
                <a:srgbClr val="1F7A8C"/>
              </a:buClr>
              <a:buSzPct val="100000"/>
              <a:buFont typeface="Arial"/>
              <a:buChar char="•"/>
            </a:pPr>
            <a:r>
              <a:rPr lang="en-US" sz="2100" b="true">
                <a:solidFill>
                  <a:srgbClr val="111111"/>
                </a:solidFill>
                <a:latin typeface="Nunito Semi-Bold"/>
                <a:ea typeface="Nunito Semi-Bold"/>
                <a:cs typeface="Nunito Semi-Bold"/>
                <a:sym typeface="Nunito Semi-Bold"/>
              </a:rPr>
              <a:t>Interpretability is </a:t>
            </a:r>
            <a:r>
              <a:rPr lang="en-US" sz="2100" b="true">
                <a:solidFill>
                  <a:srgbClr val="111111"/>
                </a:solidFill>
                <a:latin typeface="Nunito Bold"/>
                <a:ea typeface="Nunito Bold"/>
                <a:cs typeface="Nunito Bold"/>
                <a:sym typeface="Nunito Bold"/>
              </a:rPr>
              <a:t>added after prediction</a:t>
            </a:r>
            <a:r>
              <a:rPr lang="en-US" sz="2100" b="true">
                <a:solidFill>
                  <a:srgbClr val="111111"/>
                </a:solidFill>
                <a:latin typeface="Nunito Semi-Bold"/>
                <a:ea typeface="Nunito Semi-Bold"/>
                <a:cs typeface="Nunito Semi-Bold"/>
                <a:sym typeface="Nunito Semi-Bold"/>
              </a:rPr>
              <a:t>, not built into the learning objective [21].</a:t>
            </a:r>
          </a:p>
          <a:p>
            <a:pPr algn="l" marL="274320" indent="-274320">
              <a:lnSpc>
                <a:spcPts val="2940"/>
              </a:lnSpc>
              <a:spcBef>
                <a:spcPts val="1200"/>
              </a:spcBef>
              <a:buClr>
                <a:srgbClr val="1F7A8C"/>
              </a:buClr>
              <a:buSzPct val="100000"/>
              <a:buFont typeface="Arial"/>
              <a:buChar char="•"/>
            </a:pPr>
            <a:r>
              <a:rPr lang="en-US" sz="2100" b="true">
                <a:solidFill>
                  <a:srgbClr val="111111"/>
                </a:solidFill>
                <a:latin typeface="Nunito Semi-Bold"/>
                <a:ea typeface="Nunito Semi-Bold"/>
                <a:cs typeface="Nunito Semi-Bold"/>
                <a:sym typeface="Nunito Semi-Bold"/>
              </a:rPr>
              <a:t>Contributions I and II showed that Shapley attribution is faithful and consistent, but it was still </a:t>
            </a:r>
            <a:r>
              <a:rPr lang="en-US" sz="2100" b="true">
                <a:solidFill>
                  <a:srgbClr val="111111"/>
                </a:solidFill>
                <a:latin typeface="Nunito Bold"/>
                <a:ea typeface="Nunito Bold"/>
                <a:cs typeface="Nunito Bold"/>
                <a:sym typeface="Nunito Bold"/>
              </a:rPr>
              <a:t>post-hoc</a:t>
            </a:r>
            <a:r>
              <a:rPr lang="en-US" sz="2100" b="true">
                <a:solidFill>
                  <a:srgbClr val="111111"/>
                </a:solidFill>
                <a:latin typeface="Nunito Semi-Bold"/>
                <a:ea typeface="Nunito Semi-Bold"/>
                <a:cs typeface="Nunito Semi-Bold"/>
                <a:sym typeface="Nunito Semi-Bold"/>
              </a:rPr>
              <a:t>: it never changed what the model learned.</a:t>
            </a:r>
          </a:p>
        </p:txBody>
      </p:sp>
      <p:sp>
        <p:nvSpPr>
          <p:cNvPr id="26" name="Rounded Rectangle 25"/>
          <p:cNvSpPr/>
          <p:nvPr/>
        </p:nvSpPr>
        <p:spPr>
          <a:xfrm>
            <a:off x="1028700" y="7616952"/>
            <a:ext cx="16230600" cy="1600200"/>
          </a:xfrm>
          <a:prstGeom prst="roundRect">
            <a:avLst>
              <a:gd name="adj" fmla="val 12571"/>
            </a:avLst>
          </a:prstGeom>
          <a:solidFill>
            <a:srgbClr val="F6ECDF"/>
          </a:solidFill>
          <a:ln w="25400">
            <a:solidFill>
              <a:srgbClr val="1F7A8C"/>
            </a:solidFill>
          </a:ln>
        </p:spPr>
        <p:txBody>
          <a:bodyPr anchor="ctr" rtlCol="false" lIns="0" tIns="0" rIns="0" bIns="0" wrap="square"/>
          <a:lstStyle/>
          <a:p>
            <a:endParaRPr lang="en-US" sz="1800"/>
          </a:p>
        </p:txBody>
      </p:sp>
      <p:sp>
        <p:nvSpPr>
          <p:cNvPr id="27" name="Rounded Rectangle 26"/>
          <p:cNvSpPr/>
          <p:nvPr/>
        </p:nvSpPr>
        <p:spPr>
          <a:xfrm>
            <a:off x="1348740" y="7424928"/>
            <a:ext cx="1976535" cy="384048"/>
          </a:xfrm>
          <a:prstGeom prst="roundRect">
            <a:avLst>
              <a:gd name="adj" fmla="val 50000"/>
            </a:avLst>
          </a:prstGeom>
          <a:solidFill>
            <a:srgbClr val="1F7A8C"/>
          </a:solidFill>
          <a:ln w="28575">
            <a:solidFill>
              <a:srgbClr val="1F7A8C"/>
            </a:solidFill>
          </a:ln>
        </p:spPr>
        <p:txBody>
          <a:bodyPr anchor="ctr" rtlCol="false" lIns="45720" tIns="0" rIns="45720" bIns="0" wrap="square"/>
          <a:lstStyle/>
          <a:p>
            <a:pPr algn="ctr">
              <a:lnSpc>
                <a:spcPts val="1680"/>
              </a:lnSpc>
              <a:spcBef>
                <a:spcPts val="0"/>
              </a:spcBef>
              <a:buNone/>
            </a:pPr>
            <a:r>
              <a:rPr lang="en-US" sz="1400" b="true">
                <a:solidFill>
                  <a:srgbClr val="FFFFFF"/>
                </a:solidFill>
                <a:latin typeface="Nunito Bold"/>
                <a:ea typeface="Nunito Bold"/>
                <a:cs typeface="Nunito Bold"/>
                <a:sym typeface="Nunito Bold"/>
              </a:rPr>
              <a:t>RESEARCH GAP</a:t>
            </a:r>
          </a:p>
        </p:txBody>
      </p:sp>
      <p:sp>
        <p:nvSpPr>
          <p:cNvPr id="28" name="TextBox 27"/>
          <p:cNvSpPr txBox="1"/>
          <p:nvPr/>
        </p:nvSpPr>
        <p:spPr>
          <a:xfrm>
            <a:off x="1394460" y="7891272"/>
            <a:ext cx="15499080" cy="1188720"/>
          </a:xfrm>
          <a:prstGeom prst="rect">
            <a:avLst/>
          </a:prstGeom>
          <a:noFill/>
        </p:spPr>
        <p:txBody>
          <a:bodyPr anchor="ctr" rtlCol="false" lIns="0" tIns="0" rIns="0" bIns="0" wrap="square"/>
          <a:lstStyle/>
          <a:p>
            <a:pPr algn="l">
              <a:lnSpc>
                <a:spcPts val="3080"/>
              </a:lnSpc>
              <a:spcBef>
                <a:spcPts val="0"/>
              </a:spcBef>
              <a:buNone/>
            </a:pPr>
            <a:r>
              <a:rPr lang="en-US" sz="2200" b="true">
                <a:solidFill>
                  <a:srgbClr val="111111"/>
                </a:solidFill>
                <a:latin typeface="Nunito Semi-Bold"/>
                <a:ea typeface="Nunito Semi-Bold"/>
                <a:cs typeface="Nunito Semi-Bold"/>
                <a:sym typeface="Nunito Semi-Bold"/>
              </a:rPr>
              <a:t>No recommender uses a </a:t>
            </a:r>
            <a:r>
              <a:rPr lang="en-US" sz="2200" b="true">
                <a:solidFill>
                  <a:srgbClr val="111111"/>
                </a:solidFill>
                <a:latin typeface="Nunito Bold"/>
                <a:ea typeface="Nunito Bold"/>
                <a:cs typeface="Nunito Bold"/>
                <a:sym typeface="Nunito Bold"/>
              </a:rPr>
              <a:t>cooperative-game utility</a:t>
            </a:r>
            <a:r>
              <a:rPr lang="en-US" sz="2200" b="true">
                <a:solidFill>
                  <a:srgbClr val="111111"/>
                </a:solidFill>
                <a:latin typeface="Nunito Semi-Bold"/>
                <a:ea typeface="Nunito Semi-Bold"/>
                <a:cs typeface="Nunito Semi-Bold"/>
                <a:sym typeface="Nunito Semi-Bold"/>
              </a:rPr>
              <a:t> to decide, during training, how much each user, item and context should count, while keeping accuracy, context and diversity in the same objective.</a:t>
            </a:r>
          </a:p>
        </p:txBody>
      </p:sp>
    </p:spTree>
  </p:cSld>
  <p:clrMapOvr>
    <a:masterClrMapping/>
  </p:clrMapOvr>
</p:sld>
</file>

<file path=ppt/slides/slide6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pic>
        <p:nvPicPr>
          <p:cNvPr id="2" name="Picture 1" descr="ensias_logo.jpg"/>
          <p:cNvPicPr>
            <a:picLocks noChangeAspect="1"/>
          </p:cNvPicPr>
          <p:nvPr/>
        </p:nvPicPr>
        <p:blipFill>
          <a:blip r:embed="rId2"/>
          <a:stretch>
            <a:fillRect/>
          </a:stretch>
        </p:blipFill>
        <p:spPr>
          <a:xfrm>
            <a:off x="1028700" y="9674352"/>
            <a:ext cx="542964" cy="384048"/>
          </a:xfrm>
          <a:prstGeom prst="rect">
            <a:avLst/>
          </a:prstGeom>
        </p:spPr>
      </p:pic>
      <p:sp>
        <p:nvSpPr>
          <p:cNvPr id="3" name="TextBox 2"/>
          <p:cNvSpPr txBox="1"/>
          <p:nvPr/>
        </p:nvSpPr>
        <p:spPr>
          <a:xfrm>
            <a:off x="1577340" y="9747504"/>
            <a:ext cx="12801600" cy="274320"/>
          </a:xfrm>
          <a:prstGeom prst="rect">
            <a:avLst/>
          </a:prstGeom>
          <a:noFill/>
        </p:spPr>
        <p:txBody>
          <a:bodyPr anchor="t" rtlCol="false" lIns="0" tIns="0" rIns="0" bIns="0" wrap="square"/>
          <a:lstStyle/>
          <a:p>
            <a:pPr algn="l">
              <a:lnSpc>
                <a:spcPts val="1600"/>
              </a:lnSpc>
              <a:spcBef>
                <a:spcPts val="0"/>
              </a:spcBef>
              <a:buNone/>
            </a:pPr>
            <a:r>
              <a:rPr lang="en-US" sz="1300" b="true">
                <a:solidFill>
                  <a:srgbClr val="8A8378"/>
                </a:solidFill>
                <a:latin typeface="Nunito Bold"/>
                <a:ea typeface="Nunito Bold"/>
                <a:cs typeface="Nunito Bold"/>
                <a:sym typeface="Nunito Bold"/>
              </a:rPr>
              <a:t>Cooperative Game Theory for Explainable AI in Recommendation Systems  ·  A Shapley Framework for Actionable Insight</a:t>
            </a:r>
          </a:p>
        </p:txBody>
      </p:sp>
      <p:sp>
        <p:nvSpPr>
          <p:cNvPr id="4" name="TextBox 3"/>
          <p:cNvSpPr txBox="1"/>
          <p:nvPr/>
        </p:nvSpPr>
        <p:spPr>
          <a:xfrm>
            <a:off x="16162020" y="9692640"/>
            <a:ext cx="1097280" cy="329184"/>
          </a:xfrm>
          <a:prstGeom prst="rect">
            <a:avLst/>
          </a:prstGeom>
          <a:noFill/>
        </p:spPr>
        <p:txBody>
          <a:bodyPr anchor="t" rtlCol="false" lIns="0" tIns="0" rIns="0" bIns="0" wrap="square"/>
          <a:lstStyle/>
          <a:p>
            <a:pPr algn="r">
              <a:lnSpc>
                <a:spcPts val="2200"/>
              </a:lnSpc>
              <a:spcBef>
                <a:spcPts val="0"/>
              </a:spcBef>
              <a:buNone/>
            </a:pPr>
            <a:r>
              <a:rPr lang="en-US" sz="1800" b="true">
                <a:solidFill>
                  <a:srgbClr val="111111"/>
                </a:solidFill>
                <a:latin typeface="Nunito Ultra-Bold"/>
                <a:ea typeface="Nunito Ultra-Bold"/>
                <a:cs typeface="Nunito Ultra-Bold"/>
                <a:sym typeface="Nunito Ultra-Bold"/>
              </a:rPr>
              <a:t>53</a:t>
            </a:r>
          </a:p>
        </p:txBody>
      </p:sp>
      <p:sp>
        <p:nvSpPr>
          <p:cNvPr id="5" name="TextBox 4"/>
          <p:cNvSpPr txBox="1"/>
          <p:nvPr/>
        </p:nvSpPr>
        <p:spPr>
          <a:xfrm>
            <a:off x="1028700" y="1389888"/>
            <a:ext cx="12938760" cy="329184"/>
          </a:xfrm>
          <a:prstGeom prst="rect">
            <a:avLst/>
          </a:prstGeom>
          <a:noFill/>
        </p:spPr>
        <p:txBody>
          <a:bodyPr anchor="t" rtlCol="false" lIns="0" tIns="0" rIns="0" bIns="0" wrap="square"/>
          <a:lstStyle/>
          <a:p>
            <a:pPr algn="l">
              <a:lnSpc>
                <a:spcPts val="2000"/>
              </a:lnSpc>
              <a:spcBef>
                <a:spcPts val="0"/>
              </a:spcBef>
              <a:buNone/>
            </a:pPr>
            <a:r>
              <a:rPr lang="en-US" sz="1500" b="true" spc="160">
                <a:solidFill>
                  <a:srgbClr val="1F7A8C"/>
                </a:solidFill>
                <a:latin typeface="Nunito Ultra-Bold"/>
                <a:ea typeface="Nunito Ultra-Bold"/>
                <a:cs typeface="Nunito Ultra-Bold"/>
                <a:sym typeface="Nunito Ultra-Bold"/>
              </a:rPr>
              <a:t>CONTRIBUTION III: DYHUCOG, A DYNAMIC HYPERGRAPH COOPERATIVE GAME</a:t>
            </a:r>
          </a:p>
        </p:txBody>
      </p:sp>
      <p:sp>
        <p:nvSpPr>
          <p:cNvPr id="6" name="Rounded Rectangle 5"/>
          <p:cNvSpPr/>
          <p:nvPr/>
        </p:nvSpPr>
        <p:spPr>
          <a:xfrm>
            <a:off x="14516100"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7" name="TextBox 6"/>
          <p:cNvSpPr txBox="1"/>
          <p:nvPr/>
        </p:nvSpPr>
        <p:spPr>
          <a:xfrm>
            <a:off x="14516100"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1</a:t>
            </a:r>
          </a:p>
        </p:txBody>
      </p:sp>
      <p:sp>
        <p:nvSpPr>
          <p:cNvPr id="8" name="Rounded Rectangle 7"/>
          <p:cNvSpPr/>
          <p:nvPr/>
        </p:nvSpPr>
        <p:spPr>
          <a:xfrm>
            <a:off x="14918436"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9" name="TextBox 8"/>
          <p:cNvSpPr txBox="1"/>
          <p:nvPr/>
        </p:nvSpPr>
        <p:spPr>
          <a:xfrm>
            <a:off x="14918436"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2</a:t>
            </a:r>
          </a:p>
        </p:txBody>
      </p:sp>
      <p:sp>
        <p:nvSpPr>
          <p:cNvPr id="10" name="Rounded Rectangle 9"/>
          <p:cNvSpPr/>
          <p:nvPr/>
        </p:nvSpPr>
        <p:spPr>
          <a:xfrm>
            <a:off x="15320772"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11" name="TextBox 10"/>
          <p:cNvSpPr txBox="1"/>
          <p:nvPr/>
        </p:nvSpPr>
        <p:spPr>
          <a:xfrm>
            <a:off x="15320772"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3</a:t>
            </a:r>
          </a:p>
        </p:txBody>
      </p:sp>
      <p:sp>
        <p:nvSpPr>
          <p:cNvPr id="12" name="Rounded Rectangle 11"/>
          <p:cNvSpPr/>
          <p:nvPr/>
        </p:nvSpPr>
        <p:spPr>
          <a:xfrm>
            <a:off x="15723108"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13" name="TextBox 12"/>
          <p:cNvSpPr txBox="1"/>
          <p:nvPr/>
        </p:nvSpPr>
        <p:spPr>
          <a:xfrm>
            <a:off x="15723108"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4</a:t>
            </a:r>
          </a:p>
        </p:txBody>
      </p:sp>
      <p:sp>
        <p:nvSpPr>
          <p:cNvPr id="14" name="Rounded Rectangle 13"/>
          <p:cNvSpPr/>
          <p:nvPr/>
        </p:nvSpPr>
        <p:spPr>
          <a:xfrm>
            <a:off x="16125444"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15" name="TextBox 14"/>
          <p:cNvSpPr txBox="1"/>
          <p:nvPr/>
        </p:nvSpPr>
        <p:spPr>
          <a:xfrm>
            <a:off x="16125444"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5</a:t>
            </a:r>
          </a:p>
        </p:txBody>
      </p:sp>
      <p:sp>
        <p:nvSpPr>
          <p:cNvPr id="16" name="Rounded Rectangle 15"/>
          <p:cNvSpPr/>
          <p:nvPr/>
        </p:nvSpPr>
        <p:spPr>
          <a:xfrm>
            <a:off x="16527780" y="1371600"/>
            <a:ext cx="329184" cy="329184"/>
          </a:xfrm>
          <a:prstGeom prst="roundRect">
            <a:avLst>
              <a:gd name="adj" fmla="val 16666"/>
            </a:avLst>
          </a:prstGeom>
          <a:solidFill>
            <a:srgbClr val="4472C4"/>
          </a:solidFill>
          <a:ln w="15875">
            <a:solidFill>
              <a:srgbClr val="4472C4"/>
            </a:solidFill>
          </a:ln>
        </p:spPr>
        <p:txBody>
          <a:bodyPr anchor="ctr" rtlCol="false" lIns="0" tIns="0" rIns="0" bIns="0" wrap="square"/>
          <a:lstStyle/>
          <a:p>
            <a:endParaRPr lang="en-US" sz="1800"/>
          </a:p>
        </p:txBody>
      </p:sp>
      <p:sp>
        <p:nvSpPr>
          <p:cNvPr id="17" name="TextBox 16"/>
          <p:cNvSpPr txBox="1"/>
          <p:nvPr/>
        </p:nvSpPr>
        <p:spPr>
          <a:xfrm>
            <a:off x="16527780"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FFFFFF"/>
                </a:solidFill>
                <a:latin typeface="Nunito Ultra-Bold"/>
                <a:ea typeface="Nunito Ultra-Bold"/>
                <a:cs typeface="Nunito Ultra-Bold"/>
                <a:sym typeface="Nunito Ultra-Bold"/>
              </a:rPr>
              <a:t>6</a:t>
            </a:r>
          </a:p>
        </p:txBody>
      </p:sp>
      <p:sp>
        <p:nvSpPr>
          <p:cNvPr id="18" name="Rounded Rectangle 17"/>
          <p:cNvSpPr/>
          <p:nvPr/>
        </p:nvSpPr>
        <p:spPr>
          <a:xfrm>
            <a:off x="16930116"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19" name="TextBox 18"/>
          <p:cNvSpPr txBox="1"/>
          <p:nvPr/>
        </p:nvSpPr>
        <p:spPr>
          <a:xfrm>
            <a:off x="16930116"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7</a:t>
            </a:r>
          </a:p>
        </p:txBody>
      </p:sp>
      <p:sp>
        <p:nvSpPr>
          <p:cNvPr id="20" name="TextBox 19"/>
          <p:cNvSpPr txBox="1"/>
          <p:nvPr/>
        </p:nvSpPr>
        <p:spPr>
          <a:xfrm>
            <a:off x="1028700" y="1719072"/>
            <a:ext cx="16230600" cy="730250"/>
          </a:xfrm>
          <a:prstGeom prst="rect">
            <a:avLst/>
          </a:prstGeom>
          <a:noFill/>
        </p:spPr>
        <p:txBody>
          <a:bodyPr anchor="t" rtlCol="false" lIns="0" tIns="0" rIns="0" bIns="0" wrap="square"/>
          <a:lstStyle/>
          <a:p>
            <a:pPr algn="l">
              <a:lnSpc>
                <a:spcPts val="5060"/>
              </a:lnSpc>
              <a:spcBef>
                <a:spcPts val="0"/>
              </a:spcBef>
              <a:buNone/>
            </a:pPr>
            <a:r>
              <a:rPr lang="en-US" sz="4600" b="true" spc="-230">
                <a:solidFill>
                  <a:srgbClr val="111111"/>
                </a:solidFill>
                <a:latin typeface="Roca Two Bold"/>
                <a:ea typeface="Roca Two Bold"/>
                <a:cs typeface="Roca Two Bold"/>
                <a:sym typeface="Roca Two Bold"/>
              </a:rPr>
              <a:t>RQ3, RQ4 and Objectives</a:t>
            </a:r>
          </a:p>
        </p:txBody>
      </p:sp>
      <p:sp>
        <p:nvSpPr>
          <p:cNvPr id="21" name="Rounded Rectangle 20"/>
          <p:cNvSpPr/>
          <p:nvPr/>
        </p:nvSpPr>
        <p:spPr>
          <a:xfrm>
            <a:off x="1028700" y="2559050"/>
            <a:ext cx="1691553" cy="420624"/>
          </a:xfrm>
          <a:prstGeom prst="roundRect">
            <a:avLst>
              <a:gd name="adj" fmla="val 50000"/>
            </a:avLst>
          </a:prstGeom>
          <a:solidFill>
            <a:srgbClr val="4472C4"/>
          </a:solidFill>
          <a:ln>
            <a:noFill/>
          </a:ln>
        </p:spPr>
        <p:txBody>
          <a:bodyPr anchor="ctr" rtlCol="false" lIns="45720" tIns="0" rIns="45720" bIns="0" wrap="square"/>
          <a:lstStyle/>
          <a:p>
            <a:pPr algn="ctr">
              <a:lnSpc>
                <a:spcPts val="2160"/>
              </a:lnSpc>
              <a:spcBef>
                <a:spcPts val="0"/>
              </a:spcBef>
              <a:buNone/>
            </a:pPr>
            <a:r>
              <a:rPr lang="en-US" sz="1800" b="true">
                <a:solidFill>
                  <a:srgbClr val="FFFFFF"/>
                </a:solidFill>
                <a:latin typeface="Nunito Bold"/>
                <a:ea typeface="Nunito Bold"/>
                <a:cs typeface="Nunito Bold"/>
                <a:sym typeface="Nunito Bold"/>
              </a:rPr>
              <a:t>Objectives</a:t>
            </a:r>
          </a:p>
        </p:txBody>
      </p:sp>
      <p:sp>
        <p:nvSpPr>
          <p:cNvPr id="22" name="Rounded Rectangle 21"/>
          <p:cNvSpPr/>
          <p:nvPr/>
        </p:nvSpPr>
        <p:spPr>
          <a:xfrm>
            <a:off x="2848269" y="2559050"/>
            <a:ext cx="1998119" cy="420624"/>
          </a:xfrm>
          <a:prstGeom prst="roundRect">
            <a:avLst>
              <a:gd name="adj" fmla="val 50000"/>
            </a:avLst>
          </a:prstGeom>
          <a:noFill/>
          <a:ln w="28575">
            <a:solidFill>
              <a:srgbClr val="4472C4"/>
            </a:solidFill>
          </a:ln>
        </p:spPr>
        <p:txBody>
          <a:bodyPr anchor="ctr" rtlCol="false" lIns="45720" tIns="0" rIns="45720" bIns="0" wrap="square"/>
          <a:lstStyle/>
          <a:p>
            <a:pPr algn="ctr">
              <a:lnSpc>
                <a:spcPts val="2160"/>
              </a:lnSpc>
              <a:spcBef>
                <a:spcPts val="0"/>
              </a:spcBef>
              <a:buNone/>
            </a:pPr>
            <a:r>
              <a:rPr lang="en-US" sz="1800" b="true">
                <a:solidFill>
                  <a:srgbClr val="4472C4"/>
                </a:solidFill>
                <a:latin typeface="Nunito Bold"/>
                <a:ea typeface="Nunito Bold"/>
                <a:cs typeface="Nunito Bold"/>
                <a:sym typeface="Nunito Bold"/>
              </a:rPr>
              <a:t>Methodology</a:t>
            </a:r>
          </a:p>
        </p:txBody>
      </p:sp>
      <p:sp>
        <p:nvSpPr>
          <p:cNvPr id="23" name="Rounded Rectangle 22"/>
          <p:cNvSpPr/>
          <p:nvPr/>
        </p:nvSpPr>
        <p:spPr>
          <a:xfrm>
            <a:off x="4974404" y="2559050"/>
            <a:ext cx="1369446" cy="420624"/>
          </a:xfrm>
          <a:prstGeom prst="roundRect">
            <a:avLst>
              <a:gd name="adj" fmla="val 50000"/>
            </a:avLst>
          </a:prstGeom>
          <a:noFill/>
          <a:ln w="28575">
            <a:solidFill>
              <a:srgbClr val="4472C4"/>
            </a:solidFill>
          </a:ln>
        </p:spPr>
        <p:txBody>
          <a:bodyPr anchor="ctr" rtlCol="false" lIns="45720" tIns="0" rIns="45720" bIns="0" wrap="square"/>
          <a:lstStyle/>
          <a:p>
            <a:pPr algn="ctr">
              <a:lnSpc>
                <a:spcPts val="2160"/>
              </a:lnSpc>
              <a:spcBef>
                <a:spcPts val="0"/>
              </a:spcBef>
              <a:buNone/>
            </a:pPr>
            <a:r>
              <a:rPr lang="en-US" sz="1800" b="true">
                <a:solidFill>
                  <a:srgbClr val="4472C4"/>
                </a:solidFill>
                <a:latin typeface="Nunito Bold"/>
                <a:ea typeface="Nunito Bold"/>
                <a:cs typeface="Nunito Bold"/>
                <a:sym typeface="Nunito Bold"/>
              </a:rPr>
              <a:t>Results</a:t>
            </a:r>
          </a:p>
        </p:txBody>
      </p:sp>
      <p:sp>
        <p:nvSpPr>
          <p:cNvPr id="24" name="Rounded Rectangle 23"/>
          <p:cNvSpPr/>
          <p:nvPr/>
        </p:nvSpPr>
        <p:spPr>
          <a:xfrm>
            <a:off x="6471866" y="2559050"/>
            <a:ext cx="1474931" cy="420624"/>
          </a:xfrm>
          <a:prstGeom prst="roundRect">
            <a:avLst>
              <a:gd name="adj" fmla="val 50000"/>
            </a:avLst>
          </a:prstGeom>
          <a:noFill/>
          <a:ln w="28575">
            <a:solidFill>
              <a:srgbClr val="4472C4"/>
            </a:solidFill>
          </a:ln>
        </p:spPr>
        <p:txBody>
          <a:bodyPr anchor="ctr" rtlCol="false" lIns="45720" tIns="0" rIns="45720" bIns="0" wrap="square"/>
          <a:lstStyle/>
          <a:p>
            <a:pPr algn="ctr">
              <a:lnSpc>
                <a:spcPts val="2160"/>
              </a:lnSpc>
              <a:spcBef>
                <a:spcPts val="0"/>
              </a:spcBef>
              <a:buNone/>
            </a:pPr>
            <a:r>
              <a:rPr lang="en-US" sz="1800" b="true">
                <a:solidFill>
                  <a:srgbClr val="4472C4"/>
                </a:solidFill>
                <a:latin typeface="Nunito Bold"/>
                <a:ea typeface="Nunito Bold"/>
                <a:cs typeface="Nunito Bold"/>
                <a:sym typeface="Nunito Bold"/>
              </a:rPr>
              <a:t>Findings</a:t>
            </a:r>
          </a:p>
        </p:txBody>
      </p:sp>
      <p:sp>
        <p:nvSpPr>
          <p:cNvPr id="25" name="Rounded Rectangle 24"/>
          <p:cNvSpPr/>
          <p:nvPr/>
        </p:nvSpPr>
        <p:spPr>
          <a:xfrm>
            <a:off x="1028700" y="3546602"/>
            <a:ext cx="7932420" cy="1417320"/>
          </a:xfrm>
          <a:prstGeom prst="roundRect">
            <a:avLst>
              <a:gd name="adj" fmla="val 14193"/>
            </a:avLst>
          </a:prstGeom>
          <a:solidFill>
            <a:srgbClr val="F6ECDF"/>
          </a:solidFill>
          <a:ln w="25400">
            <a:solidFill>
              <a:srgbClr val="4472C4"/>
            </a:solidFill>
          </a:ln>
        </p:spPr>
        <p:txBody>
          <a:bodyPr anchor="ctr" rtlCol="false" lIns="0" tIns="0" rIns="0" bIns="0" wrap="square"/>
          <a:lstStyle/>
          <a:p>
            <a:endParaRPr lang="en-US" sz="1800"/>
          </a:p>
        </p:txBody>
      </p:sp>
      <p:sp>
        <p:nvSpPr>
          <p:cNvPr id="26" name="Rounded Rectangle 25"/>
          <p:cNvSpPr/>
          <p:nvPr/>
        </p:nvSpPr>
        <p:spPr>
          <a:xfrm>
            <a:off x="1348740" y="3354578"/>
            <a:ext cx="927910" cy="384048"/>
          </a:xfrm>
          <a:prstGeom prst="roundRect">
            <a:avLst>
              <a:gd name="adj" fmla="val 50000"/>
            </a:avLst>
          </a:prstGeom>
          <a:solidFill>
            <a:srgbClr val="4472C4"/>
          </a:solidFill>
          <a:ln w="28575">
            <a:solidFill>
              <a:srgbClr val="4472C4"/>
            </a:solidFill>
          </a:ln>
        </p:spPr>
        <p:txBody>
          <a:bodyPr anchor="ctr" rtlCol="false" lIns="45720" tIns="0" rIns="45720" bIns="0" wrap="square"/>
          <a:lstStyle/>
          <a:p>
            <a:pPr algn="ctr">
              <a:lnSpc>
                <a:spcPts val="1680"/>
              </a:lnSpc>
              <a:spcBef>
                <a:spcPts val="0"/>
              </a:spcBef>
              <a:buNone/>
            </a:pPr>
            <a:r>
              <a:rPr lang="en-US" sz="1400" b="true">
                <a:solidFill>
                  <a:srgbClr val="FFFFFF"/>
                </a:solidFill>
                <a:latin typeface="Nunito Bold"/>
                <a:ea typeface="Nunito Bold"/>
                <a:cs typeface="Nunito Bold"/>
                <a:sym typeface="Nunito Bold"/>
              </a:rPr>
              <a:t>RQ3</a:t>
            </a:r>
          </a:p>
        </p:txBody>
      </p:sp>
      <p:sp>
        <p:nvSpPr>
          <p:cNvPr id="27" name="TextBox 26"/>
          <p:cNvSpPr txBox="1"/>
          <p:nvPr/>
        </p:nvSpPr>
        <p:spPr>
          <a:xfrm>
            <a:off x="1394460" y="3820922"/>
            <a:ext cx="7200900" cy="1005840"/>
          </a:xfrm>
          <a:prstGeom prst="rect">
            <a:avLst/>
          </a:prstGeom>
          <a:noFill/>
        </p:spPr>
        <p:txBody>
          <a:bodyPr anchor="ctr" rtlCol="false" lIns="0" tIns="0" rIns="0" bIns="0" wrap="square"/>
          <a:lstStyle/>
          <a:p>
            <a:pPr algn="l">
              <a:lnSpc>
                <a:spcPts val="2660"/>
              </a:lnSpc>
              <a:spcBef>
                <a:spcPts val="0"/>
              </a:spcBef>
              <a:buNone/>
            </a:pPr>
            <a:r>
              <a:rPr lang="en-US" sz="1900" b="true">
                <a:solidFill>
                  <a:srgbClr val="111111"/>
                </a:solidFill>
                <a:latin typeface="Nunito Semi-Bold"/>
                <a:ea typeface="Nunito Semi-Bold"/>
                <a:cs typeface="Nunito Semi-Bold"/>
                <a:sym typeface="Nunito Semi-Bold"/>
              </a:rPr>
              <a:t>Can cooperative attribution move </a:t>
            </a:r>
            <a:r>
              <a:rPr lang="en-US" sz="1900" b="true">
                <a:solidFill>
                  <a:srgbClr val="111111"/>
                </a:solidFill>
                <a:latin typeface="Nunito Bold"/>
                <a:ea typeface="Nunito Bold"/>
                <a:cs typeface="Nunito Bold"/>
                <a:sym typeface="Nunito Bold"/>
              </a:rPr>
              <a:t>beyond post-hoc</a:t>
            </a:r>
            <a:r>
              <a:rPr lang="en-US" sz="1900" b="true">
                <a:solidFill>
                  <a:srgbClr val="111111"/>
                </a:solidFill>
                <a:latin typeface="Nunito Semi-Bold"/>
                <a:ea typeface="Nunito Semi-Bold"/>
                <a:cs typeface="Nunito Semi-Bold"/>
                <a:sym typeface="Nunito Semi-Bold"/>
              </a:rPr>
              <a:t> and become part of how a recommender learns?</a:t>
            </a:r>
          </a:p>
        </p:txBody>
      </p:sp>
      <p:sp>
        <p:nvSpPr>
          <p:cNvPr id="28" name="Rounded Rectangle 27"/>
          <p:cNvSpPr/>
          <p:nvPr/>
        </p:nvSpPr>
        <p:spPr>
          <a:xfrm>
            <a:off x="9326880" y="3546602"/>
            <a:ext cx="7932420" cy="1417320"/>
          </a:xfrm>
          <a:prstGeom prst="roundRect">
            <a:avLst>
              <a:gd name="adj" fmla="val 14193"/>
            </a:avLst>
          </a:prstGeom>
          <a:solidFill>
            <a:srgbClr val="F6ECDF"/>
          </a:solidFill>
          <a:ln w="25400">
            <a:solidFill>
              <a:srgbClr val="4472C4"/>
            </a:solidFill>
          </a:ln>
        </p:spPr>
        <p:txBody>
          <a:bodyPr anchor="ctr" rtlCol="false" lIns="0" tIns="0" rIns="0" bIns="0" wrap="square"/>
          <a:lstStyle/>
          <a:p>
            <a:endParaRPr lang="en-US" sz="1800"/>
          </a:p>
        </p:txBody>
      </p:sp>
      <p:sp>
        <p:nvSpPr>
          <p:cNvPr id="29" name="Rounded Rectangle 28"/>
          <p:cNvSpPr/>
          <p:nvPr/>
        </p:nvSpPr>
        <p:spPr>
          <a:xfrm>
            <a:off x="9646920" y="3354578"/>
            <a:ext cx="927910" cy="384048"/>
          </a:xfrm>
          <a:prstGeom prst="roundRect">
            <a:avLst>
              <a:gd name="adj" fmla="val 50000"/>
            </a:avLst>
          </a:prstGeom>
          <a:solidFill>
            <a:srgbClr val="4472C4"/>
          </a:solidFill>
          <a:ln w="28575">
            <a:solidFill>
              <a:srgbClr val="4472C4"/>
            </a:solidFill>
          </a:ln>
        </p:spPr>
        <p:txBody>
          <a:bodyPr anchor="ctr" rtlCol="false" lIns="45720" tIns="0" rIns="45720" bIns="0" wrap="square"/>
          <a:lstStyle/>
          <a:p>
            <a:pPr algn="ctr">
              <a:lnSpc>
                <a:spcPts val="1680"/>
              </a:lnSpc>
              <a:spcBef>
                <a:spcPts val="0"/>
              </a:spcBef>
              <a:buNone/>
            </a:pPr>
            <a:r>
              <a:rPr lang="en-US" sz="1400" b="true">
                <a:solidFill>
                  <a:srgbClr val="FFFFFF"/>
                </a:solidFill>
                <a:latin typeface="Nunito Bold"/>
                <a:ea typeface="Nunito Bold"/>
                <a:cs typeface="Nunito Bold"/>
                <a:sym typeface="Nunito Bold"/>
              </a:rPr>
              <a:t>RQ4</a:t>
            </a:r>
          </a:p>
        </p:txBody>
      </p:sp>
      <p:sp>
        <p:nvSpPr>
          <p:cNvPr id="30" name="TextBox 29"/>
          <p:cNvSpPr txBox="1"/>
          <p:nvPr/>
        </p:nvSpPr>
        <p:spPr>
          <a:xfrm>
            <a:off x="9692640" y="3820922"/>
            <a:ext cx="7200900" cy="1005840"/>
          </a:xfrm>
          <a:prstGeom prst="rect">
            <a:avLst/>
          </a:prstGeom>
          <a:noFill/>
        </p:spPr>
        <p:txBody>
          <a:bodyPr anchor="ctr" rtlCol="false" lIns="0" tIns="0" rIns="0" bIns="0" wrap="square"/>
          <a:lstStyle/>
          <a:p>
            <a:pPr algn="l">
              <a:lnSpc>
                <a:spcPts val="2580"/>
              </a:lnSpc>
              <a:spcBef>
                <a:spcPts val="0"/>
              </a:spcBef>
              <a:buNone/>
            </a:pPr>
            <a:r>
              <a:rPr lang="en-US" sz="1843" b="true">
                <a:solidFill>
                  <a:srgbClr val="111111"/>
                </a:solidFill>
                <a:latin typeface="Nunito Semi-Bold"/>
                <a:ea typeface="Nunito Semi-Bold"/>
                <a:cs typeface="Nunito Semi-Bold"/>
                <a:sym typeface="Nunito Semi-Bold"/>
              </a:rPr>
              <a:t>Can it improve </a:t>
            </a:r>
            <a:r>
              <a:rPr lang="en-US" sz="1843" b="true">
                <a:solidFill>
                  <a:srgbClr val="111111"/>
                </a:solidFill>
                <a:latin typeface="Nunito Bold"/>
                <a:ea typeface="Nunito Bold"/>
                <a:cs typeface="Nunito Bold"/>
                <a:sym typeface="Nunito Bold"/>
              </a:rPr>
              <a:t>ranking accuracy, context and diversity together</a:t>
            </a:r>
            <a:r>
              <a:rPr lang="en-US" sz="1843" b="true">
                <a:solidFill>
                  <a:srgbClr val="111111"/>
                </a:solidFill>
                <a:latin typeface="Nunito Semi-Bold"/>
                <a:ea typeface="Nunito Semi-Bold"/>
                <a:cs typeface="Nunito Semi-Bold"/>
                <a:sym typeface="Nunito Semi-Bold"/>
              </a:rPr>
              <a:t> when importance comes from a cooperative-game utility?</a:t>
            </a:r>
          </a:p>
        </p:txBody>
      </p:sp>
      <p:graphicFrame>
        <p:nvGraphicFramePr>
          <p:cNvPr id="31" name="Table 30"/>
          <p:cNvGraphicFramePr>
            <a:graphicFrameLocks noGrp="1"/>
          </p:cNvGraphicFramePr>
          <p:nvPr/>
        </p:nvGraphicFramePr>
        <p:xfrm>
          <a:off x="1028700" y="5375402"/>
          <a:ext cx="16230599" cy="3291840"/>
        </p:xfrm>
        <a:graphic>
          <a:graphicData uri="http://schemas.openxmlformats.org/drawingml/2006/table">
            <a:tbl>
              <a:tblPr firstRow="0" bandRow="0" firstCol="0" lastRow="0" lastCol="0" bandCol="0">
                <a:tableStyleId>{2D5ABB26-0587-4C30-8999-92F81FD0307C}</a:tableStyleId>
              </a:tblPr>
              <a:tblGrid>
                <a:gridCol w="4785946"/>
                <a:gridCol w="7699130"/>
                <a:gridCol w="3745523"/>
              </a:tblGrid>
              <a:tr h="822960">
                <a:tc>
                  <a:txBody>
                    <a:bodyPr anchor="ctr" rtlCol="false" lIns="0" tIns="0" rIns="0" bIns="0" wrap="square"/>
                    <a:lstStyle/>
                    <a:p>
                      <a:pPr algn="l">
                        <a:lnSpc>
                          <a:spcPts val="2210"/>
                        </a:lnSpc>
                        <a:spcBef>
                          <a:spcPts val="0"/>
                        </a:spcBef>
                        <a:buNone/>
                      </a:pPr>
                      <a:r>
                        <a:rPr lang="en-US" sz="1700" b="true">
                          <a:solidFill>
                            <a:srgbClr val="FFFFFF"/>
                          </a:solidFill>
                          <a:latin typeface="Nunito Bold"/>
                          <a:ea typeface="Nunito Bold"/>
                          <a:cs typeface="Nunito Bold"/>
                          <a:sym typeface="Nunito Bold"/>
                        </a:rPr>
                        <a:t>Objective</a:t>
                      </a:r>
                    </a:p>
                  </a:txBody>
                  <a:tcPr marL="82296" marR="82296" marT="45720" marB="45720" anchor="ctr">
                    <a:lnL w="12700" cap="flat" cmpd="sng" algn="ctr">
                      <a:solidFill>
                        <a:srgbClr val="4472C4"/>
                      </a:solidFill>
                      <a:prstDash val="solid"/>
                    </a:lnL>
                    <a:lnR w="12700" cap="flat" cmpd="sng" algn="ctr">
                      <a:solidFill>
                        <a:srgbClr val="4472C4"/>
                      </a:solidFill>
                      <a:prstDash val="solid"/>
                    </a:lnR>
                    <a:lnT w="12700" cap="flat" cmpd="sng" algn="ctr">
                      <a:solidFill>
                        <a:srgbClr val="4472C4"/>
                      </a:solidFill>
                      <a:prstDash val="solid"/>
                    </a:lnT>
                    <a:lnB w="12700" cap="flat" cmpd="sng" algn="ctr">
                      <a:solidFill>
                        <a:srgbClr val="4472C4"/>
                      </a:solidFill>
                      <a:prstDash val="solid"/>
                    </a:lnB>
                    <a:solidFill>
                      <a:srgbClr val="4472C4"/>
                    </a:solidFill>
                  </a:tcPr>
                </a:tc>
                <a:tc>
                  <a:txBody>
                    <a:bodyPr anchor="ctr" rtlCol="false" lIns="0" tIns="0" rIns="0" bIns="0" wrap="square"/>
                    <a:lstStyle/>
                    <a:p>
                      <a:pPr algn="l">
                        <a:lnSpc>
                          <a:spcPts val="2210"/>
                        </a:lnSpc>
                        <a:spcBef>
                          <a:spcPts val="0"/>
                        </a:spcBef>
                        <a:buNone/>
                      </a:pPr>
                      <a:r>
                        <a:rPr lang="en-US" sz="1700" b="true">
                          <a:solidFill>
                            <a:srgbClr val="FFFFFF"/>
                          </a:solidFill>
                          <a:latin typeface="Nunito Bold"/>
                          <a:ea typeface="Nunito Bold"/>
                          <a:cs typeface="Nunito Bold"/>
                          <a:sym typeface="Nunito Bold"/>
                        </a:rPr>
                        <a:t>What it delivers</a:t>
                      </a:r>
                    </a:p>
                  </a:txBody>
                  <a:tcPr marL="82296" marR="82296" marT="45720" marB="45720" anchor="ctr">
                    <a:lnL w="12700" cap="flat" cmpd="sng" algn="ctr">
                      <a:solidFill>
                        <a:srgbClr val="4472C4"/>
                      </a:solidFill>
                      <a:prstDash val="solid"/>
                    </a:lnL>
                    <a:lnR w="12700" cap="flat" cmpd="sng" algn="ctr">
                      <a:solidFill>
                        <a:srgbClr val="4472C4"/>
                      </a:solidFill>
                      <a:prstDash val="solid"/>
                    </a:lnR>
                    <a:lnT w="12700" cap="flat" cmpd="sng" algn="ctr">
                      <a:solidFill>
                        <a:srgbClr val="4472C4"/>
                      </a:solidFill>
                      <a:prstDash val="solid"/>
                    </a:lnT>
                    <a:lnB w="12700" cap="flat" cmpd="sng" algn="ctr">
                      <a:solidFill>
                        <a:srgbClr val="4472C4"/>
                      </a:solidFill>
                      <a:prstDash val="solid"/>
                    </a:lnB>
                    <a:solidFill>
                      <a:srgbClr val="4472C4"/>
                    </a:solidFill>
                  </a:tcPr>
                </a:tc>
                <a:tc>
                  <a:txBody>
                    <a:bodyPr anchor="ctr" rtlCol="false" lIns="0" tIns="0" rIns="0" bIns="0" wrap="square"/>
                    <a:lstStyle/>
                    <a:p>
                      <a:pPr algn="l">
                        <a:lnSpc>
                          <a:spcPts val="2210"/>
                        </a:lnSpc>
                        <a:spcBef>
                          <a:spcPts val="0"/>
                        </a:spcBef>
                        <a:buNone/>
                      </a:pPr>
                      <a:r>
                        <a:rPr lang="en-US" sz="1700" b="true">
                          <a:solidFill>
                            <a:srgbClr val="FFFFFF"/>
                          </a:solidFill>
                          <a:latin typeface="Nunito Bold"/>
                          <a:ea typeface="Nunito Bold"/>
                          <a:cs typeface="Nunito Bold"/>
                          <a:sym typeface="Nunito Bold"/>
                        </a:rPr>
                        <a:t>Where it is shown</a:t>
                      </a:r>
                    </a:p>
                  </a:txBody>
                  <a:tcPr marL="82296" marR="82296" marT="45720" marB="45720" anchor="ctr">
                    <a:lnL w="12700" cap="flat" cmpd="sng" algn="ctr">
                      <a:solidFill>
                        <a:srgbClr val="4472C4"/>
                      </a:solidFill>
                      <a:prstDash val="solid"/>
                    </a:lnL>
                    <a:lnR w="12700" cap="flat" cmpd="sng" algn="ctr">
                      <a:solidFill>
                        <a:srgbClr val="4472C4"/>
                      </a:solidFill>
                      <a:prstDash val="solid"/>
                    </a:lnR>
                    <a:lnT w="12700" cap="flat" cmpd="sng" algn="ctr">
                      <a:solidFill>
                        <a:srgbClr val="4472C4"/>
                      </a:solidFill>
                      <a:prstDash val="solid"/>
                    </a:lnT>
                    <a:lnB w="12700" cap="flat" cmpd="sng" algn="ctr">
                      <a:solidFill>
                        <a:srgbClr val="4472C4"/>
                      </a:solidFill>
                      <a:prstDash val="solid"/>
                    </a:lnB>
                    <a:solidFill>
                      <a:srgbClr val="4472C4"/>
                    </a:solidFill>
                  </a:tcPr>
                </a:tc>
              </a:tr>
              <a:tr h="822960">
                <a:tc>
                  <a:txBody>
                    <a:bodyPr anchor="ctr" rtlCol="false" lIns="0" tIns="0" rIns="0" bIns="0" wrap="square"/>
                    <a:lstStyle/>
                    <a:p>
                      <a:pPr algn="l">
                        <a:lnSpc>
                          <a:spcPts val="2340"/>
                        </a:lnSpc>
                        <a:spcBef>
                          <a:spcPts val="0"/>
                        </a:spcBef>
                        <a:buNone/>
                      </a:pPr>
                      <a:r>
                        <a:rPr lang="en-US" sz="1800" b="true">
                          <a:solidFill>
                            <a:srgbClr val="111111"/>
                          </a:solidFill>
                          <a:latin typeface="Nunito Bold"/>
                          <a:ea typeface="Nunito Bold"/>
                          <a:cs typeface="Nunito Bold"/>
                          <a:sym typeface="Nunito Bold"/>
                        </a:rPr>
                        <a:t>O1  ·  Recommendation as a cooperative game</a:t>
                      </a:r>
                    </a:p>
                  </a:txBody>
                  <a:tcPr marL="82296" marR="82296"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c>
                  <a:txBody>
                    <a:bodyPr anchor="ctr" rtlCol="false" lIns="0" tIns="0" rIns="0" bIns="0" wrap="square"/>
                    <a:lstStyle/>
                    <a:p>
                      <a:pPr algn="l">
                        <a:lnSpc>
                          <a:spcPts val="2340"/>
                        </a:lnSpc>
                        <a:spcBef>
                          <a:spcPts val="0"/>
                        </a:spcBef>
                        <a:buNone/>
                      </a:pPr>
                      <a:r>
                        <a:rPr lang="en-US" sz="1800" b="true">
                          <a:solidFill>
                            <a:srgbClr val="111111"/>
                          </a:solidFill>
                          <a:latin typeface="Nunito Semi-Bold"/>
                          <a:ea typeface="Nunito Semi-Bold"/>
                          <a:cs typeface="Nunito Semi-Bold"/>
                          <a:sym typeface="Nunito Semi-Bold"/>
                        </a:rPr>
                        <a:t>Users, items and contexts are the </a:t>
                      </a:r>
                      <a:r>
                        <a:rPr lang="en-US" sz="1800" b="true">
                          <a:solidFill>
                            <a:srgbClr val="111111"/>
                          </a:solidFill>
                          <a:latin typeface="Nunito Bold"/>
                          <a:ea typeface="Nunito Bold"/>
                          <a:cs typeface="Nunito Bold"/>
                          <a:sym typeface="Nunito Bold"/>
                        </a:rPr>
                        <a:t>players</a:t>
                      </a:r>
                      <a:r>
                        <a:rPr lang="en-US" sz="1800" b="true">
                          <a:solidFill>
                            <a:srgbClr val="111111"/>
                          </a:solidFill>
                          <a:latin typeface="Nunito Semi-Bold"/>
                          <a:ea typeface="Nunito Semi-Bold"/>
                          <a:cs typeface="Nunito Semi-Bold"/>
                          <a:sym typeface="Nunito Semi-Bold"/>
                        </a:rPr>
                        <a:t>; the coalition utility mixes accuracy, diversity and novelty.</a:t>
                      </a:r>
                    </a:p>
                  </a:txBody>
                  <a:tcPr marL="82296" marR="82296"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c>
                  <a:txBody>
                    <a:bodyPr anchor="ctr" rtlCol="false" lIns="0" tIns="0" rIns="0" bIns="0" wrap="square"/>
                    <a:lstStyle/>
                    <a:p>
                      <a:pPr algn="l">
                        <a:lnSpc>
                          <a:spcPts val="2340"/>
                        </a:lnSpc>
                        <a:spcBef>
                          <a:spcPts val="0"/>
                        </a:spcBef>
                        <a:buNone/>
                      </a:pPr>
                      <a:r>
                        <a:rPr lang="en-US" sz="1800" b="true">
                          <a:solidFill>
                            <a:srgbClr val="111111"/>
                          </a:solidFill>
                          <a:latin typeface="Nunito Semi-Bold"/>
                          <a:ea typeface="Nunito Semi-Bold"/>
                          <a:cs typeface="Nunito Semi-Bold"/>
                          <a:sym typeface="Nunito Semi-Bold"/>
                        </a:rPr>
                        <a:t>Game formulation, value function</a:t>
                      </a:r>
                    </a:p>
                  </a:txBody>
                  <a:tcPr marL="82296" marR="82296"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r>
              <a:tr h="822960">
                <a:tc>
                  <a:txBody>
                    <a:bodyPr anchor="ctr" rtlCol="false" lIns="0" tIns="0" rIns="0" bIns="0" wrap="square"/>
                    <a:lstStyle/>
                    <a:p>
                      <a:pPr algn="l">
                        <a:lnSpc>
                          <a:spcPts val="2340"/>
                        </a:lnSpc>
                        <a:spcBef>
                          <a:spcPts val="0"/>
                        </a:spcBef>
                        <a:buNone/>
                      </a:pPr>
                      <a:r>
                        <a:rPr lang="en-US" sz="1800" b="true">
                          <a:solidFill>
                            <a:srgbClr val="111111"/>
                          </a:solidFill>
                          <a:latin typeface="Nunito Bold"/>
                          <a:ea typeface="Nunito Bold"/>
                          <a:cs typeface="Nunito Bold"/>
                          <a:sym typeface="Nunito Bold"/>
                        </a:rPr>
                        <a:t>O2  ·  Shapley inside message passing</a:t>
                      </a:r>
                    </a:p>
                  </a:txBody>
                  <a:tcPr marL="82296" marR="82296"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6ECDF"/>
                    </a:solidFill>
                  </a:tcPr>
                </a:tc>
                <a:tc>
                  <a:txBody>
                    <a:bodyPr anchor="ctr" rtlCol="false" lIns="0" tIns="0" rIns="0" bIns="0" wrap="square"/>
                    <a:lstStyle/>
                    <a:p>
                      <a:pPr algn="l">
                        <a:lnSpc>
                          <a:spcPts val="2340"/>
                        </a:lnSpc>
                        <a:spcBef>
                          <a:spcPts val="0"/>
                        </a:spcBef>
                        <a:buNone/>
                      </a:pPr>
                      <a:r>
                        <a:rPr lang="en-US" sz="1800" b="true">
                          <a:solidFill>
                            <a:srgbClr val="111111"/>
                          </a:solidFill>
                          <a:latin typeface="Nunito Bold"/>
                          <a:ea typeface="Nunito Bold"/>
                          <a:cs typeface="Nunito Bold"/>
                          <a:sym typeface="Nunito Bold"/>
                        </a:rPr>
                        <a:t>Preference-aware Monte Carlo Shapley</a:t>
                      </a:r>
                      <a:r>
                        <a:rPr lang="en-US" sz="1800" b="true">
                          <a:solidFill>
                            <a:srgbClr val="111111"/>
                          </a:solidFill>
                          <a:latin typeface="Nunito Semi-Bold"/>
                          <a:ea typeface="Nunito Semi-Bold"/>
                          <a:cs typeface="Nunito Semi-Bold"/>
                          <a:sym typeface="Nunito Semi-Bold"/>
                        </a:rPr>
                        <a:t> estimates become dynamic hyperedge weights during training.</a:t>
                      </a:r>
                    </a:p>
                  </a:txBody>
                  <a:tcPr marL="82296" marR="82296"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6ECDF"/>
                    </a:solidFill>
                  </a:tcPr>
                </a:tc>
                <a:tc>
                  <a:txBody>
                    <a:bodyPr anchor="ctr" rtlCol="false" lIns="0" tIns="0" rIns="0" bIns="0" wrap="square"/>
                    <a:lstStyle/>
                    <a:p>
                      <a:pPr algn="l">
                        <a:lnSpc>
                          <a:spcPts val="2340"/>
                        </a:lnSpc>
                        <a:spcBef>
                          <a:spcPts val="0"/>
                        </a:spcBef>
                        <a:buNone/>
                      </a:pPr>
                      <a:r>
                        <a:rPr lang="en-US" sz="1800" b="true">
                          <a:solidFill>
                            <a:srgbClr val="111111"/>
                          </a:solidFill>
                          <a:latin typeface="Nunito Semi-Bold"/>
                          <a:ea typeface="Nunito Semi-Bold"/>
                          <a:cs typeface="Nunito Semi-Bold"/>
                          <a:sym typeface="Nunito Semi-Bold"/>
                        </a:rPr>
                        <a:t>MC Shapley, architecture</a:t>
                      </a:r>
                    </a:p>
                  </a:txBody>
                  <a:tcPr marL="82296" marR="82296"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6ECDF"/>
                    </a:solidFill>
                  </a:tcPr>
                </a:tc>
              </a:tr>
              <a:tr h="822960">
                <a:tc>
                  <a:txBody>
                    <a:bodyPr anchor="ctr" rtlCol="false" lIns="0" tIns="0" rIns="0" bIns="0" wrap="square"/>
                    <a:lstStyle/>
                    <a:p>
                      <a:pPr algn="l">
                        <a:lnSpc>
                          <a:spcPts val="2340"/>
                        </a:lnSpc>
                        <a:spcBef>
                          <a:spcPts val="0"/>
                        </a:spcBef>
                        <a:buNone/>
                      </a:pPr>
                      <a:r>
                        <a:rPr lang="en-US" sz="1800" b="true">
                          <a:solidFill>
                            <a:srgbClr val="111111"/>
                          </a:solidFill>
                          <a:latin typeface="Nunito Bold"/>
                          <a:ea typeface="Nunito Bold"/>
                          <a:cs typeface="Nunito Bold"/>
                          <a:sym typeface="Nunito Bold"/>
                        </a:rPr>
                        <a:t>O3  ·  Accuracy, coverage and diversity together</a:t>
                      </a:r>
                    </a:p>
                  </a:txBody>
                  <a:tcPr marL="82296" marR="82296"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c>
                  <a:txBody>
                    <a:bodyPr anchor="ctr" rtlCol="false" lIns="0" tIns="0" rIns="0" bIns="0" wrap="square"/>
                    <a:lstStyle/>
                    <a:p>
                      <a:pPr algn="l">
                        <a:lnSpc>
                          <a:spcPts val="2340"/>
                        </a:lnSpc>
                        <a:spcBef>
                          <a:spcPts val="0"/>
                        </a:spcBef>
                        <a:buNone/>
                      </a:pPr>
                      <a:r>
                        <a:rPr lang="en-US" sz="1800" b="true">
                          <a:solidFill>
                            <a:srgbClr val="111111"/>
                          </a:solidFill>
                          <a:latin typeface="Nunito Semi-Bold"/>
                          <a:ea typeface="Nunito Semi-Bold"/>
                          <a:cs typeface="Nunito Semi-Bold"/>
                          <a:sym typeface="Nunito Semi-Bold"/>
                        </a:rPr>
                        <a:t>Better NDCG and Recall </a:t>
                      </a:r>
                      <a:r>
                        <a:rPr lang="en-US" sz="1800" b="true">
                          <a:solidFill>
                            <a:srgbClr val="111111"/>
                          </a:solidFill>
                          <a:latin typeface="Nunito Bold"/>
                          <a:ea typeface="Nunito Bold"/>
                          <a:cs typeface="Nunito Bold"/>
                          <a:sym typeface="Nunito Bold"/>
                        </a:rPr>
                        <a:t>and</a:t>
                      </a:r>
                      <a:r>
                        <a:rPr lang="en-US" sz="1800" b="true">
                          <a:solidFill>
                            <a:srgbClr val="111111"/>
                          </a:solidFill>
                          <a:latin typeface="Nunito Semi-Bold"/>
                          <a:ea typeface="Nunito Semi-Bold"/>
                          <a:cs typeface="Nunito Semi-Bold"/>
                          <a:sym typeface="Nunito Semi-Bold"/>
                        </a:rPr>
                        <a:t> higher Coverage and ILD than the strongest baseline, on two datasets.</a:t>
                      </a:r>
                    </a:p>
                  </a:txBody>
                  <a:tcPr marL="82296" marR="82296"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c>
                  <a:txBody>
                    <a:bodyPr anchor="ctr" rtlCol="false" lIns="0" tIns="0" rIns="0" bIns="0" wrap="square"/>
                    <a:lstStyle/>
                    <a:p>
                      <a:pPr algn="l">
                        <a:lnSpc>
                          <a:spcPts val="2340"/>
                        </a:lnSpc>
                        <a:spcBef>
                          <a:spcPts val="0"/>
                        </a:spcBef>
                        <a:buNone/>
                      </a:pPr>
                      <a:r>
                        <a:rPr lang="en-US" sz="1800" b="true">
                          <a:solidFill>
                            <a:srgbClr val="111111"/>
                          </a:solidFill>
                          <a:latin typeface="Nunito Semi-Bold"/>
                          <a:ea typeface="Nunito Semi-Bold"/>
                          <a:cs typeface="Nunito Semi-Bold"/>
                          <a:sym typeface="Nunito Semi-Bold"/>
                        </a:rPr>
                        <a:t>Table 7.1, Fig. 7.2, 7.3</a:t>
                      </a:r>
                    </a:p>
                  </a:txBody>
                  <a:tcPr marL="82296" marR="82296"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r>
            </a:tbl>
          </a:graphicData>
        </a:graphic>
      </p:graphicFrame>
    </p:spTree>
  </p:cSld>
  <p:clrMapOvr>
    <a:masterClrMapping/>
  </p:clrMapOvr>
</p:sld>
</file>

<file path=ppt/slides/slide6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pic>
        <p:nvPicPr>
          <p:cNvPr id="2" name="Picture 1" descr="ensias_logo.jpg"/>
          <p:cNvPicPr>
            <a:picLocks noChangeAspect="1"/>
          </p:cNvPicPr>
          <p:nvPr/>
        </p:nvPicPr>
        <p:blipFill>
          <a:blip r:embed="rId2"/>
          <a:stretch>
            <a:fillRect/>
          </a:stretch>
        </p:blipFill>
        <p:spPr>
          <a:xfrm>
            <a:off x="1028700" y="9674352"/>
            <a:ext cx="542964" cy="384048"/>
          </a:xfrm>
          <a:prstGeom prst="rect">
            <a:avLst/>
          </a:prstGeom>
        </p:spPr>
      </p:pic>
      <p:sp>
        <p:nvSpPr>
          <p:cNvPr id="3" name="TextBox 2"/>
          <p:cNvSpPr txBox="1"/>
          <p:nvPr/>
        </p:nvSpPr>
        <p:spPr>
          <a:xfrm>
            <a:off x="1577340" y="9747504"/>
            <a:ext cx="12801600" cy="274320"/>
          </a:xfrm>
          <a:prstGeom prst="rect">
            <a:avLst/>
          </a:prstGeom>
          <a:noFill/>
        </p:spPr>
        <p:txBody>
          <a:bodyPr anchor="t" rtlCol="false" lIns="0" tIns="0" rIns="0" bIns="0" wrap="square"/>
          <a:lstStyle/>
          <a:p>
            <a:pPr algn="l">
              <a:lnSpc>
                <a:spcPts val="1600"/>
              </a:lnSpc>
              <a:spcBef>
                <a:spcPts val="0"/>
              </a:spcBef>
              <a:buNone/>
            </a:pPr>
            <a:r>
              <a:rPr lang="en-US" sz="1300" b="true">
                <a:solidFill>
                  <a:srgbClr val="8A8378"/>
                </a:solidFill>
                <a:latin typeface="Nunito Bold"/>
                <a:ea typeface="Nunito Bold"/>
                <a:cs typeface="Nunito Bold"/>
                <a:sym typeface="Nunito Bold"/>
              </a:rPr>
              <a:t>Cooperative Game Theory for Explainable AI in Recommendation Systems  ·  A Shapley Framework for Actionable Insight</a:t>
            </a:r>
          </a:p>
        </p:txBody>
      </p:sp>
      <p:sp>
        <p:nvSpPr>
          <p:cNvPr id="4" name="TextBox 3"/>
          <p:cNvSpPr txBox="1"/>
          <p:nvPr/>
        </p:nvSpPr>
        <p:spPr>
          <a:xfrm>
            <a:off x="16162020" y="9692640"/>
            <a:ext cx="1097280" cy="329184"/>
          </a:xfrm>
          <a:prstGeom prst="rect">
            <a:avLst/>
          </a:prstGeom>
          <a:noFill/>
        </p:spPr>
        <p:txBody>
          <a:bodyPr anchor="t" rtlCol="false" lIns="0" tIns="0" rIns="0" bIns="0" wrap="square"/>
          <a:lstStyle/>
          <a:p>
            <a:pPr algn="r">
              <a:lnSpc>
                <a:spcPts val="2200"/>
              </a:lnSpc>
              <a:spcBef>
                <a:spcPts val="0"/>
              </a:spcBef>
              <a:buNone/>
            </a:pPr>
            <a:r>
              <a:rPr lang="en-US" sz="1800" b="true">
                <a:solidFill>
                  <a:srgbClr val="111111"/>
                </a:solidFill>
                <a:latin typeface="Nunito Ultra-Bold"/>
                <a:ea typeface="Nunito Ultra-Bold"/>
                <a:cs typeface="Nunito Ultra-Bold"/>
                <a:sym typeface="Nunito Ultra-Bold"/>
              </a:rPr>
              <a:t>54</a:t>
            </a:r>
          </a:p>
        </p:txBody>
      </p:sp>
      <p:sp>
        <p:nvSpPr>
          <p:cNvPr id="5" name="TextBox 4"/>
          <p:cNvSpPr txBox="1"/>
          <p:nvPr/>
        </p:nvSpPr>
        <p:spPr>
          <a:xfrm>
            <a:off x="1028700" y="1389888"/>
            <a:ext cx="12938760" cy="329184"/>
          </a:xfrm>
          <a:prstGeom prst="rect">
            <a:avLst/>
          </a:prstGeom>
          <a:noFill/>
        </p:spPr>
        <p:txBody>
          <a:bodyPr anchor="t" rtlCol="false" lIns="0" tIns="0" rIns="0" bIns="0" wrap="square"/>
          <a:lstStyle/>
          <a:p>
            <a:pPr algn="l">
              <a:lnSpc>
                <a:spcPts val="2000"/>
              </a:lnSpc>
              <a:spcBef>
                <a:spcPts val="0"/>
              </a:spcBef>
              <a:buNone/>
            </a:pPr>
            <a:r>
              <a:rPr lang="en-US" sz="1500" b="true" spc="160">
                <a:solidFill>
                  <a:srgbClr val="1F7A8C"/>
                </a:solidFill>
                <a:latin typeface="Nunito Ultra-Bold"/>
                <a:ea typeface="Nunito Ultra-Bold"/>
                <a:cs typeface="Nunito Ultra-Bold"/>
                <a:sym typeface="Nunito Ultra-Bold"/>
              </a:rPr>
              <a:t>CONTRIBUTION III: DYHUCOG, A DYNAMIC HYPERGRAPH COOPERATIVE GAME</a:t>
            </a:r>
          </a:p>
        </p:txBody>
      </p:sp>
      <p:sp>
        <p:nvSpPr>
          <p:cNvPr id="6" name="Rounded Rectangle 5"/>
          <p:cNvSpPr/>
          <p:nvPr/>
        </p:nvSpPr>
        <p:spPr>
          <a:xfrm>
            <a:off x="14516100"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7" name="TextBox 6"/>
          <p:cNvSpPr txBox="1"/>
          <p:nvPr/>
        </p:nvSpPr>
        <p:spPr>
          <a:xfrm>
            <a:off x="14516100"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1</a:t>
            </a:r>
          </a:p>
        </p:txBody>
      </p:sp>
      <p:sp>
        <p:nvSpPr>
          <p:cNvPr id="8" name="Rounded Rectangle 7"/>
          <p:cNvSpPr/>
          <p:nvPr/>
        </p:nvSpPr>
        <p:spPr>
          <a:xfrm>
            <a:off x="14918436"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9" name="TextBox 8"/>
          <p:cNvSpPr txBox="1"/>
          <p:nvPr/>
        </p:nvSpPr>
        <p:spPr>
          <a:xfrm>
            <a:off x="14918436"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2</a:t>
            </a:r>
          </a:p>
        </p:txBody>
      </p:sp>
      <p:sp>
        <p:nvSpPr>
          <p:cNvPr id="10" name="Rounded Rectangle 9"/>
          <p:cNvSpPr/>
          <p:nvPr/>
        </p:nvSpPr>
        <p:spPr>
          <a:xfrm>
            <a:off x="15320772"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11" name="TextBox 10"/>
          <p:cNvSpPr txBox="1"/>
          <p:nvPr/>
        </p:nvSpPr>
        <p:spPr>
          <a:xfrm>
            <a:off x="15320772"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3</a:t>
            </a:r>
          </a:p>
        </p:txBody>
      </p:sp>
      <p:sp>
        <p:nvSpPr>
          <p:cNvPr id="12" name="Rounded Rectangle 11"/>
          <p:cNvSpPr/>
          <p:nvPr/>
        </p:nvSpPr>
        <p:spPr>
          <a:xfrm>
            <a:off x="15723108"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13" name="TextBox 12"/>
          <p:cNvSpPr txBox="1"/>
          <p:nvPr/>
        </p:nvSpPr>
        <p:spPr>
          <a:xfrm>
            <a:off x="15723108"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4</a:t>
            </a:r>
          </a:p>
        </p:txBody>
      </p:sp>
      <p:sp>
        <p:nvSpPr>
          <p:cNvPr id="14" name="Rounded Rectangle 13"/>
          <p:cNvSpPr/>
          <p:nvPr/>
        </p:nvSpPr>
        <p:spPr>
          <a:xfrm>
            <a:off x="16125444"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15" name="TextBox 14"/>
          <p:cNvSpPr txBox="1"/>
          <p:nvPr/>
        </p:nvSpPr>
        <p:spPr>
          <a:xfrm>
            <a:off x="16125444"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5</a:t>
            </a:r>
          </a:p>
        </p:txBody>
      </p:sp>
      <p:sp>
        <p:nvSpPr>
          <p:cNvPr id="16" name="Rounded Rectangle 15"/>
          <p:cNvSpPr/>
          <p:nvPr/>
        </p:nvSpPr>
        <p:spPr>
          <a:xfrm>
            <a:off x="16527780" y="1371600"/>
            <a:ext cx="329184" cy="329184"/>
          </a:xfrm>
          <a:prstGeom prst="roundRect">
            <a:avLst>
              <a:gd name="adj" fmla="val 16666"/>
            </a:avLst>
          </a:prstGeom>
          <a:solidFill>
            <a:srgbClr val="4472C4"/>
          </a:solidFill>
          <a:ln w="15875">
            <a:solidFill>
              <a:srgbClr val="4472C4"/>
            </a:solidFill>
          </a:ln>
        </p:spPr>
        <p:txBody>
          <a:bodyPr anchor="ctr" rtlCol="false" lIns="0" tIns="0" rIns="0" bIns="0" wrap="square"/>
          <a:lstStyle/>
          <a:p>
            <a:endParaRPr lang="en-US" sz="1800"/>
          </a:p>
        </p:txBody>
      </p:sp>
      <p:sp>
        <p:nvSpPr>
          <p:cNvPr id="17" name="TextBox 16"/>
          <p:cNvSpPr txBox="1"/>
          <p:nvPr/>
        </p:nvSpPr>
        <p:spPr>
          <a:xfrm>
            <a:off x="16527780"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FFFFFF"/>
                </a:solidFill>
                <a:latin typeface="Nunito Ultra-Bold"/>
                <a:ea typeface="Nunito Ultra-Bold"/>
                <a:cs typeface="Nunito Ultra-Bold"/>
                <a:sym typeface="Nunito Ultra-Bold"/>
              </a:rPr>
              <a:t>6</a:t>
            </a:r>
          </a:p>
        </p:txBody>
      </p:sp>
      <p:sp>
        <p:nvSpPr>
          <p:cNvPr id="18" name="Rounded Rectangle 17"/>
          <p:cNvSpPr/>
          <p:nvPr/>
        </p:nvSpPr>
        <p:spPr>
          <a:xfrm>
            <a:off x="16930116"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19" name="TextBox 18"/>
          <p:cNvSpPr txBox="1"/>
          <p:nvPr/>
        </p:nvSpPr>
        <p:spPr>
          <a:xfrm>
            <a:off x="16930116"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7</a:t>
            </a:r>
          </a:p>
        </p:txBody>
      </p:sp>
      <p:sp>
        <p:nvSpPr>
          <p:cNvPr id="20" name="TextBox 19"/>
          <p:cNvSpPr txBox="1"/>
          <p:nvPr/>
        </p:nvSpPr>
        <p:spPr>
          <a:xfrm>
            <a:off x="1028700" y="1719072"/>
            <a:ext cx="16230600" cy="730250"/>
          </a:xfrm>
          <a:prstGeom prst="rect">
            <a:avLst/>
          </a:prstGeom>
          <a:noFill/>
        </p:spPr>
        <p:txBody>
          <a:bodyPr anchor="t" rtlCol="false" lIns="0" tIns="0" rIns="0" bIns="0" wrap="square"/>
          <a:lstStyle/>
          <a:p>
            <a:pPr algn="l">
              <a:lnSpc>
                <a:spcPts val="5060"/>
              </a:lnSpc>
              <a:spcBef>
                <a:spcPts val="0"/>
              </a:spcBef>
              <a:buNone/>
            </a:pPr>
            <a:r>
              <a:rPr lang="en-US" sz="4600" b="true" spc="-230">
                <a:solidFill>
                  <a:srgbClr val="111111"/>
                </a:solidFill>
                <a:latin typeface="Roca Two Bold"/>
                <a:ea typeface="Roca Two Bold"/>
                <a:cs typeface="Roca Two Bold"/>
                <a:sym typeface="Roca Two Bold"/>
              </a:rPr>
              <a:t>Recommendation as a Cooperative Game</a:t>
            </a:r>
          </a:p>
        </p:txBody>
      </p:sp>
      <p:sp>
        <p:nvSpPr>
          <p:cNvPr id="21" name="Rounded Rectangle 20"/>
          <p:cNvSpPr/>
          <p:nvPr/>
        </p:nvSpPr>
        <p:spPr>
          <a:xfrm>
            <a:off x="1028700" y="2559050"/>
            <a:ext cx="1691553" cy="420624"/>
          </a:xfrm>
          <a:prstGeom prst="roundRect">
            <a:avLst>
              <a:gd name="adj" fmla="val 50000"/>
            </a:avLst>
          </a:prstGeom>
          <a:noFill/>
          <a:ln w="28575">
            <a:solidFill>
              <a:srgbClr val="4472C4"/>
            </a:solidFill>
          </a:ln>
        </p:spPr>
        <p:txBody>
          <a:bodyPr anchor="ctr" rtlCol="false" lIns="45720" tIns="0" rIns="45720" bIns="0" wrap="square"/>
          <a:lstStyle/>
          <a:p>
            <a:pPr algn="ctr">
              <a:lnSpc>
                <a:spcPts val="2160"/>
              </a:lnSpc>
              <a:spcBef>
                <a:spcPts val="0"/>
              </a:spcBef>
              <a:buNone/>
            </a:pPr>
            <a:r>
              <a:rPr lang="en-US" sz="1800" b="true">
                <a:solidFill>
                  <a:srgbClr val="4472C4"/>
                </a:solidFill>
                <a:latin typeface="Nunito Bold"/>
                <a:ea typeface="Nunito Bold"/>
                <a:cs typeface="Nunito Bold"/>
                <a:sym typeface="Nunito Bold"/>
              </a:rPr>
              <a:t>Objectives</a:t>
            </a:r>
          </a:p>
        </p:txBody>
      </p:sp>
      <p:sp>
        <p:nvSpPr>
          <p:cNvPr id="22" name="Rounded Rectangle 21"/>
          <p:cNvSpPr/>
          <p:nvPr/>
        </p:nvSpPr>
        <p:spPr>
          <a:xfrm>
            <a:off x="2848269" y="2559050"/>
            <a:ext cx="1998119" cy="420624"/>
          </a:xfrm>
          <a:prstGeom prst="roundRect">
            <a:avLst>
              <a:gd name="adj" fmla="val 50000"/>
            </a:avLst>
          </a:prstGeom>
          <a:solidFill>
            <a:srgbClr val="4472C4"/>
          </a:solidFill>
          <a:ln>
            <a:noFill/>
          </a:ln>
        </p:spPr>
        <p:txBody>
          <a:bodyPr anchor="ctr" rtlCol="false" lIns="45720" tIns="0" rIns="45720" bIns="0" wrap="square"/>
          <a:lstStyle/>
          <a:p>
            <a:pPr algn="ctr">
              <a:lnSpc>
                <a:spcPts val="2160"/>
              </a:lnSpc>
              <a:spcBef>
                <a:spcPts val="0"/>
              </a:spcBef>
              <a:buNone/>
            </a:pPr>
            <a:r>
              <a:rPr lang="en-US" sz="1800" b="true">
                <a:solidFill>
                  <a:srgbClr val="FFFFFF"/>
                </a:solidFill>
                <a:latin typeface="Nunito Bold"/>
                <a:ea typeface="Nunito Bold"/>
                <a:cs typeface="Nunito Bold"/>
                <a:sym typeface="Nunito Bold"/>
              </a:rPr>
              <a:t>Methodology</a:t>
            </a:r>
          </a:p>
        </p:txBody>
      </p:sp>
      <p:sp>
        <p:nvSpPr>
          <p:cNvPr id="23" name="Rounded Rectangle 22"/>
          <p:cNvSpPr/>
          <p:nvPr/>
        </p:nvSpPr>
        <p:spPr>
          <a:xfrm>
            <a:off x="4974404" y="2559050"/>
            <a:ext cx="1369446" cy="420624"/>
          </a:xfrm>
          <a:prstGeom prst="roundRect">
            <a:avLst>
              <a:gd name="adj" fmla="val 50000"/>
            </a:avLst>
          </a:prstGeom>
          <a:noFill/>
          <a:ln w="28575">
            <a:solidFill>
              <a:srgbClr val="4472C4"/>
            </a:solidFill>
          </a:ln>
        </p:spPr>
        <p:txBody>
          <a:bodyPr anchor="ctr" rtlCol="false" lIns="45720" tIns="0" rIns="45720" bIns="0" wrap="square"/>
          <a:lstStyle/>
          <a:p>
            <a:pPr algn="ctr">
              <a:lnSpc>
                <a:spcPts val="2160"/>
              </a:lnSpc>
              <a:spcBef>
                <a:spcPts val="0"/>
              </a:spcBef>
              <a:buNone/>
            </a:pPr>
            <a:r>
              <a:rPr lang="en-US" sz="1800" b="true">
                <a:solidFill>
                  <a:srgbClr val="4472C4"/>
                </a:solidFill>
                <a:latin typeface="Nunito Bold"/>
                <a:ea typeface="Nunito Bold"/>
                <a:cs typeface="Nunito Bold"/>
                <a:sym typeface="Nunito Bold"/>
              </a:rPr>
              <a:t>Results</a:t>
            </a:r>
          </a:p>
        </p:txBody>
      </p:sp>
      <p:sp>
        <p:nvSpPr>
          <p:cNvPr id="24" name="Rounded Rectangle 23"/>
          <p:cNvSpPr/>
          <p:nvPr/>
        </p:nvSpPr>
        <p:spPr>
          <a:xfrm>
            <a:off x="6471866" y="2559050"/>
            <a:ext cx="1474931" cy="420624"/>
          </a:xfrm>
          <a:prstGeom prst="roundRect">
            <a:avLst>
              <a:gd name="adj" fmla="val 50000"/>
            </a:avLst>
          </a:prstGeom>
          <a:noFill/>
          <a:ln w="28575">
            <a:solidFill>
              <a:srgbClr val="4472C4"/>
            </a:solidFill>
          </a:ln>
        </p:spPr>
        <p:txBody>
          <a:bodyPr anchor="ctr" rtlCol="false" lIns="45720" tIns="0" rIns="45720" bIns="0" wrap="square"/>
          <a:lstStyle/>
          <a:p>
            <a:pPr algn="ctr">
              <a:lnSpc>
                <a:spcPts val="2160"/>
              </a:lnSpc>
              <a:spcBef>
                <a:spcPts val="0"/>
              </a:spcBef>
              <a:buNone/>
            </a:pPr>
            <a:r>
              <a:rPr lang="en-US" sz="1800" b="true">
                <a:solidFill>
                  <a:srgbClr val="4472C4"/>
                </a:solidFill>
                <a:latin typeface="Nunito Bold"/>
                <a:ea typeface="Nunito Bold"/>
                <a:cs typeface="Nunito Bold"/>
                <a:sym typeface="Nunito Bold"/>
              </a:rPr>
              <a:t>Findings</a:t>
            </a:r>
          </a:p>
        </p:txBody>
      </p:sp>
      <p:sp>
        <p:nvSpPr>
          <p:cNvPr id="25" name="TextBox 24"/>
          <p:cNvSpPr txBox="1"/>
          <p:nvPr/>
        </p:nvSpPr>
        <p:spPr>
          <a:xfrm>
            <a:off x="1028700" y="3363722"/>
            <a:ext cx="7863840" cy="2194560"/>
          </a:xfrm>
          <a:prstGeom prst="rect">
            <a:avLst/>
          </a:prstGeom>
          <a:noFill/>
        </p:spPr>
        <p:txBody>
          <a:bodyPr anchor="t" rtlCol="false" lIns="0" tIns="0" rIns="0" bIns="0" wrap="square"/>
          <a:lstStyle/>
          <a:p>
            <a:pPr algn="l" marL="274320" indent="-274320">
              <a:lnSpc>
                <a:spcPts val="2764"/>
              </a:lnSpc>
              <a:spcBef>
                <a:spcPts val="0"/>
              </a:spcBef>
              <a:buClr>
                <a:srgbClr val="1F7A8C"/>
              </a:buClr>
              <a:buSzPct val="100000"/>
              <a:buFont typeface="Arial"/>
              <a:buChar char="•"/>
            </a:pPr>
            <a:r>
              <a:rPr lang="en-US" sz="1974" b="true">
                <a:solidFill>
                  <a:srgbClr val="111111"/>
                </a:solidFill>
                <a:latin typeface="Nunito Bold"/>
                <a:ea typeface="Nunito Bold"/>
                <a:cs typeface="Nunito Bold"/>
                <a:sym typeface="Nunito Bold"/>
              </a:rPr>
              <a:t>Player set N = U </a:t>
            </a:r>
            <a:r>
              <a:rPr lang="en-US" sz="1974" b="true">
                <a:solidFill>
                  <a:srgbClr val="111111"/>
                </a:solidFill>
                <a:latin typeface="Cambria Math"/>
                <a:ea typeface="Cambria Math"/>
                <a:cs typeface="Cambria Math"/>
                <a:sym typeface="Cambria Math"/>
              </a:rPr>
              <a:t>∪ </a:t>
            </a:r>
            <a:r>
              <a:rPr lang="en-US" sz="1974" b="true">
                <a:solidFill>
                  <a:srgbClr val="111111"/>
                </a:solidFill>
                <a:latin typeface="Nunito Bold"/>
                <a:ea typeface="Nunito Bold"/>
                <a:cs typeface="Nunito Bold"/>
                <a:sym typeface="Nunito Bold"/>
              </a:rPr>
              <a:t>I </a:t>
            </a:r>
            <a:r>
              <a:rPr lang="en-US" sz="1974" b="true">
                <a:solidFill>
                  <a:srgbClr val="111111"/>
                </a:solidFill>
                <a:latin typeface="Cambria Math"/>
                <a:ea typeface="Cambria Math"/>
                <a:cs typeface="Cambria Math"/>
                <a:sym typeface="Cambria Math"/>
              </a:rPr>
              <a:t>∪ </a:t>
            </a:r>
            <a:r>
              <a:rPr lang="en-US" sz="1974" b="true">
                <a:solidFill>
                  <a:srgbClr val="111111"/>
                </a:solidFill>
                <a:latin typeface="Nunito Bold"/>
                <a:ea typeface="Nunito Bold"/>
                <a:cs typeface="Nunito Bold"/>
                <a:sym typeface="Nunito Bold"/>
              </a:rPr>
              <a:t>C</a:t>
            </a:r>
            <a:r>
              <a:rPr lang="en-US" sz="1974" b="true">
                <a:solidFill>
                  <a:srgbClr val="111111"/>
                </a:solidFill>
                <a:latin typeface="Nunito Semi-Bold"/>
                <a:ea typeface="Nunito Semi-Bold"/>
                <a:cs typeface="Nunito Semi-Bold"/>
                <a:sym typeface="Nunito Semi-Bold"/>
              </a:rPr>
              <a:t> (users, items, contexts).</a:t>
            </a:r>
          </a:p>
          <a:p>
            <a:pPr algn="l" marL="274320" indent="-274320">
              <a:lnSpc>
                <a:spcPts val="2764"/>
              </a:lnSpc>
              <a:spcBef>
                <a:spcPts val="1128"/>
              </a:spcBef>
              <a:buClr>
                <a:srgbClr val="1F7A8C"/>
              </a:buClr>
              <a:buSzPct val="100000"/>
              <a:buFont typeface="Arial"/>
              <a:buChar char="•"/>
            </a:pPr>
            <a:r>
              <a:rPr lang="en-US" sz="1974" b="true">
                <a:solidFill>
                  <a:srgbClr val="111111"/>
                </a:solidFill>
                <a:latin typeface="Nunito Bold"/>
                <a:ea typeface="Nunito Bold"/>
                <a:cs typeface="Nunito Bold"/>
                <a:sym typeface="Nunito Bold"/>
              </a:rPr>
              <a:t>Hypergraph H = (V, E, W)</a:t>
            </a:r>
            <a:r>
              <a:rPr lang="en-US" sz="1974" b="true">
                <a:solidFill>
                  <a:srgbClr val="111111"/>
                </a:solidFill>
                <a:latin typeface="Nunito Semi-Bold"/>
                <a:ea typeface="Nunito Semi-Bold"/>
                <a:cs typeface="Nunito Semi-Bold"/>
                <a:sym typeface="Nunito Semi-Bold"/>
              </a:rPr>
              <a:t>; V = U </a:t>
            </a:r>
            <a:r>
              <a:rPr lang="en-US" sz="1974" b="true">
                <a:solidFill>
                  <a:srgbClr val="111111"/>
                </a:solidFill>
                <a:latin typeface="Cambria Math"/>
                <a:ea typeface="Cambria Math"/>
                <a:cs typeface="Cambria Math"/>
                <a:sym typeface="Cambria Math"/>
              </a:rPr>
              <a:t>∪ </a:t>
            </a:r>
            <a:r>
              <a:rPr lang="en-US" sz="1974" b="true">
                <a:solidFill>
                  <a:srgbClr val="111111"/>
                </a:solidFill>
                <a:latin typeface="Nunito Semi-Bold"/>
                <a:ea typeface="Nunito Semi-Bold"/>
                <a:cs typeface="Nunito Semi-Bold"/>
                <a:sym typeface="Nunito Semi-Bold"/>
              </a:rPr>
              <a:t>I </a:t>
            </a:r>
            <a:r>
              <a:rPr lang="en-US" sz="1974" b="true">
                <a:solidFill>
                  <a:srgbClr val="111111"/>
                </a:solidFill>
                <a:latin typeface="Cambria Math"/>
                <a:ea typeface="Cambria Math"/>
                <a:cs typeface="Cambria Math"/>
                <a:sym typeface="Cambria Math"/>
              </a:rPr>
              <a:t>∪ </a:t>
            </a:r>
            <a:r>
              <a:rPr lang="en-US" sz="1974" b="true">
                <a:solidFill>
                  <a:srgbClr val="111111"/>
                </a:solidFill>
                <a:latin typeface="Nunito Semi-Bold"/>
                <a:ea typeface="Nunito Semi-Bold"/>
                <a:cs typeface="Nunito Semi-Bold"/>
                <a:sym typeface="Nunito Semi-Bold"/>
              </a:rPr>
              <a:t>C; </a:t>
            </a:r>
            <a:r>
              <a:rPr lang="en-US" sz="1974" b="true">
                <a:solidFill>
                  <a:srgbClr val="111111"/>
                </a:solidFill>
                <a:latin typeface="Nunito Bold"/>
                <a:ea typeface="Nunito Bold"/>
                <a:cs typeface="Nunito Bold"/>
                <a:sym typeface="Nunito Bold"/>
              </a:rPr>
              <a:t>W = dynamic edge weights</a:t>
            </a:r>
            <a:r>
              <a:rPr lang="en-US" sz="1974" b="true">
                <a:solidFill>
                  <a:srgbClr val="111111"/>
                </a:solidFill>
                <a:latin typeface="Nunito Semi-Bold"/>
                <a:ea typeface="Nunito Semi-Bold"/>
                <a:cs typeface="Nunito Semi-Bold"/>
                <a:sym typeface="Nunito Semi-Bold"/>
              </a:rPr>
              <a:t> from Shapley estimates.</a:t>
            </a:r>
          </a:p>
          <a:p>
            <a:pPr algn="l" marL="274320" indent="-274320">
              <a:lnSpc>
                <a:spcPts val="2764"/>
              </a:lnSpc>
              <a:spcBef>
                <a:spcPts val="1128"/>
              </a:spcBef>
              <a:buClr>
                <a:srgbClr val="1F7A8C"/>
              </a:buClr>
              <a:buSzPct val="100000"/>
              <a:buFont typeface="Arial"/>
              <a:buChar char="•"/>
            </a:pPr>
            <a:r>
              <a:rPr lang="en-US" sz="1974" b="true">
                <a:solidFill>
                  <a:srgbClr val="111111"/>
                </a:solidFill>
                <a:latin typeface="Nunito Semi-Bold"/>
                <a:ea typeface="Nunito Semi-Bold"/>
                <a:cs typeface="Nunito Semi-Bold"/>
                <a:sym typeface="Nunito Semi-Bold"/>
              </a:rPr>
              <a:t>A </a:t>
            </a:r>
            <a:r>
              <a:rPr lang="en-US" sz="1974" b="true">
                <a:solidFill>
                  <a:srgbClr val="111111"/>
                </a:solidFill>
                <a:latin typeface="Nunito Bold"/>
                <a:ea typeface="Nunito Bold"/>
                <a:cs typeface="Nunito Bold"/>
                <a:sym typeface="Nunito Bold"/>
              </a:rPr>
              <a:t>coalition S </a:t>
            </a:r>
            <a:r>
              <a:rPr lang="en-US" sz="1974" b="true">
                <a:solidFill>
                  <a:srgbClr val="111111"/>
                </a:solidFill>
                <a:latin typeface="Cambria Math"/>
                <a:ea typeface="Cambria Math"/>
                <a:cs typeface="Cambria Math"/>
                <a:sym typeface="Cambria Math"/>
              </a:rPr>
              <a:t>⊆ </a:t>
            </a:r>
            <a:r>
              <a:rPr lang="en-US" sz="1974" b="true">
                <a:solidFill>
                  <a:srgbClr val="111111"/>
                </a:solidFill>
                <a:latin typeface="Nunito Bold"/>
                <a:ea typeface="Nunito Bold"/>
                <a:cs typeface="Nunito Bold"/>
                <a:sym typeface="Nunito Bold"/>
              </a:rPr>
              <a:t>N</a:t>
            </a:r>
            <a:r>
              <a:rPr lang="en-US" sz="1974" b="true">
                <a:solidFill>
                  <a:srgbClr val="111111"/>
                </a:solidFill>
                <a:latin typeface="Nunito Semi-Bold"/>
                <a:ea typeface="Nunito Semi-Bold"/>
                <a:cs typeface="Nunito Semi-Bold"/>
                <a:sym typeface="Nunito Semi-Bold"/>
              </a:rPr>
              <a:t> is the set of entities taking part in a recommendation episode.</a:t>
            </a:r>
          </a:p>
        </p:txBody>
      </p:sp>
      <p:sp>
        <p:nvSpPr>
          <p:cNvPr id="26" name="Rounded Rectangle 25"/>
          <p:cNvSpPr/>
          <p:nvPr/>
        </p:nvSpPr>
        <p:spPr>
          <a:xfrm>
            <a:off x="1028700" y="5649722"/>
            <a:ext cx="7863840" cy="1417320"/>
          </a:xfrm>
          <a:prstGeom prst="roundRect">
            <a:avLst>
              <a:gd name="adj" fmla="val 16129"/>
            </a:avLst>
          </a:prstGeom>
          <a:solidFill>
            <a:srgbClr val="4472C4"/>
          </a:solidFill>
          <a:ln>
            <a:noFill/>
          </a:ln>
        </p:spPr>
        <p:txBody>
          <a:bodyPr anchor="ctr" rtlCol="false" lIns="0" tIns="0" rIns="0" bIns="0" wrap="square"/>
          <a:lstStyle/>
          <a:p>
            <a:endParaRPr lang="en-US" sz="1800"/>
          </a:p>
        </p:txBody>
      </p:sp>
      <mc:AlternateContent xmlns:mc="http://schemas.openxmlformats.org/markup-compatibility/2006">
        <mc:Choice xmlns:a14="http://schemas.microsoft.com/office/drawing/2010/main" Requires="a14">
          <p:sp>
            <p:nvSpPr>
              <p:cNvPr id="27" name="Equation"/>
              <p:cNvSpPr txBox="1"/>
              <p:nvPr/>
            </p:nvSpPr>
            <p:spPr>
              <a:xfrm>
                <a:off x="1257300" y="5759450"/>
                <a:ext cx="7406640" cy="658368"/>
              </a:xfrm>
              <a:prstGeom prst="rect">
                <a:avLst/>
              </a:prstGeom>
              <a:noFill/>
            </p:spPr>
            <p:txBody>
              <a:bodyPr wrap="none" rtlCol="0" anchor="ctr" lIns="0" tIns="0" rIns="0" bIns="0"/>
              <a:lstStyle/>
              <a:p>
                <a:pPr algn="ctr"/>
                <a14:m xmlns:m="http://schemas.openxmlformats.org/officeDocument/2006/math">
                  <m:oMathPara>
                    <m:oMathParaPr>
                      <m:jc m:val="centerGroup"/>
                    </m:oMathParaPr>
                    <m:oMath>
                      <m:r>
                        <a:rPr lang="en-US" sz="1800" i="1">
                          <a:solidFill>
                            <a:srgbClr val="FFFFFF"/>
                          </a:solidFill>
                          <a:latin typeface="Cambria Math" panose="02040503050406030204" pitchFamily="18" charset="0"/>
                        </a:rPr>
                        <m:t xml:space="preserve">v</m:t>
                      </m:r>
                      <m:r>
                        <m:rPr>
                          <m:sty m:val="p"/>
                        </m:rPr>
                        <a:rPr lang="en-US" sz="1800">
                          <a:solidFill>
                            <a:srgbClr val="FFFFFF"/>
                          </a:solidFill>
                          <a:latin typeface="Cambria Math" panose="02040503050406030204" pitchFamily="18" charset="0"/>
                        </a:rPr>
                        <m:t xml:space="preserve">(</m:t>
                      </m:r>
                      <m:r>
                        <a:rPr lang="en-US" sz="1800" i="1">
                          <a:solidFill>
                            <a:srgbClr val="FFFFFF"/>
                          </a:solidFill>
                          <a:latin typeface="Cambria Math" panose="02040503050406030204" pitchFamily="18" charset="0"/>
                        </a:rPr>
                        <m:t xml:space="preserve">S</m:t>
                      </m:r>
                      <m:r>
                        <m:rPr>
                          <m:sty m:val="p"/>
                        </m:rPr>
                        <a:rPr lang="en-US" sz="1800">
                          <a:solidFill>
                            <a:srgbClr val="FFFFFF"/>
                          </a:solidFill>
                          <a:latin typeface="Cambria Math" panose="02040503050406030204" pitchFamily="18" charset="0"/>
                        </a:rPr>
                        <m:t xml:space="preserve">)=</m:t>
                      </m:r>
                      <m:r>
                        <a:rPr lang="en-US" sz="1800" i="1">
                          <a:solidFill>
                            <a:srgbClr val="FFFFFF"/>
                          </a:solidFill>
                          <a:latin typeface="Cambria Math" panose="02040503050406030204" pitchFamily="18" charset="0"/>
                        </a:rPr>
                        <m:t xml:space="preserve">α</m:t>
                      </m:r>
                      <m:r>
                        <m:rPr>
                          <m:sty m:val="p"/>
                        </m:rPr>
                        <a:rPr lang="en-US" sz="1800">
                          <a:solidFill>
                            <a:srgbClr val="FFFFFF"/>
                          </a:solidFill>
                          <a:latin typeface="Cambria Math" panose="02040503050406030204" pitchFamily="18" charset="0"/>
                        </a:rPr>
                        <m:t xml:space="preserve">·NDCG@20(</m:t>
                      </m:r>
                      <m:r>
                        <a:rPr lang="en-US" sz="1800" i="1">
                          <a:solidFill>
                            <a:srgbClr val="FFFFFF"/>
                          </a:solidFill>
                          <a:latin typeface="Cambria Math" panose="02040503050406030204" pitchFamily="18" charset="0"/>
                        </a:rPr>
                        <m:t xml:space="preserve">S</m:t>
                      </m:r>
                      <m:r>
                        <m:rPr>
                          <m:sty m:val="p"/>
                        </m:rPr>
                        <a:rPr lang="en-US" sz="1800">
                          <a:solidFill>
                            <a:srgbClr val="FFFFFF"/>
                          </a:solidFill>
                          <a:latin typeface="Cambria Math" panose="02040503050406030204" pitchFamily="18" charset="0"/>
                        </a:rPr>
                        <m:t xml:space="preserve">)+</m:t>
                      </m:r>
                      <m:r>
                        <a:rPr lang="en-US" sz="1800" i="1">
                          <a:solidFill>
                            <a:srgbClr val="FFFFFF"/>
                          </a:solidFill>
                          <a:latin typeface="Cambria Math" panose="02040503050406030204" pitchFamily="18" charset="0"/>
                        </a:rPr>
                        <m:t xml:space="preserve">β</m:t>
                      </m:r>
                      <m:r>
                        <m:rPr>
                          <m:sty m:val="p"/>
                        </m:rPr>
                        <a:rPr lang="en-US" sz="1800">
                          <a:solidFill>
                            <a:srgbClr val="FFFFFF"/>
                          </a:solidFill>
                          <a:latin typeface="Cambria Math" panose="02040503050406030204" pitchFamily="18" charset="0"/>
                        </a:rPr>
                        <m:t xml:space="preserve">·Diversity(</m:t>
                      </m:r>
                      <m:r>
                        <a:rPr lang="en-US" sz="1800" i="1">
                          <a:solidFill>
                            <a:srgbClr val="FFFFFF"/>
                          </a:solidFill>
                          <a:latin typeface="Cambria Math" panose="02040503050406030204" pitchFamily="18" charset="0"/>
                        </a:rPr>
                        <m:t xml:space="preserve">S</m:t>
                      </m:r>
                      <m:r>
                        <m:rPr>
                          <m:sty m:val="p"/>
                        </m:rPr>
                        <a:rPr lang="en-US" sz="1800">
                          <a:solidFill>
                            <a:srgbClr val="FFFFFF"/>
                          </a:solidFill>
                          <a:latin typeface="Cambria Math" panose="02040503050406030204" pitchFamily="18" charset="0"/>
                        </a:rPr>
                        <m:t xml:space="preserve">)+</m:t>
                      </m:r>
                      <m:r>
                        <a:rPr lang="en-US" sz="1800" i="1">
                          <a:solidFill>
                            <a:srgbClr val="FFFFFF"/>
                          </a:solidFill>
                          <a:latin typeface="Cambria Math" panose="02040503050406030204" pitchFamily="18" charset="0"/>
                        </a:rPr>
                        <m:t xml:space="preserve">γ</m:t>
                      </m:r>
                      <m:r>
                        <m:rPr>
                          <m:sty m:val="p"/>
                        </m:rPr>
                        <a:rPr lang="en-US" sz="1800">
                          <a:solidFill>
                            <a:srgbClr val="FFFFFF"/>
                          </a:solidFill>
                          <a:latin typeface="Cambria Math" panose="02040503050406030204" pitchFamily="18" charset="0"/>
                        </a:rPr>
                        <m:t xml:space="preserve">·ContextScore(</m:t>
                      </m:r>
                      <m:r>
                        <a:rPr lang="en-US" sz="1800" i="1">
                          <a:solidFill>
                            <a:srgbClr val="FFFFFF"/>
                          </a:solidFill>
                          <a:latin typeface="Cambria Math" panose="02040503050406030204" pitchFamily="18" charset="0"/>
                        </a:rPr>
                        <m:t xml:space="preserve">S</m:t>
                      </m:r>
                      <m:r>
                        <m:rPr>
                          <m:sty m:val="p"/>
                        </m:rPr>
                        <a:rPr lang="en-US" sz="1800">
                          <a:solidFill>
                            <a:srgbClr val="FFFFFF"/>
                          </a:solidFill>
                          <a:latin typeface="Cambria Math" panose="02040503050406030204" pitchFamily="18" charset="0"/>
                        </a:rPr>
                        <m:t xml:space="preserve">)</m:t>
                      </m:r>
                    </m:oMath>
                  </m:oMathPara>
                </a14:m>
                <a:endParaRPr lang="en-US" sz="1800"/>
              </a:p>
            </p:txBody>
          </p:sp>
        </mc:Choice>
        <mc:Fallback>
          <p:sp>
            <p:nvSpPr>
              <p:cNvPr id="27" name="Equation"/>
              <p:cNvSpPr txBox="1"/>
              <p:nvPr/>
            </p:nvSpPr>
            <p:spPr>
              <a:xfrm>
                <a:off x="1257300" y="5759450"/>
                <a:ext cx="7406640" cy="658368"/>
              </a:xfrm>
              <a:prstGeom prst="rect">
                <a:avLst/>
              </a:prstGeom>
              <a:blipFill>
                <a:blip r:embed="rId4"/>
                <a:stretch>
                  <a:fillRect/>
                </a:stretch>
              </a:blipFill>
            </p:spPr>
            <p:txBody>
              <a:bodyPr/>
              <a:lstStyle/>
              <a:p>
                <a:endParaRPr lang="en-US"/>
              </a:p>
            </p:txBody>
          </p:sp>
        </mc:Fallback>
      </mc:AlternateContent>
      <mc:AlternateContent xmlns:mc="http://schemas.openxmlformats.org/markup-compatibility/2006">
        <mc:Choice xmlns:a14="http://schemas.microsoft.com/office/drawing/2010/main" Requires="a14">
          <p:sp>
            <p:nvSpPr>
              <p:cNvPr id="28" name="Equation"/>
              <p:cNvSpPr txBox="1"/>
              <p:nvPr/>
            </p:nvSpPr>
            <p:spPr>
              <a:xfrm>
                <a:off x="1257300" y="6426962"/>
                <a:ext cx="7406640" cy="548640"/>
              </a:xfrm>
              <a:prstGeom prst="rect">
                <a:avLst/>
              </a:prstGeom>
              <a:noFill/>
            </p:spPr>
            <p:txBody>
              <a:bodyPr wrap="none" rtlCol="0" anchor="ctr" lIns="0" tIns="0" rIns="0" bIns="0"/>
              <a:lstStyle/>
              <a:p>
                <a:pPr algn="ctr"/>
                <a14:m xmlns:m="http://schemas.openxmlformats.org/officeDocument/2006/math">
                  <m:oMathPara>
                    <m:oMathParaPr>
                      <m:jc m:val="centerGroup"/>
                    </m:oMathParaPr>
                    <m:oMath>
                      <m:r>
                        <a:rPr lang="en-US" sz="1800" i="1">
                          <a:solidFill>
                            <a:srgbClr val="ECC665"/>
                          </a:solidFill>
                          <a:latin typeface="Cambria Math" panose="02040503050406030204" pitchFamily="18" charset="0"/>
                        </a:rPr>
                        <m:t xml:space="preserve">α</m:t>
                      </m:r>
                      <m:r>
                        <m:rPr>
                          <m:sty m:val="p"/>
                        </m:rPr>
                        <a:rPr lang="en-US" sz="1800">
                          <a:solidFill>
                            <a:srgbClr val="ECC665"/>
                          </a:solidFill>
                          <a:latin typeface="Cambria Math" panose="02040503050406030204" pitchFamily="18" charset="0"/>
                        </a:rPr>
                        <m:t xml:space="preserve">=0.60,  </m:t>
                      </m:r>
                      <m:r>
                        <a:rPr lang="en-US" sz="1800" i="1">
                          <a:solidFill>
                            <a:srgbClr val="ECC665"/>
                          </a:solidFill>
                          <a:latin typeface="Cambria Math" panose="02040503050406030204" pitchFamily="18" charset="0"/>
                        </a:rPr>
                        <m:t xml:space="preserve">β</m:t>
                      </m:r>
                      <m:r>
                        <m:rPr>
                          <m:sty m:val="p"/>
                        </m:rPr>
                        <a:rPr lang="en-US" sz="1800">
                          <a:solidFill>
                            <a:srgbClr val="ECC665"/>
                          </a:solidFill>
                          <a:latin typeface="Cambria Math" panose="02040503050406030204" pitchFamily="18" charset="0"/>
                        </a:rPr>
                        <m:t xml:space="preserve">=0.25,  </m:t>
                      </m:r>
                      <m:r>
                        <a:rPr lang="en-US" sz="1800" i="1">
                          <a:solidFill>
                            <a:srgbClr val="ECC665"/>
                          </a:solidFill>
                          <a:latin typeface="Cambria Math" panose="02040503050406030204" pitchFamily="18" charset="0"/>
                        </a:rPr>
                        <m:t xml:space="preserve">γ</m:t>
                      </m:r>
                      <m:r>
                        <m:rPr>
                          <m:sty m:val="p"/>
                        </m:rPr>
                        <a:rPr lang="en-US" sz="1800">
                          <a:solidFill>
                            <a:srgbClr val="ECC665"/>
                          </a:solidFill>
                          <a:latin typeface="Cambria Math" panose="02040503050406030204" pitchFamily="18" charset="0"/>
                        </a:rPr>
                        <m:t xml:space="preserve">=0.15,  </m:t>
                      </m:r>
                      <m:r>
                        <a:rPr lang="en-US" sz="1800" i="1">
                          <a:solidFill>
                            <a:srgbClr val="ECC665"/>
                          </a:solidFill>
                          <a:latin typeface="Cambria Math" panose="02040503050406030204" pitchFamily="18" charset="0"/>
                        </a:rPr>
                        <m:t xml:space="preserve">α</m:t>
                      </m:r>
                      <m:r>
                        <m:rPr>
                          <m:sty m:val="p"/>
                        </m:rPr>
                        <a:rPr lang="en-US" sz="1800">
                          <a:solidFill>
                            <a:srgbClr val="ECC665"/>
                          </a:solidFill>
                          <a:latin typeface="Cambria Math" panose="02040503050406030204" pitchFamily="18" charset="0"/>
                        </a:rPr>
                        <m:t xml:space="preserve">+</m:t>
                      </m:r>
                      <m:r>
                        <a:rPr lang="en-US" sz="1800" i="1">
                          <a:solidFill>
                            <a:srgbClr val="ECC665"/>
                          </a:solidFill>
                          <a:latin typeface="Cambria Math" panose="02040503050406030204" pitchFamily="18" charset="0"/>
                        </a:rPr>
                        <m:t xml:space="preserve">β</m:t>
                      </m:r>
                      <m:r>
                        <m:rPr>
                          <m:sty m:val="p"/>
                        </m:rPr>
                        <a:rPr lang="en-US" sz="1800">
                          <a:solidFill>
                            <a:srgbClr val="ECC665"/>
                          </a:solidFill>
                          <a:latin typeface="Cambria Math" panose="02040503050406030204" pitchFamily="18" charset="0"/>
                        </a:rPr>
                        <m:t xml:space="preserve">+</m:t>
                      </m:r>
                      <m:r>
                        <a:rPr lang="en-US" sz="1800" i="1">
                          <a:solidFill>
                            <a:srgbClr val="ECC665"/>
                          </a:solidFill>
                          <a:latin typeface="Cambria Math" panose="02040503050406030204" pitchFamily="18" charset="0"/>
                        </a:rPr>
                        <m:t xml:space="preserve">γ</m:t>
                      </m:r>
                      <m:r>
                        <m:rPr>
                          <m:sty m:val="p"/>
                        </m:rPr>
                        <a:rPr lang="en-US" sz="1800">
                          <a:solidFill>
                            <a:srgbClr val="ECC665"/>
                          </a:solidFill>
                          <a:latin typeface="Cambria Math" panose="02040503050406030204" pitchFamily="18" charset="0"/>
                        </a:rPr>
                        <m:t xml:space="preserve">=1</m:t>
                      </m:r>
                    </m:oMath>
                  </m:oMathPara>
                </a14:m>
                <a:endParaRPr lang="en-US" sz="1800"/>
              </a:p>
            </p:txBody>
          </p:sp>
        </mc:Choice>
        <mc:Fallback>
          <p:sp>
            <p:nvSpPr>
              <p:cNvPr id="28" name="Equation"/>
              <p:cNvSpPr txBox="1"/>
              <p:nvPr/>
            </p:nvSpPr>
            <p:spPr>
              <a:xfrm>
                <a:off x="1257300" y="6426962"/>
                <a:ext cx="7406640" cy="548640"/>
              </a:xfrm>
              <a:prstGeom prst="rect">
                <a:avLst/>
              </a:prstGeom>
              <a:blipFill>
                <a:blip r:embed="rId5"/>
                <a:stretch>
                  <a:fillRect/>
                </a:stretch>
              </a:blipFill>
            </p:spPr>
            <p:txBody>
              <a:bodyPr/>
              <a:lstStyle/>
              <a:p>
                <a:endParaRPr lang="en-US"/>
              </a:p>
            </p:txBody>
          </p:sp>
        </mc:Fallback>
      </mc:AlternateContent>
      <p:sp>
        <p:nvSpPr>
          <p:cNvPr id="29" name="TextBox 28"/>
          <p:cNvSpPr txBox="1"/>
          <p:nvPr/>
        </p:nvSpPr>
        <p:spPr>
          <a:xfrm>
            <a:off x="1028700" y="7249922"/>
            <a:ext cx="7863840" cy="2058670"/>
          </a:xfrm>
          <a:prstGeom prst="rect">
            <a:avLst/>
          </a:prstGeom>
          <a:noFill/>
        </p:spPr>
        <p:txBody>
          <a:bodyPr anchor="t" rtlCol="false" lIns="0" tIns="0" rIns="0" bIns="0" wrap="square"/>
          <a:lstStyle/>
          <a:p>
            <a:pPr algn="l">
              <a:lnSpc>
                <a:spcPts val="2520"/>
              </a:lnSpc>
              <a:spcBef>
                <a:spcPts val="0"/>
              </a:spcBef>
              <a:buNone/>
            </a:pPr>
            <a:r>
              <a:rPr lang="en-US" sz="1800" b="true">
                <a:solidFill>
                  <a:srgbClr val="111111"/>
                </a:solidFill>
                <a:latin typeface="Nunito Semi-Bold"/>
                <a:ea typeface="Nunito Semi-Bold"/>
                <a:cs typeface="Nunito Semi-Bold"/>
                <a:sym typeface="Nunito Semi-Bold"/>
              </a:rPr>
              <a:t>Preference term </a:t>
            </a:r>
            <a:r>
              <a:rPr lang="en-US" sz="1800" b="true">
                <a:solidFill>
                  <a:srgbClr val="111111"/>
                </a:solidFill>
                <a:latin typeface="Nunito Bold"/>
                <a:ea typeface="Nunito Bold"/>
                <a:cs typeface="Nunito Bold"/>
                <a:sym typeface="Nunito Bold"/>
              </a:rPr>
              <a:t>v</a:t>
            </a:r>
            <a:r>
              <a:rPr lang="en-US" sz="1800" b="true" baseline="-25000">
                <a:solidFill>
                  <a:srgbClr val="111111"/>
                </a:solidFill>
                <a:latin typeface="Nunito Bold"/>
                <a:ea typeface="Nunito Bold"/>
                <a:cs typeface="Nunito Bold"/>
                <a:sym typeface="Nunito Bold"/>
              </a:rPr>
              <a:t>pref</a:t>
            </a:r>
            <a:r>
              <a:rPr lang="en-US" sz="1800" b="true">
                <a:solidFill>
                  <a:srgbClr val="111111"/>
                </a:solidFill>
                <a:latin typeface="Nunito Bold"/>
                <a:ea typeface="Nunito Bold"/>
                <a:cs typeface="Nunito Bold"/>
                <a:sym typeface="Nunito Bold"/>
              </a:rPr>
              <a:t>(S) = v(S) + </a:t>
            </a:r>
            <a:r>
              <a:rPr lang="en-US" sz="1800" b="true">
                <a:solidFill>
                  <a:srgbClr val="111111"/>
                </a:solidFill>
                <a:latin typeface="Calibri"/>
                <a:ea typeface="Calibri"/>
                <a:cs typeface="Calibri"/>
                <a:sym typeface="Calibri"/>
              </a:rPr>
              <a:t>λ</a:t>
            </a:r>
            <a:r>
              <a:rPr lang="en-US" sz="1800" b="true" baseline="-25000">
                <a:solidFill>
                  <a:srgbClr val="111111"/>
                </a:solidFill>
                <a:latin typeface="Nunito Bold"/>
                <a:ea typeface="Nunito Bold"/>
                <a:cs typeface="Nunito Bold"/>
                <a:sym typeface="Nunito Bold"/>
              </a:rPr>
              <a:t>pref</a:t>
            </a:r>
            <a:r>
              <a:rPr lang="en-US" sz="1800" b="true">
                <a:solidFill>
                  <a:srgbClr val="111111"/>
                </a:solidFill>
                <a:latin typeface="Nunito Bold"/>
                <a:ea typeface="Nunito Bold"/>
                <a:cs typeface="Nunito Bold"/>
                <a:sym typeface="Nunito Bold"/>
              </a:rPr>
              <a:t> Σ sim(u,i)</a:t>
            </a:r>
            <a:r>
              <a:rPr lang="en-US" sz="1800" b="true">
                <a:solidFill>
                  <a:srgbClr val="111111"/>
                </a:solidFill>
                <a:latin typeface="Nunito Semi-Bold"/>
                <a:ea typeface="Nunito Semi-Bold"/>
                <a:cs typeface="Nunito Semi-Bold"/>
                <a:sym typeface="Nunito Semi-Bold"/>
              </a:rPr>
              <a:t>, </a:t>
            </a:r>
            <a:r>
              <a:rPr lang="en-US" sz="1800" b="true">
                <a:solidFill>
                  <a:srgbClr val="111111"/>
                </a:solidFill>
                <a:latin typeface="Calibri"/>
                <a:ea typeface="Calibri"/>
                <a:cs typeface="Calibri"/>
                <a:sym typeface="Calibri"/>
              </a:rPr>
              <a:t>λ</a:t>
            </a:r>
            <a:r>
              <a:rPr lang="en-US" sz="1800" b="true" baseline="-25000">
                <a:solidFill>
                  <a:srgbClr val="111111"/>
                </a:solidFill>
                <a:latin typeface="Nunito Semi-Bold"/>
                <a:ea typeface="Nunito Semi-Bold"/>
                <a:cs typeface="Nunito Semi-Bold"/>
                <a:sym typeface="Nunito Semi-Bold"/>
              </a:rPr>
              <a:t>pref</a:t>
            </a:r>
            <a:r>
              <a:rPr lang="en-US" sz="1800" b="true">
                <a:solidFill>
                  <a:srgbClr val="111111"/>
                </a:solidFill>
                <a:latin typeface="Nunito Semi-Bold"/>
                <a:ea typeface="Nunito Semi-Bold"/>
                <a:cs typeface="Nunito Semi-Bold"/>
                <a:sym typeface="Nunito Semi-Bold"/>
              </a:rPr>
              <a:t> = 0.20; weights grid-searched, </a:t>
            </a:r>
            <a:r>
              <a:rPr lang="en-US" sz="1800" b="true">
                <a:solidFill>
                  <a:srgbClr val="111111"/>
                </a:solidFill>
                <a:latin typeface="Nunito Bold"/>
                <a:ea typeface="Nunito Bold"/>
                <a:cs typeface="Nunito Bold"/>
                <a:sym typeface="Nunito Bold"/>
              </a:rPr>
              <a:t>&lt; 1.5 % variance</a:t>
            </a:r>
            <a:r>
              <a:rPr lang="en-US" sz="1800" b="true">
                <a:solidFill>
                  <a:srgbClr val="111111"/>
                </a:solidFill>
                <a:latin typeface="Nunito Semi-Bold"/>
                <a:ea typeface="Nunito Semi-Bold"/>
                <a:cs typeface="Nunito Semi-Bold"/>
                <a:sym typeface="Nunito Semi-Bold"/>
              </a:rPr>
              <a:t> in NDCG@20.</a:t>
            </a:r>
          </a:p>
          <a:p>
            <a:pPr algn="l">
              <a:lnSpc>
                <a:spcPts val="2520"/>
              </a:lnSpc>
              <a:spcBef>
                <a:spcPts val="800"/>
              </a:spcBef>
              <a:buNone/>
            </a:pPr>
            <a:r>
              <a:rPr lang="en-US" sz="1800" b="true">
                <a:solidFill>
                  <a:srgbClr val="111111"/>
                </a:solidFill>
                <a:latin typeface="Nunito Semi-Bold"/>
                <a:ea typeface="Nunito Semi-Bold"/>
                <a:cs typeface="Nunito Semi-Bold"/>
                <a:sym typeface="Nunito Semi-Bold"/>
              </a:rPr>
              <a:t>The </a:t>
            </a:r>
            <a:r>
              <a:rPr lang="en-US" sz="1800" b="true">
                <a:solidFill>
                  <a:srgbClr val="111111"/>
                </a:solidFill>
                <a:latin typeface="Nunito Bold"/>
                <a:ea typeface="Nunito Bold"/>
                <a:cs typeface="Nunito Bold"/>
                <a:sym typeface="Nunito Bold"/>
              </a:rPr>
              <a:t>same trade-off</a:t>
            </a:r>
            <a:r>
              <a:rPr lang="en-US" sz="1800" b="true">
                <a:solidFill>
                  <a:srgbClr val="111111"/>
                </a:solidFill>
                <a:latin typeface="Nunito Semi-Bold"/>
                <a:ea typeface="Nunito Semi-Bold"/>
                <a:cs typeface="Nunito Semi-Bold"/>
                <a:sym typeface="Nunito Semi-Bold"/>
              </a:rPr>
              <a:t> the recommender must satisfy is the one from which attribution is computed: explanatory game and predictive objective are </a:t>
            </a:r>
            <a:r>
              <a:rPr lang="en-US" sz="1800" b="true">
                <a:solidFill>
                  <a:srgbClr val="111111"/>
                </a:solidFill>
                <a:latin typeface="Nunito Bold"/>
                <a:ea typeface="Nunito Bold"/>
                <a:cs typeface="Nunito Bold"/>
                <a:sym typeface="Nunito Bold"/>
              </a:rPr>
              <a:t>aligned by design</a:t>
            </a:r>
            <a:r>
              <a:rPr lang="en-US" sz="1800" b="true">
                <a:solidFill>
                  <a:srgbClr val="111111"/>
                </a:solidFill>
                <a:latin typeface="Nunito Semi-Bold"/>
                <a:ea typeface="Nunito Semi-Bold"/>
                <a:cs typeface="Nunito Semi-Bold"/>
                <a:sym typeface="Nunito Semi-Bold"/>
              </a:rPr>
              <a:t>.</a:t>
            </a:r>
          </a:p>
        </p:txBody>
      </p:sp>
      <p:sp>
        <p:nvSpPr>
          <p:cNvPr id="30" name="TextBox 29"/>
          <p:cNvSpPr txBox="1"/>
          <p:nvPr/>
        </p:nvSpPr>
        <p:spPr>
          <a:xfrm>
            <a:off x="9441180" y="3363722"/>
            <a:ext cx="7818120" cy="365760"/>
          </a:xfrm>
          <a:prstGeom prst="rect">
            <a:avLst/>
          </a:prstGeom>
          <a:noFill/>
        </p:spPr>
        <p:txBody>
          <a:bodyPr anchor="t" rtlCol="false" lIns="0" tIns="0" rIns="0" bIns="0" wrap="square"/>
          <a:lstStyle/>
          <a:p>
            <a:pPr algn="ctr">
              <a:lnSpc>
                <a:spcPts val="1800"/>
              </a:lnSpc>
              <a:spcBef>
                <a:spcPts val="0"/>
              </a:spcBef>
              <a:buNone/>
            </a:pPr>
            <a:r>
              <a:rPr lang="en-US" sz="1400" b="true" spc="160">
                <a:solidFill>
                  <a:srgbClr val="1F7A8C"/>
                </a:solidFill>
                <a:latin typeface="Nunito Ultra-Bold"/>
                <a:ea typeface="Nunito Ultra-Bold"/>
                <a:cs typeface="Nunito Ultra-Bold"/>
                <a:sym typeface="Nunito Ultra-Bold"/>
              </a:rPr>
              <a:t>PLAYERS AND COALITIONS</a:t>
            </a:r>
          </a:p>
        </p:txBody>
      </p:sp>
      <p:sp>
        <p:nvSpPr>
          <p:cNvPr id="31" name="Rounded Rectangle 30"/>
          <p:cNvSpPr/>
          <p:nvPr/>
        </p:nvSpPr>
        <p:spPr>
          <a:xfrm>
            <a:off x="9715500" y="3912362"/>
            <a:ext cx="7269480" cy="2834640"/>
          </a:xfrm>
          <a:prstGeom prst="roundRect">
            <a:avLst>
              <a:gd name="adj" fmla="val 19354"/>
            </a:avLst>
          </a:prstGeom>
          <a:solidFill>
            <a:srgbClr val="F6ECDF"/>
          </a:solidFill>
          <a:ln>
            <a:noFill/>
          </a:ln>
        </p:spPr>
        <p:txBody>
          <a:bodyPr anchor="ctr" rtlCol="false" lIns="0" tIns="0" rIns="0" bIns="0" wrap="square"/>
          <a:lstStyle/>
          <a:p>
            <a:endParaRPr lang="en-US" sz="1800"/>
          </a:p>
        </p:txBody>
      </p:sp>
      <p:sp>
        <p:nvSpPr>
          <p:cNvPr id="32" name="TextBox 31"/>
          <p:cNvSpPr txBox="1"/>
          <p:nvPr/>
        </p:nvSpPr>
        <p:spPr>
          <a:xfrm>
            <a:off x="9441180" y="4022090"/>
            <a:ext cx="7818120" cy="365760"/>
          </a:xfrm>
          <a:prstGeom prst="rect">
            <a:avLst/>
          </a:prstGeom>
          <a:noFill/>
        </p:spPr>
        <p:txBody>
          <a:bodyPr anchor="t" rtlCol="false" lIns="0" tIns="0" rIns="0" bIns="0" wrap="square"/>
          <a:lstStyle/>
          <a:p>
            <a:pPr algn="ctr">
              <a:lnSpc>
                <a:spcPts val="1800"/>
              </a:lnSpc>
              <a:spcBef>
                <a:spcPts val="0"/>
              </a:spcBef>
              <a:buNone/>
            </a:pPr>
            <a:r>
              <a:rPr lang="en-US" sz="1500" b="true">
                <a:solidFill>
                  <a:srgbClr val="8A8378"/>
                </a:solidFill>
                <a:latin typeface="Nunito Bold"/>
                <a:ea typeface="Nunito Bold"/>
                <a:cs typeface="Nunito Bold"/>
                <a:sym typeface="Nunito Bold"/>
              </a:rPr>
              <a:t>coalition S </a:t>
            </a:r>
            <a:r>
              <a:rPr lang="en-US" sz="1500" b="true">
                <a:solidFill>
                  <a:srgbClr val="8A8378"/>
                </a:solidFill>
                <a:latin typeface="Cambria Math"/>
                <a:ea typeface="Cambria Math"/>
                <a:cs typeface="Cambria Math"/>
                <a:sym typeface="Cambria Math"/>
              </a:rPr>
              <a:t>⊆ </a:t>
            </a:r>
            <a:r>
              <a:rPr lang="en-US" sz="1500" b="true">
                <a:solidFill>
                  <a:srgbClr val="8A8378"/>
                </a:solidFill>
                <a:latin typeface="Nunito Bold"/>
                <a:ea typeface="Nunito Bold"/>
                <a:cs typeface="Nunito Bold"/>
                <a:sym typeface="Nunito Bold"/>
              </a:rPr>
              <a:t>N  ·  hyperedge e </a:t>
            </a:r>
            <a:r>
              <a:rPr lang="en-US" sz="1500" b="true">
                <a:solidFill>
                  <a:srgbClr val="8A8378"/>
                </a:solidFill>
                <a:latin typeface="Cambria Math"/>
                <a:ea typeface="Cambria Math"/>
                <a:cs typeface="Cambria Math"/>
                <a:sym typeface="Cambria Math"/>
              </a:rPr>
              <a:t>∈ </a:t>
            </a:r>
            <a:r>
              <a:rPr lang="en-US" sz="1500" b="true">
                <a:solidFill>
                  <a:srgbClr val="8A8378"/>
                </a:solidFill>
                <a:latin typeface="Nunito Bold"/>
                <a:ea typeface="Nunito Bold"/>
                <a:cs typeface="Nunito Bold"/>
                <a:sym typeface="Nunito Bold"/>
              </a:rPr>
              <a:t>E</a:t>
            </a:r>
          </a:p>
        </p:txBody>
      </p:sp>
      <p:sp>
        <p:nvSpPr>
          <p:cNvPr id="33" name="Oval 32"/>
          <p:cNvSpPr/>
          <p:nvPr/>
        </p:nvSpPr>
        <p:spPr>
          <a:xfrm>
            <a:off x="10165080" y="4598162"/>
            <a:ext cx="1737360" cy="1737360"/>
          </a:xfrm>
          <a:prstGeom prst="ellipse">
            <a:avLst/>
          </a:prstGeom>
          <a:solidFill>
            <a:srgbClr val="4472C4"/>
          </a:solidFill>
          <a:ln>
            <a:noFill/>
          </a:ln>
        </p:spPr>
        <p:txBody>
          <a:bodyPr anchor="ctr" rtlCol="false" lIns="0" tIns="0" rIns="0" bIns="0" wrap="square"/>
          <a:lstStyle/>
          <a:p>
            <a:pPr algn="ctr">
              <a:lnSpc>
                <a:spcPts val="3800"/>
              </a:lnSpc>
              <a:spcBef>
                <a:spcPts val="0"/>
              </a:spcBef>
              <a:buNone/>
            </a:pPr>
            <a:r>
              <a:rPr lang="en-US" sz="3400" b="true" spc="-170">
                <a:solidFill>
                  <a:srgbClr val="FFFFFF"/>
                </a:solidFill>
                <a:latin typeface="Roca Two Bold"/>
                <a:ea typeface="Roca Two Bold"/>
                <a:cs typeface="Roca Two Bold"/>
                <a:sym typeface="Roca Two Bold"/>
              </a:rPr>
              <a:t>U</a:t>
            </a:r>
          </a:p>
          <a:p>
            <a:pPr algn="ctr">
              <a:lnSpc>
                <a:spcPts val="1800"/>
              </a:lnSpc>
              <a:spcBef>
                <a:spcPts val="200"/>
              </a:spcBef>
              <a:buNone/>
            </a:pPr>
            <a:r>
              <a:rPr lang="en-US" sz="1500" b="true">
                <a:solidFill>
                  <a:srgbClr val="F7F2EA"/>
                </a:solidFill>
                <a:latin typeface="Nunito Bold"/>
                <a:ea typeface="Nunito Bold"/>
                <a:cs typeface="Nunito Bold"/>
                <a:sym typeface="Nunito Bold"/>
              </a:rPr>
              <a:t>Users</a:t>
            </a:r>
          </a:p>
        </p:txBody>
      </p:sp>
      <p:sp>
        <p:nvSpPr>
          <p:cNvPr id="34" name="Oval 33"/>
          <p:cNvSpPr/>
          <p:nvPr/>
        </p:nvSpPr>
        <p:spPr>
          <a:xfrm>
            <a:off x="12481560" y="4598162"/>
            <a:ext cx="1737360" cy="1737360"/>
          </a:xfrm>
          <a:prstGeom prst="ellipse">
            <a:avLst/>
          </a:prstGeom>
          <a:solidFill>
            <a:srgbClr val="2F5597"/>
          </a:solidFill>
          <a:ln>
            <a:noFill/>
          </a:ln>
        </p:spPr>
        <p:txBody>
          <a:bodyPr anchor="ctr" rtlCol="false" lIns="0" tIns="0" rIns="0" bIns="0" wrap="square"/>
          <a:lstStyle/>
          <a:p>
            <a:pPr algn="ctr">
              <a:lnSpc>
                <a:spcPts val="3800"/>
              </a:lnSpc>
              <a:spcBef>
                <a:spcPts val="0"/>
              </a:spcBef>
              <a:buNone/>
            </a:pPr>
            <a:r>
              <a:rPr lang="en-US" sz="3400" b="true" spc="-170">
                <a:solidFill>
                  <a:srgbClr val="FFFFFF"/>
                </a:solidFill>
                <a:latin typeface="Roca Two Bold"/>
                <a:ea typeface="Roca Two Bold"/>
                <a:cs typeface="Roca Two Bold"/>
                <a:sym typeface="Roca Two Bold"/>
              </a:rPr>
              <a:t>I</a:t>
            </a:r>
          </a:p>
          <a:p>
            <a:pPr algn="ctr">
              <a:lnSpc>
                <a:spcPts val="1800"/>
              </a:lnSpc>
              <a:spcBef>
                <a:spcPts val="200"/>
              </a:spcBef>
              <a:buNone/>
            </a:pPr>
            <a:r>
              <a:rPr lang="en-US" sz="1500" b="true">
                <a:solidFill>
                  <a:srgbClr val="F7F2EA"/>
                </a:solidFill>
                <a:latin typeface="Nunito Bold"/>
                <a:ea typeface="Nunito Bold"/>
                <a:cs typeface="Nunito Bold"/>
                <a:sym typeface="Nunito Bold"/>
              </a:rPr>
              <a:t>Items</a:t>
            </a:r>
          </a:p>
        </p:txBody>
      </p:sp>
      <p:sp>
        <p:nvSpPr>
          <p:cNvPr id="35" name="Oval 34"/>
          <p:cNvSpPr/>
          <p:nvPr/>
        </p:nvSpPr>
        <p:spPr>
          <a:xfrm>
            <a:off x="14798040" y="4598162"/>
            <a:ext cx="1737360" cy="1737360"/>
          </a:xfrm>
          <a:prstGeom prst="ellipse">
            <a:avLst/>
          </a:prstGeom>
          <a:solidFill>
            <a:srgbClr val="1F7A8C"/>
          </a:solidFill>
          <a:ln>
            <a:noFill/>
          </a:ln>
        </p:spPr>
        <p:txBody>
          <a:bodyPr anchor="ctr" rtlCol="false" lIns="0" tIns="0" rIns="0" bIns="0" wrap="square"/>
          <a:lstStyle/>
          <a:p>
            <a:pPr algn="ctr">
              <a:lnSpc>
                <a:spcPts val="3800"/>
              </a:lnSpc>
              <a:spcBef>
                <a:spcPts val="0"/>
              </a:spcBef>
              <a:buNone/>
            </a:pPr>
            <a:r>
              <a:rPr lang="en-US" sz="3400" b="true" spc="-170">
                <a:solidFill>
                  <a:srgbClr val="FFFFFF"/>
                </a:solidFill>
                <a:latin typeface="Roca Two Bold"/>
                <a:ea typeface="Roca Two Bold"/>
                <a:cs typeface="Roca Two Bold"/>
                <a:sym typeface="Roca Two Bold"/>
              </a:rPr>
              <a:t>C</a:t>
            </a:r>
          </a:p>
          <a:p>
            <a:pPr algn="ctr">
              <a:lnSpc>
                <a:spcPts val="1800"/>
              </a:lnSpc>
              <a:spcBef>
                <a:spcPts val="200"/>
              </a:spcBef>
              <a:buNone/>
            </a:pPr>
            <a:r>
              <a:rPr lang="en-US" sz="1500" b="true">
                <a:solidFill>
                  <a:srgbClr val="F7F2EA"/>
                </a:solidFill>
                <a:latin typeface="Nunito Bold"/>
                <a:ea typeface="Nunito Bold"/>
                <a:cs typeface="Nunito Bold"/>
                <a:sym typeface="Nunito Bold"/>
              </a:rPr>
              <a:t>Contexts</a:t>
            </a:r>
          </a:p>
        </p:txBody>
      </p:sp>
      <p:sp>
        <p:nvSpPr>
          <p:cNvPr id="36" name="Rounded Rectangle 35"/>
          <p:cNvSpPr/>
          <p:nvPr/>
        </p:nvSpPr>
        <p:spPr>
          <a:xfrm>
            <a:off x="9441180" y="7067042"/>
            <a:ext cx="7818120" cy="2241550"/>
          </a:xfrm>
          <a:prstGeom prst="roundRect">
            <a:avLst>
              <a:gd name="adj" fmla="val 10198"/>
            </a:avLst>
          </a:prstGeom>
          <a:solidFill>
            <a:srgbClr val="4472C4"/>
          </a:solidFill>
          <a:ln>
            <a:noFill/>
          </a:ln>
        </p:spPr>
        <p:txBody>
          <a:bodyPr anchor="ctr" rtlCol="false" lIns="0" tIns="0" rIns="0" bIns="0" wrap="square"/>
          <a:lstStyle/>
          <a:p>
            <a:endParaRPr lang="en-US" sz="1800"/>
          </a:p>
        </p:txBody>
      </p:sp>
      <mc:AlternateContent xmlns:mc="http://schemas.openxmlformats.org/markup-compatibility/2006">
        <mc:Choice xmlns:a14="http://schemas.microsoft.com/office/drawing/2010/main" Requires="a14">
          <p:sp>
            <p:nvSpPr>
              <p:cNvPr id="37" name="Equation"/>
              <p:cNvSpPr txBox="1"/>
              <p:nvPr/>
            </p:nvSpPr>
            <p:spPr>
              <a:xfrm>
                <a:off x="9715500" y="7112762"/>
                <a:ext cx="1828800" cy="1120775"/>
              </a:xfrm>
              <a:prstGeom prst="rect">
                <a:avLst/>
              </a:prstGeom>
              <a:noFill/>
            </p:spPr>
            <p:txBody>
              <a:bodyPr wrap="none" rtlCol="0" anchor="ctr" lIns="0" tIns="0" rIns="0" bIns="0"/>
              <a:lstStyle/>
              <a:p>
                <a:pPr algn="ctr"/>
                <a14:m xmlns:m="http://schemas.openxmlformats.org/officeDocument/2006/math">
                  <m:oMathPara>
                    <m:oMathParaPr>
                      <m:jc m:val="centerGroup"/>
                    </m:oMathParaPr>
                    <m:oMath>
                      <m:r>
                        <a:rPr lang="en-US" sz="2200" i="1">
                          <a:solidFill>
                            <a:srgbClr val="FFFFFF"/>
                          </a:solidFill>
                          <a:latin typeface="Cambria Math" panose="02040503050406030204" pitchFamily="18" charset="0"/>
                        </a:rPr>
                        <m:t xml:space="preserve">v</m:t>
                      </m:r>
                      <m:r>
                        <m:rPr>
                          <m:sty m:val="p"/>
                        </m:rPr>
                        <a:rPr lang="en-US" sz="2200">
                          <a:solidFill>
                            <a:srgbClr val="FFFFFF"/>
                          </a:solidFill>
                          <a:latin typeface="Cambria Math" panose="02040503050406030204" pitchFamily="18" charset="0"/>
                        </a:rPr>
                        <m:t xml:space="preserve">(</m:t>
                      </m:r>
                      <m:r>
                        <a:rPr lang="en-US" sz="2200" i="1">
                          <a:solidFill>
                            <a:srgbClr val="FFFFFF"/>
                          </a:solidFill>
                          <a:latin typeface="Cambria Math" panose="02040503050406030204" pitchFamily="18" charset="0"/>
                        </a:rPr>
                        <m:t xml:space="preserve">S</m:t>
                      </m:r>
                      <m:r>
                        <m:rPr>
                          <m:sty m:val="p"/>
                        </m:rPr>
                        <a:rPr lang="en-US" sz="2200">
                          <a:solidFill>
                            <a:srgbClr val="FFFFFF"/>
                          </a:solidFill>
                          <a:latin typeface="Cambria Math" panose="02040503050406030204" pitchFamily="18" charset="0"/>
                        </a:rPr>
                        <m:t xml:space="preserve">)</m:t>
                      </m:r>
                    </m:oMath>
                  </m:oMathPara>
                </a14:m>
                <a:endParaRPr lang="en-US" sz="2200"/>
              </a:p>
            </p:txBody>
          </p:sp>
        </mc:Choice>
        <mc:Fallback>
          <p:sp>
            <p:nvSpPr>
              <p:cNvPr id="37" name="Equation"/>
              <p:cNvSpPr txBox="1"/>
              <p:nvPr/>
            </p:nvSpPr>
            <p:spPr>
              <a:xfrm>
                <a:off x="9715500" y="7112762"/>
                <a:ext cx="1828800" cy="1120775"/>
              </a:xfrm>
              <a:prstGeom prst="rect">
                <a:avLst/>
              </a:prstGeom>
              <a:blipFill>
                <a:blip r:embed="rId6"/>
                <a:stretch>
                  <a:fillRect/>
                </a:stretch>
              </a:blipFill>
            </p:spPr>
            <p:txBody>
              <a:bodyPr/>
              <a:lstStyle/>
              <a:p>
                <a:endParaRPr lang="en-US"/>
              </a:p>
            </p:txBody>
          </p:sp>
        </mc:Fallback>
      </mc:AlternateContent>
      <p:sp>
        <p:nvSpPr>
          <p:cNvPr id="38" name="TextBox 37"/>
          <p:cNvSpPr txBox="1"/>
          <p:nvPr/>
        </p:nvSpPr>
        <p:spPr>
          <a:xfrm>
            <a:off x="11635740" y="7112762"/>
            <a:ext cx="5349240" cy="1120775"/>
          </a:xfrm>
          <a:prstGeom prst="rect">
            <a:avLst/>
          </a:prstGeom>
          <a:noFill/>
        </p:spPr>
        <p:txBody>
          <a:bodyPr anchor="ctr" rtlCol="false" lIns="0" tIns="0" rIns="0" bIns="0" wrap="square"/>
          <a:lstStyle/>
          <a:p>
            <a:pPr algn="l">
              <a:lnSpc>
                <a:spcPts val="2100"/>
              </a:lnSpc>
              <a:spcBef>
                <a:spcPts val="0"/>
              </a:spcBef>
              <a:buNone/>
            </a:pPr>
            <a:r>
              <a:rPr lang="en-US" sz="1700" b="true">
                <a:solidFill>
                  <a:srgbClr val="FFFFFF"/>
                </a:solidFill>
                <a:latin typeface="Nunito Bold"/>
                <a:ea typeface="Nunito Bold"/>
                <a:cs typeface="Nunito Bold"/>
                <a:sym typeface="Nunito Bold"/>
              </a:rPr>
              <a:t>quality of the recommendation that coalition S can achieve</a:t>
            </a:r>
          </a:p>
        </p:txBody>
      </p:sp>
      <mc:AlternateContent xmlns:mc="http://schemas.openxmlformats.org/markup-compatibility/2006">
        <mc:Choice xmlns:a14="http://schemas.microsoft.com/office/drawing/2010/main" Requires="a14">
          <p:sp>
            <p:nvSpPr>
              <p:cNvPr id="39" name="Equation"/>
              <p:cNvSpPr txBox="1"/>
              <p:nvPr/>
            </p:nvSpPr>
            <p:spPr>
              <a:xfrm>
                <a:off x="9715500" y="8142097"/>
                <a:ext cx="1828800" cy="1120775"/>
              </a:xfrm>
              <a:prstGeom prst="rect">
                <a:avLst/>
              </a:prstGeom>
              <a:noFill/>
            </p:spPr>
            <p:txBody>
              <a:bodyPr wrap="none" rtlCol="0" anchor="ctr" lIns="0" tIns="0" rIns="0" bIns="0"/>
              <a:lstStyle/>
              <a:p>
                <a:pPr algn="ctr"/>
                <a14:m xmlns:m="http://schemas.openxmlformats.org/officeDocument/2006/math">
                  <m:oMathPara>
                    <m:oMathParaPr>
                      <m:jc m:val="centerGroup"/>
                    </m:oMathParaPr>
                    <m:oMath>
                      <m:sSub>
                        <m:sSubPr>
                          <m:ctrlPr>
                            <a:rPr lang="en-US" sz="2200" i="1">
                              <a:solidFill>
                                <a:srgbClr val="ECC665"/>
                              </a:solidFill>
                              <a:latin typeface="Cambria Math" panose="02040503050406030204" pitchFamily="18" charset="0"/>
                            </a:rPr>
                          </m:ctrlPr>
                        </m:sSubPr>
                        <m:e>
                          <m:acc>
                            <m:accPr>
                              <m:chr m:val="̂"/>
                              <m:ctrlPr>
                                <a:rPr lang="en-US" sz="2200" i="1">
                                  <a:solidFill>
                                    <a:srgbClr val="ECC665"/>
                                  </a:solidFill>
                                  <a:latin typeface="Cambria Math" panose="02040503050406030204" pitchFamily="18" charset="0"/>
                                </a:rPr>
                              </m:ctrlPr>
                            </m:accPr>
                            <m:e>
                              <m:r>
                                <a:rPr lang="en-US" sz="2200" i="1">
                                  <a:solidFill>
                                    <a:srgbClr val="ECC665"/>
                                  </a:solidFill>
                                  <a:latin typeface="Cambria Math" panose="02040503050406030204" pitchFamily="18" charset="0"/>
                                </a:rPr>
                                <m:t xml:space="preserve">φ</m:t>
                              </m:r>
                            </m:e>
                          </m:acc>
                        </m:e>
                        <m:sub>
                          <m:r>
                            <a:rPr lang="en-US" sz="2200" i="1">
                              <a:solidFill>
                                <a:srgbClr val="ECC665"/>
                              </a:solidFill>
                              <a:latin typeface="Cambria Math" panose="02040503050406030204" pitchFamily="18" charset="0"/>
                            </a:rPr>
                            <m:t xml:space="preserve">j</m:t>
                          </m:r>
                        </m:sub>
                      </m:sSub>
                      <m:r>
                        <m:rPr>
                          <m:sty m:val="p"/>
                        </m:rPr>
                        <a:rPr lang="en-US" sz="2200">
                          <a:solidFill>
                            <a:srgbClr val="ECC665"/>
                          </a:solidFill>
                          <a:latin typeface="Cambria Math" panose="02040503050406030204" pitchFamily="18" charset="0"/>
                        </a:rPr>
                        <m:t xml:space="preserve"> → </m:t>
                      </m:r>
                      <m:sSub>
                        <m:sSubPr>
                          <m:ctrlPr>
                            <a:rPr lang="en-US" sz="2200" i="1">
                              <a:solidFill>
                                <a:srgbClr val="ECC665"/>
                              </a:solidFill>
                              <a:latin typeface="Cambria Math" panose="02040503050406030204" pitchFamily="18" charset="0"/>
                            </a:rPr>
                          </m:ctrlPr>
                        </m:sSubPr>
                        <m:e>
                          <m:r>
                            <a:rPr lang="en-US" sz="2200" i="1">
                              <a:solidFill>
                                <a:srgbClr val="ECC665"/>
                              </a:solidFill>
                              <a:latin typeface="Cambria Math" panose="02040503050406030204" pitchFamily="18" charset="0"/>
                            </a:rPr>
                            <m:t xml:space="preserve">w</m:t>
                          </m:r>
                        </m:e>
                        <m:sub>
                          <m:r>
                            <a:rPr lang="en-US" sz="2200" i="1">
                              <a:solidFill>
                                <a:srgbClr val="ECC665"/>
                              </a:solidFill>
                              <a:latin typeface="Cambria Math" panose="02040503050406030204" pitchFamily="18" charset="0"/>
                            </a:rPr>
                            <m:t xml:space="preserve">jk</m:t>
                          </m:r>
                        </m:sub>
                      </m:sSub>
                    </m:oMath>
                  </m:oMathPara>
                </a14:m>
                <a:endParaRPr lang="en-US" sz="2200"/>
              </a:p>
            </p:txBody>
          </p:sp>
        </mc:Choice>
        <mc:Fallback>
          <p:sp>
            <p:nvSpPr>
              <p:cNvPr id="39" name="Equation"/>
              <p:cNvSpPr txBox="1"/>
              <p:nvPr/>
            </p:nvSpPr>
            <p:spPr>
              <a:xfrm>
                <a:off x="9715500" y="8142097"/>
                <a:ext cx="1828800" cy="1120775"/>
              </a:xfrm>
              <a:prstGeom prst="rect">
                <a:avLst/>
              </a:prstGeom>
              <a:blipFill>
                <a:blip r:embed="rId7"/>
                <a:stretch>
                  <a:fillRect/>
                </a:stretch>
              </a:blipFill>
            </p:spPr>
            <p:txBody>
              <a:bodyPr/>
              <a:lstStyle/>
              <a:p>
                <a:endParaRPr lang="en-US"/>
              </a:p>
            </p:txBody>
          </p:sp>
        </mc:Fallback>
      </mc:AlternateContent>
      <p:sp>
        <p:nvSpPr>
          <p:cNvPr id="40" name="TextBox 39"/>
          <p:cNvSpPr txBox="1"/>
          <p:nvPr/>
        </p:nvSpPr>
        <p:spPr>
          <a:xfrm>
            <a:off x="11635740" y="8142097"/>
            <a:ext cx="5349240" cy="1120775"/>
          </a:xfrm>
          <a:prstGeom prst="rect">
            <a:avLst/>
          </a:prstGeom>
          <a:noFill/>
        </p:spPr>
        <p:txBody>
          <a:bodyPr anchor="ctr" rtlCol="false" lIns="0" tIns="0" rIns="0" bIns="0" wrap="square"/>
          <a:lstStyle/>
          <a:p>
            <a:pPr algn="l">
              <a:lnSpc>
                <a:spcPts val="2100"/>
              </a:lnSpc>
              <a:spcBef>
                <a:spcPts val="0"/>
              </a:spcBef>
              <a:buNone/>
            </a:pPr>
            <a:r>
              <a:rPr lang="en-US" sz="1700" b="true">
                <a:solidFill>
                  <a:srgbClr val="ECC665"/>
                </a:solidFill>
                <a:latin typeface="Nunito Bold"/>
                <a:ea typeface="Nunito Bold"/>
                <a:cs typeface="Nunito Bold"/>
                <a:sym typeface="Nunito Bold"/>
              </a:rPr>
              <a:t>marginal contribution of player j </a:t>
            </a:r>
            <a:r>
              <a:rPr lang="en-US" sz="1700" b="true">
                <a:solidFill>
                  <a:srgbClr val="ECC665"/>
                </a:solidFill>
                <a:latin typeface="Calibri"/>
                <a:ea typeface="Calibri"/>
                <a:cs typeface="Calibri"/>
                <a:sym typeface="Calibri"/>
              </a:rPr>
              <a:t>→ </a:t>
            </a:r>
            <a:r>
              <a:rPr lang="en-US" sz="1700" b="true">
                <a:solidFill>
                  <a:srgbClr val="ECC665"/>
                </a:solidFill>
                <a:latin typeface="Nunito Bold"/>
                <a:ea typeface="Nunito Bold"/>
                <a:cs typeface="Nunito Bold"/>
                <a:sym typeface="Nunito Bold"/>
              </a:rPr>
              <a:t>dynamic hyperedge weight</a:t>
            </a:r>
          </a:p>
        </p:txBody>
      </p:sp>
    </p:spTree>
  </p:cSld>
  <p:clrMapOvr>
    <a:masterClrMapping/>
  </p:clrMapOvr>
</p:sld>
</file>

<file path=ppt/slides/slide7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pic>
        <p:nvPicPr>
          <p:cNvPr id="2" name="Picture 1" descr="ensias_logo.jpg"/>
          <p:cNvPicPr>
            <a:picLocks noChangeAspect="1"/>
          </p:cNvPicPr>
          <p:nvPr/>
        </p:nvPicPr>
        <p:blipFill>
          <a:blip r:embed="rId2"/>
          <a:stretch>
            <a:fillRect/>
          </a:stretch>
        </p:blipFill>
        <p:spPr>
          <a:xfrm>
            <a:off x="1028700" y="9674352"/>
            <a:ext cx="542964" cy="384048"/>
          </a:xfrm>
          <a:prstGeom prst="rect">
            <a:avLst/>
          </a:prstGeom>
        </p:spPr>
      </p:pic>
      <p:sp>
        <p:nvSpPr>
          <p:cNvPr id="3" name="TextBox 2"/>
          <p:cNvSpPr txBox="1"/>
          <p:nvPr/>
        </p:nvSpPr>
        <p:spPr>
          <a:xfrm>
            <a:off x="1577340" y="9747504"/>
            <a:ext cx="12801600" cy="274320"/>
          </a:xfrm>
          <a:prstGeom prst="rect">
            <a:avLst/>
          </a:prstGeom>
          <a:noFill/>
        </p:spPr>
        <p:txBody>
          <a:bodyPr anchor="t" rtlCol="false" lIns="0" tIns="0" rIns="0" bIns="0" wrap="square"/>
          <a:lstStyle/>
          <a:p>
            <a:pPr algn="l">
              <a:lnSpc>
                <a:spcPts val="1600"/>
              </a:lnSpc>
              <a:spcBef>
                <a:spcPts val="0"/>
              </a:spcBef>
              <a:buNone/>
            </a:pPr>
            <a:r>
              <a:rPr lang="en-US" sz="1300" b="true">
                <a:solidFill>
                  <a:srgbClr val="8A8378"/>
                </a:solidFill>
                <a:latin typeface="Nunito Bold"/>
                <a:ea typeface="Nunito Bold"/>
                <a:cs typeface="Nunito Bold"/>
                <a:sym typeface="Nunito Bold"/>
              </a:rPr>
              <a:t>Cooperative Game Theory for Explainable AI in Recommendation Systems  ·  A Shapley Framework for Actionable Insight</a:t>
            </a:r>
          </a:p>
        </p:txBody>
      </p:sp>
      <p:sp>
        <p:nvSpPr>
          <p:cNvPr id="4" name="TextBox 3"/>
          <p:cNvSpPr txBox="1"/>
          <p:nvPr/>
        </p:nvSpPr>
        <p:spPr>
          <a:xfrm>
            <a:off x="16162020" y="9692640"/>
            <a:ext cx="1097280" cy="329184"/>
          </a:xfrm>
          <a:prstGeom prst="rect">
            <a:avLst/>
          </a:prstGeom>
          <a:noFill/>
        </p:spPr>
        <p:txBody>
          <a:bodyPr anchor="t" rtlCol="false" lIns="0" tIns="0" rIns="0" bIns="0" wrap="square"/>
          <a:lstStyle/>
          <a:p>
            <a:pPr algn="r">
              <a:lnSpc>
                <a:spcPts val="2200"/>
              </a:lnSpc>
              <a:spcBef>
                <a:spcPts val="0"/>
              </a:spcBef>
              <a:buNone/>
            </a:pPr>
            <a:r>
              <a:rPr lang="en-US" sz="1800" b="true">
                <a:solidFill>
                  <a:srgbClr val="111111"/>
                </a:solidFill>
                <a:latin typeface="Nunito Ultra-Bold"/>
                <a:ea typeface="Nunito Ultra-Bold"/>
                <a:cs typeface="Nunito Ultra-Bold"/>
                <a:sym typeface="Nunito Ultra-Bold"/>
              </a:rPr>
              <a:t>55</a:t>
            </a:r>
          </a:p>
        </p:txBody>
      </p:sp>
      <p:sp>
        <p:nvSpPr>
          <p:cNvPr id="5" name="TextBox 4"/>
          <p:cNvSpPr txBox="1"/>
          <p:nvPr/>
        </p:nvSpPr>
        <p:spPr>
          <a:xfrm>
            <a:off x="1028700" y="1389888"/>
            <a:ext cx="12938760" cy="329184"/>
          </a:xfrm>
          <a:prstGeom prst="rect">
            <a:avLst/>
          </a:prstGeom>
          <a:noFill/>
        </p:spPr>
        <p:txBody>
          <a:bodyPr anchor="t" rtlCol="false" lIns="0" tIns="0" rIns="0" bIns="0" wrap="square"/>
          <a:lstStyle/>
          <a:p>
            <a:pPr algn="l">
              <a:lnSpc>
                <a:spcPts val="2000"/>
              </a:lnSpc>
              <a:spcBef>
                <a:spcPts val="0"/>
              </a:spcBef>
              <a:buNone/>
            </a:pPr>
            <a:r>
              <a:rPr lang="en-US" sz="1500" b="true" spc="160">
                <a:solidFill>
                  <a:srgbClr val="1F7A8C"/>
                </a:solidFill>
                <a:latin typeface="Nunito Ultra-Bold"/>
                <a:ea typeface="Nunito Ultra-Bold"/>
                <a:cs typeface="Nunito Ultra-Bold"/>
                <a:sym typeface="Nunito Ultra-Bold"/>
              </a:rPr>
              <a:t>CONTRIBUTION III: DYHUCOG, A DYNAMIC HYPERGRAPH COOPERATIVE GAME</a:t>
            </a:r>
          </a:p>
        </p:txBody>
      </p:sp>
      <p:sp>
        <p:nvSpPr>
          <p:cNvPr id="6" name="Rounded Rectangle 5"/>
          <p:cNvSpPr/>
          <p:nvPr/>
        </p:nvSpPr>
        <p:spPr>
          <a:xfrm>
            <a:off x="14516100"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7" name="TextBox 6"/>
          <p:cNvSpPr txBox="1"/>
          <p:nvPr/>
        </p:nvSpPr>
        <p:spPr>
          <a:xfrm>
            <a:off x="14516100"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1</a:t>
            </a:r>
          </a:p>
        </p:txBody>
      </p:sp>
      <p:sp>
        <p:nvSpPr>
          <p:cNvPr id="8" name="Rounded Rectangle 7"/>
          <p:cNvSpPr/>
          <p:nvPr/>
        </p:nvSpPr>
        <p:spPr>
          <a:xfrm>
            <a:off x="14918436"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9" name="TextBox 8"/>
          <p:cNvSpPr txBox="1"/>
          <p:nvPr/>
        </p:nvSpPr>
        <p:spPr>
          <a:xfrm>
            <a:off x="14918436"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2</a:t>
            </a:r>
          </a:p>
        </p:txBody>
      </p:sp>
      <p:sp>
        <p:nvSpPr>
          <p:cNvPr id="10" name="Rounded Rectangle 9"/>
          <p:cNvSpPr/>
          <p:nvPr/>
        </p:nvSpPr>
        <p:spPr>
          <a:xfrm>
            <a:off x="15320772"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11" name="TextBox 10"/>
          <p:cNvSpPr txBox="1"/>
          <p:nvPr/>
        </p:nvSpPr>
        <p:spPr>
          <a:xfrm>
            <a:off x="15320772"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3</a:t>
            </a:r>
          </a:p>
        </p:txBody>
      </p:sp>
      <p:sp>
        <p:nvSpPr>
          <p:cNvPr id="12" name="Rounded Rectangle 11"/>
          <p:cNvSpPr/>
          <p:nvPr/>
        </p:nvSpPr>
        <p:spPr>
          <a:xfrm>
            <a:off x="15723108"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13" name="TextBox 12"/>
          <p:cNvSpPr txBox="1"/>
          <p:nvPr/>
        </p:nvSpPr>
        <p:spPr>
          <a:xfrm>
            <a:off x="15723108"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4</a:t>
            </a:r>
          </a:p>
        </p:txBody>
      </p:sp>
      <p:sp>
        <p:nvSpPr>
          <p:cNvPr id="14" name="Rounded Rectangle 13"/>
          <p:cNvSpPr/>
          <p:nvPr/>
        </p:nvSpPr>
        <p:spPr>
          <a:xfrm>
            <a:off x="16125444"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15" name="TextBox 14"/>
          <p:cNvSpPr txBox="1"/>
          <p:nvPr/>
        </p:nvSpPr>
        <p:spPr>
          <a:xfrm>
            <a:off x="16125444"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5</a:t>
            </a:r>
          </a:p>
        </p:txBody>
      </p:sp>
      <p:sp>
        <p:nvSpPr>
          <p:cNvPr id="16" name="Rounded Rectangle 15"/>
          <p:cNvSpPr/>
          <p:nvPr/>
        </p:nvSpPr>
        <p:spPr>
          <a:xfrm>
            <a:off x="16527780" y="1371600"/>
            <a:ext cx="329184" cy="329184"/>
          </a:xfrm>
          <a:prstGeom prst="roundRect">
            <a:avLst>
              <a:gd name="adj" fmla="val 16666"/>
            </a:avLst>
          </a:prstGeom>
          <a:solidFill>
            <a:srgbClr val="4472C4"/>
          </a:solidFill>
          <a:ln w="15875">
            <a:solidFill>
              <a:srgbClr val="4472C4"/>
            </a:solidFill>
          </a:ln>
        </p:spPr>
        <p:txBody>
          <a:bodyPr anchor="ctr" rtlCol="false" lIns="0" tIns="0" rIns="0" bIns="0" wrap="square"/>
          <a:lstStyle/>
          <a:p>
            <a:endParaRPr lang="en-US" sz="1800"/>
          </a:p>
        </p:txBody>
      </p:sp>
      <p:sp>
        <p:nvSpPr>
          <p:cNvPr id="17" name="TextBox 16"/>
          <p:cNvSpPr txBox="1"/>
          <p:nvPr/>
        </p:nvSpPr>
        <p:spPr>
          <a:xfrm>
            <a:off x="16527780"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FFFFFF"/>
                </a:solidFill>
                <a:latin typeface="Nunito Ultra-Bold"/>
                <a:ea typeface="Nunito Ultra-Bold"/>
                <a:cs typeface="Nunito Ultra-Bold"/>
                <a:sym typeface="Nunito Ultra-Bold"/>
              </a:rPr>
              <a:t>6</a:t>
            </a:r>
          </a:p>
        </p:txBody>
      </p:sp>
      <p:sp>
        <p:nvSpPr>
          <p:cNvPr id="18" name="Rounded Rectangle 17"/>
          <p:cNvSpPr/>
          <p:nvPr/>
        </p:nvSpPr>
        <p:spPr>
          <a:xfrm>
            <a:off x="16930116"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19" name="TextBox 18"/>
          <p:cNvSpPr txBox="1"/>
          <p:nvPr/>
        </p:nvSpPr>
        <p:spPr>
          <a:xfrm>
            <a:off x="16930116"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7</a:t>
            </a:r>
          </a:p>
        </p:txBody>
      </p:sp>
      <p:sp>
        <p:nvSpPr>
          <p:cNvPr id="20" name="TextBox 19"/>
          <p:cNvSpPr txBox="1"/>
          <p:nvPr/>
        </p:nvSpPr>
        <p:spPr>
          <a:xfrm>
            <a:off x="1028700" y="1719072"/>
            <a:ext cx="16230600" cy="730250"/>
          </a:xfrm>
          <a:prstGeom prst="rect">
            <a:avLst/>
          </a:prstGeom>
          <a:noFill/>
        </p:spPr>
        <p:txBody>
          <a:bodyPr anchor="t" rtlCol="false" lIns="0" tIns="0" rIns="0" bIns="0" wrap="square"/>
          <a:lstStyle/>
          <a:p>
            <a:pPr algn="l">
              <a:lnSpc>
                <a:spcPts val="5060"/>
              </a:lnSpc>
              <a:spcBef>
                <a:spcPts val="0"/>
              </a:spcBef>
              <a:buNone/>
            </a:pPr>
            <a:r>
              <a:rPr lang="en-US" sz="4600" b="true" spc="-230">
                <a:solidFill>
                  <a:srgbClr val="111111"/>
                </a:solidFill>
                <a:latin typeface="Roca Two Bold"/>
                <a:ea typeface="Roca Two Bold"/>
                <a:cs typeface="Roca Two Bold"/>
                <a:sym typeface="Roca Two Bold"/>
              </a:rPr>
              <a:t>Preference-Aware Monte Carlo Shapley</a:t>
            </a:r>
          </a:p>
        </p:txBody>
      </p:sp>
      <p:sp>
        <p:nvSpPr>
          <p:cNvPr id="21" name="Rounded Rectangle 20"/>
          <p:cNvSpPr/>
          <p:nvPr/>
        </p:nvSpPr>
        <p:spPr>
          <a:xfrm>
            <a:off x="1028700" y="2559050"/>
            <a:ext cx="1691553" cy="420624"/>
          </a:xfrm>
          <a:prstGeom prst="roundRect">
            <a:avLst>
              <a:gd name="adj" fmla="val 50000"/>
            </a:avLst>
          </a:prstGeom>
          <a:noFill/>
          <a:ln w="28575">
            <a:solidFill>
              <a:srgbClr val="4472C4"/>
            </a:solidFill>
          </a:ln>
        </p:spPr>
        <p:txBody>
          <a:bodyPr anchor="ctr" rtlCol="false" lIns="45720" tIns="0" rIns="45720" bIns="0" wrap="square"/>
          <a:lstStyle/>
          <a:p>
            <a:pPr algn="ctr">
              <a:lnSpc>
                <a:spcPts val="2160"/>
              </a:lnSpc>
              <a:spcBef>
                <a:spcPts val="0"/>
              </a:spcBef>
              <a:buNone/>
            </a:pPr>
            <a:r>
              <a:rPr lang="en-US" sz="1800" b="true">
                <a:solidFill>
                  <a:srgbClr val="4472C4"/>
                </a:solidFill>
                <a:latin typeface="Nunito Bold"/>
                <a:ea typeface="Nunito Bold"/>
                <a:cs typeface="Nunito Bold"/>
                <a:sym typeface="Nunito Bold"/>
              </a:rPr>
              <a:t>Objectives</a:t>
            </a:r>
          </a:p>
        </p:txBody>
      </p:sp>
      <p:sp>
        <p:nvSpPr>
          <p:cNvPr id="22" name="Rounded Rectangle 21"/>
          <p:cNvSpPr/>
          <p:nvPr/>
        </p:nvSpPr>
        <p:spPr>
          <a:xfrm>
            <a:off x="2848269" y="2559050"/>
            <a:ext cx="1998119" cy="420624"/>
          </a:xfrm>
          <a:prstGeom prst="roundRect">
            <a:avLst>
              <a:gd name="adj" fmla="val 50000"/>
            </a:avLst>
          </a:prstGeom>
          <a:solidFill>
            <a:srgbClr val="4472C4"/>
          </a:solidFill>
          <a:ln>
            <a:noFill/>
          </a:ln>
        </p:spPr>
        <p:txBody>
          <a:bodyPr anchor="ctr" rtlCol="false" lIns="45720" tIns="0" rIns="45720" bIns="0" wrap="square"/>
          <a:lstStyle/>
          <a:p>
            <a:pPr algn="ctr">
              <a:lnSpc>
                <a:spcPts val="2160"/>
              </a:lnSpc>
              <a:spcBef>
                <a:spcPts val="0"/>
              </a:spcBef>
              <a:buNone/>
            </a:pPr>
            <a:r>
              <a:rPr lang="en-US" sz="1800" b="true">
                <a:solidFill>
                  <a:srgbClr val="FFFFFF"/>
                </a:solidFill>
                <a:latin typeface="Nunito Bold"/>
                <a:ea typeface="Nunito Bold"/>
                <a:cs typeface="Nunito Bold"/>
                <a:sym typeface="Nunito Bold"/>
              </a:rPr>
              <a:t>Methodology</a:t>
            </a:r>
          </a:p>
        </p:txBody>
      </p:sp>
      <p:sp>
        <p:nvSpPr>
          <p:cNvPr id="23" name="Rounded Rectangle 22"/>
          <p:cNvSpPr/>
          <p:nvPr/>
        </p:nvSpPr>
        <p:spPr>
          <a:xfrm>
            <a:off x="4974404" y="2559050"/>
            <a:ext cx="1369446" cy="420624"/>
          </a:xfrm>
          <a:prstGeom prst="roundRect">
            <a:avLst>
              <a:gd name="adj" fmla="val 50000"/>
            </a:avLst>
          </a:prstGeom>
          <a:noFill/>
          <a:ln w="28575">
            <a:solidFill>
              <a:srgbClr val="4472C4"/>
            </a:solidFill>
          </a:ln>
        </p:spPr>
        <p:txBody>
          <a:bodyPr anchor="ctr" rtlCol="false" lIns="45720" tIns="0" rIns="45720" bIns="0" wrap="square"/>
          <a:lstStyle/>
          <a:p>
            <a:pPr algn="ctr">
              <a:lnSpc>
                <a:spcPts val="2160"/>
              </a:lnSpc>
              <a:spcBef>
                <a:spcPts val="0"/>
              </a:spcBef>
              <a:buNone/>
            </a:pPr>
            <a:r>
              <a:rPr lang="en-US" sz="1800" b="true">
                <a:solidFill>
                  <a:srgbClr val="4472C4"/>
                </a:solidFill>
                <a:latin typeface="Nunito Bold"/>
                <a:ea typeface="Nunito Bold"/>
                <a:cs typeface="Nunito Bold"/>
                <a:sym typeface="Nunito Bold"/>
              </a:rPr>
              <a:t>Results</a:t>
            </a:r>
          </a:p>
        </p:txBody>
      </p:sp>
      <p:sp>
        <p:nvSpPr>
          <p:cNvPr id="24" name="Rounded Rectangle 23"/>
          <p:cNvSpPr/>
          <p:nvPr/>
        </p:nvSpPr>
        <p:spPr>
          <a:xfrm>
            <a:off x="6471866" y="2559050"/>
            <a:ext cx="1474931" cy="420624"/>
          </a:xfrm>
          <a:prstGeom prst="roundRect">
            <a:avLst>
              <a:gd name="adj" fmla="val 50000"/>
            </a:avLst>
          </a:prstGeom>
          <a:noFill/>
          <a:ln w="28575">
            <a:solidFill>
              <a:srgbClr val="4472C4"/>
            </a:solidFill>
          </a:ln>
        </p:spPr>
        <p:txBody>
          <a:bodyPr anchor="ctr" rtlCol="false" lIns="45720" tIns="0" rIns="45720" bIns="0" wrap="square"/>
          <a:lstStyle/>
          <a:p>
            <a:pPr algn="ctr">
              <a:lnSpc>
                <a:spcPts val="2160"/>
              </a:lnSpc>
              <a:spcBef>
                <a:spcPts val="0"/>
              </a:spcBef>
              <a:buNone/>
            </a:pPr>
            <a:r>
              <a:rPr lang="en-US" sz="1800" b="true">
                <a:solidFill>
                  <a:srgbClr val="4472C4"/>
                </a:solidFill>
                <a:latin typeface="Nunito Bold"/>
                <a:ea typeface="Nunito Bold"/>
                <a:cs typeface="Nunito Bold"/>
                <a:sym typeface="Nunito Bold"/>
              </a:rPr>
              <a:t>Findings</a:t>
            </a:r>
          </a:p>
        </p:txBody>
      </p:sp>
      <p:sp>
        <p:nvSpPr>
          <p:cNvPr id="25" name="TextBox 24"/>
          <p:cNvSpPr txBox="1"/>
          <p:nvPr/>
        </p:nvSpPr>
        <p:spPr>
          <a:xfrm>
            <a:off x="1028700" y="3363722"/>
            <a:ext cx="8595360" cy="411480"/>
          </a:xfrm>
          <a:prstGeom prst="rect">
            <a:avLst/>
          </a:prstGeom>
          <a:noFill/>
        </p:spPr>
        <p:txBody>
          <a:bodyPr anchor="t" rtlCol="false" lIns="0" tIns="0" rIns="0" bIns="0" wrap="square"/>
          <a:lstStyle/>
          <a:p>
            <a:pPr algn="l" marL="274320" indent="-274320">
              <a:lnSpc>
                <a:spcPts val="2940"/>
              </a:lnSpc>
              <a:spcBef>
                <a:spcPts val="0"/>
              </a:spcBef>
              <a:buClr>
                <a:srgbClr val="1F7A8C"/>
              </a:buClr>
              <a:buSzPct val="100000"/>
              <a:buFont typeface="Arial"/>
              <a:buChar char="•"/>
            </a:pPr>
            <a:r>
              <a:rPr lang="en-US" sz="2100" b="true">
                <a:solidFill>
                  <a:srgbClr val="111111"/>
                </a:solidFill>
                <a:latin typeface="Nunito Semi-Bold"/>
                <a:ea typeface="Nunito Semi-Bold"/>
                <a:cs typeface="Nunito Semi-Bold"/>
                <a:sym typeface="Nunito Semi-Bold"/>
              </a:rPr>
              <a:t>Exact Shapley is </a:t>
            </a:r>
            <a:r>
              <a:rPr lang="en-US" sz="2100" b="true">
                <a:solidFill>
                  <a:srgbClr val="111111"/>
                </a:solidFill>
                <a:latin typeface="Nunito Bold"/>
                <a:ea typeface="Nunito Bold"/>
                <a:cs typeface="Nunito Bold"/>
                <a:sym typeface="Nunito Bold"/>
              </a:rPr>
              <a:t>combinatorial and not feasible</a:t>
            </a:r>
            <a:r>
              <a:rPr lang="en-US" sz="2100" b="true">
                <a:solidFill>
                  <a:srgbClr val="111111"/>
                </a:solidFill>
                <a:latin typeface="Nunito Semi-Bold"/>
                <a:ea typeface="Nunito Semi-Bold"/>
                <a:cs typeface="Nunito Semi-Bold"/>
                <a:sym typeface="Nunito Semi-Bold"/>
              </a:rPr>
              <a:t> for real systems.</a:t>
            </a:r>
          </a:p>
        </p:txBody>
      </p:sp>
      <p:sp>
        <p:nvSpPr>
          <p:cNvPr id="26" name="Rounded Rectangle 25"/>
          <p:cNvSpPr/>
          <p:nvPr/>
        </p:nvSpPr>
        <p:spPr>
          <a:xfrm>
            <a:off x="1028700" y="3866642"/>
            <a:ext cx="8595360" cy="2834640"/>
          </a:xfrm>
          <a:prstGeom prst="roundRect">
            <a:avLst>
              <a:gd name="adj" fmla="val 6451"/>
            </a:avLst>
          </a:prstGeom>
          <a:solidFill>
            <a:srgbClr val="D9E2F3"/>
          </a:solidFill>
          <a:ln>
            <a:noFill/>
          </a:ln>
        </p:spPr>
        <p:txBody>
          <a:bodyPr anchor="ctr" rtlCol="false" lIns="0" tIns="0" rIns="0" bIns="0" wrap="square"/>
          <a:lstStyle/>
          <a:p>
            <a:endParaRPr lang="en-US" sz="1800"/>
          </a:p>
        </p:txBody>
      </p:sp>
      <mc:AlternateContent xmlns:mc="http://schemas.openxmlformats.org/markup-compatibility/2006">
        <mc:Choice xmlns:a14="http://schemas.microsoft.com/office/drawing/2010/main" Requires="a14">
          <p:sp>
            <p:nvSpPr>
              <p:cNvPr id="27" name="Equation"/>
              <p:cNvSpPr txBox="1"/>
              <p:nvPr/>
            </p:nvSpPr>
            <p:spPr>
              <a:xfrm>
                <a:off x="1211580" y="3958082"/>
                <a:ext cx="8229600" cy="1325880"/>
              </a:xfrm>
              <a:prstGeom prst="rect">
                <a:avLst/>
              </a:prstGeom>
              <a:noFill/>
            </p:spPr>
            <p:txBody>
              <a:bodyPr wrap="none" rtlCol="0" anchor="ctr" lIns="0" tIns="0" rIns="0" bIns="0"/>
              <a:lstStyle/>
              <a:p>
                <a:pPr algn="ctr"/>
                <a14:m xmlns:m="http://schemas.openxmlformats.org/officeDocument/2006/math">
                  <m:oMathPara>
                    <m:oMathParaPr>
                      <m:jc m:val="centerGroup"/>
                    </m:oMathParaPr>
                    <m:oMath>
                      <m:sSub>
                        <m:sSubPr>
                          <m:ctrlPr>
                            <a:rPr lang="en-US" sz="2350" i="1">
                              <a:solidFill>
                                <a:srgbClr val="4472C4"/>
                              </a:solidFill>
                              <a:latin typeface="Cambria Math" panose="02040503050406030204" pitchFamily="18" charset="0"/>
                            </a:rPr>
                          </m:ctrlPr>
                        </m:sSubPr>
                        <m:e>
                          <m:acc>
                            <m:accPr>
                              <m:chr m:val="̂"/>
                              <m:ctrlPr>
                                <a:rPr lang="en-US" sz="2350" i="1">
                                  <a:solidFill>
                                    <a:srgbClr val="4472C4"/>
                                  </a:solidFill>
                                  <a:latin typeface="Cambria Math" panose="02040503050406030204" pitchFamily="18" charset="0"/>
                                </a:rPr>
                              </m:ctrlPr>
                            </m:accPr>
                            <m:e>
                              <m:r>
                                <a:rPr lang="en-US" sz="2350" i="1">
                                  <a:solidFill>
                                    <a:srgbClr val="4472C4"/>
                                  </a:solidFill>
                                  <a:latin typeface="Cambria Math" panose="02040503050406030204" pitchFamily="18" charset="0"/>
                                </a:rPr>
                                <m:t xml:space="preserve">φ</m:t>
                              </m:r>
                            </m:e>
                          </m:acc>
                        </m:e>
                        <m:sub>
                          <m:r>
                            <a:rPr lang="en-US" sz="2350" i="1">
                              <a:solidFill>
                                <a:srgbClr val="4472C4"/>
                              </a:solidFill>
                              <a:latin typeface="Cambria Math" panose="02040503050406030204" pitchFamily="18" charset="0"/>
                            </a:rPr>
                            <m:t xml:space="preserve">j</m:t>
                          </m:r>
                        </m:sub>
                      </m:sSub>
                      <m:r>
                        <m:rPr>
                          <m:sty m:val="p"/>
                        </m:rPr>
                        <a:rPr lang="en-US" sz="2350">
                          <a:solidFill>
                            <a:srgbClr val="4472C4"/>
                          </a:solidFill>
                          <a:latin typeface="Cambria Math" panose="02040503050406030204" pitchFamily="18" charset="0"/>
                        </a:rPr>
                        <m:t xml:space="preserve">=</m:t>
                      </m:r>
                      <m:f>
                        <m:fPr>
                          <m:ctrlPr>
                            <a:rPr lang="en-US" sz="2350" i="1">
                              <a:solidFill>
                                <a:srgbClr val="4472C4"/>
                              </a:solidFill>
                              <a:latin typeface="Cambria Math" panose="02040503050406030204" pitchFamily="18" charset="0"/>
                            </a:rPr>
                          </m:ctrlPr>
                        </m:fPr>
                        <m:num>
                          <m:r>
                            <m:rPr>
                              <m:sty m:val="p"/>
                            </m:rPr>
                            <a:rPr lang="en-US" sz="2350">
                              <a:solidFill>
                                <a:srgbClr val="4472C4"/>
                              </a:solidFill>
                              <a:latin typeface="Cambria Math" panose="02040503050406030204" pitchFamily="18" charset="0"/>
                            </a:rPr>
                            <m:t xml:space="preserve">1</m:t>
                          </m:r>
                        </m:num>
                        <m:den>
                          <m:r>
                            <a:rPr lang="en-US" sz="2350" i="1">
                              <a:solidFill>
                                <a:srgbClr val="4472C4"/>
                              </a:solidFill>
                              <a:latin typeface="Cambria Math" panose="02040503050406030204" pitchFamily="18" charset="0"/>
                            </a:rPr>
                            <m:t xml:space="preserve">M</m:t>
                          </m:r>
                        </m:den>
                      </m:f>
                      <m:nary>
                        <m:naryPr>
                          <m:chr m:val="∑"/>
                          <m:limLoc m:val="undOvr"/>
                          <m:ctrlPr>
                            <a:rPr lang="en-US" sz="2350" i="1">
                              <a:solidFill>
                                <a:srgbClr val="4472C4"/>
                              </a:solidFill>
                              <a:latin typeface="Cambria Math" panose="02040503050406030204" pitchFamily="18" charset="0"/>
                            </a:rPr>
                          </m:ctrlPr>
                        </m:naryPr>
                        <m:sub>
                          <m:r>
                            <a:rPr lang="en-US" sz="2350" i="1">
                              <a:solidFill>
                                <a:srgbClr val="4472C4"/>
                              </a:solidFill>
                              <a:latin typeface="Cambria Math" panose="02040503050406030204" pitchFamily="18" charset="0"/>
                            </a:rPr>
                            <m:t xml:space="preserve">m</m:t>
                          </m:r>
                          <m:r>
                            <m:rPr>
                              <m:sty m:val="p"/>
                            </m:rPr>
                            <a:rPr lang="en-US" sz="2350">
                              <a:solidFill>
                                <a:srgbClr val="4472C4"/>
                              </a:solidFill>
                              <a:latin typeface="Cambria Math" panose="02040503050406030204" pitchFamily="18" charset="0"/>
                            </a:rPr>
                            <m:t xml:space="preserve">=1</m:t>
                          </m:r>
                        </m:sub>
                        <m:sup>
                          <m:r>
                            <a:rPr lang="en-US" sz="2350" i="1">
                              <a:solidFill>
                                <a:srgbClr val="4472C4"/>
                              </a:solidFill>
                              <a:latin typeface="Cambria Math" panose="02040503050406030204" pitchFamily="18" charset="0"/>
                            </a:rPr>
                            <m:t xml:space="preserve">M</m:t>
                          </m:r>
                        </m:sup>
                        <m:e>
                          <m:d>
                            <m:dPr>
                              <m:begChr m:val="["/>
                              <m:endChr m:val="]"/>
                              <m:ctrlPr>
                                <a:rPr lang="en-US" sz="2350" i="1">
                                  <a:solidFill>
                                    <a:srgbClr val="4472C4"/>
                                  </a:solidFill>
                                  <a:latin typeface="Cambria Math" panose="02040503050406030204" pitchFamily="18" charset="0"/>
                                </a:rPr>
                              </m:ctrlPr>
                            </m:dPr>
                            <m:e>
                              <m:r>
                                <m:rPr>
                                  <m:sty m:val="p"/>
                                </m:rPr>
                                <a:rPr lang="en-US" sz="2350">
                                  <a:solidFill>
                                    <a:srgbClr val="4472C4"/>
                                  </a:solidFill>
                                  <a:latin typeface="Cambria Math" panose="02040503050406030204" pitchFamily="18" charset="0"/>
                                </a:rPr>
                                <m:t xml:space="preserve"> </m:t>
                              </m:r>
                              <m:r>
                                <a:rPr lang="en-US" sz="2350" i="1">
                                  <a:solidFill>
                                    <a:srgbClr val="4472C4"/>
                                  </a:solidFill>
                                  <a:latin typeface="Cambria Math" panose="02040503050406030204" pitchFamily="18" charset="0"/>
                                </a:rPr>
                                <m:t xml:space="preserve">v</m:t>
                              </m:r>
                              <m:r>
                                <m:rPr>
                                  <m:sty m:val="p"/>
                                </m:rPr>
                                <a:rPr lang="en-US" sz="2350">
                                  <a:solidFill>
                                    <a:srgbClr val="4472C4"/>
                                  </a:solidFill>
                                  <a:latin typeface="Cambria Math" panose="02040503050406030204" pitchFamily="18" charset="0"/>
                                </a:rPr>
                                <m:t xml:space="preserve">(</m:t>
                              </m:r>
                              <m:sSub>
                                <m:sSubPr>
                                  <m:ctrlPr>
                                    <a:rPr lang="en-US" sz="2350" i="1">
                                      <a:solidFill>
                                        <a:srgbClr val="4472C4"/>
                                      </a:solidFill>
                                      <a:latin typeface="Cambria Math" panose="02040503050406030204" pitchFamily="18" charset="0"/>
                                    </a:rPr>
                                  </m:ctrlPr>
                                </m:sSubPr>
                                <m:e>
                                  <m:r>
                                    <a:rPr lang="en-US" sz="2350" i="1">
                                      <a:solidFill>
                                        <a:srgbClr val="4472C4"/>
                                      </a:solidFill>
                                      <a:latin typeface="Cambria Math" panose="02040503050406030204" pitchFamily="18" charset="0"/>
                                    </a:rPr>
                                    <m:t xml:space="preserve">S</m:t>
                                  </m:r>
                                </m:e>
                                <m:sub>
                                  <m:r>
                                    <a:rPr lang="en-US" sz="2350" i="1">
                                      <a:solidFill>
                                        <a:srgbClr val="4472C4"/>
                                      </a:solidFill>
                                      <a:latin typeface="Cambria Math" panose="02040503050406030204" pitchFamily="18" charset="0"/>
                                    </a:rPr>
                                    <m:t xml:space="preserve">m</m:t>
                                  </m:r>
                                </m:sub>
                              </m:sSub>
                              <m:r>
                                <m:rPr>
                                  <m:sty m:val="p"/>
                                </m:rPr>
                                <a:rPr lang="en-US" sz="2350">
                                  <a:solidFill>
                                    <a:srgbClr val="4472C4"/>
                                  </a:solidFill>
                                  <a:latin typeface="Cambria Math" panose="02040503050406030204" pitchFamily="18" charset="0"/>
                                </a:rPr>
                                <m:t xml:space="preserve">∪{</m:t>
                              </m:r>
                              <m:r>
                                <a:rPr lang="en-US" sz="2350" i="1">
                                  <a:solidFill>
                                    <a:srgbClr val="4472C4"/>
                                  </a:solidFill>
                                  <a:latin typeface="Cambria Math" panose="02040503050406030204" pitchFamily="18" charset="0"/>
                                </a:rPr>
                                <m:t xml:space="preserve">j</m:t>
                              </m:r>
                              <m:r>
                                <m:rPr>
                                  <m:sty m:val="p"/>
                                </m:rPr>
                                <a:rPr lang="en-US" sz="2350">
                                  <a:solidFill>
                                    <a:srgbClr val="4472C4"/>
                                  </a:solidFill>
                                  <a:latin typeface="Cambria Math" panose="02040503050406030204" pitchFamily="18" charset="0"/>
                                </a:rPr>
                                <m:t xml:space="preserve">})−</m:t>
                              </m:r>
                              <m:r>
                                <a:rPr lang="en-US" sz="2350" i="1">
                                  <a:solidFill>
                                    <a:srgbClr val="4472C4"/>
                                  </a:solidFill>
                                  <a:latin typeface="Cambria Math" panose="02040503050406030204" pitchFamily="18" charset="0"/>
                                </a:rPr>
                                <m:t xml:space="preserve">v</m:t>
                              </m:r>
                              <m:r>
                                <m:rPr>
                                  <m:sty m:val="p"/>
                                </m:rPr>
                                <a:rPr lang="en-US" sz="2350">
                                  <a:solidFill>
                                    <a:srgbClr val="4472C4"/>
                                  </a:solidFill>
                                  <a:latin typeface="Cambria Math" panose="02040503050406030204" pitchFamily="18" charset="0"/>
                                </a:rPr>
                                <m:t xml:space="preserve">(</m:t>
                              </m:r>
                              <m:sSub>
                                <m:sSubPr>
                                  <m:ctrlPr>
                                    <a:rPr lang="en-US" sz="2350" i="1">
                                      <a:solidFill>
                                        <a:srgbClr val="4472C4"/>
                                      </a:solidFill>
                                      <a:latin typeface="Cambria Math" panose="02040503050406030204" pitchFamily="18" charset="0"/>
                                    </a:rPr>
                                  </m:ctrlPr>
                                </m:sSubPr>
                                <m:e>
                                  <m:r>
                                    <a:rPr lang="en-US" sz="2350" i="1">
                                      <a:solidFill>
                                        <a:srgbClr val="4472C4"/>
                                      </a:solidFill>
                                      <a:latin typeface="Cambria Math" panose="02040503050406030204" pitchFamily="18" charset="0"/>
                                    </a:rPr>
                                    <m:t xml:space="preserve">S</m:t>
                                  </m:r>
                                </m:e>
                                <m:sub>
                                  <m:r>
                                    <a:rPr lang="en-US" sz="2350" i="1">
                                      <a:solidFill>
                                        <a:srgbClr val="4472C4"/>
                                      </a:solidFill>
                                      <a:latin typeface="Cambria Math" panose="02040503050406030204" pitchFamily="18" charset="0"/>
                                    </a:rPr>
                                    <m:t xml:space="preserve">m</m:t>
                                  </m:r>
                                </m:sub>
                              </m:sSub>
                              <m:r>
                                <m:rPr>
                                  <m:sty m:val="p"/>
                                </m:rPr>
                                <a:rPr lang="en-US" sz="2350">
                                  <a:solidFill>
                                    <a:srgbClr val="4472C4"/>
                                  </a:solidFill>
                                  <a:latin typeface="Cambria Math" panose="02040503050406030204" pitchFamily="18" charset="0"/>
                                </a:rPr>
                                <m:t xml:space="preserve">) </m:t>
                              </m:r>
                            </m:e>
                          </m:d>
                        </m:e>
                      </m:nary>
                    </m:oMath>
                  </m:oMathPara>
                </a14:m>
                <a:endParaRPr lang="en-US" sz="2350"/>
              </a:p>
            </p:txBody>
          </p:sp>
        </mc:Choice>
        <mc:Fallback>
          <p:sp>
            <p:nvSpPr>
              <p:cNvPr id="27" name="Equation"/>
              <p:cNvSpPr txBox="1"/>
              <p:nvPr/>
            </p:nvSpPr>
            <p:spPr>
              <a:xfrm>
                <a:off x="1211580" y="3958082"/>
                <a:ext cx="8229600" cy="1325880"/>
              </a:xfrm>
              <a:prstGeom prst="rect">
                <a:avLst/>
              </a:prstGeom>
              <a:blipFill>
                <a:blip r:embed="rId4"/>
                <a:stretch>
                  <a:fillRect/>
                </a:stretch>
              </a:blipFill>
            </p:spPr>
            <p:txBody>
              <a:bodyPr/>
              <a:lstStyle/>
              <a:p>
                <a:endParaRPr lang="en-US"/>
              </a:p>
            </p:txBody>
          </p:sp>
        </mc:Fallback>
      </mc:AlternateContent>
      <mc:AlternateContent xmlns:mc="http://schemas.openxmlformats.org/markup-compatibility/2006">
        <mc:Choice xmlns:a14="http://schemas.microsoft.com/office/drawing/2010/main" Requires="a14">
          <p:sp>
            <p:nvSpPr>
              <p:cNvPr id="28" name="Equation"/>
              <p:cNvSpPr txBox="1"/>
              <p:nvPr/>
            </p:nvSpPr>
            <p:spPr>
              <a:xfrm>
                <a:off x="1211580" y="5283962"/>
                <a:ext cx="8229600" cy="1325880"/>
              </a:xfrm>
              <a:prstGeom prst="rect">
                <a:avLst/>
              </a:prstGeom>
              <a:noFill/>
            </p:spPr>
            <p:txBody>
              <a:bodyPr wrap="none" rtlCol="0" anchor="ctr" lIns="0" tIns="0" rIns="0" bIns="0"/>
              <a:lstStyle/>
              <a:p>
                <a:pPr algn="ctr"/>
                <a14:m xmlns:m="http://schemas.openxmlformats.org/officeDocument/2006/math">
                  <m:oMathPara>
                    <m:oMathParaPr>
                      <m:jc m:val="centerGroup"/>
                    </m:oMathParaPr>
                    <m:oMath>
                      <m:sSubSup>
                        <m:sSubSupPr>
                          <m:ctrlPr>
                            <a:rPr lang="en-US" sz="2350" i="1">
                              <a:solidFill>
                                <a:srgbClr val="1F7A8C"/>
                              </a:solidFill>
                              <a:latin typeface="Cambria Math" panose="02040503050406030204" pitchFamily="18" charset="0"/>
                            </a:rPr>
                          </m:ctrlPr>
                        </m:sSubSupPr>
                        <m:e>
                          <m:acc>
                            <m:accPr>
                              <m:chr m:val="̂"/>
                              <m:ctrlPr>
                                <a:rPr lang="en-US" sz="2350" i="1">
                                  <a:solidFill>
                                    <a:srgbClr val="1F7A8C"/>
                                  </a:solidFill>
                                  <a:latin typeface="Cambria Math" panose="02040503050406030204" pitchFamily="18" charset="0"/>
                                </a:rPr>
                              </m:ctrlPr>
                            </m:accPr>
                            <m:e>
                              <m:r>
                                <a:rPr lang="en-US" sz="2350" i="1">
                                  <a:solidFill>
                                    <a:srgbClr val="1F7A8C"/>
                                  </a:solidFill>
                                  <a:latin typeface="Cambria Math" panose="02040503050406030204" pitchFamily="18" charset="0"/>
                                </a:rPr>
                                <m:t xml:space="preserve">φ</m:t>
                              </m:r>
                            </m:e>
                          </m:acc>
                        </m:e>
                        <m:sub>
                          <m:r>
                            <a:rPr lang="en-US" sz="2350" i="1">
                              <a:solidFill>
                                <a:srgbClr val="1F7A8C"/>
                              </a:solidFill>
                              <a:latin typeface="Cambria Math" panose="02040503050406030204" pitchFamily="18" charset="0"/>
                            </a:rPr>
                            <m:t xml:space="preserve">j</m:t>
                          </m:r>
                        </m:sub>
                        <m:sup>
                          <m:r>
                            <m:rPr>
                              <m:sty m:val="p"/>
                            </m:rPr>
                            <a:rPr lang="en-US" sz="2350">
                              <a:solidFill>
                                <a:srgbClr val="1F7A8C"/>
                              </a:solidFill>
                              <a:latin typeface="Cambria Math" panose="02040503050406030204" pitchFamily="18" charset="0"/>
                            </a:rPr>
                            <m:t xml:space="preserve"> pref</m:t>
                          </m:r>
                        </m:sup>
                      </m:sSubSup>
                      <m:r>
                        <m:rPr>
                          <m:sty m:val="p"/>
                        </m:rPr>
                        <a:rPr lang="en-US" sz="2350">
                          <a:solidFill>
                            <a:srgbClr val="1F7A8C"/>
                          </a:solidFill>
                          <a:latin typeface="Cambria Math" panose="02040503050406030204" pitchFamily="18" charset="0"/>
                        </a:rPr>
                        <m:t xml:space="preserve">=</m:t>
                      </m:r>
                      <m:f>
                        <m:fPr>
                          <m:ctrlPr>
                            <a:rPr lang="en-US" sz="2350" i="1">
                              <a:solidFill>
                                <a:srgbClr val="1F7A8C"/>
                              </a:solidFill>
                              <a:latin typeface="Cambria Math" panose="02040503050406030204" pitchFamily="18" charset="0"/>
                            </a:rPr>
                          </m:ctrlPr>
                        </m:fPr>
                        <m:num>
                          <m:r>
                            <m:rPr>
                              <m:sty m:val="p"/>
                            </m:rPr>
                            <a:rPr lang="en-US" sz="2350">
                              <a:solidFill>
                                <a:srgbClr val="1F7A8C"/>
                              </a:solidFill>
                              <a:latin typeface="Cambria Math" panose="02040503050406030204" pitchFamily="18" charset="0"/>
                            </a:rPr>
                            <m:t xml:space="preserve">1</m:t>
                          </m:r>
                        </m:num>
                        <m:den>
                          <m:r>
                            <a:rPr lang="en-US" sz="2350" i="1">
                              <a:solidFill>
                                <a:srgbClr val="1F7A8C"/>
                              </a:solidFill>
                              <a:latin typeface="Cambria Math" panose="02040503050406030204" pitchFamily="18" charset="0"/>
                            </a:rPr>
                            <m:t xml:space="preserve">M</m:t>
                          </m:r>
                        </m:den>
                      </m:f>
                      <m:nary>
                        <m:naryPr>
                          <m:chr m:val="∑"/>
                          <m:limLoc m:val="undOvr"/>
                          <m:ctrlPr>
                            <a:rPr lang="en-US" sz="2350" i="1">
                              <a:solidFill>
                                <a:srgbClr val="1F7A8C"/>
                              </a:solidFill>
                              <a:latin typeface="Cambria Math" panose="02040503050406030204" pitchFamily="18" charset="0"/>
                            </a:rPr>
                          </m:ctrlPr>
                        </m:naryPr>
                        <m:sub>
                          <m:r>
                            <a:rPr lang="en-US" sz="2350" i="1">
                              <a:solidFill>
                                <a:srgbClr val="1F7A8C"/>
                              </a:solidFill>
                              <a:latin typeface="Cambria Math" panose="02040503050406030204" pitchFamily="18" charset="0"/>
                            </a:rPr>
                            <m:t xml:space="preserve">m</m:t>
                          </m:r>
                          <m:r>
                            <m:rPr>
                              <m:sty m:val="p"/>
                            </m:rPr>
                            <a:rPr lang="en-US" sz="2350">
                              <a:solidFill>
                                <a:srgbClr val="1F7A8C"/>
                              </a:solidFill>
                              <a:latin typeface="Cambria Math" panose="02040503050406030204" pitchFamily="18" charset="0"/>
                            </a:rPr>
                            <m:t xml:space="preserve">=1</m:t>
                          </m:r>
                        </m:sub>
                        <m:sup>
                          <m:r>
                            <a:rPr lang="en-US" sz="2350" i="1">
                              <a:solidFill>
                                <a:srgbClr val="1F7A8C"/>
                              </a:solidFill>
                              <a:latin typeface="Cambria Math" panose="02040503050406030204" pitchFamily="18" charset="0"/>
                            </a:rPr>
                            <m:t xml:space="preserve">M</m:t>
                          </m:r>
                        </m:sup>
                        <m:e>
                          <m:d>
                            <m:dPr>
                              <m:begChr m:val="["/>
                              <m:endChr m:val="]"/>
                              <m:ctrlPr>
                                <a:rPr lang="en-US" sz="2350" i="1">
                                  <a:solidFill>
                                    <a:srgbClr val="1F7A8C"/>
                                  </a:solidFill>
                                  <a:latin typeface="Cambria Math" panose="02040503050406030204" pitchFamily="18" charset="0"/>
                                </a:rPr>
                              </m:ctrlPr>
                            </m:dPr>
                            <m:e>
                              <m:r>
                                <m:rPr>
                                  <m:sty m:val="p"/>
                                </m:rPr>
                                <a:rPr lang="en-US" sz="2350">
                                  <a:solidFill>
                                    <a:srgbClr val="1F7A8C"/>
                                  </a:solidFill>
                                  <a:latin typeface="Cambria Math" panose="02040503050406030204" pitchFamily="18" charset="0"/>
                                </a:rPr>
                                <m:t xml:space="preserve"> </m:t>
                              </m:r>
                              <m:sSub>
                                <m:sSubPr>
                                  <m:ctrlPr>
                                    <a:rPr lang="en-US" sz="2350" i="1">
                                      <a:solidFill>
                                        <a:srgbClr val="1F7A8C"/>
                                      </a:solidFill>
                                      <a:latin typeface="Cambria Math" panose="02040503050406030204" pitchFamily="18" charset="0"/>
                                    </a:rPr>
                                  </m:ctrlPr>
                                </m:sSubPr>
                                <m:e>
                                  <m:r>
                                    <a:rPr lang="en-US" sz="2350" i="1">
                                      <a:solidFill>
                                        <a:srgbClr val="1F7A8C"/>
                                      </a:solidFill>
                                      <a:latin typeface="Cambria Math" panose="02040503050406030204" pitchFamily="18" charset="0"/>
                                    </a:rPr>
                                    <m:t xml:space="preserve">v</m:t>
                                  </m:r>
                                </m:e>
                                <m:sub>
                                  <m:r>
                                    <m:rPr>
                                      <m:sty m:val="p"/>
                                    </m:rPr>
                                    <a:rPr lang="en-US" sz="2350">
                                      <a:solidFill>
                                        <a:srgbClr val="1F7A8C"/>
                                      </a:solidFill>
                                      <a:latin typeface="Cambria Math" panose="02040503050406030204" pitchFamily="18" charset="0"/>
                                    </a:rPr>
                                    <m:t xml:space="preserve">pref</m:t>
                                  </m:r>
                                </m:sub>
                              </m:sSub>
                              <m:r>
                                <m:rPr>
                                  <m:sty m:val="p"/>
                                </m:rPr>
                                <a:rPr lang="en-US" sz="2350">
                                  <a:solidFill>
                                    <a:srgbClr val="1F7A8C"/>
                                  </a:solidFill>
                                  <a:latin typeface="Cambria Math" panose="02040503050406030204" pitchFamily="18" charset="0"/>
                                </a:rPr>
                                <m:t xml:space="preserve">(</m:t>
                              </m:r>
                              <m:sSub>
                                <m:sSubPr>
                                  <m:ctrlPr>
                                    <a:rPr lang="en-US" sz="2350" i="1">
                                      <a:solidFill>
                                        <a:srgbClr val="1F7A8C"/>
                                      </a:solidFill>
                                      <a:latin typeface="Cambria Math" panose="02040503050406030204" pitchFamily="18" charset="0"/>
                                    </a:rPr>
                                  </m:ctrlPr>
                                </m:sSubPr>
                                <m:e>
                                  <m:r>
                                    <a:rPr lang="en-US" sz="2350" i="1">
                                      <a:solidFill>
                                        <a:srgbClr val="1F7A8C"/>
                                      </a:solidFill>
                                      <a:latin typeface="Cambria Math" panose="02040503050406030204" pitchFamily="18" charset="0"/>
                                    </a:rPr>
                                    <m:t xml:space="preserve">S</m:t>
                                  </m:r>
                                </m:e>
                                <m:sub>
                                  <m:r>
                                    <a:rPr lang="en-US" sz="2350" i="1">
                                      <a:solidFill>
                                        <a:srgbClr val="1F7A8C"/>
                                      </a:solidFill>
                                      <a:latin typeface="Cambria Math" panose="02040503050406030204" pitchFamily="18" charset="0"/>
                                    </a:rPr>
                                    <m:t xml:space="preserve">m</m:t>
                                  </m:r>
                                </m:sub>
                              </m:sSub>
                              <m:r>
                                <m:rPr>
                                  <m:sty m:val="p"/>
                                </m:rPr>
                                <a:rPr lang="en-US" sz="2350">
                                  <a:solidFill>
                                    <a:srgbClr val="1F7A8C"/>
                                  </a:solidFill>
                                  <a:latin typeface="Cambria Math" panose="02040503050406030204" pitchFamily="18" charset="0"/>
                                </a:rPr>
                                <m:t xml:space="preserve">∪{</m:t>
                              </m:r>
                              <m:r>
                                <a:rPr lang="en-US" sz="2350" i="1">
                                  <a:solidFill>
                                    <a:srgbClr val="1F7A8C"/>
                                  </a:solidFill>
                                  <a:latin typeface="Cambria Math" panose="02040503050406030204" pitchFamily="18" charset="0"/>
                                </a:rPr>
                                <m:t xml:space="preserve">j</m:t>
                              </m:r>
                              <m:r>
                                <m:rPr>
                                  <m:sty m:val="p"/>
                                </m:rPr>
                                <a:rPr lang="en-US" sz="2350">
                                  <a:solidFill>
                                    <a:srgbClr val="1F7A8C"/>
                                  </a:solidFill>
                                  <a:latin typeface="Cambria Math" panose="02040503050406030204" pitchFamily="18" charset="0"/>
                                </a:rPr>
                                <m:t xml:space="preserve">})−</m:t>
                              </m:r>
                              <m:sSub>
                                <m:sSubPr>
                                  <m:ctrlPr>
                                    <a:rPr lang="en-US" sz="2350" i="1">
                                      <a:solidFill>
                                        <a:srgbClr val="1F7A8C"/>
                                      </a:solidFill>
                                      <a:latin typeface="Cambria Math" panose="02040503050406030204" pitchFamily="18" charset="0"/>
                                    </a:rPr>
                                  </m:ctrlPr>
                                </m:sSubPr>
                                <m:e>
                                  <m:r>
                                    <a:rPr lang="en-US" sz="2350" i="1">
                                      <a:solidFill>
                                        <a:srgbClr val="1F7A8C"/>
                                      </a:solidFill>
                                      <a:latin typeface="Cambria Math" panose="02040503050406030204" pitchFamily="18" charset="0"/>
                                    </a:rPr>
                                    <m:t xml:space="preserve">v</m:t>
                                  </m:r>
                                </m:e>
                                <m:sub>
                                  <m:r>
                                    <m:rPr>
                                      <m:sty m:val="p"/>
                                    </m:rPr>
                                    <a:rPr lang="en-US" sz="2350">
                                      <a:solidFill>
                                        <a:srgbClr val="1F7A8C"/>
                                      </a:solidFill>
                                      <a:latin typeface="Cambria Math" panose="02040503050406030204" pitchFamily="18" charset="0"/>
                                    </a:rPr>
                                    <m:t xml:space="preserve">pref</m:t>
                                  </m:r>
                                </m:sub>
                              </m:sSub>
                              <m:r>
                                <m:rPr>
                                  <m:sty m:val="p"/>
                                </m:rPr>
                                <a:rPr lang="en-US" sz="2350">
                                  <a:solidFill>
                                    <a:srgbClr val="1F7A8C"/>
                                  </a:solidFill>
                                  <a:latin typeface="Cambria Math" panose="02040503050406030204" pitchFamily="18" charset="0"/>
                                </a:rPr>
                                <m:t xml:space="preserve">(</m:t>
                              </m:r>
                              <m:sSub>
                                <m:sSubPr>
                                  <m:ctrlPr>
                                    <a:rPr lang="en-US" sz="2350" i="1">
                                      <a:solidFill>
                                        <a:srgbClr val="1F7A8C"/>
                                      </a:solidFill>
                                      <a:latin typeface="Cambria Math" panose="02040503050406030204" pitchFamily="18" charset="0"/>
                                    </a:rPr>
                                  </m:ctrlPr>
                                </m:sSubPr>
                                <m:e>
                                  <m:r>
                                    <a:rPr lang="en-US" sz="2350" i="1">
                                      <a:solidFill>
                                        <a:srgbClr val="1F7A8C"/>
                                      </a:solidFill>
                                      <a:latin typeface="Cambria Math" panose="02040503050406030204" pitchFamily="18" charset="0"/>
                                    </a:rPr>
                                    <m:t xml:space="preserve">S</m:t>
                                  </m:r>
                                </m:e>
                                <m:sub>
                                  <m:r>
                                    <a:rPr lang="en-US" sz="2350" i="1">
                                      <a:solidFill>
                                        <a:srgbClr val="1F7A8C"/>
                                      </a:solidFill>
                                      <a:latin typeface="Cambria Math" panose="02040503050406030204" pitchFamily="18" charset="0"/>
                                    </a:rPr>
                                    <m:t xml:space="preserve">m</m:t>
                                  </m:r>
                                </m:sub>
                              </m:sSub>
                              <m:r>
                                <m:rPr>
                                  <m:sty m:val="p"/>
                                </m:rPr>
                                <a:rPr lang="en-US" sz="2350">
                                  <a:solidFill>
                                    <a:srgbClr val="1F7A8C"/>
                                  </a:solidFill>
                                  <a:latin typeface="Cambria Math" panose="02040503050406030204" pitchFamily="18" charset="0"/>
                                </a:rPr>
                                <m:t xml:space="preserve">) </m:t>
                              </m:r>
                            </m:e>
                          </m:d>
                        </m:e>
                      </m:nary>
                    </m:oMath>
                  </m:oMathPara>
                </a14:m>
                <a:endParaRPr lang="en-US" sz="2350"/>
              </a:p>
            </p:txBody>
          </p:sp>
        </mc:Choice>
        <mc:Fallback>
          <p:sp>
            <p:nvSpPr>
              <p:cNvPr id="28" name="Equation"/>
              <p:cNvSpPr txBox="1"/>
              <p:nvPr/>
            </p:nvSpPr>
            <p:spPr>
              <a:xfrm>
                <a:off x="1211580" y="5283962"/>
                <a:ext cx="8229600" cy="1325880"/>
              </a:xfrm>
              <a:prstGeom prst="rect">
                <a:avLst/>
              </a:prstGeom>
              <a:blipFill>
                <a:blip r:embed="rId5"/>
                <a:stretch>
                  <a:fillRect/>
                </a:stretch>
              </a:blipFill>
            </p:spPr>
            <p:txBody>
              <a:bodyPr/>
              <a:lstStyle/>
              <a:p>
                <a:endParaRPr lang="en-US"/>
              </a:p>
            </p:txBody>
          </p:sp>
        </mc:Fallback>
      </mc:AlternateContent>
      <mc:AlternateContent xmlns:mc="http://schemas.openxmlformats.org/markup-compatibility/2006">
        <mc:Choice xmlns:a14="http://schemas.microsoft.com/office/drawing/2010/main" Requires="a14">
          <p:sp>
            <p:nvSpPr>
              <p:cNvPr id="29" name="Equation"/>
              <p:cNvSpPr txBox="1"/>
              <p:nvPr/>
            </p:nvSpPr>
            <p:spPr>
              <a:xfrm>
                <a:off x="1211580" y="6838442"/>
                <a:ext cx="8229600" cy="548640"/>
              </a:xfrm>
              <a:prstGeom prst="rect">
                <a:avLst/>
              </a:prstGeom>
              <a:noFill/>
            </p:spPr>
            <p:txBody>
              <a:bodyPr wrap="none" rtlCol="0" anchor="ctr" lIns="0" tIns="0" rIns="0" bIns="0"/>
              <a:lstStyle/>
              <a:p>
                <a:pPr algn="ctr"/>
                <a14:m xmlns:m="http://schemas.openxmlformats.org/officeDocument/2006/math">
                  <m:oMathPara>
                    <m:oMathParaPr>
                      <m:jc m:val="centerGroup"/>
                    </m:oMathParaPr>
                    <m:oMath>
                      <m:r>
                        <m:rPr>
                          <m:sty m:val="p"/>
                        </m:rPr>
                        <a:rPr lang="en-US" sz="1600">
                          <a:solidFill>
                            <a:srgbClr val="111111"/>
                          </a:solidFill>
                          <a:latin typeface="Cambria Math" panose="02040503050406030204" pitchFamily="18" charset="0"/>
                        </a:rPr>
                        <m:t xml:space="preserve">Var</m:t>
                      </m:r>
                      <m:d>
                        <m:dPr>
                          <m:begChr m:val="["/>
                          <m:endChr m:val="]"/>
                          <m:ctrlPr>
                            <a:rPr lang="en-US" sz="1600" i="1">
                              <a:solidFill>
                                <a:srgbClr val="111111"/>
                              </a:solidFill>
                              <a:latin typeface="Cambria Math" panose="02040503050406030204" pitchFamily="18" charset="0"/>
                            </a:rPr>
                          </m:ctrlPr>
                        </m:dPr>
                        <m:e>
                          <m:sSub>
                            <m:sSubPr>
                              <m:ctrlPr>
                                <a:rPr lang="en-US" sz="1600" i="1">
                                  <a:solidFill>
                                    <a:srgbClr val="111111"/>
                                  </a:solidFill>
                                  <a:latin typeface="Cambria Math" panose="02040503050406030204" pitchFamily="18" charset="0"/>
                                </a:rPr>
                              </m:ctrlPr>
                            </m:sSubPr>
                            <m:e>
                              <m:acc>
                                <m:accPr>
                                  <m:chr m:val="̂"/>
                                  <m:ctrlPr>
                                    <a:rPr lang="en-US" sz="1600" i="1">
                                      <a:solidFill>
                                        <a:srgbClr val="111111"/>
                                      </a:solidFill>
                                      <a:latin typeface="Cambria Math" panose="02040503050406030204" pitchFamily="18" charset="0"/>
                                    </a:rPr>
                                  </m:ctrlPr>
                                </m:accPr>
                                <m:e>
                                  <m:r>
                                    <a:rPr lang="en-US" sz="1600" i="1">
                                      <a:solidFill>
                                        <a:srgbClr val="111111"/>
                                      </a:solidFill>
                                      <a:latin typeface="Cambria Math" panose="02040503050406030204" pitchFamily="18" charset="0"/>
                                    </a:rPr>
                                    <m:t xml:space="preserve">φ</m:t>
                                  </m:r>
                                </m:e>
                              </m:acc>
                            </m:e>
                            <m:sub>
                              <m:r>
                                <a:rPr lang="en-US" sz="1600" i="1">
                                  <a:solidFill>
                                    <a:srgbClr val="111111"/>
                                  </a:solidFill>
                                  <a:latin typeface="Cambria Math" panose="02040503050406030204" pitchFamily="18" charset="0"/>
                                </a:rPr>
                                <m:t xml:space="preserve">j</m:t>
                              </m:r>
                            </m:sub>
                          </m:sSub>
                        </m:e>
                      </m:d>
                      <m:r>
                        <m:rPr>
                          <m:sty m:val="p"/>
                        </m:rPr>
                        <a:rPr lang="en-US" sz="1600">
                          <a:solidFill>
                            <a:srgbClr val="111111"/>
                          </a:solidFill>
                          <a:latin typeface="Cambria Math" panose="02040503050406030204" pitchFamily="18" charset="0"/>
                        </a:rPr>
                        <m:t xml:space="preserve">=</m:t>
                      </m:r>
                      <m:sSup>
                        <m:sSupPr>
                          <m:ctrlPr>
                            <a:rPr lang="en-US" sz="1600" i="1">
                              <a:solidFill>
                                <a:srgbClr val="111111"/>
                              </a:solidFill>
                              <a:latin typeface="Cambria Math" panose="02040503050406030204" pitchFamily="18" charset="0"/>
                            </a:rPr>
                          </m:ctrlPr>
                        </m:sSupPr>
                        <m:e>
                          <m:r>
                            <a:rPr lang="en-US" sz="1600" i="1">
                              <a:solidFill>
                                <a:srgbClr val="111111"/>
                              </a:solidFill>
                              <a:latin typeface="Cambria Math" panose="02040503050406030204" pitchFamily="18" charset="0"/>
                            </a:rPr>
                            <m:t xml:space="preserve">σ</m:t>
                          </m:r>
                        </m:e>
                        <m:sup>
                          <m:r>
                            <m:rPr>
                              <m:sty m:val="p"/>
                            </m:rPr>
                            <a:rPr lang="en-US" sz="1600">
                              <a:solidFill>
                                <a:srgbClr val="111111"/>
                              </a:solidFill>
                              <a:latin typeface="Cambria Math" panose="02040503050406030204" pitchFamily="18" charset="0"/>
                            </a:rPr>
                            <m:t xml:space="preserve">2</m:t>
                          </m:r>
                        </m:sup>
                      </m:sSup>
                      <m:r>
                        <m:rPr>
                          <m:sty m:val="p"/>
                        </m:rPr>
                        <a:rPr lang="en-US" sz="1600">
                          <a:solidFill>
                            <a:srgbClr val="111111"/>
                          </a:solidFill>
                          <a:latin typeface="Cambria Math" panose="02040503050406030204" pitchFamily="18" charset="0"/>
                        </a:rPr>
                        <m:t xml:space="preserve">/</m:t>
                      </m:r>
                      <m:r>
                        <a:rPr lang="en-US" sz="1600" i="1">
                          <a:solidFill>
                            <a:srgbClr val="111111"/>
                          </a:solidFill>
                          <a:latin typeface="Cambria Math" panose="02040503050406030204" pitchFamily="18" charset="0"/>
                        </a:rPr>
                        <m:t xml:space="preserve">M</m:t>
                      </m:r>
                      <m:r>
                        <m:rPr>
                          <m:sty m:val="p"/>
                        </m:rPr>
                        <a:rPr lang="en-US" sz="1600">
                          <a:solidFill>
                            <a:srgbClr val="111111"/>
                          </a:solidFill>
                          <a:latin typeface="Cambria Math" panose="02040503050406030204" pitchFamily="18" charset="0"/>
                        </a:rPr>
                        <m:t xml:space="preserve">  ⇒  MSE=</m:t>
                      </m:r>
                      <m:r>
                        <a:rPr lang="en-US" sz="1600" i="1">
                          <a:solidFill>
                            <a:srgbClr val="111111"/>
                          </a:solidFill>
                          <a:latin typeface="Cambria Math" panose="02040503050406030204" pitchFamily="18" charset="0"/>
                        </a:rPr>
                        <m:t xml:space="preserve">O</m:t>
                      </m:r>
                      <m:r>
                        <m:rPr>
                          <m:sty m:val="p"/>
                        </m:rPr>
                        <a:rPr lang="en-US" sz="1600">
                          <a:solidFill>
                            <a:srgbClr val="111111"/>
                          </a:solidFill>
                          <a:latin typeface="Cambria Math" panose="02040503050406030204" pitchFamily="18" charset="0"/>
                        </a:rPr>
                        <m:t xml:space="preserve">(1/</m:t>
                      </m:r>
                      <m:r>
                        <a:rPr lang="en-US" sz="1600" i="1">
                          <a:solidFill>
                            <a:srgbClr val="111111"/>
                          </a:solidFill>
                          <a:latin typeface="Cambria Math" panose="02040503050406030204" pitchFamily="18" charset="0"/>
                        </a:rPr>
                        <m:t xml:space="preserve">M</m:t>
                      </m:r>
                      <m:r>
                        <m:rPr>
                          <m:sty m:val="p"/>
                        </m:rPr>
                        <a:rPr lang="en-US" sz="1600">
                          <a:solidFill>
                            <a:srgbClr val="111111"/>
                          </a:solidFill>
                          <a:latin typeface="Cambria Math" panose="02040503050406030204" pitchFamily="18" charset="0"/>
                        </a:rPr>
                        <m:t xml:space="preserve">), |</m:t>
                      </m:r>
                      <m:r>
                        <m:rPr>
                          <m:nor/>
                        </m:rPr>
                        <a:rPr lang="en-US" sz="1600">
                          <a:solidFill>
                            <a:srgbClr val="111111"/>
                          </a:solidFill>
                          <a:latin typeface="Cambria Math" panose="02040503050406030204" pitchFamily="18" charset="0"/>
                        </a:rPr>
                        <m:t xml:space="preserve">error</m:t>
                      </m:r>
                      <m:r>
                        <m:rPr>
                          <m:sty m:val="p"/>
                        </m:rPr>
                        <a:rPr lang="en-US" sz="1600">
                          <a:solidFill>
                            <a:srgbClr val="111111"/>
                          </a:solidFill>
                          <a:latin typeface="Cambria Math" panose="02040503050406030204" pitchFamily="18" charset="0"/>
                        </a:rPr>
                        <m:t xml:space="preserve">|=</m:t>
                      </m:r>
                      <m:r>
                        <a:rPr lang="en-US" sz="1600" i="1">
                          <a:solidFill>
                            <a:srgbClr val="111111"/>
                          </a:solidFill>
                          <a:latin typeface="Cambria Math" panose="02040503050406030204" pitchFamily="18" charset="0"/>
                        </a:rPr>
                        <m:t xml:space="preserve">O</m:t>
                      </m:r>
                      <m:r>
                        <m:rPr>
                          <m:sty m:val="p"/>
                        </m:rPr>
                        <a:rPr lang="en-US" sz="1600">
                          <a:solidFill>
                            <a:srgbClr val="111111"/>
                          </a:solidFill>
                          <a:latin typeface="Cambria Math" panose="02040503050406030204" pitchFamily="18" charset="0"/>
                        </a:rPr>
                        <m:t xml:space="preserve">(1/</m:t>
                      </m:r>
                      <m:rad>
                        <m:radPr>
                          <m:degHide m:val="1"/>
                          <m:ctrlPr>
                            <a:rPr lang="en-US" sz="1600" i="1">
                              <a:solidFill>
                                <a:srgbClr val="111111"/>
                              </a:solidFill>
                              <a:latin typeface="Cambria Math" panose="02040503050406030204" pitchFamily="18" charset="0"/>
                            </a:rPr>
                          </m:ctrlPr>
                        </m:radPr>
                        <m:deg/>
                        <m:e>
                          <m:r>
                            <a:rPr lang="en-US" sz="1600" i="1">
                              <a:solidFill>
                                <a:srgbClr val="111111"/>
                              </a:solidFill>
                              <a:latin typeface="Cambria Math" panose="02040503050406030204" pitchFamily="18" charset="0"/>
                            </a:rPr>
                            <m:t xml:space="preserve">M</m:t>
                          </m:r>
                        </m:e>
                      </m:rad>
                      <m:r>
                        <m:rPr>
                          <m:sty m:val="p"/>
                        </m:rPr>
                        <a:rPr lang="en-US" sz="1600">
                          <a:solidFill>
                            <a:srgbClr val="111111"/>
                          </a:solidFill>
                          <a:latin typeface="Cambria Math" panose="02040503050406030204" pitchFamily="18" charset="0"/>
                        </a:rPr>
                        <m:t xml:space="preserve">)</m:t>
                      </m:r>
                    </m:oMath>
                  </m:oMathPara>
                </a14:m>
                <a:endParaRPr lang="en-US" sz="1600"/>
              </a:p>
            </p:txBody>
          </p:sp>
        </mc:Choice>
        <mc:Fallback>
          <p:sp>
            <p:nvSpPr>
              <p:cNvPr id="29" name="Equation"/>
              <p:cNvSpPr txBox="1"/>
              <p:nvPr/>
            </p:nvSpPr>
            <p:spPr>
              <a:xfrm>
                <a:off x="1211580" y="6838442"/>
                <a:ext cx="8229600" cy="548640"/>
              </a:xfrm>
              <a:prstGeom prst="rect">
                <a:avLst/>
              </a:prstGeom>
              <a:blipFill>
                <a:blip r:embed="rId6"/>
                <a:stretch>
                  <a:fillRect/>
                </a:stretch>
              </a:blipFill>
            </p:spPr>
            <p:txBody>
              <a:bodyPr/>
              <a:lstStyle/>
              <a:p>
                <a:endParaRPr lang="en-US"/>
              </a:p>
            </p:txBody>
          </p:sp>
        </mc:Fallback>
      </mc:AlternateContent>
      <p:sp>
        <p:nvSpPr>
          <p:cNvPr id="30" name="TextBox 29"/>
          <p:cNvSpPr txBox="1"/>
          <p:nvPr/>
        </p:nvSpPr>
        <p:spPr>
          <a:xfrm>
            <a:off x="1028700" y="7478522"/>
            <a:ext cx="8595360" cy="1830070"/>
          </a:xfrm>
          <a:prstGeom prst="rect">
            <a:avLst/>
          </a:prstGeom>
          <a:noFill/>
        </p:spPr>
        <p:txBody>
          <a:bodyPr anchor="t" rtlCol="false" lIns="0" tIns="0" rIns="0" bIns="0" wrap="square"/>
          <a:lstStyle/>
          <a:p>
            <a:pPr algn="l" marL="274320" indent="-274320">
              <a:lnSpc>
                <a:spcPts val="2341"/>
              </a:lnSpc>
              <a:spcBef>
                <a:spcPts val="0"/>
              </a:spcBef>
              <a:buClr>
                <a:srgbClr val="1F7A8C"/>
              </a:buClr>
              <a:buSzPct val="100000"/>
              <a:buFont typeface="Arial"/>
              <a:buChar char="•"/>
            </a:pPr>
            <a:r>
              <a:rPr lang="en-US" sz="1672" b="true">
                <a:solidFill>
                  <a:srgbClr val="111111"/>
                </a:solidFill>
                <a:latin typeface="Nunito Bold"/>
                <a:ea typeface="Nunito Bold"/>
                <a:cs typeface="Nunito Bold"/>
                <a:sym typeface="Nunito Bold"/>
              </a:rPr>
              <a:t>Unbiased estimator:</a:t>
            </a:r>
            <a:r>
              <a:rPr lang="en-US" sz="1672" b="true">
                <a:solidFill>
                  <a:srgbClr val="111111"/>
                </a:solidFill>
                <a:latin typeface="Nunito Semi-Bold"/>
                <a:ea typeface="Nunito Semi-Bold"/>
                <a:cs typeface="Nunito Semi-Bold"/>
                <a:sym typeface="Nunito Semi-Bold"/>
              </a:rPr>
              <a:t> error shrinks as the number of permutations M grows.</a:t>
            </a:r>
          </a:p>
          <a:p>
            <a:pPr algn="l" marL="274320" indent="-274320">
              <a:lnSpc>
                <a:spcPts val="2475"/>
              </a:lnSpc>
              <a:spcBef>
                <a:spcPts val="704"/>
              </a:spcBef>
              <a:buClr>
                <a:srgbClr val="1F7A8C"/>
              </a:buClr>
              <a:buSzPct val="100000"/>
              <a:buFont typeface="Arial"/>
              <a:buChar char="•"/>
            </a:pPr>
            <a:r>
              <a:rPr lang="en-US" sz="1672" b="true">
                <a:solidFill>
                  <a:srgbClr val="111111"/>
                </a:solidFill>
                <a:latin typeface="Nunito Bold"/>
                <a:ea typeface="Nunito Bold"/>
                <a:cs typeface="Nunito Bold"/>
                <a:sym typeface="Nunito Bold"/>
              </a:rPr>
              <a:t>M = 50 selected:</a:t>
            </a:r>
            <a:r>
              <a:rPr lang="en-US" sz="1672" b="true">
                <a:solidFill>
                  <a:srgbClr val="111111"/>
                </a:solidFill>
                <a:latin typeface="Nunito Semi-Bold"/>
                <a:ea typeface="Nunito Semi-Bold"/>
                <a:cs typeface="Nunito Semi-Bold"/>
                <a:sym typeface="Nunito Semi-Bold"/>
              </a:rPr>
              <a:t> MSE ≈ 1.4×10</a:t>
            </a:r>
            <a:r>
              <a:rPr lang="en-US" sz="1672" b="true" baseline="30000">
                <a:solidFill>
                  <a:srgbClr val="111111"/>
                </a:solidFill>
                <a:latin typeface="Nunito Semi-Bold"/>
                <a:ea typeface="Nunito Semi-Bold"/>
                <a:cs typeface="Nunito Semi-Bold"/>
                <a:sym typeface="Nunito Semi-Bold"/>
              </a:rPr>
              <a:t>−5</a:t>
            </a:r>
            <a:r>
              <a:rPr lang="en-US" sz="1672" b="true">
                <a:solidFill>
                  <a:srgbClr val="111111"/>
                </a:solidFill>
                <a:latin typeface="Nunito Semi-Bold"/>
                <a:ea typeface="Nunito Semi-Bold"/>
                <a:cs typeface="Nunito Semi-Bold"/>
                <a:sym typeface="Nunito Semi-Bold"/>
              </a:rPr>
              <a:t>, ≈ 99 % accuracy on MovieLens-1M; M = 100 </a:t>
            </a:r>
            <a:r>
              <a:rPr lang="en-US" sz="1672" b="true">
                <a:solidFill>
                  <a:srgbClr val="111111"/>
                </a:solidFill>
                <a:latin typeface="Calibri"/>
                <a:ea typeface="Calibri"/>
                <a:cs typeface="Calibri"/>
                <a:sym typeface="Calibri"/>
              </a:rPr>
              <a:t>→ </a:t>
            </a:r>
            <a:r>
              <a:rPr lang="en-US" sz="1672" b="true">
                <a:solidFill>
                  <a:srgbClr val="111111"/>
                </a:solidFill>
                <a:latin typeface="Nunito Semi-Bold"/>
                <a:ea typeface="Nunito Semi-Bold"/>
                <a:cs typeface="Nunito Semi-Bold"/>
                <a:sym typeface="Nunito Semi-Bold"/>
              </a:rPr>
              <a:t>MSE 3.5×10</a:t>
            </a:r>
            <a:r>
              <a:rPr lang="en-US" sz="1672" b="true" baseline="30000">
                <a:solidFill>
                  <a:srgbClr val="111111"/>
                </a:solidFill>
                <a:latin typeface="Nunito Semi-Bold"/>
                <a:ea typeface="Nunito Semi-Bold"/>
                <a:cs typeface="Nunito Semi-Bold"/>
                <a:sym typeface="Nunito Semi-Bold"/>
              </a:rPr>
              <a:t>−6</a:t>
            </a:r>
            <a:r>
              <a:rPr lang="en-US" sz="1672" b="true">
                <a:solidFill>
                  <a:srgbClr val="111111"/>
                </a:solidFill>
                <a:latin typeface="Nunito Semi-Bold"/>
                <a:ea typeface="Nunito Semi-Bold"/>
                <a:cs typeface="Nunito Semi-Bold"/>
                <a:sym typeface="Nunito Semi-Bold"/>
              </a:rPr>
              <a:t> (diminishing returns).</a:t>
            </a:r>
          </a:p>
          <a:p>
            <a:pPr algn="l" marL="274320" indent="-274320">
              <a:lnSpc>
                <a:spcPts val="2341"/>
              </a:lnSpc>
              <a:spcBef>
                <a:spcPts val="704"/>
              </a:spcBef>
              <a:buClr>
                <a:srgbClr val="1F7A8C"/>
              </a:buClr>
              <a:buSzPct val="100000"/>
              <a:buFont typeface="Arial"/>
              <a:buChar char="•"/>
            </a:pPr>
            <a:r>
              <a:rPr lang="en-US" sz="1672" b="true">
                <a:solidFill>
                  <a:srgbClr val="111111"/>
                </a:solidFill>
                <a:latin typeface="Nunito Semi-Bold"/>
                <a:ea typeface="Nunito Semi-Bold"/>
                <a:cs typeface="Nunito Semi-Bold"/>
                <a:sym typeface="Nunito Semi-Bold"/>
              </a:rPr>
              <a:t>Refreshed </a:t>
            </a:r>
            <a:r>
              <a:rPr lang="en-US" sz="1672" b="true">
                <a:solidFill>
                  <a:srgbClr val="111111"/>
                </a:solidFill>
                <a:latin typeface="Nunito Bold"/>
                <a:ea typeface="Nunito Bold"/>
                <a:cs typeface="Nunito Bold"/>
                <a:sym typeface="Nunito Bold"/>
              </a:rPr>
              <a:t>every 10 batches</a:t>
            </a:r>
            <a:r>
              <a:rPr lang="en-US" sz="1672" b="true">
                <a:solidFill>
                  <a:srgbClr val="111111"/>
                </a:solidFill>
                <a:latin typeface="Nunito Semi-Bold"/>
                <a:ea typeface="Nunito Semi-Bold"/>
                <a:cs typeface="Nunito Semi-Bold"/>
                <a:sym typeface="Nunito Semi-Bold"/>
              </a:rPr>
              <a:t> (≈ 49 updates / epoch), smoothed by an </a:t>
            </a:r>
            <a:r>
              <a:rPr lang="en-US" sz="1672" b="true">
                <a:solidFill>
                  <a:srgbClr val="111111"/>
                </a:solidFill>
                <a:latin typeface="Nunito Bold"/>
                <a:ea typeface="Nunito Bold"/>
                <a:cs typeface="Nunito Bold"/>
                <a:sym typeface="Nunito Bold"/>
              </a:rPr>
              <a:t>exponential moving average</a:t>
            </a:r>
            <a:r>
              <a:rPr lang="en-US" sz="1672" b="true">
                <a:solidFill>
                  <a:srgbClr val="111111"/>
                </a:solidFill>
                <a:latin typeface="Nunito Semi-Bold"/>
                <a:ea typeface="Nunito Semi-Bold"/>
                <a:cs typeface="Nunito Semi-Bold"/>
                <a:sym typeface="Nunito Semi-Bold"/>
              </a:rPr>
              <a:t>.</a:t>
            </a:r>
          </a:p>
        </p:txBody>
      </p:sp>
      <p:graphicFrame>
        <p:nvGraphicFramePr>
          <p:cNvPr id="31" name="Table 30"/>
          <p:cNvGraphicFramePr>
            <a:graphicFrameLocks noGrp="1"/>
          </p:cNvGraphicFramePr>
          <p:nvPr/>
        </p:nvGraphicFramePr>
        <p:xfrm>
          <a:off x="10172700" y="3363722"/>
          <a:ext cx="7086598" cy="2267712"/>
        </p:xfrm>
        <a:graphic>
          <a:graphicData uri="http://schemas.openxmlformats.org/drawingml/2006/table">
            <a:tbl>
              <a:tblPr firstRow="0" bandRow="0" firstCol="0" lastRow="0" lastCol="0" bandCol="0">
                <a:tableStyleId>{2D5ABB26-0587-4C30-8999-92F81FD0307C}</a:tableStyleId>
              </a:tblPr>
              <a:tblGrid>
                <a:gridCol w="1635369"/>
                <a:gridCol w="2998176"/>
                <a:gridCol w="2453053"/>
              </a:tblGrid>
              <a:tr h="566928">
                <a:tc>
                  <a:txBody>
                    <a:bodyPr anchor="ctr" rtlCol="false" lIns="0" tIns="0" rIns="0" bIns="0" wrap="square"/>
                    <a:lstStyle/>
                    <a:p>
                      <a:pPr algn="ctr">
                        <a:lnSpc>
                          <a:spcPts val="2340"/>
                        </a:lnSpc>
                        <a:spcBef>
                          <a:spcPts val="0"/>
                        </a:spcBef>
                        <a:buNone/>
                      </a:pPr>
                      <a:r>
                        <a:rPr lang="en-US" sz="1800" b="true">
                          <a:solidFill>
                            <a:srgbClr val="FFFFFF"/>
                          </a:solidFill>
                          <a:latin typeface="Nunito Bold"/>
                          <a:ea typeface="Nunito Bold"/>
                          <a:cs typeface="Nunito Bold"/>
                          <a:sym typeface="Nunito Bold"/>
                        </a:rPr>
                        <a:t>M</a:t>
                      </a:r>
                    </a:p>
                  </a:txBody>
                  <a:tcPr marL="82296" marR="82296" marT="45720" marB="45720" anchor="ctr">
                    <a:lnL w="12700" cap="flat" cmpd="sng" algn="ctr">
                      <a:solidFill>
                        <a:srgbClr val="4472C4"/>
                      </a:solidFill>
                      <a:prstDash val="solid"/>
                    </a:lnL>
                    <a:lnR w="12700" cap="flat" cmpd="sng" algn="ctr">
                      <a:solidFill>
                        <a:srgbClr val="4472C4"/>
                      </a:solidFill>
                      <a:prstDash val="solid"/>
                    </a:lnR>
                    <a:lnT w="12700" cap="flat" cmpd="sng" algn="ctr">
                      <a:solidFill>
                        <a:srgbClr val="4472C4"/>
                      </a:solidFill>
                      <a:prstDash val="solid"/>
                    </a:lnT>
                    <a:lnB w="12700" cap="flat" cmpd="sng" algn="ctr">
                      <a:solidFill>
                        <a:srgbClr val="4472C4"/>
                      </a:solidFill>
                      <a:prstDash val="solid"/>
                    </a:lnB>
                    <a:solidFill>
                      <a:srgbClr val="4472C4"/>
                    </a:solidFill>
                  </a:tcPr>
                </a:tc>
                <a:tc>
                  <a:txBody>
                    <a:bodyPr anchor="ctr" rtlCol="false" lIns="0" tIns="0" rIns="0" bIns="0" wrap="square"/>
                    <a:lstStyle/>
                    <a:p>
                      <a:pPr algn="ctr">
                        <a:lnSpc>
                          <a:spcPts val="2340"/>
                        </a:lnSpc>
                        <a:spcBef>
                          <a:spcPts val="0"/>
                        </a:spcBef>
                        <a:buNone/>
                      </a:pPr>
                      <a:r>
                        <a:rPr lang="en-US" sz="1800" b="true">
                          <a:solidFill>
                            <a:srgbClr val="FFFFFF"/>
                          </a:solidFill>
                          <a:latin typeface="Nunito Bold"/>
                          <a:ea typeface="Nunito Bold"/>
                          <a:cs typeface="Nunito Bold"/>
                          <a:sym typeface="Nunito Bold"/>
                        </a:rPr>
                        <a:t>MSE</a:t>
                      </a:r>
                    </a:p>
                  </a:txBody>
                  <a:tcPr marL="82296" marR="82296" marT="45720" marB="45720" anchor="ctr">
                    <a:lnL w="12700" cap="flat" cmpd="sng" algn="ctr">
                      <a:solidFill>
                        <a:srgbClr val="4472C4"/>
                      </a:solidFill>
                      <a:prstDash val="solid"/>
                    </a:lnL>
                    <a:lnR w="12700" cap="flat" cmpd="sng" algn="ctr">
                      <a:solidFill>
                        <a:srgbClr val="4472C4"/>
                      </a:solidFill>
                      <a:prstDash val="solid"/>
                    </a:lnR>
                    <a:lnT w="12700" cap="flat" cmpd="sng" algn="ctr">
                      <a:solidFill>
                        <a:srgbClr val="4472C4"/>
                      </a:solidFill>
                      <a:prstDash val="solid"/>
                    </a:lnT>
                    <a:lnB w="12700" cap="flat" cmpd="sng" algn="ctr">
                      <a:solidFill>
                        <a:srgbClr val="4472C4"/>
                      </a:solidFill>
                      <a:prstDash val="solid"/>
                    </a:lnB>
                    <a:solidFill>
                      <a:srgbClr val="4472C4"/>
                    </a:solidFill>
                  </a:tcPr>
                </a:tc>
                <a:tc>
                  <a:txBody>
                    <a:bodyPr anchor="ctr" rtlCol="false" lIns="0" tIns="0" rIns="0" bIns="0" wrap="square"/>
                    <a:lstStyle/>
                    <a:p>
                      <a:pPr algn="ctr">
                        <a:lnSpc>
                          <a:spcPts val="2340"/>
                        </a:lnSpc>
                        <a:spcBef>
                          <a:spcPts val="0"/>
                        </a:spcBef>
                        <a:buNone/>
                      </a:pPr>
                      <a:r>
                        <a:rPr lang="en-US" sz="1800" b="true">
                          <a:solidFill>
                            <a:srgbClr val="FFFFFF"/>
                          </a:solidFill>
                          <a:latin typeface="Nunito Bold"/>
                          <a:ea typeface="Nunito Bold"/>
                          <a:cs typeface="Nunito Bold"/>
                          <a:sym typeface="Nunito Bold"/>
                        </a:rPr>
                        <a:t>Accuracy</a:t>
                      </a:r>
                    </a:p>
                  </a:txBody>
                  <a:tcPr marL="82296" marR="82296" marT="45720" marB="45720" anchor="ctr">
                    <a:lnL w="12700" cap="flat" cmpd="sng" algn="ctr">
                      <a:solidFill>
                        <a:srgbClr val="4472C4"/>
                      </a:solidFill>
                      <a:prstDash val="solid"/>
                    </a:lnL>
                    <a:lnR w="12700" cap="flat" cmpd="sng" algn="ctr">
                      <a:solidFill>
                        <a:srgbClr val="4472C4"/>
                      </a:solidFill>
                      <a:prstDash val="solid"/>
                    </a:lnR>
                    <a:lnT w="12700" cap="flat" cmpd="sng" algn="ctr">
                      <a:solidFill>
                        <a:srgbClr val="4472C4"/>
                      </a:solidFill>
                      <a:prstDash val="solid"/>
                    </a:lnT>
                    <a:lnB w="12700" cap="flat" cmpd="sng" algn="ctr">
                      <a:solidFill>
                        <a:srgbClr val="4472C4"/>
                      </a:solidFill>
                      <a:prstDash val="solid"/>
                    </a:lnB>
                    <a:solidFill>
                      <a:srgbClr val="4472C4"/>
                    </a:solidFill>
                  </a:tcPr>
                </a:tc>
              </a:tr>
              <a:tr h="566928">
                <a:tc>
                  <a:txBody>
                    <a:bodyPr anchor="ctr" rtlCol="false" lIns="0" tIns="0" rIns="0" bIns="0" wrap="square"/>
                    <a:lstStyle/>
                    <a:p>
                      <a:pPr algn="ctr">
                        <a:lnSpc>
                          <a:spcPts val="2340"/>
                        </a:lnSpc>
                        <a:spcBef>
                          <a:spcPts val="0"/>
                        </a:spcBef>
                        <a:buNone/>
                      </a:pPr>
                      <a:r>
                        <a:rPr lang="en-US" sz="1800" b="true">
                          <a:solidFill>
                            <a:srgbClr val="111111"/>
                          </a:solidFill>
                          <a:latin typeface="Nunito Bold"/>
                          <a:ea typeface="Nunito Bold"/>
                          <a:cs typeface="Nunito Bold"/>
                          <a:sym typeface="Nunito Bold"/>
                        </a:rPr>
                        <a:t>25</a:t>
                      </a:r>
                    </a:p>
                  </a:txBody>
                  <a:tcPr marL="82296" marR="82296"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c>
                  <a:txBody>
                    <a:bodyPr anchor="ctr" rtlCol="false" lIns="0" tIns="0" rIns="0" bIns="0" wrap="square"/>
                    <a:lstStyle/>
                    <a:p>
                      <a:pPr algn="ctr">
                        <a:lnSpc>
                          <a:spcPts val="2340"/>
                        </a:lnSpc>
                        <a:spcBef>
                          <a:spcPts val="0"/>
                        </a:spcBef>
                        <a:buNone/>
                      </a:pPr>
                      <a:r>
                        <a:rPr lang="en-US" sz="1800" b="true">
                          <a:solidFill>
                            <a:srgbClr val="111111"/>
                          </a:solidFill>
                          <a:latin typeface="Nunito Semi-Bold"/>
                          <a:ea typeface="Nunito Semi-Bold"/>
                          <a:cs typeface="Nunito Semi-Bold"/>
                          <a:sym typeface="Nunito Semi-Bold"/>
                        </a:rPr>
                        <a:t>≈ 5.6×10</a:t>
                      </a:r>
                      <a:r>
                        <a:rPr lang="en-US" sz="1800" b="true">
                          <a:solidFill>
                            <a:srgbClr val="111111"/>
                          </a:solidFill>
                          <a:latin typeface="Cambria Math"/>
                          <a:ea typeface="Cambria Math"/>
                          <a:cs typeface="Cambria Math"/>
                          <a:sym typeface="Cambria Math"/>
                        </a:rPr>
                        <a:t>⁻</a:t>
                      </a:r>
                      <a:r>
                        <a:rPr lang="en-US" sz="1800" b="true">
                          <a:solidFill>
                            <a:srgbClr val="111111"/>
                          </a:solidFill>
                          <a:latin typeface="Nunito Semi-Bold"/>
                          <a:ea typeface="Nunito Semi-Bold"/>
                          <a:cs typeface="Nunito Semi-Bold"/>
                          <a:sym typeface="Nunito Semi-Bold"/>
                        </a:rPr>
                        <a:t>⁵</a:t>
                      </a:r>
                    </a:p>
                  </a:txBody>
                  <a:tcPr marL="82296" marR="82296"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c>
                  <a:txBody>
                    <a:bodyPr anchor="ctr" rtlCol="false" lIns="0" tIns="0" rIns="0" bIns="0" wrap="square"/>
                    <a:lstStyle/>
                    <a:p>
                      <a:pPr algn="ctr">
                        <a:lnSpc>
                          <a:spcPts val="2340"/>
                        </a:lnSpc>
                        <a:spcBef>
                          <a:spcPts val="0"/>
                        </a:spcBef>
                        <a:buNone/>
                      </a:pPr>
                      <a:r>
                        <a:rPr lang="en-US" sz="1800" b="true">
                          <a:solidFill>
                            <a:srgbClr val="111111"/>
                          </a:solidFill>
                          <a:latin typeface="Nunito Semi-Bold"/>
                          <a:ea typeface="Nunito Semi-Bold"/>
                          <a:cs typeface="Nunito Semi-Bold"/>
                          <a:sym typeface="Nunito Semi-Bold"/>
                        </a:rPr>
                        <a:t>≈ 96 %</a:t>
                      </a:r>
                    </a:p>
                  </a:txBody>
                  <a:tcPr marL="82296" marR="82296"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r>
              <a:tr h="566928">
                <a:tc>
                  <a:txBody>
                    <a:bodyPr anchor="ctr" rtlCol="false" lIns="0" tIns="0" rIns="0" bIns="0" wrap="square"/>
                    <a:lstStyle/>
                    <a:p>
                      <a:pPr algn="ctr">
                        <a:lnSpc>
                          <a:spcPts val="2340"/>
                        </a:lnSpc>
                        <a:spcBef>
                          <a:spcPts val="0"/>
                        </a:spcBef>
                        <a:buNone/>
                      </a:pPr>
                      <a:r>
                        <a:rPr lang="en-US" sz="1800" b="true">
                          <a:solidFill>
                            <a:srgbClr val="111111"/>
                          </a:solidFill>
                          <a:latin typeface="Nunito Bold"/>
                          <a:ea typeface="Nunito Bold"/>
                          <a:cs typeface="Nunito Bold"/>
                          <a:sym typeface="Nunito Bold"/>
                        </a:rPr>
                        <a:t>50 </a:t>
                      </a:r>
                      <a:r>
                        <a:rPr lang="en-US" sz="1800" b="true">
                          <a:solidFill>
                            <a:srgbClr val="111111"/>
                          </a:solidFill>
                          <a:latin typeface="Cambria Math"/>
                          <a:ea typeface="Cambria Math"/>
                          <a:cs typeface="Cambria Math"/>
                          <a:sym typeface="Cambria Math"/>
                        </a:rPr>
                        <a:t>★</a:t>
                      </a:r>
                    </a:p>
                  </a:txBody>
                  <a:tcPr marL="82296" marR="82296"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6ECDF"/>
                    </a:solidFill>
                  </a:tcPr>
                </a:tc>
                <a:tc>
                  <a:txBody>
                    <a:bodyPr anchor="ctr" rtlCol="false" lIns="0" tIns="0" rIns="0" bIns="0" wrap="square"/>
                    <a:lstStyle/>
                    <a:p>
                      <a:pPr algn="ctr">
                        <a:lnSpc>
                          <a:spcPts val="2340"/>
                        </a:lnSpc>
                        <a:spcBef>
                          <a:spcPts val="0"/>
                        </a:spcBef>
                        <a:buNone/>
                      </a:pPr>
                      <a:r>
                        <a:rPr lang="en-US" sz="1800" b="true">
                          <a:solidFill>
                            <a:srgbClr val="111111"/>
                          </a:solidFill>
                          <a:latin typeface="Nunito Semi-Bold"/>
                          <a:ea typeface="Nunito Semi-Bold"/>
                          <a:cs typeface="Nunito Semi-Bold"/>
                          <a:sym typeface="Nunito Semi-Bold"/>
                        </a:rPr>
                        <a:t>≈ 1.4×10</a:t>
                      </a:r>
                      <a:r>
                        <a:rPr lang="en-US" sz="1800" b="true">
                          <a:solidFill>
                            <a:srgbClr val="111111"/>
                          </a:solidFill>
                          <a:latin typeface="Cambria Math"/>
                          <a:ea typeface="Cambria Math"/>
                          <a:cs typeface="Cambria Math"/>
                          <a:sym typeface="Cambria Math"/>
                        </a:rPr>
                        <a:t>⁻</a:t>
                      </a:r>
                      <a:r>
                        <a:rPr lang="en-US" sz="1800" b="true">
                          <a:solidFill>
                            <a:srgbClr val="111111"/>
                          </a:solidFill>
                          <a:latin typeface="Nunito Semi-Bold"/>
                          <a:ea typeface="Nunito Semi-Bold"/>
                          <a:cs typeface="Nunito Semi-Bold"/>
                          <a:sym typeface="Nunito Semi-Bold"/>
                        </a:rPr>
                        <a:t>⁵</a:t>
                      </a:r>
                    </a:p>
                  </a:txBody>
                  <a:tcPr marL="82296" marR="82296"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6ECDF"/>
                    </a:solidFill>
                  </a:tcPr>
                </a:tc>
                <a:tc>
                  <a:txBody>
                    <a:bodyPr anchor="ctr" rtlCol="false" lIns="0" tIns="0" rIns="0" bIns="0" wrap="square"/>
                    <a:lstStyle/>
                    <a:p>
                      <a:pPr algn="ctr">
                        <a:lnSpc>
                          <a:spcPts val="2340"/>
                        </a:lnSpc>
                        <a:spcBef>
                          <a:spcPts val="0"/>
                        </a:spcBef>
                        <a:buNone/>
                      </a:pPr>
                      <a:r>
                        <a:rPr lang="en-US" sz="1800" b="true">
                          <a:solidFill>
                            <a:srgbClr val="111111"/>
                          </a:solidFill>
                          <a:latin typeface="Nunito Semi-Bold"/>
                          <a:ea typeface="Nunito Semi-Bold"/>
                          <a:cs typeface="Nunito Semi-Bold"/>
                          <a:sym typeface="Nunito Semi-Bold"/>
                        </a:rPr>
                        <a:t>≈ 99 %</a:t>
                      </a:r>
                    </a:p>
                  </a:txBody>
                  <a:tcPr marL="82296" marR="82296"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6ECDF"/>
                    </a:solidFill>
                  </a:tcPr>
                </a:tc>
              </a:tr>
              <a:tr h="566928">
                <a:tc>
                  <a:txBody>
                    <a:bodyPr anchor="ctr" rtlCol="false" lIns="0" tIns="0" rIns="0" bIns="0" wrap="square"/>
                    <a:lstStyle/>
                    <a:p>
                      <a:pPr algn="ctr">
                        <a:lnSpc>
                          <a:spcPts val="2340"/>
                        </a:lnSpc>
                        <a:spcBef>
                          <a:spcPts val="0"/>
                        </a:spcBef>
                        <a:buNone/>
                      </a:pPr>
                      <a:r>
                        <a:rPr lang="en-US" sz="1800" b="true">
                          <a:solidFill>
                            <a:srgbClr val="111111"/>
                          </a:solidFill>
                          <a:latin typeface="Nunito Bold"/>
                          <a:ea typeface="Nunito Bold"/>
                          <a:cs typeface="Nunito Bold"/>
                          <a:sym typeface="Nunito Bold"/>
                        </a:rPr>
                        <a:t>100</a:t>
                      </a:r>
                    </a:p>
                  </a:txBody>
                  <a:tcPr marL="82296" marR="82296"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c>
                  <a:txBody>
                    <a:bodyPr anchor="ctr" rtlCol="false" lIns="0" tIns="0" rIns="0" bIns="0" wrap="square"/>
                    <a:lstStyle/>
                    <a:p>
                      <a:pPr algn="ctr">
                        <a:lnSpc>
                          <a:spcPts val="2340"/>
                        </a:lnSpc>
                        <a:spcBef>
                          <a:spcPts val="0"/>
                        </a:spcBef>
                        <a:buNone/>
                      </a:pPr>
                      <a:r>
                        <a:rPr lang="en-US" sz="1800" b="true">
                          <a:solidFill>
                            <a:srgbClr val="111111"/>
                          </a:solidFill>
                          <a:latin typeface="Nunito Semi-Bold"/>
                          <a:ea typeface="Nunito Semi-Bold"/>
                          <a:cs typeface="Nunito Semi-Bold"/>
                          <a:sym typeface="Nunito Semi-Bold"/>
                        </a:rPr>
                        <a:t>≈ 3.5×10</a:t>
                      </a:r>
                      <a:r>
                        <a:rPr lang="en-US" sz="1800" b="true">
                          <a:solidFill>
                            <a:srgbClr val="111111"/>
                          </a:solidFill>
                          <a:latin typeface="Cambria Math"/>
                          <a:ea typeface="Cambria Math"/>
                          <a:cs typeface="Cambria Math"/>
                          <a:sym typeface="Cambria Math"/>
                        </a:rPr>
                        <a:t>⁻</a:t>
                      </a:r>
                      <a:r>
                        <a:rPr lang="en-US" sz="1800" b="true">
                          <a:solidFill>
                            <a:srgbClr val="111111"/>
                          </a:solidFill>
                          <a:latin typeface="Nunito Semi-Bold"/>
                          <a:ea typeface="Nunito Semi-Bold"/>
                          <a:cs typeface="Nunito Semi-Bold"/>
                          <a:sym typeface="Nunito Semi-Bold"/>
                        </a:rPr>
                        <a:t>⁶</a:t>
                      </a:r>
                    </a:p>
                  </a:txBody>
                  <a:tcPr marL="82296" marR="82296"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c>
                  <a:txBody>
                    <a:bodyPr anchor="ctr" rtlCol="false" lIns="0" tIns="0" rIns="0" bIns="0" wrap="square"/>
                    <a:lstStyle/>
                    <a:p>
                      <a:pPr algn="ctr">
                        <a:lnSpc>
                          <a:spcPts val="2340"/>
                        </a:lnSpc>
                        <a:spcBef>
                          <a:spcPts val="0"/>
                        </a:spcBef>
                        <a:buNone/>
                      </a:pPr>
                      <a:r>
                        <a:rPr lang="en-US" sz="1800" b="true">
                          <a:solidFill>
                            <a:srgbClr val="111111"/>
                          </a:solidFill>
                          <a:latin typeface="Nunito Semi-Bold"/>
                          <a:ea typeface="Nunito Semi-Bold"/>
                          <a:cs typeface="Nunito Semi-Bold"/>
                          <a:sym typeface="Nunito Semi-Bold"/>
                        </a:rPr>
                        <a:t>≈ 99.5 %</a:t>
                      </a:r>
                    </a:p>
                  </a:txBody>
                  <a:tcPr marL="82296" marR="82296"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r>
            </a:tbl>
          </a:graphicData>
        </a:graphic>
      </p:graphicFrame>
      <p:sp>
        <p:nvSpPr>
          <p:cNvPr id="32" name="TextBox 31"/>
          <p:cNvSpPr txBox="1"/>
          <p:nvPr/>
        </p:nvSpPr>
        <p:spPr>
          <a:xfrm>
            <a:off x="10172700" y="5704586"/>
            <a:ext cx="7086600" cy="365760"/>
          </a:xfrm>
          <a:prstGeom prst="rect">
            <a:avLst/>
          </a:prstGeom>
          <a:noFill/>
        </p:spPr>
        <p:txBody>
          <a:bodyPr anchor="t" rtlCol="false" lIns="0" tIns="0" rIns="0" bIns="0" wrap="square"/>
          <a:lstStyle/>
          <a:p>
            <a:pPr algn="l">
              <a:lnSpc>
                <a:spcPts val="1600"/>
              </a:lnSpc>
              <a:spcBef>
                <a:spcPts val="0"/>
              </a:spcBef>
              <a:buNone/>
            </a:pPr>
            <a:r>
              <a:rPr lang="en-US" sz="1300" b="true">
                <a:solidFill>
                  <a:srgbClr val="8A8378"/>
                </a:solidFill>
                <a:latin typeface="Nunito Semi-Bold"/>
                <a:ea typeface="Nunito Semi-Bold"/>
                <a:cs typeface="Nunito Semi-Bold"/>
                <a:sym typeface="Nunito Semi-Bold"/>
              </a:rPr>
              <a:t>M = 50 balances estimator quality against per-epoch cost; rows 25/100 show the O(1/M) trend.</a:t>
            </a:r>
          </a:p>
        </p:txBody>
      </p:sp>
      <p:sp>
        <p:nvSpPr>
          <p:cNvPr id="33" name="Rounded Rectangle 32"/>
          <p:cNvSpPr/>
          <p:nvPr/>
        </p:nvSpPr>
        <p:spPr>
          <a:xfrm>
            <a:off x="10172700" y="6362954"/>
            <a:ext cx="7086600" cy="2945638"/>
          </a:xfrm>
          <a:prstGeom prst="roundRect">
            <a:avLst>
              <a:gd name="adj" fmla="val 10554"/>
            </a:avLst>
          </a:prstGeom>
          <a:solidFill>
            <a:srgbClr val="4472C4"/>
          </a:solidFill>
          <a:ln>
            <a:noFill/>
          </a:ln>
        </p:spPr>
        <p:txBody>
          <a:bodyPr anchor="ctr" rtlCol="false" lIns="0" tIns="0" rIns="0" bIns="0" wrap="square"/>
          <a:lstStyle/>
          <a:p>
            <a:endParaRPr lang="en-US" sz="1800"/>
          </a:p>
        </p:txBody>
      </p:sp>
      <p:sp>
        <p:nvSpPr>
          <p:cNvPr id="34" name="Rounded Rectangle 33"/>
          <p:cNvSpPr/>
          <p:nvPr/>
        </p:nvSpPr>
        <p:spPr>
          <a:xfrm>
            <a:off x="10629900" y="6125210"/>
            <a:ext cx="3210706" cy="438912"/>
          </a:xfrm>
          <a:prstGeom prst="roundRect">
            <a:avLst>
              <a:gd name="adj" fmla="val 50000"/>
            </a:avLst>
          </a:prstGeom>
          <a:solidFill>
            <a:srgbClr val="FFFFFF"/>
          </a:solidFill>
          <a:ln w="28575">
            <a:solidFill>
              <a:srgbClr val="FFFFFF"/>
            </a:solidFill>
          </a:ln>
        </p:spPr>
        <p:txBody>
          <a:bodyPr anchor="ctr" rtlCol="false" lIns="45720" tIns="0" rIns="45720" bIns="0" wrap="square"/>
          <a:lstStyle/>
          <a:p>
            <a:pPr algn="ctr">
              <a:lnSpc>
                <a:spcPts val="2640"/>
              </a:lnSpc>
              <a:spcBef>
                <a:spcPts val="0"/>
              </a:spcBef>
              <a:buNone/>
            </a:pPr>
            <a:r>
              <a:rPr lang="en-US" sz="2200" b="true">
                <a:solidFill>
                  <a:srgbClr val="4472C4"/>
                </a:solidFill>
                <a:latin typeface="Nunito Bold"/>
                <a:ea typeface="Nunito Bold"/>
                <a:cs typeface="Nunito Bold"/>
                <a:sym typeface="Nunito Bold"/>
              </a:rPr>
              <a:t>In the training loop</a:t>
            </a:r>
          </a:p>
        </p:txBody>
      </p:sp>
      <p:sp>
        <p:nvSpPr>
          <p:cNvPr id="35" name="TextBox 34"/>
          <p:cNvSpPr txBox="1"/>
          <p:nvPr/>
        </p:nvSpPr>
        <p:spPr>
          <a:xfrm>
            <a:off x="10629900" y="6957314"/>
            <a:ext cx="6217920" cy="1574038"/>
          </a:xfrm>
          <a:prstGeom prst="rect">
            <a:avLst/>
          </a:prstGeom>
          <a:noFill/>
        </p:spPr>
        <p:txBody>
          <a:bodyPr anchor="t" rtlCol="false" lIns="0" tIns="0" rIns="0" bIns="0" wrap="square"/>
          <a:lstStyle/>
          <a:p>
            <a:pPr algn="l" marL="274320" indent="-274320">
              <a:lnSpc>
                <a:spcPts val="2369"/>
              </a:lnSpc>
              <a:spcBef>
                <a:spcPts val="0"/>
              </a:spcBef>
              <a:buClr>
                <a:srgbClr val="ECC665"/>
              </a:buClr>
              <a:buSzPct val="100000"/>
              <a:buFont typeface="Arial"/>
              <a:buChar char="•"/>
            </a:pPr>
            <a:r>
              <a:rPr lang="en-US" sz="1692" b="true">
                <a:solidFill>
                  <a:srgbClr val="FFFFFF"/>
                </a:solidFill>
                <a:latin typeface="Nunito Semi-Bold"/>
                <a:ea typeface="Nunito Semi-Bold"/>
                <a:cs typeface="Nunito Semi-Bold"/>
                <a:sym typeface="Nunito Semi-Bold"/>
              </a:rPr>
              <a:t>Sample M permutations per refresh </a:t>
            </a:r>
            <a:r>
              <a:rPr lang="en-US" sz="1692" b="true">
                <a:solidFill>
                  <a:srgbClr val="FFFFFF"/>
                </a:solidFill>
                <a:latin typeface="Calibri"/>
                <a:ea typeface="Calibri"/>
                <a:cs typeface="Calibri"/>
                <a:sym typeface="Calibri"/>
              </a:rPr>
              <a:t>→ </a:t>
            </a:r>
            <a:r>
              <a:rPr lang="en-US" sz="1692" b="true">
                <a:solidFill>
                  <a:srgbClr val="FFFFFF"/>
                </a:solidFill>
                <a:latin typeface="Nunito Semi-Bold"/>
                <a:ea typeface="Nunito Semi-Bold"/>
                <a:cs typeface="Nunito Semi-Bold"/>
                <a:sym typeface="Nunito Semi-Bold"/>
              </a:rPr>
              <a:t>estimate </a:t>
            </a:r>
            <a:r>
              <a:rPr lang="en-US" sz="1692" b="true">
                <a:solidFill>
                  <a:srgbClr val="FFFFFF"/>
                </a:solidFill>
                <a:latin typeface="Cambria Math"/>
                <a:ea typeface="Cambria Math"/>
                <a:cs typeface="Cambria Math"/>
                <a:sym typeface="Cambria Math"/>
              </a:rPr>
              <a:t>φ̂ </a:t>
            </a:r>
            <a:r>
              <a:rPr lang="en-US" sz="1692" b="true">
                <a:solidFill>
                  <a:srgbClr val="FFFFFF"/>
                </a:solidFill>
                <a:latin typeface="Nunito Semi-Bold"/>
                <a:ea typeface="Nunito Semi-Bold"/>
                <a:cs typeface="Nunito Semi-Bold"/>
                <a:sym typeface="Nunito Semi-Bold"/>
              </a:rPr>
              <a:t>for the players in the episode.</a:t>
            </a:r>
          </a:p>
          <a:p>
            <a:pPr algn="l" marL="274320" indent="-274320">
              <a:lnSpc>
                <a:spcPts val="2369"/>
              </a:lnSpc>
              <a:spcBef>
                <a:spcPts val="658"/>
              </a:spcBef>
              <a:buClr>
                <a:srgbClr val="ECC665"/>
              </a:buClr>
              <a:buSzPct val="100000"/>
              <a:buFont typeface="Arial"/>
              <a:buChar char="•"/>
            </a:pPr>
            <a:r>
              <a:rPr lang="en-US" sz="1692" b="true">
                <a:solidFill>
                  <a:srgbClr val="FFFFFF"/>
                </a:solidFill>
                <a:latin typeface="Nunito Semi-Bold"/>
                <a:ea typeface="Nunito Semi-Bold"/>
                <a:cs typeface="Nunito Semi-Bold"/>
                <a:sym typeface="Nunito Semi-Bold"/>
              </a:rPr>
              <a:t>Clip, EMA-smooth, normalise </a:t>
            </a:r>
            <a:r>
              <a:rPr lang="en-US" sz="1692" b="true">
                <a:solidFill>
                  <a:srgbClr val="FFFFFF"/>
                </a:solidFill>
                <a:latin typeface="Calibri"/>
                <a:ea typeface="Calibri"/>
                <a:cs typeface="Calibri"/>
                <a:sym typeface="Calibri"/>
              </a:rPr>
              <a:t>→ </a:t>
            </a:r>
            <a:r>
              <a:rPr lang="en-US" sz="1692" b="true">
                <a:solidFill>
                  <a:srgbClr val="FFFFFF"/>
                </a:solidFill>
                <a:latin typeface="Nunito Bold"/>
                <a:ea typeface="Nunito Bold"/>
                <a:cs typeface="Nunito Bold"/>
                <a:sym typeface="Nunito Bold"/>
              </a:rPr>
              <a:t>hypergraph edge weights</a:t>
            </a:r>
            <a:r>
              <a:rPr lang="en-US" sz="1692" b="true">
                <a:solidFill>
                  <a:srgbClr val="FFFFFF"/>
                </a:solidFill>
                <a:latin typeface="Nunito Semi-Bold"/>
                <a:ea typeface="Nunito Semi-Bold"/>
                <a:cs typeface="Nunito Semi-Bold"/>
                <a:sym typeface="Nunito Semi-Bold"/>
              </a:rPr>
              <a:t>.</a:t>
            </a:r>
          </a:p>
          <a:p>
            <a:pPr algn="l" marL="274320" indent="-274320">
              <a:lnSpc>
                <a:spcPts val="2369"/>
              </a:lnSpc>
              <a:spcBef>
                <a:spcPts val="658"/>
              </a:spcBef>
              <a:buClr>
                <a:srgbClr val="ECC665"/>
              </a:buClr>
              <a:buSzPct val="100000"/>
              <a:buFont typeface="Arial"/>
              <a:buChar char="•"/>
            </a:pPr>
            <a:r>
              <a:rPr lang="en-US" sz="1692" b="true">
                <a:solidFill>
                  <a:srgbClr val="FFFFFF"/>
                </a:solidFill>
                <a:latin typeface="Nunito Semi-Bold"/>
                <a:ea typeface="Nunito Semi-Bold"/>
                <a:cs typeface="Nunito Semi-Bold"/>
                <a:sym typeface="Nunito Semi-Bold"/>
              </a:rPr>
              <a:t>Cost per epoch:</a:t>
            </a:r>
          </a:p>
        </p:txBody>
      </p:sp>
      <mc:AlternateContent xmlns:mc="http://schemas.openxmlformats.org/markup-compatibility/2006">
        <mc:Choice xmlns:a14="http://schemas.microsoft.com/office/drawing/2010/main" Requires="a14">
          <p:sp>
            <p:nvSpPr>
              <p:cNvPr id="36" name="Equation"/>
              <p:cNvSpPr txBox="1"/>
              <p:nvPr/>
            </p:nvSpPr>
            <p:spPr>
              <a:xfrm>
                <a:off x="10629900" y="8531352"/>
                <a:ext cx="6172200" cy="594360"/>
              </a:xfrm>
              <a:prstGeom prst="rect">
                <a:avLst/>
              </a:prstGeom>
              <a:noFill/>
            </p:spPr>
            <p:txBody>
              <a:bodyPr wrap="none" rtlCol="0" anchor="ctr" lIns="0" tIns="0" rIns="0" bIns="0"/>
              <a:lstStyle/>
              <a:p>
                <a:pPr algn="ctr"/>
                <a14:m xmlns:m="http://schemas.openxmlformats.org/officeDocument/2006/math">
                  <m:oMathPara>
                    <m:oMathParaPr>
                      <m:jc m:val="centerGroup"/>
                    </m:oMathParaPr>
                    <m:oMath>
                      <m:r>
                        <a:rPr lang="en-US" sz="1900" i="1">
                          <a:solidFill>
                            <a:srgbClr val="ECC665"/>
                          </a:solidFill>
                          <a:latin typeface="Cambria Math" panose="02040503050406030204" pitchFamily="18" charset="0"/>
                        </a:rPr>
                        <m:t xml:space="preserve">O</m:t>
                      </m:r>
                      <m:d>
                        <m:dPr>
                          <m:ctrlPr>
                            <a:rPr lang="en-US" sz="1900" i="1">
                              <a:solidFill>
                                <a:srgbClr val="ECC665"/>
                              </a:solidFill>
                              <a:latin typeface="Cambria Math" panose="02040503050406030204" pitchFamily="18" charset="0"/>
                            </a:rPr>
                          </m:ctrlPr>
                        </m:dPr>
                        <m:e>
                          <m:r>
                            <m:rPr>
                              <m:sty m:val="p"/>
                            </m:rPr>
                            <a:rPr lang="en-US" sz="1900">
                              <a:solidFill>
                                <a:srgbClr val="ECC665"/>
                              </a:solidFill>
                              <a:latin typeface="Cambria Math" panose="02040503050406030204" pitchFamily="18" charset="0"/>
                            </a:rPr>
                            <m:t xml:space="preserve">(</m:t>
                          </m:r>
                          <m:r>
                            <a:rPr lang="en-US" sz="1900" i="1">
                              <a:solidFill>
                                <a:srgbClr val="ECC665"/>
                              </a:solidFill>
                              <a:latin typeface="Cambria Math" panose="02040503050406030204" pitchFamily="18" charset="0"/>
                            </a:rPr>
                            <m:t xml:space="preserve">L</m:t>
                          </m:r>
                          <m:r>
                            <m:rPr>
                              <m:sty m:val="p"/>
                            </m:rPr>
                            <a:rPr lang="en-US" sz="1900">
                              <a:solidFill>
                                <a:srgbClr val="ECC665"/>
                              </a:solidFill>
                              <a:latin typeface="Cambria Math" panose="02040503050406030204" pitchFamily="18" charset="0"/>
                            </a:rPr>
                            <m:t xml:space="preserve">+1) </m:t>
                          </m:r>
                          <m:r>
                            <a:rPr lang="en-US" sz="1900" i="1">
                              <a:solidFill>
                                <a:srgbClr val="ECC665"/>
                              </a:solidFill>
                              <a:latin typeface="Cambria Math" panose="02040503050406030204" pitchFamily="18" charset="0"/>
                            </a:rPr>
                            <m:t xml:space="preserve">m</m:t>
                          </m:r>
                          <m:r>
                            <m:rPr>
                              <m:sty m:val="p"/>
                            </m:rPr>
                            <a:rPr lang="en-US" sz="1900">
                              <a:solidFill>
                                <a:srgbClr val="ECC665"/>
                              </a:solidFill>
                              <a:latin typeface="Cambria Math" panose="02040503050406030204" pitchFamily="18" charset="0"/>
                            </a:rPr>
                            <m:t xml:space="preserve"> </m:t>
                          </m:r>
                          <m:r>
                            <a:rPr lang="en-US" sz="1900" i="1">
                              <a:solidFill>
                                <a:srgbClr val="ECC665"/>
                              </a:solidFill>
                              <a:latin typeface="Cambria Math" panose="02040503050406030204" pitchFamily="18" charset="0"/>
                            </a:rPr>
                            <m:t xml:space="preserve">d</m:t>
                          </m:r>
                        </m:e>
                      </m:d>
                      <m:r>
                        <m:rPr>
                          <m:sty m:val="p"/>
                        </m:rPr>
                        <a:rPr lang="en-US" sz="1900">
                          <a:solidFill>
                            <a:srgbClr val="ECC665"/>
                          </a:solidFill>
                          <a:latin typeface="Cambria Math" panose="02040503050406030204" pitchFamily="18" charset="0"/>
                        </a:rPr>
                        <m:t xml:space="preserve">+</m:t>
                      </m:r>
                      <m:r>
                        <a:rPr lang="en-US" sz="1900" i="1">
                          <a:solidFill>
                            <a:srgbClr val="ECC665"/>
                          </a:solidFill>
                          <a:latin typeface="Cambria Math" panose="02040503050406030204" pitchFamily="18" charset="0"/>
                        </a:rPr>
                        <m:t xml:space="preserve">O</m:t>
                      </m:r>
                      <m:d>
                        <m:dPr>
                          <m:ctrlPr>
                            <a:rPr lang="en-US" sz="1900" i="1">
                              <a:solidFill>
                                <a:srgbClr val="ECC665"/>
                              </a:solidFill>
                              <a:latin typeface="Cambria Math" panose="02040503050406030204" pitchFamily="18" charset="0"/>
                            </a:rPr>
                          </m:ctrlPr>
                        </m:dPr>
                        <m:e>
                          <m:r>
                            <m:rPr>
                              <m:sty m:val="p"/>
                            </m:rPr>
                            <a:rPr lang="en-US" sz="1900">
                              <a:solidFill>
                                <a:srgbClr val="ECC665"/>
                              </a:solidFill>
                              <a:latin typeface="Cambria Math" panose="02040503050406030204" pitchFamily="18" charset="0"/>
                            </a:rPr>
                            <m:t xml:space="preserve">(</m:t>
                          </m:r>
                          <m:r>
                            <a:rPr lang="en-US" sz="1900" i="1">
                              <a:solidFill>
                                <a:srgbClr val="ECC665"/>
                              </a:solidFill>
                              <a:latin typeface="Cambria Math" panose="02040503050406030204" pitchFamily="18" charset="0"/>
                            </a:rPr>
                            <m:t xml:space="preserve">M</m:t>
                          </m:r>
                          <m:r>
                            <m:rPr>
                              <m:sty m:val="p"/>
                            </m:rPr>
                            <a:rPr lang="en-US" sz="1900">
                              <a:solidFill>
                                <a:srgbClr val="ECC665"/>
                              </a:solidFill>
                              <a:latin typeface="Cambria Math" panose="02040503050406030204" pitchFamily="18" charset="0"/>
                            </a:rPr>
                            <m:t xml:space="preserve">/</m:t>
                          </m:r>
                          <m:r>
                            <a:rPr lang="en-US" sz="1900" i="1">
                              <a:solidFill>
                                <a:srgbClr val="ECC665"/>
                              </a:solidFill>
                              <a:latin typeface="Cambria Math" panose="02040503050406030204" pitchFamily="18" charset="0"/>
                            </a:rPr>
                            <m:t xml:space="preserve">f</m:t>
                          </m:r>
                          <m:r>
                            <m:rPr>
                              <m:sty m:val="p"/>
                            </m:rPr>
                            <a:rPr lang="en-US" sz="1900">
                              <a:solidFill>
                                <a:srgbClr val="ECC665"/>
                              </a:solidFill>
                              <a:latin typeface="Cambria Math" panose="02040503050406030204" pitchFamily="18" charset="0"/>
                            </a:rPr>
                            <m:t xml:space="preserve">) </m:t>
                          </m:r>
                          <m:r>
                            <a:rPr lang="en-US" sz="1900" i="1">
                              <a:solidFill>
                                <a:srgbClr val="ECC665"/>
                              </a:solidFill>
                              <a:latin typeface="Cambria Math" panose="02040503050406030204" pitchFamily="18" charset="0"/>
                            </a:rPr>
                            <m:t xml:space="preserve">m</m:t>
                          </m:r>
                        </m:e>
                      </m:d>
                    </m:oMath>
                  </m:oMathPara>
                </a14:m>
                <a:endParaRPr lang="en-US" sz="1900"/>
              </a:p>
            </p:txBody>
          </p:sp>
        </mc:Choice>
        <mc:Fallback>
          <p:sp>
            <p:nvSpPr>
              <p:cNvPr id="36" name="Equation"/>
              <p:cNvSpPr txBox="1"/>
              <p:nvPr/>
            </p:nvSpPr>
            <p:spPr>
              <a:xfrm>
                <a:off x="10629900" y="8531352"/>
                <a:ext cx="6172200" cy="594360"/>
              </a:xfrm>
              <a:prstGeom prst="rect">
                <a:avLst/>
              </a:prstGeom>
              <a:blipFill>
                <a:blip r:embed="rId7"/>
                <a:stretch>
                  <a:fillRect/>
                </a:stretch>
              </a:blipFill>
            </p:spPr>
            <p:txBody>
              <a:bodyPr/>
              <a:lstStyle/>
              <a:p>
                <a:endParaRPr lang="en-US"/>
              </a:p>
            </p:txBody>
          </p:sp>
        </mc:Fallback>
      </mc:AlternateContent>
    </p:spTree>
  </p:cSld>
  <p:clrMapOvr>
    <a:masterClrMapping/>
  </p:clrMapOvr>
</p:sld>
</file>

<file path=ppt/slides/slide7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pic>
        <p:nvPicPr>
          <p:cNvPr id="2" name="Picture 1" descr="ensias_logo.jpg"/>
          <p:cNvPicPr>
            <a:picLocks noChangeAspect="1"/>
          </p:cNvPicPr>
          <p:nvPr/>
        </p:nvPicPr>
        <p:blipFill>
          <a:blip r:embed="rId2"/>
          <a:stretch>
            <a:fillRect/>
          </a:stretch>
        </p:blipFill>
        <p:spPr>
          <a:xfrm>
            <a:off x="1028700" y="9674352"/>
            <a:ext cx="542964" cy="384048"/>
          </a:xfrm>
          <a:prstGeom prst="rect">
            <a:avLst/>
          </a:prstGeom>
        </p:spPr>
      </p:pic>
      <p:sp>
        <p:nvSpPr>
          <p:cNvPr id="3" name="TextBox 2"/>
          <p:cNvSpPr txBox="1"/>
          <p:nvPr/>
        </p:nvSpPr>
        <p:spPr>
          <a:xfrm>
            <a:off x="1577340" y="9747504"/>
            <a:ext cx="12801600" cy="274320"/>
          </a:xfrm>
          <a:prstGeom prst="rect">
            <a:avLst/>
          </a:prstGeom>
          <a:noFill/>
        </p:spPr>
        <p:txBody>
          <a:bodyPr anchor="t" rtlCol="false" lIns="0" tIns="0" rIns="0" bIns="0" wrap="square"/>
          <a:lstStyle/>
          <a:p>
            <a:pPr algn="l">
              <a:lnSpc>
                <a:spcPts val="1600"/>
              </a:lnSpc>
              <a:spcBef>
                <a:spcPts val="0"/>
              </a:spcBef>
              <a:buNone/>
            </a:pPr>
            <a:r>
              <a:rPr lang="en-US" sz="1300" b="true">
                <a:solidFill>
                  <a:srgbClr val="8A8378"/>
                </a:solidFill>
                <a:latin typeface="Nunito Bold"/>
                <a:ea typeface="Nunito Bold"/>
                <a:cs typeface="Nunito Bold"/>
                <a:sym typeface="Nunito Bold"/>
              </a:rPr>
              <a:t>Cooperative Game Theory for Explainable AI in Recommendation Systems  ·  A Shapley Framework for Actionable Insight</a:t>
            </a:r>
          </a:p>
        </p:txBody>
      </p:sp>
      <p:sp>
        <p:nvSpPr>
          <p:cNvPr id="4" name="TextBox 3"/>
          <p:cNvSpPr txBox="1"/>
          <p:nvPr/>
        </p:nvSpPr>
        <p:spPr>
          <a:xfrm>
            <a:off x="16162020" y="9692640"/>
            <a:ext cx="1097280" cy="329184"/>
          </a:xfrm>
          <a:prstGeom prst="rect">
            <a:avLst/>
          </a:prstGeom>
          <a:noFill/>
        </p:spPr>
        <p:txBody>
          <a:bodyPr anchor="t" rtlCol="false" lIns="0" tIns="0" rIns="0" bIns="0" wrap="square"/>
          <a:lstStyle/>
          <a:p>
            <a:pPr algn="r">
              <a:lnSpc>
                <a:spcPts val="2200"/>
              </a:lnSpc>
              <a:spcBef>
                <a:spcPts val="0"/>
              </a:spcBef>
              <a:buNone/>
            </a:pPr>
            <a:r>
              <a:rPr lang="en-US" sz="1800" b="true">
                <a:solidFill>
                  <a:srgbClr val="111111"/>
                </a:solidFill>
                <a:latin typeface="Nunito Ultra-Bold"/>
                <a:ea typeface="Nunito Ultra-Bold"/>
                <a:cs typeface="Nunito Ultra-Bold"/>
                <a:sym typeface="Nunito Ultra-Bold"/>
              </a:rPr>
              <a:t>56</a:t>
            </a:r>
          </a:p>
        </p:txBody>
      </p:sp>
      <p:sp>
        <p:nvSpPr>
          <p:cNvPr id="5" name="TextBox 4"/>
          <p:cNvSpPr txBox="1"/>
          <p:nvPr/>
        </p:nvSpPr>
        <p:spPr>
          <a:xfrm>
            <a:off x="1028700" y="1389888"/>
            <a:ext cx="12938760" cy="329184"/>
          </a:xfrm>
          <a:prstGeom prst="rect">
            <a:avLst/>
          </a:prstGeom>
          <a:noFill/>
        </p:spPr>
        <p:txBody>
          <a:bodyPr anchor="t" rtlCol="false" lIns="0" tIns="0" rIns="0" bIns="0" wrap="square"/>
          <a:lstStyle/>
          <a:p>
            <a:pPr algn="l">
              <a:lnSpc>
                <a:spcPts val="2000"/>
              </a:lnSpc>
              <a:spcBef>
                <a:spcPts val="0"/>
              </a:spcBef>
              <a:buNone/>
            </a:pPr>
            <a:r>
              <a:rPr lang="en-US" sz="1500" b="true" spc="160">
                <a:solidFill>
                  <a:srgbClr val="1F7A8C"/>
                </a:solidFill>
                <a:latin typeface="Nunito Ultra-Bold"/>
                <a:ea typeface="Nunito Ultra-Bold"/>
                <a:cs typeface="Nunito Ultra-Bold"/>
                <a:sym typeface="Nunito Ultra-Bold"/>
              </a:rPr>
              <a:t>CONTRIBUTION III: DYHUCOG, A DYNAMIC HYPERGRAPH COOPERATIVE GAME</a:t>
            </a:r>
          </a:p>
        </p:txBody>
      </p:sp>
      <p:sp>
        <p:nvSpPr>
          <p:cNvPr id="6" name="Rounded Rectangle 5"/>
          <p:cNvSpPr/>
          <p:nvPr/>
        </p:nvSpPr>
        <p:spPr>
          <a:xfrm>
            <a:off x="14516100"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7" name="TextBox 6"/>
          <p:cNvSpPr txBox="1"/>
          <p:nvPr/>
        </p:nvSpPr>
        <p:spPr>
          <a:xfrm>
            <a:off x="14516100"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1</a:t>
            </a:r>
          </a:p>
        </p:txBody>
      </p:sp>
      <p:sp>
        <p:nvSpPr>
          <p:cNvPr id="8" name="Rounded Rectangle 7"/>
          <p:cNvSpPr/>
          <p:nvPr/>
        </p:nvSpPr>
        <p:spPr>
          <a:xfrm>
            <a:off x="14918436"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9" name="TextBox 8"/>
          <p:cNvSpPr txBox="1"/>
          <p:nvPr/>
        </p:nvSpPr>
        <p:spPr>
          <a:xfrm>
            <a:off x="14918436"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2</a:t>
            </a:r>
          </a:p>
        </p:txBody>
      </p:sp>
      <p:sp>
        <p:nvSpPr>
          <p:cNvPr id="10" name="Rounded Rectangle 9"/>
          <p:cNvSpPr/>
          <p:nvPr/>
        </p:nvSpPr>
        <p:spPr>
          <a:xfrm>
            <a:off x="15320772"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11" name="TextBox 10"/>
          <p:cNvSpPr txBox="1"/>
          <p:nvPr/>
        </p:nvSpPr>
        <p:spPr>
          <a:xfrm>
            <a:off x="15320772"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3</a:t>
            </a:r>
          </a:p>
        </p:txBody>
      </p:sp>
      <p:sp>
        <p:nvSpPr>
          <p:cNvPr id="12" name="Rounded Rectangle 11"/>
          <p:cNvSpPr/>
          <p:nvPr/>
        </p:nvSpPr>
        <p:spPr>
          <a:xfrm>
            <a:off x="15723108"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13" name="TextBox 12"/>
          <p:cNvSpPr txBox="1"/>
          <p:nvPr/>
        </p:nvSpPr>
        <p:spPr>
          <a:xfrm>
            <a:off x="15723108"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4</a:t>
            </a:r>
          </a:p>
        </p:txBody>
      </p:sp>
      <p:sp>
        <p:nvSpPr>
          <p:cNvPr id="14" name="Rounded Rectangle 13"/>
          <p:cNvSpPr/>
          <p:nvPr/>
        </p:nvSpPr>
        <p:spPr>
          <a:xfrm>
            <a:off x="16125444"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15" name="TextBox 14"/>
          <p:cNvSpPr txBox="1"/>
          <p:nvPr/>
        </p:nvSpPr>
        <p:spPr>
          <a:xfrm>
            <a:off x="16125444"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5</a:t>
            </a:r>
          </a:p>
        </p:txBody>
      </p:sp>
      <p:sp>
        <p:nvSpPr>
          <p:cNvPr id="16" name="Rounded Rectangle 15"/>
          <p:cNvSpPr/>
          <p:nvPr/>
        </p:nvSpPr>
        <p:spPr>
          <a:xfrm>
            <a:off x="16527780" y="1371600"/>
            <a:ext cx="329184" cy="329184"/>
          </a:xfrm>
          <a:prstGeom prst="roundRect">
            <a:avLst>
              <a:gd name="adj" fmla="val 16666"/>
            </a:avLst>
          </a:prstGeom>
          <a:solidFill>
            <a:srgbClr val="4472C4"/>
          </a:solidFill>
          <a:ln w="15875">
            <a:solidFill>
              <a:srgbClr val="4472C4"/>
            </a:solidFill>
          </a:ln>
        </p:spPr>
        <p:txBody>
          <a:bodyPr anchor="ctr" rtlCol="false" lIns="0" tIns="0" rIns="0" bIns="0" wrap="square"/>
          <a:lstStyle/>
          <a:p>
            <a:endParaRPr lang="en-US" sz="1800"/>
          </a:p>
        </p:txBody>
      </p:sp>
      <p:sp>
        <p:nvSpPr>
          <p:cNvPr id="17" name="TextBox 16"/>
          <p:cNvSpPr txBox="1"/>
          <p:nvPr/>
        </p:nvSpPr>
        <p:spPr>
          <a:xfrm>
            <a:off x="16527780"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FFFFFF"/>
                </a:solidFill>
                <a:latin typeface="Nunito Ultra-Bold"/>
                <a:ea typeface="Nunito Ultra-Bold"/>
                <a:cs typeface="Nunito Ultra-Bold"/>
                <a:sym typeface="Nunito Ultra-Bold"/>
              </a:rPr>
              <a:t>6</a:t>
            </a:r>
          </a:p>
        </p:txBody>
      </p:sp>
      <p:sp>
        <p:nvSpPr>
          <p:cNvPr id="18" name="Rounded Rectangle 17"/>
          <p:cNvSpPr/>
          <p:nvPr/>
        </p:nvSpPr>
        <p:spPr>
          <a:xfrm>
            <a:off x="16930116"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19" name="TextBox 18"/>
          <p:cNvSpPr txBox="1"/>
          <p:nvPr/>
        </p:nvSpPr>
        <p:spPr>
          <a:xfrm>
            <a:off x="16930116"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7</a:t>
            </a:r>
          </a:p>
        </p:txBody>
      </p:sp>
      <p:sp>
        <p:nvSpPr>
          <p:cNvPr id="20" name="TextBox 19"/>
          <p:cNvSpPr txBox="1"/>
          <p:nvPr/>
        </p:nvSpPr>
        <p:spPr>
          <a:xfrm>
            <a:off x="1028700" y="1719072"/>
            <a:ext cx="16230600" cy="730250"/>
          </a:xfrm>
          <a:prstGeom prst="rect">
            <a:avLst/>
          </a:prstGeom>
          <a:noFill/>
        </p:spPr>
        <p:txBody>
          <a:bodyPr anchor="t" rtlCol="false" lIns="0" tIns="0" rIns="0" bIns="0" wrap="square"/>
          <a:lstStyle/>
          <a:p>
            <a:pPr algn="l">
              <a:lnSpc>
                <a:spcPts val="5060"/>
              </a:lnSpc>
              <a:spcBef>
                <a:spcPts val="0"/>
              </a:spcBef>
              <a:buNone/>
            </a:pPr>
            <a:r>
              <a:rPr lang="en-US" sz="4600" b="true" spc="-230">
                <a:solidFill>
                  <a:srgbClr val="111111"/>
                </a:solidFill>
                <a:latin typeface="Roca Two Bold"/>
                <a:ea typeface="Roca Two Bold"/>
                <a:cs typeface="Roca Two Bold"/>
                <a:sym typeface="Roca Two Bold"/>
              </a:rPr>
              <a:t>Shapley-Weighted Hypergraph Message Passing</a:t>
            </a:r>
          </a:p>
        </p:txBody>
      </p:sp>
      <p:sp>
        <p:nvSpPr>
          <p:cNvPr id="21" name="Rounded Rectangle 20"/>
          <p:cNvSpPr/>
          <p:nvPr/>
        </p:nvSpPr>
        <p:spPr>
          <a:xfrm>
            <a:off x="1028700" y="2559050"/>
            <a:ext cx="1691553" cy="420624"/>
          </a:xfrm>
          <a:prstGeom prst="roundRect">
            <a:avLst>
              <a:gd name="adj" fmla="val 50000"/>
            </a:avLst>
          </a:prstGeom>
          <a:noFill/>
          <a:ln w="28575">
            <a:solidFill>
              <a:srgbClr val="4472C4"/>
            </a:solidFill>
          </a:ln>
        </p:spPr>
        <p:txBody>
          <a:bodyPr anchor="ctr" rtlCol="false" lIns="45720" tIns="0" rIns="45720" bIns="0" wrap="square"/>
          <a:lstStyle/>
          <a:p>
            <a:pPr algn="ctr">
              <a:lnSpc>
                <a:spcPts val="2160"/>
              </a:lnSpc>
              <a:spcBef>
                <a:spcPts val="0"/>
              </a:spcBef>
              <a:buNone/>
            </a:pPr>
            <a:r>
              <a:rPr lang="en-US" sz="1800" b="true">
                <a:solidFill>
                  <a:srgbClr val="4472C4"/>
                </a:solidFill>
                <a:latin typeface="Nunito Bold"/>
                <a:ea typeface="Nunito Bold"/>
                <a:cs typeface="Nunito Bold"/>
                <a:sym typeface="Nunito Bold"/>
              </a:rPr>
              <a:t>Objectives</a:t>
            </a:r>
          </a:p>
        </p:txBody>
      </p:sp>
      <p:sp>
        <p:nvSpPr>
          <p:cNvPr id="22" name="Rounded Rectangle 21"/>
          <p:cNvSpPr/>
          <p:nvPr/>
        </p:nvSpPr>
        <p:spPr>
          <a:xfrm>
            <a:off x="2848269" y="2559050"/>
            <a:ext cx="1998119" cy="420624"/>
          </a:xfrm>
          <a:prstGeom prst="roundRect">
            <a:avLst>
              <a:gd name="adj" fmla="val 50000"/>
            </a:avLst>
          </a:prstGeom>
          <a:solidFill>
            <a:srgbClr val="4472C4"/>
          </a:solidFill>
          <a:ln>
            <a:noFill/>
          </a:ln>
        </p:spPr>
        <p:txBody>
          <a:bodyPr anchor="ctr" rtlCol="false" lIns="45720" tIns="0" rIns="45720" bIns="0" wrap="square"/>
          <a:lstStyle/>
          <a:p>
            <a:pPr algn="ctr">
              <a:lnSpc>
                <a:spcPts val="2160"/>
              </a:lnSpc>
              <a:spcBef>
                <a:spcPts val="0"/>
              </a:spcBef>
              <a:buNone/>
            </a:pPr>
            <a:r>
              <a:rPr lang="en-US" sz="1800" b="true">
                <a:solidFill>
                  <a:srgbClr val="FFFFFF"/>
                </a:solidFill>
                <a:latin typeface="Nunito Bold"/>
                <a:ea typeface="Nunito Bold"/>
                <a:cs typeface="Nunito Bold"/>
                <a:sym typeface="Nunito Bold"/>
              </a:rPr>
              <a:t>Methodology</a:t>
            </a:r>
          </a:p>
        </p:txBody>
      </p:sp>
      <p:sp>
        <p:nvSpPr>
          <p:cNvPr id="23" name="Rounded Rectangle 22"/>
          <p:cNvSpPr/>
          <p:nvPr/>
        </p:nvSpPr>
        <p:spPr>
          <a:xfrm>
            <a:off x="4974404" y="2559050"/>
            <a:ext cx="1369446" cy="420624"/>
          </a:xfrm>
          <a:prstGeom prst="roundRect">
            <a:avLst>
              <a:gd name="adj" fmla="val 50000"/>
            </a:avLst>
          </a:prstGeom>
          <a:noFill/>
          <a:ln w="28575">
            <a:solidFill>
              <a:srgbClr val="4472C4"/>
            </a:solidFill>
          </a:ln>
        </p:spPr>
        <p:txBody>
          <a:bodyPr anchor="ctr" rtlCol="false" lIns="45720" tIns="0" rIns="45720" bIns="0" wrap="square"/>
          <a:lstStyle/>
          <a:p>
            <a:pPr algn="ctr">
              <a:lnSpc>
                <a:spcPts val="2160"/>
              </a:lnSpc>
              <a:spcBef>
                <a:spcPts val="0"/>
              </a:spcBef>
              <a:buNone/>
            </a:pPr>
            <a:r>
              <a:rPr lang="en-US" sz="1800" b="true">
                <a:solidFill>
                  <a:srgbClr val="4472C4"/>
                </a:solidFill>
                <a:latin typeface="Nunito Bold"/>
                <a:ea typeface="Nunito Bold"/>
                <a:cs typeface="Nunito Bold"/>
                <a:sym typeface="Nunito Bold"/>
              </a:rPr>
              <a:t>Results</a:t>
            </a:r>
          </a:p>
        </p:txBody>
      </p:sp>
      <p:sp>
        <p:nvSpPr>
          <p:cNvPr id="24" name="Rounded Rectangle 23"/>
          <p:cNvSpPr/>
          <p:nvPr/>
        </p:nvSpPr>
        <p:spPr>
          <a:xfrm>
            <a:off x="6471866" y="2559050"/>
            <a:ext cx="1474931" cy="420624"/>
          </a:xfrm>
          <a:prstGeom prst="roundRect">
            <a:avLst>
              <a:gd name="adj" fmla="val 50000"/>
            </a:avLst>
          </a:prstGeom>
          <a:noFill/>
          <a:ln w="28575">
            <a:solidFill>
              <a:srgbClr val="4472C4"/>
            </a:solidFill>
          </a:ln>
        </p:spPr>
        <p:txBody>
          <a:bodyPr anchor="ctr" rtlCol="false" lIns="45720" tIns="0" rIns="45720" bIns="0" wrap="square"/>
          <a:lstStyle/>
          <a:p>
            <a:pPr algn="ctr">
              <a:lnSpc>
                <a:spcPts val="2160"/>
              </a:lnSpc>
              <a:spcBef>
                <a:spcPts val="0"/>
              </a:spcBef>
              <a:buNone/>
            </a:pPr>
            <a:r>
              <a:rPr lang="en-US" sz="1800" b="true">
                <a:solidFill>
                  <a:srgbClr val="4472C4"/>
                </a:solidFill>
                <a:latin typeface="Nunito Bold"/>
                <a:ea typeface="Nunito Bold"/>
                <a:cs typeface="Nunito Bold"/>
                <a:sym typeface="Nunito Bold"/>
              </a:rPr>
              <a:t>Findings</a:t>
            </a:r>
          </a:p>
        </p:txBody>
      </p:sp>
      <p:sp>
        <p:nvSpPr>
          <p:cNvPr id="25" name="Rounded Rectangle 24"/>
          <p:cNvSpPr/>
          <p:nvPr/>
        </p:nvSpPr>
        <p:spPr>
          <a:xfrm>
            <a:off x="1028700" y="3363722"/>
            <a:ext cx="16230600" cy="1691640"/>
          </a:xfrm>
          <a:prstGeom prst="roundRect">
            <a:avLst>
              <a:gd name="adj" fmla="val 13513"/>
            </a:avLst>
          </a:prstGeom>
          <a:solidFill>
            <a:srgbClr val="FFFFFF"/>
          </a:solidFill>
          <a:ln w="15875">
            <a:solidFill>
              <a:srgbClr val="E3D6C4"/>
            </a:solidFill>
          </a:ln>
        </p:spPr>
        <p:txBody>
          <a:bodyPr anchor="ctr" rtlCol="false" lIns="0" tIns="0" rIns="0" bIns="0" wrap="square"/>
          <a:lstStyle/>
          <a:p>
            <a:endParaRPr lang="en-US" sz="1800"/>
          </a:p>
        </p:txBody>
      </p:sp>
      <p:pic>
        <p:nvPicPr>
          <p:cNvPr id="26" name="Picture 25" descr="dyhucog_arch.png"/>
          <p:cNvPicPr>
            <a:picLocks noChangeAspect="1"/>
          </p:cNvPicPr>
          <p:nvPr/>
        </p:nvPicPr>
        <p:blipFill>
          <a:blip r:embed="rId4"/>
          <a:stretch>
            <a:fillRect/>
          </a:stretch>
        </p:blipFill>
        <p:spPr>
          <a:xfrm>
            <a:off x="6205039" y="3500882"/>
            <a:ext cx="5877921" cy="1417320"/>
          </a:xfrm>
          <a:prstGeom prst="rect">
            <a:avLst/>
          </a:prstGeom>
        </p:spPr>
      </p:pic>
      <p:sp>
        <p:nvSpPr>
          <p:cNvPr id="27" name="TextBox 26"/>
          <p:cNvSpPr txBox="1"/>
          <p:nvPr/>
        </p:nvSpPr>
        <p:spPr>
          <a:xfrm>
            <a:off x="1211580" y="4671314"/>
            <a:ext cx="15864840" cy="411480"/>
          </a:xfrm>
          <a:prstGeom prst="rect">
            <a:avLst/>
          </a:prstGeom>
          <a:noFill/>
        </p:spPr>
        <p:txBody>
          <a:bodyPr anchor="t" rtlCol="false" lIns="0" tIns="0" rIns="0" bIns="0" wrap="square"/>
          <a:lstStyle/>
          <a:p>
            <a:pPr algn="r">
              <a:lnSpc>
                <a:spcPts val="1600"/>
              </a:lnSpc>
              <a:spcBef>
                <a:spcPts val="0"/>
              </a:spcBef>
              <a:buNone/>
            </a:pPr>
            <a:r>
              <a:rPr lang="en-US" sz="1200" b="true">
                <a:solidFill>
                  <a:srgbClr val="8A8378"/>
                </a:solidFill>
                <a:latin typeface="Nunito Semi-Bold"/>
                <a:ea typeface="Nunito Semi-Bold"/>
                <a:cs typeface="Nunito Semi-Bold"/>
                <a:sym typeface="Nunito Semi-Bold"/>
              </a:rPr>
              <a:t>Fig. 7.1 (thesis): workflow of the DyHuCoG architecture</a:t>
            </a:r>
          </a:p>
        </p:txBody>
      </p:sp>
      <p:sp>
        <p:nvSpPr>
          <p:cNvPr id="28" name="Rounded Rectangle 27"/>
          <p:cNvSpPr/>
          <p:nvPr/>
        </p:nvSpPr>
        <p:spPr>
          <a:xfrm>
            <a:off x="1028700" y="5283962"/>
            <a:ext cx="16230600" cy="609811"/>
          </a:xfrm>
          <a:prstGeom prst="roundRect">
            <a:avLst>
              <a:gd name="adj" fmla="val 23991"/>
            </a:avLst>
          </a:prstGeom>
          <a:solidFill>
            <a:srgbClr val="F6ECDF"/>
          </a:solidFill>
          <a:ln>
            <a:noFill/>
          </a:ln>
        </p:spPr>
        <p:txBody>
          <a:bodyPr anchor="ctr" rtlCol="false" lIns="0" tIns="0" rIns="0" bIns="0" wrap="square"/>
          <a:lstStyle/>
          <a:p>
            <a:endParaRPr lang="en-US" sz="1800"/>
          </a:p>
        </p:txBody>
      </p:sp>
      <p:sp>
        <p:nvSpPr>
          <p:cNvPr id="29" name="TextBox 28"/>
          <p:cNvSpPr txBox="1"/>
          <p:nvPr/>
        </p:nvSpPr>
        <p:spPr>
          <a:xfrm>
            <a:off x="1348740" y="5283962"/>
            <a:ext cx="3291840" cy="609811"/>
          </a:xfrm>
          <a:prstGeom prst="rect">
            <a:avLst/>
          </a:prstGeom>
          <a:noFill/>
        </p:spPr>
        <p:txBody>
          <a:bodyPr anchor="ctr" rtlCol="false" lIns="0" tIns="0" rIns="0" bIns="0" wrap="square"/>
          <a:lstStyle/>
          <a:p>
            <a:pPr algn="l">
              <a:lnSpc>
                <a:spcPts val="2200"/>
              </a:lnSpc>
              <a:spcBef>
                <a:spcPts val="0"/>
              </a:spcBef>
              <a:buNone/>
            </a:pPr>
            <a:r>
              <a:rPr lang="en-US" sz="1800" b="true">
                <a:solidFill>
                  <a:srgbClr val="4472C4"/>
                </a:solidFill>
                <a:latin typeface="Nunito Ultra-Bold"/>
                <a:ea typeface="Nunito Ultra-Bold"/>
                <a:cs typeface="Nunito Ultra-Bold"/>
                <a:sym typeface="Nunito Ultra-Bold"/>
              </a:rPr>
              <a:t>Base propagation</a:t>
            </a:r>
          </a:p>
        </p:txBody>
      </p:sp>
      <mc:AlternateContent xmlns:mc="http://schemas.openxmlformats.org/markup-compatibility/2006">
        <mc:Choice xmlns:a14="http://schemas.microsoft.com/office/drawing/2010/main" Requires="a14">
          <p:sp>
            <p:nvSpPr>
              <p:cNvPr id="30" name="Equation"/>
              <p:cNvSpPr txBox="1"/>
              <p:nvPr/>
            </p:nvSpPr>
            <p:spPr>
              <a:xfrm>
                <a:off x="4686300" y="5283962"/>
                <a:ext cx="12298680" cy="609811"/>
              </a:xfrm>
              <a:prstGeom prst="rect">
                <a:avLst/>
              </a:prstGeom>
              <a:noFill/>
            </p:spPr>
            <p:txBody>
              <a:bodyPr wrap="none" rtlCol="0" anchor="ctr" lIns="0" tIns="0" rIns="0" bIns="0"/>
              <a:lstStyle/>
              <a:p>
                <a:pPr algn="l"/>
                <a14:m xmlns:m="http://schemas.openxmlformats.org/officeDocument/2006/math">
                  <m:oMathPara>
                    <m:oMathParaPr>
                      <m:jc m:val="left"/>
                    </m:oMathParaPr>
                    <m:oMath>
                      <m:sSup>
                        <m:sSupPr>
                          <m:ctrlPr>
                            <a:rPr lang="en-US" sz="2200" i="1">
                              <a:solidFill>
                                <a:srgbClr val="111111"/>
                              </a:solidFill>
                              <a:latin typeface="Cambria Math" panose="02040503050406030204" pitchFamily="18" charset="0"/>
                            </a:rPr>
                          </m:ctrlPr>
                        </m:sSupPr>
                        <m:e>
                          <m:r>
                            <a:rPr lang="en-US" sz="2200" i="1">
                              <a:solidFill>
                                <a:srgbClr val="111111"/>
                              </a:solidFill>
                              <a:latin typeface="Cambria Math" panose="02040503050406030204" pitchFamily="18" charset="0"/>
                            </a:rPr>
                            <m:t xml:space="preserve">e</m:t>
                          </m:r>
                        </m:e>
                        <m:sup>
                          <m:r>
                            <m:rPr>
                              <m:sty m:val="p"/>
                            </m:rPr>
                            <a:rPr lang="en-US" sz="2200">
                              <a:solidFill>
                                <a:srgbClr val="111111"/>
                              </a:solidFill>
                              <a:latin typeface="Cambria Math" panose="02040503050406030204" pitchFamily="18" charset="0"/>
                            </a:rPr>
                            <m:t xml:space="preserve">(</m:t>
                          </m:r>
                          <m:r>
                            <a:rPr lang="en-US" sz="2200" i="1">
                              <a:solidFill>
                                <a:srgbClr val="111111"/>
                              </a:solidFill>
                              <a:latin typeface="Cambria Math" panose="02040503050406030204" pitchFamily="18" charset="0"/>
                            </a:rPr>
                            <m:t xml:space="preserve">l</m:t>
                          </m:r>
                          <m:r>
                            <m:rPr>
                              <m:sty m:val="p"/>
                            </m:rPr>
                            <a:rPr lang="en-US" sz="2200">
                              <a:solidFill>
                                <a:srgbClr val="111111"/>
                              </a:solidFill>
                              <a:latin typeface="Cambria Math" panose="02040503050406030204" pitchFamily="18" charset="0"/>
                            </a:rPr>
                            <m:t xml:space="preserve">+1)</m:t>
                          </m:r>
                        </m:sup>
                      </m:sSup>
                      <m:r>
                        <m:rPr>
                          <m:sty m:val="p"/>
                        </m:rPr>
                        <a:rPr lang="en-US" sz="2200">
                          <a:solidFill>
                            <a:srgbClr val="111111"/>
                          </a:solidFill>
                          <a:latin typeface="Cambria Math" panose="02040503050406030204" pitchFamily="18" charset="0"/>
                        </a:rPr>
                        <m:t xml:space="preserve">=</m:t>
                      </m:r>
                      <m:r>
                        <a:rPr lang="en-US" sz="2200" i="1">
                          <a:solidFill>
                            <a:srgbClr val="111111"/>
                          </a:solidFill>
                          <a:latin typeface="Cambria Math" panose="02040503050406030204" pitchFamily="18" charset="0"/>
                        </a:rPr>
                        <m:t xml:space="preserve">σ</m:t>
                      </m:r>
                      <m:d>
                        <m:dPr>
                          <m:ctrlPr>
                            <a:rPr lang="en-US" sz="2200" i="1">
                              <a:solidFill>
                                <a:srgbClr val="111111"/>
                              </a:solidFill>
                              <a:latin typeface="Cambria Math" panose="02040503050406030204" pitchFamily="18" charset="0"/>
                            </a:rPr>
                          </m:ctrlPr>
                        </m:dPr>
                        <m:e>
                          <m:sSup>
                            <m:sSupPr>
                              <m:ctrlPr>
                                <a:rPr lang="en-US" sz="2200" i="1">
                                  <a:solidFill>
                                    <a:srgbClr val="111111"/>
                                  </a:solidFill>
                                  <a:latin typeface="Cambria Math" panose="02040503050406030204" pitchFamily="18" charset="0"/>
                                </a:rPr>
                              </m:ctrlPr>
                            </m:sSupPr>
                            <m:e>
                              <m:r>
                                <a:rPr lang="en-US" sz="2200" i="1">
                                  <a:solidFill>
                                    <a:srgbClr val="111111"/>
                                  </a:solidFill>
                                  <a:latin typeface="Cambria Math" panose="02040503050406030204" pitchFamily="18" charset="0"/>
                                </a:rPr>
                                <m:t xml:space="preserve">D</m:t>
                              </m:r>
                            </m:e>
                            <m:sup>
                              <m:r>
                                <m:rPr>
                                  <m:sty m:val="p"/>
                                </m:rPr>
                                <a:rPr lang="en-US" sz="2200">
                                  <a:solidFill>
                                    <a:srgbClr val="111111"/>
                                  </a:solidFill>
                                  <a:latin typeface="Cambria Math" panose="02040503050406030204" pitchFamily="18" charset="0"/>
                                </a:rPr>
                                <m:t xml:space="preserve">−1/2</m:t>
                              </m:r>
                            </m:sup>
                          </m:sSup>
                          <m:r>
                            <a:rPr lang="en-US" sz="2200" i="1">
                              <a:solidFill>
                                <a:srgbClr val="111111"/>
                              </a:solidFill>
                              <a:latin typeface="Cambria Math" panose="02040503050406030204" pitchFamily="18" charset="0"/>
                            </a:rPr>
                            <m:t xml:space="preserve">A</m:t>
                          </m:r>
                          <m:r>
                            <m:rPr>
                              <m:sty m:val="p"/>
                            </m:rPr>
                            <a:rPr lang="en-US" sz="2200">
                              <a:solidFill>
                                <a:srgbClr val="111111"/>
                              </a:solidFill>
                              <a:latin typeface="Cambria Math" panose="02040503050406030204" pitchFamily="18" charset="0"/>
                            </a:rPr>
                            <m:t xml:space="preserve"> </m:t>
                          </m:r>
                          <m:sSup>
                            <m:sSupPr>
                              <m:ctrlPr>
                                <a:rPr lang="en-US" sz="2200" i="1">
                                  <a:solidFill>
                                    <a:srgbClr val="111111"/>
                                  </a:solidFill>
                                  <a:latin typeface="Cambria Math" panose="02040503050406030204" pitchFamily="18" charset="0"/>
                                </a:rPr>
                              </m:ctrlPr>
                            </m:sSupPr>
                            <m:e>
                              <m:r>
                                <a:rPr lang="en-US" sz="2200" i="1">
                                  <a:solidFill>
                                    <a:srgbClr val="111111"/>
                                  </a:solidFill>
                                  <a:latin typeface="Cambria Math" panose="02040503050406030204" pitchFamily="18" charset="0"/>
                                </a:rPr>
                                <m:t xml:space="preserve">D</m:t>
                              </m:r>
                            </m:e>
                            <m:sup>
                              <m:r>
                                <m:rPr>
                                  <m:sty m:val="p"/>
                                </m:rPr>
                                <a:rPr lang="en-US" sz="2200">
                                  <a:solidFill>
                                    <a:srgbClr val="111111"/>
                                  </a:solidFill>
                                  <a:latin typeface="Cambria Math" panose="02040503050406030204" pitchFamily="18" charset="0"/>
                                </a:rPr>
                                <m:t xml:space="preserve">−1/2</m:t>
                              </m:r>
                            </m:sup>
                          </m:sSup>
                          <m:r>
                            <m:rPr>
                              <m:sty m:val="p"/>
                            </m:rPr>
                            <a:rPr lang="en-US" sz="2200">
                              <a:solidFill>
                                <a:srgbClr val="111111"/>
                              </a:solidFill>
                              <a:latin typeface="Cambria Math" panose="02040503050406030204" pitchFamily="18" charset="0"/>
                            </a:rPr>
                            <m:t xml:space="preserve"> </m:t>
                          </m:r>
                          <m:sSup>
                            <m:sSupPr>
                              <m:ctrlPr>
                                <a:rPr lang="en-US" sz="2200" i="1">
                                  <a:solidFill>
                                    <a:srgbClr val="111111"/>
                                  </a:solidFill>
                                  <a:latin typeface="Cambria Math" panose="02040503050406030204" pitchFamily="18" charset="0"/>
                                </a:rPr>
                              </m:ctrlPr>
                            </m:sSupPr>
                            <m:e>
                              <m:r>
                                <a:rPr lang="en-US" sz="2200" i="1">
                                  <a:solidFill>
                                    <a:srgbClr val="111111"/>
                                  </a:solidFill>
                                  <a:latin typeface="Cambria Math" panose="02040503050406030204" pitchFamily="18" charset="0"/>
                                </a:rPr>
                                <m:t xml:space="preserve">e</m:t>
                              </m:r>
                            </m:e>
                            <m:sup>
                              <m:r>
                                <m:rPr>
                                  <m:sty m:val="p"/>
                                </m:rPr>
                                <a:rPr lang="en-US" sz="2200">
                                  <a:solidFill>
                                    <a:srgbClr val="111111"/>
                                  </a:solidFill>
                                  <a:latin typeface="Cambria Math" panose="02040503050406030204" pitchFamily="18" charset="0"/>
                                </a:rPr>
                                <m:t xml:space="preserve">(</m:t>
                              </m:r>
                              <m:r>
                                <a:rPr lang="en-US" sz="2200" i="1">
                                  <a:solidFill>
                                    <a:srgbClr val="111111"/>
                                  </a:solidFill>
                                  <a:latin typeface="Cambria Math" panose="02040503050406030204" pitchFamily="18" charset="0"/>
                                </a:rPr>
                                <m:t xml:space="preserve">l</m:t>
                              </m:r>
                              <m:r>
                                <m:rPr>
                                  <m:sty m:val="p"/>
                                </m:rPr>
                                <a:rPr lang="en-US" sz="2200">
                                  <a:solidFill>
                                    <a:srgbClr val="111111"/>
                                  </a:solidFill>
                                  <a:latin typeface="Cambria Math" panose="02040503050406030204" pitchFamily="18" charset="0"/>
                                </a:rPr>
                                <m:t xml:space="preserve">)</m:t>
                              </m:r>
                            </m:sup>
                          </m:sSup>
                        </m:e>
                      </m:d>
                    </m:oMath>
                  </m:oMathPara>
                </a14:m>
                <a:endParaRPr lang="en-US" sz="2200"/>
              </a:p>
            </p:txBody>
          </p:sp>
        </mc:Choice>
        <mc:Fallback>
          <p:sp>
            <p:nvSpPr>
              <p:cNvPr id="30" name="Equation"/>
              <p:cNvSpPr txBox="1"/>
              <p:nvPr/>
            </p:nvSpPr>
            <p:spPr>
              <a:xfrm>
                <a:off x="4686300" y="5283962"/>
                <a:ext cx="12298680" cy="609811"/>
              </a:xfrm>
              <a:prstGeom prst="rect">
                <a:avLst/>
              </a:prstGeom>
              <a:blipFill>
                <a:blip r:embed="rId5"/>
                <a:stretch>
                  <a:fillRect/>
                </a:stretch>
              </a:blipFill>
            </p:spPr>
            <p:txBody>
              <a:bodyPr/>
              <a:lstStyle/>
              <a:p>
                <a:endParaRPr lang="en-US"/>
              </a:p>
            </p:txBody>
          </p:sp>
        </mc:Fallback>
      </mc:AlternateContent>
      <p:sp>
        <p:nvSpPr>
          <p:cNvPr id="31" name="Rounded Rectangle 30"/>
          <p:cNvSpPr/>
          <p:nvPr/>
        </p:nvSpPr>
        <p:spPr>
          <a:xfrm>
            <a:off x="1028700" y="5985213"/>
            <a:ext cx="16230600" cy="609811"/>
          </a:xfrm>
          <a:prstGeom prst="roundRect">
            <a:avLst>
              <a:gd name="adj" fmla="val 23991"/>
            </a:avLst>
          </a:prstGeom>
          <a:solidFill>
            <a:srgbClr val="FBF4EB"/>
          </a:solidFill>
          <a:ln>
            <a:noFill/>
          </a:ln>
        </p:spPr>
        <p:txBody>
          <a:bodyPr anchor="ctr" rtlCol="false" lIns="0" tIns="0" rIns="0" bIns="0" wrap="square"/>
          <a:lstStyle/>
          <a:p>
            <a:endParaRPr lang="en-US" sz="1800"/>
          </a:p>
        </p:txBody>
      </p:sp>
      <p:sp>
        <p:nvSpPr>
          <p:cNvPr id="32" name="TextBox 31"/>
          <p:cNvSpPr txBox="1"/>
          <p:nvPr/>
        </p:nvSpPr>
        <p:spPr>
          <a:xfrm>
            <a:off x="1348740" y="5985213"/>
            <a:ext cx="3291840" cy="609811"/>
          </a:xfrm>
          <a:prstGeom prst="rect">
            <a:avLst/>
          </a:prstGeom>
          <a:noFill/>
        </p:spPr>
        <p:txBody>
          <a:bodyPr anchor="ctr" rtlCol="false" lIns="0" tIns="0" rIns="0" bIns="0" wrap="square"/>
          <a:lstStyle/>
          <a:p>
            <a:pPr algn="l">
              <a:lnSpc>
                <a:spcPts val="2200"/>
              </a:lnSpc>
              <a:spcBef>
                <a:spcPts val="0"/>
              </a:spcBef>
              <a:buNone/>
            </a:pPr>
            <a:r>
              <a:rPr lang="en-US" sz="1800" b="true">
                <a:solidFill>
                  <a:srgbClr val="4472C4"/>
                </a:solidFill>
                <a:latin typeface="Nunito Ultra-Bold"/>
                <a:ea typeface="Nunito Ultra-Bold"/>
                <a:cs typeface="Nunito Ultra-Bold"/>
                <a:sym typeface="Nunito Ultra-Bold"/>
              </a:rPr>
              <a:t>Shapley-weighted</a:t>
            </a:r>
          </a:p>
        </p:txBody>
      </p:sp>
      <mc:AlternateContent xmlns:mc="http://schemas.openxmlformats.org/markup-compatibility/2006">
        <mc:Choice xmlns:a14="http://schemas.microsoft.com/office/drawing/2010/main" Requires="a14">
          <p:sp>
            <p:nvSpPr>
              <p:cNvPr id="33" name="Equation"/>
              <p:cNvSpPr txBox="1"/>
              <p:nvPr/>
            </p:nvSpPr>
            <p:spPr>
              <a:xfrm>
                <a:off x="4686300" y="5985213"/>
                <a:ext cx="12298680" cy="609811"/>
              </a:xfrm>
              <a:prstGeom prst="rect">
                <a:avLst/>
              </a:prstGeom>
              <a:noFill/>
            </p:spPr>
            <p:txBody>
              <a:bodyPr wrap="none" rtlCol="0" anchor="ctr" lIns="0" tIns="0" rIns="0" bIns="0"/>
              <a:lstStyle/>
              <a:p>
                <a:pPr algn="l"/>
                <a14:m xmlns:m="http://schemas.openxmlformats.org/officeDocument/2006/math">
                  <m:oMathPara>
                    <m:oMathParaPr>
                      <m:jc m:val="left"/>
                    </m:oMathParaPr>
                    <m:oMath>
                      <m:sSubSup>
                        <m:sSubSupPr>
                          <m:ctrlPr>
                            <a:rPr lang="en-US" sz="1750" i="1">
                              <a:solidFill>
                                <a:srgbClr val="111111"/>
                              </a:solidFill>
                              <a:latin typeface="Cambria Math" panose="02040503050406030204" pitchFamily="18" charset="0"/>
                            </a:rPr>
                          </m:ctrlPr>
                        </m:sSubSupPr>
                        <m:e>
                          <m:r>
                            <a:rPr lang="en-US" sz="1750" i="1">
                              <a:solidFill>
                                <a:srgbClr val="111111"/>
                              </a:solidFill>
                              <a:latin typeface="Cambria Math" panose="02040503050406030204" pitchFamily="18" charset="0"/>
                            </a:rPr>
                            <m:t xml:space="preserve">e</m:t>
                          </m:r>
                        </m:e>
                        <m:sub>
                          <m:r>
                            <a:rPr lang="en-US" sz="1750" i="1">
                              <a:solidFill>
                                <a:srgbClr val="111111"/>
                              </a:solidFill>
                              <a:latin typeface="Cambria Math" panose="02040503050406030204" pitchFamily="18" charset="0"/>
                            </a:rPr>
                            <m:t xml:space="preserve">j</m:t>
                          </m:r>
                        </m:sub>
                        <m:sup>
                          <m:r>
                            <m:rPr>
                              <m:sty m:val="p"/>
                            </m:rPr>
                            <a:rPr lang="en-US" sz="1750">
                              <a:solidFill>
                                <a:srgbClr val="111111"/>
                              </a:solidFill>
                              <a:latin typeface="Cambria Math" panose="02040503050406030204" pitchFamily="18" charset="0"/>
                            </a:rPr>
                            <m:t xml:space="preserve">(</m:t>
                          </m:r>
                          <m:r>
                            <a:rPr lang="en-US" sz="1750" i="1">
                              <a:solidFill>
                                <a:srgbClr val="111111"/>
                              </a:solidFill>
                              <a:latin typeface="Cambria Math" panose="02040503050406030204" pitchFamily="18" charset="0"/>
                            </a:rPr>
                            <m:t xml:space="preserve">l</m:t>
                          </m:r>
                          <m:r>
                            <m:rPr>
                              <m:sty m:val="p"/>
                            </m:rPr>
                            <a:rPr lang="en-US" sz="1750">
                              <a:solidFill>
                                <a:srgbClr val="111111"/>
                              </a:solidFill>
                              <a:latin typeface="Cambria Math" panose="02040503050406030204" pitchFamily="18" charset="0"/>
                            </a:rPr>
                            <m:t xml:space="preserve">+1)</m:t>
                          </m:r>
                        </m:sup>
                      </m:sSubSup>
                      <m:r>
                        <m:rPr>
                          <m:sty m:val="p"/>
                        </m:rPr>
                        <a:rPr lang="en-US" sz="1750">
                          <a:solidFill>
                            <a:srgbClr val="111111"/>
                          </a:solidFill>
                          <a:latin typeface="Cambria Math" panose="02040503050406030204" pitchFamily="18" charset="0"/>
                        </a:rPr>
                        <m:t xml:space="preserve">=</m:t>
                      </m:r>
                      <m:r>
                        <a:rPr lang="en-US" sz="1750" i="1">
                          <a:solidFill>
                            <a:srgbClr val="111111"/>
                          </a:solidFill>
                          <a:latin typeface="Cambria Math" panose="02040503050406030204" pitchFamily="18" charset="0"/>
                        </a:rPr>
                        <m:t xml:space="preserve">σ</m:t>
                      </m:r>
                      <m:d>
                        <m:dPr>
                          <m:ctrlPr>
                            <a:rPr lang="en-US" sz="1750" i="1">
                              <a:solidFill>
                                <a:srgbClr val="111111"/>
                              </a:solidFill>
                              <a:latin typeface="Cambria Math" panose="02040503050406030204" pitchFamily="18" charset="0"/>
                            </a:rPr>
                          </m:ctrlPr>
                        </m:dPr>
                        <m:e>
                          <m:sSup>
                            <m:sSupPr>
                              <m:ctrlPr>
                                <a:rPr lang="en-US" sz="1750" i="1">
                                  <a:solidFill>
                                    <a:srgbClr val="111111"/>
                                  </a:solidFill>
                                  <a:latin typeface="Cambria Math" panose="02040503050406030204" pitchFamily="18" charset="0"/>
                                </a:rPr>
                              </m:ctrlPr>
                            </m:sSupPr>
                            <m:e>
                              <m:r>
                                <a:rPr lang="en-US" sz="1750" i="1">
                                  <a:solidFill>
                                    <a:srgbClr val="111111"/>
                                  </a:solidFill>
                                  <a:latin typeface="Cambria Math" panose="02040503050406030204" pitchFamily="18" charset="0"/>
                                </a:rPr>
                                <m:t xml:space="preserve">W</m:t>
                              </m:r>
                            </m:e>
                            <m:sup>
                              <m:r>
                                <m:rPr>
                                  <m:sty m:val="p"/>
                                </m:rPr>
                                <a:rPr lang="en-US" sz="1750">
                                  <a:solidFill>
                                    <a:srgbClr val="111111"/>
                                  </a:solidFill>
                                  <a:latin typeface="Cambria Math" panose="02040503050406030204" pitchFamily="18" charset="0"/>
                                </a:rPr>
                                <m:t xml:space="preserve">(</m:t>
                              </m:r>
                              <m:r>
                                <a:rPr lang="en-US" sz="1750" i="1">
                                  <a:solidFill>
                                    <a:srgbClr val="111111"/>
                                  </a:solidFill>
                                  <a:latin typeface="Cambria Math" panose="02040503050406030204" pitchFamily="18" charset="0"/>
                                </a:rPr>
                                <m:t xml:space="preserve">l</m:t>
                              </m:r>
                              <m:r>
                                <m:rPr>
                                  <m:sty m:val="p"/>
                                </m:rPr>
                                <a:rPr lang="en-US" sz="1750">
                                  <a:solidFill>
                                    <a:srgbClr val="111111"/>
                                  </a:solidFill>
                                  <a:latin typeface="Cambria Math" panose="02040503050406030204" pitchFamily="18" charset="0"/>
                                </a:rPr>
                                <m:t xml:space="preserve">)</m:t>
                              </m:r>
                            </m:sup>
                          </m:sSup>
                          <m:sSubSup>
                            <m:sSubSupPr>
                              <m:ctrlPr>
                                <a:rPr lang="en-US" sz="1750" i="1">
                                  <a:solidFill>
                                    <a:srgbClr val="111111"/>
                                  </a:solidFill>
                                  <a:latin typeface="Cambria Math" panose="02040503050406030204" pitchFamily="18" charset="0"/>
                                </a:rPr>
                              </m:ctrlPr>
                            </m:sSubSupPr>
                            <m:e>
                              <m:r>
                                <a:rPr lang="en-US" sz="1750" i="1">
                                  <a:solidFill>
                                    <a:srgbClr val="111111"/>
                                  </a:solidFill>
                                  <a:latin typeface="Cambria Math" panose="02040503050406030204" pitchFamily="18" charset="0"/>
                                </a:rPr>
                                <m:t xml:space="preserve">e</m:t>
                              </m:r>
                            </m:e>
                            <m:sub>
                              <m:r>
                                <a:rPr lang="en-US" sz="1750" i="1">
                                  <a:solidFill>
                                    <a:srgbClr val="111111"/>
                                  </a:solidFill>
                                  <a:latin typeface="Cambria Math" panose="02040503050406030204" pitchFamily="18" charset="0"/>
                                </a:rPr>
                                <m:t xml:space="preserve">j</m:t>
                              </m:r>
                            </m:sub>
                            <m:sup>
                              <m:r>
                                <m:rPr>
                                  <m:sty m:val="p"/>
                                </m:rPr>
                                <a:rPr lang="en-US" sz="1750">
                                  <a:solidFill>
                                    <a:srgbClr val="111111"/>
                                  </a:solidFill>
                                  <a:latin typeface="Cambria Math" panose="02040503050406030204" pitchFamily="18" charset="0"/>
                                </a:rPr>
                                <m:t xml:space="preserve">(</m:t>
                              </m:r>
                              <m:r>
                                <a:rPr lang="en-US" sz="1750" i="1">
                                  <a:solidFill>
                                    <a:srgbClr val="111111"/>
                                  </a:solidFill>
                                  <a:latin typeface="Cambria Math" panose="02040503050406030204" pitchFamily="18" charset="0"/>
                                </a:rPr>
                                <m:t xml:space="preserve">l</m:t>
                              </m:r>
                              <m:r>
                                <m:rPr>
                                  <m:sty m:val="p"/>
                                </m:rPr>
                                <a:rPr lang="en-US" sz="1750">
                                  <a:solidFill>
                                    <a:srgbClr val="111111"/>
                                  </a:solidFill>
                                  <a:latin typeface="Cambria Math" panose="02040503050406030204" pitchFamily="18" charset="0"/>
                                </a:rPr>
                                <m:t xml:space="preserve">)</m:t>
                              </m:r>
                            </m:sup>
                          </m:sSubSup>
                          <m:r>
                            <m:rPr>
                              <m:sty m:val="p"/>
                            </m:rPr>
                            <a:rPr lang="en-US" sz="1750">
                              <a:solidFill>
                                <a:srgbClr val="111111"/>
                              </a:solidFill>
                              <a:latin typeface="Cambria Math" panose="02040503050406030204" pitchFamily="18" charset="0"/>
                            </a:rPr>
                            <m:t xml:space="preserve">+</m:t>
                          </m:r>
                          <m:nary>
                            <m:naryPr>
                              <m:chr m:val="∑"/>
                              <m:limLoc m:val="subSup"/>
                              <m:supHide m:val="1"/>
                              <m:ctrlPr>
                                <a:rPr lang="en-US" sz="1750" i="1">
                                  <a:solidFill>
                                    <a:srgbClr val="111111"/>
                                  </a:solidFill>
                                  <a:latin typeface="Cambria Math" panose="02040503050406030204" pitchFamily="18" charset="0"/>
                                </a:rPr>
                              </m:ctrlPr>
                            </m:naryPr>
                            <m:sub>
                              <m:r>
                                <a:rPr lang="en-US" sz="1750" i="1">
                                  <a:solidFill>
                                    <a:srgbClr val="111111"/>
                                  </a:solidFill>
                                  <a:latin typeface="Cambria Math" panose="02040503050406030204" pitchFamily="18" charset="0"/>
                                </a:rPr>
                                <m:t xml:space="preserve">k</m:t>
                              </m:r>
                              <m:r>
                                <m:rPr>
                                  <m:sty m:val="p"/>
                                </m:rPr>
                                <a:rPr lang="en-US" sz="1750">
                                  <a:solidFill>
                                    <a:srgbClr val="111111"/>
                                  </a:solidFill>
                                  <a:latin typeface="Cambria Math" panose="02040503050406030204" pitchFamily="18" charset="0"/>
                                </a:rPr>
                                <m:t xml:space="preserve">∈</m:t>
                              </m:r>
                              <m:r>
                                <m:rPr>
                                  <m:scr m:val="script"/>
                                  <m:sty m:val="p"/>
                                </m:rPr>
                                <a:rPr lang="en-US" sz="1750">
                                  <a:solidFill>
                                    <a:srgbClr val="111111"/>
                                  </a:solidFill>
                                  <a:latin typeface="Cambria Math" panose="02040503050406030204" pitchFamily="18" charset="0"/>
                                </a:rPr>
                                <m:t xml:space="preserve">N</m:t>
                              </m:r>
                              <m:r>
                                <m:rPr>
                                  <m:sty m:val="p"/>
                                </m:rPr>
                                <a:rPr lang="en-US" sz="1750">
                                  <a:solidFill>
                                    <a:srgbClr val="111111"/>
                                  </a:solidFill>
                                  <a:latin typeface="Cambria Math" panose="02040503050406030204" pitchFamily="18" charset="0"/>
                                </a:rPr>
                                <m:t xml:space="preserve">(</m:t>
                              </m:r>
                              <m:r>
                                <a:rPr lang="en-US" sz="1750" i="1">
                                  <a:solidFill>
                                    <a:srgbClr val="111111"/>
                                  </a:solidFill>
                                  <a:latin typeface="Cambria Math" panose="02040503050406030204" pitchFamily="18" charset="0"/>
                                </a:rPr>
                                <m:t xml:space="preserve">j</m:t>
                              </m:r>
                              <m:r>
                                <m:rPr>
                                  <m:sty m:val="p"/>
                                </m:rPr>
                                <a:rPr lang="en-US" sz="1750">
                                  <a:solidFill>
                                    <a:srgbClr val="111111"/>
                                  </a:solidFill>
                                  <a:latin typeface="Cambria Math" panose="02040503050406030204" pitchFamily="18" charset="0"/>
                                </a:rPr>
                                <m:t xml:space="preserve">)</m:t>
                              </m:r>
                            </m:sub>
                            <m:sup/>
                            <m:e>
                              <m:sSub>
                                <m:sSubPr>
                                  <m:ctrlPr>
                                    <a:rPr lang="en-US" sz="1750" i="1">
                                      <a:solidFill>
                                        <a:srgbClr val="111111"/>
                                      </a:solidFill>
                                      <a:latin typeface="Cambria Math" panose="02040503050406030204" pitchFamily="18" charset="0"/>
                                    </a:rPr>
                                  </m:ctrlPr>
                                </m:sSubPr>
                                <m:e>
                                  <m:r>
                                    <a:rPr lang="en-US" sz="1750" i="1">
                                      <a:solidFill>
                                        <a:srgbClr val="111111"/>
                                      </a:solidFill>
                                      <a:latin typeface="Cambria Math" panose="02040503050406030204" pitchFamily="18" charset="0"/>
                                    </a:rPr>
                                    <m:t xml:space="preserve">w</m:t>
                                  </m:r>
                                </m:e>
                                <m:sub>
                                  <m:r>
                                    <a:rPr lang="en-US" sz="1750" i="1">
                                      <a:solidFill>
                                        <a:srgbClr val="111111"/>
                                      </a:solidFill>
                                      <a:latin typeface="Cambria Math" panose="02040503050406030204" pitchFamily="18" charset="0"/>
                                    </a:rPr>
                                    <m:t xml:space="preserve">jk</m:t>
                                  </m:r>
                                </m:sub>
                              </m:sSub>
                            </m:e>
                          </m:nary>
                          <m:r>
                            <m:rPr>
                              <m:sty m:val="p"/>
                            </m:rPr>
                            <a:rPr lang="en-US" sz="1750">
                              <a:solidFill>
                                <a:srgbClr val="111111"/>
                              </a:solidFill>
                              <a:latin typeface="Cambria Math" panose="02040503050406030204" pitchFamily="18" charset="0"/>
                            </a:rPr>
                            <m:t xml:space="preserve"> </m:t>
                          </m:r>
                          <m:sSubSup>
                            <m:sSubSupPr>
                              <m:ctrlPr>
                                <a:rPr lang="en-US" sz="1750" i="1">
                                  <a:solidFill>
                                    <a:srgbClr val="111111"/>
                                  </a:solidFill>
                                  <a:latin typeface="Cambria Math" panose="02040503050406030204" pitchFamily="18" charset="0"/>
                                </a:rPr>
                              </m:ctrlPr>
                            </m:sSubSupPr>
                            <m:e>
                              <m:r>
                                <a:rPr lang="en-US" sz="1750" i="1">
                                  <a:solidFill>
                                    <a:srgbClr val="111111"/>
                                  </a:solidFill>
                                  <a:latin typeface="Cambria Math" panose="02040503050406030204" pitchFamily="18" charset="0"/>
                                </a:rPr>
                                <m:t xml:space="preserve">e</m:t>
                              </m:r>
                            </m:e>
                            <m:sub>
                              <m:r>
                                <a:rPr lang="en-US" sz="1750" i="1">
                                  <a:solidFill>
                                    <a:srgbClr val="111111"/>
                                  </a:solidFill>
                                  <a:latin typeface="Cambria Math" panose="02040503050406030204" pitchFamily="18" charset="0"/>
                                </a:rPr>
                                <m:t xml:space="preserve">k</m:t>
                              </m:r>
                            </m:sub>
                            <m:sup>
                              <m:r>
                                <m:rPr>
                                  <m:sty m:val="p"/>
                                </m:rPr>
                                <a:rPr lang="en-US" sz="1750">
                                  <a:solidFill>
                                    <a:srgbClr val="111111"/>
                                  </a:solidFill>
                                  <a:latin typeface="Cambria Math" panose="02040503050406030204" pitchFamily="18" charset="0"/>
                                </a:rPr>
                                <m:t xml:space="preserve">(</m:t>
                              </m:r>
                              <m:r>
                                <a:rPr lang="en-US" sz="1750" i="1">
                                  <a:solidFill>
                                    <a:srgbClr val="111111"/>
                                  </a:solidFill>
                                  <a:latin typeface="Cambria Math" panose="02040503050406030204" pitchFamily="18" charset="0"/>
                                </a:rPr>
                                <m:t xml:space="preserve">l</m:t>
                              </m:r>
                              <m:r>
                                <m:rPr>
                                  <m:sty m:val="p"/>
                                </m:rPr>
                                <a:rPr lang="en-US" sz="1750">
                                  <a:solidFill>
                                    <a:srgbClr val="111111"/>
                                  </a:solidFill>
                                  <a:latin typeface="Cambria Math" panose="02040503050406030204" pitchFamily="18" charset="0"/>
                                </a:rPr>
                                <m:t xml:space="preserve">)</m:t>
                              </m:r>
                            </m:sup>
                          </m:sSubSup>
                        </m:e>
                      </m:d>
                    </m:oMath>
                  </m:oMathPara>
                </a14:m>
                <a:endParaRPr lang="en-US" sz="1750"/>
              </a:p>
            </p:txBody>
          </p:sp>
        </mc:Choice>
        <mc:Fallback>
          <p:sp>
            <p:nvSpPr>
              <p:cNvPr id="33" name="Equation"/>
              <p:cNvSpPr txBox="1"/>
              <p:nvPr/>
            </p:nvSpPr>
            <p:spPr>
              <a:xfrm>
                <a:off x="4686300" y="5985213"/>
                <a:ext cx="12298680" cy="609811"/>
              </a:xfrm>
              <a:prstGeom prst="rect">
                <a:avLst/>
              </a:prstGeom>
              <a:blipFill>
                <a:blip r:embed="rId6"/>
                <a:stretch>
                  <a:fillRect/>
                </a:stretch>
              </a:blipFill>
            </p:spPr>
            <p:txBody>
              <a:bodyPr/>
              <a:lstStyle/>
              <a:p>
                <a:endParaRPr lang="en-US"/>
              </a:p>
            </p:txBody>
          </p:sp>
        </mc:Fallback>
      </mc:AlternateContent>
      <p:sp>
        <p:nvSpPr>
          <p:cNvPr id="34" name="Rounded Rectangle 33"/>
          <p:cNvSpPr/>
          <p:nvPr/>
        </p:nvSpPr>
        <p:spPr>
          <a:xfrm>
            <a:off x="1028700" y="6686465"/>
            <a:ext cx="16230600" cy="609811"/>
          </a:xfrm>
          <a:prstGeom prst="roundRect">
            <a:avLst>
              <a:gd name="adj" fmla="val 23991"/>
            </a:avLst>
          </a:prstGeom>
          <a:solidFill>
            <a:srgbClr val="F6ECDF"/>
          </a:solidFill>
          <a:ln>
            <a:noFill/>
          </a:ln>
        </p:spPr>
        <p:txBody>
          <a:bodyPr anchor="ctr" rtlCol="false" lIns="0" tIns="0" rIns="0" bIns="0" wrap="square"/>
          <a:lstStyle/>
          <a:p>
            <a:endParaRPr lang="en-US" sz="1800"/>
          </a:p>
        </p:txBody>
      </p:sp>
      <p:sp>
        <p:nvSpPr>
          <p:cNvPr id="35" name="TextBox 34"/>
          <p:cNvSpPr txBox="1"/>
          <p:nvPr/>
        </p:nvSpPr>
        <p:spPr>
          <a:xfrm>
            <a:off x="1348740" y="6686465"/>
            <a:ext cx="3291840" cy="609811"/>
          </a:xfrm>
          <a:prstGeom prst="rect">
            <a:avLst/>
          </a:prstGeom>
          <a:noFill/>
        </p:spPr>
        <p:txBody>
          <a:bodyPr anchor="ctr" rtlCol="false" lIns="0" tIns="0" rIns="0" bIns="0" wrap="square"/>
          <a:lstStyle/>
          <a:p>
            <a:pPr algn="l">
              <a:lnSpc>
                <a:spcPts val="2200"/>
              </a:lnSpc>
              <a:spcBef>
                <a:spcPts val="0"/>
              </a:spcBef>
              <a:buNone/>
            </a:pPr>
            <a:r>
              <a:rPr lang="en-US" sz="1800" b="true">
                <a:solidFill>
                  <a:srgbClr val="4472C4"/>
                </a:solidFill>
                <a:latin typeface="Nunito Ultra-Bold"/>
                <a:ea typeface="Nunito Ultra-Bold"/>
                <a:cs typeface="Nunito Ultra-Bold"/>
                <a:sym typeface="Nunito Ultra-Bold"/>
              </a:rPr>
              <a:t>Normalised weights</a:t>
            </a:r>
          </a:p>
        </p:txBody>
      </p:sp>
      <mc:AlternateContent xmlns:mc="http://schemas.openxmlformats.org/markup-compatibility/2006">
        <mc:Choice xmlns:a14="http://schemas.microsoft.com/office/drawing/2010/main" Requires="a14">
          <p:sp>
            <p:nvSpPr>
              <p:cNvPr id="36" name="Equation"/>
              <p:cNvSpPr txBox="1"/>
              <p:nvPr/>
            </p:nvSpPr>
            <p:spPr>
              <a:xfrm>
                <a:off x="4686300" y="6686465"/>
                <a:ext cx="9372600" cy="609811"/>
              </a:xfrm>
              <a:prstGeom prst="rect">
                <a:avLst/>
              </a:prstGeom>
              <a:noFill/>
            </p:spPr>
            <p:txBody>
              <a:bodyPr wrap="none" rtlCol="0" anchor="ctr" lIns="0" tIns="0" rIns="0" bIns="0"/>
              <a:lstStyle/>
              <a:p>
                <a:pPr algn="l"/>
                <a14:m xmlns:m="http://schemas.openxmlformats.org/officeDocument/2006/math">
                  <m:oMathPara>
                    <m:oMathParaPr>
                      <m:jc m:val="left"/>
                    </m:oMathParaPr>
                    <m:oMath>
                      <m:sSub>
                        <m:sSubPr>
                          <m:ctrlPr>
                            <a:rPr lang="en-US" sz="2050" i="1">
                              <a:solidFill>
                                <a:srgbClr val="111111"/>
                              </a:solidFill>
                              <a:latin typeface="Cambria Math" panose="02040503050406030204" pitchFamily="18" charset="0"/>
                            </a:rPr>
                          </m:ctrlPr>
                        </m:sSubPr>
                        <m:e>
                          <m:r>
                            <a:rPr lang="en-US" sz="2050" i="1">
                              <a:solidFill>
                                <a:srgbClr val="111111"/>
                              </a:solidFill>
                              <a:latin typeface="Cambria Math" panose="02040503050406030204" pitchFamily="18" charset="0"/>
                            </a:rPr>
                            <m:t xml:space="preserve">w</m:t>
                          </m:r>
                        </m:e>
                        <m:sub>
                          <m:r>
                            <a:rPr lang="en-US" sz="2050" i="1">
                              <a:solidFill>
                                <a:srgbClr val="111111"/>
                              </a:solidFill>
                              <a:latin typeface="Cambria Math" panose="02040503050406030204" pitchFamily="18" charset="0"/>
                            </a:rPr>
                            <m:t xml:space="preserve">jk</m:t>
                          </m:r>
                        </m:sub>
                      </m:sSub>
                      <m:r>
                        <m:rPr>
                          <m:sty m:val="p"/>
                        </m:rPr>
                        <a:rPr lang="en-US" sz="2050">
                          <a:solidFill>
                            <a:srgbClr val="111111"/>
                          </a:solidFill>
                          <a:latin typeface="Cambria Math" panose="02040503050406030204" pitchFamily="18" charset="0"/>
                        </a:rPr>
                        <m:t xml:space="preserve">=</m:t>
                      </m:r>
                      <m:sSub>
                        <m:sSubPr>
                          <m:ctrlPr>
                            <a:rPr lang="en-US" sz="2050" i="1">
                              <a:solidFill>
                                <a:srgbClr val="111111"/>
                              </a:solidFill>
                              <a:latin typeface="Cambria Math" panose="02040503050406030204" pitchFamily="18" charset="0"/>
                            </a:rPr>
                          </m:ctrlPr>
                        </m:sSubPr>
                        <m:e>
                          <m:acc>
                            <m:accPr>
                              <m:chr m:val="̂"/>
                              <m:ctrlPr>
                                <a:rPr lang="en-US" sz="2050" i="1">
                                  <a:solidFill>
                                    <a:srgbClr val="111111"/>
                                  </a:solidFill>
                                  <a:latin typeface="Cambria Math" panose="02040503050406030204" pitchFamily="18" charset="0"/>
                                </a:rPr>
                              </m:ctrlPr>
                            </m:accPr>
                            <m:e>
                              <m:r>
                                <a:rPr lang="en-US" sz="2050" i="1">
                                  <a:solidFill>
                                    <a:srgbClr val="111111"/>
                                  </a:solidFill>
                                  <a:latin typeface="Cambria Math" panose="02040503050406030204" pitchFamily="18" charset="0"/>
                                </a:rPr>
                                <m:t xml:space="preserve">φ</m:t>
                              </m:r>
                            </m:e>
                          </m:acc>
                        </m:e>
                        <m:sub>
                          <m:r>
                            <a:rPr lang="en-US" sz="2050" i="1">
                              <a:solidFill>
                                <a:srgbClr val="111111"/>
                              </a:solidFill>
                              <a:latin typeface="Cambria Math" panose="02040503050406030204" pitchFamily="18" charset="0"/>
                            </a:rPr>
                            <m:t xml:space="preserve">jk</m:t>
                          </m:r>
                        </m:sub>
                      </m:sSub>
                      <m:r>
                        <m:rPr>
                          <m:sty m:val="p"/>
                        </m:rPr>
                        <a:rPr lang="en-US" sz="2050">
                          <a:solidFill>
                            <a:srgbClr val="111111"/>
                          </a:solidFill>
                          <a:latin typeface="Cambria Math" panose="02040503050406030204" pitchFamily="18" charset="0"/>
                        </a:rPr>
                        <m:t xml:space="preserve"> / </m:t>
                      </m:r>
                      <m:nary>
                        <m:naryPr>
                          <m:chr m:val="∑"/>
                          <m:limLoc m:val="subSup"/>
                          <m:supHide m:val="1"/>
                          <m:ctrlPr>
                            <a:rPr lang="en-US" sz="2050" i="1">
                              <a:solidFill>
                                <a:srgbClr val="111111"/>
                              </a:solidFill>
                              <a:latin typeface="Cambria Math" panose="02040503050406030204" pitchFamily="18" charset="0"/>
                            </a:rPr>
                          </m:ctrlPr>
                        </m:naryPr>
                        <m:sub>
                          <m:r>
                            <a:rPr lang="en-US" sz="2050" i="1">
                              <a:solidFill>
                                <a:srgbClr val="111111"/>
                              </a:solidFill>
                              <a:latin typeface="Cambria Math" panose="02040503050406030204" pitchFamily="18" charset="0"/>
                            </a:rPr>
                            <m:t xml:space="preserve">k′</m:t>
                          </m:r>
                          <m:r>
                            <m:rPr>
                              <m:sty m:val="p"/>
                            </m:rPr>
                            <a:rPr lang="en-US" sz="2050">
                              <a:solidFill>
                                <a:srgbClr val="111111"/>
                              </a:solidFill>
                              <a:latin typeface="Cambria Math" panose="02040503050406030204" pitchFamily="18" charset="0"/>
                            </a:rPr>
                            <m:t xml:space="preserve">∈</m:t>
                          </m:r>
                          <m:r>
                            <m:rPr>
                              <m:scr m:val="script"/>
                              <m:sty m:val="p"/>
                            </m:rPr>
                            <a:rPr lang="en-US" sz="2050">
                              <a:solidFill>
                                <a:srgbClr val="111111"/>
                              </a:solidFill>
                              <a:latin typeface="Cambria Math" panose="02040503050406030204" pitchFamily="18" charset="0"/>
                            </a:rPr>
                            <m:t xml:space="preserve">N</m:t>
                          </m:r>
                          <m:r>
                            <m:rPr>
                              <m:sty m:val="p"/>
                            </m:rPr>
                            <a:rPr lang="en-US" sz="2050">
                              <a:solidFill>
                                <a:srgbClr val="111111"/>
                              </a:solidFill>
                              <a:latin typeface="Cambria Math" panose="02040503050406030204" pitchFamily="18" charset="0"/>
                            </a:rPr>
                            <m:t xml:space="preserve">(</m:t>
                          </m:r>
                          <m:r>
                            <a:rPr lang="en-US" sz="2050" i="1">
                              <a:solidFill>
                                <a:srgbClr val="111111"/>
                              </a:solidFill>
                              <a:latin typeface="Cambria Math" panose="02040503050406030204" pitchFamily="18" charset="0"/>
                            </a:rPr>
                            <m:t xml:space="preserve">j</m:t>
                          </m:r>
                          <m:r>
                            <m:rPr>
                              <m:sty m:val="p"/>
                            </m:rPr>
                            <a:rPr lang="en-US" sz="2050">
                              <a:solidFill>
                                <a:srgbClr val="111111"/>
                              </a:solidFill>
                              <a:latin typeface="Cambria Math" panose="02040503050406030204" pitchFamily="18" charset="0"/>
                            </a:rPr>
                            <m:t xml:space="preserve">)</m:t>
                          </m:r>
                        </m:sub>
                        <m:sup/>
                        <m:e>
                          <m:sSub>
                            <m:sSubPr>
                              <m:ctrlPr>
                                <a:rPr lang="en-US" sz="2050" i="1">
                                  <a:solidFill>
                                    <a:srgbClr val="111111"/>
                                  </a:solidFill>
                                  <a:latin typeface="Cambria Math" panose="02040503050406030204" pitchFamily="18" charset="0"/>
                                </a:rPr>
                              </m:ctrlPr>
                            </m:sSubPr>
                            <m:e>
                              <m:acc>
                                <m:accPr>
                                  <m:chr m:val="̂"/>
                                  <m:ctrlPr>
                                    <a:rPr lang="en-US" sz="2050" i="1">
                                      <a:solidFill>
                                        <a:srgbClr val="111111"/>
                                      </a:solidFill>
                                      <a:latin typeface="Cambria Math" panose="02040503050406030204" pitchFamily="18" charset="0"/>
                                    </a:rPr>
                                  </m:ctrlPr>
                                </m:accPr>
                                <m:e>
                                  <m:r>
                                    <a:rPr lang="en-US" sz="2050" i="1">
                                      <a:solidFill>
                                        <a:srgbClr val="111111"/>
                                      </a:solidFill>
                                      <a:latin typeface="Cambria Math" panose="02040503050406030204" pitchFamily="18" charset="0"/>
                                    </a:rPr>
                                    <m:t xml:space="preserve">φ</m:t>
                                  </m:r>
                                </m:e>
                              </m:acc>
                            </m:e>
                            <m:sub>
                              <m:r>
                                <a:rPr lang="en-US" sz="2050" i="1">
                                  <a:solidFill>
                                    <a:srgbClr val="111111"/>
                                  </a:solidFill>
                                  <a:latin typeface="Cambria Math" panose="02040503050406030204" pitchFamily="18" charset="0"/>
                                </a:rPr>
                                <m:t xml:space="preserve">jk′</m:t>
                              </m:r>
                            </m:sub>
                          </m:sSub>
                        </m:e>
                      </m:nary>
                    </m:oMath>
                  </m:oMathPara>
                </a14:m>
                <a:endParaRPr lang="en-US" sz="2050"/>
              </a:p>
            </p:txBody>
          </p:sp>
        </mc:Choice>
        <mc:Fallback>
          <p:sp>
            <p:nvSpPr>
              <p:cNvPr id="36" name="Equation"/>
              <p:cNvSpPr txBox="1"/>
              <p:nvPr/>
            </p:nvSpPr>
            <p:spPr>
              <a:xfrm>
                <a:off x="4686300" y="6686465"/>
                <a:ext cx="9372600" cy="609811"/>
              </a:xfrm>
              <a:prstGeom prst="rect">
                <a:avLst/>
              </a:prstGeom>
              <a:blipFill>
                <a:blip r:embed="rId7"/>
                <a:stretch>
                  <a:fillRect/>
                </a:stretch>
              </a:blipFill>
            </p:spPr>
            <p:txBody>
              <a:bodyPr/>
              <a:lstStyle/>
              <a:p>
                <a:endParaRPr lang="en-US"/>
              </a:p>
            </p:txBody>
          </p:sp>
        </mc:Fallback>
      </mc:AlternateContent>
      <p:sp>
        <p:nvSpPr>
          <p:cNvPr id="37" name="TextBox 36"/>
          <p:cNvSpPr txBox="1"/>
          <p:nvPr/>
        </p:nvSpPr>
        <p:spPr>
          <a:xfrm>
            <a:off x="14241780" y="6686465"/>
            <a:ext cx="2743200" cy="609811"/>
          </a:xfrm>
          <a:prstGeom prst="rect">
            <a:avLst/>
          </a:prstGeom>
          <a:noFill/>
        </p:spPr>
        <p:txBody>
          <a:bodyPr anchor="ctr" rtlCol="false" lIns="0" tIns="0" rIns="0" bIns="0" wrap="square"/>
          <a:lstStyle/>
          <a:p>
            <a:pPr algn="r">
              <a:lnSpc>
                <a:spcPts val="1800"/>
              </a:lnSpc>
              <a:spcBef>
                <a:spcPts val="0"/>
              </a:spcBef>
              <a:buNone/>
            </a:pPr>
            <a:r>
              <a:rPr lang="en-US" sz="1500" b="true">
                <a:solidFill>
                  <a:srgbClr val="8A8378"/>
                </a:solidFill>
                <a:latin typeface="Nunito Semi-Bold"/>
                <a:ea typeface="Nunito Semi-Bold"/>
                <a:cs typeface="Nunito Semi-Bold"/>
                <a:sym typeface="Nunito Semi-Bold"/>
              </a:rPr>
              <a:t>clipped + EMA-smoothed</a:t>
            </a:r>
          </a:p>
        </p:txBody>
      </p:sp>
      <p:sp>
        <p:nvSpPr>
          <p:cNvPr id="38" name="Rounded Rectangle 37"/>
          <p:cNvSpPr/>
          <p:nvPr/>
        </p:nvSpPr>
        <p:spPr>
          <a:xfrm>
            <a:off x="1028700" y="7387717"/>
            <a:ext cx="16230600" cy="609811"/>
          </a:xfrm>
          <a:prstGeom prst="roundRect">
            <a:avLst>
              <a:gd name="adj" fmla="val 23991"/>
            </a:avLst>
          </a:prstGeom>
          <a:solidFill>
            <a:srgbClr val="FBF4EB"/>
          </a:solidFill>
          <a:ln>
            <a:noFill/>
          </a:ln>
        </p:spPr>
        <p:txBody>
          <a:bodyPr anchor="ctr" rtlCol="false" lIns="0" tIns="0" rIns="0" bIns="0" wrap="square"/>
          <a:lstStyle/>
          <a:p>
            <a:endParaRPr lang="en-US" sz="1800"/>
          </a:p>
        </p:txBody>
      </p:sp>
      <p:sp>
        <p:nvSpPr>
          <p:cNvPr id="39" name="TextBox 38"/>
          <p:cNvSpPr txBox="1"/>
          <p:nvPr/>
        </p:nvSpPr>
        <p:spPr>
          <a:xfrm>
            <a:off x="1348740" y="7387717"/>
            <a:ext cx="3291840" cy="609811"/>
          </a:xfrm>
          <a:prstGeom prst="rect">
            <a:avLst/>
          </a:prstGeom>
          <a:noFill/>
        </p:spPr>
        <p:txBody>
          <a:bodyPr anchor="ctr" rtlCol="false" lIns="0" tIns="0" rIns="0" bIns="0" wrap="square"/>
          <a:lstStyle/>
          <a:p>
            <a:pPr algn="l">
              <a:lnSpc>
                <a:spcPts val="2200"/>
              </a:lnSpc>
              <a:spcBef>
                <a:spcPts val="0"/>
              </a:spcBef>
              <a:buNone/>
            </a:pPr>
            <a:r>
              <a:rPr lang="en-US" sz="1800" b="true">
                <a:solidFill>
                  <a:srgbClr val="4472C4"/>
                </a:solidFill>
                <a:latin typeface="Nunito Ultra-Bold"/>
                <a:ea typeface="Nunito Ultra-Bold"/>
                <a:cs typeface="Nunito Ultra-Bold"/>
                <a:sym typeface="Nunito Ultra-Bold"/>
              </a:rPr>
              <a:t>Attention gate</a:t>
            </a:r>
          </a:p>
        </p:txBody>
      </p:sp>
      <mc:AlternateContent xmlns:mc="http://schemas.openxmlformats.org/markup-compatibility/2006">
        <mc:Choice xmlns:a14="http://schemas.microsoft.com/office/drawing/2010/main" Requires="a14">
          <p:sp>
            <p:nvSpPr>
              <p:cNvPr id="40" name="Equation"/>
              <p:cNvSpPr txBox="1"/>
              <p:nvPr/>
            </p:nvSpPr>
            <p:spPr>
              <a:xfrm>
                <a:off x="4686300" y="7387717"/>
                <a:ext cx="12298680" cy="609811"/>
              </a:xfrm>
              <a:prstGeom prst="rect">
                <a:avLst/>
              </a:prstGeom>
              <a:noFill/>
            </p:spPr>
            <p:txBody>
              <a:bodyPr wrap="none" rtlCol="0" anchor="ctr" lIns="0" tIns="0" rIns="0" bIns="0"/>
              <a:lstStyle/>
              <a:p>
                <a:pPr algn="l"/>
                <a14:m xmlns:m="http://schemas.openxmlformats.org/officeDocument/2006/math">
                  <m:oMathPara>
                    <m:oMathParaPr>
                      <m:jc m:val="left"/>
                    </m:oMathParaPr>
                    <m:oMath>
                      <m:sSub>
                        <m:sSubPr>
                          <m:ctrlPr>
                            <a:rPr lang="en-US" sz="2200" i="1">
                              <a:solidFill>
                                <a:srgbClr val="111111"/>
                              </a:solidFill>
                              <a:latin typeface="Cambria Math" panose="02040503050406030204" pitchFamily="18" charset="0"/>
                            </a:rPr>
                          </m:ctrlPr>
                        </m:sSubPr>
                        <m:e>
                          <m:r>
                            <a:rPr lang="en-US" sz="2200" i="1">
                              <a:solidFill>
                                <a:srgbClr val="111111"/>
                              </a:solidFill>
                              <a:latin typeface="Cambria Math" panose="02040503050406030204" pitchFamily="18" charset="0"/>
                            </a:rPr>
                            <m:t xml:space="preserve">a</m:t>
                          </m:r>
                        </m:e>
                        <m:sub>
                          <m:r>
                            <a:rPr lang="en-US" sz="2200" i="1">
                              <a:solidFill>
                                <a:srgbClr val="111111"/>
                              </a:solidFill>
                              <a:latin typeface="Cambria Math" panose="02040503050406030204" pitchFamily="18" charset="0"/>
                            </a:rPr>
                            <m:t xml:space="preserve">ui</m:t>
                          </m:r>
                        </m:sub>
                      </m:sSub>
                      <m:r>
                        <m:rPr>
                          <m:sty m:val="p"/>
                        </m:rPr>
                        <a:rPr lang="en-US" sz="2200">
                          <a:solidFill>
                            <a:srgbClr val="111111"/>
                          </a:solidFill>
                          <a:latin typeface="Cambria Math" panose="02040503050406030204" pitchFamily="18" charset="0"/>
                        </a:rPr>
                        <m:t xml:space="preserve">=</m:t>
                      </m:r>
                      <m:r>
                        <a:rPr lang="en-US" sz="2200" i="1">
                          <a:solidFill>
                            <a:srgbClr val="111111"/>
                          </a:solidFill>
                          <a:latin typeface="Cambria Math" panose="02040503050406030204" pitchFamily="18" charset="0"/>
                        </a:rPr>
                        <m:t xml:space="preserve">σ</m:t>
                      </m:r>
                      <m:d>
                        <m:dPr>
                          <m:ctrlPr>
                            <a:rPr lang="en-US" sz="2200" i="1">
                              <a:solidFill>
                                <a:srgbClr val="111111"/>
                              </a:solidFill>
                              <a:latin typeface="Cambria Math" panose="02040503050406030204" pitchFamily="18" charset="0"/>
                            </a:rPr>
                          </m:ctrlPr>
                        </m:dPr>
                        <m:e>
                          <m:sSub>
                            <m:sSubPr>
                              <m:ctrlPr>
                                <a:rPr lang="en-US" sz="2200" i="1">
                                  <a:solidFill>
                                    <a:srgbClr val="111111"/>
                                  </a:solidFill>
                                  <a:latin typeface="Cambria Math" panose="02040503050406030204" pitchFamily="18" charset="0"/>
                                </a:rPr>
                              </m:ctrlPr>
                            </m:sSubPr>
                            <m:e>
                              <m:r>
                                <a:rPr lang="en-US" sz="2200" i="1">
                                  <a:solidFill>
                                    <a:srgbClr val="111111"/>
                                  </a:solidFill>
                                  <a:latin typeface="Cambria Math" panose="02040503050406030204" pitchFamily="18" charset="0"/>
                                </a:rPr>
                                <m:t xml:space="preserve">W</m:t>
                              </m:r>
                            </m:e>
                            <m:sub>
                              <m:r>
                                <a:rPr lang="en-US" sz="2200" i="1">
                                  <a:solidFill>
                                    <a:srgbClr val="111111"/>
                                  </a:solidFill>
                                  <a:latin typeface="Cambria Math" panose="02040503050406030204" pitchFamily="18" charset="0"/>
                                </a:rPr>
                                <m:t xml:space="preserve">a</m:t>
                              </m:r>
                            </m:sub>
                          </m:sSub>
                          <m:r>
                            <m:rPr>
                              <m:sty m:val="p"/>
                            </m:rPr>
                            <a:rPr lang="en-US" sz="2200">
                              <a:solidFill>
                                <a:srgbClr val="111111"/>
                              </a:solidFill>
                              <a:latin typeface="Cambria Math" panose="02040503050406030204" pitchFamily="18" charset="0"/>
                            </a:rPr>
                            <m:t xml:space="preserve"> [ </m:t>
                          </m:r>
                          <m:sSub>
                            <m:sSubPr>
                              <m:ctrlPr>
                                <a:rPr lang="en-US" sz="2200" i="1">
                                  <a:solidFill>
                                    <a:srgbClr val="111111"/>
                                  </a:solidFill>
                                  <a:latin typeface="Cambria Math" panose="02040503050406030204" pitchFamily="18" charset="0"/>
                                </a:rPr>
                              </m:ctrlPr>
                            </m:sSubPr>
                            <m:e>
                              <m:r>
                                <a:rPr lang="en-US" sz="2200" i="1">
                                  <a:solidFill>
                                    <a:srgbClr val="111111"/>
                                  </a:solidFill>
                                  <a:latin typeface="Cambria Math" panose="02040503050406030204" pitchFamily="18" charset="0"/>
                                </a:rPr>
                                <m:t xml:space="preserve">e</m:t>
                              </m:r>
                            </m:e>
                            <m:sub>
                              <m:r>
                                <a:rPr lang="en-US" sz="2200" i="1">
                                  <a:solidFill>
                                    <a:srgbClr val="111111"/>
                                  </a:solidFill>
                                  <a:latin typeface="Cambria Math" panose="02040503050406030204" pitchFamily="18" charset="0"/>
                                </a:rPr>
                                <m:t xml:space="preserve">u</m:t>
                              </m:r>
                            </m:sub>
                          </m:sSub>
                          <m:r>
                            <m:rPr>
                              <m:sty m:val="p"/>
                            </m:rPr>
                            <a:rPr lang="en-US" sz="2200">
                              <a:solidFill>
                                <a:srgbClr val="111111"/>
                              </a:solidFill>
                              <a:latin typeface="Cambria Math" panose="02040503050406030204" pitchFamily="18" charset="0"/>
                            </a:rPr>
                            <m:t xml:space="preserve">,</m:t>
                          </m:r>
                          <m:sSub>
                            <m:sSubPr>
                              <m:ctrlPr>
                                <a:rPr lang="en-US" sz="2200" i="1">
                                  <a:solidFill>
                                    <a:srgbClr val="111111"/>
                                  </a:solidFill>
                                  <a:latin typeface="Cambria Math" panose="02040503050406030204" pitchFamily="18" charset="0"/>
                                </a:rPr>
                              </m:ctrlPr>
                            </m:sSubPr>
                            <m:e>
                              <m:r>
                                <a:rPr lang="en-US" sz="2200" i="1">
                                  <a:solidFill>
                                    <a:srgbClr val="111111"/>
                                  </a:solidFill>
                                  <a:latin typeface="Cambria Math" panose="02040503050406030204" pitchFamily="18" charset="0"/>
                                </a:rPr>
                                <m:t xml:space="preserve">e</m:t>
                              </m:r>
                            </m:e>
                            <m:sub>
                              <m:r>
                                <a:rPr lang="en-US" sz="2200" i="1">
                                  <a:solidFill>
                                    <a:srgbClr val="111111"/>
                                  </a:solidFill>
                                  <a:latin typeface="Cambria Math" panose="02040503050406030204" pitchFamily="18" charset="0"/>
                                </a:rPr>
                                <m:t xml:space="preserve">i</m:t>
                              </m:r>
                            </m:sub>
                          </m:sSub>
                          <m:r>
                            <m:rPr>
                              <m:sty m:val="p"/>
                            </m:rPr>
                            <a:rPr lang="en-US" sz="2200">
                              <a:solidFill>
                                <a:srgbClr val="111111"/>
                              </a:solidFill>
                              <a:latin typeface="Cambria Math" panose="02040503050406030204" pitchFamily="18" charset="0"/>
                            </a:rPr>
                            <m:t xml:space="preserve">,</m:t>
                          </m:r>
                          <m:sSub>
                            <m:sSubPr>
                              <m:ctrlPr>
                                <a:rPr lang="en-US" sz="2200" i="1">
                                  <a:solidFill>
                                    <a:srgbClr val="111111"/>
                                  </a:solidFill>
                                  <a:latin typeface="Cambria Math" panose="02040503050406030204" pitchFamily="18" charset="0"/>
                                </a:rPr>
                              </m:ctrlPr>
                            </m:sSubPr>
                            <m:e>
                              <m:r>
                                <a:rPr lang="en-US" sz="2200" i="1">
                                  <a:solidFill>
                                    <a:srgbClr val="111111"/>
                                  </a:solidFill>
                                  <a:latin typeface="Cambria Math" panose="02040503050406030204" pitchFamily="18" charset="0"/>
                                </a:rPr>
                                <m:t xml:space="preserve">l</m:t>
                              </m:r>
                            </m:e>
                            <m:sub>
                              <m:r>
                                <a:rPr lang="en-US" sz="2200" i="1">
                                  <a:solidFill>
                                    <a:srgbClr val="111111"/>
                                  </a:solidFill>
                                  <a:latin typeface="Cambria Math" panose="02040503050406030204" pitchFamily="18" charset="0"/>
                                </a:rPr>
                                <m:t xml:space="preserve">i</m:t>
                              </m:r>
                            </m:sub>
                          </m:sSub>
                          <m:r>
                            <m:rPr>
                              <m:sty m:val="p"/>
                            </m:rPr>
                            <a:rPr lang="en-US" sz="2200">
                              <a:solidFill>
                                <a:srgbClr val="111111"/>
                              </a:solidFill>
                              <a:latin typeface="Cambria Math" panose="02040503050406030204" pitchFamily="18" charset="0"/>
                            </a:rPr>
                            <m:t xml:space="preserve"> ]</m:t>
                          </m:r>
                        </m:e>
                      </m:d>
                      <m:r>
                        <m:rPr>
                          <m:sty m:val="p"/>
                        </m:rPr>
                        <a:rPr lang="en-US" sz="2200">
                          <a:solidFill>
                            <a:srgbClr val="111111"/>
                          </a:solidFill>
                          <a:latin typeface="Cambria Math" panose="02040503050406030204" pitchFamily="18" charset="0"/>
                        </a:rPr>
                        <m:t xml:space="preserve">,  </m:t>
                      </m:r>
                      <m:sSub>
                        <m:sSubPr>
                          <m:ctrlPr>
                            <a:rPr lang="en-US" sz="2200" i="1">
                              <a:solidFill>
                                <a:srgbClr val="111111"/>
                              </a:solidFill>
                              <a:latin typeface="Cambria Math" panose="02040503050406030204" pitchFamily="18" charset="0"/>
                            </a:rPr>
                          </m:ctrlPr>
                        </m:sSubPr>
                        <m:e>
                          <m:r>
                            <a:rPr lang="en-US" sz="2200" i="1">
                              <a:solidFill>
                                <a:srgbClr val="111111"/>
                              </a:solidFill>
                              <a:latin typeface="Cambria Math" panose="02040503050406030204" pitchFamily="18" charset="0"/>
                            </a:rPr>
                            <m:t xml:space="preserve">y</m:t>
                          </m:r>
                        </m:e>
                        <m:sub>
                          <m:r>
                            <a:rPr lang="en-US" sz="2200" i="1">
                              <a:solidFill>
                                <a:srgbClr val="111111"/>
                              </a:solidFill>
                              <a:latin typeface="Cambria Math" panose="02040503050406030204" pitchFamily="18" charset="0"/>
                            </a:rPr>
                            <m:t xml:space="preserve">ui</m:t>
                          </m:r>
                        </m:sub>
                      </m:sSub>
                      <m:r>
                        <m:rPr>
                          <m:sty m:val="p"/>
                        </m:rPr>
                        <a:rPr lang="en-US" sz="2200">
                          <a:solidFill>
                            <a:srgbClr val="111111"/>
                          </a:solidFill>
                          <a:latin typeface="Cambria Math" panose="02040503050406030204" pitchFamily="18" charset="0"/>
                        </a:rPr>
                        <m:t xml:space="preserve">=(1+</m:t>
                      </m:r>
                      <m:sSub>
                        <m:sSubPr>
                          <m:ctrlPr>
                            <a:rPr lang="en-US" sz="2200" i="1">
                              <a:solidFill>
                                <a:srgbClr val="111111"/>
                              </a:solidFill>
                              <a:latin typeface="Cambria Math" panose="02040503050406030204" pitchFamily="18" charset="0"/>
                            </a:rPr>
                          </m:ctrlPr>
                        </m:sSubPr>
                        <m:e>
                          <m:r>
                            <a:rPr lang="en-US" sz="2200" i="1">
                              <a:solidFill>
                                <a:srgbClr val="111111"/>
                              </a:solidFill>
                              <a:latin typeface="Cambria Math" panose="02040503050406030204" pitchFamily="18" charset="0"/>
                            </a:rPr>
                            <m:t xml:space="preserve">a</m:t>
                          </m:r>
                        </m:e>
                        <m:sub>
                          <m:r>
                            <a:rPr lang="en-US" sz="2200" i="1">
                              <a:solidFill>
                                <a:srgbClr val="111111"/>
                              </a:solidFill>
                              <a:latin typeface="Cambria Math" panose="02040503050406030204" pitchFamily="18" charset="0"/>
                            </a:rPr>
                            <m:t xml:space="preserve">ui</m:t>
                          </m:r>
                        </m:sub>
                      </m:sSub>
                      <m:r>
                        <m:rPr>
                          <m:sty m:val="p"/>
                        </m:rPr>
                        <a:rPr lang="en-US" sz="2200">
                          <a:solidFill>
                            <a:srgbClr val="111111"/>
                          </a:solidFill>
                          <a:latin typeface="Cambria Math" panose="02040503050406030204" pitchFamily="18" charset="0"/>
                        </a:rPr>
                        <m:t xml:space="preserve">) ⟨</m:t>
                      </m:r>
                      <m:sSub>
                        <m:sSubPr>
                          <m:ctrlPr>
                            <a:rPr lang="en-US" sz="2200" i="1">
                              <a:solidFill>
                                <a:srgbClr val="111111"/>
                              </a:solidFill>
                              <a:latin typeface="Cambria Math" panose="02040503050406030204" pitchFamily="18" charset="0"/>
                            </a:rPr>
                          </m:ctrlPr>
                        </m:sSubPr>
                        <m:e>
                          <m:r>
                            <a:rPr lang="en-US" sz="2200" i="1">
                              <a:solidFill>
                                <a:srgbClr val="111111"/>
                              </a:solidFill>
                              <a:latin typeface="Cambria Math" panose="02040503050406030204" pitchFamily="18" charset="0"/>
                            </a:rPr>
                            <m:t xml:space="preserve">e</m:t>
                          </m:r>
                        </m:e>
                        <m:sub>
                          <m:r>
                            <a:rPr lang="en-US" sz="2200" i="1">
                              <a:solidFill>
                                <a:srgbClr val="111111"/>
                              </a:solidFill>
                              <a:latin typeface="Cambria Math" panose="02040503050406030204" pitchFamily="18" charset="0"/>
                            </a:rPr>
                            <m:t xml:space="preserve">u</m:t>
                          </m:r>
                        </m:sub>
                      </m:sSub>
                      <m:r>
                        <m:rPr>
                          <m:sty m:val="p"/>
                        </m:rPr>
                        <a:rPr lang="en-US" sz="2200">
                          <a:solidFill>
                            <a:srgbClr val="111111"/>
                          </a:solidFill>
                          <a:latin typeface="Cambria Math" panose="02040503050406030204" pitchFamily="18" charset="0"/>
                        </a:rPr>
                        <m:t xml:space="preserve">,</m:t>
                      </m:r>
                      <m:sSub>
                        <m:sSubPr>
                          <m:ctrlPr>
                            <a:rPr lang="en-US" sz="2200" i="1">
                              <a:solidFill>
                                <a:srgbClr val="111111"/>
                              </a:solidFill>
                              <a:latin typeface="Cambria Math" panose="02040503050406030204" pitchFamily="18" charset="0"/>
                            </a:rPr>
                          </m:ctrlPr>
                        </m:sSubPr>
                        <m:e>
                          <m:r>
                            <a:rPr lang="en-US" sz="2200" i="1">
                              <a:solidFill>
                                <a:srgbClr val="111111"/>
                              </a:solidFill>
                              <a:latin typeface="Cambria Math" panose="02040503050406030204" pitchFamily="18" charset="0"/>
                            </a:rPr>
                            <m:t xml:space="preserve">e</m:t>
                          </m:r>
                        </m:e>
                        <m:sub>
                          <m:r>
                            <a:rPr lang="en-US" sz="2200" i="1">
                              <a:solidFill>
                                <a:srgbClr val="111111"/>
                              </a:solidFill>
                              <a:latin typeface="Cambria Math" panose="02040503050406030204" pitchFamily="18" charset="0"/>
                            </a:rPr>
                            <m:t xml:space="preserve">i</m:t>
                          </m:r>
                        </m:sub>
                      </m:sSub>
                      <m:r>
                        <m:rPr>
                          <m:sty m:val="p"/>
                        </m:rPr>
                        <a:rPr lang="en-US" sz="2200">
                          <a:solidFill>
                            <a:srgbClr val="111111"/>
                          </a:solidFill>
                          <a:latin typeface="Cambria Math" panose="02040503050406030204" pitchFamily="18" charset="0"/>
                        </a:rPr>
                        <m:t xml:space="preserve">⟩</m:t>
                      </m:r>
                    </m:oMath>
                  </m:oMathPara>
                </a14:m>
                <a:endParaRPr lang="en-US" sz="2200"/>
              </a:p>
            </p:txBody>
          </p:sp>
        </mc:Choice>
        <mc:Fallback>
          <p:sp>
            <p:nvSpPr>
              <p:cNvPr id="40" name="Equation"/>
              <p:cNvSpPr txBox="1"/>
              <p:nvPr/>
            </p:nvSpPr>
            <p:spPr>
              <a:xfrm>
                <a:off x="4686300" y="7387717"/>
                <a:ext cx="12298680" cy="609811"/>
              </a:xfrm>
              <a:prstGeom prst="rect">
                <a:avLst/>
              </a:prstGeom>
              <a:blipFill>
                <a:blip r:embed="rId8"/>
                <a:stretch>
                  <a:fillRect/>
                </a:stretch>
              </a:blipFill>
            </p:spPr>
            <p:txBody>
              <a:bodyPr/>
              <a:lstStyle/>
              <a:p>
                <a:endParaRPr lang="en-US"/>
              </a:p>
            </p:txBody>
          </p:sp>
        </mc:Fallback>
      </mc:AlternateContent>
      <p:sp>
        <p:nvSpPr>
          <p:cNvPr id="41" name="Rounded Rectangle 40"/>
          <p:cNvSpPr/>
          <p:nvPr/>
        </p:nvSpPr>
        <p:spPr>
          <a:xfrm>
            <a:off x="1028700" y="8088968"/>
            <a:ext cx="16230600" cy="609811"/>
          </a:xfrm>
          <a:prstGeom prst="roundRect">
            <a:avLst>
              <a:gd name="adj" fmla="val 23991"/>
            </a:avLst>
          </a:prstGeom>
          <a:solidFill>
            <a:srgbClr val="F6ECDF"/>
          </a:solidFill>
          <a:ln>
            <a:noFill/>
          </a:ln>
        </p:spPr>
        <p:txBody>
          <a:bodyPr anchor="ctr" rtlCol="false" lIns="0" tIns="0" rIns="0" bIns="0" wrap="square"/>
          <a:lstStyle/>
          <a:p>
            <a:endParaRPr lang="en-US" sz="1800"/>
          </a:p>
        </p:txBody>
      </p:sp>
      <p:sp>
        <p:nvSpPr>
          <p:cNvPr id="42" name="TextBox 41"/>
          <p:cNvSpPr txBox="1"/>
          <p:nvPr/>
        </p:nvSpPr>
        <p:spPr>
          <a:xfrm>
            <a:off x="1348740" y="8088968"/>
            <a:ext cx="3291840" cy="609811"/>
          </a:xfrm>
          <a:prstGeom prst="rect">
            <a:avLst/>
          </a:prstGeom>
          <a:noFill/>
        </p:spPr>
        <p:txBody>
          <a:bodyPr anchor="ctr" rtlCol="false" lIns="0" tIns="0" rIns="0" bIns="0" wrap="square"/>
          <a:lstStyle/>
          <a:p>
            <a:pPr algn="l">
              <a:lnSpc>
                <a:spcPts val="2200"/>
              </a:lnSpc>
              <a:spcBef>
                <a:spcPts val="0"/>
              </a:spcBef>
              <a:buNone/>
            </a:pPr>
            <a:r>
              <a:rPr lang="en-US" sz="1800" b="true">
                <a:solidFill>
                  <a:srgbClr val="4472C4"/>
                </a:solidFill>
                <a:latin typeface="Nunito Ultra-Bold"/>
                <a:ea typeface="Nunito Ultra-Bold"/>
                <a:cs typeface="Nunito Ultra-Bold"/>
                <a:sym typeface="Nunito Ultra-Bold"/>
              </a:rPr>
              <a:t>Context-aware score</a:t>
            </a:r>
          </a:p>
        </p:txBody>
      </p:sp>
      <mc:AlternateContent xmlns:mc="http://schemas.openxmlformats.org/markup-compatibility/2006">
        <mc:Choice xmlns:a14="http://schemas.microsoft.com/office/drawing/2010/main" Requires="a14">
          <p:sp>
            <p:nvSpPr>
              <p:cNvPr id="43" name="Equation"/>
              <p:cNvSpPr txBox="1"/>
              <p:nvPr/>
            </p:nvSpPr>
            <p:spPr>
              <a:xfrm>
                <a:off x="4686300" y="8088968"/>
                <a:ext cx="12298680" cy="609811"/>
              </a:xfrm>
              <a:prstGeom prst="rect">
                <a:avLst/>
              </a:prstGeom>
              <a:noFill/>
            </p:spPr>
            <p:txBody>
              <a:bodyPr wrap="none" rtlCol="0" anchor="ctr" lIns="0" tIns="0" rIns="0" bIns="0"/>
              <a:lstStyle/>
              <a:p>
                <a:pPr algn="l"/>
                <a14:m xmlns:m="http://schemas.openxmlformats.org/officeDocument/2006/math">
                  <m:oMathPara>
                    <m:oMathParaPr>
                      <m:jc m:val="left"/>
                    </m:oMathParaPr>
                    <m:oMath>
                      <m:r>
                        <a:rPr lang="en-US" sz="2200" i="1">
                          <a:solidFill>
                            <a:srgbClr val="111111"/>
                          </a:solidFill>
                          <a:latin typeface="Cambria Math" panose="02040503050406030204" pitchFamily="18" charset="0"/>
                        </a:rPr>
                        <m:t xml:space="preserve">f</m:t>
                      </m:r>
                      <m:r>
                        <m:rPr>
                          <m:sty m:val="p"/>
                        </m:rPr>
                        <a:rPr lang="en-US" sz="2200">
                          <a:solidFill>
                            <a:srgbClr val="111111"/>
                          </a:solidFill>
                          <a:latin typeface="Cambria Math" panose="02040503050406030204" pitchFamily="18" charset="0"/>
                        </a:rPr>
                        <m:t xml:space="preserve">(</m:t>
                      </m:r>
                      <m:r>
                        <a:rPr lang="en-US" sz="2200" i="1">
                          <a:solidFill>
                            <a:srgbClr val="111111"/>
                          </a:solidFill>
                          <a:latin typeface="Cambria Math" panose="02040503050406030204" pitchFamily="18" charset="0"/>
                        </a:rPr>
                        <m:t xml:space="preserve">u</m:t>
                      </m:r>
                      <m:r>
                        <m:rPr>
                          <m:sty m:val="p"/>
                        </m:rPr>
                        <a:rPr lang="en-US" sz="2200">
                          <a:solidFill>
                            <a:srgbClr val="111111"/>
                          </a:solidFill>
                          <a:latin typeface="Cambria Math" panose="02040503050406030204" pitchFamily="18" charset="0"/>
                        </a:rPr>
                        <m:t xml:space="preserve">,</m:t>
                      </m:r>
                      <m:r>
                        <a:rPr lang="en-US" sz="2200" i="1">
                          <a:solidFill>
                            <a:srgbClr val="111111"/>
                          </a:solidFill>
                          <a:latin typeface="Cambria Math" panose="02040503050406030204" pitchFamily="18" charset="0"/>
                        </a:rPr>
                        <m:t xml:space="preserve">i</m:t>
                      </m:r>
                      <m:r>
                        <m:rPr>
                          <m:sty m:val="p"/>
                        </m:rPr>
                        <a:rPr lang="en-US" sz="2200">
                          <a:solidFill>
                            <a:srgbClr val="111111"/>
                          </a:solidFill>
                          <a:latin typeface="Cambria Math" panose="02040503050406030204" pitchFamily="18" charset="0"/>
                        </a:rPr>
                        <m:t xml:space="preserve">,</m:t>
                      </m:r>
                      <m:r>
                        <a:rPr lang="en-US" sz="2200" i="1">
                          <a:solidFill>
                            <a:srgbClr val="111111"/>
                          </a:solidFill>
                          <a:latin typeface="Cambria Math" panose="02040503050406030204" pitchFamily="18" charset="0"/>
                        </a:rPr>
                        <m:t xml:space="preserve">c</m:t>
                      </m:r>
                      <m:r>
                        <m:rPr>
                          <m:sty m:val="p"/>
                        </m:rPr>
                        <a:rPr lang="en-US" sz="2200">
                          <a:solidFill>
                            <a:srgbClr val="111111"/>
                          </a:solidFill>
                          <a:latin typeface="Cambria Math" panose="02040503050406030204" pitchFamily="18" charset="0"/>
                        </a:rPr>
                        <m:t xml:space="preserve">)=</m:t>
                      </m:r>
                      <m:sSub>
                        <m:sSubPr>
                          <m:ctrlPr>
                            <a:rPr lang="en-US" sz="2200" i="1">
                              <a:solidFill>
                                <a:srgbClr val="111111"/>
                              </a:solidFill>
                              <a:latin typeface="Cambria Math" panose="02040503050406030204" pitchFamily="18" charset="0"/>
                            </a:rPr>
                          </m:ctrlPr>
                        </m:sSubPr>
                        <m:e>
                          <m:r>
                            <a:rPr lang="en-US" sz="2200" i="1">
                              <a:solidFill>
                                <a:srgbClr val="111111"/>
                              </a:solidFill>
                              <a:latin typeface="Cambria Math" panose="02040503050406030204" pitchFamily="18" charset="0"/>
                            </a:rPr>
                            <m:t xml:space="preserve">y</m:t>
                          </m:r>
                        </m:e>
                        <m:sub>
                          <m:r>
                            <a:rPr lang="en-US" sz="2200" i="1">
                              <a:solidFill>
                                <a:srgbClr val="111111"/>
                              </a:solidFill>
                              <a:latin typeface="Cambria Math" panose="02040503050406030204" pitchFamily="18" charset="0"/>
                            </a:rPr>
                            <m:t xml:space="preserve">ui</m:t>
                          </m:r>
                        </m:sub>
                      </m:sSub>
                      <m:r>
                        <m:rPr>
                          <m:sty m:val="p"/>
                        </m:rPr>
                        <a:rPr lang="en-US" sz="2200">
                          <a:solidFill>
                            <a:srgbClr val="111111"/>
                          </a:solidFill>
                          <a:latin typeface="Cambria Math" panose="02040503050406030204" pitchFamily="18" charset="0"/>
                        </a:rPr>
                        <m:t xml:space="preserve">+</m:t>
                      </m:r>
                      <m:sSub>
                        <m:sSubPr>
                          <m:ctrlPr>
                            <a:rPr lang="en-US" sz="2200" i="1">
                              <a:solidFill>
                                <a:srgbClr val="111111"/>
                              </a:solidFill>
                              <a:latin typeface="Cambria Math" panose="02040503050406030204" pitchFamily="18" charset="0"/>
                            </a:rPr>
                          </m:ctrlPr>
                        </m:sSubPr>
                        <m:e>
                          <m:r>
                            <a:rPr lang="en-US" sz="2200" i="1">
                              <a:solidFill>
                                <a:srgbClr val="111111"/>
                              </a:solidFill>
                              <a:latin typeface="Cambria Math" panose="02040503050406030204" pitchFamily="18" charset="0"/>
                            </a:rPr>
                            <m:t xml:space="preserve">λ</m:t>
                          </m:r>
                        </m:e>
                        <m:sub>
                          <m:r>
                            <a:rPr lang="en-US" sz="2200" i="1">
                              <a:solidFill>
                                <a:srgbClr val="111111"/>
                              </a:solidFill>
                              <a:latin typeface="Cambria Math" panose="02040503050406030204" pitchFamily="18" charset="0"/>
                            </a:rPr>
                            <m:t xml:space="preserve">c</m:t>
                          </m:r>
                        </m:sub>
                      </m:sSub>
                      <m:r>
                        <m:rPr>
                          <m:sty m:val="p"/>
                        </m:rPr>
                        <a:rPr lang="en-US" sz="2200">
                          <a:solidFill>
                            <a:srgbClr val="111111"/>
                          </a:solidFill>
                          <a:latin typeface="Cambria Math" panose="02040503050406030204" pitchFamily="18" charset="0"/>
                        </a:rPr>
                        <m:t xml:space="preserve"> ⟨ </m:t>
                      </m:r>
                      <m:r>
                        <a:rPr lang="en-US" sz="2200" i="1">
                          <a:solidFill>
                            <a:srgbClr val="111111"/>
                          </a:solidFill>
                          <a:latin typeface="Cambria Math" panose="02040503050406030204" pitchFamily="18" charset="0"/>
                        </a:rPr>
                        <m:t xml:space="preserve">g</m:t>
                      </m:r>
                      <m:r>
                        <m:rPr>
                          <m:sty m:val="p"/>
                        </m:rPr>
                        <a:rPr lang="en-US" sz="2200">
                          <a:solidFill>
                            <a:srgbClr val="111111"/>
                          </a:solidFill>
                          <a:latin typeface="Cambria Math" panose="02040503050406030204" pitchFamily="18" charset="0"/>
                        </a:rPr>
                        <m:t xml:space="preserve">(</m:t>
                      </m:r>
                      <m:sSub>
                        <m:sSubPr>
                          <m:ctrlPr>
                            <a:rPr lang="en-US" sz="2200" i="1">
                              <a:solidFill>
                                <a:srgbClr val="111111"/>
                              </a:solidFill>
                              <a:latin typeface="Cambria Math" panose="02040503050406030204" pitchFamily="18" charset="0"/>
                            </a:rPr>
                          </m:ctrlPr>
                        </m:sSubPr>
                        <m:e>
                          <m:r>
                            <a:rPr lang="en-US" sz="2200" i="1">
                              <a:solidFill>
                                <a:srgbClr val="111111"/>
                              </a:solidFill>
                              <a:latin typeface="Cambria Math" panose="02040503050406030204" pitchFamily="18" charset="0"/>
                            </a:rPr>
                            <m:t xml:space="preserve">c</m:t>
                          </m:r>
                        </m:e>
                        <m:sub>
                          <m:r>
                            <a:rPr lang="en-US" sz="2200" i="1">
                              <a:solidFill>
                                <a:srgbClr val="111111"/>
                              </a:solidFill>
                              <a:latin typeface="Cambria Math" panose="02040503050406030204" pitchFamily="18" charset="0"/>
                            </a:rPr>
                            <m:t xml:space="preserve">ui</m:t>
                          </m:r>
                        </m:sub>
                      </m:sSub>
                      <m:r>
                        <m:rPr>
                          <m:sty m:val="p"/>
                        </m:rPr>
                        <a:rPr lang="en-US" sz="2200">
                          <a:solidFill>
                            <a:srgbClr val="111111"/>
                          </a:solidFill>
                          <a:latin typeface="Cambria Math" panose="02040503050406030204" pitchFamily="18" charset="0"/>
                        </a:rPr>
                        <m:t xml:space="preserve">), </m:t>
                      </m:r>
                      <m:sSub>
                        <m:sSubPr>
                          <m:ctrlPr>
                            <a:rPr lang="en-US" sz="2200" i="1">
                              <a:solidFill>
                                <a:srgbClr val="111111"/>
                              </a:solidFill>
                              <a:latin typeface="Cambria Math" panose="02040503050406030204" pitchFamily="18" charset="0"/>
                            </a:rPr>
                          </m:ctrlPr>
                        </m:sSubPr>
                        <m:e>
                          <m:r>
                            <a:rPr lang="en-US" sz="2200" i="1">
                              <a:solidFill>
                                <a:srgbClr val="111111"/>
                              </a:solidFill>
                              <a:latin typeface="Cambria Math" panose="02040503050406030204" pitchFamily="18" charset="0"/>
                            </a:rPr>
                            <m:t xml:space="preserve">e</m:t>
                          </m:r>
                        </m:e>
                        <m:sub>
                          <m:sSub>
                            <m:sSubPr>
                              <m:ctrlPr>
                                <a:rPr lang="en-US" sz="2200" i="1">
                                  <a:solidFill>
                                    <a:srgbClr val="111111"/>
                                  </a:solidFill>
                                  <a:latin typeface="Cambria Math" panose="02040503050406030204" pitchFamily="18" charset="0"/>
                                </a:rPr>
                              </m:ctrlPr>
                            </m:sSubPr>
                            <m:e>
                              <m:r>
                                <a:rPr lang="en-US" sz="2200" i="1">
                                  <a:solidFill>
                                    <a:srgbClr val="111111"/>
                                  </a:solidFill>
                                  <a:latin typeface="Cambria Math" panose="02040503050406030204" pitchFamily="18" charset="0"/>
                                </a:rPr>
                                <m:t xml:space="preserve">c</m:t>
                              </m:r>
                            </m:e>
                            <m:sub>
                              <m:r>
                                <a:rPr lang="en-US" sz="2200" i="1">
                                  <a:solidFill>
                                    <a:srgbClr val="111111"/>
                                  </a:solidFill>
                                  <a:latin typeface="Cambria Math" panose="02040503050406030204" pitchFamily="18" charset="0"/>
                                </a:rPr>
                                <m:t xml:space="preserve">ui</m:t>
                              </m:r>
                            </m:sub>
                          </m:sSub>
                        </m:sub>
                      </m:sSub>
                      <m:r>
                        <m:rPr>
                          <m:sty m:val="p"/>
                        </m:rPr>
                        <a:rPr lang="en-US" sz="2200">
                          <a:solidFill>
                            <a:srgbClr val="111111"/>
                          </a:solidFill>
                          <a:latin typeface="Cambria Math" panose="02040503050406030204" pitchFamily="18" charset="0"/>
                        </a:rPr>
                        <m:t xml:space="preserve">⟩</m:t>
                      </m:r>
                    </m:oMath>
                  </m:oMathPara>
                </a14:m>
                <a:endParaRPr lang="en-US" sz="2200"/>
              </a:p>
            </p:txBody>
          </p:sp>
        </mc:Choice>
        <mc:Fallback>
          <p:sp>
            <p:nvSpPr>
              <p:cNvPr id="43" name="Equation"/>
              <p:cNvSpPr txBox="1"/>
              <p:nvPr/>
            </p:nvSpPr>
            <p:spPr>
              <a:xfrm>
                <a:off x="4686300" y="8088968"/>
                <a:ext cx="12298680" cy="609811"/>
              </a:xfrm>
              <a:prstGeom prst="rect">
                <a:avLst/>
              </a:prstGeom>
              <a:blipFill>
                <a:blip r:embed="rId9"/>
                <a:stretch>
                  <a:fillRect/>
                </a:stretch>
              </a:blipFill>
            </p:spPr>
            <p:txBody>
              <a:bodyPr/>
              <a:lstStyle/>
              <a:p>
                <a:endParaRPr lang="en-US"/>
              </a:p>
            </p:txBody>
          </p:sp>
        </mc:Fallback>
      </mc:AlternateContent>
      <p:sp>
        <p:nvSpPr>
          <p:cNvPr id="44" name="Rounded Rectangle 43"/>
          <p:cNvSpPr/>
          <p:nvPr/>
        </p:nvSpPr>
        <p:spPr>
          <a:xfrm>
            <a:off x="1028700" y="8790220"/>
            <a:ext cx="16230600" cy="609811"/>
          </a:xfrm>
          <a:prstGeom prst="roundRect">
            <a:avLst>
              <a:gd name="adj" fmla="val 23991"/>
            </a:avLst>
          </a:prstGeom>
          <a:solidFill>
            <a:srgbClr val="FBF4EB"/>
          </a:solidFill>
          <a:ln>
            <a:noFill/>
          </a:ln>
        </p:spPr>
        <p:txBody>
          <a:bodyPr anchor="ctr" rtlCol="false" lIns="0" tIns="0" rIns="0" bIns="0" wrap="square"/>
          <a:lstStyle/>
          <a:p>
            <a:endParaRPr lang="en-US" sz="1800"/>
          </a:p>
        </p:txBody>
      </p:sp>
      <p:sp>
        <p:nvSpPr>
          <p:cNvPr id="45" name="TextBox 44"/>
          <p:cNvSpPr txBox="1"/>
          <p:nvPr/>
        </p:nvSpPr>
        <p:spPr>
          <a:xfrm>
            <a:off x="1348740" y="8790220"/>
            <a:ext cx="3291840" cy="609811"/>
          </a:xfrm>
          <a:prstGeom prst="rect">
            <a:avLst/>
          </a:prstGeom>
          <a:noFill/>
        </p:spPr>
        <p:txBody>
          <a:bodyPr anchor="ctr" rtlCol="false" lIns="0" tIns="0" rIns="0" bIns="0" wrap="square"/>
          <a:lstStyle/>
          <a:p>
            <a:pPr algn="l">
              <a:lnSpc>
                <a:spcPts val="2200"/>
              </a:lnSpc>
              <a:spcBef>
                <a:spcPts val="0"/>
              </a:spcBef>
              <a:buNone/>
            </a:pPr>
            <a:r>
              <a:rPr lang="en-US" sz="1800" b="true">
                <a:solidFill>
                  <a:srgbClr val="4472C4"/>
                </a:solidFill>
                <a:latin typeface="Nunito Ultra-Bold"/>
                <a:ea typeface="Nunito Ultra-Bold"/>
                <a:cs typeface="Nunito Ultra-Bold"/>
                <a:sym typeface="Nunito Ultra-Bold"/>
              </a:rPr>
              <a:t>Training loss</a:t>
            </a:r>
          </a:p>
        </p:txBody>
      </p:sp>
      <mc:AlternateContent xmlns:mc="http://schemas.openxmlformats.org/markup-compatibility/2006">
        <mc:Choice xmlns:a14="http://schemas.microsoft.com/office/drawing/2010/main" Requires="a14">
          <p:sp>
            <p:nvSpPr>
              <p:cNvPr id="46" name="Equation"/>
              <p:cNvSpPr txBox="1"/>
              <p:nvPr/>
            </p:nvSpPr>
            <p:spPr>
              <a:xfrm>
                <a:off x="4686300" y="8790220"/>
                <a:ext cx="9372600" cy="609811"/>
              </a:xfrm>
              <a:prstGeom prst="rect">
                <a:avLst/>
              </a:prstGeom>
              <a:noFill/>
            </p:spPr>
            <p:txBody>
              <a:bodyPr wrap="none" rtlCol="0" anchor="ctr" lIns="0" tIns="0" rIns="0" bIns="0"/>
              <a:lstStyle/>
              <a:p>
                <a:pPr algn="l"/>
                <a14:m xmlns:m="http://schemas.openxmlformats.org/officeDocument/2006/math">
                  <m:oMathPara>
                    <m:oMathParaPr>
                      <m:jc m:val="left"/>
                    </m:oMathParaPr>
                    <m:oMath>
                      <m:r>
                        <m:rPr>
                          <m:scr m:val="script"/>
                          <m:sty m:val="p"/>
                        </m:rPr>
                        <a:rPr lang="en-US" sz="2200">
                          <a:solidFill>
                            <a:srgbClr val="111111"/>
                          </a:solidFill>
                          <a:latin typeface="Cambria Math" panose="02040503050406030204" pitchFamily="18" charset="0"/>
                        </a:rPr>
                        <m:t xml:space="preserve">L</m:t>
                      </m:r>
                      <m:r>
                        <m:rPr>
                          <m:sty m:val="p"/>
                        </m:rPr>
                        <a:rPr lang="en-US" sz="2200">
                          <a:solidFill>
                            <a:srgbClr val="111111"/>
                          </a:solidFill>
                          <a:latin typeface="Cambria Math" panose="02040503050406030204" pitchFamily="18" charset="0"/>
                        </a:rPr>
                        <m:t xml:space="preserve">=</m:t>
                      </m:r>
                      <m:sSub>
                        <m:sSubPr>
                          <m:ctrlPr>
                            <a:rPr lang="en-US" sz="2200" i="1">
                              <a:solidFill>
                                <a:srgbClr val="111111"/>
                              </a:solidFill>
                              <a:latin typeface="Cambria Math" panose="02040503050406030204" pitchFamily="18" charset="0"/>
                            </a:rPr>
                          </m:ctrlPr>
                        </m:sSubPr>
                        <m:e>
                          <m:r>
                            <m:rPr>
                              <m:scr m:val="script"/>
                              <m:sty m:val="p"/>
                            </m:rPr>
                            <a:rPr lang="en-US" sz="2200">
                              <a:solidFill>
                                <a:srgbClr val="111111"/>
                              </a:solidFill>
                              <a:latin typeface="Cambria Math" panose="02040503050406030204" pitchFamily="18" charset="0"/>
                            </a:rPr>
                            <m:t xml:space="preserve">L</m:t>
                          </m:r>
                        </m:e>
                        <m:sub>
                          <m:r>
                            <m:rPr>
                              <m:sty m:val="p"/>
                            </m:rPr>
                            <a:rPr lang="en-US" sz="2200">
                              <a:solidFill>
                                <a:srgbClr val="111111"/>
                              </a:solidFill>
                              <a:latin typeface="Cambria Math" panose="02040503050406030204" pitchFamily="18" charset="0"/>
                            </a:rPr>
                            <m:t xml:space="preserve">rec</m:t>
                          </m:r>
                        </m:sub>
                      </m:sSub>
                      <m:r>
                        <m:rPr>
                          <m:sty m:val="p"/>
                        </m:rPr>
                        <a:rPr lang="en-US" sz="2200">
                          <a:solidFill>
                            <a:srgbClr val="111111"/>
                          </a:solidFill>
                          <a:latin typeface="Cambria Math" panose="02040503050406030204" pitchFamily="18" charset="0"/>
                        </a:rPr>
                        <m:t xml:space="preserve">+</m:t>
                      </m:r>
                      <m:sSub>
                        <m:sSubPr>
                          <m:ctrlPr>
                            <a:rPr lang="en-US" sz="2200" i="1">
                              <a:solidFill>
                                <a:srgbClr val="111111"/>
                              </a:solidFill>
                              <a:latin typeface="Cambria Math" panose="02040503050406030204" pitchFamily="18" charset="0"/>
                            </a:rPr>
                          </m:ctrlPr>
                        </m:sSubPr>
                        <m:e>
                          <m:r>
                            <a:rPr lang="en-US" sz="2200" i="1">
                              <a:solidFill>
                                <a:srgbClr val="111111"/>
                              </a:solidFill>
                              <a:latin typeface="Cambria Math" panose="02040503050406030204" pitchFamily="18" charset="0"/>
                            </a:rPr>
                            <m:t xml:space="preserve">λ</m:t>
                          </m:r>
                        </m:e>
                        <m:sub>
                          <m:r>
                            <m:rPr>
                              <m:sty m:val="p"/>
                            </m:rPr>
                            <a:rPr lang="en-US" sz="2200">
                              <a:solidFill>
                                <a:srgbClr val="111111"/>
                              </a:solidFill>
                              <a:latin typeface="Cambria Math" panose="02040503050406030204" pitchFamily="18" charset="0"/>
                            </a:rPr>
                            <m:t xml:space="preserve">div</m:t>
                          </m:r>
                        </m:sub>
                      </m:sSub>
                      <m:r>
                        <m:rPr>
                          <m:sty m:val="p"/>
                        </m:rPr>
                        <a:rPr lang="en-US" sz="2200">
                          <a:solidFill>
                            <a:srgbClr val="111111"/>
                          </a:solidFill>
                          <a:latin typeface="Cambria Math" panose="02040503050406030204" pitchFamily="18" charset="0"/>
                        </a:rPr>
                        <m:t xml:space="preserve"> </m:t>
                      </m:r>
                      <m:sSub>
                        <m:sSubPr>
                          <m:ctrlPr>
                            <a:rPr lang="en-US" sz="2200" i="1">
                              <a:solidFill>
                                <a:srgbClr val="111111"/>
                              </a:solidFill>
                              <a:latin typeface="Cambria Math" panose="02040503050406030204" pitchFamily="18" charset="0"/>
                            </a:rPr>
                          </m:ctrlPr>
                        </m:sSubPr>
                        <m:e>
                          <m:r>
                            <m:rPr>
                              <m:scr m:val="script"/>
                              <m:sty m:val="p"/>
                            </m:rPr>
                            <a:rPr lang="en-US" sz="2200">
                              <a:solidFill>
                                <a:srgbClr val="111111"/>
                              </a:solidFill>
                              <a:latin typeface="Cambria Math" panose="02040503050406030204" pitchFamily="18" charset="0"/>
                            </a:rPr>
                            <m:t xml:space="preserve">L</m:t>
                          </m:r>
                        </m:e>
                        <m:sub>
                          <m:r>
                            <m:rPr>
                              <m:sty m:val="p"/>
                            </m:rPr>
                            <a:rPr lang="en-US" sz="2200">
                              <a:solidFill>
                                <a:srgbClr val="111111"/>
                              </a:solidFill>
                              <a:latin typeface="Cambria Math" panose="02040503050406030204" pitchFamily="18" charset="0"/>
                            </a:rPr>
                            <m:t xml:space="preserve">div</m:t>
                          </m:r>
                        </m:sub>
                      </m:sSub>
                      <m:r>
                        <m:rPr>
                          <m:sty m:val="p"/>
                        </m:rPr>
                        <a:rPr lang="en-US" sz="2200">
                          <a:solidFill>
                            <a:srgbClr val="111111"/>
                          </a:solidFill>
                          <a:latin typeface="Cambria Math" panose="02040503050406030204" pitchFamily="18" charset="0"/>
                        </a:rPr>
                        <m:t xml:space="preserve">+</m:t>
                      </m:r>
                      <m:sSub>
                        <m:sSubPr>
                          <m:ctrlPr>
                            <a:rPr lang="en-US" sz="2200" i="1">
                              <a:solidFill>
                                <a:srgbClr val="111111"/>
                              </a:solidFill>
                              <a:latin typeface="Cambria Math" panose="02040503050406030204" pitchFamily="18" charset="0"/>
                            </a:rPr>
                          </m:ctrlPr>
                        </m:sSubPr>
                        <m:e>
                          <m:r>
                            <a:rPr lang="en-US" sz="2200" i="1">
                              <a:solidFill>
                                <a:srgbClr val="111111"/>
                              </a:solidFill>
                              <a:latin typeface="Cambria Math" panose="02040503050406030204" pitchFamily="18" charset="0"/>
                            </a:rPr>
                            <m:t xml:space="preserve">λ</m:t>
                          </m:r>
                        </m:e>
                        <m:sub>
                          <m:r>
                            <m:rPr>
                              <m:sty m:val="p"/>
                            </m:rPr>
                            <a:rPr lang="en-US" sz="2200">
                              <a:solidFill>
                                <a:srgbClr val="111111"/>
                              </a:solidFill>
                              <a:latin typeface="Cambria Math" panose="02040503050406030204" pitchFamily="18" charset="0"/>
                            </a:rPr>
                            <m:t xml:space="preserve">ctx</m:t>
                          </m:r>
                        </m:sub>
                      </m:sSub>
                      <m:r>
                        <m:rPr>
                          <m:sty m:val="p"/>
                        </m:rPr>
                        <a:rPr lang="en-US" sz="2200">
                          <a:solidFill>
                            <a:srgbClr val="111111"/>
                          </a:solidFill>
                          <a:latin typeface="Cambria Math" panose="02040503050406030204" pitchFamily="18" charset="0"/>
                        </a:rPr>
                        <m:t xml:space="preserve"> </m:t>
                      </m:r>
                      <m:sSub>
                        <m:sSubPr>
                          <m:ctrlPr>
                            <a:rPr lang="en-US" sz="2200" i="1">
                              <a:solidFill>
                                <a:srgbClr val="111111"/>
                              </a:solidFill>
                              <a:latin typeface="Cambria Math" panose="02040503050406030204" pitchFamily="18" charset="0"/>
                            </a:rPr>
                          </m:ctrlPr>
                        </m:sSubPr>
                        <m:e>
                          <m:r>
                            <m:rPr>
                              <m:scr m:val="script"/>
                              <m:sty m:val="p"/>
                            </m:rPr>
                            <a:rPr lang="en-US" sz="2200">
                              <a:solidFill>
                                <a:srgbClr val="111111"/>
                              </a:solidFill>
                              <a:latin typeface="Cambria Math" panose="02040503050406030204" pitchFamily="18" charset="0"/>
                            </a:rPr>
                            <m:t xml:space="preserve">L</m:t>
                          </m:r>
                        </m:e>
                        <m:sub>
                          <m:r>
                            <m:rPr>
                              <m:sty m:val="p"/>
                            </m:rPr>
                            <a:rPr lang="en-US" sz="2200">
                              <a:solidFill>
                                <a:srgbClr val="111111"/>
                              </a:solidFill>
                              <a:latin typeface="Cambria Math" panose="02040503050406030204" pitchFamily="18" charset="0"/>
                            </a:rPr>
                            <m:t xml:space="preserve">ctx</m:t>
                          </m:r>
                        </m:sub>
                      </m:sSub>
                      <m:r>
                        <m:rPr>
                          <m:sty m:val="p"/>
                        </m:rPr>
                        <a:rPr lang="en-US" sz="2200">
                          <a:solidFill>
                            <a:srgbClr val="111111"/>
                          </a:solidFill>
                          <a:latin typeface="Cambria Math" panose="02040503050406030204" pitchFamily="18" charset="0"/>
                        </a:rPr>
                        <m:t xml:space="preserve">+</m:t>
                      </m:r>
                      <m:sSub>
                        <m:sSubPr>
                          <m:ctrlPr>
                            <a:rPr lang="en-US" sz="2200" i="1">
                              <a:solidFill>
                                <a:srgbClr val="111111"/>
                              </a:solidFill>
                              <a:latin typeface="Cambria Math" panose="02040503050406030204" pitchFamily="18" charset="0"/>
                            </a:rPr>
                          </m:ctrlPr>
                        </m:sSubPr>
                        <m:e>
                          <m:r>
                            <a:rPr lang="en-US" sz="2200" i="1">
                              <a:solidFill>
                                <a:srgbClr val="111111"/>
                              </a:solidFill>
                              <a:latin typeface="Cambria Math" panose="02040503050406030204" pitchFamily="18" charset="0"/>
                            </a:rPr>
                            <m:t xml:space="preserve">λ</m:t>
                          </m:r>
                        </m:e>
                        <m:sub>
                          <m:r>
                            <m:rPr>
                              <m:sty m:val="p"/>
                            </m:rPr>
                            <a:rPr lang="en-US" sz="2200">
                              <a:solidFill>
                                <a:srgbClr val="111111"/>
                              </a:solidFill>
                              <a:latin typeface="Cambria Math" panose="02040503050406030204" pitchFamily="18" charset="0"/>
                            </a:rPr>
                            <m:t xml:space="preserve">reg</m:t>
                          </m:r>
                        </m:sub>
                      </m:sSub>
                      <m:r>
                        <m:rPr>
                          <m:sty m:val="p"/>
                        </m:rPr>
                        <a:rPr lang="en-US" sz="2200">
                          <a:solidFill>
                            <a:srgbClr val="111111"/>
                          </a:solidFill>
                          <a:latin typeface="Cambria Math" panose="02040503050406030204" pitchFamily="18" charset="0"/>
                        </a:rPr>
                        <m:t xml:space="preserve"> </m:t>
                      </m:r>
                      <m:sSub>
                        <m:sSubPr>
                          <m:ctrlPr>
                            <a:rPr lang="en-US" sz="2200" i="1">
                              <a:solidFill>
                                <a:srgbClr val="111111"/>
                              </a:solidFill>
                              <a:latin typeface="Cambria Math" panose="02040503050406030204" pitchFamily="18" charset="0"/>
                            </a:rPr>
                          </m:ctrlPr>
                        </m:sSubPr>
                        <m:e>
                          <m:r>
                            <m:rPr>
                              <m:scr m:val="script"/>
                              <m:sty m:val="p"/>
                            </m:rPr>
                            <a:rPr lang="en-US" sz="2200">
                              <a:solidFill>
                                <a:srgbClr val="111111"/>
                              </a:solidFill>
                              <a:latin typeface="Cambria Math" panose="02040503050406030204" pitchFamily="18" charset="0"/>
                            </a:rPr>
                            <m:t xml:space="preserve">L</m:t>
                          </m:r>
                        </m:e>
                        <m:sub>
                          <m:r>
                            <m:rPr>
                              <m:sty m:val="p"/>
                            </m:rPr>
                            <a:rPr lang="en-US" sz="2200">
                              <a:solidFill>
                                <a:srgbClr val="111111"/>
                              </a:solidFill>
                              <a:latin typeface="Cambria Math" panose="02040503050406030204" pitchFamily="18" charset="0"/>
                            </a:rPr>
                            <m:t xml:space="preserve">reg</m:t>
                          </m:r>
                        </m:sub>
                      </m:sSub>
                    </m:oMath>
                  </m:oMathPara>
                </a14:m>
                <a:endParaRPr lang="en-US" sz="2200"/>
              </a:p>
            </p:txBody>
          </p:sp>
        </mc:Choice>
        <mc:Fallback>
          <p:sp>
            <p:nvSpPr>
              <p:cNvPr id="46" name="Equation"/>
              <p:cNvSpPr txBox="1"/>
              <p:nvPr/>
            </p:nvSpPr>
            <p:spPr>
              <a:xfrm>
                <a:off x="4686300" y="8790220"/>
                <a:ext cx="9372600" cy="609811"/>
              </a:xfrm>
              <a:prstGeom prst="rect">
                <a:avLst/>
              </a:prstGeom>
              <a:blipFill>
                <a:blip r:embed="rId10"/>
                <a:stretch>
                  <a:fillRect/>
                </a:stretch>
              </a:blipFill>
            </p:spPr>
            <p:txBody>
              <a:bodyPr/>
              <a:lstStyle/>
              <a:p>
                <a:endParaRPr lang="en-US"/>
              </a:p>
            </p:txBody>
          </p:sp>
        </mc:Fallback>
      </mc:AlternateContent>
      <p:sp>
        <p:nvSpPr>
          <p:cNvPr id="47" name="TextBox 46"/>
          <p:cNvSpPr txBox="1"/>
          <p:nvPr/>
        </p:nvSpPr>
        <p:spPr>
          <a:xfrm>
            <a:off x="14241780" y="8790220"/>
            <a:ext cx="2743200" cy="609811"/>
          </a:xfrm>
          <a:prstGeom prst="rect">
            <a:avLst/>
          </a:prstGeom>
          <a:noFill/>
        </p:spPr>
        <p:txBody>
          <a:bodyPr anchor="ctr" rtlCol="false" lIns="0" tIns="0" rIns="0" bIns="0" wrap="square"/>
          <a:lstStyle/>
          <a:p>
            <a:pPr algn="r">
              <a:lnSpc>
                <a:spcPts val="1800"/>
              </a:lnSpc>
              <a:spcBef>
                <a:spcPts val="0"/>
              </a:spcBef>
              <a:buNone/>
            </a:pPr>
            <a:r>
              <a:rPr lang="en-US" sz="1500" b="true">
                <a:solidFill>
                  <a:srgbClr val="8A8378"/>
                </a:solidFill>
                <a:latin typeface="Nunito Semi-Bold"/>
                <a:ea typeface="Nunito Semi-Bold"/>
                <a:cs typeface="Nunito Semi-Bold"/>
                <a:sym typeface="Nunito Semi-Bold"/>
              </a:rPr>
              <a:t>BPR + diversity + context + L2</a:t>
            </a:r>
          </a:p>
        </p:txBody>
      </p:sp>
    </p:spTree>
  </p:cSld>
  <p:clrMapOvr>
    <a:masterClrMapping/>
  </p:clrMapOvr>
</p:sld>
</file>

<file path=ppt/slides/slide7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pic>
        <p:nvPicPr>
          <p:cNvPr id="2" name="Picture 1" descr="ensias_logo.jpg"/>
          <p:cNvPicPr>
            <a:picLocks noChangeAspect="1"/>
          </p:cNvPicPr>
          <p:nvPr/>
        </p:nvPicPr>
        <p:blipFill>
          <a:blip r:embed="rId2"/>
          <a:stretch>
            <a:fillRect/>
          </a:stretch>
        </p:blipFill>
        <p:spPr>
          <a:xfrm>
            <a:off x="1028700" y="9674352"/>
            <a:ext cx="542964" cy="384048"/>
          </a:xfrm>
          <a:prstGeom prst="rect">
            <a:avLst/>
          </a:prstGeom>
        </p:spPr>
      </p:pic>
      <p:sp>
        <p:nvSpPr>
          <p:cNvPr id="3" name="TextBox 2"/>
          <p:cNvSpPr txBox="1"/>
          <p:nvPr/>
        </p:nvSpPr>
        <p:spPr>
          <a:xfrm>
            <a:off x="1577340" y="9601200"/>
            <a:ext cx="14493240" cy="566928"/>
          </a:xfrm>
          <a:prstGeom prst="rect">
            <a:avLst/>
          </a:prstGeom>
          <a:noFill/>
        </p:spPr>
        <p:txBody>
          <a:bodyPr anchor="ctr" rtlCol="false" lIns="0" tIns="0" rIns="0" bIns="0" wrap="square"/>
          <a:lstStyle/>
          <a:p>
            <a:pPr algn="l">
              <a:lnSpc>
                <a:spcPts val="1200"/>
              </a:lnSpc>
              <a:spcBef>
                <a:spcPts val="0"/>
              </a:spcBef>
              <a:buNone/>
            </a:pPr>
            <a:r>
              <a:rPr lang="en-US" sz="1000" b="true">
                <a:solidFill>
                  <a:srgbClr val="8A8378"/>
                </a:solidFill>
                <a:latin typeface="Nunito Semi-Bold"/>
                <a:ea typeface="Nunito Semi-Bold"/>
                <a:cs typeface="Nunito Semi-Bold"/>
                <a:sym typeface="Nunito Semi-Bold"/>
              </a:rPr>
              <a:t>[20] Harper, F. M. &amp; Konstan, J. A. The MovieLens Datasets: History and Context. ACM TiiS 5(4), 19 (2015).  ·  McAuley, J. et al. Amazon Review Data (Amazon-Book). UCSD (2018).   [27] Holm, S. A Simple Sequentially Rejective Multiple Test Procedure. Scand. J. Statist. 6(2), 65–70 (1979).  ·  Cohen, J. Statistical Power Analysis for the Behavioral Sciences (1988).</a:t>
            </a:r>
          </a:p>
        </p:txBody>
      </p:sp>
      <p:sp>
        <p:nvSpPr>
          <p:cNvPr id="4" name="TextBox 3"/>
          <p:cNvSpPr txBox="1"/>
          <p:nvPr/>
        </p:nvSpPr>
        <p:spPr>
          <a:xfrm>
            <a:off x="16162020" y="9692640"/>
            <a:ext cx="1097280" cy="329184"/>
          </a:xfrm>
          <a:prstGeom prst="rect">
            <a:avLst/>
          </a:prstGeom>
          <a:noFill/>
        </p:spPr>
        <p:txBody>
          <a:bodyPr anchor="t" rtlCol="false" lIns="0" tIns="0" rIns="0" bIns="0" wrap="square"/>
          <a:lstStyle/>
          <a:p>
            <a:pPr algn="r">
              <a:lnSpc>
                <a:spcPts val="2200"/>
              </a:lnSpc>
              <a:spcBef>
                <a:spcPts val="0"/>
              </a:spcBef>
              <a:buNone/>
            </a:pPr>
            <a:r>
              <a:rPr lang="en-US" sz="1800" b="true">
                <a:solidFill>
                  <a:srgbClr val="111111"/>
                </a:solidFill>
                <a:latin typeface="Nunito Ultra-Bold"/>
                <a:ea typeface="Nunito Ultra-Bold"/>
                <a:cs typeface="Nunito Ultra-Bold"/>
                <a:sym typeface="Nunito Ultra-Bold"/>
              </a:rPr>
              <a:t>57</a:t>
            </a:r>
          </a:p>
        </p:txBody>
      </p:sp>
      <p:sp>
        <p:nvSpPr>
          <p:cNvPr id="5" name="TextBox 4"/>
          <p:cNvSpPr txBox="1"/>
          <p:nvPr/>
        </p:nvSpPr>
        <p:spPr>
          <a:xfrm>
            <a:off x="1028700" y="1389888"/>
            <a:ext cx="12938760" cy="329184"/>
          </a:xfrm>
          <a:prstGeom prst="rect">
            <a:avLst/>
          </a:prstGeom>
          <a:noFill/>
        </p:spPr>
        <p:txBody>
          <a:bodyPr anchor="t" rtlCol="false" lIns="0" tIns="0" rIns="0" bIns="0" wrap="square"/>
          <a:lstStyle/>
          <a:p>
            <a:pPr algn="l">
              <a:lnSpc>
                <a:spcPts val="2000"/>
              </a:lnSpc>
              <a:spcBef>
                <a:spcPts val="0"/>
              </a:spcBef>
              <a:buNone/>
            </a:pPr>
            <a:r>
              <a:rPr lang="en-US" sz="1500" b="true" spc="160">
                <a:solidFill>
                  <a:srgbClr val="1F7A8C"/>
                </a:solidFill>
                <a:latin typeface="Nunito Ultra-Bold"/>
                <a:ea typeface="Nunito Ultra-Bold"/>
                <a:cs typeface="Nunito Ultra-Bold"/>
                <a:sym typeface="Nunito Ultra-Bold"/>
              </a:rPr>
              <a:t>CONTRIBUTION III: DYHUCOG, A DYNAMIC HYPERGRAPH COOPERATIVE GAME</a:t>
            </a:r>
          </a:p>
        </p:txBody>
      </p:sp>
      <p:sp>
        <p:nvSpPr>
          <p:cNvPr id="6" name="Rounded Rectangle 5"/>
          <p:cNvSpPr/>
          <p:nvPr/>
        </p:nvSpPr>
        <p:spPr>
          <a:xfrm>
            <a:off x="14516100"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7" name="TextBox 6"/>
          <p:cNvSpPr txBox="1"/>
          <p:nvPr/>
        </p:nvSpPr>
        <p:spPr>
          <a:xfrm>
            <a:off x="14516100"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1</a:t>
            </a:r>
          </a:p>
        </p:txBody>
      </p:sp>
      <p:sp>
        <p:nvSpPr>
          <p:cNvPr id="8" name="Rounded Rectangle 7"/>
          <p:cNvSpPr/>
          <p:nvPr/>
        </p:nvSpPr>
        <p:spPr>
          <a:xfrm>
            <a:off x="14918436"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9" name="TextBox 8"/>
          <p:cNvSpPr txBox="1"/>
          <p:nvPr/>
        </p:nvSpPr>
        <p:spPr>
          <a:xfrm>
            <a:off x="14918436"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2</a:t>
            </a:r>
          </a:p>
        </p:txBody>
      </p:sp>
      <p:sp>
        <p:nvSpPr>
          <p:cNvPr id="10" name="Rounded Rectangle 9"/>
          <p:cNvSpPr/>
          <p:nvPr/>
        </p:nvSpPr>
        <p:spPr>
          <a:xfrm>
            <a:off x="15320772"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11" name="TextBox 10"/>
          <p:cNvSpPr txBox="1"/>
          <p:nvPr/>
        </p:nvSpPr>
        <p:spPr>
          <a:xfrm>
            <a:off x="15320772"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3</a:t>
            </a:r>
          </a:p>
        </p:txBody>
      </p:sp>
      <p:sp>
        <p:nvSpPr>
          <p:cNvPr id="12" name="Rounded Rectangle 11"/>
          <p:cNvSpPr/>
          <p:nvPr/>
        </p:nvSpPr>
        <p:spPr>
          <a:xfrm>
            <a:off x="15723108"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13" name="TextBox 12"/>
          <p:cNvSpPr txBox="1"/>
          <p:nvPr/>
        </p:nvSpPr>
        <p:spPr>
          <a:xfrm>
            <a:off x="15723108"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4</a:t>
            </a:r>
          </a:p>
        </p:txBody>
      </p:sp>
      <p:sp>
        <p:nvSpPr>
          <p:cNvPr id="14" name="Rounded Rectangle 13"/>
          <p:cNvSpPr/>
          <p:nvPr/>
        </p:nvSpPr>
        <p:spPr>
          <a:xfrm>
            <a:off x="16125444"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15" name="TextBox 14"/>
          <p:cNvSpPr txBox="1"/>
          <p:nvPr/>
        </p:nvSpPr>
        <p:spPr>
          <a:xfrm>
            <a:off x="16125444"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5</a:t>
            </a:r>
          </a:p>
        </p:txBody>
      </p:sp>
      <p:sp>
        <p:nvSpPr>
          <p:cNvPr id="16" name="Rounded Rectangle 15"/>
          <p:cNvSpPr/>
          <p:nvPr/>
        </p:nvSpPr>
        <p:spPr>
          <a:xfrm>
            <a:off x="16527780" y="1371600"/>
            <a:ext cx="329184" cy="329184"/>
          </a:xfrm>
          <a:prstGeom prst="roundRect">
            <a:avLst>
              <a:gd name="adj" fmla="val 16666"/>
            </a:avLst>
          </a:prstGeom>
          <a:solidFill>
            <a:srgbClr val="4472C4"/>
          </a:solidFill>
          <a:ln w="15875">
            <a:solidFill>
              <a:srgbClr val="4472C4"/>
            </a:solidFill>
          </a:ln>
        </p:spPr>
        <p:txBody>
          <a:bodyPr anchor="ctr" rtlCol="false" lIns="0" tIns="0" rIns="0" bIns="0" wrap="square"/>
          <a:lstStyle/>
          <a:p>
            <a:endParaRPr lang="en-US" sz="1800"/>
          </a:p>
        </p:txBody>
      </p:sp>
      <p:sp>
        <p:nvSpPr>
          <p:cNvPr id="17" name="TextBox 16"/>
          <p:cNvSpPr txBox="1"/>
          <p:nvPr/>
        </p:nvSpPr>
        <p:spPr>
          <a:xfrm>
            <a:off x="16527780"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FFFFFF"/>
                </a:solidFill>
                <a:latin typeface="Nunito Ultra-Bold"/>
                <a:ea typeface="Nunito Ultra-Bold"/>
                <a:cs typeface="Nunito Ultra-Bold"/>
                <a:sym typeface="Nunito Ultra-Bold"/>
              </a:rPr>
              <a:t>6</a:t>
            </a:r>
          </a:p>
        </p:txBody>
      </p:sp>
      <p:sp>
        <p:nvSpPr>
          <p:cNvPr id="18" name="Rounded Rectangle 17"/>
          <p:cNvSpPr/>
          <p:nvPr/>
        </p:nvSpPr>
        <p:spPr>
          <a:xfrm>
            <a:off x="16930116"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19" name="TextBox 18"/>
          <p:cNvSpPr txBox="1"/>
          <p:nvPr/>
        </p:nvSpPr>
        <p:spPr>
          <a:xfrm>
            <a:off x="16930116"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7</a:t>
            </a:r>
          </a:p>
        </p:txBody>
      </p:sp>
      <p:sp>
        <p:nvSpPr>
          <p:cNvPr id="20" name="TextBox 19"/>
          <p:cNvSpPr txBox="1"/>
          <p:nvPr/>
        </p:nvSpPr>
        <p:spPr>
          <a:xfrm>
            <a:off x="1028700" y="1719072"/>
            <a:ext cx="16230600" cy="730250"/>
          </a:xfrm>
          <a:prstGeom prst="rect">
            <a:avLst/>
          </a:prstGeom>
          <a:noFill/>
        </p:spPr>
        <p:txBody>
          <a:bodyPr anchor="t" rtlCol="false" lIns="0" tIns="0" rIns="0" bIns="0" wrap="square"/>
          <a:lstStyle/>
          <a:p>
            <a:pPr algn="l">
              <a:lnSpc>
                <a:spcPts val="5060"/>
              </a:lnSpc>
              <a:spcBef>
                <a:spcPts val="0"/>
              </a:spcBef>
              <a:buNone/>
            </a:pPr>
            <a:r>
              <a:rPr lang="en-US" sz="4600" b="true" spc="-230">
                <a:solidFill>
                  <a:srgbClr val="111111"/>
                </a:solidFill>
                <a:latin typeface="Roca Two Bold"/>
                <a:ea typeface="Roca Two Bold"/>
                <a:cs typeface="Roca Two Bold"/>
                <a:sym typeface="Roca Two Bold"/>
              </a:rPr>
              <a:t>Evaluation Protocol</a:t>
            </a:r>
          </a:p>
        </p:txBody>
      </p:sp>
      <p:sp>
        <p:nvSpPr>
          <p:cNvPr id="21" name="Rounded Rectangle 20"/>
          <p:cNvSpPr/>
          <p:nvPr/>
        </p:nvSpPr>
        <p:spPr>
          <a:xfrm>
            <a:off x="1028700" y="2559050"/>
            <a:ext cx="1691553" cy="420624"/>
          </a:xfrm>
          <a:prstGeom prst="roundRect">
            <a:avLst>
              <a:gd name="adj" fmla="val 50000"/>
            </a:avLst>
          </a:prstGeom>
          <a:noFill/>
          <a:ln w="28575">
            <a:solidFill>
              <a:srgbClr val="4472C4"/>
            </a:solidFill>
          </a:ln>
        </p:spPr>
        <p:txBody>
          <a:bodyPr anchor="ctr" rtlCol="false" lIns="45720" tIns="0" rIns="45720" bIns="0" wrap="square"/>
          <a:lstStyle/>
          <a:p>
            <a:pPr algn="ctr">
              <a:lnSpc>
                <a:spcPts val="2160"/>
              </a:lnSpc>
              <a:spcBef>
                <a:spcPts val="0"/>
              </a:spcBef>
              <a:buNone/>
            </a:pPr>
            <a:r>
              <a:rPr lang="en-US" sz="1800" b="true">
                <a:solidFill>
                  <a:srgbClr val="4472C4"/>
                </a:solidFill>
                <a:latin typeface="Nunito Bold"/>
                <a:ea typeface="Nunito Bold"/>
                <a:cs typeface="Nunito Bold"/>
                <a:sym typeface="Nunito Bold"/>
              </a:rPr>
              <a:t>Objectives</a:t>
            </a:r>
          </a:p>
        </p:txBody>
      </p:sp>
      <p:sp>
        <p:nvSpPr>
          <p:cNvPr id="22" name="Rounded Rectangle 21"/>
          <p:cNvSpPr/>
          <p:nvPr/>
        </p:nvSpPr>
        <p:spPr>
          <a:xfrm>
            <a:off x="2848269" y="2559050"/>
            <a:ext cx="1998119" cy="420624"/>
          </a:xfrm>
          <a:prstGeom prst="roundRect">
            <a:avLst>
              <a:gd name="adj" fmla="val 50000"/>
            </a:avLst>
          </a:prstGeom>
          <a:noFill/>
          <a:ln w="28575">
            <a:solidFill>
              <a:srgbClr val="4472C4"/>
            </a:solidFill>
          </a:ln>
        </p:spPr>
        <p:txBody>
          <a:bodyPr anchor="ctr" rtlCol="false" lIns="45720" tIns="0" rIns="45720" bIns="0" wrap="square"/>
          <a:lstStyle/>
          <a:p>
            <a:pPr algn="ctr">
              <a:lnSpc>
                <a:spcPts val="2160"/>
              </a:lnSpc>
              <a:spcBef>
                <a:spcPts val="0"/>
              </a:spcBef>
              <a:buNone/>
            </a:pPr>
            <a:r>
              <a:rPr lang="en-US" sz="1800" b="true">
                <a:solidFill>
                  <a:srgbClr val="4472C4"/>
                </a:solidFill>
                <a:latin typeface="Nunito Bold"/>
                <a:ea typeface="Nunito Bold"/>
                <a:cs typeface="Nunito Bold"/>
                <a:sym typeface="Nunito Bold"/>
              </a:rPr>
              <a:t>Methodology</a:t>
            </a:r>
          </a:p>
        </p:txBody>
      </p:sp>
      <p:sp>
        <p:nvSpPr>
          <p:cNvPr id="23" name="Rounded Rectangle 22"/>
          <p:cNvSpPr/>
          <p:nvPr/>
        </p:nvSpPr>
        <p:spPr>
          <a:xfrm>
            <a:off x="4974404" y="2559050"/>
            <a:ext cx="1369446" cy="420624"/>
          </a:xfrm>
          <a:prstGeom prst="roundRect">
            <a:avLst>
              <a:gd name="adj" fmla="val 50000"/>
            </a:avLst>
          </a:prstGeom>
          <a:solidFill>
            <a:srgbClr val="4472C4"/>
          </a:solidFill>
          <a:ln>
            <a:noFill/>
          </a:ln>
        </p:spPr>
        <p:txBody>
          <a:bodyPr anchor="ctr" rtlCol="false" lIns="45720" tIns="0" rIns="45720" bIns="0" wrap="square"/>
          <a:lstStyle/>
          <a:p>
            <a:pPr algn="ctr">
              <a:lnSpc>
                <a:spcPts val="2160"/>
              </a:lnSpc>
              <a:spcBef>
                <a:spcPts val="0"/>
              </a:spcBef>
              <a:buNone/>
            </a:pPr>
            <a:r>
              <a:rPr lang="en-US" sz="1800" b="true">
                <a:solidFill>
                  <a:srgbClr val="FFFFFF"/>
                </a:solidFill>
                <a:latin typeface="Nunito Bold"/>
                <a:ea typeface="Nunito Bold"/>
                <a:cs typeface="Nunito Bold"/>
                <a:sym typeface="Nunito Bold"/>
              </a:rPr>
              <a:t>Results</a:t>
            </a:r>
          </a:p>
        </p:txBody>
      </p:sp>
      <p:sp>
        <p:nvSpPr>
          <p:cNvPr id="24" name="Rounded Rectangle 23"/>
          <p:cNvSpPr/>
          <p:nvPr/>
        </p:nvSpPr>
        <p:spPr>
          <a:xfrm>
            <a:off x="6471866" y="2559050"/>
            <a:ext cx="1474931" cy="420624"/>
          </a:xfrm>
          <a:prstGeom prst="roundRect">
            <a:avLst>
              <a:gd name="adj" fmla="val 50000"/>
            </a:avLst>
          </a:prstGeom>
          <a:noFill/>
          <a:ln w="28575">
            <a:solidFill>
              <a:srgbClr val="4472C4"/>
            </a:solidFill>
          </a:ln>
        </p:spPr>
        <p:txBody>
          <a:bodyPr anchor="ctr" rtlCol="false" lIns="45720" tIns="0" rIns="45720" bIns="0" wrap="square"/>
          <a:lstStyle/>
          <a:p>
            <a:pPr algn="ctr">
              <a:lnSpc>
                <a:spcPts val="2160"/>
              </a:lnSpc>
              <a:spcBef>
                <a:spcPts val="0"/>
              </a:spcBef>
              <a:buNone/>
            </a:pPr>
            <a:r>
              <a:rPr lang="en-US" sz="1800" b="true">
                <a:solidFill>
                  <a:srgbClr val="4472C4"/>
                </a:solidFill>
                <a:latin typeface="Nunito Bold"/>
                <a:ea typeface="Nunito Bold"/>
                <a:cs typeface="Nunito Bold"/>
                <a:sym typeface="Nunito Bold"/>
              </a:rPr>
              <a:t>Findings</a:t>
            </a:r>
          </a:p>
        </p:txBody>
      </p:sp>
      <p:graphicFrame>
        <p:nvGraphicFramePr>
          <p:cNvPr id="25" name="Table 24"/>
          <p:cNvGraphicFramePr>
            <a:graphicFrameLocks noGrp="1"/>
          </p:cNvGraphicFramePr>
          <p:nvPr/>
        </p:nvGraphicFramePr>
        <p:xfrm>
          <a:off x="1028700" y="3363722"/>
          <a:ext cx="9966960" cy="5073396"/>
        </p:xfrm>
        <a:graphic>
          <a:graphicData uri="http://schemas.openxmlformats.org/drawingml/2006/table">
            <a:tbl>
              <a:tblPr firstRow="0" bandRow="0" firstCol="0" lastRow="0" lastCol="0" bandCol="0">
                <a:tableStyleId>{2D5ABB26-0587-4C30-8999-92F81FD0307C}</a:tableStyleId>
              </a:tblPr>
              <a:tblGrid>
                <a:gridCol w="2377440"/>
                <a:gridCol w="7589520"/>
              </a:tblGrid>
              <a:tr h="548640">
                <a:tc>
                  <a:txBody>
                    <a:bodyPr anchor="ctr" rtlCol="false" lIns="0" tIns="0" rIns="0" bIns="0" wrap="square"/>
                    <a:lstStyle/>
                    <a:p>
                      <a:pPr algn="l">
                        <a:lnSpc>
                          <a:spcPts val="2210"/>
                        </a:lnSpc>
                        <a:spcBef>
                          <a:spcPts val="0"/>
                        </a:spcBef>
                        <a:buNone/>
                      </a:pPr>
                      <a:r>
                        <a:rPr lang="en-US" sz="1700" b="true">
                          <a:solidFill>
                            <a:srgbClr val="FFFFFF"/>
                          </a:solidFill>
                          <a:latin typeface="Nunito Bold"/>
                          <a:ea typeface="Nunito Bold"/>
                          <a:cs typeface="Nunito Bold"/>
                          <a:sym typeface="Nunito Bold"/>
                        </a:rPr>
                        <a:t>Step</a:t>
                      </a:r>
                    </a:p>
                  </a:txBody>
                  <a:tcPr marL="82296" marR="82296" marT="45720" marB="45720" anchor="ctr">
                    <a:lnL w="12700" cap="flat" cmpd="sng" algn="ctr">
                      <a:solidFill>
                        <a:srgbClr val="4472C4"/>
                      </a:solidFill>
                      <a:prstDash val="solid"/>
                    </a:lnL>
                    <a:lnR w="12700" cap="flat" cmpd="sng" algn="ctr">
                      <a:solidFill>
                        <a:srgbClr val="4472C4"/>
                      </a:solidFill>
                      <a:prstDash val="solid"/>
                    </a:lnR>
                    <a:lnT w="12700" cap="flat" cmpd="sng" algn="ctr">
                      <a:solidFill>
                        <a:srgbClr val="4472C4"/>
                      </a:solidFill>
                      <a:prstDash val="solid"/>
                    </a:lnT>
                    <a:lnB w="12700" cap="flat" cmpd="sng" algn="ctr">
                      <a:solidFill>
                        <a:srgbClr val="4472C4"/>
                      </a:solidFill>
                      <a:prstDash val="solid"/>
                    </a:lnB>
                    <a:solidFill>
                      <a:srgbClr val="4472C4"/>
                    </a:solidFill>
                  </a:tcPr>
                </a:tc>
                <a:tc>
                  <a:txBody>
                    <a:bodyPr anchor="ctr" rtlCol="false" lIns="0" tIns="0" rIns="0" bIns="0" wrap="square"/>
                    <a:lstStyle/>
                    <a:p>
                      <a:pPr algn="l">
                        <a:lnSpc>
                          <a:spcPts val="2210"/>
                        </a:lnSpc>
                        <a:spcBef>
                          <a:spcPts val="0"/>
                        </a:spcBef>
                        <a:buNone/>
                      </a:pPr>
                      <a:r>
                        <a:rPr lang="en-US" sz="1700" b="true">
                          <a:solidFill>
                            <a:srgbClr val="FFFFFF"/>
                          </a:solidFill>
                          <a:latin typeface="Nunito Bold"/>
                          <a:ea typeface="Nunito Bold"/>
                          <a:cs typeface="Nunito Bold"/>
                          <a:sym typeface="Nunito Bold"/>
                        </a:rPr>
                        <a:t>Setting used in this contribution</a:t>
                      </a:r>
                    </a:p>
                  </a:txBody>
                  <a:tcPr marL="82296" marR="82296" marT="45720" marB="45720" anchor="ctr">
                    <a:lnL w="12700" cap="flat" cmpd="sng" algn="ctr">
                      <a:solidFill>
                        <a:srgbClr val="4472C4"/>
                      </a:solidFill>
                      <a:prstDash val="solid"/>
                    </a:lnL>
                    <a:lnR w="12700" cap="flat" cmpd="sng" algn="ctr">
                      <a:solidFill>
                        <a:srgbClr val="4472C4"/>
                      </a:solidFill>
                      <a:prstDash val="solid"/>
                    </a:lnR>
                    <a:lnT w="12700" cap="flat" cmpd="sng" algn="ctr">
                      <a:solidFill>
                        <a:srgbClr val="4472C4"/>
                      </a:solidFill>
                      <a:prstDash val="solid"/>
                    </a:lnT>
                    <a:lnB w="12700" cap="flat" cmpd="sng" algn="ctr">
                      <a:solidFill>
                        <a:srgbClr val="4472C4"/>
                      </a:solidFill>
                      <a:prstDash val="solid"/>
                    </a:lnB>
                    <a:solidFill>
                      <a:srgbClr val="4472C4"/>
                    </a:solidFill>
                  </a:tcPr>
                </a:tc>
              </a:tr>
              <a:tr h="776732">
                <a:tc>
                  <a:txBody>
                    <a:bodyPr anchor="ctr" rtlCol="false" lIns="0" tIns="0" rIns="0" bIns="0" wrap="square"/>
                    <a:lstStyle/>
                    <a:p>
                      <a:pPr algn="l">
                        <a:lnSpc>
                          <a:spcPts val="2210"/>
                        </a:lnSpc>
                        <a:spcBef>
                          <a:spcPts val="0"/>
                        </a:spcBef>
                        <a:buNone/>
                      </a:pPr>
                      <a:r>
                        <a:rPr lang="en-US" sz="1700" b="true">
                          <a:solidFill>
                            <a:srgbClr val="111111"/>
                          </a:solidFill>
                          <a:latin typeface="Nunito Bold"/>
                          <a:ea typeface="Nunito Bold"/>
                          <a:cs typeface="Nunito Bold"/>
                          <a:sym typeface="Nunito Bold"/>
                        </a:rPr>
                        <a:t>Datasets</a:t>
                      </a:r>
                    </a:p>
                  </a:txBody>
                  <a:tcPr marL="82296" marR="82296"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c>
                  <a:txBody>
                    <a:bodyPr anchor="ctr" rtlCol="false" lIns="0" tIns="0" rIns="0" bIns="0" wrap="square"/>
                    <a:lstStyle/>
                    <a:p>
                      <a:pPr algn="l">
                        <a:lnSpc>
                          <a:spcPts val="2210"/>
                        </a:lnSpc>
                        <a:spcBef>
                          <a:spcPts val="0"/>
                        </a:spcBef>
                        <a:buNone/>
                      </a:pPr>
                      <a:r>
                        <a:rPr lang="en-US" sz="1700" b="true">
                          <a:solidFill>
                            <a:srgbClr val="111111"/>
                          </a:solidFill>
                          <a:latin typeface="Nunito Semi-Bold"/>
                          <a:ea typeface="Nunito Semi-Bold"/>
                          <a:cs typeface="Nunito Semi-Bold"/>
                          <a:sym typeface="Nunito Semi-Bold"/>
                        </a:rPr>
                        <a:t>MovieLens-1M (dense, 0.0447) and Amazon-Book (sparse, 0.0006); Yelp2018 as a check</a:t>
                      </a:r>
                    </a:p>
                  </a:txBody>
                  <a:tcPr marL="82296" marR="82296"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r>
              <a:tr h="548640">
                <a:tc>
                  <a:txBody>
                    <a:bodyPr anchor="ctr" rtlCol="false" lIns="0" tIns="0" rIns="0" bIns="0" wrap="square"/>
                    <a:lstStyle/>
                    <a:p>
                      <a:pPr algn="l">
                        <a:lnSpc>
                          <a:spcPts val="2210"/>
                        </a:lnSpc>
                        <a:spcBef>
                          <a:spcPts val="0"/>
                        </a:spcBef>
                        <a:buNone/>
                      </a:pPr>
                      <a:r>
                        <a:rPr lang="en-US" sz="1700" b="true">
                          <a:solidFill>
                            <a:srgbClr val="111111"/>
                          </a:solidFill>
                          <a:latin typeface="Nunito Bold"/>
                          <a:ea typeface="Nunito Bold"/>
                          <a:cs typeface="Nunito Bold"/>
                          <a:sym typeface="Nunito Bold"/>
                        </a:rPr>
                        <a:t>Split</a:t>
                      </a:r>
                    </a:p>
                  </a:txBody>
                  <a:tcPr marL="82296" marR="82296"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6ECDF"/>
                    </a:solidFill>
                  </a:tcPr>
                </a:tc>
                <a:tc>
                  <a:txBody>
                    <a:bodyPr anchor="ctr" rtlCol="false" lIns="0" tIns="0" rIns="0" bIns="0" wrap="square"/>
                    <a:lstStyle/>
                    <a:p>
                      <a:pPr algn="l">
                        <a:lnSpc>
                          <a:spcPts val="2210"/>
                        </a:lnSpc>
                        <a:spcBef>
                          <a:spcPts val="0"/>
                        </a:spcBef>
                        <a:buNone/>
                      </a:pPr>
                      <a:r>
                        <a:rPr lang="en-US" sz="1700" b="true">
                          <a:solidFill>
                            <a:srgbClr val="111111"/>
                          </a:solidFill>
                          <a:latin typeface="Nunito Semi-Bold"/>
                          <a:ea typeface="Nunito Semi-Bold"/>
                          <a:cs typeface="Nunito Semi-Bold"/>
                          <a:sym typeface="Nunito Semi-Bold"/>
                        </a:rPr>
                        <a:t>User-level, time-ordered 70 / 10 / 20; leave-one-out target per user</a:t>
                      </a:r>
                    </a:p>
                  </a:txBody>
                  <a:tcPr marL="82296" marR="82296"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6ECDF"/>
                    </a:solidFill>
                  </a:tcPr>
                </a:tc>
              </a:tr>
              <a:tr h="548640">
                <a:tc>
                  <a:txBody>
                    <a:bodyPr anchor="ctr" rtlCol="false" lIns="0" tIns="0" rIns="0" bIns="0" wrap="square"/>
                    <a:lstStyle/>
                    <a:p>
                      <a:pPr algn="l">
                        <a:lnSpc>
                          <a:spcPts val="2210"/>
                        </a:lnSpc>
                        <a:spcBef>
                          <a:spcPts val="0"/>
                        </a:spcBef>
                        <a:buNone/>
                      </a:pPr>
                      <a:r>
                        <a:rPr lang="en-US" sz="1700" b="true">
                          <a:solidFill>
                            <a:srgbClr val="111111"/>
                          </a:solidFill>
                          <a:latin typeface="Nunito Bold"/>
                          <a:ea typeface="Nunito Bold"/>
                          <a:cs typeface="Nunito Bold"/>
                          <a:sym typeface="Nunito Bold"/>
                        </a:rPr>
                        <a:t>Baselines</a:t>
                      </a:r>
                    </a:p>
                  </a:txBody>
                  <a:tcPr marL="82296" marR="82296"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c>
                  <a:txBody>
                    <a:bodyPr anchor="ctr" rtlCol="false" lIns="0" tIns="0" rIns="0" bIns="0" wrap="square"/>
                    <a:lstStyle/>
                    <a:p>
                      <a:pPr algn="l">
                        <a:lnSpc>
                          <a:spcPts val="2210"/>
                        </a:lnSpc>
                        <a:spcBef>
                          <a:spcPts val="0"/>
                        </a:spcBef>
                        <a:buNone/>
                      </a:pPr>
                      <a:r>
                        <a:rPr lang="en-US" sz="1700" b="true">
                          <a:solidFill>
                            <a:srgbClr val="111111"/>
                          </a:solidFill>
                          <a:latin typeface="Nunito Semi-Bold"/>
                          <a:ea typeface="Nunito Semi-Bold"/>
                          <a:cs typeface="Nunito Semi-Bold"/>
                          <a:sym typeface="Nunito Semi-Bold"/>
                        </a:rPr>
                        <a:t>MF, NCF, LightGCN, RecDCL, HCCF, HPCF (strongest reference)</a:t>
                      </a:r>
                    </a:p>
                  </a:txBody>
                  <a:tcPr marL="82296" marR="82296"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r>
              <a:tr h="548640">
                <a:tc>
                  <a:txBody>
                    <a:bodyPr anchor="ctr" rtlCol="false" lIns="0" tIns="0" rIns="0" bIns="0" wrap="square"/>
                    <a:lstStyle/>
                    <a:p>
                      <a:pPr algn="l">
                        <a:lnSpc>
                          <a:spcPts val="2210"/>
                        </a:lnSpc>
                        <a:spcBef>
                          <a:spcPts val="0"/>
                        </a:spcBef>
                        <a:buNone/>
                      </a:pPr>
                      <a:r>
                        <a:rPr lang="en-US" sz="1700" b="true">
                          <a:solidFill>
                            <a:srgbClr val="111111"/>
                          </a:solidFill>
                          <a:latin typeface="Nunito Bold"/>
                          <a:ea typeface="Nunito Bold"/>
                          <a:cs typeface="Nunito Bold"/>
                          <a:sym typeface="Nunito Bold"/>
                        </a:rPr>
                        <a:t>Metrics</a:t>
                      </a:r>
                    </a:p>
                  </a:txBody>
                  <a:tcPr marL="82296" marR="82296"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6ECDF"/>
                    </a:solidFill>
                  </a:tcPr>
                </a:tc>
                <a:tc>
                  <a:txBody>
                    <a:bodyPr anchor="ctr" rtlCol="false" lIns="0" tIns="0" rIns="0" bIns="0" wrap="square"/>
                    <a:lstStyle/>
                    <a:p>
                      <a:pPr algn="l">
                        <a:lnSpc>
                          <a:spcPts val="2210"/>
                        </a:lnSpc>
                        <a:spcBef>
                          <a:spcPts val="0"/>
                        </a:spcBef>
                        <a:buNone/>
                      </a:pPr>
                      <a:r>
                        <a:rPr lang="en-US" sz="1700" b="true">
                          <a:solidFill>
                            <a:srgbClr val="111111"/>
                          </a:solidFill>
                          <a:latin typeface="Nunito Semi-Bold"/>
                          <a:ea typeface="Nunito Semi-Bold"/>
                          <a:cs typeface="Nunito Semi-Bold"/>
                          <a:sym typeface="Nunito Semi-Bold"/>
                        </a:rPr>
                        <a:t>NDCG@20 (main), Recall@20, Catalogue Coverage, Intra-List Diversity</a:t>
                      </a:r>
                    </a:p>
                  </a:txBody>
                  <a:tcPr marL="82296" marR="82296"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6ECDF"/>
                    </a:solidFill>
                  </a:tcPr>
                </a:tc>
              </a:tr>
              <a:tr h="548640">
                <a:tc>
                  <a:txBody>
                    <a:bodyPr anchor="ctr" rtlCol="false" lIns="0" tIns="0" rIns="0" bIns="0" wrap="square"/>
                    <a:lstStyle/>
                    <a:p>
                      <a:pPr algn="l">
                        <a:lnSpc>
                          <a:spcPts val="2210"/>
                        </a:lnSpc>
                        <a:spcBef>
                          <a:spcPts val="0"/>
                        </a:spcBef>
                        <a:buNone/>
                      </a:pPr>
                      <a:r>
                        <a:rPr lang="en-US" sz="1700" b="true">
                          <a:solidFill>
                            <a:srgbClr val="111111"/>
                          </a:solidFill>
                          <a:latin typeface="Nunito Bold"/>
                          <a:ea typeface="Nunito Bold"/>
                          <a:cs typeface="Nunito Bold"/>
                          <a:sym typeface="Nunito Bold"/>
                        </a:rPr>
                        <a:t>Repeats</a:t>
                      </a:r>
                    </a:p>
                  </a:txBody>
                  <a:tcPr marL="82296" marR="82296"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c>
                  <a:txBody>
                    <a:bodyPr anchor="ctr" rtlCol="false" lIns="0" tIns="0" rIns="0" bIns="0" wrap="square"/>
                    <a:lstStyle/>
                    <a:p>
                      <a:pPr algn="l">
                        <a:lnSpc>
                          <a:spcPts val="2210"/>
                        </a:lnSpc>
                        <a:spcBef>
                          <a:spcPts val="0"/>
                        </a:spcBef>
                        <a:buNone/>
                      </a:pPr>
                      <a:r>
                        <a:rPr lang="en-US" sz="1700" b="true">
                          <a:solidFill>
                            <a:srgbClr val="111111"/>
                          </a:solidFill>
                          <a:latin typeface="Nunito Semi-Bold"/>
                          <a:ea typeface="Nunito Semi-Bold"/>
                          <a:cs typeface="Nunito Semi-Bold"/>
                          <a:sym typeface="Nunito Semi-Bold"/>
                        </a:rPr>
                        <a:t>Five seeds {42 … 46}; mean ± standard deviation reported</a:t>
                      </a:r>
                    </a:p>
                  </a:txBody>
                  <a:tcPr marL="82296" marR="82296"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r>
              <a:tr h="776732">
                <a:tc>
                  <a:txBody>
                    <a:bodyPr anchor="ctr" rtlCol="false" lIns="0" tIns="0" rIns="0" bIns="0" wrap="square"/>
                    <a:lstStyle/>
                    <a:p>
                      <a:pPr algn="l">
                        <a:lnSpc>
                          <a:spcPts val="2210"/>
                        </a:lnSpc>
                        <a:spcBef>
                          <a:spcPts val="0"/>
                        </a:spcBef>
                        <a:buNone/>
                      </a:pPr>
                      <a:r>
                        <a:rPr lang="en-US" sz="1700" b="true">
                          <a:solidFill>
                            <a:srgbClr val="111111"/>
                          </a:solidFill>
                          <a:latin typeface="Nunito Bold"/>
                          <a:ea typeface="Nunito Bold"/>
                          <a:cs typeface="Nunito Bold"/>
                          <a:sym typeface="Nunito Bold"/>
                        </a:rPr>
                        <a:t>Statistics</a:t>
                      </a:r>
                    </a:p>
                  </a:txBody>
                  <a:tcPr marL="82296" marR="82296"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6ECDF"/>
                    </a:solidFill>
                  </a:tcPr>
                </a:tc>
                <a:tc>
                  <a:txBody>
                    <a:bodyPr anchor="ctr" rtlCol="false" lIns="0" tIns="0" rIns="0" bIns="0" wrap="square"/>
                    <a:lstStyle/>
                    <a:p>
                      <a:pPr algn="l">
                        <a:lnSpc>
                          <a:spcPts val="2210"/>
                        </a:lnSpc>
                        <a:spcBef>
                          <a:spcPts val="0"/>
                        </a:spcBef>
                        <a:buNone/>
                      </a:pPr>
                      <a:r>
                        <a:rPr lang="en-US" sz="1700" b="true">
                          <a:solidFill>
                            <a:srgbClr val="111111"/>
                          </a:solidFill>
                          <a:latin typeface="Nunito Semi-Bold"/>
                          <a:ea typeface="Nunito Semi-Bold"/>
                          <a:cs typeface="Nunito Semi-Bold"/>
                          <a:sym typeface="Nunito Semi-Bold"/>
                        </a:rPr>
                        <a:t>Paired t-test and Wilcoxon on per-user NDCG@20; Holm–Bonferroni; Cohen's d</a:t>
                      </a:r>
                      <a:r>
                        <a:rPr lang="en-US" sz="1700" b="true" baseline="-25000">
                          <a:solidFill>
                            <a:srgbClr val="111111"/>
                          </a:solidFill>
                          <a:latin typeface="Nunito Semi-Bold"/>
                          <a:ea typeface="Nunito Semi-Bold"/>
                          <a:cs typeface="Nunito Semi-Bold"/>
                          <a:sym typeface="Nunito Semi-Bold"/>
                        </a:rPr>
                        <a:t>z</a:t>
                      </a:r>
                    </a:p>
                  </a:txBody>
                  <a:tcPr marL="82296" marR="82296"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6ECDF"/>
                    </a:solidFill>
                  </a:tcPr>
                </a:tc>
              </a:tr>
              <a:tr h="776732">
                <a:tc>
                  <a:txBody>
                    <a:bodyPr anchor="ctr" rtlCol="false" lIns="0" tIns="0" rIns="0" bIns="0" wrap="square"/>
                    <a:lstStyle/>
                    <a:p>
                      <a:pPr algn="l">
                        <a:lnSpc>
                          <a:spcPts val="2210"/>
                        </a:lnSpc>
                        <a:spcBef>
                          <a:spcPts val="0"/>
                        </a:spcBef>
                        <a:buNone/>
                      </a:pPr>
                      <a:r>
                        <a:rPr lang="en-US" sz="1700" b="true">
                          <a:solidFill>
                            <a:srgbClr val="111111"/>
                          </a:solidFill>
                          <a:latin typeface="Nunito Bold"/>
                          <a:ea typeface="Nunito Bold"/>
                          <a:cs typeface="Nunito Bold"/>
                          <a:sym typeface="Nunito Bold"/>
                        </a:rPr>
                        <a:t>Ablation</a:t>
                      </a:r>
                    </a:p>
                  </a:txBody>
                  <a:tcPr marL="82296" marR="82296"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c>
                  <a:txBody>
                    <a:bodyPr anchor="ctr" rtlCol="false" lIns="0" tIns="0" rIns="0" bIns="0" wrap="square"/>
                    <a:lstStyle/>
                    <a:p>
                      <a:pPr algn="l">
                        <a:lnSpc>
                          <a:spcPts val="2210"/>
                        </a:lnSpc>
                        <a:spcBef>
                          <a:spcPts val="0"/>
                        </a:spcBef>
                        <a:buNone/>
                      </a:pPr>
                      <a:r>
                        <a:rPr lang="en-US" sz="1700" b="true">
                          <a:solidFill>
                            <a:srgbClr val="111111"/>
                          </a:solidFill>
                          <a:latin typeface="Nunito Semi-Bold"/>
                          <a:ea typeface="Nunito Semi-Bold"/>
                          <a:cs typeface="Nunito Semi-Bold"/>
                          <a:sym typeface="Nunito Semi-Bold"/>
                        </a:rPr>
                        <a:t>Remove one component at a time: Shapley, hypergraph, attention, context, diversity</a:t>
                      </a:r>
                    </a:p>
                  </a:txBody>
                  <a:tcPr marL="82296" marR="82296"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r>
            </a:tbl>
          </a:graphicData>
        </a:graphic>
      </p:graphicFrame>
      <p:sp>
        <p:nvSpPr>
          <p:cNvPr id="26" name="Rounded Rectangle 25"/>
          <p:cNvSpPr/>
          <p:nvPr/>
        </p:nvSpPr>
        <p:spPr>
          <a:xfrm>
            <a:off x="11452860" y="3592322"/>
            <a:ext cx="5806440" cy="5670550"/>
          </a:xfrm>
          <a:prstGeom prst="roundRect">
            <a:avLst>
              <a:gd name="adj" fmla="val 5482"/>
            </a:avLst>
          </a:prstGeom>
          <a:solidFill>
            <a:srgbClr val="4472C4"/>
          </a:solidFill>
          <a:ln>
            <a:noFill/>
          </a:ln>
        </p:spPr>
        <p:txBody>
          <a:bodyPr anchor="ctr" rtlCol="false" lIns="0" tIns="0" rIns="0" bIns="0" wrap="square"/>
          <a:lstStyle/>
          <a:p>
            <a:endParaRPr lang="en-US" sz="1800"/>
          </a:p>
        </p:txBody>
      </p:sp>
      <p:sp>
        <p:nvSpPr>
          <p:cNvPr id="27" name="Rounded Rectangle 26"/>
          <p:cNvSpPr/>
          <p:nvPr/>
        </p:nvSpPr>
        <p:spPr>
          <a:xfrm>
            <a:off x="11910060" y="3354578"/>
            <a:ext cx="3849870" cy="438912"/>
          </a:xfrm>
          <a:prstGeom prst="roundRect">
            <a:avLst>
              <a:gd name="adj" fmla="val 50000"/>
            </a:avLst>
          </a:prstGeom>
          <a:solidFill>
            <a:srgbClr val="FFFFFF"/>
          </a:solidFill>
          <a:ln w="28575">
            <a:solidFill>
              <a:srgbClr val="FFFFFF"/>
            </a:solidFill>
          </a:ln>
        </p:spPr>
        <p:txBody>
          <a:bodyPr anchor="ctr" rtlCol="false" lIns="45720" tIns="0" rIns="45720" bIns="0" wrap="square"/>
          <a:lstStyle/>
          <a:p>
            <a:pPr algn="ctr">
              <a:lnSpc>
                <a:spcPts val="2640"/>
              </a:lnSpc>
              <a:spcBef>
                <a:spcPts val="0"/>
              </a:spcBef>
              <a:buNone/>
            </a:pPr>
            <a:r>
              <a:rPr lang="en-US" sz="2200" b="true">
                <a:solidFill>
                  <a:srgbClr val="4472C4"/>
                </a:solidFill>
                <a:latin typeface="Nunito Bold"/>
                <a:ea typeface="Nunito Bold"/>
                <a:cs typeface="Nunito Bold"/>
                <a:sym typeface="Nunito Bold"/>
              </a:rPr>
              <a:t>What counts as success</a:t>
            </a:r>
          </a:p>
        </p:txBody>
      </p:sp>
      <p:sp>
        <p:nvSpPr>
          <p:cNvPr id="28" name="TextBox 27"/>
          <p:cNvSpPr txBox="1"/>
          <p:nvPr/>
        </p:nvSpPr>
        <p:spPr>
          <a:xfrm>
            <a:off x="11910060" y="4232402"/>
            <a:ext cx="4937760" cy="4756150"/>
          </a:xfrm>
          <a:prstGeom prst="rect">
            <a:avLst/>
          </a:prstGeom>
          <a:noFill/>
        </p:spPr>
        <p:txBody>
          <a:bodyPr anchor="t" rtlCol="false" lIns="0" tIns="0" rIns="0" bIns="0" wrap="square"/>
          <a:lstStyle/>
          <a:p>
            <a:pPr algn="l" marL="274320" indent="-274320">
              <a:lnSpc>
                <a:spcPts val="2660"/>
              </a:lnSpc>
              <a:spcBef>
                <a:spcPts val="0"/>
              </a:spcBef>
              <a:buClr>
                <a:srgbClr val="ECC665"/>
              </a:buClr>
              <a:buSzPct val="100000"/>
              <a:buFont typeface="Arial"/>
              <a:buChar char="•"/>
            </a:pPr>
            <a:r>
              <a:rPr lang="en-US" sz="1900" b="true">
                <a:solidFill>
                  <a:srgbClr val="FFFFFF"/>
                </a:solidFill>
                <a:latin typeface="Nunito Bold"/>
                <a:ea typeface="Nunito Bold"/>
                <a:cs typeface="Nunito Bold"/>
                <a:sym typeface="Nunito Bold"/>
              </a:rPr>
              <a:t>Beat HPCF on both datasets</a:t>
            </a:r>
            <a:r>
              <a:rPr lang="en-US" sz="1900" b="true">
                <a:solidFill>
                  <a:srgbClr val="FFFFFF"/>
                </a:solidFill>
                <a:latin typeface="Nunito Semi-Bold"/>
                <a:ea typeface="Nunito Semi-Bold"/>
                <a:cs typeface="Nunito Semi-Bold"/>
                <a:sym typeface="Nunito Semi-Bold"/>
              </a:rPr>
              <a:t> in NDCG@20 and Recall@20, with p &lt; 0.05 after correction.</a:t>
            </a:r>
          </a:p>
          <a:p>
            <a:pPr algn="l" marL="274320" indent="-274320">
              <a:lnSpc>
                <a:spcPts val="2660"/>
              </a:lnSpc>
              <a:spcBef>
                <a:spcPts val="1000"/>
              </a:spcBef>
              <a:buClr>
                <a:srgbClr val="ECC665"/>
              </a:buClr>
              <a:buSzPct val="100000"/>
              <a:buFont typeface="Arial"/>
              <a:buChar char="•"/>
            </a:pPr>
            <a:r>
              <a:rPr lang="en-US" sz="1900" b="true">
                <a:solidFill>
                  <a:srgbClr val="FFFFFF"/>
                </a:solidFill>
                <a:latin typeface="Nunito Bold"/>
                <a:ea typeface="Nunito Bold"/>
                <a:cs typeface="Nunito Bold"/>
                <a:sym typeface="Nunito Bold"/>
              </a:rPr>
              <a:t>Coverage and ILD go up at the same time</a:t>
            </a:r>
            <a:r>
              <a:rPr lang="en-US" sz="1900" b="true">
                <a:solidFill>
                  <a:srgbClr val="FFFFFF"/>
                </a:solidFill>
                <a:latin typeface="Nunito Semi-Bold"/>
                <a:ea typeface="Nunito Semi-Bold"/>
                <a:cs typeface="Nunito Semi-Bold"/>
                <a:sym typeface="Nunito Semi-Bold"/>
              </a:rPr>
              <a:t>: no accuracy-for-diversity trade.</a:t>
            </a:r>
          </a:p>
          <a:p>
            <a:pPr algn="l" marL="274320" indent="-274320">
              <a:lnSpc>
                <a:spcPts val="2660"/>
              </a:lnSpc>
              <a:spcBef>
                <a:spcPts val="1000"/>
              </a:spcBef>
              <a:buClr>
                <a:srgbClr val="ECC665"/>
              </a:buClr>
              <a:buSzPct val="100000"/>
              <a:buFont typeface="Arial"/>
              <a:buChar char="•"/>
            </a:pPr>
            <a:r>
              <a:rPr lang="en-US" sz="1900" b="true">
                <a:solidFill>
                  <a:srgbClr val="FFFFFF"/>
                </a:solidFill>
                <a:latin typeface="Nunito Bold"/>
                <a:ea typeface="Nunito Bold"/>
                <a:cs typeface="Nunito Bold"/>
                <a:sym typeface="Nunito Bold"/>
              </a:rPr>
              <a:t>Every component matters</a:t>
            </a:r>
            <a:r>
              <a:rPr lang="en-US" sz="1900" b="true">
                <a:solidFill>
                  <a:srgbClr val="FFFFFF"/>
                </a:solidFill>
                <a:latin typeface="Nunito Semi-Bold"/>
                <a:ea typeface="Nunito Semi-Bold"/>
                <a:cs typeface="Nunito Semi-Bold"/>
                <a:sym typeface="Nunito Semi-Bold"/>
              </a:rPr>
              <a:t>: removing any one of them lowers NDCG@20.</a:t>
            </a:r>
          </a:p>
          <a:p>
            <a:pPr algn="l" marL="274320" indent="-274320">
              <a:lnSpc>
                <a:spcPts val="2660"/>
              </a:lnSpc>
              <a:spcBef>
                <a:spcPts val="1000"/>
              </a:spcBef>
              <a:buClr>
                <a:srgbClr val="ECC665"/>
              </a:buClr>
              <a:buSzPct val="100000"/>
              <a:buFont typeface="Arial"/>
              <a:buChar char="•"/>
            </a:pPr>
            <a:r>
              <a:rPr lang="en-US" sz="1900" b="true">
                <a:solidFill>
                  <a:srgbClr val="FFFFFF"/>
                </a:solidFill>
                <a:latin typeface="Nunito Bold"/>
                <a:ea typeface="Nunito Bold"/>
                <a:cs typeface="Nunito Bold"/>
                <a:sym typeface="Nunito Bold"/>
              </a:rPr>
              <a:t>Overhead stays bounded</a:t>
            </a:r>
            <a:r>
              <a:rPr lang="en-US" sz="1900" b="true">
                <a:solidFill>
                  <a:srgbClr val="FFFFFF"/>
                </a:solidFill>
                <a:latin typeface="Nunito Semi-Bold"/>
                <a:ea typeface="Nunito Semi-Bold"/>
                <a:cs typeface="Nunito Semi-Bold"/>
                <a:sym typeface="Nunito Semi-Bold"/>
              </a:rPr>
              <a:t>: training time within about 2× HPCF; real-time inference.</a:t>
            </a:r>
          </a:p>
        </p:txBody>
      </p:sp>
    </p:spTree>
  </p:cSld>
  <p:clrMapOvr>
    <a:masterClrMapping/>
  </p:clrMapOvr>
</p:sld>
</file>

<file path=ppt/slides/slide7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pic>
        <p:nvPicPr>
          <p:cNvPr id="2" name="Picture 1" descr="ensias_logo.jpg"/>
          <p:cNvPicPr>
            <a:picLocks noChangeAspect="1"/>
          </p:cNvPicPr>
          <p:nvPr/>
        </p:nvPicPr>
        <p:blipFill>
          <a:blip r:embed="rId2"/>
          <a:stretch>
            <a:fillRect/>
          </a:stretch>
        </p:blipFill>
        <p:spPr>
          <a:xfrm>
            <a:off x="1028700" y="9674352"/>
            <a:ext cx="542964" cy="384048"/>
          </a:xfrm>
          <a:prstGeom prst="rect">
            <a:avLst/>
          </a:prstGeom>
        </p:spPr>
      </p:pic>
      <p:sp>
        <p:nvSpPr>
          <p:cNvPr id="3" name="TextBox 2"/>
          <p:cNvSpPr txBox="1"/>
          <p:nvPr/>
        </p:nvSpPr>
        <p:spPr>
          <a:xfrm>
            <a:off x="1577340" y="9601200"/>
            <a:ext cx="14493240" cy="566928"/>
          </a:xfrm>
          <a:prstGeom prst="rect">
            <a:avLst/>
          </a:prstGeom>
          <a:noFill/>
        </p:spPr>
        <p:txBody>
          <a:bodyPr anchor="ctr" rtlCol="false" lIns="0" tIns="0" rIns="0" bIns="0" wrap="square"/>
          <a:lstStyle/>
          <a:p>
            <a:pPr algn="l">
              <a:lnSpc>
                <a:spcPts val="1200"/>
              </a:lnSpc>
              <a:spcBef>
                <a:spcPts val="0"/>
              </a:spcBef>
              <a:buNone/>
            </a:pPr>
            <a:r>
              <a:rPr lang="en-US" sz="1000" b="true">
                <a:solidFill>
                  <a:srgbClr val="8A8378"/>
                </a:solidFill>
                <a:latin typeface="Nunito Semi-Bold"/>
                <a:ea typeface="Nunito Semi-Bold"/>
                <a:cs typeface="Nunito Semi-Bold"/>
                <a:sym typeface="Nunito Semi-Bold"/>
              </a:rPr>
              <a:t>[3] Louhichi, M., Nesmaoui, R. &amp; Lazaar, M. DyHuCoG: A Dynamic Hypergraph Cooperative Game for Preference-aware Recommendation. IJIES 19(2), 887–902 (2026).</a:t>
            </a:r>
          </a:p>
        </p:txBody>
      </p:sp>
      <p:sp>
        <p:nvSpPr>
          <p:cNvPr id="4" name="TextBox 3"/>
          <p:cNvSpPr txBox="1"/>
          <p:nvPr/>
        </p:nvSpPr>
        <p:spPr>
          <a:xfrm>
            <a:off x="16162020" y="9692640"/>
            <a:ext cx="1097280" cy="329184"/>
          </a:xfrm>
          <a:prstGeom prst="rect">
            <a:avLst/>
          </a:prstGeom>
          <a:noFill/>
        </p:spPr>
        <p:txBody>
          <a:bodyPr anchor="t" rtlCol="false" lIns="0" tIns="0" rIns="0" bIns="0" wrap="square"/>
          <a:lstStyle/>
          <a:p>
            <a:pPr algn="r">
              <a:lnSpc>
                <a:spcPts val="2200"/>
              </a:lnSpc>
              <a:spcBef>
                <a:spcPts val="0"/>
              </a:spcBef>
              <a:buNone/>
            </a:pPr>
            <a:r>
              <a:rPr lang="en-US" sz="1800" b="true">
                <a:solidFill>
                  <a:srgbClr val="111111"/>
                </a:solidFill>
                <a:latin typeface="Nunito Ultra-Bold"/>
                <a:ea typeface="Nunito Ultra-Bold"/>
                <a:cs typeface="Nunito Ultra-Bold"/>
                <a:sym typeface="Nunito Ultra-Bold"/>
              </a:rPr>
              <a:t>58</a:t>
            </a:r>
          </a:p>
        </p:txBody>
      </p:sp>
      <p:sp>
        <p:nvSpPr>
          <p:cNvPr id="5" name="TextBox 4"/>
          <p:cNvSpPr txBox="1"/>
          <p:nvPr/>
        </p:nvSpPr>
        <p:spPr>
          <a:xfrm>
            <a:off x="1028700" y="1389888"/>
            <a:ext cx="12938760" cy="329184"/>
          </a:xfrm>
          <a:prstGeom prst="rect">
            <a:avLst/>
          </a:prstGeom>
          <a:noFill/>
        </p:spPr>
        <p:txBody>
          <a:bodyPr anchor="t" rtlCol="false" lIns="0" tIns="0" rIns="0" bIns="0" wrap="square"/>
          <a:lstStyle/>
          <a:p>
            <a:pPr algn="l">
              <a:lnSpc>
                <a:spcPts val="2000"/>
              </a:lnSpc>
              <a:spcBef>
                <a:spcPts val="0"/>
              </a:spcBef>
              <a:buNone/>
            </a:pPr>
            <a:r>
              <a:rPr lang="en-US" sz="1500" b="true" spc="160">
                <a:solidFill>
                  <a:srgbClr val="1F7A8C"/>
                </a:solidFill>
                <a:latin typeface="Nunito Ultra-Bold"/>
                <a:ea typeface="Nunito Ultra-Bold"/>
                <a:cs typeface="Nunito Ultra-Bold"/>
                <a:sym typeface="Nunito Ultra-Bold"/>
              </a:rPr>
              <a:t>CONTRIBUTION III: DYHUCOG, A DYNAMIC HYPERGRAPH COOPERATIVE GAME</a:t>
            </a:r>
          </a:p>
        </p:txBody>
      </p:sp>
      <p:sp>
        <p:nvSpPr>
          <p:cNvPr id="6" name="Rounded Rectangle 5"/>
          <p:cNvSpPr/>
          <p:nvPr/>
        </p:nvSpPr>
        <p:spPr>
          <a:xfrm>
            <a:off x="14516100"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7" name="TextBox 6"/>
          <p:cNvSpPr txBox="1"/>
          <p:nvPr/>
        </p:nvSpPr>
        <p:spPr>
          <a:xfrm>
            <a:off x="14516100"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1</a:t>
            </a:r>
          </a:p>
        </p:txBody>
      </p:sp>
      <p:sp>
        <p:nvSpPr>
          <p:cNvPr id="8" name="Rounded Rectangle 7"/>
          <p:cNvSpPr/>
          <p:nvPr/>
        </p:nvSpPr>
        <p:spPr>
          <a:xfrm>
            <a:off x="14918436"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9" name="TextBox 8"/>
          <p:cNvSpPr txBox="1"/>
          <p:nvPr/>
        </p:nvSpPr>
        <p:spPr>
          <a:xfrm>
            <a:off x="14918436"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2</a:t>
            </a:r>
          </a:p>
        </p:txBody>
      </p:sp>
      <p:sp>
        <p:nvSpPr>
          <p:cNvPr id="10" name="Rounded Rectangle 9"/>
          <p:cNvSpPr/>
          <p:nvPr/>
        </p:nvSpPr>
        <p:spPr>
          <a:xfrm>
            <a:off x="15320772"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11" name="TextBox 10"/>
          <p:cNvSpPr txBox="1"/>
          <p:nvPr/>
        </p:nvSpPr>
        <p:spPr>
          <a:xfrm>
            <a:off x="15320772"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3</a:t>
            </a:r>
          </a:p>
        </p:txBody>
      </p:sp>
      <p:sp>
        <p:nvSpPr>
          <p:cNvPr id="12" name="Rounded Rectangle 11"/>
          <p:cNvSpPr/>
          <p:nvPr/>
        </p:nvSpPr>
        <p:spPr>
          <a:xfrm>
            <a:off x="15723108"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13" name="TextBox 12"/>
          <p:cNvSpPr txBox="1"/>
          <p:nvPr/>
        </p:nvSpPr>
        <p:spPr>
          <a:xfrm>
            <a:off x="15723108"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4</a:t>
            </a:r>
          </a:p>
        </p:txBody>
      </p:sp>
      <p:sp>
        <p:nvSpPr>
          <p:cNvPr id="14" name="Rounded Rectangle 13"/>
          <p:cNvSpPr/>
          <p:nvPr/>
        </p:nvSpPr>
        <p:spPr>
          <a:xfrm>
            <a:off x="16125444"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15" name="TextBox 14"/>
          <p:cNvSpPr txBox="1"/>
          <p:nvPr/>
        </p:nvSpPr>
        <p:spPr>
          <a:xfrm>
            <a:off x="16125444"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5</a:t>
            </a:r>
          </a:p>
        </p:txBody>
      </p:sp>
      <p:sp>
        <p:nvSpPr>
          <p:cNvPr id="16" name="Rounded Rectangle 15"/>
          <p:cNvSpPr/>
          <p:nvPr/>
        </p:nvSpPr>
        <p:spPr>
          <a:xfrm>
            <a:off x="16527780" y="1371600"/>
            <a:ext cx="329184" cy="329184"/>
          </a:xfrm>
          <a:prstGeom prst="roundRect">
            <a:avLst>
              <a:gd name="adj" fmla="val 16666"/>
            </a:avLst>
          </a:prstGeom>
          <a:solidFill>
            <a:srgbClr val="4472C4"/>
          </a:solidFill>
          <a:ln w="15875">
            <a:solidFill>
              <a:srgbClr val="4472C4"/>
            </a:solidFill>
          </a:ln>
        </p:spPr>
        <p:txBody>
          <a:bodyPr anchor="ctr" rtlCol="false" lIns="0" tIns="0" rIns="0" bIns="0" wrap="square"/>
          <a:lstStyle/>
          <a:p>
            <a:endParaRPr lang="en-US" sz="1800"/>
          </a:p>
        </p:txBody>
      </p:sp>
      <p:sp>
        <p:nvSpPr>
          <p:cNvPr id="17" name="TextBox 16"/>
          <p:cNvSpPr txBox="1"/>
          <p:nvPr/>
        </p:nvSpPr>
        <p:spPr>
          <a:xfrm>
            <a:off x="16527780"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FFFFFF"/>
                </a:solidFill>
                <a:latin typeface="Nunito Ultra-Bold"/>
                <a:ea typeface="Nunito Ultra-Bold"/>
                <a:cs typeface="Nunito Ultra-Bold"/>
                <a:sym typeface="Nunito Ultra-Bold"/>
              </a:rPr>
              <a:t>6</a:t>
            </a:r>
          </a:p>
        </p:txBody>
      </p:sp>
      <p:sp>
        <p:nvSpPr>
          <p:cNvPr id="18" name="Rounded Rectangle 17"/>
          <p:cNvSpPr/>
          <p:nvPr/>
        </p:nvSpPr>
        <p:spPr>
          <a:xfrm>
            <a:off x="16930116"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19" name="TextBox 18"/>
          <p:cNvSpPr txBox="1"/>
          <p:nvPr/>
        </p:nvSpPr>
        <p:spPr>
          <a:xfrm>
            <a:off x="16930116"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7</a:t>
            </a:r>
          </a:p>
        </p:txBody>
      </p:sp>
      <p:sp>
        <p:nvSpPr>
          <p:cNvPr id="20" name="TextBox 19"/>
          <p:cNvSpPr txBox="1"/>
          <p:nvPr/>
        </p:nvSpPr>
        <p:spPr>
          <a:xfrm>
            <a:off x="1028700" y="1719072"/>
            <a:ext cx="16230600" cy="730250"/>
          </a:xfrm>
          <a:prstGeom prst="rect">
            <a:avLst/>
          </a:prstGeom>
          <a:noFill/>
        </p:spPr>
        <p:txBody>
          <a:bodyPr anchor="t" rtlCol="false" lIns="0" tIns="0" rIns="0" bIns="0" wrap="square"/>
          <a:lstStyle/>
          <a:p>
            <a:pPr algn="l">
              <a:lnSpc>
                <a:spcPts val="5060"/>
              </a:lnSpc>
              <a:spcBef>
                <a:spcPts val="0"/>
              </a:spcBef>
              <a:buNone/>
            </a:pPr>
            <a:r>
              <a:rPr lang="en-US" sz="4600" b="true" spc="-230">
                <a:solidFill>
                  <a:srgbClr val="111111"/>
                </a:solidFill>
                <a:latin typeface="Roca Two Bold"/>
                <a:ea typeface="Roca Two Bold"/>
                <a:cs typeface="Roca Two Bold"/>
                <a:sym typeface="Roca Two Bold"/>
              </a:rPr>
              <a:t>Main Results on MovieLens-1M</a:t>
            </a:r>
          </a:p>
        </p:txBody>
      </p:sp>
      <p:sp>
        <p:nvSpPr>
          <p:cNvPr id="21" name="Rounded Rectangle 20"/>
          <p:cNvSpPr/>
          <p:nvPr/>
        </p:nvSpPr>
        <p:spPr>
          <a:xfrm>
            <a:off x="1028700" y="2559050"/>
            <a:ext cx="1691553" cy="420624"/>
          </a:xfrm>
          <a:prstGeom prst="roundRect">
            <a:avLst>
              <a:gd name="adj" fmla="val 50000"/>
            </a:avLst>
          </a:prstGeom>
          <a:noFill/>
          <a:ln w="28575">
            <a:solidFill>
              <a:srgbClr val="4472C4"/>
            </a:solidFill>
          </a:ln>
        </p:spPr>
        <p:txBody>
          <a:bodyPr anchor="ctr" rtlCol="false" lIns="45720" tIns="0" rIns="45720" bIns="0" wrap="square"/>
          <a:lstStyle/>
          <a:p>
            <a:pPr algn="ctr">
              <a:lnSpc>
                <a:spcPts val="2160"/>
              </a:lnSpc>
              <a:spcBef>
                <a:spcPts val="0"/>
              </a:spcBef>
              <a:buNone/>
            </a:pPr>
            <a:r>
              <a:rPr lang="en-US" sz="1800" b="true">
                <a:solidFill>
                  <a:srgbClr val="4472C4"/>
                </a:solidFill>
                <a:latin typeface="Nunito Bold"/>
                <a:ea typeface="Nunito Bold"/>
                <a:cs typeface="Nunito Bold"/>
                <a:sym typeface="Nunito Bold"/>
              </a:rPr>
              <a:t>Objectives</a:t>
            </a:r>
          </a:p>
        </p:txBody>
      </p:sp>
      <p:sp>
        <p:nvSpPr>
          <p:cNvPr id="22" name="Rounded Rectangle 21"/>
          <p:cNvSpPr/>
          <p:nvPr/>
        </p:nvSpPr>
        <p:spPr>
          <a:xfrm>
            <a:off x="2848269" y="2559050"/>
            <a:ext cx="1998119" cy="420624"/>
          </a:xfrm>
          <a:prstGeom prst="roundRect">
            <a:avLst>
              <a:gd name="adj" fmla="val 50000"/>
            </a:avLst>
          </a:prstGeom>
          <a:noFill/>
          <a:ln w="28575">
            <a:solidFill>
              <a:srgbClr val="4472C4"/>
            </a:solidFill>
          </a:ln>
        </p:spPr>
        <p:txBody>
          <a:bodyPr anchor="ctr" rtlCol="false" lIns="45720" tIns="0" rIns="45720" bIns="0" wrap="square"/>
          <a:lstStyle/>
          <a:p>
            <a:pPr algn="ctr">
              <a:lnSpc>
                <a:spcPts val="2160"/>
              </a:lnSpc>
              <a:spcBef>
                <a:spcPts val="0"/>
              </a:spcBef>
              <a:buNone/>
            </a:pPr>
            <a:r>
              <a:rPr lang="en-US" sz="1800" b="true">
                <a:solidFill>
                  <a:srgbClr val="4472C4"/>
                </a:solidFill>
                <a:latin typeface="Nunito Bold"/>
                <a:ea typeface="Nunito Bold"/>
                <a:cs typeface="Nunito Bold"/>
                <a:sym typeface="Nunito Bold"/>
              </a:rPr>
              <a:t>Methodology</a:t>
            </a:r>
          </a:p>
        </p:txBody>
      </p:sp>
      <p:sp>
        <p:nvSpPr>
          <p:cNvPr id="23" name="Rounded Rectangle 22"/>
          <p:cNvSpPr/>
          <p:nvPr/>
        </p:nvSpPr>
        <p:spPr>
          <a:xfrm>
            <a:off x="4974404" y="2559050"/>
            <a:ext cx="1369446" cy="420624"/>
          </a:xfrm>
          <a:prstGeom prst="roundRect">
            <a:avLst>
              <a:gd name="adj" fmla="val 50000"/>
            </a:avLst>
          </a:prstGeom>
          <a:solidFill>
            <a:srgbClr val="4472C4"/>
          </a:solidFill>
          <a:ln>
            <a:noFill/>
          </a:ln>
        </p:spPr>
        <p:txBody>
          <a:bodyPr anchor="ctr" rtlCol="false" lIns="45720" tIns="0" rIns="45720" bIns="0" wrap="square"/>
          <a:lstStyle/>
          <a:p>
            <a:pPr algn="ctr">
              <a:lnSpc>
                <a:spcPts val="2160"/>
              </a:lnSpc>
              <a:spcBef>
                <a:spcPts val="0"/>
              </a:spcBef>
              <a:buNone/>
            </a:pPr>
            <a:r>
              <a:rPr lang="en-US" sz="1800" b="true">
                <a:solidFill>
                  <a:srgbClr val="FFFFFF"/>
                </a:solidFill>
                <a:latin typeface="Nunito Bold"/>
                <a:ea typeface="Nunito Bold"/>
                <a:cs typeface="Nunito Bold"/>
                <a:sym typeface="Nunito Bold"/>
              </a:rPr>
              <a:t>Results</a:t>
            </a:r>
          </a:p>
        </p:txBody>
      </p:sp>
      <p:sp>
        <p:nvSpPr>
          <p:cNvPr id="24" name="Rounded Rectangle 23"/>
          <p:cNvSpPr/>
          <p:nvPr/>
        </p:nvSpPr>
        <p:spPr>
          <a:xfrm>
            <a:off x="6471866" y="2559050"/>
            <a:ext cx="1474931" cy="420624"/>
          </a:xfrm>
          <a:prstGeom prst="roundRect">
            <a:avLst>
              <a:gd name="adj" fmla="val 50000"/>
            </a:avLst>
          </a:prstGeom>
          <a:noFill/>
          <a:ln w="28575">
            <a:solidFill>
              <a:srgbClr val="4472C4"/>
            </a:solidFill>
          </a:ln>
        </p:spPr>
        <p:txBody>
          <a:bodyPr anchor="ctr" rtlCol="false" lIns="45720" tIns="0" rIns="45720" bIns="0" wrap="square"/>
          <a:lstStyle/>
          <a:p>
            <a:pPr algn="ctr">
              <a:lnSpc>
                <a:spcPts val="2160"/>
              </a:lnSpc>
              <a:spcBef>
                <a:spcPts val="0"/>
              </a:spcBef>
              <a:buNone/>
            </a:pPr>
            <a:r>
              <a:rPr lang="en-US" sz="1800" b="true">
                <a:solidFill>
                  <a:srgbClr val="4472C4"/>
                </a:solidFill>
                <a:latin typeface="Nunito Bold"/>
                <a:ea typeface="Nunito Bold"/>
                <a:cs typeface="Nunito Bold"/>
                <a:sym typeface="Nunito Bold"/>
              </a:rPr>
              <a:t>Findings</a:t>
            </a:r>
          </a:p>
        </p:txBody>
      </p:sp>
      <p:sp>
        <p:nvSpPr>
          <p:cNvPr id="25" name="TextBox 24"/>
          <p:cNvSpPr txBox="1"/>
          <p:nvPr/>
        </p:nvSpPr>
        <p:spPr>
          <a:xfrm>
            <a:off x="1028700" y="3363722"/>
            <a:ext cx="6035040" cy="4573270"/>
          </a:xfrm>
          <a:prstGeom prst="rect">
            <a:avLst/>
          </a:prstGeom>
          <a:noFill/>
        </p:spPr>
        <p:txBody>
          <a:bodyPr anchor="t" rtlCol="false" lIns="0" tIns="0" rIns="0" bIns="0" wrap="square"/>
          <a:lstStyle/>
          <a:p>
            <a:pPr algn="l" marL="274320" indent="-274320">
              <a:lnSpc>
                <a:spcPts val="2660"/>
              </a:lnSpc>
              <a:spcBef>
                <a:spcPts val="0"/>
              </a:spcBef>
              <a:buClr>
                <a:srgbClr val="1F7A8C"/>
              </a:buClr>
              <a:buSzPct val="100000"/>
              <a:buFont typeface="Arial"/>
              <a:buChar char="•"/>
            </a:pPr>
            <a:r>
              <a:rPr lang="en-US" sz="1900" b="true">
                <a:solidFill>
                  <a:srgbClr val="111111"/>
                </a:solidFill>
                <a:latin typeface="Nunito Bold"/>
                <a:ea typeface="Nunito Bold"/>
                <a:cs typeface="Nunito Bold"/>
                <a:sym typeface="Nunito Bold"/>
              </a:rPr>
              <a:t>DyHuCoG is best on all four metrics</a:t>
            </a:r>
            <a:r>
              <a:rPr lang="en-US" sz="1900" b="true">
                <a:solidFill>
                  <a:srgbClr val="111111"/>
                </a:solidFill>
                <a:latin typeface="Nunito Semi-Bold"/>
                <a:ea typeface="Nunito Semi-Bold"/>
                <a:cs typeface="Nunito Semi-Bold"/>
                <a:sym typeface="Nunito Semi-Bold"/>
              </a:rPr>
              <a:t> against six baselines from four model families.</a:t>
            </a:r>
          </a:p>
          <a:p>
            <a:pPr algn="l" marL="274320" indent="-274320">
              <a:lnSpc>
                <a:spcPts val="2660"/>
              </a:lnSpc>
              <a:spcBef>
                <a:spcPts val="1000"/>
              </a:spcBef>
              <a:buClr>
                <a:srgbClr val="1F7A8C"/>
              </a:buClr>
              <a:buSzPct val="100000"/>
              <a:buFont typeface="Arial"/>
              <a:buChar char="•"/>
            </a:pPr>
            <a:r>
              <a:rPr lang="en-US" sz="1900" b="true">
                <a:solidFill>
                  <a:srgbClr val="111111"/>
                </a:solidFill>
                <a:latin typeface="Nunito Semi-Bold"/>
                <a:ea typeface="Nunito Semi-Bold"/>
                <a:cs typeface="Nunito Semi-Bold"/>
                <a:sym typeface="Nunito Semi-Bold"/>
              </a:rPr>
              <a:t>NDCG@20 </a:t>
            </a:r>
            <a:r>
              <a:rPr lang="en-US" sz="1900" b="true">
                <a:solidFill>
                  <a:srgbClr val="111111"/>
                </a:solidFill>
                <a:latin typeface="Nunito Bold"/>
                <a:ea typeface="Nunito Bold"/>
                <a:cs typeface="Nunito Bold"/>
                <a:sym typeface="Nunito Bold"/>
              </a:rPr>
              <a:t>0.2775 vs 0.2528</a:t>
            </a:r>
            <a:r>
              <a:rPr lang="en-US" sz="1900" b="true">
                <a:solidFill>
                  <a:srgbClr val="111111"/>
                </a:solidFill>
                <a:latin typeface="Nunito Semi-Bold"/>
                <a:ea typeface="Nunito Semi-Bold"/>
                <a:cs typeface="Nunito Semi-Bold"/>
                <a:sym typeface="Nunito Semi-Bold"/>
              </a:rPr>
              <a:t> for HPCF (+9.8 %); Recall@20 </a:t>
            </a:r>
            <a:r>
              <a:rPr lang="en-US" sz="1900" b="true">
                <a:solidFill>
                  <a:srgbClr val="111111"/>
                </a:solidFill>
                <a:latin typeface="Nunito Bold"/>
                <a:ea typeface="Nunito Bold"/>
                <a:cs typeface="Nunito Bold"/>
                <a:sym typeface="Nunito Bold"/>
              </a:rPr>
              <a:t>0.2362 vs 0.2098</a:t>
            </a:r>
            <a:r>
              <a:rPr lang="en-US" sz="1900" b="true">
                <a:solidFill>
                  <a:srgbClr val="111111"/>
                </a:solidFill>
                <a:latin typeface="Nunito Semi-Bold"/>
                <a:ea typeface="Nunito Semi-Bold"/>
                <a:cs typeface="Nunito Semi-Bold"/>
                <a:sym typeface="Nunito Semi-Bold"/>
              </a:rPr>
              <a:t> (+12.6 %).</a:t>
            </a:r>
          </a:p>
          <a:p>
            <a:pPr algn="l" marL="274320" indent="-274320">
              <a:lnSpc>
                <a:spcPts val="2660"/>
              </a:lnSpc>
              <a:spcBef>
                <a:spcPts val="1000"/>
              </a:spcBef>
              <a:buClr>
                <a:srgbClr val="1F7A8C"/>
              </a:buClr>
              <a:buSzPct val="100000"/>
              <a:buFont typeface="Arial"/>
              <a:buChar char="•"/>
            </a:pPr>
            <a:r>
              <a:rPr lang="en-US" sz="1900" b="true">
                <a:solidFill>
                  <a:srgbClr val="111111"/>
                </a:solidFill>
                <a:latin typeface="Nunito Semi-Bold"/>
                <a:ea typeface="Nunito Semi-Bold"/>
                <a:cs typeface="Nunito Semi-Bold"/>
                <a:sym typeface="Nunito Semi-Bold"/>
              </a:rPr>
              <a:t>Coverage </a:t>
            </a:r>
            <a:r>
              <a:rPr lang="en-US" sz="1900" b="true">
                <a:solidFill>
                  <a:srgbClr val="111111"/>
                </a:solidFill>
                <a:latin typeface="Nunito Bold"/>
                <a:ea typeface="Nunito Bold"/>
                <a:cs typeface="Nunito Bold"/>
                <a:sym typeface="Nunito Bold"/>
              </a:rPr>
              <a:t>0.397 vs 0.342</a:t>
            </a:r>
            <a:r>
              <a:rPr lang="en-US" sz="1900" b="true">
                <a:solidFill>
                  <a:srgbClr val="111111"/>
                </a:solidFill>
                <a:latin typeface="Nunito Semi-Bold"/>
                <a:ea typeface="Nunito Semi-Bold"/>
                <a:cs typeface="Nunito Semi-Bold"/>
                <a:sym typeface="Nunito Semi-Bold"/>
              </a:rPr>
              <a:t> (+16.1 %) and ILD </a:t>
            </a:r>
            <a:r>
              <a:rPr lang="en-US" sz="1900" b="true">
                <a:solidFill>
                  <a:srgbClr val="111111"/>
                </a:solidFill>
                <a:latin typeface="Nunito Bold"/>
                <a:ea typeface="Nunito Bold"/>
                <a:cs typeface="Nunito Bold"/>
                <a:sym typeface="Nunito Bold"/>
              </a:rPr>
              <a:t>0.516 vs 0.461</a:t>
            </a:r>
            <a:r>
              <a:rPr lang="en-US" sz="1900" b="true">
                <a:solidFill>
                  <a:srgbClr val="111111"/>
                </a:solidFill>
                <a:latin typeface="Nunito Semi-Bold"/>
                <a:ea typeface="Nunito Semi-Bold"/>
                <a:cs typeface="Nunito Semi-Bold"/>
                <a:sym typeface="Nunito Semi-Bold"/>
              </a:rPr>
              <a:t> (+11.9 %): more of the catalogue reaches users.</a:t>
            </a:r>
          </a:p>
          <a:p>
            <a:pPr algn="l" marL="274320" indent="-274320">
              <a:lnSpc>
                <a:spcPts val="2660"/>
              </a:lnSpc>
              <a:spcBef>
                <a:spcPts val="1000"/>
              </a:spcBef>
              <a:buClr>
                <a:srgbClr val="1F7A8C"/>
              </a:buClr>
              <a:buSzPct val="100000"/>
              <a:buFont typeface="Arial"/>
              <a:buChar char="•"/>
            </a:pPr>
            <a:r>
              <a:rPr lang="en-US" sz="1900" b="true">
                <a:solidFill>
                  <a:srgbClr val="111111"/>
                </a:solidFill>
                <a:latin typeface="Nunito Semi-Bold"/>
                <a:ea typeface="Nunito Semi-Bold"/>
                <a:cs typeface="Nunito Semi-Bold"/>
                <a:sym typeface="Nunito Semi-Bold"/>
              </a:rPr>
              <a:t>The gap widens from classical (MF) to graph (LightGCN) to hypergraph (HCCF, HPCF) models, and DyHuCoG adds another step on top of the strongest.</a:t>
            </a:r>
          </a:p>
        </p:txBody>
      </p:sp>
      <p:sp>
        <p:nvSpPr>
          <p:cNvPr id="26" name="Rounded Rectangle 25"/>
          <p:cNvSpPr/>
          <p:nvPr/>
        </p:nvSpPr>
        <p:spPr>
          <a:xfrm>
            <a:off x="1028700" y="8119872"/>
            <a:ext cx="6035040" cy="1097280"/>
          </a:xfrm>
          <a:prstGeom prst="roundRect">
            <a:avLst>
              <a:gd name="adj" fmla="val 25000"/>
            </a:avLst>
          </a:prstGeom>
          <a:solidFill>
            <a:srgbClr val="4472C4"/>
          </a:solidFill>
          <a:ln>
            <a:noFill/>
          </a:ln>
        </p:spPr>
        <p:txBody>
          <a:bodyPr anchor="ctr" rtlCol="false" lIns="137160" tIns="91440" rIns="137160" bIns="91440" wrap="square"/>
          <a:lstStyle/>
          <a:p>
            <a:pPr algn="ctr">
              <a:lnSpc>
                <a:spcPts val="3300"/>
              </a:lnSpc>
              <a:spcBef>
                <a:spcPts val="0"/>
              </a:spcBef>
              <a:buNone/>
            </a:pPr>
            <a:r>
              <a:rPr lang="en-US" sz="3000" b="true">
                <a:solidFill>
                  <a:srgbClr val="ECC665"/>
                </a:solidFill>
                <a:latin typeface="Nunito Ultra-Bold"/>
                <a:ea typeface="Nunito Ultra-Bold"/>
                <a:cs typeface="Nunito Ultra-Bold"/>
                <a:sym typeface="Nunito Ultra-Bold"/>
              </a:rPr>
              <a:t>+9.8 %  ·  +12.6 %</a:t>
            </a:r>
          </a:p>
          <a:p>
            <a:pPr algn="ctr">
              <a:lnSpc>
                <a:spcPts val="1875"/>
              </a:lnSpc>
              <a:spcBef>
                <a:spcPts val="400"/>
              </a:spcBef>
              <a:buNone/>
            </a:pPr>
            <a:r>
              <a:rPr lang="en-US" sz="1500" b="true">
                <a:solidFill>
                  <a:srgbClr val="FFFFFF"/>
                </a:solidFill>
                <a:latin typeface="Nunito Semi-Bold"/>
                <a:ea typeface="Nunito Semi-Bold"/>
                <a:cs typeface="Nunito Semi-Bold"/>
                <a:sym typeface="Nunito Semi-Bold"/>
              </a:rPr>
              <a:t>NDCG@20 · Recall@20 over HPCF</a:t>
            </a:r>
          </a:p>
        </p:txBody>
      </p:sp>
      <p:graphicFrame>
        <p:nvGraphicFramePr>
          <p:cNvPr id="27" name="Table 26"/>
          <p:cNvGraphicFramePr>
            <a:graphicFrameLocks noGrp="1"/>
          </p:cNvGraphicFramePr>
          <p:nvPr/>
        </p:nvGraphicFramePr>
        <p:xfrm>
          <a:off x="7520940" y="3363722"/>
          <a:ext cx="9738358" cy="4828032"/>
        </p:xfrm>
        <a:graphic>
          <a:graphicData uri="http://schemas.openxmlformats.org/drawingml/2006/table">
            <a:tbl>
              <a:tblPr firstRow="0" bandRow="0" firstCol="0" lastRow="0" lastCol="0" bandCol="0">
                <a:tableStyleId>{2D5ABB26-0587-4C30-8999-92F81FD0307C}</a:tableStyleId>
              </a:tblPr>
              <a:tblGrid>
                <a:gridCol w="2217646"/>
                <a:gridCol w="1928388"/>
                <a:gridCol w="1928388"/>
                <a:gridCol w="1831968"/>
                <a:gridCol w="1831968"/>
              </a:tblGrid>
              <a:tr h="603504">
                <a:tc>
                  <a:txBody>
                    <a:bodyPr anchor="ctr" rtlCol="false" lIns="0" tIns="0" rIns="0" bIns="0" wrap="square"/>
                    <a:lstStyle/>
                    <a:p>
                      <a:pPr algn="l">
                        <a:lnSpc>
                          <a:spcPts val="2080"/>
                        </a:lnSpc>
                        <a:spcBef>
                          <a:spcPts val="0"/>
                        </a:spcBef>
                        <a:buNone/>
                      </a:pPr>
                      <a:r>
                        <a:rPr lang="en-US" sz="1600" b="true">
                          <a:solidFill>
                            <a:srgbClr val="FFFFFF"/>
                          </a:solidFill>
                          <a:latin typeface="Nunito Bold"/>
                          <a:ea typeface="Nunito Bold"/>
                          <a:cs typeface="Nunito Bold"/>
                          <a:sym typeface="Nunito Bold"/>
                        </a:rPr>
                        <a:t>Model</a:t>
                      </a:r>
                    </a:p>
                  </a:txBody>
                  <a:tcPr marL="64008" marR="64008" marT="45720" marB="45720" anchor="ctr">
                    <a:lnL w="12700" cap="flat" cmpd="sng" algn="ctr">
                      <a:solidFill>
                        <a:srgbClr val="4472C4"/>
                      </a:solidFill>
                      <a:prstDash val="solid"/>
                    </a:lnL>
                    <a:lnR w="12700" cap="flat" cmpd="sng" algn="ctr">
                      <a:solidFill>
                        <a:srgbClr val="4472C4"/>
                      </a:solidFill>
                      <a:prstDash val="solid"/>
                    </a:lnR>
                    <a:lnT w="12700" cap="flat" cmpd="sng" algn="ctr">
                      <a:solidFill>
                        <a:srgbClr val="4472C4"/>
                      </a:solidFill>
                      <a:prstDash val="solid"/>
                    </a:lnT>
                    <a:lnB w="12700" cap="flat" cmpd="sng" algn="ctr">
                      <a:solidFill>
                        <a:srgbClr val="4472C4"/>
                      </a:solidFill>
                      <a:prstDash val="solid"/>
                    </a:lnB>
                    <a:solidFill>
                      <a:srgbClr val="4472C4"/>
                    </a:solidFill>
                  </a:tcPr>
                </a:tc>
                <a:tc>
                  <a:txBody>
                    <a:bodyPr anchor="ctr" rtlCol="false" lIns="0" tIns="0" rIns="0" bIns="0" wrap="square"/>
                    <a:lstStyle/>
                    <a:p>
                      <a:pPr algn="ctr">
                        <a:lnSpc>
                          <a:spcPts val="2080"/>
                        </a:lnSpc>
                        <a:spcBef>
                          <a:spcPts val="0"/>
                        </a:spcBef>
                        <a:buNone/>
                      </a:pPr>
                      <a:r>
                        <a:rPr lang="en-US" sz="1600" b="true">
                          <a:solidFill>
                            <a:srgbClr val="FFFFFF"/>
                          </a:solidFill>
                          <a:latin typeface="Nunito Bold"/>
                          <a:ea typeface="Nunito Bold"/>
                          <a:cs typeface="Nunito Bold"/>
                          <a:sym typeface="Nunito Bold"/>
                        </a:rPr>
                        <a:t>NDCG@20</a:t>
                      </a:r>
                    </a:p>
                  </a:txBody>
                  <a:tcPr marL="64008" marR="64008" marT="45720" marB="45720" anchor="ctr">
                    <a:lnL w="12700" cap="flat" cmpd="sng" algn="ctr">
                      <a:solidFill>
                        <a:srgbClr val="4472C4"/>
                      </a:solidFill>
                      <a:prstDash val="solid"/>
                    </a:lnL>
                    <a:lnR w="12700" cap="flat" cmpd="sng" algn="ctr">
                      <a:solidFill>
                        <a:srgbClr val="4472C4"/>
                      </a:solidFill>
                      <a:prstDash val="solid"/>
                    </a:lnR>
                    <a:lnT w="12700" cap="flat" cmpd="sng" algn="ctr">
                      <a:solidFill>
                        <a:srgbClr val="4472C4"/>
                      </a:solidFill>
                      <a:prstDash val="solid"/>
                    </a:lnT>
                    <a:lnB w="12700" cap="flat" cmpd="sng" algn="ctr">
                      <a:solidFill>
                        <a:srgbClr val="4472C4"/>
                      </a:solidFill>
                      <a:prstDash val="solid"/>
                    </a:lnB>
                    <a:solidFill>
                      <a:srgbClr val="4472C4"/>
                    </a:solidFill>
                  </a:tcPr>
                </a:tc>
                <a:tc>
                  <a:txBody>
                    <a:bodyPr anchor="ctr" rtlCol="false" lIns="0" tIns="0" rIns="0" bIns="0" wrap="square"/>
                    <a:lstStyle/>
                    <a:p>
                      <a:pPr algn="ctr">
                        <a:lnSpc>
                          <a:spcPts val="2080"/>
                        </a:lnSpc>
                        <a:spcBef>
                          <a:spcPts val="0"/>
                        </a:spcBef>
                        <a:buNone/>
                      </a:pPr>
                      <a:r>
                        <a:rPr lang="en-US" sz="1600" b="true">
                          <a:solidFill>
                            <a:srgbClr val="FFFFFF"/>
                          </a:solidFill>
                          <a:latin typeface="Nunito Bold"/>
                          <a:ea typeface="Nunito Bold"/>
                          <a:cs typeface="Nunito Bold"/>
                          <a:sym typeface="Nunito Bold"/>
                        </a:rPr>
                        <a:t>Recall@20</a:t>
                      </a:r>
                    </a:p>
                  </a:txBody>
                  <a:tcPr marL="64008" marR="64008" marT="45720" marB="45720" anchor="ctr">
                    <a:lnL w="12700" cap="flat" cmpd="sng" algn="ctr">
                      <a:solidFill>
                        <a:srgbClr val="4472C4"/>
                      </a:solidFill>
                      <a:prstDash val="solid"/>
                    </a:lnL>
                    <a:lnR w="12700" cap="flat" cmpd="sng" algn="ctr">
                      <a:solidFill>
                        <a:srgbClr val="4472C4"/>
                      </a:solidFill>
                      <a:prstDash val="solid"/>
                    </a:lnR>
                    <a:lnT w="12700" cap="flat" cmpd="sng" algn="ctr">
                      <a:solidFill>
                        <a:srgbClr val="4472C4"/>
                      </a:solidFill>
                      <a:prstDash val="solid"/>
                    </a:lnT>
                    <a:lnB w="12700" cap="flat" cmpd="sng" algn="ctr">
                      <a:solidFill>
                        <a:srgbClr val="4472C4"/>
                      </a:solidFill>
                      <a:prstDash val="solid"/>
                    </a:lnB>
                    <a:solidFill>
                      <a:srgbClr val="4472C4"/>
                    </a:solidFill>
                  </a:tcPr>
                </a:tc>
                <a:tc>
                  <a:txBody>
                    <a:bodyPr anchor="ctr" rtlCol="false" lIns="0" tIns="0" rIns="0" bIns="0" wrap="square"/>
                    <a:lstStyle/>
                    <a:p>
                      <a:pPr algn="ctr">
                        <a:lnSpc>
                          <a:spcPts val="2080"/>
                        </a:lnSpc>
                        <a:spcBef>
                          <a:spcPts val="0"/>
                        </a:spcBef>
                        <a:buNone/>
                      </a:pPr>
                      <a:r>
                        <a:rPr lang="en-US" sz="1600" b="true">
                          <a:solidFill>
                            <a:srgbClr val="FFFFFF"/>
                          </a:solidFill>
                          <a:latin typeface="Nunito Bold"/>
                          <a:ea typeface="Nunito Bold"/>
                          <a:cs typeface="Nunito Bold"/>
                          <a:sym typeface="Nunito Bold"/>
                        </a:rPr>
                        <a:t>Coverage</a:t>
                      </a:r>
                    </a:p>
                  </a:txBody>
                  <a:tcPr marL="64008" marR="64008" marT="45720" marB="45720" anchor="ctr">
                    <a:lnL w="12700" cap="flat" cmpd="sng" algn="ctr">
                      <a:solidFill>
                        <a:srgbClr val="4472C4"/>
                      </a:solidFill>
                      <a:prstDash val="solid"/>
                    </a:lnL>
                    <a:lnR w="12700" cap="flat" cmpd="sng" algn="ctr">
                      <a:solidFill>
                        <a:srgbClr val="4472C4"/>
                      </a:solidFill>
                      <a:prstDash val="solid"/>
                    </a:lnR>
                    <a:lnT w="12700" cap="flat" cmpd="sng" algn="ctr">
                      <a:solidFill>
                        <a:srgbClr val="4472C4"/>
                      </a:solidFill>
                      <a:prstDash val="solid"/>
                    </a:lnT>
                    <a:lnB w="12700" cap="flat" cmpd="sng" algn="ctr">
                      <a:solidFill>
                        <a:srgbClr val="4472C4"/>
                      </a:solidFill>
                      <a:prstDash val="solid"/>
                    </a:lnB>
                    <a:solidFill>
                      <a:srgbClr val="4472C4"/>
                    </a:solidFill>
                  </a:tcPr>
                </a:tc>
                <a:tc>
                  <a:txBody>
                    <a:bodyPr anchor="ctr" rtlCol="false" lIns="0" tIns="0" rIns="0" bIns="0" wrap="square"/>
                    <a:lstStyle/>
                    <a:p>
                      <a:pPr algn="ctr">
                        <a:lnSpc>
                          <a:spcPts val="2080"/>
                        </a:lnSpc>
                        <a:spcBef>
                          <a:spcPts val="0"/>
                        </a:spcBef>
                        <a:buNone/>
                      </a:pPr>
                      <a:r>
                        <a:rPr lang="en-US" sz="1600" b="true">
                          <a:solidFill>
                            <a:srgbClr val="FFFFFF"/>
                          </a:solidFill>
                          <a:latin typeface="Nunito Bold"/>
                          <a:ea typeface="Nunito Bold"/>
                          <a:cs typeface="Nunito Bold"/>
                          <a:sym typeface="Nunito Bold"/>
                        </a:rPr>
                        <a:t>ILD</a:t>
                      </a:r>
                    </a:p>
                  </a:txBody>
                  <a:tcPr marL="64008" marR="64008" marT="45720" marB="45720" anchor="ctr">
                    <a:lnL w="12700" cap="flat" cmpd="sng" algn="ctr">
                      <a:solidFill>
                        <a:srgbClr val="4472C4"/>
                      </a:solidFill>
                      <a:prstDash val="solid"/>
                    </a:lnL>
                    <a:lnR w="12700" cap="flat" cmpd="sng" algn="ctr">
                      <a:solidFill>
                        <a:srgbClr val="4472C4"/>
                      </a:solidFill>
                      <a:prstDash val="solid"/>
                    </a:lnR>
                    <a:lnT w="12700" cap="flat" cmpd="sng" algn="ctr">
                      <a:solidFill>
                        <a:srgbClr val="4472C4"/>
                      </a:solidFill>
                      <a:prstDash val="solid"/>
                    </a:lnT>
                    <a:lnB w="12700" cap="flat" cmpd="sng" algn="ctr">
                      <a:solidFill>
                        <a:srgbClr val="4472C4"/>
                      </a:solidFill>
                      <a:prstDash val="solid"/>
                    </a:lnB>
                    <a:solidFill>
                      <a:srgbClr val="4472C4"/>
                    </a:solidFill>
                  </a:tcPr>
                </a:tc>
              </a:tr>
              <a:tr h="603504">
                <a:tc>
                  <a:txBody>
                    <a:bodyPr anchor="ctr" rtlCol="false" lIns="0" tIns="0" rIns="0" bIns="0" wrap="square"/>
                    <a:lstStyle/>
                    <a:p>
                      <a:pPr algn="l">
                        <a:lnSpc>
                          <a:spcPts val="2210"/>
                        </a:lnSpc>
                        <a:spcBef>
                          <a:spcPts val="0"/>
                        </a:spcBef>
                        <a:buNone/>
                      </a:pPr>
                      <a:r>
                        <a:rPr lang="en-US" sz="1700" b="true">
                          <a:solidFill>
                            <a:srgbClr val="111111"/>
                          </a:solidFill>
                          <a:latin typeface="Nunito Bold"/>
                          <a:ea typeface="Nunito Bold"/>
                          <a:cs typeface="Nunito Bold"/>
                          <a:sym typeface="Nunito Bold"/>
                        </a:rPr>
                        <a:t>MF</a:t>
                      </a:r>
                    </a:p>
                  </a:txBody>
                  <a:tcPr marL="64008" marR="64008"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c>
                  <a:txBody>
                    <a:bodyPr anchor="ctr" rtlCol="false" lIns="0" tIns="0" rIns="0" bIns="0" wrap="square"/>
                    <a:lstStyle/>
                    <a:p>
                      <a:pPr algn="ctr">
                        <a:lnSpc>
                          <a:spcPts val="2210"/>
                        </a:lnSpc>
                        <a:spcBef>
                          <a:spcPts val="0"/>
                        </a:spcBef>
                        <a:buNone/>
                      </a:pPr>
                      <a:r>
                        <a:rPr lang="en-US" sz="1700" b="true">
                          <a:solidFill>
                            <a:srgbClr val="111111"/>
                          </a:solidFill>
                          <a:latin typeface="Nunito Semi-Bold"/>
                          <a:ea typeface="Nunito Semi-Bold"/>
                          <a:cs typeface="Nunito Semi-Bold"/>
                          <a:sym typeface="Nunito Semi-Bold"/>
                        </a:rPr>
                        <a:t>0.1200</a:t>
                      </a:r>
                    </a:p>
                  </a:txBody>
                  <a:tcPr marL="64008" marR="64008"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c>
                  <a:txBody>
                    <a:bodyPr anchor="ctr" rtlCol="false" lIns="0" tIns="0" rIns="0" bIns="0" wrap="square"/>
                    <a:lstStyle/>
                    <a:p>
                      <a:pPr algn="ctr">
                        <a:lnSpc>
                          <a:spcPts val="2210"/>
                        </a:lnSpc>
                        <a:spcBef>
                          <a:spcPts val="0"/>
                        </a:spcBef>
                        <a:buNone/>
                      </a:pPr>
                      <a:r>
                        <a:rPr lang="en-US" sz="1700" b="true">
                          <a:solidFill>
                            <a:srgbClr val="111111"/>
                          </a:solidFill>
                          <a:latin typeface="Nunito Semi-Bold"/>
                          <a:ea typeface="Nunito Semi-Bold"/>
                          <a:cs typeface="Nunito Semi-Bold"/>
                          <a:sym typeface="Nunito Semi-Bold"/>
                        </a:rPr>
                        <a:t>0.0880</a:t>
                      </a:r>
                    </a:p>
                  </a:txBody>
                  <a:tcPr marL="64008" marR="64008"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c>
                  <a:txBody>
                    <a:bodyPr anchor="ctr" rtlCol="false" lIns="0" tIns="0" rIns="0" bIns="0" wrap="square"/>
                    <a:lstStyle/>
                    <a:p>
                      <a:pPr algn="ctr">
                        <a:lnSpc>
                          <a:spcPts val="2210"/>
                        </a:lnSpc>
                        <a:spcBef>
                          <a:spcPts val="0"/>
                        </a:spcBef>
                        <a:buNone/>
                      </a:pPr>
                      <a:r>
                        <a:rPr lang="en-US" sz="1700" b="true">
                          <a:solidFill>
                            <a:srgbClr val="111111"/>
                          </a:solidFill>
                          <a:latin typeface="Nunito Semi-Bold"/>
                          <a:ea typeface="Nunito Semi-Bold"/>
                          <a:cs typeface="Nunito Semi-Bold"/>
                          <a:sym typeface="Nunito Semi-Bold"/>
                        </a:rPr>
                        <a:t>0.239</a:t>
                      </a:r>
                    </a:p>
                  </a:txBody>
                  <a:tcPr marL="64008" marR="64008"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c>
                  <a:txBody>
                    <a:bodyPr anchor="ctr" rtlCol="false" lIns="0" tIns="0" rIns="0" bIns="0" wrap="square"/>
                    <a:lstStyle/>
                    <a:p>
                      <a:pPr algn="ctr">
                        <a:lnSpc>
                          <a:spcPts val="2210"/>
                        </a:lnSpc>
                        <a:spcBef>
                          <a:spcPts val="0"/>
                        </a:spcBef>
                        <a:buNone/>
                      </a:pPr>
                      <a:r>
                        <a:rPr lang="en-US" sz="1700" b="true">
                          <a:solidFill>
                            <a:srgbClr val="111111"/>
                          </a:solidFill>
                          <a:latin typeface="Nunito Semi-Bold"/>
                          <a:ea typeface="Nunito Semi-Bold"/>
                          <a:cs typeface="Nunito Semi-Bold"/>
                          <a:sym typeface="Nunito Semi-Bold"/>
                        </a:rPr>
                        <a:t>0.367</a:t>
                      </a:r>
                    </a:p>
                  </a:txBody>
                  <a:tcPr marL="64008" marR="64008"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r>
              <a:tr h="603504">
                <a:tc>
                  <a:txBody>
                    <a:bodyPr anchor="ctr" rtlCol="false" lIns="0" tIns="0" rIns="0" bIns="0" wrap="square"/>
                    <a:lstStyle/>
                    <a:p>
                      <a:pPr algn="l">
                        <a:lnSpc>
                          <a:spcPts val="2210"/>
                        </a:lnSpc>
                        <a:spcBef>
                          <a:spcPts val="0"/>
                        </a:spcBef>
                        <a:buNone/>
                      </a:pPr>
                      <a:r>
                        <a:rPr lang="en-US" sz="1700" b="true">
                          <a:solidFill>
                            <a:srgbClr val="111111"/>
                          </a:solidFill>
                          <a:latin typeface="Nunito Bold"/>
                          <a:ea typeface="Nunito Bold"/>
                          <a:cs typeface="Nunito Bold"/>
                          <a:sym typeface="Nunito Bold"/>
                        </a:rPr>
                        <a:t>NCF</a:t>
                      </a:r>
                    </a:p>
                  </a:txBody>
                  <a:tcPr marL="64008" marR="64008"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6ECDF"/>
                    </a:solidFill>
                  </a:tcPr>
                </a:tc>
                <a:tc>
                  <a:txBody>
                    <a:bodyPr anchor="ctr" rtlCol="false" lIns="0" tIns="0" rIns="0" bIns="0" wrap="square"/>
                    <a:lstStyle/>
                    <a:p>
                      <a:pPr algn="ctr">
                        <a:lnSpc>
                          <a:spcPts val="2210"/>
                        </a:lnSpc>
                        <a:spcBef>
                          <a:spcPts val="0"/>
                        </a:spcBef>
                        <a:buNone/>
                      </a:pPr>
                      <a:r>
                        <a:rPr lang="en-US" sz="1700" b="true">
                          <a:solidFill>
                            <a:srgbClr val="111111"/>
                          </a:solidFill>
                          <a:latin typeface="Nunito Semi-Bold"/>
                          <a:ea typeface="Nunito Semi-Bold"/>
                          <a:cs typeface="Nunito Semi-Bold"/>
                          <a:sym typeface="Nunito Semi-Bold"/>
                        </a:rPr>
                        <a:t>0.1300</a:t>
                      </a:r>
                    </a:p>
                  </a:txBody>
                  <a:tcPr marL="64008" marR="64008"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6ECDF"/>
                    </a:solidFill>
                  </a:tcPr>
                </a:tc>
                <a:tc>
                  <a:txBody>
                    <a:bodyPr anchor="ctr" rtlCol="false" lIns="0" tIns="0" rIns="0" bIns="0" wrap="square"/>
                    <a:lstStyle/>
                    <a:p>
                      <a:pPr algn="ctr">
                        <a:lnSpc>
                          <a:spcPts val="2210"/>
                        </a:lnSpc>
                        <a:spcBef>
                          <a:spcPts val="0"/>
                        </a:spcBef>
                        <a:buNone/>
                      </a:pPr>
                      <a:r>
                        <a:rPr lang="en-US" sz="1700" b="true">
                          <a:solidFill>
                            <a:srgbClr val="111111"/>
                          </a:solidFill>
                          <a:latin typeface="Nunito Semi-Bold"/>
                          <a:ea typeface="Nunito Semi-Bold"/>
                          <a:cs typeface="Nunito Semi-Bold"/>
                          <a:sym typeface="Nunito Semi-Bold"/>
                        </a:rPr>
                        <a:t>0.1100</a:t>
                      </a:r>
                    </a:p>
                  </a:txBody>
                  <a:tcPr marL="64008" marR="64008"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6ECDF"/>
                    </a:solidFill>
                  </a:tcPr>
                </a:tc>
                <a:tc>
                  <a:txBody>
                    <a:bodyPr anchor="ctr" rtlCol="false" lIns="0" tIns="0" rIns="0" bIns="0" wrap="square"/>
                    <a:lstStyle/>
                    <a:p>
                      <a:pPr algn="ctr">
                        <a:lnSpc>
                          <a:spcPts val="2210"/>
                        </a:lnSpc>
                        <a:spcBef>
                          <a:spcPts val="0"/>
                        </a:spcBef>
                        <a:buNone/>
                      </a:pPr>
                      <a:r>
                        <a:rPr lang="en-US" sz="1700" b="true">
                          <a:solidFill>
                            <a:srgbClr val="111111"/>
                          </a:solidFill>
                          <a:latin typeface="Nunito Semi-Bold"/>
                          <a:ea typeface="Nunito Semi-Bold"/>
                          <a:cs typeface="Nunito Semi-Bold"/>
                          <a:sym typeface="Nunito Semi-Bold"/>
                        </a:rPr>
                        <a:t>0.269</a:t>
                      </a:r>
                    </a:p>
                  </a:txBody>
                  <a:tcPr marL="64008" marR="64008"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6ECDF"/>
                    </a:solidFill>
                  </a:tcPr>
                </a:tc>
                <a:tc>
                  <a:txBody>
                    <a:bodyPr anchor="ctr" rtlCol="false" lIns="0" tIns="0" rIns="0" bIns="0" wrap="square"/>
                    <a:lstStyle/>
                    <a:p>
                      <a:pPr algn="ctr">
                        <a:lnSpc>
                          <a:spcPts val="2210"/>
                        </a:lnSpc>
                        <a:spcBef>
                          <a:spcPts val="0"/>
                        </a:spcBef>
                        <a:buNone/>
                      </a:pPr>
                      <a:r>
                        <a:rPr lang="en-US" sz="1700" b="true">
                          <a:solidFill>
                            <a:srgbClr val="111111"/>
                          </a:solidFill>
                          <a:latin typeface="Nunito Semi-Bold"/>
                          <a:ea typeface="Nunito Semi-Bold"/>
                          <a:cs typeface="Nunito Semi-Bold"/>
                          <a:sym typeface="Nunito Semi-Bold"/>
                        </a:rPr>
                        <a:t>0.398</a:t>
                      </a:r>
                    </a:p>
                  </a:txBody>
                  <a:tcPr marL="64008" marR="64008"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6ECDF"/>
                    </a:solidFill>
                  </a:tcPr>
                </a:tc>
              </a:tr>
              <a:tr h="603504">
                <a:tc>
                  <a:txBody>
                    <a:bodyPr anchor="ctr" rtlCol="false" lIns="0" tIns="0" rIns="0" bIns="0" wrap="square"/>
                    <a:lstStyle/>
                    <a:p>
                      <a:pPr algn="l">
                        <a:lnSpc>
                          <a:spcPts val="2210"/>
                        </a:lnSpc>
                        <a:spcBef>
                          <a:spcPts val="0"/>
                        </a:spcBef>
                        <a:buNone/>
                      </a:pPr>
                      <a:r>
                        <a:rPr lang="en-US" sz="1700" b="true">
                          <a:solidFill>
                            <a:srgbClr val="111111"/>
                          </a:solidFill>
                          <a:latin typeface="Nunito Bold"/>
                          <a:ea typeface="Nunito Bold"/>
                          <a:cs typeface="Nunito Bold"/>
                          <a:sym typeface="Nunito Bold"/>
                        </a:rPr>
                        <a:t>LightGCN</a:t>
                      </a:r>
                    </a:p>
                  </a:txBody>
                  <a:tcPr marL="64008" marR="64008"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c>
                  <a:txBody>
                    <a:bodyPr anchor="ctr" rtlCol="false" lIns="0" tIns="0" rIns="0" bIns="0" wrap="square"/>
                    <a:lstStyle/>
                    <a:p>
                      <a:pPr algn="ctr">
                        <a:lnSpc>
                          <a:spcPts val="2210"/>
                        </a:lnSpc>
                        <a:spcBef>
                          <a:spcPts val="0"/>
                        </a:spcBef>
                        <a:buNone/>
                      </a:pPr>
                      <a:r>
                        <a:rPr lang="en-US" sz="1700" b="true">
                          <a:solidFill>
                            <a:srgbClr val="111111"/>
                          </a:solidFill>
                          <a:latin typeface="Nunito Semi-Bold"/>
                          <a:ea typeface="Nunito Semi-Bold"/>
                          <a:cs typeface="Nunito Semi-Bold"/>
                          <a:sym typeface="Nunito Semi-Bold"/>
                        </a:rPr>
                        <a:t>0.2130</a:t>
                      </a:r>
                    </a:p>
                  </a:txBody>
                  <a:tcPr marL="64008" marR="64008"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c>
                  <a:txBody>
                    <a:bodyPr anchor="ctr" rtlCol="false" lIns="0" tIns="0" rIns="0" bIns="0" wrap="square"/>
                    <a:lstStyle/>
                    <a:p>
                      <a:pPr algn="ctr">
                        <a:lnSpc>
                          <a:spcPts val="2210"/>
                        </a:lnSpc>
                        <a:spcBef>
                          <a:spcPts val="0"/>
                        </a:spcBef>
                        <a:buNone/>
                      </a:pPr>
                      <a:r>
                        <a:rPr lang="en-US" sz="1700" b="true">
                          <a:solidFill>
                            <a:srgbClr val="111111"/>
                          </a:solidFill>
                          <a:latin typeface="Nunito Semi-Bold"/>
                          <a:ea typeface="Nunito Semi-Bold"/>
                          <a:cs typeface="Nunito Semi-Bold"/>
                          <a:sym typeface="Nunito Semi-Bold"/>
                        </a:rPr>
                        <a:t>0.1790</a:t>
                      </a:r>
                    </a:p>
                  </a:txBody>
                  <a:tcPr marL="64008" marR="64008"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c>
                  <a:txBody>
                    <a:bodyPr anchor="ctr" rtlCol="false" lIns="0" tIns="0" rIns="0" bIns="0" wrap="square"/>
                    <a:lstStyle/>
                    <a:p>
                      <a:pPr algn="ctr">
                        <a:lnSpc>
                          <a:spcPts val="2210"/>
                        </a:lnSpc>
                        <a:spcBef>
                          <a:spcPts val="0"/>
                        </a:spcBef>
                        <a:buNone/>
                      </a:pPr>
                      <a:r>
                        <a:rPr lang="en-US" sz="1700" b="true">
                          <a:solidFill>
                            <a:srgbClr val="111111"/>
                          </a:solidFill>
                          <a:latin typeface="Nunito Semi-Bold"/>
                          <a:ea typeface="Nunito Semi-Bold"/>
                          <a:cs typeface="Nunito Semi-Bold"/>
                          <a:sym typeface="Nunito Semi-Bold"/>
                        </a:rPr>
                        <a:t>0.308</a:t>
                      </a:r>
                    </a:p>
                  </a:txBody>
                  <a:tcPr marL="64008" marR="64008"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c>
                  <a:txBody>
                    <a:bodyPr anchor="ctr" rtlCol="false" lIns="0" tIns="0" rIns="0" bIns="0" wrap="square"/>
                    <a:lstStyle/>
                    <a:p>
                      <a:pPr algn="ctr">
                        <a:lnSpc>
                          <a:spcPts val="2210"/>
                        </a:lnSpc>
                        <a:spcBef>
                          <a:spcPts val="0"/>
                        </a:spcBef>
                        <a:buNone/>
                      </a:pPr>
                      <a:r>
                        <a:rPr lang="en-US" sz="1700" b="true">
                          <a:solidFill>
                            <a:srgbClr val="111111"/>
                          </a:solidFill>
                          <a:latin typeface="Nunito Semi-Bold"/>
                          <a:ea typeface="Nunito Semi-Bold"/>
                          <a:cs typeface="Nunito Semi-Bold"/>
                          <a:sym typeface="Nunito Semi-Bold"/>
                        </a:rPr>
                        <a:t>0.423</a:t>
                      </a:r>
                    </a:p>
                  </a:txBody>
                  <a:tcPr marL="64008" marR="64008"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r>
              <a:tr h="603504">
                <a:tc>
                  <a:txBody>
                    <a:bodyPr anchor="ctr" rtlCol="false" lIns="0" tIns="0" rIns="0" bIns="0" wrap="square"/>
                    <a:lstStyle/>
                    <a:p>
                      <a:pPr algn="l">
                        <a:lnSpc>
                          <a:spcPts val="2210"/>
                        </a:lnSpc>
                        <a:spcBef>
                          <a:spcPts val="0"/>
                        </a:spcBef>
                        <a:buNone/>
                      </a:pPr>
                      <a:r>
                        <a:rPr lang="en-US" sz="1700" b="true">
                          <a:solidFill>
                            <a:srgbClr val="111111"/>
                          </a:solidFill>
                          <a:latin typeface="Nunito Bold"/>
                          <a:ea typeface="Nunito Bold"/>
                          <a:cs typeface="Nunito Bold"/>
                          <a:sym typeface="Nunito Bold"/>
                        </a:rPr>
                        <a:t>RecDCL</a:t>
                      </a:r>
                    </a:p>
                  </a:txBody>
                  <a:tcPr marL="64008" marR="64008"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6ECDF"/>
                    </a:solidFill>
                  </a:tcPr>
                </a:tc>
                <a:tc>
                  <a:txBody>
                    <a:bodyPr anchor="ctr" rtlCol="false" lIns="0" tIns="0" rIns="0" bIns="0" wrap="square"/>
                    <a:lstStyle/>
                    <a:p>
                      <a:pPr algn="ctr">
                        <a:lnSpc>
                          <a:spcPts val="2210"/>
                        </a:lnSpc>
                        <a:spcBef>
                          <a:spcPts val="0"/>
                        </a:spcBef>
                        <a:buNone/>
                      </a:pPr>
                      <a:r>
                        <a:rPr lang="en-US" sz="1700" b="true">
                          <a:solidFill>
                            <a:srgbClr val="111111"/>
                          </a:solidFill>
                          <a:latin typeface="Nunito Semi-Bold"/>
                          <a:ea typeface="Nunito Semi-Bold"/>
                          <a:cs typeface="Nunito Semi-Bold"/>
                          <a:sym typeface="Nunito Semi-Bold"/>
                        </a:rPr>
                        <a:t>0.2296</a:t>
                      </a:r>
                    </a:p>
                  </a:txBody>
                  <a:tcPr marL="64008" marR="64008"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6ECDF"/>
                    </a:solidFill>
                  </a:tcPr>
                </a:tc>
                <a:tc>
                  <a:txBody>
                    <a:bodyPr anchor="ctr" rtlCol="false" lIns="0" tIns="0" rIns="0" bIns="0" wrap="square"/>
                    <a:lstStyle/>
                    <a:p>
                      <a:pPr algn="ctr">
                        <a:lnSpc>
                          <a:spcPts val="2210"/>
                        </a:lnSpc>
                        <a:spcBef>
                          <a:spcPts val="0"/>
                        </a:spcBef>
                        <a:buNone/>
                      </a:pPr>
                      <a:r>
                        <a:rPr lang="en-US" sz="1700" b="true">
                          <a:solidFill>
                            <a:srgbClr val="111111"/>
                          </a:solidFill>
                          <a:latin typeface="Nunito Semi-Bold"/>
                          <a:ea typeface="Nunito Semi-Bold"/>
                          <a:cs typeface="Nunito Semi-Bold"/>
                          <a:sym typeface="Nunito Semi-Bold"/>
                        </a:rPr>
                        <a:t>0.1918</a:t>
                      </a:r>
                    </a:p>
                  </a:txBody>
                  <a:tcPr marL="64008" marR="64008"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6ECDF"/>
                    </a:solidFill>
                  </a:tcPr>
                </a:tc>
                <a:tc>
                  <a:txBody>
                    <a:bodyPr anchor="ctr" rtlCol="false" lIns="0" tIns="0" rIns="0" bIns="0" wrap="square"/>
                    <a:lstStyle/>
                    <a:p>
                      <a:pPr algn="ctr">
                        <a:lnSpc>
                          <a:spcPts val="2210"/>
                        </a:lnSpc>
                        <a:spcBef>
                          <a:spcPts val="0"/>
                        </a:spcBef>
                        <a:buNone/>
                      </a:pPr>
                      <a:r>
                        <a:rPr lang="en-US" sz="1700" b="true">
                          <a:solidFill>
                            <a:srgbClr val="111111"/>
                          </a:solidFill>
                          <a:latin typeface="Nunito Semi-Bold"/>
                          <a:ea typeface="Nunito Semi-Bold"/>
                          <a:cs typeface="Nunito Semi-Bold"/>
                          <a:sym typeface="Nunito Semi-Bold"/>
                        </a:rPr>
                        <a:t>0.324</a:t>
                      </a:r>
                    </a:p>
                  </a:txBody>
                  <a:tcPr marL="64008" marR="64008"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6ECDF"/>
                    </a:solidFill>
                  </a:tcPr>
                </a:tc>
                <a:tc>
                  <a:txBody>
                    <a:bodyPr anchor="ctr" rtlCol="false" lIns="0" tIns="0" rIns="0" bIns="0" wrap="square"/>
                    <a:lstStyle/>
                    <a:p>
                      <a:pPr algn="ctr">
                        <a:lnSpc>
                          <a:spcPts val="2210"/>
                        </a:lnSpc>
                        <a:spcBef>
                          <a:spcPts val="0"/>
                        </a:spcBef>
                        <a:buNone/>
                      </a:pPr>
                      <a:r>
                        <a:rPr lang="en-US" sz="1700" b="true">
                          <a:solidFill>
                            <a:srgbClr val="111111"/>
                          </a:solidFill>
                          <a:latin typeface="Nunito Semi-Bold"/>
                          <a:ea typeface="Nunito Semi-Bold"/>
                          <a:cs typeface="Nunito Semi-Bold"/>
                          <a:sym typeface="Nunito Semi-Bold"/>
                        </a:rPr>
                        <a:t>0.445</a:t>
                      </a:r>
                    </a:p>
                  </a:txBody>
                  <a:tcPr marL="64008" marR="64008"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6ECDF"/>
                    </a:solidFill>
                  </a:tcPr>
                </a:tc>
              </a:tr>
              <a:tr h="603504">
                <a:tc>
                  <a:txBody>
                    <a:bodyPr anchor="ctr" rtlCol="false" lIns="0" tIns="0" rIns="0" bIns="0" wrap="square"/>
                    <a:lstStyle/>
                    <a:p>
                      <a:pPr algn="l">
                        <a:lnSpc>
                          <a:spcPts val="2210"/>
                        </a:lnSpc>
                        <a:spcBef>
                          <a:spcPts val="0"/>
                        </a:spcBef>
                        <a:buNone/>
                      </a:pPr>
                      <a:r>
                        <a:rPr lang="en-US" sz="1700" b="true">
                          <a:solidFill>
                            <a:srgbClr val="111111"/>
                          </a:solidFill>
                          <a:latin typeface="Nunito Bold"/>
                          <a:ea typeface="Nunito Bold"/>
                          <a:cs typeface="Nunito Bold"/>
                          <a:sym typeface="Nunito Bold"/>
                        </a:rPr>
                        <a:t>HCCF</a:t>
                      </a:r>
                    </a:p>
                  </a:txBody>
                  <a:tcPr marL="64008" marR="64008"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c>
                  <a:txBody>
                    <a:bodyPr anchor="ctr" rtlCol="false" lIns="0" tIns="0" rIns="0" bIns="0" wrap="square"/>
                    <a:lstStyle/>
                    <a:p>
                      <a:pPr algn="ctr">
                        <a:lnSpc>
                          <a:spcPts val="2210"/>
                        </a:lnSpc>
                        <a:spcBef>
                          <a:spcPts val="0"/>
                        </a:spcBef>
                        <a:buNone/>
                      </a:pPr>
                      <a:r>
                        <a:rPr lang="en-US" sz="1700" b="true">
                          <a:solidFill>
                            <a:srgbClr val="111111"/>
                          </a:solidFill>
                          <a:latin typeface="Nunito Semi-Bold"/>
                          <a:ea typeface="Nunito Semi-Bold"/>
                          <a:cs typeface="Nunito Semi-Bold"/>
                          <a:sym typeface="Nunito Semi-Bold"/>
                        </a:rPr>
                        <a:t>0.2470</a:t>
                      </a:r>
                    </a:p>
                  </a:txBody>
                  <a:tcPr marL="64008" marR="64008"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c>
                  <a:txBody>
                    <a:bodyPr anchor="ctr" rtlCol="false" lIns="0" tIns="0" rIns="0" bIns="0" wrap="square"/>
                    <a:lstStyle/>
                    <a:p>
                      <a:pPr algn="ctr">
                        <a:lnSpc>
                          <a:spcPts val="2210"/>
                        </a:lnSpc>
                        <a:spcBef>
                          <a:spcPts val="0"/>
                        </a:spcBef>
                        <a:buNone/>
                      </a:pPr>
                      <a:r>
                        <a:rPr lang="en-US" sz="1700" b="true">
                          <a:solidFill>
                            <a:srgbClr val="111111"/>
                          </a:solidFill>
                          <a:latin typeface="Nunito Semi-Bold"/>
                          <a:ea typeface="Nunito Semi-Bold"/>
                          <a:cs typeface="Nunito Semi-Bold"/>
                          <a:sym typeface="Nunito Semi-Bold"/>
                        </a:rPr>
                        <a:t>0.2050</a:t>
                      </a:r>
                    </a:p>
                  </a:txBody>
                  <a:tcPr marL="64008" marR="64008"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c>
                  <a:txBody>
                    <a:bodyPr anchor="ctr" rtlCol="false" lIns="0" tIns="0" rIns="0" bIns="0" wrap="square"/>
                    <a:lstStyle/>
                    <a:p>
                      <a:pPr algn="ctr">
                        <a:lnSpc>
                          <a:spcPts val="2210"/>
                        </a:lnSpc>
                        <a:spcBef>
                          <a:spcPts val="0"/>
                        </a:spcBef>
                        <a:buNone/>
                      </a:pPr>
                      <a:r>
                        <a:rPr lang="en-US" sz="1700" b="true">
                          <a:solidFill>
                            <a:srgbClr val="111111"/>
                          </a:solidFill>
                          <a:latin typeface="Nunito Semi-Bold"/>
                          <a:ea typeface="Nunito Semi-Bold"/>
                          <a:cs typeface="Nunito Semi-Bold"/>
                          <a:sym typeface="Nunito Semi-Bold"/>
                        </a:rPr>
                        <a:t>0.327</a:t>
                      </a:r>
                    </a:p>
                  </a:txBody>
                  <a:tcPr marL="64008" marR="64008"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c>
                  <a:txBody>
                    <a:bodyPr anchor="ctr" rtlCol="false" lIns="0" tIns="0" rIns="0" bIns="0" wrap="square"/>
                    <a:lstStyle/>
                    <a:p>
                      <a:pPr algn="ctr">
                        <a:lnSpc>
                          <a:spcPts val="2210"/>
                        </a:lnSpc>
                        <a:spcBef>
                          <a:spcPts val="0"/>
                        </a:spcBef>
                        <a:buNone/>
                      </a:pPr>
                      <a:r>
                        <a:rPr lang="en-US" sz="1700" b="true">
                          <a:solidFill>
                            <a:srgbClr val="111111"/>
                          </a:solidFill>
                          <a:latin typeface="Nunito Semi-Bold"/>
                          <a:ea typeface="Nunito Semi-Bold"/>
                          <a:cs typeface="Nunito Semi-Bold"/>
                          <a:sym typeface="Nunito Semi-Bold"/>
                        </a:rPr>
                        <a:t>0.448</a:t>
                      </a:r>
                    </a:p>
                  </a:txBody>
                  <a:tcPr marL="64008" marR="64008"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r>
              <a:tr h="603504">
                <a:tc>
                  <a:txBody>
                    <a:bodyPr anchor="ctr" rtlCol="false" lIns="0" tIns="0" rIns="0" bIns="0" wrap="square"/>
                    <a:lstStyle/>
                    <a:p>
                      <a:pPr algn="l">
                        <a:lnSpc>
                          <a:spcPts val="2210"/>
                        </a:lnSpc>
                        <a:spcBef>
                          <a:spcPts val="0"/>
                        </a:spcBef>
                        <a:buNone/>
                      </a:pPr>
                      <a:r>
                        <a:rPr lang="en-US" sz="1700" b="true">
                          <a:solidFill>
                            <a:srgbClr val="111111"/>
                          </a:solidFill>
                          <a:latin typeface="Nunito Bold"/>
                          <a:ea typeface="Nunito Bold"/>
                          <a:cs typeface="Nunito Bold"/>
                          <a:sym typeface="Nunito Bold"/>
                        </a:rPr>
                        <a:t>HPCF</a:t>
                      </a:r>
                    </a:p>
                  </a:txBody>
                  <a:tcPr marL="64008" marR="64008"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6ECDF"/>
                    </a:solidFill>
                  </a:tcPr>
                </a:tc>
                <a:tc>
                  <a:txBody>
                    <a:bodyPr anchor="ctr" rtlCol="false" lIns="0" tIns="0" rIns="0" bIns="0" wrap="square"/>
                    <a:lstStyle/>
                    <a:p>
                      <a:pPr algn="ctr">
                        <a:lnSpc>
                          <a:spcPts val="2210"/>
                        </a:lnSpc>
                        <a:spcBef>
                          <a:spcPts val="0"/>
                        </a:spcBef>
                        <a:buNone/>
                      </a:pPr>
                      <a:r>
                        <a:rPr lang="en-US" sz="1700" b="true">
                          <a:solidFill>
                            <a:srgbClr val="111111"/>
                          </a:solidFill>
                          <a:latin typeface="Nunito Semi-Bold"/>
                          <a:ea typeface="Nunito Semi-Bold"/>
                          <a:cs typeface="Nunito Semi-Bold"/>
                          <a:sym typeface="Nunito Semi-Bold"/>
                        </a:rPr>
                        <a:t>0.2528</a:t>
                      </a:r>
                    </a:p>
                  </a:txBody>
                  <a:tcPr marL="64008" marR="64008"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6ECDF"/>
                    </a:solidFill>
                  </a:tcPr>
                </a:tc>
                <a:tc>
                  <a:txBody>
                    <a:bodyPr anchor="ctr" rtlCol="false" lIns="0" tIns="0" rIns="0" bIns="0" wrap="square"/>
                    <a:lstStyle/>
                    <a:p>
                      <a:pPr algn="ctr">
                        <a:lnSpc>
                          <a:spcPts val="2210"/>
                        </a:lnSpc>
                        <a:spcBef>
                          <a:spcPts val="0"/>
                        </a:spcBef>
                        <a:buNone/>
                      </a:pPr>
                      <a:r>
                        <a:rPr lang="en-US" sz="1700" b="true">
                          <a:solidFill>
                            <a:srgbClr val="111111"/>
                          </a:solidFill>
                          <a:latin typeface="Nunito Semi-Bold"/>
                          <a:ea typeface="Nunito Semi-Bold"/>
                          <a:cs typeface="Nunito Semi-Bold"/>
                          <a:sym typeface="Nunito Semi-Bold"/>
                        </a:rPr>
                        <a:t>0.2098</a:t>
                      </a:r>
                    </a:p>
                  </a:txBody>
                  <a:tcPr marL="64008" marR="64008"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6ECDF"/>
                    </a:solidFill>
                  </a:tcPr>
                </a:tc>
                <a:tc>
                  <a:txBody>
                    <a:bodyPr anchor="ctr" rtlCol="false" lIns="0" tIns="0" rIns="0" bIns="0" wrap="square"/>
                    <a:lstStyle/>
                    <a:p>
                      <a:pPr algn="ctr">
                        <a:lnSpc>
                          <a:spcPts val="2210"/>
                        </a:lnSpc>
                        <a:spcBef>
                          <a:spcPts val="0"/>
                        </a:spcBef>
                        <a:buNone/>
                      </a:pPr>
                      <a:r>
                        <a:rPr lang="en-US" sz="1700" b="true">
                          <a:solidFill>
                            <a:srgbClr val="111111"/>
                          </a:solidFill>
                          <a:latin typeface="Nunito Semi-Bold"/>
                          <a:ea typeface="Nunito Semi-Bold"/>
                          <a:cs typeface="Nunito Semi-Bold"/>
                          <a:sym typeface="Nunito Semi-Bold"/>
                        </a:rPr>
                        <a:t>0.342</a:t>
                      </a:r>
                    </a:p>
                  </a:txBody>
                  <a:tcPr marL="64008" marR="64008"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6ECDF"/>
                    </a:solidFill>
                  </a:tcPr>
                </a:tc>
                <a:tc>
                  <a:txBody>
                    <a:bodyPr anchor="ctr" rtlCol="false" lIns="0" tIns="0" rIns="0" bIns="0" wrap="square"/>
                    <a:lstStyle/>
                    <a:p>
                      <a:pPr algn="ctr">
                        <a:lnSpc>
                          <a:spcPts val="2210"/>
                        </a:lnSpc>
                        <a:spcBef>
                          <a:spcPts val="0"/>
                        </a:spcBef>
                        <a:buNone/>
                      </a:pPr>
                      <a:r>
                        <a:rPr lang="en-US" sz="1700" b="true">
                          <a:solidFill>
                            <a:srgbClr val="111111"/>
                          </a:solidFill>
                          <a:latin typeface="Nunito Semi-Bold"/>
                          <a:ea typeface="Nunito Semi-Bold"/>
                          <a:cs typeface="Nunito Semi-Bold"/>
                          <a:sym typeface="Nunito Semi-Bold"/>
                        </a:rPr>
                        <a:t>0.461</a:t>
                      </a:r>
                    </a:p>
                  </a:txBody>
                  <a:tcPr marL="64008" marR="64008"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6ECDF"/>
                    </a:solidFill>
                  </a:tcPr>
                </a:tc>
              </a:tr>
              <a:tr h="603504">
                <a:tc>
                  <a:txBody>
                    <a:bodyPr anchor="ctr" rtlCol="false" lIns="0" tIns="0" rIns="0" bIns="0" wrap="square"/>
                    <a:lstStyle/>
                    <a:p>
                      <a:pPr algn="l">
                        <a:lnSpc>
                          <a:spcPts val="2210"/>
                        </a:lnSpc>
                        <a:spcBef>
                          <a:spcPts val="0"/>
                        </a:spcBef>
                        <a:buNone/>
                      </a:pPr>
                      <a:r>
                        <a:rPr lang="en-US" sz="1700" b="1">
                          <a:solidFill>
                            <a:srgbClr val="111111"/>
                          </a:solidFill>
                          <a:latin typeface="Nunito Bold"/>
                          <a:ea typeface="Nunito Bold"/>
                          <a:cs typeface="Nunito Bold"/>
                          <a:sym typeface="Nunito Bold"/>
                        </a:rPr>
                        <a:t>DyHuCoG</a:t>
                      </a:r>
                    </a:p>
                  </a:txBody>
                  <a:tcPr marL="64008" marR="64008"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D9E2F3"/>
                    </a:solidFill>
                  </a:tcPr>
                </a:tc>
                <a:tc>
                  <a:txBody>
                    <a:bodyPr anchor="ctr" rtlCol="false" lIns="0" tIns="0" rIns="0" bIns="0" wrap="square"/>
                    <a:lstStyle/>
                    <a:p>
                      <a:pPr algn="ctr">
                        <a:lnSpc>
                          <a:spcPts val="2210"/>
                        </a:lnSpc>
                        <a:spcBef>
                          <a:spcPts val="0"/>
                        </a:spcBef>
                        <a:buNone/>
                      </a:pPr>
                      <a:r>
                        <a:rPr lang="en-US" sz="1700" b="1">
                          <a:solidFill>
                            <a:srgbClr val="111111"/>
                          </a:solidFill>
                          <a:latin typeface="Nunito Semi-Bold"/>
                          <a:ea typeface="Nunito Semi-Bold"/>
                          <a:cs typeface="Nunito Semi-Bold"/>
                          <a:sym typeface="Nunito Semi-Bold"/>
                        </a:rPr>
                        <a:t>0.2775</a:t>
                      </a:r>
                    </a:p>
                  </a:txBody>
                  <a:tcPr marL="64008" marR="64008"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D9E2F3"/>
                    </a:solidFill>
                  </a:tcPr>
                </a:tc>
                <a:tc>
                  <a:txBody>
                    <a:bodyPr anchor="ctr" rtlCol="false" lIns="0" tIns="0" rIns="0" bIns="0" wrap="square"/>
                    <a:lstStyle/>
                    <a:p>
                      <a:pPr algn="ctr">
                        <a:lnSpc>
                          <a:spcPts val="2210"/>
                        </a:lnSpc>
                        <a:spcBef>
                          <a:spcPts val="0"/>
                        </a:spcBef>
                        <a:buNone/>
                      </a:pPr>
                      <a:r>
                        <a:rPr lang="en-US" sz="1700" b="1">
                          <a:solidFill>
                            <a:srgbClr val="111111"/>
                          </a:solidFill>
                          <a:latin typeface="Nunito Semi-Bold"/>
                          <a:ea typeface="Nunito Semi-Bold"/>
                          <a:cs typeface="Nunito Semi-Bold"/>
                          <a:sym typeface="Nunito Semi-Bold"/>
                        </a:rPr>
                        <a:t>0.2362</a:t>
                      </a:r>
                    </a:p>
                  </a:txBody>
                  <a:tcPr marL="64008" marR="64008"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D9E2F3"/>
                    </a:solidFill>
                  </a:tcPr>
                </a:tc>
                <a:tc>
                  <a:txBody>
                    <a:bodyPr anchor="ctr" rtlCol="false" lIns="0" tIns="0" rIns="0" bIns="0" wrap="square"/>
                    <a:lstStyle/>
                    <a:p>
                      <a:pPr algn="ctr">
                        <a:lnSpc>
                          <a:spcPts val="2210"/>
                        </a:lnSpc>
                        <a:spcBef>
                          <a:spcPts val="0"/>
                        </a:spcBef>
                        <a:buNone/>
                      </a:pPr>
                      <a:r>
                        <a:rPr lang="en-US" sz="1700" b="1">
                          <a:solidFill>
                            <a:srgbClr val="111111"/>
                          </a:solidFill>
                          <a:latin typeface="Nunito Semi-Bold"/>
                          <a:ea typeface="Nunito Semi-Bold"/>
                          <a:cs typeface="Nunito Semi-Bold"/>
                          <a:sym typeface="Nunito Semi-Bold"/>
                        </a:rPr>
                        <a:t>0.397</a:t>
                      </a:r>
                    </a:p>
                  </a:txBody>
                  <a:tcPr marL="64008" marR="64008"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D9E2F3"/>
                    </a:solidFill>
                  </a:tcPr>
                </a:tc>
                <a:tc>
                  <a:txBody>
                    <a:bodyPr anchor="ctr" rtlCol="false" lIns="0" tIns="0" rIns="0" bIns="0" wrap="square"/>
                    <a:lstStyle/>
                    <a:p>
                      <a:pPr algn="ctr">
                        <a:lnSpc>
                          <a:spcPts val="2210"/>
                        </a:lnSpc>
                        <a:spcBef>
                          <a:spcPts val="0"/>
                        </a:spcBef>
                        <a:buNone/>
                      </a:pPr>
                      <a:r>
                        <a:rPr lang="en-US" sz="1700" b="1">
                          <a:solidFill>
                            <a:srgbClr val="111111"/>
                          </a:solidFill>
                          <a:latin typeface="Nunito Semi-Bold"/>
                          <a:ea typeface="Nunito Semi-Bold"/>
                          <a:cs typeface="Nunito Semi-Bold"/>
                          <a:sym typeface="Nunito Semi-Bold"/>
                        </a:rPr>
                        <a:t>0.516</a:t>
                      </a:r>
                    </a:p>
                  </a:txBody>
                  <a:tcPr marL="64008" marR="64008"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D9E2F3"/>
                    </a:solidFill>
                  </a:tcPr>
                </a:tc>
              </a:tr>
            </a:tbl>
          </a:graphicData>
        </a:graphic>
      </p:graphicFrame>
      <p:sp>
        <p:nvSpPr>
          <p:cNvPr id="28" name="TextBox 27"/>
          <p:cNvSpPr txBox="1"/>
          <p:nvPr/>
        </p:nvSpPr>
        <p:spPr>
          <a:xfrm>
            <a:off x="7520940" y="8301482"/>
            <a:ext cx="9738360" cy="548640"/>
          </a:xfrm>
          <a:prstGeom prst="rect">
            <a:avLst/>
          </a:prstGeom>
          <a:noFill/>
        </p:spPr>
        <p:txBody>
          <a:bodyPr anchor="t" rtlCol="false" lIns="0" tIns="0" rIns="0" bIns="0" wrap="square"/>
          <a:lstStyle/>
          <a:p>
            <a:pPr algn="l">
              <a:lnSpc>
                <a:spcPts val="1600"/>
              </a:lnSpc>
              <a:spcBef>
                <a:spcPts val="0"/>
              </a:spcBef>
              <a:buNone/>
            </a:pPr>
            <a:r>
              <a:rPr lang="en-US" sz="1300" b="true">
                <a:solidFill>
                  <a:srgbClr val="8A8378"/>
                </a:solidFill>
                <a:latin typeface="Nunito Semi-Bold"/>
                <a:ea typeface="Nunito Semi-Bold"/>
                <a:cs typeface="Nunito Semi-Bold"/>
                <a:sym typeface="Nunito Semi-Bold"/>
              </a:rPr>
              <a:t>Table 7.1 (thesis): mean over five seeds; ± standard deviation in the backup slides. Best value per column in the bold row.</a:t>
            </a:r>
          </a:p>
        </p:txBody>
      </p:sp>
    </p:spTree>
  </p:cSld>
  <p:clrMapOvr>
    <a:masterClrMapping/>
  </p:clrMapOvr>
</p:sld>
</file>

<file path=ppt/slides/slide7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pic>
        <p:nvPicPr>
          <p:cNvPr id="2" name="Picture 1" descr="ensias_logo.jpg"/>
          <p:cNvPicPr>
            <a:picLocks noChangeAspect="1"/>
          </p:cNvPicPr>
          <p:nvPr/>
        </p:nvPicPr>
        <p:blipFill>
          <a:blip r:embed="rId2"/>
          <a:stretch>
            <a:fillRect/>
          </a:stretch>
        </p:blipFill>
        <p:spPr>
          <a:xfrm>
            <a:off x="1028700" y="9674352"/>
            <a:ext cx="542964" cy="384048"/>
          </a:xfrm>
          <a:prstGeom prst="rect">
            <a:avLst/>
          </a:prstGeom>
        </p:spPr>
      </p:pic>
      <p:sp>
        <p:nvSpPr>
          <p:cNvPr id="3" name="TextBox 2"/>
          <p:cNvSpPr txBox="1"/>
          <p:nvPr/>
        </p:nvSpPr>
        <p:spPr>
          <a:xfrm>
            <a:off x="1577340" y="9601200"/>
            <a:ext cx="14493240" cy="566928"/>
          </a:xfrm>
          <a:prstGeom prst="rect">
            <a:avLst/>
          </a:prstGeom>
          <a:noFill/>
        </p:spPr>
        <p:txBody>
          <a:bodyPr anchor="ctr" rtlCol="false" lIns="0" tIns="0" rIns="0" bIns="0" wrap="square"/>
          <a:lstStyle/>
          <a:p>
            <a:pPr algn="l">
              <a:lnSpc>
                <a:spcPts val="1200"/>
              </a:lnSpc>
              <a:spcBef>
                <a:spcPts val="0"/>
              </a:spcBef>
              <a:buNone/>
            </a:pPr>
            <a:r>
              <a:rPr lang="en-US" sz="1000" b="true">
                <a:solidFill>
                  <a:srgbClr val="8A8378"/>
                </a:solidFill>
                <a:latin typeface="Nunito Semi-Bold"/>
                <a:ea typeface="Nunito Semi-Bold"/>
                <a:cs typeface="Nunito Semi-Bold"/>
                <a:sym typeface="Nunito Semi-Bold"/>
              </a:rPr>
              <a:t>[3] Louhichi, M., Nesmaoui, R. &amp; Lazaar, M. DyHuCoG: A Dynamic Hypergraph Cooperative Game for Preference-aware Recommendation. IJIES 19(2), 887–902 (2026).</a:t>
            </a:r>
          </a:p>
        </p:txBody>
      </p:sp>
      <p:sp>
        <p:nvSpPr>
          <p:cNvPr id="4" name="TextBox 3"/>
          <p:cNvSpPr txBox="1"/>
          <p:nvPr/>
        </p:nvSpPr>
        <p:spPr>
          <a:xfrm>
            <a:off x="16162020" y="9692640"/>
            <a:ext cx="1097280" cy="329184"/>
          </a:xfrm>
          <a:prstGeom prst="rect">
            <a:avLst/>
          </a:prstGeom>
          <a:noFill/>
        </p:spPr>
        <p:txBody>
          <a:bodyPr anchor="t" rtlCol="false" lIns="0" tIns="0" rIns="0" bIns="0" wrap="square"/>
          <a:lstStyle/>
          <a:p>
            <a:pPr algn="r">
              <a:lnSpc>
                <a:spcPts val="2200"/>
              </a:lnSpc>
              <a:spcBef>
                <a:spcPts val="0"/>
              </a:spcBef>
              <a:buNone/>
            </a:pPr>
            <a:r>
              <a:rPr lang="en-US" sz="1800" b="true">
                <a:solidFill>
                  <a:srgbClr val="111111"/>
                </a:solidFill>
                <a:latin typeface="Nunito Ultra-Bold"/>
                <a:ea typeface="Nunito Ultra-Bold"/>
                <a:cs typeface="Nunito Ultra-Bold"/>
                <a:sym typeface="Nunito Ultra-Bold"/>
              </a:rPr>
              <a:t>59</a:t>
            </a:r>
          </a:p>
        </p:txBody>
      </p:sp>
      <p:sp>
        <p:nvSpPr>
          <p:cNvPr id="5" name="TextBox 4"/>
          <p:cNvSpPr txBox="1"/>
          <p:nvPr/>
        </p:nvSpPr>
        <p:spPr>
          <a:xfrm>
            <a:off x="1028700" y="1389888"/>
            <a:ext cx="12938760" cy="329184"/>
          </a:xfrm>
          <a:prstGeom prst="rect">
            <a:avLst/>
          </a:prstGeom>
          <a:noFill/>
        </p:spPr>
        <p:txBody>
          <a:bodyPr anchor="t" rtlCol="false" lIns="0" tIns="0" rIns="0" bIns="0" wrap="square"/>
          <a:lstStyle/>
          <a:p>
            <a:pPr algn="l">
              <a:lnSpc>
                <a:spcPts val="2000"/>
              </a:lnSpc>
              <a:spcBef>
                <a:spcPts val="0"/>
              </a:spcBef>
              <a:buNone/>
            </a:pPr>
            <a:r>
              <a:rPr lang="en-US" sz="1500" b="true" spc="160">
                <a:solidFill>
                  <a:srgbClr val="1F7A8C"/>
                </a:solidFill>
                <a:latin typeface="Nunito Ultra-Bold"/>
                <a:ea typeface="Nunito Ultra-Bold"/>
                <a:cs typeface="Nunito Ultra-Bold"/>
                <a:sym typeface="Nunito Ultra-Bold"/>
              </a:rPr>
              <a:t>CONTRIBUTION III: DYHUCOG, A DYNAMIC HYPERGRAPH COOPERATIVE GAME</a:t>
            </a:r>
          </a:p>
        </p:txBody>
      </p:sp>
      <p:sp>
        <p:nvSpPr>
          <p:cNvPr id="6" name="Rounded Rectangle 5"/>
          <p:cNvSpPr/>
          <p:nvPr/>
        </p:nvSpPr>
        <p:spPr>
          <a:xfrm>
            <a:off x="14516100"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7" name="TextBox 6"/>
          <p:cNvSpPr txBox="1"/>
          <p:nvPr/>
        </p:nvSpPr>
        <p:spPr>
          <a:xfrm>
            <a:off x="14516100"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1</a:t>
            </a:r>
          </a:p>
        </p:txBody>
      </p:sp>
      <p:sp>
        <p:nvSpPr>
          <p:cNvPr id="8" name="Rounded Rectangle 7"/>
          <p:cNvSpPr/>
          <p:nvPr/>
        </p:nvSpPr>
        <p:spPr>
          <a:xfrm>
            <a:off x="14918436"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9" name="TextBox 8"/>
          <p:cNvSpPr txBox="1"/>
          <p:nvPr/>
        </p:nvSpPr>
        <p:spPr>
          <a:xfrm>
            <a:off x="14918436"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2</a:t>
            </a:r>
          </a:p>
        </p:txBody>
      </p:sp>
      <p:sp>
        <p:nvSpPr>
          <p:cNvPr id="10" name="Rounded Rectangle 9"/>
          <p:cNvSpPr/>
          <p:nvPr/>
        </p:nvSpPr>
        <p:spPr>
          <a:xfrm>
            <a:off x="15320772"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11" name="TextBox 10"/>
          <p:cNvSpPr txBox="1"/>
          <p:nvPr/>
        </p:nvSpPr>
        <p:spPr>
          <a:xfrm>
            <a:off x="15320772"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3</a:t>
            </a:r>
          </a:p>
        </p:txBody>
      </p:sp>
      <p:sp>
        <p:nvSpPr>
          <p:cNvPr id="12" name="Rounded Rectangle 11"/>
          <p:cNvSpPr/>
          <p:nvPr/>
        </p:nvSpPr>
        <p:spPr>
          <a:xfrm>
            <a:off x="15723108"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13" name="TextBox 12"/>
          <p:cNvSpPr txBox="1"/>
          <p:nvPr/>
        </p:nvSpPr>
        <p:spPr>
          <a:xfrm>
            <a:off x="15723108"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4</a:t>
            </a:r>
          </a:p>
        </p:txBody>
      </p:sp>
      <p:sp>
        <p:nvSpPr>
          <p:cNvPr id="14" name="Rounded Rectangle 13"/>
          <p:cNvSpPr/>
          <p:nvPr/>
        </p:nvSpPr>
        <p:spPr>
          <a:xfrm>
            <a:off x="16125444"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15" name="TextBox 14"/>
          <p:cNvSpPr txBox="1"/>
          <p:nvPr/>
        </p:nvSpPr>
        <p:spPr>
          <a:xfrm>
            <a:off x="16125444"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5</a:t>
            </a:r>
          </a:p>
        </p:txBody>
      </p:sp>
      <p:sp>
        <p:nvSpPr>
          <p:cNvPr id="16" name="Rounded Rectangle 15"/>
          <p:cNvSpPr/>
          <p:nvPr/>
        </p:nvSpPr>
        <p:spPr>
          <a:xfrm>
            <a:off x="16527780" y="1371600"/>
            <a:ext cx="329184" cy="329184"/>
          </a:xfrm>
          <a:prstGeom prst="roundRect">
            <a:avLst>
              <a:gd name="adj" fmla="val 16666"/>
            </a:avLst>
          </a:prstGeom>
          <a:solidFill>
            <a:srgbClr val="4472C4"/>
          </a:solidFill>
          <a:ln w="15875">
            <a:solidFill>
              <a:srgbClr val="4472C4"/>
            </a:solidFill>
          </a:ln>
        </p:spPr>
        <p:txBody>
          <a:bodyPr anchor="ctr" rtlCol="false" lIns="0" tIns="0" rIns="0" bIns="0" wrap="square"/>
          <a:lstStyle/>
          <a:p>
            <a:endParaRPr lang="en-US" sz="1800"/>
          </a:p>
        </p:txBody>
      </p:sp>
      <p:sp>
        <p:nvSpPr>
          <p:cNvPr id="17" name="TextBox 16"/>
          <p:cNvSpPr txBox="1"/>
          <p:nvPr/>
        </p:nvSpPr>
        <p:spPr>
          <a:xfrm>
            <a:off x="16527780"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FFFFFF"/>
                </a:solidFill>
                <a:latin typeface="Nunito Ultra-Bold"/>
                <a:ea typeface="Nunito Ultra-Bold"/>
                <a:cs typeface="Nunito Ultra-Bold"/>
                <a:sym typeface="Nunito Ultra-Bold"/>
              </a:rPr>
              <a:t>6</a:t>
            </a:r>
          </a:p>
        </p:txBody>
      </p:sp>
      <p:sp>
        <p:nvSpPr>
          <p:cNvPr id="18" name="Rounded Rectangle 17"/>
          <p:cNvSpPr/>
          <p:nvPr/>
        </p:nvSpPr>
        <p:spPr>
          <a:xfrm>
            <a:off x="16930116"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19" name="TextBox 18"/>
          <p:cNvSpPr txBox="1"/>
          <p:nvPr/>
        </p:nvSpPr>
        <p:spPr>
          <a:xfrm>
            <a:off x="16930116"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7</a:t>
            </a:r>
          </a:p>
        </p:txBody>
      </p:sp>
      <p:sp>
        <p:nvSpPr>
          <p:cNvPr id="20" name="TextBox 19"/>
          <p:cNvSpPr txBox="1"/>
          <p:nvPr/>
        </p:nvSpPr>
        <p:spPr>
          <a:xfrm>
            <a:off x="1028700" y="1719072"/>
            <a:ext cx="16230600" cy="730250"/>
          </a:xfrm>
          <a:prstGeom prst="rect">
            <a:avLst/>
          </a:prstGeom>
          <a:noFill/>
        </p:spPr>
        <p:txBody>
          <a:bodyPr anchor="t" rtlCol="false" lIns="0" tIns="0" rIns="0" bIns="0" wrap="square"/>
          <a:lstStyle/>
          <a:p>
            <a:pPr algn="l">
              <a:lnSpc>
                <a:spcPts val="5060"/>
              </a:lnSpc>
              <a:spcBef>
                <a:spcPts val="0"/>
              </a:spcBef>
              <a:buNone/>
            </a:pPr>
            <a:r>
              <a:rPr lang="en-US" sz="4600" b="true" spc="-230">
                <a:solidFill>
                  <a:srgbClr val="111111"/>
                </a:solidFill>
                <a:latin typeface="Roca Two Bold"/>
                <a:ea typeface="Roca Two Bold"/>
                <a:cs typeface="Roca Two Bold"/>
                <a:sym typeface="Roca Two Bold"/>
              </a:rPr>
              <a:t>Main Results on Amazon-Book</a:t>
            </a:r>
          </a:p>
        </p:txBody>
      </p:sp>
      <p:sp>
        <p:nvSpPr>
          <p:cNvPr id="21" name="Rounded Rectangle 20"/>
          <p:cNvSpPr/>
          <p:nvPr/>
        </p:nvSpPr>
        <p:spPr>
          <a:xfrm>
            <a:off x="1028700" y="2559050"/>
            <a:ext cx="1691553" cy="420624"/>
          </a:xfrm>
          <a:prstGeom prst="roundRect">
            <a:avLst>
              <a:gd name="adj" fmla="val 50000"/>
            </a:avLst>
          </a:prstGeom>
          <a:noFill/>
          <a:ln w="28575">
            <a:solidFill>
              <a:srgbClr val="4472C4"/>
            </a:solidFill>
          </a:ln>
        </p:spPr>
        <p:txBody>
          <a:bodyPr anchor="ctr" rtlCol="false" lIns="45720" tIns="0" rIns="45720" bIns="0" wrap="square"/>
          <a:lstStyle/>
          <a:p>
            <a:pPr algn="ctr">
              <a:lnSpc>
                <a:spcPts val="2160"/>
              </a:lnSpc>
              <a:spcBef>
                <a:spcPts val="0"/>
              </a:spcBef>
              <a:buNone/>
            </a:pPr>
            <a:r>
              <a:rPr lang="en-US" sz="1800" b="true">
                <a:solidFill>
                  <a:srgbClr val="4472C4"/>
                </a:solidFill>
                <a:latin typeface="Nunito Bold"/>
                <a:ea typeface="Nunito Bold"/>
                <a:cs typeface="Nunito Bold"/>
                <a:sym typeface="Nunito Bold"/>
              </a:rPr>
              <a:t>Objectives</a:t>
            </a:r>
          </a:p>
        </p:txBody>
      </p:sp>
      <p:sp>
        <p:nvSpPr>
          <p:cNvPr id="22" name="Rounded Rectangle 21"/>
          <p:cNvSpPr/>
          <p:nvPr/>
        </p:nvSpPr>
        <p:spPr>
          <a:xfrm>
            <a:off x="2848269" y="2559050"/>
            <a:ext cx="1998119" cy="420624"/>
          </a:xfrm>
          <a:prstGeom prst="roundRect">
            <a:avLst>
              <a:gd name="adj" fmla="val 50000"/>
            </a:avLst>
          </a:prstGeom>
          <a:noFill/>
          <a:ln w="28575">
            <a:solidFill>
              <a:srgbClr val="4472C4"/>
            </a:solidFill>
          </a:ln>
        </p:spPr>
        <p:txBody>
          <a:bodyPr anchor="ctr" rtlCol="false" lIns="45720" tIns="0" rIns="45720" bIns="0" wrap="square"/>
          <a:lstStyle/>
          <a:p>
            <a:pPr algn="ctr">
              <a:lnSpc>
                <a:spcPts val="2160"/>
              </a:lnSpc>
              <a:spcBef>
                <a:spcPts val="0"/>
              </a:spcBef>
              <a:buNone/>
            </a:pPr>
            <a:r>
              <a:rPr lang="en-US" sz="1800" b="true">
                <a:solidFill>
                  <a:srgbClr val="4472C4"/>
                </a:solidFill>
                <a:latin typeface="Nunito Bold"/>
                <a:ea typeface="Nunito Bold"/>
                <a:cs typeface="Nunito Bold"/>
                <a:sym typeface="Nunito Bold"/>
              </a:rPr>
              <a:t>Methodology</a:t>
            </a:r>
          </a:p>
        </p:txBody>
      </p:sp>
      <p:sp>
        <p:nvSpPr>
          <p:cNvPr id="23" name="Rounded Rectangle 22"/>
          <p:cNvSpPr/>
          <p:nvPr/>
        </p:nvSpPr>
        <p:spPr>
          <a:xfrm>
            <a:off x="4974404" y="2559050"/>
            <a:ext cx="1369446" cy="420624"/>
          </a:xfrm>
          <a:prstGeom prst="roundRect">
            <a:avLst>
              <a:gd name="adj" fmla="val 50000"/>
            </a:avLst>
          </a:prstGeom>
          <a:solidFill>
            <a:srgbClr val="4472C4"/>
          </a:solidFill>
          <a:ln>
            <a:noFill/>
          </a:ln>
        </p:spPr>
        <p:txBody>
          <a:bodyPr anchor="ctr" rtlCol="false" lIns="45720" tIns="0" rIns="45720" bIns="0" wrap="square"/>
          <a:lstStyle/>
          <a:p>
            <a:pPr algn="ctr">
              <a:lnSpc>
                <a:spcPts val="2160"/>
              </a:lnSpc>
              <a:spcBef>
                <a:spcPts val="0"/>
              </a:spcBef>
              <a:buNone/>
            </a:pPr>
            <a:r>
              <a:rPr lang="en-US" sz="1800" b="true">
                <a:solidFill>
                  <a:srgbClr val="FFFFFF"/>
                </a:solidFill>
                <a:latin typeface="Nunito Bold"/>
                <a:ea typeface="Nunito Bold"/>
                <a:cs typeface="Nunito Bold"/>
                <a:sym typeface="Nunito Bold"/>
              </a:rPr>
              <a:t>Results</a:t>
            </a:r>
          </a:p>
        </p:txBody>
      </p:sp>
      <p:sp>
        <p:nvSpPr>
          <p:cNvPr id="24" name="Rounded Rectangle 23"/>
          <p:cNvSpPr/>
          <p:nvPr/>
        </p:nvSpPr>
        <p:spPr>
          <a:xfrm>
            <a:off x="6471866" y="2559050"/>
            <a:ext cx="1474931" cy="420624"/>
          </a:xfrm>
          <a:prstGeom prst="roundRect">
            <a:avLst>
              <a:gd name="adj" fmla="val 50000"/>
            </a:avLst>
          </a:prstGeom>
          <a:noFill/>
          <a:ln w="28575">
            <a:solidFill>
              <a:srgbClr val="4472C4"/>
            </a:solidFill>
          </a:ln>
        </p:spPr>
        <p:txBody>
          <a:bodyPr anchor="ctr" rtlCol="false" lIns="45720" tIns="0" rIns="45720" bIns="0" wrap="square"/>
          <a:lstStyle/>
          <a:p>
            <a:pPr algn="ctr">
              <a:lnSpc>
                <a:spcPts val="2160"/>
              </a:lnSpc>
              <a:spcBef>
                <a:spcPts val="0"/>
              </a:spcBef>
              <a:buNone/>
            </a:pPr>
            <a:r>
              <a:rPr lang="en-US" sz="1800" b="true">
                <a:solidFill>
                  <a:srgbClr val="4472C4"/>
                </a:solidFill>
                <a:latin typeface="Nunito Bold"/>
                <a:ea typeface="Nunito Bold"/>
                <a:cs typeface="Nunito Bold"/>
                <a:sym typeface="Nunito Bold"/>
              </a:rPr>
              <a:t>Findings</a:t>
            </a:r>
          </a:p>
        </p:txBody>
      </p:sp>
      <p:sp>
        <p:nvSpPr>
          <p:cNvPr id="25" name="TextBox 24"/>
          <p:cNvSpPr txBox="1"/>
          <p:nvPr/>
        </p:nvSpPr>
        <p:spPr>
          <a:xfrm>
            <a:off x="1028700" y="3363722"/>
            <a:ext cx="6035040" cy="4573270"/>
          </a:xfrm>
          <a:prstGeom prst="rect">
            <a:avLst/>
          </a:prstGeom>
          <a:noFill/>
        </p:spPr>
        <p:txBody>
          <a:bodyPr anchor="t" rtlCol="false" lIns="0" tIns="0" rIns="0" bIns="0" wrap="square"/>
          <a:lstStyle/>
          <a:p>
            <a:pPr algn="l" marL="274320" indent="-274320">
              <a:lnSpc>
                <a:spcPts val="2660"/>
              </a:lnSpc>
              <a:spcBef>
                <a:spcPts val="0"/>
              </a:spcBef>
              <a:buClr>
                <a:srgbClr val="1F7A8C"/>
              </a:buClr>
              <a:buSzPct val="100000"/>
              <a:buFont typeface="Arial"/>
              <a:buChar char="•"/>
            </a:pPr>
            <a:r>
              <a:rPr lang="en-US" sz="1900" b="true">
                <a:solidFill>
                  <a:srgbClr val="111111"/>
                </a:solidFill>
                <a:latin typeface="Nunito Semi-Bold"/>
                <a:ea typeface="Nunito Semi-Bold"/>
                <a:cs typeface="Nunito Semi-Bold"/>
                <a:sym typeface="Nunito Semi-Bold"/>
              </a:rPr>
              <a:t>Same picture on the </a:t>
            </a:r>
            <a:r>
              <a:rPr lang="en-US" sz="1900" b="true">
                <a:solidFill>
                  <a:srgbClr val="111111"/>
                </a:solidFill>
                <a:latin typeface="Nunito Bold"/>
                <a:ea typeface="Nunito Bold"/>
                <a:cs typeface="Nunito Bold"/>
                <a:sym typeface="Nunito Bold"/>
              </a:rPr>
              <a:t>sparse</a:t>
            </a:r>
            <a:r>
              <a:rPr lang="en-US" sz="1900" b="true">
                <a:solidFill>
                  <a:srgbClr val="111111"/>
                </a:solidFill>
                <a:latin typeface="Nunito Semi-Bold"/>
                <a:ea typeface="Nunito Semi-Bold"/>
                <a:cs typeface="Nunito Semi-Bold"/>
                <a:sym typeface="Nunito Semi-Bold"/>
              </a:rPr>
              <a:t> dataset (density 0.0006), with </a:t>
            </a:r>
            <a:r>
              <a:rPr lang="en-US" sz="1900" b="true">
                <a:solidFill>
                  <a:srgbClr val="111111"/>
                </a:solidFill>
                <a:latin typeface="Nunito Bold"/>
                <a:ea typeface="Nunito Bold"/>
                <a:cs typeface="Nunito Bold"/>
                <a:sym typeface="Nunito Bold"/>
              </a:rPr>
              <a:t>larger relative gains</a:t>
            </a:r>
            <a:r>
              <a:rPr lang="en-US" sz="1900" b="true">
                <a:solidFill>
                  <a:srgbClr val="111111"/>
                </a:solidFill>
                <a:latin typeface="Nunito Semi-Bold"/>
                <a:ea typeface="Nunito Semi-Bold"/>
                <a:cs typeface="Nunito Semi-Bold"/>
                <a:sym typeface="Nunito Semi-Bold"/>
              </a:rPr>
              <a:t>.</a:t>
            </a:r>
          </a:p>
          <a:p>
            <a:pPr algn="l" marL="274320" indent="-274320">
              <a:lnSpc>
                <a:spcPts val="2660"/>
              </a:lnSpc>
              <a:spcBef>
                <a:spcPts val="1000"/>
              </a:spcBef>
              <a:buClr>
                <a:srgbClr val="1F7A8C"/>
              </a:buClr>
              <a:buSzPct val="100000"/>
              <a:buFont typeface="Arial"/>
              <a:buChar char="•"/>
            </a:pPr>
            <a:r>
              <a:rPr lang="en-US" sz="1900" b="true">
                <a:solidFill>
                  <a:srgbClr val="111111"/>
                </a:solidFill>
                <a:latin typeface="Nunito Semi-Bold"/>
                <a:ea typeface="Nunito Semi-Bold"/>
                <a:cs typeface="Nunito Semi-Bold"/>
                <a:sym typeface="Nunito Semi-Bold"/>
              </a:rPr>
              <a:t>NDCG@20 </a:t>
            </a:r>
            <a:r>
              <a:rPr lang="en-US" sz="1900" b="true">
                <a:solidFill>
                  <a:srgbClr val="111111"/>
                </a:solidFill>
                <a:latin typeface="Nunito Bold"/>
                <a:ea typeface="Nunito Bold"/>
                <a:cs typeface="Nunito Bold"/>
                <a:sym typeface="Nunito Bold"/>
              </a:rPr>
              <a:t>0.0306 vs 0.0270</a:t>
            </a:r>
            <a:r>
              <a:rPr lang="en-US" sz="1900" b="true">
                <a:solidFill>
                  <a:srgbClr val="111111"/>
                </a:solidFill>
                <a:latin typeface="Nunito Semi-Bold"/>
                <a:ea typeface="Nunito Semi-Bold"/>
                <a:cs typeface="Nunito Semi-Bold"/>
                <a:sym typeface="Nunito Semi-Bold"/>
              </a:rPr>
              <a:t> for HPCF (+13.3 %); Recall@20 </a:t>
            </a:r>
            <a:r>
              <a:rPr lang="en-US" sz="1900" b="true">
                <a:solidFill>
                  <a:srgbClr val="111111"/>
                </a:solidFill>
                <a:latin typeface="Nunito Bold"/>
                <a:ea typeface="Nunito Bold"/>
                <a:cs typeface="Nunito Bold"/>
                <a:sym typeface="Nunito Bold"/>
              </a:rPr>
              <a:t>0.0417 vs 0.0359</a:t>
            </a:r>
            <a:r>
              <a:rPr lang="en-US" sz="1900" b="true">
                <a:solidFill>
                  <a:srgbClr val="111111"/>
                </a:solidFill>
                <a:latin typeface="Nunito Semi-Bold"/>
                <a:ea typeface="Nunito Semi-Bold"/>
                <a:cs typeface="Nunito Semi-Bold"/>
                <a:sym typeface="Nunito Semi-Bold"/>
              </a:rPr>
              <a:t> (+16.2 %).</a:t>
            </a:r>
          </a:p>
          <a:p>
            <a:pPr algn="l" marL="274320" indent="-274320">
              <a:lnSpc>
                <a:spcPts val="2660"/>
              </a:lnSpc>
              <a:spcBef>
                <a:spcPts val="1000"/>
              </a:spcBef>
              <a:buClr>
                <a:srgbClr val="1F7A8C"/>
              </a:buClr>
              <a:buSzPct val="100000"/>
              <a:buFont typeface="Arial"/>
              <a:buChar char="•"/>
            </a:pPr>
            <a:r>
              <a:rPr lang="en-US" sz="1900" b="true">
                <a:solidFill>
                  <a:srgbClr val="111111"/>
                </a:solidFill>
                <a:latin typeface="Nunito Semi-Bold"/>
                <a:ea typeface="Nunito Semi-Bold"/>
                <a:cs typeface="Nunito Semi-Bold"/>
                <a:sym typeface="Nunito Semi-Bold"/>
              </a:rPr>
              <a:t>Coverage </a:t>
            </a:r>
            <a:r>
              <a:rPr lang="en-US" sz="1900" b="true">
                <a:solidFill>
                  <a:srgbClr val="111111"/>
                </a:solidFill>
                <a:latin typeface="Nunito Bold"/>
                <a:ea typeface="Nunito Bold"/>
                <a:cs typeface="Nunito Bold"/>
                <a:sym typeface="Nunito Bold"/>
              </a:rPr>
              <a:t>0.336 vs 0.259</a:t>
            </a:r>
            <a:r>
              <a:rPr lang="en-US" sz="1900" b="true">
                <a:solidFill>
                  <a:srgbClr val="111111"/>
                </a:solidFill>
                <a:latin typeface="Nunito Semi-Bold"/>
                <a:ea typeface="Nunito Semi-Bold"/>
                <a:cs typeface="Nunito Semi-Bold"/>
                <a:sym typeface="Nunito Semi-Bold"/>
              </a:rPr>
              <a:t> (+29.7 %) and ILD </a:t>
            </a:r>
            <a:r>
              <a:rPr lang="en-US" sz="1900" b="true">
                <a:solidFill>
                  <a:srgbClr val="111111"/>
                </a:solidFill>
                <a:latin typeface="Nunito Bold"/>
                <a:ea typeface="Nunito Bold"/>
                <a:cs typeface="Nunito Bold"/>
                <a:sym typeface="Nunito Bold"/>
              </a:rPr>
              <a:t>0.602 vs 0.535</a:t>
            </a:r>
            <a:r>
              <a:rPr lang="en-US" sz="1900" b="true">
                <a:solidFill>
                  <a:srgbClr val="111111"/>
                </a:solidFill>
                <a:latin typeface="Nunito Semi-Bold"/>
                <a:ea typeface="Nunito Semi-Bold"/>
                <a:cs typeface="Nunito Semi-Bold"/>
                <a:sym typeface="Nunito Semi-Bold"/>
              </a:rPr>
              <a:t> (+12.5 %).</a:t>
            </a:r>
          </a:p>
          <a:p>
            <a:pPr algn="l" marL="274320" indent="-274320">
              <a:lnSpc>
                <a:spcPts val="2660"/>
              </a:lnSpc>
              <a:spcBef>
                <a:spcPts val="1000"/>
              </a:spcBef>
              <a:buClr>
                <a:srgbClr val="1F7A8C"/>
              </a:buClr>
              <a:buSzPct val="100000"/>
              <a:buFont typeface="Arial"/>
              <a:buChar char="•"/>
            </a:pPr>
            <a:r>
              <a:rPr lang="en-US" sz="1900" b="true">
                <a:solidFill>
                  <a:srgbClr val="111111"/>
                </a:solidFill>
                <a:latin typeface="Nunito Semi-Bold"/>
                <a:ea typeface="Nunito Semi-Bold"/>
                <a:cs typeface="Nunito Semi-Bold"/>
                <a:sym typeface="Nunito Semi-Bold"/>
              </a:rPr>
              <a:t>Absolute values are low for every model because the matrix is almost empty; what matters is the </a:t>
            </a:r>
            <a:r>
              <a:rPr lang="en-US" sz="1900" b="true">
                <a:solidFill>
                  <a:srgbClr val="111111"/>
                </a:solidFill>
                <a:latin typeface="Nunito Bold"/>
                <a:ea typeface="Nunito Bold"/>
                <a:cs typeface="Nunito Bold"/>
                <a:sym typeface="Nunito Bold"/>
              </a:rPr>
              <a:t>consistent ordering and the widening gap</a:t>
            </a:r>
            <a:r>
              <a:rPr lang="en-US" sz="1900" b="true">
                <a:solidFill>
                  <a:srgbClr val="111111"/>
                </a:solidFill>
                <a:latin typeface="Nunito Semi-Bold"/>
                <a:ea typeface="Nunito Semi-Bold"/>
                <a:cs typeface="Nunito Semi-Bold"/>
                <a:sym typeface="Nunito Semi-Bold"/>
              </a:rPr>
              <a:t> where data are weakest.</a:t>
            </a:r>
          </a:p>
        </p:txBody>
      </p:sp>
      <p:sp>
        <p:nvSpPr>
          <p:cNvPr id="26" name="Rounded Rectangle 25"/>
          <p:cNvSpPr/>
          <p:nvPr/>
        </p:nvSpPr>
        <p:spPr>
          <a:xfrm>
            <a:off x="1028700" y="8119872"/>
            <a:ext cx="6035040" cy="1097280"/>
          </a:xfrm>
          <a:prstGeom prst="roundRect">
            <a:avLst>
              <a:gd name="adj" fmla="val 25000"/>
            </a:avLst>
          </a:prstGeom>
          <a:solidFill>
            <a:srgbClr val="4472C4"/>
          </a:solidFill>
          <a:ln>
            <a:noFill/>
          </a:ln>
        </p:spPr>
        <p:txBody>
          <a:bodyPr anchor="ctr" rtlCol="false" lIns="137160" tIns="91440" rIns="137160" bIns="91440" wrap="square"/>
          <a:lstStyle/>
          <a:p>
            <a:pPr algn="ctr">
              <a:lnSpc>
                <a:spcPts val="3300"/>
              </a:lnSpc>
              <a:spcBef>
                <a:spcPts val="0"/>
              </a:spcBef>
              <a:buNone/>
            </a:pPr>
            <a:r>
              <a:rPr lang="en-US" sz="3000" b="true">
                <a:solidFill>
                  <a:srgbClr val="ECC665"/>
                </a:solidFill>
                <a:latin typeface="Nunito Ultra-Bold"/>
                <a:ea typeface="Nunito Ultra-Bold"/>
                <a:cs typeface="Nunito Ultra-Bold"/>
                <a:sym typeface="Nunito Ultra-Bold"/>
              </a:rPr>
              <a:t>+13.3 %  ·  +16.2 %</a:t>
            </a:r>
          </a:p>
          <a:p>
            <a:pPr algn="ctr">
              <a:lnSpc>
                <a:spcPts val="1875"/>
              </a:lnSpc>
              <a:spcBef>
                <a:spcPts val="400"/>
              </a:spcBef>
              <a:buNone/>
            </a:pPr>
            <a:r>
              <a:rPr lang="en-US" sz="1500" b="true">
                <a:solidFill>
                  <a:srgbClr val="FFFFFF"/>
                </a:solidFill>
                <a:latin typeface="Nunito Semi-Bold"/>
                <a:ea typeface="Nunito Semi-Bold"/>
                <a:cs typeface="Nunito Semi-Bold"/>
                <a:sym typeface="Nunito Semi-Bold"/>
              </a:rPr>
              <a:t>NDCG@20 · Recall@20 over HPCF</a:t>
            </a:r>
          </a:p>
        </p:txBody>
      </p:sp>
      <p:graphicFrame>
        <p:nvGraphicFramePr>
          <p:cNvPr id="27" name="Table 26"/>
          <p:cNvGraphicFramePr>
            <a:graphicFrameLocks noGrp="1"/>
          </p:cNvGraphicFramePr>
          <p:nvPr/>
        </p:nvGraphicFramePr>
        <p:xfrm>
          <a:off x="7520940" y="3363722"/>
          <a:ext cx="9738358" cy="4828032"/>
        </p:xfrm>
        <a:graphic>
          <a:graphicData uri="http://schemas.openxmlformats.org/drawingml/2006/table">
            <a:tbl>
              <a:tblPr firstRow="0" bandRow="0" firstCol="0" lastRow="0" lastCol="0" bandCol="0">
                <a:tableStyleId>{2D5ABB26-0587-4C30-8999-92F81FD0307C}</a:tableStyleId>
              </a:tblPr>
              <a:tblGrid>
                <a:gridCol w="2217646"/>
                <a:gridCol w="1928388"/>
                <a:gridCol w="1928388"/>
                <a:gridCol w="1831968"/>
                <a:gridCol w="1831968"/>
              </a:tblGrid>
              <a:tr h="603504">
                <a:tc>
                  <a:txBody>
                    <a:bodyPr anchor="ctr" rtlCol="false" lIns="0" tIns="0" rIns="0" bIns="0" wrap="square"/>
                    <a:lstStyle/>
                    <a:p>
                      <a:pPr algn="l">
                        <a:lnSpc>
                          <a:spcPts val="2080"/>
                        </a:lnSpc>
                        <a:spcBef>
                          <a:spcPts val="0"/>
                        </a:spcBef>
                        <a:buNone/>
                      </a:pPr>
                      <a:r>
                        <a:rPr lang="en-US" sz="1600" b="true">
                          <a:solidFill>
                            <a:srgbClr val="FFFFFF"/>
                          </a:solidFill>
                          <a:latin typeface="Nunito Bold"/>
                          <a:ea typeface="Nunito Bold"/>
                          <a:cs typeface="Nunito Bold"/>
                          <a:sym typeface="Nunito Bold"/>
                        </a:rPr>
                        <a:t>Model</a:t>
                      </a:r>
                    </a:p>
                  </a:txBody>
                  <a:tcPr marL="64008" marR="64008" marT="45720" marB="45720" anchor="ctr">
                    <a:lnL w="12700" cap="flat" cmpd="sng" algn="ctr">
                      <a:solidFill>
                        <a:srgbClr val="4472C4"/>
                      </a:solidFill>
                      <a:prstDash val="solid"/>
                    </a:lnL>
                    <a:lnR w="12700" cap="flat" cmpd="sng" algn="ctr">
                      <a:solidFill>
                        <a:srgbClr val="4472C4"/>
                      </a:solidFill>
                      <a:prstDash val="solid"/>
                    </a:lnR>
                    <a:lnT w="12700" cap="flat" cmpd="sng" algn="ctr">
                      <a:solidFill>
                        <a:srgbClr val="4472C4"/>
                      </a:solidFill>
                      <a:prstDash val="solid"/>
                    </a:lnT>
                    <a:lnB w="12700" cap="flat" cmpd="sng" algn="ctr">
                      <a:solidFill>
                        <a:srgbClr val="4472C4"/>
                      </a:solidFill>
                      <a:prstDash val="solid"/>
                    </a:lnB>
                    <a:solidFill>
                      <a:srgbClr val="4472C4"/>
                    </a:solidFill>
                  </a:tcPr>
                </a:tc>
                <a:tc>
                  <a:txBody>
                    <a:bodyPr anchor="ctr" rtlCol="false" lIns="0" tIns="0" rIns="0" bIns="0" wrap="square"/>
                    <a:lstStyle/>
                    <a:p>
                      <a:pPr algn="ctr">
                        <a:lnSpc>
                          <a:spcPts val="2080"/>
                        </a:lnSpc>
                        <a:spcBef>
                          <a:spcPts val="0"/>
                        </a:spcBef>
                        <a:buNone/>
                      </a:pPr>
                      <a:r>
                        <a:rPr lang="en-US" sz="1600" b="true">
                          <a:solidFill>
                            <a:srgbClr val="FFFFFF"/>
                          </a:solidFill>
                          <a:latin typeface="Nunito Bold"/>
                          <a:ea typeface="Nunito Bold"/>
                          <a:cs typeface="Nunito Bold"/>
                          <a:sym typeface="Nunito Bold"/>
                        </a:rPr>
                        <a:t>NDCG@20</a:t>
                      </a:r>
                    </a:p>
                  </a:txBody>
                  <a:tcPr marL="64008" marR="64008" marT="45720" marB="45720" anchor="ctr">
                    <a:lnL w="12700" cap="flat" cmpd="sng" algn="ctr">
                      <a:solidFill>
                        <a:srgbClr val="4472C4"/>
                      </a:solidFill>
                      <a:prstDash val="solid"/>
                    </a:lnL>
                    <a:lnR w="12700" cap="flat" cmpd="sng" algn="ctr">
                      <a:solidFill>
                        <a:srgbClr val="4472C4"/>
                      </a:solidFill>
                      <a:prstDash val="solid"/>
                    </a:lnR>
                    <a:lnT w="12700" cap="flat" cmpd="sng" algn="ctr">
                      <a:solidFill>
                        <a:srgbClr val="4472C4"/>
                      </a:solidFill>
                      <a:prstDash val="solid"/>
                    </a:lnT>
                    <a:lnB w="12700" cap="flat" cmpd="sng" algn="ctr">
                      <a:solidFill>
                        <a:srgbClr val="4472C4"/>
                      </a:solidFill>
                      <a:prstDash val="solid"/>
                    </a:lnB>
                    <a:solidFill>
                      <a:srgbClr val="4472C4"/>
                    </a:solidFill>
                  </a:tcPr>
                </a:tc>
                <a:tc>
                  <a:txBody>
                    <a:bodyPr anchor="ctr" rtlCol="false" lIns="0" tIns="0" rIns="0" bIns="0" wrap="square"/>
                    <a:lstStyle/>
                    <a:p>
                      <a:pPr algn="ctr">
                        <a:lnSpc>
                          <a:spcPts val="2080"/>
                        </a:lnSpc>
                        <a:spcBef>
                          <a:spcPts val="0"/>
                        </a:spcBef>
                        <a:buNone/>
                      </a:pPr>
                      <a:r>
                        <a:rPr lang="en-US" sz="1600" b="true">
                          <a:solidFill>
                            <a:srgbClr val="FFFFFF"/>
                          </a:solidFill>
                          <a:latin typeface="Nunito Bold"/>
                          <a:ea typeface="Nunito Bold"/>
                          <a:cs typeface="Nunito Bold"/>
                          <a:sym typeface="Nunito Bold"/>
                        </a:rPr>
                        <a:t>Recall@20</a:t>
                      </a:r>
                    </a:p>
                  </a:txBody>
                  <a:tcPr marL="64008" marR="64008" marT="45720" marB="45720" anchor="ctr">
                    <a:lnL w="12700" cap="flat" cmpd="sng" algn="ctr">
                      <a:solidFill>
                        <a:srgbClr val="4472C4"/>
                      </a:solidFill>
                      <a:prstDash val="solid"/>
                    </a:lnL>
                    <a:lnR w="12700" cap="flat" cmpd="sng" algn="ctr">
                      <a:solidFill>
                        <a:srgbClr val="4472C4"/>
                      </a:solidFill>
                      <a:prstDash val="solid"/>
                    </a:lnR>
                    <a:lnT w="12700" cap="flat" cmpd="sng" algn="ctr">
                      <a:solidFill>
                        <a:srgbClr val="4472C4"/>
                      </a:solidFill>
                      <a:prstDash val="solid"/>
                    </a:lnT>
                    <a:lnB w="12700" cap="flat" cmpd="sng" algn="ctr">
                      <a:solidFill>
                        <a:srgbClr val="4472C4"/>
                      </a:solidFill>
                      <a:prstDash val="solid"/>
                    </a:lnB>
                    <a:solidFill>
                      <a:srgbClr val="4472C4"/>
                    </a:solidFill>
                  </a:tcPr>
                </a:tc>
                <a:tc>
                  <a:txBody>
                    <a:bodyPr anchor="ctr" rtlCol="false" lIns="0" tIns="0" rIns="0" bIns="0" wrap="square"/>
                    <a:lstStyle/>
                    <a:p>
                      <a:pPr algn="ctr">
                        <a:lnSpc>
                          <a:spcPts val="2080"/>
                        </a:lnSpc>
                        <a:spcBef>
                          <a:spcPts val="0"/>
                        </a:spcBef>
                        <a:buNone/>
                      </a:pPr>
                      <a:r>
                        <a:rPr lang="en-US" sz="1600" b="true">
                          <a:solidFill>
                            <a:srgbClr val="FFFFFF"/>
                          </a:solidFill>
                          <a:latin typeface="Nunito Bold"/>
                          <a:ea typeface="Nunito Bold"/>
                          <a:cs typeface="Nunito Bold"/>
                          <a:sym typeface="Nunito Bold"/>
                        </a:rPr>
                        <a:t>Coverage</a:t>
                      </a:r>
                    </a:p>
                  </a:txBody>
                  <a:tcPr marL="64008" marR="64008" marT="45720" marB="45720" anchor="ctr">
                    <a:lnL w="12700" cap="flat" cmpd="sng" algn="ctr">
                      <a:solidFill>
                        <a:srgbClr val="4472C4"/>
                      </a:solidFill>
                      <a:prstDash val="solid"/>
                    </a:lnL>
                    <a:lnR w="12700" cap="flat" cmpd="sng" algn="ctr">
                      <a:solidFill>
                        <a:srgbClr val="4472C4"/>
                      </a:solidFill>
                      <a:prstDash val="solid"/>
                    </a:lnR>
                    <a:lnT w="12700" cap="flat" cmpd="sng" algn="ctr">
                      <a:solidFill>
                        <a:srgbClr val="4472C4"/>
                      </a:solidFill>
                      <a:prstDash val="solid"/>
                    </a:lnT>
                    <a:lnB w="12700" cap="flat" cmpd="sng" algn="ctr">
                      <a:solidFill>
                        <a:srgbClr val="4472C4"/>
                      </a:solidFill>
                      <a:prstDash val="solid"/>
                    </a:lnB>
                    <a:solidFill>
                      <a:srgbClr val="4472C4"/>
                    </a:solidFill>
                  </a:tcPr>
                </a:tc>
                <a:tc>
                  <a:txBody>
                    <a:bodyPr anchor="ctr" rtlCol="false" lIns="0" tIns="0" rIns="0" bIns="0" wrap="square"/>
                    <a:lstStyle/>
                    <a:p>
                      <a:pPr algn="ctr">
                        <a:lnSpc>
                          <a:spcPts val="2080"/>
                        </a:lnSpc>
                        <a:spcBef>
                          <a:spcPts val="0"/>
                        </a:spcBef>
                        <a:buNone/>
                      </a:pPr>
                      <a:r>
                        <a:rPr lang="en-US" sz="1600" b="true">
                          <a:solidFill>
                            <a:srgbClr val="FFFFFF"/>
                          </a:solidFill>
                          <a:latin typeface="Nunito Bold"/>
                          <a:ea typeface="Nunito Bold"/>
                          <a:cs typeface="Nunito Bold"/>
                          <a:sym typeface="Nunito Bold"/>
                        </a:rPr>
                        <a:t>ILD</a:t>
                      </a:r>
                    </a:p>
                  </a:txBody>
                  <a:tcPr marL="64008" marR="64008" marT="45720" marB="45720" anchor="ctr">
                    <a:lnL w="12700" cap="flat" cmpd="sng" algn="ctr">
                      <a:solidFill>
                        <a:srgbClr val="4472C4"/>
                      </a:solidFill>
                      <a:prstDash val="solid"/>
                    </a:lnL>
                    <a:lnR w="12700" cap="flat" cmpd="sng" algn="ctr">
                      <a:solidFill>
                        <a:srgbClr val="4472C4"/>
                      </a:solidFill>
                      <a:prstDash val="solid"/>
                    </a:lnR>
                    <a:lnT w="12700" cap="flat" cmpd="sng" algn="ctr">
                      <a:solidFill>
                        <a:srgbClr val="4472C4"/>
                      </a:solidFill>
                      <a:prstDash val="solid"/>
                    </a:lnT>
                    <a:lnB w="12700" cap="flat" cmpd="sng" algn="ctr">
                      <a:solidFill>
                        <a:srgbClr val="4472C4"/>
                      </a:solidFill>
                      <a:prstDash val="solid"/>
                    </a:lnB>
                    <a:solidFill>
                      <a:srgbClr val="4472C4"/>
                    </a:solidFill>
                  </a:tcPr>
                </a:tc>
              </a:tr>
              <a:tr h="603504">
                <a:tc>
                  <a:txBody>
                    <a:bodyPr anchor="ctr" rtlCol="false" lIns="0" tIns="0" rIns="0" bIns="0" wrap="square"/>
                    <a:lstStyle/>
                    <a:p>
                      <a:pPr algn="l">
                        <a:lnSpc>
                          <a:spcPts val="2210"/>
                        </a:lnSpc>
                        <a:spcBef>
                          <a:spcPts val="0"/>
                        </a:spcBef>
                        <a:buNone/>
                      </a:pPr>
                      <a:r>
                        <a:rPr lang="en-US" sz="1700" b="true">
                          <a:solidFill>
                            <a:srgbClr val="111111"/>
                          </a:solidFill>
                          <a:latin typeface="Nunito Bold"/>
                          <a:ea typeface="Nunito Bold"/>
                          <a:cs typeface="Nunito Bold"/>
                          <a:sym typeface="Nunito Bold"/>
                        </a:rPr>
                        <a:t>MF</a:t>
                      </a:r>
                    </a:p>
                  </a:txBody>
                  <a:tcPr marL="64008" marR="64008"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c>
                  <a:txBody>
                    <a:bodyPr anchor="ctr" rtlCol="false" lIns="0" tIns="0" rIns="0" bIns="0" wrap="square"/>
                    <a:lstStyle/>
                    <a:p>
                      <a:pPr algn="ctr">
                        <a:lnSpc>
                          <a:spcPts val="2210"/>
                        </a:lnSpc>
                        <a:spcBef>
                          <a:spcPts val="0"/>
                        </a:spcBef>
                        <a:buNone/>
                      </a:pPr>
                      <a:r>
                        <a:rPr lang="en-US" sz="1700" b="true">
                          <a:solidFill>
                            <a:srgbClr val="111111"/>
                          </a:solidFill>
                          <a:latin typeface="Nunito Semi-Bold"/>
                          <a:ea typeface="Nunito Semi-Bold"/>
                          <a:cs typeface="Nunito Semi-Bold"/>
                          <a:sym typeface="Nunito Semi-Bold"/>
                        </a:rPr>
                        <a:t>0.0049</a:t>
                      </a:r>
                    </a:p>
                  </a:txBody>
                  <a:tcPr marL="64008" marR="64008"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c>
                  <a:txBody>
                    <a:bodyPr anchor="ctr" rtlCol="false" lIns="0" tIns="0" rIns="0" bIns="0" wrap="square"/>
                    <a:lstStyle/>
                    <a:p>
                      <a:pPr algn="ctr">
                        <a:lnSpc>
                          <a:spcPts val="2210"/>
                        </a:lnSpc>
                        <a:spcBef>
                          <a:spcPts val="0"/>
                        </a:spcBef>
                        <a:buNone/>
                      </a:pPr>
                      <a:r>
                        <a:rPr lang="en-US" sz="1700" b="true">
                          <a:solidFill>
                            <a:srgbClr val="111111"/>
                          </a:solidFill>
                          <a:latin typeface="Nunito Semi-Bold"/>
                          <a:ea typeface="Nunito Semi-Bold"/>
                          <a:cs typeface="Nunito Semi-Bold"/>
                          <a:sym typeface="Nunito Semi-Bold"/>
                        </a:rPr>
                        <a:t>0.0093</a:t>
                      </a:r>
                    </a:p>
                  </a:txBody>
                  <a:tcPr marL="64008" marR="64008"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c>
                  <a:txBody>
                    <a:bodyPr anchor="ctr" rtlCol="false" lIns="0" tIns="0" rIns="0" bIns="0" wrap="square"/>
                    <a:lstStyle/>
                    <a:p>
                      <a:pPr algn="ctr">
                        <a:lnSpc>
                          <a:spcPts val="2210"/>
                        </a:lnSpc>
                        <a:spcBef>
                          <a:spcPts val="0"/>
                        </a:spcBef>
                        <a:buNone/>
                      </a:pPr>
                      <a:r>
                        <a:rPr lang="en-US" sz="1700" b="true">
                          <a:solidFill>
                            <a:srgbClr val="111111"/>
                          </a:solidFill>
                          <a:latin typeface="Nunito Semi-Bold"/>
                          <a:ea typeface="Nunito Semi-Bold"/>
                          <a:cs typeface="Nunito Semi-Bold"/>
                          <a:sym typeface="Nunito Semi-Bold"/>
                        </a:rPr>
                        <a:t>0.168</a:t>
                      </a:r>
                    </a:p>
                  </a:txBody>
                  <a:tcPr marL="64008" marR="64008"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c>
                  <a:txBody>
                    <a:bodyPr anchor="ctr" rtlCol="false" lIns="0" tIns="0" rIns="0" bIns="0" wrap="square"/>
                    <a:lstStyle/>
                    <a:p>
                      <a:pPr algn="ctr">
                        <a:lnSpc>
                          <a:spcPts val="2210"/>
                        </a:lnSpc>
                        <a:spcBef>
                          <a:spcPts val="0"/>
                        </a:spcBef>
                        <a:buNone/>
                      </a:pPr>
                      <a:r>
                        <a:rPr lang="en-US" sz="1700" b="true">
                          <a:solidFill>
                            <a:srgbClr val="111111"/>
                          </a:solidFill>
                          <a:latin typeface="Nunito Semi-Bold"/>
                          <a:ea typeface="Nunito Semi-Bold"/>
                          <a:cs typeface="Nunito Semi-Bold"/>
                          <a:sym typeface="Nunito Semi-Bold"/>
                        </a:rPr>
                        <a:t>0.425</a:t>
                      </a:r>
                    </a:p>
                  </a:txBody>
                  <a:tcPr marL="64008" marR="64008"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r>
              <a:tr h="603504">
                <a:tc>
                  <a:txBody>
                    <a:bodyPr anchor="ctr" rtlCol="false" lIns="0" tIns="0" rIns="0" bIns="0" wrap="square"/>
                    <a:lstStyle/>
                    <a:p>
                      <a:pPr algn="l">
                        <a:lnSpc>
                          <a:spcPts val="2210"/>
                        </a:lnSpc>
                        <a:spcBef>
                          <a:spcPts val="0"/>
                        </a:spcBef>
                        <a:buNone/>
                      </a:pPr>
                      <a:r>
                        <a:rPr lang="en-US" sz="1700" b="true">
                          <a:solidFill>
                            <a:srgbClr val="111111"/>
                          </a:solidFill>
                          <a:latin typeface="Nunito Bold"/>
                          <a:ea typeface="Nunito Bold"/>
                          <a:cs typeface="Nunito Bold"/>
                          <a:sym typeface="Nunito Bold"/>
                        </a:rPr>
                        <a:t>NCF</a:t>
                      </a:r>
                    </a:p>
                  </a:txBody>
                  <a:tcPr marL="64008" marR="64008"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6ECDF"/>
                    </a:solidFill>
                  </a:tcPr>
                </a:tc>
                <a:tc>
                  <a:txBody>
                    <a:bodyPr anchor="ctr" rtlCol="false" lIns="0" tIns="0" rIns="0" bIns="0" wrap="square"/>
                    <a:lstStyle/>
                    <a:p>
                      <a:pPr algn="ctr">
                        <a:lnSpc>
                          <a:spcPts val="2210"/>
                        </a:lnSpc>
                        <a:spcBef>
                          <a:spcPts val="0"/>
                        </a:spcBef>
                        <a:buNone/>
                      </a:pPr>
                      <a:r>
                        <a:rPr lang="en-US" sz="1700" b="true">
                          <a:solidFill>
                            <a:srgbClr val="111111"/>
                          </a:solidFill>
                          <a:latin typeface="Nunito Semi-Bold"/>
                          <a:ea typeface="Nunito Semi-Bold"/>
                          <a:cs typeface="Nunito Semi-Bold"/>
                          <a:sym typeface="Nunito Semi-Bold"/>
                        </a:rPr>
                        <a:t>0.0085</a:t>
                      </a:r>
                    </a:p>
                  </a:txBody>
                  <a:tcPr marL="64008" marR="64008"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6ECDF"/>
                    </a:solidFill>
                  </a:tcPr>
                </a:tc>
                <a:tc>
                  <a:txBody>
                    <a:bodyPr anchor="ctr" rtlCol="false" lIns="0" tIns="0" rIns="0" bIns="0" wrap="square"/>
                    <a:lstStyle/>
                    <a:p>
                      <a:pPr algn="ctr">
                        <a:lnSpc>
                          <a:spcPts val="2210"/>
                        </a:lnSpc>
                        <a:spcBef>
                          <a:spcPts val="0"/>
                        </a:spcBef>
                        <a:buNone/>
                      </a:pPr>
                      <a:r>
                        <a:rPr lang="en-US" sz="1700" b="true">
                          <a:solidFill>
                            <a:srgbClr val="111111"/>
                          </a:solidFill>
                          <a:latin typeface="Nunito Semi-Bold"/>
                          <a:ea typeface="Nunito Semi-Bold"/>
                          <a:cs typeface="Nunito Semi-Bold"/>
                          <a:sym typeface="Nunito Semi-Bold"/>
                        </a:rPr>
                        <a:t>0.0142</a:t>
                      </a:r>
                    </a:p>
                  </a:txBody>
                  <a:tcPr marL="64008" marR="64008"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6ECDF"/>
                    </a:solidFill>
                  </a:tcPr>
                </a:tc>
                <a:tc>
                  <a:txBody>
                    <a:bodyPr anchor="ctr" rtlCol="false" lIns="0" tIns="0" rIns="0" bIns="0" wrap="square"/>
                    <a:lstStyle/>
                    <a:p>
                      <a:pPr algn="ctr">
                        <a:lnSpc>
                          <a:spcPts val="2210"/>
                        </a:lnSpc>
                        <a:spcBef>
                          <a:spcPts val="0"/>
                        </a:spcBef>
                        <a:buNone/>
                      </a:pPr>
                      <a:r>
                        <a:rPr lang="en-US" sz="1700" b="true">
                          <a:solidFill>
                            <a:srgbClr val="111111"/>
                          </a:solidFill>
                          <a:latin typeface="Nunito Semi-Bold"/>
                          <a:ea typeface="Nunito Semi-Bold"/>
                          <a:cs typeface="Nunito Semi-Bold"/>
                          <a:sym typeface="Nunito Semi-Bold"/>
                        </a:rPr>
                        <a:t>0.193</a:t>
                      </a:r>
                    </a:p>
                  </a:txBody>
                  <a:tcPr marL="64008" marR="64008"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6ECDF"/>
                    </a:solidFill>
                  </a:tcPr>
                </a:tc>
                <a:tc>
                  <a:txBody>
                    <a:bodyPr anchor="ctr" rtlCol="false" lIns="0" tIns="0" rIns="0" bIns="0" wrap="square"/>
                    <a:lstStyle/>
                    <a:p>
                      <a:pPr algn="ctr">
                        <a:lnSpc>
                          <a:spcPts val="2210"/>
                        </a:lnSpc>
                        <a:spcBef>
                          <a:spcPts val="0"/>
                        </a:spcBef>
                        <a:buNone/>
                      </a:pPr>
                      <a:r>
                        <a:rPr lang="en-US" sz="1700" b="true">
                          <a:solidFill>
                            <a:srgbClr val="111111"/>
                          </a:solidFill>
                          <a:latin typeface="Nunito Semi-Bold"/>
                          <a:ea typeface="Nunito Semi-Bold"/>
                          <a:cs typeface="Nunito Semi-Bold"/>
                          <a:sym typeface="Nunito Semi-Bold"/>
                        </a:rPr>
                        <a:t>0.458</a:t>
                      </a:r>
                    </a:p>
                  </a:txBody>
                  <a:tcPr marL="64008" marR="64008"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6ECDF"/>
                    </a:solidFill>
                  </a:tcPr>
                </a:tc>
              </a:tr>
              <a:tr h="603504">
                <a:tc>
                  <a:txBody>
                    <a:bodyPr anchor="ctr" rtlCol="false" lIns="0" tIns="0" rIns="0" bIns="0" wrap="square"/>
                    <a:lstStyle/>
                    <a:p>
                      <a:pPr algn="l">
                        <a:lnSpc>
                          <a:spcPts val="2210"/>
                        </a:lnSpc>
                        <a:spcBef>
                          <a:spcPts val="0"/>
                        </a:spcBef>
                        <a:buNone/>
                      </a:pPr>
                      <a:r>
                        <a:rPr lang="en-US" sz="1700" b="true">
                          <a:solidFill>
                            <a:srgbClr val="111111"/>
                          </a:solidFill>
                          <a:latin typeface="Nunito Bold"/>
                          <a:ea typeface="Nunito Bold"/>
                          <a:cs typeface="Nunito Bold"/>
                          <a:sym typeface="Nunito Bold"/>
                        </a:rPr>
                        <a:t>LightGCN</a:t>
                      </a:r>
                    </a:p>
                  </a:txBody>
                  <a:tcPr marL="64008" marR="64008"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c>
                  <a:txBody>
                    <a:bodyPr anchor="ctr" rtlCol="false" lIns="0" tIns="0" rIns="0" bIns="0" wrap="square"/>
                    <a:lstStyle/>
                    <a:p>
                      <a:pPr algn="ctr">
                        <a:lnSpc>
                          <a:spcPts val="2210"/>
                        </a:lnSpc>
                        <a:spcBef>
                          <a:spcPts val="0"/>
                        </a:spcBef>
                        <a:buNone/>
                      </a:pPr>
                      <a:r>
                        <a:rPr lang="en-US" sz="1700" b="true">
                          <a:solidFill>
                            <a:srgbClr val="111111"/>
                          </a:solidFill>
                          <a:latin typeface="Nunito Semi-Bold"/>
                          <a:ea typeface="Nunito Semi-Bold"/>
                          <a:cs typeface="Nunito Semi-Bold"/>
                          <a:sym typeface="Nunito Semi-Bold"/>
                        </a:rPr>
                        <a:t>0.0236</a:t>
                      </a:r>
                    </a:p>
                  </a:txBody>
                  <a:tcPr marL="64008" marR="64008"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c>
                  <a:txBody>
                    <a:bodyPr anchor="ctr" rtlCol="false" lIns="0" tIns="0" rIns="0" bIns="0" wrap="square"/>
                    <a:lstStyle/>
                    <a:p>
                      <a:pPr algn="ctr">
                        <a:lnSpc>
                          <a:spcPts val="2210"/>
                        </a:lnSpc>
                        <a:spcBef>
                          <a:spcPts val="0"/>
                        </a:spcBef>
                        <a:buNone/>
                      </a:pPr>
                      <a:r>
                        <a:rPr lang="en-US" sz="1700" b="true">
                          <a:solidFill>
                            <a:srgbClr val="111111"/>
                          </a:solidFill>
                          <a:latin typeface="Nunito Semi-Bold"/>
                          <a:ea typeface="Nunito Semi-Bold"/>
                          <a:cs typeface="Nunito Semi-Bold"/>
                          <a:sym typeface="Nunito Semi-Bold"/>
                        </a:rPr>
                        <a:t>0.0320</a:t>
                      </a:r>
                    </a:p>
                  </a:txBody>
                  <a:tcPr marL="64008" marR="64008"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c>
                  <a:txBody>
                    <a:bodyPr anchor="ctr" rtlCol="false" lIns="0" tIns="0" rIns="0" bIns="0" wrap="square"/>
                    <a:lstStyle/>
                    <a:p>
                      <a:pPr algn="ctr">
                        <a:lnSpc>
                          <a:spcPts val="2210"/>
                        </a:lnSpc>
                        <a:spcBef>
                          <a:spcPts val="0"/>
                        </a:spcBef>
                        <a:buNone/>
                      </a:pPr>
                      <a:r>
                        <a:rPr lang="en-US" sz="1700" b="true">
                          <a:solidFill>
                            <a:srgbClr val="111111"/>
                          </a:solidFill>
                          <a:latin typeface="Nunito Semi-Bold"/>
                          <a:ea typeface="Nunito Semi-Bold"/>
                          <a:cs typeface="Nunito Semi-Bold"/>
                          <a:sym typeface="Nunito Semi-Bold"/>
                        </a:rPr>
                        <a:t>0.226</a:t>
                      </a:r>
                    </a:p>
                  </a:txBody>
                  <a:tcPr marL="64008" marR="64008"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c>
                  <a:txBody>
                    <a:bodyPr anchor="ctr" rtlCol="false" lIns="0" tIns="0" rIns="0" bIns="0" wrap="square"/>
                    <a:lstStyle/>
                    <a:p>
                      <a:pPr algn="ctr">
                        <a:lnSpc>
                          <a:spcPts val="2210"/>
                        </a:lnSpc>
                        <a:spcBef>
                          <a:spcPts val="0"/>
                        </a:spcBef>
                        <a:buNone/>
                      </a:pPr>
                      <a:r>
                        <a:rPr lang="en-US" sz="1700" b="true">
                          <a:solidFill>
                            <a:srgbClr val="111111"/>
                          </a:solidFill>
                          <a:latin typeface="Nunito Semi-Bold"/>
                          <a:ea typeface="Nunito Semi-Bold"/>
                          <a:cs typeface="Nunito Semi-Bold"/>
                          <a:sym typeface="Nunito Semi-Bold"/>
                        </a:rPr>
                        <a:t>0.491</a:t>
                      </a:r>
                    </a:p>
                  </a:txBody>
                  <a:tcPr marL="64008" marR="64008"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r>
              <a:tr h="603504">
                <a:tc>
                  <a:txBody>
                    <a:bodyPr anchor="ctr" rtlCol="false" lIns="0" tIns="0" rIns="0" bIns="0" wrap="square"/>
                    <a:lstStyle/>
                    <a:p>
                      <a:pPr algn="l">
                        <a:lnSpc>
                          <a:spcPts val="2210"/>
                        </a:lnSpc>
                        <a:spcBef>
                          <a:spcPts val="0"/>
                        </a:spcBef>
                        <a:buNone/>
                      </a:pPr>
                      <a:r>
                        <a:rPr lang="en-US" sz="1700" b="true">
                          <a:solidFill>
                            <a:srgbClr val="111111"/>
                          </a:solidFill>
                          <a:latin typeface="Nunito Bold"/>
                          <a:ea typeface="Nunito Bold"/>
                          <a:cs typeface="Nunito Bold"/>
                          <a:sym typeface="Nunito Bold"/>
                        </a:rPr>
                        <a:t>RecDCL</a:t>
                      </a:r>
                    </a:p>
                  </a:txBody>
                  <a:tcPr marL="64008" marR="64008"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6ECDF"/>
                    </a:solidFill>
                  </a:tcPr>
                </a:tc>
                <a:tc>
                  <a:txBody>
                    <a:bodyPr anchor="ctr" rtlCol="false" lIns="0" tIns="0" rIns="0" bIns="0" wrap="square"/>
                    <a:lstStyle/>
                    <a:p>
                      <a:pPr algn="ctr">
                        <a:lnSpc>
                          <a:spcPts val="2210"/>
                        </a:lnSpc>
                        <a:spcBef>
                          <a:spcPts val="0"/>
                        </a:spcBef>
                        <a:buNone/>
                      </a:pPr>
                      <a:r>
                        <a:rPr lang="en-US" sz="1700" b="true">
                          <a:solidFill>
                            <a:srgbClr val="111111"/>
                          </a:solidFill>
                          <a:latin typeface="Nunito Semi-Bold"/>
                          <a:ea typeface="Nunito Semi-Bold"/>
                          <a:cs typeface="Nunito Semi-Bold"/>
                          <a:sym typeface="Nunito Semi-Bold"/>
                        </a:rPr>
                        <a:t>0.0255</a:t>
                      </a:r>
                    </a:p>
                  </a:txBody>
                  <a:tcPr marL="64008" marR="64008"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6ECDF"/>
                    </a:solidFill>
                  </a:tcPr>
                </a:tc>
                <a:tc>
                  <a:txBody>
                    <a:bodyPr anchor="ctr" rtlCol="false" lIns="0" tIns="0" rIns="0" bIns="0" wrap="square"/>
                    <a:lstStyle/>
                    <a:p>
                      <a:pPr algn="ctr">
                        <a:lnSpc>
                          <a:spcPts val="2210"/>
                        </a:lnSpc>
                        <a:spcBef>
                          <a:spcPts val="0"/>
                        </a:spcBef>
                        <a:buNone/>
                      </a:pPr>
                      <a:r>
                        <a:rPr lang="en-US" sz="1700" b="true">
                          <a:solidFill>
                            <a:srgbClr val="111111"/>
                          </a:solidFill>
                          <a:latin typeface="Nunito Semi-Bold"/>
                          <a:ea typeface="Nunito Semi-Bold"/>
                          <a:cs typeface="Nunito Semi-Bold"/>
                          <a:sym typeface="Nunito Semi-Bold"/>
                        </a:rPr>
                        <a:t>0.0346</a:t>
                      </a:r>
                    </a:p>
                  </a:txBody>
                  <a:tcPr marL="64008" marR="64008"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6ECDF"/>
                    </a:solidFill>
                  </a:tcPr>
                </a:tc>
                <a:tc>
                  <a:txBody>
                    <a:bodyPr anchor="ctr" rtlCol="false" lIns="0" tIns="0" rIns="0" bIns="0" wrap="square"/>
                    <a:lstStyle/>
                    <a:p>
                      <a:pPr algn="ctr">
                        <a:lnSpc>
                          <a:spcPts val="2210"/>
                        </a:lnSpc>
                        <a:spcBef>
                          <a:spcPts val="0"/>
                        </a:spcBef>
                        <a:buNone/>
                      </a:pPr>
                      <a:r>
                        <a:rPr lang="en-US" sz="1700" b="true">
                          <a:solidFill>
                            <a:srgbClr val="111111"/>
                          </a:solidFill>
                          <a:latin typeface="Nunito Semi-Bold"/>
                          <a:ea typeface="Nunito Semi-Bold"/>
                          <a:cs typeface="Nunito Semi-Bold"/>
                          <a:sym typeface="Nunito Semi-Bold"/>
                        </a:rPr>
                        <a:t>0.242</a:t>
                      </a:r>
                    </a:p>
                  </a:txBody>
                  <a:tcPr marL="64008" marR="64008"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6ECDF"/>
                    </a:solidFill>
                  </a:tcPr>
                </a:tc>
                <a:tc>
                  <a:txBody>
                    <a:bodyPr anchor="ctr" rtlCol="false" lIns="0" tIns="0" rIns="0" bIns="0" wrap="square"/>
                    <a:lstStyle/>
                    <a:p>
                      <a:pPr algn="ctr">
                        <a:lnSpc>
                          <a:spcPts val="2210"/>
                        </a:lnSpc>
                        <a:spcBef>
                          <a:spcPts val="0"/>
                        </a:spcBef>
                        <a:buNone/>
                      </a:pPr>
                      <a:r>
                        <a:rPr lang="en-US" sz="1700" b="true">
                          <a:solidFill>
                            <a:srgbClr val="111111"/>
                          </a:solidFill>
                          <a:latin typeface="Nunito Semi-Bold"/>
                          <a:ea typeface="Nunito Semi-Bold"/>
                          <a:cs typeface="Nunito Semi-Bold"/>
                          <a:sym typeface="Nunito Semi-Bold"/>
                        </a:rPr>
                        <a:t>0.512</a:t>
                      </a:r>
                    </a:p>
                  </a:txBody>
                  <a:tcPr marL="64008" marR="64008"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6ECDF"/>
                    </a:solidFill>
                  </a:tcPr>
                </a:tc>
              </a:tr>
              <a:tr h="603504">
                <a:tc>
                  <a:txBody>
                    <a:bodyPr anchor="ctr" rtlCol="false" lIns="0" tIns="0" rIns="0" bIns="0" wrap="square"/>
                    <a:lstStyle/>
                    <a:p>
                      <a:pPr algn="l">
                        <a:lnSpc>
                          <a:spcPts val="2210"/>
                        </a:lnSpc>
                        <a:spcBef>
                          <a:spcPts val="0"/>
                        </a:spcBef>
                        <a:buNone/>
                      </a:pPr>
                      <a:r>
                        <a:rPr lang="en-US" sz="1700" b="true">
                          <a:solidFill>
                            <a:srgbClr val="111111"/>
                          </a:solidFill>
                          <a:latin typeface="Nunito Bold"/>
                          <a:ea typeface="Nunito Bold"/>
                          <a:cs typeface="Nunito Bold"/>
                          <a:sym typeface="Nunito Bold"/>
                        </a:rPr>
                        <a:t>HCCF</a:t>
                      </a:r>
                    </a:p>
                  </a:txBody>
                  <a:tcPr marL="64008" marR="64008"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c>
                  <a:txBody>
                    <a:bodyPr anchor="ctr" rtlCol="false" lIns="0" tIns="0" rIns="0" bIns="0" wrap="square"/>
                    <a:lstStyle/>
                    <a:p>
                      <a:pPr algn="ctr">
                        <a:lnSpc>
                          <a:spcPts val="2210"/>
                        </a:lnSpc>
                        <a:spcBef>
                          <a:spcPts val="0"/>
                        </a:spcBef>
                        <a:buNone/>
                      </a:pPr>
                      <a:r>
                        <a:rPr lang="en-US" sz="1700" b="true">
                          <a:solidFill>
                            <a:srgbClr val="111111"/>
                          </a:solidFill>
                          <a:latin typeface="Nunito Semi-Bold"/>
                          <a:ea typeface="Nunito Semi-Bold"/>
                          <a:cs typeface="Nunito Semi-Bold"/>
                          <a:sym typeface="Nunito Semi-Bold"/>
                        </a:rPr>
                        <a:t>0.0258</a:t>
                      </a:r>
                    </a:p>
                  </a:txBody>
                  <a:tcPr marL="64008" marR="64008"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c>
                  <a:txBody>
                    <a:bodyPr anchor="ctr" rtlCol="false" lIns="0" tIns="0" rIns="0" bIns="0" wrap="square"/>
                    <a:lstStyle/>
                    <a:p>
                      <a:pPr algn="ctr">
                        <a:lnSpc>
                          <a:spcPts val="2210"/>
                        </a:lnSpc>
                        <a:spcBef>
                          <a:spcPts val="0"/>
                        </a:spcBef>
                        <a:buNone/>
                      </a:pPr>
                      <a:r>
                        <a:rPr lang="en-US" sz="1700" b="true">
                          <a:solidFill>
                            <a:srgbClr val="111111"/>
                          </a:solidFill>
                          <a:latin typeface="Nunito Semi-Bold"/>
                          <a:ea typeface="Nunito Semi-Bold"/>
                          <a:cs typeface="Nunito Semi-Bold"/>
                          <a:sym typeface="Nunito Semi-Bold"/>
                        </a:rPr>
                        <a:t>0.0344</a:t>
                      </a:r>
                    </a:p>
                  </a:txBody>
                  <a:tcPr marL="64008" marR="64008"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c>
                  <a:txBody>
                    <a:bodyPr anchor="ctr" rtlCol="false" lIns="0" tIns="0" rIns="0" bIns="0" wrap="square"/>
                    <a:lstStyle/>
                    <a:p>
                      <a:pPr algn="ctr">
                        <a:lnSpc>
                          <a:spcPts val="2210"/>
                        </a:lnSpc>
                        <a:spcBef>
                          <a:spcPts val="0"/>
                        </a:spcBef>
                        <a:buNone/>
                      </a:pPr>
                      <a:r>
                        <a:rPr lang="en-US" sz="1700" b="true">
                          <a:solidFill>
                            <a:srgbClr val="111111"/>
                          </a:solidFill>
                          <a:latin typeface="Nunito Semi-Bold"/>
                          <a:ea typeface="Nunito Semi-Bold"/>
                          <a:cs typeface="Nunito Semi-Bold"/>
                          <a:sym typeface="Nunito Semi-Bold"/>
                        </a:rPr>
                        <a:t>0.248</a:t>
                      </a:r>
                    </a:p>
                  </a:txBody>
                  <a:tcPr marL="64008" marR="64008"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c>
                  <a:txBody>
                    <a:bodyPr anchor="ctr" rtlCol="false" lIns="0" tIns="0" rIns="0" bIns="0" wrap="square"/>
                    <a:lstStyle/>
                    <a:p>
                      <a:pPr algn="ctr">
                        <a:lnSpc>
                          <a:spcPts val="2210"/>
                        </a:lnSpc>
                        <a:spcBef>
                          <a:spcPts val="0"/>
                        </a:spcBef>
                        <a:buNone/>
                      </a:pPr>
                      <a:r>
                        <a:rPr lang="en-US" sz="1700" b="true">
                          <a:solidFill>
                            <a:srgbClr val="111111"/>
                          </a:solidFill>
                          <a:latin typeface="Nunito Semi-Bold"/>
                          <a:ea typeface="Nunito Semi-Bold"/>
                          <a:cs typeface="Nunito Semi-Bold"/>
                          <a:sym typeface="Nunito Semi-Bold"/>
                        </a:rPr>
                        <a:t>0.520</a:t>
                      </a:r>
                    </a:p>
                  </a:txBody>
                  <a:tcPr marL="64008" marR="64008"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r>
              <a:tr h="603504">
                <a:tc>
                  <a:txBody>
                    <a:bodyPr anchor="ctr" rtlCol="false" lIns="0" tIns="0" rIns="0" bIns="0" wrap="square"/>
                    <a:lstStyle/>
                    <a:p>
                      <a:pPr algn="l">
                        <a:lnSpc>
                          <a:spcPts val="2210"/>
                        </a:lnSpc>
                        <a:spcBef>
                          <a:spcPts val="0"/>
                        </a:spcBef>
                        <a:buNone/>
                      </a:pPr>
                      <a:r>
                        <a:rPr lang="en-US" sz="1700" b="true">
                          <a:solidFill>
                            <a:srgbClr val="111111"/>
                          </a:solidFill>
                          <a:latin typeface="Nunito Bold"/>
                          <a:ea typeface="Nunito Bold"/>
                          <a:cs typeface="Nunito Bold"/>
                          <a:sym typeface="Nunito Bold"/>
                        </a:rPr>
                        <a:t>HPCF</a:t>
                      </a:r>
                    </a:p>
                  </a:txBody>
                  <a:tcPr marL="64008" marR="64008"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6ECDF"/>
                    </a:solidFill>
                  </a:tcPr>
                </a:tc>
                <a:tc>
                  <a:txBody>
                    <a:bodyPr anchor="ctr" rtlCol="false" lIns="0" tIns="0" rIns="0" bIns="0" wrap="square"/>
                    <a:lstStyle/>
                    <a:p>
                      <a:pPr algn="ctr">
                        <a:lnSpc>
                          <a:spcPts val="2210"/>
                        </a:lnSpc>
                        <a:spcBef>
                          <a:spcPts val="0"/>
                        </a:spcBef>
                        <a:buNone/>
                      </a:pPr>
                      <a:r>
                        <a:rPr lang="en-US" sz="1700" b="true">
                          <a:solidFill>
                            <a:srgbClr val="111111"/>
                          </a:solidFill>
                          <a:latin typeface="Nunito Semi-Bold"/>
                          <a:ea typeface="Nunito Semi-Bold"/>
                          <a:cs typeface="Nunito Semi-Bold"/>
                          <a:sym typeface="Nunito Semi-Bold"/>
                        </a:rPr>
                        <a:t>0.0270</a:t>
                      </a:r>
                    </a:p>
                  </a:txBody>
                  <a:tcPr marL="64008" marR="64008"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6ECDF"/>
                    </a:solidFill>
                  </a:tcPr>
                </a:tc>
                <a:tc>
                  <a:txBody>
                    <a:bodyPr anchor="ctr" rtlCol="false" lIns="0" tIns="0" rIns="0" bIns="0" wrap="square"/>
                    <a:lstStyle/>
                    <a:p>
                      <a:pPr algn="ctr">
                        <a:lnSpc>
                          <a:spcPts val="2210"/>
                        </a:lnSpc>
                        <a:spcBef>
                          <a:spcPts val="0"/>
                        </a:spcBef>
                        <a:buNone/>
                      </a:pPr>
                      <a:r>
                        <a:rPr lang="en-US" sz="1700" b="true">
                          <a:solidFill>
                            <a:srgbClr val="111111"/>
                          </a:solidFill>
                          <a:latin typeface="Nunito Semi-Bold"/>
                          <a:ea typeface="Nunito Semi-Bold"/>
                          <a:cs typeface="Nunito Semi-Bold"/>
                          <a:sym typeface="Nunito Semi-Bold"/>
                        </a:rPr>
                        <a:t>0.0359</a:t>
                      </a:r>
                    </a:p>
                  </a:txBody>
                  <a:tcPr marL="64008" marR="64008"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6ECDF"/>
                    </a:solidFill>
                  </a:tcPr>
                </a:tc>
                <a:tc>
                  <a:txBody>
                    <a:bodyPr anchor="ctr" rtlCol="false" lIns="0" tIns="0" rIns="0" bIns="0" wrap="square"/>
                    <a:lstStyle/>
                    <a:p>
                      <a:pPr algn="ctr">
                        <a:lnSpc>
                          <a:spcPts val="2210"/>
                        </a:lnSpc>
                        <a:spcBef>
                          <a:spcPts val="0"/>
                        </a:spcBef>
                        <a:buNone/>
                      </a:pPr>
                      <a:r>
                        <a:rPr lang="en-US" sz="1700" b="true">
                          <a:solidFill>
                            <a:srgbClr val="111111"/>
                          </a:solidFill>
                          <a:latin typeface="Nunito Semi-Bold"/>
                          <a:ea typeface="Nunito Semi-Bold"/>
                          <a:cs typeface="Nunito Semi-Bold"/>
                          <a:sym typeface="Nunito Semi-Bold"/>
                        </a:rPr>
                        <a:t>0.259</a:t>
                      </a:r>
                    </a:p>
                  </a:txBody>
                  <a:tcPr marL="64008" marR="64008"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6ECDF"/>
                    </a:solidFill>
                  </a:tcPr>
                </a:tc>
                <a:tc>
                  <a:txBody>
                    <a:bodyPr anchor="ctr" rtlCol="false" lIns="0" tIns="0" rIns="0" bIns="0" wrap="square"/>
                    <a:lstStyle/>
                    <a:p>
                      <a:pPr algn="ctr">
                        <a:lnSpc>
                          <a:spcPts val="2210"/>
                        </a:lnSpc>
                        <a:spcBef>
                          <a:spcPts val="0"/>
                        </a:spcBef>
                        <a:buNone/>
                      </a:pPr>
                      <a:r>
                        <a:rPr lang="en-US" sz="1700" b="true">
                          <a:solidFill>
                            <a:srgbClr val="111111"/>
                          </a:solidFill>
                          <a:latin typeface="Nunito Semi-Bold"/>
                          <a:ea typeface="Nunito Semi-Bold"/>
                          <a:cs typeface="Nunito Semi-Bold"/>
                          <a:sym typeface="Nunito Semi-Bold"/>
                        </a:rPr>
                        <a:t>0.535</a:t>
                      </a:r>
                    </a:p>
                  </a:txBody>
                  <a:tcPr marL="64008" marR="64008"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6ECDF"/>
                    </a:solidFill>
                  </a:tcPr>
                </a:tc>
              </a:tr>
              <a:tr h="603504">
                <a:tc>
                  <a:txBody>
                    <a:bodyPr anchor="ctr" rtlCol="false" lIns="0" tIns="0" rIns="0" bIns="0" wrap="square"/>
                    <a:lstStyle/>
                    <a:p>
                      <a:pPr algn="l">
                        <a:lnSpc>
                          <a:spcPts val="2210"/>
                        </a:lnSpc>
                        <a:spcBef>
                          <a:spcPts val="0"/>
                        </a:spcBef>
                        <a:buNone/>
                      </a:pPr>
                      <a:r>
                        <a:rPr lang="en-US" sz="1700" b="1">
                          <a:solidFill>
                            <a:srgbClr val="111111"/>
                          </a:solidFill>
                          <a:latin typeface="Nunito Bold"/>
                          <a:ea typeface="Nunito Bold"/>
                          <a:cs typeface="Nunito Bold"/>
                          <a:sym typeface="Nunito Bold"/>
                        </a:rPr>
                        <a:t>DyHuCoG</a:t>
                      </a:r>
                    </a:p>
                  </a:txBody>
                  <a:tcPr marL="64008" marR="64008"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D9E2F3"/>
                    </a:solidFill>
                  </a:tcPr>
                </a:tc>
                <a:tc>
                  <a:txBody>
                    <a:bodyPr anchor="ctr" rtlCol="false" lIns="0" tIns="0" rIns="0" bIns="0" wrap="square"/>
                    <a:lstStyle/>
                    <a:p>
                      <a:pPr algn="ctr">
                        <a:lnSpc>
                          <a:spcPts val="2210"/>
                        </a:lnSpc>
                        <a:spcBef>
                          <a:spcPts val="0"/>
                        </a:spcBef>
                        <a:buNone/>
                      </a:pPr>
                      <a:r>
                        <a:rPr lang="en-US" sz="1700" b="1">
                          <a:solidFill>
                            <a:srgbClr val="111111"/>
                          </a:solidFill>
                          <a:latin typeface="Nunito Semi-Bold"/>
                          <a:ea typeface="Nunito Semi-Bold"/>
                          <a:cs typeface="Nunito Semi-Bold"/>
                          <a:sym typeface="Nunito Semi-Bold"/>
                        </a:rPr>
                        <a:t>0.0306</a:t>
                      </a:r>
                    </a:p>
                  </a:txBody>
                  <a:tcPr marL="64008" marR="64008"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D9E2F3"/>
                    </a:solidFill>
                  </a:tcPr>
                </a:tc>
                <a:tc>
                  <a:txBody>
                    <a:bodyPr anchor="ctr" rtlCol="false" lIns="0" tIns="0" rIns="0" bIns="0" wrap="square"/>
                    <a:lstStyle/>
                    <a:p>
                      <a:pPr algn="ctr">
                        <a:lnSpc>
                          <a:spcPts val="2210"/>
                        </a:lnSpc>
                        <a:spcBef>
                          <a:spcPts val="0"/>
                        </a:spcBef>
                        <a:buNone/>
                      </a:pPr>
                      <a:r>
                        <a:rPr lang="en-US" sz="1700" b="1">
                          <a:solidFill>
                            <a:srgbClr val="111111"/>
                          </a:solidFill>
                          <a:latin typeface="Nunito Semi-Bold"/>
                          <a:ea typeface="Nunito Semi-Bold"/>
                          <a:cs typeface="Nunito Semi-Bold"/>
                          <a:sym typeface="Nunito Semi-Bold"/>
                        </a:rPr>
                        <a:t>0.0417</a:t>
                      </a:r>
                    </a:p>
                  </a:txBody>
                  <a:tcPr marL="64008" marR="64008"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D9E2F3"/>
                    </a:solidFill>
                  </a:tcPr>
                </a:tc>
                <a:tc>
                  <a:txBody>
                    <a:bodyPr anchor="ctr" rtlCol="false" lIns="0" tIns="0" rIns="0" bIns="0" wrap="square"/>
                    <a:lstStyle/>
                    <a:p>
                      <a:pPr algn="ctr">
                        <a:lnSpc>
                          <a:spcPts val="2210"/>
                        </a:lnSpc>
                        <a:spcBef>
                          <a:spcPts val="0"/>
                        </a:spcBef>
                        <a:buNone/>
                      </a:pPr>
                      <a:r>
                        <a:rPr lang="en-US" sz="1700" b="1">
                          <a:solidFill>
                            <a:srgbClr val="111111"/>
                          </a:solidFill>
                          <a:latin typeface="Nunito Semi-Bold"/>
                          <a:ea typeface="Nunito Semi-Bold"/>
                          <a:cs typeface="Nunito Semi-Bold"/>
                          <a:sym typeface="Nunito Semi-Bold"/>
                        </a:rPr>
                        <a:t>0.336</a:t>
                      </a:r>
                    </a:p>
                  </a:txBody>
                  <a:tcPr marL="64008" marR="64008"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D9E2F3"/>
                    </a:solidFill>
                  </a:tcPr>
                </a:tc>
                <a:tc>
                  <a:txBody>
                    <a:bodyPr anchor="ctr" rtlCol="false" lIns="0" tIns="0" rIns="0" bIns="0" wrap="square"/>
                    <a:lstStyle/>
                    <a:p>
                      <a:pPr algn="ctr">
                        <a:lnSpc>
                          <a:spcPts val="2210"/>
                        </a:lnSpc>
                        <a:spcBef>
                          <a:spcPts val="0"/>
                        </a:spcBef>
                        <a:buNone/>
                      </a:pPr>
                      <a:r>
                        <a:rPr lang="en-US" sz="1700" b="1">
                          <a:solidFill>
                            <a:srgbClr val="111111"/>
                          </a:solidFill>
                          <a:latin typeface="Nunito Semi-Bold"/>
                          <a:ea typeface="Nunito Semi-Bold"/>
                          <a:cs typeface="Nunito Semi-Bold"/>
                          <a:sym typeface="Nunito Semi-Bold"/>
                        </a:rPr>
                        <a:t>0.602</a:t>
                      </a:r>
                    </a:p>
                  </a:txBody>
                  <a:tcPr marL="64008" marR="64008"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D9E2F3"/>
                    </a:solidFill>
                  </a:tcPr>
                </a:tc>
              </a:tr>
            </a:tbl>
          </a:graphicData>
        </a:graphic>
      </p:graphicFrame>
      <p:sp>
        <p:nvSpPr>
          <p:cNvPr id="28" name="TextBox 27"/>
          <p:cNvSpPr txBox="1"/>
          <p:nvPr/>
        </p:nvSpPr>
        <p:spPr>
          <a:xfrm>
            <a:off x="7520940" y="8301482"/>
            <a:ext cx="9738360" cy="548640"/>
          </a:xfrm>
          <a:prstGeom prst="rect">
            <a:avLst/>
          </a:prstGeom>
          <a:noFill/>
        </p:spPr>
        <p:txBody>
          <a:bodyPr anchor="t" rtlCol="false" lIns="0" tIns="0" rIns="0" bIns="0" wrap="square"/>
          <a:lstStyle/>
          <a:p>
            <a:pPr algn="l">
              <a:lnSpc>
                <a:spcPts val="1600"/>
              </a:lnSpc>
              <a:spcBef>
                <a:spcPts val="0"/>
              </a:spcBef>
              <a:buNone/>
            </a:pPr>
            <a:r>
              <a:rPr lang="en-US" sz="1300" b="true">
                <a:solidFill>
                  <a:srgbClr val="8A8378"/>
                </a:solidFill>
                <a:latin typeface="Nunito Semi-Bold"/>
                <a:ea typeface="Nunito Semi-Bold"/>
                <a:cs typeface="Nunito Semi-Bold"/>
                <a:sym typeface="Nunito Semi-Bold"/>
              </a:rPr>
              <a:t>Table 7.1 (thesis): mean over five seeds; ± standard deviation in the backup slides. Best value per column in the bold row.</a:t>
            </a:r>
          </a:p>
        </p:txBody>
      </p:sp>
    </p:spTree>
  </p:cSld>
  <p:clrMapOvr>
    <a:masterClrMapping/>
  </p:clrMapOvr>
</p:sld>
</file>

<file path=ppt/slides/slide7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pic>
        <p:nvPicPr>
          <p:cNvPr id="2" name="Picture 1" descr="ensias_logo.jpg"/>
          <p:cNvPicPr>
            <a:picLocks noChangeAspect="1"/>
          </p:cNvPicPr>
          <p:nvPr/>
        </p:nvPicPr>
        <p:blipFill>
          <a:blip r:embed="rId2"/>
          <a:stretch>
            <a:fillRect/>
          </a:stretch>
        </p:blipFill>
        <p:spPr>
          <a:xfrm>
            <a:off x="1028700" y="9674352"/>
            <a:ext cx="542964" cy="384048"/>
          </a:xfrm>
          <a:prstGeom prst="rect">
            <a:avLst/>
          </a:prstGeom>
        </p:spPr>
      </p:pic>
      <p:sp>
        <p:nvSpPr>
          <p:cNvPr id="3" name="TextBox 2"/>
          <p:cNvSpPr txBox="1"/>
          <p:nvPr/>
        </p:nvSpPr>
        <p:spPr>
          <a:xfrm>
            <a:off x="1577340" y="9601200"/>
            <a:ext cx="14493240" cy="566928"/>
          </a:xfrm>
          <a:prstGeom prst="rect">
            <a:avLst/>
          </a:prstGeom>
          <a:noFill/>
        </p:spPr>
        <p:txBody>
          <a:bodyPr anchor="ctr" rtlCol="false" lIns="0" tIns="0" rIns="0" bIns="0" wrap="square"/>
          <a:lstStyle/>
          <a:p>
            <a:pPr algn="l">
              <a:lnSpc>
                <a:spcPts val="1200"/>
              </a:lnSpc>
              <a:spcBef>
                <a:spcPts val="0"/>
              </a:spcBef>
              <a:buNone/>
            </a:pPr>
            <a:r>
              <a:rPr lang="en-US" sz="1000" b="true">
                <a:solidFill>
                  <a:srgbClr val="8A8378"/>
                </a:solidFill>
                <a:latin typeface="Nunito Semi-Bold"/>
                <a:ea typeface="Nunito Semi-Bold"/>
                <a:cs typeface="Nunito Semi-Bold"/>
                <a:sym typeface="Nunito Semi-Bold"/>
              </a:rPr>
              <a:t>[3] Louhichi, M., Nesmaoui, R. &amp; Lazaar, M. DyHuCoG: A Dynamic Hypergraph Cooperative Game for Preference-aware Recommendation. IJIES 19(2), 887–902 (2026).</a:t>
            </a:r>
          </a:p>
        </p:txBody>
      </p:sp>
      <p:sp>
        <p:nvSpPr>
          <p:cNvPr id="4" name="TextBox 3"/>
          <p:cNvSpPr txBox="1"/>
          <p:nvPr/>
        </p:nvSpPr>
        <p:spPr>
          <a:xfrm>
            <a:off x="16162020" y="9692640"/>
            <a:ext cx="1097280" cy="329184"/>
          </a:xfrm>
          <a:prstGeom prst="rect">
            <a:avLst/>
          </a:prstGeom>
          <a:noFill/>
        </p:spPr>
        <p:txBody>
          <a:bodyPr anchor="t" rtlCol="false" lIns="0" tIns="0" rIns="0" bIns="0" wrap="square"/>
          <a:lstStyle/>
          <a:p>
            <a:pPr algn="r">
              <a:lnSpc>
                <a:spcPts val="2200"/>
              </a:lnSpc>
              <a:spcBef>
                <a:spcPts val="0"/>
              </a:spcBef>
              <a:buNone/>
            </a:pPr>
            <a:r>
              <a:rPr lang="en-US" sz="1800" b="true">
                <a:solidFill>
                  <a:srgbClr val="111111"/>
                </a:solidFill>
                <a:latin typeface="Nunito Ultra-Bold"/>
                <a:ea typeface="Nunito Ultra-Bold"/>
                <a:cs typeface="Nunito Ultra-Bold"/>
                <a:sym typeface="Nunito Ultra-Bold"/>
              </a:rPr>
              <a:t>60</a:t>
            </a:r>
          </a:p>
        </p:txBody>
      </p:sp>
      <p:sp>
        <p:nvSpPr>
          <p:cNvPr id="5" name="TextBox 4"/>
          <p:cNvSpPr txBox="1"/>
          <p:nvPr/>
        </p:nvSpPr>
        <p:spPr>
          <a:xfrm>
            <a:off x="1028700" y="1389888"/>
            <a:ext cx="12938760" cy="329184"/>
          </a:xfrm>
          <a:prstGeom prst="rect">
            <a:avLst/>
          </a:prstGeom>
          <a:noFill/>
        </p:spPr>
        <p:txBody>
          <a:bodyPr anchor="t" rtlCol="false" lIns="0" tIns="0" rIns="0" bIns="0" wrap="square"/>
          <a:lstStyle/>
          <a:p>
            <a:pPr algn="l">
              <a:lnSpc>
                <a:spcPts val="2000"/>
              </a:lnSpc>
              <a:spcBef>
                <a:spcPts val="0"/>
              </a:spcBef>
              <a:buNone/>
            </a:pPr>
            <a:r>
              <a:rPr lang="en-US" sz="1500" b="true" spc="160">
                <a:solidFill>
                  <a:srgbClr val="1F7A8C"/>
                </a:solidFill>
                <a:latin typeface="Nunito Ultra-Bold"/>
                <a:ea typeface="Nunito Ultra-Bold"/>
                <a:cs typeface="Nunito Ultra-Bold"/>
                <a:sym typeface="Nunito Ultra-Bold"/>
              </a:rPr>
              <a:t>CONTRIBUTION III: DYHUCOG, A DYNAMIC HYPERGRAPH COOPERATIVE GAME</a:t>
            </a:r>
          </a:p>
        </p:txBody>
      </p:sp>
      <p:sp>
        <p:nvSpPr>
          <p:cNvPr id="6" name="Rounded Rectangle 5"/>
          <p:cNvSpPr/>
          <p:nvPr/>
        </p:nvSpPr>
        <p:spPr>
          <a:xfrm>
            <a:off x="14516100"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7" name="TextBox 6"/>
          <p:cNvSpPr txBox="1"/>
          <p:nvPr/>
        </p:nvSpPr>
        <p:spPr>
          <a:xfrm>
            <a:off x="14516100"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1</a:t>
            </a:r>
          </a:p>
        </p:txBody>
      </p:sp>
      <p:sp>
        <p:nvSpPr>
          <p:cNvPr id="8" name="Rounded Rectangle 7"/>
          <p:cNvSpPr/>
          <p:nvPr/>
        </p:nvSpPr>
        <p:spPr>
          <a:xfrm>
            <a:off x="14918436"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9" name="TextBox 8"/>
          <p:cNvSpPr txBox="1"/>
          <p:nvPr/>
        </p:nvSpPr>
        <p:spPr>
          <a:xfrm>
            <a:off x="14918436"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2</a:t>
            </a:r>
          </a:p>
        </p:txBody>
      </p:sp>
      <p:sp>
        <p:nvSpPr>
          <p:cNvPr id="10" name="Rounded Rectangle 9"/>
          <p:cNvSpPr/>
          <p:nvPr/>
        </p:nvSpPr>
        <p:spPr>
          <a:xfrm>
            <a:off x="15320772"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11" name="TextBox 10"/>
          <p:cNvSpPr txBox="1"/>
          <p:nvPr/>
        </p:nvSpPr>
        <p:spPr>
          <a:xfrm>
            <a:off x="15320772"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3</a:t>
            </a:r>
          </a:p>
        </p:txBody>
      </p:sp>
      <p:sp>
        <p:nvSpPr>
          <p:cNvPr id="12" name="Rounded Rectangle 11"/>
          <p:cNvSpPr/>
          <p:nvPr/>
        </p:nvSpPr>
        <p:spPr>
          <a:xfrm>
            <a:off x="15723108"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13" name="TextBox 12"/>
          <p:cNvSpPr txBox="1"/>
          <p:nvPr/>
        </p:nvSpPr>
        <p:spPr>
          <a:xfrm>
            <a:off x="15723108"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4</a:t>
            </a:r>
          </a:p>
        </p:txBody>
      </p:sp>
      <p:sp>
        <p:nvSpPr>
          <p:cNvPr id="14" name="Rounded Rectangle 13"/>
          <p:cNvSpPr/>
          <p:nvPr/>
        </p:nvSpPr>
        <p:spPr>
          <a:xfrm>
            <a:off x="16125444"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15" name="TextBox 14"/>
          <p:cNvSpPr txBox="1"/>
          <p:nvPr/>
        </p:nvSpPr>
        <p:spPr>
          <a:xfrm>
            <a:off x="16125444"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5</a:t>
            </a:r>
          </a:p>
        </p:txBody>
      </p:sp>
      <p:sp>
        <p:nvSpPr>
          <p:cNvPr id="16" name="Rounded Rectangle 15"/>
          <p:cNvSpPr/>
          <p:nvPr/>
        </p:nvSpPr>
        <p:spPr>
          <a:xfrm>
            <a:off x="16527780" y="1371600"/>
            <a:ext cx="329184" cy="329184"/>
          </a:xfrm>
          <a:prstGeom prst="roundRect">
            <a:avLst>
              <a:gd name="adj" fmla="val 16666"/>
            </a:avLst>
          </a:prstGeom>
          <a:solidFill>
            <a:srgbClr val="4472C4"/>
          </a:solidFill>
          <a:ln w="15875">
            <a:solidFill>
              <a:srgbClr val="4472C4"/>
            </a:solidFill>
          </a:ln>
        </p:spPr>
        <p:txBody>
          <a:bodyPr anchor="ctr" rtlCol="false" lIns="0" tIns="0" rIns="0" bIns="0" wrap="square"/>
          <a:lstStyle/>
          <a:p>
            <a:endParaRPr lang="en-US" sz="1800"/>
          </a:p>
        </p:txBody>
      </p:sp>
      <p:sp>
        <p:nvSpPr>
          <p:cNvPr id="17" name="TextBox 16"/>
          <p:cNvSpPr txBox="1"/>
          <p:nvPr/>
        </p:nvSpPr>
        <p:spPr>
          <a:xfrm>
            <a:off x="16527780"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FFFFFF"/>
                </a:solidFill>
                <a:latin typeface="Nunito Ultra-Bold"/>
                <a:ea typeface="Nunito Ultra-Bold"/>
                <a:cs typeface="Nunito Ultra-Bold"/>
                <a:sym typeface="Nunito Ultra-Bold"/>
              </a:rPr>
              <a:t>6</a:t>
            </a:r>
          </a:p>
        </p:txBody>
      </p:sp>
      <p:sp>
        <p:nvSpPr>
          <p:cNvPr id="18" name="Rounded Rectangle 17"/>
          <p:cNvSpPr/>
          <p:nvPr/>
        </p:nvSpPr>
        <p:spPr>
          <a:xfrm>
            <a:off x="16930116"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19" name="TextBox 18"/>
          <p:cNvSpPr txBox="1"/>
          <p:nvPr/>
        </p:nvSpPr>
        <p:spPr>
          <a:xfrm>
            <a:off x="16930116"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7</a:t>
            </a:r>
          </a:p>
        </p:txBody>
      </p:sp>
      <p:sp>
        <p:nvSpPr>
          <p:cNvPr id="20" name="TextBox 19"/>
          <p:cNvSpPr txBox="1"/>
          <p:nvPr/>
        </p:nvSpPr>
        <p:spPr>
          <a:xfrm>
            <a:off x="1028700" y="1719072"/>
            <a:ext cx="16230600" cy="730250"/>
          </a:xfrm>
          <a:prstGeom prst="rect">
            <a:avLst/>
          </a:prstGeom>
          <a:noFill/>
        </p:spPr>
        <p:txBody>
          <a:bodyPr anchor="t" rtlCol="false" lIns="0" tIns="0" rIns="0" bIns="0" wrap="square"/>
          <a:lstStyle/>
          <a:p>
            <a:pPr algn="l">
              <a:lnSpc>
                <a:spcPts val="5060"/>
              </a:lnSpc>
              <a:spcBef>
                <a:spcPts val="0"/>
              </a:spcBef>
              <a:buNone/>
            </a:pPr>
            <a:r>
              <a:rPr lang="en-US" sz="4600" b="true" spc="-230">
                <a:solidFill>
                  <a:srgbClr val="111111"/>
                </a:solidFill>
                <a:latin typeface="Roca Two Bold"/>
                <a:ea typeface="Roca Two Bold"/>
                <a:cs typeface="Roca Two Bold"/>
                <a:sym typeface="Roca Two Bold"/>
              </a:rPr>
              <a:t>Ablation: Every Component Contributes</a:t>
            </a:r>
          </a:p>
        </p:txBody>
      </p:sp>
      <p:sp>
        <p:nvSpPr>
          <p:cNvPr id="21" name="Rounded Rectangle 20"/>
          <p:cNvSpPr/>
          <p:nvPr/>
        </p:nvSpPr>
        <p:spPr>
          <a:xfrm>
            <a:off x="1028700" y="2559050"/>
            <a:ext cx="1691553" cy="420624"/>
          </a:xfrm>
          <a:prstGeom prst="roundRect">
            <a:avLst>
              <a:gd name="adj" fmla="val 50000"/>
            </a:avLst>
          </a:prstGeom>
          <a:noFill/>
          <a:ln w="28575">
            <a:solidFill>
              <a:srgbClr val="4472C4"/>
            </a:solidFill>
          </a:ln>
        </p:spPr>
        <p:txBody>
          <a:bodyPr anchor="ctr" rtlCol="false" lIns="45720" tIns="0" rIns="45720" bIns="0" wrap="square"/>
          <a:lstStyle/>
          <a:p>
            <a:pPr algn="ctr">
              <a:lnSpc>
                <a:spcPts val="2160"/>
              </a:lnSpc>
              <a:spcBef>
                <a:spcPts val="0"/>
              </a:spcBef>
              <a:buNone/>
            </a:pPr>
            <a:r>
              <a:rPr lang="en-US" sz="1800" b="true">
                <a:solidFill>
                  <a:srgbClr val="4472C4"/>
                </a:solidFill>
                <a:latin typeface="Nunito Bold"/>
                <a:ea typeface="Nunito Bold"/>
                <a:cs typeface="Nunito Bold"/>
                <a:sym typeface="Nunito Bold"/>
              </a:rPr>
              <a:t>Objectives</a:t>
            </a:r>
          </a:p>
        </p:txBody>
      </p:sp>
      <p:sp>
        <p:nvSpPr>
          <p:cNvPr id="22" name="Rounded Rectangle 21"/>
          <p:cNvSpPr/>
          <p:nvPr/>
        </p:nvSpPr>
        <p:spPr>
          <a:xfrm>
            <a:off x="2848269" y="2559050"/>
            <a:ext cx="1998119" cy="420624"/>
          </a:xfrm>
          <a:prstGeom prst="roundRect">
            <a:avLst>
              <a:gd name="adj" fmla="val 50000"/>
            </a:avLst>
          </a:prstGeom>
          <a:noFill/>
          <a:ln w="28575">
            <a:solidFill>
              <a:srgbClr val="4472C4"/>
            </a:solidFill>
          </a:ln>
        </p:spPr>
        <p:txBody>
          <a:bodyPr anchor="ctr" rtlCol="false" lIns="45720" tIns="0" rIns="45720" bIns="0" wrap="square"/>
          <a:lstStyle/>
          <a:p>
            <a:pPr algn="ctr">
              <a:lnSpc>
                <a:spcPts val="2160"/>
              </a:lnSpc>
              <a:spcBef>
                <a:spcPts val="0"/>
              </a:spcBef>
              <a:buNone/>
            </a:pPr>
            <a:r>
              <a:rPr lang="en-US" sz="1800" b="true">
                <a:solidFill>
                  <a:srgbClr val="4472C4"/>
                </a:solidFill>
                <a:latin typeface="Nunito Bold"/>
                <a:ea typeface="Nunito Bold"/>
                <a:cs typeface="Nunito Bold"/>
                <a:sym typeface="Nunito Bold"/>
              </a:rPr>
              <a:t>Methodology</a:t>
            </a:r>
          </a:p>
        </p:txBody>
      </p:sp>
      <p:sp>
        <p:nvSpPr>
          <p:cNvPr id="23" name="Rounded Rectangle 22"/>
          <p:cNvSpPr/>
          <p:nvPr/>
        </p:nvSpPr>
        <p:spPr>
          <a:xfrm>
            <a:off x="4974404" y="2559050"/>
            <a:ext cx="1369446" cy="420624"/>
          </a:xfrm>
          <a:prstGeom prst="roundRect">
            <a:avLst>
              <a:gd name="adj" fmla="val 50000"/>
            </a:avLst>
          </a:prstGeom>
          <a:solidFill>
            <a:srgbClr val="4472C4"/>
          </a:solidFill>
          <a:ln>
            <a:noFill/>
          </a:ln>
        </p:spPr>
        <p:txBody>
          <a:bodyPr anchor="ctr" rtlCol="false" lIns="45720" tIns="0" rIns="45720" bIns="0" wrap="square"/>
          <a:lstStyle/>
          <a:p>
            <a:pPr algn="ctr">
              <a:lnSpc>
                <a:spcPts val="2160"/>
              </a:lnSpc>
              <a:spcBef>
                <a:spcPts val="0"/>
              </a:spcBef>
              <a:buNone/>
            </a:pPr>
            <a:r>
              <a:rPr lang="en-US" sz="1800" b="true">
                <a:solidFill>
                  <a:srgbClr val="FFFFFF"/>
                </a:solidFill>
                <a:latin typeface="Nunito Bold"/>
                <a:ea typeface="Nunito Bold"/>
                <a:cs typeface="Nunito Bold"/>
                <a:sym typeface="Nunito Bold"/>
              </a:rPr>
              <a:t>Results</a:t>
            </a:r>
          </a:p>
        </p:txBody>
      </p:sp>
      <p:sp>
        <p:nvSpPr>
          <p:cNvPr id="24" name="Rounded Rectangle 23"/>
          <p:cNvSpPr/>
          <p:nvPr/>
        </p:nvSpPr>
        <p:spPr>
          <a:xfrm>
            <a:off x="6471866" y="2559050"/>
            <a:ext cx="1474931" cy="420624"/>
          </a:xfrm>
          <a:prstGeom prst="roundRect">
            <a:avLst>
              <a:gd name="adj" fmla="val 50000"/>
            </a:avLst>
          </a:prstGeom>
          <a:noFill/>
          <a:ln w="28575">
            <a:solidFill>
              <a:srgbClr val="4472C4"/>
            </a:solidFill>
          </a:ln>
        </p:spPr>
        <p:txBody>
          <a:bodyPr anchor="ctr" rtlCol="false" lIns="45720" tIns="0" rIns="45720" bIns="0" wrap="square"/>
          <a:lstStyle/>
          <a:p>
            <a:pPr algn="ctr">
              <a:lnSpc>
                <a:spcPts val="2160"/>
              </a:lnSpc>
              <a:spcBef>
                <a:spcPts val="0"/>
              </a:spcBef>
              <a:buNone/>
            </a:pPr>
            <a:r>
              <a:rPr lang="en-US" sz="1800" b="true">
                <a:solidFill>
                  <a:srgbClr val="4472C4"/>
                </a:solidFill>
                <a:latin typeface="Nunito Bold"/>
                <a:ea typeface="Nunito Bold"/>
                <a:cs typeface="Nunito Bold"/>
                <a:sym typeface="Nunito Bold"/>
              </a:rPr>
              <a:t>Findings</a:t>
            </a:r>
          </a:p>
        </p:txBody>
      </p:sp>
      <p:sp>
        <p:nvSpPr>
          <p:cNvPr id="25" name="TextBox 24"/>
          <p:cNvSpPr txBox="1"/>
          <p:nvPr/>
        </p:nvSpPr>
        <p:spPr>
          <a:xfrm>
            <a:off x="1028700" y="3318002"/>
            <a:ext cx="7886700" cy="320040"/>
          </a:xfrm>
          <a:prstGeom prst="rect">
            <a:avLst/>
          </a:prstGeom>
          <a:noFill/>
        </p:spPr>
        <p:txBody>
          <a:bodyPr anchor="t" rtlCol="false" lIns="0" tIns="0" rIns="0" bIns="0" wrap="square"/>
          <a:lstStyle/>
          <a:p>
            <a:pPr algn="l">
              <a:lnSpc>
                <a:spcPts val="1600"/>
              </a:lnSpc>
              <a:spcBef>
                <a:spcPts val="0"/>
              </a:spcBef>
              <a:buNone/>
            </a:pPr>
            <a:r>
              <a:rPr lang="en-US" sz="1300" b="true" spc="150">
                <a:solidFill>
                  <a:srgbClr val="1F7A8C"/>
                </a:solidFill>
                <a:latin typeface="Nunito Ultra-Bold"/>
                <a:ea typeface="Nunito Ultra-Bold"/>
                <a:cs typeface="Nunito Ultra-Bold"/>
                <a:sym typeface="Nunito Ultra-Bold"/>
              </a:rPr>
              <a:t>TABLE 7.2  ·  MOVIELENS-1M</a:t>
            </a:r>
          </a:p>
        </p:txBody>
      </p:sp>
      <p:graphicFrame>
        <p:nvGraphicFramePr>
          <p:cNvPr id="26" name="Table 25"/>
          <p:cNvGraphicFramePr>
            <a:graphicFrameLocks noGrp="1"/>
          </p:cNvGraphicFramePr>
          <p:nvPr/>
        </p:nvGraphicFramePr>
        <p:xfrm>
          <a:off x="1028700" y="3683762"/>
          <a:ext cx="7886698" cy="3214116"/>
        </p:xfrm>
        <a:graphic>
          <a:graphicData uri="http://schemas.openxmlformats.org/drawingml/2006/table">
            <a:tbl>
              <a:tblPr firstRow="0" bandRow="0" firstCol="0" lastRow="0" lastCol="0" bandCol="0">
                <a:tableStyleId>{2D5ABB26-0587-4C30-8999-92F81FD0307C}</a:tableStyleId>
              </a:tblPr>
              <a:tblGrid>
                <a:gridCol w="3836772"/>
                <a:gridCol w="2131540"/>
                <a:gridCol w="1918386"/>
              </a:tblGrid>
              <a:tr h="457200">
                <a:tc>
                  <a:txBody>
                    <a:bodyPr anchor="ctr" rtlCol="false" lIns="0" tIns="0" rIns="0" bIns="0" wrap="square"/>
                    <a:lstStyle/>
                    <a:p>
                      <a:pPr algn="l">
                        <a:lnSpc>
                          <a:spcPts val="2080"/>
                        </a:lnSpc>
                        <a:spcBef>
                          <a:spcPts val="0"/>
                        </a:spcBef>
                        <a:buNone/>
                      </a:pPr>
                      <a:r>
                        <a:rPr lang="en-US" sz="1600" b="true">
                          <a:solidFill>
                            <a:srgbClr val="FFFFFF"/>
                          </a:solidFill>
                          <a:latin typeface="Nunito Bold"/>
                          <a:ea typeface="Nunito Bold"/>
                          <a:cs typeface="Nunito Bold"/>
                          <a:sym typeface="Nunito Bold"/>
                        </a:rPr>
                        <a:t>Variant</a:t>
                      </a:r>
                    </a:p>
                  </a:txBody>
                  <a:tcPr marL="64008" marR="64008" marT="45720" marB="45720" anchor="ctr">
                    <a:lnL w="12700" cap="flat" cmpd="sng" algn="ctr">
                      <a:solidFill>
                        <a:srgbClr val="4472C4"/>
                      </a:solidFill>
                      <a:prstDash val="solid"/>
                    </a:lnL>
                    <a:lnR w="12700" cap="flat" cmpd="sng" algn="ctr">
                      <a:solidFill>
                        <a:srgbClr val="4472C4"/>
                      </a:solidFill>
                      <a:prstDash val="solid"/>
                    </a:lnR>
                    <a:lnT w="12700" cap="flat" cmpd="sng" algn="ctr">
                      <a:solidFill>
                        <a:srgbClr val="4472C4"/>
                      </a:solidFill>
                      <a:prstDash val="solid"/>
                    </a:lnT>
                    <a:lnB w="12700" cap="flat" cmpd="sng" algn="ctr">
                      <a:solidFill>
                        <a:srgbClr val="4472C4"/>
                      </a:solidFill>
                      <a:prstDash val="solid"/>
                    </a:lnB>
                    <a:solidFill>
                      <a:srgbClr val="4472C4"/>
                    </a:solidFill>
                  </a:tcPr>
                </a:tc>
                <a:tc>
                  <a:txBody>
                    <a:bodyPr anchor="ctr" rtlCol="false" lIns="0" tIns="0" rIns="0" bIns="0" wrap="square"/>
                    <a:lstStyle/>
                    <a:p>
                      <a:pPr algn="ctr">
                        <a:lnSpc>
                          <a:spcPts val="2080"/>
                        </a:lnSpc>
                        <a:spcBef>
                          <a:spcPts val="0"/>
                        </a:spcBef>
                        <a:buNone/>
                      </a:pPr>
                      <a:r>
                        <a:rPr lang="en-US" sz="1600" b="true">
                          <a:solidFill>
                            <a:srgbClr val="FFFFFF"/>
                          </a:solidFill>
                          <a:latin typeface="Nunito Bold"/>
                          <a:ea typeface="Nunito Bold"/>
                          <a:cs typeface="Nunito Bold"/>
                          <a:sym typeface="Nunito Bold"/>
                        </a:rPr>
                        <a:t>NDCG@20</a:t>
                      </a:r>
                    </a:p>
                  </a:txBody>
                  <a:tcPr marL="64008" marR="64008" marT="45720" marB="45720" anchor="ctr">
                    <a:lnL w="12700" cap="flat" cmpd="sng" algn="ctr">
                      <a:solidFill>
                        <a:srgbClr val="4472C4"/>
                      </a:solidFill>
                      <a:prstDash val="solid"/>
                    </a:lnL>
                    <a:lnR w="12700" cap="flat" cmpd="sng" algn="ctr">
                      <a:solidFill>
                        <a:srgbClr val="4472C4"/>
                      </a:solidFill>
                      <a:prstDash val="solid"/>
                    </a:lnR>
                    <a:lnT w="12700" cap="flat" cmpd="sng" algn="ctr">
                      <a:solidFill>
                        <a:srgbClr val="4472C4"/>
                      </a:solidFill>
                      <a:prstDash val="solid"/>
                    </a:lnT>
                    <a:lnB w="12700" cap="flat" cmpd="sng" algn="ctr">
                      <a:solidFill>
                        <a:srgbClr val="4472C4"/>
                      </a:solidFill>
                      <a:prstDash val="solid"/>
                    </a:lnB>
                    <a:solidFill>
                      <a:srgbClr val="4472C4"/>
                    </a:solidFill>
                  </a:tcPr>
                </a:tc>
                <a:tc>
                  <a:txBody>
                    <a:bodyPr anchor="ctr" rtlCol="false" lIns="0" tIns="0" rIns="0" bIns="0" wrap="square"/>
                    <a:lstStyle/>
                    <a:p>
                      <a:pPr algn="ctr">
                        <a:lnSpc>
                          <a:spcPts val="2080"/>
                        </a:lnSpc>
                        <a:spcBef>
                          <a:spcPts val="0"/>
                        </a:spcBef>
                        <a:buNone/>
                      </a:pPr>
                      <a:r>
                        <a:rPr lang="en-US" sz="1600" b="true">
                          <a:solidFill>
                            <a:srgbClr val="FFFFFF"/>
                          </a:solidFill>
                          <a:latin typeface="Nunito Bold"/>
                          <a:ea typeface="Nunito Bold"/>
                          <a:cs typeface="Nunito Bold"/>
                          <a:sym typeface="Nunito Bold"/>
                        </a:rPr>
                        <a:t>Drop</a:t>
                      </a:r>
                    </a:p>
                  </a:txBody>
                  <a:tcPr marL="64008" marR="64008" marT="45720" marB="45720" anchor="ctr">
                    <a:lnL w="12700" cap="flat" cmpd="sng" algn="ctr">
                      <a:solidFill>
                        <a:srgbClr val="4472C4"/>
                      </a:solidFill>
                      <a:prstDash val="solid"/>
                    </a:lnL>
                    <a:lnR w="12700" cap="flat" cmpd="sng" algn="ctr">
                      <a:solidFill>
                        <a:srgbClr val="4472C4"/>
                      </a:solidFill>
                      <a:prstDash val="solid"/>
                    </a:lnR>
                    <a:lnT w="12700" cap="flat" cmpd="sng" algn="ctr">
                      <a:solidFill>
                        <a:srgbClr val="4472C4"/>
                      </a:solidFill>
                      <a:prstDash val="solid"/>
                    </a:lnT>
                    <a:lnB w="12700" cap="flat" cmpd="sng" algn="ctr">
                      <a:solidFill>
                        <a:srgbClr val="4472C4"/>
                      </a:solidFill>
                      <a:prstDash val="solid"/>
                    </a:lnB>
                    <a:solidFill>
                      <a:srgbClr val="4472C4"/>
                    </a:solidFill>
                  </a:tcPr>
                </a:tc>
              </a:tr>
              <a:tr h="459486">
                <a:tc>
                  <a:txBody>
                    <a:bodyPr anchor="ctr" rtlCol="false" lIns="0" tIns="0" rIns="0" bIns="0" wrap="square"/>
                    <a:lstStyle/>
                    <a:p>
                      <a:pPr algn="l">
                        <a:lnSpc>
                          <a:spcPts val="2210"/>
                        </a:lnSpc>
                        <a:spcBef>
                          <a:spcPts val="0"/>
                        </a:spcBef>
                        <a:buNone/>
                      </a:pPr>
                      <a:r>
                        <a:rPr lang="en-US" sz="1700" b="1">
                          <a:solidFill>
                            <a:srgbClr val="111111"/>
                          </a:solidFill>
                          <a:latin typeface="Nunito Bold"/>
                          <a:ea typeface="Nunito Bold"/>
                          <a:cs typeface="Nunito Bold"/>
                          <a:sym typeface="Nunito Bold"/>
                        </a:rPr>
                        <a:t>Full DyHuCoG</a:t>
                      </a:r>
                    </a:p>
                  </a:txBody>
                  <a:tcPr marL="64008" marR="64008"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D9E2F3"/>
                    </a:solidFill>
                  </a:tcPr>
                </a:tc>
                <a:tc>
                  <a:txBody>
                    <a:bodyPr anchor="ctr" rtlCol="false" lIns="0" tIns="0" rIns="0" bIns="0" wrap="square"/>
                    <a:lstStyle/>
                    <a:p>
                      <a:pPr algn="ctr">
                        <a:lnSpc>
                          <a:spcPts val="2210"/>
                        </a:lnSpc>
                        <a:spcBef>
                          <a:spcPts val="0"/>
                        </a:spcBef>
                        <a:buNone/>
                      </a:pPr>
                      <a:r>
                        <a:rPr lang="en-US" sz="1700" b="1">
                          <a:solidFill>
                            <a:srgbClr val="111111"/>
                          </a:solidFill>
                          <a:latin typeface="Nunito Semi-Bold"/>
                          <a:ea typeface="Nunito Semi-Bold"/>
                          <a:cs typeface="Nunito Semi-Bold"/>
                          <a:sym typeface="Nunito Semi-Bold"/>
                        </a:rPr>
                        <a:t>0.2775</a:t>
                      </a:r>
                    </a:p>
                  </a:txBody>
                  <a:tcPr marL="64008" marR="64008"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D9E2F3"/>
                    </a:solidFill>
                  </a:tcPr>
                </a:tc>
                <a:tc>
                  <a:txBody>
                    <a:bodyPr anchor="ctr" rtlCol="false" lIns="0" tIns="0" rIns="0" bIns="0" wrap="square"/>
                    <a:lstStyle/>
                    <a:p>
                      <a:pPr algn="ctr">
                        <a:lnSpc>
                          <a:spcPts val="2210"/>
                        </a:lnSpc>
                        <a:spcBef>
                          <a:spcPts val="0"/>
                        </a:spcBef>
                        <a:buNone/>
                      </a:pPr>
                      <a:r>
                        <a:rPr lang="en-US" sz="1700" b="1">
                          <a:solidFill>
                            <a:srgbClr val="111111"/>
                          </a:solidFill>
                          <a:latin typeface="Nunito Semi-Bold"/>
                          <a:ea typeface="Nunito Semi-Bold"/>
                          <a:cs typeface="Nunito Semi-Bold"/>
                          <a:sym typeface="Nunito Semi-Bold"/>
                        </a:rPr>
                        <a:t>–</a:t>
                      </a:r>
                    </a:p>
                  </a:txBody>
                  <a:tcPr marL="64008" marR="64008"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D9E2F3"/>
                    </a:solidFill>
                  </a:tcPr>
                </a:tc>
              </a:tr>
              <a:tr h="459486">
                <a:tc>
                  <a:txBody>
                    <a:bodyPr anchor="ctr" rtlCol="false" lIns="0" tIns="0" rIns="0" bIns="0" wrap="square"/>
                    <a:lstStyle/>
                    <a:p>
                      <a:pPr algn="l">
                        <a:lnSpc>
                          <a:spcPts val="2210"/>
                        </a:lnSpc>
                        <a:spcBef>
                          <a:spcPts val="0"/>
                        </a:spcBef>
                        <a:buNone/>
                      </a:pPr>
                      <a:r>
                        <a:rPr lang="en-US" sz="1700" b="true">
                          <a:solidFill>
                            <a:srgbClr val="111111"/>
                          </a:solidFill>
                          <a:latin typeface="Nunito Bold"/>
                          <a:ea typeface="Nunito Bold"/>
                          <a:cs typeface="Nunito Bold"/>
                          <a:sym typeface="Nunito Bold"/>
                        </a:rPr>
                        <a:t>w/o Shapley value</a:t>
                      </a:r>
                    </a:p>
                  </a:txBody>
                  <a:tcPr marL="64008" marR="64008"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6ECDF"/>
                    </a:solidFill>
                  </a:tcPr>
                </a:tc>
                <a:tc>
                  <a:txBody>
                    <a:bodyPr anchor="ctr" rtlCol="false" lIns="0" tIns="0" rIns="0" bIns="0" wrap="square"/>
                    <a:lstStyle/>
                    <a:p>
                      <a:pPr algn="ctr">
                        <a:lnSpc>
                          <a:spcPts val="2210"/>
                        </a:lnSpc>
                        <a:spcBef>
                          <a:spcPts val="0"/>
                        </a:spcBef>
                        <a:buNone/>
                      </a:pPr>
                      <a:r>
                        <a:rPr lang="en-US" sz="1700" b="true">
                          <a:solidFill>
                            <a:srgbClr val="111111"/>
                          </a:solidFill>
                          <a:latin typeface="Nunito Semi-Bold"/>
                          <a:ea typeface="Nunito Semi-Bold"/>
                          <a:cs typeface="Nunito Semi-Bold"/>
                          <a:sym typeface="Nunito Semi-Bold"/>
                        </a:rPr>
                        <a:t>0.2647</a:t>
                      </a:r>
                    </a:p>
                  </a:txBody>
                  <a:tcPr marL="64008" marR="64008"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6ECDF"/>
                    </a:solidFill>
                  </a:tcPr>
                </a:tc>
                <a:tc>
                  <a:txBody>
                    <a:bodyPr anchor="ctr" rtlCol="false" lIns="0" tIns="0" rIns="0" bIns="0" wrap="square"/>
                    <a:lstStyle/>
                    <a:p>
                      <a:pPr algn="ctr">
                        <a:lnSpc>
                          <a:spcPts val="2210"/>
                        </a:lnSpc>
                        <a:spcBef>
                          <a:spcPts val="0"/>
                        </a:spcBef>
                        <a:buNone/>
                      </a:pPr>
                      <a:r>
                        <a:rPr lang="en-US" sz="1700" b="true">
                          <a:solidFill>
                            <a:srgbClr val="111111"/>
                          </a:solidFill>
                          <a:latin typeface="Nunito Semi-Bold"/>
                          <a:ea typeface="Nunito Semi-Bold"/>
                          <a:cs typeface="Nunito Semi-Bold"/>
                          <a:sym typeface="Nunito Semi-Bold"/>
                        </a:rPr>
                        <a:t>−4.6 %</a:t>
                      </a:r>
                    </a:p>
                  </a:txBody>
                  <a:tcPr marL="64008" marR="64008"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6ECDF"/>
                    </a:solidFill>
                  </a:tcPr>
                </a:tc>
              </a:tr>
              <a:tr h="459486">
                <a:tc>
                  <a:txBody>
                    <a:bodyPr anchor="ctr" rtlCol="false" lIns="0" tIns="0" rIns="0" bIns="0" wrap="square"/>
                    <a:lstStyle/>
                    <a:p>
                      <a:pPr algn="l">
                        <a:lnSpc>
                          <a:spcPts val="2210"/>
                        </a:lnSpc>
                        <a:spcBef>
                          <a:spcPts val="0"/>
                        </a:spcBef>
                        <a:buNone/>
                      </a:pPr>
                      <a:r>
                        <a:rPr lang="en-US" sz="1700" b="true">
                          <a:solidFill>
                            <a:srgbClr val="111111"/>
                          </a:solidFill>
                          <a:latin typeface="Nunito Bold"/>
                          <a:ea typeface="Nunito Bold"/>
                          <a:cs typeface="Nunito Bold"/>
                          <a:sym typeface="Nunito Bold"/>
                        </a:rPr>
                        <a:t>w/o Hypergraph</a:t>
                      </a:r>
                    </a:p>
                  </a:txBody>
                  <a:tcPr marL="64008" marR="64008"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c>
                  <a:txBody>
                    <a:bodyPr anchor="ctr" rtlCol="false" lIns="0" tIns="0" rIns="0" bIns="0" wrap="square"/>
                    <a:lstStyle/>
                    <a:p>
                      <a:pPr algn="ctr">
                        <a:lnSpc>
                          <a:spcPts val="2210"/>
                        </a:lnSpc>
                        <a:spcBef>
                          <a:spcPts val="0"/>
                        </a:spcBef>
                        <a:buNone/>
                      </a:pPr>
                      <a:r>
                        <a:rPr lang="en-US" sz="1700" b="true">
                          <a:solidFill>
                            <a:srgbClr val="111111"/>
                          </a:solidFill>
                          <a:latin typeface="Nunito Semi-Bold"/>
                          <a:ea typeface="Nunito Semi-Bold"/>
                          <a:cs typeface="Nunito Semi-Bold"/>
                          <a:sym typeface="Nunito Semi-Bold"/>
                        </a:rPr>
                        <a:t>0.2586</a:t>
                      </a:r>
                    </a:p>
                  </a:txBody>
                  <a:tcPr marL="64008" marR="64008"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c>
                  <a:txBody>
                    <a:bodyPr anchor="ctr" rtlCol="false" lIns="0" tIns="0" rIns="0" bIns="0" wrap="square"/>
                    <a:lstStyle/>
                    <a:p>
                      <a:pPr algn="ctr">
                        <a:lnSpc>
                          <a:spcPts val="2210"/>
                        </a:lnSpc>
                        <a:spcBef>
                          <a:spcPts val="0"/>
                        </a:spcBef>
                        <a:buNone/>
                      </a:pPr>
                      <a:r>
                        <a:rPr lang="en-US" sz="1700" b="true">
                          <a:solidFill>
                            <a:srgbClr val="111111"/>
                          </a:solidFill>
                          <a:latin typeface="Nunito Semi-Bold"/>
                          <a:ea typeface="Nunito Semi-Bold"/>
                          <a:cs typeface="Nunito Semi-Bold"/>
                          <a:sym typeface="Nunito Semi-Bold"/>
                        </a:rPr>
                        <a:t>−6.8 %</a:t>
                      </a:r>
                    </a:p>
                  </a:txBody>
                  <a:tcPr marL="64008" marR="64008"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r>
              <a:tr h="459486">
                <a:tc>
                  <a:txBody>
                    <a:bodyPr anchor="ctr" rtlCol="false" lIns="0" tIns="0" rIns="0" bIns="0" wrap="square"/>
                    <a:lstStyle/>
                    <a:p>
                      <a:pPr algn="l">
                        <a:lnSpc>
                          <a:spcPts val="2210"/>
                        </a:lnSpc>
                        <a:spcBef>
                          <a:spcPts val="0"/>
                        </a:spcBef>
                        <a:buNone/>
                      </a:pPr>
                      <a:r>
                        <a:rPr lang="en-US" sz="1700" b="true">
                          <a:solidFill>
                            <a:srgbClr val="111111"/>
                          </a:solidFill>
                          <a:latin typeface="Nunito Bold"/>
                          <a:ea typeface="Nunito Bold"/>
                          <a:cs typeface="Nunito Bold"/>
                          <a:sym typeface="Nunito Bold"/>
                        </a:rPr>
                        <a:t>w/o Attention</a:t>
                      </a:r>
                    </a:p>
                  </a:txBody>
                  <a:tcPr marL="64008" marR="64008"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6ECDF"/>
                    </a:solidFill>
                  </a:tcPr>
                </a:tc>
                <a:tc>
                  <a:txBody>
                    <a:bodyPr anchor="ctr" rtlCol="false" lIns="0" tIns="0" rIns="0" bIns="0" wrap="square"/>
                    <a:lstStyle/>
                    <a:p>
                      <a:pPr algn="ctr">
                        <a:lnSpc>
                          <a:spcPts val="2210"/>
                        </a:lnSpc>
                        <a:spcBef>
                          <a:spcPts val="0"/>
                        </a:spcBef>
                        <a:buNone/>
                      </a:pPr>
                      <a:r>
                        <a:rPr lang="en-US" sz="1700" b="true">
                          <a:solidFill>
                            <a:srgbClr val="111111"/>
                          </a:solidFill>
                          <a:latin typeface="Nunito Semi-Bold"/>
                          <a:ea typeface="Nunito Semi-Bold"/>
                          <a:cs typeface="Nunito Semi-Bold"/>
                          <a:sym typeface="Nunito Semi-Bold"/>
                        </a:rPr>
                        <a:t>0.2678</a:t>
                      </a:r>
                    </a:p>
                  </a:txBody>
                  <a:tcPr marL="64008" marR="64008"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6ECDF"/>
                    </a:solidFill>
                  </a:tcPr>
                </a:tc>
                <a:tc>
                  <a:txBody>
                    <a:bodyPr anchor="ctr" rtlCol="false" lIns="0" tIns="0" rIns="0" bIns="0" wrap="square"/>
                    <a:lstStyle/>
                    <a:p>
                      <a:pPr algn="ctr">
                        <a:lnSpc>
                          <a:spcPts val="2210"/>
                        </a:lnSpc>
                        <a:spcBef>
                          <a:spcPts val="0"/>
                        </a:spcBef>
                        <a:buNone/>
                      </a:pPr>
                      <a:r>
                        <a:rPr lang="en-US" sz="1700" b="true">
                          <a:solidFill>
                            <a:srgbClr val="111111"/>
                          </a:solidFill>
                          <a:latin typeface="Nunito Semi-Bold"/>
                          <a:ea typeface="Nunito Semi-Bold"/>
                          <a:cs typeface="Nunito Semi-Bold"/>
                          <a:sym typeface="Nunito Semi-Bold"/>
                        </a:rPr>
                        <a:t>−3.5 %</a:t>
                      </a:r>
                    </a:p>
                  </a:txBody>
                  <a:tcPr marL="64008" marR="64008"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6ECDF"/>
                    </a:solidFill>
                  </a:tcPr>
                </a:tc>
              </a:tr>
              <a:tr h="459486">
                <a:tc>
                  <a:txBody>
                    <a:bodyPr anchor="ctr" rtlCol="false" lIns="0" tIns="0" rIns="0" bIns="0" wrap="square"/>
                    <a:lstStyle/>
                    <a:p>
                      <a:pPr algn="l">
                        <a:lnSpc>
                          <a:spcPts val="2210"/>
                        </a:lnSpc>
                        <a:spcBef>
                          <a:spcPts val="0"/>
                        </a:spcBef>
                        <a:buNone/>
                      </a:pPr>
                      <a:r>
                        <a:rPr lang="en-US" sz="1700" b="1">
                          <a:solidFill>
                            <a:srgbClr val="1F7A8C"/>
                          </a:solidFill>
                          <a:latin typeface="Nunito Bold"/>
                          <a:ea typeface="Nunito Bold"/>
                          <a:cs typeface="Nunito Bold"/>
                          <a:sym typeface="Nunito Bold"/>
                        </a:rPr>
                        <a:t>w/o Context</a:t>
                      </a:r>
                    </a:p>
                  </a:txBody>
                  <a:tcPr marL="64008" marR="64008"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c>
                  <a:txBody>
                    <a:bodyPr anchor="ctr" rtlCol="false" lIns="0" tIns="0" rIns="0" bIns="0" wrap="square"/>
                    <a:lstStyle/>
                    <a:p>
                      <a:pPr algn="ctr">
                        <a:lnSpc>
                          <a:spcPts val="2210"/>
                        </a:lnSpc>
                        <a:spcBef>
                          <a:spcPts val="0"/>
                        </a:spcBef>
                        <a:buNone/>
                      </a:pPr>
                      <a:r>
                        <a:rPr lang="en-US" sz="1700" b="1">
                          <a:solidFill>
                            <a:srgbClr val="1F7A8C"/>
                          </a:solidFill>
                          <a:latin typeface="Nunito Semi-Bold"/>
                          <a:ea typeface="Nunito Semi-Bold"/>
                          <a:cs typeface="Nunito Semi-Bold"/>
                          <a:sym typeface="Nunito Semi-Bold"/>
                        </a:rPr>
                        <a:t>0.2547</a:t>
                      </a:r>
                    </a:p>
                  </a:txBody>
                  <a:tcPr marL="64008" marR="64008"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c>
                  <a:txBody>
                    <a:bodyPr anchor="ctr" rtlCol="false" lIns="0" tIns="0" rIns="0" bIns="0" wrap="square"/>
                    <a:lstStyle/>
                    <a:p>
                      <a:pPr algn="ctr">
                        <a:lnSpc>
                          <a:spcPts val="2210"/>
                        </a:lnSpc>
                        <a:spcBef>
                          <a:spcPts val="0"/>
                        </a:spcBef>
                        <a:buNone/>
                      </a:pPr>
                      <a:r>
                        <a:rPr lang="en-US" sz="1700" b="1">
                          <a:solidFill>
                            <a:srgbClr val="1F7A8C"/>
                          </a:solidFill>
                          <a:latin typeface="Nunito Semi-Bold"/>
                          <a:ea typeface="Nunito Semi-Bold"/>
                          <a:cs typeface="Nunito Semi-Bold"/>
                          <a:sym typeface="Nunito Semi-Bold"/>
                        </a:rPr>
                        <a:t>−8.2 %</a:t>
                      </a:r>
                    </a:p>
                  </a:txBody>
                  <a:tcPr marL="64008" marR="64008"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r>
              <a:tr h="459486">
                <a:tc>
                  <a:txBody>
                    <a:bodyPr anchor="ctr" rtlCol="false" lIns="0" tIns="0" rIns="0" bIns="0" wrap="square"/>
                    <a:lstStyle/>
                    <a:p>
                      <a:pPr algn="l">
                        <a:lnSpc>
                          <a:spcPts val="2210"/>
                        </a:lnSpc>
                        <a:spcBef>
                          <a:spcPts val="0"/>
                        </a:spcBef>
                        <a:buNone/>
                      </a:pPr>
                      <a:r>
                        <a:rPr lang="en-US" sz="1700" b="true">
                          <a:solidFill>
                            <a:srgbClr val="111111"/>
                          </a:solidFill>
                          <a:latin typeface="Nunito Bold"/>
                          <a:ea typeface="Nunito Bold"/>
                          <a:cs typeface="Nunito Bold"/>
                          <a:sym typeface="Nunito Bold"/>
                        </a:rPr>
                        <a:t>w/o Diversity</a:t>
                      </a:r>
                    </a:p>
                  </a:txBody>
                  <a:tcPr marL="64008" marR="64008"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6ECDF"/>
                    </a:solidFill>
                  </a:tcPr>
                </a:tc>
                <a:tc>
                  <a:txBody>
                    <a:bodyPr anchor="ctr" rtlCol="false" lIns="0" tIns="0" rIns="0" bIns="0" wrap="square"/>
                    <a:lstStyle/>
                    <a:p>
                      <a:pPr algn="ctr">
                        <a:lnSpc>
                          <a:spcPts val="2210"/>
                        </a:lnSpc>
                        <a:spcBef>
                          <a:spcPts val="0"/>
                        </a:spcBef>
                        <a:buNone/>
                      </a:pPr>
                      <a:r>
                        <a:rPr lang="en-US" sz="1700" b="true">
                          <a:solidFill>
                            <a:srgbClr val="111111"/>
                          </a:solidFill>
                          <a:latin typeface="Nunito Semi-Bold"/>
                          <a:ea typeface="Nunito Semi-Bold"/>
                          <a:cs typeface="Nunito Semi-Bold"/>
                          <a:sym typeface="Nunito Semi-Bold"/>
                        </a:rPr>
                        <a:t>0.2614</a:t>
                      </a:r>
                    </a:p>
                  </a:txBody>
                  <a:tcPr marL="64008" marR="64008"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6ECDF"/>
                    </a:solidFill>
                  </a:tcPr>
                </a:tc>
                <a:tc>
                  <a:txBody>
                    <a:bodyPr anchor="ctr" rtlCol="false" lIns="0" tIns="0" rIns="0" bIns="0" wrap="square"/>
                    <a:lstStyle/>
                    <a:p>
                      <a:pPr algn="ctr">
                        <a:lnSpc>
                          <a:spcPts val="2210"/>
                        </a:lnSpc>
                        <a:spcBef>
                          <a:spcPts val="0"/>
                        </a:spcBef>
                        <a:buNone/>
                      </a:pPr>
                      <a:r>
                        <a:rPr lang="en-US" sz="1700" b="true">
                          <a:solidFill>
                            <a:srgbClr val="111111"/>
                          </a:solidFill>
                          <a:latin typeface="Nunito Semi-Bold"/>
                          <a:ea typeface="Nunito Semi-Bold"/>
                          <a:cs typeface="Nunito Semi-Bold"/>
                          <a:sym typeface="Nunito Semi-Bold"/>
                        </a:rPr>
                        <a:t>−5.8 %</a:t>
                      </a:r>
                    </a:p>
                  </a:txBody>
                  <a:tcPr marL="64008" marR="64008"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6ECDF"/>
                    </a:solidFill>
                  </a:tcPr>
                </a:tc>
              </a:tr>
            </a:tbl>
          </a:graphicData>
        </a:graphic>
      </p:graphicFrame>
      <p:sp>
        <p:nvSpPr>
          <p:cNvPr id="27" name="TextBox 26"/>
          <p:cNvSpPr txBox="1"/>
          <p:nvPr/>
        </p:nvSpPr>
        <p:spPr>
          <a:xfrm>
            <a:off x="9372600" y="3318002"/>
            <a:ext cx="7886700" cy="320040"/>
          </a:xfrm>
          <a:prstGeom prst="rect">
            <a:avLst/>
          </a:prstGeom>
          <a:noFill/>
        </p:spPr>
        <p:txBody>
          <a:bodyPr anchor="t" rtlCol="false" lIns="0" tIns="0" rIns="0" bIns="0" wrap="square"/>
          <a:lstStyle/>
          <a:p>
            <a:pPr algn="l">
              <a:lnSpc>
                <a:spcPts val="1600"/>
              </a:lnSpc>
              <a:spcBef>
                <a:spcPts val="0"/>
              </a:spcBef>
              <a:buNone/>
            </a:pPr>
            <a:r>
              <a:rPr lang="en-US" sz="1300" b="true" spc="150">
                <a:solidFill>
                  <a:srgbClr val="1F7A8C"/>
                </a:solidFill>
                <a:latin typeface="Nunito Ultra-Bold"/>
                <a:ea typeface="Nunito Ultra-Bold"/>
                <a:cs typeface="Nunito Ultra-Bold"/>
                <a:sym typeface="Nunito Ultra-Bold"/>
              </a:rPr>
              <a:t>AMAZON-BOOK</a:t>
            </a:r>
          </a:p>
        </p:txBody>
      </p:sp>
      <p:graphicFrame>
        <p:nvGraphicFramePr>
          <p:cNvPr id="28" name="Table 27"/>
          <p:cNvGraphicFramePr>
            <a:graphicFrameLocks noGrp="1"/>
          </p:cNvGraphicFramePr>
          <p:nvPr/>
        </p:nvGraphicFramePr>
        <p:xfrm>
          <a:off x="9372600" y="3683762"/>
          <a:ext cx="7886698" cy="3214116"/>
        </p:xfrm>
        <a:graphic>
          <a:graphicData uri="http://schemas.openxmlformats.org/drawingml/2006/table">
            <a:tbl>
              <a:tblPr firstRow="0" bandRow="0" firstCol="0" lastRow="0" lastCol="0" bandCol="0">
                <a:tableStyleId>{2D5ABB26-0587-4C30-8999-92F81FD0307C}</a:tableStyleId>
              </a:tblPr>
              <a:tblGrid>
                <a:gridCol w="3836772"/>
                <a:gridCol w="2131540"/>
                <a:gridCol w="1918386"/>
              </a:tblGrid>
              <a:tr h="457200">
                <a:tc>
                  <a:txBody>
                    <a:bodyPr anchor="ctr" rtlCol="false" lIns="0" tIns="0" rIns="0" bIns="0" wrap="square"/>
                    <a:lstStyle/>
                    <a:p>
                      <a:pPr algn="l">
                        <a:lnSpc>
                          <a:spcPts val="2080"/>
                        </a:lnSpc>
                        <a:spcBef>
                          <a:spcPts val="0"/>
                        </a:spcBef>
                        <a:buNone/>
                      </a:pPr>
                      <a:r>
                        <a:rPr lang="en-US" sz="1600" b="true">
                          <a:solidFill>
                            <a:srgbClr val="FFFFFF"/>
                          </a:solidFill>
                          <a:latin typeface="Nunito Bold"/>
                          <a:ea typeface="Nunito Bold"/>
                          <a:cs typeface="Nunito Bold"/>
                          <a:sym typeface="Nunito Bold"/>
                        </a:rPr>
                        <a:t>Variant</a:t>
                      </a:r>
                    </a:p>
                  </a:txBody>
                  <a:tcPr marL="64008" marR="64008" marT="45720" marB="45720" anchor="ctr">
                    <a:lnL w="12700" cap="flat" cmpd="sng" algn="ctr">
                      <a:solidFill>
                        <a:srgbClr val="4472C4"/>
                      </a:solidFill>
                      <a:prstDash val="solid"/>
                    </a:lnL>
                    <a:lnR w="12700" cap="flat" cmpd="sng" algn="ctr">
                      <a:solidFill>
                        <a:srgbClr val="4472C4"/>
                      </a:solidFill>
                      <a:prstDash val="solid"/>
                    </a:lnR>
                    <a:lnT w="12700" cap="flat" cmpd="sng" algn="ctr">
                      <a:solidFill>
                        <a:srgbClr val="4472C4"/>
                      </a:solidFill>
                      <a:prstDash val="solid"/>
                    </a:lnT>
                    <a:lnB w="12700" cap="flat" cmpd="sng" algn="ctr">
                      <a:solidFill>
                        <a:srgbClr val="4472C4"/>
                      </a:solidFill>
                      <a:prstDash val="solid"/>
                    </a:lnB>
                    <a:solidFill>
                      <a:srgbClr val="4472C4"/>
                    </a:solidFill>
                  </a:tcPr>
                </a:tc>
                <a:tc>
                  <a:txBody>
                    <a:bodyPr anchor="ctr" rtlCol="false" lIns="0" tIns="0" rIns="0" bIns="0" wrap="square"/>
                    <a:lstStyle/>
                    <a:p>
                      <a:pPr algn="ctr">
                        <a:lnSpc>
                          <a:spcPts val="2080"/>
                        </a:lnSpc>
                        <a:spcBef>
                          <a:spcPts val="0"/>
                        </a:spcBef>
                        <a:buNone/>
                      </a:pPr>
                      <a:r>
                        <a:rPr lang="en-US" sz="1600" b="true">
                          <a:solidFill>
                            <a:srgbClr val="FFFFFF"/>
                          </a:solidFill>
                          <a:latin typeface="Nunito Bold"/>
                          <a:ea typeface="Nunito Bold"/>
                          <a:cs typeface="Nunito Bold"/>
                          <a:sym typeface="Nunito Bold"/>
                        </a:rPr>
                        <a:t>NDCG@20</a:t>
                      </a:r>
                    </a:p>
                  </a:txBody>
                  <a:tcPr marL="64008" marR="64008" marT="45720" marB="45720" anchor="ctr">
                    <a:lnL w="12700" cap="flat" cmpd="sng" algn="ctr">
                      <a:solidFill>
                        <a:srgbClr val="4472C4"/>
                      </a:solidFill>
                      <a:prstDash val="solid"/>
                    </a:lnL>
                    <a:lnR w="12700" cap="flat" cmpd="sng" algn="ctr">
                      <a:solidFill>
                        <a:srgbClr val="4472C4"/>
                      </a:solidFill>
                      <a:prstDash val="solid"/>
                    </a:lnR>
                    <a:lnT w="12700" cap="flat" cmpd="sng" algn="ctr">
                      <a:solidFill>
                        <a:srgbClr val="4472C4"/>
                      </a:solidFill>
                      <a:prstDash val="solid"/>
                    </a:lnT>
                    <a:lnB w="12700" cap="flat" cmpd="sng" algn="ctr">
                      <a:solidFill>
                        <a:srgbClr val="4472C4"/>
                      </a:solidFill>
                      <a:prstDash val="solid"/>
                    </a:lnB>
                    <a:solidFill>
                      <a:srgbClr val="4472C4"/>
                    </a:solidFill>
                  </a:tcPr>
                </a:tc>
                <a:tc>
                  <a:txBody>
                    <a:bodyPr anchor="ctr" rtlCol="false" lIns="0" tIns="0" rIns="0" bIns="0" wrap="square"/>
                    <a:lstStyle/>
                    <a:p>
                      <a:pPr algn="ctr">
                        <a:lnSpc>
                          <a:spcPts val="2080"/>
                        </a:lnSpc>
                        <a:spcBef>
                          <a:spcPts val="0"/>
                        </a:spcBef>
                        <a:buNone/>
                      </a:pPr>
                      <a:r>
                        <a:rPr lang="en-US" sz="1600" b="true">
                          <a:solidFill>
                            <a:srgbClr val="FFFFFF"/>
                          </a:solidFill>
                          <a:latin typeface="Nunito Bold"/>
                          <a:ea typeface="Nunito Bold"/>
                          <a:cs typeface="Nunito Bold"/>
                          <a:sym typeface="Nunito Bold"/>
                        </a:rPr>
                        <a:t>Drop</a:t>
                      </a:r>
                    </a:p>
                  </a:txBody>
                  <a:tcPr marL="64008" marR="64008" marT="45720" marB="45720" anchor="ctr">
                    <a:lnL w="12700" cap="flat" cmpd="sng" algn="ctr">
                      <a:solidFill>
                        <a:srgbClr val="4472C4"/>
                      </a:solidFill>
                      <a:prstDash val="solid"/>
                    </a:lnL>
                    <a:lnR w="12700" cap="flat" cmpd="sng" algn="ctr">
                      <a:solidFill>
                        <a:srgbClr val="4472C4"/>
                      </a:solidFill>
                      <a:prstDash val="solid"/>
                    </a:lnR>
                    <a:lnT w="12700" cap="flat" cmpd="sng" algn="ctr">
                      <a:solidFill>
                        <a:srgbClr val="4472C4"/>
                      </a:solidFill>
                      <a:prstDash val="solid"/>
                    </a:lnT>
                    <a:lnB w="12700" cap="flat" cmpd="sng" algn="ctr">
                      <a:solidFill>
                        <a:srgbClr val="4472C4"/>
                      </a:solidFill>
                      <a:prstDash val="solid"/>
                    </a:lnB>
                    <a:solidFill>
                      <a:srgbClr val="4472C4"/>
                    </a:solidFill>
                  </a:tcPr>
                </a:tc>
              </a:tr>
              <a:tr h="459486">
                <a:tc>
                  <a:txBody>
                    <a:bodyPr anchor="ctr" rtlCol="false" lIns="0" tIns="0" rIns="0" bIns="0" wrap="square"/>
                    <a:lstStyle/>
                    <a:p>
                      <a:pPr algn="l">
                        <a:lnSpc>
                          <a:spcPts val="2210"/>
                        </a:lnSpc>
                        <a:spcBef>
                          <a:spcPts val="0"/>
                        </a:spcBef>
                        <a:buNone/>
                      </a:pPr>
                      <a:r>
                        <a:rPr lang="en-US" sz="1700" b="1">
                          <a:solidFill>
                            <a:srgbClr val="111111"/>
                          </a:solidFill>
                          <a:latin typeface="Nunito Bold"/>
                          <a:ea typeface="Nunito Bold"/>
                          <a:cs typeface="Nunito Bold"/>
                          <a:sym typeface="Nunito Bold"/>
                        </a:rPr>
                        <a:t>Full DyHuCoG</a:t>
                      </a:r>
                    </a:p>
                  </a:txBody>
                  <a:tcPr marL="64008" marR="64008"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D9E2F3"/>
                    </a:solidFill>
                  </a:tcPr>
                </a:tc>
                <a:tc>
                  <a:txBody>
                    <a:bodyPr anchor="ctr" rtlCol="false" lIns="0" tIns="0" rIns="0" bIns="0" wrap="square"/>
                    <a:lstStyle/>
                    <a:p>
                      <a:pPr algn="ctr">
                        <a:lnSpc>
                          <a:spcPts val="2210"/>
                        </a:lnSpc>
                        <a:spcBef>
                          <a:spcPts val="0"/>
                        </a:spcBef>
                        <a:buNone/>
                      </a:pPr>
                      <a:r>
                        <a:rPr lang="en-US" sz="1700" b="1">
                          <a:solidFill>
                            <a:srgbClr val="111111"/>
                          </a:solidFill>
                          <a:latin typeface="Nunito Semi-Bold"/>
                          <a:ea typeface="Nunito Semi-Bold"/>
                          <a:cs typeface="Nunito Semi-Bold"/>
                          <a:sym typeface="Nunito Semi-Bold"/>
                        </a:rPr>
                        <a:t>0.0306</a:t>
                      </a:r>
                    </a:p>
                  </a:txBody>
                  <a:tcPr marL="64008" marR="64008"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D9E2F3"/>
                    </a:solidFill>
                  </a:tcPr>
                </a:tc>
                <a:tc>
                  <a:txBody>
                    <a:bodyPr anchor="ctr" rtlCol="false" lIns="0" tIns="0" rIns="0" bIns="0" wrap="square"/>
                    <a:lstStyle/>
                    <a:p>
                      <a:pPr algn="ctr">
                        <a:lnSpc>
                          <a:spcPts val="2210"/>
                        </a:lnSpc>
                        <a:spcBef>
                          <a:spcPts val="0"/>
                        </a:spcBef>
                        <a:buNone/>
                      </a:pPr>
                      <a:r>
                        <a:rPr lang="en-US" sz="1700" b="1">
                          <a:solidFill>
                            <a:srgbClr val="111111"/>
                          </a:solidFill>
                          <a:latin typeface="Nunito Semi-Bold"/>
                          <a:ea typeface="Nunito Semi-Bold"/>
                          <a:cs typeface="Nunito Semi-Bold"/>
                          <a:sym typeface="Nunito Semi-Bold"/>
                        </a:rPr>
                        <a:t>–</a:t>
                      </a:r>
                    </a:p>
                  </a:txBody>
                  <a:tcPr marL="64008" marR="64008"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D9E2F3"/>
                    </a:solidFill>
                  </a:tcPr>
                </a:tc>
              </a:tr>
              <a:tr h="459486">
                <a:tc>
                  <a:txBody>
                    <a:bodyPr anchor="ctr" rtlCol="false" lIns="0" tIns="0" rIns="0" bIns="0" wrap="square"/>
                    <a:lstStyle/>
                    <a:p>
                      <a:pPr algn="l">
                        <a:lnSpc>
                          <a:spcPts val="2210"/>
                        </a:lnSpc>
                        <a:spcBef>
                          <a:spcPts val="0"/>
                        </a:spcBef>
                        <a:buNone/>
                      </a:pPr>
                      <a:r>
                        <a:rPr lang="en-US" sz="1700" b="true">
                          <a:solidFill>
                            <a:srgbClr val="111111"/>
                          </a:solidFill>
                          <a:latin typeface="Nunito Bold"/>
                          <a:ea typeface="Nunito Bold"/>
                          <a:cs typeface="Nunito Bold"/>
                          <a:sym typeface="Nunito Bold"/>
                        </a:rPr>
                        <a:t>w/o Shapley value</a:t>
                      </a:r>
                    </a:p>
                  </a:txBody>
                  <a:tcPr marL="64008" marR="64008"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6ECDF"/>
                    </a:solidFill>
                  </a:tcPr>
                </a:tc>
                <a:tc>
                  <a:txBody>
                    <a:bodyPr anchor="ctr" rtlCol="false" lIns="0" tIns="0" rIns="0" bIns="0" wrap="square"/>
                    <a:lstStyle/>
                    <a:p>
                      <a:pPr algn="ctr">
                        <a:lnSpc>
                          <a:spcPts val="2210"/>
                        </a:lnSpc>
                        <a:spcBef>
                          <a:spcPts val="0"/>
                        </a:spcBef>
                        <a:buNone/>
                      </a:pPr>
                      <a:r>
                        <a:rPr lang="en-US" sz="1700" b="true">
                          <a:solidFill>
                            <a:srgbClr val="111111"/>
                          </a:solidFill>
                          <a:latin typeface="Nunito Semi-Bold"/>
                          <a:ea typeface="Nunito Semi-Bold"/>
                          <a:cs typeface="Nunito Semi-Bold"/>
                          <a:sym typeface="Nunito Semi-Bold"/>
                        </a:rPr>
                        <a:t>0.0287</a:t>
                      </a:r>
                    </a:p>
                  </a:txBody>
                  <a:tcPr marL="64008" marR="64008"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6ECDF"/>
                    </a:solidFill>
                  </a:tcPr>
                </a:tc>
                <a:tc>
                  <a:txBody>
                    <a:bodyPr anchor="ctr" rtlCol="false" lIns="0" tIns="0" rIns="0" bIns="0" wrap="square"/>
                    <a:lstStyle/>
                    <a:p>
                      <a:pPr algn="ctr">
                        <a:lnSpc>
                          <a:spcPts val="2210"/>
                        </a:lnSpc>
                        <a:spcBef>
                          <a:spcPts val="0"/>
                        </a:spcBef>
                        <a:buNone/>
                      </a:pPr>
                      <a:r>
                        <a:rPr lang="en-US" sz="1700" b="true">
                          <a:solidFill>
                            <a:srgbClr val="111111"/>
                          </a:solidFill>
                          <a:latin typeface="Nunito Semi-Bold"/>
                          <a:ea typeface="Nunito Semi-Bold"/>
                          <a:cs typeface="Nunito Semi-Bold"/>
                          <a:sym typeface="Nunito Semi-Bold"/>
                        </a:rPr>
                        <a:t>−6.1 %</a:t>
                      </a:r>
                    </a:p>
                  </a:txBody>
                  <a:tcPr marL="64008" marR="64008"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6ECDF"/>
                    </a:solidFill>
                  </a:tcPr>
                </a:tc>
              </a:tr>
              <a:tr h="459486">
                <a:tc>
                  <a:txBody>
                    <a:bodyPr anchor="ctr" rtlCol="false" lIns="0" tIns="0" rIns="0" bIns="0" wrap="square"/>
                    <a:lstStyle/>
                    <a:p>
                      <a:pPr algn="l">
                        <a:lnSpc>
                          <a:spcPts val="2210"/>
                        </a:lnSpc>
                        <a:spcBef>
                          <a:spcPts val="0"/>
                        </a:spcBef>
                        <a:buNone/>
                      </a:pPr>
                      <a:r>
                        <a:rPr lang="en-US" sz="1700" b="true">
                          <a:solidFill>
                            <a:srgbClr val="111111"/>
                          </a:solidFill>
                          <a:latin typeface="Nunito Bold"/>
                          <a:ea typeface="Nunito Bold"/>
                          <a:cs typeface="Nunito Bold"/>
                          <a:sym typeface="Nunito Bold"/>
                        </a:rPr>
                        <a:t>w/o Hypergraph</a:t>
                      </a:r>
                    </a:p>
                  </a:txBody>
                  <a:tcPr marL="64008" marR="64008"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c>
                  <a:txBody>
                    <a:bodyPr anchor="ctr" rtlCol="false" lIns="0" tIns="0" rIns="0" bIns="0" wrap="square"/>
                    <a:lstStyle/>
                    <a:p>
                      <a:pPr algn="ctr">
                        <a:lnSpc>
                          <a:spcPts val="2210"/>
                        </a:lnSpc>
                        <a:spcBef>
                          <a:spcPts val="0"/>
                        </a:spcBef>
                        <a:buNone/>
                      </a:pPr>
                      <a:r>
                        <a:rPr lang="en-US" sz="1700" b="true">
                          <a:solidFill>
                            <a:srgbClr val="111111"/>
                          </a:solidFill>
                          <a:latin typeface="Nunito Semi-Bold"/>
                          <a:ea typeface="Nunito Semi-Bold"/>
                          <a:cs typeface="Nunito Semi-Bold"/>
                          <a:sym typeface="Nunito Semi-Bold"/>
                        </a:rPr>
                        <a:t>0.0279</a:t>
                      </a:r>
                    </a:p>
                  </a:txBody>
                  <a:tcPr marL="64008" marR="64008"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c>
                  <a:txBody>
                    <a:bodyPr anchor="ctr" rtlCol="false" lIns="0" tIns="0" rIns="0" bIns="0" wrap="square"/>
                    <a:lstStyle/>
                    <a:p>
                      <a:pPr algn="ctr">
                        <a:lnSpc>
                          <a:spcPts val="2210"/>
                        </a:lnSpc>
                        <a:spcBef>
                          <a:spcPts val="0"/>
                        </a:spcBef>
                        <a:buNone/>
                      </a:pPr>
                      <a:r>
                        <a:rPr lang="en-US" sz="1700" b="true">
                          <a:solidFill>
                            <a:srgbClr val="111111"/>
                          </a:solidFill>
                          <a:latin typeface="Nunito Semi-Bold"/>
                          <a:ea typeface="Nunito Semi-Bold"/>
                          <a:cs typeface="Nunito Semi-Bold"/>
                          <a:sym typeface="Nunito Semi-Bold"/>
                        </a:rPr>
                        <a:t>−8.9 %</a:t>
                      </a:r>
                    </a:p>
                  </a:txBody>
                  <a:tcPr marL="64008" marR="64008"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r>
              <a:tr h="459486">
                <a:tc>
                  <a:txBody>
                    <a:bodyPr anchor="ctr" rtlCol="false" lIns="0" tIns="0" rIns="0" bIns="0" wrap="square"/>
                    <a:lstStyle/>
                    <a:p>
                      <a:pPr algn="l">
                        <a:lnSpc>
                          <a:spcPts val="2210"/>
                        </a:lnSpc>
                        <a:spcBef>
                          <a:spcPts val="0"/>
                        </a:spcBef>
                        <a:buNone/>
                      </a:pPr>
                      <a:r>
                        <a:rPr lang="en-US" sz="1700" b="true">
                          <a:solidFill>
                            <a:srgbClr val="111111"/>
                          </a:solidFill>
                          <a:latin typeface="Nunito Bold"/>
                          <a:ea typeface="Nunito Bold"/>
                          <a:cs typeface="Nunito Bold"/>
                          <a:sym typeface="Nunito Bold"/>
                        </a:rPr>
                        <a:t>w/o Attention</a:t>
                      </a:r>
                    </a:p>
                  </a:txBody>
                  <a:tcPr marL="64008" marR="64008"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6ECDF"/>
                    </a:solidFill>
                  </a:tcPr>
                </a:tc>
                <a:tc>
                  <a:txBody>
                    <a:bodyPr anchor="ctr" rtlCol="false" lIns="0" tIns="0" rIns="0" bIns="0" wrap="square"/>
                    <a:lstStyle/>
                    <a:p>
                      <a:pPr algn="ctr">
                        <a:lnSpc>
                          <a:spcPts val="2210"/>
                        </a:lnSpc>
                        <a:spcBef>
                          <a:spcPts val="0"/>
                        </a:spcBef>
                        <a:buNone/>
                      </a:pPr>
                      <a:r>
                        <a:rPr lang="en-US" sz="1700" b="true">
                          <a:solidFill>
                            <a:srgbClr val="111111"/>
                          </a:solidFill>
                          <a:latin typeface="Nunito Semi-Bold"/>
                          <a:ea typeface="Nunito Semi-Bold"/>
                          <a:cs typeface="Nunito Semi-Bold"/>
                          <a:sym typeface="Nunito Semi-Bold"/>
                        </a:rPr>
                        <a:t>0.0295</a:t>
                      </a:r>
                    </a:p>
                  </a:txBody>
                  <a:tcPr marL="64008" marR="64008"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6ECDF"/>
                    </a:solidFill>
                  </a:tcPr>
                </a:tc>
                <a:tc>
                  <a:txBody>
                    <a:bodyPr anchor="ctr" rtlCol="false" lIns="0" tIns="0" rIns="0" bIns="0" wrap="square"/>
                    <a:lstStyle/>
                    <a:p>
                      <a:pPr algn="ctr">
                        <a:lnSpc>
                          <a:spcPts val="2210"/>
                        </a:lnSpc>
                        <a:spcBef>
                          <a:spcPts val="0"/>
                        </a:spcBef>
                        <a:buNone/>
                      </a:pPr>
                      <a:r>
                        <a:rPr lang="en-US" sz="1700" b="true">
                          <a:solidFill>
                            <a:srgbClr val="111111"/>
                          </a:solidFill>
                          <a:latin typeface="Nunito Semi-Bold"/>
                          <a:ea typeface="Nunito Semi-Bold"/>
                          <a:cs typeface="Nunito Semi-Bold"/>
                          <a:sym typeface="Nunito Semi-Bold"/>
                        </a:rPr>
                        <a:t>−3.5 %</a:t>
                      </a:r>
                    </a:p>
                  </a:txBody>
                  <a:tcPr marL="64008" marR="64008"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6ECDF"/>
                    </a:solidFill>
                  </a:tcPr>
                </a:tc>
              </a:tr>
              <a:tr h="459486">
                <a:tc>
                  <a:txBody>
                    <a:bodyPr anchor="ctr" rtlCol="false" lIns="0" tIns="0" rIns="0" bIns="0" wrap="square"/>
                    <a:lstStyle/>
                    <a:p>
                      <a:pPr algn="l">
                        <a:lnSpc>
                          <a:spcPts val="2210"/>
                        </a:lnSpc>
                        <a:spcBef>
                          <a:spcPts val="0"/>
                        </a:spcBef>
                        <a:buNone/>
                      </a:pPr>
                      <a:r>
                        <a:rPr lang="en-US" sz="1700" b="1">
                          <a:solidFill>
                            <a:srgbClr val="1F7A8C"/>
                          </a:solidFill>
                          <a:latin typeface="Nunito Bold"/>
                          <a:ea typeface="Nunito Bold"/>
                          <a:cs typeface="Nunito Bold"/>
                          <a:sym typeface="Nunito Bold"/>
                        </a:rPr>
                        <a:t>w/o Context</a:t>
                      </a:r>
                    </a:p>
                  </a:txBody>
                  <a:tcPr marL="64008" marR="64008"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c>
                  <a:txBody>
                    <a:bodyPr anchor="ctr" rtlCol="false" lIns="0" tIns="0" rIns="0" bIns="0" wrap="square"/>
                    <a:lstStyle/>
                    <a:p>
                      <a:pPr algn="ctr">
                        <a:lnSpc>
                          <a:spcPts val="2210"/>
                        </a:lnSpc>
                        <a:spcBef>
                          <a:spcPts val="0"/>
                        </a:spcBef>
                        <a:buNone/>
                      </a:pPr>
                      <a:r>
                        <a:rPr lang="en-US" sz="1700" b="1">
                          <a:solidFill>
                            <a:srgbClr val="1F7A8C"/>
                          </a:solidFill>
                          <a:latin typeface="Nunito Semi-Bold"/>
                          <a:ea typeface="Nunito Semi-Bold"/>
                          <a:cs typeface="Nunito Semi-Bold"/>
                          <a:sym typeface="Nunito Semi-Bold"/>
                        </a:rPr>
                        <a:t>0.0272</a:t>
                      </a:r>
                    </a:p>
                  </a:txBody>
                  <a:tcPr marL="64008" marR="64008"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c>
                  <a:txBody>
                    <a:bodyPr anchor="ctr" rtlCol="false" lIns="0" tIns="0" rIns="0" bIns="0" wrap="square"/>
                    <a:lstStyle/>
                    <a:p>
                      <a:pPr algn="ctr">
                        <a:lnSpc>
                          <a:spcPts val="2210"/>
                        </a:lnSpc>
                        <a:spcBef>
                          <a:spcPts val="0"/>
                        </a:spcBef>
                        <a:buNone/>
                      </a:pPr>
                      <a:r>
                        <a:rPr lang="en-US" sz="1700" b="1">
                          <a:solidFill>
                            <a:srgbClr val="1F7A8C"/>
                          </a:solidFill>
                          <a:latin typeface="Nunito Semi-Bold"/>
                          <a:ea typeface="Nunito Semi-Bold"/>
                          <a:cs typeface="Nunito Semi-Bold"/>
                          <a:sym typeface="Nunito Semi-Bold"/>
                        </a:rPr>
                        <a:t>−11.0 %</a:t>
                      </a:r>
                    </a:p>
                  </a:txBody>
                  <a:tcPr marL="64008" marR="64008"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r>
              <a:tr h="459486">
                <a:tc>
                  <a:txBody>
                    <a:bodyPr anchor="ctr" rtlCol="false" lIns="0" tIns="0" rIns="0" bIns="0" wrap="square"/>
                    <a:lstStyle/>
                    <a:p>
                      <a:pPr algn="l">
                        <a:lnSpc>
                          <a:spcPts val="2210"/>
                        </a:lnSpc>
                        <a:spcBef>
                          <a:spcPts val="0"/>
                        </a:spcBef>
                        <a:buNone/>
                      </a:pPr>
                      <a:r>
                        <a:rPr lang="en-US" sz="1700" b="true">
                          <a:solidFill>
                            <a:srgbClr val="111111"/>
                          </a:solidFill>
                          <a:latin typeface="Nunito Bold"/>
                          <a:ea typeface="Nunito Bold"/>
                          <a:cs typeface="Nunito Bold"/>
                          <a:sym typeface="Nunito Bold"/>
                        </a:rPr>
                        <a:t>w/o Diversity</a:t>
                      </a:r>
                    </a:p>
                  </a:txBody>
                  <a:tcPr marL="64008" marR="64008"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6ECDF"/>
                    </a:solidFill>
                  </a:tcPr>
                </a:tc>
                <a:tc>
                  <a:txBody>
                    <a:bodyPr anchor="ctr" rtlCol="false" lIns="0" tIns="0" rIns="0" bIns="0" wrap="square"/>
                    <a:lstStyle/>
                    <a:p>
                      <a:pPr algn="ctr">
                        <a:lnSpc>
                          <a:spcPts val="2210"/>
                        </a:lnSpc>
                        <a:spcBef>
                          <a:spcPts val="0"/>
                        </a:spcBef>
                        <a:buNone/>
                      </a:pPr>
                      <a:r>
                        <a:rPr lang="en-US" sz="1700" b="true">
                          <a:solidFill>
                            <a:srgbClr val="111111"/>
                          </a:solidFill>
                          <a:latin typeface="Nunito Semi-Bold"/>
                          <a:ea typeface="Nunito Semi-Bold"/>
                          <a:cs typeface="Nunito Semi-Bold"/>
                          <a:sym typeface="Nunito Semi-Bold"/>
                        </a:rPr>
                        <a:t>0.0288</a:t>
                      </a:r>
                    </a:p>
                  </a:txBody>
                  <a:tcPr marL="64008" marR="64008"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6ECDF"/>
                    </a:solidFill>
                  </a:tcPr>
                </a:tc>
                <a:tc>
                  <a:txBody>
                    <a:bodyPr anchor="ctr" rtlCol="false" lIns="0" tIns="0" rIns="0" bIns="0" wrap="square"/>
                    <a:lstStyle/>
                    <a:p>
                      <a:pPr algn="ctr">
                        <a:lnSpc>
                          <a:spcPts val="2210"/>
                        </a:lnSpc>
                        <a:spcBef>
                          <a:spcPts val="0"/>
                        </a:spcBef>
                        <a:buNone/>
                      </a:pPr>
                      <a:r>
                        <a:rPr lang="en-US" sz="1700" b="true">
                          <a:solidFill>
                            <a:srgbClr val="111111"/>
                          </a:solidFill>
                          <a:latin typeface="Nunito Semi-Bold"/>
                          <a:ea typeface="Nunito Semi-Bold"/>
                          <a:cs typeface="Nunito Semi-Bold"/>
                          <a:sym typeface="Nunito Semi-Bold"/>
                        </a:rPr>
                        <a:t>−5.8 %</a:t>
                      </a:r>
                    </a:p>
                  </a:txBody>
                  <a:tcPr marL="64008" marR="64008"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6ECDF"/>
                    </a:solidFill>
                  </a:tcPr>
                </a:tc>
              </a:tr>
            </a:tbl>
          </a:graphicData>
        </a:graphic>
      </p:graphicFrame>
      <p:sp>
        <p:nvSpPr>
          <p:cNvPr id="29" name="Rounded Rectangle 28"/>
          <p:cNvSpPr/>
          <p:nvPr/>
        </p:nvSpPr>
        <p:spPr>
          <a:xfrm>
            <a:off x="1028700" y="7537958"/>
            <a:ext cx="16230600" cy="1724914"/>
          </a:xfrm>
          <a:prstGeom prst="roundRect">
            <a:avLst>
              <a:gd name="adj" fmla="val 18023"/>
            </a:avLst>
          </a:prstGeom>
          <a:solidFill>
            <a:srgbClr val="F6ECDF"/>
          </a:solidFill>
          <a:ln>
            <a:noFill/>
          </a:ln>
        </p:spPr>
        <p:txBody>
          <a:bodyPr anchor="ctr" rtlCol="false" lIns="0" tIns="0" rIns="0" bIns="0" wrap="square"/>
          <a:lstStyle/>
          <a:p>
            <a:endParaRPr lang="en-US" sz="1800"/>
          </a:p>
        </p:txBody>
      </p:sp>
      <p:sp>
        <p:nvSpPr>
          <p:cNvPr id="30" name="Rounded Rectangle 29"/>
          <p:cNvSpPr/>
          <p:nvPr/>
        </p:nvSpPr>
        <p:spPr>
          <a:xfrm>
            <a:off x="1485900" y="7300214"/>
            <a:ext cx="1757407" cy="438912"/>
          </a:xfrm>
          <a:prstGeom prst="roundRect">
            <a:avLst>
              <a:gd name="adj" fmla="val 50000"/>
            </a:avLst>
          </a:prstGeom>
          <a:solidFill>
            <a:srgbClr val="4472C4"/>
          </a:solidFill>
          <a:ln w="28575">
            <a:solidFill>
              <a:srgbClr val="4472C4"/>
            </a:solidFill>
          </a:ln>
        </p:spPr>
        <p:txBody>
          <a:bodyPr anchor="ctr" rtlCol="false" lIns="45720" tIns="0" rIns="45720" bIns="0" wrap="square"/>
          <a:lstStyle/>
          <a:p>
            <a:pPr algn="ctr">
              <a:lnSpc>
                <a:spcPts val="2640"/>
              </a:lnSpc>
              <a:spcBef>
                <a:spcPts val="0"/>
              </a:spcBef>
              <a:buNone/>
            </a:pPr>
            <a:r>
              <a:rPr lang="en-US" sz="2200" b="true">
                <a:solidFill>
                  <a:srgbClr val="FFFFFF"/>
                </a:solidFill>
                <a:latin typeface="Nunito Bold"/>
                <a:ea typeface="Nunito Bold"/>
                <a:cs typeface="Nunito Bold"/>
                <a:sym typeface="Nunito Bold"/>
              </a:rPr>
              <a:t>Reading</a:t>
            </a:r>
          </a:p>
        </p:txBody>
      </p:sp>
      <p:sp>
        <p:nvSpPr>
          <p:cNvPr id="31" name="TextBox 30"/>
          <p:cNvSpPr txBox="1"/>
          <p:nvPr/>
        </p:nvSpPr>
        <p:spPr>
          <a:xfrm>
            <a:off x="1531620" y="8086598"/>
            <a:ext cx="15270480" cy="993394"/>
          </a:xfrm>
          <a:prstGeom prst="rect">
            <a:avLst/>
          </a:prstGeom>
          <a:noFill/>
        </p:spPr>
        <p:txBody>
          <a:bodyPr anchor="t" rtlCol="false" lIns="0" tIns="0" rIns="0" bIns="0" wrap="square"/>
          <a:lstStyle/>
          <a:p>
            <a:pPr algn="l" marL="274320" indent="-274320">
              <a:lnSpc>
                <a:spcPts val="2142"/>
              </a:lnSpc>
              <a:spcBef>
                <a:spcPts val="0"/>
              </a:spcBef>
              <a:buClr>
                <a:srgbClr val="1F7A8C"/>
              </a:buClr>
              <a:buSzPct val="100000"/>
              <a:buFont typeface="Arial"/>
              <a:buChar char="•"/>
            </a:pPr>
            <a:r>
              <a:rPr lang="en-US" sz="1530" b="true">
                <a:solidFill>
                  <a:srgbClr val="111111"/>
                </a:solidFill>
                <a:latin typeface="Nunito Bold"/>
                <a:ea typeface="Nunito Bold"/>
                <a:cs typeface="Nunito Bold"/>
                <a:sym typeface="Nunito Bold"/>
              </a:rPr>
              <a:t>Context</a:t>
            </a:r>
            <a:r>
              <a:rPr lang="en-US" sz="1530" b="true">
                <a:solidFill>
                  <a:srgbClr val="111111"/>
                </a:solidFill>
                <a:latin typeface="Nunito Semi-Bold"/>
                <a:ea typeface="Nunito Semi-Bold"/>
                <a:cs typeface="Nunito Semi-Bold"/>
                <a:sym typeface="Nunito Semi-Bold"/>
              </a:rPr>
              <a:t> is the most important component (−8.2 % / −11.0 %), then the </a:t>
            </a:r>
            <a:r>
              <a:rPr lang="en-US" sz="1530" b="true">
                <a:solidFill>
                  <a:srgbClr val="111111"/>
                </a:solidFill>
                <a:latin typeface="Nunito Bold"/>
                <a:ea typeface="Nunito Bold"/>
                <a:cs typeface="Nunito Bold"/>
                <a:sym typeface="Nunito Bold"/>
              </a:rPr>
              <a:t>hypergraph</a:t>
            </a:r>
            <a:r>
              <a:rPr lang="en-US" sz="1530" b="true">
                <a:solidFill>
                  <a:srgbClr val="111111"/>
                </a:solidFill>
                <a:latin typeface="Nunito Semi-Bold"/>
                <a:ea typeface="Nunito Semi-Bold"/>
                <a:cs typeface="Nunito Semi-Bold"/>
                <a:sym typeface="Nunito Semi-Bold"/>
              </a:rPr>
              <a:t> structure (−6.8 % / −8.9 %).</a:t>
            </a:r>
          </a:p>
          <a:p>
            <a:pPr algn="l" marL="274320" indent="-274320">
              <a:lnSpc>
                <a:spcPts val="2142"/>
              </a:lnSpc>
              <a:spcBef>
                <a:spcPts val="510"/>
              </a:spcBef>
              <a:buClr>
                <a:srgbClr val="1F7A8C"/>
              </a:buClr>
              <a:buSzPct val="100000"/>
              <a:buFont typeface="Arial"/>
              <a:buChar char="•"/>
            </a:pPr>
            <a:r>
              <a:rPr lang="en-US" sz="1530" b="true">
                <a:solidFill>
                  <a:srgbClr val="111111"/>
                </a:solidFill>
                <a:latin typeface="Nunito Semi-Bold"/>
                <a:ea typeface="Nunito Semi-Bold"/>
                <a:cs typeface="Nunito Semi-Bold"/>
                <a:sym typeface="Nunito Semi-Bold"/>
              </a:rPr>
              <a:t>Removing </a:t>
            </a:r>
            <a:r>
              <a:rPr lang="en-US" sz="1530" b="true">
                <a:solidFill>
                  <a:srgbClr val="111111"/>
                </a:solidFill>
                <a:latin typeface="Nunito Bold"/>
                <a:ea typeface="Nunito Bold"/>
                <a:cs typeface="Nunito Bold"/>
                <a:sym typeface="Nunito Bold"/>
              </a:rPr>
              <a:t>Shapley</a:t>
            </a:r>
            <a:r>
              <a:rPr lang="en-US" sz="1530" b="true">
                <a:solidFill>
                  <a:srgbClr val="111111"/>
                </a:solidFill>
                <a:latin typeface="Nunito Semi-Bold"/>
                <a:ea typeface="Nunito Semi-Bold"/>
                <a:cs typeface="Nunito Semi-Bold"/>
                <a:sym typeface="Nunito Semi-Bold"/>
              </a:rPr>
              <a:t> weighting costs 4.6 % / 6.1 %: more on the sparser dataset, where fair credit for weak signals matters most.</a:t>
            </a:r>
          </a:p>
          <a:p>
            <a:pPr algn="l" marL="274320" indent="-274320">
              <a:lnSpc>
                <a:spcPts val="2142"/>
              </a:lnSpc>
              <a:spcBef>
                <a:spcPts val="510"/>
              </a:spcBef>
              <a:buClr>
                <a:srgbClr val="1F7A8C"/>
              </a:buClr>
              <a:buSzPct val="100000"/>
              <a:buFont typeface="Arial"/>
              <a:buChar char="•"/>
            </a:pPr>
            <a:r>
              <a:rPr lang="en-US" sz="1530" b="true">
                <a:solidFill>
                  <a:srgbClr val="111111"/>
                </a:solidFill>
                <a:latin typeface="Nunito Semi-Bold"/>
                <a:ea typeface="Nunito Semi-Bold"/>
                <a:cs typeface="Nunito Semi-Bold"/>
                <a:sym typeface="Nunito Semi-Bold"/>
              </a:rPr>
              <a:t>The ablation removes one component at a time; it does not test combinations.</a:t>
            </a:r>
          </a:p>
        </p:txBody>
      </p:sp>
    </p:spTree>
  </p:cSld>
  <p:clrMapOvr>
    <a:masterClrMapping/>
  </p:clrMapOvr>
</p:sld>
</file>

<file path=ppt/slides/slide7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pic>
        <p:nvPicPr>
          <p:cNvPr id="2" name="Picture 1" descr="ensias_logo.jpg"/>
          <p:cNvPicPr>
            <a:picLocks noChangeAspect="1"/>
          </p:cNvPicPr>
          <p:nvPr/>
        </p:nvPicPr>
        <p:blipFill>
          <a:blip r:embed="rId2"/>
          <a:stretch>
            <a:fillRect/>
          </a:stretch>
        </p:blipFill>
        <p:spPr>
          <a:xfrm>
            <a:off x="1028700" y="9674352"/>
            <a:ext cx="542964" cy="384048"/>
          </a:xfrm>
          <a:prstGeom prst="rect">
            <a:avLst/>
          </a:prstGeom>
        </p:spPr>
      </p:pic>
      <p:sp>
        <p:nvSpPr>
          <p:cNvPr id="3" name="TextBox 2"/>
          <p:cNvSpPr txBox="1"/>
          <p:nvPr/>
        </p:nvSpPr>
        <p:spPr>
          <a:xfrm>
            <a:off x="1577340" y="9601200"/>
            <a:ext cx="14493240" cy="566928"/>
          </a:xfrm>
          <a:prstGeom prst="rect">
            <a:avLst/>
          </a:prstGeom>
          <a:noFill/>
        </p:spPr>
        <p:txBody>
          <a:bodyPr anchor="ctr" rtlCol="false" lIns="0" tIns="0" rIns="0" bIns="0" wrap="square"/>
          <a:lstStyle/>
          <a:p>
            <a:pPr algn="l">
              <a:lnSpc>
                <a:spcPts val="1200"/>
              </a:lnSpc>
              <a:spcBef>
                <a:spcPts val="0"/>
              </a:spcBef>
              <a:buNone/>
            </a:pPr>
            <a:r>
              <a:rPr lang="en-US" sz="1000" b="true">
                <a:solidFill>
                  <a:srgbClr val="8A8378"/>
                </a:solidFill>
                <a:latin typeface="Nunito Semi-Bold"/>
                <a:ea typeface="Nunito Semi-Bold"/>
                <a:cs typeface="Nunito Semi-Bold"/>
                <a:sym typeface="Nunito Semi-Bold"/>
              </a:rPr>
              <a:t>[3] Louhichi, M., Nesmaoui, R. &amp; Lazaar, M. DyHuCoG: A Dynamic Hypergraph Cooperative Game for Preference-aware Recommendation. IJIES 19(2), 887–902 (2026).   [8] Castro, J., Gómez, D. &amp; Tejada, J. Polynomial Calculation of the Shapley Value Based on Sampling. Computers &amp; Operations Research 36(5), 1726–1730 (2009).</a:t>
            </a:r>
          </a:p>
        </p:txBody>
      </p:sp>
      <p:sp>
        <p:nvSpPr>
          <p:cNvPr id="4" name="TextBox 3"/>
          <p:cNvSpPr txBox="1"/>
          <p:nvPr/>
        </p:nvSpPr>
        <p:spPr>
          <a:xfrm>
            <a:off x="16162020" y="9692640"/>
            <a:ext cx="1097280" cy="329184"/>
          </a:xfrm>
          <a:prstGeom prst="rect">
            <a:avLst/>
          </a:prstGeom>
          <a:noFill/>
        </p:spPr>
        <p:txBody>
          <a:bodyPr anchor="t" rtlCol="false" lIns="0" tIns="0" rIns="0" bIns="0" wrap="square"/>
          <a:lstStyle/>
          <a:p>
            <a:pPr algn="r">
              <a:lnSpc>
                <a:spcPts val="2200"/>
              </a:lnSpc>
              <a:spcBef>
                <a:spcPts val="0"/>
              </a:spcBef>
              <a:buNone/>
            </a:pPr>
            <a:r>
              <a:rPr lang="en-US" sz="1800" b="true">
                <a:solidFill>
                  <a:srgbClr val="111111"/>
                </a:solidFill>
                <a:latin typeface="Nunito Ultra-Bold"/>
                <a:ea typeface="Nunito Ultra-Bold"/>
                <a:cs typeface="Nunito Ultra-Bold"/>
                <a:sym typeface="Nunito Ultra-Bold"/>
              </a:rPr>
              <a:t>61</a:t>
            </a:r>
          </a:p>
        </p:txBody>
      </p:sp>
      <p:sp>
        <p:nvSpPr>
          <p:cNvPr id="5" name="TextBox 4"/>
          <p:cNvSpPr txBox="1"/>
          <p:nvPr/>
        </p:nvSpPr>
        <p:spPr>
          <a:xfrm>
            <a:off x="1028700" y="1389888"/>
            <a:ext cx="12938760" cy="329184"/>
          </a:xfrm>
          <a:prstGeom prst="rect">
            <a:avLst/>
          </a:prstGeom>
          <a:noFill/>
        </p:spPr>
        <p:txBody>
          <a:bodyPr anchor="t" rtlCol="false" lIns="0" tIns="0" rIns="0" bIns="0" wrap="square"/>
          <a:lstStyle/>
          <a:p>
            <a:pPr algn="l">
              <a:lnSpc>
                <a:spcPts val="2000"/>
              </a:lnSpc>
              <a:spcBef>
                <a:spcPts val="0"/>
              </a:spcBef>
              <a:buNone/>
            </a:pPr>
            <a:r>
              <a:rPr lang="en-US" sz="1500" b="true" spc="160">
                <a:solidFill>
                  <a:srgbClr val="1F7A8C"/>
                </a:solidFill>
                <a:latin typeface="Nunito Ultra-Bold"/>
                <a:ea typeface="Nunito Ultra-Bold"/>
                <a:cs typeface="Nunito Ultra-Bold"/>
                <a:sym typeface="Nunito Ultra-Bold"/>
              </a:rPr>
              <a:t>CONTRIBUTION III: DYHUCOG, A DYNAMIC HYPERGRAPH COOPERATIVE GAME</a:t>
            </a:r>
          </a:p>
        </p:txBody>
      </p:sp>
      <p:sp>
        <p:nvSpPr>
          <p:cNvPr id="6" name="Rounded Rectangle 5"/>
          <p:cNvSpPr/>
          <p:nvPr/>
        </p:nvSpPr>
        <p:spPr>
          <a:xfrm>
            <a:off x="14516100"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7" name="TextBox 6"/>
          <p:cNvSpPr txBox="1"/>
          <p:nvPr/>
        </p:nvSpPr>
        <p:spPr>
          <a:xfrm>
            <a:off x="14516100"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1</a:t>
            </a:r>
          </a:p>
        </p:txBody>
      </p:sp>
      <p:sp>
        <p:nvSpPr>
          <p:cNvPr id="8" name="Rounded Rectangle 7"/>
          <p:cNvSpPr/>
          <p:nvPr/>
        </p:nvSpPr>
        <p:spPr>
          <a:xfrm>
            <a:off x="14918436"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9" name="TextBox 8"/>
          <p:cNvSpPr txBox="1"/>
          <p:nvPr/>
        </p:nvSpPr>
        <p:spPr>
          <a:xfrm>
            <a:off x="14918436"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2</a:t>
            </a:r>
          </a:p>
        </p:txBody>
      </p:sp>
      <p:sp>
        <p:nvSpPr>
          <p:cNvPr id="10" name="Rounded Rectangle 9"/>
          <p:cNvSpPr/>
          <p:nvPr/>
        </p:nvSpPr>
        <p:spPr>
          <a:xfrm>
            <a:off x="15320772"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11" name="TextBox 10"/>
          <p:cNvSpPr txBox="1"/>
          <p:nvPr/>
        </p:nvSpPr>
        <p:spPr>
          <a:xfrm>
            <a:off x="15320772"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3</a:t>
            </a:r>
          </a:p>
        </p:txBody>
      </p:sp>
      <p:sp>
        <p:nvSpPr>
          <p:cNvPr id="12" name="Rounded Rectangle 11"/>
          <p:cNvSpPr/>
          <p:nvPr/>
        </p:nvSpPr>
        <p:spPr>
          <a:xfrm>
            <a:off x="15723108"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13" name="TextBox 12"/>
          <p:cNvSpPr txBox="1"/>
          <p:nvPr/>
        </p:nvSpPr>
        <p:spPr>
          <a:xfrm>
            <a:off x="15723108"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4</a:t>
            </a:r>
          </a:p>
        </p:txBody>
      </p:sp>
      <p:sp>
        <p:nvSpPr>
          <p:cNvPr id="14" name="Rounded Rectangle 13"/>
          <p:cNvSpPr/>
          <p:nvPr/>
        </p:nvSpPr>
        <p:spPr>
          <a:xfrm>
            <a:off x="16125444"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15" name="TextBox 14"/>
          <p:cNvSpPr txBox="1"/>
          <p:nvPr/>
        </p:nvSpPr>
        <p:spPr>
          <a:xfrm>
            <a:off x="16125444"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5</a:t>
            </a:r>
          </a:p>
        </p:txBody>
      </p:sp>
      <p:sp>
        <p:nvSpPr>
          <p:cNvPr id="16" name="Rounded Rectangle 15"/>
          <p:cNvSpPr/>
          <p:nvPr/>
        </p:nvSpPr>
        <p:spPr>
          <a:xfrm>
            <a:off x="16527780" y="1371600"/>
            <a:ext cx="329184" cy="329184"/>
          </a:xfrm>
          <a:prstGeom prst="roundRect">
            <a:avLst>
              <a:gd name="adj" fmla="val 16666"/>
            </a:avLst>
          </a:prstGeom>
          <a:solidFill>
            <a:srgbClr val="4472C4"/>
          </a:solidFill>
          <a:ln w="15875">
            <a:solidFill>
              <a:srgbClr val="4472C4"/>
            </a:solidFill>
          </a:ln>
        </p:spPr>
        <p:txBody>
          <a:bodyPr anchor="ctr" rtlCol="false" lIns="0" tIns="0" rIns="0" bIns="0" wrap="square"/>
          <a:lstStyle/>
          <a:p>
            <a:endParaRPr lang="en-US" sz="1800"/>
          </a:p>
        </p:txBody>
      </p:sp>
      <p:sp>
        <p:nvSpPr>
          <p:cNvPr id="17" name="TextBox 16"/>
          <p:cNvSpPr txBox="1"/>
          <p:nvPr/>
        </p:nvSpPr>
        <p:spPr>
          <a:xfrm>
            <a:off x="16527780"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FFFFFF"/>
                </a:solidFill>
                <a:latin typeface="Nunito Ultra-Bold"/>
                <a:ea typeface="Nunito Ultra-Bold"/>
                <a:cs typeface="Nunito Ultra-Bold"/>
                <a:sym typeface="Nunito Ultra-Bold"/>
              </a:rPr>
              <a:t>6</a:t>
            </a:r>
          </a:p>
        </p:txBody>
      </p:sp>
      <p:sp>
        <p:nvSpPr>
          <p:cNvPr id="18" name="Rounded Rectangle 17"/>
          <p:cNvSpPr/>
          <p:nvPr/>
        </p:nvSpPr>
        <p:spPr>
          <a:xfrm>
            <a:off x="16930116"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19" name="TextBox 18"/>
          <p:cNvSpPr txBox="1"/>
          <p:nvPr/>
        </p:nvSpPr>
        <p:spPr>
          <a:xfrm>
            <a:off x="16930116"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7</a:t>
            </a:r>
          </a:p>
        </p:txBody>
      </p:sp>
      <p:sp>
        <p:nvSpPr>
          <p:cNvPr id="20" name="TextBox 19"/>
          <p:cNvSpPr txBox="1"/>
          <p:nvPr/>
        </p:nvSpPr>
        <p:spPr>
          <a:xfrm>
            <a:off x="1028700" y="1719072"/>
            <a:ext cx="16230600" cy="730250"/>
          </a:xfrm>
          <a:prstGeom prst="rect">
            <a:avLst/>
          </a:prstGeom>
          <a:noFill/>
        </p:spPr>
        <p:txBody>
          <a:bodyPr anchor="t" rtlCol="false" lIns="0" tIns="0" rIns="0" bIns="0" wrap="square"/>
          <a:lstStyle/>
          <a:p>
            <a:pPr algn="l">
              <a:lnSpc>
                <a:spcPts val="5060"/>
              </a:lnSpc>
              <a:spcBef>
                <a:spcPts val="0"/>
              </a:spcBef>
              <a:buNone/>
            </a:pPr>
            <a:r>
              <a:rPr lang="en-US" sz="4600" b="true" spc="-230">
                <a:solidFill>
                  <a:srgbClr val="111111"/>
                </a:solidFill>
                <a:latin typeface="Roca Two Bold"/>
                <a:ea typeface="Roca Two Bold"/>
                <a:cs typeface="Roca Two Bold"/>
                <a:sym typeface="Roca Two Bold"/>
              </a:rPr>
              <a:t>Efficiency and Shapley Convergence</a:t>
            </a:r>
          </a:p>
        </p:txBody>
      </p:sp>
      <p:sp>
        <p:nvSpPr>
          <p:cNvPr id="21" name="Rounded Rectangle 20"/>
          <p:cNvSpPr/>
          <p:nvPr/>
        </p:nvSpPr>
        <p:spPr>
          <a:xfrm>
            <a:off x="1028700" y="2559050"/>
            <a:ext cx="1691553" cy="420624"/>
          </a:xfrm>
          <a:prstGeom prst="roundRect">
            <a:avLst>
              <a:gd name="adj" fmla="val 50000"/>
            </a:avLst>
          </a:prstGeom>
          <a:noFill/>
          <a:ln w="28575">
            <a:solidFill>
              <a:srgbClr val="4472C4"/>
            </a:solidFill>
          </a:ln>
        </p:spPr>
        <p:txBody>
          <a:bodyPr anchor="ctr" rtlCol="false" lIns="45720" tIns="0" rIns="45720" bIns="0" wrap="square"/>
          <a:lstStyle/>
          <a:p>
            <a:pPr algn="ctr">
              <a:lnSpc>
                <a:spcPts val="2160"/>
              </a:lnSpc>
              <a:spcBef>
                <a:spcPts val="0"/>
              </a:spcBef>
              <a:buNone/>
            </a:pPr>
            <a:r>
              <a:rPr lang="en-US" sz="1800" b="true">
                <a:solidFill>
                  <a:srgbClr val="4472C4"/>
                </a:solidFill>
                <a:latin typeface="Nunito Bold"/>
                <a:ea typeface="Nunito Bold"/>
                <a:cs typeface="Nunito Bold"/>
                <a:sym typeface="Nunito Bold"/>
              </a:rPr>
              <a:t>Objectives</a:t>
            </a:r>
          </a:p>
        </p:txBody>
      </p:sp>
      <p:sp>
        <p:nvSpPr>
          <p:cNvPr id="22" name="Rounded Rectangle 21"/>
          <p:cNvSpPr/>
          <p:nvPr/>
        </p:nvSpPr>
        <p:spPr>
          <a:xfrm>
            <a:off x="2848269" y="2559050"/>
            <a:ext cx="1998119" cy="420624"/>
          </a:xfrm>
          <a:prstGeom prst="roundRect">
            <a:avLst>
              <a:gd name="adj" fmla="val 50000"/>
            </a:avLst>
          </a:prstGeom>
          <a:noFill/>
          <a:ln w="28575">
            <a:solidFill>
              <a:srgbClr val="4472C4"/>
            </a:solidFill>
          </a:ln>
        </p:spPr>
        <p:txBody>
          <a:bodyPr anchor="ctr" rtlCol="false" lIns="45720" tIns="0" rIns="45720" bIns="0" wrap="square"/>
          <a:lstStyle/>
          <a:p>
            <a:pPr algn="ctr">
              <a:lnSpc>
                <a:spcPts val="2160"/>
              </a:lnSpc>
              <a:spcBef>
                <a:spcPts val="0"/>
              </a:spcBef>
              <a:buNone/>
            </a:pPr>
            <a:r>
              <a:rPr lang="en-US" sz="1800" b="true">
                <a:solidFill>
                  <a:srgbClr val="4472C4"/>
                </a:solidFill>
                <a:latin typeface="Nunito Bold"/>
                <a:ea typeface="Nunito Bold"/>
                <a:cs typeface="Nunito Bold"/>
                <a:sym typeface="Nunito Bold"/>
              </a:rPr>
              <a:t>Methodology</a:t>
            </a:r>
          </a:p>
        </p:txBody>
      </p:sp>
      <p:sp>
        <p:nvSpPr>
          <p:cNvPr id="23" name="Rounded Rectangle 22"/>
          <p:cNvSpPr/>
          <p:nvPr/>
        </p:nvSpPr>
        <p:spPr>
          <a:xfrm>
            <a:off x="4974404" y="2559050"/>
            <a:ext cx="1369446" cy="420624"/>
          </a:xfrm>
          <a:prstGeom prst="roundRect">
            <a:avLst>
              <a:gd name="adj" fmla="val 50000"/>
            </a:avLst>
          </a:prstGeom>
          <a:solidFill>
            <a:srgbClr val="4472C4"/>
          </a:solidFill>
          <a:ln>
            <a:noFill/>
          </a:ln>
        </p:spPr>
        <p:txBody>
          <a:bodyPr anchor="ctr" rtlCol="false" lIns="45720" tIns="0" rIns="45720" bIns="0" wrap="square"/>
          <a:lstStyle/>
          <a:p>
            <a:pPr algn="ctr">
              <a:lnSpc>
                <a:spcPts val="2160"/>
              </a:lnSpc>
              <a:spcBef>
                <a:spcPts val="0"/>
              </a:spcBef>
              <a:buNone/>
            </a:pPr>
            <a:r>
              <a:rPr lang="en-US" sz="1800" b="true">
                <a:solidFill>
                  <a:srgbClr val="FFFFFF"/>
                </a:solidFill>
                <a:latin typeface="Nunito Bold"/>
                <a:ea typeface="Nunito Bold"/>
                <a:cs typeface="Nunito Bold"/>
                <a:sym typeface="Nunito Bold"/>
              </a:rPr>
              <a:t>Results</a:t>
            </a:r>
          </a:p>
        </p:txBody>
      </p:sp>
      <p:sp>
        <p:nvSpPr>
          <p:cNvPr id="24" name="Rounded Rectangle 23"/>
          <p:cNvSpPr/>
          <p:nvPr/>
        </p:nvSpPr>
        <p:spPr>
          <a:xfrm>
            <a:off x="6471866" y="2559050"/>
            <a:ext cx="1474931" cy="420624"/>
          </a:xfrm>
          <a:prstGeom prst="roundRect">
            <a:avLst>
              <a:gd name="adj" fmla="val 50000"/>
            </a:avLst>
          </a:prstGeom>
          <a:noFill/>
          <a:ln w="28575">
            <a:solidFill>
              <a:srgbClr val="4472C4"/>
            </a:solidFill>
          </a:ln>
        </p:spPr>
        <p:txBody>
          <a:bodyPr anchor="ctr" rtlCol="false" lIns="45720" tIns="0" rIns="45720" bIns="0" wrap="square"/>
          <a:lstStyle/>
          <a:p>
            <a:pPr algn="ctr">
              <a:lnSpc>
                <a:spcPts val="2160"/>
              </a:lnSpc>
              <a:spcBef>
                <a:spcPts val="0"/>
              </a:spcBef>
              <a:buNone/>
            </a:pPr>
            <a:r>
              <a:rPr lang="en-US" sz="1800" b="true">
                <a:solidFill>
                  <a:srgbClr val="4472C4"/>
                </a:solidFill>
                <a:latin typeface="Nunito Bold"/>
                <a:ea typeface="Nunito Bold"/>
                <a:cs typeface="Nunito Bold"/>
                <a:sym typeface="Nunito Bold"/>
              </a:rPr>
              <a:t>Findings</a:t>
            </a:r>
          </a:p>
        </p:txBody>
      </p:sp>
      <p:sp>
        <p:nvSpPr>
          <p:cNvPr id="25" name="Rounded Rectangle 24"/>
          <p:cNvSpPr/>
          <p:nvPr/>
        </p:nvSpPr>
        <p:spPr>
          <a:xfrm>
            <a:off x="1028700" y="3455162"/>
            <a:ext cx="3851910" cy="2103120"/>
          </a:xfrm>
          <a:prstGeom prst="roundRect">
            <a:avLst>
              <a:gd name="adj" fmla="val 13043"/>
            </a:avLst>
          </a:prstGeom>
          <a:solidFill>
            <a:srgbClr val="4472C4"/>
          </a:solidFill>
          <a:ln>
            <a:noFill/>
          </a:ln>
        </p:spPr>
        <p:txBody>
          <a:bodyPr anchor="ctr" rtlCol="false" lIns="137160" tIns="91440" rIns="137160" bIns="91440" wrap="square"/>
          <a:lstStyle/>
          <a:p>
            <a:pPr algn="ctr">
              <a:lnSpc>
                <a:spcPts val="3960"/>
              </a:lnSpc>
              <a:spcBef>
                <a:spcPts val="0"/>
              </a:spcBef>
              <a:buNone/>
            </a:pPr>
            <a:r>
              <a:rPr lang="en-US" sz="3600" b="true">
                <a:solidFill>
                  <a:srgbClr val="ECC665"/>
                </a:solidFill>
                <a:latin typeface="Nunito Ultra-Bold"/>
                <a:ea typeface="Nunito Ultra-Bold"/>
                <a:cs typeface="Nunito Ultra-Bold"/>
                <a:sym typeface="Nunito Ultra-Bold"/>
              </a:rPr>
              <a:t>1.78×</a:t>
            </a:r>
          </a:p>
          <a:p>
            <a:pPr algn="ctr">
              <a:lnSpc>
                <a:spcPts val="2125"/>
              </a:lnSpc>
              <a:spcBef>
                <a:spcPts val="400"/>
              </a:spcBef>
              <a:buNone/>
            </a:pPr>
            <a:r>
              <a:rPr lang="en-US" sz="1700" b="true">
                <a:solidFill>
                  <a:srgbClr val="FFFFFF"/>
                </a:solidFill>
                <a:latin typeface="Nunito Semi-Bold"/>
                <a:ea typeface="Nunito Semi-Bold"/>
                <a:cs typeface="Nunito Semi-Bold"/>
                <a:sym typeface="Nunito Semi-Bold"/>
              </a:rPr>
              <a:t>training time vs HPCF </a:t>
            </a:r>
            <a:r>
              <a:rPr lang="en-US" sz="1700" b="true">
                <a:solidFill>
                  <a:srgbClr val="FFFFFF"/>
                </a:solidFill>
                <a:latin typeface="Nunito Bold"/>
                <a:ea typeface="Nunito Bold"/>
                <a:cs typeface="Nunito Bold"/>
                <a:sym typeface="Nunito Bold"/>
              </a:rPr>
              <a:t>(≈ 2000 s vs 1125 s, ML-1M)</a:t>
            </a:r>
          </a:p>
        </p:txBody>
      </p:sp>
      <p:sp>
        <p:nvSpPr>
          <p:cNvPr id="26" name="Rounded Rectangle 25"/>
          <p:cNvSpPr/>
          <p:nvPr/>
        </p:nvSpPr>
        <p:spPr>
          <a:xfrm>
            <a:off x="5154930" y="3455162"/>
            <a:ext cx="3851910" cy="2103120"/>
          </a:xfrm>
          <a:prstGeom prst="roundRect">
            <a:avLst>
              <a:gd name="adj" fmla="val 13043"/>
            </a:avLst>
          </a:prstGeom>
          <a:solidFill>
            <a:srgbClr val="2F5597"/>
          </a:solidFill>
          <a:ln>
            <a:noFill/>
          </a:ln>
        </p:spPr>
        <p:txBody>
          <a:bodyPr anchor="ctr" rtlCol="false" lIns="137160" tIns="91440" rIns="137160" bIns="91440" wrap="square"/>
          <a:lstStyle/>
          <a:p>
            <a:pPr algn="ctr">
              <a:lnSpc>
                <a:spcPts val="3960"/>
              </a:lnSpc>
              <a:spcBef>
                <a:spcPts val="0"/>
              </a:spcBef>
              <a:buNone/>
            </a:pPr>
            <a:r>
              <a:rPr lang="en-US" sz="3600" b="true">
                <a:solidFill>
                  <a:srgbClr val="ECC665"/>
                </a:solidFill>
                <a:latin typeface="Nunito Ultra-Bold"/>
                <a:ea typeface="Nunito Ultra-Bold"/>
                <a:cs typeface="Nunito Ultra-Bold"/>
                <a:sym typeface="Nunito Ultra-Bold"/>
              </a:rPr>
              <a:t>1.84 ms</a:t>
            </a:r>
          </a:p>
          <a:p>
            <a:pPr algn="ctr">
              <a:lnSpc>
                <a:spcPts val="2125"/>
              </a:lnSpc>
              <a:spcBef>
                <a:spcPts val="400"/>
              </a:spcBef>
              <a:buNone/>
            </a:pPr>
            <a:r>
              <a:rPr lang="en-US" sz="1700" b="true">
                <a:solidFill>
                  <a:srgbClr val="FFFFFF"/>
                </a:solidFill>
                <a:latin typeface="Nunito Semi-Bold"/>
                <a:ea typeface="Nunito Semi-Bold"/>
                <a:cs typeface="Nunito Semi-Bold"/>
                <a:sym typeface="Nunito Semi-Bold"/>
              </a:rPr>
              <a:t>inference / query on ML-1M </a:t>
            </a:r>
            <a:r>
              <a:rPr lang="en-US" sz="1700" b="true">
                <a:solidFill>
                  <a:srgbClr val="FFFFFF"/>
                </a:solidFill>
                <a:latin typeface="Nunito Bold"/>
                <a:ea typeface="Nunito Bold"/>
                <a:cs typeface="Nunito Bold"/>
                <a:sym typeface="Nunito Bold"/>
              </a:rPr>
              <a:t>(8.52 ms Amazon)</a:t>
            </a:r>
          </a:p>
        </p:txBody>
      </p:sp>
      <p:sp>
        <p:nvSpPr>
          <p:cNvPr id="27" name="Rounded Rectangle 26"/>
          <p:cNvSpPr/>
          <p:nvPr/>
        </p:nvSpPr>
        <p:spPr>
          <a:xfrm>
            <a:off x="9281160" y="3455162"/>
            <a:ext cx="3851910" cy="2103120"/>
          </a:xfrm>
          <a:prstGeom prst="roundRect">
            <a:avLst>
              <a:gd name="adj" fmla="val 13043"/>
            </a:avLst>
          </a:prstGeom>
          <a:solidFill>
            <a:srgbClr val="1F7A8C"/>
          </a:solidFill>
          <a:ln>
            <a:noFill/>
          </a:ln>
        </p:spPr>
        <p:txBody>
          <a:bodyPr anchor="ctr" rtlCol="false" lIns="137160" tIns="91440" rIns="137160" bIns="91440" wrap="square"/>
          <a:lstStyle/>
          <a:p>
            <a:pPr algn="ctr">
              <a:lnSpc>
                <a:spcPts val="3960"/>
              </a:lnSpc>
              <a:spcBef>
                <a:spcPts val="0"/>
              </a:spcBef>
              <a:buNone/>
            </a:pPr>
            <a:r>
              <a:rPr lang="en-US" sz="3600" b="true">
                <a:solidFill>
                  <a:srgbClr val="FFFFFF"/>
                </a:solidFill>
                <a:latin typeface="Nunito Ultra-Bold"/>
                <a:ea typeface="Nunito Ultra-Bold"/>
                <a:cs typeface="Nunito Ultra-Bold"/>
                <a:sym typeface="Nunito Ultra-Bold"/>
              </a:rPr>
              <a:t>4.4 GB</a:t>
            </a:r>
          </a:p>
          <a:p>
            <a:pPr algn="ctr">
              <a:lnSpc>
                <a:spcPts val="2125"/>
              </a:lnSpc>
              <a:spcBef>
                <a:spcPts val="400"/>
              </a:spcBef>
              <a:buNone/>
            </a:pPr>
            <a:r>
              <a:rPr lang="en-US" sz="1700" b="true">
                <a:solidFill>
                  <a:srgbClr val="FFFFFF"/>
                </a:solidFill>
                <a:latin typeface="Nunito Semi-Bold"/>
                <a:ea typeface="Nunito Semi-Bold"/>
                <a:cs typeface="Nunito Semi-Bold"/>
                <a:sym typeface="Nunito Semi-Bold"/>
              </a:rPr>
              <a:t>memory ML-1M vs 4.1 GB </a:t>
            </a:r>
            <a:r>
              <a:rPr lang="en-US" sz="1700" b="true">
                <a:solidFill>
                  <a:srgbClr val="FFFFFF"/>
                </a:solidFill>
                <a:latin typeface="Nunito Bold"/>
                <a:ea typeface="Nunito Bold"/>
                <a:cs typeface="Nunito Bold"/>
                <a:sym typeface="Nunito Bold"/>
              </a:rPr>
              <a:t>(17.9 vs 16.8 GB Amazon)</a:t>
            </a:r>
          </a:p>
        </p:txBody>
      </p:sp>
      <p:sp>
        <p:nvSpPr>
          <p:cNvPr id="28" name="Rounded Rectangle 27"/>
          <p:cNvSpPr/>
          <p:nvPr/>
        </p:nvSpPr>
        <p:spPr>
          <a:xfrm>
            <a:off x="13407390" y="3455162"/>
            <a:ext cx="3851910" cy="2103120"/>
          </a:xfrm>
          <a:prstGeom prst="roundRect">
            <a:avLst>
              <a:gd name="adj" fmla="val 13043"/>
            </a:avLst>
          </a:prstGeom>
          <a:solidFill>
            <a:srgbClr val="111111"/>
          </a:solidFill>
          <a:ln>
            <a:noFill/>
          </a:ln>
        </p:spPr>
        <p:txBody>
          <a:bodyPr anchor="ctr" rtlCol="false" lIns="137160" tIns="91440" rIns="137160" bIns="91440" wrap="square"/>
          <a:lstStyle/>
          <a:p>
            <a:pPr algn="ctr">
              <a:lnSpc>
                <a:spcPts val="3960"/>
              </a:lnSpc>
              <a:spcBef>
                <a:spcPts val="0"/>
              </a:spcBef>
              <a:buNone/>
            </a:pPr>
            <a:r>
              <a:rPr lang="en-US" sz="3600" b="true">
                <a:solidFill>
                  <a:srgbClr val="ECC665"/>
                </a:solidFill>
                <a:latin typeface="Nunito Ultra-Bold"/>
                <a:ea typeface="Nunito Ultra-Bold"/>
                <a:cs typeface="Nunito Ultra-Bold"/>
                <a:sym typeface="Nunito Ultra-Bold"/>
              </a:rPr>
              <a:t>M = 50</a:t>
            </a:r>
          </a:p>
          <a:p>
            <a:pPr algn="ctr">
              <a:lnSpc>
                <a:spcPts val="2125"/>
              </a:lnSpc>
              <a:spcBef>
                <a:spcPts val="400"/>
              </a:spcBef>
              <a:buNone/>
            </a:pPr>
            <a:r>
              <a:rPr lang="en-US" sz="1700" b="true">
                <a:solidFill>
                  <a:srgbClr val="FFFFFF"/>
                </a:solidFill>
                <a:latin typeface="Nunito Semi-Bold"/>
                <a:ea typeface="Nunito Semi-Bold"/>
                <a:cs typeface="Nunito Semi-Bold"/>
                <a:sym typeface="Nunito Semi-Bold"/>
              </a:rPr>
              <a:t>MSE 1.4×10</a:t>
            </a:r>
            <a:r>
              <a:rPr lang="en-US" sz="1700" b="true" baseline="30000">
                <a:solidFill>
                  <a:srgbClr val="FFFFFF"/>
                </a:solidFill>
                <a:latin typeface="Nunito Semi-Bold"/>
                <a:ea typeface="Nunito Semi-Bold"/>
                <a:cs typeface="Nunito Semi-Bold"/>
                <a:sym typeface="Nunito Semi-Bold"/>
              </a:rPr>
              <a:t>−5</a:t>
            </a:r>
            <a:r>
              <a:rPr lang="en-US" sz="1700" b="true">
                <a:solidFill>
                  <a:srgbClr val="FFFFFF"/>
                </a:solidFill>
                <a:latin typeface="Nunito Semi-Bold"/>
                <a:ea typeface="Nunito Semi-Bold"/>
                <a:cs typeface="Nunito Semi-Bold"/>
                <a:sym typeface="Nunito Semi-Bold"/>
              </a:rPr>
              <a:t> · </a:t>
            </a:r>
            <a:r>
              <a:rPr lang="en-US" sz="1700" b="true">
                <a:solidFill>
                  <a:srgbClr val="FFFFFF"/>
                </a:solidFill>
                <a:latin typeface="Nunito Bold"/>
                <a:ea typeface="Nunito Bold"/>
                <a:cs typeface="Nunito Bold"/>
                <a:sym typeface="Nunito Bold"/>
              </a:rPr>
              <a:t>≈ 99 % accuracy</a:t>
            </a:r>
          </a:p>
        </p:txBody>
      </p:sp>
      <p:sp>
        <p:nvSpPr>
          <p:cNvPr id="29" name="TextBox 28"/>
          <p:cNvSpPr txBox="1"/>
          <p:nvPr/>
        </p:nvSpPr>
        <p:spPr>
          <a:xfrm>
            <a:off x="1028700" y="5604002"/>
            <a:ext cx="16230600" cy="411480"/>
          </a:xfrm>
          <a:prstGeom prst="rect">
            <a:avLst/>
          </a:prstGeom>
          <a:noFill/>
        </p:spPr>
        <p:txBody>
          <a:bodyPr anchor="t" rtlCol="false" lIns="0" tIns="0" rIns="0" bIns="0" wrap="square"/>
          <a:lstStyle/>
          <a:p>
            <a:pPr algn="l">
              <a:lnSpc>
                <a:spcPts val="1700"/>
              </a:lnSpc>
              <a:spcBef>
                <a:spcPts val="0"/>
              </a:spcBef>
              <a:buNone/>
            </a:pPr>
            <a:r>
              <a:rPr lang="en-US" sz="1300" b="true">
                <a:solidFill>
                  <a:srgbClr val="8A8378"/>
                </a:solidFill>
                <a:latin typeface="Nunito Semi-Bold"/>
                <a:ea typeface="Nunito Semi-Bold"/>
                <a:cs typeface="Nunito Semi-Bold"/>
                <a:sym typeface="Nunito Semi-Bold"/>
              </a:rPr>
              <a:t>Table 7.3 (thesis): runtime and scalability  ·  Table 7.4 (thesis): Monte Carlo convergence and runtime trade-offs. Full tables in the backup slides.</a:t>
            </a:r>
          </a:p>
        </p:txBody>
      </p:sp>
      <p:sp>
        <p:nvSpPr>
          <p:cNvPr id="30" name="Rounded Rectangle 29"/>
          <p:cNvSpPr/>
          <p:nvPr/>
        </p:nvSpPr>
        <p:spPr>
          <a:xfrm>
            <a:off x="1028700" y="6244082"/>
            <a:ext cx="7932420" cy="3110230"/>
          </a:xfrm>
          <a:prstGeom prst="roundRect">
            <a:avLst>
              <a:gd name="adj" fmla="val 9995"/>
            </a:avLst>
          </a:prstGeom>
          <a:solidFill>
            <a:srgbClr val="F6ECDF"/>
          </a:solidFill>
          <a:ln>
            <a:noFill/>
          </a:ln>
        </p:spPr>
        <p:txBody>
          <a:bodyPr anchor="ctr" rtlCol="false" lIns="0" tIns="0" rIns="0" bIns="0" wrap="square"/>
          <a:lstStyle/>
          <a:p>
            <a:endParaRPr lang="en-US" sz="1800"/>
          </a:p>
        </p:txBody>
      </p:sp>
      <p:sp>
        <p:nvSpPr>
          <p:cNvPr id="31" name="Rounded Rectangle 30"/>
          <p:cNvSpPr/>
          <p:nvPr/>
        </p:nvSpPr>
        <p:spPr>
          <a:xfrm>
            <a:off x="1485900" y="6006338"/>
            <a:ext cx="2185051" cy="438912"/>
          </a:xfrm>
          <a:prstGeom prst="roundRect">
            <a:avLst>
              <a:gd name="adj" fmla="val 50000"/>
            </a:avLst>
          </a:prstGeom>
          <a:solidFill>
            <a:srgbClr val="4472C4"/>
          </a:solidFill>
          <a:ln w="28575">
            <a:solidFill>
              <a:srgbClr val="4472C4"/>
            </a:solidFill>
          </a:ln>
        </p:spPr>
        <p:txBody>
          <a:bodyPr anchor="ctr" rtlCol="false" lIns="45720" tIns="0" rIns="45720" bIns="0" wrap="square"/>
          <a:lstStyle/>
          <a:p>
            <a:pPr algn="ctr">
              <a:lnSpc>
                <a:spcPts val="2640"/>
              </a:lnSpc>
              <a:spcBef>
                <a:spcPts val="0"/>
              </a:spcBef>
              <a:buNone/>
            </a:pPr>
            <a:r>
              <a:rPr lang="en-US" sz="2200" b="true">
                <a:solidFill>
                  <a:srgbClr val="FFFFFF"/>
                </a:solidFill>
                <a:latin typeface="Nunito Bold"/>
                <a:ea typeface="Nunito Bold"/>
                <a:cs typeface="Nunito Bold"/>
                <a:sym typeface="Nunito Bold"/>
              </a:rPr>
              <a:t>Complexity</a:t>
            </a:r>
          </a:p>
        </p:txBody>
      </p:sp>
      <p:sp>
        <p:nvSpPr>
          <p:cNvPr id="32" name="TextBox 31"/>
          <p:cNvSpPr txBox="1"/>
          <p:nvPr/>
        </p:nvSpPr>
        <p:spPr>
          <a:xfrm>
            <a:off x="1531620" y="6884162"/>
            <a:ext cx="6972300" cy="1555750"/>
          </a:xfrm>
          <a:prstGeom prst="rect">
            <a:avLst/>
          </a:prstGeom>
          <a:noFill/>
        </p:spPr>
        <p:txBody>
          <a:bodyPr anchor="t" rtlCol="false" lIns="0" tIns="0" rIns="0" bIns="0" wrap="square"/>
          <a:lstStyle/>
          <a:p>
            <a:pPr algn="l" marL="274320" indent="-274320">
              <a:lnSpc>
                <a:spcPts val="2548"/>
              </a:lnSpc>
              <a:spcBef>
                <a:spcPts val="0"/>
              </a:spcBef>
              <a:buClr>
                <a:srgbClr val="1F7A8C"/>
              </a:buClr>
              <a:buSzPct val="100000"/>
              <a:buFont typeface="Arial"/>
              <a:buChar char="•"/>
            </a:pPr>
            <a:r>
              <a:rPr lang="en-US" sz="1820" b="true">
                <a:solidFill>
                  <a:srgbClr val="111111"/>
                </a:solidFill>
                <a:latin typeface="Nunito Semi-Bold"/>
                <a:ea typeface="Nunito Semi-Bold"/>
                <a:cs typeface="Nunito Semi-Bold"/>
                <a:sym typeface="Nunito Semi-Bold"/>
              </a:rPr>
              <a:t>Per-epoch cost: propagation plus periodic Shapley refresh:</a:t>
            </a:r>
          </a:p>
          <a:p>
            <a:pPr algn="l" marL="274320" indent="-274320">
              <a:lnSpc>
                <a:spcPts val="2548"/>
              </a:lnSpc>
              <a:spcBef>
                <a:spcPts val="910"/>
              </a:spcBef>
              <a:buClr>
                <a:srgbClr val="1F7A8C"/>
              </a:buClr>
              <a:buSzPct val="100000"/>
              <a:buFont typeface="Arial"/>
              <a:buChar char="•"/>
            </a:pPr>
            <a:r>
              <a:rPr lang="en-US" sz="1820" b="true">
                <a:solidFill>
                  <a:srgbClr val="111111"/>
                </a:solidFill>
                <a:latin typeface="Nunito Semi-Bold"/>
                <a:ea typeface="Nunito Semi-Bold"/>
                <a:cs typeface="Nunito Semi-Bold"/>
                <a:sym typeface="Nunito Semi-Bold"/>
              </a:rPr>
              <a:t>A refresh every f = 10 batches keeps the overhead bounded.</a:t>
            </a:r>
          </a:p>
          <a:p>
            <a:pPr algn="l" marL="274320" indent="-274320">
              <a:lnSpc>
                <a:spcPts val="2548"/>
              </a:lnSpc>
              <a:spcBef>
                <a:spcPts val="910"/>
              </a:spcBef>
              <a:buClr>
                <a:srgbClr val="1F7A8C"/>
              </a:buClr>
              <a:buSzPct val="100000"/>
              <a:buFont typeface="Arial"/>
              <a:buChar char="•"/>
            </a:pPr>
            <a:r>
              <a:rPr lang="en-US" sz="1820" b="true">
                <a:solidFill>
                  <a:srgbClr val="111111"/>
                </a:solidFill>
                <a:latin typeface="Nunito Semi-Bold"/>
                <a:ea typeface="Nunito Semi-Bold"/>
                <a:cs typeface="Nunito Semi-Bold"/>
                <a:sym typeface="Nunito Semi-Bold"/>
              </a:rPr>
              <a:t>Inference latency is </a:t>
            </a:r>
            <a:r>
              <a:rPr lang="en-US" sz="1820" b="true">
                <a:solidFill>
                  <a:srgbClr val="111111"/>
                </a:solidFill>
                <a:latin typeface="Nunito Bold"/>
                <a:ea typeface="Nunito Bold"/>
                <a:cs typeface="Nunito Bold"/>
                <a:sym typeface="Nunito Bold"/>
              </a:rPr>
              <a:t>suitable for real-time use</a:t>
            </a:r>
            <a:r>
              <a:rPr lang="en-US" sz="1820" b="true">
                <a:solidFill>
                  <a:srgbClr val="111111"/>
                </a:solidFill>
                <a:latin typeface="Nunito Semi-Bold"/>
                <a:ea typeface="Nunito Semi-Bold"/>
                <a:cs typeface="Nunito Semi-Bold"/>
                <a:sym typeface="Nunito Semi-Bold"/>
              </a:rPr>
              <a:t>.</a:t>
            </a:r>
          </a:p>
        </p:txBody>
      </p:sp>
      <mc:AlternateContent xmlns:mc="http://schemas.openxmlformats.org/markup-compatibility/2006">
        <mc:Choice xmlns:a14="http://schemas.microsoft.com/office/drawing/2010/main" Requires="a14">
          <p:sp>
            <p:nvSpPr>
              <p:cNvPr id="33" name="Equation"/>
              <p:cNvSpPr txBox="1"/>
              <p:nvPr/>
            </p:nvSpPr>
            <p:spPr>
              <a:xfrm>
                <a:off x="1531620" y="8485632"/>
                <a:ext cx="6926580" cy="640080"/>
              </a:xfrm>
              <a:prstGeom prst="rect">
                <a:avLst/>
              </a:prstGeom>
              <a:noFill/>
            </p:spPr>
            <p:txBody>
              <a:bodyPr wrap="none" rtlCol="0" anchor="ctr" lIns="0" tIns="0" rIns="0" bIns="0"/>
              <a:lstStyle/>
              <a:p>
                <a:pPr algn="ctr"/>
                <a14:m xmlns:m="http://schemas.openxmlformats.org/officeDocument/2006/math">
                  <m:oMathPara>
                    <m:oMathParaPr>
                      <m:jc m:val="centerGroup"/>
                    </m:oMathParaPr>
                    <m:oMath>
                      <m:r>
                        <a:rPr lang="en-US" sz="2000" i="1">
                          <a:solidFill>
                            <a:srgbClr val="4472C4"/>
                          </a:solidFill>
                          <a:latin typeface="Cambria Math" panose="02040503050406030204" pitchFamily="18" charset="0"/>
                        </a:rPr>
                        <m:t xml:space="preserve">O</m:t>
                      </m:r>
                      <m:d>
                        <m:dPr>
                          <m:ctrlPr>
                            <a:rPr lang="en-US" sz="2000" i="1">
                              <a:solidFill>
                                <a:srgbClr val="4472C4"/>
                              </a:solidFill>
                              <a:latin typeface="Cambria Math" panose="02040503050406030204" pitchFamily="18" charset="0"/>
                            </a:rPr>
                          </m:ctrlPr>
                        </m:dPr>
                        <m:e>
                          <m:r>
                            <m:rPr>
                              <m:sty m:val="p"/>
                            </m:rPr>
                            <a:rPr lang="en-US" sz="2000">
                              <a:solidFill>
                                <a:srgbClr val="4472C4"/>
                              </a:solidFill>
                              <a:latin typeface="Cambria Math" panose="02040503050406030204" pitchFamily="18" charset="0"/>
                            </a:rPr>
                            <m:t xml:space="preserve">(</m:t>
                          </m:r>
                          <m:r>
                            <a:rPr lang="en-US" sz="2000" i="1">
                              <a:solidFill>
                                <a:srgbClr val="4472C4"/>
                              </a:solidFill>
                              <a:latin typeface="Cambria Math" panose="02040503050406030204" pitchFamily="18" charset="0"/>
                            </a:rPr>
                            <m:t xml:space="preserve">L</m:t>
                          </m:r>
                          <m:r>
                            <m:rPr>
                              <m:sty m:val="p"/>
                            </m:rPr>
                            <a:rPr lang="en-US" sz="2000">
                              <a:solidFill>
                                <a:srgbClr val="4472C4"/>
                              </a:solidFill>
                              <a:latin typeface="Cambria Math" panose="02040503050406030204" pitchFamily="18" charset="0"/>
                            </a:rPr>
                            <m:t xml:space="preserve">+1) </m:t>
                          </m:r>
                          <m:r>
                            <a:rPr lang="en-US" sz="2000" i="1">
                              <a:solidFill>
                                <a:srgbClr val="4472C4"/>
                              </a:solidFill>
                              <a:latin typeface="Cambria Math" panose="02040503050406030204" pitchFamily="18" charset="0"/>
                            </a:rPr>
                            <m:t xml:space="preserve">m</m:t>
                          </m:r>
                          <m:r>
                            <m:rPr>
                              <m:sty m:val="p"/>
                            </m:rPr>
                            <a:rPr lang="en-US" sz="2000">
                              <a:solidFill>
                                <a:srgbClr val="4472C4"/>
                              </a:solidFill>
                              <a:latin typeface="Cambria Math" panose="02040503050406030204" pitchFamily="18" charset="0"/>
                            </a:rPr>
                            <m:t xml:space="preserve"> </m:t>
                          </m:r>
                          <m:r>
                            <a:rPr lang="en-US" sz="2000" i="1">
                              <a:solidFill>
                                <a:srgbClr val="4472C4"/>
                              </a:solidFill>
                              <a:latin typeface="Cambria Math" panose="02040503050406030204" pitchFamily="18" charset="0"/>
                            </a:rPr>
                            <m:t xml:space="preserve">d</m:t>
                          </m:r>
                        </m:e>
                      </m:d>
                      <m:r>
                        <m:rPr>
                          <m:sty m:val="p"/>
                        </m:rPr>
                        <a:rPr lang="en-US" sz="2000">
                          <a:solidFill>
                            <a:srgbClr val="4472C4"/>
                          </a:solidFill>
                          <a:latin typeface="Cambria Math" panose="02040503050406030204" pitchFamily="18" charset="0"/>
                        </a:rPr>
                        <m:t xml:space="preserve">+</m:t>
                      </m:r>
                      <m:r>
                        <a:rPr lang="en-US" sz="2000" i="1">
                          <a:solidFill>
                            <a:srgbClr val="4472C4"/>
                          </a:solidFill>
                          <a:latin typeface="Cambria Math" panose="02040503050406030204" pitchFamily="18" charset="0"/>
                        </a:rPr>
                        <m:t xml:space="preserve">O</m:t>
                      </m:r>
                      <m:d>
                        <m:dPr>
                          <m:ctrlPr>
                            <a:rPr lang="en-US" sz="2000" i="1">
                              <a:solidFill>
                                <a:srgbClr val="4472C4"/>
                              </a:solidFill>
                              <a:latin typeface="Cambria Math" panose="02040503050406030204" pitchFamily="18" charset="0"/>
                            </a:rPr>
                          </m:ctrlPr>
                        </m:dPr>
                        <m:e>
                          <m:r>
                            <m:rPr>
                              <m:sty m:val="p"/>
                            </m:rPr>
                            <a:rPr lang="en-US" sz="2000">
                              <a:solidFill>
                                <a:srgbClr val="4472C4"/>
                              </a:solidFill>
                              <a:latin typeface="Cambria Math" panose="02040503050406030204" pitchFamily="18" charset="0"/>
                            </a:rPr>
                            <m:t xml:space="preserve">(</m:t>
                          </m:r>
                          <m:r>
                            <a:rPr lang="en-US" sz="2000" i="1">
                              <a:solidFill>
                                <a:srgbClr val="4472C4"/>
                              </a:solidFill>
                              <a:latin typeface="Cambria Math" panose="02040503050406030204" pitchFamily="18" charset="0"/>
                            </a:rPr>
                            <m:t xml:space="preserve">M</m:t>
                          </m:r>
                          <m:r>
                            <m:rPr>
                              <m:sty m:val="p"/>
                            </m:rPr>
                            <a:rPr lang="en-US" sz="2000">
                              <a:solidFill>
                                <a:srgbClr val="4472C4"/>
                              </a:solidFill>
                              <a:latin typeface="Cambria Math" panose="02040503050406030204" pitchFamily="18" charset="0"/>
                            </a:rPr>
                            <m:t xml:space="preserve">/</m:t>
                          </m:r>
                          <m:r>
                            <a:rPr lang="en-US" sz="2000" i="1">
                              <a:solidFill>
                                <a:srgbClr val="4472C4"/>
                              </a:solidFill>
                              <a:latin typeface="Cambria Math" panose="02040503050406030204" pitchFamily="18" charset="0"/>
                            </a:rPr>
                            <m:t xml:space="preserve">f</m:t>
                          </m:r>
                          <m:r>
                            <m:rPr>
                              <m:sty m:val="p"/>
                            </m:rPr>
                            <a:rPr lang="en-US" sz="2000">
                              <a:solidFill>
                                <a:srgbClr val="4472C4"/>
                              </a:solidFill>
                              <a:latin typeface="Cambria Math" panose="02040503050406030204" pitchFamily="18" charset="0"/>
                            </a:rPr>
                            <m:t xml:space="preserve">) </m:t>
                          </m:r>
                          <m:r>
                            <a:rPr lang="en-US" sz="2000" i="1">
                              <a:solidFill>
                                <a:srgbClr val="4472C4"/>
                              </a:solidFill>
                              <a:latin typeface="Cambria Math" panose="02040503050406030204" pitchFamily="18" charset="0"/>
                            </a:rPr>
                            <m:t xml:space="preserve">m</m:t>
                          </m:r>
                        </m:e>
                      </m:d>
                    </m:oMath>
                  </m:oMathPara>
                </a14:m>
                <a:endParaRPr lang="en-US" sz="2000"/>
              </a:p>
            </p:txBody>
          </p:sp>
        </mc:Choice>
        <mc:Fallback>
          <p:sp>
            <p:nvSpPr>
              <p:cNvPr id="33" name="Equation"/>
              <p:cNvSpPr txBox="1"/>
              <p:nvPr/>
            </p:nvSpPr>
            <p:spPr>
              <a:xfrm>
                <a:off x="1531620" y="8485632"/>
                <a:ext cx="6926580" cy="640080"/>
              </a:xfrm>
              <a:prstGeom prst="rect">
                <a:avLst/>
              </a:prstGeom>
              <a:blipFill>
                <a:blip r:embed="rId4"/>
                <a:stretch>
                  <a:fillRect/>
                </a:stretch>
              </a:blipFill>
            </p:spPr>
            <p:txBody>
              <a:bodyPr/>
              <a:lstStyle/>
              <a:p>
                <a:endParaRPr lang="en-US"/>
              </a:p>
            </p:txBody>
          </p:sp>
        </mc:Fallback>
      </mc:AlternateContent>
      <p:sp>
        <p:nvSpPr>
          <p:cNvPr id="34" name="Rounded Rectangle 33"/>
          <p:cNvSpPr/>
          <p:nvPr/>
        </p:nvSpPr>
        <p:spPr>
          <a:xfrm>
            <a:off x="9326880" y="6244082"/>
            <a:ext cx="7932420" cy="3110230"/>
          </a:xfrm>
          <a:prstGeom prst="roundRect">
            <a:avLst>
              <a:gd name="adj" fmla="val 9995"/>
            </a:avLst>
          </a:prstGeom>
          <a:solidFill>
            <a:srgbClr val="4472C4"/>
          </a:solidFill>
          <a:ln>
            <a:noFill/>
          </a:ln>
        </p:spPr>
        <p:txBody>
          <a:bodyPr anchor="ctr" rtlCol="false" lIns="0" tIns="0" rIns="0" bIns="0" wrap="square"/>
          <a:lstStyle/>
          <a:p>
            <a:endParaRPr lang="en-US" sz="1800"/>
          </a:p>
        </p:txBody>
      </p:sp>
      <p:sp>
        <p:nvSpPr>
          <p:cNvPr id="35" name="Rounded Rectangle 34"/>
          <p:cNvSpPr/>
          <p:nvPr/>
        </p:nvSpPr>
        <p:spPr>
          <a:xfrm>
            <a:off x="9784080" y="6006338"/>
            <a:ext cx="2398585" cy="438912"/>
          </a:xfrm>
          <a:prstGeom prst="roundRect">
            <a:avLst>
              <a:gd name="adj" fmla="val 50000"/>
            </a:avLst>
          </a:prstGeom>
          <a:solidFill>
            <a:srgbClr val="FFFFFF"/>
          </a:solidFill>
          <a:ln w="28575">
            <a:solidFill>
              <a:srgbClr val="FFFFFF"/>
            </a:solidFill>
          </a:ln>
        </p:spPr>
        <p:txBody>
          <a:bodyPr anchor="ctr" rtlCol="false" lIns="45720" tIns="0" rIns="45720" bIns="0" wrap="square"/>
          <a:lstStyle/>
          <a:p>
            <a:pPr algn="ctr">
              <a:lnSpc>
                <a:spcPts val="2640"/>
              </a:lnSpc>
              <a:spcBef>
                <a:spcPts val="0"/>
              </a:spcBef>
              <a:buNone/>
            </a:pPr>
            <a:r>
              <a:rPr lang="en-US" sz="2200" b="true">
                <a:solidFill>
                  <a:srgbClr val="4472C4"/>
                </a:solidFill>
                <a:latin typeface="Nunito Bold"/>
                <a:ea typeface="Nunito Bold"/>
                <a:cs typeface="Nunito Bold"/>
                <a:sym typeface="Nunito Bold"/>
              </a:rPr>
              <a:t>Convergence</a:t>
            </a:r>
          </a:p>
        </p:txBody>
      </p:sp>
      <p:sp>
        <p:nvSpPr>
          <p:cNvPr id="36" name="TextBox 35"/>
          <p:cNvSpPr txBox="1"/>
          <p:nvPr/>
        </p:nvSpPr>
        <p:spPr>
          <a:xfrm>
            <a:off x="9829800" y="6884162"/>
            <a:ext cx="6972300" cy="2195830"/>
          </a:xfrm>
          <a:prstGeom prst="rect">
            <a:avLst/>
          </a:prstGeom>
          <a:noFill/>
        </p:spPr>
        <p:txBody>
          <a:bodyPr anchor="t" rtlCol="false" lIns="0" tIns="0" rIns="0" bIns="0" wrap="square"/>
          <a:lstStyle/>
          <a:p>
            <a:pPr algn="l" marL="274320" indent="-274320">
              <a:lnSpc>
                <a:spcPts val="2960"/>
              </a:lnSpc>
              <a:spcBef>
                <a:spcPts val="0"/>
              </a:spcBef>
              <a:buClr>
                <a:srgbClr val="ECC665"/>
              </a:buClr>
              <a:buSzPct val="100000"/>
              <a:buFont typeface="Arial"/>
              <a:buChar char="•"/>
            </a:pPr>
            <a:r>
              <a:rPr lang="en-US" sz="2000" b="true">
                <a:solidFill>
                  <a:srgbClr val="FFFFFF"/>
                </a:solidFill>
                <a:latin typeface="Nunito Semi-Bold"/>
                <a:ea typeface="Nunito Semi-Bold"/>
                <a:cs typeface="Nunito Semi-Bold"/>
                <a:sym typeface="Nunito Semi-Bold"/>
              </a:rPr>
              <a:t>M = 50 </a:t>
            </a:r>
            <a:r>
              <a:rPr lang="en-US" sz="2000" b="true">
                <a:solidFill>
                  <a:srgbClr val="FFFFFF"/>
                </a:solidFill>
                <a:latin typeface="Calibri"/>
                <a:ea typeface="Calibri"/>
                <a:cs typeface="Calibri"/>
                <a:sym typeface="Calibri"/>
              </a:rPr>
              <a:t>→ </a:t>
            </a:r>
            <a:r>
              <a:rPr lang="en-US" sz="2000" b="true">
                <a:solidFill>
                  <a:srgbClr val="FFFFFF"/>
                </a:solidFill>
                <a:latin typeface="Nunito Semi-Bold"/>
                <a:ea typeface="Nunito Semi-Bold"/>
                <a:cs typeface="Nunito Semi-Bold"/>
                <a:sym typeface="Nunito Semi-Bold"/>
              </a:rPr>
              <a:t>MSE 1.4×10</a:t>
            </a:r>
            <a:r>
              <a:rPr lang="en-US" sz="2000" b="true" baseline="30000">
                <a:solidFill>
                  <a:srgbClr val="FFFFFF"/>
                </a:solidFill>
                <a:latin typeface="Nunito Semi-Bold"/>
                <a:ea typeface="Nunito Semi-Bold"/>
                <a:cs typeface="Nunito Semi-Bold"/>
                <a:sym typeface="Nunito Semi-Bold"/>
              </a:rPr>
              <a:t>−5</a:t>
            </a:r>
            <a:r>
              <a:rPr lang="en-US" sz="2000" b="true">
                <a:solidFill>
                  <a:srgbClr val="FFFFFF"/>
                </a:solidFill>
                <a:latin typeface="Nunito Semi-Bold"/>
                <a:ea typeface="Nunito Semi-Bold"/>
                <a:cs typeface="Nunito Semi-Bold"/>
                <a:sym typeface="Nunito Semi-Bold"/>
              </a:rPr>
              <a:t>, ≈ 99 % accuracy.</a:t>
            </a:r>
          </a:p>
          <a:p>
            <a:pPr algn="l" marL="274320" indent="-274320">
              <a:lnSpc>
                <a:spcPts val="2960"/>
              </a:lnSpc>
              <a:spcBef>
                <a:spcPts val="1000"/>
              </a:spcBef>
              <a:buClr>
                <a:srgbClr val="ECC665"/>
              </a:buClr>
              <a:buSzPct val="100000"/>
              <a:buFont typeface="Arial"/>
              <a:buChar char="•"/>
            </a:pPr>
            <a:r>
              <a:rPr lang="en-US" sz="2000" b="true">
                <a:solidFill>
                  <a:srgbClr val="FFFFFF"/>
                </a:solidFill>
                <a:latin typeface="Nunito Semi-Bold"/>
                <a:ea typeface="Nunito Semi-Bold"/>
                <a:cs typeface="Nunito Semi-Bold"/>
                <a:sym typeface="Nunito Semi-Bold"/>
              </a:rPr>
              <a:t>M = 100 </a:t>
            </a:r>
            <a:r>
              <a:rPr lang="en-US" sz="2000" b="true">
                <a:solidFill>
                  <a:srgbClr val="FFFFFF"/>
                </a:solidFill>
                <a:latin typeface="Calibri"/>
                <a:ea typeface="Calibri"/>
                <a:cs typeface="Calibri"/>
                <a:sym typeface="Calibri"/>
              </a:rPr>
              <a:t>→ </a:t>
            </a:r>
            <a:r>
              <a:rPr lang="en-US" sz="2000" b="true">
                <a:solidFill>
                  <a:srgbClr val="FFFFFF"/>
                </a:solidFill>
                <a:latin typeface="Nunito Semi-Bold"/>
                <a:ea typeface="Nunito Semi-Bold"/>
                <a:cs typeface="Nunito Semi-Bold"/>
                <a:sym typeface="Nunito Semi-Bold"/>
              </a:rPr>
              <a:t>MSE 3.5×10</a:t>
            </a:r>
            <a:r>
              <a:rPr lang="en-US" sz="2000" b="true" baseline="30000">
                <a:solidFill>
                  <a:srgbClr val="FFFFFF"/>
                </a:solidFill>
                <a:latin typeface="Nunito Semi-Bold"/>
                <a:ea typeface="Nunito Semi-Bold"/>
                <a:cs typeface="Nunito Semi-Bold"/>
                <a:sym typeface="Nunito Semi-Bold"/>
              </a:rPr>
              <a:t>−6</a:t>
            </a:r>
            <a:r>
              <a:rPr lang="en-US" sz="2000" b="true">
                <a:solidFill>
                  <a:srgbClr val="FFFFFF"/>
                </a:solidFill>
                <a:latin typeface="Nunito Semi-Bold"/>
                <a:ea typeface="Nunito Semi-Bold"/>
                <a:cs typeface="Nunito Semi-Bold"/>
                <a:sym typeface="Nunito Semi-Bold"/>
              </a:rPr>
              <a:t>: </a:t>
            </a:r>
            <a:r>
              <a:rPr lang="en-US" sz="2000" b="true">
                <a:solidFill>
                  <a:srgbClr val="FFFFFF"/>
                </a:solidFill>
                <a:latin typeface="Nunito Bold"/>
                <a:ea typeface="Nunito Bold"/>
                <a:cs typeface="Nunito Bold"/>
                <a:sym typeface="Nunito Bold"/>
              </a:rPr>
              <a:t>diminishing returns</a:t>
            </a:r>
            <a:r>
              <a:rPr lang="en-US" sz="2000" b="true">
                <a:solidFill>
                  <a:srgbClr val="FFFFFF"/>
                </a:solidFill>
                <a:latin typeface="Nunito Semi-Bold"/>
                <a:ea typeface="Nunito Semi-Bold"/>
                <a:cs typeface="Nunito Semi-Bold"/>
                <a:sym typeface="Nunito Semi-Bold"/>
              </a:rPr>
              <a:t>.</a:t>
            </a:r>
          </a:p>
          <a:p>
            <a:pPr algn="l" marL="274320" indent="-274320">
              <a:lnSpc>
                <a:spcPts val="2800"/>
              </a:lnSpc>
              <a:spcBef>
                <a:spcPts val="1000"/>
              </a:spcBef>
              <a:buClr>
                <a:srgbClr val="ECC665"/>
              </a:buClr>
              <a:buSzPct val="100000"/>
              <a:buFont typeface="Arial"/>
              <a:buChar char="•"/>
            </a:pPr>
            <a:r>
              <a:rPr lang="en-US" sz="2000" b="true">
                <a:solidFill>
                  <a:srgbClr val="FFFFFF"/>
                </a:solidFill>
                <a:latin typeface="Nunito Semi-Bold"/>
                <a:ea typeface="Nunito Semi-Bold"/>
                <a:cs typeface="Nunito Semi-Bold"/>
                <a:sym typeface="Nunito Semi-Bold"/>
              </a:rPr>
              <a:t>The overhead is the price of an in-training attribution signal: measurable, but modest.</a:t>
            </a:r>
          </a:p>
        </p:txBody>
      </p:sp>
    </p:spTree>
  </p:cSld>
  <p:clrMapOvr>
    <a:masterClrMapping/>
  </p:clrMapOvr>
</p:sld>
</file>

<file path=ppt/slides/slide7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pic>
        <p:nvPicPr>
          <p:cNvPr id="2" name="Picture 1" descr="ensias_logo.jpg"/>
          <p:cNvPicPr>
            <a:picLocks noChangeAspect="1"/>
          </p:cNvPicPr>
          <p:nvPr/>
        </p:nvPicPr>
        <p:blipFill>
          <a:blip r:embed="rId2"/>
          <a:stretch>
            <a:fillRect/>
          </a:stretch>
        </p:blipFill>
        <p:spPr>
          <a:xfrm>
            <a:off x="1028700" y="9674352"/>
            <a:ext cx="542964" cy="384048"/>
          </a:xfrm>
          <a:prstGeom prst="rect">
            <a:avLst/>
          </a:prstGeom>
        </p:spPr>
      </p:pic>
      <p:sp>
        <p:nvSpPr>
          <p:cNvPr id="3" name="TextBox 2"/>
          <p:cNvSpPr txBox="1"/>
          <p:nvPr/>
        </p:nvSpPr>
        <p:spPr>
          <a:xfrm>
            <a:off x="1577340" y="9601200"/>
            <a:ext cx="14493240" cy="566928"/>
          </a:xfrm>
          <a:prstGeom prst="rect">
            <a:avLst/>
          </a:prstGeom>
          <a:noFill/>
        </p:spPr>
        <p:txBody>
          <a:bodyPr anchor="ctr" rtlCol="false" lIns="0" tIns="0" rIns="0" bIns="0" wrap="square"/>
          <a:lstStyle/>
          <a:p>
            <a:pPr algn="l">
              <a:lnSpc>
                <a:spcPts val="1200"/>
              </a:lnSpc>
              <a:spcBef>
                <a:spcPts val="0"/>
              </a:spcBef>
              <a:buNone/>
            </a:pPr>
            <a:r>
              <a:rPr lang="en-US" sz="1000" b="true">
                <a:solidFill>
                  <a:srgbClr val="8A8378"/>
                </a:solidFill>
                <a:latin typeface="Nunito Semi-Bold"/>
                <a:ea typeface="Nunito Semi-Bold"/>
                <a:cs typeface="Nunito Semi-Bold"/>
                <a:sym typeface="Nunito Semi-Bold"/>
              </a:rPr>
              <a:t>[27] Holm, S. A Simple Sequentially Rejective Multiple Test Procedure. Scand. J. Statist. 6(2), 65–70 (1979).  ·  Cohen, J. Statistical Power Analysis for the Behavioral Sciences (1988).</a:t>
            </a:r>
          </a:p>
        </p:txBody>
      </p:sp>
      <p:sp>
        <p:nvSpPr>
          <p:cNvPr id="4" name="TextBox 3"/>
          <p:cNvSpPr txBox="1"/>
          <p:nvPr/>
        </p:nvSpPr>
        <p:spPr>
          <a:xfrm>
            <a:off x="16162020" y="9692640"/>
            <a:ext cx="1097280" cy="329184"/>
          </a:xfrm>
          <a:prstGeom prst="rect">
            <a:avLst/>
          </a:prstGeom>
          <a:noFill/>
        </p:spPr>
        <p:txBody>
          <a:bodyPr anchor="t" rtlCol="false" lIns="0" tIns="0" rIns="0" bIns="0" wrap="square"/>
          <a:lstStyle/>
          <a:p>
            <a:pPr algn="r">
              <a:lnSpc>
                <a:spcPts val="2200"/>
              </a:lnSpc>
              <a:spcBef>
                <a:spcPts val="0"/>
              </a:spcBef>
              <a:buNone/>
            </a:pPr>
            <a:r>
              <a:rPr lang="en-US" sz="1800" b="true">
                <a:solidFill>
                  <a:srgbClr val="111111"/>
                </a:solidFill>
                <a:latin typeface="Nunito Ultra-Bold"/>
                <a:ea typeface="Nunito Ultra-Bold"/>
                <a:cs typeface="Nunito Ultra-Bold"/>
                <a:sym typeface="Nunito Ultra-Bold"/>
              </a:rPr>
              <a:t>62</a:t>
            </a:r>
          </a:p>
        </p:txBody>
      </p:sp>
      <p:sp>
        <p:nvSpPr>
          <p:cNvPr id="5" name="TextBox 4"/>
          <p:cNvSpPr txBox="1"/>
          <p:nvPr/>
        </p:nvSpPr>
        <p:spPr>
          <a:xfrm>
            <a:off x="1028700" y="1389888"/>
            <a:ext cx="12938760" cy="329184"/>
          </a:xfrm>
          <a:prstGeom prst="rect">
            <a:avLst/>
          </a:prstGeom>
          <a:noFill/>
        </p:spPr>
        <p:txBody>
          <a:bodyPr anchor="t" rtlCol="false" lIns="0" tIns="0" rIns="0" bIns="0" wrap="square"/>
          <a:lstStyle/>
          <a:p>
            <a:pPr algn="l">
              <a:lnSpc>
                <a:spcPts val="2000"/>
              </a:lnSpc>
              <a:spcBef>
                <a:spcPts val="0"/>
              </a:spcBef>
              <a:buNone/>
            </a:pPr>
            <a:r>
              <a:rPr lang="en-US" sz="1500" b="true" spc="160">
                <a:solidFill>
                  <a:srgbClr val="1F7A8C"/>
                </a:solidFill>
                <a:latin typeface="Nunito Ultra-Bold"/>
                <a:ea typeface="Nunito Ultra-Bold"/>
                <a:cs typeface="Nunito Ultra-Bold"/>
                <a:sym typeface="Nunito Ultra-Bold"/>
              </a:rPr>
              <a:t>CONTRIBUTION III: DYHUCOG, A DYNAMIC HYPERGRAPH COOPERATIVE GAME</a:t>
            </a:r>
          </a:p>
        </p:txBody>
      </p:sp>
      <p:sp>
        <p:nvSpPr>
          <p:cNvPr id="6" name="Rounded Rectangle 5"/>
          <p:cNvSpPr/>
          <p:nvPr/>
        </p:nvSpPr>
        <p:spPr>
          <a:xfrm>
            <a:off x="14516100"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7" name="TextBox 6"/>
          <p:cNvSpPr txBox="1"/>
          <p:nvPr/>
        </p:nvSpPr>
        <p:spPr>
          <a:xfrm>
            <a:off x="14516100"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1</a:t>
            </a:r>
          </a:p>
        </p:txBody>
      </p:sp>
      <p:sp>
        <p:nvSpPr>
          <p:cNvPr id="8" name="Rounded Rectangle 7"/>
          <p:cNvSpPr/>
          <p:nvPr/>
        </p:nvSpPr>
        <p:spPr>
          <a:xfrm>
            <a:off x="14918436"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9" name="TextBox 8"/>
          <p:cNvSpPr txBox="1"/>
          <p:nvPr/>
        </p:nvSpPr>
        <p:spPr>
          <a:xfrm>
            <a:off x="14918436"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2</a:t>
            </a:r>
          </a:p>
        </p:txBody>
      </p:sp>
      <p:sp>
        <p:nvSpPr>
          <p:cNvPr id="10" name="Rounded Rectangle 9"/>
          <p:cNvSpPr/>
          <p:nvPr/>
        </p:nvSpPr>
        <p:spPr>
          <a:xfrm>
            <a:off x="15320772"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11" name="TextBox 10"/>
          <p:cNvSpPr txBox="1"/>
          <p:nvPr/>
        </p:nvSpPr>
        <p:spPr>
          <a:xfrm>
            <a:off x="15320772"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3</a:t>
            </a:r>
          </a:p>
        </p:txBody>
      </p:sp>
      <p:sp>
        <p:nvSpPr>
          <p:cNvPr id="12" name="Rounded Rectangle 11"/>
          <p:cNvSpPr/>
          <p:nvPr/>
        </p:nvSpPr>
        <p:spPr>
          <a:xfrm>
            <a:off x="15723108"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13" name="TextBox 12"/>
          <p:cNvSpPr txBox="1"/>
          <p:nvPr/>
        </p:nvSpPr>
        <p:spPr>
          <a:xfrm>
            <a:off x="15723108"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4</a:t>
            </a:r>
          </a:p>
        </p:txBody>
      </p:sp>
      <p:sp>
        <p:nvSpPr>
          <p:cNvPr id="14" name="Rounded Rectangle 13"/>
          <p:cNvSpPr/>
          <p:nvPr/>
        </p:nvSpPr>
        <p:spPr>
          <a:xfrm>
            <a:off x="16125444"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15" name="TextBox 14"/>
          <p:cNvSpPr txBox="1"/>
          <p:nvPr/>
        </p:nvSpPr>
        <p:spPr>
          <a:xfrm>
            <a:off x="16125444"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5</a:t>
            </a:r>
          </a:p>
        </p:txBody>
      </p:sp>
      <p:sp>
        <p:nvSpPr>
          <p:cNvPr id="16" name="Rounded Rectangle 15"/>
          <p:cNvSpPr/>
          <p:nvPr/>
        </p:nvSpPr>
        <p:spPr>
          <a:xfrm>
            <a:off x="16527780" y="1371600"/>
            <a:ext cx="329184" cy="329184"/>
          </a:xfrm>
          <a:prstGeom prst="roundRect">
            <a:avLst>
              <a:gd name="adj" fmla="val 16666"/>
            </a:avLst>
          </a:prstGeom>
          <a:solidFill>
            <a:srgbClr val="4472C4"/>
          </a:solidFill>
          <a:ln w="15875">
            <a:solidFill>
              <a:srgbClr val="4472C4"/>
            </a:solidFill>
          </a:ln>
        </p:spPr>
        <p:txBody>
          <a:bodyPr anchor="ctr" rtlCol="false" lIns="0" tIns="0" rIns="0" bIns="0" wrap="square"/>
          <a:lstStyle/>
          <a:p>
            <a:endParaRPr lang="en-US" sz="1800"/>
          </a:p>
        </p:txBody>
      </p:sp>
      <p:sp>
        <p:nvSpPr>
          <p:cNvPr id="17" name="TextBox 16"/>
          <p:cNvSpPr txBox="1"/>
          <p:nvPr/>
        </p:nvSpPr>
        <p:spPr>
          <a:xfrm>
            <a:off x="16527780"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FFFFFF"/>
                </a:solidFill>
                <a:latin typeface="Nunito Ultra-Bold"/>
                <a:ea typeface="Nunito Ultra-Bold"/>
                <a:cs typeface="Nunito Ultra-Bold"/>
                <a:sym typeface="Nunito Ultra-Bold"/>
              </a:rPr>
              <a:t>6</a:t>
            </a:r>
          </a:p>
        </p:txBody>
      </p:sp>
      <p:sp>
        <p:nvSpPr>
          <p:cNvPr id="18" name="Rounded Rectangle 17"/>
          <p:cNvSpPr/>
          <p:nvPr/>
        </p:nvSpPr>
        <p:spPr>
          <a:xfrm>
            <a:off x="16930116"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19" name="TextBox 18"/>
          <p:cNvSpPr txBox="1"/>
          <p:nvPr/>
        </p:nvSpPr>
        <p:spPr>
          <a:xfrm>
            <a:off x="16930116"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7</a:t>
            </a:r>
          </a:p>
        </p:txBody>
      </p:sp>
      <p:sp>
        <p:nvSpPr>
          <p:cNvPr id="20" name="TextBox 19"/>
          <p:cNvSpPr txBox="1"/>
          <p:nvPr/>
        </p:nvSpPr>
        <p:spPr>
          <a:xfrm>
            <a:off x="1028700" y="1719072"/>
            <a:ext cx="16230600" cy="730250"/>
          </a:xfrm>
          <a:prstGeom prst="rect">
            <a:avLst/>
          </a:prstGeom>
          <a:noFill/>
        </p:spPr>
        <p:txBody>
          <a:bodyPr anchor="t" rtlCol="false" lIns="0" tIns="0" rIns="0" bIns="0" wrap="square"/>
          <a:lstStyle/>
          <a:p>
            <a:pPr algn="l">
              <a:lnSpc>
                <a:spcPts val="5060"/>
              </a:lnSpc>
              <a:spcBef>
                <a:spcPts val="0"/>
              </a:spcBef>
              <a:buNone/>
            </a:pPr>
            <a:r>
              <a:rPr lang="en-US" sz="4600" b="true" spc="-230">
                <a:solidFill>
                  <a:srgbClr val="111111"/>
                </a:solidFill>
                <a:latin typeface="Roca Two Bold"/>
                <a:ea typeface="Roca Two Bold"/>
                <a:cs typeface="Roca Two Bold"/>
                <a:sym typeface="Roca Two Bold"/>
              </a:rPr>
              <a:t>Statistical Significance</a:t>
            </a:r>
          </a:p>
        </p:txBody>
      </p:sp>
      <p:sp>
        <p:nvSpPr>
          <p:cNvPr id="21" name="Rounded Rectangle 20"/>
          <p:cNvSpPr/>
          <p:nvPr/>
        </p:nvSpPr>
        <p:spPr>
          <a:xfrm>
            <a:off x="1028700" y="2559050"/>
            <a:ext cx="1691553" cy="420624"/>
          </a:xfrm>
          <a:prstGeom prst="roundRect">
            <a:avLst>
              <a:gd name="adj" fmla="val 50000"/>
            </a:avLst>
          </a:prstGeom>
          <a:noFill/>
          <a:ln w="28575">
            <a:solidFill>
              <a:srgbClr val="4472C4"/>
            </a:solidFill>
          </a:ln>
        </p:spPr>
        <p:txBody>
          <a:bodyPr anchor="ctr" rtlCol="false" lIns="45720" tIns="0" rIns="45720" bIns="0" wrap="square"/>
          <a:lstStyle/>
          <a:p>
            <a:pPr algn="ctr">
              <a:lnSpc>
                <a:spcPts val="2160"/>
              </a:lnSpc>
              <a:spcBef>
                <a:spcPts val="0"/>
              </a:spcBef>
              <a:buNone/>
            </a:pPr>
            <a:r>
              <a:rPr lang="en-US" sz="1800" b="true">
                <a:solidFill>
                  <a:srgbClr val="4472C4"/>
                </a:solidFill>
                <a:latin typeface="Nunito Bold"/>
                <a:ea typeface="Nunito Bold"/>
                <a:cs typeface="Nunito Bold"/>
                <a:sym typeface="Nunito Bold"/>
              </a:rPr>
              <a:t>Objectives</a:t>
            </a:r>
          </a:p>
        </p:txBody>
      </p:sp>
      <p:sp>
        <p:nvSpPr>
          <p:cNvPr id="22" name="Rounded Rectangle 21"/>
          <p:cNvSpPr/>
          <p:nvPr/>
        </p:nvSpPr>
        <p:spPr>
          <a:xfrm>
            <a:off x="2848269" y="2559050"/>
            <a:ext cx="1998119" cy="420624"/>
          </a:xfrm>
          <a:prstGeom prst="roundRect">
            <a:avLst>
              <a:gd name="adj" fmla="val 50000"/>
            </a:avLst>
          </a:prstGeom>
          <a:noFill/>
          <a:ln w="28575">
            <a:solidFill>
              <a:srgbClr val="4472C4"/>
            </a:solidFill>
          </a:ln>
        </p:spPr>
        <p:txBody>
          <a:bodyPr anchor="ctr" rtlCol="false" lIns="45720" tIns="0" rIns="45720" bIns="0" wrap="square"/>
          <a:lstStyle/>
          <a:p>
            <a:pPr algn="ctr">
              <a:lnSpc>
                <a:spcPts val="2160"/>
              </a:lnSpc>
              <a:spcBef>
                <a:spcPts val="0"/>
              </a:spcBef>
              <a:buNone/>
            </a:pPr>
            <a:r>
              <a:rPr lang="en-US" sz="1800" b="true">
                <a:solidFill>
                  <a:srgbClr val="4472C4"/>
                </a:solidFill>
                <a:latin typeface="Nunito Bold"/>
                <a:ea typeface="Nunito Bold"/>
                <a:cs typeface="Nunito Bold"/>
                <a:sym typeface="Nunito Bold"/>
              </a:rPr>
              <a:t>Methodology</a:t>
            </a:r>
          </a:p>
        </p:txBody>
      </p:sp>
      <p:sp>
        <p:nvSpPr>
          <p:cNvPr id="23" name="Rounded Rectangle 22"/>
          <p:cNvSpPr/>
          <p:nvPr/>
        </p:nvSpPr>
        <p:spPr>
          <a:xfrm>
            <a:off x="4974404" y="2559050"/>
            <a:ext cx="1369446" cy="420624"/>
          </a:xfrm>
          <a:prstGeom prst="roundRect">
            <a:avLst>
              <a:gd name="adj" fmla="val 50000"/>
            </a:avLst>
          </a:prstGeom>
          <a:solidFill>
            <a:srgbClr val="4472C4"/>
          </a:solidFill>
          <a:ln>
            <a:noFill/>
          </a:ln>
        </p:spPr>
        <p:txBody>
          <a:bodyPr anchor="ctr" rtlCol="false" lIns="45720" tIns="0" rIns="45720" bIns="0" wrap="square"/>
          <a:lstStyle/>
          <a:p>
            <a:pPr algn="ctr">
              <a:lnSpc>
                <a:spcPts val="2160"/>
              </a:lnSpc>
              <a:spcBef>
                <a:spcPts val="0"/>
              </a:spcBef>
              <a:buNone/>
            </a:pPr>
            <a:r>
              <a:rPr lang="en-US" sz="1800" b="true">
                <a:solidFill>
                  <a:srgbClr val="FFFFFF"/>
                </a:solidFill>
                <a:latin typeface="Nunito Bold"/>
                <a:ea typeface="Nunito Bold"/>
                <a:cs typeface="Nunito Bold"/>
                <a:sym typeface="Nunito Bold"/>
              </a:rPr>
              <a:t>Results</a:t>
            </a:r>
          </a:p>
        </p:txBody>
      </p:sp>
      <p:sp>
        <p:nvSpPr>
          <p:cNvPr id="24" name="Rounded Rectangle 23"/>
          <p:cNvSpPr/>
          <p:nvPr/>
        </p:nvSpPr>
        <p:spPr>
          <a:xfrm>
            <a:off x="6471866" y="2559050"/>
            <a:ext cx="1474931" cy="420624"/>
          </a:xfrm>
          <a:prstGeom prst="roundRect">
            <a:avLst>
              <a:gd name="adj" fmla="val 50000"/>
            </a:avLst>
          </a:prstGeom>
          <a:noFill/>
          <a:ln w="28575">
            <a:solidFill>
              <a:srgbClr val="4472C4"/>
            </a:solidFill>
          </a:ln>
        </p:spPr>
        <p:txBody>
          <a:bodyPr anchor="ctr" rtlCol="false" lIns="45720" tIns="0" rIns="45720" bIns="0" wrap="square"/>
          <a:lstStyle/>
          <a:p>
            <a:pPr algn="ctr">
              <a:lnSpc>
                <a:spcPts val="2160"/>
              </a:lnSpc>
              <a:spcBef>
                <a:spcPts val="0"/>
              </a:spcBef>
              <a:buNone/>
            </a:pPr>
            <a:r>
              <a:rPr lang="en-US" sz="1800" b="true">
                <a:solidFill>
                  <a:srgbClr val="4472C4"/>
                </a:solidFill>
                <a:latin typeface="Nunito Bold"/>
                <a:ea typeface="Nunito Bold"/>
                <a:cs typeface="Nunito Bold"/>
                <a:sym typeface="Nunito Bold"/>
              </a:rPr>
              <a:t>Findings</a:t>
            </a:r>
          </a:p>
        </p:txBody>
      </p:sp>
      <p:sp>
        <p:nvSpPr>
          <p:cNvPr id="25" name="Rounded Rectangle 24"/>
          <p:cNvSpPr/>
          <p:nvPr/>
        </p:nvSpPr>
        <p:spPr>
          <a:xfrm>
            <a:off x="1028700" y="3455162"/>
            <a:ext cx="5196840" cy="2194560"/>
          </a:xfrm>
          <a:prstGeom prst="roundRect">
            <a:avLst>
              <a:gd name="adj" fmla="val 12500"/>
            </a:avLst>
          </a:prstGeom>
          <a:solidFill>
            <a:srgbClr val="4472C4"/>
          </a:solidFill>
          <a:ln>
            <a:noFill/>
          </a:ln>
        </p:spPr>
        <p:txBody>
          <a:bodyPr anchor="ctr" rtlCol="false" lIns="0" tIns="0" rIns="0" bIns="0" wrap="square"/>
          <a:lstStyle/>
          <a:p>
            <a:endParaRPr lang="en-US" sz="1800"/>
          </a:p>
        </p:txBody>
      </p:sp>
      <mc:AlternateContent xmlns:mc="http://schemas.openxmlformats.org/markup-compatibility/2006">
        <mc:Choice xmlns:a14="http://schemas.microsoft.com/office/drawing/2010/main" Requires="a14">
          <p:sp>
            <p:nvSpPr>
              <p:cNvPr id="26" name="Equation"/>
              <p:cNvSpPr txBox="1"/>
              <p:nvPr/>
            </p:nvSpPr>
            <p:spPr>
              <a:xfrm>
                <a:off x="1211580" y="3729482"/>
                <a:ext cx="4831080" cy="1051560"/>
              </a:xfrm>
              <a:prstGeom prst="rect">
                <a:avLst/>
              </a:prstGeom>
              <a:noFill/>
            </p:spPr>
            <p:txBody>
              <a:bodyPr wrap="none" rtlCol="0" anchor="ctr" lIns="0" tIns="0" rIns="0" bIns="0"/>
              <a:lstStyle/>
              <a:p>
                <a:pPr algn="ctr"/>
                <a14:m xmlns:m="http://schemas.openxmlformats.org/officeDocument/2006/math">
                  <m:oMathPara>
                    <m:oMathParaPr>
                      <m:jc m:val="centerGroup"/>
                    </m:oMathParaPr>
                    <m:oMath>
                      <m:r>
                        <a:rPr lang="en-US" sz="3800" i="1">
                          <a:solidFill>
                            <a:srgbClr val="ECC665"/>
                          </a:solidFill>
                          <a:latin typeface="Cambria Math" panose="02040503050406030204" pitchFamily="18" charset="0"/>
                        </a:rPr>
                        <m:t xml:space="preserve">t</m:t>
                      </m:r>
                      <m:r>
                        <m:rPr>
                          <m:sty m:val="p"/>
                        </m:rPr>
                        <a:rPr lang="en-US" sz="3800">
                          <a:solidFill>
                            <a:srgbClr val="ECC665"/>
                          </a:solidFill>
                          <a:latin typeface="Cambria Math" panose="02040503050406030204" pitchFamily="18" charset="0"/>
                        </a:rPr>
                        <m:t xml:space="preserve">=46.38</m:t>
                      </m:r>
                    </m:oMath>
                  </m:oMathPara>
                </a14:m>
                <a:endParaRPr lang="en-US" sz="3800"/>
              </a:p>
            </p:txBody>
          </p:sp>
        </mc:Choice>
        <mc:Fallback>
          <p:sp>
            <p:nvSpPr>
              <p:cNvPr id="26" name="Equation"/>
              <p:cNvSpPr txBox="1"/>
              <p:nvPr/>
            </p:nvSpPr>
            <p:spPr>
              <a:xfrm>
                <a:off x="1211580" y="3729482"/>
                <a:ext cx="4831080" cy="1051560"/>
              </a:xfrm>
              <a:prstGeom prst="rect">
                <a:avLst/>
              </a:prstGeom>
              <a:blipFill>
                <a:blip r:embed="rId4"/>
                <a:stretch>
                  <a:fillRect/>
                </a:stretch>
              </a:blipFill>
            </p:spPr>
            <p:txBody>
              <a:bodyPr/>
              <a:lstStyle/>
              <a:p>
                <a:endParaRPr lang="en-US"/>
              </a:p>
            </p:txBody>
          </p:sp>
        </mc:Fallback>
      </mc:AlternateContent>
      <p:sp>
        <p:nvSpPr>
          <p:cNvPr id="27" name="TextBox 26"/>
          <p:cNvSpPr txBox="1"/>
          <p:nvPr/>
        </p:nvSpPr>
        <p:spPr>
          <a:xfrm>
            <a:off x="1303020" y="4826762"/>
            <a:ext cx="4648200" cy="640080"/>
          </a:xfrm>
          <a:prstGeom prst="rect">
            <a:avLst/>
          </a:prstGeom>
          <a:noFill/>
        </p:spPr>
        <p:txBody>
          <a:bodyPr anchor="t" rtlCol="false" lIns="0" tIns="0" rIns="0" bIns="0" wrap="square"/>
          <a:lstStyle/>
          <a:p>
            <a:pPr algn="ctr">
              <a:lnSpc>
                <a:spcPts val="2200"/>
              </a:lnSpc>
              <a:spcBef>
                <a:spcPts val="0"/>
              </a:spcBef>
              <a:buNone/>
            </a:pPr>
            <a:r>
              <a:rPr lang="en-US" sz="1700" b="true">
                <a:solidFill>
                  <a:srgbClr val="FFFFFF"/>
                </a:solidFill>
                <a:latin typeface="Nunito Semi-Bold"/>
                <a:ea typeface="Nunito Semi-Bold"/>
                <a:cs typeface="Nunito Semi-Bold"/>
                <a:sym typeface="Nunito Semi-Bold"/>
              </a:rPr>
              <a:t>paired t-test vs HPCF · </a:t>
            </a:r>
            <a:r>
              <a:rPr lang="en-US" sz="1700" b="true">
                <a:solidFill>
                  <a:srgbClr val="FFFFFF"/>
                </a:solidFill>
                <a:latin typeface="Nunito Bold"/>
                <a:ea typeface="Nunito Bold"/>
                <a:cs typeface="Nunito Bold"/>
                <a:sym typeface="Nunito Bold"/>
              </a:rPr>
              <a:t>df = 6,039</a:t>
            </a:r>
          </a:p>
        </p:txBody>
      </p:sp>
      <p:sp>
        <p:nvSpPr>
          <p:cNvPr id="28" name="Rounded Rectangle 27"/>
          <p:cNvSpPr/>
          <p:nvPr/>
        </p:nvSpPr>
        <p:spPr>
          <a:xfrm>
            <a:off x="6545580" y="3455162"/>
            <a:ext cx="5196840" cy="2194560"/>
          </a:xfrm>
          <a:prstGeom prst="roundRect">
            <a:avLst>
              <a:gd name="adj" fmla="val 12500"/>
            </a:avLst>
          </a:prstGeom>
          <a:solidFill>
            <a:srgbClr val="2F5597"/>
          </a:solidFill>
          <a:ln>
            <a:noFill/>
          </a:ln>
        </p:spPr>
        <p:txBody>
          <a:bodyPr anchor="ctr" rtlCol="false" lIns="0" tIns="0" rIns="0" bIns="0" wrap="square"/>
          <a:lstStyle/>
          <a:p>
            <a:endParaRPr lang="en-US" sz="1800"/>
          </a:p>
        </p:txBody>
      </p:sp>
      <mc:AlternateContent xmlns:mc="http://schemas.openxmlformats.org/markup-compatibility/2006">
        <mc:Choice xmlns:a14="http://schemas.microsoft.com/office/drawing/2010/main" Requires="a14">
          <p:sp>
            <p:nvSpPr>
              <p:cNvPr id="29" name="Equation"/>
              <p:cNvSpPr txBox="1"/>
              <p:nvPr/>
            </p:nvSpPr>
            <p:spPr>
              <a:xfrm>
                <a:off x="6728460" y="3729482"/>
                <a:ext cx="4831080" cy="1051560"/>
              </a:xfrm>
              <a:prstGeom prst="rect">
                <a:avLst/>
              </a:prstGeom>
              <a:noFill/>
            </p:spPr>
            <p:txBody>
              <a:bodyPr wrap="none" rtlCol="0" anchor="ctr" lIns="0" tIns="0" rIns="0" bIns="0"/>
              <a:lstStyle/>
              <a:p>
                <a:pPr algn="ctr"/>
                <a14:m xmlns:m="http://schemas.openxmlformats.org/officeDocument/2006/math">
                  <m:oMathPara>
                    <m:oMathParaPr>
                      <m:jc m:val="centerGroup"/>
                    </m:oMathParaPr>
                    <m:oMath>
                      <m:sSub>
                        <m:sSubPr>
                          <m:ctrlPr>
                            <a:rPr lang="en-US" sz="3800" i="1">
                              <a:solidFill>
                                <a:srgbClr val="ECC665"/>
                              </a:solidFill>
                              <a:latin typeface="Cambria Math" panose="02040503050406030204" pitchFamily="18" charset="0"/>
                            </a:rPr>
                          </m:ctrlPr>
                        </m:sSubPr>
                        <m:e>
                          <m:r>
                            <a:rPr lang="en-US" sz="3800" i="1">
                              <a:solidFill>
                                <a:srgbClr val="ECC665"/>
                              </a:solidFill>
                              <a:latin typeface="Cambria Math" panose="02040503050406030204" pitchFamily="18" charset="0"/>
                            </a:rPr>
                            <m:t xml:space="preserve">d</m:t>
                          </m:r>
                        </m:e>
                        <m:sub>
                          <m:r>
                            <a:rPr lang="en-US" sz="3800" i="1">
                              <a:solidFill>
                                <a:srgbClr val="ECC665"/>
                              </a:solidFill>
                              <a:latin typeface="Cambria Math" panose="02040503050406030204" pitchFamily="18" charset="0"/>
                            </a:rPr>
                            <m:t xml:space="preserve">z</m:t>
                          </m:r>
                        </m:sub>
                      </m:sSub>
                      <m:r>
                        <m:rPr>
                          <m:sty m:val="p"/>
                        </m:rPr>
                        <a:rPr lang="en-US" sz="3800">
                          <a:solidFill>
                            <a:srgbClr val="ECC665"/>
                          </a:solidFill>
                          <a:latin typeface="Cambria Math" panose="02040503050406030204" pitchFamily="18" charset="0"/>
                        </a:rPr>
                        <m:t xml:space="preserve">=1.33</m:t>
                      </m:r>
                    </m:oMath>
                  </m:oMathPara>
                </a14:m>
                <a:endParaRPr lang="en-US" sz="3800"/>
              </a:p>
            </p:txBody>
          </p:sp>
        </mc:Choice>
        <mc:Fallback>
          <p:sp>
            <p:nvSpPr>
              <p:cNvPr id="29" name="Equation"/>
              <p:cNvSpPr txBox="1"/>
              <p:nvPr/>
            </p:nvSpPr>
            <p:spPr>
              <a:xfrm>
                <a:off x="6728460" y="3729482"/>
                <a:ext cx="4831080" cy="1051560"/>
              </a:xfrm>
              <a:prstGeom prst="rect">
                <a:avLst/>
              </a:prstGeom>
              <a:blipFill>
                <a:blip r:embed="rId5"/>
                <a:stretch>
                  <a:fillRect/>
                </a:stretch>
              </a:blipFill>
            </p:spPr>
            <p:txBody>
              <a:bodyPr/>
              <a:lstStyle/>
              <a:p>
                <a:endParaRPr lang="en-US"/>
              </a:p>
            </p:txBody>
          </p:sp>
        </mc:Fallback>
      </mc:AlternateContent>
      <p:sp>
        <p:nvSpPr>
          <p:cNvPr id="30" name="TextBox 29"/>
          <p:cNvSpPr txBox="1"/>
          <p:nvPr/>
        </p:nvSpPr>
        <p:spPr>
          <a:xfrm>
            <a:off x="6819900" y="4826762"/>
            <a:ext cx="4648200" cy="640080"/>
          </a:xfrm>
          <a:prstGeom prst="rect">
            <a:avLst/>
          </a:prstGeom>
          <a:noFill/>
        </p:spPr>
        <p:txBody>
          <a:bodyPr anchor="t" rtlCol="false" lIns="0" tIns="0" rIns="0" bIns="0" wrap="square"/>
          <a:lstStyle/>
          <a:p>
            <a:pPr algn="ctr">
              <a:lnSpc>
                <a:spcPts val="2200"/>
              </a:lnSpc>
              <a:spcBef>
                <a:spcPts val="0"/>
              </a:spcBef>
              <a:buNone/>
            </a:pPr>
            <a:r>
              <a:rPr lang="en-US" sz="1700" b="true">
                <a:solidFill>
                  <a:srgbClr val="FFFFFF"/>
                </a:solidFill>
                <a:latin typeface="Nunito Bold"/>
                <a:ea typeface="Nunito Bold"/>
                <a:cs typeface="Nunito Bold"/>
                <a:sym typeface="Nunito Bold"/>
              </a:rPr>
              <a:t>Cohen's d</a:t>
            </a:r>
            <a:r>
              <a:rPr lang="en-US" sz="1700" b="true" baseline="-25000">
                <a:solidFill>
                  <a:srgbClr val="FFFFFF"/>
                </a:solidFill>
                <a:latin typeface="Nunito Bold"/>
                <a:ea typeface="Nunito Bold"/>
                <a:cs typeface="Nunito Bold"/>
                <a:sym typeface="Nunito Bold"/>
              </a:rPr>
              <a:t>z</a:t>
            </a:r>
            <a:r>
              <a:rPr lang="en-US" sz="1700" b="true">
                <a:solidFill>
                  <a:srgbClr val="FFFFFF"/>
                </a:solidFill>
                <a:latin typeface="Nunito Semi-Bold"/>
                <a:ea typeface="Nunito Semi-Bold"/>
                <a:cs typeface="Nunito Semi-Bold"/>
                <a:sym typeface="Nunito Semi-Bold"/>
              </a:rPr>
              <a:t> · a large effect size</a:t>
            </a:r>
          </a:p>
        </p:txBody>
      </p:sp>
      <p:sp>
        <p:nvSpPr>
          <p:cNvPr id="31" name="Rounded Rectangle 30"/>
          <p:cNvSpPr/>
          <p:nvPr/>
        </p:nvSpPr>
        <p:spPr>
          <a:xfrm>
            <a:off x="12062460" y="3455162"/>
            <a:ext cx="5196840" cy="2194560"/>
          </a:xfrm>
          <a:prstGeom prst="roundRect">
            <a:avLst>
              <a:gd name="adj" fmla="val 12500"/>
            </a:avLst>
          </a:prstGeom>
          <a:solidFill>
            <a:srgbClr val="1F7A8C"/>
          </a:solidFill>
          <a:ln>
            <a:noFill/>
          </a:ln>
        </p:spPr>
        <p:txBody>
          <a:bodyPr anchor="ctr" rtlCol="false" lIns="0" tIns="0" rIns="0" bIns="0" wrap="square"/>
          <a:lstStyle/>
          <a:p>
            <a:endParaRPr lang="en-US" sz="1800"/>
          </a:p>
        </p:txBody>
      </p:sp>
      <mc:AlternateContent xmlns:mc="http://schemas.openxmlformats.org/markup-compatibility/2006">
        <mc:Choice xmlns:a14="http://schemas.microsoft.com/office/drawing/2010/main" Requires="a14">
          <p:sp>
            <p:nvSpPr>
              <p:cNvPr id="32" name="Equation"/>
              <p:cNvSpPr txBox="1"/>
              <p:nvPr/>
            </p:nvSpPr>
            <p:spPr>
              <a:xfrm>
                <a:off x="12245340" y="3729482"/>
                <a:ext cx="4831080" cy="1051560"/>
              </a:xfrm>
              <a:prstGeom prst="rect">
                <a:avLst/>
              </a:prstGeom>
              <a:noFill/>
            </p:spPr>
            <p:txBody>
              <a:bodyPr wrap="none" rtlCol="0" anchor="ctr" lIns="0" tIns="0" rIns="0" bIns="0"/>
              <a:lstStyle/>
              <a:p>
                <a:pPr algn="ctr"/>
                <a14:m xmlns:m="http://schemas.openxmlformats.org/officeDocument/2006/math">
                  <m:oMathPara>
                    <m:oMathParaPr>
                      <m:jc m:val="centerGroup"/>
                    </m:oMathParaPr>
                    <m:oMath>
                      <m:r>
                        <a:rPr lang="en-US" sz="3800" i="1">
                          <a:solidFill>
                            <a:srgbClr val="FFFFFF"/>
                          </a:solidFill>
                          <a:latin typeface="Cambria Math" panose="02040503050406030204" pitchFamily="18" charset="0"/>
                        </a:rPr>
                        <m:t xml:space="preserve">p</m:t>
                      </m:r>
                      <m:r>
                        <m:rPr>
                          <m:sty m:val="p"/>
                        </m:rPr>
                        <a:rPr lang="en-US" sz="3800">
                          <a:solidFill>
                            <a:srgbClr val="FFFFFF"/>
                          </a:solidFill>
                          <a:latin typeface="Cambria Math" panose="02040503050406030204" pitchFamily="18" charset="0"/>
                        </a:rPr>
                        <m:t xml:space="preserve">=1.8×</m:t>
                      </m:r>
                      <m:sSup>
                        <m:sSupPr>
                          <m:ctrlPr>
                            <a:rPr lang="en-US" sz="3800" i="1">
                              <a:solidFill>
                                <a:srgbClr val="FFFFFF"/>
                              </a:solidFill>
                              <a:latin typeface="Cambria Math" panose="02040503050406030204" pitchFamily="18" charset="0"/>
                            </a:rPr>
                          </m:ctrlPr>
                        </m:sSupPr>
                        <m:e>
                          <m:r>
                            <m:rPr>
                              <m:sty m:val="p"/>
                            </m:rPr>
                            <a:rPr lang="en-US" sz="3800">
                              <a:solidFill>
                                <a:srgbClr val="FFFFFF"/>
                              </a:solidFill>
                              <a:latin typeface="Cambria Math" panose="02040503050406030204" pitchFamily="18" charset="0"/>
                            </a:rPr>
                            <m:t xml:space="preserve">10</m:t>
                          </m:r>
                        </m:e>
                        <m:sup>
                          <m:r>
                            <m:rPr>
                              <m:sty m:val="p"/>
                            </m:rPr>
                            <a:rPr lang="en-US" sz="3800">
                              <a:solidFill>
                                <a:srgbClr val="FFFFFF"/>
                              </a:solidFill>
                              <a:latin typeface="Cambria Math" panose="02040503050406030204" pitchFamily="18" charset="0"/>
                            </a:rPr>
                            <m:t xml:space="preserve">−270</m:t>
                          </m:r>
                        </m:sup>
                      </m:sSup>
                    </m:oMath>
                  </m:oMathPara>
                </a14:m>
                <a:endParaRPr lang="en-US" sz="3800"/>
              </a:p>
            </p:txBody>
          </p:sp>
        </mc:Choice>
        <mc:Fallback>
          <p:sp>
            <p:nvSpPr>
              <p:cNvPr id="32" name="Equation"/>
              <p:cNvSpPr txBox="1"/>
              <p:nvPr/>
            </p:nvSpPr>
            <p:spPr>
              <a:xfrm>
                <a:off x="12245340" y="3729482"/>
                <a:ext cx="4831080" cy="1051560"/>
              </a:xfrm>
              <a:prstGeom prst="rect">
                <a:avLst/>
              </a:prstGeom>
              <a:blipFill>
                <a:blip r:embed="rId6"/>
                <a:stretch>
                  <a:fillRect/>
                </a:stretch>
              </a:blipFill>
            </p:spPr>
            <p:txBody>
              <a:bodyPr/>
              <a:lstStyle/>
              <a:p>
                <a:endParaRPr lang="en-US"/>
              </a:p>
            </p:txBody>
          </p:sp>
        </mc:Fallback>
      </mc:AlternateContent>
      <p:sp>
        <p:nvSpPr>
          <p:cNvPr id="33" name="TextBox 32"/>
          <p:cNvSpPr txBox="1"/>
          <p:nvPr/>
        </p:nvSpPr>
        <p:spPr>
          <a:xfrm>
            <a:off x="12336780" y="4826762"/>
            <a:ext cx="4648200" cy="640080"/>
          </a:xfrm>
          <a:prstGeom prst="rect">
            <a:avLst/>
          </a:prstGeom>
          <a:noFill/>
        </p:spPr>
        <p:txBody>
          <a:bodyPr anchor="t" rtlCol="false" lIns="0" tIns="0" rIns="0" bIns="0" wrap="square"/>
          <a:lstStyle/>
          <a:p>
            <a:pPr algn="ctr">
              <a:lnSpc>
                <a:spcPts val="2200"/>
              </a:lnSpc>
              <a:spcBef>
                <a:spcPts val="0"/>
              </a:spcBef>
              <a:buNone/>
            </a:pPr>
            <a:r>
              <a:rPr lang="en-US" sz="1700" b="true">
                <a:solidFill>
                  <a:srgbClr val="FFFFFF"/>
                </a:solidFill>
                <a:latin typeface="Nunito Semi-Bold"/>
                <a:ea typeface="Nunito Semi-Bold"/>
                <a:cs typeface="Nunito Semi-Bold"/>
                <a:sym typeface="Nunito Semi-Bold"/>
              </a:rPr>
              <a:t>after </a:t>
            </a:r>
            <a:r>
              <a:rPr lang="en-US" sz="1700" b="true">
                <a:solidFill>
                  <a:srgbClr val="FFFFFF"/>
                </a:solidFill>
                <a:latin typeface="Nunito Bold"/>
                <a:ea typeface="Nunito Bold"/>
                <a:cs typeface="Nunito Bold"/>
                <a:sym typeface="Nunito Bold"/>
              </a:rPr>
              <a:t>Holm–Bonferroni</a:t>
            </a:r>
            <a:r>
              <a:rPr lang="en-US" sz="1700" b="true">
                <a:solidFill>
                  <a:srgbClr val="FFFFFF"/>
                </a:solidFill>
                <a:latin typeface="Nunito Semi-Bold"/>
                <a:ea typeface="Nunito Semi-Bold"/>
                <a:cs typeface="Nunito Semi-Bold"/>
                <a:sym typeface="Nunito Semi-Bold"/>
              </a:rPr>
              <a:t> correction</a:t>
            </a:r>
          </a:p>
        </p:txBody>
      </p:sp>
      <p:sp>
        <p:nvSpPr>
          <p:cNvPr id="34" name="TextBox 33"/>
          <p:cNvSpPr txBox="1"/>
          <p:nvPr/>
        </p:nvSpPr>
        <p:spPr>
          <a:xfrm>
            <a:off x="1028700" y="5695442"/>
            <a:ext cx="16230600" cy="411480"/>
          </a:xfrm>
          <a:prstGeom prst="rect">
            <a:avLst/>
          </a:prstGeom>
          <a:noFill/>
        </p:spPr>
        <p:txBody>
          <a:bodyPr anchor="t" rtlCol="false" lIns="0" tIns="0" rIns="0" bIns="0" wrap="square"/>
          <a:lstStyle/>
          <a:p>
            <a:pPr algn="l">
              <a:lnSpc>
                <a:spcPts val="1700"/>
              </a:lnSpc>
              <a:spcBef>
                <a:spcPts val="0"/>
              </a:spcBef>
              <a:buNone/>
            </a:pPr>
            <a:r>
              <a:rPr lang="en-US" sz="1300" b="true">
                <a:solidFill>
                  <a:srgbClr val="8A8378"/>
                </a:solidFill>
                <a:latin typeface="Nunito Semi-Bold"/>
                <a:ea typeface="Nunito Semi-Bold"/>
                <a:cs typeface="Nunito Semi-Bold"/>
                <a:sym typeface="Nunito Semi-Bold"/>
              </a:rPr>
              <a:t>Table 7.6 (thesis): paired tests on per-user NDCG@20, DyHuCoG vs HPCF (all six comparisons in the backup slides).</a:t>
            </a:r>
          </a:p>
        </p:txBody>
      </p:sp>
      <p:sp>
        <p:nvSpPr>
          <p:cNvPr id="35" name="Rounded Rectangle 34"/>
          <p:cNvSpPr/>
          <p:nvPr/>
        </p:nvSpPr>
        <p:spPr>
          <a:xfrm>
            <a:off x="1028700" y="6335522"/>
            <a:ext cx="16230600" cy="2973070"/>
          </a:xfrm>
          <a:prstGeom prst="roundRect">
            <a:avLst>
              <a:gd name="adj" fmla="val 10457"/>
            </a:avLst>
          </a:prstGeom>
          <a:solidFill>
            <a:srgbClr val="F6ECDF"/>
          </a:solidFill>
          <a:ln>
            <a:noFill/>
          </a:ln>
        </p:spPr>
        <p:txBody>
          <a:bodyPr anchor="ctr" rtlCol="false" lIns="0" tIns="0" rIns="0" bIns="0" wrap="square"/>
          <a:lstStyle/>
          <a:p>
            <a:endParaRPr lang="en-US" sz="1800"/>
          </a:p>
        </p:txBody>
      </p:sp>
      <p:sp>
        <p:nvSpPr>
          <p:cNvPr id="36" name="Rounded Rectangle 35"/>
          <p:cNvSpPr/>
          <p:nvPr/>
        </p:nvSpPr>
        <p:spPr>
          <a:xfrm>
            <a:off x="1485900" y="6097778"/>
            <a:ext cx="1794243" cy="438912"/>
          </a:xfrm>
          <a:prstGeom prst="roundRect">
            <a:avLst>
              <a:gd name="adj" fmla="val 50000"/>
            </a:avLst>
          </a:prstGeom>
          <a:solidFill>
            <a:srgbClr val="4472C4"/>
          </a:solidFill>
          <a:ln w="28575">
            <a:solidFill>
              <a:srgbClr val="4472C4"/>
            </a:solidFill>
          </a:ln>
        </p:spPr>
        <p:txBody>
          <a:bodyPr anchor="ctr" rtlCol="false" lIns="45720" tIns="0" rIns="45720" bIns="0" wrap="square"/>
          <a:lstStyle/>
          <a:p>
            <a:pPr algn="ctr">
              <a:lnSpc>
                <a:spcPts val="2640"/>
              </a:lnSpc>
              <a:spcBef>
                <a:spcPts val="0"/>
              </a:spcBef>
              <a:buNone/>
            </a:pPr>
            <a:r>
              <a:rPr lang="en-US" sz="2200" b="true">
                <a:solidFill>
                  <a:srgbClr val="FFFFFF"/>
                </a:solidFill>
                <a:latin typeface="Nunito Bold"/>
                <a:ea typeface="Nunito Bold"/>
                <a:cs typeface="Nunito Bold"/>
                <a:sym typeface="Nunito Bold"/>
              </a:rPr>
              <a:t>Protocol</a:t>
            </a:r>
          </a:p>
        </p:txBody>
      </p:sp>
      <p:sp>
        <p:nvSpPr>
          <p:cNvPr id="37" name="TextBox 36"/>
          <p:cNvSpPr txBox="1"/>
          <p:nvPr/>
        </p:nvSpPr>
        <p:spPr>
          <a:xfrm>
            <a:off x="1531620" y="6975602"/>
            <a:ext cx="15270480" cy="2058670"/>
          </a:xfrm>
          <a:prstGeom prst="rect">
            <a:avLst/>
          </a:prstGeom>
          <a:noFill/>
        </p:spPr>
        <p:txBody>
          <a:bodyPr anchor="t" rtlCol="false" lIns="0" tIns="0" rIns="0" bIns="0" wrap="square"/>
          <a:lstStyle/>
          <a:p>
            <a:pPr algn="l" marL="274320" indent="-274320">
              <a:lnSpc>
                <a:spcPts val="2940"/>
              </a:lnSpc>
              <a:spcBef>
                <a:spcPts val="0"/>
              </a:spcBef>
              <a:buClr>
                <a:srgbClr val="1F7A8C"/>
              </a:buClr>
              <a:buSzPct val="100000"/>
              <a:buFont typeface="Arial"/>
              <a:buChar char="•"/>
            </a:pPr>
            <a:r>
              <a:rPr lang="en-US" sz="2100" b="true">
                <a:solidFill>
                  <a:srgbClr val="111111"/>
                </a:solidFill>
                <a:latin typeface="Nunito Semi-Bold"/>
                <a:ea typeface="Nunito Semi-Bold"/>
                <a:cs typeface="Nunito Semi-Bold"/>
                <a:sym typeface="Nunito Semi-Bold"/>
              </a:rPr>
              <a:t>Paired t-tests on </a:t>
            </a:r>
            <a:r>
              <a:rPr lang="en-US" sz="2100" b="true">
                <a:solidFill>
                  <a:srgbClr val="111111"/>
                </a:solidFill>
                <a:latin typeface="Nunito Bold"/>
                <a:ea typeface="Nunito Bold"/>
                <a:cs typeface="Nunito Bold"/>
                <a:sym typeface="Nunito Bold"/>
              </a:rPr>
              <a:t>per-user NDCG@20</a:t>
            </a:r>
            <a:r>
              <a:rPr lang="en-US" sz="2100" b="true">
                <a:solidFill>
                  <a:srgbClr val="111111"/>
                </a:solidFill>
                <a:latin typeface="Nunito Semi-Bold"/>
                <a:ea typeface="Nunito Semi-Bold"/>
                <a:cs typeface="Nunito Semi-Bold"/>
                <a:sym typeface="Nunito Semi-Bold"/>
              </a:rPr>
              <a:t> (n = 6,040 users, MovieLens-1M).</a:t>
            </a:r>
          </a:p>
          <a:p>
            <a:pPr algn="l" marL="274320" indent="-274320">
              <a:lnSpc>
                <a:spcPts val="2940"/>
              </a:lnSpc>
              <a:spcBef>
                <a:spcPts val="900"/>
              </a:spcBef>
              <a:buClr>
                <a:srgbClr val="1F7A8C"/>
              </a:buClr>
              <a:buSzPct val="100000"/>
              <a:buFont typeface="Arial"/>
              <a:buChar char="•"/>
            </a:pPr>
            <a:r>
              <a:rPr lang="en-US" sz="2100" b="true">
                <a:solidFill>
                  <a:srgbClr val="111111"/>
                </a:solidFill>
                <a:latin typeface="Nunito Semi-Bold"/>
                <a:ea typeface="Nunito Semi-Bold"/>
                <a:cs typeface="Nunito Semi-Bold"/>
                <a:sym typeface="Nunito Semi-Bold"/>
              </a:rPr>
              <a:t>DyHuCoG beats </a:t>
            </a:r>
            <a:r>
              <a:rPr lang="en-US" sz="2100" b="true">
                <a:solidFill>
                  <a:srgbClr val="111111"/>
                </a:solidFill>
                <a:latin typeface="Nunito Bold"/>
                <a:ea typeface="Nunito Bold"/>
                <a:cs typeface="Nunito Bold"/>
                <a:sym typeface="Nunito Bold"/>
              </a:rPr>
              <a:t>every baseline</a:t>
            </a:r>
            <a:r>
              <a:rPr lang="en-US" sz="2100" b="true">
                <a:solidFill>
                  <a:srgbClr val="111111"/>
                </a:solidFill>
                <a:latin typeface="Nunito Semi-Bold"/>
                <a:ea typeface="Nunito Semi-Bold"/>
                <a:cs typeface="Nunito Semi-Bold"/>
                <a:sym typeface="Nunito Semi-Bold"/>
              </a:rPr>
              <a:t> with very small p-values after Holm–Bonferroni correction.</a:t>
            </a:r>
          </a:p>
          <a:p>
            <a:pPr algn="l" marL="274320" indent="-274320">
              <a:lnSpc>
                <a:spcPts val="2940"/>
              </a:lnSpc>
              <a:spcBef>
                <a:spcPts val="900"/>
              </a:spcBef>
              <a:buClr>
                <a:srgbClr val="1F7A8C"/>
              </a:buClr>
              <a:buSzPct val="100000"/>
              <a:buFont typeface="Arial"/>
              <a:buChar char="•"/>
            </a:pPr>
            <a:r>
              <a:rPr lang="en-US" sz="2100" b="true">
                <a:solidFill>
                  <a:srgbClr val="111111"/>
                </a:solidFill>
                <a:latin typeface="Nunito Bold"/>
                <a:ea typeface="Nunito Bold"/>
                <a:cs typeface="Nunito Bold"/>
                <a:sym typeface="Nunito Bold"/>
              </a:rPr>
              <a:t>Wilcoxon signed-rank test</a:t>
            </a:r>
            <a:r>
              <a:rPr lang="en-US" sz="2100" b="true">
                <a:solidFill>
                  <a:srgbClr val="111111"/>
                </a:solidFill>
                <a:latin typeface="Nunito Semi-Bold"/>
                <a:ea typeface="Nunito Semi-Bold"/>
                <a:cs typeface="Nunito Semi-Bold"/>
                <a:sym typeface="Nunito Semi-Bold"/>
              </a:rPr>
              <a:t> also significant (p &lt; 0.001): the result does not depend on normality.</a:t>
            </a:r>
          </a:p>
          <a:p>
            <a:pPr algn="l" marL="274320" indent="-274320">
              <a:lnSpc>
                <a:spcPts val="2940"/>
              </a:lnSpc>
              <a:spcBef>
                <a:spcPts val="900"/>
              </a:spcBef>
              <a:buClr>
                <a:srgbClr val="1F7A8C"/>
              </a:buClr>
              <a:buSzPct val="100000"/>
              <a:buFont typeface="Arial"/>
              <a:buChar char="•"/>
            </a:pPr>
            <a:r>
              <a:rPr lang="en-US" sz="2100" b="true">
                <a:solidFill>
                  <a:srgbClr val="111111"/>
                </a:solidFill>
                <a:latin typeface="Nunito Bold"/>
                <a:ea typeface="Nunito Bold"/>
                <a:cs typeface="Nunito Bold"/>
                <a:sym typeface="Nunito Bold"/>
              </a:rPr>
              <a:t>Effect sizes are large</a:t>
            </a:r>
            <a:r>
              <a:rPr lang="en-US" sz="2100" b="true">
                <a:solidFill>
                  <a:srgbClr val="111111"/>
                </a:solidFill>
                <a:latin typeface="Nunito Semi-Bold"/>
                <a:ea typeface="Nunito Semi-Bold"/>
                <a:cs typeface="Nunito Semi-Bold"/>
                <a:sym typeface="Nunito Semi-Bold"/>
              </a:rPr>
              <a:t>: the improvements really matter, they are not only statistically visible.</a:t>
            </a:r>
          </a:p>
        </p:txBody>
      </p:sp>
    </p:spTree>
  </p:cSld>
  <p:clrMapOvr>
    <a:masterClrMapping/>
  </p:clrMapOvr>
</p:sld>
</file>

<file path=ppt/slides/slide7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pic>
        <p:nvPicPr>
          <p:cNvPr id="2" name="Picture 1" descr="ensias_logo.jpg"/>
          <p:cNvPicPr>
            <a:picLocks noChangeAspect="1"/>
          </p:cNvPicPr>
          <p:nvPr/>
        </p:nvPicPr>
        <p:blipFill>
          <a:blip r:embed="rId2"/>
          <a:stretch>
            <a:fillRect/>
          </a:stretch>
        </p:blipFill>
        <p:spPr>
          <a:xfrm>
            <a:off x="1028700" y="9674352"/>
            <a:ext cx="542964" cy="384048"/>
          </a:xfrm>
          <a:prstGeom prst="rect">
            <a:avLst/>
          </a:prstGeom>
        </p:spPr>
      </p:pic>
      <p:sp>
        <p:nvSpPr>
          <p:cNvPr id="3" name="TextBox 2"/>
          <p:cNvSpPr txBox="1"/>
          <p:nvPr/>
        </p:nvSpPr>
        <p:spPr>
          <a:xfrm>
            <a:off x="1577340" y="9747504"/>
            <a:ext cx="12801600" cy="274320"/>
          </a:xfrm>
          <a:prstGeom prst="rect">
            <a:avLst/>
          </a:prstGeom>
          <a:noFill/>
        </p:spPr>
        <p:txBody>
          <a:bodyPr anchor="t" rtlCol="false" lIns="0" tIns="0" rIns="0" bIns="0" wrap="square"/>
          <a:lstStyle/>
          <a:p>
            <a:pPr algn="l">
              <a:lnSpc>
                <a:spcPts val="1600"/>
              </a:lnSpc>
              <a:spcBef>
                <a:spcPts val="0"/>
              </a:spcBef>
              <a:buNone/>
            </a:pPr>
            <a:r>
              <a:rPr lang="en-US" sz="1300" b="true">
                <a:solidFill>
                  <a:srgbClr val="8A8378"/>
                </a:solidFill>
                <a:latin typeface="Nunito Bold"/>
                <a:ea typeface="Nunito Bold"/>
                <a:cs typeface="Nunito Bold"/>
                <a:sym typeface="Nunito Bold"/>
              </a:rPr>
              <a:t>Cooperative Game Theory for Explainable AI in Recommendation Systems  ·  A Shapley Framework for Actionable Insight</a:t>
            </a:r>
          </a:p>
        </p:txBody>
      </p:sp>
      <p:sp>
        <p:nvSpPr>
          <p:cNvPr id="4" name="TextBox 3"/>
          <p:cNvSpPr txBox="1"/>
          <p:nvPr/>
        </p:nvSpPr>
        <p:spPr>
          <a:xfrm>
            <a:off x="16162020" y="9692640"/>
            <a:ext cx="1097280" cy="329184"/>
          </a:xfrm>
          <a:prstGeom prst="rect">
            <a:avLst/>
          </a:prstGeom>
          <a:noFill/>
        </p:spPr>
        <p:txBody>
          <a:bodyPr anchor="t" rtlCol="false" lIns="0" tIns="0" rIns="0" bIns="0" wrap="square"/>
          <a:lstStyle/>
          <a:p>
            <a:pPr algn="r">
              <a:lnSpc>
                <a:spcPts val="2200"/>
              </a:lnSpc>
              <a:spcBef>
                <a:spcPts val="0"/>
              </a:spcBef>
              <a:buNone/>
            </a:pPr>
            <a:r>
              <a:rPr lang="en-US" sz="1800" b="true">
                <a:solidFill>
                  <a:srgbClr val="111111"/>
                </a:solidFill>
                <a:latin typeface="Nunito Ultra-Bold"/>
                <a:ea typeface="Nunito Ultra-Bold"/>
                <a:cs typeface="Nunito Ultra-Bold"/>
                <a:sym typeface="Nunito Ultra-Bold"/>
              </a:rPr>
              <a:t>63</a:t>
            </a:r>
          </a:p>
        </p:txBody>
      </p:sp>
      <p:sp>
        <p:nvSpPr>
          <p:cNvPr id="5" name="TextBox 4"/>
          <p:cNvSpPr txBox="1"/>
          <p:nvPr/>
        </p:nvSpPr>
        <p:spPr>
          <a:xfrm>
            <a:off x="1028700" y="1389888"/>
            <a:ext cx="12938760" cy="329184"/>
          </a:xfrm>
          <a:prstGeom prst="rect">
            <a:avLst/>
          </a:prstGeom>
          <a:noFill/>
        </p:spPr>
        <p:txBody>
          <a:bodyPr anchor="t" rtlCol="false" lIns="0" tIns="0" rIns="0" bIns="0" wrap="square"/>
          <a:lstStyle/>
          <a:p>
            <a:pPr algn="l">
              <a:lnSpc>
                <a:spcPts val="2000"/>
              </a:lnSpc>
              <a:spcBef>
                <a:spcPts val="0"/>
              </a:spcBef>
              <a:buNone/>
            </a:pPr>
            <a:r>
              <a:rPr lang="en-US" sz="1500" b="true" spc="160">
                <a:solidFill>
                  <a:srgbClr val="1F7A8C"/>
                </a:solidFill>
                <a:latin typeface="Nunito Ultra-Bold"/>
                <a:ea typeface="Nunito Ultra-Bold"/>
                <a:cs typeface="Nunito Ultra-Bold"/>
                <a:sym typeface="Nunito Ultra-Bold"/>
              </a:rPr>
              <a:t>CONTRIBUTION III: DYHUCOG, A DYNAMIC HYPERGRAPH COOPERATIVE GAME</a:t>
            </a:r>
          </a:p>
        </p:txBody>
      </p:sp>
      <p:sp>
        <p:nvSpPr>
          <p:cNvPr id="6" name="Rounded Rectangle 5"/>
          <p:cNvSpPr/>
          <p:nvPr/>
        </p:nvSpPr>
        <p:spPr>
          <a:xfrm>
            <a:off x="14516100"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7" name="TextBox 6"/>
          <p:cNvSpPr txBox="1"/>
          <p:nvPr/>
        </p:nvSpPr>
        <p:spPr>
          <a:xfrm>
            <a:off x="14516100"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1</a:t>
            </a:r>
          </a:p>
        </p:txBody>
      </p:sp>
      <p:sp>
        <p:nvSpPr>
          <p:cNvPr id="8" name="Rounded Rectangle 7"/>
          <p:cNvSpPr/>
          <p:nvPr/>
        </p:nvSpPr>
        <p:spPr>
          <a:xfrm>
            <a:off x="14918436"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9" name="TextBox 8"/>
          <p:cNvSpPr txBox="1"/>
          <p:nvPr/>
        </p:nvSpPr>
        <p:spPr>
          <a:xfrm>
            <a:off x="14918436"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2</a:t>
            </a:r>
          </a:p>
        </p:txBody>
      </p:sp>
      <p:sp>
        <p:nvSpPr>
          <p:cNvPr id="10" name="Rounded Rectangle 9"/>
          <p:cNvSpPr/>
          <p:nvPr/>
        </p:nvSpPr>
        <p:spPr>
          <a:xfrm>
            <a:off x="15320772"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11" name="TextBox 10"/>
          <p:cNvSpPr txBox="1"/>
          <p:nvPr/>
        </p:nvSpPr>
        <p:spPr>
          <a:xfrm>
            <a:off x="15320772"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3</a:t>
            </a:r>
          </a:p>
        </p:txBody>
      </p:sp>
      <p:sp>
        <p:nvSpPr>
          <p:cNvPr id="12" name="Rounded Rectangle 11"/>
          <p:cNvSpPr/>
          <p:nvPr/>
        </p:nvSpPr>
        <p:spPr>
          <a:xfrm>
            <a:off x="15723108"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13" name="TextBox 12"/>
          <p:cNvSpPr txBox="1"/>
          <p:nvPr/>
        </p:nvSpPr>
        <p:spPr>
          <a:xfrm>
            <a:off x="15723108"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4</a:t>
            </a:r>
          </a:p>
        </p:txBody>
      </p:sp>
      <p:sp>
        <p:nvSpPr>
          <p:cNvPr id="14" name="Rounded Rectangle 13"/>
          <p:cNvSpPr/>
          <p:nvPr/>
        </p:nvSpPr>
        <p:spPr>
          <a:xfrm>
            <a:off x="16125444"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15" name="TextBox 14"/>
          <p:cNvSpPr txBox="1"/>
          <p:nvPr/>
        </p:nvSpPr>
        <p:spPr>
          <a:xfrm>
            <a:off x="16125444"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5</a:t>
            </a:r>
          </a:p>
        </p:txBody>
      </p:sp>
      <p:sp>
        <p:nvSpPr>
          <p:cNvPr id="16" name="Rounded Rectangle 15"/>
          <p:cNvSpPr/>
          <p:nvPr/>
        </p:nvSpPr>
        <p:spPr>
          <a:xfrm>
            <a:off x="16527780" y="1371600"/>
            <a:ext cx="329184" cy="329184"/>
          </a:xfrm>
          <a:prstGeom prst="roundRect">
            <a:avLst>
              <a:gd name="adj" fmla="val 16666"/>
            </a:avLst>
          </a:prstGeom>
          <a:solidFill>
            <a:srgbClr val="4472C4"/>
          </a:solidFill>
          <a:ln w="15875">
            <a:solidFill>
              <a:srgbClr val="4472C4"/>
            </a:solidFill>
          </a:ln>
        </p:spPr>
        <p:txBody>
          <a:bodyPr anchor="ctr" rtlCol="false" lIns="0" tIns="0" rIns="0" bIns="0" wrap="square"/>
          <a:lstStyle/>
          <a:p>
            <a:endParaRPr lang="en-US" sz="1800"/>
          </a:p>
        </p:txBody>
      </p:sp>
      <p:sp>
        <p:nvSpPr>
          <p:cNvPr id="17" name="TextBox 16"/>
          <p:cNvSpPr txBox="1"/>
          <p:nvPr/>
        </p:nvSpPr>
        <p:spPr>
          <a:xfrm>
            <a:off x="16527780"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FFFFFF"/>
                </a:solidFill>
                <a:latin typeface="Nunito Ultra-Bold"/>
                <a:ea typeface="Nunito Ultra-Bold"/>
                <a:cs typeface="Nunito Ultra-Bold"/>
                <a:sym typeface="Nunito Ultra-Bold"/>
              </a:rPr>
              <a:t>6</a:t>
            </a:r>
          </a:p>
        </p:txBody>
      </p:sp>
      <p:sp>
        <p:nvSpPr>
          <p:cNvPr id="18" name="Rounded Rectangle 17"/>
          <p:cNvSpPr/>
          <p:nvPr/>
        </p:nvSpPr>
        <p:spPr>
          <a:xfrm>
            <a:off x="16930116"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19" name="TextBox 18"/>
          <p:cNvSpPr txBox="1"/>
          <p:nvPr/>
        </p:nvSpPr>
        <p:spPr>
          <a:xfrm>
            <a:off x="16930116"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7</a:t>
            </a:r>
          </a:p>
        </p:txBody>
      </p:sp>
      <p:sp>
        <p:nvSpPr>
          <p:cNvPr id="20" name="TextBox 19"/>
          <p:cNvSpPr txBox="1"/>
          <p:nvPr/>
        </p:nvSpPr>
        <p:spPr>
          <a:xfrm>
            <a:off x="1028700" y="1719072"/>
            <a:ext cx="16230600" cy="730250"/>
          </a:xfrm>
          <a:prstGeom prst="rect">
            <a:avLst/>
          </a:prstGeom>
          <a:noFill/>
        </p:spPr>
        <p:txBody>
          <a:bodyPr anchor="t" rtlCol="false" lIns="0" tIns="0" rIns="0" bIns="0" wrap="square"/>
          <a:lstStyle/>
          <a:p>
            <a:pPr algn="l">
              <a:lnSpc>
                <a:spcPts val="5060"/>
              </a:lnSpc>
              <a:spcBef>
                <a:spcPts val="0"/>
              </a:spcBef>
              <a:buNone/>
            </a:pPr>
            <a:r>
              <a:rPr lang="en-US" sz="4600" b="true" spc="-230">
                <a:solidFill>
                  <a:srgbClr val="111111"/>
                </a:solidFill>
                <a:latin typeface="Roca Two Bold"/>
                <a:ea typeface="Roca Two Bold"/>
                <a:cs typeface="Roca Two Bold"/>
                <a:sym typeface="Roca Two Bold"/>
              </a:rPr>
              <a:t>Answers to RQ3 and RQ4</a:t>
            </a:r>
          </a:p>
        </p:txBody>
      </p:sp>
      <p:sp>
        <p:nvSpPr>
          <p:cNvPr id="21" name="Rounded Rectangle 20"/>
          <p:cNvSpPr/>
          <p:nvPr/>
        </p:nvSpPr>
        <p:spPr>
          <a:xfrm>
            <a:off x="1028700" y="2559050"/>
            <a:ext cx="1691553" cy="420624"/>
          </a:xfrm>
          <a:prstGeom prst="roundRect">
            <a:avLst>
              <a:gd name="adj" fmla="val 50000"/>
            </a:avLst>
          </a:prstGeom>
          <a:noFill/>
          <a:ln w="28575">
            <a:solidFill>
              <a:srgbClr val="4472C4"/>
            </a:solidFill>
          </a:ln>
        </p:spPr>
        <p:txBody>
          <a:bodyPr anchor="ctr" rtlCol="false" lIns="45720" tIns="0" rIns="45720" bIns="0" wrap="square"/>
          <a:lstStyle/>
          <a:p>
            <a:pPr algn="ctr">
              <a:lnSpc>
                <a:spcPts val="2160"/>
              </a:lnSpc>
              <a:spcBef>
                <a:spcPts val="0"/>
              </a:spcBef>
              <a:buNone/>
            </a:pPr>
            <a:r>
              <a:rPr lang="en-US" sz="1800" b="true">
                <a:solidFill>
                  <a:srgbClr val="4472C4"/>
                </a:solidFill>
                <a:latin typeface="Nunito Bold"/>
                <a:ea typeface="Nunito Bold"/>
                <a:cs typeface="Nunito Bold"/>
                <a:sym typeface="Nunito Bold"/>
              </a:rPr>
              <a:t>Objectives</a:t>
            </a:r>
          </a:p>
        </p:txBody>
      </p:sp>
      <p:sp>
        <p:nvSpPr>
          <p:cNvPr id="22" name="Rounded Rectangle 21"/>
          <p:cNvSpPr/>
          <p:nvPr/>
        </p:nvSpPr>
        <p:spPr>
          <a:xfrm>
            <a:off x="2848269" y="2559050"/>
            <a:ext cx="1998119" cy="420624"/>
          </a:xfrm>
          <a:prstGeom prst="roundRect">
            <a:avLst>
              <a:gd name="adj" fmla="val 50000"/>
            </a:avLst>
          </a:prstGeom>
          <a:noFill/>
          <a:ln w="28575">
            <a:solidFill>
              <a:srgbClr val="4472C4"/>
            </a:solidFill>
          </a:ln>
        </p:spPr>
        <p:txBody>
          <a:bodyPr anchor="ctr" rtlCol="false" lIns="45720" tIns="0" rIns="45720" bIns="0" wrap="square"/>
          <a:lstStyle/>
          <a:p>
            <a:pPr algn="ctr">
              <a:lnSpc>
                <a:spcPts val="2160"/>
              </a:lnSpc>
              <a:spcBef>
                <a:spcPts val="0"/>
              </a:spcBef>
              <a:buNone/>
            </a:pPr>
            <a:r>
              <a:rPr lang="en-US" sz="1800" b="true">
                <a:solidFill>
                  <a:srgbClr val="4472C4"/>
                </a:solidFill>
                <a:latin typeface="Nunito Bold"/>
                <a:ea typeface="Nunito Bold"/>
                <a:cs typeface="Nunito Bold"/>
                <a:sym typeface="Nunito Bold"/>
              </a:rPr>
              <a:t>Methodology</a:t>
            </a:r>
          </a:p>
        </p:txBody>
      </p:sp>
      <p:sp>
        <p:nvSpPr>
          <p:cNvPr id="23" name="Rounded Rectangle 22"/>
          <p:cNvSpPr/>
          <p:nvPr/>
        </p:nvSpPr>
        <p:spPr>
          <a:xfrm>
            <a:off x="4974404" y="2559050"/>
            <a:ext cx="1369446" cy="420624"/>
          </a:xfrm>
          <a:prstGeom prst="roundRect">
            <a:avLst>
              <a:gd name="adj" fmla="val 50000"/>
            </a:avLst>
          </a:prstGeom>
          <a:noFill/>
          <a:ln w="28575">
            <a:solidFill>
              <a:srgbClr val="4472C4"/>
            </a:solidFill>
          </a:ln>
        </p:spPr>
        <p:txBody>
          <a:bodyPr anchor="ctr" rtlCol="false" lIns="45720" tIns="0" rIns="45720" bIns="0" wrap="square"/>
          <a:lstStyle/>
          <a:p>
            <a:pPr algn="ctr">
              <a:lnSpc>
                <a:spcPts val="2160"/>
              </a:lnSpc>
              <a:spcBef>
                <a:spcPts val="0"/>
              </a:spcBef>
              <a:buNone/>
            </a:pPr>
            <a:r>
              <a:rPr lang="en-US" sz="1800" b="true">
                <a:solidFill>
                  <a:srgbClr val="4472C4"/>
                </a:solidFill>
                <a:latin typeface="Nunito Bold"/>
                <a:ea typeface="Nunito Bold"/>
                <a:cs typeface="Nunito Bold"/>
                <a:sym typeface="Nunito Bold"/>
              </a:rPr>
              <a:t>Results</a:t>
            </a:r>
          </a:p>
        </p:txBody>
      </p:sp>
      <p:sp>
        <p:nvSpPr>
          <p:cNvPr id="24" name="Rounded Rectangle 23"/>
          <p:cNvSpPr/>
          <p:nvPr/>
        </p:nvSpPr>
        <p:spPr>
          <a:xfrm>
            <a:off x="6471866" y="2559050"/>
            <a:ext cx="1474931" cy="420624"/>
          </a:xfrm>
          <a:prstGeom prst="roundRect">
            <a:avLst>
              <a:gd name="adj" fmla="val 50000"/>
            </a:avLst>
          </a:prstGeom>
          <a:solidFill>
            <a:srgbClr val="4472C4"/>
          </a:solidFill>
          <a:ln>
            <a:noFill/>
          </a:ln>
        </p:spPr>
        <p:txBody>
          <a:bodyPr anchor="ctr" rtlCol="false" lIns="45720" tIns="0" rIns="45720" bIns="0" wrap="square"/>
          <a:lstStyle/>
          <a:p>
            <a:pPr algn="ctr">
              <a:lnSpc>
                <a:spcPts val="2160"/>
              </a:lnSpc>
              <a:spcBef>
                <a:spcPts val="0"/>
              </a:spcBef>
              <a:buNone/>
            </a:pPr>
            <a:r>
              <a:rPr lang="en-US" sz="1800" b="true">
                <a:solidFill>
                  <a:srgbClr val="FFFFFF"/>
                </a:solidFill>
                <a:latin typeface="Nunito Bold"/>
                <a:ea typeface="Nunito Bold"/>
                <a:cs typeface="Nunito Bold"/>
                <a:sym typeface="Nunito Bold"/>
              </a:rPr>
              <a:t>Findings</a:t>
            </a:r>
          </a:p>
        </p:txBody>
      </p:sp>
      <p:sp>
        <p:nvSpPr>
          <p:cNvPr id="25" name="Rounded Rectangle 24"/>
          <p:cNvSpPr/>
          <p:nvPr/>
        </p:nvSpPr>
        <p:spPr>
          <a:xfrm>
            <a:off x="1028700" y="3546602"/>
            <a:ext cx="7932420" cy="1600200"/>
          </a:xfrm>
          <a:prstGeom prst="roundRect">
            <a:avLst>
              <a:gd name="adj" fmla="val 12571"/>
            </a:avLst>
          </a:prstGeom>
          <a:solidFill>
            <a:srgbClr val="F6ECDF"/>
          </a:solidFill>
          <a:ln w="25400">
            <a:solidFill>
              <a:srgbClr val="4472C4"/>
            </a:solidFill>
          </a:ln>
        </p:spPr>
        <p:txBody>
          <a:bodyPr anchor="ctr" rtlCol="false" lIns="0" tIns="0" rIns="0" bIns="0" wrap="square"/>
          <a:lstStyle/>
          <a:p>
            <a:endParaRPr lang="en-US" sz="1800"/>
          </a:p>
        </p:txBody>
      </p:sp>
      <p:sp>
        <p:nvSpPr>
          <p:cNvPr id="26" name="Rounded Rectangle 25"/>
          <p:cNvSpPr/>
          <p:nvPr/>
        </p:nvSpPr>
        <p:spPr>
          <a:xfrm>
            <a:off x="1348740" y="3354578"/>
            <a:ext cx="2112238" cy="384048"/>
          </a:xfrm>
          <a:prstGeom prst="roundRect">
            <a:avLst>
              <a:gd name="adj" fmla="val 50000"/>
            </a:avLst>
          </a:prstGeom>
          <a:solidFill>
            <a:srgbClr val="4472C4"/>
          </a:solidFill>
          <a:ln w="28575">
            <a:solidFill>
              <a:srgbClr val="4472C4"/>
            </a:solidFill>
          </a:ln>
        </p:spPr>
        <p:txBody>
          <a:bodyPr anchor="ctr" rtlCol="false" lIns="45720" tIns="0" rIns="45720" bIns="0" wrap="square"/>
          <a:lstStyle/>
          <a:p>
            <a:pPr algn="ctr">
              <a:lnSpc>
                <a:spcPts val="1680"/>
              </a:lnSpc>
              <a:spcBef>
                <a:spcPts val="0"/>
              </a:spcBef>
              <a:buNone/>
            </a:pPr>
            <a:r>
              <a:rPr lang="en-US" sz="1400" b="true">
                <a:solidFill>
                  <a:srgbClr val="FFFFFF"/>
                </a:solidFill>
                <a:latin typeface="Nunito Bold"/>
                <a:ea typeface="Nunito Bold"/>
                <a:cs typeface="Nunito Bold"/>
                <a:sym typeface="Nunito Bold"/>
              </a:rPr>
              <a:t>ANSWER TO RQ3</a:t>
            </a:r>
          </a:p>
        </p:txBody>
      </p:sp>
      <p:sp>
        <p:nvSpPr>
          <p:cNvPr id="27" name="TextBox 26"/>
          <p:cNvSpPr txBox="1"/>
          <p:nvPr/>
        </p:nvSpPr>
        <p:spPr>
          <a:xfrm>
            <a:off x="1394460" y="3820922"/>
            <a:ext cx="7200900" cy="1188720"/>
          </a:xfrm>
          <a:prstGeom prst="rect">
            <a:avLst/>
          </a:prstGeom>
          <a:noFill/>
        </p:spPr>
        <p:txBody>
          <a:bodyPr anchor="ctr" rtlCol="false" lIns="0" tIns="0" rIns="0" bIns="0" wrap="square"/>
          <a:lstStyle/>
          <a:p>
            <a:pPr algn="l">
              <a:lnSpc>
                <a:spcPts val="2660"/>
              </a:lnSpc>
              <a:spcBef>
                <a:spcPts val="0"/>
              </a:spcBef>
              <a:buNone/>
            </a:pPr>
            <a:r>
              <a:rPr lang="en-US" sz="1900" b="true">
                <a:solidFill>
                  <a:srgbClr val="111111"/>
                </a:solidFill>
                <a:latin typeface="Nunito Bold"/>
                <a:ea typeface="Nunito Bold"/>
                <a:cs typeface="Nunito Bold"/>
                <a:sym typeface="Nunito Bold"/>
              </a:rPr>
              <a:t>Yes.</a:t>
            </a:r>
            <a:r>
              <a:rPr lang="en-US" sz="1900" b="true">
                <a:solidFill>
                  <a:srgbClr val="111111"/>
                </a:solidFill>
                <a:latin typeface="Nunito Semi-Bold"/>
                <a:ea typeface="Nunito Semi-Bold"/>
                <a:cs typeface="Nunito Semi-Bold"/>
                <a:sym typeface="Nunito Semi-Bold"/>
              </a:rPr>
              <a:t> Attribution becomes an </a:t>
            </a:r>
            <a:r>
              <a:rPr lang="en-US" sz="1900" b="true">
                <a:solidFill>
                  <a:srgbClr val="111111"/>
                </a:solidFill>
                <a:latin typeface="Nunito Bold"/>
                <a:ea typeface="Nunito Bold"/>
                <a:cs typeface="Nunito Bold"/>
                <a:sym typeface="Nunito Bold"/>
              </a:rPr>
              <a:t>in-training signal</a:t>
            </a:r>
            <a:r>
              <a:rPr lang="en-US" sz="1900" b="true">
                <a:solidFill>
                  <a:srgbClr val="111111"/>
                </a:solidFill>
                <a:latin typeface="Nunito Semi-Bold"/>
                <a:ea typeface="Nunito Semi-Bold"/>
                <a:cs typeface="Nunito Semi-Bold"/>
                <a:sym typeface="Nunito Semi-Bold"/>
              </a:rPr>
              <a:t>: Shapley estimates set the hyperedge weights while the model learns, instead of describing it afterwards.</a:t>
            </a:r>
          </a:p>
        </p:txBody>
      </p:sp>
      <p:sp>
        <p:nvSpPr>
          <p:cNvPr id="28" name="Rounded Rectangle 27"/>
          <p:cNvSpPr/>
          <p:nvPr/>
        </p:nvSpPr>
        <p:spPr>
          <a:xfrm>
            <a:off x="9326880" y="3546602"/>
            <a:ext cx="7932420" cy="1600200"/>
          </a:xfrm>
          <a:prstGeom prst="roundRect">
            <a:avLst>
              <a:gd name="adj" fmla="val 12571"/>
            </a:avLst>
          </a:prstGeom>
          <a:solidFill>
            <a:srgbClr val="F6ECDF"/>
          </a:solidFill>
          <a:ln w="25400">
            <a:solidFill>
              <a:srgbClr val="4472C4"/>
            </a:solidFill>
          </a:ln>
        </p:spPr>
        <p:txBody>
          <a:bodyPr anchor="ctr" rtlCol="false" lIns="0" tIns="0" rIns="0" bIns="0" wrap="square"/>
          <a:lstStyle/>
          <a:p>
            <a:endParaRPr lang="en-US" sz="1800"/>
          </a:p>
        </p:txBody>
      </p:sp>
      <p:sp>
        <p:nvSpPr>
          <p:cNvPr id="29" name="Rounded Rectangle 28"/>
          <p:cNvSpPr/>
          <p:nvPr/>
        </p:nvSpPr>
        <p:spPr>
          <a:xfrm>
            <a:off x="9646920" y="3354578"/>
            <a:ext cx="2112238" cy="384048"/>
          </a:xfrm>
          <a:prstGeom prst="roundRect">
            <a:avLst>
              <a:gd name="adj" fmla="val 50000"/>
            </a:avLst>
          </a:prstGeom>
          <a:solidFill>
            <a:srgbClr val="4472C4"/>
          </a:solidFill>
          <a:ln w="28575">
            <a:solidFill>
              <a:srgbClr val="4472C4"/>
            </a:solidFill>
          </a:ln>
        </p:spPr>
        <p:txBody>
          <a:bodyPr anchor="ctr" rtlCol="false" lIns="45720" tIns="0" rIns="45720" bIns="0" wrap="square"/>
          <a:lstStyle/>
          <a:p>
            <a:pPr algn="ctr">
              <a:lnSpc>
                <a:spcPts val="1680"/>
              </a:lnSpc>
              <a:spcBef>
                <a:spcPts val="0"/>
              </a:spcBef>
              <a:buNone/>
            </a:pPr>
            <a:r>
              <a:rPr lang="en-US" sz="1400" b="true">
                <a:solidFill>
                  <a:srgbClr val="FFFFFF"/>
                </a:solidFill>
                <a:latin typeface="Nunito Bold"/>
                <a:ea typeface="Nunito Bold"/>
                <a:cs typeface="Nunito Bold"/>
                <a:sym typeface="Nunito Bold"/>
              </a:rPr>
              <a:t>ANSWER TO RQ4</a:t>
            </a:r>
          </a:p>
        </p:txBody>
      </p:sp>
      <p:sp>
        <p:nvSpPr>
          <p:cNvPr id="30" name="TextBox 29"/>
          <p:cNvSpPr txBox="1"/>
          <p:nvPr/>
        </p:nvSpPr>
        <p:spPr>
          <a:xfrm>
            <a:off x="9692640" y="3820922"/>
            <a:ext cx="7200900" cy="1188720"/>
          </a:xfrm>
          <a:prstGeom prst="rect">
            <a:avLst/>
          </a:prstGeom>
          <a:noFill/>
        </p:spPr>
        <p:txBody>
          <a:bodyPr anchor="ctr" rtlCol="false" lIns="0" tIns="0" rIns="0" bIns="0" wrap="square"/>
          <a:lstStyle/>
          <a:p>
            <a:pPr algn="l">
              <a:lnSpc>
                <a:spcPts val="2660"/>
              </a:lnSpc>
              <a:spcBef>
                <a:spcPts val="0"/>
              </a:spcBef>
              <a:buNone/>
            </a:pPr>
            <a:r>
              <a:rPr lang="en-US" sz="1900" b="true">
                <a:solidFill>
                  <a:srgbClr val="111111"/>
                </a:solidFill>
                <a:latin typeface="Nunito Bold"/>
                <a:ea typeface="Nunito Bold"/>
                <a:cs typeface="Nunito Bold"/>
                <a:sym typeface="Nunito Bold"/>
              </a:rPr>
              <a:t>Yes.</a:t>
            </a:r>
            <a:r>
              <a:rPr lang="en-US" sz="1900" b="true">
                <a:solidFill>
                  <a:srgbClr val="111111"/>
                </a:solidFill>
                <a:latin typeface="Nunito Semi-Bold"/>
                <a:ea typeface="Nunito Semi-Bold"/>
                <a:cs typeface="Nunito Semi-Bold"/>
                <a:sym typeface="Nunito Semi-Bold"/>
              </a:rPr>
              <a:t> Ranking, coverage and diversity </a:t>
            </a:r>
            <a:r>
              <a:rPr lang="en-US" sz="1900" b="true">
                <a:solidFill>
                  <a:srgbClr val="111111"/>
                </a:solidFill>
                <a:latin typeface="Nunito Bold"/>
                <a:ea typeface="Nunito Bold"/>
                <a:cs typeface="Nunito Bold"/>
                <a:sym typeface="Nunito Bold"/>
              </a:rPr>
              <a:t>improve together</a:t>
            </a:r>
            <a:r>
              <a:rPr lang="en-US" sz="1900" b="true">
                <a:solidFill>
                  <a:srgbClr val="111111"/>
                </a:solidFill>
                <a:latin typeface="Nunito Semi-Bold"/>
                <a:ea typeface="Nunito Semi-Bold"/>
                <a:cs typeface="Nunito Semi-Bold"/>
                <a:sym typeface="Nunito Semi-Bold"/>
              </a:rPr>
              <a:t> on both datasets, with the largest gains where data are sparsest.</a:t>
            </a:r>
          </a:p>
        </p:txBody>
      </p:sp>
      <p:graphicFrame>
        <p:nvGraphicFramePr>
          <p:cNvPr id="31" name="Table 30"/>
          <p:cNvGraphicFramePr>
            <a:graphicFrameLocks noGrp="1"/>
          </p:cNvGraphicFramePr>
          <p:nvPr/>
        </p:nvGraphicFramePr>
        <p:xfrm>
          <a:off x="1028700" y="5558282"/>
          <a:ext cx="16230599" cy="3061716"/>
        </p:xfrm>
        <a:graphic>
          <a:graphicData uri="http://schemas.openxmlformats.org/drawingml/2006/table">
            <a:tbl>
              <a:tblPr firstRow="0" bandRow="0" firstCol="0" lastRow="0" lastCol="0" bandCol="0">
                <a:tableStyleId>{2D5ABB26-0587-4C30-8999-92F81FD0307C}</a:tableStyleId>
              </a:tblPr>
              <a:tblGrid>
                <a:gridCol w="5826369"/>
                <a:gridCol w="1352550"/>
                <a:gridCol w="9051680"/>
              </a:tblGrid>
              <a:tr h="731520">
                <a:tc>
                  <a:txBody>
                    <a:bodyPr anchor="ctr" rtlCol="false" lIns="0" tIns="0" rIns="0" bIns="0" wrap="square"/>
                    <a:lstStyle/>
                    <a:p>
                      <a:pPr algn="l">
                        <a:lnSpc>
                          <a:spcPts val="2210"/>
                        </a:lnSpc>
                        <a:spcBef>
                          <a:spcPts val="0"/>
                        </a:spcBef>
                        <a:buNone/>
                      </a:pPr>
                      <a:r>
                        <a:rPr lang="en-US" sz="1700" b="true">
                          <a:solidFill>
                            <a:srgbClr val="FFFFFF"/>
                          </a:solidFill>
                          <a:latin typeface="Nunito Bold"/>
                          <a:ea typeface="Nunito Bold"/>
                          <a:cs typeface="Nunito Bold"/>
                          <a:sym typeface="Nunito Bold"/>
                        </a:rPr>
                        <a:t>Objective</a:t>
                      </a:r>
                    </a:p>
                  </a:txBody>
                  <a:tcPr marL="82296" marR="82296" marT="45720" marB="45720" anchor="ctr">
                    <a:lnL w="12700" cap="flat" cmpd="sng" algn="ctr">
                      <a:solidFill>
                        <a:srgbClr val="4472C4"/>
                      </a:solidFill>
                      <a:prstDash val="solid"/>
                    </a:lnL>
                    <a:lnR w="12700" cap="flat" cmpd="sng" algn="ctr">
                      <a:solidFill>
                        <a:srgbClr val="4472C4"/>
                      </a:solidFill>
                      <a:prstDash val="solid"/>
                    </a:lnR>
                    <a:lnT w="12700" cap="flat" cmpd="sng" algn="ctr">
                      <a:solidFill>
                        <a:srgbClr val="4472C4"/>
                      </a:solidFill>
                      <a:prstDash val="solid"/>
                    </a:lnT>
                    <a:lnB w="12700" cap="flat" cmpd="sng" algn="ctr">
                      <a:solidFill>
                        <a:srgbClr val="4472C4"/>
                      </a:solidFill>
                      <a:prstDash val="solid"/>
                    </a:lnB>
                    <a:solidFill>
                      <a:srgbClr val="4472C4"/>
                    </a:solidFill>
                  </a:tcPr>
                </a:tc>
                <a:tc>
                  <a:txBody>
                    <a:bodyPr anchor="ctr" rtlCol="false" lIns="0" tIns="0" rIns="0" bIns="0" wrap="square"/>
                    <a:lstStyle/>
                    <a:p>
                      <a:pPr algn="ctr">
                        <a:lnSpc>
                          <a:spcPts val="2210"/>
                        </a:lnSpc>
                        <a:spcBef>
                          <a:spcPts val="0"/>
                        </a:spcBef>
                        <a:buNone/>
                      </a:pPr>
                      <a:r>
                        <a:rPr lang="en-US" sz="1700" b="true">
                          <a:solidFill>
                            <a:srgbClr val="FFFFFF"/>
                          </a:solidFill>
                          <a:latin typeface="Nunito Bold"/>
                          <a:ea typeface="Nunito Bold"/>
                          <a:cs typeface="Nunito Bold"/>
                          <a:sym typeface="Nunito Bold"/>
                        </a:rPr>
                        <a:t>Status</a:t>
                      </a:r>
                    </a:p>
                  </a:txBody>
                  <a:tcPr marL="82296" marR="82296" marT="45720" marB="45720" anchor="ctr">
                    <a:lnL w="12700" cap="flat" cmpd="sng" algn="ctr">
                      <a:solidFill>
                        <a:srgbClr val="4472C4"/>
                      </a:solidFill>
                      <a:prstDash val="solid"/>
                    </a:lnL>
                    <a:lnR w="12700" cap="flat" cmpd="sng" algn="ctr">
                      <a:solidFill>
                        <a:srgbClr val="4472C4"/>
                      </a:solidFill>
                      <a:prstDash val="solid"/>
                    </a:lnR>
                    <a:lnT w="12700" cap="flat" cmpd="sng" algn="ctr">
                      <a:solidFill>
                        <a:srgbClr val="4472C4"/>
                      </a:solidFill>
                      <a:prstDash val="solid"/>
                    </a:lnT>
                    <a:lnB w="12700" cap="flat" cmpd="sng" algn="ctr">
                      <a:solidFill>
                        <a:srgbClr val="4472C4"/>
                      </a:solidFill>
                      <a:prstDash val="solid"/>
                    </a:lnB>
                    <a:solidFill>
                      <a:srgbClr val="4472C4"/>
                    </a:solidFill>
                  </a:tcPr>
                </a:tc>
                <a:tc>
                  <a:txBody>
                    <a:bodyPr anchor="ctr" rtlCol="false" lIns="0" tIns="0" rIns="0" bIns="0" wrap="square"/>
                    <a:lstStyle/>
                    <a:p>
                      <a:pPr algn="l">
                        <a:lnSpc>
                          <a:spcPts val="2210"/>
                        </a:lnSpc>
                        <a:spcBef>
                          <a:spcPts val="0"/>
                        </a:spcBef>
                        <a:buNone/>
                      </a:pPr>
                      <a:r>
                        <a:rPr lang="en-US" sz="1700" b="true">
                          <a:solidFill>
                            <a:srgbClr val="FFFFFF"/>
                          </a:solidFill>
                          <a:latin typeface="Nunito Bold"/>
                          <a:ea typeface="Nunito Bold"/>
                          <a:cs typeface="Nunito Bold"/>
                          <a:sym typeface="Nunito Bold"/>
                        </a:rPr>
                        <a:t>Evidence</a:t>
                      </a:r>
                    </a:p>
                  </a:txBody>
                  <a:tcPr marL="82296" marR="82296" marT="45720" marB="45720" anchor="ctr">
                    <a:lnL w="12700" cap="flat" cmpd="sng" algn="ctr">
                      <a:solidFill>
                        <a:srgbClr val="4472C4"/>
                      </a:solidFill>
                      <a:prstDash val="solid"/>
                    </a:lnL>
                    <a:lnR w="12700" cap="flat" cmpd="sng" algn="ctr">
                      <a:solidFill>
                        <a:srgbClr val="4472C4"/>
                      </a:solidFill>
                      <a:prstDash val="solid"/>
                    </a:lnR>
                    <a:lnT w="12700" cap="flat" cmpd="sng" algn="ctr">
                      <a:solidFill>
                        <a:srgbClr val="4472C4"/>
                      </a:solidFill>
                      <a:prstDash val="solid"/>
                    </a:lnT>
                    <a:lnB w="12700" cap="flat" cmpd="sng" algn="ctr">
                      <a:solidFill>
                        <a:srgbClr val="4472C4"/>
                      </a:solidFill>
                      <a:prstDash val="solid"/>
                    </a:lnB>
                    <a:solidFill>
                      <a:srgbClr val="4472C4"/>
                    </a:solidFill>
                  </a:tcPr>
                </a:tc>
              </a:tr>
              <a:tr h="776732">
                <a:tc>
                  <a:txBody>
                    <a:bodyPr anchor="ctr" rtlCol="false" lIns="0" tIns="0" rIns="0" bIns="0" wrap="square"/>
                    <a:lstStyle/>
                    <a:p>
                      <a:pPr algn="l">
                        <a:lnSpc>
                          <a:spcPts val="2210"/>
                        </a:lnSpc>
                        <a:spcBef>
                          <a:spcPts val="0"/>
                        </a:spcBef>
                        <a:buNone/>
                      </a:pPr>
                      <a:r>
                        <a:rPr lang="en-US" sz="1700" b="true">
                          <a:solidFill>
                            <a:srgbClr val="111111"/>
                          </a:solidFill>
                          <a:latin typeface="Nunito Bold"/>
                          <a:ea typeface="Nunito Bold"/>
                          <a:cs typeface="Nunito Bold"/>
                          <a:sym typeface="Nunito Bold"/>
                        </a:rPr>
                        <a:t>O1  ·  Recommendation as a cooperative game over users, items and contexts</a:t>
                      </a:r>
                    </a:p>
                  </a:txBody>
                  <a:tcPr marL="82296" marR="82296"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c>
                  <a:txBody>
                    <a:bodyPr anchor="ctr" rtlCol="false" lIns="0" tIns="0" rIns="0" bIns="0" wrap="square"/>
                    <a:lstStyle/>
                    <a:p>
                      <a:pPr algn="ctr">
                        <a:lnSpc>
                          <a:spcPts val="2210"/>
                        </a:lnSpc>
                        <a:spcBef>
                          <a:spcPts val="0"/>
                        </a:spcBef>
                        <a:buNone/>
                      </a:pPr>
                      <a:r>
                        <a:rPr lang="en-US" sz="1700" b="true">
                          <a:solidFill>
                            <a:srgbClr val="111111"/>
                          </a:solidFill>
                          <a:latin typeface="Nunito Semi-Bold"/>
                          <a:ea typeface="Nunito Semi-Bold"/>
                          <a:cs typeface="Nunito Semi-Bold"/>
                          <a:sym typeface="Nunito Semi-Bold"/>
                        </a:rPr>
                        <a:t>Met</a:t>
                      </a:r>
                    </a:p>
                  </a:txBody>
                  <a:tcPr marL="82296" marR="82296"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c>
                  <a:txBody>
                    <a:bodyPr anchor="ctr" rtlCol="false" lIns="0" tIns="0" rIns="0" bIns="0" wrap="square"/>
                    <a:lstStyle/>
                    <a:p>
                      <a:pPr algn="l">
                        <a:lnSpc>
                          <a:spcPts val="2210"/>
                        </a:lnSpc>
                        <a:spcBef>
                          <a:spcPts val="0"/>
                        </a:spcBef>
                        <a:buNone/>
                      </a:pPr>
                      <a:r>
                        <a:rPr lang="en-US" sz="1700" b="true">
                          <a:solidFill>
                            <a:srgbClr val="111111"/>
                          </a:solidFill>
                          <a:latin typeface="Nunito Semi-Bold"/>
                          <a:ea typeface="Nunito Semi-Bold"/>
                          <a:cs typeface="Nunito Semi-Bold"/>
                          <a:sym typeface="Nunito Semi-Bold"/>
                        </a:rPr>
                        <a:t>Player set U </a:t>
                      </a:r>
                      <a:r>
                        <a:rPr lang="en-US" sz="1700" b="true">
                          <a:solidFill>
                            <a:srgbClr val="111111"/>
                          </a:solidFill>
                          <a:latin typeface="Cambria Math"/>
                          <a:ea typeface="Cambria Math"/>
                          <a:cs typeface="Cambria Math"/>
                          <a:sym typeface="Cambria Math"/>
                        </a:rPr>
                        <a:t>∪ </a:t>
                      </a:r>
                      <a:r>
                        <a:rPr lang="en-US" sz="1700" b="true">
                          <a:solidFill>
                            <a:srgbClr val="111111"/>
                          </a:solidFill>
                          <a:latin typeface="Nunito Semi-Bold"/>
                          <a:ea typeface="Nunito Semi-Bold"/>
                          <a:cs typeface="Nunito Semi-Bold"/>
                          <a:sym typeface="Nunito Semi-Bold"/>
                        </a:rPr>
                        <a:t>I </a:t>
                      </a:r>
                      <a:r>
                        <a:rPr lang="en-US" sz="1700" b="true">
                          <a:solidFill>
                            <a:srgbClr val="111111"/>
                          </a:solidFill>
                          <a:latin typeface="Cambria Math"/>
                          <a:ea typeface="Cambria Math"/>
                          <a:cs typeface="Cambria Math"/>
                          <a:sym typeface="Cambria Math"/>
                        </a:rPr>
                        <a:t>∪ </a:t>
                      </a:r>
                      <a:r>
                        <a:rPr lang="en-US" sz="1700" b="true">
                          <a:solidFill>
                            <a:srgbClr val="111111"/>
                          </a:solidFill>
                          <a:latin typeface="Nunito Semi-Bold"/>
                          <a:ea typeface="Nunito Semi-Bold"/>
                          <a:cs typeface="Nunito Semi-Bold"/>
                          <a:sym typeface="Nunito Semi-Bold"/>
                        </a:rPr>
                        <a:t>C; coalition utility </a:t>
                      </a:r>
                      <a:r>
                        <a:rPr lang="en-US" sz="1700" b="true">
                          <a:solidFill>
                            <a:srgbClr val="111111"/>
                          </a:solidFill>
                          <a:latin typeface="Calibri"/>
                          <a:ea typeface="Calibri"/>
                          <a:cs typeface="Calibri"/>
                          <a:sym typeface="Calibri"/>
                        </a:rPr>
                        <a:t>α</a:t>
                      </a:r>
                      <a:r>
                        <a:rPr lang="en-US" sz="1700" b="true">
                          <a:solidFill>
                            <a:srgbClr val="111111"/>
                          </a:solidFill>
                          <a:latin typeface="Nunito Semi-Bold"/>
                          <a:ea typeface="Nunito Semi-Bold"/>
                          <a:cs typeface="Nunito Semi-Bold"/>
                          <a:sym typeface="Nunito Semi-Bold"/>
                        </a:rPr>
                        <a:t>·accuracy + </a:t>
                      </a:r>
                      <a:r>
                        <a:rPr lang="en-US" sz="1700" b="true">
                          <a:solidFill>
                            <a:srgbClr val="111111"/>
                          </a:solidFill>
                          <a:latin typeface="Calibri"/>
                          <a:ea typeface="Calibri"/>
                          <a:cs typeface="Calibri"/>
                          <a:sym typeface="Calibri"/>
                        </a:rPr>
                        <a:t>β</a:t>
                      </a:r>
                      <a:r>
                        <a:rPr lang="en-US" sz="1700" b="true">
                          <a:solidFill>
                            <a:srgbClr val="111111"/>
                          </a:solidFill>
                          <a:latin typeface="Nunito Semi-Bold"/>
                          <a:ea typeface="Nunito Semi-Bold"/>
                          <a:cs typeface="Nunito Semi-Bold"/>
                          <a:sym typeface="Nunito Semi-Bold"/>
                        </a:rPr>
                        <a:t>·diversity + </a:t>
                      </a:r>
                      <a:r>
                        <a:rPr lang="en-US" sz="1700" b="true">
                          <a:solidFill>
                            <a:srgbClr val="111111"/>
                          </a:solidFill>
                          <a:latin typeface="Calibri"/>
                          <a:ea typeface="Calibri"/>
                          <a:cs typeface="Calibri"/>
                          <a:sym typeface="Calibri"/>
                        </a:rPr>
                        <a:t>γ</a:t>
                      </a:r>
                      <a:r>
                        <a:rPr lang="en-US" sz="1700" b="true">
                          <a:solidFill>
                            <a:srgbClr val="111111"/>
                          </a:solidFill>
                          <a:latin typeface="Nunito Semi-Bold"/>
                          <a:ea typeface="Nunito Semi-Bold"/>
                          <a:cs typeface="Nunito Semi-Bold"/>
                          <a:sym typeface="Nunito Semi-Bold"/>
                        </a:rPr>
                        <a:t>·novelty</a:t>
                      </a:r>
                    </a:p>
                  </a:txBody>
                  <a:tcPr marL="82296" marR="82296"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r>
              <a:tr h="776732">
                <a:tc>
                  <a:txBody>
                    <a:bodyPr anchor="ctr" rtlCol="false" lIns="0" tIns="0" rIns="0" bIns="0" wrap="square"/>
                    <a:lstStyle/>
                    <a:p>
                      <a:pPr algn="l">
                        <a:lnSpc>
                          <a:spcPts val="2210"/>
                        </a:lnSpc>
                        <a:spcBef>
                          <a:spcPts val="0"/>
                        </a:spcBef>
                        <a:buNone/>
                      </a:pPr>
                      <a:r>
                        <a:rPr lang="en-US" sz="1700" b="true">
                          <a:solidFill>
                            <a:srgbClr val="111111"/>
                          </a:solidFill>
                          <a:latin typeface="Nunito Bold"/>
                          <a:ea typeface="Nunito Bold"/>
                          <a:cs typeface="Nunito Bold"/>
                          <a:sym typeface="Nunito Bold"/>
                        </a:rPr>
                        <a:t>O2  ·  Preference-aware Monte Carlo Shapley inside message passing</a:t>
                      </a:r>
                    </a:p>
                  </a:txBody>
                  <a:tcPr marL="82296" marR="82296"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6ECDF"/>
                    </a:solidFill>
                  </a:tcPr>
                </a:tc>
                <a:tc>
                  <a:txBody>
                    <a:bodyPr anchor="ctr" rtlCol="false" lIns="0" tIns="0" rIns="0" bIns="0" wrap="square"/>
                    <a:lstStyle/>
                    <a:p>
                      <a:pPr algn="ctr">
                        <a:lnSpc>
                          <a:spcPts val="2210"/>
                        </a:lnSpc>
                        <a:spcBef>
                          <a:spcPts val="0"/>
                        </a:spcBef>
                        <a:buNone/>
                      </a:pPr>
                      <a:r>
                        <a:rPr lang="en-US" sz="1700" b="true">
                          <a:solidFill>
                            <a:srgbClr val="111111"/>
                          </a:solidFill>
                          <a:latin typeface="Nunito Semi-Bold"/>
                          <a:ea typeface="Nunito Semi-Bold"/>
                          <a:cs typeface="Nunito Semi-Bold"/>
                          <a:sym typeface="Nunito Semi-Bold"/>
                        </a:rPr>
                        <a:t>Met</a:t>
                      </a:r>
                    </a:p>
                  </a:txBody>
                  <a:tcPr marL="82296" marR="82296"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6ECDF"/>
                    </a:solidFill>
                  </a:tcPr>
                </a:tc>
                <a:tc>
                  <a:txBody>
                    <a:bodyPr anchor="ctr" rtlCol="false" lIns="0" tIns="0" rIns="0" bIns="0" wrap="square"/>
                    <a:lstStyle/>
                    <a:p>
                      <a:pPr algn="l">
                        <a:lnSpc>
                          <a:spcPts val="2210"/>
                        </a:lnSpc>
                        <a:spcBef>
                          <a:spcPts val="0"/>
                        </a:spcBef>
                        <a:buNone/>
                      </a:pPr>
                      <a:r>
                        <a:rPr lang="en-US" sz="1700" b="true">
                          <a:solidFill>
                            <a:srgbClr val="111111"/>
                          </a:solidFill>
                          <a:latin typeface="Nunito Semi-Bold"/>
                          <a:ea typeface="Nunito Semi-Bold"/>
                          <a:cs typeface="Nunito Semi-Bold"/>
                          <a:sym typeface="Nunito Semi-Bold"/>
                        </a:rPr>
                        <a:t>M = 50 permutations, ≈ 99 % accuracy, refreshed every 10 batches; ablation −4.6 % / −6.1 % without it</a:t>
                      </a:r>
                    </a:p>
                  </a:txBody>
                  <a:tcPr marL="82296" marR="82296"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6ECDF"/>
                    </a:solidFill>
                  </a:tcPr>
                </a:tc>
              </a:tr>
              <a:tr h="776732">
                <a:tc>
                  <a:txBody>
                    <a:bodyPr anchor="ctr" rtlCol="false" lIns="0" tIns="0" rIns="0" bIns="0" wrap="square"/>
                    <a:lstStyle/>
                    <a:p>
                      <a:pPr algn="l">
                        <a:lnSpc>
                          <a:spcPts val="2210"/>
                        </a:lnSpc>
                        <a:spcBef>
                          <a:spcPts val="0"/>
                        </a:spcBef>
                        <a:buNone/>
                      </a:pPr>
                      <a:r>
                        <a:rPr lang="en-US" sz="1700" b="true">
                          <a:solidFill>
                            <a:srgbClr val="111111"/>
                          </a:solidFill>
                          <a:latin typeface="Nunito Bold"/>
                          <a:ea typeface="Nunito Bold"/>
                          <a:cs typeface="Nunito Bold"/>
                          <a:sym typeface="Nunito Bold"/>
                        </a:rPr>
                        <a:t>O3  ·  Ranking, coverage and diversity together</a:t>
                      </a:r>
                    </a:p>
                  </a:txBody>
                  <a:tcPr marL="82296" marR="82296"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c>
                  <a:txBody>
                    <a:bodyPr anchor="ctr" rtlCol="false" lIns="0" tIns="0" rIns="0" bIns="0" wrap="square"/>
                    <a:lstStyle/>
                    <a:p>
                      <a:pPr algn="ctr">
                        <a:lnSpc>
                          <a:spcPts val="2210"/>
                        </a:lnSpc>
                        <a:spcBef>
                          <a:spcPts val="0"/>
                        </a:spcBef>
                        <a:buNone/>
                      </a:pPr>
                      <a:r>
                        <a:rPr lang="en-US" sz="1700" b="true">
                          <a:solidFill>
                            <a:srgbClr val="111111"/>
                          </a:solidFill>
                          <a:latin typeface="Nunito Semi-Bold"/>
                          <a:ea typeface="Nunito Semi-Bold"/>
                          <a:cs typeface="Nunito Semi-Bold"/>
                          <a:sym typeface="Nunito Semi-Bold"/>
                        </a:rPr>
                        <a:t>Met</a:t>
                      </a:r>
                    </a:p>
                  </a:txBody>
                  <a:tcPr marL="82296" marR="82296"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c>
                  <a:txBody>
                    <a:bodyPr anchor="ctr" rtlCol="false" lIns="0" tIns="0" rIns="0" bIns="0" wrap="square"/>
                    <a:lstStyle/>
                    <a:p>
                      <a:pPr algn="l">
                        <a:lnSpc>
                          <a:spcPts val="2210"/>
                        </a:lnSpc>
                        <a:spcBef>
                          <a:spcPts val="0"/>
                        </a:spcBef>
                        <a:buNone/>
                      </a:pPr>
                      <a:r>
                        <a:rPr lang="en-US" sz="1700" b="true">
                          <a:solidFill>
                            <a:srgbClr val="111111"/>
                          </a:solidFill>
                          <a:latin typeface="Nunito Semi-Bold"/>
                          <a:ea typeface="Nunito Semi-Bold"/>
                          <a:cs typeface="Nunito Semi-Bold"/>
                          <a:sym typeface="Nunito Semi-Bold"/>
                        </a:rPr>
                        <a:t>+9.8 % / +13.3 % NDCG@20, +16.1 % / +29.7 % Coverage, +11.9 % / +12.5 % ILD over HPCF</a:t>
                      </a:r>
                    </a:p>
                  </a:txBody>
                  <a:tcPr marL="82296" marR="82296"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r>
            </a:tbl>
          </a:graphicData>
        </a:graphic>
      </p:graphicFrame>
    </p:spTree>
  </p:cSld>
  <p:clrMapOvr>
    <a:masterClrMapping/>
  </p:clrMapOvr>
</p:sld>
</file>

<file path=ppt/slides/slide7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pic>
        <p:nvPicPr>
          <p:cNvPr id="2" name="Picture 1" descr="ensias_logo.jpg"/>
          <p:cNvPicPr>
            <a:picLocks noChangeAspect="1"/>
          </p:cNvPicPr>
          <p:nvPr/>
        </p:nvPicPr>
        <p:blipFill>
          <a:blip r:embed="rId2"/>
          <a:stretch>
            <a:fillRect/>
          </a:stretch>
        </p:blipFill>
        <p:spPr>
          <a:xfrm>
            <a:off x="1028700" y="9674352"/>
            <a:ext cx="542964" cy="384048"/>
          </a:xfrm>
          <a:prstGeom prst="rect">
            <a:avLst/>
          </a:prstGeom>
        </p:spPr>
      </p:pic>
      <p:sp>
        <p:nvSpPr>
          <p:cNvPr id="3" name="TextBox 2"/>
          <p:cNvSpPr txBox="1"/>
          <p:nvPr/>
        </p:nvSpPr>
        <p:spPr>
          <a:xfrm>
            <a:off x="1577340" y="9601200"/>
            <a:ext cx="14493240" cy="566928"/>
          </a:xfrm>
          <a:prstGeom prst="rect">
            <a:avLst/>
          </a:prstGeom>
          <a:noFill/>
        </p:spPr>
        <p:txBody>
          <a:bodyPr anchor="ctr" rtlCol="false" lIns="0" tIns="0" rIns="0" bIns="0" wrap="square"/>
          <a:lstStyle/>
          <a:p>
            <a:pPr algn="l">
              <a:lnSpc>
                <a:spcPts val="1200"/>
              </a:lnSpc>
              <a:spcBef>
                <a:spcPts val="0"/>
              </a:spcBef>
              <a:buNone/>
            </a:pPr>
            <a:r>
              <a:rPr lang="en-US" sz="1000" b="true">
                <a:solidFill>
                  <a:srgbClr val="8A8378"/>
                </a:solidFill>
                <a:latin typeface="Nunito Semi-Bold"/>
                <a:ea typeface="Nunito Semi-Bold"/>
                <a:cs typeface="Nunito Semi-Bold"/>
                <a:sym typeface="Nunito Semi-Bold"/>
              </a:rPr>
              <a:t>[3] Louhichi, M., Nesmaoui, R. &amp; Lazaar, M. DyHuCoG: A Dynamic Hypergraph Cooperative Game for Preference-aware Recommendation. IJIES 19(2), 887–902 (2026).</a:t>
            </a:r>
          </a:p>
        </p:txBody>
      </p:sp>
      <p:sp>
        <p:nvSpPr>
          <p:cNvPr id="4" name="TextBox 3"/>
          <p:cNvSpPr txBox="1"/>
          <p:nvPr/>
        </p:nvSpPr>
        <p:spPr>
          <a:xfrm>
            <a:off x="16162020" y="9692640"/>
            <a:ext cx="1097280" cy="329184"/>
          </a:xfrm>
          <a:prstGeom prst="rect">
            <a:avLst/>
          </a:prstGeom>
          <a:noFill/>
        </p:spPr>
        <p:txBody>
          <a:bodyPr anchor="t" rtlCol="false" lIns="0" tIns="0" rIns="0" bIns="0" wrap="square"/>
          <a:lstStyle/>
          <a:p>
            <a:pPr algn="r">
              <a:lnSpc>
                <a:spcPts val="2200"/>
              </a:lnSpc>
              <a:spcBef>
                <a:spcPts val="0"/>
              </a:spcBef>
              <a:buNone/>
            </a:pPr>
            <a:r>
              <a:rPr lang="en-US" sz="1800" b="true">
                <a:solidFill>
                  <a:srgbClr val="111111"/>
                </a:solidFill>
                <a:latin typeface="Nunito Ultra-Bold"/>
                <a:ea typeface="Nunito Ultra-Bold"/>
                <a:cs typeface="Nunito Ultra-Bold"/>
                <a:sym typeface="Nunito Ultra-Bold"/>
              </a:rPr>
              <a:t>64</a:t>
            </a:r>
          </a:p>
        </p:txBody>
      </p:sp>
      <p:sp>
        <p:nvSpPr>
          <p:cNvPr id="5" name="TextBox 4"/>
          <p:cNvSpPr txBox="1"/>
          <p:nvPr/>
        </p:nvSpPr>
        <p:spPr>
          <a:xfrm>
            <a:off x="1028700" y="1389888"/>
            <a:ext cx="12938760" cy="329184"/>
          </a:xfrm>
          <a:prstGeom prst="rect">
            <a:avLst/>
          </a:prstGeom>
          <a:noFill/>
        </p:spPr>
        <p:txBody>
          <a:bodyPr anchor="t" rtlCol="false" lIns="0" tIns="0" rIns="0" bIns="0" wrap="square"/>
          <a:lstStyle/>
          <a:p>
            <a:pPr algn="l">
              <a:lnSpc>
                <a:spcPts val="2000"/>
              </a:lnSpc>
              <a:spcBef>
                <a:spcPts val="0"/>
              </a:spcBef>
              <a:buNone/>
            </a:pPr>
            <a:r>
              <a:rPr lang="en-US" sz="1500" b="true" spc="160">
                <a:solidFill>
                  <a:srgbClr val="1F7A8C"/>
                </a:solidFill>
                <a:latin typeface="Nunito Ultra-Bold"/>
                <a:ea typeface="Nunito Ultra-Bold"/>
                <a:cs typeface="Nunito Ultra-Bold"/>
                <a:sym typeface="Nunito Ultra-Bold"/>
              </a:rPr>
              <a:t>CONTRIBUTION III: DYHUCOG, A DYNAMIC HYPERGRAPH COOPERATIVE GAME</a:t>
            </a:r>
          </a:p>
        </p:txBody>
      </p:sp>
      <p:sp>
        <p:nvSpPr>
          <p:cNvPr id="6" name="Rounded Rectangle 5"/>
          <p:cNvSpPr/>
          <p:nvPr/>
        </p:nvSpPr>
        <p:spPr>
          <a:xfrm>
            <a:off x="14516100"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7" name="TextBox 6"/>
          <p:cNvSpPr txBox="1"/>
          <p:nvPr/>
        </p:nvSpPr>
        <p:spPr>
          <a:xfrm>
            <a:off x="14516100"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1</a:t>
            </a:r>
          </a:p>
        </p:txBody>
      </p:sp>
      <p:sp>
        <p:nvSpPr>
          <p:cNvPr id="8" name="Rounded Rectangle 7"/>
          <p:cNvSpPr/>
          <p:nvPr/>
        </p:nvSpPr>
        <p:spPr>
          <a:xfrm>
            <a:off x="14918436"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9" name="TextBox 8"/>
          <p:cNvSpPr txBox="1"/>
          <p:nvPr/>
        </p:nvSpPr>
        <p:spPr>
          <a:xfrm>
            <a:off x="14918436"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2</a:t>
            </a:r>
          </a:p>
        </p:txBody>
      </p:sp>
      <p:sp>
        <p:nvSpPr>
          <p:cNvPr id="10" name="Rounded Rectangle 9"/>
          <p:cNvSpPr/>
          <p:nvPr/>
        </p:nvSpPr>
        <p:spPr>
          <a:xfrm>
            <a:off x="15320772"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11" name="TextBox 10"/>
          <p:cNvSpPr txBox="1"/>
          <p:nvPr/>
        </p:nvSpPr>
        <p:spPr>
          <a:xfrm>
            <a:off x="15320772"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3</a:t>
            </a:r>
          </a:p>
        </p:txBody>
      </p:sp>
      <p:sp>
        <p:nvSpPr>
          <p:cNvPr id="12" name="Rounded Rectangle 11"/>
          <p:cNvSpPr/>
          <p:nvPr/>
        </p:nvSpPr>
        <p:spPr>
          <a:xfrm>
            <a:off x="15723108"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13" name="TextBox 12"/>
          <p:cNvSpPr txBox="1"/>
          <p:nvPr/>
        </p:nvSpPr>
        <p:spPr>
          <a:xfrm>
            <a:off x="15723108"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4</a:t>
            </a:r>
          </a:p>
        </p:txBody>
      </p:sp>
      <p:sp>
        <p:nvSpPr>
          <p:cNvPr id="14" name="Rounded Rectangle 13"/>
          <p:cNvSpPr/>
          <p:nvPr/>
        </p:nvSpPr>
        <p:spPr>
          <a:xfrm>
            <a:off x="16125444"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15" name="TextBox 14"/>
          <p:cNvSpPr txBox="1"/>
          <p:nvPr/>
        </p:nvSpPr>
        <p:spPr>
          <a:xfrm>
            <a:off x="16125444"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5</a:t>
            </a:r>
          </a:p>
        </p:txBody>
      </p:sp>
      <p:sp>
        <p:nvSpPr>
          <p:cNvPr id="16" name="Rounded Rectangle 15"/>
          <p:cNvSpPr/>
          <p:nvPr/>
        </p:nvSpPr>
        <p:spPr>
          <a:xfrm>
            <a:off x="16527780" y="1371600"/>
            <a:ext cx="329184" cy="329184"/>
          </a:xfrm>
          <a:prstGeom prst="roundRect">
            <a:avLst>
              <a:gd name="adj" fmla="val 16666"/>
            </a:avLst>
          </a:prstGeom>
          <a:solidFill>
            <a:srgbClr val="4472C4"/>
          </a:solidFill>
          <a:ln w="15875">
            <a:solidFill>
              <a:srgbClr val="4472C4"/>
            </a:solidFill>
          </a:ln>
        </p:spPr>
        <p:txBody>
          <a:bodyPr anchor="ctr" rtlCol="false" lIns="0" tIns="0" rIns="0" bIns="0" wrap="square"/>
          <a:lstStyle/>
          <a:p>
            <a:endParaRPr lang="en-US" sz="1800"/>
          </a:p>
        </p:txBody>
      </p:sp>
      <p:sp>
        <p:nvSpPr>
          <p:cNvPr id="17" name="TextBox 16"/>
          <p:cNvSpPr txBox="1"/>
          <p:nvPr/>
        </p:nvSpPr>
        <p:spPr>
          <a:xfrm>
            <a:off x="16527780"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FFFFFF"/>
                </a:solidFill>
                <a:latin typeface="Nunito Ultra-Bold"/>
                <a:ea typeface="Nunito Ultra-Bold"/>
                <a:cs typeface="Nunito Ultra-Bold"/>
                <a:sym typeface="Nunito Ultra-Bold"/>
              </a:rPr>
              <a:t>6</a:t>
            </a:r>
          </a:p>
        </p:txBody>
      </p:sp>
      <p:sp>
        <p:nvSpPr>
          <p:cNvPr id="18" name="Rounded Rectangle 17"/>
          <p:cNvSpPr/>
          <p:nvPr/>
        </p:nvSpPr>
        <p:spPr>
          <a:xfrm>
            <a:off x="16930116"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19" name="TextBox 18"/>
          <p:cNvSpPr txBox="1"/>
          <p:nvPr/>
        </p:nvSpPr>
        <p:spPr>
          <a:xfrm>
            <a:off x="16930116"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7</a:t>
            </a:r>
          </a:p>
        </p:txBody>
      </p:sp>
      <p:sp>
        <p:nvSpPr>
          <p:cNvPr id="20" name="TextBox 19"/>
          <p:cNvSpPr txBox="1"/>
          <p:nvPr/>
        </p:nvSpPr>
        <p:spPr>
          <a:xfrm>
            <a:off x="1028700" y="1719072"/>
            <a:ext cx="16230600" cy="730250"/>
          </a:xfrm>
          <a:prstGeom prst="rect">
            <a:avLst/>
          </a:prstGeom>
          <a:noFill/>
        </p:spPr>
        <p:txBody>
          <a:bodyPr anchor="t" rtlCol="false" lIns="0" tIns="0" rIns="0" bIns="0" wrap="square"/>
          <a:lstStyle/>
          <a:p>
            <a:pPr algn="l">
              <a:lnSpc>
                <a:spcPts val="5060"/>
              </a:lnSpc>
              <a:spcBef>
                <a:spcPts val="0"/>
              </a:spcBef>
              <a:buNone/>
            </a:pPr>
            <a:r>
              <a:rPr lang="en-US" sz="4600" b="true" spc="-230">
                <a:solidFill>
                  <a:srgbClr val="111111"/>
                </a:solidFill>
                <a:latin typeface="Roca Two Bold"/>
                <a:ea typeface="Roca Two Bold"/>
                <a:cs typeface="Roca Two Bold"/>
                <a:sym typeface="Roca Two Bold"/>
              </a:rPr>
              <a:t>Key Findings</a:t>
            </a:r>
          </a:p>
        </p:txBody>
      </p:sp>
      <p:sp>
        <p:nvSpPr>
          <p:cNvPr id="21" name="Rounded Rectangle 20"/>
          <p:cNvSpPr/>
          <p:nvPr/>
        </p:nvSpPr>
        <p:spPr>
          <a:xfrm>
            <a:off x="1028700" y="2559050"/>
            <a:ext cx="1691553" cy="420624"/>
          </a:xfrm>
          <a:prstGeom prst="roundRect">
            <a:avLst>
              <a:gd name="adj" fmla="val 50000"/>
            </a:avLst>
          </a:prstGeom>
          <a:noFill/>
          <a:ln w="28575">
            <a:solidFill>
              <a:srgbClr val="4472C4"/>
            </a:solidFill>
          </a:ln>
        </p:spPr>
        <p:txBody>
          <a:bodyPr anchor="ctr" rtlCol="false" lIns="45720" tIns="0" rIns="45720" bIns="0" wrap="square"/>
          <a:lstStyle/>
          <a:p>
            <a:pPr algn="ctr">
              <a:lnSpc>
                <a:spcPts val="2160"/>
              </a:lnSpc>
              <a:spcBef>
                <a:spcPts val="0"/>
              </a:spcBef>
              <a:buNone/>
            </a:pPr>
            <a:r>
              <a:rPr lang="en-US" sz="1800" b="true">
                <a:solidFill>
                  <a:srgbClr val="4472C4"/>
                </a:solidFill>
                <a:latin typeface="Nunito Bold"/>
                <a:ea typeface="Nunito Bold"/>
                <a:cs typeface="Nunito Bold"/>
                <a:sym typeface="Nunito Bold"/>
              </a:rPr>
              <a:t>Objectives</a:t>
            </a:r>
          </a:p>
        </p:txBody>
      </p:sp>
      <p:sp>
        <p:nvSpPr>
          <p:cNvPr id="22" name="Rounded Rectangle 21"/>
          <p:cNvSpPr/>
          <p:nvPr/>
        </p:nvSpPr>
        <p:spPr>
          <a:xfrm>
            <a:off x="2848269" y="2559050"/>
            <a:ext cx="1998119" cy="420624"/>
          </a:xfrm>
          <a:prstGeom prst="roundRect">
            <a:avLst>
              <a:gd name="adj" fmla="val 50000"/>
            </a:avLst>
          </a:prstGeom>
          <a:noFill/>
          <a:ln w="28575">
            <a:solidFill>
              <a:srgbClr val="4472C4"/>
            </a:solidFill>
          </a:ln>
        </p:spPr>
        <p:txBody>
          <a:bodyPr anchor="ctr" rtlCol="false" lIns="45720" tIns="0" rIns="45720" bIns="0" wrap="square"/>
          <a:lstStyle/>
          <a:p>
            <a:pPr algn="ctr">
              <a:lnSpc>
                <a:spcPts val="2160"/>
              </a:lnSpc>
              <a:spcBef>
                <a:spcPts val="0"/>
              </a:spcBef>
              <a:buNone/>
            </a:pPr>
            <a:r>
              <a:rPr lang="en-US" sz="1800" b="true">
                <a:solidFill>
                  <a:srgbClr val="4472C4"/>
                </a:solidFill>
                <a:latin typeface="Nunito Bold"/>
                <a:ea typeface="Nunito Bold"/>
                <a:cs typeface="Nunito Bold"/>
                <a:sym typeface="Nunito Bold"/>
              </a:rPr>
              <a:t>Methodology</a:t>
            </a:r>
          </a:p>
        </p:txBody>
      </p:sp>
      <p:sp>
        <p:nvSpPr>
          <p:cNvPr id="23" name="Rounded Rectangle 22"/>
          <p:cNvSpPr/>
          <p:nvPr/>
        </p:nvSpPr>
        <p:spPr>
          <a:xfrm>
            <a:off x="4974404" y="2559050"/>
            <a:ext cx="1369446" cy="420624"/>
          </a:xfrm>
          <a:prstGeom prst="roundRect">
            <a:avLst>
              <a:gd name="adj" fmla="val 50000"/>
            </a:avLst>
          </a:prstGeom>
          <a:noFill/>
          <a:ln w="28575">
            <a:solidFill>
              <a:srgbClr val="4472C4"/>
            </a:solidFill>
          </a:ln>
        </p:spPr>
        <p:txBody>
          <a:bodyPr anchor="ctr" rtlCol="false" lIns="45720" tIns="0" rIns="45720" bIns="0" wrap="square"/>
          <a:lstStyle/>
          <a:p>
            <a:pPr algn="ctr">
              <a:lnSpc>
                <a:spcPts val="2160"/>
              </a:lnSpc>
              <a:spcBef>
                <a:spcPts val="0"/>
              </a:spcBef>
              <a:buNone/>
            </a:pPr>
            <a:r>
              <a:rPr lang="en-US" sz="1800" b="true">
                <a:solidFill>
                  <a:srgbClr val="4472C4"/>
                </a:solidFill>
                <a:latin typeface="Nunito Bold"/>
                <a:ea typeface="Nunito Bold"/>
                <a:cs typeface="Nunito Bold"/>
                <a:sym typeface="Nunito Bold"/>
              </a:rPr>
              <a:t>Results</a:t>
            </a:r>
          </a:p>
        </p:txBody>
      </p:sp>
      <p:sp>
        <p:nvSpPr>
          <p:cNvPr id="24" name="Rounded Rectangle 23"/>
          <p:cNvSpPr/>
          <p:nvPr/>
        </p:nvSpPr>
        <p:spPr>
          <a:xfrm>
            <a:off x="6471866" y="2559050"/>
            <a:ext cx="1474931" cy="420624"/>
          </a:xfrm>
          <a:prstGeom prst="roundRect">
            <a:avLst>
              <a:gd name="adj" fmla="val 50000"/>
            </a:avLst>
          </a:prstGeom>
          <a:solidFill>
            <a:srgbClr val="4472C4"/>
          </a:solidFill>
          <a:ln>
            <a:noFill/>
          </a:ln>
        </p:spPr>
        <p:txBody>
          <a:bodyPr anchor="ctr" rtlCol="false" lIns="45720" tIns="0" rIns="45720" bIns="0" wrap="square"/>
          <a:lstStyle/>
          <a:p>
            <a:pPr algn="ctr">
              <a:lnSpc>
                <a:spcPts val="2160"/>
              </a:lnSpc>
              <a:spcBef>
                <a:spcPts val="0"/>
              </a:spcBef>
              <a:buNone/>
            </a:pPr>
            <a:r>
              <a:rPr lang="en-US" sz="1800" b="true">
                <a:solidFill>
                  <a:srgbClr val="FFFFFF"/>
                </a:solidFill>
                <a:latin typeface="Nunito Bold"/>
                <a:ea typeface="Nunito Bold"/>
                <a:cs typeface="Nunito Bold"/>
                <a:sym typeface="Nunito Bold"/>
              </a:rPr>
              <a:t>Findings</a:t>
            </a:r>
          </a:p>
        </p:txBody>
      </p:sp>
      <p:sp>
        <p:nvSpPr>
          <p:cNvPr id="25" name="Rounded Rectangle 24"/>
          <p:cNvSpPr/>
          <p:nvPr/>
        </p:nvSpPr>
        <p:spPr>
          <a:xfrm>
            <a:off x="1028700" y="3363722"/>
            <a:ext cx="16230600" cy="1339913"/>
          </a:xfrm>
          <a:prstGeom prst="roundRect">
            <a:avLst>
              <a:gd name="adj" fmla="val 15013"/>
            </a:avLst>
          </a:prstGeom>
          <a:solidFill>
            <a:srgbClr val="F6ECDF"/>
          </a:solidFill>
          <a:ln>
            <a:noFill/>
          </a:ln>
        </p:spPr>
        <p:txBody>
          <a:bodyPr anchor="ctr" rtlCol="false" lIns="0" tIns="0" rIns="0" bIns="0" wrap="square"/>
          <a:lstStyle/>
          <a:p>
            <a:endParaRPr lang="en-US" sz="1800"/>
          </a:p>
        </p:txBody>
      </p:sp>
      <p:sp>
        <p:nvSpPr>
          <p:cNvPr id="26" name="Oval 25"/>
          <p:cNvSpPr/>
          <p:nvPr/>
        </p:nvSpPr>
        <p:spPr>
          <a:xfrm>
            <a:off x="1303020" y="3750214"/>
            <a:ext cx="566928" cy="566928"/>
          </a:xfrm>
          <a:prstGeom prst="ellipse">
            <a:avLst/>
          </a:prstGeom>
          <a:solidFill>
            <a:srgbClr val="4472C4"/>
          </a:solidFill>
          <a:ln>
            <a:noFill/>
          </a:ln>
        </p:spPr>
        <p:txBody>
          <a:bodyPr anchor="ctr" rtlCol="false" lIns="0" tIns="0" rIns="0" bIns="0" wrap="square"/>
          <a:lstStyle/>
          <a:p>
            <a:pPr algn="ctr">
              <a:lnSpc>
                <a:spcPts val="2200"/>
              </a:lnSpc>
              <a:spcBef>
                <a:spcPts val="0"/>
              </a:spcBef>
              <a:buNone/>
            </a:pPr>
            <a:r>
              <a:rPr lang="en-US" sz="2000" b="true">
                <a:solidFill>
                  <a:srgbClr val="FFFFFF"/>
                </a:solidFill>
                <a:latin typeface="Nunito Ultra-Bold"/>
                <a:ea typeface="Nunito Ultra-Bold"/>
                <a:cs typeface="Nunito Ultra-Bold"/>
                <a:sym typeface="Nunito Ultra-Bold"/>
              </a:rPr>
              <a:t>1</a:t>
            </a:r>
          </a:p>
        </p:txBody>
      </p:sp>
      <p:sp>
        <p:nvSpPr>
          <p:cNvPr id="27" name="TextBox 26"/>
          <p:cNvSpPr txBox="1"/>
          <p:nvPr/>
        </p:nvSpPr>
        <p:spPr>
          <a:xfrm>
            <a:off x="2171700" y="3473450"/>
            <a:ext cx="14767560" cy="1120457"/>
          </a:xfrm>
          <a:prstGeom prst="rect">
            <a:avLst/>
          </a:prstGeom>
          <a:noFill/>
        </p:spPr>
        <p:txBody>
          <a:bodyPr anchor="ctr" rtlCol="false" lIns="0" tIns="0" rIns="0" bIns="0" wrap="square"/>
          <a:lstStyle/>
          <a:p>
            <a:pPr algn="l">
              <a:lnSpc>
                <a:spcPts val="2500"/>
              </a:lnSpc>
              <a:spcBef>
                <a:spcPts val="0"/>
              </a:spcBef>
              <a:buNone/>
            </a:pPr>
            <a:r>
              <a:rPr lang="en-US" sz="2100" b="true">
                <a:solidFill>
                  <a:srgbClr val="4472C4"/>
                </a:solidFill>
                <a:latin typeface="Nunito Ultra-Bold"/>
                <a:ea typeface="Nunito Ultra-Bold"/>
                <a:cs typeface="Nunito Ultra-Bold"/>
                <a:sym typeface="Nunito Ultra-Bold"/>
              </a:rPr>
              <a:t>The accuracy / diversity / context trade-off is not fixed by nature</a:t>
            </a:r>
          </a:p>
          <a:p>
            <a:pPr algn="l">
              <a:lnSpc>
                <a:spcPts val="2400"/>
              </a:lnSpc>
              <a:spcBef>
                <a:spcPts val="400"/>
              </a:spcBef>
              <a:buNone/>
            </a:pPr>
            <a:r>
              <a:rPr lang="en-US" sz="1900" b="true">
                <a:solidFill>
                  <a:srgbClr val="111111"/>
                </a:solidFill>
                <a:latin typeface="Nunito Semi-Bold"/>
                <a:ea typeface="Nunito Semi-Bold"/>
                <a:cs typeface="Nunito Semi-Bold"/>
                <a:sym typeface="Nunito Semi-Bold"/>
              </a:rPr>
              <a:t>When importance comes from a cooperative-game utility, NDCG, Recall, Coverage and ILD all move up together.</a:t>
            </a:r>
          </a:p>
        </p:txBody>
      </p:sp>
      <p:sp>
        <p:nvSpPr>
          <p:cNvPr id="28" name="Rounded Rectangle 27"/>
          <p:cNvSpPr/>
          <p:nvPr/>
        </p:nvSpPr>
        <p:spPr>
          <a:xfrm>
            <a:off x="1028700" y="4868227"/>
            <a:ext cx="16230600" cy="1339913"/>
          </a:xfrm>
          <a:prstGeom prst="roundRect">
            <a:avLst>
              <a:gd name="adj" fmla="val 15013"/>
            </a:avLst>
          </a:prstGeom>
          <a:solidFill>
            <a:srgbClr val="FBF4EB"/>
          </a:solidFill>
          <a:ln>
            <a:noFill/>
          </a:ln>
        </p:spPr>
        <p:txBody>
          <a:bodyPr anchor="ctr" rtlCol="false" lIns="0" tIns="0" rIns="0" bIns="0" wrap="square"/>
          <a:lstStyle/>
          <a:p>
            <a:endParaRPr lang="en-US" sz="1800"/>
          </a:p>
        </p:txBody>
      </p:sp>
      <p:sp>
        <p:nvSpPr>
          <p:cNvPr id="29" name="Oval 28"/>
          <p:cNvSpPr/>
          <p:nvPr/>
        </p:nvSpPr>
        <p:spPr>
          <a:xfrm>
            <a:off x="1303020" y="5254720"/>
            <a:ext cx="566928" cy="566928"/>
          </a:xfrm>
          <a:prstGeom prst="ellipse">
            <a:avLst/>
          </a:prstGeom>
          <a:solidFill>
            <a:srgbClr val="4472C4"/>
          </a:solidFill>
          <a:ln>
            <a:noFill/>
          </a:ln>
        </p:spPr>
        <p:txBody>
          <a:bodyPr anchor="ctr" rtlCol="false" lIns="0" tIns="0" rIns="0" bIns="0" wrap="square"/>
          <a:lstStyle/>
          <a:p>
            <a:pPr algn="ctr">
              <a:lnSpc>
                <a:spcPts val="2200"/>
              </a:lnSpc>
              <a:spcBef>
                <a:spcPts val="0"/>
              </a:spcBef>
              <a:buNone/>
            </a:pPr>
            <a:r>
              <a:rPr lang="en-US" sz="2000" b="true">
                <a:solidFill>
                  <a:srgbClr val="FFFFFF"/>
                </a:solidFill>
                <a:latin typeface="Nunito Ultra-Bold"/>
                <a:ea typeface="Nunito Ultra-Bold"/>
                <a:cs typeface="Nunito Ultra-Bold"/>
                <a:sym typeface="Nunito Ultra-Bold"/>
              </a:rPr>
              <a:t>2</a:t>
            </a:r>
          </a:p>
        </p:txBody>
      </p:sp>
      <p:sp>
        <p:nvSpPr>
          <p:cNvPr id="30" name="TextBox 29"/>
          <p:cNvSpPr txBox="1"/>
          <p:nvPr/>
        </p:nvSpPr>
        <p:spPr>
          <a:xfrm>
            <a:off x="2171700" y="4977955"/>
            <a:ext cx="14767560" cy="1120457"/>
          </a:xfrm>
          <a:prstGeom prst="rect">
            <a:avLst/>
          </a:prstGeom>
          <a:noFill/>
        </p:spPr>
        <p:txBody>
          <a:bodyPr anchor="ctr" rtlCol="false" lIns="0" tIns="0" rIns="0" bIns="0" wrap="square"/>
          <a:lstStyle/>
          <a:p>
            <a:pPr algn="l">
              <a:lnSpc>
                <a:spcPts val="2500"/>
              </a:lnSpc>
              <a:spcBef>
                <a:spcPts val="0"/>
              </a:spcBef>
              <a:buNone/>
            </a:pPr>
            <a:r>
              <a:rPr lang="en-US" sz="2100" b="true">
                <a:solidFill>
                  <a:srgbClr val="4472C4"/>
                </a:solidFill>
                <a:latin typeface="Nunito Ultra-Bold"/>
                <a:ea typeface="Nunito Ultra-Bold"/>
                <a:cs typeface="Nunito Ultra-Bold"/>
                <a:sym typeface="Nunito Ultra-Bold"/>
              </a:rPr>
              <a:t>Gains are largest where data are weakest</a:t>
            </a:r>
          </a:p>
          <a:p>
            <a:pPr algn="l">
              <a:lnSpc>
                <a:spcPts val="2400"/>
              </a:lnSpc>
              <a:spcBef>
                <a:spcPts val="400"/>
              </a:spcBef>
              <a:buNone/>
            </a:pPr>
            <a:r>
              <a:rPr lang="en-US" sz="1900" b="true">
                <a:solidFill>
                  <a:srgbClr val="111111"/>
                </a:solidFill>
                <a:latin typeface="Nunito Semi-Bold"/>
                <a:ea typeface="Nunito Semi-Bold"/>
                <a:cs typeface="Nunito Semi-Bold"/>
                <a:sym typeface="Nunito Semi-Bold"/>
              </a:rPr>
              <a:t>+13.3 % NDCG@20 on Amazon-Book vs +9.8 % on MovieLens-1M; +10.9 % / +9.6 % for cold users and cold items.</a:t>
            </a:r>
          </a:p>
        </p:txBody>
      </p:sp>
      <p:sp>
        <p:nvSpPr>
          <p:cNvPr id="31" name="Rounded Rectangle 30"/>
          <p:cNvSpPr/>
          <p:nvPr/>
        </p:nvSpPr>
        <p:spPr>
          <a:xfrm>
            <a:off x="1028700" y="6372733"/>
            <a:ext cx="16230600" cy="1339913"/>
          </a:xfrm>
          <a:prstGeom prst="roundRect">
            <a:avLst>
              <a:gd name="adj" fmla="val 15013"/>
            </a:avLst>
          </a:prstGeom>
          <a:solidFill>
            <a:srgbClr val="F6ECDF"/>
          </a:solidFill>
          <a:ln>
            <a:noFill/>
          </a:ln>
        </p:spPr>
        <p:txBody>
          <a:bodyPr anchor="ctr" rtlCol="false" lIns="0" tIns="0" rIns="0" bIns="0" wrap="square"/>
          <a:lstStyle/>
          <a:p>
            <a:endParaRPr lang="en-US" sz="1800"/>
          </a:p>
        </p:txBody>
      </p:sp>
      <p:sp>
        <p:nvSpPr>
          <p:cNvPr id="32" name="Oval 31"/>
          <p:cNvSpPr/>
          <p:nvPr/>
        </p:nvSpPr>
        <p:spPr>
          <a:xfrm>
            <a:off x="1303020" y="6759225"/>
            <a:ext cx="566928" cy="566928"/>
          </a:xfrm>
          <a:prstGeom prst="ellipse">
            <a:avLst/>
          </a:prstGeom>
          <a:solidFill>
            <a:srgbClr val="4472C4"/>
          </a:solidFill>
          <a:ln>
            <a:noFill/>
          </a:ln>
        </p:spPr>
        <p:txBody>
          <a:bodyPr anchor="ctr" rtlCol="false" lIns="0" tIns="0" rIns="0" bIns="0" wrap="square"/>
          <a:lstStyle/>
          <a:p>
            <a:pPr algn="ctr">
              <a:lnSpc>
                <a:spcPts val="2200"/>
              </a:lnSpc>
              <a:spcBef>
                <a:spcPts val="0"/>
              </a:spcBef>
              <a:buNone/>
            </a:pPr>
            <a:r>
              <a:rPr lang="en-US" sz="2000" b="true">
                <a:solidFill>
                  <a:srgbClr val="FFFFFF"/>
                </a:solidFill>
                <a:latin typeface="Nunito Ultra-Bold"/>
                <a:ea typeface="Nunito Ultra-Bold"/>
                <a:cs typeface="Nunito Ultra-Bold"/>
                <a:sym typeface="Nunito Ultra-Bold"/>
              </a:rPr>
              <a:t>3</a:t>
            </a:r>
          </a:p>
        </p:txBody>
      </p:sp>
      <p:sp>
        <p:nvSpPr>
          <p:cNvPr id="33" name="TextBox 32"/>
          <p:cNvSpPr txBox="1"/>
          <p:nvPr/>
        </p:nvSpPr>
        <p:spPr>
          <a:xfrm>
            <a:off x="2171700" y="6482461"/>
            <a:ext cx="14767560" cy="1120457"/>
          </a:xfrm>
          <a:prstGeom prst="rect">
            <a:avLst/>
          </a:prstGeom>
          <a:noFill/>
        </p:spPr>
        <p:txBody>
          <a:bodyPr anchor="ctr" rtlCol="false" lIns="0" tIns="0" rIns="0" bIns="0" wrap="square"/>
          <a:lstStyle/>
          <a:p>
            <a:pPr algn="l">
              <a:lnSpc>
                <a:spcPts val="2500"/>
              </a:lnSpc>
              <a:spcBef>
                <a:spcPts val="0"/>
              </a:spcBef>
              <a:buNone/>
            </a:pPr>
            <a:r>
              <a:rPr lang="en-US" sz="2100" b="true">
                <a:solidFill>
                  <a:srgbClr val="4472C4"/>
                </a:solidFill>
                <a:latin typeface="Nunito Ultra-Bold"/>
                <a:ea typeface="Nunito Ultra-Bold"/>
                <a:cs typeface="Nunito Ultra-Bold"/>
                <a:sym typeface="Nunito Ultra-Bold"/>
              </a:rPr>
              <a:t>Context and structure carry the most weight</a:t>
            </a:r>
          </a:p>
          <a:p>
            <a:pPr algn="l">
              <a:lnSpc>
                <a:spcPts val="2400"/>
              </a:lnSpc>
              <a:spcBef>
                <a:spcPts val="400"/>
              </a:spcBef>
              <a:buNone/>
            </a:pPr>
            <a:r>
              <a:rPr lang="en-US" sz="1900" b="true">
                <a:solidFill>
                  <a:srgbClr val="111111"/>
                </a:solidFill>
                <a:latin typeface="Nunito Semi-Bold"/>
                <a:ea typeface="Nunito Semi-Bold"/>
                <a:cs typeface="Nunito Semi-Bold"/>
                <a:sym typeface="Nunito Semi-Bold"/>
              </a:rPr>
              <a:t>Removing context (−8.2 % / −11.0 %) or the hypergraph (−6.8 % / −8.9 %) hurts most; Shapley weighting adds a further 4.6 % / 6.1 %.</a:t>
            </a:r>
          </a:p>
        </p:txBody>
      </p:sp>
      <p:sp>
        <p:nvSpPr>
          <p:cNvPr id="34" name="Rounded Rectangle 33"/>
          <p:cNvSpPr/>
          <p:nvPr/>
        </p:nvSpPr>
        <p:spPr>
          <a:xfrm>
            <a:off x="1028700" y="7877238"/>
            <a:ext cx="16230600" cy="1339913"/>
          </a:xfrm>
          <a:prstGeom prst="roundRect">
            <a:avLst>
              <a:gd name="adj" fmla="val 15013"/>
            </a:avLst>
          </a:prstGeom>
          <a:solidFill>
            <a:srgbClr val="FBF4EB"/>
          </a:solidFill>
          <a:ln>
            <a:noFill/>
          </a:ln>
        </p:spPr>
        <p:txBody>
          <a:bodyPr anchor="ctr" rtlCol="false" lIns="0" tIns="0" rIns="0" bIns="0" wrap="square"/>
          <a:lstStyle/>
          <a:p>
            <a:endParaRPr lang="en-US" sz="1800"/>
          </a:p>
        </p:txBody>
      </p:sp>
      <p:sp>
        <p:nvSpPr>
          <p:cNvPr id="35" name="Oval 34"/>
          <p:cNvSpPr/>
          <p:nvPr/>
        </p:nvSpPr>
        <p:spPr>
          <a:xfrm>
            <a:off x="1303020" y="8263731"/>
            <a:ext cx="566928" cy="566928"/>
          </a:xfrm>
          <a:prstGeom prst="ellipse">
            <a:avLst/>
          </a:prstGeom>
          <a:solidFill>
            <a:srgbClr val="4472C4"/>
          </a:solidFill>
          <a:ln>
            <a:noFill/>
          </a:ln>
        </p:spPr>
        <p:txBody>
          <a:bodyPr anchor="ctr" rtlCol="false" lIns="0" tIns="0" rIns="0" bIns="0" wrap="square"/>
          <a:lstStyle/>
          <a:p>
            <a:pPr algn="ctr">
              <a:lnSpc>
                <a:spcPts val="2200"/>
              </a:lnSpc>
              <a:spcBef>
                <a:spcPts val="0"/>
              </a:spcBef>
              <a:buNone/>
            </a:pPr>
            <a:r>
              <a:rPr lang="en-US" sz="2000" b="true">
                <a:solidFill>
                  <a:srgbClr val="FFFFFF"/>
                </a:solidFill>
                <a:latin typeface="Nunito Ultra-Bold"/>
                <a:ea typeface="Nunito Ultra-Bold"/>
                <a:cs typeface="Nunito Ultra-Bold"/>
                <a:sym typeface="Nunito Ultra-Bold"/>
              </a:rPr>
              <a:t>4</a:t>
            </a:r>
          </a:p>
        </p:txBody>
      </p:sp>
      <p:sp>
        <p:nvSpPr>
          <p:cNvPr id="36" name="TextBox 35"/>
          <p:cNvSpPr txBox="1"/>
          <p:nvPr/>
        </p:nvSpPr>
        <p:spPr>
          <a:xfrm>
            <a:off x="2171700" y="7986966"/>
            <a:ext cx="14767560" cy="1120457"/>
          </a:xfrm>
          <a:prstGeom prst="rect">
            <a:avLst/>
          </a:prstGeom>
          <a:noFill/>
        </p:spPr>
        <p:txBody>
          <a:bodyPr anchor="ctr" rtlCol="false" lIns="0" tIns="0" rIns="0" bIns="0" wrap="square"/>
          <a:lstStyle/>
          <a:p>
            <a:pPr algn="l">
              <a:lnSpc>
                <a:spcPts val="2500"/>
              </a:lnSpc>
              <a:spcBef>
                <a:spcPts val="0"/>
              </a:spcBef>
              <a:buNone/>
            </a:pPr>
            <a:r>
              <a:rPr lang="en-US" sz="2100" b="true">
                <a:solidFill>
                  <a:srgbClr val="4472C4"/>
                </a:solidFill>
                <a:latin typeface="Nunito Ultra-Bold"/>
                <a:ea typeface="Nunito Ultra-Bold"/>
                <a:cs typeface="Nunito Ultra-Bold"/>
                <a:sym typeface="Nunito Ultra-Bold"/>
              </a:rPr>
              <a:t>The improvement is statistically solid and affordable</a:t>
            </a:r>
          </a:p>
          <a:p>
            <a:pPr algn="l">
              <a:lnSpc>
                <a:spcPts val="2400"/>
              </a:lnSpc>
              <a:spcBef>
                <a:spcPts val="400"/>
              </a:spcBef>
              <a:buNone/>
            </a:pPr>
            <a:r>
              <a:rPr lang="en-US" sz="1900" b="true">
                <a:solidFill>
                  <a:srgbClr val="111111"/>
                </a:solidFill>
                <a:latin typeface="Nunito Semi-Bold"/>
                <a:ea typeface="Nunito Semi-Bold"/>
                <a:cs typeface="Nunito Semi-Bold"/>
                <a:sym typeface="Nunito Semi-Bold"/>
              </a:rPr>
              <a:t>t = 46.38, d</a:t>
            </a:r>
            <a:r>
              <a:rPr lang="en-US" sz="1900" b="true" baseline="-25000">
                <a:solidFill>
                  <a:srgbClr val="111111"/>
                </a:solidFill>
                <a:latin typeface="Nunito Semi-Bold"/>
                <a:ea typeface="Nunito Semi-Bold"/>
                <a:cs typeface="Nunito Semi-Bold"/>
                <a:sym typeface="Nunito Semi-Bold"/>
              </a:rPr>
              <a:t>z</a:t>
            </a:r>
            <a:r>
              <a:rPr lang="en-US" sz="1900" b="true">
                <a:solidFill>
                  <a:srgbClr val="111111"/>
                </a:solidFill>
                <a:latin typeface="Nunito Semi-Bold"/>
                <a:ea typeface="Nunito Semi-Bold"/>
                <a:cs typeface="Nunito Semi-Bold"/>
                <a:sym typeface="Nunito Semi-Bold"/>
              </a:rPr>
              <a:t> = 1.33, p &lt; 10</a:t>
            </a:r>
            <a:r>
              <a:rPr lang="en-US" sz="1900" b="true" baseline="30000">
                <a:solidFill>
                  <a:srgbClr val="111111"/>
                </a:solidFill>
                <a:latin typeface="Nunito Semi-Bold"/>
                <a:ea typeface="Nunito Semi-Bold"/>
                <a:cs typeface="Nunito Semi-Bold"/>
                <a:sym typeface="Nunito Semi-Bold"/>
              </a:rPr>
              <a:t>−200</a:t>
            </a:r>
            <a:r>
              <a:rPr lang="en-US" sz="1900" b="true">
                <a:solidFill>
                  <a:srgbClr val="111111"/>
                </a:solidFill>
                <a:latin typeface="Nunito Semi-Bold"/>
                <a:ea typeface="Nunito Semi-Bold"/>
                <a:cs typeface="Nunito Semi-Bold"/>
                <a:sym typeface="Nunito Semi-Bold"/>
              </a:rPr>
              <a:t> vs HPCF; training ≈ 1.78× HPCF, inference 1.84 ms per query.</a:t>
            </a:r>
          </a:p>
        </p:txBody>
      </p:sp>
    </p:spTree>
  </p:cSld>
  <p:clrMapOvr>
    <a:masterClrMapping/>
  </p:clrMapOvr>
</p:sld>
</file>

<file path=ppt/slides/slide8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pic>
        <p:nvPicPr>
          <p:cNvPr id="2" name="Picture 1" descr="ensias_logo.jpg"/>
          <p:cNvPicPr>
            <a:picLocks noChangeAspect="1"/>
          </p:cNvPicPr>
          <p:nvPr/>
        </p:nvPicPr>
        <p:blipFill>
          <a:blip r:embed="rId2"/>
          <a:stretch>
            <a:fillRect/>
          </a:stretch>
        </p:blipFill>
        <p:spPr>
          <a:xfrm>
            <a:off x="1028700" y="9674352"/>
            <a:ext cx="542964" cy="384048"/>
          </a:xfrm>
          <a:prstGeom prst="rect">
            <a:avLst/>
          </a:prstGeom>
        </p:spPr>
      </p:pic>
      <p:sp>
        <p:nvSpPr>
          <p:cNvPr id="3" name="TextBox 2"/>
          <p:cNvSpPr txBox="1"/>
          <p:nvPr/>
        </p:nvSpPr>
        <p:spPr>
          <a:xfrm>
            <a:off x="1577340" y="9747504"/>
            <a:ext cx="12801600" cy="274320"/>
          </a:xfrm>
          <a:prstGeom prst="rect">
            <a:avLst/>
          </a:prstGeom>
          <a:noFill/>
        </p:spPr>
        <p:txBody>
          <a:bodyPr anchor="t" rtlCol="false" lIns="0" tIns="0" rIns="0" bIns="0" wrap="square"/>
          <a:lstStyle/>
          <a:p>
            <a:pPr algn="l">
              <a:lnSpc>
                <a:spcPts val="1600"/>
              </a:lnSpc>
              <a:spcBef>
                <a:spcPts val="0"/>
              </a:spcBef>
              <a:buNone/>
            </a:pPr>
            <a:r>
              <a:rPr lang="en-US" sz="1300" b="true">
                <a:solidFill>
                  <a:srgbClr val="8A8378"/>
                </a:solidFill>
                <a:latin typeface="Nunito Bold"/>
                <a:ea typeface="Nunito Bold"/>
                <a:cs typeface="Nunito Bold"/>
                <a:sym typeface="Nunito Bold"/>
              </a:rPr>
              <a:t>Cooperative Game Theory for Explainable AI in Recommendation Systems  ·  A Shapley Framework for Actionable Insight</a:t>
            </a:r>
          </a:p>
        </p:txBody>
      </p:sp>
      <p:sp>
        <p:nvSpPr>
          <p:cNvPr id="4" name="TextBox 3"/>
          <p:cNvSpPr txBox="1"/>
          <p:nvPr/>
        </p:nvSpPr>
        <p:spPr>
          <a:xfrm>
            <a:off x="16162020" y="9692640"/>
            <a:ext cx="1097280" cy="329184"/>
          </a:xfrm>
          <a:prstGeom prst="rect">
            <a:avLst/>
          </a:prstGeom>
          <a:noFill/>
        </p:spPr>
        <p:txBody>
          <a:bodyPr anchor="t" rtlCol="false" lIns="0" tIns="0" rIns="0" bIns="0" wrap="square"/>
          <a:lstStyle/>
          <a:p>
            <a:pPr algn="r">
              <a:lnSpc>
                <a:spcPts val="2200"/>
              </a:lnSpc>
              <a:spcBef>
                <a:spcPts val="0"/>
              </a:spcBef>
              <a:buNone/>
            </a:pPr>
            <a:r>
              <a:rPr lang="en-US" sz="1800" b="true">
                <a:solidFill>
                  <a:srgbClr val="111111"/>
                </a:solidFill>
                <a:latin typeface="Nunito Ultra-Bold"/>
                <a:ea typeface="Nunito Ultra-Bold"/>
                <a:cs typeface="Nunito Ultra-Bold"/>
                <a:sym typeface="Nunito Ultra-Bold"/>
              </a:rPr>
              <a:t>65</a:t>
            </a:r>
          </a:p>
        </p:txBody>
      </p:sp>
      <p:sp>
        <p:nvSpPr>
          <p:cNvPr id="5" name="TextBox 4"/>
          <p:cNvSpPr txBox="1"/>
          <p:nvPr/>
        </p:nvSpPr>
        <p:spPr>
          <a:xfrm>
            <a:off x="1028700" y="1389888"/>
            <a:ext cx="12938760" cy="329184"/>
          </a:xfrm>
          <a:prstGeom prst="rect">
            <a:avLst/>
          </a:prstGeom>
          <a:noFill/>
        </p:spPr>
        <p:txBody>
          <a:bodyPr anchor="t" rtlCol="false" lIns="0" tIns="0" rIns="0" bIns="0" wrap="square"/>
          <a:lstStyle/>
          <a:p>
            <a:pPr algn="l">
              <a:lnSpc>
                <a:spcPts val="2000"/>
              </a:lnSpc>
              <a:spcBef>
                <a:spcPts val="0"/>
              </a:spcBef>
              <a:buNone/>
            </a:pPr>
            <a:r>
              <a:rPr lang="en-US" sz="1500" b="true" spc="160">
                <a:solidFill>
                  <a:srgbClr val="1F7A8C"/>
                </a:solidFill>
                <a:latin typeface="Nunito Ultra-Bold"/>
                <a:ea typeface="Nunito Ultra-Bold"/>
                <a:cs typeface="Nunito Ultra-Bold"/>
                <a:sym typeface="Nunito Ultra-Bold"/>
              </a:rPr>
              <a:t>CONTRIBUTION III: DYHUCOG, A DYNAMIC HYPERGRAPH COOPERATIVE GAME</a:t>
            </a:r>
          </a:p>
        </p:txBody>
      </p:sp>
      <p:sp>
        <p:nvSpPr>
          <p:cNvPr id="6" name="Rounded Rectangle 5"/>
          <p:cNvSpPr/>
          <p:nvPr/>
        </p:nvSpPr>
        <p:spPr>
          <a:xfrm>
            <a:off x="14516100"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7" name="TextBox 6"/>
          <p:cNvSpPr txBox="1"/>
          <p:nvPr/>
        </p:nvSpPr>
        <p:spPr>
          <a:xfrm>
            <a:off x="14516100"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1</a:t>
            </a:r>
          </a:p>
        </p:txBody>
      </p:sp>
      <p:sp>
        <p:nvSpPr>
          <p:cNvPr id="8" name="Rounded Rectangle 7"/>
          <p:cNvSpPr/>
          <p:nvPr/>
        </p:nvSpPr>
        <p:spPr>
          <a:xfrm>
            <a:off x="14918436"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9" name="TextBox 8"/>
          <p:cNvSpPr txBox="1"/>
          <p:nvPr/>
        </p:nvSpPr>
        <p:spPr>
          <a:xfrm>
            <a:off x="14918436"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2</a:t>
            </a:r>
          </a:p>
        </p:txBody>
      </p:sp>
      <p:sp>
        <p:nvSpPr>
          <p:cNvPr id="10" name="Rounded Rectangle 9"/>
          <p:cNvSpPr/>
          <p:nvPr/>
        </p:nvSpPr>
        <p:spPr>
          <a:xfrm>
            <a:off x="15320772"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11" name="TextBox 10"/>
          <p:cNvSpPr txBox="1"/>
          <p:nvPr/>
        </p:nvSpPr>
        <p:spPr>
          <a:xfrm>
            <a:off x="15320772"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3</a:t>
            </a:r>
          </a:p>
        </p:txBody>
      </p:sp>
      <p:sp>
        <p:nvSpPr>
          <p:cNvPr id="12" name="Rounded Rectangle 11"/>
          <p:cNvSpPr/>
          <p:nvPr/>
        </p:nvSpPr>
        <p:spPr>
          <a:xfrm>
            <a:off x="15723108"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13" name="TextBox 12"/>
          <p:cNvSpPr txBox="1"/>
          <p:nvPr/>
        </p:nvSpPr>
        <p:spPr>
          <a:xfrm>
            <a:off x="15723108"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4</a:t>
            </a:r>
          </a:p>
        </p:txBody>
      </p:sp>
      <p:sp>
        <p:nvSpPr>
          <p:cNvPr id="14" name="Rounded Rectangle 13"/>
          <p:cNvSpPr/>
          <p:nvPr/>
        </p:nvSpPr>
        <p:spPr>
          <a:xfrm>
            <a:off x="16125444"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15" name="TextBox 14"/>
          <p:cNvSpPr txBox="1"/>
          <p:nvPr/>
        </p:nvSpPr>
        <p:spPr>
          <a:xfrm>
            <a:off x="16125444"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5</a:t>
            </a:r>
          </a:p>
        </p:txBody>
      </p:sp>
      <p:sp>
        <p:nvSpPr>
          <p:cNvPr id="16" name="Rounded Rectangle 15"/>
          <p:cNvSpPr/>
          <p:nvPr/>
        </p:nvSpPr>
        <p:spPr>
          <a:xfrm>
            <a:off x="16527780" y="1371600"/>
            <a:ext cx="329184" cy="329184"/>
          </a:xfrm>
          <a:prstGeom prst="roundRect">
            <a:avLst>
              <a:gd name="adj" fmla="val 16666"/>
            </a:avLst>
          </a:prstGeom>
          <a:solidFill>
            <a:srgbClr val="4472C4"/>
          </a:solidFill>
          <a:ln w="15875">
            <a:solidFill>
              <a:srgbClr val="4472C4"/>
            </a:solidFill>
          </a:ln>
        </p:spPr>
        <p:txBody>
          <a:bodyPr anchor="ctr" rtlCol="false" lIns="0" tIns="0" rIns="0" bIns="0" wrap="square"/>
          <a:lstStyle/>
          <a:p>
            <a:endParaRPr lang="en-US" sz="1800"/>
          </a:p>
        </p:txBody>
      </p:sp>
      <p:sp>
        <p:nvSpPr>
          <p:cNvPr id="17" name="TextBox 16"/>
          <p:cNvSpPr txBox="1"/>
          <p:nvPr/>
        </p:nvSpPr>
        <p:spPr>
          <a:xfrm>
            <a:off x="16527780"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FFFFFF"/>
                </a:solidFill>
                <a:latin typeface="Nunito Ultra-Bold"/>
                <a:ea typeface="Nunito Ultra-Bold"/>
                <a:cs typeface="Nunito Ultra-Bold"/>
                <a:sym typeface="Nunito Ultra-Bold"/>
              </a:rPr>
              <a:t>6</a:t>
            </a:r>
          </a:p>
        </p:txBody>
      </p:sp>
      <p:sp>
        <p:nvSpPr>
          <p:cNvPr id="18" name="Rounded Rectangle 17"/>
          <p:cNvSpPr/>
          <p:nvPr/>
        </p:nvSpPr>
        <p:spPr>
          <a:xfrm>
            <a:off x="16930116"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19" name="TextBox 18"/>
          <p:cNvSpPr txBox="1"/>
          <p:nvPr/>
        </p:nvSpPr>
        <p:spPr>
          <a:xfrm>
            <a:off x="16930116"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7</a:t>
            </a:r>
          </a:p>
        </p:txBody>
      </p:sp>
      <p:sp>
        <p:nvSpPr>
          <p:cNvPr id="20" name="TextBox 19"/>
          <p:cNvSpPr txBox="1"/>
          <p:nvPr/>
        </p:nvSpPr>
        <p:spPr>
          <a:xfrm>
            <a:off x="1028700" y="1719072"/>
            <a:ext cx="16230600" cy="730250"/>
          </a:xfrm>
          <a:prstGeom prst="rect">
            <a:avLst/>
          </a:prstGeom>
          <a:noFill/>
        </p:spPr>
        <p:txBody>
          <a:bodyPr anchor="t" rtlCol="false" lIns="0" tIns="0" rIns="0" bIns="0" wrap="square"/>
          <a:lstStyle/>
          <a:p>
            <a:pPr algn="l">
              <a:lnSpc>
                <a:spcPts val="5060"/>
              </a:lnSpc>
              <a:spcBef>
                <a:spcPts val="0"/>
              </a:spcBef>
              <a:buNone/>
            </a:pPr>
            <a:r>
              <a:rPr lang="en-US" sz="4600" b="true" spc="-230">
                <a:solidFill>
                  <a:srgbClr val="111111"/>
                </a:solidFill>
                <a:latin typeface="Roca Two Bold"/>
                <a:ea typeface="Roca Two Bold"/>
                <a:cs typeface="Roca Two Bold"/>
                <a:sym typeface="Roca Two Bold"/>
              </a:rPr>
              <a:t>Limitations</a:t>
            </a:r>
          </a:p>
        </p:txBody>
      </p:sp>
      <p:sp>
        <p:nvSpPr>
          <p:cNvPr id="21" name="Rounded Rectangle 20"/>
          <p:cNvSpPr/>
          <p:nvPr/>
        </p:nvSpPr>
        <p:spPr>
          <a:xfrm>
            <a:off x="1028700" y="2559050"/>
            <a:ext cx="1691553" cy="420624"/>
          </a:xfrm>
          <a:prstGeom prst="roundRect">
            <a:avLst>
              <a:gd name="adj" fmla="val 50000"/>
            </a:avLst>
          </a:prstGeom>
          <a:noFill/>
          <a:ln w="28575">
            <a:solidFill>
              <a:srgbClr val="4472C4"/>
            </a:solidFill>
          </a:ln>
        </p:spPr>
        <p:txBody>
          <a:bodyPr anchor="ctr" rtlCol="false" lIns="45720" tIns="0" rIns="45720" bIns="0" wrap="square"/>
          <a:lstStyle/>
          <a:p>
            <a:pPr algn="ctr">
              <a:lnSpc>
                <a:spcPts val="2160"/>
              </a:lnSpc>
              <a:spcBef>
                <a:spcPts val="0"/>
              </a:spcBef>
              <a:buNone/>
            </a:pPr>
            <a:r>
              <a:rPr lang="en-US" sz="1800" b="true">
                <a:solidFill>
                  <a:srgbClr val="4472C4"/>
                </a:solidFill>
                <a:latin typeface="Nunito Bold"/>
                <a:ea typeface="Nunito Bold"/>
                <a:cs typeface="Nunito Bold"/>
                <a:sym typeface="Nunito Bold"/>
              </a:rPr>
              <a:t>Objectives</a:t>
            </a:r>
          </a:p>
        </p:txBody>
      </p:sp>
      <p:sp>
        <p:nvSpPr>
          <p:cNvPr id="22" name="Rounded Rectangle 21"/>
          <p:cNvSpPr/>
          <p:nvPr/>
        </p:nvSpPr>
        <p:spPr>
          <a:xfrm>
            <a:off x="2848269" y="2559050"/>
            <a:ext cx="1998119" cy="420624"/>
          </a:xfrm>
          <a:prstGeom prst="roundRect">
            <a:avLst>
              <a:gd name="adj" fmla="val 50000"/>
            </a:avLst>
          </a:prstGeom>
          <a:noFill/>
          <a:ln w="28575">
            <a:solidFill>
              <a:srgbClr val="4472C4"/>
            </a:solidFill>
          </a:ln>
        </p:spPr>
        <p:txBody>
          <a:bodyPr anchor="ctr" rtlCol="false" lIns="45720" tIns="0" rIns="45720" bIns="0" wrap="square"/>
          <a:lstStyle/>
          <a:p>
            <a:pPr algn="ctr">
              <a:lnSpc>
                <a:spcPts val="2160"/>
              </a:lnSpc>
              <a:spcBef>
                <a:spcPts val="0"/>
              </a:spcBef>
              <a:buNone/>
            </a:pPr>
            <a:r>
              <a:rPr lang="en-US" sz="1800" b="true">
                <a:solidFill>
                  <a:srgbClr val="4472C4"/>
                </a:solidFill>
                <a:latin typeface="Nunito Bold"/>
                <a:ea typeface="Nunito Bold"/>
                <a:cs typeface="Nunito Bold"/>
                <a:sym typeface="Nunito Bold"/>
              </a:rPr>
              <a:t>Methodology</a:t>
            </a:r>
          </a:p>
        </p:txBody>
      </p:sp>
      <p:sp>
        <p:nvSpPr>
          <p:cNvPr id="23" name="Rounded Rectangle 22"/>
          <p:cNvSpPr/>
          <p:nvPr/>
        </p:nvSpPr>
        <p:spPr>
          <a:xfrm>
            <a:off x="4974404" y="2559050"/>
            <a:ext cx="1369446" cy="420624"/>
          </a:xfrm>
          <a:prstGeom prst="roundRect">
            <a:avLst>
              <a:gd name="adj" fmla="val 50000"/>
            </a:avLst>
          </a:prstGeom>
          <a:noFill/>
          <a:ln w="28575">
            <a:solidFill>
              <a:srgbClr val="4472C4"/>
            </a:solidFill>
          </a:ln>
        </p:spPr>
        <p:txBody>
          <a:bodyPr anchor="ctr" rtlCol="false" lIns="45720" tIns="0" rIns="45720" bIns="0" wrap="square"/>
          <a:lstStyle/>
          <a:p>
            <a:pPr algn="ctr">
              <a:lnSpc>
                <a:spcPts val="2160"/>
              </a:lnSpc>
              <a:spcBef>
                <a:spcPts val="0"/>
              </a:spcBef>
              <a:buNone/>
            </a:pPr>
            <a:r>
              <a:rPr lang="en-US" sz="1800" b="true">
                <a:solidFill>
                  <a:srgbClr val="4472C4"/>
                </a:solidFill>
                <a:latin typeface="Nunito Bold"/>
                <a:ea typeface="Nunito Bold"/>
                <a:cs typeface="Nunito Bold"/>
                <a:sym typeface="Nunito Bold"/>
              </a:rPr>
              <a:t>Results</a:t>
            </a:r>
          </a:p>
        </p:txBody>
      </p:sp>
      <p:sp>
        <p:nvSpPr>
          <p:cNvPr id="24" name="Rounded Rectangle 23"/>
          <p:cNvSpPr/>
          <p:nvPr/>
        </p:nvSpPr>
        <p:spPr>
          <a:xfrm>
            <a:off x="6471866" y="2559050"/>
            <a:ext cx="1474931" cy="420624"/>
          </a:xfrm>
          <a:prstGeom prst="roundRect">
            <a:avLst>
              <a:gd name="adj" fmla="val 50000"/>
            </a:avLst>
          </a:prstGeom>
          <a:solidFill>
            <a:srgbClr val="4472C4"/>
          </a:solidFill>
          <a:ln>
            <a:noFill/>
          </a:ln>
        </p:spPr>
        <p:txBody>
          <a:bodyPr anchor="ctr" rtlCol="false" lIns="45720" tIns="0" rIns="45720" bIns="0" wrap="square"/>
          <a:lstStyle/>
          <a:p>
            <a:pPr algn="ctr">
              <a:lnSpc>
                <a:spcPts val="2160"/>
              </a:lnSpc>
              <a:spcBef>
                <a:spcPts val="0"/>
              </a:spcBef>
              <a:buNone/>
            </a:pPr>
            <a:r>
              <a:rPr lang="en-US" sz="1800" b="true">
                <a:solidFill>
                  <a:srgbClr val="FFFFFF"/>
                </a:solidFill>
                <a:latin typeface="Nunito Bold"/>
                <a:ea typeface="Nunito Bold"/>
                <a:cs typeface="Nunito Bold"/>
                <a:sym typeface="Nunito Bold"/>
              </a:rPr>
              <a:t>Findings</a:t>
            </a:r>
          </a:p>
        </p:txBody>
      </p:sp>
      <p:sp>
        <p:nvSpPr>
          <p:cNvPr id="25" name="Rounded Rectangle 24"/>
          <p:cNvSpPr/>
          <p:nvPr/>
        </p:nvSpPr>
        <p:spPr>
          <a:xfrm>
            <a:off x="1028700" y="3363722"/>
            <a:ext cx="7955280" cy="2172335"/>
          </a:xfrm>
          <a:prstGeom prst="roundRect">
            <a:avLst>
              <a:gd name="adj" fmla="val 11786"/>
            </a:avLst>
          </a:prstGeom>
          <a:solidFill>
            <a:srgbClr val="4472C4"/>
          </a:solidFill>
          <a:ln>
            <a:noFill/>
          </a:ln>
        </p:spPr>
        <p:txBody>
          <a:bodyPr anchor="ctr" rtlCol="false" lIns="0" tIns="0" rIns="0" bIns="0" wrap="square"/>
          <a:lstStyle/>
          <a:p>
            <a:endParaRPr lang="en-US" sz="1800"/>
          </a:p>
        </p:txBody>
      </p:sp>
      <p:sp>
        <p:nvSpPr>
          <p:cNvPr id="26" name="TextBox 25"/>
          <p:cNvSpPr txBox="1"/>
          <p:nvPr/>
        </p:nvSpPr>
        <p:spPr>
          <a:xfrm>
            <a:off x="1394460" y="3638042"/>
            <a:ext cx="7223760" cy="1715135"/>
          </a:xfrm>
          <a:prstGeom prst="rect">
            <a:avLst/>
          </a:prstGeom>
          <a:noFill/>
        </p:spPr>
        <p:txBody>
          <a:bodyPr anchor="t" rtlCol="false" lIns="0" tIns="0" rIns="0" bIns="0" wrap="square"/>
          <a:lstStyle/>
          <a:p>
            <a:pPr algn="l">
              <a:lnSpc>
                <a:spcPts val="1800"/>
              </a:lnSpc>
              <a:spcBef>
                <a:spcPts val="0"/>
              </a:spcBef>
              <a:buNone/>
            </a:pPr>
            <a:r>
              <a:rPr lang="en-US" sz="1400" b="true" spc="160">
                <a:solidFill>
                  <a:srgbClr val="ECC665"/>
                </a:solidFill>
                <a:latin typeface="Nunito Ultra-Bold"/>
                <a:ea typeface="Nunito Ultra-Bold"/>
                <a:cs typeface="Nunito Ultra-Bold"/>
                <a:sym typeface="Nunito Ultra-Bold"/>
              </a:rPr>
              <a:t>COMPUTE OVERHEAD</a:t>
            </a:r>
          </a:p>
          <a:p>
            <a:pPr algn="l">
              <a:lnSpc>
                <a:spcPts val="2400"/>
              </a:lnSpc>
              <a:spcBef>
                <a:spcPts val="800"/>
              </a:spcBef>
              <a:buNone/>
            </a:pPr>
            <a:r>
              <a:rPr lang="en-US" sz="1900" b="true">
                <a:solidFill>
                  <a:srgbClr val="FFFFFF"/>
                </a:solidFill>
                <a:latin typeface="Nunito Semi-Bold"/>
                <a:ea typeface="Nunito Semi-Bold"/>
                <a:cs typeface="Nunito Semi-Bold"/>
                <a:sym typeface="Nunito Semi-Bold"/>
              </a:rPr>
              <a:t>Roughly </a:t>
            </a:r>
            <a:r>
              <a:rPr lang="en-US" sz="1900" b="true">
                <a:solidFill>
                  <a:srgbClr val="FFFFFF"/>
                </a:solidFill>
                <a:latin typeface="Nunito Bold"/>
                <a:ea typeface="Nunito Bold"/>
                <a:cs typeface="Nunito Bold"/>
                <a:sym typeface="Nunito Bold"/>
              </a:rPr>
              <a:t>1.78× the training time</a:t>
            </a:r>
            <a:r>
              <a:rPr lang="en-US" sz="1900" b="true">
                <a:solidFill>
                  <a:srgbClr val="FFFFFF"/>
                </a:solidFill>
                <a:latin typeface="Nunito Semi-Bold"/>
                <a:ea typeface="Nunito Semi-Bold"/>
                <a:cs typeface="Nunito Semi-Bold"/>
                <a:sym typeface="Nunito Semi-Bold"/>
              </a:rPr>
              <a:t> of HPCF on MovieLens-1M (≈ 3.4× MF); acceptable, but not free.</a:t>
            </a:r>
          </a:p>
        </p:txBody>
      </p:sp>
      <p:sp>
        <p:nvSpPr>
          <p:cNvPr id="27" name="Rounded Rectangle 26"/>
          <p:cNvSpPr/>
          <p:nvPr/>
        </p:nvSpPr>
        <p:spPr>
          <a:xfrm>
            <a:off x="9304020" y="3363722"/>
            <a:ext cx="7955280" cy="2172335"/>
          </a:xfrm>
          <a:prstGeom prst="roundRect">
            <a:avLst>
              <a:gd name="adj" fmla="val 11786"/>
            </a:avLst>
          </a:prstGeom>
          <a:solidFill>
            <a:srgbClr val="2F5597"/>
          </a:solidFill>
          <a:ln>
            <a:noFill/>
          </a:ln>
        </p:spPr>
        <p:txBody>
          <a:bodyPr anchor="ctr" rtlCol="false" lIns="0" tIns="0" rIns="0" bIns="0" wrap="square"/>
          <a:lstStyle/>
          <a:p>
            <a:endParaRPr lang="en-US" sz="1800"/>
          </a:p>
        </p:txBody>
      </p:sp>
      <p:sp>
        <p:nvSpPr>
          <p:cNvPr id="28" name="TextBox 27"/>
          <p:cNvSpPr txBox="1"/>
          <p:nvPr/>
        </p:nvSpPr>
        <p:spPr>
          <a:xfrm>
            <a:off x="9669780" y="3638042"/>
            <a:ext cx="7223760" cy="1715135"/>
          </a:xfrm>
          <a:prstGeom prst="rect">
            <a:avLst/>
          </a:prstGeom>
          <a:noFill/>
        </p:spPr>
        <p:txBody>
          <a:bodyPr anchor="t" rtlCol="false" lIns="0" tIns="0" rIns="0" bIns="0" wrap="square"/>
          <a:lstStyle/>
          <a:p>
            <a:pPr algn="l">
              <a:lnSpc>
                <a:spcPts val="1800"/>
              </a:lnSpc>
              <a:spcBef>
                <a:spcPts val="0"/>
              </a:spcBef>
              <a:buNone/>
            </a:pPr>
            <a:r>
              <a:rPr lang="en-US" sz="1400" b="true" spc="160">
                <a:solidFill>
                  <a:srgbClr val="ECC665"/>
                </a:solidFill>
                <a:latin typeface="Nunito Ultra-Bold"/>
                <a:ea typeface="Nunito Ultra-Bold"/>
                <a:cs typeface="Nunito Ultra-Bold"/>
                <a:sym typeface="Nunito Ultra-Bold"/>
              </a:rPr>
              <a:t>NEEDS MEANINGFUL CONTEXT</a:t>
            </a:r>
          </a:p>
          <a:p>
            <a:pPr algn="l">
              <a:lnSpc>
                <a:spcPts val="2400"/>
              </a:lnSpc>
              <a:spcBef>
                <a:spcPts val="800"/>
              </a:spcBef>
              <a:buNone/>
            </a:pPr>
            <a:r>
              <a:rPr lang="en-US" sz="1900" b="true">
                <a:solidFill>
                  <a:srgbClr val="FFFFFF"/>
                </a:solidFill>
                <a:latin typeface="Nunito Semi-Bold"/>
                <a:ea typeface="Nunito Semi-Bold"/>
                <a:cs typeface="Nunito Semi-Bold"/>
                <a:sym typeface="Nunito Semi-Bold"/>
              </a:rPr>
              <a:t>The largest single component is </a:t>
            </a:r>
            <a:r>
              <a:rPr lang="en-US" sz="1900" b="true">
                <a:solidFill>
                  <a:srgbClr val="FFFFFF"/>
                </a:solidFill>
                <a:latin typeface="Nunito Bold"/>
                <a:ea typeface="Nunito Bold"/>
                <a:cs typeface="Nunito Bold"/>
                <a:sym typeface="Nunito Bold"/>
              </a:rPr>
              <a:t>context</a:t>
            </a:r>
            <a:r>
              <a:rPr lang="en-US" sz="1900" b="true">
                <a:solidFill>
                  <a:srgbClr val="FFFFFF"/>
                </a:solidFill>
                <a:latin typeface="Nunito Semi-Bold"/>
                <a:ea typeface="Nunito Semi-Bold"/>
                <a:cs typeface="Nunito Semi-Bold"/>
                <a:sym typeface="Nunito Semi-Bold"/>
              </a:rPr>
              <a:t>; on data without usable context the gain shrinks.</a:t>
            </a:r>
          </a:p>
        </p:txBody>
      </p:sp>
      <p:sp>
        <p:nvSpPr>
          <p:cNvPr id="29" name="Rounded Rectangle 28"/>
          <p:cNvSpPr/>
          <p:nvPr/>
        </p:nvSpPr>
        <p:spPr>
          <a:xfrm>
            <a:off x="1028700" y="5810377"/>
            <a:ext cx="7955280" cy="2172335"/>
          </a:xfrm>
          <a:prstGeom prst="roundRect">
            <a:avLst>
              <a:gd name="adj" fmla="val 11786"/>
            </a:avLst>
          </a:prstGeom>
          <a:solidFill>
            <a:srgbClr val="2F5597"/>
          </a:solidFill>
          <a:ln>
            <a:noFill/>
          </a:ln>
        </p:spPr>
        <p:txBody>
          <a:bodyPr anchor="ctr" rtlCol="false" lIns="0" tIns="0" rIns="0" bIns="0" wrap="square"/>
          <a:lstStyle/>
          <a:p>
            <a:endParaRPr lang="en-US" sz="1800"/>
          </a:p>
        </p:txBody>
      </p:sp>
      <p:sp>
        <p:nvSpPr>
          <p:cNvPr id="30" name="TextBox 29"/>
          <p:cNvSpPr txBox="1"/>
          <p:nvPr/>
        </p:nvSpPr>
        <p:spPr>
          <a:xfrm>
            <a:off x="1394460" y="6084697"/>
            <a:ext cx="7223760" cy="1715135"/>
          </a:xfrm>
          <a:prstGeom prst="rect">
            <a:avLst/>
          </a:prstGeom>
          <a:noFill/>
        </p:spPr>
        <p:txBody>
          <a:bodyPr anchor="t" rtlCol="false" lIns="0" tIns="0" rIns="0" bIns="0" wrap="square"/>
          <a:lstStyle/>
          <a:p>
            <a:pPr algn="l">
              <a:lnSpc>
                <a:spcPts val="1800"/>
              </a:lnSpc>
              <a:spcBef>
                <a:spcPts val="0"/>
              </a:spcBef>
              <a:buNone/>
            </a:pPr>
            <a:r>
              <a:rPr lang="en-US" sz="1400" b="true" spc="160">
                <a:solidFill>
                  <a:srgbClr val="ECC665"/>
                </a:solidFill>
                <a:latin typeface="Nunito Ultra-Bold"/>
                <a:ea typeface="Nunito Ultra-Bold"/>
                <a:cs typeface="Nunito Ultra-Bold"/>
                <a:sym typeface="Nunito Ultra-Bold"/>
              </a:rPr>
              <a:t>MONTE CARLO VARIANCE</a:t>
            </a:r>
          </a:p>
          <a:p>
            <a:pPr algn="l">
              <a:lnSpc>
                <a:spcPts val="2400"/>
              </a:lnSpc>
              <a:spcBef>
                <a:spcPts val="800"/>
              </a:spcBef>
              <a:buNone/>
            </a:pPr>
            <a:r>
              <a:rPr lang="en-US" sz="1900" b="true">
                <a:solidFill>
                  <a:srgbClr val="FFFFFF"/>
                </a:solidFill>
                <a:latin typeface="Nunito Semi-Bold"/>
                <a:ea typeface="Nunito Semi-Bold"/>
                <a:cs typeface="Nunito Semi-Bold"/>
                <a:sym typeface="Nunito Semi-Bold"/>
              </a:rPr>
              <a:t>M = 50 gives ≈ 99 % accuracy; </a:t>
            </a:r>
            <a:r>
              <a:rPr lang="en-US" sz="1900" b="true">
                <a:solidFill>
                  <a:srgbClr val="FFFFFF"/>
                </a:solidFill>
                <a:latin typeface="Nunito Bold"/>
                <a:ea typeface="Nunito Bold"/>
                <a:cs typeface="Nunito Bold"/>
                <a:sym typeface="Nunito Bold"/>
              </a:rPr>
              <a:t>variance reduction</a:t>
            </a:r>
            <a:r>
              <a:rPr lang="en-US" sz="1900" b="true">
                <a:solidFill>
                  <a:srgbClr val="FFFFFF"/>
                </a:solidFill>
                <a:latin typeface="Nunito Semi-Bold"/>
                <a:ea typeface="Nunito Semi-Bold"/>
                <a:cs typeface="Nunito Semi-Bold"/>
                <a:sym typeface="Nunito Semi-Bold"/>
              </a:rPr>
              <a:t> could cut the refresh cost further.</a:t>
            </a:r>
          </a:p>
        </p:txBody>
      </p:sp>
      <p:sp>
        <p:nvSpPr>
          <p:cNvPr id="31" name="Rounded Rectangle 30"/>
          <p:cNvSpPr/>
          <p:nvPr/>
        </p:nvSpPr>
        <p:spPr>
          <a:xfrm>
            <a:off x="9304020" y="5810377"/>
            <a:ext cx="7955280" cy="2172335"/>
          </a:xfrm>
          <a:prstGeom prst="roundRect">
            <a:avLst>
              <a:gd name="adj" fmla="val 11786"/>
            </a:avLst>
          </a:prstGeom>
          <a:solidFill>
            <a:srgbClr val="4472C4"/>
          </a:solidFill>
          <a:ln>
            <a:noFill/>
          </a:ln>
        </p:spPr>
        <p:txBody>
          <a:bodyPr anchor="ctr" rtlCol="false" lIns="0" tIns="0" rIns="0" bIns="0" wrap="square"/>
          <a:lstStyle/>
          <a:p>
            <a:endParaRPr lang="en-US" sz="1800"/>
          </a:p>
        </p:txBody>
      </p:sp>
      <p:sp>
        <p:nvSpPr>
          <p:cNvPr id="32" name="TextBox 31"/>
          <p:cNvSpPr txBox="1"/>
          <p:nvPr/>
        </p:nvSpPr>
        <p:spPr>
          <a:xfrm>
            <a:off x="9669780" y="6084697"/>
            <a:ext cx="7223760" cy="1715135"/>
          </a:xfrm>
          <a:prstGeom prst="rect">
            <a:avLst/>
          </a:prstGeom>
          <a:noFill/>
        </p:spPr>
        <p:txBody>
          <a:bodyPr anchor="t" rtlCol="false" lIns="0" tIns="0" rIns="0" bIns="0" wrap="square"/>
          <a:lstStyle/>
          <a:p>
            <a:pPr algn="l">
              <a:lnSpc>
                <a:spcPts val="1800"/>
              </a:lnSpc>
              <a:spcBef>
                <a:spcPts val="0"/>
              </a:spcBef>
              <a:buNone/>
            </a:pPr>
            <a:r>
              <a:rPr lang="en-US" sz="1400" b="true" spc="160">
                <a:solidFill>
                  <a:srgbClr val="ECC665"/>
                </a:solidFill>
                <a:latin typeface="Nunito Ultra-Bold"/>
                <a:ea typeface="Nunito Ultra-Bold"/>
                <a:cs typeface="Nunito Ultra-Bold"/>
                <a:sym typeface="Nunito Ultra-Bold"/>
              </a:rPr>
              <a:t>SCOPE OF THE CLAIM</a:t>
            </a:r>
          </a:p>
          <a:p>
            <a:pPr algn="l">
              <a:lnSpc>
                <a:spcPts val="2400"/>
              </a:lnSpc>
              <a:spcBef>
                <a:spcPts val="800"/>
              </a:spcBef>
              <a:buNone/>
            </a:pPr>
            <a:r>
              <a:rPr lang="en-US" sz="1900" b="true">
                <a:solidFill>
                  <a:srgbClr val="FFFFFF"/>
                </a:solidFill>
                <a:latin typeface="Nunito Semi-Bold"/>
                <a:ea typeface="Nunito Semi-Bold"/>
                <a:cs typeface="Nunito Semi-Bold"/>
                <a:sym typeface="Nunito Semi-Bold"/>
              </a:rPr>
              <a:t>Component-wise ablation only; baselines fixed in early 2026, so superiority is claimed </a:t>
            </a:r>
            <a:r>
              <a:rPr lang="en-US" sz="1900" b="true">
                <a:solidFill>
                  <a:srgbClr val="FFFFFF"/>
                </a:solidFill>
                <a:latin typeface="Nunito Bold"/>
                <a:ea typeface="Nunito Bold"/>
                <a:cs typeface="Nunito Bold"/>
                <a:sym typeface="Nunito Bold"/>
              </a:rPr>
              <a:t>only against the tested baselines</a:t>
            </a:r>
            <a:r>
              <a:rPr lang="en-US" sz="1900" b="true">
                <a:solidFill>
                  <a:srgbClr val="FFFFFF"/>
                </a:solidFill>
                <a:latin typeface="Nunito Semi-Bold"/>
                <a:ea typeface="Nunito Semi-Bold"/>
                <a:cs typeface="Nunito Semi-Bold"/>
                <a:sym typeface="Nunito Semi-Bold"/>
              </a:rPr>
              <a:t>.</a:t>
            </a:r>
          </a:p>
        </p:txBody>
      </p:sp>
      <p:sp>
        <p:nvSpPr>
          <p:cNvPr id="33" name="Rounded Rectangle 32"/>
          <p:cNvSpPr/>
          <p:nvPr/>
        </p:nvSpPr>
        <p:spPr>
          <a:xfrm>
            <a:off x="1028700" y="8348472"/>
            <a:ext cx="16230600" cy="960120"/>
          </a:xfrm>
          <a:prstGeom prst="roundRect">
            <a:avLst>
              <a:gd name="adj" fmla="val 23809"/>
            </a:avLst>
          </a:prstGeom>
          <a:noFill/>
          <a:ln w="31750">
            <a:solidFill>
              <a:srgbClr val="1F7A8C"/>
            </a:solidFill>
          </a:ln>
        </p:spPr>
        <p:txBody>
          <a:bodyPr anchor="ctr" rtlCol="false" lIns="457200" tIns="91440" rIns="457200" bIns="91440" wrap="square"/>
          <a:lstStyle/>
          <a:p>
            <a:pPr algn="ctr">
              <a:lnSpc>
                <a:spcPts val="2500"/>
              </a:lnSpc>
              <a:spcBef>
                <a:spcPts val="0"/>
              </a:spcBef>
              <a:buNone/>
            </a:pPr>
            <a:r>
              <a:rPr lang="en-US" sz="2000" b="true">
                <a:solidFill>
                  <a:srgbClr val="111111"/>
                </a:solidFill>
                <a:latin typeface="Nunito Semi-Bold"/>
                <a:ea typeface="Nunito Semi-Bold"/>
                <a:cs typeface="Nunito Semi-Bold"/>
                <a:sym typeface="Nunito Semi-Bold"/>
              </a:rPr>
              <a:t>None of these change the main message: attribution can </a:t>
            </a:r>
            <a:r>
              <a:rPr lang="en-US" sz="2000" b="true">
                <a:solidFill>
                  <a:srgbClr val="111111"/>
                </a:solidFill>
                <a:latin typeface="Nunito Bold"/>
                <a:ea typeface="Nunito Bold"/>
                <a:cs typeface="Nunito Bold"/>
                <a:sym typeface="Nunito Bold"/>
              </a:rPr>
              <a:t>guide learning</a:t>
            </a:r>
            <a:r>
              <a:rPr lang="en-US" sz="2000" b="true">
                <a:solidFill>
                  <a:srgbClr val="111111"/>
                </a:solidFill>
                <a:latin typeface="Nunito Semi-Bold"/>
                <a:ea typeface="Nunito Semi-Bold"/>
                <a:cs typeface="Nunito Semi-Bold"/>
                <a:sym typeface="Nunito Semi-Bold"/>
              </a:rPr>
              <a:t>, not only describe it.</a:t>
            </a:r>
          </a:p>
        </p:txBody>
      </p:sp>
    </p:spTree>
  </p:cSld>
  <p:clrMapOvr>
    <a:masterClrMapping/>
  </p:clrMapOvr>
</p:sld>
</file>

<file path=ppt/slides/slide8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pic>
        <p:nvPicPr>
          <p:cNvPr id="2" name="Picture 1" descr="ensias_logo.jpg"/>
          <p:cNvPicPr>
            <a:picLocks noChangeAspect="1"/>
          </p:cNvPicPr>
          <p:nvPr/>
        </p:nvPicPr>
        <p:blipFill>
          <a:blip r:embed="rId2"/>
          <a:stretch>
            <a:fillRect/>
          </a:stretch>
        </p:blipFill>
        <p:spPr>
          <a:xfrm>
            <a:off x="1028700" y="9674352"/>
            <a:ext cx="542964" cy="384048"/>
          </a:xfrm>
          <a:prstGeom prst="rect">
            <a:avLst/>
          </a:prstGeom>
        </p:spPr>
      </p:pic>
      <p:sp>
        <p:nvSpPr>
          <p:cNvPr id="3" name="TextBox 2"/>
          <p:cNvSpPr txBox="1"/>
          <p:nvPr/>
        </p:nvSpPr>
        <p:spPr>
          <a:xfrm>
            <a:off x="1577340" y="9747504"/>
            <a:ext cx="12801600" cy="274320"/>
          </a:xfrm>
          <a:prstGeom prst="rect">
            <a:avLst/>
          </a:prstGeom>
          <a:noFill/>
        </p:spPr>
        <p:txBody>
          <a:bodyPr anchor="t" rtlCol="false" lIns="0" tIns="0" rIns="0" bIns="0" wrap="square"/>
          <a:lstStyle/>
          <a:p>
            <a:pPr algn="l">
              <a:lnSpc>
                <a:spcPts val="1600"/>
              </a:lnSpc>
              <a:spcBef>
                <a:spcPts val="0"/>
              </a:spcBef>
              <a:buNone/>
            </a:pPr>
            <a:r>
              <a:rPr lang="en-US" sz="1300" b="true">
                <a:solidFill>
                  <a:srgbClr val="8A8378"/>
                </a:solidFill>
                <a:latin typeface="Nunito Bold"/>
                <a:ea typeface="Nunito Bold"/>
                <a:cs typeface="Nunito Bold"/>
                <a:sym typeface="Nunito Bold"/>
              </a:rPr>
              <a:t>Cooperative Game Theory for Explainable AI in Recommendation Systems  ·  A Shapley Framework for Actionable Insight</a:t>
            </a:r>
          </a:p>
        </p:txBody>
      </p:sp>
      <p:sp>
        <p:nvSpPr>
          <p:cNvPr id="4" name="TextBox 3"/>
          <p:cNvSpPr txBox="1"/>
          <p:nvPr/>
        </p:nvSpPr>
        <p:spPr>
          <a:xfrm>
            <a:off x="16162020" y="9692640"/>
            <a:ext cx="1097280" cy="329184"/>
          </a:xfrm>
          <a:prstGeom prst="rect">
            <a:avLst/>
          </a:prstGeom>
          <a:noFill/>
        </p:spPr>
        <p:txBody>
          <a:bodyPr anchor="t" rtlCol="false" lIns="0" tIns="0" rIns="0" bIns="0" wrap="square"/>
          <a:lstStyle/>
          <a:p>
            <a:pPr algn="r">
              <a:lnSpc>
                <a:spcPts val="2200"/>
              </a:lnSpc>
              <a:spcBef>
                <a:spcPts val="0"/>
              </a:spcBef>
              <a:buNone/>
            </a:pPr>
            <a:r>
              <a:rPr lang="en-US" sz="1800" b="true">
                <a:solidFill>
                  <a:srgbClr val="111111"/>
                </a:solidFill>
                <a:latin typeface="Nunito Ultra-Bold"/>
                <a:ea typeface="Nunito Ultra-Bold"/>
                <a:cs typeface="Nunito Ultra-Bold"/>
                <a:sym typeface="Nunito Ultra-Bold"/>
              </a:rPr>
              <a:t>66</a:t>
            </a:r>
          </a:p>
        </p:txBody>
      </p:sp>
      <p:sp>
        <p:nvSpPr>
          <p:cNvPr id="5" name="TextBox 4"/>
          <p:cNvSpPr txBox="1"/>
          <p:nvPr/>
        </p:nvSpPr>
        <p:spPr>
          <a:xfrm>
            <a:off x="1028700" y="1389888"/>
            <a:ext cx="12938760" cy="329184"/>
          </a:xfrm>
          <a:prstGeom prst="rect">
            <a:avLst/>
          </a:prstGeom>
          <a:noFill/>
        </p:spPr>
        <p:txBody>
          <a:bodyPr anchor="t" rtlCol="false" lIns="0" tIns="0" rIns="0" bIns="0" wrap="square"/>
          <a:lstStyle/>
          <a:p>
            <a:pPr algn="l">
              <a:lnSpc>
                <a:spcPts val="2000"/>
              </a:lnSpc>
              <a:spcBef>
                <a:spcPts val="0"/>
              </a:spcBef>
              <a:buNone/>
            </a:pPr>
            <a:r>
              <a:rPr lang="en-US" sz="1500" b="true" spc="160">
                <a:solidFill>
                  <a:srgbClr val="1F7A8C"/>
                </a:solidFill>
                <a:latin typeface="Nunito Ultra-Bold"/>
                <a:ea typeface="Nunito Ultra-Bold"/>
                <a:cs typeface="Nunito Ultra-Bold"/>
                <a:sym typeface="Nunito Ultra-Bold"/>
              </a:rPr>
              <a:t>CONTRIBUTION III: DYHUCOG, A DYNAMIC HYPERGRAPH COOPERATIVE GAME</a:t>
            </a:r>
          </a:p>
        </p:txBody>
      </p:sp>
      <p:sp>
        <p:nvSpPr>
          <p:cNvPr id="6" name="Rounded Rectangle 5"/>
          <p:cNvSpPr/>
          <p:nvPr/>
        </p:nvSpPr>
        <p:spPr>
          <a:xfrm>
            <a:off x="14516100"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7" name="TextBox 6"/>
          <p:cNvSpPr txBox="1"/>
          <p:nvPr/>
        </p:nvSpPr>
        <p:spPr>
          <a:xfrm>
            <a:off x="14516100"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1</a:t>
            </a:r>
          </a:p>
        </p:txBody>
      </p:sp>
      <p:sp>
        <p:nvSpPr>
          <p:cNvPr id="8" name="Rounded Rectangle 7"/>
          <p:cNvSpPr/>
          <p:nvPr/>
        </p:nvSpPr>
        <p:spPr>
          <a:xfrm>
            <a:off x="14918436"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9" name="TextBox 8"/>
          <p:cNvSpPr txBox="1"/>
          <p:nvPr/>
        </p:nvSpPr>
        <p:spPr>
          <a:xfrm>
            <a:off x="14918436"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2</a:t>
            </a:r>
          </a:p>
        </p:txBody>
      </p:sp>
      <p:sp>
        <p:nvSpPr>
          <p:cNvPr id="10" name="Rounded Rectangle 9"/>
          <p:cNvSpPr/>
          <p:nvPr/>
        </p:nvSpPr>
        <p:spPr>
          <a:xfrm>
            <a:off x="15320772"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11" name="TextBox 10"/>
          <p:cNvSpPr txBox="1"/>
          <p:nvPr/>
        </p:nvSpPr>
        <p:spPr>
          <a:xfrm>
            <a:off x="15320772"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3</a:t>
            </a:r>
          </a:p>
        </p:txBody>
      </p:sp>
      <p:sp>
        <p:nvSpPr>
          <p:cNvPr id="12" name="Rounded Rectangle 11"/>
          <p:cNvSpPr/>
          <p:nvPr/>
        </p:nvSpPr>
        <p:spPr>
          <a:xfrm>
            <a:off x="15723108"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13" name="TextBox 12"/>
          <p:cNvSpPr txBox="1"/>
          <p:nvPr/>
        </p:nvSpPr>
        <p:spPr>
          <a:xfrm>
            <a:off x="15723108"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4</a:t>
            </a:r>
          </a:p>
        </p:txBody>
      </p:sp>
      <p:sp>
        <p:nvSpPr>
          <p:cNvPr id="14" name="Rounded Rectangle 13"/>
          <p:cNvSpPr/>
          <p:nvPr/>
        </p:nvSpPr>
        <p:spPr>
          <a:xfrm>
            <a:off x="16125444"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15" name="TextBox 14"/>
          <p:cNvSpPr txBox="1"/>
          <p:nvPr/>
        </p:nvSpPr>
        <p:spPr>
          <a:xfrm>
            <a:off x="16125444"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5</a:t>
            </a:r>
          </a:p>
        </p:txBody>
      </p:sp>
      <p:sp>
        <p:nvSpPr>
          <p:cNvPr id="16" name="Rounded Rectangle 15"/>
          <p:cNvSpPr/>
          <p:nvPr/>
        </p:nvSpPr>
        <p:spPr>
          <a:xfrm>
            <a:off x="16527780" y="1371600"/>
            <a:ext cx="329184" cy="329184"/>
          </a:xfrm>
          <a:prstGeom prst="roundRect">
            <a:avLst>
              <a:gd name="adj" fmla="val 16666"/>
            </a:avLst>
          </a:prstGeom>
          <a:solidFill>
            <a:srgbClr val="4472C4"/>
          </a:solidFill>
          <a:ln w="15875">
            <a:solidFill>
              <a:srgbClr val="4472C4"/>
            </a:solidFill>
          </a:ln>
        </p:spPr>
        <p:txBody>
          <a:bodyPr anchor="ctr" rtlCol="false" lIns="0" tIns="0" rIns="0" bIns="0" wrap="square"/>
          <a:lstStyle/>
          <a:p>
            <a:endParaRPr lang="en-US" sz="1800"/>
          </a:p>
        </p:txBody>
      </p:sp>
      <p:sp>
        <p:nvSpPr>
          <p:cNvPr id="17" name="TextBox 16"/>
          <p:cNvSpPr txBox="1"/>
          <p:nvPr/>
        </p:nvSpPr>
        <p:spPr>
          <a:xfrm>
            <a:off x="16527780"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FFFFFF"/>
                </a:solidFill>
                <a:latin typeface="Nunito Ultra-Bold"/>
                <a:ea typeface="Nunito Ultra-Bold"/>
                <a:cs typeface="Nunito Ultra-Bold"/>
                <a:sym typeface="Nunito Ultra-Bold"/>
              </a:rPr>
              <a:t>6</a:t>
            </a:r>
          </a:p>
        </p:txBody>
      </p:sp>
      <p:sp>
        <p:nvSpPr>
          <p:cNvPr id="18" name="Rounded Rectangle 17"/>
          <p:cNvSpPr/>
          <p:nvPr/>
        </p:nvSpPr>
        <p:spPr>
          <a:xfrm>
            <a:off x="16930116"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19" name="TextBox 18"/>
          <p:cNvSpPr txBox="1"/>
          <p:nvPr/>
        </p:nvSpPr>
        <p:spPr>
          <a:xfrm>
            <a:off x="16930116"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7</a:t>
            </a:r>
          </a:p>
        </p:txBody>
      </p:sp>
      <p:sp>
        <p:nvSpPr>
          <p:cNvPr id="20" name="TextBox 19"/>
          <p:cNvSpPr txBox="1"/>
          <p:nvPr/>
        </p:nvSpPr>
        <p:spPr>
          <a:xfrm>
            <a:off x="1028700" y="1719072"/>
            <a:ext cx="16230600" cy="730250"/>
          </a:xfrm>
          <a:prstGeom prst="rect">
            <a:avLst/>
          </a:prstGeom>
          <a:noFill/>
        </p:spPr>
        <p:txBody>
          <a:bodyPr anchor="t" rtlCol="false" lIns="0" tIns="0" rIns="0" bIns="0" wrap="square"/>
          <a:lstStyle/>
          <a:p>
            <a:pPr algn="l">
              <a:lnSpc>
                <a:spcPts val="5060"/>
              </a:lnSpc>
              <a:spcBef>
                <a:spcPts val="0"/>
              </a:spcBef>
              <a:buNone/>
            </a:pPr>
            <a:r>
              <a:rPr lang="en-US" sz="4600" b="true" spc="-230">
                <a:solidFill>
                  <a:srgbClr val="111111"/>
                </a:solidFill>
                <a:latin typeface="Roca Two Bold"/>
                <a:ea typeface="Roca Two Bold"/>
                <a:cs typeface="Roca Two Bold"/>
                <a:sym typeface="Roca Two Bold"/>
              </a:rPr>
              <a:t>Takeaway: Contribution III</a:t>
            </a:r>
          </a:p>
        </p:txBody>
      </p:sp>
      <p:sp>
        <p:nvSpPr>
          <p:cNvPr id="21" name="Rounded Rectangle 20"/>
          <p:cNvSpPr/>
          <p:nvPr/>
        </p:nvSpPr>
        <p:spPr>
          <a:xfrm>
            <a:off x="1028700" y="2559050"/>
            <a:ext cx="1691553" cy="420624"/>
          </a:xfrm>
          <a:prstGeom prst="roundRect">
            <a:avLst>
              <a:gd name="adj" fmla="val 50000"/>
            </a:avLst>
          </a:prstGeom>
          <a:noFill/>
          <a:ln w="28575">
            <a:solidFill>
              <a:srgbClr val="4472C4"/>
            </a:solidFill>
          </a:ln>
        </p:spPr>
        <p:txBody>
          <a:bodyPr anchor="ctr" rtlCol="false" lIns="45720" tIns="0" rIns="45720" bIns="0" wrap="square"/>
          <a:lstStyle/>
          <a:p>
            <a:pPr algn="ctr">
              <a:lnSpc>
                <a:spcPts val="2160"/>
              </a:lnSpc>
              <a:spcBef>
                <a:spcPts val="0"/>
              </a:spcBef>
              <a:buNone/>
            </a:pPr>
            <a:r>
              <a:rPr lang="en-US" sz="1800" b="true">
                <a:solidFill>
                  <a:srgbClr val="4472C4"/>
                </a:solidFill>
                <a:latin typeface="Nunito Bold"/>
                <a:ea typeface="Nunito Bold"/>
                <a:cs typeface="Nunito Bold"/>
                <a:sym typeface="Nunito Bold"/>
              </a:rPr>
              <a:t>Objectives</a:t>
            </a:r>
          </a:p>
        </p:txBody>
      </p:sp>
      <p:sp>
        <p:nvSpPr>
          <p:cNvPr id="22" name="Rounded Rectangle 21"/>
          <p:cNvSpPr/>
          <p:nvPr/>
        </p:nvSpPr>
        <p:spPr>
          <a:xfrm>
            <a:off x="2848269" y="2559050"/>
            <a:ext cx="1998119" cy="420624"/>
          </a:xfrm>
          <a:prstGeom prst="roundRect">
            <a:avLst>
              <a:gd name="adj" fmla="val 50000"/>
            </a:avLst>
          </a:prstGeom>
          <a:noFill/>
          <a:ln w="28575">
            <a:solidFill>
              <a:srgbClr val="4472C4"/>
            </a:solidFill>
          </a:ln>
        </p:spPr>
        <p:txBody>
          <a:bodyPr anchor="ctr" rtlCol="false" lIns="45720" tIns="0" rIns="45720" bIns="0" wrap="square"/>
          <a:lstStyle/>
          <a:p>
            <a:pPr algn="ctr">
              <a:lnSpc>
                <a:spcPts val="2160"/>
              </a:lnSpc>
              <a:spcBef>
                <a:spcPts val="0"/>
              </a:spcBef>
              <a:buNone/>
            </a:pPr>
            <a:r>
              <a:rPr lang="en-US" sz="1800" b="true">
                <a:solidFill>
                  <a:srgbClr val="4472C4"/>
                </a:solidFill>
                <a:latin typeface="Nunito Bold"/>
                <a:ea typeface="Nunito Bold"/>
                <a:cs typeface="Nunito Bold"/>
                <a:sym typeface="Nunito Bold"/>
              </a:rPr>
              <a:t>Methodology</a:t>
            </a:r>
          </a:p>
        </p:txBody>
      </p:sp>
      <p:sp>
        <p:nvSpPr>
          <p:cNvPr id="23" name="Rounded Rectangle 22"/>
          <p:cNvSpPr/>
          <p:nvPr/>
        </p:nvSpPr>
        <p:spPr>
          <a:xfrm>
            <a:off x="4974404" y="2559050"/>
            <a:ext cx="1369446" cy="420624"/>
          </a:xfrm>
          <a:prstGeom prst="roundRect">
            <a:avLst>
              <a:gd name="adj" fmla="val 50000"/>
            </a:avLst>
          </a:prstGeom>
          <a:noFill/>
          <a:ln w="28575">
            <a:solidFill>
              <a:srgbClr val="4472C4"/>
            </a:solidFill>
          </a:ln>
        </p:spPr>
        <p:txBody>
          <a:bodyPr anchor="ctr" rtlCol="false" lIns="45720" tIns="0" rIns="45720" bIns="0" wrap="square"/>
          <a:lstStyle/>
          <a:p>
            <a:pPr algn="ctr">
              <a:lnSpc>
                <a:spcPts val="2160"/>
              </a:lnSpc>
              <a:spcBef>
                <a:spcPts val="0"/>
              </a:spcBef>
              <a:buNone/>
            </a:pPr>
            <a:r>
              <a:rPr lang="en-US" sz="1800" b="true">
                <a:solidFill>
                  <a:srgbClr val="4472C4"/>
                </a:solidFill>
                <a:latin typeface="Nunito Bold"/>
                <a:ea typeface="Nunito Bold"/>
                <a:cs typeface="Nunito Bold"/>
                <a:sym typeface="Nunito Bold"/>
              </a:rPr>
              <a:t>Results</a:t>
            </a:r>
          </a:p>
        </p:txBody>
      </p:sp>
      <p:sp>
        <p:nvSpPr>
          <p:cNvPr id="24" name="Rounded Rectangle 23"/>
          <p:cNvSpPr/>
          <p:nvPr/>
        </p:nvSpPr>
        <p:spPr>
          <a:xfrm>
            <a:off x="6471866" y="2559050"/>
            <a:ext cx="1474931" cy="420624"/>
          </a:xfrm>
          <a:prstGeom prst="roundRect">
            <a:avLst>
              <a:gd name="adj" fmla="val 50000"/>
            </a:avLst>
          </a:prstGeom>
          <a:solidFill>
            <a:srgbClr val="4472C4"/>
          </a:solidFill>
          <a:ln>
            <a:noFill/>
          </a:ln>
        </p:spPr>
        <p:txBody>
          <a:bodyPr anchor="ctr" rtlCol="false" lIns="45720" tIns="0" rIns="45720" bIns="0" wrap="square"/>
          <a:lstStyle/>
          <a:p>
            <a:pPr algn="ctr">
              <a:lnSpc>
                <a:spcPts val="2160"/>
              </a:lnSpc>
              <a:spcBef>
                <a:spcPts val="0"/>
              </a:spcBef>
              <a:buNone/>
            </a:pPr>
            <a:r>
              <a:rPr lang="en-US" sz="1800" b="true">
                <a:solidFill>
                  <a:srgbClr val="FFFFFF"/>
                </a:solidFill>
                <a:latin typeface="Nunito Bold"/>
                <a:ea typeface="Nunito Bold"/>
                <a:cs typeface="Nunito Bold"/>
                <a:sym typeface="Nunito Bold"/>
              </a:rPr>
              <a:t>Findings</a:t>
            </a:r>
          </a:p>
        </p:txBody>
      </p:sp>
      <p:sp>
        <p:nvSpPr>
          <p:cNvPr id="25" name="Rounded Rectangle 24"/>
          <p:cNvSpPr/>
          <p:nvPr/>
        </p:nvSpPr>
        <p:spPr>
          <a:xfrm>
            <a:off x="1028700" y="3363722"/>
            <a:ext cx="5196840" cy="2651760"/>
          </a:xfrm>
          <a:prstGeom prst="roundRect">
            <a:avLst>
              <a:gd name="adj" fmla="val 10344"/>
            </a:avLst>
          </a:prstGeom>
          <a:solidFill>
            <a:srgbClr val="4472C4"/>
          </a:solidFill>
          <a:ln>
            <a:noFill/>
          </a:ln>
        </p:spPr>
        <p:txBody>
          <a:bodyPr anchor="ctr" rtlCol="false" lIns="0" tIns="0" rIns="0" bIns="0" wrap="square"/>
          <a:lstStyle/>
          <a:p>
            <a:endParaRPr lang="en-US" sz="1800"/>
          </a:p>
        </p:txBody>
      </p:sp>
      <p:sp>
        <p:nvSpPr>
          <p:cNvPr id="26" name="TextBox 25"/>
          <p:cNvSpPr txBox="1"/>
          <p:nvPr/>
        </p:nvSpPr>
        <p:spPr>
          <a:xfrm>
            <a:off x="1394460" y="3683762"/>
            <a:ext cx="4465320" cy="2103120"/>
          </a:xfrm>
          <a:prstGeom prst="rect">
            <a:avLst/>
          </a:prstGeom>
          <a:noFill/>
        </p:spPr>
        <p:txBody>
          <a:bodyPr anchor="t" rtlCol="false" lIns="0" tIns="0" rIns="0" bIns="0" wrap="square"/>
          <a:lstStyle/>
          <a:p>
            <a:pPr algn="l">
              <a:lnSpc>
                <a:spcPts val="3200"/>
              </a:lnSpc>
              <a:spcBef>
                <a:spcPts val="0"/>
              </a:spcBef>
              <a:buNone/>
            </a:pPr>
            <a:r>
              <a:rPr lang="en-US" sz="2800" b="true" spc="-120">
                <a:solidFill>
                  <a:srgbClr val="ECC665"/>
                </a:solidFill>
                <a:latin typeface="Roca Two Bold"/>
                <a:ea typeface="Roca Two Bold"/>
                <a:cs typeface="Roca Two Bold"/>
                <a:sym typeface="Roca Two Bold"/>
              </a:rPr>
              <a:t>First-class</a:t>
            </a:r>
          </a:p>
          <a:p>
            <a:pPr algn="l">
              <a:lnSpc>
                <a:spcPts val="2400"/>
              </a:lnSpc>
              <a:spcBef>
                <a:spcPts val="1000"/>
              </a:spcBef>
              <a:buNone/>
            </a:pPr>
            <a:r>
              <a:rPr lang="en-US" sz="1900" b="true">
                <a:solidFill>
                  <a:srgbClr val="F7F2EA"/>
                </a:solidFill>
                <a:latin typeface="Nunito Semi-Bold"/>
                <a:ea typeface="Nunito Semi-Bold"/>
                <a:cs typeface="Nunito Semi-Bold"/>
                <a:sym typeface="Nunito Semi-Bold"/>
              </a:rPr>
              <a:t>Shapley estimates shape the hyperedge weights during training.</a:t>
            </a:r>
          </a:p>
        </p:txBody>
      </p:sp>
      <p:sp>
        <p:nvSpPr>
          <p:cNvPr id="27" name="Rounded Rectangle 26"/>
          <p:cNvSpPr/>
          <p:nvPr/>
        </p:nvSpPr>
        <p:spPr>
          <a:xfrm>
            <a:off x="6545580" y="3363722"/>
            <a:ext cx="5196840" cy="2651760"/>
          </a:xfrm>
          <a:prstGeom prst="roundRect">
            <a:avLst>
              <a:gd name="adj" fmla="val 10344"/>
            </a:avLst>
          </a:prstGeom>
          <a:solidFill>
            <a:srgbClr val="2F5597"/>
          </a:solidFill>
          <a:ln>
            <a:noFill/>
          </a:ln>
        </p:spPr>
        <p:txBody>
          <a:bodyPr anchor="ctr" rtlCol="false" lIns="0" tIns="0" rIns="0" bIns="0" wrap="square"/>
          <a:lstStyle/>
          <a:p>
            <a:endParaRPr lang="en-US" sz="1800"/>
          </a:p>
        </p:txBody>
      </p:sp>
      <p:sp>
        <p:nvSpPr>
          <p:cNvPr id="28" name="TextBox 27"/>
          <p:cNvSpPr txBox="1"/>
          <p:nvPr/>
        </p:nvSpPr>
        <p:spPr>
          <a:xfrm>
            <a:off x="6911340" y="3683762"/>
            <a:ext cx="4465320" cy="2103120"/>
          </a:xfrm>
          <a:prstGeom prst="rect">
            <a:avLst/>
          </a:prstGeom>
          <a:noFill/>
        </p:spPr>
        <p:txBody>
          <a:bodyPr anchor="t" rtlCol="false" lIns="0" tIns="0" rIns="0" bIns="0" wrap="square"/>
          <a:lstStyle/>
          <a:p>
            <a:pPr algn="l">
              <a:lnSpc>
                <a:spcPts val="3200"/>
              </a:lnSpc>
              <a:spcBef>
                <a:spcPts val="0"/>
              </a:spcBef>
              <a:buNone/>
            </a:pPr>
            <a:r>
              <a:rPr lang="en-US" sz="2800" b="true" spc="-120">
                <a:solidFill>
                  <a:srgbClr val="ECC665"/>
                </a:solidFill>
                <a:latin typeface="Roca Two Bold"/>
                <a:ea typeface="Roca Two Bold"/>
                <a:cs typeface="Roca Two Bold"/>
                <a:sym typeface="Roca Two Bold"/>
              </a:rPr>
              <a:t>Read-out</a:t>
            </a:r>
          </a:p>
          <a:p>
            <a:pPr algn="l">
              <a:lnSpc>
                <a:spcPts val="2400"/>
              </a:lnSpc>
              <a:spcBef>
                <a:spcPts val="1000"/>
              </a:spcBef>
              <a:buNone/>
            </a:pPr>
            <a:r>
              <a:rPr lang="en-US" sz="1900" b="true">
                <a:solidFill>
                  <a:srgbClr val="F7F2EA"/>
                </a:solidFill>
                <a:latin typeface="Nunito Semi-Bold"/>
                <a:ea typeface="Nunito Semi-Bold"/>
                <a:cs typeface="Nunito Semi-Bold"/>
                <a:sym typeface="Nunito Semi-Bold"/>
              </a:rPr>
              <a:t>The waterfall shows the same terms the loss optimises: ranking, diversity, context, preference.</a:t>
            </a:r>
          </a:p>
        </p:txBody>
      </p:sp>
      <p:sp>
        <p:nvSpPr>
          <p:cNvPr id="29" name="Rounded Rectangle 28"/>
          <p:cNvSpPr/>
          <p:nvPr/>
        </p:nvSpPr>
        <p:spPr>
          <a:xfrm>
            <a:off x="12062460" y="3363722"/>
            <a:ext cx="5196840" cy="2651760"/>
          </a:xfrm>
          <a:prstGeom prst="roundRect">
            <a:avLst>
              <a:gd name="adj" fmla="val 10344"/>
            </a:avLst>
          </a:prstGeom>
          <a:solidFill>
            <a:srgbClr val="1F7A8C"/>
          </a:solidFill>
          <a:ln>
            <a:noFill/>
          </a:ln>
        </p:spPr>
        <p:txBody>
          <a:bodyPr anchor="ctr" rtlCol="false" lIns="0" tIns="0" rIns="0" bIns="0" wrap="square"/>
          <a:lstStyle/>
          <a:p>
            <a:endParaRPr lang="en-US" sz="1800"/>
          </a:p>
        </p:txBody>
      </p:sp>
      <p:sp>
        <p:nvSpPr>
          <p:cNvPr id="30" name="TextBox 29"/>
          <p:cNvSpPr txBox="1"/>
          <p:nvPr/>
        </p:nvSpPr>
        <p:spPr>
          <a:xfrm>
            <a:off x="12428220" y="3683762"/>
            <a:ext cx="4465320" cy="2103120"/>
          </a:xfrm>
          <a:prstGeom prst="rect">
            <a:avLst/>
          </a:prstGeom>
          <a:noFill/>
        </p:spPr>
        <p:txBody>
          <a:bodyPr anchor="t" rtlCol="false" lIns="0" tIns="0" rIns="0" bIns="0" wrap="square"/>
          <a:lstStyle/>
          <a:p>
            <a:pPr algn="l">
              <a:lnSpc>
                <a:spcPts val="3200"/>
              </a:lnSpc>
              <a:spcBef>
                <a:spcPts val="0"/>
              </a:spcBef>
              <a:buNone/>
            </a:pPr>
            <a:r>
              <a:rPr lang="en-US" sz="2800" b="true" spc="-120">
                <a:solidFill>
                  <a:srgbClr val="FFFFFF"/>
                </a:solidFill>
                <a:latin typeface="Roca Two Bold"/>
                <a:ea typeface="Roca Two Bold"/>
                <a:cs typeface="Roca Two Bold"/>
                <a:sym typeface="Roca Two Bold"/>
              </a:rPr>
              <a:t>Axiomatic</a:t>
            </a:r>
          </a:p>
          <a:p>
            <a:pPr algn="l">
              <a:lnSpc>
                <a:spcPts val="2400"/>
              </a:lnSpc>
              <a:spcBef>
                <a:spcPts val="1000"/>
              </a:spcBef>
              <a:buNone/>
            </a:pPr>
            <a:r>
              <a:rPr lang="en-US" sz="1900" b="true">
                <a:solidFill>
                  <a:srgbClr val="F7F2EA"/>
                </a:solidFill>
                <a:latin typeface="Nunito Semi-Bold"/>
                <a:ea typeface="Nunito Semi-Bold"/>
                <a:cs typeface="Nunito Semi-Bold"/>
                <a:sym typeface="Nunito Semi-Bold"/>
              </a:rPr>
              <a:t>Built on the four Shapley axioms, in line with trustworthy-AI expectations.</a:t>
            </a:r>
          </a:p>
        </p:txBody>
      </p:sp>
      <p:sp>
        <p:nvSpPr>
          <p:cNvPr id="31" name="Rounded Rectangle 30"/>
          <p:cNvSpPr/>
          <p:nvPr/>
        </p:nvSpPr>
        <p:spPr>
          <a:xfrm>
            <a:off x="1028700" y="6472682"/>
            <a:ext cx="16230600" cy="1600200"/>
          </a:xfrm>
          <a:prstGeom prst="roundRect">
            <a:avLst>
              <a:gd name="adj" fmla="val 12571"/>
            </a:avLst>
          </a:prstGeom>
          <a:solidFill>
            <a:srgbClr val="F6ECDF"/>
          </a:solidFill>
          <a:ln w="25400">
            <a:solidFill>
              <a:srgbClr val="1F7A8C"/>
            </a:solidFill>
          </a:ln>
        </p:spPr>
        <p:txBody>
          <a:bodyPr anchor="ctr" rtlCol="false" lIns="0" tIns="0" rIns="0" bIns="0" wrap="square"/>
          <a:lstStyle/>
          <a:p>
            <a:endParaRPr lang="en-US" sz="1800"/>
          </a:p>
        </p:txBody>
      </p:sp>
      <p:sp>
        <p:nvSpPr>
          <p:cNvPr id="32" name="Rounded Rectangle 31"/>
          <p:cNvSpPr/>
          <p:nvPr/>
        </p:nvSpPr>
        <p:spPr>
          <a:xfrm>
            <a:off x="1348740" y="6280658"/>
            <a:ext cx="3471275" cy="384048"/>
          </a:xfrm>
          <a:prstGeom prst="roundRect">
            <a:avLst>
              <a:gd name="adj" fmla="val 50000"/>
            </a:avLst>
          </a:prstGeom>
          <a:solidFill>
            <a:srgbClr val="1F7A8C"/>
          </a:solidFill>
          <a:ln w="28575">
            <a:solidFill>
              <a:srgbClr val="1F7A8C"/>
            </a:solidFill>
          </a:ln>
        </p:spPr>
        <p:txBody>
          <a:bodyPr anchor="ctr" rtlCol="false" lIns="45720" tIns="0" rIns="45720" bIns="0" wrap="square"/>
          <a:lstStyle/>
          <a:p>
            <a:pPr algn="ctr">
              <a:lnSpc>
                <a:spcPts val="1680"/>
              </a:lnSpc>
              <a:spcBef>
                <a:spcPts val="0"/>
              </a:spcBef>
              <a:buNone/>
            </a:pPr>
            <a:r>
              <a:rPr lang="en-US" sz="1400" b="true">
                <a:solidFill>
                  <a:srgbClr val="FFFFFF"/>
                </a:solidFill>
                <a:latin typeface="Nunito Bold"/>
                <a:ea typeface="Nunito Bold"/>
                <a:cs typeface="Nunito Bold"/>
                <a:sym typeface="Nunito Bold"/>
              </a:rPr>
              <a:t>TAKEAWAY  ·  CONTRIBUTION III</a:t>
            </a:r>
          </a:p>
        </p:txBody>
      </p:sp>
      <p:sp>
        <p:nvSpPr>
          <p:cNvPr id="33" name="TextBox 32"/>
          <p:cNvSpPr txBox="1"/>
          <p:nvPr/>
        </p:nvSpPr>
        <p:spPr>
          <a:xfrm>
            <a:off x="1394460" y="6747002"/>
            <a:ext cx="15499080" cy="1188720"/>
          </a:xfrm>
          <a:prstGeom prst="rect">
            <a:avLst/>
          </a:prstGeom>
          <a:noFill/>
        </p:spPr>
        <p:txBody>
          <a:bodyPr anchor="ctr" rtlCol="false" lIns="0" tIns="0" rIns="0" bIns="0" wrap="square"/>
          <a:lstStyle/>
          <a:p>
            <a:pPr algn="l">
              <a:lnSpc>
                <a:spcPts val="3220"/>
              </a:lnSpc>
              <a:spcBef>
                <a:spcPts val="0"/>
              </a:spcBef>
              <a:buNone/>
            </a:pPr>
            <a:r>
              <a:rPr lang="en-US" sz="2300" b="true">
                <a:solidFill>
                  <a:srgbClr val="111111"/>
                </a:solidFill>
                <a:latin typeface="Nunito Semi-Bold"/>
                <a:ea typeface="Nunito Semi-Bold"/>
                <a:cs typeface="Nunito Semi-Bold"/>
                <a:sym typeface="Nunito Semi-Bold"/>
              </a:rPr>
              <a:t>Attribution becomes a </a:t>
            </a:r>
            <a:r>
              <a:rPr lang="en-US" sz="2300" b="true">
                <a:solidFill>
                  <a:srgbClr val="111111"/>
                </a:solidFill>
                <a:latin typeface="Nunito Bold"/>
                <a:ea typeface="Nunito Bold"/>
                <a:cs typeface="Nunito Bold"/>
                <a:sym typeface="Nunito Bold"/>
              </a:rPr>
              <a:t>first-class part of the learning objective</a:t>
            </a:r>
            <a:r>
              <a:rPr lang="en-US" sz="2300" b="true">
                <a:solidFill>
                  <a:srgbClr val="111111"/>
                </a:solidFill>
                <a:latin typeface="Nunito Semi-Bold"/>
                <a:ea typeface="Nunito Semi-Bold"/>
                <a:cs typeface="Nunito Semi-Bold"/>
                <a:sym typeface="Nunito Semi-Bold"/>
              </a:rPr>
              <a:t>: the explanation is a direct read-out of what the model optimises, so it is </a:t>
            </a:r>
            <a:r>
              <a:rPr lang="en-US" sz="2300" b="true">
                <a:solidFill>
                  <a:srgbClr val="111111"/>
                </a:solidFill>
                <a:latin typeface="Nunito Bold"/>
                <a:ea typeface="Nunito Bold"/>
                <a:cs typeface="Nunito Bold"/>
                <a:sym typeface="Nunito Bold"/>
              </a:rPr>
              <a:t>faithful by design</a:t>
            </a:r>
            <a:r>
              <a:rPr lang="en-US" sz="2300" b="true">
                <a:solidFill>
                  <a:srgbClr val="111111"/>
                </a:solidFill>
                <a:latin typeface="Nunito Semi-Bold"/>
                <a:ea typeface="Nunito Semi-Bold"/>
                <a:cs typeface="Nunito Semi-Bold"/>
                <a:sym typeface="Nunito Semi-Bold"/>
              </a:rPr>
              <a:t>, not an outside approximation.</a:t>
            </a:r>
          </a:p>
        </p:txBody>
      </p:sp>
      <p:sp>
        <p:nvSpPr>
          <p:cNvPr id="34" name="Rounded Rectangle 33"/>
          <p:cNvSpPr/>
          <p:nvPr/>
        </p:nvSpPr>
        <p:spPr>
          <a:xfrm>
            <a:off x="1028700" y="8392922"/>
            <a:ext cx="16230600" cy="961390"/>
          </a:xfrm>
          <a:prstGeom prst="roundRect">
            <a:avLst>
              <a:gd name="adj" fmla="val 23778"/>
            </a:avLst>
          </a:prstGeom>
          <a:solidFill>
            <a:srgbClr val="4472C4"/>
          </a:solidFill>
          <a:ln>
            <a:noFill/>
          </a:ln>
        </p:spPr>
        <p:txBody>
          <a:bodyPr anchor="ctr" rtlCol="false" lIns="457200" tIns="45720" rIns="457200" bIns="45720" wrap="square"/>
          <a:lstStyle/>
          <a:p>
            <a:pPr algn="ctr">
              <a:lnSpc>
                <a:spcPts val="2500"/>
              </a:lnSpc>
              <a:spcBef>
                <a:spcPts val="0"/>
              </a:spcBef>
              <a:buNone/>
            </a:pPr>
            <a:r>
              <a:rPr lang="en-US" sz="2000" b="true">
                <a:solidFill>
                  <a:srgbClr val="FFFFFF"/>
                </a:solidFill>
                <a:latin typeface="Nunito Semi-Bold"/>
                <a:ea typeface="Nunito Semi-Bold"/>
                <a:cs typeface="Nunito Semi-Bold"/>
                <a:sym typeface="Nunito Semi-Bold"/>
              </a:rPr>
              <a:t>From </a:t>
            </a:r>
            <a:r>
              <a:rPr lang="en-US" sz="2000" b="true">
                <a:solidFill>
                  <a:srgbClr val="FFFFFF"/>
                </a:solidFill>
                <a:latin typeface="Nunito Bold"/>
                <a:ea typeface="Nunito Bold"/>
                <a:cs typeface="Nunito Bold"/>
                <a:sym typeface="Nunito Bold"/>
              </a:rPr>
              <a:t>post-hoc description</a:t>
            </a:r>
            <a:r>
              <a:rPr lang="en-US" sz="2000" b="true">
                <a:solidFill>
                  <a:srgbClr val="FFFFFF"/>
                </a:solidFill>
                <a:latin typeface="Nunito Semi-Bold"/>
                <a:ea typeface="Nunito Semi-Bold"/>
                <a:cs typeface="Nunito Semi-Bold"/>
                <a:sym typeface="Nunito Semi-Bold"/>
              </a:rPr>
              <a:t> (C1, C2) to </a:t>
            </a:r>
            <a:r>
              <a:rPr lang="en-US" sz="2000" b="true">
                <a:solidFill>
                  <a:srgbClr val="FFFFFF"/>
                </a:solidFill>
                <a:latin typeface="Nunito Bold"/>
                <a:ea typeface="Nunito Bold"/>
                <a:cs typeface="Nunito Bold"/>
                <a:sym typeface="Nunito Bold"/>
              </a:rPr>
              <a:t>in-training guidance</a:t>
            </a:r>
            <a:r>
              <a:rPr lang="en-US" sz="2000" b="true">
                <a:solidFill>
                  <a:srgbClr val="FFFFFF"/>
                </a:solidFill>
                <a:latin typeface="Nunito Semi-Bold"/>
                <a:ea typeface="Nunito Semi-Bold"/>
                <a:cs typeface="Nunito Semi-Bold"/>
                <a:sym typeface="Nunito Semi-Bold"/>
              </a:rPr>
              <a:t> (C3): the strongest claim of the thesis.</a:t>
            </a:r>
          </a:p>
        </p:txBody>
      </p:sp>
    </p:spTree>
  </p:cSld>
  <p:clrMapOvr>
    <a:masterClrMapping/>
  </p:clrMapOvr>
</p:sld>
</file>

<file path=ppt/slides/slide8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pic>
        <p:nvPicPr>
          <p:cNvPr id="2" name="Picture 1" descr="ensias_logo.jpg"/>
          <p:cNvPicPr>
            <a:picLocks noChangeAspect="1"/>
          </p:cNvPicPr>
          <p:nvPr/>
        </p:nvPicPr>
        <p:blipFill>
          <a:blip r:embed="rId2"/>
          <a:stretch>
            <a:fillRect/>
          </a:stretch>
        </p:blipFill>
        <p:spPr>
          <a:xfrm>
            <a:off x="1028700" y="9674352"/>
            <a:ext cx="542964" cy="384048"/>
          </a:xfrm>
          <a:prstGeom prst="rect">
            <a:avLst/>
          </a:prstGeom>
        </p:spPr>
      </p:pic>
      <p:sp>
        <p:nvSpPr>
          <p:cNvPr id="3" name="TextBox 2"/>
          <p:cNvSpPr txBox="1"/>
          <p:nvPr/>
        </p:nvSpPr>
        <p:spPr>
          <a:xfrm>
            <a:off x="1577340" y="9747504"/>
            <a:ext cx="12801600" cy="274320"/>
          </a:xfrm>
          <a:prstGeom prst="rect">
            <a:avLst/>
          </a:prstGeom>
          <a:noFill/>
        </p:spPr>
        <p:txBody>
          <a:bodyPr anchor="t" rtlCol="false" lIns="0" tIns="0" rIns="0" bIns="0" wrap="square"/>
          <a:lstStyle/>
          <a:p>
            <a:pPr algn="l">
              <a:lnSpc>
                <a:spcPts val="1600"/>
              </a:lnSpc>
              <a:spcBef>
                <a:spcPts val="0"/>
              </a:spcBef>
              <a:buNone/>
            </a:pPr>
            <a:r>
              <a:rPr lang="en-US" sz="1300" b="true">
                <a:solidFill>
                  <a:srgbClr val="8A8378"/>
                </a:solidFill>
                <a:latin typeface="Nunito Bold"/>
                <a:ea typeface="Nunito Bold"/>
                <a:cs typeface="Nunito Bold"/>
                <a:sym typeface="Nunito Bold"/>
              </a:rPr>
              <a:t>Cooperative Game Theory for Explainable AI in Recommendation Systems  ·  A Shapley Framework for Actionable Insight</a:t>
            </a:r>
          </a:p>
        </p:txBody>
      </p:sp>
      <p:sp>
        <p:nvSpPr>
          <p:cNvPr id="4" name="TextBox 3"/>
          <p:cNvSpPr txBox="1"/>
          <p:nvPr/>
        </p:nvSpPr>
        <p:spPr>
          <a:xfrm>
            <a:off x="16162020" y="9692640"/>
            <a:ext cx="1097280" cy="329184"/>
          </a:xfrm>
          <a:prstGeom prst="rect">
            <a:avLst/>
          </a:prstGeom>
          <a:noFill/>
        </p:spPr>
        <p:txBody>
          <a:bodyPr anchor="t" rtlCol="false" lIns="0" tIns="0" rIns="0" bIns="0" wrap="square"/>
          <a:lstStyle/>
          <a:p>
            <a:pPr algn="r">
              <a:lnSpc>
                <a:spcPts val="2200"/>
              </a:lnSpc>
              <a:spcBef>
                <a:spcPts val="0"/>
              </a:spcBef>
              <a:buNone/>
            </a:pPr>
            <a:r>
              <a:rPr lang="en-US" sz="1800" b="true">
                <a:solidFill>
                  <a:srgbClr val="111111"/>
                </a:solidFill>
                <a:latin typeface="Nunito Ultra-Bold"/>
                <a:ea typeface="Nunito Ultra-Bold"/>
                <a:cs typeface="Nunito Ultra-Bold"/>
                <a:sym typeface="Nunito Ultra-Bold"/>
              </a:rPr>
              <a:t>67</a:t>
            </a:r>
          </a:p>
        </p:txBody>
      </p:sp>
      <p:sp>
        <p:nvSpPr>
          <p:cNvPr id="5" name="TextBox 4"/>
          <p:cNvSpPr txBox="1"/>
          <p:nvPr/>
        </p:nvSpPr>
        <p:spPr>
          <a:xfrm>
            <a:off x="1028700" y="2331720"/>
            <a:ext cx="14859000" cy="2286000"/>
          </a:xfrm>
          <a:prstGeom prst="rect">
            <a:avLst/>
          </a:prstGeom>
          <a:noFill/>
        </p:spPr>
        <p:txBody>
          <a:bodyPr anchor="t" rtlCol="false" lIns="0" tIns="0" rIns="0" bIns="0" wrap="square"/>
          <a:lstStyle/>
          <a:p>
            <a:pPr algn="l">
              <a:lnSpc>
                <a:spcPts val="15300"/>
              </a:lnSpc>
              <a:spcBef>
                <a:spcPts val="0"/>
              </a:spcBef>
              <a:buNone/>
            </a:pPr>
            <a:r>
              <a:rPr lang="en-US" sz="15000" b="true" spc="-870">
                <a:solidFill>
                  <a:srgbClr val="111111"/>
                </a:solidFill>
                <a:latin typeface="Roca Two Bold"/>
                <a:ea typeface="Roca Two Bold"/>
                <a:cs typeface="Roca Two Bold"/>
                <a:sym typeface="Roca Two Bold"/>
              </a:rPr>
              <a:t>Conclusion</a:t>
            </a:r>
          </a:p>
        </p:txBody>
      </p:sp>
      <p:sp>
        <p:nvSpPr>
          <p:cNvPr id="6" name="Oval 5"/>
          <p:cNvSpPr/>
          <p:nvPr/>
        </p:nvSpPr>
        <p:spPr>
          <a:xfrm>
            <a:off x="10873987" y="2918460"/>
            <a:ext cx="1005840" cy="1005840"/>
          </a:xfrm>
          <a:prstGeom prst="ellipse">
            <a:avLst/>
          </a:prstGeom>
          <a:solidFill>
            <a:srgbClr val="ECC665"/>
          </a:solidFill>
          <a:ln>
            <a:noFill/>
          </a:ln>
        </p:spPr>
        <p:txBody>
          <a:bodyPr anchor="ctr" rtlCol="false" lIns="0" tIns="0" rIns="0" bIns="0" wrap="square"/>
          <a:lstStyle/>
          <a:p>
            <a:endParaRPr lang="en-US" sz="1800"/>
          </a:p>
        </p:txBody>
      </p:sp>
      <p:sp>
        <p:nvSpPr>
          <p:cNvPr id="7" name="TextBox 6"/>
          <p:cNvSpPr txBox="1"/>
          <p:nvPr/>
        </p:nvSpPr>
        <p:spPr>
          <a:xfrm>
            <a:off x="10873987" y="2918460"/>
            <a:ext cx="1005840" cy="1005840"/>
          </a:xfrm>
          <a:prstGeom prst="rect">
            <a:avLst/>
          </a:prstGeom>
          <a:noFill/>
        </p:spPr>
        <p:txBody>
          <a:bodyPr anchor="ctr" rtlCol="false" lIns="0" tIns="0" rIns="0" bIns="0" wrap="square"/>
          <a:lstStyle/>
          <a:p>
            <a:pPr algn="ctr">
              <a:lnSpc>
                <a:spcPts val="3400"/>
              </a:lnSpc>
              <a:spcBef>
                <a:spcPts val="0"/>
              </a:spcBef>
              <a:buNone/>
            </a:pPr>
            <a:r>
              <a:rPr lang="en-US" sz="3000" b="true">
                <a:solidFill>
                  <a:srgbClr val="111111"/>
                </a:solidFill>
                <a:latin typeface="Nunito Ultra-Bold"/>
                <a:ea typeface="Nunito Ultra-Bold"/>
                <a:cs typeface="Nunito Ultra-Bold"/>
                <a:sym typeface="Nunito Ultra-Bold"/>
              </a:rPr>
              <a:t>07</a:t>
            </a:r>
          </a:p>
        </p:txBody>
      </p:sp>
      <p:sp>
        <p:nvSpPr>
          <p:cNvPr id="8" name="TextBox 7"/>
          <p:cNvSpPr txBox="1"/>
          <p:nvPr/>
        </p:nvSpPr>
        <p:spPr>
          <a:xfrm>
            <a:off x="1028700" y="4465320"/>
            <a:ext cx="16230600" cy="640080"/>
          </a:xfrm>
          <a:prstGeom prst="rect">
            <a:avLst/>
          </a:prstGeom>
          <a:noFill/>
        </p:spPr>
        <p:txBody>
          <a:bodyPr anchor="t" rtlCol="false" lIns="0" tIns="0" rIns="0" bIns="0" wrap="square"/>
          <a:lstStyle/>
          <a:p>
            <a:pPr algn="l">
              <a:lnSpc>
                <a:spcPts val="3800"/>
              </a:lnSpc>
              <a:spcBef>
                <a:spcPts val="0"/>
              </a:spcBef>
              <a:buNone/>
            </a:pPr>
            <a:r>
              <a:rPr lang="en-US" sz="3000" b="true" spc="-150">
                <a:solidFill>
                  <a:srgbClr val="4472C4"/>
                </a:solidFill>
                <a:latin typeface="Nunito Bold"/>
                <a:ea typeface="Nunito Bold"/>
                <a:cs typeface="Nunito Bold"/>
                <a:sym typeface="Nunito Bold"/>
              </a:rPr>
              <a:t>Synthesis, publications, limitations and perspectives</a:t>
            </a:r>
          </a:p>
        </p:txBody>
      </p:sp>
      <p:sp>
        <p:nvSpPr>
          <p:cNvPr id="9" name="Rectangle 8"/>
          <p:cNvSpPr/>
          <p:nvPr/>
        </p:nvSpPr>
        <p:spPr>
          <a:xfrm>
            <a:off x="0" y="5440680"/>
            <a:ext cx="18288000" cy="4846320"/>
          </a:xfrm>
          <a:prstGeom prst="rect">
            <a:avLst/>
          </a:prstGeom>
          <a:solidFill>
            <a:srgbClr val="4472C4"/>
          </a:solidFill>
          <a:ln>
            <a:noFill/>
          </a:ln>
        </p:spPr>
        <p:txBody>
          <a:bodyPr anchor="ctr" rtlCol="false" lIns="0" tIns="0" rIns="0" bIns="0" wrap="square"/>
          <a:lstStyle/>
          <a:p>
            <a:endParaRPr lang="en-US" sz="1800"/>
          </a:p>
        </p:txBody>
      </p:sp>
      <p:sp>
        <p:nvSpPr>
          <p:cNvPr id="10" name="TextBox 9"/>
          <p:cNvSpPr txBox="1"/>
          <p:nvPr/>
        </p:nvSpPr>
        <p:spPr>
          <a:xfrm>
            <a:off x="1028700" y="5943600"/>
            <a:ext cx="5135880" cy="457200"/>
          </a:xfrm>
          <a:prstGeom prst="rect">
            <a:avLst/>
          </a:prstGeom>
          <a:noFill/>
        </p:spPr>
        <p:txBody>
          <a:bodyPr anchor="t" rtlCol="false" lIns="0" tIns="0" rIns="0" bIns="0" wrap="square"/>
          <a:lstStyle/>
          <a:p>
            <a:pPr algn="l">
              <a:lnSpc>
                <a:spcPts val="2800"/>
              </a:lnSpc>
              <a:spcBef>
                <a:spcPts val="0"/>
              </a:spcBef>
              <a:buNone/>
            </a:pPr>
            <a:r>
              <a:rPr lang="en-US" sz="2300" b="true">
                <a:solidFill>
                  <a:srgbClr val="ECC665"/>
                </a:solidFill>
                <a:latin typeface="Nunito Ultra-Bold"/>
                <a:ea typeface="Nunito Ultra-Bold"/>
                <a:cs typeface="Nunito Ultra-Bold"/>
                <a:sym typeface="Nunito Ultra-Bold"/>
              </a:rPr>
              <a:t>Synthesis</a:t>
            </a:r>
          </a:p>
        </p:txBody>
      </p:sp>
      <p:cxnSp>
        <p:nvCxnSpPr>
          <p:cNvPr id="11" name="Connector 10"/>
          <p:cNvCxnSpPr/>
          <p:nvPr/>
        </p:nvCxnSpPr>
        <p:spPr>
          <a:xfrm>
            <a:off x="1028700" y="6464808"/>
            <a:ext cx="640080" cy="0"/>
          </a:xfrm>
          <a:prstGeom prst="line">
            <a:avLst/>
          </a:prstGeom>
          <a:ln w="31750">
            <a:solidFill>
              <a:srgbClr val="ECC665"/>
            </a:solidFill>
          </a:ln>
        </p:spPr>
      </p:cxnSp>
      <p:sp>
        <p:nvSpPr>
          <p:cNvPr id="12" name="TextBox 11"/>
          <p:cNvSpPr txBox="1"/>
          <p:nvPr/>
        </p:nvSpPr>
        <p:spPr>
          <a:xfrm>
            <a:off x="1028700" y="6675120"/>
            <a:ext cx="5135880" cy="3108960"/>
          </a:xfrm>
          <a:prstGeom prst="rect">
            <a:avLst/>
          </a:prstGeom>
          <a:noFill/>
        </p:spPr>
        <p:txBody>
          <a:bodyPr anchor="t" rtlCol="false" lIns="0" tIns="0" rIns="0" bIns="0" wrap="square"/>
          <a:lstStyle/>
          <a:p>
            <a:pPr algn="l">
              <a:lnSpc>
                <a:spcPts val="2940"/>
              </a:lnSpc>
              <a:spcBef>
                <a:spcPts val="0"/>
              </a:spcBef>
              <a:buNone/>
            </a:pPr>
            <a:r>
              <a:rPr lang="en-US" sz="2100" b="true">
                <a:solidFill>
                  <a:srgbClr val="FFFFFF"/>
                </a:solidFill>
                <a:latin typeface="Nunito Semi-Bold"/>
                <a:ea typeface="Nunito Semi-Bold"/>
                <a:cs typeface="Nunito Semi-Bold"/>
                <a:sym typeface="Nunito Semi-Bold"/>
              </a:rPr>
              <a:t>Three contributions, one cooperative-game thread: faithful explanation </a:t>
            </a:r>
            <a:r>
              <a:rPr lang="en-US" sz="2100" b="true">
                <a:solidFill>
                  <a:srgbClr val="FFFFFF"/>
                </a:solidFill>
                <a:latin typeface="Calibri"/>
                <a:ea typeface="Calibri"/>
                <a:cs typeface="Calibri"/>
                <a:sym typeface="Calibri"/>
              </a:rPr>
              <a:t>→ </a:t>
            </a:r>
            <a:r>
              <a:rPr lang="en-US" sz="2100" b="true">
                <a:solidFill>
                  <a:srgbClr val="FFFFFF"/>
                </a:solidFill>
                <a:latin typeface="Nunito Semi-Bold"/>
                <a:ea typeface="Nunito Semi-Bold"/>
                <a:cs typeface="Nunito Semi-Bold"/>
                <a:sym typeface="Nunito Semi-Bold"/>
              </a:rPr>
              <a:t>consistency across levels </a:t>
            </a:r>
            <a:r>
              <a:rPr lang="en-US" sz="2100" b="true">
                <a:solidFill>
                  <a:srgbClr val="FFFFFF"/>
                </a:solidFill>
                <a:latin typeface="Calibri"/>
                <a:ea typeface="Calibri"/>
                <a:cs typeface="Calibri"/>
                <a:sym typeface="Calibri"/>
              </a:rPr>
              <a:t>→ </a:t>
            </a:r>
            <a:r>
              <a:rPr lang="en-US" sz="2100" b="true">
                <a:solidFill>
                  <a:srgbClr val="FFFFFF"/>
                </a:solidFill>
                <a:latin typeface="Nunito Semi-Bold"/>
                <a:ea typeface="Nunito Semi-Bold"/>
                <a:cs typeface="Nunito Semi-Bold"/>
                <a:sym typeface="Nunito Semi-Bold"/>
              </a:rPr>
              <a:t>in-training attribution.</a:t>
            </a:r>
          </a:p>
        </p:txBody>
      </p:sp>
      <p:sp>
        <p:nvSpPr>
          <p:cNvPr id="13" name="TextBox 12"/>
          <p:cNvSpPr txBox="1"/>
          <p:nvPr/>
        </p:nvSpPr>
        <p:spPr>
          <a:xfrm>
            <a:off x="6576060" y="5943600"/>
            <a:ext cx="5135880" cy="457200"/>
          </a:xfrm>
          <a:prstGeom prst="rect">
            <a:avLst/>
          </a:prstGeom>
          <a:noFill/>
        </p:spPr>
        <p:txBody>
          <a:bodyPr anchor="t" rtlCol="false" lIns="0" tIns="0" rIns="0" bIns="0" wrap="square"/>
          <a:lstStyle/>
          <a:p>
            <a:pPr algn="l">
              <a:lnSpc>
                <a:spcPts val="2800"/>
              </a:lnSpc>
              <a:spcBef>
                <a:spcPts val="0"/>
              </a:spcBef>
              <a:buNone/>
            </a:pPr>
            <a:r>
              <a:rPr lang="en-US" sz="2300" b="true">
                <a:solidFill>
                  <a:srgbClr val="ECC665"/>
                </a:solidFill>
                <a:latin typeface="Nunito Ultra-Bold"/>
                <a:ea typeface="Nunito Ultra-Bold"/>
                <a:cs typeface="Nunito Ultra-Bold"/>
                <a:sym typeface="Nunito Ultra-Bold"/>
              </a:rPr>
              <a:t>Limitations</a:t>
            </a:r>
          </a:p>
        </p:txBody>
      </p:sp>
      <p:cxnSp>
        <p:nvCxnSpPr>
          <p:cNvPr id="14" name="Connector 13"/>
          <p:cNvCxnSpPr/>
          <p:nvPr/>
        </p:nvCxnSpPr>
        <p:spPr>
          <a:xfrm>
            <a:off x="6576060" y="6464808"/>
            <a:ext cx="640080" cy="0"/>
          </a:xfrm>
          <a:prstGeom prst="line">
            <a:avLst/>
          </a:prstGeom>
          <a:ln w="31750">
            <a:solidFill>
              <a:srgbClr val="ECC665"/>
            </a:solidFill>
          </a:ln>
        </p:spPr>
      </p:cxnSp>
      <p:sp>
        <p:nvSpPr>
          <p:cNvPr id="15" name="TextBox 14"/>
          <p:cNvSpPr txBox="1"/>
          <p:nvPr/>
        </p:nvSpPr>
        <p:spPr>
          <a:xfrm>
            <a:off x="6576060" y="6675120"/>
            <a:ext cx="5135880" cy="3108960"/>
          </a:xfrm>
          <a:prstGeom prst="rect">
            <a:avLst/>
          </a:prstGeom>
          <a:noFill/>
        </p:spPr>
        <p:txBody>
          <a:bodyPr anchor="t" rtlCol="false" lIns="0" tIns="0" rIns="0" bIns="0" wrap="square"/>
          <a:lstStyle/>
          <a:p>
            <a:pPr algn="l">
              <a:lnSpc>
                <a:spcPts val="2940"/>
              </a:lnSpc>
              <a:spcBef>
                <a:spcPts val="0"/>
              </a:spcBef>
              <a:buNone/>
            </a:pPr>
            <a:r>
              <a:rPr lang="en-US" sz="2100" b="true">
                <a:solidFill>
                  <a:srgbClr val="FFFFFF"/>
                </a:solidFill>
                <a:latin typeface="Nunito Semi-Bold"/>
                <a:ea typeface="Nunito Semi-Bold"/>
                <a:cs typeface="Nunito Semi-Bold"/>
                <a:sym typeface="Nunito Semi-Bold"/>
              </a:rPr>
              <a:t>Approximation everywhere; surrogate fidelity; tabular and offline settings; no user study of actionability yet.</a:t>
            </a:r>
          </a:p>
        </p:txBody>
      </p:sp>
      <p:sp>
        <p:nvSpPr>
          <p:cNvPr id="16" name="TextBox 15"/>
          <p:cNvSpPr txBox="1"/>
          <p:nvPr/>
        </p:nvSpPr>
        <p:spPr>
          <a:xfrm>
            <a:off x="12123420" y="5943600"/>
            <a:ext cx="5135880" cy="457200"/>
          </a:xfrm>
          <a:prstGeom prst="rect">
            <a:avLst/>
          </a:prstGeom>
          <a:noFill/>
        </p:spPr>
        <p:txBody>
          <a:bodyPr anchor="t" rtlCol="false" lIns="0" tIns="0" rIns="0" bIns="0" wrap="square"/>
          <a:lstStyle/>
          <a:p>
            <a:pPr algn="l">
              <a:lnSpc>
                <a:spcPts val="2800"/>
              </a:lnSpc>
              <a:spcBef>
                <a:spcPts val="0"/>
              </a:spcBef>
              <a:buNone/>
            </a:pPr>
            <a:r>
              <a:rPr lang="en-US" sz="2300" b="true">
                <a:solidFill>
                  <a:srgbClr val="ECC665"/>
                </a:solidFill>
                <a:latin typeface="Nunito Ultra-Bold"/>
                <a:ea typeface="Nunito Ultra-Bold"/>
                <a:cs typeface="Nunito Ultra-Bold"/>
                <a:sym typeface="Nunito Ultra-Bold"/>
              </a:rPr>
              <a:t>Perspectives</a:t>
            </a:r>
          </a:p>
        </p:txBody>
      </p:sp>
      <p:cxnSp>
        <p:nvCxnSpPr>
          <p:cNvPr id="17" name="Connector 16"/>
          <p:cNvCxnSpPr/>
          <p:nvPr/>
        </p:nvCxnSpPr>
        <p:spPr>
          <a:xfrm>
            <a:off x="12123420" y="6464808"/>
            <a:ext cx="640080" cy="0"/>
          </a:xfrm>
          <a:prstGeom prst="line">
            <a:avLst/>
          </a:prstGeom>
          <a:ln w="31750">
            <a:solidFill>
              <a:srgbClr val="ECC665"/>
            </a:solidFill>
          </a:ln>
        </p:spPr>
      </p:cxnSp>
      <p:sp>
        <p:nvSpPr>
          <p:cNvPr id="18" name="TextBox 17"/>
          <p:cNvSpPr txBox="1"/>
          <p:nvPr/>
        </p:nvSpPr>
        <p:spPr>
          <a:xfrm>
            <a:off x="12123420" y="6675120"/>
            <a:ext cx="5135880" cy="3108960"/>
          </a:xfrm>
          <a:prstGeom prst="rect">
            <a:avLst/>
          </a:prstGeom>
          <a:noFill/>
        </p:spPr>
        <p:txBody>
          <a:bodyPr anchor="t" rtlCol="false" lIns="0" tIns="0" rIns="0" bIns="0" wrap="square"/>
          <a:lstStyle/>
          <a:p>
            <a:pPr algn="l">
              <a:lnSpc>
                <a:spcPts val="2940"/>
              </a:lnSpc>
              <a:spcBef>
                <a:spcPts val="0"/>
              </a:spcBef>
              <a:buNone/>
            </a:pPr>
            <a:r>
              <a:rPr lang="en-US" sz="2100" b="true">
                <a:solidFill>
                  <a:srgbClr val="FFFFFF"/>
                </a:solidFill>
                <a:latin typeface="Nunito Semi-Bold"/>
                <a:ea typeface="Nunito Semi-Bold"/>
                <a:cs typeface="Nunito Semi-Bold"/>
                <a:sym typeface="Nunito Semi-Bold"/>
              </a:rPr>
              <a:t>Scalable attribution, online / streaming recommendation, user-centred and trustworthy-AI evaluation.</a:t>
            </a:r>
          </a:p>
        </p:txBody>
      </p:sp>
    </p:spTree>
  </p:cSld>
  <p:clrMapOvr>
    <a:masterClrMapping/>
  </p:clrMapOvr>
</p:sld>
</file>

<file path=ppt/slides/slide8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pic>
        <p:nvPicPr>
          <p:cNvPr id="2" name="Picture 1" descr="ensias_logo.jpg"/>
          <p:cNvPicPr>
            <a:picLocks noChangeAspect="1"/>
          </p:cNvPicPr>
          <p:nvPr/>
        </p:nvPicPr>
        <p:blipFill>
          <a:blip r:embed="rId2"/>
          <a:stretch>
            <a:fillRect/>
          </a:stretch>
        </p:blipFill>
        <p:spPr>
          <a:xfrm>
            <a:off x="1028700" y="9674352"/>
            <a:ext cx="542964" cy="384048"/>
          </a:xfrm>
          <a:prstGeom prst="rect">
            <a:avLst/>
          </a:prstGeom>
        </p:spPr>
      </p:pic>
      <p:sp>
        <p:nvSpPr>
          <p:cNvPr id="3" name="TextBox 2"/>
          <p:cNvSpPr txBox="1"/>
          <p:nvPr/>
        </p:nvSpPr>
        <p:spPr>
          <a:xfrm>
            <a:off x="1577340" y="9601200"/>
            <a:ext cx="14493240" cy="566928"/>
          </a:xfrm>
          <a:prstGeom prst="rect">
            <a:avLst/>
          </a:prstGeom>
          <a:noFill/>
        </p:spPr>
        <p:txBody>
          <a:bodyPr anchor="ctr" rtlCol="false" lIns="0" tIns="0" rIns="0" bIns="0" wrap="square"/>
          <a:lstStyle/>
          <a:p>
            <a:pPr algn="l">
              <a:lnSpc>
                <a:spcPts val="1200"/>
              </a:lnSpc>
              <a:spcBef>
                <a:spcPts val="0"/>
              </a:spcBef>
              <a:buNone/>
            </a:pPr>
            <a:r>
              <a:rPr lang="en-US" sz="1000" b="true">
                <a:solidFill>
                  <a:srgbClr val="8A8378"/>
                </a:solidFill>
                <a:latin typeface="Nunito Semi-Bold"/>
                <a:ea typeface="Nunito Semi-Bold"/>
                <a:cs typeface="Nunito Semi-Bold"/>
                <a:sym typeface="Nunito Semi-Bold"/>
              </a:rPr>
              <a:t>[1] Louhichi, M., Nesmaoui, R., Mbarek, M. &amp; Lazaar, M. Shapley Values for Explaining the Black Box Nature of Machine Learning Model Clustering. Procedia Computer Science 220, 806–811 (2023).   [2] Louhichi, M., Nesmaoui, R. &amp; Lazaar, M. Game Theory Meets Explainable AI: An Enhanced Approach to Understanding Black Box Models Through Shapley Values. IJACSA 16(7), 716–725 (2025).   [3] Louhichi, M., Nesmaoui, R. &amp; Lazaar, M. DyHuCoG: A Dynamic Hypergraph Cooperative Game for Preference-aware Recommendation. IJIES 19(2), 887–902 (2026).</a:t>
            </a:r>
          </a:p>
        </p:txBody>
      </p:sp>
      <p:sp>
        <p:nvSpPr>
          <p:cNvPr id="4" name="TextBox 3"/>
          <p:cNvSpPr txBox="1"/>
          <p:nvPr/>
        </p:nvSpPr>
        <p:spPr>
          <a:xfrm>
            <a:off x="16162020" y="9692640"/>
            <a:ext cx="1097280" cy="329184"/>
          </a:xfrm>
          <a:prstGeom prst="rect">
            <a:avLst/>
          </a:prstGeom>
          <a:noFill/>
        </p:spPr>
        <p:txBody>
          <a:bodyPr anchor="t" rtlCol="false" lIns="0" tIns="0" rIns="0" bIns="0" wrap="square"/>
          <a:lstStyle/>
          <a:p>
            <a:pPr algn="r">
              <a:lnSpc>
                <a:spcPts val="2200"/>
              </a:lnSpc>
              <a:spcBef>
                <a:spcPts val="0"/>
              </a:spcBef>
              <a:buNone/>
            </a:pPr>
            <a:r>
              <a:rPr lang="en-US" sz="1800" b="true">
                <a:solidFill>
                  <a:srgbClr val="111111"/>
                </a:solidFill>
                <a:latin typeface="Nunito Ultra-Bold"/>
                <a:ea typeface="Nunito Ultra-Bold"/>
                <a:cs typeface="Nunito Ultra-Bold"/>
                <a:sym typeface="Nunito Ultra-Bold"/>
              </a:rPr>
              <a:t>68</a:t>
            </a:r>
          </a:p>
        </p:txBody>
      </p:sp>
      <p:sp>
        <p:nvSpPr>
          <p:cNvPr id="5" name="TextBox 4"/>
          <p:cNvSpPr txBox="1"/>
          <p:nvPr/>
        </p:nvSpPr>
        <p:spPr>
          <a:xfrm>
            <a:off x="1028700" y="1389888"/>
            <a:ext cx="12938760" cy="329184"/>
          </a:xfrm>
          <a:prstGeom prst="rect">
            <a:avLst/>
          </a:prstGeom>
          <a:noFill/>
        </p:spPr>
        <p:txBody>
          <a:bodyPr anchor="t" rtlCol="false" lIns="0" tIns="0" rIns="0" bIns="0" wrap="square"/>
          <a:lstStyle/>
          <a:p>
            <a:pPr algn="l">
              <a:lnSpc>
                <a:spcPts val="2000"/>
              </a:lnSpc>
              <a:spcBef>
                <a:spcPts val="0"/>
              </a:spcBef>
              <a:buNone/>
            </a:pPr>
            <a:r>
              <a:rPr lang="en-US" sz="1500" b="true" spc="160">
                <a:solidFill>
                  <a:srgbClr val="1F7A8C"/>
                </a:solidFill>
                <a:latin typeface="Nunito Ultra-Bold"/>
                <a:ea typeface="Nunito Ultra-Bold"/>
                <a:cs typeface="Nunito Ultra-Bold"/>
                <a:sym typeface="Nunito Ultra-Bold"/>
              </a:rPr>
              <a:t>CONCLUSION &amp; PERSPECTIVES</a:t>
            </a:r>
          </a:p>
        </p:txBody>
      </p:sp>
      <p:sp>
        <p:nvSpPr>
          <p:cNvPr id="6" name="Rounded Rectangle 5"/>
          <p:cNvSpPr/>
          <p:nvPr/>
        </p:nvSpPr>
        <p:spPr>
          <a:xfrm>
            <a:off x="14516100"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7" name="TextBox 6"/>
          <p:cNvSpPr txBox="1"/>
          <p:nvPr/>
        </p:nvSpPr>
        <p:spPr>
          <a:xfrm>
            <a:off x="14516100"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1</a:t>
            </a:r>
          </a:p>
        </p:txBody>
      </p:sp>
      <p:sp>
        <p:nvSpPr>
          <p:cNvPr id="8" name="Rounded Rectangle 7"/>
          <p:cNvSpPr/>
          <p:nvPr/>
        </p:nvSpPr>
        <p:spPr>
          <a:xfrm>
            <a:off x="14918436"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9" name="TextBox 8"/>
          <p:cNvSpPr txBox="1"/>
          <p:nvPr/>
        </p:nvSpPr>
        <p:spPr>
          <a:xfrm>
            <a:off x="14918436"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2</a:t>
            </a:r>
          </a:p>
        </p:txBody>
      </p:sp>
      <p:sp>
        <p:nvSpPr>
          <p:cNvPr id="10" name="Rounded Rectangle 9"/>
          <p:cNvSpPr/>
          <p:nvPr/>
        </p:nvSpPr>
        <p:spPr>
          <a:xfrm>
            <a:off x="15320772"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11" name="TextBox 10"/>
          <p:cNvSpPr txBox="1"/>
          <p:nvPr/>
        </p:nvSpPr>
        <p:spPr>
          <a:xfrm>
            <a:off x="15320772"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3</a:t>
            </a:r>
          </a:p>
        </p:txBody>
      </p:sp>
      <p:sp>
        <p:nvSpPr>
          <p:cNvPr id="12" name="Rounded Rectangle 11"/>
          <p:cNvSpPr/>
          <p:nvPr/>
        </p:nvSpPr>
        <p:spPr>
          <a:xfrm>
            <a:off x="15723108"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13" name="TextBox 12"/>
          <p:cNvSpPr txBox="1"/>
          <p:nvPr/>
        </p:nvSpPr>
        <p:spPr>
          <a:xfrm>
            <a:off x="15723108"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4</a:t>
            </a:r>
          </a:p>
        </p:txBody>
      </p:sp>
      <p:sp>
        <p:nvSpPr>
          <p:cNvPr id="14" name="Rounded Rectangle 13"/>
          <p:cNvSpPr/>
          <p:nvPr/>
        </p:nvSpPr>
        <p:spPr>
          <a:xfrm>
            <a:off x="16125444"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15" name="TextBox 14"/>
          <p:cNvSpPr txBox="1"/>
          <p:nvPr/>
        </p:nvSpPr>
        <p:spPr>
          <a:xfrm>
            <a:off x="16125444"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5</a:t>
            </a:r>
          </a:p>
        </p:txBody>
      </p:sp>
      <p:sp>
        <p:nvSpPr>
          <p:cNvPr id="16" name="Rounded Rectangle 15"/>
          <p:cNvSpPr/>
          <p:nvPr/>
        </p:nvSpPr>
        <p:spPr>
          <a:xfrm>
            <a:off x="16527780"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17" name="TextBox 16"/>
          <p:cNvSpPr txBox="1"/>
          <p:nvPr/>
        </p:nvSpPr>
        <p:spPr>
          <a:xfrm>
            <a:off x="16527780"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6</a:t>
            </a:r>
          </a:p>
        </p:txBody>
      </p:sp>
      <p:sp>
        <p:nvSpPr>
          <p:cNvPr id="18" name="Rounded Rectangle 17"/>
          <p:cNvSpPr/>
          <p:nvPr/>
        </p:nvSpPr>
        <p:spPr>
          <a:xfrm>
            <a:off x="16930116" y="1371600"/>
            <a:ext cx="329184" cy="329184"/>
          </a:xfrm>
          <a:prstGeom prst="roundRect">
            <a:avLst>
              <a:gd name="adj" fmla="val 16666"/>
            </a:avLst>
          </a:prstGeom>
          <a:solidFill>
            <a:srgbClr val="4472C4"/>
          </a:solidFill>
          <a:ln w="15875">
            <a:solidFill>
              <a:srgbClr val="4472C4"/>
            </a:solidFill>
          </a:ln>
        </p:spPr>
        <p:txBody>
          <a:bodyPr anchor="ctr" rtlCol="false" lIns="0" tIns="0" rIns="0" bIns="0" wrap="square"/>
          <a:lstStyle/>
          <a:p>
            <a:endParaRPr lang="en-US" sz="1800"/>
          </a:p>
        </p:txBody>
      </p:sp>
      <p:sp>
        <p:nvSpPr>
          <p:cNvPr id="19" name="TextBox 18"/>
          <p:cNvSpPr txBox="1"/>
          <p:nvPr/>
        </p:nvSpPr>
        <p:spPr>
          <a:xfrm>
            <a:off x="16930116"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FFFFFF"/>
                </a:solidFill>
                <a:latin typeface="Nunito Ultra-Bold"/>
                <a:ea typeface="Nunito Ultra-Bold"/>
                <a:cs typeface="Nunito Ultra-Bold"/>
                <a:sym typeface="Nunito Ultra-Bold"/>
              </a:rPr>
              <a:t>7</a:t>
            </a:r>
          </a:p>
        </p:txBody>
      </p:sp>
      <p:sp>
        <p:nvSpPr>
          <p:cNvPr id="20" name="TextBox 19"/>
          <p:cNvSpPr txBox="1"/>
          <p:nvPr/>
        </p:nvSpPr>
        <p:spPr>
          <a:xfrm>
            <a:off x="1028700" y="1719072"/>
            <a:ext cx="16230600" cy="730250"/>
          </a:xfrm>
          <a:prstGeom prst="rect">
            <a:avLst/>
          </a:prstGeom>
          <a:noFill/>
        </p:spPr>
        <p:txBody>
          <a:bodyPr anchor="t" rtlCol="false" lIns="0" tIns="0" rIns="0" bIns="0" wrap="square"/>
          <a:lstStyle/>
          <a:p>
            <a:pPr algn="l">
              <a:lnSpc>
                <a:spcPts val="5060"/>
              </a:lnSpc>
              <a:spcBef>
                <a:spcPts val="0"/>
              </a:spcBef>
              <a:buNone/>
            </a:pPr>
            <a:r>
              <a:rPr lang="en-US" sz="4600" b="true" spc="-230">
                <a:solidFill>
                  <a:srgbClr val="111111"/>
                </a:solidFill>
                <a:latin typeface="Roca Two Bold"/>
                <a:ea typeface="Roca Two Bold"/>
                <a:cs typeface="Roca Two Bold"/>
                <a:sym typeface="Roca Two Bold"/>
              </a:rPr>
              <a:t>Synthesis of the Three Contributions</a:t>
            </a:r>
          </a:p>
        </p:txBody>
      </p:sp>
      <p:sp>
        <p:nvSpPr>
          <p:cNvPr id="21" name="Rounded Rectangle 20"/>
          <p:cNvSpPr/>
          <p:nvPr/>
        </p:nvSpPr>
        <p:spPr>
          <a:xfrm>
            <a:off x="1028700" y="2559050"/>
            <a:ext cx="1604433" cy="420624"/>
          </a:xfrm>
          <a:prstGeom prst="roundRect">
            <a:avLst>
              <a:gd name="adj" fmla="val 50000"/>
            </a:avLst>
          </a:prstGeom>
          <a:solidFill>
            <a:srgbClr val="4472C4"/>
          </a:solidFill>
          <a:ln>
            <a:noFill/>
          </a:ln>
        </p:spPr>
        <p:txBody>
          <a:bodyPr anchor="ctr" rtlCol="false" lIns="45720" tIns="0" rIns="45720" bIns="0" wrap="square"/>
          <a:lstStyle/>
          <a:p>
            <a:pPr algn="ctr">
              <a:lnSpc>
                <a:spcPts val="2160"/>
              </a:lnSpc>
              <a:spcBef>
                <a:spcPts val="0"/>
              </a:spcBef>
              <a:buNone/>
            </a:pPr>
            <a:r>
              <a:rPr lang="en-US" sz="1800" b="true">
                <a:solidFill>
                  <a:srgbClr val="FFFFFF"/>
                </a:solidFill>
                <a:latin typeface="Nunito Bold"/>
                <a:ea typeface="Nunito Bold"/>
                <a:cs typeface="Nunito Bold"/>
                <a:sym typeface="Nunito Bold"/>
              </a:rPr>
              <a:t>Synthesis</a:t>
            </a:r>
          </a:p>
        </p:txBody>
      </p:sp>
      <p:sp>
        <p:nvSpPr>
          <p:cNvPr id="22" name="Rounded Rectangle 21"/>
          <p:cNvSpPr/>
          <p:nvPr/>
        </p:nvSpPr>
        <p:spPr>
          <a:xfrm>
            <a:off x="2761149" y="2559050"/>
            <a:ext cx="1893576" cy="420624"/>
          </a:xfrm>
          <a:prstGeom prst="roundRect">
            <a:avLst>
              <a:gd name="adj" fmla="val 50000"/>
            </a:avLst>
          </a:prstGeom>
          <a:noFill/>
          <a:ln w="28575">
            <a:solidFill>
              <a:srgbClr val="4472C4"/>
            </a:solidFill>
          </a:ln>
        </p:spPr>
        <p:txBody>
          <a:bodyPr anchor="ctr" rtlCol="false" lIns="45720" tIns="0" rIns="45720" bIns="0" wrap="square"/>
          <a:lstStyle/>
          <a:p>
            <a:pPr algn="ctr">
              <a:lnSpc>
                <a:spcPts val="2160"/>
              </a:lnSpc>
              <a:spcBef>
                <a:spcPts val="0"/>
              </a:spcBef>
              <a:buNone/>
            </a:pPr>
            <a:r>
              <a:rPr lang="en-US" sz="1800" b="true">
                <a:solidFill>
                  <a:srgbClr val="4472C4"/>
                </a:solidFill>
                <a:latin typeface="Nunito Bold"/>
                <a:ea typeface="Nunito Bold"/>
                <a:cs typeface="Nunito Bold"/>
                <a:sym typeface="Nunito Bold"/>
              </a:rPr>
              <a:t>Publications</a:t>
            </a:r>
          </a:p>
        </p:txBody>
      </p:sp>
      <p:sp>
        <p:nvSpPr>
          <p:cNvPr id="23" name="Rounded Rectangle 22"/>
          <p:cNvSpPr/>
          <p:nvPr/>
        </p:nvSpPr>
        <p:spPr>
          <a:xfrm>
            <a:off x="4782741" y="2559050"/>
            <a:ext cx="1765486" cy="420624"/>
          </a:xfrm>
          <a:prstGeom prst="roundRect">
            <a:avLst>
              <a:gd name="adj" fmla="val 50000"/>
            </a:avLst>
          </a:prstGeom>
          <a:noFill/>
          <a:ln w="28575">
            <a:solidFill>
              <a:srgbClr val="4472C4"/>
            </a:solidFill>
          </a:ln>
        </p:spPr>
        <p:txBody>
          <a:bodyPr anchor="ctr" rtlCol="false" lIns="45720" tIns="0" rIns="45720" bIns="0" wrap="square"/>
          <a:lstStyle/>
          <a:p>
            <a:pPr algn="ctr">
              <a:lnSpc>
                <a:spcPts val="2160"/>
              </a:lnSpc>
              <a:spcBef>
                <a:spcPts val="0"/>
              </a:spcBef>
              <a:buNone/>
            </a:pPr>
            <a:r>
              <a:rPr lang="en-US" sz="1800" b="true">
                <a:solidFill>
                  <a:srgbClr val="4472C4"/>
                </a:solidFill>
                <a:latin typeface="Nunito Bold"/>
                <a:ea typeface="Nunito Bold"/>
                <a:cs typeface="Nunito Bold"/>
                <a:sym typeface="Nunito Bold"/>
              </a:rPr>
              <a:t>Limitations</a:t>
            </a:r>
          </a:p>
        </p:txBody>
      </p:sp>
      <p:sp>
        <p:nvSpPr>
          <p:cNvPr id="24" name="Rounded Rectangle 23"/>
          <p:cNvSpPr/>
          <p:nvPr/>
        </p:nvSpPr>
        <p:spPr>
          <a:xfrm>
            <a:off x="6676243" y="2559050"/>
            <a:ext cx="1934074" cy="420624"/>
          </a:xfrm>
          <a:prstGeom prst="roundRect">
            <a:avLst>
              <a:gd name="adj" fmla="val 50000"/>
            </a:avLst>
          </a:prstGeom>
          <a:noFill/>
          <a:ln w="28575">
            <a:solidFill>
              <a:srgbClr val="4472C4"/>
            </a:solidFill>
          </a:ln>
        </p:spPr>
        <p:txBody>
          <a:bodyPr anchor="ctr" rtlCol="false" lIns="45720" tIns="0" rIns="45720" bIns="0" wrap="square"/>
          <a:lstStyle/>
          <a:p>
            <a:pPr algn="ctr">
              <a:lnSpc>
                <a:spcPts val="2160"/>
              </a:lnSpc>
              <a:spcBef>
                <a:spcPts val="0"/>
              </a:spcBef>
              <a:buNone/>
            </a:pPr>
            <a:r>
              <a:rPr lang="en-US" sz="1800" b="true">
                <a:solidFill>
                  <a:srgbClr val="4472C4"/>
                </a:solidFill>
                <a:latin typeface="Nunito Bold"/>
                <a:ea typeface="Nunito Bold"/>
                <a:cs typeface="Nunito Bold"/>
                <a:sym typeface="Nunito Bold"/>
              </a:rPr>
              <a:t>Perspectives</a:t>
            </a:r>
          </a:p>
        </p:txBody>
      </p:sp>
      <p:sp>
        <p:nvSpPr>
          <p:cNvPr id="25" name="Rounded Rectangle 24"/>
          <p:cNvSpPr/>
          <p:nvPr/>
        </p:nvSpPr>
        <p:spPr>
          <a:xfrm>
            <a:off x="8738333" y="2559050"/>
            <a:ext cx="1753007" cy="420624"/>
          </a:xfrm>
          <a:prstGeom prst="roundRect">
            <a:avLst>
              <a:gd name="adj" fmla="val 50000"/>
            </a:avLst>
          </a:prstGeom>
          <a:noFill/>
          <a:ln w="28575">
            <a:solidFill>
              <a:srgbClr val="4472C4"/>
            </a:solidFill>
          </a:ln>
        </p:spPr>
        <p:txBody>
          <a:bodyPr anchor="ctr" rtlCol="false" lIns="45720" tIns="0" rIns="45720" bIns="0" wrap="square"/>
          <a:lstStyle/>
          <a:p>
            <a:pPr algn="ctr">
              <a:lnSpc>
                <a:spcPts val="2160"/>
              </a:lnSpc>
              <a:spcBef>
                <a:spcPts val="0"/>
              </a:spcBef>
              <a:buNone/>
            </a:pPr>
            <a:r>
              <a:rPr lang="en-US" sz="1800" b="true">
                <a:solidFill>
                  <a:srgbClr val="4472C4"/>
                </a:solidFill>
                <a:latin typeface="Nunito Bold"/>
                <a:ea typeface="Nunito Bold"/>
                <a:cs typeface="Nunito Bold"/>
                <a:sym typeface="Nunito Bold"/>
              </a:rPr>
              <a:t>Conclusion</a:t>
            </a:r>
          </a:p>
        </p:txBody>
      </p:sp>
      <p:graphicFrame>
        <p:nvGraphicFramePr>
          <p:cNvPr id="26" name="Table 25"/>
          <p:cNvGraphicFramePr>
            <a:graphicFrameLocks noGrp="1"/>
          </p:cNvGraphicFramePr>
          <p:nvPr/>
        </p:nvGraphicFramePr>
        <p:xfrm>
          <a:off x="1028700" y="3363722"/>
          <a:ext cx="16230598" cy="2584704"/>
        </p:xfrm>
        <a:graphic>
          <a:graphicData uri="http://schemas.openxmlformats.org/drawingml/2006/table">
            <a:tbl>
              <a:tblPr firstRow="0" bandRow="0" firstCol="0" lastRow="0" lastCol="0" bandCol="0">
                <a:tableStyleId>{2D5ABB26-0587-4C30-8999-92F81FD0307C}</a:tableStyleId>
              </a:tblPr>
              <a:tblGrid>
                <a:gridCol w="1159328"/>
                <a:gridCol w="4379685"/>
                <a:gridCol w="4637314"/>
                <a:gridCol w="6054271"/>
              </a:tblGrid>
              <a:tr h="566928">
                <a:tc>
                  <a:txBody>
                    <a:bodyPr anchor="ctr" rtlCol="false" lIns="0" tIns="0" rIns="0" bIns="0" wrap="square"/>
                    <a:lstStyle/>
                    <a:p>
                      <a:pPr algn="ctr">
                        <a:lnSpc>
                          <a:spcPts val="2080"/>
                        </a:lnSpc>
                        <a:spcBef>
                          <a:spcPts val="0"/>
                        </a:spcBef>
                        <a:buNone/>
                      </a:pPr>
                      <a:endParaRPr lang="en-US" sz="2200"/>
                    </a:p>
                  </a:txBody>
                  <a:tcPr marL="73152" marR="73152" marT="45720" marB="45720" anchor="ctr">
                    <a:lnL w="12700" cap="flat" cmpd="sng" algn="ctr">
                      <a:solidFill>
                        <a:srgbClr val="4472C4"/>
                      </a:solidFill>
                      <a:prstDash val="solid"/>
                    </a:lnL>
                    <a:lnR w="12700" cap="flat" cmpd="sng" algn="ctr">
                      <a:solidFill>
                        <a:srgbClr val="4472C4"/>
                      </a:solidFill>
                      <a:prstDash val="solid"/>
                    </a:lnR>
                    <a:lnT w="12700" cap="flat" cmpd="sng" algn="ctr">
                      <a:solidFill>
                        <a:srgbClr val="4472C4"/>
                      </a:solidFill>
                      <a:prstDash val="solid"/>
                    </a:lnT>
                    <a:lnB w="12700" cap="flat" cmpd="sng" algn="ctr">
                      <a:solidFill>
                        <a:srgbClr val="4472C4"/>
                      </a:solidFill>
                      <a:prstDash val="solid"/>
                    </a:lnB>
                    <a:solidFill>
                      <a:srgbClr val="4472C4"/>
                    </a:solidFill>
                  </a:tcPr>
                </a:tc>
                <a:tc>
                  <a:txBody>
                    <a:bodyPr anchor="ctr" rtlCol="false" lIns="0" tIns="0" rIns="0" bIns="0" wrap="square"/>
                    <a:lstStyle/>
                    <a:p>
                      <a:pPr algn="l">
                        <a:lnSpc>
                          <a:spcPts val="2080"/>
                        </a:lnSpc>
                        <a:spcBef>
                          <a:spcPts val="0"/>
                        </a:spcBef>
                        <a:buNone/>
                      </a:pPr>
                      <a:r>
                        <a:rPr lang="en-US" sz="1600" b="true">
                          <a:solidFill>
                            <a:srgbClr val="FFFFFF"/>
                          </a:solidFill>
                          <a:latin typeface="Nunito Bold"/>
                          <a:ea typeface="Nunito Bold"/>
                          <a:cs typeface="Nunito Bold"/>
                          <a:sym typeface="Nunito Bold"/>
                        </a:rPr>
                        <a:t>Main idea</a:t>
                      </a:r>
                    </a:p>
                  </a:txBody>
                  <a:tcPr marL="73152" marR="73152" marT="45720" marB="45720" anchor="ctr">
                    <a:lnL w="12700" cap="flat" cmpd="sng" algn="ctr">
                      <a:solidFill>
                        <a:srgbClr val="4472C4"/>
                      </a:solidFill>
                      <a:prstDash val="solid"/>
                    </a:lnL>
                    <a:lnR w="12700" cap="flat" cmpd="sng" algn="ctr">
                      <a:solidFill>
                        <a:srgbClr val="4472C4"/>
                      </a:solidFill>
                      <a:prstDash val="solid"/>
                    </a:lnR>
                    <a:lnT w="12700" cap="flat" cmpd="sng" algn="ctr">
                      <a:solidFill>
                        <a:srgbClr val="4472C4"/>
                      </a:solidFill>
                      <a:prstDash val="solid"/>
                    </a:lnT>
                    <a:lnB w="12700" cap="flat" cmpd="sng" algn="ctr">
                      <a:solidFill>
                        <a:srgbClr val="4472C4"/>
                      </a:solidFill>
                      <a:prstDash val="solid"/>
                    </a:lnB>
                    <a:solidFill>
                      <a:srgbClr val="4472C4"/>
                    </a:solidFill>
                  </a:tcPr>
                </a:tc>
                <a:tc>
                  <a:txBody>
                    <a:bodyPr anchor="ctr" rtlCol="false" lIns="0" tIns="0" rIns="0" bIns="0" wrap="square"/>
                    <a:lstStyle/>
                    <a:p>
                      <a:pPr algn="l">
                        <a:lnSpc>
                          <a:spcPts val="2080"/>
                        </a:lnSpc>
                        <a:spcBef>
                          <a:spcPts val="0"/>
                        </a:spcBef>
                        <a:buNone/>
                      </a:pPr>
                      <a:r>
                        <a:rPr lang="en-US" sz="1600" b="true">
                          <a:solidFill>
                            <a:srgbClr val="FFFFFF"/>
                          </a:solidFill>
                          <a:latin typeface="Nunito Bold"/>
                          <a:ea typeface="Nunito Bold"/>
                          <a:cs typeface="Nunito Bold"/>
                          <a:sym typeface="Nunito Bold"/>
                        </a:rPr>
                        <a:t>Achievement</a:t>
                      </a:r>
                    </a:p>
                  </a:txBody>
                  <a:tcPr marL="73152" marR="73152" marT="45720" marB="45720" anchor="ctr">
                    <a:lnL w="12700" cap="flat" cmpd="sng" algn="ctr">
                      <a:solidFill>
                        <a:srgbClr val="4472C4"/>
                      </a:solidFill>
                      <a:prstDash val="solid"/>
                    </a:lnL>
                    <a:lnR w="12700" cap="flat" cmpd="sng" algn="ctr">
                      <a:solidFill>
                        <a:srgbClr val="4472C4"/>
                      </a:solidFill>
                      <a:prstDash val="solid"/>
                    </a:lnR>
                    <a:lnT w="12700" cap="flat" cmpd="sng" algn="ctr">
                      <a:solidFill>
                        <a:srgbClr val="4472C4"/>
                      </a:solidFill>
                      <a:prstDash val="solid"/>
                    </a:lnT>
                    <a:lnB w="12700" cap="flat" cmpd="sng" algn="ctr">
                      <a:solidFill>
                        <a:srgbClr val="4472C4"/>
                      </a:solidFill>
                      <a:prstDash val="solid"/>
                    </a:lnB>
                    <a:solidFill>
                      <a:srgbClr val="4472C4"/>
                    </a:solidFill>
                  </a:tcPr>
                </a:tc>
                <a:tc>
                  <a:txBody>
                    <a:bodyPr anchor="ctr" rtlCol="false" lIns="0" tIns="0" rIns="0" bIns="0" wrap="square"/>
                    <a:lstStyle/>
                    <a:p>
                      <a:pPr algn="l">
                        <a:lnSpc>
                          <a:spcPts val="2080"/>
                        </a:lnSpc>
                        <a:spcBef>
                          <a:spcPts val="0"/>
                        </a:spcBef>
                        <a:buNone/>
                      </a:pPr>
                      <a:r>
                        <a:rPr lang="en-US" sz="1600" b="true">
                          <a:solidFill>
                            <a:srgbClr val="FFFFFF"/>
                          </a:solidFill>
                          <a:latin typeface="Nunito Bold"/>
                          <a:ea typeface="Nunito Bold"/>
                          <a:cs typeface="Nunito Bold"/>
                          <a:sym typeface="Nunito Bold"/>
                        </a:rPr>
                        <a:t>Key finding</a:t>
                      </a:r>
                    </a:p>
                  </a:txBody>
                  <a:tcPr marL="73152" marR="73152" marT="45720" marB="45720" anchor="ctr">
                    <a:lnL w="12700" cap="flat" cmpd="sng" algn="ctr">
                      <a:solidFill>
                        <a:srgbClr val="4472C4"/>
                      </a:solidFill>
                      <a:prstDash val="solid"/>
                    </a:lnL>
                    <a:lnR w="12700" cap="flat" cmpd="sng" algn="ctr">
                      <a:solidFill>
                        <a:srgbClr val="4472C4"/>
                      </a:solidFill>
                      <a:prstDash val="solid"/>
                    </a:lnR>
                    <a:lnT w="12700" cap="flat" cmpd="sng" algn="ctr">
                      <a:solidFill>
                        <a:srgbClr val="4472C4"/>
                      </a:solidFill>
                      <a:prstDash val="solid"/>
                    </a:lnT>
                    <a:lnB w="12700" cap="flat" cmpd="sng" algn="ctr">
                      <a:solidFill>
                        <a:srgbClr val="4472C4"/>
                      </a:solidFill>
                      <a:prstDash val="solid"/>
                    </a:lnB>
                    <a:solidFill>
                      <a:srgbClr val="4472C4"/>
                    </a:solidFill>
                  </a:tcPr>
                </a:tc>
              </a:tr>
              <a:tr h="566928">
                <a:tc>
                  <a:txBody>
                    <a:bodyPr anchor="ctr" rtlCol="false" lIns="0" tIns="0" rIns="0" bIns="0" wrap="square"/>
                    <a:lstStyle/>
                    <a:p>
                      <a:pPr algn="ctr">
                        <a:lnSpc>
                          <a:spcPts val="2600"/>
                        </a:lnSpc>
                        <a:spcBef>
                          <a:spcPts val="0"/>
                        </a:spcBef>
                        <a:buNone/>
                      </a:pPr>
                      <a:r>
                        <a:rPr lang="en-US" sz="2200" b="true" spc="-110">
                          <a:solidFill>
                            <a:srgbClr val="FFFFFF"/>
                          </a:solidFill>
                          <a:latin typeface="Roca Two Bold"/>
                          <a:ea typeface="Roca Two Bold"/>
                          <a:cs typeface="Roca Two Bold"/>
                          <a:sym typeface="Roca Two Bold"/>
                        </a:rPr>
                        <a:t>C1</a:t>
                      </a:r>
                    </a:p>
                  </a:txBody>
                  <a:tcPr marL="73152" marR="73152"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4472C4"/>
                    </a:solidFill>
                  </a:tcPr>
                </a:tc>
                <a:tc>
                  <a:txBody>
                    <a:bodyPr anchor="ctr" rtlCol="false" lIns="0" tIns="0" rIns="0" bIns="0" wrap="square"/>
                    <a:lstStyle/>
                    <a:p>
                      <a:pPr algn="l">
                        <a:lnSpc>
                          <a:spcPts val="2080"/>
                        </a:lnSpc>
                        <a:spcBef>
                          <a:spcPts val="0"/>
                        </a:spcBef>
                        <a:buNone/>
                      </a:pPr>
                      <a:r>
                        <a:rPr lang="en-US" sz="1600" b="true">
                          <a:solidFill>
                            <a:srgbClr val="111111"/>
                          </a:solidFill>
                          <a:latin typeface="Nunito Semi-Bold"/>
                          <a:ea typeface="Nunito Semi-Bold"/>
                          <a:cs typeface="Nunito Semi-Bold"/>
                          <a:sym typeface="Nunito Semi-Bold"/>
                        </a:rPr>
                        <a:t>Explain black-box clustering via Shapley</a:t>
                      </a:r>
                    </a:p>
                  </a:txBody>
                  <a:tcPr marL="73152" marR="73152"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c>
                  <a:txBody>
                    <a:bodyPr anchor="ctr" rtlCol="false" lIns="0" tIns="0" rIns="0" bIns="0" wrap="square"/>
                    <a:lstStyle/>
                    <a:p>
                      <a:pPr algn="l">
                        <a:lnSpc>
                          <a:spcPts val="2080"/>
                        </a:lnSpc>
                        <a:spcBef>
                          <a:spcPts val="0"/>
                        </a:spcBef>
                        <a:buNone/>
                      </a:pPr>
                      <a:r>
                        <a:rPr lang="en-US" sz="1600" b="true">
                          <a:solidFill>
                            <a:srgbClr val="111111"/>
                          </a:solidFill>
                          <a:latin typeface="Nunito Semi-Bold"/>
                          <a:ea typeface="Nunito Semi-Bold"/>
                          <a:cs typeface="Nunito Semi-Bold"/>
                          <a:sym typeface="Nunito Semi-Bold"/>
                        </a:rPr>
                        <a:t>PCA–K-Means–LightGBM–TreeSHAP pipeline</a:t>
                      </a:r>
                    </a:p>
                  </a:txBody>
                  <a:tcPr marL="73152" marR="73152"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c>
                  <a:txBody>
                    <a:bodyPr anchor="ctr" rtlCol="false" lIns="0" tIns="0" rIns="0" bIns="0" wrap="square"/>
                    <a:lstStyle/>
                    <a:p>
                      <a:pPr algn="l">
                        <a:lnSpc>
                          <a:spcPts val="2080"/>
                        </a:lnSpc>
                        <a:spcBef>
                          <a:spcPts val="0"/>
                        </a:spcBef>
                        <a:buNone/>
                      </a:pPr>
                      <a:r>
                        <a:rPr lang="en-US" sz="1600" b="true">
                          <a:solidFill>
                            <a:srgbClr val="111111"/>
                          </a:solidFill>
                          <a:latin typeface="Nunito Semi-Bold"/>
                          <a:ea typeface="Nunito Semi-Bold"/>
                          <a:cs typeface="Nunito Semi-Bold"/>
                          <a:sym typeface="Nunito Semi-Bold"/>
                        </a:rPr>
                        <a:t>Faithful, chemistry-consistent cluster attribution (wine)</a:t>
                      </a:r>
                    </a:p>
                  </a:txBody>
                  <a:tcPr marL="73152" marR="73152"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r>
              <a:tr h="725424">
                <a:tc>
                  <a:txBody>
                    <a:bodyPr anchor="ctr" rtlCol="false" lIns="0" tIns="0" rIns="0" bIns="0" wrap="square"/>
                    <a:lstStyle/>
                    <a:p>
                      <a:pPr algn="ctr">
                        <a:lnSpc>
                          <a:spcPts val="2600"/>
                        </a:lnSpc>
                        <a:spcBef>
                          <a:spcPts val="0"/>
                        </a:spcBef>
                        <a:buNone/>
                      </a:pPr>
                      <a:r>
                        <a:rPr lang="en-US" sz="2200" b="true" spc="-110">
                          <a:solidFill>
                            <a:srgbClr val="FFFFFF"/>
                          </a:solidFill>
                          <a:latin typeface="Roca Two Bold"/>
                          <a:ea typeface="Roca Two Bold"/>
                          <a:cs typeface="Roca Two Bold"/>
                          <a:sym typeface="Roca Two Bold"/>
                        </a:rPr>
                        <a:t>C2</a:t>
                      </a:r>
                    </a:p>
                  </a:txBody>
                  <a:tcPr marL="73152" marR="73152"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2F5597"/>
                    </a:solidFill>
                  </a:tcPr>
                </a:tc>
                <a:tc>
                  <a:txBody>
                    <a:bodyPr anchor="ctr" rtlCol="false" lIns="0" tIns="0" rIns="0" bIns="0" wrap="square"/>
                    <a:lstStyle/>
                    <a:p>
                      <a:pPr algn="l">
                        <a:lnSpc>
                          <a:spcPts val="2080"/>
                        </a:lnSpc>
                        <a:spcBef>
                          <a:spcPts val="0"/>
                        </a:spcBef>
                        <a:buNone/>
                      </a:pPr>
                      <a:r>
                        <a:rPr lang="en-US" sz="1600" b="true">
                          <a:solidFill>
                            <a:srgbClr val="111111"/>
                          </a:solidFill>
                          <a:latin typeface="Nunito Semi-Bold"/>
                          <a:ea typeface="Nunito Semi-Bold"/>
                          <a:cs typeface="Nunito Semi-Bold"/>
                          <a:sym typeface="Nunito Semi-Bold"/>
                        </a:rPr>
                        <a:t>Multi-level, large-scale clustering XAI</a:t>
                      </a:r>
                    </a:p>
                  </a:txBody>
                  <a:tcPr marL="73152" marR="73152"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6ECDF"/>
                    </a:solidFill>
                  </a:tcPr>
                </a:tc>
                <a:tc>
                  <a:txBody>
                    <a:bodyPr anchor="ctr" rtlCol="false" lIns="0" tIns="0" rIns="0" bIns="0" wrap="square"/>
                    <a:lstStyle/>
                    <a:p>
                      <a:pPr algn="l">
                        <a:lnSpc>
                          <a:spcPts val="2080"/>
                        </a:lnSpc>
                        <a:spcBef>
                          <a:spcPts val="0"/>
                        </a:spcBef>
                        <a:buNone/>
                      </a:pPr>
                      <a:r>
                        <a:rPr lang="en-US" sz="1600" b="true">
                          <a:solidFill>
                            <a:srgbClr val="111111"/>
                          </a:solidFill>
                          <a:latin typeface="Nunito Semi-Bold"/>
                          <a:ea typeface="Nunito Semi-Bold"/>
                          <a:cs typeface="Nunito Semi-Bold"/>
                          <a:sym typeface="Nunito Semi-Bold"/>
                        </a:rPr>
                        <a:t>Cross-level SHAP aggregation + Proposition 6.1</a:t>
                      </a:r>
                    </a:p>
                  </a:txBody>
                  <a:tcPr marL="73152" marR="73152"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6ECDF"/>
                    </a:solidFill>
                  </a:tcPr>
                </a:tc>
                <a:tc>
                  <a:txBody>
                    <a:bodyPr anchor="ctr" rtlCol="false" lIns="0" tIns="0" rIns="0" bIns="0" wrap="square"/>
                    <a:lstStyle/>
                    <a:p>
                      <a:pPr algn="l">
                        <a:lnSpc>
                          <a:spcPts val="2080"/>
                        </a:lnSpc>
                        <a:spcBef>
                          <a:spcPts val="0"/>
                        </a:spcBef>
                        <a:buNone/>
                      </a:pPr>
                      <a:r>
                        <a:rPr lang="en-US" sz="1600" b="true">
                          <a:solidFill>
                            <a:srgbClr val="111111"/>
                          </a:solidFill>
                          <a:latin typeface="Nunito Semi-Bold"/>
                          <a:ea typeface="Nunito Semi-Bold"/>
                          <a:cs typeface="Nunito Semi-Bold"/>
                          <a:sym typeface="Nunito Semi-Bold"/>
                        </a:rPr>
                        <a:t>Consistent across levels; explains the differences between them</a:t>
                      </a:r>
                    </a:p>
                  </a:txBody>
                  <a:tcPr marL="73152" marR="73152"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6ECDF"/>
                    </a:solidFill>
                  </a:tcPr>
                </a:tc>
              </a:tr>
              <a:tr h="725424">
                <a:tc>
                  <a:txBody>
                    <a:bodyPr anchor="ctr" rtlCol="false" lIns="0" tIns="0" rIns="0" bIns="0" wrap="square"/>
                    <a:lstStyle/>
                    <a:p>
                      <a:pPr algn="ctr">
                        <a:lnSpc>
                          <a:spcPts val="2600"/>
                        </a:lnSpc>
                        <a:spcBef>
                          <a:spcPts val="0"/>
                        </a:spcBef>
                        <a:buNone/>
                      </a:pPr>
                      <a:r>
                        <a:rPr lang="en-US" sz="2200" b="true" spc="-110">
                          <a:solidFill>
                            <a:srgbClr val="FFFFFF"/>
                          </a:solidFill>
                          <a:latin typeface="Roca Two Bold"/>
                          <a:ea typeface="Roca Two Bold"/>
                          <a:cs typeface="Roca Two Bold"/>
                          <a:sym typeface="Roca Two Bold"/>
                        </a:rPr>
                        <a:t>C3</a:t>
                      </a:r>
                    </a:p>
                  </a:txBody>
                  <a:tcPr marL="73152" marR="73152"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1F7A8C"/>
                    </a:solidFill>
                  </a:tcPr>
                </a:tc>
                <a:tc>
                  <a:txBody>
                    <a:bodyPr anchor="ctr" rtlCol="false" lIns="0" tIns="0" rIns="0" bIns="0" wrap="square"/>
                    <a:lstStyle/>
                    <a:p>
                      <a:pPr algn="l">
                        <a:lnSpc>
                          <a:spcPts val="2080"/>
                        </a:lnSpc>
                        <a:spcBef>
                          <a:spcPts val="0"/>
                        </a:spcBef>
                        <a:buNone/>
                      </a:pPr>
                      <a:r>
                        <a:rPr lang="en-US" sz="1600" b="true">
                          <a:solidFill>
                            <a:srgbClr val="111111"/>
                          </a:solidFill>
                          <a:latin typeface="Nunito Semi-Bold"/>
                          <a:ea typeface="Nunito Semi-Bold"/>
                          <a:cs typeface="Nunito Semi-Bold"/>
                          <a:sym typeface="Nunito Semi-Bold"/>
                        </a:rPr>
                        <a:t>DyHuCoG hypergraph cooperative game</a:t>
                      </a:r>
                    </a:p>
                  </a:txBody>
                  <a:tcPr marL="73152" marR="73152"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c>
                  <a:txBody>
                    <a:bodyPr anchor="ctr" rtlCol="false" lIns="0" tIns="0" rIns="0" bIns="0" wrap="square"/>
                    <a:lstStyle/>
                    <a:p>
                      <a:pPr algn="l">
                        <a:lnSpc>
                          <a:spcPts val="2080"/>
                        </a:lnSpc>
                        <a:spcBef>
                          <a:spcPts val="0"/>
                        </a:spcBef>
                        <a:buNone/>
                      </a:pPr>
                      <a:r>
                        <a:rPr lang="en-US" sz="1600" b="true">
                          <a:solidFill>
                            <a:srgbClr val="111111"/>
                          </a:solidFill>
                          <a:latin typeface="Nunito Semi-Bold"/>
                          <a:ea typeface="Nunito Semi-Bold"/>
                          <a:cs typeface="Nunito Semi-Bold"/>
                          <a:sym typeface="Nunito Semi-Bold"/>
                        </a:rPr>
                        <a:t>Preference-aware Shapley as an in-training signal</a:t>
                      </a:r>
                    </a:p>
                  </a:txBody>
                  <a:tcPr marL="73152" marR="73152"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c>
                  <a:txBody>
                    <a:bodyPr anchor="ctr" rtlCol="false" lIns="0" tIns="0" rIns="0" bIns="0" wrap="square"/>
                    <a:lstStyle/>
                    <a:p>
                      <a:pPr algn="l">
                        <a:lnSpc>
                          <a:spcPts val="2080"/>
                        </a:lnSpc>
                        <a:spcBef>
                          <a:spcPts val="0"/>
                        </a:spcBef>
                        <a:buNone/>
                      </a:pPr>
                      <a:r>
                        <a:rPr lang="en-US" sz="1600" b="true">
                          <a:solidFill>
                            <a:srgbClr val="111111"/>
                          </a:solidFill>
                          <a:latin typeface="Nunito Semi-Bold"/>
                          <a:ea typeface="Nunito Semi-Bold"/>
                          <a:cs typeface="Nunito Semi-Bold"/>
                          <a:sym typeface="Nunito Semi-Bold"/>
                        </a:rPr>
                        <a:t>Accuracy + coverage + diversity improve together</a:t>
                      </a:r>
                    </a:p>
                  </a:txBody>
                  <a:tcPr marL="73152" marR="73152"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r>
            </a:tbl>
          </a:graphicData>
        </a:graphic>
      </p:graphicFrame>
      <p:sp>
        <p:nvSpPr>
          <p:cNvPr id="27" name="Rounded Rectangle 26"/>
          <p:cNvSpPr/>
          <p:nvPr/>
        </p:nvSpPr>
        <p:spPr>
          <a:xfrm>
            <a:off x="1028700" y="6314186"/>
            <a:ext cx="4023360" cy="822960"/>
          </a:xfrm>
          <a:prstGeom prst="roundRect">
            <a:avLst>
              <a:gd name="adj" fmla="val 27777"/>
            </a:avLst>
          </a:prstGeom>
          <a:solidFill>
            <a:srgbClr val="4472C4"/>
          </a:solidFill>
          <a:ln>
            <a:noFill/>
          </a:ln>
        </p:spPr>
        <p:txBody>
          <a:bodyPr anchor="ctr" rtlCol="false" lIns="91440" tIns="45720" rIns="91440" bIns="45720" wrap="square"/>
          <a:lstStyle/>
          <a:p>
            <a:pPr algn="ctr">
              <a:lnSpc>
                <a:spcPts val="2415"/>
              </a:lnSpc>
              <a:spcBef>
                <a:spcPts val="0"/>
              </a:spcBef>
              <a:buNone/>
            </a:pPr>
            <a:r>
              <a:rPr lang="en-US" sz="2100" b="true">
                <a:solidFill>
                  <a:srgbClr val="FFFFFF"/>
                </a:solidFill>
                <a:latin typeface="Nunito Bold"/>
                <a:ea typeface="Nunito Bold"/>
                <a:cs typeface="Nunito Bold"/>
                <a:sym typeface="Nunito Bold"/>
              </a:rPr>
              <a:t>Explain</a:t>
            </a:r>
          </a:p>
          <a:p>
            <a:pPr algn="ctr">
              <a:lnSpc>
                <a:spcPts val="1560"/>
              </a:lnSpc>
              <a:spcBef>
                <a:spcPts val="300"/>
              </a:spcBef>
              <a:buNone/>
            </a:pPr>
            <a:r>
              <a:rPr lang="en-US" sz="1300" b="true">
                <a:solidFill>
                  <a:srgbClr val="FFFFFF"/>
                </a:solidFill>
                <a:latin typeface="Nunito Semi-Bold"/>
                <a:ea typeface="Nunito Semi-Bold"/>
                <a:cs typeface="Nunito Semi-Bold"/>
                <a:sym typeface="Nunito Semi-Bold"/>
              </a:rPr>
              <a:t>post-hoc, single level</a:t>
            </a:r>
          </a:p>
        </p:txBody>
      </p:sp>
      <p:cxnSp>
        <p:nvCxnSpPr>
          <p:cNvPr id="28" name="Connector 27"/>
          <p:cNvCxnSpPr/>
          <p:nvPr/>
        </p:nvCxnSpPr>
        <p:spPr>
          <a:xfrm>
            <a:off x="5143500" y="6725666"/>
            <a:ext cx="1897380" cy="0"/>
          </a:xfrm>
          <a:prstGeom prst="line">
            <a:avLst/>
          </a:prstGeom>
          <a:ln w="38100">
            <a:solidFill>
              <a:srgbClr val="4472C4"/>
            </a:solidFill>
            <a:tailEnd type="triangle" w="med" len="med"/>
          </a:ln>
        </p:spPr>
      </p:cxnSp>
      <p:sp>
        <p:nvSpPr>
          <p:cNvPr id="29" name="Rounded Rectangle 28"/>
          <p:cNvSpPr/>
          <p:nvPr/>
        </p:nvSpPr>
        <p:spPr>
          <a:xfrm>
            <a:off x="7132320" y="6314186"/>
            <a:ext cx="4023360" cy="822960"/>
          </a:xfrm>
          <a:prstGeom prst="roundRect">
            <a:avLst>
              <a:gd name="adj" fmla="val 27777"/>
            </a:avLst>
          </a:prstGeom>
          <a:solidFill>
            <a:srgbClr val="2F5597"/>
          </a:solidFill>
          <a:ln>
            <a:noFill/>
          </a:ln>
        </p:spPr>
        <p:txBody>
          <a:bodyPr anchor="ctr" rtlCol="false" lIns="91440" tIns="45720" rIns="91440" bIns="45720" wrap="square"/>
          <a:lstStyle/>
          <a:p>
            <a:pPr algn="ctr">
              <a:lnSpc>
                <a:spcPts val="2415"/>
              </a:lnSpc>
              <a:spcBef>
                <a:spcPts val="0"/>
              </a:spcBef>
              <a:buNone/>
            </a:pPr>
            <a:r>
              <a:rPr lang="en-US" sz="2100" b="true">
                <a:solidFill>
                  <a:srgbClr val="FFFFFF"/>
                </a:solidFill>
                <a:latin typeface="Nunito Bold"/>
                <a:ea typeface="Nunito Bold"/>
                <a:cs typeface="Nunito Bold"/>
                <a:sym typeface="Nunito Bold"/>
              </a:rPr>
              <a:t>Scale</a:t>
            </a:r>
          </a:p>
          <a:p>
            <a:pPr algn="ctr">
              <a:lnSpc>
                <a:spcPts val="1560"/>
              </a:lnSpc>
              <a:spcBef>
                <a:spcPts val="300"/>
              </a:spcBef>
              <a:buNone/>
            </a:pPr>
            <a:r>
              <a:rPr lang="en-US" sz="1300" b="true">
                <a:solidFill>
                  <a:srgbClr val="FFFFFF"/>
                </a:solidFill>
                <a:latin typeface="Nunito Semi-Bold"/>
                <a:ea typeface="Nunito Semi-Bold"/>
                <a:cs typeface="Nunito Semi-Bold"/>
                <a:sym typeface="Nunito Semi-Bold"/>
              </a:rPr>
              <a:t>post-hoc, hierarchical</a:t>
            </a:r>
          </a:p>
        </p:txBody>
      </p:sp>
      <p:cxnSp>
        <p:nvCxnSpPr>
          <p:cNvPr id="30" name="Connector 29"/>
          <p:cNvCxnSpPr/>
          <p:nvPr/>
        </p:nvCxnSpPr>
        <p:spPr>
          <a:xfrm>
            <a:off x="11247120" y="6725666"/>
            <a:ext cx="1897380" cy="0"/>
          </a:xfrm>
          <a:prstGeom prst="line">
            <a:avLst/>
          </a:prstGeom>
          <a:ln w="38100">
            <a:solidFill>
              <a:srgbClr val="4472C4"/>
            </a:solidFill>
            <a:tailEnd type="triangle" w="med" len="med"/>
          </a:ln>
        </p:spPr>
      </p:cxnSp>
      <p:sp>
        <p:nvSpPr>
          <p:cNvPr id="31" name="Rounded Rectangle 30"/>
          <p:cNvSpPr/>
          <p:nvPr/>
        </p:nvSpPr>
        <p:spPr>
          <a:xfrm>
            <a:off x="13235940" y="6314186"/>
            <a:ext cx="4023360" cy="822960"/>
          </a:xfrm>
          <a:prstGeom prst="roundRect">
            <a:avLst>
              <a:gd name="adj" fmla="val 27777"/>
            </a:avLst>
          </a:prstGeom>
          <a:solidFill>
            <a:srgbClr val="1F7A8C"/>
          </a:solidFill>
          <a:ln>
            <a:noFill/>
          </a:ln>
        </p:spPr>
        <p:txBody>
          <a:bodyPr anchor="ctr" rtlCol="false" lIns="91440" tIns="45720" rIns="91440" bIns="45720" wrap="square"/>
          <a:lstStyle/>
          <a:p>
            <a:pPr algn="ctr">
              <a:lnSpc>
                <a:spcPts val="2415"/>
              </a:lnSpc>
              <a:spcBef>
                <a:spcPts val="0"/>
              </a:spcBef>
              <a:buNone/>
            </a:pPr>
            <a:r>
              <a:rPr lang="en-US" sz="2100" b="true">
                <a:solidFill>
                  <a:srgbClr val="FFFFFF"/>
                </a:solidFill>
                <a:latin typeface="Nunito Bold"/>
                <a:ea typeface="Nunito Bold"/>
                <a:cs typeface="Nunito Bold"/>
                <a:sym typeface="Nunito Bold"/>
              </a:rPr>
              <a:t>Guide</a:t>
            </a:r>
          </a:p>
          <a:p>
            <a:pPr algn="ctr">
              <a:lnSpc>
                <a:spcPts val="1560"/>
              </a:lnSpc>
              <a:spcBef>
                <a:spcPts val="300"/>
              </a:spcBef>
              <a:buNone/>
            </a:pPr>
            <a:r>
              <a:rPr lang="en-US" sz="1300" b="true">
                <a:solidFill>
                  <a:srgbClr val="FFFFFF"/>
                </a:solidFill>
                <a:latin typeface="Nunito Semi-Bold"/>
                <a:ea typeface="Nunito Semi-Bold"/>
                <a:cs typeface="Nunito Semi-Bold"/>
                <a:sym typeface="Nunito Semi-Bold"/>
              </a:rPr>
              <a:t>in-training signal</a:t>
            </a:r>
          </a:p>
        </p:txBody>
      </p:sp>
      <p:sp>
        <p:nvSpPr>
          <p:cNvPr id="32" name="Rounded Rectangle 31"/>
          <p:cNvSpPr/>
          <p:nvPr/>
        </p:nvSpPr>
        <p:spPr>
          <a:xfrm>
            <a:off x="1028700" y="7640066"/>
            <a:ext cx="16230600" cy="1577086"/>
          </a:xfrm>
          <a:prstGeom prst="roundRect">
            <a:avLst>
              <a:gd name="adj" fmla="val 12755"/>
            </a:avLst>
          </a:prstGeom>
          <a:solidFill>
            <a:srgbClr val="F6ECDF"/>
          </a:solidFill>
          <a:ln w="25400">
            <a:solidFill>
              <a:srgbClr val="1F7A8C"/>
            </a:solidFill>
          </a:ln>
        </p:spPr>
        <p:txBody>
          <a:bodyPr anchor="ctr" rtlCol="false" lIns="0" tIns="0" rIns="0" bIns="0" wrap="square"/>
          <a:lstStyle/>
          <a:p>
            <a:endParaRPr lang="en-US" sz="1800"/>
          </a:p>
        </p:txBody>
      </p:sp>
      <p:sp>
        <p:nvSpPr>
          <p:cNvPr id="33" name="Rounded Rectangle 32"/>
          <p:cNvSpPr/>
          <p:nvPr/>
        </p:nvSpPr>
        <p:spPr>
          <a:xfrm>
            <a:off x="1348740" y="7448042"/>
            <a:ext cx="2510554" cy="384048"/>
          </a:xfrm>
          <a:prstGeom prst="roundRect">
            <a:avLst>
              <a:gd name="adj" fmla="val 50000"/>
            </a:avLst>
          </a:prstGeom>
          <a:solidFill>
            <a:srgbClr val="1F7A8C"/>
          </a:solidFill>
          <a:ln w="28575">
            <a:solidFill>
              <a:srgbClr val="1F7A8C"/>
            </a:solidFill>
          </a:ln>
        </p:spPr>
        <p:txBody>
          <a:bodyPr anchor="ctr" rtlCol="false" lIns="45720" tIns="0" rIns="45720" bIns="0" wrap="square"/>
          <a:lstStyle/>
          <a:p>
            <a:pPr algn="ctr">
              <a:lnSpc>
                <a:spcPts val="1680"/>
              </a:lnSpc>
              <a:spcBef>
                <a:spcPts val="0"/>
              </a:spcBef>
              <a:buNone/>
            </a:pPr>
            <a:r>
              <a:rPr lang="en-US" sz="1400" b="true">
                <a:solidFill>
                  <a:srgbClr val="FFFFFF"/>
                </a:solidFill>
                <a:latin typeface="Nunito Bold"/>
                <a:ea typeface="Nunito Bold"/>
                <a:cs typeface="Nunito Bold"/>
                <a:sym typeface="Nunito Bold"/>
              </a:rPr>
              <a:t>TAKEAWAY  ·  THESIS</a:t>
            </a:r>
          </a:p>
        </p:txBody>
      </p:sp>
      <p:sp>
        <p:nvSpPr>
          <p:cNvPr id="34" name="TextBox 33"/>
          <p:cNvSpPr txBox="1"/>
          <p:nvPr/>
        </p:nvSpPr>
        <p:spPr>
          <a:xfrm>
            <a:off x="1394460" y="7914386"/>
            <a:ext cx="15499080" cy="1165606"/>
          </a:xfrm>
          <a:prstGeom prst="rect">
            <a:avLst/>
          </a:prstGeom>
          <a:noFill/>
        </p:spPr>
        <p:txBody>
          <a:bodyPr anchor="ctr" rtlCol="false" lIns="0" tIns="0" rIns="0" bIns="0" wrap="square"/>
          <a:lstStyle/>
          <a:p>
            <a:pPr algn="l">
              <a:lnSpc>
                <a:spcPts val="2800"/>
              </a:lnSpc>
              <a:spcBef>
                <a:spcPts val="0"/>
              </a:spcBef>
              <a:buNone/>
            </a:pPr>
            <a:r>
              <a:rPr lang="en-US" sz="2000" b="true">
                <a:solidFill>
                  <a:srgbClr val="111111"/>
                </a:solidFill>
                <a:latin typeface="Nunito Semi-Bold"/>
                <a:ea typeface="Nunito Semi-Bold"/>
                <a:cs typeface="Nunito Semi-Bold"/>
                <a:sym typeface="Nunito Semi-Bold"/>
              </a:rPr>
              <a:t>One cooperative-game definition, three value functions: the same Shapley logic </a:t>
            </a:r>
            <a:r>
              <a:rPr lang="en-US" sz="2000" b="true">
                <a:solidFill>
                  <a:srgbClr val="111111"/>
                </a:solidFill>
                <a:latin typeface="Nunito Bold"/>
                <a:ea typeface="Nunito Bold"/>
                <a:cs typeface="Nunito Bold"/>
                <a:sym typeface="Nunito Bold"/>
              </a:rPr>
              <a:t>explains</a:t>
            </a:r>
            <a:r>
              <a:rPr lang="en-US" sz="2000" b="true">
                <a:solidFill>
                  <a:srgbClr val="111111"/>
                </a:solidFill>
                <a:latin typeface="Nunito Semi-Bold"/>
                <a:ea typeface="Nunito Semi-Bold"/>
                <a:cs typeface="Nunito Semi-Bold"/>
                <a:sym typeface="Nunito Semi-Bold"/>
              </a:rPr>
              <a:t> a partition, </a:t>
            </a:r>
            <a:r>
              <a:rPr lang="en-US" sz="2000" b="true">
                <a:solidFill>
                  <a:srgbClr val="111111"/>
                </a:solidFill>
                <a:latin typeface="Nunito Bold"/>
                <a:ea typeface="Nunito Bold"/>
                <a:cs typeface="Nunito Bold"/>
                <a:sym typeface="Nunito Bold"/>
              </a:rPr>
              <a:t>stays consistent</a:t>
            </a:r>
            <a:r>
              <a:rPr lang="en-US" sz="2000" b="true">
                <a:solidFill>
                  <a:srgbClr val="111111"/>
                </a:solidFill>
                <a:latin typeface="Nunito Semi-Bold"/>
                <a:ea typeface="Nunito Semi-Bold"/>
                <a:cs typeface="Nunito Semi-Bold"/>
                <a:sym typeface="Nunito Semi-Bold"/>
              </a:rPr>
              <a:t> across levels, and finally </a:t>
            </a:r>
            <a:r>
              <a:rPr lang="en-US" sz="2000" b="true">
                <a:solidFill>
                  <a:srgbClr val="111111"/>
                </a:solidFill>
                <a:latin typeface="Nunito Bold"/>
                <a:ea typeface="Nunito Bold"/>
                <a:cs typeface="Nunito Bold"/>
                <a:sym typeface="Nunito Bold"/>
              </a:rPr>
              <a:t>guides</a:t>
            </a:r>
            <a:r>
              <a:rPr lang="en-US" sz="2000" b="true">
                <a:solidFill>
                  <a:srgbClr val="111111"/>
                </a:solidFill>
                <a:latin typeface="Nunito Semi-Bold"/>
                <a:ea typeface="Nunito Semi-Bold"/>
                <a:cs typeface="Nunito Semi-Bold"/>
                <a:sym typeface="Nunito Semi-Bold"/>
              </a:rPr>
              <a:t> what a recommender learns.</a:t>
            </a:r>
          </a:p>
        </p:txBody>
      </p:sp>
    </p:spTree>
  </p:cSld>
  <p:clrMapOvr>
    <a:masterClrMapping/>
  </p:clrMapOvr>
</p:sld>
</file>

<file path=ppt/slides/slide8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pic>
        <p:nvPicPr>
          <p:cNvPr id="2" name="Picture 1" descr="ensias_logo.jpg"/>
          <p:cNvPicPr>
            <a:picLocks noChangeAspect="1"/>
          </p:cNvPicPr>
          <p:nvPr/>
        </p:nvPicPr>
        <p:blipFill>
          <a:blip r:embed="rId2"/>
          <a:stretch>
            <a:fillRect/>
          </a:stretch>
        </p:blipFill>
        <p:spPr>
          <a:xfrm>
            <a:off x="1028700" y="9674352"/>
            <a:ext cx="542964" cy="384048"/>
          </a:xfrm>
          <a:prstGeom prst="rect">
            <a:avLst/>
          </a:prstGeom>
        </p:spPr>
      </p:pic>
      <p:sp>
        <p:nvSpPr>
          <p:cNvPr id="3" name="TextBox 2"/>
          <p:cNvSpPr txBox="1"/>
          <p:nvPr/>
        </p:nvSpPr>
        <p:spPr>
          <a:xfrm>
            <a:off x="1577340" y="9747504"/>
            <a:ext cx="12801600" cy="274320"/>
          </a:xfrm>
          <a:prstGeom prst="rect">
            <a:avLst/>
          </a:prstGeom>
          <a:noFill/>
        </p:spPr>
        <p:txBody>
          <a:bodyPr anchor="t" rtlCol="false" lIns="0" tIns="0" rIns="0" bIns="0" wrap="square"/>
          <a:lstStyle/>
          <a:p>
            <a:pPr algn="l">
              <a:lnSpc>
                <a:spcPts val="1600"/>
              </a:lnSpc>
              <a:spcBef>
                <a:spcPts val="0"/>
              </a:spcBef>
              <a:buNone/>
            </a:pPr>
            <a:r>
              <a:rPr lang="en-US" sz="1300" b="true">
                <a:solidFill>
                  <a:srgbClr val="8A8378"/>
                </a:solidFill>
                <a:latin typeface="Nunito Bold"/>
                <a:ea typeface="Nunito Bold"/>
                <a:cs typeface="Nunito Bold"/>
                <a:sym typeface="Nunito Bold"/>
              </a:rPr>
              <a:t>Cooperative Game Theory for Explainable AI in Recommendation Systems  ·  A Shapley Framework for Actionable Insight</a:t>
            </a:r>
          </a:p>
        </p:txBody>
      </p:sp>
      <p:sp>
        <p:nvSpPr>
          <p:cNvPr id="4" name="TextBox 3"/>
          <p:cNvSpPr txBox="1"/>
          <p:nvPr/>
        </p:nvSpPr>
        <p:spPr>
          <a:xfrm>
            <a:off x="16162020" y="9692640"/>
            <a:ext cx="1097280" cy="329184"/>
          </a:xfrm>
          <a:prstGeom prst="rect">
            <a:avLst/>
          </a:prstGeom>
          <a:noFill/>
        </p:spPr>
        <p:txBody>
          <a:bodyPr anchor="t" rtlCol="false" lIns="0" tIns="0" rIns="0" bIns="0" wrap="square"/>
          <a:lstStyle/>
          <a:p>
            <a:pPr algn="r">
              <a:lnSpc>
                <a:spcPts val="2200"/>
              </a:lnSpc>
              <a:spcBef>
                <a:spcPts val="0"/>
              </a:spcBef>
              <a:buNone/>
            </a:pPr>
            <a:r>
              <a:rPr lang="en-US" sz="1800" b="true">
                <a:solidFill>
                  <a:srgbClr val="111111"/>
                </a:solidFill>
                <a:latin typeface="Nunito Ultra-Bold"/>
                <a:ea typeface="Nunito Ultra-Bold"/>
                <a:cs typeface="Nunito Ultra-Bold"/>
                <a:sym typeface="Nunito Ultra-Bold"/>
              </a:rPr>
              <a:t>69</a:t>
            </a:r>
          </a:p>
        </p:txBody>
      </p:sp>
      <p:sp>
        <p:nvSpPr>
          <p:cNvPr id="5" name="TextBox 4"/>
          <p:cNvSpPr txBox="1"/>
          <p:nvPr/>
        </p:nvSpPr>
        <p:spPr>
          <a:xfrm>
            <a:off x="1028700" y="1389888"/>
            <a:ext cx="12938760" cy="329184"/>
          </a:xfrm>
          <a:prstGeom prst="rect">
            <a:avLst/>
          </a:prstGeom>
          <a:noFill/>
        </p:spPr>
        <p:txBody>
          <a:bodyPr anchor="t" rtlCol="false" lIns="0" tIns="0" rIns="0" bIns="0" wrap="square"/>
          <a:lstStyle/>
          <a:p>
            <a:pPr algn="l">
              <a:lnSpc>
                <a:spcPts val="2000"/>
              </a:lnSpc>
              <a:spcBef>
                <a:spcPts val="0"/>
              </a:spcBef>
              <a:buNone/>
            </a:pPr>
            <a:r>
              <a:rPr lang="en-US" sz="1500" b="true" spc="160">
                <a:solidFill>
                  <a:srgbClr val="1F7A8C"/>
                </a:solidFill>
                <a:latin typeface="Nunito Ultra-Bold"/>
                <a:ea typeface="Nunito Ultra-Bold"/>
                <a:cs typeface="Nunito Ultra-Bold"/>
                <a:sym typeface="Nunito Ultra-Bold"/>
              </a:rPr>
              <a:t>CONCLUSION &amp; PERSPECTIVES</a:t>
            </a:r>
          </a:p>
        </p:txBody>
      </p:sp>
      <p:sp>
        <p:nvSpPr>
          <p:cNvPr id="6" name="Rounded Rectangle 5"/>
          <p:cNvSpPr/>
          <p:nvPr/>
        </p:nvSpPr>
        <p:spPr>
          <a:xfrm>
            <a:off x="14516100"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7" name="TextBox 6"/>
          <p:cNvSpPr txBox="1"/>
          <p:nvPr/>
        </p:nvSpPr>
        <p:spPr>
          <a:xfrm>
            <a:off x="14516100"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1</a:t>
            </a:r>
          </a:p>
        </p:txBody>
      </p:sp>
      <p:sp>
        <p:nvSpPr>
          <p:cNvPr id="8" name="Rounded Rectangle 7"/>
          <p:cNvSpPr/>
          <p:nvPr/>
        </p:nvSpPr>
        <p:spPr>
          <a:xfrm>
            <a:off x="14918436"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9" name="TextBox 8"/>
          <p:cNvSpPr txBox="1"/>
          <p:nvPr/>
        </p:nvSpPr>
        <p:spPr>
          <a:xfrm>
            <a:off x="14918436"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2</a:t>
            </a:r>
          </a:p>
        </p:txBody>
      </p:sp>
      <p:sp>
        <p:nvSpPr>
          <p:cNvPr id="10" name="Rounded Rectangle 9"/>
          <p:cNvSpPr/>
          <p:nvPr/>
        </p:nvSpPr>
        <p:spPr>
          <a:xfrm>
            <a:off x="15320772"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11" name="TextBox 10"/>
          <p:cNvSpPr txBox="1"/>
          <p:nvPr/>
        </p:nvSpPr>
        <p:spPr>
          <a:xfrm>
            <a:off x="15320772"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3</a:t>
            </a:r>
          </a:p>
        </p:txBody>
      </p:sp>
      <p:sp>
        <p:nvSpPr>
          <p:cNvPr id="12" name="Rounded Rectangle 11"/>
          <p:cNvSpPr/>
          <p:nvPr/>
        </p:nvSpPr>
        <p:spPr>
          <a:xfrm>
            <a:off x="15723108"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13" name="TextBox 12"/>
          <p:cNvSpPr txBox="1"/>
          <p:nvPr/>
        </p:nvSpPr>
        <p:spPr>
          <a:xfrm>
            <a:off x="15723108"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4</a:t>
            </a:r>
          </a:p>
        </p:txBody>
      </p:sp>
      <p:sp>
        <p:nvSpPr>
          <p:cNvPr id="14" name="Rounded Rectangle 13"/>
          <p:cNvSpPr/>
          <p:nvPr/>
        </p:nvSpPr>
        <p:spPr>
          <a:xfrm>
            <a:off x="16125444"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15" name="TextBox 14"/>
          <p:cNvSpPr txBox="1"/>
          <p:nvPr/>
        </p:nvSpPr>
        <p:spPr>
          <a:xfrm>
            <a:off x="16125444"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5</a:t>
            </a:r>
          </a:p>
        </p:txBody>
      </p:sp>
      <p:sp>
        <p:nvSpPr>
          <p:cNvPr id="16" name="Rounded Rectangle 15"/>
          <p:cNvSpPr/>
          <p:nvPr/>
        </p:nvSpPr>
        <p:spPr>
          <a:xfrm>
            <a:off x="16527780"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17" name="TextBox 16"/>
          <p:cNvSpPr txBox="1"/>
          <p:nvPr/>
        </p:nvSpPr>
        <p:spPr>
          <a:xfrm>
            <a:off x="16527780"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6</a:t>
            </a:r>
          </a:p>
        </p:txBody>
      </p:sp>
      <p:sp>
        <p:nvSpPr>
          <p:cNvPr id="18" name="Rounded Rectangle 17"/>
          <p:cNvSpPr/>
          <p:nvPr/>
        </p:nvSpPr>
        <p:spPr>
          <a:xfrm>
            <a:off x="16930116" y="1371600"/>
            <a:ext cx="329184" cy="329184"/>
          </a:xfrm>
          <a:prstGeom prst="roundRect">
            <a:avLst>
              <a:gd name="adj" fmla="val 16666"/>
            </a:avLst>
          </a:prstGeom>
          <a:solidFill>
            <a:srgbClr val="4472C4"/>
          </a:solidFill>
          <a:ln w="15875">
            <a:solidFill>
              <a:srgbClr val="4472C4"/>
            </a:solidFill>
          </a:ln>
        </p:spPr>
        <p:txBody>
          <a:bodyPr anchor="ctr" rtlCol="false" lIns="0" tIns="0" rIns="0" bIns="0" wrap="square"/>
          <a:lstStyle/>
          <a:p>
            <a:endParaRPr lang="en-US" sz="1800"/>
          </a:p>
        </p:txBody>
      </p:sp>
      <p:sp>
        <p:nvSpPr>
          <p:cNvPr id="19" name="TextBox 18"/>
          <p:cNvSpPr txBox="1"/>
          <p:nvPr/>
        </p:nvSpPr>
        <p:spPr>
          <a:xfrm>
            <a:off x="16930116"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FFFFFF"/>
                </a:solidFill>
                <a:latin typeface="Nunito Ultra-Bold"/>
                <a:ea typeface="Nunito Ultra-Bold"/>
                <a:cs typeface="Nunito Ultra-Bold"/>
                <a:sym typeface="Nunito Ultra-Bold"/>
              </a:rPr>
              <a:t>7</a:t>
            </a:r>
          </a:p>
        </p:txBody>
      </p:sp>
      <p:sp>
        <p:nvSpPr>
          <p:cNvPr id="20" name="TextBox 19"/>
          <p:cNvSpPr txBox="1"/>
          <p:nvPr/>
        </p:nvSpPr>
        <p:spPr>
          <a:xfrm>
            <a:off x="1028700" y="1719072"/>
            <a:ext cx="16230600" cy="730250"/>
          </a:xfrm>
          <a:prstGeom prst="rect">
            <a:avLst/>
          </a:prstGeom>
          <a:noFill/>
        </p:spPr>
        <p:txBody>
          <a:bodyPr anchor="t" rtlCol="false" lIns="0" tIns="0" rIns="0" bIns="0" wrap="square"/>
          <a:lstStyle/>
          <a:p>
            <a:pPr algn="l">
              <a:lnSpc>
                <a:spcPts val="5060"/>
              </a:lnSpc>
              <a:spcBef>
                <a:spcPts val="0"/>
              </a:spcBef>
              <a:buNone/>
            </a:pPr>
            <a:r>
              <a:rPr lang="en-US" sz="4600" b="true" spc="-230">
                <a:solidFill>
                  <a:srgbClr val="111111"/>
                </a:solidFill>
                <a:latin typeface="Roca Two Bold"/>
                <a:ea typeface="Roca Two Bold"/>
                <a:cs typeface="Roca Two Bold"/>
                <a:sym typeface="Roca Two Bold"/>
              </a:rPr>
              <a:t>Publications Supporting the Thesis</a:t>
            </a:r>
          </a:p>
        </p:txBody>
      </p:sp>
      <p:sp>
        <p:nvSpPr>
          <p:cNvPr id="21" name="Rounded Rectangle 20"/>
          <p:cNvSpPr/>
          <p:nvPr/>
        </p:nvSpPr>
        <p:spPr>
          <a:xfrm>
            <a:off x="1028700" y="2559050"/>
            <a:ext cx="1604433" cy="420624"/>
          </a:xfrm>
          <a:prstGeom prst="roundRect">
            <a:avLst>
              <a:gd name="adj" fmla="val 50000"/>
            </a:avLst>
          </a:prstGeom>
          <a:noFill/>
          <a:ln w="28575">
            <a:solidFill>
              <a:srgbClr val="4472C4"/>
            </a:solidFill>
          </a:ln>
        </p:spPr>
        <p:txBody>
          <a:bodyPr anchor="ctr" rtlCol="false" lIns="45720" tIns="0" rIns="45720" bIns="0" wrap="square"/>
          <a:lstStyle/>
          <a:p>
            <a:pPr algn="ctr">
              <a:lnSpc>
                <a:spcPts val="2160"/>
              </a:lnSpc>
              <a:spcBef>
                <a:spcPts val="0"/>
              </a:spcBef>
              <a:buNone/>
            </a:pPr>
            <a:r>
              <a:rPr lang="en-US" sz="1800" b="true">
                <a:solidFill>
                  <a:srgbClr val="4472C4"/>
                </a:solidFill>
                <a:latin typeface="Nunito Bold"/>
                <a:ea typeface="Nunito Bold"/>
                <a:cs typeface="Nunito Bold"/>
                <a:sym typeface="Nunito Bold"/>
              </a:rPr>
              <a:t>Synthesis</a:t>
            </a:r>
          </a:p>
        </p:txBody>
      </p:sp>
      <p:sp>
        <p:nvSpPr>
          <p:cNvPr id="22" name="Rounded Rectangle 21"/>
          <p:cNvSpPr/>
          <p:nvPr/>
        </p:nvSpPr>
        <p:spPr>
          <a:xfrm>
            <a:off x="2761149" y="2559050"/>
            <a:ext cx="1893576" cy="420624"/>
          </a:xfrm>
          <a:prstGeom prst="roundRect">
            <a:avLst>
              <a:gd name="adj" fmla="val 50000"/>
            </a:avLst>
          </a:prstGeom>
          <a:solidFill>
            <a:srgbClr val="4472C4"/>
          </a:solidFill>
          <a:ln>
            <a:noFill/>
          </a:ln>
        </p:spPr>
        <p:txBody>
          <a:bodyPr anchor="ctr" rtlCol="false" lIns="45720" tIns="0" rIns="45720" bIns="0" wrap="square"/>
          <a:lstStyle/>
          <a:p>
            <a:pPr algn="ctr">
              <a:lnSpc>
                <a:spcPts val="2160"/>
              </a:lnSpc>
              <a:spcBef>
                <a:spcPts val="0"/>
              </a:spcBef>
              <a:buNone/>
            </a:pPr>
            <a:r>
              <a:rPr lang="en-US" sz="1800" b="true">
                <a:solidFill>
                  <a:srgbClr val="FFFFFF"/>
                </a:solidFill>
                <a:latin typeface="Nunito Bold"/>
                <a:ea typeface="Nunito Bold"/>
                <a:cs typeface="Nunito Bold"/>
                <a:sym typeface="Nunito Bold"/>
              </a:rPr>
              <a:t>Publications</a:t>
            </a:r>
          </a:p>
        </p:txBody>
      </p:sp>
      <p:sp>
        <p:nvSpPr>
          <p:cNvPr id="23" name="Rounded Rectangle 22"/>
          <p:cNvSpPr/>
          <p:nvPr/>
        </p:nvSpPr>
        <p:spPr>
          <a:xfrm>
            <a:off x="4782741" y="2559050"/>
            <a:ext cx="1765486" cy="420624"/>
          </a:xfrm>
          <a:prstGeom prst="roundRect">
            <a:avLst>
              <a:gd name="adj" fmla="val 50000"/>
            </a:avLst>
          </a:prstGeom>
          <a:noFill/>
          <a:ln w="28575">
            <a:solidFill>
              <a:srgbClr val="4472C4"/>
            </a:solidFill>
          </a:ln>
        </p:spPr>
        <p:txBody>
          <a:bodyPr anchor="ctr" rtlCol="false" lIns="45720" tIns="0" rIns="45720" bIns="0" wrap="square"/>
          <a:lstStyle/>
          <a:p>
            <a:pPr algn="ctr">
              <a:lnSpc>
                <a:spcPts val="2160"/>
              </a:lnSpc>
              <a:spcBef>
                <a:spcPts val="0"/>
              </a:spcBef>
              <a:buNone/>
            </a:pPr>
            <a:r>
              <a:rPr lang="en-US" sz="1800" b="true">
                <a:solidFill>
                  <a:srgbClr val="4472C4"/>
                </a:solidFill>
                <a:latin typeface="Nunito Bold"/>
                <a:ea typeface="Nunito Bold"/>
                <a:cs typeface="Nunito Bold"/>
                <a:sym typeface="Nunito Bold"/>
              </a:rPr>
              <a:t>Limitations</a:t>
            </a:r>
          </a:p>
        </p:txBody>
      </p:sp>
      <p:sp>
        <p:nvSpPr>
          <p:cNvPr id="24" name="Rounded Rectangle 23"/>
          <p:cNvSpPr/>
          <p:nvPr/>
        </p:nvSpPr>
        <p:spPr>
          <a:xfrm>
            <a:off x="6676243" y="2559050"/>
            <a:ext cx="1934074" cy="420624"/>
          </a:xfrm>
          <a:prstGeom prst="roundRect">
            <a:avLst>
              <a:gd name="adj" fmla="val 50000"/>
            </a:avLst>
          </a:prstGeom>
          <a:noFill/>
          <a:ln w="28575">
            <a:solidFill>
              <a:srgbClr val="4472C4"/>
            </a:solidFill>
          </a:ln>
        </p:spPr>
        <p:txBody>
          <a:bodyPr anchor="ctr" rtlCol="false" lIns="45720" tIns="0" rIns="45720" bIns="0" wrap="square"/>
          <a:lstStyle/>
          <a:p>
            <a:pPr algn="ctr">
              <a:lnSpc>
                <a:spcPts val="2160"/>
              </a:lnSpc>
              <a:spcBef>
                <a:spcPts val="0"/>
              </a:spcBef>
              <a:buNone/>
            </a:pPr>
            <a:r>
              <a:rPr lang="en-US" sz="1800" b="true">
                <a:solidFill>
                  <a:srgbClr val="4472C4"/>
                </a:solidFill>
                <a:latin typeface="Nunito Bold"/>
                <a:ea typeface="Nunito Bold"/>
                <a:cs typeface="Nunito Bold"/>
                <a:sym typeface="Nunito Bold"/>
              </a:rPr>
              <a:t>Perspectives</a:t>
            </a:r>
          </a:p>
        </p:txBody>
      </p:sp>
      <p:sp>
        <p:nvSpPr>
          <p:cNvPr id="25" name="Rounded Rectangle 24"/>
          <p:cNvSpPr/>
          <p:nvPr/>
        </p:nvSpPr>
        <p:spPr>
          <a:xfrm>
            <a:off x="8738333" y="2559050"/>
            <a:ext cx="1753007" cy="420624"/>
          </a:xfrm>
          <a:prstGeom prst="roundRect">
            <a:avLst>
              <a:gd name="adj" fmla="val 50000"/>
            </a:avLst>
          </a:prstGeom>
          <a:noFill/>
          <a:ln w="28575">
            <a:solidFill>
              <a:srgbClr val="4472C4"/>
            </a:solidFill>
          </a:ln>
        </p:spPr>
        <p:txBody>
          <a:bodyPr anchor="ctr" rtlCol="false" lIns="45720" tIns="0" rIns="45720" bIns="0" wrap="square"/>
          <a:lstStyle/>
          <a:p>
            <a:pPr algn="ctr">
              <a:lnSpc>
                <a:spcPts val="2160"/>
              </a:lnSpc>
              <a:spcBef>
                <a:spcPts val="0"/>
              </a:spcBef>
              <a:buNone/>
            </a:pPr>
            <a:r>
              <a:rPr lang="en-US" sz="1800" b="true">
                <a:solidFill>
                  <a:srgbClr val="4472C4"/>
                </a:solidFill>
                <a:latin typeface="Nunito Bold"/>
                <a:ea typeface="Nunito Bold"/>
                <a:cs typeface="Nunito Bold"/>
                <a:sym typeface="Nunito Bold"/>
              </a:rPr>
              <a:t>Conclusion</a:t>
            </a:r>
          </a:p>
        </p:txBody>
      </p:sp>
      <p:graphicFrame>
        <p:nvGraphicFramePr>
          <p:cNvPr id="26" name="Table 25"/>
          <p:cNvGraphicFramePr>
            <a:graphicFrameLocks noGrp="1"/>
          </p:cNvGraphicFramePr>
          <p:nvPr/>
        </p:nvGraphicFramePr>
        <p:xfrm>
          <a:off x="1028700" y="3363722"/>
          <a:ext cx="16230594" cy="3291840"/>
        </p:xfrm>
        <a:graphic>
          <a:graphicData uri="http://schemas.openxmlformats.org/drawingml/2006/table">
            <a:tbl>
              <a:tblPr firstRow="0" bandRow="0" firstCol="0" lastRow="0" lastCol="0" bandCol="0">
                <a:tableStyleId>{2D5ABB26-0587-4C30-8999-92F81FD0307C}</a:tableStyleId>
              </a:tblPr>
              <a:tblGrid>
                <a:gridCol w="656729"/>
                <a:gridCol w="2814554"/>
                <a:gridCol w="5253835"/>
                <a:gridCol w="3189828"/>
                <a:gridCol w="750547"/>
                <a:gridCol w="2439280"/>
                <a:gridCol w="1125821"/>
              </a:tblGrid>
              <a:tr h="822960">
                <a:tc>
                  <a:txBody>
                    <a:bodyPr anchor="ctr" rtlCol="false" lIns="0" tIns="0" rIns="0" bIns="0" wrap="square"/>
                    <a:lstStyle/>
                    <a:p>
                      <a:pPr algn="ctr">
                        <a:lnSpc>
                          <a:spcPts val="1820"/>
                        </a:lnSpc>
                        <a:spcBef>
                          <a:spcPts val="0"/>
                        </a:spcBef>
                        <a:buNone/>
                      </a:pPr>
                      <a:endParaRPr lang="en-US" sz="2200"/>
                    </a:p>
                  </a:txBody>
                  <a:tcPr marL="64008" marR="64008" marT="45720" marB="45720" anchor="ctr">
                    <a:lnL w="12700" cap="flat" cmpd="sng" algn="ctr">
                      <a:solidFill>
                        <a:srgbClr val="4472C4"/>
                      </a:solidFill>
                      <a:prstDash val="solid"/>
                    </a:lnL>
                    <a:lnR w="12700" cap="flat" cmpd="sng" algn="ctr">
                      <a:solidFill>
                        <a:srgbClr val="4472C4"/>
                      </a:solidFill>
                      <a:prstDash val="solid"/>
                    </a:lnR>
                    <a:lnT w="12700" cap="flat" cmpd="sng" algn="ctr">
                      <a:solidFill>
                        <a:srgbClr val="4472C4"/>
                      </a:solidFill>
                      <a:prstDash val="solid"/>
                    </a:lnT>
                    <a:lnB w="12700" cap="flat" cmpd="sng" algn="ctr">
                      <a:solidFill>
                        <a:srgbClr val="4472C4"/>
                      </a:solidFill>
                      <a:prstDash val="solid"/>
                    </a:lnB>
                    <a:solidFill>
                      <a:srgbClr val="4472C4"/>
                    </a:solidFill>
                  </a:tcPr>
                </a:tc>
                <a:tc>
                  <a:txBody>
                    <a:bodyPr anchor="ctr" rtlCol="false" lIns="0" tIns="0" rIns="0" bIns="0" wrap="square"/>
                    <a:lstStyle/>
                    <a:p>
                      <a:pPr algn="l">
                        <a:lnSpc>
                          <a:spcPts val="1820"/>
                        </a:lnSpc>
                        <a:spcBef>
                          <a:spcPts val="0"/>
                        </a:spcBef>
                        <a:buNone/>
                      </a:pPr>
                      <a:r>
                        <a:rPr lang="en-US" sz="1400" b="true">
                          <a:solidFill>
                            <a:srgbClr val="FFFFFF"/>
                          </a:solidFill>
                          <a:latin typeface="Nunito Bold"/>
                          <a:ea typeface="Nunito Bold"/>
                          <a:cs typeface="Nunito Bold"/>
                          <a:sym typeface="Nunito Bold"/>
                        </a:rPr>
                        <a:t>Authors</a:t>
                      </a:r>
                    </a:p>
                  </a:txBody>
                  <a:tcPr marL="64008" marR="64008" marT="45720" marB="45720" anchor="ctr">
                    <a:lnL w="12700" cap="flat" cmpd="sng" algn="ctr">
                      <a:solidFill>
                        <a:srgbClr val="4472C4"/>
                      </a:solidFill>
                      <a:prstDash val="solid"/>
                    </a:lnL>
                    <a:lnR w="12700" cap="flat" cmpd="sng" algn="ctr">
                      <a:solidFill>
                        <a:srgbClr val="4472C4"/>
                      </a:solidFill>
                      <a:prstDash val="solid"/>
                    </a:lnR>
                    <a:lnT w="12700" cap="flat" cmpd="sng" algn="ctr">
                      <a:solidFill>
                        <a:srgbClr val="4472C4"/>
                      </a:solidFill>
                      <a:prstDash val="solid"/>
                    </a:lnT>
                    <a:lnB w="12700" cap="flat" cmpd="sng" algn="ctr">
                      <a:solidFill>
                        <a:srgbClr val="4472C4"/>
                      </a:solidFill>
                      <a:prstDash val="solid"/>
                    </a:lnB>
                    <a:solidFill>
                      <a:srgbClr val="4472C4"/>
                    </a:solidFill>
                  </a:tcPr>
                </a:tc>
                <a:tc>
                  <a:txBody>
                    <a:bodyPr anchor="ctr" rtlCol="false" lIns="0" tIns="0" rIns="0" bIns="0" wrap="square"/>
                    <a:lstStyle/>
                    <a:p>
                      <a:pPr algn="l">
                        <a:lnSpc>
                          <a:spcPts val="1820"/>
                        </a:lnSpc>
                        <a:spcBef>
                          <a:spcPts val="0"/>
                        </a:spcBef>
                        <a:buNone/>
                      </a:pPr>
                      <a:r>
                        <a:rPr lang="en-US" sz="1400" b="true">
                          <a:solidFill>
                            <a:srgbClr val="FFFFFF"/>
                          </a:solidFill>
                          <a:latin typeface="Nunito Bold"/>
                          <a:ea typeface="Nunito Bold"/>
                          <a:cs typeface="Nunito Bold"/>
                          <a:sym typeface="Nunito Bold"/>
                        </a:rPr>
                        <a:t>Title</a:t>
                      </a:r>
                    </a:p>
                  </a:txBody>
                  <a:tcPr marL="64008" marR="64008" marT="45720" marB="45720" anchor="ctr">
                    <a:lnL w="12700" cap="flat" cmpd="sng" algn="ctr">
                      <a:solidFill>
                        <a:srgbClr val="4472C4"/>
                      </a:solidFill>
                      <a:prstDash val="solid"/>
                    </a:lnL>
                    <a:lnR w="12700" cap="flat" cmpd="sng" algn="ctr">
                      <a:solidFill>
                        <a:srgbClr val="4472C4"/>
                      </a:solidFill>
                      <a:prstDash val="solid"/>
                    </a:lnR>
                    <a:lnT w="12700" cap="flat" cmpd="sng" algn="ctr">
                      <a:solidFill>
                        <a:srgbClr val="4472C4"/>
                      </a:solidFill>
                      <a:prstDash val="solid"/>
                    </a:lnT>
                    <a:lnB w="12700" cap="flat" cmpd="sng" algn="ctr">
                      <a:solidFill>
                        <a:srgbClr val="4472C4"/>
                      </a:solidFill>
                      <a:prstDash val="solid"/>
                    </a:lnB>
                    <a:solidFill>
                      <a:srgbClr val="4472C4"/>
                    </a:solidFill>
                  </a:tcPr>
                </a:tc>
                <a:tc>
                  <a:txBody>
                    <a:bodyPr anchor="ctr" rtlCol="false" lIns="0" tIns="0" rIns="0" bIns="0" wrap="square"/>
                    <a:lstStyle/>
                    <a:p>
                      <a:pPr algn="l">
                        <a:lnSpc>
                          <a:spcPts val="1820"/>
                        </a:lnSpc>
                        <a:spcBef>
                          <a:spcPts val="0"/>
                        </a:spcBef>
                        <a:buNone/>
                      </a:pPr>
                      <a:r>
                        <a:rPr lang="en-US" sz="1400" b="true">
                          <a:solidFill>
                            <a:srgbClr val="FFFFFF"/>
                          </a:solidFill>
                          <a:latin typeface="Nunito Bold"/>
                          <a:ea typeface="Nunito Bold"/>
                          <a:cs typeface="Nunito Bold"/>
                          <a:sym typeface="Nunito Bold"/>
                        </a:rPr>
                        <a:t>Journal</a:t>
                      </a:r>
                    </a:p>
                  </a:txBody>
                  <a:tcPr marL="64008" marR="64008" marT="45720" marB="45720" anchor="ctr">
                    <a:lnL w="12700" cap="flat" cmpd="sng" algn="ctr">
                      <a:solidFill>
                        <a:srgbClr val="4472C4"/>
                      </a:solidFill>
                      <a:prstDash val="solid"/>
                    </a:lnL>
                    <a:lnR w="12700" cap="flat" cmpd="sng" algn="ctr">
                      <a:solidFill>
                        <a:srgbClr val="4472C4"/>
                      </a:solidFill>
                      <a:prstDash val="solid"/>
                    </a:lnR>
                    <a:lnT w="12700" cap="flat" cmpd="sng" algn="ctr">
                      <a:solidFill>
                        <a:srgbClr val="4472C4"/>
                      </a:solidFill>
                      <a:prstDash val="solid"/>
                    </a:lnT>
                    <a:lnB w="12700" cap="flat" cmpd="sng" algn="ctr">
                      <a:solidFill>
                        <a:srgbClr val="4472C4"/>
                      </a:solidFill>
                      <a:prstDash val="solid"/>
                    </a:lnB>
                    <a:solidFill>
                      <a:srgbClr val="4472C4"/>
                    </a:solidFill>
                  </a:tcPr>
                </a:tc>
                <a:tc>
                  <a:txBody>
                    <a:bodyPr anchor="ctr" rtlCol="false" lIns="0" tIns="0" rIns="0" bIns="0" wrap="square"/>
                    <a:lstStyle/>
                    <a:p>
                      <a:pPr algn="ctr">
                        <a:lnSpc>
                          <a:spcPts val="1820"/>
                        </a:lnSpc>
                        <a:spcBef>
                          <a:spcPts val="0"/>
                        </a:spcBef>
                        <a:buNone/>
                      </a:pPr>
                      <a:r>
                        <a:rPr lang="en-US" sz="1400" b="true">
                          <a:solidFill>
                            <a:srgbClr val="FFFFFF"/>
                          </a:solidFill>
                          <a:latin typeface="Nunito Bold"/>
                          <a:ea typeface="Nunito Bold"/>
                          <a:cs typeface="Nunito Bold"/>
                          <a:sym typeface="Nunito Bold"/>
                        </a:rPr>
                        <a:t>Year</a:t>
                      </a:r>
                    </a:p>
                  </a:txBody>
                  <a:tcPr marL="64008" marR="64008" marT="45720" marB="45720" anchor="ctr">
                    <a:lnL w="12700" cap="flat" cmpd="sng" algn="ctr">
                      <a:solidFill>
                        <a:srgbClr val="4472C4"/>
                      </a:solidFill>
                      <a:prstDash val="solid"/>
                    </a:lnL>
                    <a:lnR w="12700" cap="flat" cmpd="sng" algn="ctr">
                      <a:solidFill>
                        <a:srgbClr val="4472C4"/>
                      </a:solidFill>
                      <a:prstDash val="solid"/>
                    </a:lnR>
                    <a:lnT w="12700" cap="flat" cmpd="sng" algn="ctr">
                      <a:solidFill>
                        <a:srgbClr val="4472C4"/>
                      </a:solidFill>
                      <a:prstDash val="solid"/>
                    </a:lnT>
                    <a:lnB w="12700" cap="flat" cmpd="sng" algn="ctr">
                      <a:solidFill>
                        <a:srgbClr val="4472C4"/>
                      </a:solidFill>
                      <a:prstDash val="solid"/>
                    </a:lnB>
                    <a:solidFill>
                      <a:srgbClr val="4472C4"/>
                    </a:solidFill>
                  </a:tcPr>
                </a:tc>
                <a:tc>
                  <a:txBody>
                    <a:bodyPr anchor="ctr" rtlCol="false" lIns="0" tIns="0" rIns="0" bIns="0" wrap="square"/>
                    <a:lstStyle/>
                    <a:p>
                      <a:pPr algn="l">
                        <a:lnSpc>
                          <a:spcPts val="1820"/>
                        </a:lnSpc>
                        <a:spcBef>
                          <a:spcPts val="0"/>
                        </a:spcBef>
                        <a:buNone/>
                      </a:pPr>
                      <a:r>
                        <a:rPr lang="en-US" sz="1400" b="true">
                          <a:solidFill>
                            <a:srgbClr val="FFFFFF"/>
                          </a:solidFill>
                          <a:latin typeface="Nunito Bold"/>
                          <a:ea typeface="Nunito Bold"/>
                          <a:cs typeface="Nunito Bold"/>
                          <a:sym typeface="Nunito Bold"/>
                        </a:rPr>
                        <a:t>DOI</a:t>
                      </a:r>
                    </a:p>
                  </a:txBody>
                  <a:tcPr marL="64008" marR="64008" marT="45720" marB="45720" anchor="ctr">
                    <a:lnL w="12700" cap="flat" cmpd="sng" algn="ctr">
                      <a:solidFill>
                        <a:srgbClr val="4472C4"/>
                      </a:solidFill>
                      <a:prstDash val="solid"/>
                    </a:lnL>
                    <a:lnR w="12700" cap="flat" cmpd="sng" algn="ctr">
                      <a:solidFill>
                        <a:srgbClr val="4472C4"/>
                      </a:solidFill>
                      <a:prstDash val="solid"/>
                    </a:lnR>
                    <a:lnT w="12700" cap="flat" cmpd="sng" algn="ctr">
                      <a:solidFill>
                        <a:srgbClr val="4472C4"/>
                      </a:solidFill>
                      <a:prstDash val="solid"/>
                    </a:lnT>
                    <a:lnB w="12700" cap="flat" cmpd="sng" algn="ctr">
                      <a:solidFill>
                        <a:srgbClr val="4472C4"/>
                      </a:solidFill>
                      <a:prstDash val="solid"/>
                    </a:lnB>
                    <a:solidFill>
                      <a:srgbClr val="4472C4"/>
                    </a:solidFill>
                  </a:tcPr>
                </a:tc>
                <a:tc>
                  <a:txBody>
                    <a:bodyPr anchor="ctr" rtlCol="false" lIns="0" tIns="0" rIns="0" bIns="0" wrap="square"/>
                    <a:lstStyle/>
                    <a:p>
                      <a:pPr algn="ctr">
                        <a:lnSpc>
                          <a:spcPts val="1820"/>
                        </a:lnSpc>
                        <a:spcBef>
                          <a:spcPts val="0"/>
                        </a:spcBef>
                        <a:buNone/>
                      </a:pPr>
                      <a:r>
                        <a:rPr lang="en-US" sz="1400" b="true">
                          <a:solidFill>
                            <a:srgbClr val="FFFFFF"/>
                          </a:solidFill>
                          <a:latin typeface="Nunito Bold"/>
                          <a:ea typeface="Nunito Bold"/>
                          <a:cs typeface="Nunito Bold"/>
                          <a:sym typeface="Nunito Bold"/>
                        </a:rPr>
                        <a:t>Status</a:t>
                      </a:r>
                    </a:p>
                  </a:txBody>
                  <a:tcPr marL="64008" marR="64008" marT="45720" marB="45720" anchor="ctr">
                    <a:lnL w="12700" cap="flat" cmpd="sng" algn="ctr">
                      <a:solidFill>
                        <a:srgbClr val="4472C4"/>
                      </a:solidFill>
                      <a:prstDash val="solid"/>
                    </a:lnL>
                    <a:lnR w="12700" cap="flat" cmpd="sng" algn="ctr">
                      <a:solidFill>
                        <a:srgbClr val="4472C4"/>
                      </a:solidFill>
                      <a:prstDash val="solid"/>
                    </a:lnR>
                    <a:lnT w="12700" cap="flat" cmpd="sng" algn="ctr">
                      <a:solidFill>
                        <a:srgbClr val="4472C4"/>
                      </a:solidFill>
                      <a:prstDash val="solid"/>
                    </a:lnT>
                    <a:lnB w="12700" cap="flat" cmpd="sng" algn="ctr">
                      <a:solidFill>
                        <a:srgbClr val="4472C4"/>
                      </a:solidFill>
                      <a:prstDash val="solid"/>
                    </a:lnB>
                    <a:solidFill>
                      <a:srgbClr val="4472C4"/>
                    </a:solidFill>
                  </a:tcPr>
                </a:tc>
              </a:tr>
              <a:tr h="822960">
                <a:tc>
                  <a:txBody>
                    <a:bodyPr anchor="ctr" rtlCol="false" lIns="0" tIns="0" rIns="0" bIns="0" wrap="square"/>
                    <a:lstStyle/>
                    <a:p>
                      <a:pPr algn="ctr">
                        <a:lnSpc>
                          <a:spcPts val="2800"/>
                        </a:lnSpc>
                        <a:spcBef>
                          <a:spcPts val="0"/>
                        </a:spcBef>
                        <a:buNone/>
                      </a:pPr>
                      <a:r>
                        <a:rPr lang="en-US" sz="2400" b="true" spc="-120">
                          <a:solidFill>
                            <a:srgbClr val="FFFFFF"/>
                          </a:solidFill>
                          <a:latin typeface="Roca Two Bold"/>
                          <a:ea typeface="Roca Two Bold"/>
                          <a:cs typeface="Roca Two Bold"/>
                          <a:sym typeface="Roca Two Bold"/>
                        </a:rPr>
                        <a:t>I</a:t>
                      </a:r>
                    </a:p>
                  </a:txBody>
                  <a:tcPr marL="64008" marR="64008"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4472C4"/>
                    </a:solidFill>
                  </a:tcPr>
                </a:tc>
                <a:tc>
                  <a:txBody>
                    <a:bodyPr anchor="ctr" rtlCol="false" lIns="0" tIns="0" rIns="0" bIns="0" wrap="square"/>
                    <a:lstStyle/>
                    <a:p>
                      <a:pPr algn="l">
                        <a:lnSpc>
                          <a:spcPts val="1820"/>
                        </a:lnSpc>
                        <a:spcBef>
                          <a:spcPts val="0"/>
                        </a:spcBef>
                        <a:buNone/>
                      </a:pPr>
                      <a:r>
                        <a:rPr lang="en-US" sz="1400" b="true">
                          <a:solidFill>
                            <a:srgbClr val="111111"/>
                          </a:solidFill>
                          <a:latin typeface="Nunito Semi-Bold"/>
                          <a:ea typeface="Nunito Semi-Bold"/>
                          <a:cs typeface="Nunito Semi-Bold"/>
                          <a:sym typeface="Nunito Semi-Bold"/>
                        </a:rPr>
                        <a:t>M. Louhichi, R. Nesmaoui, M. Mbarek, M. Lazaar</a:t>
                      </a:r>
                    </a:p>
                  </a:txBody>
                  <a:tcPr marL="64008" marR="64008"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c>
                  <a:txBody>
                    <a:bodyPr anchor="ctr" rtlCol="false" lIns="0" tIns="0" rIns="0" bIns="0" wrap="square"/>
                    <a:lstStyle/>
                    <a:p>
                      <a:pPr algn="l">
                        <a:lnSpc>
                          <a:spcPts val="1820"/>
                        </a:lnSpc>
                        <a:spcBef>
                          <a:spcPts val="0"/>
                        </a:spcBef>
                        <a:buNone/>
                      </a:pPr>
                      <a:r>
                        <a:rPr lang="en-US" sz="1400" b="true">
                          <a:solidFill>
                            <a:srgbClr val="111111"/>
                          </a:solidFill>
                          <a:latin typeface="Nunito Semi-Bold"/>
                          <a:ea typeface="Nunito Semi-Bold"/>
                          <a:cs typeface="Nunito Semi-Bold"/>
                          <a:sym typeface="Nunito Semi-Bold"/>
                        </a:rPr>
                        <a:t>Shapley Values for Explaining the Black Box Nature of Machine Learning Model Clustering</a:t>
                      </a:r>
                    </a:p>
                  </a:txBody>
                  <a:tcPr marL="64008" marR="64008"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c>
                  <a:txBody>
                    <a:bodyPr anchor="ctr" rtlCol="false" lIns="0" tIns="0" rIns="0" bIns="0" wrap="square"/>
                    <a:lstStyle/>
                    <a:p>
                      <a:pPr algn="l">
                        <a:lnSpc>
                          <a:spcPts val="1820"/>
                        </a:lnSpc>
                        <a:spcBef>
                          <a:spcPts val="0"/>
                        </a:spcBef>
                        <a:buNone/>
                      </a:pPr>
                      <a:r>
                        <a:rPr lang="en-US" sz="1400" b="true">
                          <a:solidFill>
                            <a:srgbClr val="111111"/>
                          </a:solidFill>
                          <a:latin typeface="Nunito Semi-Bold"/>
                          <a:ea typeface="Nunito Semi-Bold"/>
                          <a:cs typeface="Nunito Semi-Bold"/>
                          <a:sym typeface="Nunito Semi-Bold"/>
                        </a:rPr>
                        <a:t>Procedia Computer Science 220, 806–811</a:t>
                      </a:r>
                    </a:p>
                  </a:txBody>
                  <a:tcPr marL="64008" marR="64008"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c>
                  <a:txBody>
                    <a:bodyPr anchor="ctr" rtlCol="false" lIns="0" tIns="0" rIns="0" bIns="0" wrap="square"/>
                    <a:lstStyle/>
                    <a:p>
                      <a:pPr algn="ctr">
                        <a:lnSpc>
                          <a:spcPts val="1820"/>
                        </a:lnSpc>
                        <a:spcBef>
                          <a:spcPts val="0"/>
                        </a:spcBef>
                        <a:buNone/>
                      </a:pPr>
                      <a:r>
                        <a:rPr lang="en-US" sz="1400" b="true">
                          <a:solidFill>
                            <a:srgbClr val="111111"/>
                          </a:solidFill>
                          <a:latin typeface="Nunito Semi-Bold"/>
                          <a:ea typeface="Nunito Semi-Bold"/>
                          <a:cs typeface="Nunito Semi-Bold"/>
                          <a:sym typeface="Nunito Semi-Bold"/>
                        </a:rPr>
                        <a:t>2023</a:t>
                      </a:r>
                    </a:p>
                  </a:txBody>
                  <a:tcPr marL="64008" marR="64008"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c>
                  <a:txBody>
                    <a:bodyPr anchor="ctr" rtlCol="false" lIns="0" tIns="0" rIns="0" bIns="0" wrap="square"/>
                    <a:lstStyle/>
                    <a:p>
                      <a:pPr algn="l">
                        <a:lnSpc>
                          <a:spcPts val="1820"/>
                        </a:lnSpc>
                        <a:spcBef>
                          <a:spcPts val="0"/>
                        </a:spcBef>
                        <a:buNone/>
                      </a:pPr>
                      <a:r>
                        <a:rPr lang="en-US" sz="1400" b="true">
                          <a:solidFill>
                            <a:srgbClr val="111111"/>
                          </a:solidFill>
                          <a:latin typeface="Nunito Semi-Bold"/>
                          <a:ea typeface="Nunito Semi-Bold"/>
                          <a:cs typeface="Nunito Semi-Bold"/>
                          <a:sym typeface="Nunito Semi-Bold"/>
                        </a:rPr>
                        <a:t>10.1016/j.procs.2023.03.107</a:t>
                      </a:r>
                    </a:p>
                  </a:txBody>
                  <a:tcPr marL="64008" marR="64008"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c>
                  <a:txBody>
                    <a:bodyPr anchor="ctr" rtlCol="false" lIns="0" tIns="0" rIns="0" bIns="0" wrap="square"/>
                    <a:lstStyle/>
                    <a:p>
                      <a:pPr algn="ctr">
                        <a:lnSpc>
                          <a:spcPts val="1820"/>
                        </a:lnSpc>
                        <a:spcBef>
                          <a:spcPts val="0"/>
                        </a:spcBef>
                        <a:buNone/>
                      </a:pPr>
                      <a:r>
                        <a:rPr lang="en-US" sz="1400" b="1">
                          <a:solidFill>
                            <a:srgbClr val="4472C4"/>
                          </a:solidFill>
                          <a:latin typeface="Nunito Semi-Bold"/>
                          <a:ea typeface="Nunito Semi-Bold"/>
                          <a:cs typeface="Nunito Semi-Bold"/>
                          <a:sym typeface="Nunito Semi-Bold"/>
                        </a:rPr>
                        <a:t>Published</a:t>
                      </a:r>
                    </a:p>
                  </a:txBody>
                  <a:tcPr marL="64008" marR="64008"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D9E2F3"/>
                    </a:solidFill>
                  </a:tcPr>
                </a:tc>
              </a:tr>
              <a:tr h="822960">
                <a:tc>
                  <a:txBody>
                    <a:bodyPr anchor="ctr" rtlCol="false" lIns="0" tIns="0" rIns="0" bIns="0" wrap="square"/>
                    <a:lstStyle/>
                    <a:p>
                      <a:pPr algn="ctr">
                        <a:lnSpc>
                          <a:spcPts val="2800"/>
                        </a:lnSpc>
                        <a:spcBef>
                          <a:spcPts val="0"/>
                        </a:spcBef>
                        <a:buNone/>
                      </a:pPr>
                      <a:r>
                        <a:rPr lang="en-US" sz="2400" b="true" spc="-120">
                          <a:solidFill>
                            <a:srgbClr val="FFFFFF"/>
                          </a:solidFill>
                          <a:latin typeface="Roca Two Bold"/>
                          <a:ea typeface="Roca Two Bold"/>
                          <a:cs typeface="Roca Two Bold"/>
                          <a:sym typeface="Roca Two Bold"/>
                        </a:rPr>
                        <a:t>II</a:t>
                      </a:r>
                    </a:p>
                  </a:txBody>
                  <a:tcPr marL="64008" marR="64008"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2F5597"/>
                    </a:solidFill>
                  </a:tcPr>
                </a:tc>
                <a:tc>
                  <a:txBody>
                    <a:bodyPr anchor="ctr" rtlCol="false" lIns="0" tIns="0" rIns="0" bIns="0" wrap="square"/>
                    <a:lstStyle/>
                    <a:p>
                      <a:pPr algn="l">
                        <a:lnSpc>
                          <a:spcPts val="1820"/>
                        </a:lnSpc>
                        <a:spcBef>
                          <a:spcPts val="0"/>
                        </a:spcBef>
                        <a:buNone/>
                      </a:pPr>
                      <a:r>
                        <a:rPr lang="en-US" sz="1400" b="true">
                          <a:solidFill>
                            <a:srgbClr val="111111"/>
                          </a:solidFill>
                          <a:latin typeface="Nunito Semi-Bold"/>
                          <a:ea typeface="Nunito Semi-Bold"/>
                          <a:cs typeface="Nunito Semi-Bold"/>
                          <a:sym typeface="Nunito Semi-Bold"/>
                        </a:rPr>
                        <a:t>M. Louhichi, R. Nesmaoui, M. Lazaar</a:t>
                      </a:r>
                    </a:p>
                  </a:txBody>
                  <a:tcPr marL="64008" marR="64008"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6ECDF"/>
                    </a:solidFill>
                  </a:tcPr>
                </a:tc>
                <a:tc>
                  <a:txBody>
                    <a:bodyPr anchor="ctr" rtlCol="false" lIns="0" tIns="0" rIns="0" bIns="0" wrap="square"/>
                    <a:lstStyle/>
                    <a:p>
                      <a:pPr algn="l">
                        <a:lnSpc>
                          <a:spcPts val="1820"/>
                        </a:lnSpc>
                        <a:spcBef>
                          <a:spcPts val="0"/>
                        </a:spcBef>
                        <a:buNone/>
                      </a:pPr>
                      <a:r>
                        <a:rPr lang="en-US" sz="1400" b="true">
                          <a:solidFill>
                            <a:srgbClr val="111111"/>
                          </a:solidFill>
                          <a:latin typeface="Nunito Semi-Bold"/>
                          <a:ea typeface="Nunito Semi-Bold"/>
                          <a:cs typeface="Nunito Semi-Bold"/>
                          <a:sym typeface="Nunito Semi-Bold"/>
                        </a:rPr>
                        <a:t>Game Theory Meets Explainable AI: An Enhanced Approach to Understanding Black Box Models Through Shapley Values</a:t>
                      </a:r>
                    </a:p>
                  </a:txBody>
                  <a:tcPr marL="64008" marR="64008"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6ECDF"/>
                    </a:solidFill>
                  </a:tcPr>
                </a:tc>
                <a:tc>
                  <a:txBody>
                    <a:bodyPr anchor="ctr" rtlCol="false" lIns="0" tIns="0" rIns="0" bIns="0" wrap="square"/>
                    <a:lstStyle/>
                    <a:p>
                      <a:pPr algn="l">
                        <a:lnSpc>
                          <a:spcPts val="1820"/>
                        </a:lnSpc>
                        <a:spcBef>
                          <a:spcPts val="0"/>
                        </a:spcBef>
                        <a:buNone/>
                      </a:pPr>
                      <a:r>
                        <a:rPr lang="en-US" sz="1400" b="true">
                          <a:solidFill>
                            <a:srgbClr val="111111"/>
                          </a:solidFill>
                          <a:latin typeface="Nunito Semi-Bold"/>
                          <a:ea typeface="Nunito Semi-Bold"/>
                          <a:cs typeface="Nunito Semi-Bold"/>
                          <a:sym typeface="Nunito Semi-Bold"/>
                        </a:rPr>
                        <a:t>IJACSA 16(7), 716–725</a:t>
                      </a:r>
                    </a:p>
                  </a:txBody>
                  <a:tcPr marL="64008" marR="64008"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6ECDF"/>
                    </a:solidFill>
                  </a:tcPr>
                </a:tc>
                <a:tc>
                  <a:txBody>
                    <a:bodyPr anchor="ctr" rtlCol="false" lIns="0" tIns="0" rIns="0" bIns="0" wrap="square"/>
                    <a:lstStyle/>
                    <a:p>
                      <a:pPr algn="ctr">
                        <a:lnSpc>
                          <a:spcPts val="1820"/>
                        </a:lnSpc>
                        <a:spcBef>
                          <a:spcPts val="0"/>
                        </a:spcBef>
                        <a:buNone/>
                      </a:pPr>
                      <a:r>
                        <a:rPr lang="en-US" sz="1400" b="true">
                          <a:solidFill>
                            <a:srgbClr val="111111"/>
                          </a:solidFill>
                          <a:latin typeface="Nunito Semi-Bold"/>
                          <a:ea typeface="Nunito Semi-Bold"/>
                          <a:cs typeface="Nunito Semi-Bold"/>
                          <a:sym typeface="Nunito Semi-Bold"/>
                        </a:rPr>
                        <a:t>2025</a:t>
                      </a:r>
                    </a:p>
                  </a:txBody>
                  <a:tcPr marL="64008" marR="64008"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6ECDF"/>
                    </a:solidFill>
                  </a:tcPr>
                </a:tc>
                <a:tc>
                  <a:txBody>
                    <a:bodyPr anchor="ctr" rtlCol="false" lIns="0" tIns="0" rIns="0" bIns="0" wrap="square"/>
                    <a:lstStyle/>
                    <a:p>
                      <a:pPr algn="l">
                        <a:lnSpc>
                          <a:spcPts val="1820"/>
                        </a:lnSpc>
                        <a:spcBef>
                          <a:spcPts val="0"/>
                        </a:spcBef>
                        <a:buNone/>
                      </a:pPr>
                      <a:r>
                        <a:rPr lang="en-US" sz="1400" b="true">
                          <a:solidFill>
                            <a:srgbClr val="111111"/>
                          </a:solidFill>
                          <a:latin typeface="Nunito Semi-Bold"/>
                          <a:ea typeface="Nunito Semi-Bold"/>
                          <a:cs typeface="Nunito Semi-Bold"/>
                          <a:sym typeface="Nunito Semi-Bold"/>
                        </a:rPr>
                        <a:t>10.14569/IJACSA.2025.0160780</a:t>
                      </a:r>
                    </a:p>
                  </a:txBody>
                  <a:tcPr marL="64008" marR="64008"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6ECDF"/>
                    </a:solidFill>
                  </a:tcPr>
                </a:tc>
                <a:tc>
                  <a:txBody>
                    <a:bodyPr anchor="ctr" rtlCol="false" lIns="0" tIns="0" rIns="0" bIns="0" wrap="square"/>
                    <a:lstStyle/>
                    <a:p>
                      <a:pPr algn="ctr">
                        <a:lnSpc>
                          <a:spcPts val="1820"/>
                        </a:lnSpc>
                        <a:spcBef>
                          <a:spcPts val="0"/>
                        </a:spcBef>
                        <a:buNone/>
                      </a:pPr>
                      <a:r>
                        <a:rPr lang="en-US" sz="1400" b="1">
                          <a:solidFill>
                            <a:srgbClr val="4472C4"/>
                          </a:solidFill>
                          <a:latin typeface="Nunito Semi-Bold"/>
                          <a:ea typeface="Nunito Semi-Bold"/>
                          <a:cs typeface="Nunito Semi-Bold"/>
                          <a:sym typeface="Nunito Semi-Bold"/>
                        </a:rPr>
                        <a:t>Published</a:t>
                      </a:r>
                    </a:p>
                  </a:txBody>
                  <a:tcPr marL="64008" marR="64008"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D9E2F3"/>
                    </a:solidFill>
                  </a:tcPr>
                </a:tc>
              </a:tr>
              <a:tr h="822960">
                <a:tc>
                  <a:txBody>
                    <a:bodyPr anchor="ctr" rtlCol="false" lIns="0" tIns="0" rIns="0" bIns="0" wrap="square"/>
                    <a:lstStyle/>
                    <a:p>
                      <a:pPr algn="ctr">
                        <a:lnSpc>
                          <a:spcPts val="2800"/>
                        </a:lnSpc>
                        <a:spcBef>
                          <a:spcPts val="0"/>
                        </a:spcBef>
                        <a:buNone/>
                      </a:pPr>
                      <a:r>
                        <a:rPr lang="en-US" sz="2400" b="true" spc="-120">
                          <a:solidFill>
                            <a:srgbClr val="FFFFFF"/>
                          </a:solidFill>
                          <a:latin typeface="Roca Two Bold"/>
                          <a:ea typeface="Roca Two Bold"/>
                          <a:cs typeface="Roca Two Bold"/>
                          <a:sym typeface="Roca Two Bold"/>
                        </a:rPr>
                        <a:t>III</a:t>
                      </a:r>
                    </a:p>
                  </a:txBody>
                  <a:tcPr marL="64008" marR="64008"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1F7A8C"/>
                    </a:solidFill>
                  </a:tcPr>
                </a:tc>
                <a:tc>
                  <a:txBody>
                    <a:bodyPr anchor="ctr" rtlCol="false" lIns="0" tIns="0" rIns="0" bIns="0" wrap="square"/>
                    <a:lstStyle/>
                    <a:p>
                      <a:pPr algn="l">
                        <a:lnSpc>
                          <a:spcPts val="1820"/>
                        </a:lnSpc>
                        <a:spcBef>
                          <a:spcPts val="0"/>
                        </a:spcBef>
                        <a:buNone/>
                      </a:pPr>
                      <a:r>
                        <a:rPr lang="en-US" sz="1400" b="true">
                          <a:solidFill>
                            <a:srgbClr val="111111"/>
                          </a:solidFill>
                          <a:latin typeface="Nunito Semi-Bold"/>
                          <a:ea typeface="Nunito Semi-Bold"/>
                          <a:cs typeface="Nunito Semi-Bold"/>
                          <a:sym typeface="Nunito Semi-Bold"/>
                        </a:rPr>
                        <a:t>M. Louhichi, R. Nesmaoui, M. Lazaar</a:t>
                      </a:r>
                    </a:p>
                  </a:txBody>
                  <a:tcPr marL="64008" marR="64008"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c>
                  <a:txBody>
                    <a:bodyPr anchor="ctr" rtlCol="false" lIns="0" tIns="0" rIns="0" bIns="0" wrap="square"/>
                    <a:lstStyle/>
                    <a:p>
                      <a:pPr algn="l">
                        <a:lnSpc>
                          <a:spcPts val="1820"/>
                        </a:lnSpc>
                        <a:spcBef>
                          <a:spcPts val="0"/>
                        </a:spcBef>
                        <a:buNone/>
                      </a:pPr>
                      <a:r>
                        <a:rPr lang="en-US" sz="1400" b="true">
                          <a:solidFill>
                            <a:srgbClr val="111111"/>
                          </a:solidFill>
                          <a:latin typeface="Nunito Semi-Bold"/>
                          <a:ea typeface="Nunito Semi-Bold"/>
                          <a:cs typeface="Nunito Semi-Bold"/>
                          <a:sym typeface="Nunito Semi-Bold"/>
                        </a:rPr>
                        <a:t>DyHuCoG: A Dynamic Hypergraph Cooperative Game for Preference-aware Recommendation</a:t>
                      </a:r>
                    </a:p>
                  </a:txBody>
                  <a:tcPr marL="64008" marR="64008"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c>
                  <a:txBody>
                    <a:bodyPr anchor="ctr" rtlCol="false" lIns="0" tIns="0" rIns="0" bIns="0" wrap="square"/>
                    <a:lstStyle/>
                    <a:p>
                      <a:pPr algn="l">
                        <a:lnSpc>
                          <a:spcPts val="1820"/>
                        </a:lnSpc>
                        <a:spcBef>
                          <a:spcPts val="0"/>
                        </a:spcBef>
                        <a:buNone/>
                      </a:pPr>
                      <a:r>
                        <a:rPr lang="en-US" sz="1400" b="true">
                          <a:solidFill>
                            <a:srgbClr val="111111"/>
                          </a:solidFill>
                          <a:latin typeface="Nunito Semi-Bold"/>
                          <a:ea typeface="Nunito Semi-Bold"/>
                          <a:cs typeface="Nunito Semi-Bold"/>
                          <a:sym typeface="Nunito Semi-Bold"/>
                        </a:rPr>
                        <a:t>IJIES 19(2), 887–902</a:t>
                      </a:r>
                    </a:p>
                  </a:txBody>
                  <a:tcPr marL="64008" marR="64008"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c>
                  <a:txBody>
                    <a:bodyPr anchor="ctr" rtlCol="false" lIns="0" tIns="0" rIns="0" bIns="0" wrap="square"/>
                    <a:lstStyle/>
                    <a:p>
                      <a:pPr algn="ctr">
                        <a:lnSpc>
                          <a:spcPts val="1820"/>
                        </a:lnSpc>
                        <a:spcBef>
                          <a:spcPts val="0"/>
                        </a:spcBef>
                        <a:buNone/>
                      </a:pPr>
                      <a:r>
                        <a:rPr lang="en-US" sz="1400" b="true">
                          <a:solidFill>
                            <a:srgbClr val="111111"/>
                          </a:solidFill>
                          <a:latin typeface="Nunito Semi-Bold"/>
                          <a:ea typeface="Nunito Semi-Bold"/>
                          <a:cs typeface="Nunito Semi-Bold"/>
                          <a:sym typeface="Nunito Semi-Bold"/>
                        </a:rPr>
                        <a:t>2026</a:t>
                      </a:r>
                    </a:p>
                  </a:txBody>
                  <a:tcPr marL="64008" marR="64008"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c>
                  <a:txBody>
                    <a:bodyPr anchor="ctr" rtlCol="false" lIns="0" tIns="0" rIns="0" bIns="0" wrap="square"/>
                    <a:lstStyle/>
                    <a:p>
                      <a:pPr algn="l">
                        <a:lnSpc>
                          <a:spcPts val="1820"/>
                        </a:lnSpc>
                        <a:spcBef>
                          <a:spcPts val="0"/>
                        </a:spcBef>
                        <a:buNone/>
                      </a:pPr>
                      <a:r>
                        <a:rPr lang="en-US" sz="1400" b="true">
                          <a:solidFill>
                            <a:srgbClr val="111111"/>
                          </a:solidFill>
                          <a:latin typeface="Nunito Semi-Bold"/>
                          <a:ea typeface="Nunito Semi-Bold"/>
                          <a:cs typeface="Nunito Semi-Bold"/>
                          <a:sym typeface="Nunito Semi-Bold"/>
                        </a:rPr>
                        <a:t>10.22266/ijies2026.0228.54</a:t>
                      </a:r>
                    </a:p>
                  </a:txBody>
                  <a:tcPr marL="64008" marR="64008"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c>
                  <a:txBody>
                    <a:bodyPr anchor="ctr" rtlCol="false" lIns="0" tIns="0" rIns="0" bIns="0" wrap="square"/>
                    <a:lstStyle/>
                    <a:p>
                      <a:pPr algn="ctr">
                        <a:lnSpc>
                          <a:spcPts val="1820"/>
                        </a:lnSpc>
                        <a:spcBef>
                          <a:spcPts val="0"/>
                        </a:spcBef>
                        <a:buNone/>
                      </a:pPr>
                      <a:r>
                        <a:rPr lang="en-US" sz="1400" b="1">
                          <a:solidFill>
                            <a:srgbClr val="4472C4"/>
                          </a:solidFill>
                          <a:latin typeface="Nunito Semi-Bold"/>
                          <a:ea typeface="Nunito Semi-Bold"/>
                          <a:cs typeface="Nunito Semi-Bold"/>
                          <a:sym typeface="Nunito Semi-Bold"/>
                        </a:rPr>
                        <a:t>Published</a:t>
                      </a:r>
                    </a:p>
                  </a:txBody>
                  <a:tcPr marL="64008" marR="64008"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D9E2F3"/>
                    </a:solidFill>
                  </a:tcPr>
                </a:tc>
              </a:tr>
            </a:tbl>
          </a:graphicData>
        </a:graphic>
      </p:graphicFrame>
      <p:sp>
        <p:nvSpPr>
          <p:cNvPr id="27" name="Rounded Rectangle 26"/>
          <p:cNvSpPr/>
          <p:nvPr/>
        </p:nvSpPr>
        <p:spPr>
          <a:xfrm>
            <a:off x="1028700" y="7341362"/>
            <a:ext cx="7932420" cy="1921510"/>
          </a:xfrm>
          <a:prstGeom prst="roundRect">
            <a:avLst>
              <a:gd name="adj" fmla="val 16179"/>
            </a:avLst>
          </a:prstGeom>
          <a:solidFill>
            <a:srgbClr val="F6ECDF"/>
          </a:solidFill>
          <a:ln>
            <a:noFill/>
          </a:ln>
        </p:spPr>
        <p:txBody>
          <a:bodyPr anchor="ctr" rtlCol="false" lIns="0" tIns="0" rIns="0" bIns="0" wrap="square"/>
          <a:lstStyle/>
          <a:p>
            <a:endParaRPr lang="en-US" sz="1800"/>
          </a:p>
        </p:txBody>
      </p:sp>
      <p:sp>
        <p:nvSpPr>
          <p:cNvPr id="28" name="Rounded Rectangle 27"/>
          <p:cNvSpPr/>
          <p:nvPr/>
        </p:nvSpPr>
        <p:spPr>
          <a:xfrm>
            <a:off x="1485900" y="7103618"/>
            <a:ext cx="3560649" cy="438912"/>
          </a:xfrm>
          <a:prstGeom prst="roundRect">
            <a:avLst>
              <a:gd name="adj" fmla="val 50000"/>
            </a:avLst>
          </a:prstGeom>
          <a:solidFill>
            <a:srgbClr val="4472C4"/>
          </a:solidFill>
          <a:ln w="28575">
            <a:solidFill>
              <a:srgbClr val="4472C4"/>
            </a:solidFill>
          </a:ln>
        </p:spPr>
        <p:txBody>
          <a:bodyPr anchor="ctr" rtlCol="false" lIns="45720" tIns="0" rIns="45720" bIns="0" wrap="square"/>
          <a:lstStyle/>
          <a:p>
            <a:pPr algn="ctr">
              <a:lnSpc>
                <a:spcPts val="2640"/>
              </a:lnSpc>
              <a:spcBef>
                <a:spcPts val="0"/>
              </a:spcBef>
              <a:buNone/>
            </a:pPr>
            <a:r>
              <a:rPr lang="en-US" sz="2200" b="true">
                <a:solidFill>
                  <a:srgbClr val="FFFFFF"/>
                </a:solidFill>
                <a:latin typeface="Nunito Bold"/>
                <a:ea typeface="Nunito Bold"/>
                <a:cs typeface="Nunito Bold"/>
                <a:sym typeface="Nunito Bold"/>
              </a:rPr>
              <a:t>Mapping to the thesis</a:t>
            </a:r>
          </a:p>
        </p:txBody>
      </p:sp>
      <p:sp>
        <p:nvSpPr>
          <p:cNvPr id="29" name="TextBox 28"/>
          <p:cNvSpPr txBox="1"/>
          <p:nvPr/>
        </p:nvSpPr>
        <p:spPr>
          <a:xfrm>
            <a:off x="1485900" y="7890002"/>
            <a:ext cx="7063740" cy="1189990"/>
          </a:xfrm>
          <a:prstGeom prst="rect">
            <a:avLst/>
          </a:prstGeom>
          <a:noFill/>
        </p:spPr>
        <p:txBody>
          <a:bodyPr anchor="t" rtlCol="false" lIns="0" tIns="0" rIns="0" bIns="0" wrap="square"/>
          <a:lstStyle/>
          <a:p>
            <a:pPr algn="l" marL="274320" indent="-274320">
              <a:lnSpc>
                <a:spcPts val="2094"/>
              </a:lnSpc>
              <a:spcBef>
                <a:spcPts val="0"/>
              </a:spcBef>
              <a:buClr>
                <a:srgbClr val="1F7A8C"/>
              </a:buClr>
              <a:buSzPct val="100000"/>
              <a:buFont typeface="Arial"/>
              <a:buChar char="•"/>
            </a:pPr>
            <a:r>
              <a:rPr lang="en-US" sz="1496" b="true">
                <a:solidFill>
                  <a:srgbClr val="111111"/>
                </a:solidFill>
                <a:latin typeface="Nunito Bold"/>
                <a:ea typeface="Nunito Bold"/>
                <a:cs typeface="Nunito Bold"/>
                <a:sym typeface="Nunito Bold"/>
              </a:rPr>
              <a:t>I</a:t>
            </a:r>
            <a:r>
              <a:rPr lang="en-US" sz="1496" b="true">
                <a:solidFill>
                  <a:srgbClr val="111111"/>
                </a:solidFill>
                <a:latin typeface="Calibri"/>
                <a:ea typeface="Calibri"/>
                <a:cs typeface="Calibri"/>
                <a:sym typeface="Calibri"/>
              </a:rPr>
              <a:t> → </a:t>
            </a:r>
            <a:r>
              <a:rPr lang="en-US" sz="1496" b="true">
                <a:solidFill>
                  <a:srgbClr val="111111"/>
                </a:solidFill>
                <a:latin typeface="Nunito Semi-Bold"/>
                <a:ea typeface="Nunito Semi-Bold"/>
                <a:cs typeface="Nunito Semi-Bold"/>
                <a:sym typeface="Nunito Semi-Bold"/>
              </a:rPr>
              <a:t>Contribution I (Chapter 5)  ·  </a:t>
            </a:r>
            <a:r>
              <a:rPr lang="en-US" sz="1496" b="true">
                <a:solidFill>
                  <a:srgbClr val="111111"/>
                </a:solidFill>
                <a:latin typeface="Nunito Bold"/>
                <a:ea typeface="Nunito Bold"/>
                <a:cs typeface="Nunito Bold"/>
                <a:sym typeface="Nunito Bold"/>
              </a:rPr>
              <a:t>II</a:t>
            </a:r>
            <a:r>
              <a:rPr lang="en-US" sz="1496" b="true">
                <a:solidFill>
                  <a:srgbClr val="111111"/>
                </a:solidFill>
                <a:latin typeface="Calibri"/>
                <a:ea typeface="Calibri"/>
                <a:cs typeface="Calibri"/>
                <a:sym typeface="Calibri"/>
              </a:rPr>
              <a:t> → </a:t>
            </a:r>
            <a:r>
              <a:rPr lang="en-US" sz="1496" b="true">
                <a:solidFill>
                  <a:srgbClr val="111111"/>
                </a:solidFill>
                <a:latin typeface="Nunito Semi-Bold"/>
                <a:ea typeface="Nunito Semi-Bold"/>
                <a:cs typeface="Nunito Semi-Bold"/>
                <a:sym typeface="Nunito Semi-Bold"/>
              </a:rPr>
              <a:t>Contribution II (Chapter 6)  ·  </a:t>
            </a:r>
            <a:r>
              <a:rPr lang="en-US" sz="1496" b="true">
                <a:solidFill>
                  <a:srgbClr val="111111"/>
                </a:solidFill>
                <a:latin typeface="Nunito Bold"/>
                <a:ea typeface="Nunito Bold"/>
                <a:cs typeface="Nunito Bold"/>
                <a:sym typeface="Nunito Bold"/>
              </a:rPr>
              <a:t>III</a:t>
            </a:r>
            <a:r>
              <a:rPr lang="en-US" sz="1496" b="true">
                <a:solidFill>
                  <a:srgbClr val="111111"/>
                </a:solidFill>
                <a:latin typeface="Calibri"/>
                <a:ea typeface="Calibri"/>
                <a:cs typeface="Calibri"/>
                <a:sym typeface="Calibri"/>
              </a:rPr>
              <a:t> → </a:t>
            </a:r>
            <a:r>
              <a:rPr lang="en-US" sz="1496" b="true">
                <a:solidFill>
                  <a:srgbClr val="111111"/>
                </a:solidFill>
                <a:latin typeface="Nunito Semi-Bold"/>
                <a:ea typeface="Nunito Semi-Bold"/>
                <a:cs typeface="Nunito Semi-Bold"/>
                <a:sym typeface="Nunito Semi-Bold"/>
              </a:rPr>
              <a:t>Contribution III (Chapter 7).</a:t>
            </a:r>
          </a:p>
          <a:p>
            <a:pPr algn="l" marL="274320" indent="-274320">
              <a:lnSpc>
                <a:spcPts val="2094"/>
              </a:lnSpc>
              <a:spcBef>
                <a:spcPts val="352"/>
              </a:spcBef>
              <a:buClr>
                <a:srgbClr val="1F7A8C"/>
              </a:buClr>
              <a:buSzPct val="100000"/>
              <a:buFont typeface="Arial"/>
              <a:buChar char="•"/>
            </a:pPr>
            <a:r>
              <a:rPr lang="en-US" sz="1496" b="true">
                <a:solidFill>
                  <a:srgbClr val="111111"/>
                </a:solidFill>
                <a:latin typeface="Nunito Semi-Bold"/>
                <a:ea typeface="Nunito Semi-Bold"/>
                <a:cs typeface="Nunito Semi-Bold"/>
                <a:sym typeface="Nunito Semi-Bold"/>
              </a:rPr>
              <a:t>Three journal articles, candidate as </a:t>
            </a:r>
            <a:r>
              <a:rPr lang="en-US" sz="1496" b="true">
                <a:solidFill>
                  <a:srgbClr val="111111"/>
                </a:solidFill>
                <a:latin typeface="Nunito Bold"/>
                <a:ea typeface="Nunito Bold"/>
                <a:cs typeface="Nunito Bold"/>
                <a:sym typeface="Nunito Bold"/>
              </a:rPr>
              <a:t>first author</a:t>
            </a:r>
            <a:r>
              <a:rPr lang="en-US" sz="1496" b="true">
                <a:solidFill>
                  <a:srgbClr val="111111"/>
                </a:solidFill>
                <a:latin typeface="Nunito Semi-Bold"/>
                <a:ea typeface="Nunito Semi-Bold"/>
                <a:cs typeface="Nunito Semi-Bold"/>
                <a:sym typeface="Nunito Semi-Bold"/>
              </a:rPr>
              <a:t>; IJACSA and IJIES are Scopus-indexed.</a:t>
            </a:r>
          </a:p>
        </p:txBody>
      </p:sp>
      <p:sp>
        <p:nvSpPr>
          <p:cNvPr id="30" name="Rounded Rectangle 29"/>
          <p:cNvSpPr/>
          <p:nvPr/>
        </p:nvSpPr>
        <p:spPr>
          <a:xfrm>
            <a:off x="9326880" y="7341362"/>
            <a:ext cx="7932420" cy="1921510"/>
          </a:xfrm>
          <a:prstGeom prst="roundRect">
            <a:avLst>
              <a:gd name="adj" fmla="val 16179"/>
            </a:avLst>
          </a:prstGeom>
          <a:solidFill>
            <a:srgbClr val="4472C4"/>
          </a:solidFill>
          <a:ln>
            <a:noFill/>
          </a:ln>
        </p:spPr>
        <p:txBody>
          <a:bodyPr anchor="ctr" rtlCol="false" lIns="0" tIns="0" rIns="0" bIns="0" wrap="square"/>
          <a:lstStyle/>
          <a:p>
            <a:endParaRPr lang="en-US" sz="1800"/>
          </a:p>
        </p:txBody>
      </p:sp>
      <p:sp>
        <p:nvSpPr>
          <p:cNvPr id="31" name="Rounded Rectangle 30"/>
          <p:cNvSpPr/>
          <p:nvPr/>
        </p:nvSpPr>
        <p:spPr>
          <a:xfrm>
            <a:off x="9784080" y="7103618"/>
            <a:ext cx="4399246" cy="438912"/>
          </a:xfrm>
          <a:prstGeom prst="roundRect">
            <a:avLst>
              <a:gd name="adj" fmla="val 50000"/>
            </a:avLst>
          </a:prstGeom>
          <a:solidFill>
            <a:srgbClr val="FFFFFF"/>
          </a:solidFill>
          <a:ln w="28575">
            <a:solidFill>
              <a:srgbClr val="FFFFFF"/>
            </a:solidFill>
          </a:ln>
        </p:spPr>
        <p:txBody>
          <a:bodyPr anchor="ctr" rtlCol="false" lIns="45720" tIns="0" rIns="45720" bIns="0" wrap="square"/>
          <a:lstStyle/>
          <a:p>
            <a:pPr algn="ctr">
              <a:lnSpc>
                <a:spcPts val="2640"/>
              </a:lnSpc>
              <a:spcBef>
                <a:spcPts val="0"/>
              </a:spcBef>
              <a:buNone/>
            </a:pPr>
            <a:r>
              <a:rPr lang="en-US" sz="2200" b="true">
                <a:solidFill>
                  <a:srgbClr val="4472C4"/>
                </a:solidFill>
                <a:latin typeface="Nunito Bold"/>
                <a:ea typeface="Nunito Bold"/>
                <a:cs typeface="Nunito Bold"/>
                <a:sym typeface="Nunito Bold"/>
              </a:rPr>
              <a:t>Related work with the team</a:t>
            </a:r>
          </a:p>
        </p:txBody>
      </p:sp>
      <p:sp>
        <p:nvSpPr>
          <p:cNvPr id="32" name="TextBox 31"/>
          <p:cNvSpPr txBox="1"/>
          <p:nvPr/>
        </p:nvSpPr>
        <p:spPr>
          <a:xfrm>
            <a:off x="9784080" y="7890002"/>
            <a:ext cx="7063740" cy="1189990"/>
          </a:xfrm>
          <a:prstGeom prst="rect">
            <a:avLst/>
          </a:prstGeom>
          <a:noFill/>
        </p:spPr>
        <p:txBody>
          <a:bodyPr anchor="t" rtlCol="false" lIns="0" tIns="0" rIns="0" bIns="0" wrap="square"/>
          <a:lstStyle/>
          <a:p>
            <a:pPr algn="l" marL="274320" indent="-274320">
              <a:lnSpc>
                <a:spcPts val="2173"/>
              </a:lnSpc>
              <a:spcBef>
                <a:spcPts val="0"/>
              </a:spcBef>
              <a:buClr>
                <a:srgbClr val="ECC665"/>
              </a:buClr>
              <a:buSzPct val="100000"/>
              <a:buFont typeface="Arial"/>
              <a:buChar char="•"/>
            </a:pPr>
            <a:r>
              <a:rPr lang="en-US" sz="1552" b="true">
                <a:solidFill>
                  <a:srgbClr val="FFFFFF"/>
                </a:solidFill>
                <a:latin typeface="Nunito Semi-Bold"/>
                <a:ea typeface="Nunito Semi-Bold"/>
                <a:cs typeface="Nunito Semi-Bold"/>
                <a:sym typeface="Nunito Semi-Bold"/>
              </a:rPr>
              <a:t>Nesmaoui, R., </a:t>
            </a:r>
            <a:r>
              <a:rPr lang="en-US" sz="1552" b="true">
                <a:solidFill>
                  <a:srgbClr val="FFFFFF"/>
                </a:solidFill>
                <a:latin typeface="Nunito Bold"/>
                <a:ea typeface="Nunito Bold"/>
                <a:cs typeface="Nunito Bold"/>
                <a:sym typeface="Nunito Bold"/>
              </a:rPr>
              <a:t>Louhichi, M.</a:t>
            </a:r>
            <a:r>
              <a:rPr lang="en-US" sz="1552" b="true">
                <a:solidFill>
                  <a:srgbClr val="FFFFFF"/>
                </a:solidFill>
                <a:latin typeface="Nunito Semi-Bold"/>
                <a:ea typeface="Nunito Semi-Bold"/>
                <a:cs typeface="Nunito Semi-Bold"/>
                <a:sym typeface="Nunito Semi-Bold"/>
              </a:rPr>
              <a:t> &amp; Lazaar, M. Dynamic Recommender Systems with Real-time Shapley Value-based Contribution Adjustment. IJIES 18, 241–257 (2025): the same cooperative-game view, applied to real-time contribution adjustment.</a:t>
            </a:r>
          </a:p>
        </p:txBody>
      </p:sp>
    </p:spTree>
  </p:cSld>
  <p:clrMapOvr>
    <a:masterClrMapping/>
  </p:clrMapOvr>
</p:sld>
</file>

<file path=ppt/slides/slide8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pic>
        <p:nvPicPr>
          <p:cNvPr id="2" name="Picture 1" descr="ensias_logo.jpg"/>
          <p:cNvPicPr>
            <a:picLocks noChangeAspect="1"/>
          </p:cNvPicPr>
          <p:nvPr/>
        </p:nvPicPr>
        <p:blipFill>
          <a:blip r:embed="rId2"/>
          <a:stretch>
            <a:fillRect/>
          </a:stretch>
        </p:blipFill>
        <p:spPr>
          <a:xfrm>
            <a:off x="1028700" y="9674352"/>
            <a:ext cx="542964" cy="384048"/>
          </a:xfrm>
          <a:prstGeom prst="rect">
            <a:avLst/>
          </a:prstGeom>
        </p:spPr>
      </p:pic>
      <p:sp>
        <p:nvSpPr>
          <p:cNvPr id="3" name="TextBox 2"/>
          <p:cNvSpPr txBox="1"/>
          <p:nvPr/>
        </p:nvSpPr>
        <p:spPr>
          <a:xfrm>
            <a:off x="1577340" y="9747504"/>
            <a:ext cx="12801600" cy="274320"/>
          </a:xfrm>
          <a:prstGeom prst="rect">
            <a:avLst/>
          </a:prstGeom>
          <a:noFill/>
        </p:spPr>
        <p:txBody>
          <a:bodyPr anchor="t" rtlCol="false" lIns="0" tIns="0" rIns="0" bIns="0" wrap="square"/>
          <a:lstStyle/>
          <a:p>
            <a:pPr algn="l">
              <a:lnSpc>
                <a:spcPts val="1600"/>
              </a:lnSpc>
              <a:spcBef>
                <a:spcPts val="0"/>
              </a:spcBef>
              <a:buNone/>
            </a:pPr>
            <a:r>
              <a:rPr lang="en-US" sz="1300" b="true">
                <a:solidFill>
                  <a:srgbClr val="8A8378"/>
                </a:solidFill>
                <a:latin typeface="Nunito Bold"/>
                <a:ea typeface="Nunito Bold"/>
                <a:cs typeface="Nunito Bold"/>
                <a:sym typeface="Nunito Bold"/>
              </a:rPr>
              <a:t>Cooperative Game Theory for Explainable AI in Recommendation Systems  ·  A Shapley Framework for Actionable Insight</a:t>
            </a:r>
          </a:p>
        </p:txBody>
      </p:sp>
      <p:sp>
        <p:nvSpPr>
          <p:cNvPr id="4" name="TextBox 3"/>
          <p:cNvSpPr txBox="1"/>
          <p:nvPr/>
        </p:nvSpPr>
        <p:spPr>
          <a:xfrm>
            <a:off x="16162020" y="9692640"/>
            <a:ext cx="1097280" cy="329184"/>
          </a:xfrm>
          <a:prstGeom prst="rect">
            <a:avLst/>
          </a:prstGeom>
          <a:noFill/>
        </p:spPr>
        <p:txBody>
          <a:bodyPr anchor="t" rtlCol="false" lIns="0" tIns="0" rIns="0" bIns="0" wrap="square"/>
          <a:lstStyle/>
          <a:p>
            <a:pPr algn="r">
              <a:lnSpc>
                <a:spcPts val="2200"/>
              </a:lnSpc>
              <a:spcBef>
                <a:spcPts val="0"/>
              </a:spcBef>
              <a:buNone/>
            </a:pPr>
            <a:r>
              <a:rPr lang="en-US" sz="1800" b="true">
                <a:solidFill>
                  <a:srgbClr val="111111"/>
                </a:solidFill>
                <a:latin typeface="Nunito Ultra-Bold"/>
                <a:ea typeface="Nunito Ultra-Bold"/>
                <a:cs typeface="Nunito Ultra-Bold"/>
                <a:sym typeface="Nunito Ultra-Bold"/>
              </a:rPr>
              <a:t>70</a:t>
            </a:r>
          </a:p>
        </p:txBody>
      </p:sp>
      <p:sp>
        <p:nvSpPr>
          <p:cNvPr id="5" name="TextBox 4"/>
          <p:cNvSpPr txBox="1"/>
          <p:nvPr/>
        </p:nvSpPr>
        <p:spPr>
          <a:xfrm>
            <a:off x="1028700" y="1389888"/>
            <a:ext cx="12938760" cy="329184"/>
          </a:xfrm>
          <a:prstGeom prst="rect">
            <a:avLst/>
          </a:prstGeom>
          <a:noFill/>
        </p:spPr>
        <p:txBody>
          <a:bodyPr anchor="t" rtlCol="false" lIns="0" tIns="0" rIns="0" bIns="0" wrap="square"/>
          <a:lstStyle/>
          <a:p>
            <a:pPr algn="l">
              <a:lnSpc>
                <a:spcPts val="2000"/>
              </a:lnSpc>
              <a:spcBef>
                <a:spcPts val="0"/>
              </a:spcBef>
              <a:buNone/>
            </a:pPr>
            <a:r>
              <a:rPr lang="en-US" sz="1500" b="true" spc="160">
                <a:solidFill>
                  <a:srgbClr val="1F7A8C"/>
                </a:solidFill>
                <a:latin typeface="Nunito Ultra-Bold"/>
                <a:ea typeface="Nunito Ultra-Bold"/>
                <a:cs typeface="Nunito Ultra-Bold"/>
                <a:sym typeface="Nunito Ultra-Bold"/>
              </a:rPr>
              <a:t>CONCLUSION &amp; PERSPECTIVES</a:t>
            </a:r>
          </a:p>
        </p:txBody>
      </p:sp>
      <p:sp>
        <p:nvSpPr>
          <p:cNvPr id="6" name="Rounded Rectangle 5"/>
          <p:cNvSpPr/>
          <p:nvPr/>
        </p:nvSpPr>
        <p:spPr>
          <a:xfrm>
            <a:off x="14516100"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7" name="TextBox 6"/>
          <p:cNvSpPr txBox="1"/>
          <p:nvPr/>
        </p:nvSpPr>
        <p:spPr>
          <a:xfrm>
            <a:off x="14516100"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1</a:t>
            </a:r>
          </a:p>
        </p:txBody>
      </p:sp>
      <p:sp>
        <p:nvSpPr>
          <p:cNvPr id="8" name="Rounded Rectangle 7"/>
          <p:cNvSpPr/>
          <p:nvPr/>
        </p:nvSpPr>
        <p:spPr>
          <a:xfrm>
            <a:off x="14918436"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9" name="TextBox 8"/>
          <p:cNvSpPr txBox="1"/>
          <p:nvPr/>
        </p:nvSpPr>
        <p:spPr>
          <a:xfrm>
            <a:off x="14918436"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2</a:t>
            </a:r>
          </a:p>
        </p:txBody>
      </p:sp>
      <p:sp>
        <p:nvSpPr>
          <p:cNvPr id="10" name="Rounded Rectangle 9"/>
          <p:cNvSpPr/>
          <p:nvPr/>
        </p:nvSpPr>
        <p:spPr>
          <a:xfrm>
            <a:off x="15320772"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11" name="TextBox 10"/>
          <p:cNvSpPr txBox="1"/>
          <p:nvPr/>
        </p:nvSpPr>
        <p:spPr>
          <a:xfrm>
            <a:off x="15320772"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3</a:t>
            </a:r>
          </a:p>
        </p:txBody>
      </p:sp>
      <p:sp>
        <p:nvSpPr>
          <p:cNvPr id="12" name="Rounded Rectangle 11"/>
          <p:cNvSpPr/>
          <p:nvPr/>
        </p:nvSpPr>
        <p:spPr>
          <a:xfrm>
            <a:off x="15723108"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13" name="TextBox 12"/>
          <p:cNvSpPr txBox="1"/>
          <p:nvPr/>
        </p:nvSpPr>
        <p:spPr>
          <a:xfrm>
            <a:off x="15723108"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4</a:t>
            </a:r>
          </a:p>
        </p:txBody>
      </p:sp>
      <p:sp>
        <p:nvSpPr>
          <p:cNvPr id="14" name="Rounded Rectangle 13"/>
          <p:cNvSpPr/>
          <p:nvPr/>
        </p:nvSpPr>
        <p:spPr>
          <a:xfrm>
            <a:off x="16125444"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15" name="TextBox 14"/>
          <p:cNvSpPr txBox="1"/>
          <p:nvPr/>
        </p:nvSpPr>
        <p:spPr>
          <a:xfrm>
            <a:off x="16125444"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5</a:t>
            </a:r>
          </a:p>
        </p:txBody>
      </p:sp>
      <p:sp>
        <p:nvSpPr>
          <p:cNvPr id="16" name="Rounded Rectangle 15"/>
          <p:cNvSpPr/>
          <p:nvPr/>
        </p:nvSpPr>
        <p:spPr>
          <a:xfrm>
            <a:off x="16527780"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17" name="TextBox 16"/>
          <p:cNvSpPr txBox="1"/>
          <p:nvPr/>
        </p:nvSpPr>
        <p:spPr>
          <a:xfrm>
            <a:off x="16527780"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6</a:t>
            </a:r>
          </a:p>
        </p:txBody>
      </p:sp>
      <p:sp>
        <p:nvSpPr>
          <p:cNvPr id="18" name="Rounded Rectangle 17"/>
          <p:cNvSpPr/>
          <p:nvPr/>
        </p:nvSpPr>
        <p:spPr>
          <a:xfrm>
            <a:off x="16930116" y="1371600"/>
            <a:ext cx="329184" cy="329184"/>
          </a:xfrm>
          <a:prstGeom prst="roundRect">
            <a:avLst>
              <a:gd name="adj" fmla="val 16666"/>
            </a:avLst>
          </a:prstGeom>
          <a:solidFill>
            <a:srgbClr val="4472C4"/>
          </a:solidFill>
          <a:ln w="15875">
            <a:solidFill>
              <a:srgbClr val="4472C4"/>
            </a:solidFill>
          </a:ln>
        </p:spPr>
        <p:txBody>
          <a:bodyPr anchor="ctr" rtlCol="false" lIns="0" tIns="0" rIns="0" bIns="0" wrap="square"/>
          <a:lstStyle/>
          <a:p>
            <a:endParaRPr lang="en-US" sz="1800"/>
          </a:p>
        </p:txBody>
      </p:sp>
      <p:sp>
        <p:nvSpPr>
          <p:cNvPr id="19" name="TextBox 18"/>
          <p:cNvSpPr txBox="1"/>
          <p:nvPr/>
        </p:nvSpPr>
        <p:spPr>
          <a:xfrm>
            <a:off x="16930116"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FFFFFF"/>
                </a:solidFill>
                <a:latin typeface="Nunito Ultra-Bold"/>
                <a:ea typeface="Nunito Ultra-Bold"/>
                <a:cs typeface="Nunito Ultra-Bold"/>
                <a:sym typeface="Nunito Ultra-Bold"/>
              </a:rPr>
              <a:t>7</a:t>
            </a:r>
          </a:p>
        </p:txBody>
      </p:sp>
      <p:sp>
        <p:nvSpPr>
          <p:cNvPr id="20" name="TextBox 19"/>
          <p:cNvSpPr txBox="1"/>
          <p:nvPr/>
        </p:nvSpPr>
        <p:spPr>
          <a:xfrm>
            <a:off x="1028700" y="1719072"/>
            <a:ext cx="16230600" cy="730250"/>
          </a:xfrm>
          <a:prstGeom prst="rect">
            <a:avLst/>
          </a:prstGeom>
          <a:noFill/>
        </p:spPr>
        <p:txBody>
          <a:bodyPr anchor="t" rtlCol="false" lIns="0" tIns="0" rIns="0" bIns="0" wrap="square"/>
          <a:lstStyle/>
          <a:p>
            <a:pPr algn="l">
              <a:lnSpc>
                <a:spcPts val="5060"/>
              </a:lnSpc>
              <a:spcBef>
                <a:spcPts val="0"/>
              </a:spcBef>
              <a:buNone/>
            </a:pPr>
            <a:r>
              <a:rPr lang="en-US" sz="4600" b="true" spc="-230">
                <a:solidFill>
                  <a:srgbClr val="111111"/>
                </a:solidFill>
                <a:latin typeface="Roca Two Bold"/>
                <a:ea typeface="Roca Two Bold"/>
                <a:cs typeface="Roca Two Bold"/>
                <a:sym typeface="Roca Two Bold"/>
              </a:rPr>
              <a:t>Limitations, Stated Honestly</a:t>
            </a:r>
          </a:p>
        </p:txBody>
      </p:sp>
      <p:sp>
        <p:nvSpPr>
          <p:cNvPr id="21" name="Rounded Rectangle 20"/>
          <p:cNvSpPr/>
          <p:nvPr/>
        </p:nvSpPr>
        <p:spPr>
          <a:xfrm>
            <a:off x="1028700" y="2559050"/>
            <a:ext cx="1604433" cy="420624"/>
          </a:xfrm>
          <a:prstGeom prst="roundRect">
            <a:avLst>
              <a:gd name="adj" fmla="val 50000"/>
            </a:avLst>
          </a:prstGeom>
          <a:noFill/>
          <a:ln w="28575">
            <a:solidFill>
              <a:srgbClr val="4472C4"/>
            </a:solidFill>
          </a:ln>
        </p:spPr>
        <p:txBody>
          <a:bodyPr anchor="ctr" rtlCol="false" lIns="45720" tIns="0" rIns="45720" bIns="0" wrap="square"/>
          <a:lstStyle/>
          <a:p>
            <a:pPr algn="ctr">
              <a:lnSpc>
                <a:spcPts val="2160"/>
              </a:lnSpc>
              <a:spcBef>
                <a:spcPts val="0"/>
              </a:spcBef>
              <a:buNone/>
            </a:pPr>
            <a:r>
              <a:rPr lang="en-US" sz="1800" b="true">
                <a:solidFill>
                  <a:srgbClr val="4472C4"/>
                </a:solidFill>
                <a:latin typeface="Nunito Bold"/>
                <a:ea typeface="Nunito Bold"/>
                <a:cs typeface="Nunito Bold"/>
                <a:sym typeface="Nunito Bold"/>
              </a:rPr>
              <a:t>Synthesis</a:t>
            </a:r>
          </a:p>
        </p:txBody>
      </p:sp>
      <p:sp>
        <p:nvSpPr>
          <p:cNvPr id="22" name="Rounded Rectangle 21"/>
          <p:cNvSpPr/>
          <p:nvPr/>
        </p:nvSpPr>
        <p:spPr>
          <a:xfrm>
            <a:off x="2761149" y="2559050"/>
            <a:ext cx="1893576" cy="420624"/>
          </a:xfrm>
          <a:prstGeom prst="roundRect">
            <a:avLst>
              <a:gd name="adj" fmla="val 50000"/>
            </a:avLst>
          </a:prstGeom>
          <a:noFill/>
          <a:ln w="28575">
            <a:solidFill>
              <a:srgbClr val="4472C4"/>
            </a:solidFill>
          </a:ln>
        </p:spPr>
        <p:txBody>
          <a:bodyPr anchor="ctr" rtlCol="false" lIns="45720" tIns="0" rIns="45720" bIns="0" wrap="square"/>
          <a:lstStyle/>
          <a:p>
            <a:pPr algn="ctr">
              <a:lnSpc>
                <a:spcPts val="2160"/>
              </a:lnSpc>
              <a:spcBef>
                <a:spcPts val="0"/>
              </a:spcBef>
              <a:buNone/>
            </a:pPr>
            <a:r>
              <a:rPr lang="en-US" sz="1800" b="true">
                <a:solidFill>
                  <a:srgbClr val="4472C4"/>
                </a:solidFill>
                <a:latin typeface="Nunito Bold"/>
                <a:ea typeface="Nunito Bold"/>
                <a:cs typeface="Nunito Bold"/>
                <a:sym typeface="Nunito Bold"/>
              </a:rPr>
              <a:t>Publications</a:t>
            </a:r>
          </a:p>
        </p:txBody>
      </p:sp>
      <p:sp>
        <p:nvSpPr>
          <p:cNvPr id="23" name="Rounded Rectangle 22"/>
          <p:cNvSpPr/>
          <p:nvPr/>
        </p:nvSpPr>
        <p:spPr>
          <a:xfrm>
            <a:off x="4782741" y="2559050"/>
            <a:ext cx="1765486" cy="420624"/>
          </a:xfrm>
          <a:prstGeom prst="roundRect">
            <a:avLst>
              <a:gd name="adj" fmla="val 50000"/>
            </a:avLst>
          </a:prstGeom>
          <a:solidFill>
            <a:srgbClr val="4472C4"/>
          </a:solidFill>
          <a:ln>
            <a:noFill/>
          </a:ln>
        </p:spPr>
        <p:txBody>
          <a:bodyPr anchor="ctr" rtlCol="false" lIns="45720" tIns="0" rIns="45720" bIns="0" wrap="square"/>
          <a:lstStyle/>
          <a:p>
            <a:pPr algn="ctr">
              <a:lnSpc>
                <a:spcPts val="2160"/>
              </a:lnSpc>
              <a:spcBef>
                <a:spcPts val="0"/>
              </a:spcBef>
              <a:buNone/>
            </a:pPr>
            <a:r>
              <a:rPr lang="en-US" sz="1800" b="true">
                <a:solidFill>
                  <a:srgbClr val="FFFFFF"/>
                </a:solidFill>
                <a:latin typeface="Nunito Bold"/>
                <a:ea typeface="Nunito Bold"/>
                <a:cs typeface="Nunito Bold"/>
                <a:sym typeface="Nunito Bold"/>
              </a:rPr>
              <a:t>Limitations</a:t>
            </a:r>
          </a:p>
        </p:txBody>
      </p:sp>
      <p:sp>
        <p:nvSpPr>
          <p:cNvPr id="24" name="Rounded Rectangle 23"/>
          <p:cNvSpPr/>
          <p:nvPr/>
        </p:nvSpPr>
        <p:spPr>
          <a:xfrm>
            <a:off x="6676243" y="2559050"/>
            <a:ext cx="1934074" cy="420624"/>
          </a:xfrm>
          <a:prstGeom prst="roundRect">
            <a:avLst>
              <a:gd name="adj" fmla="val 50000"/>
            </a:avLst>
          </a:prstGeom>
          <a:noFill/>
          <a:ln w="28575">
            <a:solidFill>
              <a:srgbClr val="4472C4"/>
            </a:solidFill>
          </a:ln>
        </p:spPr>
        <p:txBody>
          <a:bodyPr anchor="ctr" rtlCol="false" lIns="45720" tIns="0" rIns="45720" bIns="0" wrap="square"/>
          <a:lstStyle/>
          <a:p>
            <a:pPr algn="ctr">
              <a:lnSpc>
                <a:spcPts val="2160"/>
              </a:lnSpc>
              <a:spcBef>
                <a:spcPts val="0"/>
              </a:spcBef>
              <a:buNone/>
            </a:pPr>
            <a:r>
              <a:rPr lang="en-US" sz="1800" b="true">
                <a:solidFill>
                  <a:srgbClr val="4472C4"/>
                </a:solidFill>
                <a:latin typeface="Nunito Bold"/>
                <a:ea typeface="Nunito Bold"/>
                <a:cs typeface="Nunito Bold"/>
                <a:sym typeface="Nunito Bold"/>
              </a:rPr>
              <a:t>Perspectives</a:t>
            </a:r>
          </a:p>
        </p:txBody>
      </p:sp>
      <p:sp>
        <p:nvSpPr>
          <p:cNvPr id="25" name="Rounded Rectangle 24"/>
          <p:cNvSpPr/>
          <p:nvPr/>
        </p:nvSpPr>
        <p:spPr>
          <a:xfrm>
            <a:off x="8738333" y="2559050"/>
            <a:ext cx="1753007" cy="420624"/>
          </a:xfrm>
          <a:prstGeom prst="roundRect">
            <a:avLst>
              <a:gd name="adj" fmla="val 50000"/>
            </a:avLst>
          </a:prstGeom>
          <a:noFill/>
          <a:ln w="28575">
            <a:solidFill>
              <a:srgbClr val="4472C4"/>
            </a:solidFill>
          </a:ln>
        </p:spPr>
        <p:txBody>
          <a:bodyPr anchor="ctr" rtlCol="false" lIns="45720" tIns="0" rIns="45720" bIns="0" wrap="square"/>
          <a:lstStyle/>
          <a:p>
            <a:pPr algn="ctr">
              <a:lnSpc>
                <a:spcPts val="2160"/>
              </a:lnSpc>
              <a:spcBef>
                <a:spcPts val="0"/>
              </a:spcBef>
              <a:buNone/>
            </a:pPr>
            <a:r>
              <a:rPr lang="en-US" sz="1800" b="true">
                <a:solidFill>
                  <a:srgbClr val="4472C4"/>
                </a:solidFill>
                <a:latin typeface="Nunito Bold"/>
                <a:ea typeface="Nunito Bold"/>
                <a:cs typeface="Nunito Bold"/>
                <a:sym typeface="Nunito Bold"/>
              </a:rPr>
              <a:t>Conclusion</a:t>
            </a:r>
          </a:p>
        </p:txBody>
      </p:sp>
      <p:sp>
        <p:nvSpPr>
          <p:cNvPr id="26" name="Rounded Rectangle 25"/>
          <p:cNvSpPr/>
          <p:nvPr/>
        </p:nvSpPr>
        <p:spPr>
          <a:xfrm>
            <a:off x="1028700" y="3455162"/>
            <a:ext cx="7978140" cy="2789555"/>
          </a:xfrm>
          <a:prstGeom prst="roundRect">
            <a:avLst>
              <a:gd name="adj" fmla="val 9833"/>
            </a:avLst>
          </a:prstGeom>
          <a:solidFill>
            <a:srgbClr val="4472C4"/>
          </a:solidFill>
          <a:ln>
            <a:noFill/>
          </a:ln>
        </p:spPr>
        <p:txBody>
          <a:bodyPr anchor="ctr" rtlCol="false" lIns="457200" tIns="274320" rIns="457200" bIns="274320" wrap="square"/>
          <a:lstStyle/>
          <a:p>
            <a:pPr algn="l">
              <a:lnSpc>
                <a:spcPts val="3400"/>
              </a:lnSpc>
              <a:spcBef>
                <a:spcPts val="0"/>
              </a:spcBef>
              <a:buNone/>
            </a:pPr>
            <a:r>
              <a:rPr lang="en-US" sz="3000" b="true" spc="-120">
                <a:solidFill>
                  <a:srgbClr val="ECC665"/>
                </a:solidFill>
                <a:latin typeface="Roca Two Bold"/>
                <a:ea typeface="Roca Two Bold"/>
                <a:cs typeface="Roca Two Bold"/>
                <a:sym typeface="Roca Two Bold"/>
              </a:rPr>
              <a:t>Computational</a:t>
            </a:r>
          </a:p>
          <a:p>
            <a:pPr algn="l">
              <a:lnSpc>
                <a:spcPts val="2600"/>
              </a:lnSpc>
              <a:spcBef>
                <a:spcPts val="1200"/>
              </a:spcBef>
              <a:buNone/>
            </a:pPr>
            <a:r>
              <a:rPr lang="en-US" sz="2000" b="true">
                <a:solidFill>
                  <a:srgbClr val="F7F2EA"/>
                </a:solidFill>
                <a:latin typeface="Nunito Semi-Bold"/>
                <a:ea typeface="Nunito Semi-Bold"/>
                <a:cs typeface="Nunito Semi-Bold"/>
                <a:sym typeface="Nunito Semi-Bold"/>
              </a:rPr>
              <a:t>Exact Shapley is not feasible; every contribution relies on approximation, surrogates or limited reporting.</a:t>
            </a:r>
          </a:p>
        </p:txBody>
      </p:sp>
      <p:sp>
        <p:nvSpPr>
          <p:cNvPr id="27" name="Rounded Rectangle 26"/>
          <p:cNvSpPr/>
          <p:nvPr/>
        </p:nvSpPr>
        <p:spPr>
          <a:xfrm>
            <a:off x="9281160" y="3455162"/>
            <a:ext cx="7978140" cy="2789555"/>
          </a:xfrm>
          <a:prstGeom prst="roundRect">
            <a:avLst>
              <a:gd name="adj" fmla="val 9833"/>
            </a:avLst>
          </a:prstGeom>
          <a:solidFill>
            <a:srgbClr val="2F5597"/>
          </a:solidFill>
          <a:ln>
            <a:noFill/>
          </a:ln>
        </p:spPr>
        <p:txBody>
          <a:bodyPr anchor="ctr" rtlCol="false" lIns="457200" tIns="274320" rIns="457200" bIns="274320" wrap="square"/>
          <a:lstStyle/>
          <a:p>
            <a:pPr algn="l">
              <a:lnSpc>
                <a:spcPts val="3400"/>
              </a:lnSpc>
              <a:spcBef>
                <a:spcPts val="0"/>
              </a:spcBef>
              <a:buNone/>
            </a:pPr>
            <a:r>
              <a:rPr lang="en-US" sz="3000" b="true" spc="-120">
                <a:solidFill>
                  <a:srgbClr val="ECC665"/>
                </a:solidFill>
                <a:latin typeface="Roca Two Bold"/>
                <a:ea typeface="Roca Two Bold"/>
                <a:cs typeface="Roca Two Bold"/>
                <a:sym typeface="Roca Two Bold"/>
              </a:rPr>
              <a:t>Methodological</a:t>
            </a:r>
          </a:p>
          <a:p>
            <a:pPr algn="l">
              <a:lnSpc>
                <a:spcPts val="2600"/>
              </a:lnSpc>
              <a:spcBef>
                <a:spcPts val="1200"/>
              </a:spcBef>
              <a:buNone/>
            </a:pPr>
            <a:r>
              <a:rPr lang="en-US" sz="2000" b="true">
                <a:solidFill>
                  <a:srgbClr val="F7F2EA"/>
                </a:solidFill>
                <a:latin typeface="Nunito Semi-Bold"/>
                <a:ea typeface="Nunito Semi-Bold"/>
                <a:cs typeface="Nunito Semi-Bold"/>
                <a:sym typeface="Nunito Semi-Bold"/>
              </a:rPr>
              <a:t>Clustering depends on surrogate fidelity; recommendation depends on stable approximate contributions and useful context.</a:t>
            </a:r>
          </a:p>
        </p:txBody>
      </p:sp>
      <p:sp>
        <p:nvSpPr>
          <p:cNvPr id="28" name="Rounded Rectangle 27"/>
          <p:cNvSpPr/>
          <p:nvPr/>
        </p:nvSpPr>
        <p:spPr>
          <a:xfrm>
            <a:off x="1028700" y="6519037"/>
            <a:ext cx="7978140" cy="2789555"/>
          </a:xfrm>
          <a:prstGeom prst="roundRect">
            <a:avLst>
              <a:gd name="adj" fmla="val 9833"/>
            </a:avLst>
          </a:prstGeom>
          <a:solidFill>
            <a:srgbClr val="1F7A8C"/>
          </a:solidFill>
          <a:ln>
            <a:noFill/>
          </a:ln>
        </p:spPr>
        <p:txBody>
          <a:bodyPr anchor="ctr" rtlCol="false" lIns="457200" tIns="274320" rIns="457200" bIns="274320" wrap="square"/>
          <a:lstStyle/>
          <a:p>
            <a:pPr algn="l">
              <a:lnSpc>
                <a:spcPts val="3400"/>
              </a:lnSpc>
              <a:spcBef>
                <a:spcPts val="0"/>
              </a:spcBef>
              <a:buNone/>
            </a:pPr>
            <a:r>
              <a:rPr lang="en-US" sz="3000" b="true" spc="-120">
                <a:solidFill>
                  <a:srgbClr val="FFFFFF"/>
                </a:solidFill>
                <a:latin typeface="Roca Two Bold"/>
                <a:ea typeface="Roca Two Bold"/>
                <a:cs typeface="Roca Two Bold"/>
                <a:sym typeface="Roca Two Bold"/>
              </a:rPr>
              <a:t>Empirical</a:t>
            </a:r>
          </a:p>
          <a:p>
            <a:pPr algn="l">
              <a:lnSpc>
                <a:spcPts val="2600"/>
              </a:lnSpc>
              <a:spcBef>
                <a:spcPts val="1200"/>
              </a:spcBef>
              <a:buNone/>
            </a:pPr>
            <a:r>
              <a:rPr lang="en-US" sz="2000" b="true">
                <a:solidFill>
                  <a:srgbClr val="F7F2EA"/>
                </a:solidFill>
                <a:latin typeface="Nunito Semi-Bold"/>
                <a:ea typeface="Nunito Semi-Bold"/>
                <a:cs typeface="Nunito Semi-Bold"/>
                <a:sym typeface="Nunito Semi-Bold"/>
              </a:rPr>
              <a:t>Tabular clustering + benchmark recommendation; no multimodal, sequential or online setting; no dedicated user study of actionability.</a:t>
            </a:r>
          </a:p>
        </p:txBody>
      </p:sp>
      <p:sp>
        <p:nvSpPr>
          <p:cNvPr id="29" name="Rounded Rectangle 28"/>
          <p:cNvSpPr/>
          <p:nvPr/>
        </p:nvSpPr>
        <p:spPr>
          <a:xfrm>
            <a:off x="9281160" y="6519037"/>
            <a:ext cx="7978140" cy="2789555"/>
          </a:xfrm>
          <a:prstGeom prst="roundRect">
            <a:avLst>
              <a:gd name="adj" fmla="val 9833"/>
            </a:avLst>
          </a:prstGeom>
          <a:solidFill>
            <a:srgbClr val="111111"/>
          </a:solidFill>
          <a:ln>
            <a:noFill/>
          </a:ln>
        </p:spPr>
        <p:txBody>
          <a:bodyPr anchor="ctr" rtlCol="false" lIns="457200" tIns="274320" rIns="457200" bIns="274320" wrap="square"/>
          <a:lstStyle/>
          <a:p>
            <a:pPr algn="l">
              <a:lnSpc>
                <a:spcPts val="3400"/>
              </a:lnSpc>
              <a:spcBef>
                <a:spcPts val="0"/>
              </a:spcBef>
              <a:buNone/>
            </a:pPr>
            <a:r>
              <a:rPr lang="en-US" sz="3000" b="true" spc="-120">
                <a:solidFill>
                  <a:srgbClr val="ECC665"/>
                </a:solidFill>
                <a:latin typeface="Roca Two Bold"/>
                <a:ea typeface="Roca Two Bold"/>
                <a:cs typeface="Roca Two Bold"/>
                <a:sym typeface="Roca Two Bold"/>
              </a:rPr>
              <a:t>Claim scope</a:t>
            </a:r>
          </a:p>
          <a:p>
            <a:pPr algn="l">
              <a:lnSpc>
                <a:spcPts val="2600"/>
              </a:lnSpc>
              <a:spcBef>
                <a:spcPts val="1200"/>
              </a:spcBef>
              <a:buNone/>
            </a:pPr>
            <a:r>
              <a:rPr lang="en-US" sz="2000" b="true">
                <a:solidFill>
                  <a:srgbClr val="F7F2EA"/>
                </a:solidFill>
                <a:latin typeface="Nunito Semi-Bold"/>
                <a:ea typeface="Nunito Semi-Bold"/>
                <a:cs typeface="Nunito Semi-Bold"/>
                <a:sym typeface="Nunito Semi-Bold"/>
              </a:rPr>
              <a:t>A consistent and productive shared view, not one fully unified framework that removes all tension.</a:t>
            </a:r>
          </a:p>
        </p:txBody>
      </p:sp>
    </p:spTree>
  </p:cSld>
  <p:clrMapOvr>
    <a:masterClrMapping/>
  </p:clrMapOvr>
</p:sld>
</file>

<file path=ppt/slides/slide8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pic>
        <p:nvPicPr>
          <p:cNvPr id="2" name="Picture 1" descr="ensias_logo.jpg"/>
          <p:cNvPicPr>
            <a:picLocks noChangeAspect="1"/>
          </p:cNvPicPr>
          <p:nvPr/>
        </p:nvPicPr>
        <p:blipFill>
          <a:blip r:embed="rId2"/>
          <a:stretch>
            <a:fillRect/>
          </a:stretch>
        </p:blipFill>
        <p:spPr>
          <a:xfrm>
            <a:off x="1028700" y="9674352"/>
            <a:ext cx="542964" cy="384048"/>
          </a:xfrm>
          <a:prstGeom prst="rect">
            <a:avLst/>
          </a:prstGeom>
        </p:spPr>
      </p:pic>
      <p:sp>
        <p:nvSpPr>
          <p:cNvPr id="3" name="TextBox 2"/>
          <p:cNvSpPr txBox="1"/>
          <p:nvPr/>
        </p:nvSpPr>
        <p:spPr>
          <a:xfrm>
            <a:off x="1577340" y="9747504"/>
            <a:ext cx="12801600" cy="274320"/>
          </a:xfrm>
          <a:prstGeom prst="rect">
            <a:avLst/>
          </a:prstGeom>
          <a:noFill/>
        </p:spPr>
        <p:txBody>
          <a:bodyPr anchor="t" rtlCol="false" lIns="0" tIns="0" rIns="0" bIns="0" wrap="square"/>
          <a:lstStyle/>
          <a:p>
            <a:pPr algn="l">
              <a:lnSpc>
                <a:spcPts val="1600"/>
              </a:lnSpc>
              <a:spcBef>
                <a:spcPts val="0"/>
              </a:spcBef>
              <a:buNone/>
            </a:pPr>
            <a:r>
              <a:rPr lang="en-US" sz="1300" b="true">
                <a:solidFill>
                  <a:srgbClr val="8A8378"/>
                </a:solidFill>
                <a:latin typeface="Nunito Bold"/>
                <a:ea typeface="Nunito Bold"/>
                <a:cs typeface="Nunito Bold"/>
                <a:sym typeface="Nunito Bold"/>
              </a:rPr>
              <a:t>Cooperative Game Theory for Explainable AI in Recommendation Systems  ·  A Shapley Framework for Actionable Insight</a:t>
            </a:r>
          </a:p>
        </p:txBody>
      </p:sp>
      <p:sp>
        <p:nvSpPr>
          <p:cNvPr id="4" name="TextBox 3"/>
          <p:cNvSpPr txBox="1"/>
          <p:nvPr/>
        </p:nvSpPr>
        <p:spPr>
          <a:xfrm>
            <a:off x="16162020" y="9692640"/>
            <a:ext cx="1097280" cy="329184"/>
          </a:xfrm>
          <a:prstGeom prst="rect">
            <a:avLst/>
          </a:prstGeom>
          <a:noFill/>
        </p:spPr>
        <p:txBody>
          <a:bodyPr anchor="t" rtlCol="false" lIns="0" tIns="0" rIns="0" bIns="0" wrap="square"/>
          <a:lstStyle/>
          <a:p>
            <a:pPr algn="r">
              <a:lnSpc>
                <a:spcPts val="2200"/>
              </a:lnSpc>
              <a:spcBef>
                <a:spcPts val="0"/>
              </a:spcBef>
              <a:buNone/>
            </a:pPr>
            <a:r>
              <a:rPr lang="en-US" sz="1800" b="true">
                <a:solidFill>
                  <a:srgbClr val="111111"/>
                </a:solidFill>
                <a:latin typeface="Nunito Ultra-Bold"/>
                <a:ea typeface="Nunito Ultra-Bold"/>
                <a:cs typeface="Nunito Ultra-Bold"/>
                <a:sym typeface="Nunito Ultra-Bold"/>
              </a:rPr>
              <a:t>71</a:t>
            </a:r>
          </a:p>
        </p:txBody>
      </p:sp>
      <p:sp>
        <p:nvSpPr>
          <p:cNvPr id="5" name="TextBox 4"/>
          <p:cNvSpPr txBox="1"/>
          <p:nvPr/>
        </p:nvSpPr>
        <p:spPr>
          <a:xfrm>
            <a:off x="1028700" y="1389888"/>
            <a:ext cx="12938760" cy="329184"/>
          </a:xfrm>
          <a:prstGeom prst="rect">
            <a:avLst/>
          </a:prstGeom>
          <a:noFill/>
        </p:spPr>
        <p:txBody>
          <a:bodyPr anchor="t" rtlCol="false" lIns="0" tIns="0" rIns="0" bIns="0" wrap="square"/>
          <a:lstStyle/>
          <a:p>
            <a:pPr algn="l">
              <a:lnSpc>
                <a:spcPts val="2000"/>
              </a:lnSpc>
              <a:spcBef>
                <a:spcPts val="0"/>
              </a:spcBef>
              <a:buNone/>
            </a:pPr>
            <a:r>
              <a:rPr lang="en-US" sz="1500" b="true" spc="160">
                <a:solidFill>
                  <a:srgbClr val="1F7A8C"/>
                </a:solidFill>
                <a:latin typeface="Nunito Ultra-Bold"/>
                <a:ea typeface="Nunito Ultra-Bold"/>
                <a:cs typeface="Nunito Ultra-Bold"/>
                <a:sym typeface="Nunito Ultra-Bold"/>
              </a:rPr>
              <a:t>CONCLUSION &amp; PERSPECTIVES</a:t>
            </a:r>
          </a:p>
        </p:txBody>
      </p:sp>
      <p:sp>
        <p:nvSpPr>
          <p:cNvPr id="6" name="Rounded Rectangle 5"/>
          <p:cNvSpPr/>
          <p:nvPr/>
        </p:nvSpPr>
        <p:spPr>
          <a:xfrm>
            <a:off x="14516100"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7" name="TextBox 6"/>
          <p:cNvSpPr txBox="1"/>
          <p:nvPr/>
        </p:nvSpPr>
        <p:spPr>
          <a:xfrm>
            <a:off x="14516100"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1</a:t>
            </a:r>
          </a:p>
        </p:txBody>
      </p:sp>
      <p:sp>
        <p:nvSpPr>
          <p:cNvPr id="8" name="Rounded Rectangle 7"/>
          <p:cNvSpPr/>
          <p:nvPr/>
        </p:nvSpPr>
        <p:spPr>
          <a:xfrm>
            <a:off x="14918436"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9" name="TextBox 8"/>
          <p:cNvSpPr txBox="1"/>
          <p:nvPr/>
        </p:nvSpPr>
        <p:spPr>
          <a:xfrm>
            <a:off x="14918436"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2</a:t>
            </a:r>
          </a:p>
        </p:txBody>
      </p:sp>
      <p:sp>
        <p:nvSpPr>
          <p:cNvPr id="10" name="Rounded Rectangle 9"/>
          <p:cNvSpPr/>
          <p:nvPr/>
        </p:nvSpPr>
        <p:spPr>
          <a:xfrm>
            <a:off x="15320772"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11" name="TextBox 10"/>
          <p:cNvSpPr txBox="1"/>
          <p:nvPr/>
        </p:nvSpPr>
        <p:spPr>
          <a:xfrm>
            <a:off x="15320772"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3</a:t>
            </a:r>
          </a:p>
        </p:txBody>
      </p:sp>
      <p:sp>
        <p:nvSpPr>
          <p:cNvPr id="12" name="Rounded Rectangle 11"/>
          <p:cNvSpPr/>
          <p:nvPr/>
        </p:nvSpPr>
        <p:spPr>
          <a:xfrm>
            <a:off x="15723108"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13" name="TextBox 12"/>
          <p:cNvSpPr txBox="1"/>
          <p:nvPr/>
        </p:nvSpPr>
        <p:spPr>
          <a:xfrm>
            <a:off x="15723108"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4</a:t>
            </a:r>
          </a:p>
        </p:txBody>
      </p:sp>
      <p:sp>
        <p:nvSpPr>
          <p:cNvPr id="14" name="Rounded Rectangle 13"/>
          <p:cNvSpPr/>
          <p:nvPr/>
        </p:nvSpPr>
        <p:spPr>
          <a:xfrm>
            <a:off x="16125444"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15" name="TextBox 14"/>
          <p:cNvSpPr txBox="1"/>
          <p:nvPr/>
        </p:nvSpPr>
        <p:spPr>
          <a:xfrm>
            <a:off x="16125444"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5</a:t>
            </a:r>
          </a:p>
        </p:txBody>
      </p:sp>
      <p:sp>
        <p:nvSpPr>
          <p:cNvPr id="16" name="Rounded Rectangle 15"/>
          <p:cNvSpPr/>
          <p:nvPr/>
        </p:nvSpPr>
        <p:spPr>
          <a:xfrm>
            <a:off x="16527780"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17" name="TextBox 16"/>
          <p:cNvSpPr txBox="1"/>
          <p:nvPr/>
        </p:nvSpPr>
        <p:spPr>
          <a:xfrm>
            <a:off x="16527780"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6</a:t>
            </a:r>
          </a:p>
        </p:txBody>
      </p:sp>
      <p:sp>
        <p:nvSpPr>
          <p:cNvPr id="18" name="Rounded Rectangle 17"/>
          <p:cNvSpPr/>
          <p:nvPr/>
        </p:nvSpPr>
        <p:spPr>
          <a:xfrm>
            <a:off x="16930116" y="1371600"/>
            <a:ext cx="329184" cy="329184"/>
          </a:xfrm>
          <a:prstGeom prst="roundRect">
            <a:avLst>
              <a:gd name="adj" fmla="val 16666"/>
            </a:avLst>
          </a:prstGeom>
          <a:solidFill>
            <a:srgbClr val="4472C4"/>
          </a:solidFill>
          <a:ln w="15875">
            <a:solidFill>
              <a:srgbClr val="4472C4"/>
            </a:solidFill>
          </a:ln>
        </p:spPr>
        <p:txBody>
          <a:bodyPr anchor="ctr" rtlCol="false" lIns="0" tIns="0" rIns="0" bIns="0" wrap="square"/>
          <a:lstStyle/>
          <a:p>
            <a:endParaRPr lang="en-US" sz="1800"/>
          </a:p>
        </p:txBody>
      </p:sp>
      <p:sp>
        <p:nvSpPr>
          <p:cNvPr id="19" name="TextBox 18"/>
          <p:cNvSpPr txBox="1"/>
          <p:nvPr/>
        </p:nvSpPr>
        <p:spPr>
          <a:xfrm>
            <a:off x="16930116"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FFFFFF"/>
                </a:solidFill>
                <a:latin typeface="Nunito Ultra-Bold"/>
                <a:ea typeface="Nunito Ultra-Bold"/>
                <a:cs typeface="Nunito Ultra-Bold"/>
                <a:sym typeface="Nunito Ultra-Bold"/>
              </a:rPr>
              <a:t>7</a:t>
            </a:r>
          </a:p>
        </p:txBody>
      </p:sp>
      <p:sp>
        <p:nvSpPr>
          <p:cNvPr id="20" name="TextBox 19"/>
          <p:cNvSpPr txBox="1"/>
          <p:nvPr/>
        </p:nvSpPr>
        <p:spPr>
          <a:xfrm>
            <a:off x="1028700" y="1719072"/>
            <a:ext cx="16230600" cy="730250"/>
          </a:xfrm>
          <a:prstGeom prst="rect">
            <a:avLst/>
          </a:prstGeom>
          <a:noFill/>
        </p:spPr>
        <p:txBody>
          <a:bodyPr anchor="t" rtlCol="false" lIns="0" tIns="0" rIns="0" bIns="0" wrap="square"/>
          <a:lstStyle/>
          <a:p>
            <a:pPr algn="l">
              <a:lnSpc>
                <a:spcPts val="5060"/>
              </a:lnSpc>
              <a:spcBef>
                <a:spcPts val="0"/>
              </a:spcBef>
              <a:buNone/>
            </a:pPr>
            <a:r>
              <a:rPr lang="en-US" sz="4600" b="true" spc="-230">
                <a:solidFill>
                  <a:srgbClr val="111111"/>
                </a:solidFill>
                <a:latin typeface="Roca Two Bold"/>
                <a:ea typeface="Roca Two Bold"/>
                <a:cs typeface="Roca Two Bold"/>
                <a:sym typeface="Roca Two Bold"/>
              </a:rPr>
              <a:t>Perspectives: Turning Limitations into an Agenda</a:t>
            </a:r>
          </a:p>
        </p:txBody>
      </p:sp>
      <p:sp>
        <p:nvSpPr>
          <p:cNvPr id="21" name="Rounded Rectangle 20"/>
          <p:cNvSpPr/>
          <p:nvPr/>
        </p:nvSpPr>
        <p:spPr>
          <a:xfrm>
            <a:off x="1028700" y="2559050"/>
            <a:ext cx="1604433" cy="420624"/>
          </a:xfrm>
          <a:prstGeom prst="roundRect">
            <a:avLst>
              <a:gd name="adj" fmla="val 50000"/>
            </a:avLst>
          </a:prstGeom>
          <a:noFill/>
          <a:ln w="28575">
            <a:solidFill>
              <a:srgbClr val="4472C4"/>
            </a:solidFill>
          </a:ln>
        </p:spPr>
        <p:txBody>
          <a:bodyPr anchor="ctr" rtlCol="false" lIns="45720" tIns="0" rIns="45720" bIns="0" wrap="square"/>
          <a:lstStyle/>
          <a:p>
            <a:pPr algn="ctr">
              <a:lnSpc>
                <a:spcPts val="2160"/>
              </a:lnSpc>
              <a:spcBef>
                <a:spcPts val="0"/>
              </a:spcBef>
              <a:buNone/>
            </a:pPr>
            <a:r>
              <a:rPr lang="en-US" sz="1800" b="true">
                <a:solidFill>
                  <a:srgbClr val="4472C4"/>
                </a:solidFill>
                <a:latin typeface="Nunito Bold"/>
                <a:ea typeface="Nunito Bold"/>
                <a:cs typeface="Nunito Bold"/>
                <a:sym typeface="Nunito Bold"/>
              </a:rPr>
              <a:t>Synthesis</a:t>
            </a:r>
          </a:p>
        </p:txBody>
      </p:sp>
      <p:sp>
        <p:nvSpPr>
          <p:cNvPr id="22" name="Rounded Rectangle 21"/>
          <p:cNvSpPr/>
          <p:nvPr/>
        </p:nvSpPr>
        <p:spPr>
          <a:xfrm>
            <a:off x="2761149" y="2559050"/>
            <a:ext cx="1893576" cy="420624"/>
          </a:xfrm>
          <a:prstGeom prst="roundRect">
            <a:avLst>
              <a:gd name="adj" fmla="val 50000"/>
            </a:avLst>
          </a:prstGeom>
          <a:noFill/>
          <a:ln w="28575">
            <a:solidFill>
              <a:srgbClr val="4472C4"/>
            </a:solidFill>
          </a:ln>
        </p:spPr>
        <p:txBody>
          <a:bodyPr anchor="ctr" rtlCol="false" lIns="45720" tIns="0" rIns="45720" bIns="0" wrap="square"/>
          <a:lstStyle/>
          <a:p>
            <a:pPr algn="ctr">
              <a:lnSpc>
                <a:spcPts val="2160"/>
              </a:lnSpc>
              <a:spcBef>
                <a:spcPts val="0"/>
              </a:spcBef>
              <a:buNone/>
            </a:pPr>
            <a:r>
              <a:rPr lang="en-US" sz="1800" b="true">
                <a:solidFill>
                  <a:srgbClr val="4472C4"/>
                </a:solidFill>
                <a:latin typeface="Nunito Bold"/>
                <a:ea typeface="Nunito Bold"/>
                <a:cs typeface="Nunito Bold"/>
                <a:sym typeface="Nunito Bold"/>
              </a:rPr>
              <a:t>Publications</a:t>
            </a:r>
          </a:p>
        </p:txBody>
      </p:sp>
      <p:sp>
        <p:nvSpPr>
          <p:cNvPr id="23" name="Rounded Rectangle 22"/>
          <p:cNvSpPr/>
          <p:nvPr/>
        </p:nvSpPr>
        <p:spPr>
          <a:xfrm>
            <a:off x="4782741" y="2559050"/>
            <a:ext cx="1765486" cy="420624"/>
          </a:xfrm>
          <a:prstGeom prst="roundRect">
            <a:avLst>
              <a:gd name="adj" fmla="val 50000"/>
            </a:avLst>
          </a:prstGeom>
          <a:noFill/>
          <a:ln w="28575">
            <a:solidFill>
              <a:srgbClr val="4472C4"/>
            </a:solidFill>
          </a:ln>
        </p:spPr>
        <p:txBody>
          <a:bodyPr anchor="ctr" rtlCol="false" lIns="45720" tIns="0" rIns="45720" bIns="0" wrap="square"/>
          <a:lstStyle/>
          <a:p>
            <a:pPr algn="ctr">
              <a:lnSpc>
                <a:spcPts val="2160"/>
              </a:lnSpc>
              <a:spcBef>
                <a:spcPts val="0"/>
              </a:spcBef>
              <a:buNone/>
            </a:pPr>
            <a:r>
              <a:rPr lang="en-US" sz="1800" b="true">
                <a:solidFill>
                  <a:srgbClr val="4472C4"/>
                </a:solidFill>
                <a:latin typeface="Nunito Bold"/>
                <a:ea typeface="Nunito Bold"/>
                <a:cs typeface="Nunito Bold"/>
                <a:sym typeface="Nunito Bold"/>
              </a:rPr>
              <a:t>Limitations</a:t>
            </a:r>
          </a:p>
        </p:txBody>
      </p:sp>
      <p:sp>
        <p:nvSpPr>
          <p:cNvPr id="24" name="Rounded Rectangle 23"/>
          <p:cNvSpPr/>
          <p:nvPr/>
        </p:nvSpPr>
        <p:spPr>
          <a:xfrm>
            <a:off x="6676243" y="2559050"/>
            <a:ext cx="1934074" cy="420624"/>
          </a:xfrm>
          <a:prstGeom prst="roundRect">
            <a:avLst>
              <a:gd name="adj" fmla="val 50000"/>
            </a:avLst>
          </a:prstGeom>
          <a:solidFill>
            <a:srgbClr val="4472C4"/>
          </a:solidFill>
          <a:ln>
            <a:noFill/>
          </a:ln>
        </p:spPr>
        <p:txBody>
          <a:bodyPr anchor="ctr" rtlCol="false" lIns="45720" tIns="0" rIns="45720" bIns="0" wrap="square"/>
          <a:lstStyle/>
          <a:p>
            <a:pPr algn="ctr">
              <a:lnSpc>
                <a:spcPts val="2160"/>
              </a:lnSpc>
              <a:spcBef>
                <a:spcPts val="0"/>
              </a:spcBef>
              <a:buNone/>
            </a:pPr>
            <a:r>
              <a:rPr lang="en-US" sz="1800" b="true">
                <a:solidFill>
                  <a:srgbClr val="FFFFFF"/>
                </a:solidFill>
                <a:latin typeface="Nunito Bold"/>
                <a:ea typeface="Nunito Bold"/>
                <a:cs typeface="Nunito Bold"/>
                <a:sym typeface="Nunito Bold"/>
              </a:rPr>
              <a:t>Perspectives</a:t>
            </a:r>
          </a:p>
        </p:txBody>
      </p:sp>
      <p:sp>
        <p:nvSpPr>
          <p:cNvPr id="25" name="Rounded Rectangle 24"/>
          <p:cNvSpPr/>
          <p:nvPr/>
        </p:nvSpPr>
        <p:spPr>
          <a:xfrm>
            <a:off x="8738333" y="2559050"/>
            <a:ext cx="1753007" cy="420624"/>
          </a:xfrm>
          <a:prstGeom prst="roundRect">
            <a:avLst>
              <a:gd name="adj" fmla="val 50000"/>
            </a:avLst>
          </a:prstGeom>
          <a:noFill/>
          <a:ln w="28575">
            <a:solidFill>
              <a:srgbClr val="4472C4"/>
            </a:solidFill>
          </a:ln>
        </p:spPr>
        <p:txBody>
          <a:bodyPr anchor="ctr" rtlCol="false" lIns="45720" tIns="0" rIns="45720" bIns="0" wrap="square"/>
          <a:lstStyle/>
          <a:p>
            <a:pPr algn="ctr">
              <a:lnSpc>
                <a:spcPts val="2160"/>
              </a:lnSpc>
              <a:spcBef>
                <a:spcPts val="0"/>
              </a:spcBef>
              <a:buNone/>
            </a:pPr>
            <a:r>
              <a:rPr lang="en-US" sz="1800" b="true">
                <a:solidFill>
                  <a:srgbClr val="4472C4"/>
                </a:solidFill>
                <a:latin typeface="Nunito Bold"/>
                <a:ea typeface="Nunito Bold"/>
                <a:cs typeface="Nunito Bold"/>
                <a:sym typeface="Nunito Bold"/>
              </a:rPr>
              <a:t>Conclusion</a:t>
            </a:r>
          </a:p>
        </p:txBody>
      </p:sp>
      <p:sp>
        <p:nvSpPr>
          <p:cNvPr id="26" name="Rounded Rectangle 25"/>
          <p:cNvSpPr/>
          <p:nvPr/>
        </p:nvSpPr>
        <p:spPr>
          <a:xfrm>
            <a:off x="1028700" y="3455162"/>
            <a:ext cx="7978140" cy="2789555"/>
          </a:xfrm>
          <a:prstGeom prst="roundRect">
            <a:avLst>
              <a:gd name="adj" fmla="val 9833"/>
            </a:avLst>
          </a:prstGeom>
          <a:solidFill>
            <a:srgbClr val="4472C4"/>
          </a:solidFill>
          <a:ln>
            <a:noFill/>
          </a:ln>
        </p:spPr>
        <p:txBody>
          <a:bodyPr anchor="ctr" rtlCol="false" lIns="0" tIns="0" rIns="0" bIns="0" wrap="square"/>
          <a:lstStyle/>
          <a:p>
            <a:endParaRPr lang="en-US" sz="1800"/>
          </a:p>
        </p:txBody>
      </p:sp>
      <p:sp>
        <p:nvSpPr>
          <p:cNvPr id="27" name="Oval 26"/>
          <p:cNvSpPr/>
          <p:nvPr/>
        </p:nvSpPr>
        <p:spPr>
          <a:xfrm>
            <a:off x="1394460" y="3820922"/>
            <a:ext cx="731520" cy="731520"/>
          </a:xfrm>
          <a:prstGeom prst="ellipse">
            <a:avLst/>
          </a:prstGeom>
          <a:solidFill>
            <a:srgbClr val="ECC665"/>
          </a:solidFill>
          <a:ln>
            <a:noFill/>
          </a:ln>
        </p:spPr>
        <p:txBody>
          <a:bodyPr anchor="ctr" rtlCol="false" lIns="0" tIns="0" rIns="0" bIns="0" wrap="square"/>
          <a:lstStyle/>
          <a:p>
            <a:pPr algn="ctr">
              <a:lnSpc>
                <a:spcPts val="2200"/>
              </a:lnSpc>
              <a:spcBef>
                <a:spcPts val="0"/>
              </a:spcBef>
              <a:buNone/>
            </a:pPr>
            <a:r>
              <a:rPr lang="en-US" sz="2000" b="true">
                <a:solidFill>
                  <a:srgbClr val="111111"/>
                </a:solidFill>
                <a:latin typeface="Nunito Ultra-Bold"/>
                <a:ea typeface="Nunito Ultra-Bold"/>
                <a:cs typeface="Nunito Ultra-Bold"/>
                <a:sym typeface="Nunito Ultra-Bold"/>
              </a:rPr>
              <a:t>01</a:t>
            </a:r>
          </a:p>
        </p:txBody>
      </p:sp>
      <p:sp>
        <p:nvSpPr>
          <p:cNvPr id="28" name="TextBox 27"/>
          <p:cNvSpPr txBox="1"/>
          <p:nvPr/>
        </p:nvSpPr>
        <p:spPr>
          <a:xfrm>
            <a:off x="2354580" y="3775202"/>
            <a:ext cx="6286500" cy="2240915"/>
          </a:xfrm>
          <a:prstGeom prst="rect">
            <a:avLst/>
          </a:prstGeom>
          <a:noFill/>
        </p:spPr>
        <p:txBody>
          <a:bodyPr anchor="ctr" rtlCol="false" lIns="0" tIns="0" rIns="0" bIns="0" wrap="square"/>
          <a:lstStyle/>
          <a:p>
            <a:pPr algn="l">
              <a:lnSpc>
                <a:spcPts val="3000"/>
              </a:lnSpc>
              <a:spcBef>
                <a:spcPts val="0"/>
              </a:spcBef>
              <a:buNone/>
            </a:pPr>
            <a:r>
              <a:rPr lang="en-US" sz="2400" b="true">
                <a:solidFill>
                  <a:srgbClr val="FFFFFF"/>
                </a:solidFill>
                <a:latin typeface="Nunito Ultra-Bold"/>
                <a:ea typeface="Nunito Ultra-Bold"/>
                <a:cs typeface="Nunito Ultra-Bold"/>
                <a:sym typeface="Nunito Ultra-Bold"/>
              </a:rPr>
              <a:t>Scalable cooperative attribution</a:t>
            </a:r>
          </a:p>
          <a:p>
            <a:pPr algn="l">
              <a:lnSpc>
                <a:spcPts val="2660"/>
              </a:lnSpc>
              <a:spcBef>
                <a:spcPts val="800"/>
              </a:spcBef>
              <a:buNone/>
            </a:pPr>
            <a:r>
              <a:rPr lang="en-US" sz="1900" b="true">
                <a:solidFill>
                  <a:srgbClr val="F1EDE6"/>
                </a:solidFill>
                <a:latin typeface="Nunito Semi-Bold"/>
                <a:ea typeface="Nunito Semi-Bold"/>
                <a:cs typeface="Nunito Semi-Bold"/>
                <a:sym typeface="Nunito Semi-Bold"/>
              </a:rPr>
              <a:t>Lower-variance Shapley estimators, learned proposal distributions, adaptive refresh rules.</a:t>
            </a:r>
          </a:p>
        </p:txBody>
      </p:sp>
      <p:sp>
        <p:nvSpPr>
          <p:cNvPr id="29" name="Rounded Rectangle 28"/>
          <p:cNvSpPr/>
          <p:nvPr/>
        </p:nvSpPr>
        <p:spPr>
          <a:xfrm>
            <a:off x="9281160" y="3455162"/>
            <a:ext cx="7978140" cy="2789555"/>
          </a:xfrm>
          <a:prstGeom prst="roundRect">
            <a:avLst>
              <a:gd name="adj" fmla="val 9833"/>
            </a:avLst>
          </a:prstGeom>
          <a:solidFill>
            <a:srgbClr val="F6ECDF"/>
          </a:solidFill>
          <a:ln>
            <a:noFill/>
          </a:ln>
        </p:spPr>
        <p:txBody>
          <a:bodyPr anchor="ctr" rtlCol="false" lIns="0" tIns="0" rIns="0" bIns="0" wrap="square"/>
          <a:lstStyle/>
          <a:p>
            <a:endParaRPr lang="en-US" sz="1800"/>
          </a:p>
        </p:txBody>
      </p:sp>
      <p:sp>
        <p:nvSpPr>
          <p:cNvPr id="30" name="Oval 29"/>
          <p:cNvSpPr/>
          <p:nvPr/>
        </p:nvSpPr>
        <p:spPr>
          <a:xfrm>
            <a:off x="9646920" y="3820922"/>
            <a:ext cx="731520" cy="731520"/>
          </a:xfrm>
          <a:prstGeom prst="ellipse">
            <a:avLst/>
          </a:prstGeom>
          <a:solidFill>
            <a:srgbClr val="1F7A8C"/>
          </a:solidFill>
          <a:ln>
            <a:noFill/>
          </a:ln>
        </p:spPr>
        <p:txBody>
          <a:bodyPr anchor="ctr" rtlCol="false" lIns="0" tIns="0" rIns="0" bIns="0" wrap="square"/>
          <a:lstStyle/>
          <a:p>
            <a:pPr algn="ctr">
              <a:lnSpc>
                <a:spcPts val="2200"/>
              </a:lnSpc>
              <a:spcBef>
                <a:spcPts val="0"/>
              </a:spcBef>
              <a:buNone/>
            </a:pPr>
            <a:r>
              <a:rPr lang="en-US" sz="2000" b="true">
                <a:solidFill>
                  <a:srgbClr val="FFFFFF"/>
                </a:solidFill>
                <a:latin typeface="Nunito Ultra-Bold"/>
                <a:ea typeface="Nunito Ultra-Bold"/>
                <a:cs typeface="Nunito Ultra-Bold"/>
                <a:sym typeface="Nunito Ultra-Bold"/>
              </a:rPr>
              <a:t>02</a:t>
            </a:r>
          </a:p>
        </p:txBody>
      </p:sp>
      <p:sp>
        <p:nvSpPr>
          <p:cNvPr id="31" name="TextBox 30"/>
          <p:cNvSpPr txBox="1"/>
          <p:nvPr/>
        </p:nvSpPr>
        <p:spPr>
          <a:xfrm>
            <a:off x="10607040" y="3775202"/>
            <a:ext cx="6286500" cy="2240915"/>
          </a:xfrm>
          <a:prstGeom prst="rect">
            <a:avLst/>
          </a:prstGeom>
          <a:noFill/>
        </p:spPr>
        <p:txBody>
          <a:bodyPr anchor="ctr" rtlCol="false" lIns="0" tIns="0" rIns="0" bIns="0" wrap="square"/>
          <a:lstStyle/>
          <a:p>
            <a:pPr algn="l">
              <a:lnSpc>
                <a:spcPts val="3000"/>
              </a:lnSpc>
              <a:spcBef>
                <a:spcPts val="0"/>
              </a:spcBef>
              <a:buNone/>
            </a:pPr>
            <a:r>
              <a:rPr lang="en-US" sz="2400" b="true">
                <a:solidFill>
                  <a:srgbClr val="111111"/>
                </a:solidFill>
                <a:latin typeface="Nunito Ultra-Bold"/>
                <a:ea typeface="Nunito Ultra-Bold"/>
                <a:cs typeface="Nunito Ultra-Bold"/>
                <a:sym typeface="Nunito Ultra-Bold"/>
              </a:rPr>
              <a:t>Online / streaming recommendation</a:t>
            </a:r>
          </a:p>
          <a:p>
            <a:pPr algn="l">
              <a:lnSpc>
                <a:spcPts val="2660"/>
              </a:lnSpc>
              <a:spcBef>
                <a:spcPts val="800"/>
              </a:spcBef>
              <a:buNone/>
            </a:pPr>
            <a:r>
              <a:rPr lang="en-US" sz="1900" b="true">
                <a:solidFill>
                  <a:srgbClr val="111111"/>
                </a:solidFill>
                <a:latin typeface="Nunito Semi-Bold"/>
                <a:ea typeface="Nunito Semi-Bold"/>
                <a:cs typeface="Nunito Semi-Bold"/>
                <a:sym typeface="Nunito Semi-Bold"/>
              </a:rPr>
              <a:t>Truly incremental settings with changing graphs and delayed feedback; this also addresses the static-graph limitation.</a:t>
            </a:r>
          </a:p>
        </p:txBody>
      </p:sp>
      <p:sp>
        <p:nvSpPr>
          <p:cNvPr id="32" name="Rounded Rectangle 31"/>
          <p:cNvSpPr/>
          <p:nvPr/>
        </p:nvSpPr>
        <p:spPr>
          <a:xfrm>
            <a:off x="1028700" y="6519037"/>
            <a:ext cx="7978140" cy="2789555"/>
          </a:xfrm>
          <a:prstGeom prst="roundRect">
            <a:avLst>
              <a:gd name="adj" fmla="val 9833"/>
            </a:avLst>
          </a:prstGeom>
          <a:solidFill>
            <a:srgbClr val="F6ECDF"/>
          </a:solidFill>
          <a:ln>
            <a:noFill/>
          </a:ln>
        </p:spPr>
        <p:txBody>
          <a:bodyPr anchor="ctr" rtlCol="false" lIns="0" tIns="0" rIns="0" bIns="0" wrap="square"/>
          <a:lstStyle/>
          <a:p>
            <a:endParaRPr lang="en-US" sz="1800"/>
          </a:p>
        </p:txBody>
      </p:sp>
      <p:sp>
        <p:nvSpPr>
          <p:cNvPr id="33" name="Oval 32"/>
          <p:cNvSpPr/>
          <p:nvPr/>
        </p:nvSpPr>
        <p:spPr>
          <a:xfrm>
            <a:off x="1394460" y="6884797"/>
            <a:ext cx="731520" cy="731520"/>
          </a:xfrm>
          <a:prstGeom prst="ellipse">
            <a:avLst/>
          </a:prstGeom>
          <a:solidFill>
            <a:srgbClr val="1F7A8C"/>
          </a:solidFill>
          <a:ln>
            <a:noFill/>
          </a:ln>
        </p:spPr>
        <p:txBody>
          <a:bodyPr anchor="ctr" rtlCol="false" lIns="0" tIns="0" rIns="0" bIns="0" wrap="square"/>
          <a:lstStyle/>
          <a:p>
            <a:pPr algn="ctr">
              <a:lnSpc>
                <a:spcPts val="2200"/>
              </a:lnSpc>
              <a:spcBef>
                <a:spcPts val="0"/>
              </a:spcBef>
              <a:buNone/>
            </a:pPr>
            <a:r>
              <a:rPr lang="en-US" sz="2000" b="true">
                <a:solidFill>
                  <a:srgbClr val="FFFFFF"/>
                </a:solidFill>
                <a:latin typeface="Nunito Ultra-Bold"/>
                <a:ea typeface="Nunito Ultra-Bold"/>
                <a:cs typeface="Nunito Ultra-Bold"/>
                <a:sym typeface="Nunito Ultra-Bold"/>
              </a:rPr>
              <a:t>03</a:t>
            </a:r>
          </a:p>
        </p:txBody>
      </p:sp>
      <p:sp>
        <p:nvSpPr>
          <p:cNvPr id="34" name="TextBox 33"/>
          <p:cNvSpPr txBox="1"/>
          <p:nvPr/>
        </p:nvSpPr>
        <p:spPr>
          <a:xfrm>
            <a:off x="2354580" y="6839077"/>
            <a:ext cx="6286500" cy="2240915"/>
          </a:xfrm>
          <a:prstGeom prst="rect">
            <a:avLst/>
          </a:prstGeom>
          <a:noFill/>
        </p:spPr>
        <p:txBody>
          <a:bodyPr anchor="ctr" rtlCol="false" lIns="0" tIns="0" rIns="0" bIns="0" wrap="square"/>
          <a:lstStyle/>
          <a:p>
            <a:pPr algn="l">
              <a:lnSpc>
                <a:spcPts val="3000"/>
              </a:lnSpc>
              <a:spcBef>
                <a:spcPts val="0"/>
              </a:spcBef>
              <a:buNone/>
            </a:pPr>
            <a:r>
              <a:rPr lang="en-US" sz="2400" b="true">
                <a:solidFill>
                  <a:srgbClr val="111111"/>
                </a:solidFill>
                <a:latin typeface="Nunito Ultra-Bold"/>
                <a:ea typeface="Nunito Ultra-Bold"/>
                <a:cs typeface="Nunito Ultra-Bold"/>
                <a:sym typeface="Nunito Ultra-Bold"/>
              </a:rPr>
              <a:t>Richer user-centred evaluation</a:t>
            </a:r>
          </a:p>
          <a:p>
            <a:pPr algn="l">
              <a:lnSpc>
                <a:spcPts val="2660"/>
              </a:lnSpc>
              <a:spcBef>
                <a:spcPts val="800"/>
              </a:spcBef>
              <a:buNone/>
            </a:pPr>
            <a:r>
              <a:rPr lang="en-US" sz="1900" b="true">
                <a:solidFill>
                  <a:srgbClr val="111111"/>
                </a:solidFill>
                <a:latin typeface="Nunito Semi-Bold"/>
                <a:ea typeface="Nunito Semi-Bold"/>
                <a:cs typeface="Nunito Semi-Bold"/>
                <a:sym typeface="Nunito Semi-Bold"/>
              </a:rPr>
              <a:t>Do explanations measurably improve analyst judgement, user trust, quality of action or perceived fairness?</a:t>
            </a:r>
          </a:p>
        </p:txBody>
      </p:sp>
      <p:sp>
        <p:nvSpPr>
          <p:cNvPr id="35" name="Rounded Rectangle 34"/>
          <p:cNvSpPr/>
          <p:nvPr/>
        </p:nvSpPr>
        <p:spPr>
          <a:xfrm>
            <a:off x="9281160" y="6519037"/>
            <a:ext cx="7978140" cy="2789555"/>
          </a:xfrm>
          <a:prstGeom prst="roundRect">
            <a:avLst>
              <a:gd name="adj" fmla="val 9833"/>
            </a:avLst>
          </a:prstGeom>
          <a:solidFill>
            <a:srgbClr val="4472C4"/>
          </a:solidFill>
          <a:ln>
            <a:noFill/>
          </a:ln>
        </p:spPr>
        <p:txBody>
          <a:bodyPr anchor="ctr" rtlCol="false" lIns="0" tIns="0" rIns="0" bIns="0" wrap="square"/>
          <a:lstStyle/>
          <a:p>
            <a:endParaRPr lang="en-US" sz="1800"/>
          </a:p>
        </p:txBody>
      </p:sp>
      <p:sp>
        <p:nvSpPr>
          <p:cNvPr id="36" name="Oval 35"/>
          <p:cNvSpPr/>
          <p:nvPr/>
        </p:nvSpPr>
        <p:spPr>
          <a:xfrm>
            <a:off x="9646920" y="6884797"/>
            <a:ext cx="731520" cy="731520"/>
          </a:xfrm>
          <a:prstGeom prst="ellipse">
            <a:avLst/>
          </a:prstGeom>
          <a:solidFill>
            <a:srgbClr val="ECC665"/>
          </a:solidFill>
          <a:ln>
            <a:noFill/>
          </a:ln>
        </p:spPr>
        <p:txBody>
          <a:bodyPr anchor="ctr" rtlCol="false" lIns="0" tIns="0" rIns="0" bIns="0" wrap="square"/>
          <a:lstStyle/>
          <a:p>
            <a:pPr algn="ctr">
              <a:lnSpc>
                <a:spcPts val="2200"/>
              </a:lnSpc>
              <a:spcBef>
                <a:spcPts val="0"/>
              </a:spcBef>
              <a:buNone/>
            </a:pPr>
            <a:r>
              <a:rPr lang="en-US" sz="2000" b="true">
                <a:solidFill>
                  <a:srgbClr val="111111"/>
                </a:solidFill>
                <a:latin typeface="Nunito Ultra-Bold"/>
                <a:ea typeface="Nunito Ultra-Bold"/>
                <a:cs typeface="Nunito Ultra-Bold"/>
                <a:sym typeface="Nunito Ultra-Bold"/>
              </a:rPr>
              <a:t>04</a:t>
            </a:r>
          </a:p>
        </p:txBody>
      </p:sp>
      <p:sp>
        <p:nvSpPr>
          <p:cNvPr id="37" name="TextBox 36"/>
          <p:cNvSpPr txBox="1"/>
          <p:nvPr/>
        </p:nvSpPr>
        <p:spPr>
          <a:xfrm>
            <a:off x="10607040" y="6839077"/>
            <a:ext cx="6286500" cy="2240915"/>
          </a:xfrm>
          <a:prstGeom prst="rect">
            <a:avLst/>
          </a:prstGeom>
          <a:noFill/>
        </p:spPr>
        <p:txBody>
          <a:bodyPr anchor="ctr" rtlCol="false" lIns="0" tIns="0" rIns="0" bIns="0" wrap="square"/>
          <a:lstStyle/>
          <a:p>
            <a:pPr algn="l">
              <a:lnSpc>
                <a:spcPts val="3000"/>
              </a:lnSpc>
              <a:spcBef>
                <a:spcPts val="0"/>
              </a:spcBef>
              <a:buNone/>
            </a:pPr>
            <a:r>
              <a:rPr lang="en-US" sz="2400" b="true">
                <a:solidFill>
                  <a:srgbClr val="FFFFFF"/>
                </a:solidFill>
                <a:latin typeface="Nunito Ultra-Bold"/>
                <a:ea typeface="Nunito Ultra-Bold"/>
                <a:cs typeface="Nunito Ultra-Bold"/>
                <a:sym typeface="Nunito Ultra-Bold"/>
              </a:rPr>
              <a:t>Broader trustworthy-AI evaluation</a:t>
            </a:r>
          </a:p>
          <a:p>
            <a:pPr algn="l">
              <a:lnSpc>
                <a:spcPts val="2660"/>
              </a:lnSpc>
              <a:spcBef>
                <a:spcPts val="800"/>
              </a:spcBef>
              <a:buNone/>
            </a:pPr>
            <a:r>
              <a:rPr lang="en-US" sz="1900" b="true">
                <a:solidFill>
                  <a:srgbClr val="F1EDE6"/>
                </a:solidFill>
                <a:latin typeface="Nunito Semi-Bold"/>
                <a:ea typeface="Nunito Semi-Bold"/>
                <a:cs typeface="Nunito Semi-Bold"/>
                <a:sym typeface="Nunito Semi-Bold"/>
              </a:rPr>
              <a:t>Exposure fairness, transparency requirements, auditing for governance.</a:t>
            </a:r>
          </a:p>
        </p:txBody>
      </p:sp>
    </p:spTree>
  </p:cSld>
  <p:clrMapOvr>
    <a:masterClrMapping/>
  </p:clrMapOvr>
</p:sld>
</file>

<file path=ppt/slides/slide8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pic>
        <p:nvPicPr>
          <p:cNvPr id="2" name="Picture 1" descr="ensias_logo.jpg"/>
          <p:cNvPicPr>
            <a:picLocks noChangeAspect="1"/>
          </p:cNvPicPr>
          <p:nvPr/>
        </p:nvPicPr>
        <p:blipFill>
          <a:blip r:embed="rId2"/>
          <a:stretch>
            <a:fillRect/>
          </a:stretch>
        </p:blipFill>
        <p:spPr>
          <a:xfrm>
            <a:off x="1028700" y="9674352"/>
            <a:ext cx="542964" cy="384048"/>
          </a:xfrm>
          <a:prstGeom prst="rect">
            <a:avLst/>
          </a:prstGeom>
        </p:spPr>
      </p:pic>
      <p:sp>
        <p:nvSpPr>
          <p:cNvPr id="3" name="TextBox 2"/>
          <p:cNvSpPr txBox="1"/>
          <p:nvPr/>
        </p:nvSpPr>
        <p:spPr>
          <a:xfrm>
            <a:off x="1577340" y="9601200"/>
            <a:ext cx="14493240" cy="566928"/>
          </a:xfrm>
          <a:prstGeom prst="rect">
            <a:avLst/>
          </a:prstGeom>
          <a:noFill/>
        </p:spPr>
        <p:txBody>
          <a:bodyPr anchor="ctr" rtlCol="false" lIns="0" tIns="0" rIns="0" bIns="0" wrap="square"/>
          <a:lstStyle/>
          <a:p>
            <a:pPr algn="l">
              <a:lnSpc>
                <a:spcPts val="1200"/>
              </a:lnSpc>
              <a:spcBef>
                <a:spcPts val="0"/>
              </a:spcBef>
              <a:buNone/>
            </a:pPr>
            <a:r>
              <a:rPr lang="en-US" sz="1000" b="true">
                <a:solidFill>
                  <a:srgbClr val="8A8378"/>
                </a:solidFill>
                <a:latin typeface="Nunito Semi-Bold"/>
                <a:ea typeface="Nunito Semi-Bold"/>
                <a:cs typeface="Nunito Semi-Bold"/>
                <a:sym typeface="Nunito Semi-Bold"/>
              </a:rPr>
              <a:t>[24] Arrieta, A. B. et al. Explainable Artificial Intelligence (XAI): Concepts, Taxonomies, Opportunities and Challenges. Information Fusion 58, 82–115 (2020).   [26] European Union. Regulation (EU) 2024/1689 (AI Act), Art. 13 (2024).  ·  Regulation (EU) 2016/679 (GDPR), Art. 22 (2016).  ·  OECD. Recommendation of the Council on Artificial Intelligence (2019).</a:t>
            </a:r>
          </a:p>
        </p:txBody>
      </p:sp>
      <p:sp>
        <p:nvSpPr>
          <p:cNvPr id="4" name="TextBox 3"/>
          <p:cNvSpPr txBox="1"/>
          <p:nvPr/>
        </p:nvSpPr>
        <p:spPr>
          <a:xfrm>
            <a:off x="16162020" y="9692640"/>
            <a:ext cx="1097280" cy="329184"/>
          </a:xfrm>
          <a:prstGeom prst="rect">
            <a:avLst/>
          </a:prstGeom>
          <a:noFill/>
        </p:spPr>
        <p:txBody>
          <a:bodyPr anchor="t" rtlCol="false" lIns="0" tIns="0" rIns="0" bIns="0" wrap="square"/>
          <a:lstStyle/>
          <a:p>
            <a:pPr algn="r">
              <a:lnSpc>
                <a:spcPts val="2200"/>
              </a:lnSpc>
              <a:spcBef>
                <a:spcPts val="0"/>
              </a:spcBef>
              <a:buNone/>
            </a:pPr>
            <a:r>
              <a:rPr lang="en-US" sz="1800" b="true">
                <a:solidFill>
                  <a:srgbClr val="111111"/>
                </a:solidFill>
                <a:latin typeface="Nunito Ultra-Bold"/>
                <a:ea typeface="Nunito Ultra-Bold"/>
                <a:cs typeface="Nunito Ultra-Bold"/>
                <a:sym typeface="Nunito Ultra-Bold"/>
              </a:rPr>
              <a:t>72</a:t>
            </a:r>
          </a:p>
        </p:txBody>
      </p:sp>
      <p:sp>
        <p:nvSpPr>
          <p:cNvPr id="5" name="TextBox 4"/>
          <p:cNvSpPr txBox="1"/>
          <p:nvPr/>
        </p:nvSpPr>
        <p:spPr>
          <a:xfrm>
            <a:off x="1028700" y="1389888"/>
            <a:ext cx="12938760" cy="329184"/>
          </a:xfrm>
          <a:prstGeom prst="rect">
            <a:avLst/>
          </a:prstGeom>
          <a:noFill/>
        </p:spPr>
        <p:txBody>
          <a:bodyPr anchor="t" rtlCol="false" lIns="0" tIns="0" rIns="0" bIns="0" wrap="square"/>
          <a:lstStyle/>
          <a:p>
            <a:pPr algn="l">
              <a:lnSpc>
                <a:spcPts val="2000"/>
              </a:lnSpc>
              <a:spcBef>
                <a:spcPts val="0"/>
              </a:spcBef>
              <a:buNone/>
            </a:pPr>
            <a:r>
              <a:rPr lang="en-US" sz="1500" b="true" spc="160">
                <a:solidFill>
                  <a:srgbClr val="1F7A8C"/>
                </a:solidFill>
                <a:latin typeface="Nunito Ultra-Bold"/>
                <a:ea typeface="Nunito Ultra-Bold"/>
                <a:cs typeface="Nunito Ultra-Bold"/>
                <a:sym typeface="Nunito Ultra-Bold"/>
              </a:rPr>
              <a:t>CONCLUSION &amp; PERSPECTIVES</a:t>
            </a:r>
          </a:p>
        </p:txBody>
      </p:sp>
      <p:sp>
        <p:nvSpPr>
          <p:cNvPr id="6" name="Rounded Rectangle 5"/>
          <p:cNvSpPr/>
          <p:nvPr/>
        </p:nvSpPr>
        <p:spPr>
          <a:xfrm>
            <a:off x="14516100"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7" name="TextBox 6"/>
          <p:cNvSpPr txBox="1"/>
          <p:nvPr/>
        </p:nvSpPr>
        <p:spPr>
          <a:xfrm>
            <a:off x="14516100"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1</a:t>
            </a:r>
          </a:p>
        </p:txBody>
      </p:sp>
      <p:sp>
        <p:nvSpPr>
          <p:cNvPr id="8" name="Rounded Rectangle 7"/>
          <p:cNvSpPr/>
          <p:nvPr/>
        </p:nvSpPr>
        <p:spPr>
          <a:xfrm>
            <a:off x="14918436"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9" name="TextBox 8"/>
          <p:cNvSpPr txBox="1"/>
          <p:nvPr/>
        </p:nvSpPr>
        <p:spPr>
          <a:xfrm>
            <a:off x="14918436"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2</a:t>
            </a:r>
          </a:p>
        </p:txBody>
      </p:sp>
      <p:sp>
        <p:nvSpPr>
          <p:cNvPr id="10" name="Rounded Rectangle 9"/>
          <p:cNvSpPr/>
          <p:nvPr/>
        </p:nvSpPr>
        <p:spPr>
          <a:xfrm>
            <a:off x="15320772"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11" name="TextBox 10"/>
          <p:cNvSpPr txBox="1"/>
          <p:nvPr/>
        </p:nvSpPr>
        <p:spPr>
          <a:xfrm>
            <a:off x="15320772"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3</a:t>
            </a:r>
          </a:p>
        </p:txBody>
      </p:sp>
      <p:sp>
        <p:nvSpPr>
          <p:cNvPr id="12" name="Rounded Rectangle 11"/>
          <p:cNvSpPr/>
          <p:nvPr/>
        </p:nvSpPr>
        <p:spPr>
          <a:xfrm>
            <a:off x="15723108"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13" name="TextBox 12"/>
          <p:cNvSpPr txBox="1"/>
          <p:nvPr/>
        </p:nvSpPr>
        <p:spPr>
          <a:xfrm>
            <a:off x="15723108"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4</a:t>
            </a:r>
          </a:p>
        </p:txBody>
      </p:sp>
      <p:sp>
        <p:nvSpPr>
          <p:cNvPr id="14" name="Rounded Rectangle 13"/>
          <p:cNvSpPr/>
          <p:nvPr/>
        </p:nvSpPr>
        <p:spPr>
          <a:xfrm>
            <a:off x="16125444"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15" name="TextBox 14"/>
          <p:cNvSpPr txBox="1"/>
          <p:nvPr/>
        </p:nvSpPr>
        <p:spPr>
          <a:xfrm>
            <a:off x="16125444"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5</a:t>
            </a:r>
          </a:p>
        </p:txBody>
      </p:sp>
      <p:sp>
        <p:nvSpPr>
          <p:cNvPr id="16" name="Rounded Rectangle 15"/>
          <p:cNvSpPr/>
          <p:nvPr/>
        </p:nvSpPr>
        <p:spPr>
          <a:xfrm>
            <a:off x="16527780"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17" name="TextBox 16"/>
          <p:cNvSpPr txBox="1"/>
          <p:nvPr/>
        </p:nvSpPr>
        <p:spPr>
          <a:xfrm>
            <a:off x="16527780"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6</a:t>
            </a:r>
          </a:p>
        </p:txBody>
      </p:sp>
      <p:sp>
        <p:nvSpPr>
          <p:cNvPr id="18" name="Rounded Rectangle 17"/>
          <p:cNvSpPr/>
          <p:nvPr/>
        </p:nvSpPr>
        <p:spPr>
          <a:xfrm>
            <a:off x="16930116" y="1371600"/>
            <a:ext cx="329184" cy="329184"/>
          </a:xfrm>
          <a:prstGeom prst="roundRect">
            <a:avLst>
              <a:gd name="adj" fmla="val 16666"/>
            </a:avLst>
          </a:prstGeom>
          <a:solidFill>
            <a:srgbClr val="4472C4"/>
          </a:solidFill>
          <a:ln w="15875">
            <a:solidFill>
              <a:srgbClr val="4472C4"/>
            </a:solidFill>
          </a:ln>
        </p:spPr>
        <p:txBody>
          <a:bodyPr anchor="ctr" rtlCol="false" lIns="0" tIns="0" rIns="0" bIns="0" wrap="square"/>
          <a:lstStyle/>
          <a:p>
            <a:endParaRPr lang="en-US" sz="1800"/>
          </a:p>
        </p:txBody>
      </p:sp>
      <p:sp>
        <p:nvSpPr>
          <p:cNvPr id="19" name="TextBox 18"/>
          <p:cNvSpPr txBox="1"/>
          <p:nvPr/>
        </p:nvSpPr>
        <p:spPr>
          <a:xfrm>
            <a:off x="16930116"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FFFFFF"/>
                </a:solidFill>
                <a:latin typeface="Nunito Ultra-Bold"/>
                <a:ea typeface="Nunito Ultra-Bold"/>
                <a:cs typeface="Nunito Ultra-Bold"/>
                <a:sym typeface="Nunito Ultra-Bold"/>
              </a:rPr>
              <a:t>7</a:t>
            </a:r>
          </a:p>
        </p:txBody>
      </p:sp>
      <p:sp>
        <p:nvSpPr>
          <p:cNvPr id="20" name="TextBox 19"/>
          <p:cNvSpPr txBox="1"/>
          <p:nvPr/>
        </p:nvSpPr>
        <p:spPr>
          <a:xfrm>
            <a:off x="1028700" y="1719072"/>
            <a:ext cx="16230600" cy="730250"/>
          </a:xfrm>
          <a:prstGeom prst="rect">
            <a:avLst/>
          </a:prstGeom>
          <a:noFill/>
        </p:spPr>
        <p:txBody>
          <a:bodyPr anchor="t" rtlCol="false" lIns="0" tIns="0" rIns="0" bIns="0" wrap="square"/>
          <a:lstStyle/>
          <a:p>
            <a:pPr algn="l">
              <a:lnSpc>
                <a:spcPts val="5060"/>
              </a:lnSpc>
              <a:spcBef>
                <a:spcPts val="0"/>
              </a:spcBef>
              <a:buNone/>
            </a:pPr>
            <a:r>
              <a:rPr lang="en-US" sz="4600" b="true" spc="-230">
                <a:solidFill>
                  <a:srgbClr val="111111"/>
                </a:solidFill>
                <a:latin typeface="Roca Two Bold"/>
                <a:ea typeface="Roca Two Bold"/>
                <a:cs typeface="Roca Two Bold"/>
                <a:sym typeface="Roca Two Bold"/>
              </a:rPr>
              <a:t>Conclusion</a:t>
            </a:r>
          </a:p>
        </p:txBody>
      </p:sp>
      <p:sp>
        <p:nvSpPr>
          <p:cNvPr id="21" name="Rounded Rectangle 20"/>
          <p:cNvSpPr/>
          <p:nvPr/>
        </p:nvSpPr>
        <p:spPr>
          <a:xfrm>
            <a:off x="1028700" y="2559050"/>
            <a:ext cx="1604433" cy="420624"/>
          </a:xfrm>
          <a:prstGeom prst="roundRect">
            <a:avLst>
              <a:gd name="adj" fmla="val 50000"/>
            </a:avLst>
          </a:prstGeom>
          <a:noFill/>
          <a:ln w="28575">
            <a:solidFill>
              <a:srgbClr val="4472C4"/>
            </a:solidFill>
          </a:ln>
        </p:spPr>
        <p:txBody>
          <a:bodyPr anchor="ctr" rtlCol="false" lIns="45720" tIns="0" rIns="45720" bIns="0" wrap="square"/>
          <a:lstStyle/>
          <a:p>
            <a:pPr algn="ctr">
              <a:lnSpc>
                <a:spcPts val="2160"/>
              </a:lnSpc>
              <a:spcBef>
                <a:spcPts val="0"/>
              </a:spcBef>
              <a:buNone/>
            </a:pPr>
            <a:r>
              <a:rPr lang="en-US" sz="1800" b="true">
                <a:solidFill>
                  <a:srgbClr val="4472C4"/>
                </a:solidFill>
                <a:latin typeface="Nunito Bold"/>
                <a:ea typeface="Nunito Bold"/>
                <a:cs typeface="Nunito Bold"/>
                <a:sym typeface="Nunito Bold"/>
              </a:rPr>
              <a:t>Synthesis</a:t>
            </a:r>
          </a:p>
        </p:txBody>
      </p:sp>
      <p:sp>
        <p:nvSpPr>
          <p:cNvPr id="22" name="Rounded Rectangle 21"/>
          <p:cNvSpPr/>
          <p:nvPr/>
        </p:nvSpPr>
        <p:spPr>
          <a:xfrm>
            <a:off x="2761149" y="2559050"/>
            <a:ext cx="1893576" cy="420624"/>
          </a:xfrm>
          <a:prstGeom prst="roundRect">
            <a:avLst>
              <a:gd name="adj" fmla="val 50000"/>
            </a:avLst>
          </a:prstGeom>
          <a:noFill/>
          <a:ln w="28575">
            <a:solidFill>
              <a:srgbClr val="4472C4"/>
            </a:solidFill>
          </a:ln>
        </p:spPr>
        <p:txBody>
          <a:bodyPr anchor="ctr" rtlCol="false" lIns="45720" tIns="0" rIns="45720" bIns="0" wrap="square"/>
          <a:lstStyle/>
          <a:p>
            <a:pPr algn="ctr">
              <a:lnSpc>
                <a:spcPts val="2160"/>
              </a:lnSpc>
              <a:spcBef>
                <a:spcPts val="0"/>
              </a:spcBef>
              <a:buNone/>
            </a:pPr>
            <a:r>
              <a:rPr lang="en-US" sz="1800" b="true">
                <a:solidFill>
                  <a:srgbClr val="4472C4"/>
                </a:solidFill>
                <a:latin typeface="Nunito Bold"/>
                <a:ea typeface="Nunito Bold"/>
                <a:cs typeface="Nunito Bold"/>
                <a:sym typeface="Nunito Bold"/>
              </a:rPr>
              <a:t>Publications</a:t>
            </a:r>
          </a:p>
        </p:txBody>
      </p:sp>
      <p:sp>
        <p:nvSpPr>
          <p:cNvPr id="23" name="Rounded Rectangle 22"/>
          <p:cNvSpPr/>
          <p:nvPr/>
        </p:nvSpPr>
        <p:spPr>
          <a:xfrm>
            <a:off x="4782741" y="2559050"/>
            <a:ext cx="1765486" cy="420624"/>
          </a:xfrm>
          <a:prstGeom prst="roundRect">
            <a:avLst>
              <a:gd name="adj" fmla="val 50000"/>
            </a:avLst>
          </a:prstGeom>
          <a:noFill/>
          <a:ln w="28575">
            <a:solidFill>
              <a:srgbClr val="4472C4"/>
            </a:solidFill>
          </a:ln>
        </p:spPr>
        <p:txBody>
          <a:bodyPr anchor="ctr" rtlCol="false" lIns="45720" tIns="0" rIns="45720" bIns="0" wrap="square"/>
          <a:lstStyle/>
          <a:p>
            <a:pPr algn="ctr">
              <a:lnSpc>
                <a:spcPts val="2160"/>
              </a:lnSpc>
              <a:spcBef>
                <a:spcPts val="0"/>
              </a:spcBef>
              <a:buNone/>
            </a:pPr>
            <a:r>
              <a:rPr lang="en-US" sz="1800" b="true">
                <a:solidFill>
                  <a:srgbClr val="4472C4"/>
                </a:solidFill>
                <a:latin typeface="Nunito Bold"/>
                <a:ea typeface="Nunito Bold"/>
                <a:cs typeface="Nunito Bold"/>
                <a:sym typeface="Nunito Bold"/>
              </a:rPr>
              <a:t>Limitations</a:t>
            </a:r>
          </a:p>
        </p:txBody>
      </p:sp>
      <p:sp>
        <p:nvSpPr>
          <p:cNvPr id="24" name="Rounded Rectangle 23"/>
          <p:cNvSpPr/>
          <p:nvPr/>
        </p:nvSpPr>
        <p:spPr>
          <a:xfrm>
            <a:off x="6676243" y="2559050"/>
            <a:ext cx="1934074" cy="420624"/>
          </a:xfrm>
          <a:prstGeom prst="roundRect">
            <a:avLst>
              <a:gd name="adj" fmla="val 50000"/>
            </a:avLst>
          </a:prstGeom>
          <a:noFill/>
          <a:ln w="28575">
            <a:solidFill>
              <a:srgbClr val="4472C4"/>
            </a:solidFill>
          </a:ln>
        </p:spPr>
        <p:txBody>
          <a:bodyPr anchor="ctr" rtlCol="false" lIns="45720" tIns="0" rIns="45720" bIns="0" wrap="square"/>
          <a:lstStyle/>
          <a:p>
            <a:pPr algn="ctr">
              <a:lnSpc>
                <a:spcPts val="2160"/>
              </a:lnSpc>
              <a:spcBef>
                <a:spcPts val="0"/>
              </a:spcBef>
              <a:buNone/>
            </a:pPr>
            <a:r>
              <a:rPr lang="en-US" sz="1800" b="true">
                <a:solidFill>
                  <a:srgbClr val="4472C4"/>
                </a:solidFill>
                <a:latin typeface="Nunito Bold"/>
                <a:ea typeface="Nunito Bold"/>
                <a:cs typeface="Nunito Bold"/>
                <a:sym typeface="Nunito Bold"/>
              </a:rPr>
              <a:t>Perspectives</a:t>
            </a:r>
          </a:p>
        </p:txBody>
      </p:sp>
      <p:sp>
        <p:nvSpPr>
          <p:cNvPr id="25" name="Rounded Rectangle 24"/>
          <p:cNvSpPr/>
          <p:nvPr/>
        </p:nvSpPr>
        <p:spPr>
          <a:xfrm>
            <a:off x="8738333" y="2559050"/>
            <a:ext cx="1753007" cy="420624"/>
          </a:xfrm>
          <a:prstGeom prst="roundRect">
            <a:avLst>
              <a:gd name="adj" fmla="val 50000"/>
            </a:avLst>
          </a:prstGeom>
          <a:solidFill>
            <a:srgbClr val="4472C4"/>
          </a:solidFill>
          <a:ln>
            <a:noFill/>
          </a:ln>
        </p:spPr>
        <p:txBody>
          <a:bodyPr anchor="ctr" rtlCol="false" lIns="45720" tIns="0" rIns="45720" bIns="0" wrap="square"/>
          <a:lstStyle/>
          <a:p>
            <a:pPr algn="ctr">
              <a:lnSpc>
                <a:spcPts val="2160"/>
              </a:lnSpc>
              <a:spcBef>
                <a:spcPts val="0"/>
              </a:spcBef>
              <a:buNone/>
            </a:pPr>
            <a:r>
              <a:rPr lang="en-US" sz="1800" b="true">
                <a:solidFill>
                  <a:srgbClr val="FFFFFF"/>
                </a:solidFill>
                <a:latin typeface="Nunito Bold"/>
                <a:ea typeface="Nunito Bold"/>
                <a:cs typeface="Nunito Bold"/>
                <a:sym typeface="Nunito Bold"/>
              </a:rPr>
              <a:t>Conclusion</a:t>
            </a:r>
          </a:p>
        </p:txBody>
      </p:sp>
      <p:sp>
        <p:nvSpPr>
          <p:cNvPr id="26" name="Rounded Rectangle 25"/>
          <p:cNvSpPr/>
          <p:nvPr/>
        </p:nvSpPr>
        <p:spPr>
          <a:xfrm>
            <a:off x="1028700" y="3546602"/>
            <a:ext cx="16230600" cy="1554480"/>
          </a:xfrm>
          <a:prstGeom prst="roundRect">
            <a:avLst>
              <a:gd name="adj" fmla="val 12941"/>
            </a:avLst>
          </a:prstGeom>
          <a:solidFill>
            <a:srgbClr val="F6ECDF"/>
          </a:solidFill>
          <a:ln w="25400">
            <a:solidFill>
              <a:srgbClr val="4472C4"/>
            </a:solidFill>
          </a:ln>
        </p:spPr>
        <p:txBody>
          <a:bodyPr anchor="ctr" rtlCol="false" lIns="0" tIns="0" rIns="0" bIns="0" wrap="square"/>
          <a:lstStyle/>
          <a:p>
            <a:endParaRPr lang="en-US" sz="1800"/>
          </a:p>
        </p:txBody>
      </p:sp>
      <p:sp>
        <p:nvSpPr>
          <p:cNvPr id="27" name="Rounded Rectangle 26"/>
          <p:cNvSpPr/>
          <p:nvPr/>
        </p:nvSpPr>
        <p:spPr>
          <a:xfrm>
            <a:off x="1348740" y="3354578"/>
            <a:ext cx="2073230" cy="384048"/>
          </a:xfrm>
          <a:prstGeom prst="roundRect">
            <a:avLst>
              <a:gd name="adj" fmla="val 50000"/>
            </a:avLst>
          </a:prstGeom>
          <a:solidFill>
            <a:srgbClr val="4472C4"/>
          </a:solidFill>
          <a:ln w="28575">
            <a:solidFill>
              <a:srgbClr val="4472C4"/>
            </a:solidFill>
          </a:ln>
        </p:spPr>
        <p:txBody>
          <a:bodyPr anchor="ctr" rtlCol="false" lIns="45720" tIns="0" rIns="45720" bIns="0" wrap="square"/>
          <a:lstStyle/>
          <a:p>
            <a:pPr algn="ctr">
              <a:lnSpc>
                <a:spcPts val="1680"/>
              </a:lnSpc>
              <a:spcBef>
                <a:spcPts val="0"/>
              </a:spcBef>
              <a:buNone/>
            </a:pPr>
            <a:r>
              <a:rPr lang="en-US" sz="1400" b="true">
                <a:solidFill>
                  <a:srgbClr val="FFFFFF"/>
                </a:solidFill>
                <a:latin typeface="Nunito Bold"/>
                <a:ea typeface="Nunito Bold"/>
                <a:cs typeface="Nunito Bold"/>
                <a:sym typeface="Nunito Bold"/>
              </a:rPr>
              <a:t>THESIS ANSWER</a:t>
            </a:r>
          </a:p>
        </p:txBody>
      </p:sp>
      <p:sp>
        <p:nvSpPr>
          <p:cNvPr id="28" name="TextBox 27"/>
          <p:cNvSpPr txBox="1"/>
          <p:nvPr/>
        </p:nvSpPr>
        <p:spPr>
          <a:xfrm>
            <a:off x="1394460" y="3820922"/>
            <a:ext cx="15499080" cy="1143000"/>
          </a:xfrm>
          <a:prstGeom prst="rect">
            <a:avLst/>
          </a:prstGeom>
          <a:noFill/>
        </p:spPr>
        <p:txBody>
          <a:bodyPr anchor="ctr" rtlCol="false" lIns="0" tIns="0" rIns="0" bIns="0" wrap="square"/>
          <a:lstStyle/>
          <a:p>
            <a:pPr algn="l">
              <a:lnSpc>
                <a:spcPts val="3123"/>
              </a:lnSpc>
              <a:spcBef>
                <a:spcPts val="0"/>
              </a:spcBef>
              <a:buNone/>
            </a:pPr>
            <a:r>
              <a:rPr lang="en-US" sz="2231" b="true">
                <a:solidFill>
                  <a:srgbClr val="111111"/>
                </a:solidFill>
                <a:latin typeface="Nunito Semi-Bold"/>
                <a:ea typeface="Nunito Semi-Bold"/>
                <a:cs typeface="Nunito Semi-Bold"/>
                <a:sym typeface="Nunito Semi-Bold"/>
              </a:rPr>
              <a:t>Cooperative game theory can serve as a </a:t>
            </a:r>
            <a:r>
              <a:rPr lang="en-US" sz="2231" b="true">
                <a:solidFill>
                  <a:srgbClr val="111111"/>
                </a:solidFill>
                <a:latin typeface="Nunito Bold"/>
                <a:ea typeface="Nunito Bold"/>
                <a:cs typeface="Nunito Bold"/>
                <a:sym typeface="Nunito Bold"/>
              </a:rPr>
              <a:t>shared methodological view for actionable explanation</a:t>
            </a:r>
            <a:r>
              <a:rPr lang="en-US" sz="2231" b="true">
                <a:solidFill>
                  <a:srgbClr val="111111"/>
                </a:solidFill>
                <a:latin typeface="Nunito Semi-Bold"/>
                <a:ea typeface="Nunito Semi-Bold"/>
                <a:cs typeface="Nunito Semi-Bold"/>
                <a:sym typeface="Nunito Semi-Bold"/>
              </a:rPr>
              <a:t> across clustering and recommendation: the same Shapley logic explains, stays consistent across levels, and guides learning.</a:t>
            </a:r>
          </a:p>
        </p:txBody>
      </p:sp>
      <p:sp>
        <p:nvSpPr>
          <p:cNvPr id="29" name="TextBox 28"/>
          <p:cNvSpPr txBox="1"/>
          <p:nvPr/>
        </p:nvSpPr>
        <p:spPr>
          <a:xfrm>
            <a:off x="1028700" y="5421122"/>
            <a:ext cx="16230600" cy="320040"/>
          </a:xfrm>
          <a:prstGeom prst="rect">
            <a:avLst/>
          </a:prstGeom>
          <a:noFill/>
        </p:spPr>
        <p:txBody>
          <a:bodyPr anchor="t" rtlCol="false" lIns="0" tIns="0" rIns="0" bIns="0" wrap="square"/>
          <a:lstStyle/>
          <a:p>
            <a:pPr algn="l">
              <a:lnSpc>
                <a:spcPts val="1800"/>
              </a:lnSpc>
              <a:spcBef>
                <a:spcPts val="0"/>
              </a:spcBef>
              <a:buNone/>
            </a:pPr>
            <a:r>
              <a:rPr lang="en-US" sz="1400" b="true" spc="160">
                <a:solidFill>
                  <a:srgbClr val="1F7A8C"/>
                </a:solidFill>
                <a:latin typeface="Nunito Ultra-Bold"/>
                <a:ea typeface="Nunito Ultra-Bold"/>
                <a:cs typeface="Nunito Ultra-Bold"/>
                <a:sym typeface="Nunito Ultra-Bold"/>
              </a:rPr>
              <a:t>KEY OUTCOMES</a:t>
            </a:r>
          </a:p>
        </p:txBody>
      </p:sp>
      <p:sp>
        <p:nvSpPr>
          <p:cNvPr id="30" name="Rounded Rectangle 29"/>
          <p:cNvSpPr/>
          <p:nvPr/>
        </p:nvSpPr>
        <p:spPr>
          <a:xfrm>
            <a:off x="1028700" y="5832602"/>
            <a:ext cx="3851910" cy="3384550"/>
          </a:xfrm>
          <a:prstGeom prst="roundRect">
            <a:avLst>
              <a:gd name="adj" fmla="val 8105"/>
            </a:avLst>
          </a:prstGeom>
          <a:solidFill>
            <a:srgbClr val="F6ECDF"/>
          </a:solidFill>
          <a:ln>
            <a:noFill/>
          </a:ln>
        </p:spPr>
        <p:txBody>
          <a:bodyPr anchor="ctr" rtlCol="false" lIns="0" tIns="0" rIns="0" bIns="0" wrap="square"/>
          <a:lstStyle/>
          <a:p>
            <a:endParaRPr lang="en-US" sz="1800"/>
          </a:p>
        </p:txBody>
      </p:sp>
      <p:sp>
        <p:nvSpPr>
          <p:cNvPr id="31" name="Oval 30"/>
          <p:cNvSpPr/>
          <p:nvPr/>
        </p:nvSpPr>
        <p:spPr>
          <a:xfrm>
            <a:off x="1348740" y="6106922"/>
            <a:ext cx="502920" cy="502920"/>
          </a:xfrm>
          <a:prstGeom prst="ellipse">
            <a:avLst/>
          </a:prstGeom>
          <a:solidFill>
            <a:srgbClr val="1F7A8C"/>
          </a:solidFill>
          <a:ln>
            <a:noFill/>
          </a:ln>
        </p:spPr>
        <p:txBody>
          <a:bodyPr anchor="ctr" rtlCol="false" lIns="0" tIns="0" rIns="0" bIns="0" wrap="square"/>
          <a:lstStyle/>
          <a:p>
            <a:pPr algn="ctr">
              <a:lnSpc>
                <a:spcPts val="1870"/>
              </a:lnSpc>
              <a:spcBef>
                <a:spcPts val="0"/>
              </a:spcBef>
              <a:buNone/>
            </a:pPr>
            <a:r>
              <a:rPr lang="en-US" sz="1700" b="true">
                <a:solidFill>
                  <a:srgbClr val="FFFFFF"/>
                </a:solidFill>
                <a:latin typeface="Nunito Ultra-Bold"/>
                <a:ea typeface="Nunito Ultra-Bold"/>
                <a:cs typeface="Nunito Ultra-Bold"/>
                <a:sym typeface="Nunito Ultra-Bold"/>
              </a:rPr>
              <a:t>1</a:t>
            </a:r>
          </a:p>
        </p:txBody>
      </p:sp>
      <p:sp>
        <p:nvSpPr>
          <p:cNvPr id="32" name="TextBox 31"/>
          <p:cNvSpPr txBox="1"/>
          <p:nvPr/>
        </p:nvSpPr>
        <p:spPr>
          <a:xfrm>
            <a:off x="1348740" y="6747002"/>
            <a:ext cx="3211830" cy="2332990"/>
          </a:xfrm>
          <a:prstGeom prst="rect">
            <a:avLst/>
          </a:prstGeom>
          <a:noFill/>
        </p:spPr>
        <p:txBody>
          <a:bodyPr anchor="t" rtlCol="false" lIns="0" tIns="0" rIns="0" bIns="0" wrap="square"/>
          <a:lstStyle/>
          <a:p>
            <a:pPr algn="l">
              <a:lnSpc>
                <a:spcPts val="2625"/>
              </a:lnSpc>
              <a:spcBef>
                <a:spcPts val="0"/>
              </a:spcBef>
              <a:buNone/>
            </a:pPr>
            <a:r>
              <a:rPr lang="en-US" sz="2100" b="true">
                <a:solidFill>
                  <a:srgbClr val="4472C4"/>
                </a:solidFill>
                <a:latin typeface="Nunito Ultra-Bold"/>
                <a:ea typeface="Nunito Ultra-Bold"/>
                <a:cs typeface="Nunito Ultra-Bold"/>
                <a:sym typeface="Nunito Ultra-Bold"/>
              </a:rPr>
              <a:t>Common language</a:t>
            </a:r>
          </a:p>
          <a:p>
            <a:pPr algn="l">
              <a:lnSpc>
                <a:spcPts val="2380"/>
              </a:lnSpc>
              <a:spcBef>
                <a:spcPts val="600"/>
              </a:spcBef>
              <a:buNone/>
            </a:pPr>
            <a:r>
              <a:rPr lang="en-US" sz="1700" b="true">
                <a:solidFill>
                  <a:srgbClr val="111111"/>
                </a:solidFill>
                <a:latin typeface="Nunito Semi-Bold"/>
                <a:ea typeface="Nunito Semi-Bold"/>
                <a:cs typeface="Nunito Semi-Bold"/>
                <a:sym typeface="Nunito Semi-Bold"/>
              </a:rPr>
              <a:t>Shapley attribution as a common formal language for assigning importance to features, interactions and contexts.</a:t>
            </a:r>
          </a:p>
        </p:txBody>
      </p:sp>
      <p:sp>
        <p:nvSpPr>
          <p:cNvPr id="33" name="Rounded Rectangle 32"/>
          <p:cNvSpPr/>
          <p:nvPr/>
        </p:nvSpPr>
        <p:spPr>
          <a:xfrm>
            <a:off x="5154930" y="5832602"/>
            <a:ext cx="3851910" cy="3384550"/>
          </a:xfrm>
          <a:prstGeom prst="roundRect">
            <a:avLst>
              <a:gd name="adj" fmla="val 8105"/>
            </a:avLst>
          </a:prstGeom>
          <a:solidFill>
            <a:srgbClr val="FBF4EB"/>
          </a:solidFill>
          <a:ln>
            <a:noFill/>
          </a:ln>
        </p:spPr>
        <p:txBody>
          <a:bodyPr anchor="ctr" rtlCol="false" lIns="0" tIns="0" rIns="0" bIns="0" wrap="square"/>
          <a:lstStyle/>
          <a:p>
            <a:endParaRPr lang="en-US" sz="1800"/>
          </a:p>
        </p:txBody>
      </p:sp>
      <p:sp>
        <p:nvSpPr>
          <p:cNvPr id="34" name="Oval 33"/>
          <p:cNvSpPr/>
          <p:nvPr/>
        </p:nvSpPr>
        <p:spPr>
          <a:xfrm>
            <a:off x="5474970" y="6106922"/>
            <a:ext cx="502920" cy="502920"/>
          </a:xfrm>
          <a:prstGeom prst="ellipse">
            <a:avLst/>
          </a:prstGeom>
          <a:solidFill>
            <a:srgbClr val="1F7A8C"/>
          </a:solidFill>
          <a:ln>
            <a:noFill/>
          </a:ln>
        </p:spPr>
        <p:txBody>
          <a:bodyPr anchor="ctr" rtlCol="false" lIns="0" tIns="0" rIns="0" bIns="0" wrap="square"/>
          <a:lstStyle/>
          <a:p>
            <a:pPr algn="ctr">
              <a:lnSpc>
                <a:spcPts val="1870"/>
              </a:lnSpc>
              <a:spcBef>
                <a:spcPts val="0"/>
              </a:spcBef>
              <a:buNone/>
            </a:pPr>
            <a:r>
              <a:rPr lang="en-US" sz="1700" b="true">
                <a:solidFill>
                  <a:srgbClr val="FFFFFF"/>
                </a:solidFill>
                <a:latin typeface="Nunito Ultra-Bold"/>
                <a:ea typeface="Nunito Ultra-Bold"/>
                <a:cs typeface="Nunito Ultra-Bold"/>
                <a:sym typeface="Nunito Ultra-Bold"/>
              </a:rPr>
              <a:t>2</a:t>
            </a:r>
          </a:p>
        </p:txBody>
      </p:sp>
      <p:sp>
        <p:nvSpPr>
          <p:cNvPr id="35" name="TextBox 34"/>
          <p:cNvSpPr txBox="1"/>
          <p:nvPr/>
        </p:nvSpPr>
        <p:spPr>
          <a:xfrm>
            <a:off x="5474970" y="6747002"/>
            <a:ext cx="3211830" cy="2332990"/>
          </a:xfrm>
          <a:prstGeom prst="rect">
            <a:avLst/>
          </a:prstGeom>
          <a:noFill/>
        </p:spPr>
        <p:txBody>
          <a:bodyPr anchor="t" rtlCol="false" lIns="0" tIns="0" rIns="0" bIns="0" wrap="square"/>
          <a:lstStyle/>
          <a:p>
            <a:pPr algn="l">
              <a:lnSpc>
                <a:spcPts val="2625"/>
              </a:lnSpc>
              <a:spcBef>
                <a:spcPts val="0"/>
              </a:spcBef>
              <a:buNone/>
            </a:pPr>
            <a:r>
              <a:rPr lang="en-US" sz="2100" b="true">
                <a:solidFill>
                  <a:srgbClr val="4472C4"/>
                </a:solidFill>
                <a:latin typeface="Nunito Ultra-Bold"/>
                <a:ea typeface="Nunito Ultra-Bold"/>
                <a:cs typeface="Nunito Ultra-Bold"/>
                <a:sym typeface="Nunito Ultra-Bold"/>
              </a:rPr>
              <a:t>Three achievements</a:t>
            </a:r>
          </a:p>
          <a:p>
            <a:pPr algn="l">
              <a:lnSpc>
                <a:spcPts val="2380"/>
              </a:lnSpc>
              <a:spcBef>
                <a:spcPts val="600"/>
              </a:spcBef>
              <a:buNone/>
            </a:pPr>
            <a:r>
              <a:rPr lang="en-US" sz="1700" b="true">
                <a:solidFill>
                  <a:srgbClr val="111111"/>
                </a:solidFill>
                <a:latin typeface="Nunito Semi-Bold"/>
                <a:ea typeface="Nunito Semi-Bold"/>
                <a:cs typeface="Nunito Semi-Bold"/>
                <a:sym typeface="Nunito Semi-Bold"/>
              </a:rPr>
              <a:t>Faithful clustering explanation, consistent multi-level explanation, contribution-aware recommendation learning.</a:t>
            </a:r>
          </a:p>
        </p:txBody>
      </p:sp>
      <p:sp>
        <p:nvSpPr>
          <p:cNvPr id="36" name="Rounded Rectangle 35"/>
          <p:cNvSpPr/>
          <p:nvPr/>
        </p:nvSpPr>
        <p:spPr>
          <a:xfrm>
            <a:off x="9281160" y="5832602"/>
            <a:ext cx="3851910" cy="3384550"/>
          </a:xfrm>
          <a:prstGeom prst="roundRect">
            <a:avLst>
              <a:gd name="adj" fmla="val 8105"/>
            </a:avLst>
          </a:prstGeom>
          <a:solidFill>
            <a:srgbClr val="F6ECDF"/>
          </a:solidFill>
          <a:ln>
            <a:noFill/>
          </a:ln>
        </p:spPr>
        <p:txBody>
          <a:bodyPr anchor="ctr" rtlCol="false" lIns="0" tIns="0" rIns="0" bIns="0" wrap="square"/>
          <a:lstStyle/>
          <a:p>
            <a:endParaRPr lang="en-US" sz="1800"/>
          </a:p>
        </p:txBody>
      </p:sp>
      <p:sp>
        <p:nvSpPr>
          <p:cNvPr id="37" name="Oval 36"/>
          <p:cNvSpPr/>
          <p:nvPr/>
        </p:nvSpPr>
        <p:spPr>
          <a:xfrm>
            <a:off x="9601200" y="6106922"/>
            <a:ext cx="502920" cy="502920"/>
          </a:xfrm>
          <a:prstGeom prst="ellipse">
            <a:avLst/>
          </a:prstGeom>
          <a:solidFill>
            <a:srgbClr val="1F7A8C"/>
          </a:solidFill>
          <a:ln>
            <a:noFill/>
          </a:ln>
        </p:spPr>
        <p:txBody>
          <a:bodyPr anchor="ctr" rtlCol="false" lIns="0" tIns="0" rIns="0" bIns="0" wrap="square"/>
          <a:lstStyle/>
          <a:p>
            <a:pPr algn="ctr">
              <a:lnSpc>
                <a:spcPts val="1870"/>
              </a:lnSpc>
              <a:spcBef>
                <a:spcPts val="0"/>
              </a:spcBef>
              <a:buNone/>
            </a:pPr>
            <a:r>
              <a:rPr lang="en-US" sz="1700" b="true">
                <a:solidFill>
                  <a:srgbClr val="FFFFFF"/>
                </a:solidFill>
                <a:latin typeface="Nunito Ultra-Bold"/>
                <a:ea typeface="Nunito Ultra-Bold"/>
                <a:cs typeface="Nunito Ultra-Bold"/>
                <a:sym typeface="Nunito Ultra-Bold"/>
              </a:rPr>
              <a:t>3</a:t>
            </a:r>
          </a:p>
        </p:txBody>
      </p:sp>
      <p:sp>
        <p:nvSpPr>
          <p:cNvPr id="38" name="TextBox 37"/>
          <p:cNvSpPr txBox="1"/>
          <p:nvPr/>
        </p:nvSpPr>
        <p:spPr>
          <a:xfrm>
            <a:off x="9601200" y="6747002"/>
            <a:ext cx="3211830" cy="2332990"/>
          </a:xfrm>
          <a:prstGeom prst="rect">
            <a:avLst/>
          </a:prstGeom>
          <a:noFill/>
        </p:spPr>
        <p:txBody>
          <a:bodyPr anchor="t" rtlCol="false" lIns="0" tIns="0" rIns="0" bIns="0" wrap="square"/>
          <a:lstStyle/>
          <a:p>
            <a:pPr algn="l">
              <a:lnSpc>
                <a:spcPts val="2625"/>
              </a:lnSpc>
              <a:spcBef>
                <a:spcPts val="0"/>
              </a:spcBef>
              <a:buNone/>
            </a:pPr>
            <a:r>
              <a:rPr lang="en-US" sz="2100" b="true">
                <a:solidFill>
                  <a:srgbClr val="4472C4"/>
                </a:solidFill>
                <a:latin typeface="Nunito Ultra-Bold"/>
                <a:ea typeface="Nunito Ultra-Bold"/>
                <a:cs typeface="Nunito Ultra-Bold"/>
                <a:sym typeface="Nunito Ultra-Bold"/>
              </a:rPr>
              <a:t>Explanation as method</a:t>
            </a:r>
          </a:p>
          <a:p>
            <a:pPr algn="l">
              <a:lnSpc>
                <a:spcPts val="2380"/>
              </a:lnSpc>
              <a:spcBef>
                <a:spcPts val="600"/>
              </a:spcBef>
              <a:buNone/>
            </a:pPr>
            <a:r>
              <a:rPr lang="en-US" sz="1700" b="true">
                <a:solidFill>
                  <a:srgbClr val="111111"/>
                </a:solidFill>
                <a:latin typeface="Nunito Semi-Bold"/>
                <a:ea typeface="Nunito Semi-Bold"/>
                <a:cs typeface="Nunito Semi-Bold"/>
                <a:sym typeface="Nunito Semi-Bold"/>
              </a:rPr>
              <a:t>Not a comment added later: from post-hoc description to in-training guidance.</a:t>
            </a:r>
          </a:p>
        </p:txBody>
      </p:sp>
      <p:sp>
        <p:nvSpPr>
          <p:cNvPr id="39" name="Rounded Rectangle 38"/>
          <p:cNvSpPr/>
          <p:nvPr/>
        </p:nvSpPr>
        <p:spPr>
          <a:xfrm>
            <a:off x="13407390" y="5832602"/>
            <a:ext cx="3851910" cy="3384550"/>
          </a:xfrm>
          <a:prstGeom prst="roundRect">
            <a:avLst>
              <a:gd name="adj" fmla="val 8105"/>
            </a:avLst>
          </a:prstGeom>
          <a:solidFill>
            <a:srgbClr val="FBF4EB"/>
          </a:solidFill>
          <a:ln>
            <a:noFill/>
          </a:ln>
        </p:spPr>
        <p:txBody>
          <a:bodyPr anchor="ctr" rtlCol="false" lIns="0" tIns="0" rIns="0" bIns="0" wrap="square"/>
          <a:lstStyle/>
          <a:p>
            <a:endParaRPr lang="en-US" sz="1800"/>
          </a:p>
        </p:txBody>
      </p:sp>
      <p:sp>
        <p:nvSpPr>
          <p:cNvPr id="40" name="Oval 39"/>
          <p:cNvSpPr/>
          <p:nvPr/>
        </p:nvSpPr>
        <p:spPr>
          <a:xfrm>
            <a:off x="13727430" y="6106922"/>
            <a:ext cx="502920" cy="502920"/>
          </a:xfrm>
          <a:prstGeom prst="ellipse">
            <a:avLst/>
          </a:prstGeom>
          <a:solidFill>
            <a:srgbClr val="1F7A8C"/>
          </a:solidFill>
          <a:ln>
            <a:noFill/>
          </a:ln>
        </p:spPr>
        <p:txBody>
          <a:bodyPr anchor="ctr" rtlCol="false" lIns="0" tIns="0" rIns="0" bIns="0" wrap="square"/>
          <a:lstStyle/>
          <a:p>
            <a:pPr algn="ctr">
              <a:lnSpc>
                <a:spcPts val="1870"/>
              </a:lnSpc>
              <a:spcBef>
                <a:spcPts val="0"/>
              </a:spcBef>
              <a:buNone/>
            </a:pPr>
            <a:r>
              <a:rPr lang="en-US" sz="1700" b="true">
                <a:solidFill>
                  <a:srgbClr val="FFFFFF"/>
                </a:solidFill>
                <a:latin typeface="Nunito Ultra-Bold"/>
                <a:ea typeface="Nunito Ultra-Bold"/>
                <a:cs typeface="Nunito Ultra-Bold"/>
                <a:sym typeface="Nunito Ultra-Bold"/>
              </a:rPr>
              <a:t>4</a:t>
            </a:r>
          </a:p>
        </p:txBody>
      </p:sp>
      <p:sp>
        <p:nvSpPr>
          <p:cNvPr id="41" name="TextBox 40"/>
          <p:cNvSpPr txBox="1"/>
          <p:nvPr/>
        </p:nvSpPr>
        <p:spPr>
          <a:xfrm>
            <a:off x="13727430" y="6747002"/>
            <a:ext cx="3211830" cy="2332990"/>
          </a:xfrm>
          <a:prstGeom prst="rect">
            <a:avLst/>
          </a:prstGeom>
          <a:noFill/>
        </p:spPr>
        <p:txBody>
          <a:bodyPr anchor="t" rtlCol="false" lIns="0" tIns="0" rIns="0" bIns="0" wrap="square"/>
          <a:lstStyle/>
          <a:p>
            <a:pPr algn="l">
              <a:lnSpc>
                <a:spcPts val="2625"/>
              </a:lnSpc>
              <a:spcBef>
                <a:spcPts val="0"/>
              </a:spcBef>
              <a:buNone/>
            </a:pPr>
            <a:r>
              <a:rPr lang="en-US" sz="2100" b="true">
                <a:solidFill>
                  <a:srgbClr val="4472C4"/>
                </a:solidFill>
                <a:latin typeface="Nunito Ultra-Bold"/>
                <a:ea typeface="Nunito Ultra-Bold"/>
                <a:cs typeface="Nunito Ultra-Bold"/>
                <a:sym typeface="Nunito Ultra-Bold"/>
              </a:rPr>
              <a:t>Trustworthy AI</a:t>
            </a:r>
          </a:p>
          <a:p>
            <a:pPr algn="l">
              <a:lnSpc>
                <a:spcPts val="2380"/>
              </a:lnSpc>
              <a:spcBef>
                <a:spcPts val="600"/>
              </a:spcBef>
              <a:buNone/>
            </a:pPr>
            <a:r>
              <a:rPr lang="en-US" sz="1700" b="true">
                <a:solidFill>
                  <a:srgbClr val="111111"/>
                </a:solidFill>
                <a:latin typeface="Nunito Semi-Bold"/>
                <a:ea typeface="Nunito Semi-Bold"/>
                <a:cs typeface="Nunito Semi-Bold"/>
                <a:sym typeface="Nunito Semi-Bold"/>
              </a:rPr>
              <a:t>Aligned with EU AI Act, OECD principles and GDPR expectations.</a:t>
            </a:r>
          </a:p>
        </p:txBody>
      </p:sp>
    </p:spTree>
  </p:cSld>
  <p:clrMapOvr>
    <a:masterClrMapping/>
  </p:clrMapOvr>
</p:sld>
</file>

<file path=ppt/slides/slide8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pic>
        <p:nvPicPr>
          <p:cNvPr id="2" name="Picture 1" descr="ensias_logo.jpg"/>
          <p:cNvPicPr>
            <a:picLocks noChangeAspect="1"/>
          </p:cNvPicPr>
          <p:nvPr/>
        </p:nvPicPr>
        <p:blipFill>
          <a:blip r:embed="rId2"/>
          <a:stretch>
            <a:fillRect/>
          </a:stretch>
        </p:blipFill>
        <p:spPr>
          <a:xfrm>
            <a:off x="1028700" y="9674352"/>
            <a:ext cx="542964" cy="384048"/>
          </a:xfrm>
          <a:prstGeom prst="rect">
            <a:avLst/>
          </a:prstGeom>
        </p:spPr>
      </p:pic>
      <p:sp>
        <p:nvSpPr>
          <p:cNvPr id="3" name="TextBox 2"/>
          <p:cNvSpPr txBox="1"/>
          <p:nvPr/>
        </p:nvSpPr>
        <p:spPr>
          <a:xfrm>
            <a:off x="1577340" y="9747504"/>
            <a:ext cx="12801600" cy="274320"/>
          </a:xfrm>
          <a:prstGeom prst="rect">
            <a:avLst/>
          </a:prstGeom>
          <a:noFill/>
        </p:spPr>
        <p:txBody>
          <a:bodyPr anchor="t" rtlCol="false" lIns="0" tIns="0" rIns="0" bIns="0" wrap="square"/>
          <a:lstStyle/>
          <a:p>
            <a:pPr algn="l">
              <a:lnSpc>
                <a:spcPts val="1600"/>
              </a:lnSpc>
              <a:spcBef>
                <a:spcPts val="0"/>
              </a:spcBef>
              <a:buNone/>
            </a:pPr>
            <a:r>
              <a:rPr lang="en-US" sz="1300" b="true">
                <a:solidFill>
                  <a:srgbClr val="8A8378"/>
                </a:solidFill>
                <a:latin typeface="Nunito Bold"/>
                <a:ea typeface="Nunito Bold"/>
                <a:cs typeface="Nunito Bold"/>
                <a:sym typeface="Nunito Bold"/>
              </a:rPr>
              <a:t>Cooperative Game Theory for Explainable AI in Recommendation Systems  ·  A Shapley Framework for Actionable Insight</a:t>
            </a:r>
          </a:p>
        </p:txBody>
      </p:sp>
      <p:sp>
        <p:nvSpPr>
          <p:cNvPr id="4" name="TextBox 3"/>
          <p:cNvSpPr txBox="1"/>
          <p:nvPr/>
        </p:nvSpPr>
        <p:spPr>
          <a:xfrm>
            <a:off x="16162020" y="9692640"/>
            <a:ext cx="1097280" cy="329184"/>
          </a:xfrm>
          <a:prstGeom prst="rect">
            <a:avLst/>
          </a:prstGeom>
          <a:noFill/>
        </p:spPr>
        <p:txBody>
          <a:bodyPr anchor="t" rtlCol="false" lIns="0" tIns="0" rIns="0" bIns="0" wrap="square"/>
          <a:lstStyle/>
          <a:p>
            <a:pPr algn="r">
              <a:lnSpc>
                <a:spcPts val="2200"/>
              </a:lnSpc>
              <a:spcBef>
                <a:spcPts val="0"/>
              </a:spcBef>
              <a:buNone/>
            </a:pPr>
            <a:r>
              <a:rPr lang="en-US" sz="1800" b="true">
                <a:solidFill>
                  <a:srgbClr val="111111"/>
                </a:solidFill>
                <a:latin typeface="Nunito Ultra-Bold"/>
                <a:ea typeface="Nunito Ultra-Bold"/>
                <a:cs typeface="Nunito Ultra-Bold"/>
                <a:sym typeface="Nunito Ultra-Bold"/>
              </a:rPr>
              <a:t>73</a:t>
            </a:r>
          </a:p>
        </p:txBody>
      </p:sp>
      <p:sp>
        <p:nvSpPr>
          <p:cNvPr id="5" name="TextBox 4"/>
          <p:cNvSpPr txBox="1"/>
          <p:nvPr/>
        </p:nvSpPr>
        <p:spPr>
          <a:xfrm>
            <a:off x="1028700" y="1389888"/>
            <a:ext cx="12938760" cy="329184"/>
          </a:xfrm>
          <a:prstGeom prst="rect">
            <a:avLst/>
          </a:prstGeom>
          <a:noFill/>
        </p:spPr>
        <p:txBody>
          <a:bodyPr anchor="t" rtlCol="false" lIns="0" tIns="0" rIns="0" bIns="0" wrap="square"/>
          <a:lstStyle/>
          <a:p>
            <a:pPr algn="l">
              <a:lnSpc>
                <a:spcPts val="2000"/>
              </a:lnSpc>
              <a:spcBef>
                <a:spcPts val="0"/>
              </a:spcBef>
              <a:buNone/>
            </a:pPr>
            <a:r>
              <a:rPr lang="en-US" sz="1500" b="true" spc="160">
                <a:solidFill>
                  <a:srgbClr val="1F7A8C"/>
                </a:solidFill>
                <a:latin typeface="Nunito Ultra-Bold"/>
                <a:ea typeface="Nunito Ultra-Bold"/>
                <a:cs typeface="Nunito Ultra-Bold"/>
                <a:sym typeface="Nunito Ultra-Bold"/>
              </a:rPr>
              <a:t>CONCLUSION &amp; PERSPECTIVES</a:t>
            </a:r>
          </a:p>
        </p:txBody>
      </p:sp>
      <p:sp>
        <p:nvSpPr>
          <p:cNvPr id="6" name="Rounded Rectangle 5"/>
          <p:cNvSpPr/>
          <p:nvPr/>
        </p:nvSpPr>
        <p:spPr>
          <a:xfrm>
            <a:off x="14516100"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7" name="TextBox 6"/>
          <p:cNvSpPr txBox="1"/>
          <p:nvPr/>
        </p:nvSpPr>
        <p:spPr>
          <a:xfrm>
            <a:off x="14516100"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1</a:t>
            </a:r>
          </a:p>
        </p:txBody>
      </p:sp>
      <p:sp>
        <p:nvSpPr>
          <p:cNvPr id="8" name="Rounded Rectangle 7"/>
          <p:cNvSpPr/>
          <p:nvPr/>
        </p:nvSpPr>
        <p:spPr>
          <a:xfrm>
            <a:off x="14918436"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9" name="TextBox 8"/>
          <p:cNvSpPr txBox="1"/>
          <p:nvPr/>
        </p:nvSpPr>
        <p:spPr>
          <a:xfrm>
            <a:off x="14918436"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2</a:t>
            </a:r>
          </a:p>
        </p:txBody>
      </p:sp>
      <p:sp>
        <p:nvSpPr>
          <p:cNvPr id="10" name="Rounded Rectangle 9"/>
          <p:cNvSpPr/>
          <p:nvPr/>
        </p:nvSpPr>
        <p:spPr>
          <a:xfrm>
            <a:off x="15320772"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11" name="TextBox 10"/>
          <p:cNvSpPr txBox="1"/>
          <p:nvPr/>
        </p:nvSpPr>
        <p:spPr>
          <a:xfrm>
            <a:off x="15320772"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3</a:t>
            </a:r>
          </a:p>
        </p:txBody>
      </p:sp>
      <p:sp>
        <p:nvSpPr>
          <p:cNvPr id="12" name="Rounded Rectangle 11"/>
          <p:cNvSpPr/>
          <p:nvPr/>
        </p:nvSpPr>
        <p:spPr>
          <a:xfrm>
            <a:off x="15723108"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13" name="TextBox 12"/>
          <p:cNvSpPr txBox="1"/>
          <p:nvPr/>
        </p:nvSpPr>
        <p:spPr>
          <a:xfrm>
            <a:off x="15723108"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4</a:t>
            </a:r>
          </a:p>
        </p:txBody>
      </p:sp>
      <p:sp>
        <p:nvSpPr>
          <p:cNvPr id="14" name="Rounded Rectangle 13"/>
          <p:cNvSpPr/>
          <p:nvPr/>
        </p:nvSpPr>
        <p:spPr>
          <a:xfrm>
            <a:off x="16125444"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15" name="TextBox 14"/>
          <p:cNvSpPr txBox="1"/>
          <p:nvPr/>
        </p:nvSpPr>
        <p:spPr>
          <a:xfrm>
            <a:off x="16125444"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5</a:t>
            </a:r>
          </a:p>
        </p:txBody>
      </p:sp>
      <p:sp>
        <p:nvSpPr>
          <p:cNvPr id="16" name="Rounded Rectangle 15"/>
          <p:cNvSpPr/>
          <p:nvPr/>
        </p:nvSpPr>
        <p:spPr>
          <a:xfrm>
            <a:off x="16527780"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17" name="TextBox 16"/>
          <p:cNvSpPr txBox="1"/>
          <p:nvPr/>
        </p:nvSpPr>
        <p:spPr>
          <a:xfrm>
            <a:off x="16527780"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6</a:t>
            </a:r>
          </a:p>
        </p:txBody>
      </p:sp>
      <p:sp>
        <p:nvSpPr>
          <p:cNvPr id="18" name="Rounded Rectangle 17"/>
          <p:cNvSpPr/>
          <p:nvPr/>
        </p:nvSpPr>
        <p:spPr>
          <a:xfrm>
            <a:off x="16930116" y="1371600"/>
            <a:ext cx="329184" cy="329184"/>
          </a:xfrm>
          <a:prstGeom prst="roundRect">
            <a:avLst>
              <a:gd name="adj" fmla="val 16666"/>
            </a:avLst>
          </a:prstGeom>
          <a:solidFill>
            <a:srgbClr val="4472C4"/>
          </a:solidFill>
          <a:ln w="15875">
            <a:solidFill>
              <a:srgbClr val="4472C4"/>
            </a:solidFill>
          </a:ln>
        </p:spPr>
        <p:txBody>
          <a:bodyPr anchor="ctr" rtlCol="false" lIns="0" tIns="0" rIns="0" bIns="0" wrap="square"/>
          <a:lstStyle/>
          <a:p>
            <a:endParaRPr lang="en-US" sz="1800"/>
          </a:p>
        </p:txBody>
      </p:sp>
      <p:sp>
        <p:nvSpPr>
          <p:cNvPr id="19" name="TextBox 18"/>
          <p:cNvSpPr txBox="1"/>
          <p:nvPr/>
        </p:nvSpPr>
        <p:spPr>
          <a:xfrm>
            <a:off x="16930116"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FFFFFF"/>
                </a:solidFill>
                <a:latin typeface="Nunito Ultra-Bold"/>
                <a:ea typeface="Nunito Ultra-Bold"/>
                <a:cs typeface="Nunito Ultra-Bold"/>
                <a:sym typeface="Nunito Ultra-Bold"/>
              </a:rPr>
              <a:t>7</a:t>
            </a:r>
          </a:p>
        </p:txBody>
      </p:sp>
      <p:sp>
        <p:nvSpPr>
          <p:cNvPr id="20" name="TextBox 19"/>
          <p:cNvSpPr txBox="1"/>
          <p:nvPr/>
        </p:nvSpPr>
        <p:spPr>
          <a:xfrm>
            <a:off x="1028700" y="1719072"/>
            <a:ext cx="16230600" cy="730250"/>
          </a:xfrm>
          <a:prstGeom prst="rect">
            <a:avLst/>
          </a:prstGeom>
          <a:noFill/>
        </p:spPr>
        <p:txBody>
          <a:bodyPr anchor="t" rtlCol="false" lIns="0" tIns="0" rIns="0" bIns="0" wrap="square"/>
          <a:lstStyle/>
          <a:p>
            <a:pPr algn="l">
              <a:lnSpc>
                <a:spcPts val="5060"/>
              </a:lnSpc>
              <a:spcBef>
                <a:spcPts val="0"/>
              </a:spcBef>
              <a:buNone/>
            </a:pPr>
            <a:r>
              <a:rPr lang="en-US" sz="4600" b="true" spc="-230">
                <a:solidFill>
                  <a:srgbClr val="111111"/>
                </a:solidFill>
                <a:latin typeface="Roca Two Bold"/>
                <a:ea typeface="Roca Two Bold"/>
                <a:cs typeface="Roca Two Bold"/>
                <a:sym typeface="Roca Two Bold"/>
              </a:rPr>
              <a:t>References (1 / 2)</a:t>
            </a:r>
          </a:p>
        </p:txBody>
      </p:sp>
      <p:sp>
        <p:nvSpPr>
          <p:cNvPr id="21" name="Rounded Rectangle 20"/>
          <p:cNvSpPr/>
          <p:nvPr/>
        </p:nvSpPr>
        <p:spPr>
          <a:xfrm>
            <a:off x="1028700" y="2714498"/>
            <a:ext cx="16230600" cy="433124"/>
          </a:xfrm>
          <a:prstGeom prst="roundRect">
            <a:avLst>
              <a:gd name="adj" fmla="val 21111"/>
            </a:avLst>
          </a:prstGeom>
          <a:solidFill>
            <a:srgbClr val="F6ECDF"/>
          </a:solidFill>
          <a:ln>
            <a:noFill/>
          </a:ln>
        </p:spPr>
        <p:txBody>
          <a:bodyPr anchor="ctr" rtlCol="false" lIns="0" tIns="0" rIns="0" bIns="0" wrap="square"/>
          <a:lstStyle/>
          <a:p>
            <a:endParaRPr lang="en-US" sz="1800"/>
          </a:p>
        </p:txBody>
      </p:sp>
      <p:sp>
        <p:nvSpPr>
          <p:cNvPr id="22" name="Rounded Rectangle 21"/>
          <p:cNvSpPr/>
          <p:nvPr/>
        </p:nvSpPr>
        <p:spPr>
          <a:xfrm>
            <a:off x="1138428" y="2769362"/>
            <a:ext cx="640080" cy="323396"/>
          </a:xfrm>
          <a:prstGeom prst="roundRect">
            <a:avLst>
              <a:gd name="adj" fmla="val 22619"/>
            </a:avLst>
          </a:prstGeom>
          <a:solidFill>
            <a:srgbClr val="4472C4"/>
          </a:solidFill>
          <a:ln>
            <a:noFill/>
          </a:ln>
        </p:spPr>
        <p:txBody>
          <a:bodyPr anchor="ctr" rtlCol="false" lIns="91440" tIns="45720" rIns="91440" bIns="45720" wrap="square"/>
          <a:lstStyle/>
          <a:p>
            <a:pPr algn="ctr">
              <a:lnSpc>
                <a:spcPts val="1380"/>
              </a:lnSpc>
              <a:spcBef>
                <a:spcPts val="0"/>
              </a:spcBef>
              <a:buNone/>
            </a:pPr>
            <a:r>
              <a:rPr lang="en-US" sz="1200" b="true">
                <a:solidFill>
                  <a:srgbClr val="FFFFFF"/>
                </a:solidFill>
                <a:latin typeface="Nunito Bold"/>
                <a:ea typeface="Nunito Bold"/>
                <a:cs typeface="Nunito Bold"/>
                <a:sym typeface="Nunito Bold"/>
              </a:rPr>
              <a:t>[1]</a:t>
            </a:r>
          </a:p>
        </p:txBody>
      </p:sp>
      <p:sp>
        <p:nvSpPr>
          <p:cNvPr id="23" name="TextBox 22"/>
          <p:cNvSpPr txBox="1"/>
          <p:nvPr/>
        </p:nvSpPr>
        <p:spPr>
          <a:xfrm>
            <a:off x="1943100" y="2714498"/>
            <a:ext cx="15179040" cy="433124"/>
          </a:xfrm>
          <a:prstGeom prst="rect">
            <a:avLst/>
          </a:prstGeom>
          <a:noFill/>
        </p:spPr>
        <p:txBody>
          <a:bodyPr anchor="ctr" rtlCol="false" lIns="0" tIns="0" rIns="0" bIns="0" wrap="square"/>
          <a:lstStyle/>
          <a:p>
            <a:pPr algn="l">
              <a:lnSpc>
                <a:spcPts val="1820"/>
              </a:lnSpc>
              <a:spcBef>
                <a:spcPts val="0"/>
              </a:spcBef>
              <a:buNone/>
            </a:pPr>
            <a:r>
              <a:rPr lang="en-US" sz="1300" b="true">
                <a:solidFill>
                  <a:srgbClr val="111111"/>
                </a:solidFill>
                <a:latin typeface="Nunito Semi-Bold"/>
                <a:ea typeface="Nunito Semi-Bold"/>
                <a:cs typeface="Nunito Semi-Bold"/>
                <a:sym typeface="Nunito Semi-Bold"/>
              </a:rPr>
              <a:t>Louhichi, M., Nesmaoui, R., Mbarek, M. &amp; Lazaar, M. Shapley Values for Explaining the Black Box Nature of Machine Learning Model Clustering. Procedia Computer Science 220, 806–811 (2023).</a:t>
            </a:r>
          </a:p>
        </p:txBody>
      </p:sp>
      <p:sp>
        <p:nvSpPr>
          <p:cNvPr id="24" name="Rounded Rectangle 23"/>
          <p:cNvSpPr/>
          <p:nvPr/>
        </p:nvSpPr>
        <p:spPr>
          <a:xfrm>
            <a:off x="1028700" y="3202486"/>
            <a:ext cx="16230600" cy="433124"/>
          </a:xfrm>
          <a:prstGeom prst="roundRect">
            <a:avLst>
              <a:gd name="adj" fmla="val 21111"/>
            </a:avLst>
          </a:prstGeom>
          <a:solidFill>
            <a:srgbClr val="FBF4EB"/>
          </a:solidFill>
          <a:ln>
            <a:noFill/>
          </a:ln>
        </p:spPr>
        <p:txBody>
          <a:bodyPr anchor="ctr" rtlCol="false" lIns="0" tIns="0" rIns="0" bIns="0" wrap="square"/>
          <a:lstStyle/>
          <a:p>
            <a:endParaRPr lang="en-US" sz="1800"/>
          </a:p>
        </p:txBody>
      </p:sp>
      <p:sp>
        <p:nvSpPr>
          <p:cNvPr id="25" name="Rounded Rectangle 24"/>
          <p:cNvSpPr/>
          <p:nvPr/>
        </p:nvSpPr>
        <p:spPr>
          <a:xfrm>
            <a:off x="1138428" y="3257350"/>
            <a:ext cx="640080" cy="323396"/>
          </a:xfrm>
          <a:prstGeom prst="roundRect">
            <a:avLst>
              <a:gd name="adj" fmla="val 22619"/>
            </a:avLst>
          </a:prstGeom>
          <a:solidFill>
            <a:srgbClr val="4472C4"/>
          </a:solidFill>
          <a:ln>
            <a:noFill/>
          </a:ln>
        </p:spPr>
        <p:txBody>
          <a:bodyPr anchor="ctr" rtlCol="false" lIns="91440" tIns="45720" rIns="91440" bIns="45720" wrap="square"/>
          <a:lstStyle/>
          <a:p>
            <a:pPr algn="ctr">
              <a:lnSpc>
                <a:spcPts val="1380"/>
              </a:lnSpc>
              <a:spcBef>
                <a:spcPts val="0"/>
              </a:spcBef>
              <a:buNone/>
            </a:pPr>
            <a:r>
              <a:rPr lang="en-US" sz="1200" b="true">
                <a:solidFill>
                  <a:srgbClr val="FFFFFF"/>
                </a:solidFill>
                <a:latin typeface="Nunito Bold"/>
                <a:ea typeface="Nunito Bold"/>
                <a:cs typeface="Nunito Bold"/>
                <a:sym typeface="Nunito Bold"/>
              </a:rPr>
              <a:t>[2]</a:t>
            </a:r>
          </a:p>
        </p:txBody>
      </p:sp>
      <p:sp>
        <p:nvSpPr>
          <p:cNvPr id="26" name="TextBox 25"/>
          <p:cNvSpPr txBox="1"/>
          <p:nvPr/>
        </p:nvSpPr>
        <p:spPr>
          <a:xfrm>
            <a:off x="1943100" y="3202486"/>
            <a:ext cx="15179040" cy="433124"/>
          </a:xfrm>
          <a:prstGeom prst="rect">
            <a:avLst/>
          </a:prstGeom>
          <a:noFill/>
        </p:spPr>
        <p:txBody>
          <a:bodyPr anchor="ctr" rtlCol="false" lIns="0" tIns="0" rIns="0" bIns="0" wrap="square"/>
          <a:lstStyle/>
          <a:p>
            <a:pPr algn="l">
              <a:lnSpc>
                <a:spcPts val="1820"/>
              </a:lnSpc>
              <a:spcBef>
                <a:spcPts val="0"/>
              </a:spcBef>
              <a:buNone/>
            </a:pPr>
            <a:r>
              <a:rPr lang="en-US" sz="1300" b="true">
                <a:solidFill>
                  <a:srgbClr val="111111"/>
                </a:solidFill>
                <a:latin typeface="Nunito Semi-Bold"/>
                <a:ea typeface="Nunito Semi-Bold"/>
                <a:cs typeface="Nunito Semi-Bold"/>
                <a:sym typeface="Nunito Semi-Bold"/>
              </a:rPr>
              <a:t>Louhichi, M., Nesmaoui, R. &amp; Lazaar, M. Game Theory Meets Explainable AI: An Enhanced Approach to Understanding Black Box Models Through Shapley Values. IJACSA 16(7), 716–725 (2025).</a:t>
            </a:r>
          </a:p>
        </p:txBody>
      </p:sp>
      <p:sp>
        <p:nvSpPr>
          <p:cNvPr id="27" name="Rounded Rectangle 26"/>
          <p:cNvSpPr/>
          <p:nvPr/>
        </p:nvSpPr>
        <p:spPr>
          <a:xfrm>
            <a:off x="1028700" y="3690474"/>
            <a:ext cx="16230600" cy="433124"/>
          </a:xfrm>
          <a:prstGeom prst="roundRect">
            <a:avLst>
              <a:gd name="adj" fmla="val 21111"/>
            </a:avLst>
          </a:prstGeom>
          <a:solidFill>
            <a:srgbClr val="F6ECDF"/>
          </a:solidFill>
          <a:ln>
            <a:noFill/>
          </a:ln>
        </p:spPr>
        <p:txBody>
          <a:bodyPr anchor="ctr" rtlCol="false" lIns="0" tIns="0" rIns="0" bIns="0" wrap="square"/>
          <a:lstStyle/>
          <a:p>
            <a:endParaRPr lang="en-US" sz="1800"/>
          </a:p>
        </p:txBody>
      </p:sp>
      <p:sp>
        <p:nvSpPr>
          <p:cNvPr id="28" name="Rounded Rectangle 27"/>
          <p:cNvSpPr/>
          <p:nvPr/>
        </p:nvSpPr>
        <p:spPr>
          <a:xfrm>
            <a:off x="1138428" y="3745338"/>
            <a:ext cx="640080" cy="323396"/>
          </a:xfrm>
          <a:prstGeom prst="roundRect">
            <a:avLst>
              <a:gd name="adj" fmla="val 22619"/>
            </a:avLst>
          </a:prstGeom>
          <a:solidFill>
            <a:srgbClr val="4472C4"/>
          </a:solidFill>
          <a:ln>
            <a:noFill/>
          </a:ln>
        </p:spPr>
        <p:txBody>
          <a:bodyPr anchor="ctr" rtlCol="false" lIns="91440" tIns="45720" rIns="91440" bIns="45720" wrap="square"/>
          <a:lstStyle/>
          <a:p>
            <a:pPr algn="ctr">
              <a:lnSpc>
                <a:spcPts val="1380"/>
              </a:lnSpc>
              <a:spcBef>
                <a:spcPts val="0"/>
              </a:spcBef>
              <a:buNone/>
            </a:pPr>
            <a:r>
              <a:rPr lang="en-US" sz="1200" b="true">
                <a:solidFill>
                  <a:srgbClr val="FFFFFF"/>
                </a:solidFill>
                <a:latin typeface="Nunito Bold"/>
                <a:ea typeface="Nunito Bold"/>
                <a:cs typeface="Nunito Bold"/>
                <a:sym typeface="Nunito Bold"/>
              </a:rPr>
              <a:t>[3]</a:t>
            </a:r>
          </a:p>
        </p:txBody>
      </p:sp>
      <p:sp>
        <p:nvSpPr>
          <p:cNvPr id="29" name="TextBox 28"/>
          <p:cNvSpPr txBox="1"/>
          <p:nvPr/>
        </p:nvSpPr>
        <p:spPr>
          <a:xfrm>
            <a:off x="1943100" y="3690474"/>
            <a:ext cx="15179040" cy="433124"/>
          </a:xfrm>
          <a:prstGeom prst="rect">
            <a:avLst/>
          </a:prstGeom>
          <a:noFill/>
        </p:spPr>
        <p:txBody>
          <a:bodyPr anchor="ctr" rtlCol="false" lIns="0" tIns="0" rIns="0" bIns="0" wrap="square"/>
          <a:lstStyle/>
          <a:p>
            <a:pPr algn="l">
              <a:lnSpc>
                <a:spcPts val="1820"/>
              </a:lnSpc>
              <a:spcBef>
                <a:spcPts val="0"/>
              </a:spcBef>
              <a:buNone/>
            </a:pPr>
            <a:r>
              <a:rPr lang="en-US" sz="1300" b="true">
                <a:solidFill>
                  <a:srgbClr val="111111"/>
                </a:solidFill>
                <a:latin typeface="Nunito Semi-Bold"/>
                <a:ea typeface="Nunito Semi-Bold"/>
                <a:cs typeface="Nunito Semi-Bold"/>
                <a:sym typeface="Nunito Semi-Bold"/>
              </a:rPr>
              <a:t>Louhichi, M., Nesmaoui, R. &amp; Lazaar, M. DyHuCoG: A Dynamic Hypergraph Cooperative Game for Preference-aware Recommendation. IJIES 19(2), 887–902 (2026).</a:t>
            </a:r>
          </a:p>
        </p:txBody>
      </p:sp>
      <p:sp>
        <p:nvSpPr>
          <p:cNvPr id="30" name="Rounded Rectangle 29"/>
          <p:cNvSpPr/>
          <p:nvPr/>
        </p:nvSpPr>
        <p:spPr>
          <a:xfrm>
            <a:off x="1028700" y="4178463"/>
            <a:ext cx="16230600" cy="433124"/>
          </a:xfrm>
          <a:prstGeom prst="roundRect">
            <a:avLst>
              <a:gd name="adj" fmla="val 21111"/>
            </a:avLst>
          </a:prstGeom>
          <a:solidFill>
            <a:srgbClr val="FBF4EB"/>
          </a:solidFill>
          <a:ln>
            <a:noFill/>
          </a:ln>
        </p:spPr>
        <p:txBody>
          <a:bodyPr anchor="ctr" rtlCol="false" lIns="0" tIns="0" rIns="0" bIns="0" wrap="square"/>
          <a:lstStyle/>
          <a:p>
            <a:endParaRPr lang="en-US" sz="1800"/>
          </a:p>
        </p:txBody>
      </p:sp>
      <p:sp>
        <p:nvSpPr>
          <p:cNvPr id="31" name="Rounded Rectangle 30"/>
          <p:cNvSpPr/>
          <p:nvPr/>
        </p:nvSpPr>
        <p:spPr>
          <a:xfrm>
            <a:off x="1138428" y="4233327"/>
            <a:ext cx="640080" cy="323396"/>
          </a:xfrm>
          <a:prstGeom prst="roundRect">
            <a:avLst>
              <a:gd name="adj" fmla="val 22619"/>
            </a:avLst>
          </a:prstGeom>
          <a:solidFill>
            <a:srgbClr val="1F7A8C"/>
          </a:solidFill>
          <a:ln>
            <a:noFill/>
          </a:ln>
        </p:spPr>
        <p:txBody>
          <a:bodyPr anchor="ctr" rtlCol="false" lIns="91440" tIns="45720" rIns="91440" bIns="45720" wrap="square"/>
          <a:lstStyle/>
          <a:p>
            <a:pPr algn="ctr">
              <a:lnSpc>
                <a:spcPts val="1380"/>
              </a:lnSpc>
              <a:spcBef>
                <a:spcPts val="0"/>
              </a:spcBef>
              <a:buNone/>
            </a:pPr>
            <a:r>
              <a:rPr lang="en-US" sz="1200" b="true">
                <a:solidFill>
                  <a:srgbClr val="FFFFFF"/>
                </a:solidFill>
                <a:latin typeface="Nunito Bold"/>
                <a:ea typeface="Nunito Bold"/>
                <a:cs typeface="Nunito Bold"/>
                <a:sym typeface="Nunito Bold"/>
              </a:rPr>
              <a:t>[4]</a:t>
            </a:r>
          </a:p>
        </p:txBody>
      </p:sp>
      <p:sp>
        <p:nvSpPr>
          <p:cNvPr id="32" name="TextBox 31"/>
          <p:cNvSpPr txBox="1"/>
          <p:nvPr/>
        </p:nvSpPr>
        <p:spPr>
          <a:xfrm>
            <a:off x="1943100" y="4178463"/>
            <a:ext cx="15179040" cy="433124"/>
          </a:xfrm>
          <a:prstGeom prst="rect">
            <a:avLst/>
          </a:prstGeom>
          <a:noFill/>
        </p:spPr>
        <p:txBody>
          <a:bodyPr anchor="ctr" rtlCol="false" lIns="0" tIns="0" rIns="0" bIns="0" wrap="square"/>
          <a:lstStyle/>
          <a:p>
            <a:pPr algn="l">
              <a:lnSpc>
                <a:spcPts val="1820"/>
              </a:lnSpc>
              <a:spcBef>
                <a:spcPts val="0"/>
              </a:spcBef>
              <a:buNone/>
            </a:pPr>
            <a:r>
              <a:rPr lang="en-US" sz="1300" b="true">
                <a:solidFill>
                  <a:srgbClr val="111111"/>
                </a:solidFill>
                <a:latin typeface="Nunito Semi-Bold"/>
                <a:ea typeface="Nunito Semi-Bold"/>
                <a:cs typeface="Nunito Semi-Bold"/>
                <a:sym typeface="Nunito Semi-Bold"/>
              </a:rPr>
              <a:t>Shapley, L. S. A Value for n-Person Games. Contributions to the Theory of Games II, 307–317, Princeton University Press (1953).</a:t>
            </a:r>
          </a:p>
        </p:txBody>
      </p:sp>
      <p:sp>
        <p:nvSpPr>
          <p:cNvPr id="33" name="Rounded Rectangle 32"/>
          <p:cNvSpPr/>
          <p:nvPr/>
        </p:nvSpPr>
        <p:spPr>
          <a:xfrm>
            <a:off x="1028700" y="4666451"/>
            <a:ext cx="16230600" cy="433124"/>
          </a:xfrm>
          <a:prstGeom prst="roundRect">
            <a:avLst>
              <a:gd name="adj" fmla="val 21111"/>
            </a:avLst>
          </a:prstGeom>
          <a:solidFill>
            <a:srgbClr val="F6ECDF"/>
          </a:solidFill>
          <a:ln>
            <a:noFill/>
          </a:ln>
        </p:spPr>
        <p:txBody>
          <a:bodyPr anchor="ctr" rtlCol="false" lIns="0" tIns="0" rIns="0" bIns="0" wrap="square"/>
          <a:lstStyle/>
          <a:p>
            <a:endParaRPr lang="en-US" sz="1800"/>
          </a:p>
        </p:txBody>
      </p:sp>
      <p:sp>
        <p:nvSpPr>
          <p:cNvPr id="34" name="Rounded Rectangle 33"/>
          <p:cNvSpPr/>
          <p:nvPr/>
        </p:nvSpPr>
        <p:spPr>
          <a:xfrm>
            <a:off x="1138428" y="4721315"/>
            <a:ext cx="640080" cy="323396"/>
          </a:xfrm>
          <a:prstGeom prst="roundRect">
            <a:avLst>
              <a:gd name="adj" fmla="val 22619"/>
            </a:avLst>
          </a:prstGeom>
          <a:solidFill>
            <a:srgbClr val="1F7A8C"/>
          </a:solidFill>
          <a:ln>
            <a:noFill/>
          </a:ln>
        </p:spPr>
        <p:txBody>
          <a:bodyPr anchor="ctr" rtlCol="false" lIns="91440" tIns="45720" rIns="91440" bIns="45720" wrap="square"/>
          <a:lstStyle/>
          <a:p>
            <a:pPr algn="ctr">
              <a:lnSpc>
                <a:spcPts val="1380"/>
              </a:lnSpc>
              <a:spcBef>
                <a:spcPts val="0"/>
              </a:spcBef>
              <a:buNone/>
            </a:pPr>
            <a:r>
              <a:rPr lang="en-US" sz="1200" b="true">
                <a:solidFill>
                  <a:srgbClr val="FFFFFF"/>
                </a:solidFill>
                <a:latin typeface="Nunito Bold"/>
                <a:ea typeface="Nunito Bold"/>
                <a:cs typeface="Nunito Bold"/>
                <a:sym typeface="Nunito Bold"/>
              </a:rPr>
              <a:t>[5]</a:t>
            </a:r>
          </a:p>
        </p:txBody>
      </p:sp>
      <p:sp>
        <p:nvSpPr>
          <p:cNvPr id="35" name="TextBox 34"/>
          <p:cNvSpPr txBox="1"/>
          <p:nvPr/>
        </p:nvSpPr>
        <p:spPr>
          <a:xfrm>
            <a:off x="1943100" y="4666451"/>
            <a:ext cx="15179040" cy="433124"/>
          </a:xfrm>
          <a:prstGeom prst="rect">
            <a:avLst/>
          </a:prstGeom>
          <a:noFill/>
        </p:spPr>
        <p:txBody>
          <a:bodyPr anchor="ctr" rtlCol="false" lIns="0" tIns="0" rIns="0" bIns="0" wrap="square"/>
          <a:lstStyle/>
          <a:p>
            <a:pPr algn="l">
              <a:lnSpc>
                <a:spcPts val="1820"/>
              </a:lnSpc>
              <a:spcBef>
                <a:spcPts val="0"/>
              </a:spcBef>
              <a:buNone/>
            </a:pPr>
            <a:r>
              <a:rPr lang="en-US" sz="1300" b="true">
                <a:solidFill>
                  <a:srgbClr val="111111"/>
                </a:solidFill>
                <a:latin typeface="Nunito Semi-Bold"/>
                <a:ea typeface="Nunito Semi-Bold"/>
                <a:cs typeface="Nunito Semi-Bold"/>
                <a:sym typeface="Nunito Semi-Bold"/>
              </a:rPr>
              <a:t>Lundberg, S. M. &amp; Lee, S.-I. A Unified Approach to Interpreting Model Predictions (SHAP). NeurIPS 30, 4765–4774 (2017).</a:t>
            </a:r>
          </a:p>
        </p:txBody>
      </p:sp>
      <p:sp>
        <p:nvSpPr>
          <p:cNvPr id="36" name="Rounded Rectangle 35"/>
          <p:cNvSpPr/>
          <p:nvPr/>
        </p:nvSpPr>
        <p:spPr>
          <a:xfrm>
            <a:off x="1028700" y="5154440"/>
            <a:ext cx="16230600" cy="433124"/>
          </a:xfrm>
          <a:prstGeom prst="roundRect">
            <a:avLst>
              <a:gd name="adj" fmla="val 21111"/>
            </a:avLst>
          </a:prstGeom>
          <a:solidFill>
            <a:srgbClr val="FBF4EB"/>
          </a:solidFill>
          <a:ln>
            <a:noFill/>
          </a:ln>
        </p:spPr>
        <p:txBody>
          <a:bodyPr anchor="ctr" rtlCol="false" lIns="0" tIns="0" rIns="0" bIns="0" wrap="square"/>
          <a:lstStyle/>
          <a:p>
            <a:endParaRPr lang="en-US" sz="1800"/>
          </a:p>
        </p:txBody>
      </p:sp>
      <p:sp>
        <p:nvSpPr>
          <p:cNvPr id="37" name="Rounded Rectangle 36"/>
          <p:cNvSpPr/>
          <p:nvPr/>
        </p:nvSpPr>
        <p:spPr>
          <a:xfrm>
            <a:off x="1138428" y="5209304"/>
            <a:ext cx="640080" cy="323396"/>
          </a:xfrm>
          <a:prstGeom prst="roundRect">
            <a:avLst>
              <a:gd name="adj" fmla="val 22619"/>
            </a:avLst>
          </a:prstGeom>
          <a:solidFill>
            <a:srgbClr val="1F7A8C"/>
          </a:solidFill>
          <a:ln>
            <a:noFill/>
          </a:ln>
        </p:spPr>
        <p:txBody>
          <a:bodyPr anchor="ctr" rtlCol="false" lIns="91440" tIns="45720" rIns="91440" bIns="45720" wrap="square"/>
          <a:lstStyle/>
          <a:p>
            <a:pPr algn="ctr">
              <a:lnSpc>
                <a:spcPts val="1380"/>
              </a:lnSpc>
              <a:spcBef>
                <a:spcPts val="0"/>
              </a:spcBef>
              <a:buNone/>
            </a:pPr>
            <a:r>
              <a:rPr lang="en-US" sz="1200" b="true">
                <a:solidFill>
                  <a:srgbClr val="FFFFFF"/>
                </a:solidFill>
                <a:latin typeface="Nunito Bold"/>
                <a:ea typeface="Nunito Bold"/>
                <a:cs typeface="Nunito Bold"/>
                <a:sym typeface="Nunito Bold"/>
              </a:rPr>
              <a:t>[6]</a:t>
            </a:r>
          </a:p>
        </p:txBody>
      </p:sp>
      <p:sp>
        <p:nvSpPr>
          <p:cNvPr id="38" name="TextBox 37"/>
          <p:cNvSpPr txBox="1"/>
          <p:nvPr/>
        </p:nvSpPr>
        <p:spPr>
          <a:xfrm>
            <a:off x="1943100" y="5154440"/>
            <a:ext cx="15179040" cy="433124"/>
          </a:xfrm>
          <a:prstGeom prst="rect">
            <a:avLst/>
          </a:prstGeom>
          <a:noFill/>
        </p:spPr>
        <p:txBody>
          <a:bodyPr anchor="ctr" rtlCol="false" lIns="0" tIns="0" rIns="0" bIns="0" wrap="square"/>
          <a:lstStyle/>
          <a:p>
            <a:pPr algn="l">
              <a:lnSpc>
                <a:spcPts val="1820"/>
              </a:lnSpc>
              <a:spcBef>
                <a:spcPts val="0"/>
              </a:spcBef>
              <a:buNone/>
            </a:pPr>
            <a:r>
              <a:rPr lang="en-US" sz="1300" b="true">
                <a:solidFill>
                  <a:srgbClr val="111111"/>
                </a:solidFill>
                <a:latin typeface="Nunito Semi-Bold"/>
                <a:ea typeface="Nunito Semi-Bold"/>
                <a:cs typeface="Nunito Semi-Bold"/>
                <a:sym typeface="Nunito Semi-Bold"/>
              </a:rPr>
              <a:t>Lundberg, S. M. et al. From Local Explanations to Global Understanding with Explainable AI for Trees (TreeSHAP). Nature Machine Intelligence 2, 56–67 (2020).</a:t>
            </a:r>
          </a:p>
        </p:txBody>
      </p:sp>
      <p:sp>
        <p:nvSpPr>
          <p:cNvPr id="39" name="Rounded Rectangle 38"/>
          <p:cNvSpPr/>
          <p:nvPr/>
        </p:nvSpPr>
        <p:spPr>
          <a:xfrm>
            <a:off x="1028700" y="5642428"/>
            <a:ext cx="16230600" cy="433124"/>
          </a:xfrm>
          <a:prstGeom prst="roundRect">
            <a:avLst>
              <a:gd name="adj" fmla="val 21111"/>
            </a:avLst>
          </a:prstGeom>
          <a:solidFill>
            <a:srgbClr val="F6ECDF"/>
          </a:solidFill>
          <a:ln>
            <a:noFill/>
          </a:ln>
        </p:spPr>
        <p:txBody>
          <a:bodyPr anchor="ctr" rtlCol="false" lIns="0" tIns="0" rIns="0" bIns="0" wrap="square"/>
          <a:lstStyle/>
          <a:p>
            <a:endParaRPr lang="en-US" sz="1800"/>
          </a:p>
        </p:txBody>
      </p:sp>
      <p:sp>
        <p:nvSpPr>
          <p:cNvPr id="40" name="Rounded Rectangle 39"/>
          <p:cNvSpPr/>
          <p:nvPr/>
        </p:nvSpPr>
        <p:spPr>
          <a:xfrm>
            <a:off x="1138428" y="5697292"/>
            <a:ext cx="640080" cy="323396"/>
          </a:xfrm>
          <a:prstGeom prst="roundRect">
            <a:avLst>
              <a:gd name="adj" fmla="val 22619"/>
            </a:avLst>
          </a:prstGeom>
          <a:solidFill>
            <a:srgbClr val="1F7A8C"/>
          </a:solidFill>
          <a:ln>
            <a:noFill/>
          </a:ln>
        </p:spPr>
        <p:txBody>
          <a:bodyPr anchor="ctr" rtlCol="false" lIns="91440" tIns="45720" rIns="91440" bIns="45720" wrap="square"/>
          <a:lstStyle/>
          <a:p>
            <a:pPr algn="ctr">
              <a:lnSpc>
                <a:spcPts val="1380"/>
              </a:lnSpc>
              <a:spcBef>
                <a:spcPts val="0"/>
              </a:spcBef>
              <a:buNone/>
            </a:pPr>
            <a:r>
              <a:rPr lang="en-US" sz="1200" b="true">
                <a:solidFill>
                  <a:srgbClr val="FFFFFF"/>
                </a:solidFill>
                <a:latin typeface="Nunito Bold"/>
                <a:ea typeface="Nunito Bold"/>
                <a:cs typeface="Nunito Bold"/>
                <a:sym typeface="Nunito Bold"/>
              </a:rPr>
              <a:t>[7]</a:t>
            </a:r>
          </a:p>
        </p:txBody>
      </p:sp>
      <p:sp>
        <p:nvSpPr>
          <p:cNvPr id="41" name="TextBox 40"/>
          <p:cNvSpPr txBox="1"/>
          <p:nvPr/>
        </p:nvSpPr>
        <p:spPr>
          <a:xfrm>
            <a:off x="1943100" y="5642428"/>
            <a:ext cx="15179040" cy="433124"/>
          </a:xfrm>
          <a:prstGeom prst="rect">
            <a:avLst/>
          </a:prstGeom>
          <a:noFill/>
        </p:spPr>
        <p:txBody>
          <a:bodyPr anchor="ctr" rtlCol="false" lIns="0" tIns="0" rIns="0" bIns="0" wrap="square"/>
          <a:lstStyle/>
          <a:p>
            <a:pPr algn="l">
              <a:lnSpc>
                <a:spcPts val="1820"/>
              </a:lnSpc>
              <a:spcBef>
                <a:spcPts val="0"/>
              </a:spcBef>
              <a:buNone/>
            </a:pPr>
            <a:r>
              <a:rPr lang="en-US" sz="1300" b="true">
                <a:solidFill>
                  <a:srgbClr val="111111"/>
                </a:solidFill>
                <a:latin typeface="Nunito Semi-Bold"/>
                <a:ea typeface="Nunito Semi-Bold"/>
                <a:cs typeface="Nunito Semi-Bold"/>
                <a:sym typeface="Nunito Semi-Bold"/>
              </a:rPr>
              <a:t>Ribeiro, M. T., Singh, S. &amp; Guestrin, C. "Why Should I Trust You?": Explaining the Predictions of Any Classifier (LIME). KDD, 1135–1144 (2016).</a:t>
            </a:r>
          </a:p>
        </p:txBody>
      </p:sp>
      <p:sp>
        <p:nvSpPr>
          <p:cNvPr id="42" name="Rounded Rectangle 41"/>
          <p:cNvSpPr/>
          <p:nvPr/>
        </p:nvSpPr>
        <p:spPr>
          <a:xfrm>
            <a:off x="1028700" y="6130417"/>
            <a:ext cx="16230600" cy="433124"/>
          </a:xfrm>
          <a:prstGeom prst="roundRect">
            <a:avLst>
              <a:gd name="adj" fmla="val 21111"/>
            </a:avLst>
          </a:prstGeom>
          <a:solidFill>
            <a:srgbClr val="FBF4EB"/>
          </a:solidFill>
          <a:ln>
            <a:noFill/>
          </a:ln>
        </p:spPr>
        <p:txBody>
          <a:bodyPr anchor="ctr" rtlCol="false" lIns="0" tIns="0" rIns="0" bIns="0" wrap="square"/>
          <a:lstStyle/>
          <a:p>
            <a:endParaRPr lang="en-US" sz="1800"/>
          </a:p>
        </p:txBody>
      </p:sp>
      <p:sp>
        <p:nvSpPr>
          <p:cNvPr id="43" name="Rounded Rectangle 42"/>
          <p:cNvSpPr/>
          <p:nvPr/>
        </p:nvSpPr>
        <p:spPr>
          <a:xfrm>
            <a:off x="1138428" y="6185281"/>
            <a:ext cx="640080" cy="323396"/>
          </a:xfrm>
          <a:prstGeom prst="roundRect">
            <a:avLst>
              <a:gd name="adj" fmla="val 22619"/>
            </a:avLst>
          </a:prstGeom>
          <a:solidFill>
            <a:srgbClr val="1F7A8C"/>
          </a:solidFill>
          <a:ln>
            <a:noFill/>
          </a:ln>
        </p:spPr>
        <p:txBody>
          <a:bodyPr anchor="ctr" rtlCol="false" lIns="91440" tIns="45720" rIns="91440" bIns="45720" wrap="square"/>
          <a:lstStyle/>
          <a:p>
            <a:pPr algn="ctr">
              <a:lnSpc>
                <a:spcPts val="1380"/>
              </a:lnSpc>
              <a:spcBef>
                <a:spcPts val="0"/>
              </a:spcBef>
              <a:buNone/>
            </a:pPr>
            <a:r>
              <a:rPr lang="en-US" sz="1200" b="true">
                <a:solidFill>
                  <a:srgbClr val="FFFFFF"/>
                </a:solidFill>
                <a:latin typeface="Nunito Bold"/>
                <a:ea typeface="Nunito Bold"/>
                <a:cs typeface="Nunito Bold"/>
                <a:sym typeface="Nunito Bold"/>
              </a:rPr>
              <a:t>[8]</a:t>
            </a:r>
          </a:p>
        </p:txBody>
      </p:sp>
      <p:sp>
        <p:nvSpPr>
          <p:cNvPr id="44" name="TextBox 43"/>
          <p:cNvSpPr txBox="1"/>
          <p:nvPr/>
        </p:nvSpPr>
        <p:spPr>
          <a:xfrm>
            <a:off x="1943100" y="6130417"/>
            <a:ext cx="15179040" cy="433124"/>
          </a:xfrm>
          <a:prstGeom prst="rect">
            <a:avLst/>
          </a:prstGeom>
          <a:noFill/>
        </p:spPr>
        <p:txBody>
          <a:bodyPr anchor="ctr" rtlCol="false" lIns="0" tIns="0" rIns="0" bIns="0" wrap="square"/>
          <a:lstStyle/>
          <a:p>
            <a:pPr algn="l">
              <a:lnSpc>
                <a:spcPts val="1820"/>
              </a:lnSpc>
              <a:spcBef>
                <a:spcPts val="0"/>
              </a:spcBef>
              <a:buNone/>
            </a:pPr>
            <a:r>
              <a:rPr lang="en-US" sz="1300" b="true">
                <a:solidFill>
                  <a:srgbClr val="111111"/>
                </a:solidFill>
                <a:latin typeface="Nunito Semi-Bold"/>
                <a:ea typeface="Nunito Semi-Bold"/>
                <a:cs typeface="Nunito Semi-Bold"/>
                <a:sym typeface="Nunito Semi-Bold"/>
              </a:rPr>
              <a:t>Castro, J., Gómez, D. &amp; Tejada, J. Polynomial Calculation of the Shapley Value Based on Sampling. Computers &amp; Operations Research 36(5), 1726–1730 (2009).</a:t>
            </a:r>
          </a:p>
        </p:txBody>
      </p:sp>
      <p:sp>
        <p:nvSpPr>
          <p:cNvPr id="45" name="Rounded Rectangle 44"/>
          <p:cNvSpPr/>
          <p:nvPr/>
        </p:nvSpPr>
        <p:spPr>
          <a:xfrm>
            <a:off x="1028700" y="6618405"/>
            <a:ext cx="16230600" cy="433124"/>
          </a:xfrm>
          <a:prstGeom prst="roundRect">
            <a:avLst>
              <a:gd name="adj" fmla="val 21111"/>
            </a:avLst>
          </a:prstGeom>
          <a:solidFill>
            <a:srgbClr val="F6ECDF"/>
          </a:solidFill>
          <a:ln>
            <a:noFill/>
          </a:ln>
        </p:spPr>
        <p:txBody>
          <a:bodyPr anchor="ctr" rtlCol="false" lIns="0" tIns="0" rIns="0" bIns="0" wrap="square"/>
          <a:lstStyle/>
          <a:p>
            <a:endParaRPr lang="en-US" sz="1800"/>
          </a:p>
        </p:txBody>
      </p:sp>
      <p:sp>
        <p:nvSpPr>
          <p:cNvPr id="46" name="Rounded Rectangle 45"/>
          <p:cNvSpPr/>
          <p:nvPr/>
        </p:nvSpPr>
        <p:spPr>
          <a:xfrm>
            <a:off x="1138428" y="6673269"/>
            <a:ext cx="640080" cy="323396"/>
          </a:xfrm>
          <a:prstGeom prst="roundRect">
            <a:avLst>
              <a:gd name="adj" fmla="val 22619"/>
            </a:avLst>
          </a:prstGeom>
          <a:solidFill>
            <a:srgbClr val="1F7A8C"/>
          </a:solidFill>
          <a:ln>
            <a:noFill/>
          </a:ln>
        </p:spPr>
        <p:txBody>
          <a:bodyPr anchor="ctr" rtlCol="false" lIns="91440" tIns="45720" rIns="91440" bIns="45720" wrap="square"/>
          <a:lstStyle/>
          <a:p>
            <a:pPr algn="ctr">
              <a:lnSpc>
                <a:spcPts val="1380"/>
              </a:lnSpc>
              <a:spcBef>
                <a:spcPts val="0"/>
              </a:spcBef>
              <a:buNone/>
            </a:pPr>
            <a:r>
              <a:rPr lang="en-US" sz="1200" b="true">
                <a:solidFill>
                  <a:srgbClr val="FFFFFF"/>
                </a:solidFill>
                <a:latin typeface="Nunito Bold"/>
                <a:ea typeface="Nunito Bold"/>
                <a:cs typeface="Nunito Bold"/>
                <a:sym typeface="Nunito Bold"/>
              </a:rPr>
              <a:t>[9]</a:t>
            </a:r>
          </a:p>
        </p:txBody>
      </p:sp>
      <p:sp>
        <p:nvSpPr>
          <p:cNvPr id="47" name="TextBox 46"/>
          <p:cNvSpPr txBox="1"/>
          <p:nvPr/>
        </p:nvSpPr>
        <p:spPr>
          <a:xfrm>
            <a:off x="1943100" y="6618405"/>
            <a:ext cx="15179040" cy="433124"/>
          </a:xfrm>
          <a:prstGeom prst="rect">
            <a:avLst/>
          </a:prstGeom>
          <a:noFill/>
        </p:spPr>
        <p:txBody>
          <a:bodyPr anchor="ctr" rtlCol="false" lIns="0" tIns="0" rIns="0" bIns="0" wrap="square"/>
          <a:lstStyle/>
          <a:p>
            <a:pPr algn="l">
              <a:lnSpc>
                <a:spcPts val="1820"/>
              </a:lnSpc>
              <a:spcBef>
                <a:spcPts val="0"/>
              </a:spcBef>
              <a:buNone/>
            </a:pPr>
            <a:r>
              <a:rPr lang="en-US" sz="1300" b="true">
                <a:solidFill>
                  <a:srgbClr val="111111"/>
                </a:solidFill>
                <a:latin typeface="Nunito Semi-Bold"/>
                <a:ea typeface="Nunito Semi-Bold"/>
                <a:cs typeface="Nunito Semi-Bold"/>
                <a:sym typeface="Nunito Semi-Bold"/>
              </a:rPr>
              <a:t>Štrumbelj, E. &amp; Kononenko, I. An Efficient Explanation of Individual Classifications Using Game Theory. JMLR 11, 1–18 (2010).</a:t>
            </a:r>
          </a:p>
        </p:txBody>
      </p:sp>
      <p:sp>
        <p:nvSpPr>
          <p:cNvPr id="48" name="Rounded Rectangle 47"/>
          <p:cNvSpPr/>
          <p:nvPr/>
        </p:nvSpPr>
        <p:spPr>
          <a:xfrm>
            <a:off x="1028700" y="7106393"/>
            <a:ext cx="16230600" cy="433124"/>
          </a:xfrm>
          <a:prstGeom prst="roundRect">
            <a:avLst>
              <a:gd name="adj" fmla="val 21111"/>
            </a:avLst>
          </a:prstGeom>
          <a:solidFill>
            <a:srgbClr val="FBF4EB"/>
          </a:solidFill>
          <a:ln>
            <a:noFill/>
          </a:ln>
        </p:spPr>
        <p:txBody>
          <a:bodyPr anchor="ctr" rtlCol="false" lIns="0" tIns="0" rIns="0" bIns="0" wrap="square"/>
          <a:lstStyle/>
          <a:p>
            <a:endParaRPr lang="en-US" sz="1800"/>
          </a:p>
        </p:txBody>
      </p:sp>
      <p:sp>
        <p:nvSpPr>
          <p:cNvPr id="49" name="Rounded Rectangle 48"/>
          <p:cNvSpPr/>
          <p:nvPr/>
        </p:nvSpPr>
        <p:spPr>
          <a:xfrm>
            <a:off x="1138428" y="7161257"/>
            <a:ext cx="640080" cy="323396"/>
          </a:xfrm>
          <a:prstGeom prst="roundRect">
            <a:avLst>
              <a:gd name="adj" fmla="val 22619"/>
            </a:avLst>
          </a:prstGeom>
          <a:solidFill>
            <a:srgbClr val="1F7A8C"/>
          </a:solidFill>
          <a:ln>
            <a:noFill/>
          </a:ln>
        </p:spPr>
        <p:txBody>
          <a:bodyPr anchor="ctr" rtlCol="false" lIns="91440" tIns="45720" rIns="91440" bIns="45720" wrap="square"/>
          <a:lstStyle/>
          <a:p>
            <a:pPr algn="ctr">
              <a:lnSpc>
                <a:spcPts val="1380"/>
              </a:lnSpc>
              <a:spcBef>
                <a:spcPts val="0"/>
              </a:spcBef>
              <a:buNone/>
            </a:pPr>
            <a:r>
              <a:rPr lang="en-US" sz="1200" b="true">
                <a:solidFill>
                  <a:srgbClr val="FFFFFF"/>
                </a:solidFill>
                <a:latin typeface="Nunito Bold"/>
                <a:ea typeface="Nunito Bold"/>
                <a:cs typeface="Nunito Bold"/>
                <a:sym typeface="Nunito Bold"/>
              </a:rPr>
              <a:t>[10]</a:t>
            </a:r>
          </a:p>
        </p:txBody>
      </p:sp>
      <p:sp>
        <p:nvSpPr>
          <p:cNvPr id="50" name="TextBox 49"/>
          <p:cNvSpPr txBox="1"/>
          <p:nvPr/>
        </p:nvSpPr>
        <p:spPr>
          <a:xfrm>
            <a:off x="1943100" y="7106393"/>
            <a:ext cx="15179040" cy="433124"/>
          </a:xfrm>
          <a:prstGeom prst="rect">
            <a:avLst/>
          </a:prstGeom>
          <a:noFill/>
        </p:spPr>
        <p:txBody>
          <a:bodyPr anchor="ctr" rtlCol="false" lIns="0" tIns="0" rIns="0" bIns="0" wrap="square"/>
          <a:lstStyle/>
          <a:p>
            <a:pPr algn="l">
              <a:lnSpc>
                <a:spcPts val="1820"/>
              </a:lnSpc>
              <a:spcBef>
                <a:spcPts val="0"/>
              </a:spcBef>
              <a:buNone/>
            </a:pPr>
            <a:r>
              <a:rPr lang="en-US" sz="1300" b="true">
                <a:solidFill>
                  <a:srgbClr val="111111"/>
                </a:solidFill>
                <a:latin typeface="Nunito Semi-Bold"/>
                <a:ea typeface="Nunito Semi-Bold"/>
                <a:cs typeface="Nunito Semi-Bold"/>
                <a:sym typeface="Nunito Semi-Bold"/>
              </a:rPr>
              <a:t>Koren, Y., Bell, R. &amp; Volinsky, C. Matrix Factorization Techniques for Recommender Systems. Computer 42(8), 30–37 (2009).</a:t>
            </a:r>
          </a:p>
        </p:txBody>
      </p:sp>
      <p:sp>
        <p:nvSpPr>
          <p:cNvPr id="51" name="Rounded Rectangle 50"/>
          <p:cNvSpPr/>
          <p:nvPr/>
        </p:nvSpPr>
        <p:spPr>
          <a:xfrm>
            <a:off x="1028700" y="7594382"/>
            <a:ext cx="16230600" cy="433124"/>
          </a:xfrm>
          <a:prstGeom prst="roundRect">
            <a:avLst>
              <a:gd name="adj" fmla="val 21111"/>
            </a:avLst>
          </a:prstGeom>
          <a:solidFill>
            <a:srgbClr val="F6ECDF"/>
          </a:solidFill>
          <a:ln>
            <a:noFill/>
          </a:ln>
        </p:spPr>
        <p:txBody>
          <a:bodyPr anchor="ctr" rtlCol="false" lIns="0" tIns="0" rIns="0" bIns="0" wrap="square"/>
          <a:lstStyle/>
          <a:p>
            <a:endParaRPr lang="en-US" sz="1800"/>
          </a:p>
        </p:txBody>
      </p:sp>
      <p:sp>
        <p:nvSpPr>
          <p:cNvPr id="52" name="Rounded Rectangle 51"/>
          <p:cNvSpPr/>
          <p:nvPr/>
        </p:nvSpPr>
        <p:spPr>
          <a:xfrm>
            <a:off x="1138428" y="7649246"/>
            <a:ext cx="640080" cy="323396"/>
          </a:xfrm>
          <a:prstGeom prst="roundRect">
            <a:avLst>
              <a:gd name="adj" fmla="val 22619"/>
            </a:avLst>
          </a:prstGeom>
          <a:solidFill>
            <a:srgbClr val="1F7A8C"/>
          </a:solidFill>
          <a:ln>
            <a:noFill/>
          </a:ln>
        </p:spPr>
        <p:txBody>
          <a:bodyPr anchor="ctr" rtlCol="false" lIns="91440" tIns="45720" rIns="91440" bIns="45720" wrap="square"/>
          <a:lstStyle/>
          <a:p>
            <a:pPr algn="ctr">
              <a:lnSpc>
                <a:spcPts val="1380"/>
              </a:lnSpc>
              <a:spcBef>
                <a:spcPts val="0"/>
              </a:spcBef>
              <a:buNone/>
            </a:pPr>
            <a:r>
              <a:rPr lang="en-US" sz="1200" b="true">
                <a:solidFill>
                  <a:srgbClr val="FFFFFF"/>
                </a:solidFill>
                <a:latin typeface="Nunito Bold"/>
                <a:ea typeface="Nunito Bold"/>
                <a:cs typeface="Nunito Bold"/>
                <a:sym typeface="Nunito Bold"/>
              </a:rPr>
              <a:t>[11]</a:t>
            </a:r>
          </a:p>
        </p:txBody>
      </p:sp>
      <p:sp>
        <p:nvSpPr>
          <p:cNvPr id="53" name="TextBox 52"/>
          <p:cNvSpPr txBox="1"/>
          <p:nvPr/>
        </p:nvSpPr>
        <p:spPr>
          <a:xfrm>
            <a:off x="1943100" y="7594382"/>
            <a:ext cx="15179040" cy="433124"/>
          </a:xfrm>
          <a:prstGeom prst="rect">
            <a:avLst/>
          </a:prstGeom>
          <a:noFill/>
        </p:spPr>
        <p:txBody>
          <a:bodyPr anchor="ctr" rtlCol="false" lIns="0" tIns="0" rIns="0" bIns="0" wrap="square"/>
          <a:lstStyle/>
          <a:p>
            <a:pPr algn="l">
              <a:lnSpc>
                <a:spcPts val="1820"/>
              </a:lnSpc>
              <a:spcBef>
                <a:spcPts val="0"/>
              </a:spcBef>
              <a:buNone/>
            </a:pPr>
            <a:r>
              <a:rPr lang="en-US" sz="1300" b="true">
                <a:solidFill>
                  <a:srgbClr val="111111"/>
                </a:solidFill>
                <a:latin typeface="Nunito Semi-Bold"/>
                <a:ea typeface="Nunito Semi-Bold"/>
                <a:cs typeface="Nunito Semi-Bold"/>
                <a:sym typeface="Nunito Semi-Bold"/>
              </a:rPr>
              <a:t>He, X. et al. Neural Collaborative Filtering. WWW, 173–182 (2017).</a:t>
            </a:r>
          </a:p>
        </p:txBody>
      </p:sp>
      <p:sp>
        <p:nvSpPr>
          <p:cNvPr id="54" name="Rounded Rectangle 53"/>
          <p:cNvSpPr/>
          <p:nvPr/>
        </p:nvSpPr>
        <p:spPr>
          <a:xfrm>
            <a:off x="1028700" y="8082370"/>
            <a:ext cx="16230600" cy="433124"/>
          </a:xfrm>
          <a:prstGeom prst="roundRect">
            <a:avLst>
              <a:gd name="adj" fmla="val 21111"/>
            </a:avLst>
          </a:prstGeom>
          <a:solidFill>
            <a:srgbClr val="FBF4EB"/>
          </a:solidFill>
          <a:ln>
            <a:noFill/>
          </a:ln>
        </p:spPr>
        <p:txBody>
          <a:bodyPr anchor="ctr" rtlCol="false" lIns="0" tIns="0" rIns="0" bIns="0" wrap="square"/>
          <a:lstStyle/>
          <a:p>
            <a:endParaRPr lang="en-US" sz="1800"/>
          </a:p>
        </p:txBody>
      </p:sp>
      <p:sp>
        <p:nvSpPr>
          <p:cNvPr id="55" name="Rounded Rectangle 54"/>
          <p:cNvSpPr/>
          <p:nvPr/>
        </p:nvSpPr>
        <p:spPr>
          <a:xfrm>
            <a:off x="1138428" y="8137234"/>
            <a:ext cx="640080" cy="323396"/>
          </a:xfrm>
          <a:prstGeom prst="roundRect">
            <a:avLst>
              <a:gd name="adj" fmla="val 22619"/>
            </a:avLst>
          </a:prstGeom>
          <a:solidFill>
            <a:srgbClr val="1F7A8C"/>
          </a:solidFill>
          <a:ln>
            <a:noFill/>
          </a:ln>
        </p:spPr>
        <p:txBody>
          <a:bodyPr anchor="ctr" rtlCol="false" lIns="91440" tIns="45720" rIns="91440" bIns="45720" wrap="square"/>
          <a:lstStyle/>
          <a:p>
            <a:pPr algn="ctr">
              <a:lnSpc>
                <a:spcPts val="1380"/>
              </a:lnSpc>
              <a:spcBef>
                <a:spcPts val="0"/>
              </a:spcBef>
              <a:buNone/>
            </a:pPr>
            <a:r>
              <a:rPr lang="en-US" sz="1200" b="true">
                <a:solidFill>
                  <a:srgbClr val="FFFFFF"/>
                </a:solidFill>
                <a:latin typeface="Nunito Bold"/>
                <a:ea typeface="Nunito Bold"/>
                <a:cs typeface="Nunito Bold"/>
                <a:sym typeface="Nunito Bold"/>
              </a:rPr>
              <a:t>[12]</a:t>
            </a:r>
          </a:p>
        </p:txBody>
      </p:sp>
      <p:sp>
        <p:nvSpPr>
          <p:cNvPr id="56" name="TextBox 55"/>
          <p:cNvSpPr txBox="1"/>
          <p:nvPr/>
        </p:nvSpPr>
        <p:spPr>
          <a:xfrm>
            <a:off x="1943100" y="8082370"/>
            <a:ext cx="15179040" cy="433124"/>
          </a:xfrm>
          <a:prstGeom prst="rect">
            <a:avLst/>
          </a:prstGeom>
          <a:noFill/>
        </p:spPr>
        <p:txBody>
          <a:bodyPr anchor="ctr" rtlCol="false" lIns="0" tIns="0" rIns="0" bIns="0" wrap="square"/>
          <a:lstStyle/>
          <a:p>
            <a:pPr algn="l">
              <a:lnSpc>
                <a:spcPts val="1820"/>
              </a:lnSpc>
              <a:spcBef>
                <a:spcPts val="0"/>
              </a:spcBef>
              <a:buNone/>
            </a:pPr>
            <a:r>
              <a:rPr lang="en-US" sz="1300" b="true">
                <a:solidFill>
                  <a:srgbClr val="111111"/>
                </a:solidFill>
                <a:latin typeface="Nunito Semi-Bold"/>
                <a:ea typeface="Nunito Semi-Bold"/>
                <a:cs typeface="Nunito Semi-Bold"/>
                <a:sym typeface="Nunito Semi-Bold"/>
              </a:rPr>
              <a:t>He, X. et al. LightGCN: Simplifying and Powering Graph Convolution Network for Recommendation. SIGIR, 639–648 (2020).</a:t>
            </a:r>
          </a:p>
        </p:txBody>
      </p:sp>
      <p:sp>
        <p:nvSpPr>
          <p:cNvPr id="57" name="Rounded Rectangle 56"/>
          <p:cNvSpPr/>
          <p:nvPr/>
        </p:nvSpPr>
        <p:spPr>
          <a:xfrm>
            <a:off x="1028700" y="8570359"/>
            <a:ext cx="16230600" cy="433124"/>
          </a:xfrm>
          <a:prstGeom prst="roundRect">
            <a:avLst>
              <a:gd name="adj" fmla="val 21111"/>
            </a:avLst>
          </a:prstGeom>
          <a:solidFill>
            <a:srgbClr val="F6ECDF"/>
          </a:solidFill>
          <a:ln>
            <a:noFill/>
          </a:ln>
        </p:spPr>
        <p:txBody>
          <a:bodyPr anchor="ctr" rtlCol="false" lIns="0" tIns="0" rIns="0" bIns="0" wrap="square"/>
          <a:lstStyle/>
          <a:p>
            <a:endParaRPr lang="en-US" sz="1800"/>
          </a:p>
        </p:txBody>
      </p:sp>
      <p:sp>
        <p:nvSpPr>
          <p:cNvPr id="58" name="Rounded Rectangle 57"/>
          <p:cNvSpPr/>
          <p:nvPr/>
        </p:nvSpPr>
        <p:spPr>
          <a:xfrm>
            <a:off x="1138428" y="8625223"/>
            <a:ext cx="640080" cy="323396"/>
          </a:xfrm>
          <a:prstGeom prst="roundRect">
            <a:avLst>
              <a:gd name="adj" fmla="val 22619"/>
            </a:avLst>
          </a:prstGeom>
          <a:solidFill>
            <a:srgbClr val="1F7A8C"/>
          </a:solidFill>
          <a:ln>
            <a:noFill/>
          </a:ln>
        </p:spPr>
        <p:txBody>
          <a:bodyPr anchor="ctr" rtlCol="false" lIns="91440" tIns="45720" rIns="91440" bIns="45720" wrap="square"/>
          <a:lstStyle/>
          <a:p>
            <a:pPr algn="ctr">
              <a:lnSpc>
                <a:spcPts val="1380"/>
              </a:lnSpc>
              <a:spcBef>
                <a:spcPts val="0"/>
              </a:spcBef>
              <a:buNone/>
            </a:pPr>
            <a:r>
              <a:rPr lang="en-US" sz="1200" b="true">
                <a:solidFill>
                  <a:srgbClr val="FFFFFF"/>
                </a:solidFill>
                <a:latin typeface="Nunito Bold"/>
                <a:ea typeface="Nunito Bold"/>
                <a:cs typeface="Nunito Bold"/>
                <a:sym typeface="Nunito Bold"/>
              </a:rPr>
              <a:t>[13]</a:t>
            </a:r>
          </a:p>
        </p:txBody>
      </p:sp>
      <p:sp>
        <p:nvSpPr>
          <p:cNvPr id="59" name="TextBox 58"/>
          <p:cNvSpPr txBox="1"/>
          <p:nvPr/>
        </p:nvSpPr>
        <p:spPr>
          <a:xfrm>
            <a:off x="1943100" y="8570359"/>
            <a:ext cx="15179040" cy="433124"/>
          </a:xfrm>
          <a:prstGeom prst="rect">
            <a:avLst/>
          </a:prstGeom>
          <a:noFill/>
        </p:spPr>
        <p:txBody>
          <a:bodyPr anchor="ctr" rtlCol="false" lIns="0" tIns="0" rIns="0" bIns="0" wrap="square"/>
          <a:lstStyle/>
          <a:p>
            <a:pPr algn="l">
              <a:lnSpc>
                <a:spcPts val="1820"/>
              </a:lnSpc>
              <a:spcBef>
                <a:spcPts val="0"/>
              </a:spcBef>
              <a:buNone/>
            </a:pPr>
            <a:r>
              <a:rPr lang="en-US" sz="1300" b="true">
                <a:solidFill>
                  <a:srgbClr val="111111"/>
                </a:solidFill>
                <a:latin typeface="Nunito Semi-Bold"/>
                <a:ea typeface="Nunito Semi-Bold"/>
                <a:cs typeface="Nunito Semi-Bold"/>
                <a:sym typeface="Nunito Semi-Bold"/>
              </a:rPr>
              <a:t>Xia, L. et al. Hypergraph Contrastive Collaborative Filtering (HCCF). SIGIR, 70–79 (2022).</a:t>
            </a:r>
          </a:p>
        </p:txBody>
      </p:sp>
      <p:sp>
        <p:nvSpPr>
          <p:cNvPr id="60" name="Rounded Rectangle 59"/>
          <p:cNvSpPr/>
          <p:nvPr/>
        </p:nvSpPr>
        <p:spPr>
          <a:xfrm>
            <a:off x="1028700" y="9058347"/>
            <a:ext cx="16230600" cy="433124"/>
          </a:xfrm>
          <a:prstGeom prst="roundRect">
            <a:avLst>
              <a:gd name="adj" fmla="val 21111"/>
            </a:avLst>
          </a:prstGeom>
          <a:solidFill>
            <a:srgbClr val="FBF4EB"/>
          </a:solidFill>
          <a:ln>
            <a:noFill/>
          </a:ln>
        </p:spPr>
        <p:txBody>
          <a:bodyPr anchor="ctr" rtlCol="false" lIns="0" tIns="0" rIns="0" bIns="0" wrap="square"/>
          <a:lstStyle/>
          <a:p>
            <a:endParaRPr lang="en-US" sz="1800"/>
          </a:p>
        </p:txBody>
      </p:sp>
      <p:sp>
        <p:nvSpPr>
          <p:cNvPr id="61" name="Rounded Rectangle 60"/>
          <p:cNvSpPr/>
          <p:nvPr/>
        </p:nvSpPr>
        <p:spPr>
          <a:xfrm>
            <a:off x="1138428" y="9113211"/>
            <a:ext cx="640080" cy="323396"/>
          </a:xfrm>
          <a:prstGeom prst="roundRect">
            <a:avLst>
              <a:gd name="adj" fmla="val 22619"/>
            </a:avLst>
          </a:prstGeom>
          <a:solidFill>
            <a:srgbClr val="1F7A8C"/>
          </a:solidFill>
          <a:ln>
            <a:noFill/>
          </a:ln>
        </p:spPr>
        <p:txBody>
          <a:bodyPr anchor="ctr" rtlCol="false" lIns="91440" tIns="45720" rIns="91440" bIns="45720" wrap="square"/>
          <a:lstStyle/>
          <a:p>
            <a:pPr algn="ctr">
              <a:lnSpc>
                <a:spcPts val="1380"/>
              </a:lnSpc>
              <a:spcBef>
                <a:spcPts val="0"/>
              </a:spcBef>
              <a:buNone/>
            </a:pPr>
            <a:r>
              <a:rPr lang="en-US" sz="1200" b="true">
                <a:solidFill>
                  <a:srgbClr val="FFFFFF"/>
                </a:solidFill>
                <a:latin typeface="Nunito Bold"/>
                <a:ea typeface="Nunito Bold"/>
                <a:cs typeface="Nunito Bold"/>
                <a:sym typeface="Nunito Bold"/>
              </a:rPr>
              <a:t>[14]</a:t>
            </a:r>
          </a:p>
        </p:txBody>
      </p:sp>
      <p:sp>
        <p:nvSpPr>
          <p:cNvPr id="62" name="TextBox 61"/>
          <p:cNvSpPr txBox="1"/>
          <p:nvPr/>
        </p:nvSpPr>
        <p:spPr>
          <a:xfrm>
            <a:off x="1943100" y="9058347"/>
            <a:ext cx="15179040" cy="433124"/>
          </a:xfrm>
          <a:prstGeom prst="rect">
            <a:avLst/>
          </a:prstGeom>
          <a:noFill/>
        </p:spPr>
        <p:txBody>
          <a:bodyPr anchor="ctr" rtlCol="false" lIns="0" tIns="0" rIns="0" bIns="0" wrap="square"/>
          <a:lstStyle/>
          <a:p>
            <a:pPr algn="l">
              <a:lnSpc>
                <a:spcPts val="1820"/>
              </a:lnSpc>
              <a:spcBef>
                <a:spcPts val="0"/>
              </a:spcBef>
              <a:buNone/>
            </a:pPr>
            <a:r>
              <a:rPr lang="en-US" sz="1300" b="true">
                <a:solidFill>
                  <a:srgbClr val="111111"/>
                </a:solidFill>
                <a:latin typeface="Nunito Semi-Bold"/>
                <a:ea typeface="Nunito Semi-Bold"/>
                <a:cs typeface="Nunito Semi-Bold"/>
                <a:sym typeface="Nunito Semi-Bold"/>
              </a:rPr>
              <a:t>Xiangyi, Y. et al. Hypergraph Projection Enhanced Collaborative Filtering (HPCF). Int. J. Data Science and Analytics 19(2), 269–281 (2025).</a:t>
            </a:r>
          </a:p>
        </p:txBody>
      </p:sp>
    </p:spTree>
  </p:cSld>
  <p:clrMapOvr>
    <a:masterClrMapping/>
  </p:clrMapOvr>
</p:sld>
</file>

<file path=ppt/slides/slide8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pic>
        <p:nvPicPr>
          <p:cNvPr id="2" name="Picture 1" descr="ensias_logo.jpg"/>
          <p:cNvPicPr>
            <a:picLocks noChangeAspect="1"/>
          </p:cNvPicPr>
          <p:nvPr/>
        </p:nvPicPr>
        <p:blipFill>
          <a:blip r:embed="rId2"/>
          <a:stretch>
            <a:fillRect/>
          </a:stretch>
        </p:blipFill>
        <p:spPr>
          <a:xfrm>
            <a:off x="1028700" y="9674352"/>
            <a:ext cx="542964" cy="384048"/>
          </a:xfrm>
          <a:prstGeom prst="rect">
            <a:avLst/>
          </a:prstGeom>
        </p:spPr>
      </p:pic>
      <p:sp>
        <p:nvSpPr>
          <p:cNvPr id="3" name="TextBox 2"/>
          <p:cNvSpPr txBox="1"/>
          <p:nvPr/>
        </p:nvSpPr>
        <p:spPr>
          <a:xfrm>
            <a:off x="1577340" y="9747504"/>
            <a:ext cx="12801600" cy="274320"/>
          </a:xfrm>
          <a:prstGeom prst="rect">
            <a:avLst/>
          </a:prstGeom>
          <a:noFill/>
        </p:spPr>
        <p:txBody>
          <a:bodyPr anchor="t" rtlCol="false" lIns="0" tIns="0" rIns="0" bIns="0" wrap="square"/>
          <a:lstStyle/>
          <a:p>
            <a:pPr algn="l">
              <a:lnSpc>
                <a:spcPts val="1600"/>
              </a:lnSpc>
              <a:spcBef>
                <a:spcPts val="0"/>
              </a:spcBef>
              <a:buNone/>
            </a:pPr>
            <a:r>
              <a:rPr lang="en-US" sz="1300" b="true">
                <a:solidFill>
                  <a:srgbClr val="8A8378"/>
                </a:solidFill>
                <a:latin typeface="Nunito Bold"/>
                <a:ea typeface="Nunito Bold"/>
                <a:cs typeface="Nunito Bold"/>
                <a:sym typeface="Nunito Bold"/>
              </a:rPr>
              <a:t>Cooperative Game Theory for Explainable AI in Recommendation Systems  ·  A Shapley Framework for Actionable Insight</a:t>
            </a:r>
          </a:p>
        </p:txBody>
      </p:sp>
      <p:sp>
        <p:nvSpPr>
          <p:cNvPr id="4" name="TextBox 3"/>
          <p:cNvSpPr txBox="1"/>
          <p:nvPr/>
        </p:nvSpPr>
        <p:spPr>
          <a:xfrm>
            <a:off x="16162020" y="9692640"/>
            <a:ext cx="1097280" cy="329184"/>
          </a:xfrm>
          <a:prstGeom prst="rect">
            <a:avLst/>
          </a:prstGeom>
          <a:noFill/>
        </p:spPr>
        <p:txBody>
          <a:bodyPr anchor="t" rtlCol="false" lIns="0" tIns="0" rIns="0" bIns="0" wrap="square"/>
          <a:lstStyle/>
          <a:p>
            <a:pPr algn="r">
              <a:lnSpc>
                <a:spcPts val="2200"/>
              </a:lnSpc>
              <a:spcBef>
                <a:spcPts val="0"/>
              </a:spcBef>
              <a:buNone/>
            </a:pPr>
            <a:r>
              <a:rPr lang="en-US" sz="1800" b="true">
                <a:solidFill>
                  <a:srgbClr val="111111"/>
                </a:solidFill>
                <a:latin typeface="Nunito Ultra-Bold"/>
                <a:ea typeface="Nunito Ultra-Bold"/>
                <a:cs typeface="Nunito Ultra-Bold"/>
                <a:sym typeface="Nunito Ultra-Bold"/>
              </a:rPr>
              <a:t>74</a:t>
            </a:r>
          </a:p>
        </p:txBody>
      </p:sp>
      <p:sp>
        <p:nvSpPr>
          <p:cNvPr id="5" name="TextBox 4"/>
          <p:cNvSpPr txBox="1"/>
          <p:nvPr/>
        </p:nvSpPr>
        <p:spPr>
          <a:xfrm>
            <a:off x="1028700" y="1389888"/>
            <a:ext cx="12938760" cy="329184"/>
          </a:xfrm>
          <a:prstGeom prst="rect">
            <a:avLst/>
          </a:prstGeom>
          <a:noFill/>
        </p:spPr>
        <p:txBody>
          <a:bodyPr anchor="t" rtlCol="false" lIns="0" tIns="0" rIns="0" bIns="0" wrap="square"/>
          <a:lstStyle/>
          <a:p>
            <a:pPr algn="l">
              <a:lnSpc>
                <a:spcPts val="2000"/>
              </a:lnSpc>
              <a:spcBef>
                <a:spcPts val="0"/>
              </a:spcBef>
              <a:buNone/>
            </a:pPr>
            <a:r>
              <a:rPr lang="en-US" sz="1500" b="true" spc="160">
                <a:solidFill>
                  <a:srgbClr val="1F7A8C"/>
                </a:solidFill>
                <a:latin typeface="Nunito Ultra-Bold"/>
                <a:ea typeface="Nunito Ultra-Bold"/>
                <a:cs typeface="Nunito Ultra-Bold"/>
                <a:sym typeface="Nunito Ultra-Bold"/>
              </a:rPr>
              <a:t>CONCLUSION &amp; PERSPECTIVES</a:t>
            </a:r>
          </a:p>
        </p:txBody>
      </p:sp>
      <p:sp>
        <p:nvSpPr>
          <p:cNvPr id="6" name="Rounded Rectangle 5"/>
          <p:cNvSpPr/>
          <p:nvPr/>
        </p:nvSpPr>
        <p:spPr>
          <a:xfrm>
            <a:off x="14516100"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7" name="TextBox 6"/>
          <p:cNvSpPr txBox="1"/>
          <p:nvPr/>
        </p:nvSpPr>
        <p:spPr>
          <a:xfrm>
            <a:off x="14516100"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1</a:t>
            </a:r>
          </a:p>
        </p:txBody>
      </p:sp>
      <p:sp>
        <p:nvSpPr>
          <p:cNvPr id="8" name="Rounded Rectangle 7"/>
          <p:cNvSpPr/>
          <p:nvPr/>
        </p:nvSpPr>
        <p:spPr>
          <a:xfrm>
            <a:off x="14918436"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9" name="TextBox 8"/>
          <p:cNvSpPr txBox="1"/>
          <p:nvPr/>
        </p:nvSpPr>
        <p:spPr>
          <a:xfrm>
            <a:off x="14918436"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2</a:t>
            </a:r>
          </a:p>
        </p:txBody>
      </p:sp>
      <p:sp>
        <p:nvSpPr>
          <p:cNvPr id="10" name="Rounded Rectangle 9"/>
          <p:cNvSpPr/>
          <p:nvPr/>
        </p:nvSpPr>
        <p:spPr>
          <a:xfrm>
            <a:off x="15320772"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11" name="TextBox 10"/>
          <p:cNvSpPr txBox="1"/>
          <p:nvPr/>
        </p:nvSpPr>
        <p:spPr>
          <a:xfrm>
            <a:off x="15320772"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3</a:t>
            </a:r>
          </a:p>
        </p:txBody>
      </p:sp>
      <p:sp>
        <p:nvSpPr>
          <p:cNvPr id="12" name="Rounded Rectangle 11"/>
          <p:cNvSpPr/>
          <p:nvPr/>
        </p:nvSpPr>
        <p:spPr>
          <a:xfrm>
            <a:off x="15723108"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13" name="TextBox 12"/>
          <p:cNvSpPr txBox="1"/>
          <p:nvPr/>
        </p:nvSpPr>
        <p:spPr>
          <a:xfrm>
            <a:off x="15723108"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4</a:t>
            </a:r>
          </a:p>
        </p:txBody>
      </p:sp>
      <p:sp>
        <p:nvSpPr>
          <p:cNvPr id="14" name="Rounded Rectangle 13"/>
          <p:cNvSpPr/>
          <p:nvPr/>
        </p:nvSpPr>
        <p:spPr>
          <a:xfrm>
            <a:off x="16125444"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15" name="TextBox 14"/>
          <p:cNvSpPr txBox="1"/>
          <p:nvPr/>
        </p:nvSpPr>
        <p:spPr>
          <a:xfrm>
            <a:off x="16125444"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5</a:t>
            </a:r>
          </a:p>
        </p:txBody>
      </p:sp>
      <p:sp>
        <p:nvSpPr>
          <p:cNvPr id="16" name="Rounded Rectangle 15"/>
          <p:cNvSpPr/>
          <p:nvPr/>
        </p:nvSpPr>
        <p:spPr>
          <a:xfrm>
            <a:off x="16527780"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17" name="TextBox 16"/>
          <p:cNvSpPr txBox="1"/>
          <p:nvPr/>
        </p:nvSpPr>
        <p:spPr>
          <a:xfrm>
            <a:off x="16527780"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6</a:t>
            </a:r>
          </a:p>
        </p:txBody>
      </p:sp>
      <p:sp>
        <p:nvSpPr>
          <p:cNvPr id="18" name="Rounded Rectangle 17"/>
          <p:cNvSpPr/>
          <p:nvPr/>
        </p:nvSpPr>
        <p:spPr>
          <a:xfrm>
            <a:off x="16930116" y="1371600"/>
            <a:ext cx="329184" cy="329184"/>
          </a:xfrm>
          <a:prstGeom prst="roundRect">
            <a:avLst>
              <a:gd name="adj" fmla="val 16666"/>
            </a:avLst>
          </a:prstGeom>
          <a:solidFill>
            <a:srgbClr val="4472C4"/>
          </a:solidFill>
          <a:ln w="15875">
            <a:solidFill>
              <a:srgbClr val="4472C4"/>
            </a:solidFill>
          </a:ln>
        </p:spPr>
        <p:txBody>
          <a:bodyPr anchor="ctr" rtlCol="false" lIns="0" tIns="0" rIns="0" bIns="0" wrap="square"/>
          <a:lstStyle/>
          <a:p>
            <a:endParaRPr lang="en-US" sz="1800"/>
          </a:p>
        </p:txBody>
      </p:sp>
      <p:sp>
        <p:nvSpPr>
          <p:cNvPr id="19" name="TextBox 18"/>
          <p:cNvSpPr txBox="1"/>
          <p:nvPr/>
        </p:nvSpPr>
        <p:spPr>
          <a:xfrm>
            <a:off x="16930116"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FFFFFF"/>
                </a:solidFill>
                <a:latin typeface="Nunito Ultra-Bold"/>
                <a:ea typeface="Nunito Ultra-Bold"/>
                <a:cs typeface="Nunito Ultra-Bold"/>
                <a:sym typeface="Nunito Ultra-Bold"/>
              </a:rPr>
              <a:t>7</a:t>
            </a:r>
          </a:p>
        </p:txBody>
      </p:sp>
      <p:sp>
        <p:nvSpPr>
          <p:cNvPr id="20" name="TextBox 19"/>
          <p:cNvSpPr txBox="1"/>
          <p:nvPr/>
        </p:nvSpPr>
        <p:spPr>
          <a:xfrm>
            <a:off x="1028700" y="1719072"/>
            <a:ext cx="16230600" cy="730250"/>
          </a:xfrm>
          <a:prstGeom prst="rect">
            <a:avLst/>
          </a:prstGeom>
          <a:noFill/>
        </p:spPr>
        <p:txBody>
          <a:bodyPr anchor="t" rtlCol="false" lIns="0" tIns="0" rIns="0" bIns="0" wrap="square"/>
          <a:lstStyle/>
          <a:p>
            <a:pPr algn="l">
              <a:lnSpc>
                <a:spcPts val="5060"/>
              </a:lnSpc>
              <a:spcBef>
                <a:spcPts val="0"/>
              </a:spcBef>
              <a:buNone/>
            </a:pPr>
            <a:r>
              <a:rPr lang="en-US" sz="4600" b="true" spc="-230">
                <a:solidFill>
                  <a:srgbClr val="111111"/>
                </a:solidFill>
                <a:latin typeface="Roca Two Bold"/>
                <a:ea typeface="Roca Two Bold"/>
                <a:cs typeface="Roca Two Bold"/>
                <a:sym typeface="Roca Two Bold"/>
              </a:rPr>
              <a:t>References (2 / 2)</a:t>
            </a:r>
          </a:p>
        </p:txBody>
      </p:sp>
      <p:sp>
        <p:nvSpPr>
          <p:cNvPr id="21" name="Rounded Rectangle 20"/>
          <p:cNvSpPr/>
          <p:nvPr/>
        </p:nvSpPr>
        <p:spPr>
          <a:xfrm>
            <a:off x="1028700" y="2714498"/>
            <a:ext cx="16230600" cy="433124"/>
          </a:xfrm>
          <a:prstGeom prst="roundRect">
            <a:avLst>
              <a:gd name="adj" fmla="val 21111"/>
            </a:avLst>
          </a:prstGeom>
          <a:solidFill>
            <a:srgbClr val="F6ECDF"/>
          </a:solidFill>
          <a:ln>
            <a:noFill/>
          </a:ln>
        </p:spPr>
        <p:txBody>
          <a:bodyPr anchor="ctr" rtlCol="false" lIns="0" tIns="0" rIns="0" bIns="0" wrap="square"/>
          <a:lstStyle/>
          <a:p>
            <a:endParaRPr lang="en-US" sz="1800"/>
          </a:p>
        </p:txBody>
      </p:sp>
      <p:sp>
        <p:nvSpPr>
          <p:cNvPr id="22" name="Rounded Rectangle 21"/>
          <p:cNvSpPr/>
          <p:nvPr/>
        </p:nvSpPr>
        <p:spPr>
          <a:xfrm>
            <a:off x="1138428" y="2769362"/>
            <a:ext cx="640080" cy="323396"/>
          </a:xfrm>
          <a:prstGeom prst="roundRect">
            <a:avLst>
              <a:gd name="adj" fmla="val 22619"/>
            </a:avLst>
          </a:prstGeom>
          <a:solidFill>
            <a:srgbClr val="1F7A8C"/>
          </a:solidFill>
          <a:ln>
            <a:noFill/>
          </a:ln>
        </p:spPr>
        <p:txBody>
          <a:bodyPr anchor="ctr" rtlCol="false" lIns="91440" tIns="45720" rIns="91440" bIns="45720" wrap="square"/>
          <a:lstStyle/>
          <a:p>
            <a:pPr algn="ctr">
              <a:lnSpc>
                <a:spcPts val="1380"/>
              </a:lnSpc>
              <a:spcBef>
                <a:spcPts val="0"/>
              </a:spcBef>
              <a:buNone/>
            </a:pPr>
            <a:r>
              <a:rPr lang="en-US" sz="1200" b="true">
                <a:solidFill>
                  <a:srgbClr val="FFFFFF"/>
                </a:solidFill>
                <a:latin typeface="Nunito Bold"/>
                <a:ea typeface="Nunito Bold"/>
                <a:cs typeface="Nunito Bold"/>
                <a:sym typeface="Nunito Bold"/>
              </a:rPr>
              <a:t>[15]</a:t>
            </a:r>
          </a:p>
        </p:txBody>
      </p:sp>
      <p:sp>
        <p:nvSpPr>
          <p:cNvPr id="23" name="TextBox 22"/>
          <p:cNvSpPr txBox="1"/>
          <p:nvPr/>
        </p:nvSpPr>
        <p:spPr>
          <a:xfrm>
            <a:off x="1943100" y="2714498"/>
            <a:ext cx="15179040" cy="433124"/>
          </a:xfrm>
          <a:prstGeom prst="rect">
            <a:avLst/>
          </a:prstGeom>
          <a:noFill/>
        </p:spPr>
        <p:txBody>
          <a:bodyPr anchor="ctr" rtlCol="false" lIns="0" tIns="0" rIns="0" bIns="0" wrap="square"/>
          <a:lstStyle/>
          <a:p>
            <a:pPr algn="l">
              <a:lnSpc>
                <a:spcPts val="1820"/>
              </a:lnSpc>
              <a:spcBef>
                <a:spcPts val="0"/>
              </a:spcBef>
              <a:buNone/>
            </a:pPr>
            <a:r>
              <a:rPr lang="en-US" sz="1300" b="true">
                <a:solidFill>
                  <a:srgbClr val="111111"/>
                </a:solidFill>
                <a:latin typeface="Nunito Semi-Bold"/>
                <a:ea typeface="Nunito Semi-Bold"/>
                <a:cs typeface="Nunito Semi-Bold"/>
                <a:sym typeface="Nunito Semi-Bold"/>
              </a:rPr>
              <a:t>Zhang, D. et al. RecDCL: Dual Contrastive Learning for Recommendation. The Web Conference, 3655–3666 (2024).</a:t>
            </a:r>
          </a:p>
        </p:txBody>
      </p:sp>
      <p:sp>
        <p:nvSpPr>
          <p:cNvPr id="24" name="Rounded Rectangle 23"/>
          <p:cNvSpPr/>
          <p:nvPr/>
        </p:nvSpPr>
        <p:spPr>
          <a:xfrm>
            <a:off x="1028700" y="3202486"/>
            <a:ext cx="16230600" cy="433124"/>
          </a:xfrm>
          <a:prstGeom prst="roundRect">
            <a:avLst>
              <a:gd name="adj" fmla="val 21111"/>
            </a:avLst>
          </a:prstGeom>
          <a:solidFill>
            <a:srgbClr val="FBF4EB"/>
          </a:solidFill>
          <a:ln>
            <a:noFill/>
          </a:ln>
        </p:spPr>
        <p:txBody>
          <a:bodyPr anchor="ctr" rtlCol="false" lIns="0" tIns="0" rIns="0" bIns="0" wrap="square"/>
          <a:lstStyle/>
          <a:p>
            <a:endParaRPr lang="en-US" sz="1800"/>
          </a:p>
        </p:txBody>
      </p:sp>
      <p:sp>
        <p:nvSpPr>
          <p:cNvPr id="25" name="Rounded Rectangle 24"/>
          <p:cNvSpPr/>
          <p:nvPr/>
        </p:nvSpPr>
        <p:spPr>
          <a:xfrm>
            <a:off x="1138428" y="3257350"/>
            <a:ext cx="640080" cy="323396"/>
          </a:xfrm>
          <a:prstGeom prst="roundRect">
            <a:avLst>
              <a:gd name="adj" fmla="val 22619"/>
            </a:avLst>
          </a:prstGeom>
          <a:solidFill>
            <a:srgbClr val="1F7A8C"/>
          </a:solidFill>
          <a:ln>
            <a:noFill/>
          </a:ln>
        </p:spPr>
        <p:txBody>
          <a:bodyPr anchor="ctr" rtlCol="false" lIns="91440" tIns="45720" rIns="91440" bIns="45720" wrap="square"/>
          <a:lstStyle/>
          <a:p>
            <a:pPr algn="ctr">
              <a:lnSpc>
                <a:spcPts val="1380"/>
              </a:lnSpc>
              <a:spcBef>
                <a:spcPts val="0"/>
              </a:spcBef>
              <a:buNone/>
            </a:pPr>
            <a:r>
              <a:rPr lang="en-US" sz="1200" b="true">
                <a:solidFill>
                  <a:srgbClr val="FFFFFF"/>
                </a:solidFill>
                <a:latin typeface="Nunito Bold"/>
                <a:ea typeface="Nunito Bold"/>
                <a:cs typeface="Nunito Bold"/>
                <a:sym typeface="Nunito Bold"/>
              </a:rPr>
              <a:t>[16]</a:t>
            </a:r>
          </a:p>
        </p:txBody>
      </p:sp>
      <p:sp>
        <p:nvSpPr>
          <p:cNvPr id="26" name="TextBox 25"/>
          <p:cNvSpPr txBox="1"/>
          <p:nvPr/>
        </p:nvSpPr>
        <p:spPr>
          <a:xfrm>
            <a:off x="1943100" y="3202486"/>
            <a:ext cx="15179040" cy="433124"/>
          </a:xfrm>
          <a:prstGeom prst="rect">
            <a:avLst/>
          </a:prstGeom>
          <a:noFill/>
        </p:spPr>
        <p:txBody>
          <a:bodyPr anchor="ctr" rtlCol="false" lIns="0" tIns="0" rIns="0" bIns="0" wrap="square"/>
          <a:lstStyle/>
          <a:p>
            <a:pPr algn="l">
              <a:lnSpc>
                <a:spcPts val="1820"/>
              </a:lnSpc>
              <a:spcBef>
                <a:spcPts val="0"/>
              </a:spcBef>
              <a:buNone/>
            </a:pPr>
            <a:r>
              <a:rPr lang="en-US" sz="1300" b="true">
                <a:solidFill>
                  <a:srgbClr val="111111"/>
                </a:solidFill>
                <a:latin typeface="Nunito Semi-Bold"/>
                <a:ea typeface="Nunito Semi-Bold"/>
                <a:cs typeface="Nunito Semi-Bold"/>
                <a:sym typeface="Nunito Semi-Bold"/>
              </a:rPr>
              <a:t>Feng, Y. et al. Hypergraph Neural Networks. AAAI 33, 3558–3565 (2019).</a:t>
            </a:r>
          </a:p>
        </p:txBody>
      </p:sp>
      <p:sp>
        <p:nvSpPr>
          <p:cNvPr id="27" name="Rounded Rectangle 26"/>
          <p:cNvSpPr/>
          <p:nvPr/>
        </p:nvSpPr>
        <p:spPr>
          <a:xfrm>
            <a:off x="1028700" y="3690474"/>
            <a:ext cx="16230600" cy="433124"/>
          </a:xfrm>
          <a:prstGeom prst="roundRect">
            <a:avLst>
              <a:gd name="adj" fmla="val 21111"/>
            </a:avLst>
          </a:prstGeom>
          <a:solidFill>
            <a:srgbClr val="F6ECDF"/>
          </a:solidFill>
          <a:ln>
            <a:noFill/>
          </a:ln>
        </p:spPr>
        <p:txBody>
          <a:bodyPr anchor="ctr" rtlCol="false" lIns="0" tIns="0" rIns="0" bIns="0" wrap="square"/>
          <a:lstStyle/>
          <a:p>
            <a:endParaRPr lang="en-US" sz="1800"/>
          </a:p>
        </p:txBody>
      </p:sp>
      <p:sp>
        <p:nvSpPr>
          <p:cNvPr id="28" name="Rounded Rectangle 27"/>
          <p:cNvSpPr/>
          <p:nvPr/>
        </p:nvSpPr>
        <p:spPr>
          <a:xfrm>
            <a:off x="1138428" y="3745338"/>
            <a:ext cx="640080" cy="323396"/>
          </a:xfrm>
          <a:prstGeom prst="roundRect">
            <a:avLst>
              <a:gd name="adj" fmla="val 22619"/>
            </a:avLst>
          </a:prstGeom>
          <a:solidFill>
            <a:srgbClr val="1F7A8C"/>
          </a:solidFill>
          <a:ln>
            <a:noFill/>
          </a:ln>
        </p:spPr>
        <p:txBody>
          <a:bodyPr anchor="ctr" rtlCol="false" lIns="91440" tIns="45720" rIns="91440" bIns="45720" wrap="square"/>
          <a:lstStyle/>
          <a:p>
            <a:pPr algn="ctr">
              <a:lnSpc>
                <a:spcPts val="1380"/>
              </a:lnSpc>
              <a:spcBef>
                <a:spcPts val="0"/>
              </a:spcBef>
              <a:buNone/>
            </a:pPr>
            <a:r>
              <a:rPr lang="en-US" sz="1200" b="true">
                <a:solidFill>
                  <a:srgbClr val="FFFFFF"/>
                </a:solidFill>
                <a:latin typeface="Nunito Bold"/>
                <a:ea typeface="Nunito Bold"/>
                <a:cs typeface="Nunito Bold"/>
                <a:sym typeface="Nunito Bold"/>
              </a:rPr>
              <a:t>[17]</a:t>
            </a:r>
          </a:p>
        </p:txBody>
      </p:sp>
      <p:sp>
        <p:nvSpPr>
          <p:cNvPr id="29" name="TextBox 28"/>
          <p:cNvSpPr txBox="1"/>
          <p:nvPr/>
        </p:nvSpPr>
        <p:spPr>
          <a:xfrm>
            <a:off x="1943100" y="3690474"/>
            <a:ext cx="15179040" cy="433124"/>
          </a:xfrm>
          <a:prstGeom prst="rect">
            <a:avLst/>
          </a:prstGeom>
          <a:noFill/>
        </p:spPr>
        <p:txBody>
          <a:bodyPr anchor="ctr" rtlCol="false" lIns="0" tIns="0" rIns="0" bIns="0" wrap="square"/>
          <a:lstStyle/>
          <a:p>
            <a:pPr algn="l">
              <a:lnSpc>
                <a:spcPts val="1820"/>
              </a:lnSpc>
              <a:spcBef>
                <a:spcPts val="0"/>
              </a:spcBef>
              <a:buNone/>
            </a:pPr>
            <a:r>
              <a:rPr lang="en-US" sz="1300" b="true">
                <a:solidFill>
                  <a:srgbClr val="111111"/>
                </a:solidFill>
                <a:latin typeface="Nunito Semi-Bold"/>
                <a:ea typeface="Nunito Semi-Bold"/>
                <a:cs typeface="Nunito Semi-Bold"/>
                <a:sym typeface="Nunito Semi-Bold"/>
              </a:rPr>
              <a:t>Rousseeuw, P. J. Silhouettes: A Graphical Aid to the Interpretation and Validation of Cluster Analysis. J. Comput. Appl. Math. 20, 53–65 (1987).</a:t>
            </a:r>
          </a:p>
        </p:txBody>
      </p:sp>
      <p:sp>
        <p:nvSpPr>
          <p:cNvPr id="30" name="Rounded Rectangle 29"/>
          <p:cNvSpPr/>
          <p:nvPr/>
        </p:nvSpPr>
        <p:spPr>
          <a:xfrm>
            <a:off x="1028700" y="4178463"/>
            <a:ext cx="16230600" cy="433124"/>
          </a:xfrm>
          <a:prstGeom prst="roundRect">
            <a:avLst>
              <a:gd name="adj" fmla="val 21111"/>
            </a:avLst>
          </a:prstGeom>
          <a:solidFill>
            <a:srgbClr val="FBF4EB"/>
          </a:solidFill>
          <a:ln>
            <a:noFill/>
          </a:ln>
        </p:spPr>
        <p:txBody>
          <a:bodyPr anchor="ctr" rtlCol="false" lIns="0" tIns="0" rIns="0" bIns="0" wrap="square"/>
          <a:lstStyle/>
          <a:p>
            <a:endParaRPr lang="en-US" sz="1800"/>
          </a:p>
        </p:txBody>
      </p:sp>
      <p:sp>
        <p:nvSpPr>
          <p:cNvPr id="31" name="Rounded Rectangle 30"/>
          <p:cNvSpPr/>
          <p:nvPr/>
        </p:nvSpPr>
        <p:spPr>
          <a:xfrm>
            <a:off x="1138428" y="4233327"/>
            <a:ext cx="640080" cy="323396"/>
          </a:xfrm>
          <a:prstGeom prst="roundRect">
            <a:avLst>
              <a:gd name="adj" fmla="val 22619"/>
            </a:avLst>
          </a:prstGeom>
          <a:solidFill>
            <a:srgbClr val="1F7A8C"/>
          </a:solidFill>
          <a:ln>
            <a:noFill/>
          </a:ln>
        </p:spPr>
        <p:txBody>
          <a:bodyPr anchor="ctr" rtlCol="false" lIns="91440" tIns="45720" rIns="91440" bIns="45720" wrap="square"/>
          <a:lstStyle/>
          <a:p>
            <a:pPr algn="ctr">
              <a:lnSpc>
                <a:spcPts val="1380"/>
              </a:lnSpc>
              <a:spcBef>
                <a:spcPts val="0"/>
              </a:spcBef>
              <a:buNone/>
            </a:pPr>
            <a:r>
              <a:rPr lang="en-US" sz="1200" b="true">
                <a:solidFill>
                  <a:srgbClr val="FFFFFF"/>
                </a:solidFill>
                <a:latin typeface="Nunito Bold"/>
                <a:ea typeface="Nunito Bold"/>
                <a:cs typeface="Nunito Bold"/>
                <a:sym typeface="Nunito Bold"/>
              </a:rPr>
              <a:t>[18]</a:t>
            </a:r>
          </a:p>
        </p:txBody>
      </p:sp>
      <p:sp>
        <p:nvSpPr>
          <p:cNvPr id="32" name="TextBox 31"/>
          <p:cNvSpPr txBox="1"/>
          <p:nvPr/>
        </p:nvSpPr>
        <p:spPr>
          <a:xfrm>
            <a:off x="1943100" y="4178463"/>
            <a:ext cx="15179040" cy="433124"/>
          </a:xfrm>
          <a:prstGeom prst="rect">
            <a:avLst/>
          </a:prstGeom>
          <a:noFill/>
        </p:spPr>
        <p:txBody>
          <a:bodyPr anchor="ctr" rtlCol="false" lIns="0" tIns="0" rIns="0" bIns="0" wrap="square"/>
          <a:lstStyle/>
          <a:p>
            <a:pPr algn="l">
              <a:lnSpc>
                <a:spcPts val="1820"/>
              </a:lnSpc>
              <a:spcBef>
                <a:spcPts val="0"/>
              </a:spcBef>
              <a:buNone/>
            </a:pPr>
            <a:r>
              <a:rPr lang="en-US" sz="1300" b="true">
                <a:solidFill>
                  <a:srgbClr val="111111"/>
                </a:solidFill>
                <a:latin typeface="Nunito Semi-Bold"/>
                <a:ea typeface="Nunito Semi-Bold"/>
                <a:cs typeface="Nunito Semi-Bold"/>
                <a:sym typeface="Nunito Semi-Bold"/>
              </a:rPr>
              <a:t>Gramegna, A. &amp; Giudici, P. SHAP and LIME: An Evaluation of Discriminative Power in Credit Risk. Frontiers in AI 4, 752558 (2021).</a:t>
            </a:r>
          </a:p>
        </p:txBody>
      </p:sp>
      <p:sp>
        <p:nvSpPr>
          <p:cNvPr id="33" name="Rounded Rectangle 32"/>
          <p:cNvSpPr/>
          <p:nvPr/>
        </p:nvSpPr>
        <p:spPr>
          <a:xfrm>
            <a:off x="1028700" y="4666451"/>
            <a:ext cx="16230600" cy="433124"/>
          </a:xfrm>
          <a:prstGeom prst="roundRect">
            <a:avLst>
              <a:gd name="adj" fmla="val 21111"/>
            </a:avLst>
          </a:prstGeom>
          <a:solidFill>
            <a:srgbClr val="F6ECDF"/>
          </a:solidFill>
          <a:ln>
            <a:noFill/>
          </a:ln>
        </p:spPr>
        <p:txBody>
          <a:bodyPr anchor="ctr" rtlCol="false" lIns="0" tIns="0" rIns="0" bIns="0" wrap="square"/>
          <a:lstStyle/>
          <a:p>
            <a:endParaRPr lang="en-US" sz="1800"/>
          </a:p>
        </p:txBody>
      </p:sp>
      <p:sp>
        <p:nvSpPr>
          <p:cNvPr id="34" name="Rounded Rectangle 33"/>
          <p:cNvSpPr/>
          <p:nvPr/>
        </p:nvSpPr>
        <p:spPr>
          <a:xfrm>
            <a:off x="1138428" y="4721315"/>
            <a:ext cx="640080" cy="323396"/>
          </a:xfrm>
          <a:prstGeom prst="roundRect">
            <a:avLst>
              <a:gd name="adj" fmla="val 22619"/>
            </a:avLst>
          </a:prstGeom>
          <a:solidFill>
            <a:srgbClr val="1F7A8C"/>
          </a:solidFill>
          <a:ln>
            <a:noFill/>
          </a:ln>
        </p:spPr>
        <p:txBody>
          <a:bodyPr anchor="ctr" rtlCol="false" lIns="91440" tIns="45720" rIns="91440" bIns="45720" wrap="square"/>
          <a:lstStyle/>
          <a:p>
            <a:pPr algn="ctr">
              <a:lnSpc>
                <a:spcPts val="1380"/>
              </a:lnSpc>
              <a:spcBef>
                <a:spcPts val="0"/>
              </a:spcBef>
              <a:buNone/>
            </a:pPr>
            <a:r>
              <a:rPr lang="en-US" sz="1200" b="true">
                <a:solidFill>
                  <a:srgbClr val="FFFFFF"/>
                </a:solidFill>
                <a:latin typeface="Nunito Bold"/>
                <a:ea typeface="Nunito Bold"/>
                <a:cs typeface="Nunito Bold"/>
                <a:sym typeface="Nunito Bold"/>
              </a:rPr>
              <a:t>[19]</a:t>
            </a:r>
          </a:p>
        </p:txBody>
      </p:sp>
      <p:sp>
        <p:nvSpPr>
          <p:cNvPr id="35" name="TextBox 34"/>
          <p:cNvSpPr txBox="1"/>
          <p:nvPr/>
        </p:nvSpPr>
        <p:spPr>
          <a:xfrm>
            <a:off x="1943100" y="4666451"/>
            <a:ext cx="15179040" cy="433124"/>
          </a:xfrm>
          <a:prstGeom prst="rect">
            <a:avLst/>
          </a:prstGeom>
          <a:noFill/>
        </p:spPr>
        <p:txBody>
          <a:bodyPr anchor="ctr" rtlCol="false" lIns="0" tIns="0" rIns="0" bIns="0" wrap="square"/>
          <a:lstStyle/>
          <a:p>
            <a:pPr algn="l">
              <a:lnSpc>
                <a:spcPts val="1820"/>
              </a:lnSpc>
              <a:spcBef>
                <a:spcPts val="0"/>
              </a:spcBef>
              <a:buNone/>
            </a:pPr>
            <a:r>
              <a:rPr lang="en-US" sz="1300" b="true">
                <a:solidFill>
                  <a:srgbClr val="111111"/>
                </a:solidFill>
                <a:latin typeface="Nunito Semi-Bold"/>
                <a:ea typeface="Nunito Semi-Bold"/>
                <a:cs typeface="Nunito Semi-Bold"/>
                <a:sym typeface="Nunito Semi-Bold"/>
              </a:rPr>
              <a:t>Cortez, P. et al. Wine Quality. UCI Machine Learning Repository (2009).  ·  Dua, D. &amp; Taniskidou, E. Beijing Multi-Site Air Quality Data. UCI Machine Learning Repository (2017).</a:t>
            </a:r>
          </a:p>
        </p:txBody>
      </p:sp>
      <p:sp>
        <p:nvSpPr>
          <p:cNvPr id="36" name="Rounded Rectangle 35"/>
          <p:cNvSpPr/>
          <p:nvPr/>
        </p:nvSpPr>
        <p:spPr>
          <a:xfrm>
            <a:off x="1028700" y="5154440"/>
            <a:ext cx="16230600" cy="433124"/>
          </a:xfrm>
          <a:prstGeom prst="roundRect">
            <a:avLst>
              <a:gd name="adj" fmla="val 21111"/>
            </a:avLst>
          </a:prstGeom>
          <a:solidFill>
            <a:srgbClr val="FBF4EB"/>
          </a:solidFill>
          <a:ln>
            <a:noFill/>
          </a:ln>
        </p:spPr>
        <p:txBody>
          <a:bodyPr anchor="ctr" rtlCol="false" lIns="0" tIns="0" rIns="0" bIns="0" wrap="square"/>
          <a:lstStyle/>
          <a:p>
            <a:endParaRPr lang="en-US" sz="1800"/>
          </a:p>
        </p:txBody>
      </p:sp>
      <p:sp>
        <p:nvSpPr>
          <p:cNvPr id="37" name="Rounded Rectangle 36"/>
          <p:cNvSpPr/>
          <p:nvPr/>
        </p:nvSpPr>
        <p:spPr>
          <a:xfrm>
            <a:off x="1138428" y="5209304"/>
            <a:ext cx="640080" cy="323396"/>
          </a:xfrm>
          <a:prstGeom prst="roundRect">
            <a:avLst>
              <a:gd name="adj" fmla="val 22619"/>
            </a:avLst>
          </a:prstGeom>
          <a:solidFill>
            <a:srgbClr val="1F7A8C"/>
          </a:solidFill>
          <a:ln>
            <a:noFill/>
          </a:ln>
        </p:spPr>
        <p:txBody>
          <a:bodyPr anchor="ctr" rtlCol="false" lIns="91440" tIns="45720" rIns="91440" bIns="45720" wrap="square"/>
          <a:lstStyle/>
          <a:p>
            <a:pPr algn="ctr">
              <a:lnSpc>
                <a:spcPts val="1380"/>
              </a:lnSpc>
              <a:spcBef>
                <a:spcPts val="0"/>
              </a:spcBef>
              <a:buNone/>
            </a:pPr>
            <a:r>
              <a:rPr lang="en-US" sz="1200" b="true">
                <a:solidFill>
                  <a:srgbClr val="FFFFFF"/>
                </a:solidFill>
                <a:latin typeface="Nunito Bold"/>
                <a:ea typeface="Nunito Bold"/>
                <a:cs typeface="Nunito Bold"/>
                <a:sym typeface="Nunito Bold"/>
              </a:rPr>
              <a:t>[20]</a:t>
            </a:r>
          </a:p>
        </p:txBody>
      </p:sp>
      <p:sp>
        <p:nvSpPr>
          <p:cNvPr id="38" name="TextBox 37"/>
          <p:cNvSpPr txBox="1"/>
          <p:nvPr/>
        </p:nvSpPr>
        <p:spPr>
          <a:xfrm>
            <a:off x="1943100" y="5154440"/>
            <a:ext cx="15179040" cy="433124"/>
          </a:xfrm>
          <a:prstGeom prst="rect">
            <a:avLst/>
          </a:prstGeom>
          <a:noFill/>
        </p:spPr>
        <p:txBody>
          <a:bodyPr anchor="ctr" rtlCol="false" lIns="0" tIns="0" rIns="0" bIns="0" wrap="square"/>
          <a:lstStyle/>
          <a:p>
            <a:pPr algn="l">
              <a:lnSpc>
                <a:spcPts val="1820"/>
              </a:lnSpc>
              <a:spcBef>
                <a:spcPts val="0"/>
              </a:spcBef>
              <a:buNone/>
            </a:pPr>
            <a:r>
              <a:rPr lang="en-US" sz="1300" b="true">
                <a:solidFill>
                  <a:srgbClr val="111111"/>
                </a:solidFill>
                <a:latin typeface="Nunito Semi-Bold"/>
                <a:ea typeface="Nunito Semi-Bold"/>
                <a:cs typeface="Nunito Semi-Bold"/>
                <a:sym typeface="Nunito Semi-Bold"/>
              </a:rPr>
              <a:t>Harper, F. M. &amp; Konstan, J. A. The MovieLens Datasets: History and Context. ACM TiiS 5(4), 19 (2015).  ·  McAuley, J. et al. Amazon Review Data (Amazon-Book). UCSD (2018).</a:t>
            </a:r>
          </a:p>
        </p:txBody>
      </p:sp>
      <p:sp>
        <p:nvSpPr>
          <p:cNvPr id="39" name="Rounded Rectangle 38"/>
          <p:cNvSpPr/>
          <p:nvPr/>
        </p:nvSpPr>
        <p:spPr>
          <a:xfrm>
            <a:off x="1028700" y="5642428"/>
            <a:ext cx="16230600" cy="433124"/>
          </a:xfrm>
          <a:prstGeom prst="roundRect">
            <a:avLst>
              <a:gd name="adj" fmla="val 21111"/>
            </a:avLst>
          </a:prstGeom>
          <a:solidFill>
            <a:srgbClr val="F6ECDF"/>
          </a:solidFill>
          <a:ln>
            <a:noFill/>
          </a:ln>
        </p:spPr>
        <p:txBody>
          <a:bodyPr anchor="ctr" rtlCol="false" lIns="0" tIns="0" rIns="0" bIns="0" wrap="square"/>
          <a:lstStyle/>
          <a:p>
            <a:endParaRPr lang="en-US" sz="1800"/>
          </a:p>
        </p:txBody>
      </p:sp>
      <p:sp>
        <p:nvSpPr>
          <p:cNvPr id="40" name="Rounded Rectangle 39"/>
          <p:cNvSpPr/>
          <p:nvPr/>
        </p:nvSpPr>
        <p:spPr>
          <a:xfrm>
            <a:off x="1138428" y="5697292"/>
            <a:ext cx="640080" cy="323396"/>
          </a:xfrm>
          <a:prstGeom prst="roundRect">
            <a:avLst>
              <a:gd name="adj" fmla="val 22619"/>
            </a:avLst>
          </a:prstGeom>
          <a:solidFill>
            <a:srgbClr val="1F7A8C"/>
          </a:solidFill>
          <a:ln>
            <a:noFill/>
          </a:ln>
        </p:spPr>
        <p:txBody>
          <a:bodyPr anchor="ctr" rtlCol="false" lIns="91440" tIns="45720" rIns="91440" bIns="45720" wrap="square"/>
          <a:lstStyle/>
          <a:p>
            <a:pPr algn="ctr">
              <a:lnSpc>
                <a:spcPts val="1380"/>
              </a:lnSpc>
              <a:spcBef>
                <a:spcPts val="0"/>
              </a:spcBef>
              <a:buNone/>
            </a:pPr>
            <a:r>
              <a:rPr lang="en-US" sz="1200" b="true">
                <a:solidFill>
                  <a:srgbClr val="FFFFFF"/>
                </a:solidFill>
                <a:latin typeface="Nunito Bold"/>
                <a:ea typeface="Nunito Bold"/>
                <a:cs typeface="Nunito Bold"/>
                <a:sym typeface="Nunito Bold"/>
              </a:rPr>
              <a:t>[21]</a:t>
            </a:r>
          </a:p>
        </p:txBody>
      </p:sp>
      <p:sp>
        <p:nvSpPr>
          <p:cNvPr id="41" name="TextBox 40"/>
          <p:cNvSpPr txBox="1"/>
          <p:nvPr/>
        </p:nvSpPr>
        <p:spPr>
          <a:xfrm>
            <a:off x="1943100" y="5642428"/>
            <a:ext cx="15179040" cy="433124"/>
          </a:xfrm>
          <a:prstGeom prst="rect">
            <a:avLst/>
          </a:prstGeom>
          <a:noFill/>
        </p:spPr>
        <p:txBody>
          <a:bodyPr anchor="ctr" rtlCol="false" lIns="0" tIns="0" rIns="0" bIns="0" wrap="square"/>
          <a:lstStyle/>
          <a:p>
            <a:pPr algn="l">
              <a:lnSpc>
                <a:spcPts val="1820"/>
              </a:lnSpc>
              <a:spcBef>
                <a:spcPts val="0"/>
              </a:spcBef>
              <a:buNone/>
            </a:pPr>
            <a:r>
              <a:rPr lang="en-US" sz="1300" b="true">
                <a:solidFill>
                  <a:srgbClr val="111111"/>
                </a:solidFill>
                <a:latin typeface="Nunito Semi-Bold"/>
                <a:ea typeface="Nunito Semi-Bold"/>
                <a:cs typeface="Nunito Semi-Bold"/>
                <a:sym typeface="Nunito Semi-Bold"/>
              </a:rPr>
              <a:t>Zhang, Y. &amp; Chen, X. Explainable Recommendation: A Survey and New Perspectives. Foundations and Trends in IR 14(1), 1–101 (2020).</a:t>
            </a:r>
          </a:p>
        </p:txBody>
      </p:sp>
      <p:sp>
        <p:nvSpPr>
          <p:cNvPr id="42" name="Rounded Rectangle 41"/>
          <p:cNvSpPr/>
          <p:nvPr/>
        </p:nvSpPr>
        <p:spPr>
          <a:xfrm>
            <a:off x="1028700" y="6130417"/>
            <a:ext cx="16230600" cy="433124"/>
          </a:xfrm>
          <a:prstGeom prst="roundRect">
            <a:avLst>
              <a:gd name="adj" fmla="val 21111"/>
            </a:avLst>
          </a:prstGeom>
          <a:solidFill>
            <a:srgbClr val="FBF4EB"/>
          </a:solidFill>
          <a:ln>
            <a:noFill/>
          </a:ln>
        </p:spPr>
        <p:txBody>
          <a:bodyPr anchor="ctr" rtlCol="false" lIns="0" tIns="0" rIns="0" bIns="0" wrap="square"/>
          <a:lstStyle/>
          <a:p>
            <a:endParaRPr lang="en-US" sz="1800"/>
          </a:p>
        </p:txBody>
      </p:sp>
      <p:sp>
        <p:nvSpPr>
          <p:cNvPr id="43" name="Rounded Rectangle 42"/>
          <p:cNvSpPr/>
          <p:nvPr/>
        </p:nvSpPr>
        <p:spPr>
          <a:xfrm>
            <a:off x="1138428" y="6185281"/>
            <a:ext cx="640080" cy="323396"/>
          </a:xfrm>
          <a:prstGeom prst="roundRect">
            <a:avLst>
              <a:gd name="adj" fmla="val 22619"/>
            </a:avLst>
          </a:prstGeom>
          <a:solidFill>
            <a:srgbClr val="1F7A8C"/>
          </a:solidFill>
          <a:ln>
            <a:noFill/>
          </a:ln>
        </p:spPr>
        <p:txBody>
          <a:bodyPr anchor="ctr" rtlCol="false" lIns="91440" tIns="45720" rIns="91440" bIns="45720" wrap="square"/>
          <a:lstStyle/>
          <a:p>
            <a:pPr algn="ctr">
              <a:lnSpc>
                <a:spcPts val="1380"/>
              </a:lnSpc>
              <a:spcBef>
                <a:spcPts val="0"/>
              </a:spcBef>
              <a:buNone/>
            </a:pPr>
            <a:r>
              <a:rPr lang="en-US" sz="1200" b="true">
                <a:solidFill>
                  <a:srgbClr val="FFFFFF"/>
                </a:solidFill>
                <a:latin typeface="Nunito Bold"/>
                <a:ea typeface="Nunito Bold"/>
                <a:cs typeface="Nunito Bold"/>
                <a:sym typeface="Nunito Bold"/>
              </a:rPr>
              <a:t>[22]</a:t>
            </a:r>
          </a:p>
        </p:txBody>
      </p:sp>
      <p:sp>
        <p:nvSpPr>
          <p:cNvPr id="44" name="TextBox 43"/>
          <p:cNvSpPr txBox="1"/>
          <p:nvPr/>
        </p:nvSpPr>
        <p:spPr>
          <a:xfrm>
            <a:off x="1943100" y="6130417"/>
            <a:ext cx="15179040" cy="433124"/>
          </a:xfrm>
          <a:prstGeom prst="rect">
            <a:avLst/>
          </a:prstGeom>
          <a:noFill/>
        </p:spPr>
        <p:txBody>
          <a:bodyPr anchor="ctr" rtlCol="false" lIns="0" tIns="0" rIns="0" bIns="0" wrap="square"/>
          <a:lstStyle/>
          <a:p>
            <a:pPr algn="l">
              <a:lnSpc>
                <a:spcPts val="1765"/>
              </a:lnSpc>
              <a:spcBef>
                <a:spcPts val="0"/>
              </a:spcBef>
              <a:buNone/>
            </a:pPr>
            <a:r>
              <a:rPr lang="en-US" sz="1261" b="true">
                <a:solidFill>
                  <a:srgbClr val="111111"/>
                </a:solidFill>
                <a:latin typeface="Nunito Semi-Bold"/>
                <a:ea typeface="Nunito Semi-Bold"/>
                <a:cs typeface="Nunito Semi-Bold"/>
                <a:sym typeface="Nunito Semi-Bold"/>
              </a:rPr>
              <a:t>Adomavicius, G. &amp; Tuzhilin, A. Toward the Next Generation of Recommender Systems. IEEE TKDE 17(6), 734–749 (2005).  ·  Burke, R. Hybrid Recommender Systems. UMUAI 12(4), 331–370 (2002).</a:t>
            </a:r>
          </a:p>
        </p:txBody>
      </p:sp>
      <p:sp>
        <p:nvSpPr>
          <p:cNvPr id="45" name="Rounded Rectangle 44"/>
          <p:cNvSpPr/>
          <p:nvPr/>
        </p:nvSpPr>
        <p:spPr>
          <a:xfrm>
            <a:off x="1028700" y="6618405"/>
            <a:ext cx="16230600" cy="433124"/>
          </a:xfrm>
          <a:prstGeom prst="roundRect">
            <a:avLst>
              <a:gd name="adj" fmla="val 21111"/>
            </a:avLst>
          </a:prstGeom>
          <a:solidFill>
            <a:srgbClr val="F6ECDF"/>
          </a:solidFill>
          <a:ln>
            <a:noFill/>
          </a:ln>
        </p:spPr>
        <p:txBody>
          <a:bodyPr anchor="ctr" rtlCol="false" lIns="0" tIns="0" rIns="0" bIns="0" wrap="square"/>
          <a:lstStyle/>
          <a:p>
            <a:endParaRPr lang="en-US" sz="1800"/>
          </a:p>
        </p:txBody>
      </p:sp>
      <p:sp>
        <p:nvSpPr>
          <p:cNvPr id="46" name="Rounded Rectangle 45"/>
          <p:cNvSpPr/>
          <p:nvPr/>
        </p:nvSpPr>
        <p:spPr>
          <a:xfrm>
            <a:off x="1138428" y="6673269"/>
            <a:ext cx="640080" cy="323396"/>
          </a:xfrm>
          <a:prstGeom prst="roundRect">
            <a:avLst>
              <a:gd name="adj" fmla="val 22619"/>
            </a:avLst>
          </a:prstGeom>
          <a:solidFill>
            <a:srgbClr val="1F7A8C"/>
          </a:solidFill>
          <a:ln>
            <a:noFill/>
          </a:ln>
        </p:spPr>
        <p:txBody>
          <a:bodyPr anchor="ctr" rtlCol="false" lIns="91440" tIns="45720" rIns="91440" bIns="45720" wrap="square"/>
          <a:lstStyle/>
          <a:p>
            <a:pPr algn="ctr">
              <a:lnSpc>
                <a:spcPts val="1380"/>
              </a:lnSpc>
              <a:spcBef>
                <a:spcPts val="0"/>
              </a:spcBef>
              <a:buNone/>
            </a:pPr>
            <a:r>
              <a:rPr lang="en-US" sz="1200" b="true">
                <a:solidFill>
                  <a:srgbClr val="FFFFFF"/>
                </a:solidFill>
                <a:latin typeface="Nunito Bold"/>
                <a:ea typeface="Nunito Bold"/>
                <a:cs typeface="Nunito Bold"/>
                <a:sym typeface="Nunito Bold"/>
              </a:rPr>
              <a:t>[23]</a:t>
            </a:r>
          </a:p>
        </p:txBody>
      </p:sp>
      <p:sp>
        <p:nvSpPr>
          <p:cNvPr id="47" name="TextBox 46"/>
          <p:cNvSpPr txBox="1"/>
          <p:nvPr/>
        </p:nvSpPr>
        <p:spPr>
          <a:xfrm>
            <a:off x="1943100" y="6618405"/>
            <a:ext cx="15179040" cy="433124"/>
          </a:xfrm>
          <a:prstGeom prst="rect">
            <a:avLst/>
          </a:prstGeom>
          <a:noFill/>
        </p:spPr>
        <p:txBody>
          <a:bodyPr anchor="ctr" rtlCol="false" lIns="0" tIns="0" rIns="0" bIns="0" wrap="square"/>
          <a:lstStyle/>
          <a:p>
            <a:pPr algn="l">
              <a:lnSpc>
                <a:spcPts val="1820"/>
              </a:lnSpc>
              <a:spcBef>
                <a:spcPts val="0"/>
              </a:spcBef>
              <a:buNone/>
            </a:pPr>
            <a:r>
              <a:rPr lang="en-US" sz="1300" b="true">
                <a:solidFill>
                  <a:srgbClr val="111111"/>
                </a:solidFill>
                <a:latin typeface="Nunito Semi-Bold"/>
                <a:ea typeface="Nunito Semi-Bold"/>
                <a:cs typeface="Nunito Semi-Bold"/>
                <a:sym typeface="Nunito Semi-Bold"/>
              </a:rPr>
              <a:t>Zhu, Z. et al. Popularity Bias in Dynamic Recommendation. KDD, 2439–2449 (2021).  ·  Hurley, N. &amp; Zhang, M. Novelty and Diversity in Top-N Recommendation. ACM TOIT 10(4) (2011).</a:t>
            </a:r>
          </a:p>
        </p:txBody>
      </p:sp>
      <p:sp>
        <p:nvSpPr>
          <p:cNvPr id="48" name="Rounded Rectangle 47"/>
          <p:cNvSpPr/>
          <p:nvPr/>
        </p:nvSpPr>
        <p:spPr>
          <a:xfrm>
            <a:off x="1028700" y="7106393"/>
            <a:ext cx="16230600" cy="433124"/>
          </a:xfrm>
          <a:prstGeom prst="roundRect">
            <a:avLst>
              <a:gd name="adj" fmla="val 21111"/>
            </a:avLst>
          </a:prstGeom>
          <a:solidFill>
            <a:srgbClr val="FBF4EB"/>
          </a:solidFill>
          <a:ln>
            <a:noFill/>
          </a:ln>
        </p:spPr>
        <p:txBody>
          <a:bodyPr anchor="ctr" rtlCol="false" lIns="0" tIns="0" rIns="0" bIns="0" wrap="square"/>
          <a:lstStyle/>
          <a:p>
            <a:endParaRPr lang="en-US" sz="1800"/>
          </a:p>
        </p:txBody>
      </p:sp>
      <p:sp>
        <p:nvSpPr>
          <p:cNvPr id="49" name="Rounded Rectangle 48"/>
          <p:cNvSpPr/>
          <p:nvPr/>
        </p:nvSpPr>
        <p:spPr>
          <a:xfrm>
            <a:off x="1138428" y="7161257"/>
            <a:ext cx="640080" cy="323396"/>
          </a:xfrm>
          <a:prstGeom prst="roundRect">
            <a:avLst>
              <a:gd name="adj" fmla="val 22619"/>
            </a:avLst>
          </a:prstGeom>
          <a:solidFill>
            <a:srgbClr val="1F7A8C"/>
          </a:solidFill>
          <a:ln>
            <a:noFill/>
          </a:ln>
        </p:spPr>
        <p:txBody>
          <a:bodyPr anchor="ctr" rtlCol="false" lIns="91440" tIns="45720" rIns="91440" bIns="45720" wrap="square"/>
          <a:lstStyle/>
          <a:p>
            <a:pPr algn="ctr">
              <a:lnSpc>
                <a:spcPts val="1380"/>
              </a:lnSpc>
              <a:spcBef>
                <a:spcPts val="0"/>
              </a:spcBef>
              <a:buNone/>
            </a:pPr>
            <a:r>
              <a:rPr lang="en-US" sz="1200" b="true">
                <a:solidFill>
                  <a:srgbClr val="FFFFFF"/>
                </a:solidFill>
                <a:latin typeface="Nunito Bold"/>
                <a:ea typeface="Nunito Bold"/>
                <a:cs typeface="Nunito Bold"/>
                <a:sym typeface="Nunito Bold"/>
              </a:rPr>
              <a:t>[24]</a:t>
            </a:r>
          </a:p>
        </p:txBody>
      </p:sp>
      <p:sp>
        <p:nvSpPr>
          <p:cNvPr id="50" name="TextBox 49"/>
          <p:cNvSpPr txBox="1"/>
          <p:nvPr/>
        </p:nvSpPr>
        <p:spPr>
          <a:xfrm>
            <a:off x="1943100" y="7106393"/>
            <a:ext cx="15179040" cy="433124"/>
          </a:xfrm>
          <a:prstGeom prst="rect">
            <a:avLst/>
          </a:prstGeom>
          <a:noFill/>
        </p:spPr>
        <p:txBody>
          <a:bodyPr anchor="ctr" rtlCol="false" lIns="0" tIns="0" rIns="0" bIns="0" wrap="square"/>
          <a:lstStyle/>
          <a:p>
            <a:pPr algn="l">
              <a:lnSpc>
                <a:spcPts val="1820"/>
              </a:lnSpc>
              <a:spcBef>
                <a:spcPts val="0"/>
              </a:spcBef>
              <a:buNone/>
            </a:pPr>
            <a:r>
              <a:rPr lang="en-US" sz="1300" b="true">
                <a:solidFill>
                  <a:srgbClr val="111111"/>
                </a:solidFill>
                <a:latin typeface="Nunito Semi-Bold"/>
                <a:ea typeface="Nunito Semi-Bold"/>
                <a:cs typeface="Nunito Semi-Bold"/>
                <a:sym typeface="Nunito Semi-Bold"/>
              </a:rPr>
              <a:t>Arrieta, A. B. et al. Explainable Artificial Intelligence (XAI): Concepts, Taxonomies, Opportunities and Challenges. Information Fusion 58, 82–115 (2020).</a:t>
            </a:r>
          </a:p>
        </p:txBody>
      </p:sp>
      <p:sp>
        <p:nvSpPr>
          <p:cNvPr id="51" name="Rounded Rectangle 50"/>
          <p:cNvSpPr/>
          <p:nvPr/>
        </p:nvSpPr>
        <p:spPr>
          <a:xfrm>
            <a:off x="1028700" y="7594382"/>
            <a:ext cx="16230600" cy="433124"/>
          </a:xfrm>
          <a:prstGeom prst="roundRect">
            <a:avLst>
              <a:gd name="adj" fmla="val 21111"/>
            </a:avLst>
          </a:prstGeom>
          <a:solidFill>
            <a:srgbClr val="F6ECDF"/>
          </a:solidFill>
          <a:ln>
            <a:noFill/>
          </a:ln>
        </p:spPr>
        <p:txBody>
          <a:bodyPr anchor="ctr" rtlCol="false" lIns="0" tIns="0" rIns="0" bIns="0" wrap="square"/>
          <a:lstStyle/>
          <a:p>
            <a:endParaRPr lang="en-US" sz="1800"/>
          </a:p>
        </p:txBody>
      </p:sp>
      <p:sp>
        <p:nvSpPr>
          <p:cNvPr id="52" name="Rounded Rectangle 51"/>
          <p:cNvSpPr/>
          <p:nvPr/>
        </p:nvSpPr>
        <p:spPr>
          <a:xfrm>
            <a:off x="1138428" y="7649246"/>
            <a:ext cx="640080" cy="323396"/>
          </a:xfrm>
          <a:prstGeom prst="roundRect">
            <a:avLst>
              <a:gd name="adj" fmla="val 22619"/>
            </a:avLst>
          </a:prstGeom>
          <a:solidFill>
            <a:srgbClr val="1F7A8C"/>
          </a:solidFill>
          <a:ln>
            <a:noFill/>
          </a:ln>
        </p:spPr>
        <p:txBody>
          <a:bodyPr anchor="ctr" rtlCol="false" lIns="91440" tIns="45720" rIns="91440" bIns="45720" wrap="square"/>
          <a:lstStyle/>
          <a:p>
            <a:pPr algn="ctr">
              <a:lnSpc>
                <a:spcPts val="1380"/>
              </a:lnSpc>
              <a:spcBef>
                <a:spcPts val="0"/>
              </a:spcBef>
              <a:buNone/>
            </a:pPr>
            <a:r>
              <a:rPr lang="en-US" sz="1200" b="true">
                <a:solidFill>
                  <a:srgbClr val="FFFFFF"/>
                </a:solidFill>
                <a:latin typeface="Nunito Bold"/>
                <a:ea typeface="Nunito Bold"/>
                <a:cs typeface="Nunito Bold"/>
                <a:sym typeface="Nunito Bold"/>
              </a:rPr>
              <a:t>[25]</a:t>
            </a:r>
          </a:p>
        </p:txBody>
      </p:sp>
      <p:sp>
        <p:nvSpPr>
          <p:cNvPr id="53" name="TextBox 52"/>
          <p:cNvSpPr txBox="1"/>
          <p:nvPr/>
        </p:nvSpPr>
        <p:spPr>
          <a:xfrm>
            <a:off x="1943100" y="7594382"/>
            <a:ext cx="15179040" cy="433124"/>
          </a:xfrm>
          <a:prstGeom prst="rect">
            <a:avLst/>
          </a:prstGeom>
          <a:noFill/>
        </p:spPr>
        <p:txBody>
          <a:bodyPr anchor="ctr" rtlCol="false" lIns="0" tIns="0" rIns="0" bIns="0" wrap="square"/>
          <a:lstStyle/>
          <a:p>
            <a:pPr algn="l">
              <a:lnSpc>
                <a:spcPts val="1602"/>
              </a:lnSpc>
              <a:spcBef>
                <a:spcPts val="0"/>
              </a:spcBef>
              <a:buNone/>
            </a:pPr>
            <a:r>
              <a:rPr lang="en-US" sz="1144" b="true">
                <a:solidFill>
                  <a:srgbClr val="111111"/>
                </a:solidFill>
                <a:latin typeface="Nunito Semi-Bold"/>
                <a:ea typeface="Nunito Semi-Bold"/>
                <a:cs typeface="Nunito Semi-Bold"/>
                <a:sym typeface="Nunito Semi-Bold"/>
              </a:rPr>
              <a:t>Doshi-Velez, F. &amp; Kim, B. Towards a Rigorous Science of Interpretable Machine Learning. arXiv:1702.08608 (2017).  ·  Rudin, C. et al. Interpretable ML: Fundamental Principles and 10 Grand Challenges. Statistics Surveys 16 (2022).</a:t>
            </a:r>
          </a:p>
        </p:txBody>
      </p:sp>
      <p:sp>
        <p:nvSpPr>
          <p:cNvPr id="54" name="Rounded Rectangle 53"/>
          <p:cNvSpPr/>
          <p:nvPr/>
        </p:nvSpPr>
        <p:spPr>
          <a:xfrm>
            <a:off x="1028700" y="8082370"/>
            <a:ext cx="16230600" cy="433124"/>
          </a:xfrm>
          <a:prstGeom prst="roundRect">
            <a:avLst>
              <a:gd name="adj" fmla="val 21111"/>
            </a:avLst>
          </a:prstGeom>
          <a:solidFill>
            <a:srgbClr val="FBF4EB"/>
          </a:solidFill>
          <a:ln>
            <a:noFill/>
          </a:ln>
        </p:spPr>
        <p:txBody>
          <a:bodyPr anchor="ctr" rtlCol="false" lIns="0" tIns="0" rIns="0" bIns="0" wrap="square"/>
          <a:lstStyle/>
          <a:p>
            <a:endParaRPr lang="en-US" sz="1800"/>
          </a:p>
        </p:txBody>
      </p:sp>
      <p:sp>
        <p:nvSpPr>
          <p:cNvPr id="55" name="Rounded Rectangle 54"/>
          <p:cNvSpPr/>
          <p:nvPr/>
        </p:nvSpPr>
        <p:spPr>
          <a:xfrm>
            <a:off x="1138428" y="8137234"/>
            <a:ext cx="640080" cy="323396"/>
          </a:xfrm>
          <a:prstGeom prst="roundRect">
            <a:avLst>
              <a:gd name="adj" fmla="val 22619"/>
            </a:avLst>
          </a:prstGeom>
          <a:solidFill>
            <a:srgbClr val="1F7A8C"/>
          </a:solidFill>
          <a:ln>
            <a:noFill/>
          </a:ln>
        </p:spPr>
        <p:txBody>
          <a:bodyPr anchor="ctr" rtlCol="false" lIns="91440" tIns="45720" rIns="91440" bIns="45720" wrap="square"/>
          <a:lstStyle/>
          <a:p>
            <a:pPr algn="ctr">
              <a:lnSpc>
                <a:spcPts val="1380"/>
              </a:lnSpc>
              <a:spcBef>
                <a:spcPts val="0"/>
              </a:spcBef>
              <a:buNone/>
            </a:pPr>
            <a:r>
              <a:rPr lang="en-US" sz="1200" b="true">
                <a:solidFill>
                  <a:srgbClr val="FFFFFF"/>
                </a:solidFill>
                <a:latin typeface="Nunito Bold"/>
                <a:ea typeface="Nunito Bold"/>
                <a:cs typeface="Nunito Bold"/>
                <a:sym typeface="Nunito Bold"/>
              </a:rPr>
              <a:t>[26]</a:t>
            </a:r>
          </a:p>
        </p:txBody>
      </p:sp>
      <p:sp>
        <p:nvSpPr>
          <p:cNvPr id="56" name="TextBox 55"/>
          <p:cNvSpPr txBox="1"/>
          <p:nvPr/>
        </p:nvSpPr>
        <p:spPr>
          <a:xfrm>
            <a:off x="1943100" y="8082370"/>
            <a:ext cx="15179040" cy="433124"/>
          </a:xfrm>
          <a:prstGeom prst="rect">
            <a:avLst/>
          </a:prstGeom>
          <a:noFill/>
        </p:spPr>
        <p:txBody>
          <a:bodyPr anchor="ctr" rtlCol="false" lIns="0" tIns="0" rIns="0" bIns="0" wrap="square"/>
          <a:lstStyle/>
          <a:p>
            <a:pPr algn="l">
              <a:lnSpc>
                <a:spcPts val="1820"/>
              </a:lnSpc>
              <a:spcBef>
                <a:spcPts val="0"/>
              </a:spcBef>
              <a:buNone/>
            </a:pPr>
            <a:r>
              <a:rPr lang="en-US" sz="1300" b="true">
                <a:solidFill>
                  <a:srgbClr val="111111"/>
                </a:solidFill>
                <a:latin typeface="Nunito Semi-Bold"/>
                <a:ea typeface="Nunito Semi-Bold"/>
                <a:cs typeface="Nunito Semi-Bold"/>
                <a:sym typeface="Nunito Semi-Bold"/>
              </a:rPr>
              <a:t>European Union. Regulation (EU) 2024/1689 (AI Act), Art. 13 (2024).  ·  Regulation (EU) 2016/679 (GDPR), Art. 22 (2016).  ·  OECD. Recommendation of the Council on Artificial Intelligence (2019).</a:t>
            </a:r>
          </a:p>
        </p:txBody>
      </p:sp>
      <p:sp>
        <p:nvSpPr>
          <p:cNvPr id="57" name="Rounded Rectangle 56"/>
          <p:cNvSpPr/>
          <p:nvPr/>
        </p:nvSpPr>
        <p:spPr>
          <a:xfrm>
            <a:off x="1028700" y="8570359"/>
            <a:ext cx="16230600" cy="433124"/>
          </a:xfrm>
          <a:prstGeom prst="roundRect">
            <a:avLst>
              <a:gd name="adj" fmla="val 21111"/>
            </a:avLst>
          </a:prstGeom>
          <a:solidFill>
            <a:srgbClr val="F6ECDF"/>
          </a:solidFill>
          <a:ln>
            <a:noFill/>
          </a:ln>
        </p:spPr>
        <p:txBody>
          <a:bodyPr anchor="ctr" rtlCol="false" lIns="0" tIns="0" rIns="0" bIns="0" wrap="square"/>
          <a:lstStyle/>
          <a:p>
            <a:endParaRPr lang="en-US" sz="1800"/>
          </a:p>
        </p:txBody>
      </p:sp>
      <p:sp>
        <p:nvSpPr>
          <p:cNvPr id="58" name="Rounded Rectangle 57"/>
          <p:cNvSpPr/>
          <p:nvPr/>
        </p:nvSpPr>
        <p:spPr>
          <a:xfrm>
            <a:off x="1138428" y="8625223"/>
            <a:ext cx="640080" cy="323396"/>
          </a:xfrm>
          <a:prstGeom prst="roundRect">
            <a:avLst>
              <a:gd name="adj" fmla="val 22619"/>
            </a:avLst>
          </a:prstGeom>
          <a:solidFill>
            <a:srgbClr val="1F7A8C"/>
          </a:solidFill>
          <a:ln>
            <a:noFill/>
          </a:ln>
        </p:spPr>
        <p:txBody>
          <a:bodyPr anchor="ctr" rtlCol="false" lIns="91440" tIns="45720" rIns="91440" bIns="45720" wrap="square"/>
          <a:lstStyle/>
          <a:p>
            <a:pPr algn="ctr">
              <a:lnSpc>
                <a:spcPts val="1380"/>
              </a:lnSpc>
              <a:spcBef>
                <a:spcPts val="0"/>
              </a:spcBef>
              <a:buNone/>
            </a:pPr>
            <a:r>
              <a:rPr lang="en-US" sz="1200" b="true">
                <a:solidFill>
                  <a:srgbClr val="FFFFFF"/>
                </a:solidFill>
                <a:latin typeface="Nunito Bold"/>
                <a:ea typeface="Nunito Bold"/>
                <a:cs typeface="Nunito Bold"/>
                <a:sym typeface="Nunito Bold"/>
              </a:rPr>
              <a:t>[27]</a:t>
            </a:r>
          </a:p>
        </p:txBody>
      </p:sp>
      <p:sp>
        <p:nvSpPr>
          <p:cNvPr id="59" name="TextBox 58"/>
          <p:cNvSpPr txBox="1"/>
          <p:nvPr/>
        </p:nvSpPr>
        <p:spPr>
          <a:xfrm>
            <a:off x="1943100" y="8570359"/>
            <a:ext cx="15179040" cy="433124"/>
          </a:xfrm>
          <a:prstGeom prst="rect">
            <a:avLst/>
          </a:prstGeom>
          <a:noFill/>
        </p:spPr>
        <p:txBody>
          <a:bodyPr anchor="ctr" rtlCol="false" lIns="0" tIns="0" rIns="0" bIns="0" wrap="square"/>
          <a:lstStyle/>
          <a:p>
            <a:pPr algn="l">
              <a:lnSpc>
                <a:spcPts val="1820"/>
              </a:lnSpc>
              <a:spcBef>
                <a:spcPts val="0"/>
              </a:spcBef>
              <a:buNone/>
            </a:pPr>
            <a:r>
              <a:rPr lang="en-US" sz="1300" b="true">
                <a:solidFill>
                  <a:srgbClr val="111111"/>
                </a:solidFill>
                <a:latin typeface="Nunito Semi-Bold"/>
                <a:ea typeface="Nunito Semi-Bold"/>
                <a:cs typeface="Nunito Semi-Bold"/>
                <a:sym typeface="Nunito Semi-Bold"/>
              </a:rPr>
              <a:t>Holm, S. A Simple Sequentially Rejective Multiple Test Procedure. Scand. J. Statist. 6(2), 65–70 (1979).  ·  Cohen, J. Statistical Power Analysis for the Behavioral Sciences (1988).</a:t>
            </a:r>
          </a:p>
        </p:txBody>
      </p:sp>
      <p:sp>
        <p:nvSpPr>
          <p:cNvPr id="60" name="Rounded Rectangle 59"/>
          <p:cNvSpPr/>
          <p:nvPr/>
        </p:nvSpPr>
        <p:spPr>
          <a:xfrm>
            <a:off x="1028700" y="9058347"/>
            <a:ext cx="16230600" cy="433124"/>
          </a:xfrm>
          <a:prstGeom prst="roundRect">
            <a:avLst>
              <a:gd name="adj" fmla="val 21111"/>
            </a:avLst>
          </a:prstGeom>
          <a:solidFill>
            <a:srgbClr val="FBF4EB"/>
          </a:solidFill>
          <a:ln>
            <a:noFill/>
          </a:ln>
        </p:spPr>
        <p:txBody>
          <a:bodyPr anchor="ctr" rtlCol="false" lIns="0" tIns="0" rIns="0" bIns="0" wrap="square"/>
          <a:lstStyle/>
          <a:p>
            <a:endParaRPr lang="en-US" sz="1800"/>
          </a:p>
        </p:txBody>
      </p:sp>
      <p:sp>
        <p:nvSpPr>
          <p:cNvPr id="61" name="Rounded Rectangle 60"/>
          <p:cNvSpPr/>
          <p:nvPr/>
        </p:nvSpPr>
        <p:spPr>
          <a:xfrm>
            <a:off x="1138428" y="9113211"/>
            <a:ext cx="640080" cy="323396"/>
          </a:xfrm>
          <a:prstGeom prst="roundRect">
            <a:avLst>
              <a:gd name="adj" fmla="val 22619"/>
            </a:avLst>
          </a:prstGeom>
          <a:solidFill>
            <a:srgbClr val="1F7A8C"/>
          </a:solidFill>
          <a:ln>
            <a:noFill/>
          </a:ln>
        </p:spPr>
        <p:txBody>
          <a:bodyPr anchor="ctr" rtlCol="false" lIns="91440" tIns="45720" rIns="91440" bIns="45720" wrap="square"/>
          <a:lstStyle/>
          <a:p>
            <a:pPr algn="ctr">
              <a:lnSpc>
                <a:spcPts val="1380"/>
              </a:lnSpc>
              <a:spcBef>
                <a:spcPts val="0"/>
              </a:spcBef>
              <a:buNone/>
            </a:pPr>
            <a:r>
              <a:rPr lang="en-US" sz="1200" b="true">
                <a:solidFill>
                  <a:srgbClr val="FFFFFF"/>
                </a:solidFill>
                <a:latin typeface="Nunito Bold"/>
                <a:ea typeface="Nunito Bold"/>
                <a:cs typeface="Nunito Bold"/>
                <a:sym typeface="Nunito Bold"/>
              </a:rPr>
              <a:t>[28]</a:t>
            </a:r>
          </a:p>
        </p:txBody>
      </p:sp>
      <p:sp>
        <p:nvSpPr>
          <p:cNvPr id="62" name="TextBox 61"/>
          <p:cNvSpPr txBox="1"/>
          <p:nvPr/>
        </p:nvSpPr>
        <p:spPr>
          <a:xfrm>
            <a:off x="1943100" y="9058347"/>
            <a:ext cx="15179040" cy="433124"/>
          </a:xfrm>
          <a:prstGeom prst="rect">
            <a:avLst/>
          </a:prstGeom>
          <a:noFill/>
        </p:spPr>
        <p:txBody>
          <a:bodyPr anchor="ctr" rtlCol="false" lIns="0" tIns="0" rIns="0" bIns="0" wrap="square"/>
          <a:lstStyle/>
          <a:p>
            <a:pPr algn="l">
              <a:lnSpc>
                <a:spcPts val="1820"/>
              </a:lnSpc>
              <a:spcBef>
                <a:spcPts val="0"/>
              </a:spcBef>
              <a:buNone/>
            </a:pPr>
            <a:r>
              <a:rPr lang="en-US" sz="1300" b="true">
                <a:solidFill>
                  <a:srgbClr val="111111"/>
                </a:solidFill>
                <a:latin typeface="Nunito Semi-Bold"/>
                <a:ea typeface="Nunito Semi-Bold"/>
                <a:cs typeface="Nunito Semi-Bold"/>
                <a:sym typeface="Nunito Semi-Bold"/>
              </a:rPr>
              <a:t>Nesmaoui, R., Louhichi, M. &amp; Lazaar, M. Dynamic Recommender Systems with Real-time Shapley Value-based Contribution Adjustment. IJIES 18, 241–257 (2025).</a:t>
            </a:r>
          </a:p>
        </p:txBody>
      </p:sp>
    </p:spTree>
  </p:cSld>
  <p:clrMapOvr>
    <a:masterClrMapping/>
  </p:clrMapOvr>
</p:sld>
</file>

<file path=ppt/slides/slide9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pic>
        <p:nvPicPr>
          <p:cNvPr id="2" name="Picture 1" descr="image.png"/>
          <p:cNvPicPr>
            <a:picLocks noChangeAspect="1"/>
          </p:cNvPicPr>
          <p:nvPr/>
        </p:nvPicPr>
        <p:blipFill>
          <a:blip r:embed="rId2"/>
          <a:stretch>
            <a:fillRect/>
          </a:stretch>
        </p:blipFill>
        <p:spPr>
          <a:xfrm>
            <a:off x="-1143000" y="0"/>
            <a:ext cx="10287000" cy="10287000"/>
          </a:xfrm>
          <a:prstGeom prst="rect">
            <a:avLst/>
          </a:prstGeom>
        </p:spPr>
      </p:pic>
      <p:pic>
        <p:nvPicPr>
          <p:cNvPr id="3" name="Picture 2" descr="image.png"/>
          <p:cNvPicPr>
            <a:picLocks noChangeAspect="1"/>
          </p:cNvPicPr>
          <p:nvPr/>
        </p:nvPicPr>
        <p:blipFill>
          <a:blip r:embed="rId2"/>
          <a:stretch>
            <a:fillRect/>
          </a:stretch>
        </p:blipFill>
        <p:spPr>
          <a:xfrm>
            <a:off x="9144000" y="0"/>
            <a:ext cx="10287000" cy="10287000"/>
          </a:xfrm>
          <a:prstGeom prst="rect">
            <a:avLst/>
          </a:prstGeom>
        </p:spPr>
      </p:pic>
      <p:pic>
        <p:nvPicPr>
          <p:cNvPr id="4" name="Picture 3" descr="ensias_logo.jpg"/>
          <p:cNvPicPr>
            <a:picLocks noChangeAspect="1"/>
          </p:cNvPicPr>
          <p:nvPr/>
        </p:nvPicPr>
        <p:blipFill>
          <a:blip r:embed="rId3"/>
          <a:stretch>
            <a:fillRect/>
          </a:stretch>
        </p:blipFill>
        <p:spPr>
          <a:xfrm>
            <a:off x="1028700" y="9674352"/>
            <a:ext cx="542964" cy="384048"/>
          </a:xfrm>
          <a:prstGeom prst="rect">
            <a:avLst/>
          </a:prstGeom>
        </p:spPr>
      </p:pic>
      <p:sp>
        <p:nvSpPr>
          <p:cNvPr id="5" name="TextBox 4"/>
          <p:cNvSpPr txBox="1"/>
          <p:nvPr/>
        </p:nvSpPr>
        <p:spPr>
          <a:xfrm>
            <a:off x="1577340" y="9747504"/>
            <a:ext cx="12801600" cy="274320"/>
          </a:xfrm>
          <a:prstGeom prst="rect">
            <a:avLst/>
          </a:prstGeom>
          <a:noFill/>
        </p:spPr>
        <p:txBody>
          <a:bodyPr anchor="t" rtlCol="false" lIns="0" tIns="0" rIns="0" bIns="0" wrap="square"/>
          <a:lstStyle/>
          <a:p>
            <a:pPr algn="l">
              <a:lnSpc>
                <a:spcPts val="1600"/>
              </a:lnSpc>
              <a:spcBef>
                <a:spcPts val="0"/>
              </a:spcBef>
              <a:buNone/>
            </a:pPr>
            <a:r>
              <a:rPr lang="en-US" sz="1300" b="true">
                <a:solidFill>
                  <a:srgbClr val="8A8378"/>
                </a:solidFill>
                <a:latin typeface="Nunito Bold"/>
                <a:ea typeface="Nunito Bold"/>
                <a:cs typeface="Nunito Bold"/>
                <a:sym typeface="Nunito Bold"/>
              </a:rPr>
              <a:t>Cooperative Game Theory for Explainable AI in Recommendation Systems  ·  A Shapley Framework for Actionable Insight</a:t>
            </a:r>
          </a:p>
        </p:txBody>
      </p:sp>
      <p:sp>
        <p:nvSpPr>
          <p:cNvPr id="6" name="TextBox 5"/>
          <p:cNvSpPr txBox="1"/>
          <p:nvPr/>
        </p:nvSpPr>
        <p:spPr>
          <a:xfrm>
            <a:off x="16162020" y="9692640"/>
            <a:ext cx="1097280" cy="329184"/>
          </a:xfrm>
          <a:prstGeom prst="rect">
            <a:avLst/>
          </a:prstGeom>
          <a:noFill/>
        </p:spPr>
        <p:txBody>
          <a:bodyPr anchor="t" rtlCol="false" lIns="0" tIns="0" rIns="0" bIns="0" wrap="square"/>
          <a:lstStyle/>
          <a:p>
            <a:pPr algn="r">
              <a:lnSpc>
                <a:spcPts val="2200"/>
              </a:lnSpc>
              <a:spcBef>
                <a:spcPts val="0"/>
              </a:spcBef>
              <a:buNone/>
            </a:pPr>
            <a:r>
              <a:rPr lang="en-US" sz="1800" b="true">
                <a:solidFill>
                  <a:srgbClr val="111111"/>
                </a:solidFill>
                <a:latin typeface="Nunito Ultra-Bold"/>
                <a:ea typeface="Nunito Ultra-Bold"/>
                <a:cs typeface="Nunito Ultra-Bold"/>
                <a:sym typeface="Nunito Ultra-Bold"/>
              </a:rPr>
              <a:t>75</a:t>
            </a:r>
          </a:p>
        </p:txBody>
      </p:sp>
      <p:sp>
        <p:nvSpPr>
          <p:cNvPr id="7" name="TextBox 6"/>
          <p:cNvSpPr txBox="1"/>
          <p:nvPr/>
        </p:nvSpPr>
        <p:spPr>
          <a:xfrm>
            <a:off x="1028700" y="2514600"/>
            <a:ext cx="16230600" cy="3291840"/>
          </a:xfrm>
          <a:prstGeom prst="rect">
            <a:avLst/>
          </a:prstGeom>
          <a:noFill/>
        </p:spPr>
        <p:txBody>
          <a:bodyPr anchor="t" rtlCol="false" lIns="0" tIns="0" rIns="0" bIns="0" wrap="square"/>
          <a:lstStyle/>
          <a:p>
            <a:pPr algn="ctr">
              <a:lnSpc>
                <a:spcPts val="15000"/>
              </a:lnSpc>
              <a:spcBef>
                <a:spcPts val="0"/>
              </a:spcBef>
              <a:buNone/>
            </a:pPr>
            <a:r>
              <a:rPr lang="en-US" sz="15000" b="true" spc="-800">
                <a:solidFill>
                  <a:srgbClr val="111111"/>
                </a:solidFill>
                <a:latin typeface="Roca Two Bold"/>
                <a:ea typeface="Roca Two Bold"/>
                <a:cs typeface="Roca Two Bold"/>
                <a:sym typeface="Roca Two Bold"/>
              </a:rPr>
              <a:t>Thank You</a:t>
            </a:r>
          </a:p>
          <a:p>
            <a:pPr algn="ctr">
              <a:lnSpc>
                <a:spcPts val="8400"/>
              </a:lnSpc>
              <a:spcBef>
                <a:spcPts val="400"/>
              </a:spcBef>
              <a:buNone/>
            </a:pPr>
            <a:r>
              <a:rPr lang="en-US" sz="7200" b="true" spc="-350">
                <a:solidFill>
                  <a:srgbClr val="111111"/>
                </a:solidFill>
                <a:latin typeface="Roca Two Bold"/>
                <a:ea typeface="Roca Two Bold"/>
                <a:cs typeface="Roca Two Bold"/>
                <a:sym typeface="Roca Two Bold"/>
              </a:rPr>
              <a:t>for your attention</a:t>
            </a:r>
          </a:p>
        </p:txBody>
      </p:sp>
      <p:pic>
        <p:nvPicPr>
          <p:cNvPr id="8" name="Picture 7" descr="image.png"/>
          <p:cNvPicPr>
            <a:picLocks noChangeAspect="1"/>
          </p:cNvPicPr>
          <p:nvPr/>
        </p:nvPicPr>
        <p:blipFill>
          <a:blip r:embed="rId4"/>
          <a:stretch>
            <a:fillRect/>
          </a:stretch>
        </p:blipFill>
        <p:spPr>
          <a:xfrm>
            <a:off x="13350240" y="2468880"/>
            <a:ext cx="822960" cy="747445"/>
          </a:xfrm>
          <a:prstGeom prst="rect">
            <a:avLst/>
          </a:prstGeom>
        </p:spPr>
      </p:pic>
      <p:pic>
        <p:nvPicPr>
          <p:cNvPr id="9" name="Picture 8" descr="image.png"/>
          <p:cNvPicPr>
            <a:picLocks noChangeAspect="1"/>
          </p:cNvPicPr>
          <p:nvPr/>
        </p:nvPicPr>
        <p:blipFill>
          <a:blip r:embed="rId5"/>
          <a:stretch>
            <a:fillRect/>
          </a:stretch>
        </p:blipFill>
        <p:spPr>
          <a:xfrm rot="20700000">
            <a:off x="3291840" y="4846320"/>
            <a:ext cx="685800" cy="925673"/>
          </a:xfrm>
          <a:prstGeom prst="rect">
            <a:avLst/>
          </a:prstGeom>
        </p:spPr>
      </p:pic>
      <p:sp>
        <p:nvSpPr>
          <p:cNvPr id="10" name="Oval 9"/>
          <p:cNvSpPr/>
          <p:nvPr/>
        </p:nvSpPr>
        <p:spPr>
          <a:xfrm>
            <a:off x="15613380" y="5760720"/>
            <a:ext cx="1005840" cy="1005840"/>
          </a:xfrm>
          <a:prstGeom prst="ellipse">
            <a:avLst/>
          </a:prstGeom>
          <a:solidFill>
            <a:srgbClr val="4472C4"/>
          </a:solidFill>
          <a:ln>
            <a:noFill/>
          </a:ln>
        </p:spPr>
        <p:txBody>
          <a:bodyPr anchor="ctr" rtlCol="false" lIns="0" tIns="0" rIns="0" bIns="0" wrap="square"/>
          <a:lstStyle/>
          <a:p>
            <a:pPr algn="ctr">
              <a:lnSpc>
                <a:spcPts val="4400"/>
              </a:lnSpc>
              <a:spcBef>
                <a:spcPts val="0"/>
              </a:spcBef>
              <a:buNone/>
            </a:pPr>
            <a:r>
              <a:rPr lang="en-US" sz="4000" b="true" spc="-200">
                <a:solidFill>
                  <a:srgbClr val="FFFFFF"/>
                </a:solidFill>
                <a:latin typeface="Roca Two Bold"/>
                <a:ea typeface="Roca Two Bold"/>
                <a:cs typeface="Roca Two Bold"/>
                <a:sym typeface="Roca Two Bold"/>
              </a:rPr>
              <a:t>?</a:t>
            </a:r>
          </a:p>
        </p:txBody>
      </p:sp>
      <p:sp>
        <p:nvSpPr>
          <p:cNvPr id="11" name="TextBox 10"/>
          <p:cNvSpPr txBox="1"/>
          <p:nvPr/>
        </p:nvSpPr>
        <p:spPr>
          <a:xfrm>
            <a:off x="1028700" y="6583680"/>
            <a:ext cx="16230600" cy="640080"/>
          </a:xfrm>
          <a:prstGeom prst="rect">
            <a:avLst/>
          </a:prstGeom>
          <a:noFill/>
        </p:spPr>
        <p:txBody>
          <a:bodyPr anchor="t" rtlCol="false" lIns="0" tIns="0" rIns="0" bIns="0" wrap="square"/>
          <a:lstStyle/>
          <a:p>
            <a:pPr algn="ctr">
              <a:lnSpc>
                <a:spcPts val="3400"/>
              </a:lnSpc>
              <a:spcBef>
                <a:spcPts val="0"/>
              </a:spcBef>
              <a:buNone/>
            </a:pPr>
            <a:r>
              <a:rPr lang="en-US" sz="2800" b="true">
                <a:solidFill>
                  <a:srgbClr val="4472C4"/>
                </a:solidFill>
                <a:latin typeface="Nunito Bold"/>
                <a:ea typeface="Nunito Bold"/>
                <a:cs typeface="Nunito Bold"/>
                <a:sym typeface="Nunito Bold"/>
              </a:rPr>
              <a:t>Questions &amp; Discussion  ·  I welcome your questions and comments.</a:t>
            </a:r>
          </a:p>
        </p:txBody>
      </p:sp>
      <p:sp>
        <p:nvSpPr>
          <p:cNvPr id="12" name="Rounded Rectangle 11"/>
          <p:cNvSpPr/>
          <p:nvPr/>
        </p:nvSpPr>
        <p:spPr>
          <a:xfrm>
            <a:off x="1028700" y="7818120"/>
            <a:ext cx="3851910" cy="1051560"/>
          </a:xfrm>
          <a:prstGeom prst="roundRect">
            <a:avLst>
              <a:gd name="adj" fmla="val 17391"/>
            </a:avLst>
          </a:prstGeom>
          <a:solidFill>
            <a:srgbClr val="FFFFFF"/>
          </a:solidFill>
          <a:ln w="15875">
            <a:solidFill>
              <a:srgbClr val="E3D6C4"/>
            </a:solidFill>
          </a:ln>
        </p:spPr>
        <p:txBody>
          <a:bodyPr anchor="ctr" rtlCol="false" lIns="91440" tIns="45720" rIns="91440" bIns="45720" wrap="square"/>
          <a:lstStyle/>
          <a:p>
            <a:pPr algn="ctr">
              <a:lnSpc>
                <a:spcPts val="1600"/>
              </a:lnSpc>
              <a:spcBef>
                <a:spcPts val="0"/>
              </a:spcBef>
              <a:buNone/>
            </a:pPr>
            <a:r>
              <a:rPr lang="en-US" sz="1300" b="true" spc="150">
                <a:solidFill>
                  <a:srgbClr val="1F7A8C"/>
                </a:solidFill>
                <a:latin typeface="Nunito Ultra-Bold"/>
                <a:ea typeface="Nunito Ultra-Bold"/>
                <a:cs typeface="Nunito Ultra-Bold"/>
                <a:sym typeface="Nunito Ultra-Bold"/>
              </a:rPr>
              <a:t>CANDIDATE</a:t>
            </a:r>
          </a:p>
          <a:p>
            <a:pPr algn="ctr">
              <a:lnSpc>
                <a:spcPts val="2400"/>
              </a:lnSpc>
              <a:spcBef>
                <a:spcPts val="400"/>
              </a:spcBef>
              <a:buNone/>
            </a:pPr>
            <a:r>
              <a:rPr lang="en-US" sz="2000" b="true">
                <a:solidFill>
                  <a:srgbClr val="111111"/>
                </a:solidFill>
                <a:latin typeface="Nunito Ultra-Bold"/>
                <a:ea typeface="Nunito Ultra-Bold"/>
                <a:cs typeface="Nunito Ultra-Bold"/>
                <a:sym typeface="Nunito Ultra-Bold"/>
              </a:rPr>
              <a:t>Mouad LOUHICHI</a:t>
            </a:r>
          </a:p>
        </p:txBody>
      </p:sp>
      <p:sp>
        <p:nvSpPr>
          <p:cNvPr id="13" name="Rounded Rectangle 12"/>
          <p:cNvSpPr/>
          <p:nvPr/>
        </p:nvSpPr>
        <p:spPr>
          <a:xfrm>
            <a:off x="5154930" y="7818120"/>
            <a:ext cx="3851910" cy="1051560"/>
          </a:xfrm>
          <a:prstGeom prst="roundRect">
            <a:avLst>
              <a:gd name="adj" fmla="val 17391"/>
            </a:avLst>
          </a:prstGeom>
          <a:solidFill>
            <a:srgbClr val="FFFFFF"/>
          </a:solidFill>
          <a:ln w="15875">
            <a:solidFill>
              <a:srgbClr val="E3D6C4"/>
            </a:solidFill>
          </a:ln>
        </p:spPr>
        <p:txBody>
          <a:bodyPr anchor="ctr" rtlCol="false" lIns="91440" tIns="45720" rIns="91440" bIns="45720" wrap="square"/>
          <a:lstStyle/>
          <a:p>
            <a:pPr algn="ctr">
              <a:lnSpc>
                <a:spcPts val="1600"/>
              </a:lnSpc>
              <a:spcBef>
                <a:spcPts val="0"/>
              </a:spcBef>
              <a:buNone/>
            </a:pPr>
            <a:r>
              <a:rPr lang="en-US" sz="1300" b="true" spc="150">
                <a:solidFill>
                  <a:srgbClr val="1F7A8C"/>
                </a:solidFill>
                <a:latin typeface="Nunito Ultra-Bold"/>
                <a:ea typeface="Nunito Ultra-Bold"/>
                <a:cs typeface="Nunito Ultra-Bold"/>
                <a:sym typeface="Nunito Ultra-Bold"/>
              </a:rPr>
              <a:t>SUPERVISOR</a:t>
            </a:r>
          </a:p>
          <a:p>
            <a:pPr algn="ctr">
              <a:lnSpc>
                <a:spcPts val="2400"/>
              </a:lnSpc>
              <a:spcBef>
                <a:spcPts val="400"/>
              </a:spcBef>
              <a:buNone/>
            </a:pPr>
            <a:r>
              <a:rPr lang="en-US" sz="2000" b="true">
                <a:solidFill>
                  <a:srgbClr val="111111"/>
                </a:solidFill>
                <a:latin typeface="Nunito Ultra-Bold"/>
                <a:ea typeface="Nunito Ultra-Bold"/>
                <a:cs typeface="Nunito Ultra-Bold"/>
                <a:sym typeface="Nunito Ultra-Bold"/>
              </a:rPr>
              <a:t>Pr. Mohamed LAZAAR</a:t>
            </a:r>
          </a:p>
        </p:txBody>
      </p:sp>
      <p:sp>
        <p:nvSpPr>
          <p:cNvPr id="14" name="Rounded Rectangle 13"/>
          <p:cNvSpPr/>
          <p:nvPr/>
        </p:nvSpPr>
        <p:spPr>
          <a:xfrm>
            <a:off x="9281160" y="7818120"/>
            <a:ext cx="3851910" cy="1051560"/>
          </a:xfrm>
          <a:prstGeom prst="roundRect">
            <a:avLst>
              <a:gd name="adj" fmla="val 17391"/>
            </a:avLst>
          </a:prstGeom>
          <a:solidFill>
            <a:srgbClr val="FFFFFF"/>
          </a:solidFill>
          <a:ln w="15875">
            <a:solidFill>
              <a:srgbClr val="E3D6C4"/>
            </a:solidFill>
          </a:ln>
        </p:spPr>
        <p:txBody>
          <a:bodyPr anchor="ctr" rtlCol="false" lIns="91440" tIns="45720" rIns="91440" bIns="45720" wrap="square"/>
          <a:lstStyle/>
          <a:p>
            <a:pPr algn="ctr">
              <a:lnSpc>
                <a:spcPts val="1600"/>
              </a:lnSpc>
              <a:spcBef>
                <a:spcPts val="0"/>
              </a:spcBef>
              <a:buNone/>
            </a:pPr>
            <a:r>
              <a:rPr lang="en-US" sz="1300" b="true" spc="150">
                <a:solidFill>
                  <a:srgbClr val="1F7A8C"/>
                </a:solidFill>
                <a:latin typeface="Nunito Ultra-Bold"/>
                <a:ea typeface="Nunito Ultra-Bold"/>
                <a:cs typeface="Nunito Ultra-Bold"/>
                <a:sym typeface="Nunito Ultra-Bold"/>
              </a:rPr>
              <a:t>LABORATORY</a:t>
            </a:r>
          </a:p>
          <a:p>
            <a:pPr algn="ctr">
              <a:lnSpc>
                <a:spcPts val="2400"/>
              </a:lnSpc>
              <a:spcBef>
                <a:spcPts val="400"/>
              </a:spcBef>
              <a:buNone/>
            </a:pPr>
            <a:r>
              <a:rPr lang="en-US" sz="2000" b="true">
                <a:solidFill>
                  <a:srgbClr val="111111"/>
                </a:solidFill>
                <a:latin typeface="Nunito Ultra-Bold"/>
                <a:ea typeface="Nunito Ultra-Bold"/>
                <a:cs typeface="Nunito Ultra-Bold"/>
                <a:sym typeface="Nunito Ultra-Bold"/>
              </a:rPr>
              <a:t>ENSIAS · UM5 Rabat</a:t>
            </a:r>
          </a:p>
        </p:txBody>
      </p:sp>
      <p:sp>
        <p:nvSpPr>
          <p:cNvPr id="15" name="Rounded Rectangle 14"/>
          <p:cNvSpPr/>
          <p:nvPr/>
        </p:nvSpPr>
        <p:spPr>
          <a:xfrm>
            <a:off x="13407390" y="7818120"/>
            <a:ext cx="3851910" cy="1051560"/>
          </a:xfrm>
          <a:prstGeom prst="roundRect">
            <a:avLst>
              <a:gd name="adj" fmla="val 17391"/>
            </a:avLst>
          </a:prstGeom>
          <a:solidFill>
            <a:srgbClr val="FFFFFF"/>
          </a:solidFill>
          <a:ln w="15875">
            <a:solidFill>
              <a:srgbClr val="E3D6C4"/>
            </a:solidFill>
          </a:ln>
        </p:spPr>
        <p:txBody>
          <a:bodyPr anchor="ctr" rtlCol="false" lIns="91440" tIns="45720" rIns="91440" bIns="45720" wrap="square"/>
          <a:lstStyle/>
          <a:p>
            <a:pPr algn="ctr">
              <a:lnSpc>
                <a:spcPts val="1600"/>
              </a:lnSpc>
              <a:spcBef>
                <a:spcPts val="0"/>
              </a:spcBef>
              <a:buNone/>
            </a:pPr>
            <a:r>
              <a:rPr lang="en-US" sz="1300" b="true" spc="150">
                <a:solidFill>
                  <a:srgbClr val="1F7A8C"/>
                </a:solidFill>
                <a:latin typeface="Nunito Ultra-Bold"/>
                <a:ea typeface="Nunito Ultra-Bold"/>
                <a:cs typeface="Nunito Ultra-Bold"/>
                <a:sym typeface="Nunito Ultra-Bold"/>
              </a:rPr>
              <a:t>DEFENCE</a:t>
            </a:r>
          </a:p>
          <a:p>
            <a:pPr algn="ctr">
              <a:lnSpc>
                <a:spcPts val="2400"/>
              </a:lnSpc>
              <a:spcBef>
                <a:spcPts val="400"/>
              </a:spcBef>
              <a:buNone/>
            </a:pPr>
            <a:r>
              <a:rPr lang="en-US" sz="2000" b="true">
                <a:solidFill>
                  <a:srgbClr val="111111"/>
                </a:solidFill>
                <a:latin typeface="Nunito Ultra-Bold"/>
                <a:ea typeface="Nunito Ultra-Bold"/>
                <a:cs typeface="Nunito Ultra-Bold"/>
                <a:sym typeface="Nunito Ultra-Bold"/>
              </a:rPr>
              <a:t>Rabat · 2026</a:t>
            </a:r>
          </a:p>
        </p:txBody>
      </p:sp>
    </p:spTree>
  </p:cSld>
  <p:clrMapOvr>
    <a:masterClrMapping/>
  </p:clrMapOvr>
</p:sld>
</file>

<file path=ppt/slides/slide9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pic>
        <p:nvPicPr>
          <p:cNvPr id="2" name="Picture 1" descr="um5_logo.png"/>
          <p:cNvPicPr>
            <a:picLocks noChangeAspect="1"/>
          </p:cNvPicPr>
          <p:nvPr/>
        </p:nvPicPr>
        <p:blipFill>
          <a:blip r:embed="rId2"/>
          <a:stretch>
            <a:fillRect/>
          </a:stretch>
        </p:blipFill>
        <p:spPr>
          <a:xfrm>
            <a:off x="1028700" y="457200"/>
            <a:ext cx="1255612" cy="914400"/>
          </a:xfrm>
          <a:prstGeom prst="rect">
            <a:avLst/>
          </a:prstGeom>
        </p:spPr>
      </p:pic>
      <p:pic>
        <p:nvPicPr>
          <p:cNvPr id="3" name="Picture 2" descr="ministry_logo.png"/>
          <p:cNvPicPr>
            <a:picLocks noChangeAspect="1"/>
          </p:cNvPicPr>
          <p:nvPr/>
        </p:nvPicPr>
        <p:blipFill>
          <a:blip r:embed="rId3"/>
          <a:stretch>
            <a:fillRect/>
          </a:stretch>
        </p:blipFill>
        <p:spPr>
          <a:xfrm>
            <a:off x="8001000" y="365760"/>
            <a:ext cx="2167205" cy="1143000"/>
          </a:xfrm>
          <a:prstGeom prst="rect">
            <a:avLst/>
          </a:prstGeom>
        </p:spPr>
      </p:pic>
      <p:pic>
        <p:nvPicPr>
          <p:cNvPr id="4" name="Picture 3" descr="ensias_logo.jpg"/>
          <p:cNvPicPr>
            <a:picLocks noChangeAspect="1"/>
          </p:cNvPicPr>
          <p:nvPr/>
        </p:nvPicPr>
        <p:blipFill>
          <a:blip r:embed="rId4"/>
          <a:stretch>
            <a:fillRect/>
          </a:stretch>
        </p:blipFill>
        <p:spPr>
          <a:xfrm>
            <a:off x="15796260" y="411480"/>
            <a:ext cx="1422050" cy="1005840"/>
          </a:xfrm>
          <a:prstGeom prst="rect">
            <a:avLst/>
          </a:prstGeom>
        </p:spPr>
      </p:pic>
      <p:sp>
        <p:nvSpPr>
          <p:cNvPr id="5" name="TextBox 4"/>
          <p:cNvSpPr txBox="1"/>
          <p:nvPr/>
        </p:nvSpPr>
        <p:spPr>
          <a:xfrm>
            <a:off x="1028700" y="1536192"/>
            <a:ext cx="16230600" cy="365760"/>
          </a:xfrm>
          <a:prstGeom prst="rect">
            <a:avLst/>
          </a:prstGeom>
          <a:noFill/>
        </p:spPr>
        <p:txBody>
          <a:bodyPr anchor="t" rtlCol="false" lIns="0" tIns="0" rIns="0" bIns="0" wrap="square"/>
          <a:lstStyle/>
          <a:p>
            <a:pPr algn="ctr">
              <a:lnSpc>
                <a:spcPts val="1900"/>
              </a:lnSpc>
              <a:spcBef>
                <a:spcPts val="0"/>
              </a:spcBef>
              <a:buNone/>
            </a:pPr>
            <a:r>
              <a:rPr lang="en-US" sz="1500" b="true">
                <a:solidFill>
                  <a:srgbClr val="8A8378"/>
                </a:solidFill>
                <a:latin typeface="Nunito Bold"/>
                <a:ea typeface="Nunito Bold"/>
                <a:cs typeface="Nunito Bold"/>
                <a:sym typeface="Nunito Bold"/>
              </a:rPr>
              <a:t>Doctoral Studies Center in Information and Engineering Sciences and Technologies (ST2I)</a:t>
            </a:r>
          </a:p>
        </p:txBody>
      </p:sp>
      <p:sp>
        <p:nvSpPr>
          <p:cNvPr id="6" name="TextBox 5"/>
          <p:cNvSpPr txBox="1"/>
          <p:nvPr/>
        </p:nvSpPr>
        <p:spPr>
          <a:xfrm>
            <a:off x="1028700" y="1938528"/>
            <a:ext cx="16230600" cy="365760"/>
          </a:xfrm>
          <a:prstGeom prst="rect">
            <a:avLst/>
          </a:prstGeom>
          <a:noFill/>
        </p:spPr>
        <p:txBody>
          <a:bodyPr anchor="t" rtlCol="false" lIns="0" tIns="0" rIns="0" bIns="0" wrap="square"/>
          <a:lstStyle/>
          <a:p>
            <a:pPr algn="ctr">
              <a:lnSpc>
                <a:spcPts val="1900"/>
              </a:lnSpc>
              <a:spcBef>
                <a:spcPts val="0"/>
              </a:spcBef>
              <a:buNone/>
            </a:pPr>
            <a:r>
              <a:rPr lang="en-US" sz="1400" b="true" spc="200">
                <a:solidFill>
                  <a:srgbClr val="1F7A8C"/>
                </a:solidFill>
                <a:latin typeface="Nunito Ultra-Bold"/>
                <a:ea typeface="Nunito Ultra-Bold"/>
                <a:cs typeface="Nunito Ultra-Bold"/>
                <a:sym typeface="Nunito Ultra-Bold"/>
              </a:rPr>
              <a:t>QUESTIONS &amp; DISCUSSION  ·  THANK YOU</a:t>
            </a:r>
          </a:p>
        </p:txBody>
      </p:sp>
      <p:sp>
        <p:nvSpPr>
          <p:cNvPr id="7" name="TextBox 6"/>
          <p:cNvSpPr txBox="1"/>
          <p:nvPr/>
        </p:nvSpPr>
        <p:spPr>
          <a:xfrm>
            <a:off x="1028700" y="2286000"/>
            <a:ext cx="16230600" cy="1828800"/>
          </a:xfrm>
          <a:prstGeom prst="rect">
            <a:avLst/>
          </a:prstGeom>
          <a:noFill/>
        </p:spPr>
        <p:txBody>
          <a:bodyPr anchor="t" rtlCol="false" lIns="0" tIns="0" rIns="0" bIns="0" wrap="square"/>
          <a:lstStyle/>
          <a:p>
            <a:pPr algn="ctr">
              <a:lnSpc>
                <a:spcPts val="5400"/>
              </a:lnSpc>
              <a:spcBef>
                <a:spcPts val="0"/>
              </a:spcBef>
              <a:buNone/>
            </a:pPr>
            <a:r>
              <a:rPr lang="en-US" sz="5000" b="true" spc="-300">
                <a:solidFill>
                  <a:srgbClr val="111111"/>
                </a:solidFill>
                <a:latin typeface="Roca Two Bold"/>
                <a:ea typeface="Roca Two Bold"/>
                <a:cs typeface="Roca Two Bold"/>
                <a:sym typeface="Roca Two Bold"/>
              </a:rPr>
              <a:t>Cooperative Game Theory for</a:t>
            </a:r>
          </a:p>
          <a:p>
            <a:pPr algn="ctr">
              <a:lnSpc>
                <a:spcPts val="5400"/>
              </a:lnSpc>
              <a:spcBef>
                <a:spcPts val="0"/>
              </a:spcBef>
              <a:buNone/>
            </a:pPr>
            <a:r>
              <a:rPr lang="en-US" sz="5000" b="true" spc="-300">
                <a:solidFill>
                  <a:srgbClr val="111111"/>
                </a:solidFill>
                <a:latin typeface="Roca Two Bold"/>
                <a:ea typeface="Roca Two Bold"/>
                <a:cs typeface="Roca Two Bold"/>
                <a:sym typeface="Roca Two Bold"/>
              </a:rPr>
              <a:t>Explainable AI in Recommendation Systems</a:t>
            </a:r>
          </a:p>
        </p:txBody>
      </p:sp>
      <p:sp>
        <p:nvSpPr>
          <p:cNvPr id="8" name="TextBox 7"/>
          <p:cNvSpPr txBox="1"/>
          <p:nvPr/>
        </p:nvSpPr>
        <p:spPr>
          <a:xfrm>
            <a:off x="1028700" y="3913632"/>
            <a:ext cx="16230600" cy="457200"/>
          </a:xfrm>
          <a:prstGeom prst="rect">
            <a:avLst/>
          </a:prstGeom>
          <a:noFill/>
        </p:spPr>
        <p:txBody>
          <a:bodyPr anchor="t" rtlCol="false" lIns="0" tIns="0" rIns="0" bIns="0" wrap="square"/>
          <a:lstStyle/>
          <a:p>
            <a:pPr algn="ctr">
              <a:lnSpc>
                <a:spcPts val="3000"/>
              </a:lnSpc>
              <a:spcBef>
                <a:spcPts val="0"/>
              </a:spcBef>
              <a:buNone/>
            </a:pPr>
            <a:r>
              <a:rPr lang="en-US" sz="2500" b="true" spc="-100">
                <a:solidFill>
                  <a:srgbClr val="4472C4"/>
                </a:solidFill>
                <a:latin typeface="Nunito Bold"/>
                <a:ea typeface="Nunito Bold"/>
                <a:cs typeface="Nunito Bold"/>
                <a:sym typeface="Nunito Bold"/>
              </a:rPr>
              <a:t>A Shapley Framework for Actionable Insight</a:t>
            </a:r>
          </a:p>
        </p:txBody>
      </p:sp>
      <p:sp>
        <p:nvSpPr>
          <p:cNvPr id="9" name="Rounded Rectangle 8"/>
          <p:cNvSpPr/>
          <p:nvPr/>
        </p:nvSpPr>
        <p:spPr>
          <a:xfrm>
            <a:off x="2926080" y="4526280"/>
            <a:ext cx="6035040" cy="786384"/>
          </a:xfrm>
          <a:prstGeom prst="roundRect">
            <a:avLst>
              <a:gd name="adj" fmla="val 27906"/>
            </a:avLst>
          </a:prstGeom>
          <a:solidFill>
            <a:srgbClr val="4472C4"/>
          </a:solidFill>
          <a:ln>
            <a:noFill/>
          </a:ln>
        </p:spPr>
        <p:txBody>
          <a:bodyPr anchor="ctr" rtlCol="false" lIns="91440" tIns="45720" rIns="91440" bIns="45720" wrap="square"/>
          <a:lstStyle/>
          <a:p>
            <a:pPr algn="ctr">
              <a:lnSpc>
                <a:spcPts val="1400"/>
              </a:lnSpc>
              <a:spcBef>
                <a:spcPts val="0"/>
              </a:spcBef>
              <a:buNone/>
            </a:pPr>
            <a:r>
              <a:rPr lang="en-US" sz="1100" b="true" spc="150">
                <a:solidFill>
                  <a:srgbClr val="ECC665"/>
                </a:solidFill>
                <a:latin typeface="Nunito Ultra-Bold"/>
                <a:ea typeface="Nunito Ultra-Bold"/>
                <a:cs typeface="Nunito Ultra-Bold"/>
                <a:sym typeface="Nunito Ultra-Bold"/>
              </a:rPr>
              <a:t>PHD VIVA PRESENTED BY</a:t>
            </a:r>
          </a:p>
          <a:p>
            <a:pPr algn="ctr">
              <a:lnSpc>
                <a:spcPts val="2600"/>
              </a:lnSpc>
              <a:spcBef>
                <a:spcPts val="200"/>
              </a:spcBef>
              <a:buNone/>
            </a:pPr>
            <a:r>
              <a:rPr lang="en-US" sz="2200" b="true">
                <a:solidFill>
                  <a:srgbClr val="FFFFFF"/>
                </a:solidFill>
                <a:latin typeface="Nunito Ultra-Bold"/>
                <a:ea typeface="Nunito Ultra-Bold"/>
                <a:cs typeface="Nunito Ultra-Bold"/>
                <a:sym typeface="Nunito Ultra-Bold"/>
              </a:rPr>
              <a:t>Mouad LOUHICHI</a:t>
            </a:r>
          </a:p>
        </p:txBody>
      </p:sp>
      <p:sp>
        <p:nvSpPr>
          <p:cNvPr id="10" name="Rounded Rectangle 9"/>
          <p:cNvSpPr/>
          <p:nvPr/>
        </p:nvSpPr>
        <p:spPr>
          <a:xfrm>
            <a:off x="9326880" y="4526280"/>
            <a:ext cx="6035040" cy="786384"/>
          </a:xfrm>
          <a:prstGeom prst="roundRect">
            <a:avLst>
              <a:gd name="adj" fmla="val 27906"/>
            </a:avLst>
          </a:prstGeom>
          <a:solidFill>
            <a:srgbClr val="F6ECDF"/>
          </a:solidFill>
          <a:ln>
            <a:noFill/>
          </a:ln>
        </p:spPr>
        <p:txBody>
          <a:bodyPr anchor="ctr" rtlCol="false" lIns="91440" tIns="45720" rIns="91440" bIns="45720" wrap="square"/>
          <a:lstStyle/>
          <a:p>
            <a:pPr algn="ctr">
              <a:lnSpc>
                <a:spcPts val="1400"/>
              </a:lnSpc>
              <a:spcBef>
                <a:spcPts val="0"/>
              </a:spcBef>
              <a:buNone/>
            </a:pPr>
            <a:r>
              <a:rPr lang="en-US" sz="1100" b="true" spc="150">
                <a:solidFill>
                  <a:srgbClr val="1F7A8C"/>
                </a:solidFill>
                <a:latin typeface="Nunito Ultra-Bold"/>
                <a:ea typeface="Nunito Ultra-Bold"/>
                <a:cs typeface="Nunito Ultra-Bold"/>
                <a:sym typeface="Nunito Ultra-Bold"/>
              </a:rPr>
              <a:t>SUPERVISED BY</a:t>
            </a:r>
          </a:p>
          <a:p>
            <a:pPr algn="ctr">
              <a:lnSpc>
                <a:spcPts val="2400"/>
              </a:lnSpc>
              <a:spcBef>
                <a:spcPts val="200"/>
              </a:spcBef>
              <a:buNone/>
            </a:pPr>
            <a:r>
              <a:rPr lang="en-US" sz="2000" b="true">
                <a:solidFill>
                  <a:srgbClr val="111111"/>
                </a:solidFill>
                <a:latin typeface="Nunito Ultra-Bold"/>
                <a:ea typeface="Nunito Ultra-Bold"/>
                <a:cs typeface="Nunito Ultra-Bold"/>
                <a:sym typeface="Nunito Ultra-Bold"/>
              </a:rPr>
              <a:t>Pr. Mohamed LAZAAR  ·  PES, ENSIAS</a:t>
            </a:r>
          </a:p>
        </p:txBody>
      </p:sp>
      <p:sp>
        <p:nvSpPr>
          <p:cNvPr id="11" name="TextBox 10"/>
          <p:cNvSpPr txBox="1"/>
          <p:nvPr/>
        </p:nvSpPr>
        <p:spPr>
          <a:xfrm>
            <a:off x="1028700" y="5504688"/>
            <a:ext cx="16230600" cy="274320"/>
          </a:xfrm>
          <a:prstGeom prst="rect">
            <a:avLst/>
          </a:prstGeom>
          <a:noFill/>
        </p:spPr>
        <p:txBody>
          <a:bodyPr anchor="t" rtlCol="false" lIns="0" tIns="0" rIns="0" bIns="0" wrap="square"/>
          <a:lstStyle/>
          <a:p>
            <a:pPr algn="l">
              <a:lnSpc>
                <a:spcPts val="1500"/>
              </a:lnSpc>
              <a:spcBef>
                <a:spcPts val="0"/>
              </a:spcBef>
              <a:buNone/>
            </a:pPr>
            <a:r>
              <a:rPr lang="en-US" sz="1200" b="true" spc="200">
                <a:solidFill>
                  <a:srgbClr val="8A8378"/>
                </a:solidFill>
                <a:latin typeface="Nunito Ultra-Bold"/>
                <a:ea typeface="Nunito Ultra-Bold"/>
                <a:cs typeface="Nunito Ultra-Bold"/>
                <a:sym typeface="Nunito Ultra-Bold"/>
              </a:rPr>
              <a:t>JURY MEMBERS</a:t>
            </a:r>
          </a:p>
        </p:txBody>
      </p:sp>
      <p:graphicFrame>
        <p:nvGraphicFramePr>
          <p:cNvPr id="12" name="Table 11"/>
          <p:cNvGraphicFramePr>
            <a:graphicFrameLocks noGrp="1"/>
          </p:cNvGraphicFramePr>
          <p:nvPr/>
        </p:nvGraphicFramePr>
        <p:xfrm>
          <a:off x="1028700" y="5797296"/>
          <a:ext cx="16230599" cy="3552190"/>
        </p:xfrm>
        <a:graphic>
          <a:graphicData uri="http://schemas.openxmlformats.org/drawingml/2006/table">
            <a:tbl>
              <a:tblPr firstRow="0" bandRow="0" firstCol="0" lastRow="0" lastCol="0" bandCol="0">
                <a:tableStyleId>{2D5ABB26-0587-4C30-8999-92F81FD0307C}</a:tableStyleId>
              </a:tblPr>
              <a:tblGrid>
                <a:gridCol w="1971942"/>
                <a:gridCol w="5005699"/>
                <a:gridCol w="1365190"/>
                <a:gridCol w="7887768"/>
              </a:tblGrid>
              <a:tr h="340360">
                <a:tc>
                  <a:txBody>
                    <a:bodyPr anchor="ctr" rtlCol="false" lIns="0" tIns="0" rIns="0" bIns="0" wrap="square"/>
                    <a:lstStyle/>
                    <a:p>
                      <a:pPr algn="l">
                        <a:lnSpc>
                          <a:spcPts val="1560"/>
                        </a:lnSpc>
                        <a:spcBef>
                          <a:spcPts val="0"/>
                        </a:spcBef>
                        <a:buNone/>
                      </a:pPr>
                      <a:r>
                        <a:rPr lang="en-US" sz="1200" b="true">
                          <a:solidFill>
                            <a:srgbClr val="FFFFFF"/>
                          </a:solidFill>
                          <a:latin typeface="Nunito Bold"/>
                          <a:ea typeface="Nunito Bold"/>
                          <a:cs typeface="Nunito Bold"/>
                          <a:sym typeface="Nunito Bold"/>
                        </a:rPr>
                        <a:t>Role</a:t>
                      </a:r>
                    </a:p>
                  </a:txBody>
                  <a:tcPr marL="45720" marR="45720" marT="45720" marB="45720" anchor="ctr">
                    <a:lnL w="12700" cap="flat" cmpd="sng" algn="ctr">
                      <a:solidFill>
                        <a:srgbClr val="4472C4"/>
                      </a:solidFill>
                      <a:prstDash val="solid"/>
                    </a:lnL>
                    <a:lnR w="12700" cap="flat" cmpd="sng" algn="ctr">
                      <a:solidFill>
                        <a:srgbClr val="4472C4"/>
                      </a:solidFill>
                      <a:prstDash val="solid"/>
                    </a:lnR>
                    <a:lnT w="12700" cap="flat" cmpd="sng" algn="ctr">
                      <a:solidFill>
                        <a:srgbClr val="4472C4"/>
                      </a:solidFill>
                      <a:prstDash val="solid"/>
                    </a:lnT>
                    <a:lnB w="12700" cap="flat" cmpd="sng" algn="ctr">
                      <a:solidFill>
                        <a:srgbClr val="4472C4"/>
                      </a:solidFill>
                      <a:prstDash val="solid"/>
                    </a:lnB>
                    <a:solidFill>
                      <a:srgbClr val="4472C4"/>
                    </a:solidFill>
                  </a:tcPr>
                </a:tc>
                <a:tc>
                  <a:txBody>
                    <a:bodyPr anchor="ctr" rtlCol="false" lIns="0" tIns="0" rIns="0" bIns="0" wrap="square"/>
                    <a:lstStyle/>
                    <a:p>
                      <a:pPr algn="l">
                        <a:lnSpc>
                          <a:spcPts val="1560"/>
                        </a:lnSpc>
                        <a:spcBef>
                          <a:spcPts val="0"/>
                        </a:spcBef>
                        <a:buNone/>
                      </a:pPr>
                      <a:r>
                        <a:rPr lang="en-US" sz="1200" b="true">
                          <a:solidFill>
                            <a:srgbClr val="FFFFFF"/>
                          </a:solidFill>
                          <a:latin typeface="Nunito Bold"/>
                          <a:ea typeface="Nunito Bold"/>
                          <a:cs typeface="Nunito Bold"/>
                          <a:sym typeface="Nunito Bold"/>
                        </a:rPr>
                        <a:t>Name</a:t>
                      </a:r>
                    </a:p>
                  </a:txBody>
                  <a:tcPr marL="45720" marR="45720" marT="45720" marB="45720" anchor="ctr">
                    <a:lnL w="12700" cap="flat" cmpd="sng" algn="ctr">
                      <a:solidFill>
                        <a:srgbClr val="4472C4"/>
                      </a:solidFill>
                      <a:prstDash val="solid"/>
                    </a:lnL>
                    <a:lnR w="12700" cap="flat" cmpd="sng" algn="ctr">
                      <a:solidFill>
                        <a:srgbClr val="4472C4"/>
                      </a:solidFill>
                      <a:prstDash val="solid"/>
                    </a:lnR>
                    <a:lnT w="12700" cap="flat" cmpd="sng" algn="ctr">
                      <a:solidFill>
                        <a:srgbClr val="4472C4"/>
                      </a:solidFill>
                      <a:prstDash val="solid"/>
                    </a:lnT>
                    <a:lnB w="12700" cap="flat" cmpd="sng" algn="ctr">
                      <a:solidFill>
                        <a:srgbClr val="4472C4"/>
                      </a:solidFill>
                      <a:prstDash val="solid"/>
                    </a:lnB>
                    <a:solidFill>
                      <a:srgbClr val="4472C4"/>
                    </a:solidFill>
                  </a:tcPr>
                </a:tc>
                <a:tc>
                  <a:txBody>
                    <a:bodyPr anchor="ctr" rtlCol="false" lIns="0" tIns="0" rIns="0" bIns="0" wrap="square"/>
                    <a:lstStyle/>
                    <a:p>
                      <a:pPr algn="ctr">
                        <a:lnSpc>
                          <a:spcPts val="1560"/>
                        </a:lnSpc>
                        <a:spcBef>
                          <a:spcPts val="0"/>
                        </a:spcBef>
                        <a:buNone/>
                      </a:pPr>
                      <a:r>
                        <a:rPr lang="en-US" sz="1200" b="true">
                          <a:solidFill>
                            <a:srgbClr val="FFFFFF"/>
                          </a:solidFill>
                          <a:latin typeface="Nunito Bold"/>
                          <a:ea typeface="Nunito Bold"/>
                          <a:cs typeface="Nunito Bold"/>
                          <a:sym typeface="Nunito Bold"/>
                        </a:rPr>
                        <a:t>Grade</a:t>
                      </a:r>
                    </a:p>
                  </a:txBody>
                  <a:tcPr marL="45720" marR="45720" marT="45720" marB="45720" anchor="ctr">
                    <a:lnL w="12700" cap="flat" cmpd="sng" algn="ctr">
                      <a:solidFill>
                        <a:srgbClr val="4472C4"/>
                      </a:solidFill>
                      <a:prstDash val="solid"/>
                    </a:lnL>
                    <a:lnR w="12700" cap="flat" cmpd="sng" algn="ctr">
                      <a:solidFill>
                        <a:srgbClr val="4472C4"/>
                      </a:solidFill>
                      <a:prstDash val="solid"/>
                    </a:lnR>
                    <a:lnT w="12700" cap="flat" cmpd="sng" algn="ctr">
                      <a:solidFill>
                        <a:srgbClr val="4472C4"/>
                      </a:solidFill>
                      <a:prstDash val="solid"/>
                    </a:lnT>
                    <a:lnB w="12700" cap="flat" cmpd="sng" algn="ctr">
                      <a:solidFill>
                        <a:srgbClr val="4472C4"/>
                      </a:solidFill>
                      <a:prstDash val="solid"/>
                    </a:lnB>
                    <a:solidFill>
                      <a:srgbClr val="4472C4"/>
                    </a:solidFill>
                  </a:tcPr>
                </a:tc>
                <a:tc>
                  <a:txBody>
                    <a:bodyPr anchor="ctr" rtlCol="false" lIns="0" tIns="0" rIns="0" bIns="0" wrap="square"/>
                    <a:lstStyle/>
                    <a:p>
                      <a:pPr algn="l">
                        <a:lnSpc>
                          <a:spcPts val="1560"/>
                        </a:lnSpc>
                        <a:spcBef>
                          <a:spcPts val="0"/>
                        </a:spcBef>
                        <a:buNone/>
                      </a:pPr>
                      <a:r>
                        <a:rPr lang="en-US" sz="1200" b="true">
                          <a:solidFill>
                            <a:srgbClr val="FFFFFF"/>
                          </a:solidFill>
                          <a:latin typeface="Nunito Bold"/>
                          <a:ea typeface="Nunito Bold"/>
                          <a:cs typeface="Nunito Bold"/>
                          <a:sym typeface="Nunito Bold"/>
                        </a:rPr>
                        <a:t>Institution</a:t>
                      </a:r>
                    </a:p>
                  </a:txBody>
                  <a:tcPr marL="45720" marR="45720" marT="45720" marB="45720" anchor="ctr">
                    <a:lnL w="12700" cap="flat" cmpd="sng" algn="ctr">
                      <a:solidFill>
                        <a:srgbClr val="4472C4"/>
                      </a:solidFill>
                      <a:prstDash val="solid"/>
                    </a:lnL>
                    <a:lnR w="12700" cap="flat" cmpd="sng" algn="ctr">
                      <a:solidFill>
                        <a:srgbClr val="4472C4"/>
                      </a:solidFill>
                      <a:prstDash val="solid"/>
                    </a:lnR>
                    <a:lnT w="12700" cap="flat" cmpd="sng" algn="ctr">
                      <a:solidFill>
                        <a:srgbClr val="4472C4"/>
                      </a:solidFill>
                      <a:prstDash val="solid"/>
                    </a:lnT>
                    <a:lnB w="12700" cap="flat" cmpd="sng" algn="ctr">
                      <a:solidFill>
                        <a:srgbClr val="4472C4"/>
                      </a:solidFill>
                      <a:prstDash val="solid"/>
                    </a:lnB>
                    <a:solidFill>
                      <a:srgbClr val="4472C4"/>
                    </a:solidFill>
                  </a:tcPr>
                </a:tc>
              </a:tr>
              <a:tr h="356870">
                <a:tc>
                  <a:txBody>
                    <a:bodyPr anchor="ctr" rtlCol="false" lIns="0" tIns="0" rIns="0" bIns="0" wrap="square"/>
                    <a:lstStyle/>
                    <a:p>
                      <a:pPr algn="l">
                        <a:lnSpc>
                          <a:spcPts val="1690"/>
                        </a:lnSpc>
                        <a:spcBef>
                          <a:spcPts val="0"/>
                        </a:spcBef>
                        <a:buNone/>
                      </a:pPr>
                      <a:r>
                        <a:rPr lang="en-US" sz="1300" b="true">
                          <a:solidFill>
                            <a:srgbClr val="111111"/>
                          </a:solidFill>
                          <a:latin typeface="Nunito Bold"/>
                          <a:ea typeface="Nunito Bold"/>
                          <a:cs typeface="Nunito Bold"/>
                          <a:sym typeface="Nunito Bold"/>
                        </a:rPr>
                        <a:t>President</a:t>
                      </a:r>
                    </a:p>
                  </a:txBody>
                  <a:tcPr marL="45720" marR="45720"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c>
                  <a:txBody>
                    <a:bodyPr anchor="ctr" rtlCol="false" lIns="0" tIns="0" rIns="0" bIns="0" wrap="square"/>
                    <a:lstStyle/>
                    <a:p>
                      <a:pPr algn="l">
                        <a:lnSpc>
                          <a:spcPts val="1690"/>
                        </a:lnSpc>
                        <a:spcBef>
                          <a:spcPts val="0"/>
                        </a:spcBef>
                        <a:buNone/>
                      </a:pPr>
                      <a:r>
                        <a:rPr lang="en-US" sz="1300" b="true">
                          <a:solidFill>
                            <a:srgbClr val="111111"/>
                          </a:solidFill>
                          <a:latin typeface="Nunito Semi-Bold"/>
                          <a:ea typeface="Nunito Semi-Bold"/>
                          <a:cs typeface="Nunito Semi-Bold"/>
                          <a:sym typeface="Nunito Semi-Bold"/>
                        </a:rPr>
                        <a:t>Pr. Abdellatif EL AFIA</a:t>
                      </a:r>
                    </a:p>
                  </a:txBody>
                  <a:tcPr marL="45720" marR="45720"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c>
                  <a:txBody>
                    <a:bodyPr anchor="ctr" rtlCol="false" lIns="0" tIns="0" rIns="0" bIns="0" wrap="square"/>
                    <a:lstStyle/>
                    <a:p>
                      <a:pPr algn="ctr">
                        <a:lnSpc>
                          <a:spcPts val="1690"/>
                        </a:lnSpc>
                        <a:spcBef>
                          <a:spcPts val="0"/>
                        </a:spcBef>
                        <a:buNone/>
                      </a:pPr>
                      <a:r>
                        <a:rPr lang="en-US" sz="1300" b="true">
                          <a:solidFill>
                            <a:srgbClr val="111111"/>
                          </a:solidFill>
                          <a:latin typeface="Nunito Semi-Bold"/>
                          <a:ea typeface="Nunito Semi-Bold"/>
                          <a:cs typeface="Nunito Semi-Bold"/>
                          <a:sym typeface="Nunito Semi-Bold"/>
                        </a:rPr>
                        <a:t>PES</a:t>
                      </a:r>
                    </a:p>
                  </a:txBody>
                  <a:tcPr marL="45720" marR="45720"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c>
                  <a:txBody>
                    <a:bodyPr anchor="ctr" rtlCol="false" lIns="0" tIns="0" rIns="0" bIns="0" wrap="square"/>
                    <a:lstStyle/>
                    <a:p>
                      <a:pPr algn="l">
                        <a:lnSpc>
                          <a:spcPts val="1690"/>
                        </a:lnSpc>
                        <a:spcBef>
                          <a:spcPts val="0"/>
                        </a:spcBef>
                        <a:buNone/>
                      </a:pPr>
                      <a:r>
                        <a:rPr lang="en-US" sz="1300" b="true">
                          <a:solidFill>
                            <a:srgbClr val="111111"/>
                          </a:solidFill>
                          <a:latin typeface="Nunito Semi-Bold"/>
                          <a:ea typeface="Nunito Semi-Bold"/>
                          <a:cs typeface="Nunito Semi-Bold"/>
                          <a:sym typeface="Nunito Semi-Bold"/>
                        </a:rPr>
                        <a:t>ENSIAS, Mohammed V University, Rabat</a:t>
                      </a:r>
                    </a:p>
                  </a:txBody>
                  <a:tcPr marL="45720" marR="45720"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r>
              <a:tr h="356870">
                <a:tc>
                  <a:txBody>
                    <a:bodyPr anchor="ctr" rtlCol="false" lIns="0" tIns="0" rIns="0" bIns="0" wrap="square"/>
                    <a:lstStyle/>
                    <a:p>
                      <a:pPr algn="l">
                        <a:lnSpc>
                          <a:spcPts val="1690"/>
                        </a:lnSpc>
                        <a:spcBef>
                          <a:spcPts val="0"/>
                        </a:spcBef>
                        <a:buNone/>
                      </a:pPr>
                      <a:r>
                        <a:rPr lang="en-US" sz="1300" b="true">
                          <a:solidFill>
                            <a:srgbClr val="111111"/>
                          </a:solidFill>
                          <a:latin typeface="Nunito Bold"/>
                          <a:ea typeface="Nunito Bold"/>
                          <a:cs typeface="Nunito Bold"/>
                          <a:sym typeface="Nunito Bold"/>
                        </a:rPr>
                        <a:t>Supervisor</a:t>
                      </a:r>
                    </a:p>
                  </a:txBody>
                  <a:tcPr marL="45720" marR="45720"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6ECDF"/>
                    </a:solidFill>
                  </a:tcPr>
                </a:tc>
                <a:tc>
                  <a:txBody>
                    <a:bodyPr anchor="ctr" rtlCol="false" lIns="0" tIns="0" rIns="0" bIns="0" wrap="square"/>
                    <a:lstStyle/>
                    <a:p>
                      <a:pPr algn="l">
                        <a:lnSpc>
                          <a:spcPts val="1690"/>
                        </a:lnSpc>
                        <a:spcBef>
                          <a:spcPts val="0"/>
                        </a:spcBef>
                        <a:buNone/>
                      </a:pPr>
                      <a:r>
                        <a:rPr lang="en-US" sz="1300" b="true">
                          <a:solidFill>
                            <a:srgbClr val="111111"/>
                          </a:solidFill>
                          <a:latin typeface="Nunito Semi-Bold"/>
                          <a:ea typeface="Nunito Semi-Bold"/>
                          <a:cs typeface="Nunito Semi-Bold"/>
                          <a:sym typeface="Nunito Semi-Bold"/>
                        </a:rPr>
                        <a:t>Pr. Mohamed LAZAAR</a:t>
                      </a:r>
                    </a:p>
                  </a:txBody>
                  <a:tcPr marL="45720" marR="45720"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6ECDF"/>
                    </a:solidFill>
                  </a:tcPr>
                </a:tc>
                <a:tc>
                  <a:txBody>
                    <a:bodyPr anchor="ctr" rtlCol="false" lIns="0" tIns="0" rIns="0" bIns="0" wrap="square"/>
                    <a:lstStyle/>
                    <a:p>
                      <a:pPr algn="ctr">
                        <a:lnSpc>
                          <a:spcPts val="1690"/>
                        </a:lnSpc>
                        <a:spcBef>
                          <a:spcPts val="0"/>
                        </a:spcBef>
                        <a:buNone/>
                      </a:pPr>
                      <a:r>
                        <a:rPr lang="en-US" sz="1300" b="true">
                          <a:solidFill>
                            <a:srgbClr val="111111"/>
                          </a:solidFill>
                          <a:latin typeface="Nunito Semi-Bold"/>
                          <a:ea typeface="Nunito Semi-Bold"/>
                          <a:cs typeface="Nunito Semi-Bold"/>
                          <a:sym typeface="Nunito Semi-Bold"/>
                        </a:rPr>
                        <a:t>PES</a:t>
                      </a:r>
                    </a:p>
                  </a:txBody>
                  <a:tcPr marL="45720" marR="45720"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6ECDF"/>
                    </a:solidFill>
                  </a:tcPr>
                </a:tc>
                <a:tc>
                  <a:txBody>
                    <a:bodyPr anchor="ctr" rtlCol="false" lIns="0" tIns="0" rIns="0" bIns="0" wrap="square"/>
                    <a:lstStyle/>
                    <a:p>
                      <a:pPr algn="l">
                        <a:lnSpc>
                          <a:spcPts val="1690"/>
                        </a:lnSpc>
                        <a:spcBef>
                          <a:spcPts val="0"/>
                        </a:spcBef>
                        <a:buNone/>
                      </a:pPr>
                      <a:r>
                        <a:rPr lang="en-US" sz="1300" b="true">
                          <a:solidFill>
                            <a:srgbClr val="111111"/>
                          </a:solidFill>
                          <a:latin typeface="Nunito Semi-Bold"/>
                          <a:ea typeface="Nunito Semi-Bold"/>
                          <a:cs typeface="Nunito Semi-Bold"/>
                          <a:sym typeface="Nunito Semi-Bold"/>
                        </a:rPr>
                        <a:t>ENSIAS, Mohammed V University, Rabat</a:t>
                      </a:r>
                    </a:p>
                  </a:txBody>
                  <a:tcPr marL="45720" marR="45720"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6ECDF"/>
                    </a:solidFill>
                  </a:tcPr>
                </a:tc>
              </a:tr>
              <a:tr h="356870">
                <a:tc>
                  <a:txBody>
                    <a:bodyPr anchor="ctr" rtlCol="false" lIns="0" tIns="0" rIns="0" bIns="0" wrap="square"/>
                    <a:lstStyle/>
                    <a:p>
                      <a:pPr algn="l">
                        <a:lnSpc>
                          <a:spcPts val="1690"/>
                        </a:lnSpc>
                        <a:spcBef>
                          <a:spcPts val="0"/>
                        </a:spcBef>
                        <a:buNone/>
                      </a:pPr>
                      <a:r>
                        <a:rPr lang="en-US" sz="1300" b="true">
                          <a:solidFill>
                            <a:srgbClr val="111111"/>
                          </a:solidFill>
                          <a:latin typeface="Nunito Bold"/>
                          <a:ea typeface="Nunito Bold"/>
                          <a:cs typeface="Nunito Bold"/>
                          <a:sym typeface="Nunito Bold"/>
                        </a:rPr>
                        <a:t>Reviewer</a:t>
                      </a:r>
                    </a:p>
                  </a:txBody>
                  <a:tcPr marL="45720" marR="45720"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c>
                  <a:txBody>
                    <a:bodyPr anchor="ctr" rtlCol="false" lIns="0" tIns="0" rIns="0" bIns="0" wrap="square"/>
                    <a:lstStyle/>
                    <a:p>
                      <a:pPr algn="l">
                        <a:lnSpc>
                          <a:spcPts val="1690"/>
                        </a:lnSpc>
                        <a:spcBef>
                          <a:spcPts val="0"/>
                        </a:spcBef>
                        <a:buNone/>
                      </a:pPr>
                      <a:r>
                        <a:rPr lang="en-US" sz="1300" b="true">
                          <a:solidFill>
                            <a:srgbClr val="111111"/>
                          </a:solidFill>
                          <a:latin typeface="Nunito Semi-Bold"/>
                          <a:ea typeface="Nunito Semi-Bold"/>
                          <a:cs typeface="Nunito Semi-Bold"/>
                          <a:sym typeface="Nunito Semi-Bold"/>
                        </a:rPr>
                        <a:t>Pr. M'hamed AIT KBIR</a:t>
                      </a:r>
                    </a:p>
                  </a:txBody>
                  <a:tcPr marL="45720" marR="45720"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c>
                  <a:txBody>
                    <a:bodyPr anchor="ctr" rtlCol="false" lIns="0" tIns="0" rIns="0" bIns="0" wrap="square"/>
                    <a:lstStyle/>
                    <a:p>
                      <a:pPr algn="ctr">
                        <a:lnSpc>
                          <a:spcPts val="1690"/>
                        </a:lnSpc>
                        <a:spcBef>
                          <a:spcPts val="0"/>
                        </a:spcBef>
                        <a:buNone/>
                      </a:pPr>
                      <a:r>
                        <a:rPr lang="en-US" sz="1300" b="true">
                          <a:solidFill>
                            <a:srgbClr val="111111"/>
                          </a:solidFill>
                          <a:latin typeface="Nunito Semi-Bold"/>
                          <a:ea typeface="Nunito Semi-Bold"/>
                          <a:cs typeface="Nunito Semi-Bold"/>
                          <a:sym typeface="Nunito Semi-Bold"/>
                        </a:rPr>
                        <a:t>PES</a:t>
                      </a:r>
                    </a:p>
                  </a:txBody>
                  <a:tcPr marL="45720" marR="45720"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c>
                  <a:txBody>
                    <a:bodyPr anchor="ctr" rtlCol="false" lIns="0" tIns="0" rIns="0" bIns="0" wrap="square"/>
                    <a:lstStyle/>
                    <a:p>
                      <a:pPr algn="l">
                        <a:lnSpc>
                          <a:spcPts val="1690"/>
                        </a:lnSpc>
                        <a:spcBef>
                          <a:spcPts val="0"/>
                        </a:spcBef>
                        <a:buNone/>
                      </a:pPr>
                      <a:r>
                        <a:rPr lang="en-US" sz="1300" b="true">
                          <a:solidFill>
                            <a:srgbClr val="111111"/>
                          </a:solidFill>
                          <a:latin typeface="Nunito Semi-Bold"/>
                          <a:ea typeface="Nunito Semi-Bold"/>
                          <a:cs typeface="Nunito Semi-Bold"/>
                          <a:sym typeface="Nunito Semi-Bold"/>
                        </a:rPr>
                        <a:t>FST, Abdelmalek Essaâdi University, Tangier</a:t>
                      </a:r>
                    </a:p>
                  </a:txBody>
                  <a:tcPr marL="45720" marR="45720"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r>
              <a:tr h="356870">
                <a:tc>
                  <a:txBody>
                    <a:bodyPr anchor="ctr" rtlCol="false" lIns="0" tIns="0" rIns="0" bIns="0" wrap="square"/>
                    <a:lstStyle/>
                    <a:p>
                      <a:pPr algn="l">
                        <a:lnSpc>
                          <a:spcPts val="1690"/>
                        </a:lnSpc>
                        <a:spcBef>
                          <a:spcPts val="0"/>
                        </a:spcBef>
                        <a:buNone/>
                      </a:pPr>
                      <a:r>
                        <a:rPr lang="en-US" sz="1300" b="true">
                          <a:solidFill>
                            <a:srgbClr val="111111"/>
                          </a:solidFill>
                          <a:latin typeface="Nunito Bold"/>
                          <a:ea typeface="Nunito Bold"/>
                          <a:cs typeface="Nunito Bold"/>
                          <a:sym typeface="Nunito Bold"/>
                        </a:rPr>
                        <a:t>Reviewer</a:t>
                      </a:r>
                    </a:p>
                  </a:txBody>
                  <a:tcPr marL="45720" marR="45720"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6ECDF"/>
                    </a:solidFill>
                  </a:tcPr>
                </a:tc>
                <a:tc>
                  <a:txBody>
                    <a:bodyPr anchor="ctr" rtlCol="false" lIns="0" tIns="0" rIns="0" bIns="0" wrap="square"/>
                    <a:lstStyle/>
                    <a:p>
                      <a:pPr algn="l">
                        <a:lnSpc>
                          <a:spcPts val="1690"/>
                        </a:lnSpc>
                        <a:spcBef>
                          <a:spcPts val="0"/>
                        </a:spcBef>
                        <a:buNone/>
                      </a:pPr>
                      <a:r>
                        <a:rPr lang="en-US" sz="1300" b="true">
                          <a:solidFill>
                            <a:srgbClr val="111111"/>
                          </a:solidFill>
                          <a:latin typeface="Nunito Semi-Bold"/>
                          <a:ea typeface="Nunito Semi-Bold"/>
                          <a:cs typeface="Nunito Semi-Bold"/>
                          <a:sym typeface="Nunito Semi-Bold"/>
                        </a:rPr>
                        <a:t>Pr. Oussama MAHBOUB</a:t>
                      </a:r>
                    </a:p>
                  </a:txBody>
                  <a:tcPr marL="45720" marR="45720"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6ECDF"/>
                    </a:solidFill>
                  </a:tcPr>
                </a:tc>
                <a:tc>
                  <a:txBody>
                    <a:bodyPr anchor="ctr" rtlCol="false" lIns="0" tIns="0" rIns="0" bIns="0" wrap="square"/>
                    <a:lstStyle/>
                    <a:p>
                      <a:pPr algn="ctr">
                        <a:lnSpc>
                          <a:spcPts val="1690"/>
                        </a:lnSpc>
                        <a:spcBef>
                          <a:spcPts val="0"/>
                        </a:spcBef>
                        <a:buNone/>
                      </a:pPr>
                      <a:r>
                        <a:rPr lang="en-US" sz="1300" b="true">
                          <a:solidFill>
                            <a:srgbClr val="111111"/>
                          </a:solidFill>
                          <a:latin typeface="Nunito Semi-Bold"/>
                          <a:ea typeface="Nunito Semi-Bold"/>
                          <a:cs typeface="Nunito Semi-Bold"/>
                          <a:sym typeface="Nunito Semi-Bold"/>
                        </a:rPr>
                        <a:t>PES</a:t>
                      </a:r>
                    </a:p>
                  </a:txBody>
                  <a:tcPr marL="45720" marR="45720"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6ECDF"/>
                    </a:solidFill>
                  </a:tcPr>
                </a:tc>
                <a:tc>
                  <a:txBody>
                    <a:bodyPr anchor="ctr" rtlCol="false" lIns="0" tIns="0" rIns="0" bIns="0" wrap="square"/>
                    <a:lstStyle/>
                    <a:p>
                      <a:pPr algn="l">
                        <a:lnSpc>
                          <a:spcPts val="1690"/>
                        </a:lnSpc>
                        <a:spcBef>
                          <a:spcPts val="0"/>
                        </a:spcBef>
                        <a:buNone/>
                      </a:pPr>
                      <a:r>
                        <a:rPr lang="en-US" sz="1300" b="true">
                          <a:solidFill>
                            <a:srgbClr val="111111"/>
                          </a:solidFill>
                          <a:latin typeface="Nunito Semi-Bold"/>
                          <a:ea typeface="Nunito Semi-Bold"/>
                          <a:cs typeface="Nunito Semi-Bold"/>
                          <a:sym typeface="Nunito Semi-Bold"/>
                        </a:rPr>
                        <a:t>ENSA, Abdelmalek Essaâdi University, Tetouan</a:t>
                      </a:r>
                    </a:p>
                  </a:txBody>
                  <a:tcPr marL="45720" marR="45720"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6ECDF"/>
                    </a:solidFill>
                  </a:tcPr>
                </a:tc>
              </a:tr>
              <a:tr h="356870">
                <a:tc>
                  <a:txBody>
                    <a:bodyPr anchor="ctr" rtlCol="false" lIns="0" tIns="0" rIns="0" bIns="0" wrap="square"/>
                    <a:lstStyle/>
                    <a:p>
                      <a:pPr algn="l">
                        <a:lnSpc>
                          <a:spcPts val="1690"/>
                        </a:lnSpc>
                        <a:spcBef>
                          <a:spcPts val="0"/>
                        </a:spcBef>
                        <a:buNone/>
                      </a:pPr>
                      <a:r>
                        <a:rPr lang="en-US" sz="1300" b="true">
                          <a:solidFill>
                            <a:srgbClr val="111111"/>
                          </a:solidFill>
                          <a:latin typeface="Nunito Bold"/>
                          <a:ea typeface="Nunito Bold"/>
                          <a:cs typeface="Nunito Bold"/>
                          <a:sym typeface="Nunito Bold"/>
                        </a:rPr>
                        <a:t>Reviewer</a:t>
                      </a:r>
                    </a:p>
                  </a:txBody>
                  <a:tcPr marL="45720" marR="45720"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c>
                  <a:txBody>
                    <a:bodyPr anchor="ctr" rtlCol="false" lIns="0" tIns="0" rIns="0" bIns="0" wrap="square"/>
                    <a:lstStyle/>
                    <a:p>
                      <a:pPr algn="l">
                        <a:lnSpc>
                          <a:spcPts val="1690"/>
                        </a:lnSpc>
                        <a:spcBef>
                          <a:spcPts val="0"/>
                        </a:spcBef>
                        <a:buNone/>
                      </a:pPr>
                      <a:r>
                        <a:rPr lang="en-US" sz="1300" b="true">
                          <a:solidFill>
                            <a:srgbClr val="111111"/>
                          </a:solidFill>
                          <a:latin typeface="Nunito Semi-Bold"/>
                          <a:ea typeface="Nunito Semi-Bold"/>
                          <a:cs typeface="Nunito Semi-Bold"/>
                          <a:sym typeface="Nunito Semi-Bold"/>
                        </a:rPr>
                        <a:t>Pr. Noureddine KERZAZI</a:t>
                      </a:r>
                    </a:p>
                  </a:txBody>
                  <a:tcPr marL="45720" marR="45720"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c>
                  <a:txBody>
                    <a:bodyPr anchor="ctr" rtlCol="false" lIns="0" tIns="0" rIns="0" bIns="0" wrap="square"/>
                    <a:lstStyle/>
                    <a:p>
                      <a:pPr algn="ctr">
                        <a:lnSpc>
                          <a:spcPts val="1690"/>
                        </a:lnSpc>
                        <a:spcBef>
                          <a:spcPts val="0"/>
                        </a:spcBef>
                        <a:buNone/>
                      </a:pPr>
                      <a:r>
                        <a:rPr lang="en-US" sz="1300" b="true">
                          <a:solidFill>
                            <a:srgbClr val="111111"/>
                          </a:solidFill>
                          <a:latin typeface="Nunito Semi-Bold"/>
                          <a:ea typeface="Nunito Semi-Bold"/>
                          <a:cs typeface="Nunito Semi-Bold"/>
                          <a:sym typeface="Nunito Semi-Bold"/>
                        </a:rPr>
                        <a:t>MCH</a:t>
                      </a:r>
                    </a:p>
                  </a:txBody>
                  <a:tcPr marL="45720" marR="45720"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c>
                  <a:txBody>
                    <a:bodyPr anchor="ctr" rtlCol="false" lIns="0" tIns="0" rIns="0" bIns="0" wrap="square"/>
                    <a:lstStyle/>
                    <a:p>
                      <a:pPr algn="l">
                        <a:lnSpc>
                          <a:spcPts val="1690"/>
                        </a:lnSpc>
                        <a:spcBef>
                          <a:spcPts val="0"/>
                        </a:spcBef>
                        <a:buNone/>
                      </a:pPr>
                      <a:r>
                        <a:rPr lang="en-US" sz="1300" b="true">
                          <a:solidFill>
                            <a:srgbClr val="111111"/>
                          </a:solidFill>
                          <a:latin typeface="Nunito Semi-Bold"/>
                          <a:ea typeface="Nunito Semi-Bold"/>
                          <a:cs typeface="Nunito Semi-Bold"/>
                          <a:sym typeface="Nunito Semi-Bold"/>
                        </a:rPr>
                        <a:t>ENSIAS, Mohammed V University, Rabat</a:t>
                      </a:r>
                    </a:p>
                  </a:txBody>
                  <a:tcPr marL="45720" marR="45720"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r>
              <a:tr h="356870">
                <a:tc>
                  <a:txBody>
                    <a:bodyPr anchor="ctr" rtlCol="false" lIns="0" tIns="0" rIns="0" bIns="0" wrap="square"/>
                    <a:lstStyle/>
                    <a:p>
                      <a:pPr algn="l">
                        <a:lnSpc>
                          <a:spcPts val="1690"/>
                        </a:lnSpc>
                        <a:spcBef>
                          <a:spcPts val="0"/>
                        </a:spcBef>
                        <a:buNone/>
                      </a:pPr>
                      <a:r>
                        <a:rPr lang="en-US" sz="1300" b="true">
                          <a:solidFill>
                            <a:srgbClr val="111111"/>
                          </a:solidFill>
                          <a:latin typeface="Nunito Bold"/>
                          <a:ea typeface="Nunito Bold"/>
                          <a:cs typeface="Nunito Bold"/>
                          <a:sym typeface="Nunito Bold"/>
                        </a:rPr>
                        <a:t>Examiner</a:t>
                      </a:r>
                    </a:p>
                  </a:txBody>
                  <a:tcPr marL="45720" marR="45720"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6ECDF"/>
                    </a:solidFill>
                  </a:tcPr>
                </a:tc>
                <a:tc>
                  <a:txBody>
                    <a:bodyPr anchor="ctr" rtlCol="false" lIns="0" tIns="0" rIns="0" bIns="0" wrap="square"/>
                    <a:lstStyle/>
                    <a:p>
                      <a:pPr algn="l">
                        <a:lnSpc>
                          <a:spcPts val="1690"/>
                        </a:lnSpc>
                        <a:spcBef>
                          <a:spcPts val="0"/>
                        </a:spcBef>
                        <a:buNone/>
                      </a:pPr>
                      <a:r>
                        <a:rPr lang="en-US" sz="1300" b="true">
                          <a:solidFill>
                            <a:srgbClr val="111111"/>
                          </a:solidFill>
                          <a:latin typeface="Nunito Semi-Bold"/>
                          <a:ea typeface="Nunito Semi-Bold"/>
                          <a:cs typeface="Nunito Semi-Bold"/>
                          <a:sym typeface="Nunito Semi-Bold"/>
                        </a:rPr>
                        <a:t>Pr. Hicham OMARA</a:t>
                      </a:r>
                    </a:p>
                  </a:txBody>
                  <a:tcPr marL="45720" marR="45720"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6ECDF"/>
                    </a:solidFill>
                  </a:tcPr>
                </a:tc>
                <a:tc>
                  <a:txBody>
                    <a:bodyPr anchor="ctr" rtlCol="false" lIns="0" tIns="0" rIns="0" bIns="0" wrap="square"/>
                    <a:lstStyle/>
                    <a:p>
                      <a:pPr algn="ctr">
                        <a:lnSpc>
                          <a:spcPts val="1690"/>
                        </a:lnSpc>
                        <a:spcBef>
                          <a:spcPts val="0"/>
                        </a:spcBef>
                        <a:buNone/>
                      </a:pPr>
                      <a:r>
                        <a:rPr lang="en-US" sz="1300" b="true">
                          <a:solidFill>
                            <a:srgbClr val="111111"/>
                          </a:solidFill>
                          <a:latin typeface="Nunito Semi-Bold"/>
                          <a:ea typeface="Nunito Semi-Bold"/>
                          <a:cs typeface="Nunito Semi-Bold"/>
                          <a:sym typeface="Nunito Semi-Bold"/>
                        </a:rPr>
                        <a:t>MCH</a:t>
                      </a:r>
                    </a:p>
                  </a:txBody>
                  <a:tcPr marL="45720" marR="45720"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6ECDF"/>
                    </a:solidFill>
                  </a:tcPr>
                </a:tc>
                <a:tc>
                  <a:txBody>
                    <a:bodyPr anchor="ctr" rtlCol="false" lIns="0" tIns="0" rIns="0" bIns="0" wrap="square"/>
                    <a:lstStyle/>
                    <a:p>
                      <a:pPr algn="l">
                        <a:lnSpc>
                          <a:spcPts val="1690"/>
                        </a:lnSpc>
                        <a:spcBef>
                          <a:spcPts val="0"/>
                        </a:spcBef>
                        <a:buNone/>
                      </a:pPr>
                      <a:r>
                        <a:rPr lang="en-US" sz="1300" b="true">
                          <a:solidFill>
                            <a:srgbClr val="111111"/>
                          </a:solidFill>
                          <a:latin typeface="Nunito Semi-Bold"/>
                          <a:ea typeface="Nunito Semi-Bold"/>
                          <a:cs typeface="Nunito Semi-Bold"/>
                          <a:sym typeface="Nunito Semi-Bold"/>
                        </a:rPr>
                        <a:t>FP Taza, Sidi Mohamed Ben Abdellah University, Fez</a:t>
                      </a:r>
                    </a:p>
                  </a:txBody>
                  <a:tcPr marL="45720" marR="45720"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6ECDF"/>
                    </a:solidFill>
                  </a:tcPr>
                </a:tc>
              </a:tr>
              <a:tr h="356870">
                <a:tc>
                  <a:txBody>
                    <a:bodyPr anchor="ctr" rtlCol="false" lIns="0" tIns="0" rIns="0" bIns="0" wrap="square"/>
                    <a:lstStyle/>
                    <a:p>
                      <a:pPr algn="l">
                        <a:lnSpc>
                          <a:spcPts val="1690"/>
                        </a:lnSpc>
                        <a:spcBef>
                          <a:spcPts val="0"/>
                        </a:spcBef>
                        <a:buNone/>
                      </a:pPr>
                      <a:r>
                        <a:rPr lang="en-US" sz="1300" b="true">
                          <a:solidFill>
                            <a:srgbClr val="111111"/>
                          </a:solidFill>
                          <a:latin typeface="Nunito Bold"/>
                          <a:ea typeface="Nunito Bold"/>
                          <a:cs typeface="Nunito Bold"/>
                          <a:sym typeface="Nunito Bold"/>
                        </a:rPr>
                        <a:t>Examiner</a:t>
                      </a:r>
                    </a:p>
                  </a:txBody>
                  <a:tcPr marL="45720" marR="45720"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c>
                  <a:txBody>
                    <a:bodyPr anchor="ctr" rtlCol="false" lIns="0" tIns="0" rIns="0" bIns="0" wrap="square"/>
                    <a:lstStyle/>
                    <a:p>
                      <a:pPr algn="l">
                        <a:lnSpc>
                          <a:spcPts val="1690"/>
                        </a:lnSpc>
                        <a:spcBef>
                          <a:spcPts val="0"/>
                        </a:spcBef>
                        <a:buNone/>
                      </a:pPr>
                      <a:r>
                        <a:rPr lang="en-US" sz="1300" b="true">
                          <a:solidFill>
                            <a:srgbClr val="111111"/>
                          </a:solidFill>
                          <a:latin typeface="Nunito Semi-Bold"/>
                          <a:ea typeface="Nunito Semi-Bold"/>
                          <a:cs typeface="Nunito Semi-Bold"/>
                          <a:sym typeface="Nunito Semi-Bold"/>
                        </a:rPr>
                        <a:t>Pr. Fatima OUZAYD</a:t>
                      </a:r>
                    </a:p>
                  </a:txBody>
                  <a:tcPr marL="45720" marR="45720"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c>
                  <a:txBody>
                    <a:bodyPr anchor="ctr" rtlCol="false" lIns="0" tIns="0" rIns="0" bIns="0" wrap="square"/>
                    <a:lstStyle/>
                    <a:p>
                      <a:pPr algn="ctr">
                        <a:lnSpc>
                          <a:spcPts val="1690"/>
                        </a:lnSpc>
                        <a:spcBef>
                          <a:spcPts val="0"/>
                        </a:spcBef>
                        <a:buNone/>
                      </a:pPr>
                      <a:r>
                        <a:rPr lang="en-US" sz="1300" b="true">
                          <a:solidFill>
                            <a:srgbClr val="111111"/>
                          </a:solidFill>
                          <a:latin typeface="Nunito Semi-Bold"/>
                          <a:ea typeface="Nunito Semi-Bold"/>
                          <a:cs typeface="Nunito Semi-Bold"/>
                          <a:sym typeface="Nunito Semi-Bold"/>
                        </a:rPr>
                        <a:t>PES</a:t>
                      </a:r>
                    </a:p>
                  </a:txBody>
                  <a:tcPr marL="45720" marR="45720"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c>
                  <a:txBody>
                    <a:bodyPr anchor="ctr" rtlCol="false" lIns="0" tIns="0" rIns="0" bIns="0" wrap="square"/>
                    <a:lstStyle/>
                    <a:p>
                      <a:pPr algn="l">
                        <a:lnSpc>
                          <a:spcPts val="1690"/>
                        </a:lnSpc>
                        <a:spcBef>
                          <a:spcPts val="0"/>
                        </a:spcBef>
                        <a:buNone/>
                      </a:pPr>
                      <a:r>
                        <a:rPr lang="en-US" sz="1300" b="true">
                          <a:solidFill>
                            <a:srgbClr val="111111"/>
                          </a:solidFill>
                          <a:latin typeface="Nunito Semi-Bold"/>
                          <a:ea typeface="Nunito Semi-Bold"/>
                          <a:cs typeface="Nunito Semi-Bold"/>
                          <a:sym typeface="Nunito Semi-Bold"/>
                        </a:rPr>
                        <a:t>ENSIAS, Mohammed V University, Rabat</a:t>
                      </a:r>
                    </a:p>
                  </a:txBody>
                  <a:tcPr marL="45720" marR="45720"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r>
              <a:tr h="356870">
                <a:tc>
                  <a:txBody>
                    <a:bodyPr anchor="ctr" rtlCol="false" lIns="0" tIns="0" rIns="0" bIns="0" wrap="square"/>
                    <a:lstStyle/>
                    <a:p>
                      <a:pPr algn="l">
                        <a:lnSpc>
                          <a:spcPts val="1690"/>
                        </a:lnSpc>
                        <a:spcBef>
                          <a:spcPts val="0"/>
                        </a:spcBef>
                        <a:buNone/>
                      </a:pPr>
                      <a:r>
                        <a:rPr lang="en-US" sz="1300" b="true">
                          <a:solidFill>
                            <a:srgbClr val="111111"/>
                          </a:solidFill>
                          <a:latin typeface="Nunito Bold"/>
                          <a:ea typeface="Nunito Bold"/>
                          <a:cs typeface="Nunito Bold"/>
                          <a:sym typeface="Nunito Bold"/>
                        </a:rPr>
                        <a:t>Examiner</a:t>
                      </a:r>
                    </a:p>
                  </a:txBody>
                  <a:tcPr marL="45720" marR="45720"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6ECDF"/>
                    </a:solidFill>
                  </a:tcPr>
                </a:tc>
                <a:tc>
                  <a:txBody>
                    <a:bodyPr anchor="ctr" rtlCol="false" lIns="0" tIns="0" rIns="0" bIns="0" wrap="square"/>
                    <a:lstStyle/>
                    <a:p>
                      <a:pPr algn="l">
                        <a:lnSpc>
                          <a:spcPts val="1690"/>
                        </a:lnSpc>
                        <a:spcBef>
                          <a:spcPts val="0"/>
                        </a:spcBef>
                        <a:buNone/>
                      </a:pPr>
                      <a:r>
                        <a:rPr lang="en-US" sz="1300" b="true">
                          <a:solidFill>
                            <a:srgbClr val="111111"/>
                          </a:solidFill>
                          <a:latin typeface="Nunito Semi-Bold"/>
                          <a:ea typeface="Nunito Semi-Bold"/>
                          <a:cs typeface="Nunito Semi-Bold"/>
                          <a:sym typeface="Nunito Semi-Bold"/>
                        </a:rPr>
                        <a:t>Pr. Yasser EL MADANI EL ALAMI</a:t>
                      </a:r>
                    </a:p>
                  </a:txBody>
                  <a:tcPr marL="45720" marR="45720"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6ECDF"/>
                    </a:solidFill>
                  </a:tcPr>
                </a:tc>
                <a:tc>
                  <a:txBody>
                    <a:bodyPr anchor="ctr" rtlCol="false" lIns="0" tIns="0" rIns="0" bIns="0" wrap="square"/>
                    <a:lstStyle/>
                    <a:p>
                      <a:pPr algn="ctr">
                        <a:lnSpc>
                          <a:spcPts val="1690"/>
                        </a:lnSpc>
                        <a:spcBef>
                          <a:spcPts val="0"/>
                        </a:spcBef>
                        <a:buNone/>
                      </a:pPr>
                      <a:r>
                        <a:rPr lang="en-US" sz="1300" b="true">
                          <a:solidFill>
                            <a:srgbClr val="111111"/>
                          </a:solidFill>
                          <a:latin typeface="Nunito Semi-Bold"/>
                          <a:ea typeface="Nunito Semi-Bold"/>
                          <a:cs typeface="Nunito Semi-Bold"/>
                          <a:sym typeface="Nunito Semi-Bold"/>
                        </a:rPr>
                        <a:t>MCH</a:t>
                      </a:r>
                    </a:p>
                  </a:txBody>
                  <a:tcPr marL="45720" marR="45720"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6ECDF"/>
                    </a:solidFill>
                  </a:tcPr>
                </a:tc>
                <a:tc>
                  <a:txBody>
                    <a:bodyPr anchor="ctr" rtlCol="false" lIns="0" tIns="0" rIns="0" bIns="0" wrap="square"/>
                    <a:lstStyle/>
                    <a:p>
                      <a:pPr algn="l">
                        <a:lnSpc>
                          <a:spcPts val="1690"/>
                        </a:lnSpc>
                        <a:spcBef>
                          <a:spcPts val="0"/>
                        </a:spcBef>
                        <a:buNone/>
                      </a:pPr>
                      <a:r>
                        <a:rPr lang="en-US" sz="1300" b="true">
                          <a:solidFill>
                            <a:srgbClr val="111111"/>
                          </a:solidFill>
                          <a:latin typeface="Nunito Semi-Bold"/>
                          <a:ea typeface="Nunito Semi-Bold"/>
                          <a:cs typeface="Nunito Semi-Bold"/>
                          <a:sym typeface="Nunito Semi-Bold"/>
                        </a:rPr>
                        <a:t>ENSIAS, Mohammed V University, Rabat</a:t>
                      </a:r>
                    </a:p>
                  </a:txBody>
                  <a:tcPr marL="45720" marR="45720"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6ECDF"/>
                    </a:solidFill>
                  </a:tcPr>
                </a:tc>
              </a:tr>
              <a:tr h="356870">
                <a:tc>
                  <a:txBody>
                    <a:bodyPr anchor="ctr" rtlCol="false" lIns="0" tIns="0" rIns="0" bIns="0" wrap="square"/>
                    <a:lstStyle/>
                    <a:p>
                      <a:pPr algn="l">
                        <a:lnSpc>
                          <a:spcPts val="1690"/>
                        </a:lnSpc>
                        <a:spcBef>
                          <a:spcPts val="0"/>
                        </a:spcBef>
                        <a:buNone/>
                      </a:pPr>
                      <a:r>
                        <a:rPr lang="en-US" sz="1300" b="true">
                          <a:solidFill>
                            <a:srgbClr val="111111"/>
                          </a:solidFill>
                          <a:latin typeface="Nunito Bold"/>
                          <a:ea typeface="Nunito Bold"/>
                          <a:cs typeface="Nunito Bold"/>
                          <a:sym typeface="Nunito Bold"/>
                        </a:rPr>
                        <a:t>Guest</a:t>
                      </a:r>
                    </a:p>
                  </a:txBody>
                  <a:tcPr marL="45720" marR="45720"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c>
                  <a:txBody>
                    <a:bodyPr anchor="ctr" rtlCol="false" lIns="0" tIns="0" rIns="0" bIns="0" wrap="square"/>
                    <a:lstStyle/>
                    <a:p>
                      <a:pPr algn="l">
                        <a:lnSpc>
                          <a:spcPts val="1690"/>
                        </a:lnSpc>
                        <a:spcBef>
                          <a:spcPts val="0"/>
                        </a:spcBef>
                        <a:buNone/>
                      </a:pPr>
                      <a:r>
                        <a:rPr lang="en-US" sz="1300" b="true">
                          <a:solidFill>
                            <a:srgbClr val="111111"/>
                          </a:solidFill>
                          <a:latin typeface="Nunito Semi-Bold"/>
                          <a:ea typeface="Nunito Semi-Bold"/>
                          <a:cs typeface="Nunito Semi-Bold"/>
                          <a:sym typeface="Nunito Semi-Bold"/>
                        </a:rPr>
                        <a:t>Pr. Yassine AFOUDI</a:t>
                      </a:r>
                    </a:p>
                  </a:txBody>
                  <a:tcPr marL="45720" marR="45720"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c>
                  <a:txBody>
                    <a:bodyPr anchor="ctr" rtlCol="false" lIns="0" tIns="0" rIns="0" bIns="0" wrap="square"/>
                    <a:lstStyle/>
                    <a:p>
                      <a:pPr algn="ctr">
                        <a:lnSpc>
                          <a:spcPts val="1690"/>
                        </a:lnSpc>
                        <a:spcBef>
                          <a:spcPts val="0"/>
                        </a:spcBef>
                        <a:buNone/>
                      </a:pPr>
                      <a:r>
                        <a:rPr lang="en-US" sz="1300" b="true">
                          <a:solidFill>
                            <a:srgbClr val="111111"/>
                          </a:solidFill>
                          <a:latin typeface="Nunito Semi-Bold"/>
                          <a:ea typeface="Nunito Semi-Bold"/>
                          <a:cs typeface="Nunito Semi-Bold"/>
                          <a:sym typeface="Nunito Semi-Bold"/>
                        </a:rPr>
                        <a:t>MC</a:t>
                      </a:r>
                    </a:p>
                  </a:txBody>
                  <a:tcPr marL="45720" marR="45720"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c>
                  <a:txBody>
                    <a:bodyPr anchor="ctr" rtlCol="false" lIns="0" tIns="0" rIns="0" bIns="0" wrap="square"/>
                    <a:lstStyle/>
                    <a:p>
                      <a:pPr algn="l">
                        <a:lnSpc>
                          <a:spcPts val="1690"/>
                        </a:lnSpc>
                        <a:spcBef>
                          <a:spcPts val="0"/>
                        </a:spcBef>
                        <a:buNone/>
                      </a:pPr>
                      <a:r>
                        <a:rPr lang="en-US" sz="1300" b="true">
                          <a:solidFill>
                            <a:srgbClr val="111111"/>
                          </a:solidFill>
                          <a:latin typeface="Nunito Semi-Bold"/>
                          <a:ea typeface="Nunito Semi-Bold"/>
                          <a:cs typeface="Nunito Semi-Bold"/>
                          <a:sym typeface="Nunito Semi-Bold"/>
                        </a:rPr>
                        <a:t>Faculty of Sciences, Cadi Ayyad University, Marrakech</a:t>
                      </a:r>
                    </a:p>
                  </a:txBody>
                  <a:tcPr marL="45720" marR="45720"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r>
            </a:tbl>
          </a:graphicData>
        </a:graphic>
      </p:graphicFrame>
      <p:sp>
        <p:nvSpPr>
          <p:cNvPr id="13" name="TextBox 12"/>
          <p:cNvSpPr txBox="1"/>
          <p:nvPr/>
        </p:nvSpPr>
        <p:spPr>
          <a:xfrm>
            <a:off x="1028700" y="9514078"/>
            <a:ext cx="16230600" cy="274320"/>
          </a:xfrm>
          <a:prstGeom prst="rect">
            <a:avLst/>
          </a:prstGeom>
          <a:noFill/>
        </p:spPr>
        <p:txBody>
          <a:bodyPr anchor="t" rtlCol="false" lIns="0" tIns="0" rIns="0" bIns="0" wrap="square"/>
          <a:lstStyle/>
          <a:p>
            <a:pPr algn="ctr">
              <a:lnSpc>
                <a:spcPts val="1700"/>
              </a:lnSpc>
              <a:spcBef>
                <a:spcPts val="0"/>
              </a:spcBef>
              <a:buNone/>
            </a:pPr>
            <a:r>
              <a:rPr lang="en-US" sz="1400" b="true">
                <a:solidFill>
                  <a:srgbClr val="8A8378"/>
                </a:solidFill>
                <a:latin typeface="Nunito Bold"/>
                <a:ea typeface="Nunito Bold"/>
                <a:cs typeface="Nunito Bold"/>
                <a:sym typeface="Nunito Bold"/>
              </a:rPr>
              <a:t>Rabat, Morocco  ·  2026</a:t>
            </a:r>
          </a:p>
        </p:txBody>
      </p:sp>
    </p:spTree>
  </p:cSld>
  <p:clrMapOvr>
    <a:masterClrMapping/>
  </p:clrMapOvr>
</p:sld>
</file>

<file path=ppt/slides/slide9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pic>
        <p:nvPicPr>
          <p:cNvPr id="2" name="Picture 1" descr="ensias_logo.jpg"/>
          <p:cNvPicPr>
            <a:picLocks noChangeAspect="1"/>
          </p:cNvPicPr>
          <p:nvPr/>
        </p:nvPicPr>
        <p:blipFill>
          <a:blip r:embed="rId2"/>
          <a:stretch>
            <a:fillRect/>
          </a:stretch>
        </p:blipFill>
        <p:spPr>
          <a:xfrm>
            <a:off x="1028700" y="9674352"/>
            <a:ext cx="542964" cy="384048"/>
          </a:xfrm>
          <a:prstGeom prst="rect">
            <a:avLst/>
          </a:prstGeom>
        </p:spPr>
      </p:pic>
      <p:sp>
        <p:nvSpPr>
          <p:cNvPr id="3" name="TextBox 2"/>
          <p:cNvSpPr txBox="1"/>
          <p:nvPr/>
        </p:nvSpPr>
        <p:spPr>
          <a:xfrm>
            <a:off x="1577340" y="9601200"/>
            <a:ext cx="14493240" cy="566928"/>
          </a:xfrm>
          <a:prstGeom prst="rect">
            <a:avLst/>
          </a:prstGeom>
          <a:noFill/>
        </p:spPr>
        <p:txBody>
          <a:bodyPr anchor="ctr" rtlCol="false" lIns="0" tIns="0" rIns="0" bIns="0" wrap="square"/>
          <a:lstStyle/>
          <a:p>
            <a:pPr algn="l">
              <a:lnSpc>
                <a:spcPts val="1200"/>
              </a:lnSpc>
              <a:spcBef>
                <a:spcPts val="0"/>
              </a:spcBef>
              <a:buNone/>
            </a:pPr>
            <a:r>
              <a:rPr lang="en-US" sz="1000" b="true">
                <a:solidFill>
                  <a:srgbClr val="8A8378"/>
                </a:solidFill>
                <a:latin typeface="Nunito Semi-Bold"/>
                <a:ea typeface="Nunito Semi-Bold"/>
                <a:cs typeface="Nunito Semi-Bold"/>
                <a:sym typeface="Nunito Semi-Bold"/>
              </a:rPr>
              <a:t>[3] Louhichi, M., Nesmaoui, R. &amp; Lazaar, M. DyHuCoG: A Dynamic Hypergraph Cooperative Game for Preference-aware Recommendation. IJIES 19(2), 887–902 (2026).</a:t>
            </a:r>
          </a:p>
        </p:txBody>
      </p:sp>
      <p:sp>
        <p:nvSpPr>
          <p:cNvPr id="4" name="TextBox 3"/>
          <p:cNvSpPr txBox="1"/>
          <p:nvPr/>
        </p:nvSpPr>
        <p:spPr>
          <a:xfrm>
            <a:off x="16162020" y="9692640"/>
            <a:ext cx="1097280" cy="329184"/>
          </a:xfrm>
          <a:prstGeom prst="rect">
            <a:avLst/>
          </a:prstGeom>
          <a:noFill/>
        </p:spPr>
        <p:txBody>
          <a:bodyPr anchor="t" rtlCol="false" lIns="0" tIns="0" rIns="0" bIns="0" wrap="square"/>
          <a:lstStyle/>
          <a:p>
            <a:pPr algn="r">
              <a:lnSpc>
                <a:spcPts val="2200"/>
              </a:lnSpc>
              <a:spcBef>
                <a:spcPts val="0"/>
              </a:spcBef>
              <a:buNone/>
            </a:pPr>
            <a:r>
              <a:rPr lang="en-US" sz="1800" b="true">
                <a:solidFill>
                  <a:srgbClr val="111111"/>
                </a:solidFill>
                <a:latin typeface="Nunito Ultra-Bold"/>
                <a:ea typeface="Nunito Ultra-Bold"/>
                <a:cs typeface="Nunito Ultra-Bold"/>
                <a:sym typeface="Nunito Ultra-Bold"/>
              </a:rPr>
              <a:t>77</a:t>
            </a:r>
          </a:p>
        </p:txBody>
      </p:sp>
      <p:sp>
        <p:nvSpPr>
          <p:cNvPr id="5" name="TextBox 4"/>
          <p:cNvSpPr txBox="1"/>
          <p:nvPr/>
        </p:nvSpPr>
        <p:spPr>
          <a:xfrm>
            <a:off x="1028700" y="1389888"/>
            <a:ext cx="12938760" cy="329184"/>
          </a:xfrm>
          <a:prstGeom prst="rect">
            <a:avLst/>
          </a:prstGeom>
          <a:noFill/>
        </p:spPr>
        <p:txBody>
          <a:bodyPr anchor="t" rtlCol="false" lIns="0" tIns="0" rIns="0" bIns="0" wrap="square"/>
          <a:lstStyle/>
          <a:p>
            <a:pPr algn="l">
              <a:lnSpc>
                <a:spcPts val="2000"/>
              </a:lnSpc>
              <a:spcBef>
                <a:spcPts val="0"/>
              </a:spcBef>
              <a:buNone/>
            </a:pPr>
            <a:r>
              <a:rPr lang="en-US" sz="1500" b="true" spc="160">
                <a:solidFill>
                  <a:srgbClr val="1F7A8C"/>
                </a:solidFill>
                <a:latin typeface="Nunito Ultra-Bold"/>
                <a:ea typeface="Nunito Ultra-Bold"/>
                <a:cs typeface="Nunito Ultra-Bold"/>
                <a:sym typeface="Nunito Ultra-Bold"/>
              </a:rPr>
              <a:t>BACKUP</a:t>
            </a:r>
          </a:p>
        </p:txBody>
      </p:sp>
      <p:sp>
        <p:nvSpPr>
          <p:cNvPr id="6" name="TextBox 5"/>
          <p:cNvSpPr txBox="1"/>
          <p:nvPr/>
        </p:nvSpPr>
        <p:spPr>
          <a:xfrm>
            <a:off x="1028700" y="1719072"/>
            <a:ext cx="16230600" cy="730250"/>
          </a:xfrm>
          <a:prstGeom prst="rect">
            <a:avLst/>
          </a:prstGeom>
          <a:noFill/>
        </p:spPr>
        <p:txBody>
          <a:bodyPr anchor="t" rtlCol="false" lIns="0" tIns="0" rIns="0" bIns="0" wrap="square"/>
          <a:lstStyle/>
          <a:p>
            <a:pPr algn="l">
              <a:lnSpc>
                <a:spcPts val="5060"/>
              </a:lnSpc>
              <a:spcBef>
                <a:spcPts val="0"/>
              </a:spcBef>
              <a:buNone/>
            </a:pPr>
            <a:r>
              <a:rPr lang="en-US" sz="4600" b="true" spc="-230">
                <a:solidFill>
                  <a:srgbClr val="111111"/>
                </a:solidFill>
                <a:latin typeface="Roca Two Bold"/>
                <a:ea typeface="Roca Two Bold"/>
                <a:cs typeface="Roca Two Bold"/>
                <a:sym typeface="Roca Two Bold"/>
              </a:rPr>
              <a:t>Backup: Table 7.1, Full Results (mean </a:t>
            </a:r>
            <a:r>
              <a:rPr lang="en-US" sz="4600" b="true" spc="-230">
                <a:solidFill>
                  <a:srgbClr val="111111"/>
                </a:solidFill>
                <a:latin typeface="Cambria Math"/>
                <a:ea typeface="Cambria Math"/>
                <a:cs typeface="Cambria Math"/>
                <a:sym typeface="Cambria Math"/>
              </a:rPr>
              <a:t>± </a:t>
            </a:r>
            <a:r>
              <a:rPr lang="en-US" sz="4600" b="true" spc="-230">
                <a:solidFill>
                  <a:srgbClr val="111111"/>
                </a:solidFill>
                <a:latin typeface="Roca Two Bold"/>
                <a:ea typeface="Roca Two Bold"/>
                <a:cs typeface="Roca Two Bold"/>
                <a:sym typeface="Roca Two Bold"/>
              </a:rPr>
              <a:t>std, 5 seeds)</a:t>
            </a:r>
          </a:p>
        </p:txBody>
      </p:sp>
      <p:sp>
        <p:nvSpPr>
          <p:cNvPr id="7" name="TextBox 6"/>
          <p:cNvSpPr txBox="1"/>
          <p:nvPr/>
        </p:nvSpPr>
        <p:spPr>
          <a:xfrm>
            <a:off x="1028700" y="2897378"/>
            <a:ext cx="7886700" cy="320040"/>
          </a:xfrm>
          <a:prstGeom prst="rect">
            <a:avLst/>
          </a:prstGeom>
          <a:noFill/>
        </p:spPr>
        <p:txBody>
          <a:bodyPr anchor="t" rtlCol="false" lIns="0" tIns="0" rIns="0" bIns="0" wrap="square"/>
          <a:lstStyle/>
          <a:p>
            <a:pPr algn="l">
              <a:lnSpc>
                <a:spcPts val="1600"/>
              </a:lnSpc>
              <a:spcBef>
                <a:spcPts val="0"/>
              </a:spcBef>
              <a:buNone/>
            </a:pPr>
            <a:r>
              <a:rPr lang="en-US" sz="1300" b="true" spc="150">
                <a:solidFill>
                  <a:srgbClr val="1F7A8C"/>
                </a:solidFill>
                <a:latin typeface="Nunito Ultra-Bold"/>
                <a:ea typeface="Nunito Ultra-Bold"/>
                <a:cs typeface="Nunito Ultra-Bold"/>
                <a:sym typeface="Nunito Ultra-Bold"/>
              </a:rPr>
              <a:t>MOVIELENS-1M</a:t>
            </a:r>
          </a:p>
        </p:txBody>
      </p:sp>
      <p:graphicFrame>
        <p:nvGraphicFramePr>
          <p:cNvPr id="8" name="Table 7"/>
          <p:cNvGraphicFramePr>
            <a:graphicFrameLocks noGrp="1"/>
          </p:cNvGraphicFramePr>
          <p:nvPr/>
        </p:nvGraphicFramePr>
        <p:xfrm>
          <a:off x="1028700" y="3263138"/>
          <a:ext cx="7886699" cy="3803904"/>
        </p:xfrm>
        <a:graphic>
          <a:graphicData uri="http://schemas.openxmlformats.org/drawingml/2006/table">
            <a:tbl>
              <a:tblPr firstRow="0" bandRow="0" firstCol="0" lastRow="0" lastCol="0" bandCol="0">
                <a:tableStyleId>{2D5ABB26-0587-4C30-8999-92F81FD0307C}</a:tableStyleId>
              </a:tblPr>
              <a:tblGrid>
                <a:gridCol w="1354281"/>
                <a:gridCol w="1752600"/>
                <a:gridCol w="1752600"/>
                <a:gridCol w="1513609"/>
                <a:gridCol w="1513609"/>
              </a:tblGrid>
              <a:tr h="475488">
                <a:tc>
                  <a:txBody>
                    <a:bodyPr anchor="ctr" rtlCol="false" lIns="0" tIns="0" rIns="0" bIns="0" wrap="square"/>
                    <a:lstStyle/>
                    <a:p>
                      <a:pPr algn="l">
                        <a:lnSpc>
                          <a:spcPts val="1820"/>
                        </a:lnSpc>
                        <a:spcBef>
                          <a:spcPts val="0"/>
                        </a:spcBef>
                        <a:buNone/>
                      </a:pPr>
                      <a:r>
                        <a:rPr lang="en-US" sz="1400" b="true">
                          <a:solidFill>
                            <a:srgbClr val="FFFFFF"/>
                          </a:solidFill>
                          <a:latin typeface="Nunito Bold"/>
                          <a:ea typeface="Nunito Bold"/>
                          <a:cs typeface="Nunito Bold"/>
                          <a:sym typeface="Nunito Bold"/>
                        </a:rPr>
                        <a:t>Model</a:t>
                      </a:r>
                    </a:p>
                  </a:txBody>
                  <a:tcPr marL="54864" marR="54864" marT="45720" marB="45720" anchor="ctr">
                    <a:lnL w="12700" cap="flat" cmpd="sng" algn="ctr">
                      <a:solidFill>
                        <a:srgbClr val="4472C4"/>
                      </a:solidFill>
                      <a:prstDash val="solid"/>
                    </a:lnL>
                    <a:lnR w="12700" cap="flat" cmpd="sng" algn="ctr">
                      <a:solidFill>
                        <a:srgbClr val="4472C4"/>
                      </a:solidFill>
                      <a:prstDash val="solid"/>
                    </a:lnR>
                    <a:lnT w="12700" cap="flat" cmpd="sng" algn="ctr">
                      <a:solidFill>
                        <a:srgbClr val="4472C4"/>
                      </a:solidFill>
                      <a:prstDash val="solid"/>
                    </a:lnT>
                    <a:lnB w="12700" cap="flat" cmpd="sng" algn="ctr">
                      <a:solidFill>
                        <a:srgbClr val="4472C4"/>
                      </a:solidFill>
                      <a:prstDash val="solid"/>
                    </a:lnB>
                    <a:solidFill>
                      <a:srgbClr val="4472C4"/>
                    </a:solidFill>
                  </a:tcPr>
                </a:tc>
                <a:tc>
                  <a:txBody>
                    <a:bodyPr anchor="ctr" rtlCol="false" lIns="0" tIns="0" rIns="0" bIns="0" wrap="square"/>
                    <a:lstStyle/>
                    <a:p>
                      <a:pPr algn="ctr">
                        <a:lnSpc>
                          <a:spcPts val="1820"/>
                        </a:lnSpc>
                        <a:spcBef>
                          <a:spcPts val="0"/>
                        </a:spcBef>
                        <a:buNone/>
                      </a:pPr>
                      <a:r>
                        <a:rPr lang="en-US" sz="1400" b="true">
                          <a:solidFill>
                            <a:srgbClr val="FFFFFF"/>
                          </a:solidFill>
                          <a:latin typeface="Nunito Bold"/>
                          <a:ea typeface="Nunito Bold"/>
                          <a:cs typeface="Nunito Bold"/>
                          <a:sym typeface="Nunito Bold"/>
                        </a:rPr>
                        <a:t>NDCG@20</a:t>
                      </a:r>
                    </a:p>
                  </a:txBody>
                  <a:tcPr marL="54864" marR="54864" marT="45720" marB="45720" anchor="ctr">
                    <a:lnL w="12700" cap="flat" cmpd="sng" algn="ctr">
                      <a:solidFill>
                        <a:srgbClr val="4472C4"/>
                      </a:solidFill>
                      <a:prstDash val="solid"/>
                    </a:lnL>
                    <a:lnR w="12700" cap="flat" cmpd="sng" algn="ctr">
                      <a:solidFill>
                        <a:srgbClr val="4472C4"/>
                      </a:solidFill>
                      <a:prstDash val="solid"/>
                    </a:lnR>
                    <a:lnT w="12700" cap="flat" cmpd="sng" algn="ctr">
                      <a:solidFill>
                        <a:srgbClr val="4472C4"/>
                      </a:solidFill>
                      <a:prstDash val="solid"/>
                    </a:lnT>
                    <a:lnB w="12700" cap="flat" cmpd="sng" algn="ctr">
                      <a:solidFill>
                        <a:srgbClr val="4472C4"/>
                      </a:solidFill>
                      <a:prstDash val="solid"/>
                    </a:lnB>
                    <a:solidFill>
                      <a:srgbClr val="4472C4"/>
                    </a:solidFill>
                  </a:tcPr>
                </a:tc>
                <a:tc>
                  <a:txBody>
                    <a:bodyPr anchor="ctr" rtlCol="false" lIns="0" tIns="0" rIns="0" bIns="0" wrap="square"/>
                    <a:lstStyle/>
                    <a:p>
                      <a:pPr algn="ctr">
                        <a:lnSpc>
                          <a:spcPts val="1820"/>
                        </a:lnSpc>
                        <a:spcBef>
                          <a:spcPts val="0"/>
                        </a:spcBef>
                        <a:buNone/>
                      </a:pPr>
                      <a:r>
                        <a:rPr lang="en-US" sz="1400" b="true">
                          <a:solidFill>
                            <a:srgbClr val="FFFFFF"/>
                          </a:solidFill>
                          <a:latin typeface="Nunito Bold"/>
                          <a:ea typeface="Nunito Bold"/>
                          <a:cs typeface="Nunito Bold"/>
                          <a:sym typeface="Nunito Bold"/>
                        </a:rPr>
                        <a:t>Recall@20</a:t>
                      </a:r>
                    </a:p>
                  </a:txBody>
                  <a:tcPr marL="54864" marR="54864" marT="45720" marB="45720" anchor="ctr">
                    <a:lnL w="12700" cap="flat" cmpd="sng" algn="ctr">
                      <a:solidFill>
                        <a:srgbClr val="4472C4"/>
                      </a:solidFill>
                      <a:prstDash val="solid"/>
                    </a:lnL>
                    <a:lnR w="12700" cap="flat" cmpd="sng" algn="ctr">
                      <a:solidFill>
                        <a:srgbClr val="4472C4"/>
                      </a:solidFill>
                      <a:prstDash val="solid"/>
                    </a:lnR>
                    <a:lnT w="12700" cap="flat" cmpd="sng" algn="ctr">
                      <a:solidFill>
                        <a:srgbClr val="4472C4"/>
                      </a:solidFill>
                      <a:prstDash val="solid"/>
                    </a:lnT>
                    <a:lnB w="12700" cap="flat" cmpd="sng" algn="ctr">
                      <a:solidFill>
                        <a:srgbClr val="4472C4"/>
                      </a:solidFill>
                      <a:prstDash val="solid"/>
                    </a:lnB>
                    <a:solidFill>
                      <a:srgbClr val="4472C4"/>
                    </a:solidFill>
                  </a:tcPr>
                </a:tc>
                <a:tc>
                  <a:txBody>
                    <a:bodyPr anchor="ctr" rtlCol="false" lIns="0" tIns="0" rIns="0" bIns="0" wrap="square"/>
                    <a:lstStyle/>
                    <a:p>
                      <a:pPr algn="ctr">
                        <a:lnSpc>
                          <a:spcPts val="1820"/>
                        </a:lnSpc>
                        <a:spcBef>
                          <a:spcPts val="0"/>
                        </a:spcBef>
                        <a:buNone/>
                      </a:pPr>
                      <a:r>
                        <a:rPr lang="en-US" sz="1400" b="true">
                          <a:solidFill>
                            <a:srgbClr val="FFFFFF"/>
                          </a:solidFill>
                          <a:latin typeface="Nunito Bold"/>
                          <a:ea typeface="Nunito Bold"/>
                          <a:cs typeface="Nunito Bold"/>
                          <a:sym typeface="Nunito Bold"/>
                        </a:rPr>
                        <a:t>Coverage</a:t>
                      </a:r>
                    </a:p>
                  </a:txBody>
                  <a:tcPr marL="54864" marR="54864" marT="45720" marB="45720" anchor="ctr">
                    <a:lnL w="12700" cap="flat" cmpd="sng" algn="ctr">
                      <a:solidFill>
                        <a:srgbClr val="4472C4"/>
                      </a:solidFill>
                      <a:prstDash val="solid"/>
                    </a:lnL>
                    <a:lnR w="12700" cap="flat" cmpd="sng" algn="ctr">
                      <a:solidFill>
                        <a:srgbClr val="4472C4"/>
                      </a:solidFill>
                      <a:prstDash val="solid"/>
                    </a:lnR>
                    <a:lnT w="12700" cap="flat" cmpd="sng" algn="ctr">
                      <a:solidFill>
                        <a:srgbClr val="4472C4"/>
                      </a:solidFill>
                      <a:prstDash val="solid"/>
                    </a:lnT>
                    <a:lnB w="12700" cap="flat" cmpd="sng" algn="ctr">
                      <a:solidFill>
                        <a:srgbClr val="4472C4"/>
                      </a:solidFill>
                      <a:prstDash val="solid"/>
                    </a:lnB>
                    <a:solidFill>
                      <a:srgbClr val="4472C4"/>
                    </a:solidFill>
                  </a:tcPr>
                </a:tc>
                <a:tc>
                  <a:txBody>
                    <a:bodyPr anchor="ctr" rtlCol="false" lIns="0" tIns="0" rIns="0" bIns="0" wrap="square"/>
                    <a:lstStyle/>
                    <a:p>
                      <a:pPr algn="ctr">
                        <a:lnSpc>
                          <a:spcPts val="1820"/>
                        </a:lnSpc>
                        <a:spcBef>
                          <a:spcPts val="0"/>
                        </a:spcBef>
                        <a:buNone/>
                      </a:pPr>
                      <a:r>
                        <a:rPr lang="en-US" sz="1400" b="true">
                          <a:solidFill>
                            <a:srgbClr val="FFFFFF"/>
                          </a:solidFill>
                          <a:latin typeface="Nunito Bold"/>
                          <a:ea typeface="Nunito Bold"/>
                          <a:cs typeface="Nunito Bold"/>
                          <a:sym typeface="Nunito Bold"/>
                        </a:rPr>
                        <a:t>ILD</a:t>
                      </a:r>
                    </a:p>
                  </a:txBody>
                  <a:tcPr marL="54864" marR="54864" marT="45720" marB="45720" anchor="ctr">
                    <a:lnL w="12700" cap="flat" cmpd="sng" algn="ctr">
                      <a:solidFill>
                        <a:srgbClr val="4472C4"/>
                      </a:solidFill>
                      <a:prstDash val="solid"/>
                    </a:lnL>
                    <a:lnR w="12700" cap="flat" cmpd="sng" algn="ctr">
                      <a:solidFill>
                        <a:srgbClr val="4472C4"/>
                      </a:solidFill>
                      <a:prstDash val="solid"/>
                    </a:lnR>
                    <a:lnT w="12700" cap="flat" cmpd="sng" algn="ctr">
                      <a:solidFill>
                        <a:srgbClr val="4472C4"/>
                      </a:solidFill>
                      <a:prstDash val="solid"/>
                    </a:lnT>
                    <a:lnB w="12700" cap="flat" cmpd="sng" algn="ctr">
                      <a:solidFill>
                        <a:srgbClr val="4472C4"/>
                      </a:solidFill>
                      <a:prstDash val="solid"/>
                    </a:lnB>
                    <a:solidFill>
                      <a:srgbClr val="4472C4"/>
                    </a:solidFill>
                  </a:tcPr>
                </a:tc>
              </a:tr>
              <a:tr h="475488">
                <a:tc>
                  <a:txBody>
                    <a:bodyPr anchor="ctr" rtlCol="false" lIns="0" tIns="0" rIns="0" bIns="0" wrap="square"/>
                    <a:lstStyle/>
                    <a:p>
                      <a:pPr algn="l">
                        <a:lnSpc>
                          <a:spcPts val="1820"/>
                        </a:lnSpc>
                        <a:spcBef>
                          <a:spcPts val="0"/>
                        </a:spcBef>
                        <a:buNone/>
                      </a:pPr>
                      <a:r>
                        <a:rPr lang="en-US" sz="1400" b="true">
                          <a:solidFill>
                            <a:srgbClr val="111111"/>
                          </a:solidFill>
                          <a:latin typeface="Nunito Bold"/>
                          <a:ea typeface="Nunito Bold"/>
                          <a:cs typeface="Nunito Bold"/>
                          <a:sym typeface="Nunito Bold"/>
                        </a:rPr>
                        <a:t>MF</a:t>
                      </a:r>
                    </a:p>
                  </a:txBody>
                  <a:tcPr marL="54864" marR="54864"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c>
                  <a:txBody>
                    <a:bodyPr anchor="ctr" rtlCol="false" lIns="0" tIns="0" rIns="0" bIns="0" wrap="square"/>
                    <a:lstStyle/>
                    <a:p>
                      <a:pPr algn="ctr">
                        <a:lnSpc>
                          <a:spcPts val="1820"/>
                        </a:lnSpc>
                        <a:spcBef>
                          <a:spcPts val="0"/>
                        </a:spcBef>
                        <a:buNone/>
                      </a:pPr>
                      <a:r>
                        <a:rPr lang="en-US" sz="1400" b="true">
                          <a:solidFill>
                            <a:srgbClr val="111111"/>
                          </a:solidFill>
                          <a:latin typeface="Nunito Semi-Bold"/>
                          <a:ea typeface="Nunito Semi-Bold"/>
                          <a:cs typeface="Nunito Semi-Bold"/>
                          <a:sym typeface="Nunito Semi-Bold"/>
                        </a:rPr>
                        <a:t>0.1200 ± 0.0025</a:t>
                      </a:r>
                    </a:p>
                  </a:txBody>
                  <a:tcPr marL="54864" marR="54864"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c>
                  <a:txBody>
                    <a:bodyPr anchor="ctr" rtlCol="false" lIns="0" tIns="0" rIns="0" bIns="0" wrap="square"/>
                    <a:lstStyle/>
                    <a:p>
                      <a:pPr algn="ctr">
                        <a:lnSpc>
                          <a:spcPts val="1820"/>
                        </a:lnSpc>
                        <a:spcBef>
                          <a:spcPts val="0"/>
                        </a:spcBef>
                        <a:buNone/>
                      </a:pPr>
                      <a:r>
                        <a:rPr lang="en-US" sz="1400" b="true">
                          <a:solidFill>
                            <a:srgbClr val="111111"/>
                          </a:solidFill>
                          <a:latin typeface="Nunito Semi-Bold"/>
                          <a:ea typeface="Nunito Semi-Bold"/>
                          <a:cs typeface="Nunito Semi-Bold"/>
                          <a:sym typeface="Nunito Semi-Bold"/>
                        </a:rPr>
                        <a:t>0.0880 ± 0.0020</a:t>
                      </a:r>
                    </a:p>
                  </a:txBody>
                  <a:tcPr marL="54864" marR="54864"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c>
                  <a:txBody>
                    <a:bodyPr anchor="ctr" rtlCol="false" lIns="0" tIns="0" rIns="0" bIns="0" wrap="square"/>
                    <a:lstStyle/>
                    <a:p>
                      <a:pPr algn="ctr">
                        <a:lnSpc>
                          <a:spcPts val="1820"/>
                        </a:lnSpc>
                        <a:spcBef>
                          <a:spcPts val="0"/>
                        </a:spcBef>
                        <a:buNone/>
                      </a:pPr>
                      <a:r>
                        <a:rPr lang="en-US" sz="1400" b="true">
                          <a:solidFill>
                            <a:srgbClr val="111111"/>
                          </a:solidFill>
                          <a:latin typeface="Nunito Semi-Bold"/>
                          <a:ea typeface="Nunito Semi-Bold"/>
                          <a:cs typeface="Nunito Semi-Bold"/>
                          <a:sym typeface="Nunito Semi-Bold"/>
                        </a:rPr>
                        <a:t>0.239 ± 0.010</a:t>
                      </a:r>
                    </a:p>
                  </a:txBody>
                  <a:tcPr marL="54864" marR="54864"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c>
                  <a:txBody>
                    <a:bodyPr anchor="ctr" rtlCol="false" lIns="0" tIns="0" rIns="0" bIns="0" wrap="square"/>
                    <a:lstStyle/>
                    <a:p>
                      <a:pPr algn="ctr">
                        <a:lnSpc>
                          <a:spcPts val="1820"/>
                        </a:lnSpc>
                        <a:spcBef>
                          <a:spcPts val="0"/>
                        </a:spcBef>
                        <a:buNone/>
                      </a:pPr>
                      <a:r>
                        <a:rPr lang="en-US" sz="1400" b="true">
                          <a:solidFill>
                            <a:srgbClr val="111111"/>
                          </a:solidFill>
                          <a:latin typeface="Nunito Semi-Bold"/>
                          <a:ea typeface="Nunito Semi-Bold"/>
                          <a:cs typeface="Nunito Semi-Bold"/>
                          <a:sym typeface="Nunito Semi-Bold"/>
                        </a:rPr>
                        <a:t>0.367 ± 0.009</a:t>
                      </a:r>
                    </a:p>
                  </a:txBody>
                  <a:tcPr marL="54864" marR="54864"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r>
              <a:tr h="475488">
                <a:tc>
                  <a:txBody>
                    <a:bodyPr anchor="ctr" rtlCol="false" lIns="0" tIns="0" rIns="0" bIns="0" wrap="square"/>
                    <a:lstStyle/>
                    <a:p>
                      <a:pPr algn="l">
                        <a:lnSpc>
                          <a:spcPts val="1820"/>
                        </a:lnSpc>
                        <a:spcBef>
                          <a:spcPts val="0"/>
                        </a:spcBef>
                        <a:buNone/>
                      </a:pPr>
                      <a:r>
                        <a:rPr lang="en-US" sz="1400" b="true">
                          <a:solidFill>
                            <a:srgbClr val="111111"/>
                          </a:solidFill>
                          <a:latin typeface="Nunito Bold"/>
                          <a:ea typeface="Nunito Bold"/>
                          <a:cs typeface="Nunito Bold"/>
                          <a:sym typeface="Nunito Bold"/>
                        </a:rPr>
                        <a:t>NCF</a:t>
                      </a:r>
                    </a:p>
                  </a:txBody>
                  <a:tcPr marL="54864" marR="54864"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6ECDF"/>
                    </a:solidFill>
                  </a:tcPr>
                </a:tc>
                <a:tc>
                  <a:txBody>
                    <a:bodyPr anchor="ctr" rtlCol="false" lIns="0" tIns="0" rIns="0" bIns="0" wrap="square"/>
                    <a:lstStyle/>
                    <a:p>
                      <a:pPr algn="ctr">
                        <a:lnSpc>
                          <a:spcPts val="1820"/>
                        </a:lnSpc>
                        <a:spcBef>
                          <a:spcPts val="0"/>
                        </a:spcBef>
                        <a:buNone/>
                      </a:pPr>
                      <a:r>
                        <a:rPr lang="en-US" sz="1400" b="true">
                          <a:solidFill>
                            <a:srgbClr val="111111"/>
                          </a:solidFill>
                          <a:latin typeface="Nunito Semi-Bold"/>
                          <a:ea typeface="Nunito Semi-Bold"/>
                          <a:cs typeface="Nunito Semi-Bold"/>
                          <a:sym typeface="Nunito Semi-Bold"/>
                        </a:rPr>
                        <a:t>0.1300 ± 0.0026</a:t>
                      </a:r>
                    </a:p>
                  </a:txBody>
                  <a:tcPr marL="54864" marR="54864"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6ECDF"/>
                    </a:solidFill>
                  </a:tcPr>
                </a:tc>
                <a:tc>
                  <a:txBody>
                    <a:bodyPr anchor="ctr" rtlCol="false" lIns="0" tIns="0" rIns="0" bIns="0" wrap="square"/>
                    <a:lstStyle/>
                    <a:p>
                      <a:pPr algn="ctr">
                        <a:lnSpc>
                          <a:spcPts val="1820"/>
                        </a:lnSpc>
                        <a:spcBef>
                          <a:spcPts val="0"/>
                        </a:spcBef>
                        <a:buNone/>
                      </a:pPr>
                      <a:r>
                        <a:rPr lang="en-US" sz="1400" b="true">
                          <a:solidFill>
                            <a:srgbClr val="111111"/>
                          </a:solidFill>
                          <a:latin typeface="Nunito Semi-Bold"/>
                          <a:ea typeface="Nunito Semi-Bold"/>
                          <a:cs typeface="Nunito Semi-Bold"/>
                          <a:sym typeface="Nunito Semi-Bold"/>
                        </a:rPr>
                        <a:t>0.1100 ± 0.0022</a:t>
                      </a:r>
                    </a:p>
                  </a:txBody>
                  <a:tcPr marL="54864" marR="54864"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6ECDF"/>
                    </a:solidFill>
                  </a:tcPr>
                </a:tc>
                <a:tc>
                  <a:txBody>
                    <a:bodyPr anchor="ctr" rtlCol="false" lIns="0" tIns="0" rIns="0" bIns="0" wrap="square"/>
                    <a:lstStyle/>
                    <a:p>
                      <a:pPr algn="ctr">
                        <a:lnSpc>
                          <a:spcPts val="1820"/>
                        </a:lnSpc>
                        <a:spcBef>
                          <a:spcPts val="0"/>
                        </a:spcBef>
                        <a:buNone/>
                      </a:pPr>
                      <a:r>
                        <a:rPr lang="en-US" sz="1400" b="true">
                          <a:solidFill>
                            <a:srgbClr val="111111"/>
                          </a:solidFill>
                          <a:latin typeface="Nunito Semi-Bold"/>
                          <a:ea typeface="Nunito Semi-Bold"/>
                          <a:cs typeface="Nunito Semi-Bold"/>
                          <a:sym typeface="Nunito Semi-Bold"/>
                        </a:rPr>
                        <a:t>0.269 ± 0.011</a:t>
                      </a:r>
                    </a:p>
                  </a:txBody>
                  <a:tcPr marL="54864" marR="54864"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6ECDF"/>
                    </a:solidFill>
                  </a:tcPr>
                </a:tc>
                <a:tc>
                  <a:txBody>
                    <a:bodyPr anchor="ctr" rtlCol="false" lIns="0" tIns="0" rIns="0" bIns="0" wrap="square"/>
                    <a:lstStyle/>
                    <a:p>
                      <a:pPr algn="ctr">
                        <a:lnSpc>
                          <a:spcPts val="1820"/>
                        </a:lnSpc>
                        <a:spcBef>
                          <a:spcPts val="0"/>
                        </a:spcBef>
                        <a:buNone/>
                      </a:pPr>
                      <a:r>
                        <a:rPr lang="en-US" sz="1400" b="true">
                          <a:solidFill>
                            <a:srgbClr val="111111"/>
                          </a:solidFill>
                          <a:latin typeface="Nunito Semi-Bold"/>
                          <a:ea typeface="Nunito Semi-Bold"/>
                          <a:cs typeface="Nunito Semi-Bold"/>
                          <a:sym typeface="Nunito Semi-Bold"/>
                        </a:rPr>
                        <a:t>0.398 ± 0.008</a:t>
                      </a:r>
                    </a:p>
                  </a:txBody>
                  <a:tcPr marL="54864" marR="54864"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6ECDF"/>
                    </a:solidFill>
                  </a:tcPr>
                </a:tc>
              </a:tr>
              <a:tr h="475488">
                <a:tc>
                  <a:txBody>
                    <a:bodyPr anchor="ctr" rtlCol="false" lIns="0" tIns="0" rIns="0" bIns="0" wrap="square"/>
                    <a:lstStyle/>
                    <a:p>
                      <a:pPr algn="l">
                        <a:lnSpc>
                          <a:spcPts val="1820"/>
                        </a:lnSpc>
                        <a:spcBef>
                          <a:spcPts val="0"/>
                        </a:spcBef>
                        <a:buNone/>
                      </a:pPr>
                      <a:r>
                        <a:rPr lang="en-US" sz="1400" b="true">
                          <a:solidFill>
                            <a:srgbClr val="111111"/>
                          </a:solidFill>
                          <a:latin typeface="Nunito Bold"/>
                          <a:ea typeface="Nunito Bold"/>
                          <a:cs typeface="Nunito Bold"/>
                          <a:sym typeface="Nunito Bold"/>
                        </a:rPr>
                        <a:t>LightGCN</a:t>
                      </a:r>
                    </a:p>
                  </a:txBody>
                  <a:tcPr marL="54864" marR="54864"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c>
                  <a:txBody>
                    <a:bodyPr anchor="ctr" rtlCol="false" lIns="0" tIns="0" rIns="0" bIns="0" wrap="square"/>
                    <a:lstStyle/>
                    <a:p>
                      <a:pPr algn="ctr">
                        <a:lnSpc>
                          <a:spcPts val="1820"/>
                        </a:lnSpc>
                        <a:spcBef>
                          <a:spcPts val="0"/>
                        </a:spcBef>
                        <a:buNone/>
                      </a:pPr>
                      <a:r>
                        <a:rPr lang="en-US" sz="1400" b="true">
                          <a:solidFill>
                            <a:srgbClr val="111111"/>
                          </a:solidFill>
                          <a:latin typeface="Nunito Semi-Bold"/>
                          <a:ea typeface="Nunito Semi-Bold"/>
                          <a:cs typeface="Nunito Semi-Bold"/>
                          <a:sym typeface="Nunito Semi-Bold"/>
                        </a:rPr>
                        <a:t>0.2130 ± 0.0030</a:t>
                      </a:r>
                    </a:p>
                  </a:txBody>
                  <a:tcPr marL="54864" marR="54864"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c>
                  <a:txBody>
                    <a:bodyPr anchor="ctr" rtlCol="false" lIns="0" tIns="0" rIns="0" bIns="0" wrap="square"/>
                    <a:lstStyle/>
                    <a:p>
                      <a:pPr algn="ctr">
                        <a:lnSpc>
                          <a:spcPts val="1820"/>
                        </a:lnSpc>
                        <a:spcBef>
                          <a:spcPts val="0"/>
                        </a:spcBef>
                        <a:buNone/>
                      </a:pPr>
                      <a:r>
                        <a:rPr lang="en-US" sz="1400" b="true">
                          <a:solidFill>
                            <a:srgbClr val="111111"/>
                          </a:solidFill>
                          <a:latin typeface="Nunito Semi-Bold"/>
                          <a:ea typeface="Nunito Semi-Bold"/>
                          <a:cs typeface="Nunito Semi-Bold"/>
                          <a:sym typeface="Nunito Semi-Bold"/>
                        </a:rPr>
                        <a:t>0.1790 ± 0.0027</a:t>
                      </a:r>
                    </a:p>
                  </a:txBody>
                  <a:tcPr marL="54864" marR="54864"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c>
                  <a:txBody>
                    <a:bodyPr anchor="ctr" rtlCol="false" lIns="0" tIns="0" rIns="0" bIns="0" wrap="square"/>
                    <a:lstStyle/>
                    <a:p>
                      <a:pPr algn="ctr">
                        <a:lnSpc>
                          <a:spcPts val="1820"/>
                        </a:lnSpc>
                        <a:spcBef>
                          <a:spcPts val="0"/>
                        </a:spcBef>
                        <a:buNone/>
                      </a:pPr>
                      <a:r>
                        <a:rPr lang="en-US" sz="1400" b="true">
                          <a:solidFill>
                            <a:srgbClr val="111111"/>
                          </a:solidFill>
                          <a:latin typeface="Nunito Semi-Bold"/>
                          <a:ea typeface="Nunito Semi-Bold"/>
                          <a:cs typeface="Nunito Semi-Bold"/>
                          <a:sym typeface="Nunito Semi-Bold"/>
                        </a:rPr>
                        <a:t>0.308 ± 0.010</a:t>
                      </a:r>
                    </a:p>
                  </a:txBody>
                  <a:tcPr marL="54864" marR="54864"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c>
                  <a:txBody>
                    <a:bodyPr anchor="ctr" rtlCol="false" lIns="0" tIns="0" rIns="0" bIns="0" wrap="square"/>
                    <a:lstStyle/>
                    <a:p>
                      <a:pPr algn="ctr">
                        <a:lnSpc>
                          <a:spcPts val="1820"/>
                        </a:lnSpc>
                        <a:spcBef>
                          <a:spcPts val="0"/>
                        </a:spcBef>
                        <a:buNone/>
                      </a:pPr>
                      <a:r>
                        <a:rPr lang="en-US" sz="1400" b="true">
                          <a:solidFill>
                            <a:srgbClr val="111111"/>
                          </a:solidFill>
                          <a:latin typeface="Nunito Semi-Bold"/>
                          <a:ea typeface="Nunito Semi-Bold"/>
                          <a:cs typeface="Nunito Semi-Bold"/>
                          <a:sym typeface="Nunito Semi-Bold"/>
                        </a:rPr>
                        <a:t>0.423 ± 0.007</a:t>
                      </a:r>
                    </a:p>
                  </a:txBody>
                  <a:tcPr marL="54864" marR="54864"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r>
              <a:tr h="475488">
                <a:tc>
                  <a:txBody>
                    <a:bodyPr anchor="ctr" rtlCol="false" lIns="0" tIns="0" rIns="0" bIns="0" wrap="square"/>
                    <a:lstStyle/>
                    <a:p>
                      <a:pPr algn="l">
                        <a:lnSpc>
                          <a:spcPts val="1820"/>
                        </a:lnSpc>
                        <a:spcBef>
                          <a:spcPts val="0"/>
                        </a:spcBef>
                        <a:buNone/>
                      </a:pPr>
                      <a:r>
                        <a:rPr lang="en-US" sz="1400" b="true">
                          <a:solidFill>
                            <a:srgbClr val="111111"/>
                          </a:solidFill>
                          <a:latin typeface="Nunito Bold"/>
                          <a:ea typeface="Nunito Bold"/>
                          <a:cs typeface="Nunito Bold"/>
                          <a:sym typeface="Nunito Bold"/>
                        </a:rPr>
                        <a:t>RecDCL</a:t>
                      </a:r>
                    </a:p>
                  </a:txBody>
                  <a:tcPr marL="54864" marR="54864"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6ECDF"/>
                    </a:solidFill>
                  </a:tcPr>
                </a:tc>
                <a:tc>
                  <a:txBody>
                    <a:bodyPr anchor="ctr" rtlCol="false" lIns="0" tIns="0" rIns="0" bIns="0" wrap="square"/>
                    <a:lstStyle/>
                    <a:p>
                      <a:pPr algn="ctr">
                        <a:lnSpc>
                          <a:spcPts val="1820"/>
                        </a:lnSpc>
                        <a:spcBef>
                          <a:spcPts val="0"/>
                        </a:spcBef>
                        <a:buNone/>
                      </a:pPr>
                      <a:r>
                        <a:rPr lang="en-US" sz="1400" b="true">
                          <a:solidFill>
                            <a:srgbClr val="111111"/>
                          </a:solidFill>
                          <a:latin typeface="Nunito Semi-Bold"/>
                          <a:ea typeface="Nunito Semi-Bold"/>
                          <a:cs typeface="Nunito Semi-Bold"/>
                          <a:sym typeface="Nunito Semi-Bold"/>
                        </a:rPr>
                        <a:t>0.2296 ± 0.0032</a:t>
                      </a:r>
                    </a:p>
                  </a:txBody>
                  <a:tcPr marL="54864" marR="54864"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6ECDF"/>
                    </a:solidFill>
                  </a:tcPr>
                </a:tc>
                <a:tc>
                  <a:txBody>
                    <a:bodyPr anchor="ctr" rtlCol="false" lIns="0" tIns="0" rIns="0" bIns="0" wrap="square"/>
                    <a:lstStyle/>
                    <a:p>
                      <a:pPr algn="ctr">
                        <a:lnSpc>
                          <a:spcPts val="1820"/>
                        </a:lnSpc>
                        <a:spcBef>
                          <a:spcPts val="0"/>
                        </a:spcBef>
                        <a:buNone/>
                      </a:pPr>
                      <a:r>
                        <a:rPr lang="en-US" sz="1400" b="true">
                          <a:solidFill>
                            <a:srgbClr val="111111"/>
                          </a:solidFill>
                          <a:latin typeface="Nunito Semi-Bold"/>
                          <a:ea typeface="Nunito Semi-Bold"/>
                          <a:cs typeface="Nunito Semi-Bold"/>
                          <a:sym typeface="Nunito Semi-Bold"/>
                        </a:rPr>
                        <a:t>0.1918 ± 0.0029</a:t>
                      </a:r>
                    </a:p>
                  </a:txBody>
                  <a:tcPr marL="54864" marR="54864"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6ECDF"/>
                    </a:solidFill>
                  </a:tcPr>
                </a:tc>
                <a:tc>
                  <a:txBody>
                    <a:bodyPr anchor="ctr" rtlCol="false" lIns="0" tIns="0" rIns="0" bIns="0" wrap="square"/>
                    <a:lstStyle/>
                    <a:p>
                      <a:pPr algn="ctr">
                        <a:lnSpc>
                          <a:spcPts val="1820"/>
                        </a:lnSpc>
                        <a:spcBef>
                          <a:spcPts val="0"/>
                        </a:spcBef>
                        <a:buNone/>
                      </a:pPr>
                      <a:r>
                        <a:rPr lang="en-US" sz="1400" b="true">
                          <a:solidFill>
                            <a:srgbClr val="111111"/>
                          </a:solidFill>
                          <a:latin typeface="Nunito Semi-Bold"/>
                          <a:ea typeface="Nunito Semi-Bold"/>
                          <a:cs typeface="Nunito Semi-Bold"/>
                          <a:sym typeface="Nunito Semi-Bold"/>
                        </a:rPr>
                        <a:t>0.324 ± 0.010</a:t>
                      </a:r>
                    </a:p>
                  </a:txBody>
                  <a:tcPr marL="54864" marR="54864"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6ECDF"/>
                    </a:solidFill>
                  </a:tcPr>
                </a:tc>
                <a:tc>
                  <a:txBody>
                    <a:bodyPr anchor="ctr" rtlCol="false" lIns="0" tIns="0" rIns="0" bIns="0" wrap="square"/>
                    <a:lstStyle/>
                    <a:p>
                      <a:pPr algn="ctr">
                        <a:lnSpc>
                          <a:spcPts val="1820"/>
                        </a:lnSpc>
                        <a:spcBef>
                          <a:spcPts val="0"/>
                        </a:spcBef>
                        <a:buNone/>
                      </a:pPr>
                      <a:r>
                        <a:rPr lang="en-US" sz="1400" b="true">
                          <a:solidFill>
                            <a:srgbClr val="111111"/>
                          </a:solidFill>
                          <a:latin typeface="Nunito Semi-Bold"/>
                          <a:ea typeface="Nunito Semi-Bold"/>
                          <a:cs typeface="Nunito Semi-Bold"/>
                          <a:sym typeface="Nunito Semi-Bold"/>
                        </a:rPr>
                        <a:t>0.445 ± 0.007</a:t>
                      </a:r>
                    </a:p>
                  </a:txBody>
                  <a:tcPr marL="54864" marR="54864"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6ECDF"/>
                    </a:solidFill>
                  </a:tcPr>
                </a:tc>
              </a:tr>
              <a:tr h="475488">
                <a:tc>
                  <a:txBody>
                    <a:bodyPr anchor="ctr" rtlCol="false" lIns="0" tIns="0" rIns="0" bIns="0" wrap="square"/>
                    <a:lstStyle/>
                    <a:p>
                      <a:pPr algn="l">
                        <a:lnSpc>
                          <a:spcPts val="1820"/>
                        </a:lnSpc>
                        <a:spcBef>
                          <a:spcPts val="0"/>
                        </a:spcBef>
                        <a:buNone/>
                      </a:pPr>
                      <a:r>
                        <a:rPr lang="en-US" sz="1400" b="true">
                          <a:solidFill>
                            <a:srgbClr val="111111"/>
                          </a:solidFill>
                          <a:latin typeface="Nunito Bold"/>
                          <a:ea typeface="Nunito Bold"/>
                          <a:cs typeface="Nunito Bold"/>
                          <a:sym typeface="Nunito Bold"/>
                        </a:rPr>
                        <a:t>HCCF</a:t>
                      </a:r>
                    </a:p>
                  </a:txBody>
                  <a:tcPr marL="54864" marR="54864"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c>
                  <a:txBody>
                    <a:bodyPr anchor="ctr" rtlCol="false" lIns="0" tIns="0" rIns="0" bIns="0" wrap="square"/>
                    <a:lstStyle/>
                    <a:p>
                      <a:pPr algn="ctr">
                        <a:lnSpc>
                          <a:spcPts val="1820"/>
                        </a:lnSpc>
                        <a:spcBef>
                          <a:spcPts val="0"/>
                        </a:spcBef>
                        <a:buNone/>
                      </a:pPr>
                      <a:r>
                        <a:rPr lang="en-US" sz="1400" b="true">
                          <a:solidFill>
                            <a:srgbClr val="111111"/>
                          </a:solidFill>
                          <a:latin typeface="Nunito Semi-Bold"/>
                          <a:ea typeface="Nunito Semi-Bold"/>
                          <a:cs typeface="Nunito Semi-Bold"/>
                          <a:sym typeface="Nunito Semi-Bold"/>
                        </a:rPr>
                        <a:t>0.2470 ± 0.0035</a:t>
                      </a:r>
                    </a:p>
                  </a:txBody>
                  <a:tcPr marL="54864" marR="54864"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c>
                  <a:txBody>
                    <a:bodyPr anchor="ctr" rtlCol="false" lIns="0" tIns="0" rIns="0" bIns="0" wrap="square"/>
                    <a:lstStyle/>
                    <a:p>
                      <a:pPr algn="ctr">
                        <a:lnSpc>
                          <a:spcPts val="1820"/>
                        </a:lnSpc>
                        <a:spcBef>
                          <a:spcPts val="0"/>
                        </a:spcBef>
                        <a:buNone/>
                      </a:pPr>
                      <a:r>
                        <a:rPr lang="en-US" sz="1400" b="true">
                          <a:solidFill>
                            <a:srgbClr val="111111"/>
                          </a:solidFill>
                          <a:latin typeface="Nunito Semi-Bold"/>
                          <a:ea typeface="Nunito Semi-Bold"/>
                          <a:cs typeface="Nunito Semi-Bold"/>
                          <a:sym typeface="Nunito Semi-Bold"/>
                        </a:rPr>
                        <a:t>0.2050 ± 0.0031</a:t>
                      </a:r>
                    </a:p>
                  </a:txBody>
                  <a:tcPr marL="54864" marR="54864"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c>
                  <a:txBody>
                    <a:bodyPr anchor="ctr" rtlCol="false" lIns="0" tIns="0" rIns="0" bIns="0" wrap="square"/>
                    <a:lstStyle/>
                    <a:p>
                      <a:pPr algn="ctr">
                        <a:lnSpc>
                          <a:spcPts val="1820"/>
                        </a:lnSpc>
                        <a:spcBef>
                          <a:spcPts val="0"/>
                        </a:spcBef>
                        <a:buNone/>
                      </a:pPr>
                      <a:r>
                        <a:rPr lang="en-US" sz="1400" b="true">
                          <a:solidFill>
                            <a:srgbClr val="111111"/>
                          </a:solidFill>
                          <a:latin typeface="Nunito Semi-Bold"/>
                          <a:ea typeface="Nunito Semi-Bold"/>
                          <a:cs typeface="Nunito Semi-Bold"/>
                          <a:sym typeface="Nunito Semi-Bold"/>
                        </a:rPr>
                        <a:t>0.327 ± 0.009</a:t>
                      </a:r>
                    </a:p>
                  </a:txBody>
                  <a:tcPr marL="54864" marR="54864"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c>
                  <a:txBody>
                    <a:bodyPr anchor="ctr" rtlCol="false" lIns="0" tIns="0" rIns="0" bIns="0" wrap="square"/>
                    <a:lstStyle/>
                    <a:p>
                      <a:pPr algn="ctr">
                        <a:lnSpc>
                          <a:spcPts val="1820"/>
                        </a:lnSpc>
                        <a:spcBef>
                          <a:spcPts val="0"/>
                        </a:spcBef>
                        <a:buNone/>
                      </a:pPr>
                      <a:r>
                        <a:rPr lang="en-US" sz="1400" b="true">
                          <a:solidFill>
                            <a:srgbClr val="111111"/>
                          </a:solidFill>
                          <a:latin typeface="Nunito Semi-Bold"/>
                          <a:ea typeface="Nunito Semi-Bold"/>
                          <a:cs typeface="Nunito Semi-Bold"/>
                          <a:sym typeface="Nunito Semi-Bold"/>
                        </a:rPr>
                        <a:t>0.448 ± 0.006</a:t>
                      </a:r>
                    </a:p>
                  </a:txBody>
                  <a:tcPr marL="54864" marR="54864"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r>
              <a:tr h="475488">
                <a:tc>
                  <a:txBody>
                    <a:bodyPr anchor="ctr" rtlCol="false" lIns="0" tIns="0" rIns="0" bIns="0" wrap="square"/>
                    <a:lstStyle/>
                    <a:p>
                      <a:pPr algn="l">
                        <a:lnSpc>
                          <a:spcPts val="1820"/>
                        </a:lnSpc>
                        <a:spcBef>
                          <a:spcPts val="0"/>
                        </a:spcBef>
                        <a:buNone/>
                      </a:pPr>
                      <a:r>
                        <a:rPr lang="en-US" sz="1400" b="true">
                          <a:solidFill>
                            <a:srgbClr val="111111"/>
                          </a:solidFill>
                          <a:latin typeface="Nunito Bold"/>
                          <a:ea typeface="Nunito Bold"/>
                          <a:cs typeface="Nunito Bold"/>
                          <a:sym typeface="Nunito Bold"/>
                        </a:rPr>
                        <a:t>HPCF</a:t>
                      </a:r>
                    </a:p>
                  </a:txBody>
                  <a:tcPr marL="54864" marR="54864"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6ECDF"/>
                    </a:solidFill>
                  </a:tcPr>
                </a:tc>
                <a:tc>
                  <a:txBody>
                    <a:bodyPr anchor="ctr" rtlCol="false" lIns="0" tIns="0" rIns="0" bIns="0" wrap="square"/>
                    <a:lstStyle/>
                    <a:p>
                      <a:pPr algn="ctr">
                        <a:lnSpc>
                          <a:spcPts val="1820"/>
                        </a:lnSpc>
                        <a:spcBef>
                          <a:spcPts val="0"/>
                        </a:spcBef>
                        <a:buNone/>
                      </a:pPr>
                      <a:r>
                        <a:rPr lang="en-US" sz="1400" b="true">
                          <a:solidFill>
                            <a:srgbClr val="111111"/>
                          </a:solidFill>
                          <a:latin typeface="Nunito Semi-Bold"/>
                          <a:ea typeface="Nunito Semi-Bold"/>
                          <a:cs typeface="Nunito Semi-Bold"/>
                          <a:sym typeface="Nunito Semi-Bold"/>
                        </a:rPr>
                        <a:t>0.2528 ± 0.0036</a:t>
                      </a:r>
                    </a:p>
                  </a:txBody>
                  <a:tcPr marL="54864" marR="54864"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6ECDF"/>
                    </a:solidFill>
                  </a:tcPr>
                </a:tc>
                <a:tc>
                  <a:txBody>
                    <a:bodyPr anchor="ctr" rtlCol="false" lIns="0" tIns="0" rIns="0" bIns="0" wrap="square"/>
                    <a:lstStyle/>
                    <a:p>
                      <a:pPr algn="ctr">
                        <a:lnSpc>
                          <a:spcPts val="1820"/>
                        </a:lnSpc>
                        <a:spcBef>
                          <a:spcPts val="0"/>
                        </a:spcBef>
                        <a:buNone/>
                      </a:pPr>
                      <a:r>
                        <a:rPr lang="en-US" sz="1400" b="true">
                          <a:solidFill>
                            <a:srgbClr val="111111"/>
                          </a:solidFill>
                          <a:latin typeface="Nunito Semi-Bold"/>
                          <a:ea typeface="Nunito Semi-Bold"/>
                          <a:cs typeface="Nunito Semi-Bold"/>
                          <a:sym typeface="Nunito Semi-Bold"/>
                        </a:rPr>
                        <a:t>0.2098 ± 0.0032</a:t>
                      </a:r>
                    </a:p>
                  </a:txBody>
                  <a:tcPr marL="54864" marR="54864"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6ECDF"/>
                    </a:solidFill>
                  </a:tcPr>
                </a:tc>
                <a:tc>
                  <a:txBody>
                    <a:bodyPr anchor="ctr" rtlCol="false" lIns="0" tIns="0" rIns="0" bIns="0" wrap="square"/>
                    <a:lstStyle/>
                    <a:p>
                      <a:pPr algn="ctr">
                        <a:lnSpc>
                          <a:spcPts val="1820"/>
                        </a:lnSpc>
                        <a:spcBef>
                          <a:spcPts val="0"/>
                        </a:spcBef>
                        <a:buNone/>
                      </a:pPr>
                      <a:r>
                        <a:rPr lang="en-US" sz="1400" b="true">
                          <a:solidFill>
                            <a:srgbClr val="111111"/>
                          </a:solidFill>
                          <a:latin typeface="Nunito Semi-Bold"/>
                          <a:ea typeface="Nunito Semi-Bold"/>
                          <a:cs typeface="Nunito Semi-Bold"/>
                          <a:sym typeface="Nunito Semi-Bold"/>
                        </a:rPr>
                        <a:t>0.342 ± 0.009</a:t>
                      </a:r>
                    </a:p>
                  </a:txBody>
                  <a:tcPr marL="54864" marR="54864"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6ECDF"/>
                    </a:solidFill>
                  </a:tcPr>
                </a:tc>
                <a:tc>
                  <a:txBody>
                    <a:bodyPr anchor="ctr" rtlCol="false" lIns="0" tIns="0" rIns="0" bIns="0" wrap="square"/>
                    <a:lstStyle/>
                    <a:p>
                      <a:pPr algn="ctr">
                        <a:lnSpc>
                          <a:spcPts val="1820"/>
                        </a:lnSpc>
                        <a:spcBef>
                          <a:spcPts val="0"/>
                        </a:spcBef>
                        <a:buNone/>
                      </a:pPr>
                      <a:r>
                        <a:rPr lang="en-US" sz="1400" b="true">
                          <a:solidFill>
                            <a:srgbClr val="111111"/>
                          </a:solidFill>
                          <a:latin typeface="Nunito Semi-Bold"/>
                          <a:ea typeface="Nunito Semi-Bold"/>
                          <a:cs typeface="Nunito Semi-Bold"/>
                          <a:sym typeface="Nunito Semi-Bold"/>
                        </a:rPr>
                        <a:t>0.461 ± 0.006</a:t>
                      </a:r>
                    </a:p>
                  </a:txBody>
                  <a:tcPr marL="54864" marR="54864"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6ECDF"/>
                    </a:solidFill>
                  </a:tcPr>
                </a:tc>
              </a:tr>
              <a:tr h="475488">
                <a:tc>
                  <a:txBody>
                    <a:bodyPr anchor="ctr" rtlCol="false" lIns="0" tIns="0" rIns="0" bIns="0" wrap="square"/>
                    <a:lstStyle/>
                    <a:p>
                      <a:pPr algn="l">
                        <a:lnSpc>
                          <a:spcPts val="1820"/>
                        </a:lnSpc>
                        <a:spcBef>
                          <a:spcPts val="0"/>
                        </a:spcBef>
                        <a:buNone/>
                      </a:pPr>
                      <a:r>
                        <a:rPr lang="en-US" sz="1400" b="1">
                          <a:solidFill>
                            <a:srgbClr val="111111"/>
                          </a:solidFill>
                          <a:latin typeface="Nunito Bold"/>
                          <a:ea typeface="Nunito Bold"/>
                          <a:cs typeface="Nunito Bold"/>
                          <a:sym typeface="Nunito Bold"/>
                        </a:rPr>
                        <a:t>DyHuCoG</a:t>
                      </a:r>
                    </a:p>
                  </a:txBody>
                  <a:tcPr marL="54864" marR="54864"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D9E2F3"/>
                    </a:solidFill>
                  </a:tcPr>
                </a:tc>
                <a:tc>
                  <a:txBody>
                    <a:bodyPr anchor="ctr" rtlCol="false" lIns="0" tIns="0" rIns="0" bIns="0" wrap="square"/>
                    <a:lstStyle/>
                    <a:p>
                      <a:pPr algn="ctr">
                        <a:lnSpc>
                          <a:spcPts val="1820"/>
                        </a:lnSpc>
                        <a:spcBef>
                          <a:spcPts val="0"/>
                        </a:spcBef>
                        <a:buNone/>
                      </a:pPr>
                      <a:r>
                        <a:rPr lang="en-US" sz="1400" b="1">
                          <a:solidFill>
                            <a:srgbClr val="111111"/>
                          </a:solidFill>
                          <a:latin typeface="Nunito Semi-Bold"/>
                          <a:ea typeface="Nunito Semi-Bold"/>
                          <a:cs typeface="Nunito Semi-Bold"/>
                          <a:sym typeface="Nunito Semi-Bold"/>
                        </a:rPr>
                        <a:t>0.2775 ± 0.0039</a:t>
                      </a:r>
                    </a:p>
                  </a:txBody>
                  <a:tcPr marL="54864" marR="54864"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D9E2F3"/>
                    </a:solidFill>
                  </a:tcPr>
                </a:tc>
                <a:tc>
                  <a:txBody>
                    <a:bodyPr anchor="ctr" rtlCol="false" lIns="0" tIns="0" rIns="0" bIns="0" wrap="square"/>
                    <a:lstStyle/>
                    <a:p>
                      <a:pPr algn="ctr">
                        <a:lnSpc>
                          <a:spcPts val="1820"/>
                        </a:lnSpc>
                        <a:spcBef>
                          <a:spcPts val="0"/>
                        </a:spcBef>
                        <a:buNone/>
                      </a:pPr>
                      <a:r>
                        <a:rPr lang="en-US" sz="1400" b="1">
                          <a:solidFill>
                            <a:srgbClr val="111111"/>
                          </a:solidFill>
                          <a:latin typeface="Nunito Semi-Bold"/>
                          <a:ea typeface="Nunito Semi-Bold"/>
                          <a:cs typeface="Nunito Semi-Bold"/>
                          <a:sym typeface="Nunito Semi-Bold"/>
                        </a:rPr>
                        <a:t>0.2362 ± 0.0036</a:t>
                      </a:r>
                    </a:p>
                  </a:txBody>
                  <a:tcPr marL="54864" marR="54864"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D9E2F3"/>
                    </a:solidFill>
                  </a:tcPr>
                </a:tc>
                <a:tc>
                  <a:txBody>
                    <a:bodyPr anchor="ctr" rtlCol="false" lIns="0" tIns="0" rIns="0" bIns="0" wrap="square"/>
                    <a:lstStyle/>
                    <a:p>
                      <a:pPr algn="ctr">
                        <a:lnSpc>
                          <a:spcPts val="1820"/>
                        </a:lnSpc>
                        <a:spcBef>
                          <a:spcPts val="0"/>
                        </a:spcBef>
                        <a:buNone/>
                      </a:pPr>
                      <a:r>
                        <a:rPr lang="en-US" sz="1400" b="1">
                          <a:solidFill>
                            <a:srgbClr val="111111"/>
                          </a:solidFill>
                          <a:latin typeface="Nunito Semi-Bold"/>
                          <a:ea typeface="Nunito Semi-Bold"/>
                          <a:cs typeface="Nunito Semi-Bold"/>
                          <a:sym typeface="Nunito Semi-Bold"/>
                        </a:rPr>
                        <a:t>0.397 ± 0.011</a:t>
                      </a:r>
                    </a:p>
                  </a:txBody>
                  <a:tcPr marL="54864" marR="54864"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D9E2F3"/>
                    </a:solidFill>
                  </a:tcPr>
                </a:tc>
                <a:tc>
                  <a:txBody>
                    <a:bodyPr anchor="ctr" rtlCol="false" lIns="0" tIns="0" rIns="0" bIns="0" wrap="square"/>
                    <a:lstStyle/>
                    <a:p>
                      <a:pPr algn="ctr">
                        <a:lnSpc>
                          <a:spcPts val="1820"/>
                        </a:lnSpc>
                        <a:spcBef>
                          <a:spcPts val="0"/>
                        </a:spcBef>
                        <a:buNone/>
                      </a:pPr>
                      <a:r>
                        <a:rPr lang="en-US" sz="1400" b="1">
                          <a:solidFill>
                            <a:srgbClr val="111111"/>
                          </a:solidFill>
                          <a:latin typeface="Nunito Semi-Bold"/>
                          <a:ea typeface="Nunito Semi-Bold"/>
                          <a:cs typeface="Nunito Semi-Bold"/>
                          <a:sym typeface="Nunito Semi-Bold"/>
                        </a:rPr>
                        <a:t>0.516 ± 0.005</a:t>
                      </a:r>
                    </a:p>
                  </a:txBody>
                  <a:tcPr marL="54864" marR="54864"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D9E2F3"/>
                    </a:solidFill>
                  </a:tcPr>
                </a:tc>
              </a:tr>
            </a:tbl>
          </a:graphicData>
        </a:graphic>
      </p:graphicFrame>
      <p:sp>
        <p:nvSpPr>
          <p:cNvPr id="9" name="TextBox 8"/>
          <p:cNvSpPr txBox="1"/>
          <p:nvPr/>
        </p:nvSpPr>
        <p:spPr>
          <a:xfrm>
            <a:off x="9372600" y="2897378"/>
            <a:ext cx="7886700" cy="320040"/>
          </a:xfrm>
          <a:prstGeom prst="rect">
            <a:avLst/>
          </a:prstGeom>
          <a:noFill/>
        </p:spPr>
        <p:txBody>
          <a:bodyPr anchor="t" rtlCol="false" lIns="0" tIns="0" rIns="0" bIns="0" wrap="square"/>
          <a:lstStyle/>
          <a:p>
            <a:pPr algn="l">
              <a:lnSpc>
                <a:spcPts val="1600"/>
              </a:lnSpc>
              <a:spcBef>
                <a:spcPts val="0"/>
              </a:spcBef>
              <a:buNone/>
            </a:pPr>
            <a:r>
              <a:rPr lang="en-US" sz="1300" b="true" spc="150">
                <a:solidFill>
                  <a:srgbClr val="1F7A8C"/>
                </a:solidFill>
                <a:latin typeface="Nunito Ultra-Bold"/>
                <a:ea typeface="Nunito Ultra-Bold"/>
                <a:cs typeface="Nunito Ultra-Bold"/>
                <a:sym typeface="Nunito Ultra-Bold"/>
              </a:rPr>
              <a:t>AMAZON-BOOK</a:t>
            </a:r>
          </a:p>
        </p:txBody>
      </p:sp>
      <p:graphicFrame>
        <p:nvGraphicFramePr>
          <p:cNvPr id="10" name="Table 9"/>
          <p:cNvGraphicFramePr>
            <a:graphicFrameLocks noGrp="1"/>
          </p:cNvGraphicFramePr>
          <p:nvPr/>
        </p:nvGraphicFramePr>
        <p:xfrm>
          <a:off x="9372600" y="3263138"/>
          <a:ext cx="7886699" cy="3803904"/>
        </p:xfrm>
        <a:graphic>
          <a:graphicData uri="http://schemas.openxmlformats.org/drawingml/2006/table">
            <a:tbl>
              <a:tblPr firstRow="0" bandRow="0" firstCol="0" lastRow="0" lastCol="0" bandCol="0">
                <a:tableStyleId>{2D5ABB26-0587-4C30-8999-92F81FD0307C}</a:tableStyleId>
              </a:tblPr>
              <a:tblGrid>
                <a:gridCol w="1354281"/>
                <a:gridCol w="1752600"/>
                <a:gridCol w="1752600"/>
                <a:gridCol w="1513609"/>
                <a:gridCol w="1513609"/>
              </a:tblGrid>
              <a:tr h="475488">
                <a:tc>
                  <a:txBody>
                    <a:bodyPr anchor="ctr" rtlCol="false" lIns="0" tIns="0" rIns="0" bIns="0" wrap="square"/>
                    <a:lstStyle/>
                    <a:p>
                      <a:pPr algn="l">
                        <a:lnSpc>
                          <a:spcPts val="1820"/>
                        </a:lnSpc>
                        <a:spcBef>
                          <a:spcPts val="0"/>
                        </a:spcBef>
                        <a:buNone/>
                      </a:pPr>
                      <a:r>
                        <a:rPr lang="en-US" sz="1400" b="true">
                          <a:solidFill>
                            <a:srgbClr val="FFFFFF"/>
                          </a:solidFill>
                          <a:latin typeface="Nunito Bold"/>
                          <a:ea typeface="Nunito Bold"/>
                          <a:cs typeface="Nunito Bold"/>
                          <a:sym typeface="Nunito Bold"/>
                        </a:rPr>
                        <a:t>Model</a:t>
                      </a:r>
                    </a:p>
                  </a:txBody>
                  <a:tcPr marL="54864" marR="54864" marT="45720" marB="45720" anchor="ctr">
                    <a:lnL w="12700" cap="flat" cmpd="sng" algn="ctr">
                      <a:solidFill>
                        <a:srgbClr val="4472C4"/>
                      </a:solidFill>
                      <a:prstDash val="solid"/>
                    </a:lnL>
                    <a:lnR w="12700" cap="flat" cmpd="sng" algn="ctr">
                      <a:solidFill>
                        <a:srgbClr val="4472C4"/>
                      </a:solidFill>
                      <a:prstDash val="solid"/>
                    </a:lnR>
                    <a:lnT w="12700" cap="flat" cmpd="sng" algn="ctr">
                      <a:solidFill>
                        <a:srgbClr val="4472C4"/>
                      </a:solidFill>
                      <a:prstDash val="solid"/>
                    </a:lnT>
                    <a:lnB w="12700" cap="flat" cmpd="sng" algn="ctr">
                      <a:solidFill>
                        <a:srgbClr val="4472C4"/>
                      </a:solidFill>
                      <a:prstDash val="solid"/>
                    </a:lnB>
                    <a:solidFill>
                      <a:srgbClr val="4472C4"/>
                    </a:solidFill>
                  </a:tcPr>
                </a:tc>
                <a:tc>
                  <a:txBody>
                    <a:bodyPr anchor="ctr" rtlCol="false" lIns="0" tIns="0" rIns="0" bIns="0" wrap="square"/>
                    <a:lstStyle/>
                    <a:p>
                      <a:pPr algn="ctr">
                        <a:lnSpc>
                          <a:spcPts val="1820"/>
                        </a:lnSpc>
                        <a:spcBef>
                          <a:spcPts val="0"/>
                        </a:spcBef>
                        <a:buNone/>
                      </a:pPr>
                      <a:r>
                        <a:rPr lang="en-US" sz="1400" b="true">
                          <a:solidFill>
                            <a:srgbClr val="FFFFFF"/>
                          </a:solidFill>
                          <a:latin typeface="Nunito Bold"/>
                          <a:ea typeface="Nunito Bold"/>
                          <a:cs typeface="Nunito Bold"/>
                          <a:sym typeface="Nunito Bold"/>
                        </a:rPr>
                        <a:t>NDCG@20</a:t>
                      </a:r>
                    </a:p>
                  </a:txBody>
                  <a:tcPr marL="54864" marR="54864" marT="45720" marB="45720" anchor="ctr">
                    <a:lnL w="12700" cap="flat" cmpd="sng" algn="ctr">
                      <a:solidFill>
                        <a:srgbClr val="4472C4"/>
                      </a:solidFill>
                      <a:prstDash val="solid"/>
                    </a:lnL>
                    <a:lnR w="12700" cap="flat" cmpd="sng" algn="ctr">
                      <a:solidFill>
                        <a:srgbClr val="4472C4"/>
                      </a:solidFill>
                      <a:prstDash val="solid"/>
                    </a:lnR>
                    <a:lnT w="12700" cap="flat" cmpd="sng" algn="ctr">
                      <a:solidFill>
                        <a:srgbClr val="4472C4"/>
                      </a:solidFill>
                      <a:prstDash val="solid"/>
                    </a:lnT>
                    <a:lnB w="12700" cap="flat" cmpd="sng" algn="ctr">
                      <a:solidFill>
                        <a:srgbClr val="4472C4"/>
                      </a:solidFill>
                      <a:prstDash val="solid"/>
                    </a:lnB>
                    <a:solidFill>
                      <a:srgbClr val="4472C4"/>
                    </a:solidFill>
                  </a:tcPr>
                </a:tc>
                <a:tc>
                  <a:txBody>
                    <a:bodyPr anchor="ctr" rtlCol="false" lIns="0" tIns="0" rIns="0" bIns="0" wrap="square"/>
                    <a:lstStyle/>
                    <a:p>
                      <a:pPr algn="ctr">
                        <a:lnSpc>
                          <a:spcPts val="1820"/>
                        </a:lnSpc>
                        <a:spcBef>
                          <a:spcPts val="0"/>
                        </a:spcBef>
                        <a:buNone/>
                      </a:pPr>
                      <a:r>
                        <a:rPr lang="en-US" sz="1400" b="true">
                          <a:solidFill>
                            <a:srgbClr val="FFFFFF"/>
                          </a:solidFill>
                          <a:latin typeface="Nunito Bold"/>
                          <a:ea typeface="Nunito Bold"/>
                          <a:cs typeface="Nunito Bold"/>
                          <a:sym typeface="Nunito Bold"/>
                        </a:rPr>
                        <a:t>Recall@20</a:t>
                      </a:r>
                    </a:p>
                  </a:txBody>
                  <a:tcPr marL="54864" marR="54864" marT="45720" marB="45720" anchor="ctr">
                    <a:lnL w="12700" cap="flat" cmpd="sng" algn="ctr">
                      <a:solidFill>
                        <a:srgbClr val="4472C4"/>
                      </a:solidFill>
                      <a:prstDash val="solid"/>
                    </a:lnL>
                    <a:lnR w="12700" cap="flat" cmpd="sng" algn="ctr">
                      <a:solidFill>
                        <a:srgbClr val="4472C4"/>
                      </a:solidFill>
                      <a:prstDash val="solid"/>
                    </a:lnR>
                    <a:lnT w="12700" cap="flat" cmpd="sng" algn="ctr">
                      <a:solidFill>
                        <a:srgbClr val="4472C4"/>
                      </a:solidFill>
                      <a:prstDash val="solid"/>
                    </a:lnT>
                    <a:lnB w="12700" cap="flat" cmpd="sng" algn="ctr">
                      <a:solidFill>
                        <a:srgbClr val="4472C4"/>
                      </a:solidFill>
                      <a:prstDash val="solid"/>
                    </a:lnB>
                    <a:solidFill>
                      <a:srgbClr val="4472C4"/>
                    </a:solidFill>
                  </a:tcPr>
                </a:tc>
                <a:tc>
                  <a:txBody>
                    <a:bodyPr anchor="ctr" rtlCol="false" lIns="0" tIns="0" rIns="0" bIns="0" wrap="square"/>
                    <a:lstStyle/>
                    <a:p>
                      <a:pPr algn="ctr">
                        <a:lnSpc>
                          <a:spcPts val="1820"/>
                        </a:lnSpc>
                        <a:spcBef>
                          <a:spcPts val="0"/>
                        </a:spcBef>
                        <a:buNone/>
                      </a:pPr>
                      <a:r>
                        <a:rPr lang="en-US" sz="1400" b="true">
                          <a:solidFill>
                            <a:srgbClr val="FFFFFF"/>
                          </a:solidFill>
                          <a:latin typeface="Nunito Bold"/>
                          <a:ea typeface="Nunito Bold"/>
                          <a:cs typeface="Nunito Bold"/>
                          <a:sym typeface="Nunito Bold"/>
                        </a:rPr>
                        <a:t>Coverage</a:t>
                      </a:r>
                    </a:p>
                  </a:txBody>
                  <a:tcPr marL="54864" marR="54864" marT="45720" marB="45720" anchor="ctr">
                    <a:lnL w="12700" cap="flat" cmpd="sng" algn="ctr">
                      <a:solidFill>
                        <a:srgbClr val="4472C4"/>
                      </a:solidFill>
                      <a:prstDash val="solid"/>
                    </a:lnL>
                    <a:lnR w="12700" cap="flat" cmpd="sng" algn="ctr">
                      <a:solidFill>
                        <a:srgbClr val="4472C4"/>
                      </a:solidFill>
                      <a:prstDash val="solid"/>
                    </a:lnR>
                    <a:lnT w="12700" cap="flat" cmpd="sng" algn="ctr">
                      <a:solidFill>
                        <a:srgbClr val="4472C4"/>
                      </a:solidFill>
                      <a:prstDash val="solid"/>
                    </a:lnT>
                    <a:lnB w="12700" cap="flat" cmpd="sng" algn="ctr">
                      <a:solidFill>
                        <a:srgbClr val="4472C4"/>
                      </a:solidFill>
                      <a:prstDash val="solid"/>
                    </a:lnB>
                    <a:solidFill>
                      <a:srgbClr val="4472C4"/>
                    </a:solidFill>
                  </a:tcPr>
                </a:tc>
                <a:tc>
                  <a:txBody>
                    <a:bodyPr anchor="ctr" rtlCol="false" lIns="0" tIns="0" rIns="0" bIns="0" wrap="square"/>
                    <a:lstStyle/>
                    <a:p>
                      <a:pPr algn="ctr">
                        <a:lnSpc>
                          <a:spcPts val="1820"/>
                        </a:lnSpc>
                        <a:spcBef>
                          <a:spcPts val="0"/>
                        </a:spcBef>
                        <a:buNone/>
                      </a:pPr>
                      <a:r>
                        <a:rPr lang="en-US" sz="1400" b="true">
                          <a:solidFill>
                            <a:srgbClr val="FFFFFF"/>
                          </a:solidFill>
                          <a:latin typeface="Nunito Bold"/>
                          <a:ea typeface="Nunito Bold"/>
                          <a:cs typeface="Nunito Bold"/>
                          <a:sym typeface="Nunito Bold"/>
                        </a:rPr>
                        <a:t>ILD</a:t>
                      </a:r>
                    </a:p>
                  </a:txBody>
                  <a:tcPr marL="54864" marR="54864" marT="45720" marB="45720" anchor="ctr">
                    <a:lnL w="12700" cap="flat" cmpd="sng" algn="ctr">
                      <a:solidFill>
                        <a:srgbClr val="4472C4"/>
                      </a:solidFill>
                      <a:prstDash val="solid"/>
                    </a:lnL>
                    <a:lnR w="12700" cap="flat" cmpd="sng" algn="ctr">
                      <a:solidFill>
                        <a:srgbClr val="4472C4"/>
                      </a:solidFill>
                      <a:prstDash val="solid"/>
                    </a:lnR>
                    <a:lnT w="12700" cap="flat" cmpd="sng" algn="ctr">
                      <a:solidFill>
                        <a:srgbClr val="4472C4"/>
                      </a:solidFill>
                      <a:prstDash val="solid"/>
                    </a:lnT>
                    <a:lnB w="12700" cap="flat" cmpd="sng" algn="ctr">
                      <a:solidFill>
                        <a:srgbClr val="4472C4"/>
                      </a:solidFill>
                      <a:prstDash val="solid"/>
                    </a:lnB>
                    <a:solidFill>
                      <a:srgbClr val="4472C4"/>
                    </a:solidFill>
                  </a:tcPr>
                </a:tc>
              </a:tr>
              <a:tr h="475488">
                <a:tc>
                  <a:txBody>
                    <a:bodyPr anchor="ctr" rtlCol="false" lIns="0" tIns="0" rIns="0" bIns="0" wrap="square"/>
                    <a:lstStyle/>
                    <a:p>
                      <a:pPr algn="l">
                        <a:lnSpc>
                          <a:spcPts val="1820"/>
                        </a:lnSpc>
                        <a:spcBef>
                          <a:spcPts val="0"/>
                        </a:spcBef>
                        <a:buNone/>
                      </a:pPr>
                      <a:r>
                        <a:rPr lang="en-US" sz="1400" b="true">
                          <a:solidFill>
                            <a:srgbClr val="111111"/>
                          </a:solidFill>
                          <a:latin typeface="Nunito Bold"/>
                          <a:ea typeface="Nunito Bold"/>
                          <a:cs typeface="Nunito Bold"/>
                          <a:sym typeface="Nunito Bold"/>
                        </a:rPr>
                        <a:t>MF</a:t>
                      </a:r>
                    </a:p>
                  </a:txBody>
                  <a:tcPr marL="54864" marR="54864"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c>
                  <a:txBody>
                    <a:bodyPr anchor="ctr" rtlCol="false" lIns="0" tIns="0" rIns="0" bIns="0" wrap="square"/>
                    <a:lstStyle/>
                    <a:p>
                      <a:pPr algn="ctr">
                        <a:lnSpc>
                          <a:spcPts val="1820"/>
                        </a:lnSpc>
                        <a:spcBef>
                          <a:spcPts val="0"/>
                        </a:spcBef>
                        <a:buNone/>
                      </a:pPr>
                      <a:r>
                        <a:rPr lang="en-US" sz="1400" b="true">
                          <a:solidFill>
                            <a:srgbClr val="111111"/>
                          </a:solidFill>
                          <a:latin typeface="Nunito Semi-Bold"/>
                          <a:ea typeface="Nunito Semi-Bold"/>
                          <a:cs typeface="Nunito Semi-Bold"/>
                          <a:sym typeface="Nunito Semi-Bold"/>
                        </a:rPr>
                        <a:t>0.0049 ± 0.0005</a:t>
                      </a:r>
                    </a:p>
                  </a:txBody>
                  <a:tcPr marL="54864" marR="54864"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c>
                  <a:txBody>
                    <a:bodyPr anchor="ctr" rtlCol="false" lIns="0" tIns="0" rIns="0" bIns="0" wrap="square"/>
                    <a:lstStyle/>
                    <a:p>
                      <a:pPr algn="ctr">
                        <a:lnSpc>
                          <a:spcPts val="1820"/>
                        </a:lnSpc>
                        <a:spcBef>
                          <a:spcPts val="0"/>
                        </a:spcBef>
                        <a:buNone/>
                      </a:pPr>
                      <a:r>
                        <a:rPr lang="en-US" sz="1400" b="true">
                          <a:solidFill>
                            <a:srgbClr val="111111"/>
                          </a:solidFill>
                          <a:latin typeface="Nunito Semi-Bold"/>
                          <a:ea typeface="Nunito Semi-Bold"/>
                          <a:cs typeface="Nunito Semi-Bold"/>
                          <a:sym typeface="Nunito Semi-Bold"/>
                        </a:rPr>
                        <a:t>0.0093 ± 0.0009</a:t>
                      </a:r>
                    </a:p>
                  </a:txBody>
                  <a:tcPr marL="54864" marR="54864"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c>
                  <a:txBody>
                    <a:bodyPr anchor="ctr" rtlCol="false" lIns="0" tIns="0" rIns="0" bIns="0" wrap="square"/>
                    <a:lstStyle/>
                    <a:p>
                      <a:pPr algn="ctr">
                        <a:lnSpc>
                          <a:spcPts val="1820"/>
                        </a:lnSpc>
                        <a:spcBef>
                          <a:spcPts val="0"/>
                        </a:spcBef>
                        <a:buNone/>
                      </a:pPr>
                      <a:r>
                        <a:rPr lang="en-US" sz="1400" b="true">
                          <a:solidFill>
                            <a:srgbClr val="111111"/>
                          </a:solidFill>
                          <a:latin typeface="Nunito Semi-Bold"/>
                          <a:ea typeface="Nunito Semi-Bold"/>
                          <a:cs typeface="Nunito Semi-Bold"/>
                          <a:sym typeface="Nunito Semi-Bold"/>
                        </a:rPr>
                        <a:t>0.168 ± 0.013</a:t>
                      </a:r>
                    </a:p>
                  </a:txBody>
                  <a:tcPr marL="54864" marR="54864"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c>
                  <a:txBody>
                    <a:bodyPr anchor="ctr" rtlCol="false" lIns="0" tIns="0" rIns="0" bIns="0" wrap="square"/>
                    <a:lstStyle/>
                    <a:p>
                      <a:pPr algn="ctr">
                        <a:lnSpc>
                          <a:spcPts val="1820"/>
                        </a:lnSpc>
                        <a:spcBef>
                          <a:spcPts val="0"/>
                        </a:spcBef>
                        <a:buNone/>
                      </a:pPr>
                      <a:r>
                        <a:rPr lang="en-US" sz="1400" b="true">
                          <a:solidFill>
                            <a:srgbClr val="111111"/>
                          </a:solidFill>
                          <a:latin typeface="Nunito Semi-Bold"/>
                          <a:ea typeface="Nunito Semi-Bold"/>
                          <a:cs typeface="Nunito Semi-Bold"/>
                          <a:sym typeface="Nunito Semi-Bold"/>
                        </a:rPr>
                        <a:t>0.425 ± 0.014</a:t>
                      </a:r>
                    </a:p>
                  </a:txBody>
                  <a:tcPr marL="54864" marR="54864"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r>
              <a:tr h="475488">
                <a:tc>
                  <a:txBody>
                    <a:bodyPr anchor="ctr" rtlCol="false" lIns="0" tIns="0" rIns="0" bIns="0" wrap="square"/>
                    <a:lstStyle/>
                    <a:p>
                      <a:pPr algn="l">
                        <a:lnSpc>
                          <a:spcPts val="1820"/>
                        </a:lnSpc>
                        <a:spcBef>
                          <a:spcPts val="0"/>
                        </a:spcBef>
                        <a:buNone/>
                      </a:pPr>
                      <a:r>
                        <a:rPr lang="en-US" sz="1400" b="true">
                          <a:solidFill>
                            <a:srgbClr val="111111"/>
                          </a:solidFill>
                          <a:latin typeface="Nunito Bold"/>
                          <a:ea typeface="Nunito Bold"/>
                          <a:cs typeface="Nunito Bold"/>
                          <a:sym typeface="Nunito Bold"/>
                        </a:rPr>
                        <a:t>NCF</a:t>
                      </a:r>
                    </a:p>
                  </a:txBody>
                  <a:tcPr marL="54864" marR="54864"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6ECDF"/>
                    </a:solidFill>
                  </a:tcPr>
                </a:tc>
                <a:tc>
                  <a:txBody>
                    <a:bodyPr anchor="ctr" rtlCol="false" lIns="0" tIns="0" rIns="0" bIns="0" wrap="square"/>
                    <a:lstStyle/>
                    <a:p>
                      <a:pPr algn="ctr">
                        <a:lnSpc>
                          <a:spcPts val="1820"/>
                        </a:lnSpc>
                        <a:spcBef>
                          <a:spcPts val="0"/>
                        </a:spcBef>
                        <a:buNone/>
                      </a:pPr>
                      <a:r>
                        <a:rPr lang="en-US" sz="1400" b="true">
                          <a:solidFill>
                            <a:srgbClr val="111111"/>
                          </a:solidFill>
                          <a:latin typeface="Nunito Semi-Bold"/>
                          <a:ea typeface="Nunito Semi-Bold"/>
                          <a:cs typeface="Nunito Semi-Bold"/>
                          <a:sym typeface="Nunito Semi-Bold"/>
                        </a:rPr>
                        <a:t>0.0085 ± 0.0008</a:t>
                      </a:r>
                    </a:p>
                  </a:txBody>
                  <a:tcPr marL="54864" marR="54864"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6ECDF"/>
                    </a:solidFill>
                  </a:tcPr>
                </a:tc>
                <a:tc>
                  <a:txBody>
                    <a:bodyPr anchor="ctr" rtlCol="false" lIns="0" tIns="0" rIns="0" bIns="0" wrap="square"/>
                    <a:lstStyle/>
                    <a:p>
                      <a:pPr algn="ctr">
                        <a:lnSpc>
                          <a:spcPts val="1820"/>
                        </a:lnSpc>
                        <a:spcBef>
                          <a:spcPts val="0"/>
                        </a:spcBef>
                        <a:buNone/>
                      </a:pPr>
                      <a:r>
                        <a:rPr lang="en-US" sz="1400" b="true">
                          <a:solidFill>
                            <a:srgbClr val="111111"/>
                          </a:solidFill>
                          <a:latin typeface="Nunito Semi-Bold"/>
                          <a:ea typeface="Nunito Semi-Bold"/>
                          <a:cs typeface="Nunito Semi-Bold"/>
                          <a:sym typeface="Nunito Semi-Bold"/>
                        </a:rPr>
                        <a:t>0.0142 ± 0.0014</a:t>
                      </a:r>
                    </a:p>
                  </a:txBody>
                  <a:tcPr marL="54864" marR="54864"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6ECDF"/>
                    </a:solidFill>
                  </a:tcPr>
                </a:tc>
                <a:tc>
                  <a:txBody>
                    <a:bodyPr anchor="ctr" rtlCol="false" lIns="0" tIns="0" rIns="0" bIns="0" wrap="square"/>
                    <a:lstStyle/>
                    <a:p>
                      <a:pPr algn="ctr">
                        <a:lnSpc>
                          <a:spcPts val="1820"/>
                        </a:lnSpc>
                        <a:spcBef>
                          <a:spcPts val="0"/>
                        </a:spcBef>
                        <a:buNone/>
                      </a:pPr>
                      <a:r>
                        <a:rPr lang="en-US" sz="1400" b="true">
                          <a:solidFill>
                            <a:srgbClr val="111111"/>
                          </a:solidFill>
                          <a:latin typeface="Nunito Semi-Bold"/>
                          <a:ea typeface="Nunito Semi-Bold"/>
                          <a:cs typeface="Nunito Semi-Bold"/>
                          <a:sym typeface="Nunito Semi-Bold"/>
                        </a:rPr>
                        <a:t>0.193 ± 0.012</a:t>
                      </a:r>
                    </a:p>
                  </a:txBody>
                  <a:tcPr marL="54864" marR="54864"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6ECDF"/>
                    </a:solidFill>
                  </a:tcPr>
                </a:tc>
                <a:tc>
                  <a:txBody>
                    <a:bodyPr anchor="ctr" rtlCol="false" lIns="0" tIns="0" rIns="0" bIns="0" wrap="square"/>
                    <a:lstStyle/>
                    <a:p>
                      <a:pPr algn="ctr">
                        <a:lnSpc>
                          <a:spcPts val="1820"/>
                        </a:lnSpc>
                        <a:spcBef>
                          <a:spcPts val="0"/>
                        </a:spcBef>
                        <a:buNone/>
                      </a:pPr>
                      <a:r>
                        <a:rPr lang="en-US" sz="1400" b="true">
                          <a:solidFill>
                            <a:srgbClr val="111111"/>
                          </a:solidFill>
                          <a:latin typeface="Nunito Semi-Bold"/>
                          <a:ea typeface="Nunito Semi-Bold"/>
                          <a:cs typeface="Nunito Semi-Bold"/>
                          <a:sym typeface="Nunito Semi-Bold"/>
                        </a:rPr>
                        <a:t>0.458 ± 0.013</a:t>
                      </a:r>
                    </a:p>
                  </a:txBody>
                  <a:tcPr marL="54864" marR="54864"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6ECDF"/>
                    </a:solidFill>
                  </a:tcPr>
                </a:tc>
              </a:tr>
              <a:tr h="475488">
                <a:tc>
                  <a:txBody>
                    <a:bodyPr anchor="ctr" rtlCol="false" lIns="0" tIns="0" rIns="0" bIns="0" wrap="square"/>
                    <a:lstStyle/>
                    <a:p>
                      <a:pPr algn="l">
                        <a:lnSpc>
                          <a:spcPts val="1820"/>
                        </a:lnSpc>
                        <a:spcBef>
                          <a:spcPts val="0"/>
                        </a:spcBef>
                        <a:buNone/>
                      </a:pPr>
                      <a:r>
                        <a:rPr lang="en-US" sz="1400" b="true">
                          <a:solidFill>
                            <a:srgbClr val="111111"/>
                          </a:solidFill>
                          <a:latin typeface="Nunito Bold"/>
                          <a:ea typeface="Nunito Bold"/>
                          <a:cs typeface="Nunito Bold"/>
                          <a:sym typeface="Nunito Bold"/>
                        </a:rPr>
                        <a:t>LightGCN</a:t>
                      </a:r>
                    </a:p>
                  </a:txBody>
                  <a:tcPr marL="54864" marR="54864"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c>
                  <a:txBody>
                    <a:bodyPr anchor="ctr" rtlCol="false" lIns="0" tIns="0" rIns="0" bIns="0" wrap="square"/>
                    <a:lstStyle/>
                    <a:p>
                      <a:pPr algn="ctr">
                        <a:lnSpc>
                          <a:spcPts val="1820"/>
                        </a:lnSpc>
                        <a:spcBef>
                          <a:spcPts val="0"/>
                        </a:spcBef>
                        <a:buNone/>
                      </a:pPr>
                      <a:r>
                        <a:rPr lang="en-US" sz="1400" b="true">
                          <a:solidFill>
                            <a:srgbClr val="111111"/>
                          </a:solidFill>
                          <a:latin typeface="Nunito Semi-Bold"/>
                          <a:ea typeface="Nunito Semi-Bold"/>
                          <a:cs typeface="Nunito Semi-Bold"/>
                          <a:sym typeface="Nunito Semi-Bold"/>
                        </a:rPr>
                        <a:t>0.0236 ± 0.0024</a:t>
                      </a:r>
                    </a:p>
                  </a:txBody>
                  <a:tcPr marL="54864" marR="54864"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c>
                  <a:txBody>
                    <a:bodyPr anchor="ctr" rtlCol="false" lIns="0" tIns="0" rIns="0" bIns="0" wrap="square"/>
                    <a:lstStyle/>
                    <a:p>
                      <a:pPr algn="ctr">
                        <a:lnSpc>
                          <a:spcPts val="1820"/>
                        </a:lnSpc>
                        <a:spcBef>
                          <a:spcPts val="0"/>
                        </a:spcBef>
                        <a:buNone/>
                      </a:pPr>
                      <a:r>
                        <a:rPr lang="en-US" sz="1400" b="true">
                          <a:solidFill>
                            <a:srgbClr val="111111"/>
                          </a:solidFill>
                          <a:latin typeface="Nunito Semi-Bold"/>
                          <a:ea typeface="Nunito Semi-Bold"/>
                          <a:cs typeface="Nunito Semi-Bold"/>
                          <a:sym typeface="Nunito Semi-Bold"/>
                        </a:rPr>
                        <a:t>0.0320 ± 0.0032</a:t>
                      </a:r>
                    </a:p>
                  </a:txBody>
                  <a:tcPr marL="54864" marR="54864"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c>
                  <a:txBody>
                    <a:bodyPr anchor="ctr" rtlCol="false" lIns="0" tIns="0" rIns="0" bIns="0" wrap="square"/>
                    <a:lstStyle/>
                    <a:p>
                      <a:pPr algn="ctr">
                        <a:lnSpc>
                          <a:spcPts val="1820"/>
                        </a:lnSpc>
                        <a:spcBef>
                          <a:spcPts val="0"/>
                        </a:spcBef>
                        <a:buNone/>
                      </a:pPr>
                      <a:r>
                        <a:rPr lang="en-US" sz="1400" b="true">
                          <a:solidFill>
                            <a:srgbClr val="111111"/>
                          </a:solidFill>
                          <a:latin typeface="Nunito Semi-Bold"/>
                          <a:ea typeface="Nunito Semi-Bold"/>
                          <a:cs typeface="Nunito Semi-Bold"/>
                          <a:sym typeface="Nunito Semi-Bold"/>
                        </a:rPr>
                        <a:t>0.226 ± 0.011</a:t>
                      </a:r>
                    </a:p>
                  </a:txBody>
                  <a:tcPr marL="54864" marR="54864"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c>
                  <a:txBody>
                    <a:bodyPr anchor="ctr" rtlCol="false" lIns="0" tIns="0" rIns="0" bIns="0" wrap="square"/>
                    <a:lstStyle/>
                    <a:p>
                      <a:pPr algn="ctr">
                        <a:lnSpc>
                          <a:spcPts val="1820"/>
                        </a:lnSpc>
                        <a:spcBef>
                          <a:spcPts val="0"/>
                        </a:spcBef>
                        <a:buNone/>
                      </a:pPr>
                      <a:r>
                        <a:rPr lang="en-US" sz="1400" b="true">
                          <a:solidFill>
                            <a:srgbClr val="111111"/>
                          </a:solidFill>
                          <a:latin typeface="Nunito Semi-Bold"/>
                          <a:ea typeface="Nunito Semi-Bold"/>
                          <a:cs typeface="Nunito Semi-Bold"/>
                          <a:sym typeface="Nunito Semi-Bold"/>
                        </a:rPr>
                        <a:t>0.491 ± 0.012</a:t>
                      </a:r>
                    </a:p>
                  </a:txBody>
                  <a:tcPr marL="54864" marR="54864"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r>
              <a:tr h="475488">
                <a:tc>
                  <a:txBody>
                    <a:bodyPr anchor="ctr" rtlCol="false" lIns="0" tIns="0" rIns="0" bIns="0" wrap="square"/>
                    <a:lstStyle/>
                    <a:p>
                      <a:pPr algn="l">
                        <a:lnSpc>
                          <a:spcPts val="1820"/>
                        </a:lnSpc>
                        <a:spcBef>
                          <a:spcPts val="0"/>
                        </a:spcBef>
                        <a:buNone/>
                      </a:pPr>
                      <a:r>
                        <a:rPr lang="en-US" sz="1400" b="true">
                          <a:solidFill>
                            <a:srgbClr val="111111"/>
                          </a:solidFill>
                          <a:latin typeface="Nunito Bold"/>
                          <a:ea typeface="Nunito Bold"/>
                          <a:cs typeface="Nunito Bold"/>
                          <a:sym typeface="Nunito Bold"/>
                        </a:rPr>
                        <a:t>RecDCL</a:t>
                      </a:r>
                    </a:p>
                  </a:txBody>
                  <a:tcPr marL="54864" marR="54864"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6ECDF"/>
                    </a:solidFill>
                  </a:tcPr>
                </a:tc>
                <a:tc>
                  <a:txBody>
                    <a:bodyPr anchor="ctr" rtlCol="false" lIns="0" tIns="0" rIns="0" bIns="0" wrap="square"/>
                    <a:lstStyle/>
                    <a:p>
                      <a:pPr algn="ctr">
                        <a:lnSpc>
                          <a:spcPts val="1820"/>
                        </a:lnSpc>
                        <a:spcBef>
                          <a:spcPts val="0"/>
                        </a:spcBef>
                        <a:buNone/>
                      </a:pPr>
                      <a:r>
                        <a:rPr lang="en-US" sz="1400" b="true">
                          <a:solidFill>
                            <a:srgbClr val="111111"/>
                          </a:solidFill>
                          <a:latin typeface="Nunito Semi-Bold"/>
                          <a:ea typeface="Nunito Semi-Bold"/>
                          <a:cs typeface="Nunito Semi-Bold"/>
                          <a:sym typeface="Nunito Semi-Bold"/>
                        </a:rPr>
                        <a:t>0.0255 ± 0.0026</a:t>
                      </a:r>
                    </a:p>
                  </a:txBody>
                  <a:tcPr marL="54864" marR="54864"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6ECDF"/>
                    </a:solidFill>
                  </a:tcPr>
                </a:tc>
                <a:tc>
                  <a:txBody>
                    <a:bodyPr anchor="ctr" rtlCol="false" lIns="0" tIns="0" rIns="0" bIns="0" wrap="square"/>
                    <a:lstStyle/>
                    <a:p>
                      <a:pPr algn="ctr">
                        <a:lnSpc>
                          <a:spcPts val="1820"/>
                        </a:lnSpc>
                        <a:spcBef>
                          <a:spcPts val="0"/>
                        </a:spcBef>
                        <a:buNone/>
                      </a:pPr>
                      <a:r>
                        <a:rPr lang="en-US" sz="1400" b="true">
                          <a:solidFill>
                            <a:srgbClr val="111111"/>
                          </a:solidFill>
                          <a:latin typeface="Nunito Semi-Bold"/>
                          <a:ea typeface="Nunito Semi-Bold"/>
                          <a:cs typeface="Nunito Semi-Bold"/>
                          <a:sym typeface="Nunito Semi-Bold"/>
                        </a:rPr>
                        <a:t>0.0346 ± 0.0035</a:t>
                      </a:r>
                    </a:p>
                  </a:txBody>
                  <a:tcPr marL="54864" marR="54864"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6ECDF"/>
                    </a:solidFill>
                  </a:tcPr>
                </a:tc>
                <a:tc>
                  <a:txBody>
                    <a:bodyPr anchor="ctr" rtlCol="false" lIns="0" tIns="0" rIns="0" bIns="0" wrap="square"/>
                    <a:lstStyle/>
                    <a:p>
                      <a:pPr algn="ctr">
                        <a:lnSpc>
                          <a:spcPts val="1820"/>
                        </a:lnSpc>
                        <a:spcBef>
                          <a:spcPts val="0"/>
                        </a:spcBef>
                        <a:buNone/>
                      </a:pPr>
                      <a:r>
                        <a:rPr lang="en-US" sz="1400" b="true">
                          <a:solidFill>
                            <a:srgbClr val="111111"/>
                          </a:solidFill>
                          <a:latin typeface="Nunito Semi-Bold"/>
                          <a:ea typeface="Nunito Semi-Bold"/>
                          <a:cs typeface="Nunito Semi-Bold"/>
                          <a:sym typeface="Nunito Semi-Bold"/>
                        </a:rPr>
                        <a:t>0.242 ± 0.010</a:t>
                      </a:r>
                    </a:p>
                  </a:txBody>
                  <a:tcPr marL="54864" marR="54864"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6ECDF"/>
                    </a:solidFill>
                  </a:tcPr>
                </a:tc>
                <a:tc>
                  <a:txBody>
                    <a:bodyPr anchor="ctr" rtlCol="false" lIns="0" tIns="0" rIns="0" bIns="0" wrap="square"/>
                    <a:lstStyle/>
                    <a:p>
                      <a:pPr algn="ctr">
                        <a:lnSpc>
                          <a:spcPts val="1820"/>
                        </a:lnSpc>
                        <a:spcBef>
                          <a:spcPts val="0"/>
                        </a:spcBef>
                        <a:buNone/>
                      </a:pPr>
                      <a:r>
                        <a:rPr lang="en-US" sz="1400" b="true">
                          <a:solidFill>
                            <a:srgbClr val="111111"/>
                          </a:solidFill>
                          <a:latin typeface="Nunito Semi-Bold"/>
                          <a:ea typeface="Nunito Semi-Bold"/>
                          <a:cs typeface="Nunito Semi-Bold"/>
                          <a:sym typeface="Nunito Semi-Bold"/>
                        </a:rPr>
                        <a:t>0.512 ± 0.011</a:t>
                      </a:r>
                    </a:p>
                  </a:txBody>
                  <a:tcPr marL="54864" marR="54864"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6ECDF"/>
                    </a:solidFill>
                  </a:tcPr>
                </a:tc>
              </a:tr>
              <a:tr h="475488">
                <a:tc>
                  <a:txBody>
                    <a:bodyPr anchor="ctr" rtlCol="false" lIns="0" tIns="0" rIns="0" bIns="0" wrap="square"/>
                    <a:lstStyle/>
                    <a:p>
                      <a:pPr algn="l">
                        <a:lnSpc>
                          <a:spcPts val="1820"/>
                        </a:lnSpc>
                        <a:spcBef>
                          <a:spcPts val="0"/>
                        </a:spcBef>
                        <a:buNone/>
                      </a:pPr>
                      <a:r>
                        <a:rPr lang="en-US" sz="1400" b="true">
                          <a:solidFill>
                            <a:srgbClr val="111111"/>
                          </a:solidFill>
                          <a:latin typeface="Nunito Bold"/>
                          <a:ea typeface="Nunito Bold"/>
                          <a:cs typeface="Nunito Bold"/>
                          <a:sym typeface="Nunito Bold"/>
                        </a:rPr>
                        <a:t>HCCF</a:t>
                      </a:r>
                    </a:p>
                  </a:txBody>
                  <a:tcPr marL="54864" marR="54864"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c>
                  <a:txBody>
                    <a:bodyPr anchor="ctr" rtlCol="false" lIns="0" tIns="0" rIns="0" bIns="0" wrap="square"/>
                    <a:lstStyle/>
                    <a:p>
                      <a:pPr algn="ctr">
                        <a:lnSpc>
                          <a:spcPts val="1820"/>
                        </a:lnSpc>
                        <a:spcBef>
                          <a:spcPts val="0"/>
                        </a:spcBef>
                        <a:buNone/>
                      </a:pPr>
                      <a:r>
                        <a:rPr lang="en-US" sz="1400" b="true">
                          <a:solidFill>
                            <a:srgbClr val="111111"/>
                          </a:solidFill>
                          <a:latin typeface="Nunito Semi-Bold"/>
                          <a:ea typeface="Nunito Semi-Bold"/>
                          <a:cs typeface="Nunito Semi-Bold"/>
                          <a:sym typeface="Nunito Semi-Bold"/>
                        </a:rPr>
                        <a:t>0.0258 ± 0.0026</a:t>
                      </a:r>
                    </a:p>
                  </a:txBody>
                  <a:tcPr marL="54864" marR="54864"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c>
                  <a:txBody>
                    <a:bodyPr anchor="ctr" rtlCol="false" lIns="0" tIns="0" rIns="0" bIns="0" wrap="square"/>
                    <a:lstStyle/>
                    <a:p>
                      <a:pPr algn="ctr">
                        <a:lnSpc>
                          <a:spcPts val="1820"/>
                        </a:lnSpc>
                        <a:spcBef>
                          <a:spcPts val="0"/>
                        </a:spcBef>
                        <a:buNone/>
                      </a:pPr>
                      <a:r>
                        <a:rPr lang="en-US" sz="1400" b="true">
                          <a:solidFill>
                            <a:srgbClr val="111111"/>
                          </a:solidFill>
                          <a:latin typeface="Nunito Semi-Bold"/>
                          <a:ea typeface="Nunito Semi-Bold"/>
                          <a:cs typeface="Nunito Semi-Bold"/>
                          <a:sym typeface="Nunito Semi-Bold"/>
                        </a:rPr>
                        <a:t>0.0344 ± 0.0034</a:t>
                      </a:r>
                    </a:p>
                  </a:txBody>
                  <a:tcPr marL="54864" marR="54864"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c>
                  <a:txBody>
                    <a:bodyPr anchor="ctr" rtlCol="false" lIns="0" tIns="0" rIns="0" bIns="0" wrap="square"/>
                    <a:lstStyle/>
                    <a:p>
                      <a:pPr algn="ctr">
                        <a:lnSpc>
                          <a:spcPts val="1820"/>
                        </a:lnSpc>
                        <a:spcBef>
                          <a:spcPts val="0"/>
                        </a:spcBef>
                        <a:buNone/>
                      </a:pPr>
                      <a:r>
                        <a:rPr lang="en-US" sz="1400" b="true">
                          <a:solidFill>
                            <a:srgbClr val="111111"/>
                          </a:solidFill>
                          <a:latin typeface="Nunito Semi-Bold"/>
                          <a:ea typeface="Nunito Semi-Bold"/>
                          <a:cs typeface="Nunito Semi-Bold"/>
                          <a:sym typeface="Nunito Semi-Bold"/>
                        </a:rPr>
                        <a:t>0.248 ± 0.010</a:t>
                      </a:r>
                    </a:p>
                  </a:txBody>
                  <a:tcPr marL="54864" marR="54864"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c>
                  <a:txBody>
                    <a:bodyPr anchor="ctr" rtlCol="false" lIns="0" tIns="0" rIns="0" bIns="0" wrap="square"/>
                    <a:lstStyle/>
                    <a:p>
                      <a:pPr algn="ctr">
                        <a:lnSpc>
                          <a:spcPts val="1820"/>
                        </a:lnSpc>
                        <a:spcBef>
                          <a:spcPts val="0"/>
                        </a:spcBef>
                        <a:buNone/>
                      </a:pPr>
                      <a:r>
                        <a:rPr lang="en-US" sz="1400" b="true">
                          <a:solidFill>
                            <a:srgbClr val="111111"/>
                          </a:solidFill>
                          <a:latin typeface="Nunito Semi-Bold"/>
                          <a:ea typeface="Nunito Semi-Bold"/>
                          <a:cs typeface="Nunito Semi-Bold"/>
                          <a:sym typeface="Nunito Semi-Bold"/>
                        </a:rPr>
                        <a:t>0.520 ± 0.011</a:t>
                      </a:r>
                    </a:p>
                  </a:txBody>
                  <a:tcPr marL="54864" marR="54864"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r>
              <a:tr h="475488">
                <a:tc>
                  <a:txBody>
                    <a:bodyPr anchor="ctr" rtlCol="false" lIns="0" tIns="0" rIns="0" bIns="0" wrap="square"/>
                    <a:lstStyle/>
                    <a:p>
                      <a:pPr algn="l">
                        <a:lnSpc>
                          <a:spcPts val="1820"/>
                        </a:lnSpc>
                        <a:spcBef>
                          <a:spcPts val="0"/>
                        </a:spcBef>
                        <a:buNone/>
                      </a:pPr>
                      <a:r>
                        <a:rPr lang="en-US" sz="1400" b="true">
                          <a:solidFill>
                            <a:srgbClr val="111111"/>
                          </a:solidFill>
                          <a:latin typeface="Nunito Bold"/>
                          <a:ea typeface="Nunito Bold"/>
                          <a:cs typeface="Nunito Bold"/>
                          <a:sym typeface="Nunito Bold"/>
                        </a:rPr>
                        <a:t>HPCF</a:t>
                      </a:r>
                    </a:p>
                  </a:txBody>
                  <a:tcPr marL="54864" marR="54864"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6ECDF"/>
                    </a:solidFill>
                  </a:tcPr>
                </a:tc>
                <a:tc>
                  <a:txBody>
                    <a:bodyPr anchor="ctr" rtlCol="false" lIns="0" tIns="0" rIns="0" bIns="0" wrap="square"/>
                    <a:lstStyle/>
                    <a:p>
                      <a:pPr algn="ctr">
                        <a:lnSpc>
                          <a:spcPts val="1820"/>
                        </a:lnSpc>
                        <a:spcBef>
                          <a:spcPts val="0"/>
                        </a:spcBef>
                        <a:buNone/>
                      </a:pPr>
                      <a:r>
                        <a:rPr lang="en-US" sz="1400" b="true">
                          <a:solidFill>
                            <a:srgbClr val="111111"/>
                          </a:solidFill>
                          <a:latin typeface="Nunito Semi-Bold"/>
                          <a:ea typeface="Nunito Semi-Bold"/>
                          <a:cs typeface="Nunito Semi-Bold"/>
                          <a:sym typeface="Nunito Semi-Bold"/>
                        </a:rPr>
                        <a:t>0.0270 ± 0.0027</a:t>
                      </a:r>
                    </a:p>
                  </a:txBody>
                  <a:tcPr marL="54864" marR="54864"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6ECDF"/>
                    </a:solidFill>
                  </a:tcPr>
                </a:tc>
                <a:tc>
                  <a:txBody>
                    <a:bodyPr anchor="ctr" rtlCol="false" lIns="0" tIns="0" rIns="0" bIns="0" wrap="square"/>
                    <a:lstStyle/>
                    <a:p>
                      <a:pPr algn="ctr">
                        <a:lnSpc>
                          <a:spcPts val="1820"/>
                        </a:lnSpc>
                        <a:spcBef>
                          <a:spcPts val="0"/>
                        </a:spcBef>
                        <a:buNone/>
                      </a:pPr>
                      <a:r>
                        <a:rPr lang="en-US" sz="1400" b="true">
                          <a:solidFill>
                            <a:srgbClr val="111111"/>
                          </a:solidFill>
                          <a:latin typeface="Nunito Semi-Bold"/>
                          <a:ea typeface="Nunito Semi-Bold"/>
                          <a:cs typeface="Nunito Semi-Bold"/>
                          <a:sym typeface="Nunito Semi-Bold"/>
                        </a:rPr>
                        <a:t>0.0359 ± 0.0036</a:t>
                      </a:r>
                    </a:p>
                  </a:txBody>
                  <a:tcPr marL="54864" marR="54864"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6ECDF"/>
                    </a:solidFill>
                  </a:tcPr>
                </a:tc>
                <a:tc>
                  <a:txBody>
                    <a:bodyPr anchor="ctr" rtlCol="false" lIns="0" tIns="0" rIns="0" bIns="0" wrap="square"/>
                    <a:lstStyle/>
                    <a:p>
                      <a:pPr algn="ctr">
                        <a:lnSpc>
                          <a:spcPts val="1820"/>
                        </a:lnSpc>
                        <a:spcBef>
                          <a:spcPts val="0"/>
                        </a:spcBef>
                        <a:buNone/>
                      </a:pPr>
                      <a:r>
                        <a:rPr lang="en-US" sz="1400" b="true">
                          <a:solidFill>
                            <a:srgbClr val="111111"/>
                          </a:solidFill>
                          <a:latin typeface="Nunito Semi-Bold"/>
                          <a:ea typeface="Nunito Semi-Bold"/>
                          <a:cs typeface="Nunito Semi-Bold"/>
                          <a:sym typeface="Nunito Semi-Bold"/>
                        </a:rPr>
                        <a:t>0.259 ± 0.010</a:t>
                      </a:r>
                    </a:p>
                  </a:txBody>
                  <a:tcPr marL="54864" marR="54864"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6ECDF"/>
                    </a:solidFill>
                  </a:tcPr>
                </a:tc>
                <a:tc>
                  <a:txBody>
                    <a:bodyPr anchor="ctr" rtlCol="false" lIns="0" tIns="0" rIns="0" bIns="0" wrap="square"/>
                    <a:lstStyle/>
                    <a:p>
                      <a:pPr algn="ctr">
                        <a:lnSpc>
                          <a:spcPts val="1820"/>
                        </a:lnSpc>
                        <a:spcBef>
                          <a:spcPts val="0"/>
                        </a:spcBef>
                        <a:buNone/>
                      </a:pPr>
                      <a:r>
                        <a:rPr lang="en-US" sz="1400" b="true">
                          <a:solidFill>
                            <a:srgbClr val="111111"/>
                          </a:solidFill>
                          <a:latin typeface="Nunito Semi-Bold"/>
                          <a:ea typeface="Nunito Semi-Bold"/>
                          <a:cs typeface="Nunito Semi-Bold"/>
                          <a:sym typeface="Nunito Semi-Bold"/>
                        </a:rPr>
                        <a:t>0.535 ± 0.011</a:t>
                      </a:r>
                    </a:p>
                  </a:txBody>
                  <a:tcPr marL="54864" marR="54864"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6ECDF"/>
                    </a:solidFill>
                  </a:tcPr>
                </a:tc>
              </a:tr>
              <a:tr h="475488">
                <a:tc>
                  <a:txBody>
                    <a:bodyPr anchor="ctr" rtlCol="false" lIns="0" tIns="0" rIns="0" bIns="0" wrap="square"/>
                    <a:lstStyle/>
                    <a:p>
                      <a:pPr algn="l">
                        <a:lnSpc>
                          <a:spcPts val="1820"/>
                        </a:lnSpc>
                        <a:spcBef>
                          <a:spcPts val="0"/>
                        </a:spcBef>
                        <a:buNone/>
                      </a:pPr>
                      <a:r>
                        <a:rPr lang="en-US" sz="1400" b="1">
                          <a:solidFill>
                            <a:srgbClr val="111111"/>
                          </a:solidFill>
                          <a:latin typeface="Nunito Bold"/>
                          <a:ea typeface="Nunito Bold"/>
                          <a:cs typeface="Nunito Bold"/>
                          <a:sym typeface="Nunito Bold"/>
                        </a:rPr>
                        <a:t>DyHuCoG</a:t>
                      </a:r>
                    </a:p>
                  </a:txBody>
                  <a:tcPr marL="54864" marR="54864"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D9E2F3"/>
                    </a:solidFill>
                  </a:tcPr>
                </a:tc>
                <a:tc>
                  <a:txBody>
                    <a:bodyPr anchor="ctr" rtlCol="false" lIns="0" tIns="0" rIns="0" bIns="0" wrap="square"/>
                    <a:lstStyle/>
                    <a:p>
                      <a:pPr algn="ctr">
                        <a:lnSpc>
                          <a:spcPts val="1820"/>
                        </a:lnSpc>
                        <a:spcBef>
                          <a:spcPts val="0"/>
                        </a:spcBef>
                        <a:buNone/>
                      </a:pPr>
                      <a:r>
                        <a:rPr lang="en-US" sz="1400" b="1">
                          <a:solidFill>
                            <a:srgbClr val="111111"/>
                          </a:solidFill>
                          <a:latin typeface="Nunito Semi-Bold"/>
                          <a:ea typeface="Nunito Semi-Bold"/>
                          <a:cs typeface="Nunito Semi-Bold"/>
                          <a:sym typeface="Nunito Semi-Bold"/>
                        </a:rPr>
                        <a:t>0.0306 ± 0.0031</a:t>
                      </a:r>
                    </a:p>
                  </a:txBody>
                  <a:tcPr marL="54864" marR="54864"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D9E2F3"/>
                    </a:solidFill>
                  </a:tcPr>
                </a:tc>
                <a:tc>
                  <a:txBody>
                    <a:bodyPr anchor="ctr" rtlCol="false" lIns="0" tIns="0" rIns="0" bIns="0" wrap="square"/>
                    <a:lstStyle/>
                    <a:p>
                      <a:pPr algn="ctr">
                        <a:lnSpc>
                          <a:spcPts val="1820"/>
                        </a:lnSpc>
                        <a:spcBef>
                          <a:spcPts val="0"/>
                        </a:spcBef>
                        <a:buNone/>
                      </a:pPr>
                      <a:r>
                        <a:rPr lang="en-US" sz="1400" b="1">
                          <a:solidFill>
                            <a:srgbClr val="111111"/>
                          </a:solidFill>
                          <a:latin typeface="Nunito Semi-Bold"/>
                          <a:ea typeface="Nunito Semi-Bold"/>
                          <a:cs typeface="Nunito Semi-Bold"/>
                          <a:sym typeface="Nunito Semi-Bold"/>
                        </a:rPr>
                        <a:t>0.0417 ± 0.0042</a:t>
                      </a:r>
                    </a:p>
                  </a:txBody>
                  <a:tcPr marL="54864" marR="54864"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D9E2F3"/>
                    </a:solidFill>
                  </a:tcPr>
                </a:tc>
                <a:tc>
                  <a:txBody>
                    <a:bodyPr anchor="ctr" rtlCol="false" lIns="0" tIns="0" rIns="0" bIns="0" wrap="square"/>
                    <a:lstStyle/>
                    <a:p>
                      <a:pPr algn="ctr">
                        <a:lnSpc>
                          <a:spcPts val="1820"/>
                        </a:lnSpc>
                        <a:spcBef>
                          <a:spcPts val="0"/>
                        </a:spcBef>
                        <a:buNone/>
                      </a:pPr>
                      <a:r>
                        <a:rPr lang="en-US" sz="1400" b="1">
                          <a:solidFill>
                            <a:srgbClr val="111111"/>
                          </a:solidFill>
                          <a:latin typeface="Nunito Semi-Bold"/>
                          <a:ea typeface="Nunito Semi-Bold"/>
                          <a:cs typeface="Nunito Semi-Bold"/>
                          <a:sym typeface="Nunito Semi-Bold"/>
                        </a:rPr>
                        <a:t>0.336 ± 0.012</a:t>
                      </a:r>
                    </a:p>
                  </a:txBody>
                  <a:tcPr marL="54864" marR="54864"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D9E2F3"/>
                    </a:solidFill>
                  </a:tcPr>
                </a:tc>
                <a:tc>
                  <a:txBody>
                    <a:bodyPr anchor="ctr" rtlCol="false" lIns="0" tIns="0" rIns="0" bIns="0" wrap="square"/>
                    <a:lstStyle/>
                    <a:p>
                      <a:pPr algn="ctr">
                        <a:lnSpc>
                          <a:spcPts val="1820"/>
                        </a:lnSpc>
                        <a:spcBef>
                          <a:spcPts val="0"/>
                        </a:spcBef>
                        <a:buNone/>
                      </a:pPr>
                      <a:r>
                        <a:rPr lang="en-US" sz="1400" b="1">
                          <a:solidFill>
                            <a:srgbClr val="111111"/>
                          </a:solidFill>
                          <a:latin typeface="Nunito Semi-Bold"/>
                          <a:ea typeface="Nunito Semi-Bold"/>
                          <a:cs typeface="Nunito Semi-Bold"/>
                          <a:sym typeface="Nunito Semi-Bold"/>
                        </a:rPr>
                        <a:t>0.602 ± 0.010</a:t>
                      </a:r>
                    </a:p>
                  </a:txBody>
                  <a:tcPr marL="54864" marR="54864"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D9E2F3"/>
                    </a:solidFill>
                  </a:tcPr>
                </a:tc>
              </a:tr>
            </a:tbl>
          </a:graphicData>
        </a:graphic>
      </p:graphicFrame>
      <p:sp>
        <p:nvSpPr>
          <p:cNvPr id="11" name="Rounded Rectangle 10"/>
          <p:cNvSpPr/>
          <p:nvPr/>
        </p:nvSpPr>
        <p:spPr>
          <a:xfrm>
            <a:off x="1028700" y="7387082"/>
            <a:ext cx="16230600" cy="822960"/>
          </a:xfrm>
          <a:prstGeom prst="roundRect">
            <a:avLst>
              <a:gd name="adj" fmla="val 24444"/>
            </a:avLst>
          </a:prstGeom>
          <a:solidFill>
            <a:srgbClr val="F6ECDF"/>
          </a:solidFill>
          <a:ln>
            <a:noFill/>
          </a:ln>
        </p:spPr>
        <p:txBody>
          <a:bodyPr anchor="ctr" rtlCol="false" lIns="365760" tIns="45720" rIns="365760" bIns="45720" wrap="square"/>
          <a:lstStyle/>
          <a:p>
            <a:pPr algn="ctr">
              <a:lnSpc>
                <a:spcPts val="2200"/>
              </a:lnSpc>
              <a:spcBef>
                <a:spcPts val="0"/>
              </a:spcBef>
              <a:buNone/>
            </a:pPr>
            <a:r>
              <a:rPr lang="en-US" sz="1700" b="true">
                <a:solidFill>
                  <a:srgbClr val="111111"/>
                </a:solidFill>
                <a:latin typeface="Nunito Semi-Bold"/>
                <a:ea typeface="Nunito Semi-Bold"/>
                <a:cs typeface="Nunito Semi-Bold"/>
                <a:sym typeface="Nunito Semi-Bold"/>
              </a:rPr>
              <a:t>Standard deviations are roughly </a:t>
            </a:r>
            <a:r>
              <a:rPr lang="en-US" sz="1700" b="true">
                <a:solidFill>
                  <a:srgbClr val="111111"/>
                </a:solidFill>
                <a:latin typeface="Nunito Bold"/>
                <a:ea typeface="Nunito Bold"/>
                <a:cs typeface="Nunito Bold"/>
                <a:sym typeface="Nunito Bold"/>
              </a:rPr>
              <a:t>one tenth of the gap</a:t>
            </a:r>
            <a:r>
              <a:rPr lang="en-US" sz="1700" b="true">
                <a:solidFill>
                  <a:srgbClr val="111111"/>
                </a:solidFill>
                <a:latin typeface="Nunito Semi-Bold"/>
                <a:ea typeface="Nunito Semi-Bold"/>
                <a:cs typeface="Nunito Semi-Bold"/>
                <a:sym typeface="Nunito Semi-Bold"/>
              </a:rPr>
              <a:t> between DyHuCoG and HPCF on every metric, so the ordering is stable across seeds.</a:t>
            </a:r>
          </a:p>
        </p:txBody>
      </p:sp>
    </p:spTree>
  </p:cSld>
  <p:clrMapOvr>
    <a:masterClrMapping/>
  </p:clrMapOvr>
</p:sld>
</file>

<file path=ppt/slides/slide9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pic>
        <p:nvPicPr>
          <p:cNvPr id="2" name="Picture 1" descr="ensias_logo.jpg"/>
          <p:cNvPicPr>
            <a:picLocks noChangeAspect="1"/>
          </p:cNvPicPr>
          <p:nvPr/>
        </p:nvPicPr>
        <p:blipFill>
          <a:blip r:embed="rId2"/>
          <a:stretch>
            <a:fillRect/>
          </a:stretch>
        </p:blipFill>
        <p:spPr>
          <a:xfrm>
            <a:off x="1028700" y="9674352"/>
            <a:ext cx="542964" cy="384048"/>
          </a:xfrm>
          <a:prstGeom prst="rect">
            <a:avLst/>
          </a:prstGeom>
        </p:spPr>
      </p:pic>
      <p:sp>
        <p:nvSpPr>
          <p:cNvPr id="3" name="TextBox 2"/>
          <p:cNvSpPr txBox="1"/>
          <p:nvPr/>
        </p:nvSpPr>
        <p:spPr>
          <a:xfrm>
            <a:off x="1577340" y="9601200"/>
            <a:ext cx="14493240" cy="566928"/>
          </a:xfrm>
          <a:prstGeom prst="rect">
            <a:avLst/>
          </a:prstGeom>
          <a:noFill/>
        </p:spPr>
        <p:txBody>
          <a:bodyPr anchor="ctr" rtlCol="false" lIns="0" tIns="0" rIns="0" bIns="0" wrap="square"/>
          <a:lstStyle/>
          <a:p>
            <a:pPr algn="l">
              <a:lnSpc>
                <a:spcPts val="1200"/>
              </a:lnSpc>
              <a:spcBef>
                <a:spcPts val="0"/>
              </a:spcBef>
              <a:buNone/>
            </a:pPr>
            <a:r>
              <a:rPr lang="en-US" sz="1000" b="true">
                <a:solidFill>
                  <a:srgbClr val="8A8378"/>
                </a:solidFill>
                <a:latin typeface="Nunito Semi-Bold"/>
                <a:ea typeface="Nunito Semi-Bold"/>
                <a:cs typeface="Nunito Semi-Bold"/>
                <a:sym typeface="Nunito Semi-Bold"/>
              </a:rPr>
              <a:t>[27] Holm, S. A Simple Sequentially Rejective Multiple Test Procedure. Scand. J. Statist. 6(2), 65–70 (1979).  ·  Cohen, J. Statistical Power Analysis for the Behavioral Sciences (1988).</a:t>
            </a:r>
          </a:p>
        </p:txBody>
      </p:sp>
      <p:sp>
        <p:nvSpPr>
          <p:cNvPr id="4" name="TextBox 3"/>
          <p:cNvSpPr txBox="1"/>
          <p:nvPr/>
        </p:nvSpPr>
        <p:spPr>
          <a:xfrm>
            <a:off x="16162020" y="9692640"/>
            <a:ext cx="1097280" cy="329184"/>
          </a:xfrm>
          <a:prstGeom prst="rect">
            <a:avLst/>
          </a:prstGeom>
          <a:noFill/>
        </p:spPr>
        <p:txBody>
          <a:bodyPr anchor="t" rtlCol="false" lIns="0" tIns="0" rIns="0" bIns="0" wrap="square"/>
          <a:lstStyle/>
          <a:p>
            <a:pPr algn="r">
              <a:lnSpc>
                <a:spcPts val="2200"/>
              </a:lnSpc>
              <a:spcBef>
                <a:spcPts val="0"/>
              </a:spcBef>
              <a:buNone/>
            </a:pPr>
            <a:r>
              <a:rPr lang="en-US" sz="1800" b="true">
                <a:solidFill>
                  <a:srgbClr val="111111"/>
                </a:solidFill>
                <a:latin typeface="Nunito Ultra-Bold"/>
                <a:ea typeface="Nunito Ultra-Bold"/>
                <a:cs typeface="Nunito Ultra-Bold"/>
                <a:sym typeface="Nunito Ultra-Bold"/>
              </a:rPr>
              <a:t>78</a:t>
            </a:r>
          </a:p>
        </p:txBody>
      </p:sp>
      <p:sp>
        <p:nvSpPr>
          <p:cNvPr id="5" name="TextBox 4"/>
          <p:cNvSpPr txBox="1"/>
          <p:nvPr/>
        </p:nvSpPr>
        <p:spPr>
          <a:xfrm>
            <a:off x="1028700" y="1389888"/>
            <a:ext cx="12938760" cy="329184"/>
          </a:xfrm>
          <a:prstGeom prst="rect">
            <a:avLst/>
          </a:prstGeom>
          <a:noFill/>
        </p:spPr>
        <p:txBody>
          <a:bodyPr anchor="t" rtlCol="false" lIns="0" tIns="0" rIns="0" bIns="0" wrap="square"/>
          <a:lstStyle/>
          <a:p>
            <a:pPr algn="l">
              <a:lnSpc>
                <a:spcPts val="2000"/>
              </a:lnSpc>
              <a:spcBef>
                <a:spcPts val="0"/>
              </a:spcBef>
              <a:buNone/>
            </a:pPr>
            <a:r>
              <a:rPr lang="en-US" sz="1500" b="true" spc="160">
                <a:solidFill>
                  <a:srgbClr val="1F7A8C"/>
                </a:solidFill>
                <a:latin typeface="Nunito Ultra-Bold"/>
                <a:ea typeface="Nunito Ultra-Bold"/>
                <a:cs typeface="Nunito Ultra-Bold"/>
                <a:sym typeface="Nunito Ultra-Bold"/>
              </a:rPr>
              <a:t>BACKUP</a:t>
            </a:r>
          </a:p>
        </p:txBody>
      </p:sp>
      <p:sp>
        <p:nvSpPr>
          <p:cNvPr id="6" name="TextBox 5"/>
          <p:cNvSpPr txBox="1"/>
          <p:nvPr/>
        </p:nvSpPr>
        <p:spPr>
          <a:xfrm>
            <a:off x="1028700" y="1719072"/>
            <a:ext cx="16230600" cy="730250"/>
          </a:xfrm>
          <a:prstGeom prst="rect">
            <a:avLst/>
          </a:prstGeom>
          <a:noFill/>
        </p:spPr>
        <p:txBody>
          <a:bodyPr anchor="t" rtlCol="false" lIns="0" tIns="0" rIns="0" bIns="0" wrap="square"/>
          <a:lstStyle/>
          <a:p>
            <a:pPr algn="l">
              <a:lnSpc>
                <a:spcPts val="5060"/>
              </a:lnSpc>
              <a:spcBef>
                <a:spcPts val="0"/>
              </a:spcBef>
              <a:buNone/>
            </a:pPr>
            <a:r>
              <a:rPr lang="en-US" sz="4600" b="true" spc="-230">
                <a:solidFill>
                  <a:srgbClr val="111111"/>
                </a:solidFill>
                <a:latin typeface="Roca Two Bold"/>
                <a:ea typeface="Roca Two Bold"/>
                <a:cs typeface="Roca Two Bold"/>
                <a:sym typeface="Roca Two Bold"/>
              </a:rPr>
              <a:t>Backup: Table 7.6, Paired Tests vs Every Baseline</a:t>
            </a:r>
          </a:p>
        </p:txBody>
      </p:sp>
      <p:graphicFrame>
        <p:nvGraphicFramePr>
          <p:cNvPr id="7" name="Table 6"/>
          <p:cNvGraphicFramePr>
            <a:graphicFrameLocks noGrp="1"/>
          </p:cNvGraphicFramePr>
          <p:nvPr/>
        </p:nvGraphicFramePr>
        <p:xfrm>
          <a:off x="1028700" y="2943098"/>
          <a:ext cx="16230597" cy="3968496"/>
        </p:xfrm>
        <a:graphic>
          <a:graphicData uri="http://schemas.openxmlformats.org/drawingml/2006/table">
            <a:tbl>
              <a:tblPr firstRow="0" bandRow="0" firstCol="0" lastRow="0" lastCol="0" bandCol="0">
                <a:tableStyleId>{2D5ABB26-0587-4C30-8999-92F81FD0307C}</a:tableStyleId>
              </a:tblPr>
              <a:tblGrid>
                <a:gridCol w="4725364"/>
                <a:gridCol w="2054506"/>
                <a:gridCol w="2670858"/>
                <a:gridCol w="2054506"/>
                <a:gridCol w="2465407"/>
                <a:gridCol w="2259956"/>
              </a:tblGrid>
              <a:tr h="566928">
                <a:tc>
                  <a:txBody>
                    <a:bodyPr anchor="ctr" rtlCol="false" lIns="0" tIns="0" rIns="0" bIns="0" wrap="square"/>
                    <a:lstStyle/>
                    <a:p>
                      <a:pPr algn="l">
                        <a:lnSpc>
                          <a:spcPts val="2080"/>
                        </a:lnSpc>
                        <a:spcBef>
                          <a:spcPts val="0"/>
                        </a:spcBef>
                        <a:buNone/>
                      </a:pPr>
                      <a:r>
                        <a:rPr lang="en-US" sz="1600" b="true">
                          <a:solidFill>
                            <a:srgbClr val="FFFFFF"/>
                          </a:solidFill>
                          <a:latin typeface="Nunito Bold"/>
                          <a:ea typeface="Nunito Bold"/>
                          <a:cs typeface="Nunito Bold"/>
                          <a:sym typeface="Nunito Bold"/>
                        </a:rPr>
                        <a:t>Comparison (per-user NDCG@20, ML-1M)</a:t>
                      </a:r>
                    </a:p>
                  </a:txBody>
                  <a:tcPr marL="82296" marR="82296" marT="45720" marB="45720" anchor="ctr">
                    <a:lnL w="12700" cap="flat" cmpd="sng" algn="ctr">
                      <a:solidFill>
                        <a:srgbClr val="4472C4"/>
                      </a:solidFill>
                      <a:prstDash val="solid"/>
                    </a:lnL>
                    <a:lnR w="12700" cap="flat" cmpd="sng" algn="ctr">
                      <a:solidFill>
                        <a:srgbClr val="4472C4"/>
                      </a:solidFill>
                      <a:prstDash val="solid"/>
                    </a:lnR>
                    <a:lnT w="12700" cap="flat" cmpd="sng" algn="ctr">
                      <a:solidFill>
                        <a:srgbClr val="4472C4"/>
                      </a:solidFill>
                      <a:prstDash val="solid"/>
                    </a:lnT>
                    <a:lnB w="12700" cap="flat" cmpd="sng" algn="ctr">
                      <a:solidFill>
                        <a:srgbClr val="4472C4"/>
                      </a:solidFill>
                      <a:prstDash val="solid"/>
                    </a:lnB>
                    <a:solidFill>
                      <a:srgbClr val="4472C4"/>
                    </a:solidFill>
                  </a:tcPr>
                </a:tc>
                <a:tc>
                  <a:txBody>
                    <a:bodyPr anchor="ctr" rtlCol="false" lIns="0" tIns="0" rIns="0" bIns="0" wrap="square"/>
                    <a:lstStyle/>
                    <a:p>
                      <a:pPr algn="ctr">
                        <a:lnSpc>
                          <a:spcPts val="2080"/>
                        </a:lnSpc>
                        <a:spcBef>
                          <a:spcPts val="0"/>
                        </a:spcBef>
                        <a:buNone/>
                      </a:pPr>
                      <a:r>
                        <a:rPr lang="en-US" sz="1600" b="true">
                          <a:solidFill>
                            <a:srgbClr val="FFFFFF"/>
                          </a:solidFill>
                          <a:latin typeface="Nunito Bold"/>
                          <a:ea typeface="Nunito Bold"/>
                          <a:cs typeface="Nunito Bold"/>
                          <a:sym typeface="Nunito Bold"/>
                        </a:rPr>
                        <a:t>t statistic</a:t>
                      </a:r>
                    </a:p>
                  </a:txBody>
                  <a:tcPr marL="82296" marR="82296" marT="45720" marB="45720" anchor="ctr">
                    <a:lnL w="12700" cap="flat" cmpd="sng" algn="ctr">
                      <a:solidFill>
                        <a:srgbClr val="4472C4"/>
                      </a:solidFill>
                      <a:prstDash val="solid"/>
                    </a:lnL>
                    <a:lnR w="12700" cap="flat" cmpd="sng" algn="ctr">
                      <a:solidFill>
                        <a:srgbClr val="4472C4"/>
                      </a:solidFill>
                      <a:prstDash val="solid"/>
                    </a:lnR>
                    <a:lnT w="12700" cap="flat" cmpd="sng" algn="ctr">
                      <a:solidFill>
                        <a:srgbClr val="4472C4"/>
                      </a:solidFill>
                      <a:prstDash val="solid"/>
                    </a:lnT>
                    <a:lnB w="12700" cap="flat" cmpd="sng" algn="ctr">
                      <a:solidFill>
                        <a:srgbClr val="4472C4"/>
                      </a:solidFill>
                      <a:prstDash val="solid"/>
                    </a:lnB>
                    <a:solidFill>
                      <a:srgbClr val="4472C4"/>
                    </a:solidFill>
                  </a:tcPr>
                </a:tc>
                <a:tc>
                  <a:txBody>
                    <a:bodyPr anchor="ctr" rtlCol="false" lIns="0" tIns="0" rIns="0" bIns="0" wrap="square"/>
                    <a:lstStyle/>
                    <a:p>
                      <a:pPr algn="ctr">
                        <a:lnSpc>
                          <a:spcPts val="2080"/>
                        </a:lnSpc>
                        <a:spcBef>
                          <a:spcPts val="0"/>
                        </a:spcBef>
                        <a:buNone/>
                      </a:pPr>
                      <a:r>
                        <a:rPr lang="en-US" sz="1600" b="true">
                          <a:solidFill>
                            <a:srgbClr val="FFFFFF"/>
                          </a:solidFill>
                          <a:latin typeface="Nunito Bold"/>
                          <a:ea typeface="Nunito Bold"/>
                          <a:cs typeface="Nunito Bold"/>
                          <a:sym typeface="Nunito Bold"/>
                        </a:rPr>
                        <a:t>p-value</a:t>
                      </a:r>
                    </a:p>
                  </a:txBody>
                  <a:tcPr marL="82296" marR="82296" marT="45720" marB="45720" anchor="ctr">
                    <a:lnL w="12700" cap="flat" cmpd="sng" algn="ctr">
                      <a:solidFill>
                        <a:srgbClr val="4472C4"/>
                      </a:solidFill>
                      <a:prstDash val="solid"/>
                    </a:lnL>
                    <a:lnR w="12700" cap="flat" cmpd="sng" algn="ctr">
                      <a:solidFill>
                        <a:srgbClr val="4472C4"/>
                      </a:solidFill>
                      <a:prstDash val="solid"/>
                    </a:lnR>
                    <a:lnT w="12700" cap="flat" cmpd="sng" algn="ctr">
                      <a:solidFill>
                        <a:srgbClr val="4472C4"/>
                      </a:solidFill>
                      <a:prstDash val="solid"/>
                    </a:lnT>
                    <a:lnB w="12700" cap="flat" cmpd="sng" algn="ctr">
                      <a:solidFill>
                        <a:srgbClr val="4472C4"/>
                      </a:solidFill>
                      <a:prstDash val="solid"/>
                    </a:lnB>
                    <a:solidFill>
                      <a:srgbClr val="4472C4"/>
                    </a:solidFill>
                  </a:tcPr>
                </a:tc>
                <a:tc>
                  <a:txBody>
                    <a:bodyPr anchor="ctr" rtlCol="false" lIns="0" tIns="0" rIns="0" bIns="0" wrap="square"/>
                    <a:lstStyle/>
                    <a:p>
                      <a:pPr algn="ctr">
                        <a:lnSpc>
                          <a:spcPts val="2080"/>
                        </a:lnSpc>
                        <a:spcBef>
                          <a:spcPts val="0"/>
                        </a:spcBef>
                        <a:buNone/>
                      </a:pPr>
                      <a:r>
                        <a:rPr lang="en-US" sz="1600" b="true">
                          <a:solidFill>
                            <a:srgbClr val="FFFFFF"/>
                          </a:solidFill>
                          <a:latin typeface="Nunito Bold"/>
                          <a:ea typeface="Nunito Bold"/>
                          <a:cs typeface="Nunito Bold"/>
                          <a:sym typeface="Nunito Bold"/>
                        </a:rPr>
                        <a:t>Cohen's d</a:t>
                      </a:r>
                      <a:r>
                        <a:rPr lang="en-US" sz="1600" b="true" baseline="-25000">
                          <a:solidFill>
                            <a:srgbClr val="FFFFFF"/>
                          </a:solidFill>
                          <a:latin typeface="Nunito Bold"/>
                          <a:ea typeface="Nunito Bold"/>
                          <a:cs typeface="Nunito Bold"/>
                          <a:sym typeface="Nunito Bold"/>
                        </a:rPr>
                        <a:t>z</a:t>
                      </a:r>
                    </a:p>
                  </a:txBody>
                  <a:tcPr marL="82296" marR="82296" marT="45720" marB="45720" anchor="ctr">
                    <a:lnL w="12700" cap="flat" cmpd="sng" algn="ctr">
                      <a:solidFill>
                        <a:srgbClr val="4472C4"/>
                      </a:solidFill>
                      <a:prstDash val="solid"/>
                    </a:lnL>
                    <a:lnR w="12700" cap="flat" cmpd="sng" algn="ctr">
                      <a:solidFill>
                        <a:srgbClr val="4472C4"/>
                      </a:solidFill>
                      <a:prstDash val="solid"/>
                    </a:lnR>
                    <a:lnT w="12700" cap="flat" cmpd="sng" algn="ctr">
                      <a:solidFill>
                        <a:srgbClr val="4472C4"/>
                      </a:solidFill>
                      <a:prstDash val="solid"/>
                    </a:lnT>
                    <a:lnB w="12700" cap="flat" cmpd="sng" algn="ctr">
                      <a:solidFill>
                        <a:srgbClr val="4472C4"/>
                      </a:solidFill>
                      <a:prstDash val="solid"/>
                    </a:lnB>
                    <a:solidFill>
                      <a:srgbClr val="4472C4"/>
                    </a:solidFill>
                  </a:tcPr>
                </a:tc>
                <a:tc>
                  <a:txBody>
                    <a:bodyPr anchor="ctr" rtlCol="false" lIns="0" tIns="0" rIns="0" bIns="0" wrap="square"/>
                    <a:lstStyle/>
                    <a:p>
                      <a:pPr algn="ctr">
                        <a:lnSpc>
                          <a:spcPts val="2080"/>
                        </a:lnSpc>
                        <a:spcBef>
                          <a:spcPts val="0"/>
                        </a:spcBef>
                        <a:buNone/>
                      </a:pPr>
                      <a:r>
                        <a:rPr lang="en-US" sz="1600" b="true">
                          <a:solidFill>
                            <a:srgbClr val="FFFFFF"/>
                          </a:solidFill>
                          <a:latin typeface="Nunito Bold"/>
                          <a:ea typeface="Nunito Bold"/>
                          <a:cs typeface="Nunito Bold"/>
                          <a:sym typeface="Nunito Bold"/>
                        </a:rPr>
                        <a:t>Holm threshold </a:t>
                      </a:r>
                      <a:r>
                        <a:rPr lang="en-US" sz="1600" b="true">
                          <a:solidFill>
                            <a:srgbClr val="FFFFFF"/>
                          </a:solidFill>
                          <a:latin typeface="Calibri"/>
                          <a:ea typeface="Calibri"/>
                          <a:cs typeface="Calibri"/>
                          <a:sym typeface="Calibri"/>
                        </a:rPr>
                        <a:t>α</a:t>
                      </a:r>
                    </a:p>
                  </a:txBody>
                  <a:tcPr marL="82296" marR="82296" marT="45720" marB="45720" anchor="ctr">
                    <a:lnL w="12700" cap="flat" cmpd="sng" algn="ctr">
                      <a:solidFill>
                        <a:srgbClr val="4472C4"/>
                      </a:solidFill>
                      <a:prstDash val="solid"/>
                    </a:lnL>
                    <a:lnR w="12700" cap="flat" cmpd="sng" algn="ctr">
                      <a:solidFill>
                        <a:srgbClr val="4472C4"/>
                      </a:solidFill>
                      <a:prstDash val="solid"/>
                    </a:lnR>
                    <a:lnT w="12700" cap="flat" cmpd="sng" algn="ctr">
                      <a:solidFill>
                        <a:srgbClr val="4472C4"/>
                      </a:solidFill>
                      <a:prstDash val="solid"/>
                    </a:lnT>
                    <a:lnB w="12700" cap="flat" cmpd="sng" algn="ctr">
                      <a:solidFill>
                        <a:srgbClr val="4472C4"/>
                      </a:solidFill>
                      <a:prstDash val="solid"/>
                    </a:lnB>
                    <a:solidFill>
                      <a:srgbClr val="4472C4"/>
                    </a:solidFill>
                  </a:tcPr>
                </a:tc>
                <a:tc>
                  <a:txBody>
                    <a:bodyPr anchor="ctr" rtlCol="false" lIns="0" tIns="0" rIns="0" bIns="0" wrap="square"/>
                    <a:lstStyle/>
                    <a:p>
                      <a:pPr algn="ctr">
                        <a:lnSpc>
                          <a:spcPts val="2080"/>
                        </a:lnSpc>
                        <a:spcBef>
                          <a:spcPts val="0"/>
                        </a:spcBef>
                        <a:buNone/>
                      </a:pPr>
                      <a:r>
                        <a:rPr lang="en-US" sz="1600" b="true">
                          <a:solidFill>
                            <a:srgbClr val="FFFFFF"/>
                          </a:solidFill>
                          <a:latin typeface="Nunito Bold"/>
                          <a:ea typeface="Nunito Bold"/>
                          <a:cs typeface="Nunito Bold"/>
                          <a:sym typeface="Nunito Bold"/>
                        </a:rPr>
                        <a:t>Result</a:t>
                      </a:r>
                    </a:p>
                  </a:txBody>
                  <a:tcPr marL="82296" marR="82296" marT="45720" marB="45720" anchor="ctr">
                    <a:lnL w="12700" cap="flat" cmpd="sng" algn="ctr">
                      <a:solidFill>
                        <a:srgbClr val="4472C4"/>
                      </a:solidFill>
                      <a:prstDash val="solid"/>
                    </a:lnL>
                    <a:lnR w="12700" cap="flat" cmpd="sng" algn="ctr">
                      <a:solidFill>
                        <a:srgbClr val="4472C4"/>
                      </a:solidFill>
                      <a:prstDash val="solid"/>
                    </a:lnR>
                    <a:lnT w="12700" cap="flat" cmpd="sng" algn="ctr">
                      <a:solidFill>
                        <a:srgbClr val="4472C4"/>
                      </a:solidFill>
                      <a:prstDash val="solid"/>
                    </a:lnT>
                    <a:lnB w="12700" cap="flat" cmpd="sng" algn="ctr">
                      <a:solidFill>
                        <a:srgbClr val="4472C4"/>
                      </a:solidFill>
                      <a:prstDash val="solid"/>
                    </a:lnB>
                    <a:solidFill>
                      <a:srgbClr val="4472C4"/>
                    </a:solidFill>
                  </a:tcPr>
                </a:tc>
              </a:tr>
              <a:tr h="566928">
                <a:tc>
                  <a:txBody>
                    <a:bodyPr anchor="ctr" rtlCol="false" lIns="0" tIns="0" rIns="0" bIns="0" wrap="square"/>
                    <a:lstStyle/>
                    <a:p>
                      <a:pPr algn="l">
                        <a:lnSpc>
                          <a:spcPts val="2210"/>
                        </a:lnSpc>
                        <a:spcBef>
                          <a:spcPts val="0"/>
                        </a:spcBef>
                        <a:buNone/>
                      </a:pPr>
                      <a:r>
                        <a:rPr lang="en-US" sz="1700" b="true">
                          <a:solidFill>
                            <a:srgbClr val="111111"/>
                          </a:solidFill>
                          <a:latin typeface="Nunito Bold"/>
                          <a:ea typeface="Nunito Bold"/>
                          <a:cs typeface="Nunito Bold"/>
                          <a:sym typeface="Nunito Bold"/>
                        </a:rPr>
                        <a:t>DyHuCoG vs HPCF</a:t>
                      </a:r>
                    </a:p>
                  </a:txBody>
                  <a:tcPr marL="82296" marR="82296"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c>
                  <a:txBody>
                    <a:bodyPr anchor="ctr" rtlCol="false" lIns="0" tIns="0" rIns="0" bIns="0" wrap="square"/>
                    <a:lstStyle/>
                    <a:p>
                      <a:pPr algn="ctr">
                        <a:lnSpc>
                          <a:spcPts val="2210"/>
                        </a:lnSpc>
                        <a:spcBef>
                          <a:spcPts val="0"/>
                        </a:spcBef>
                        <a:buNone/>
                      </a:pPr>
                      <a:r>
                        <a:rPr lang="en-US" sz="1700" b="true">
                          <a:solidFill>
                            <a:srgbClr val="111111"/>
                          </a:solidFill>
                          <a:latin typeface="Nunito Semi-Bold"/>
                          <a:ea typeface="Nunito Semi-Bold"/>
                          <a:cs typeface="Nunito Semi-Bold"/>
                          <a:sym typeface="Nunito Semi-Bold"/>
                        </a:rPr>
                        <a:t>46.38</a:t>
                      </a:r>
                    </a:p>
                  </a:txBody>
                  <a:tcPr marL="82296" marR="82296"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c>
                  <a:txBody>
                    <a:bodyPr anchor="ctr" rtlCol="false" lIns="0" tIns="0" rIns="0" bIns="0" wrap="square"/>
                    <a:lstStyle/>
                    <a:p>
                      <a:pPr algn="ctr">
                        <a:lnSpc>
                          <a:spcPts val="2210"/>
                        </a:lnSpc>
                        <a:spcBef>
                          <a:spcPts val="0"/>
                        </a:spcBef>
                        <a:buNone/>
                      </a:pPr>
                      <a:r>
                        <a:rPr lang="en-US" sz="1700" b="true">
                          <a:solidFill>
                            <a:srgbClr val="111111"/>
                          </a:solidFill>
                          <a:latin typeface="Nunito Semi-Bold"/>
                          <a:ea typeface="Nunito Semi-Bold"/>
                          <a:cs typeface="Nunito Semi-Bold"/>
                          <a:sym typeface="Nunito Semi-Bold"/>
                        </a:rPr>
                        <a:t>1.81 × 10</a:t>
                      </a:r>
                      <a:r>
                        <a:rPr lang="en-US" sz="1700" b="true" baseline="30000">
                          <a:solidFill>
                            <a:srgbClr val="111111"/>
                          </a:solidFill>
                          <a:latin typeface="Nunito Semi-Bold"/>
                          <a:ea typeface="Nunito Semi-Bold"/>
                          <a:cs typeface="Nunito Semi-Bold"/>
                          <a:sym typeface="Nunito Semi-Bold"/>
                        </a:rPr>
                        <a:t>−270</a:t>
                      </a:r>
                    </a:p>
                  </a:txBody>
                  <a:tcPr marL="82296" marR="82296"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c>
                  <a:txBody>
                    <a:bodyPr anchor="ctr" rtlCol="false" lIns="0" tIns="0" rIns="0" bIns="0" wrap="square"/>
                    <a:lstStyle/>
                    <a:p>
                      <a:pPr algn="ctr">
                        <a:lnSpc>
                          <a:spcPts val="2210"/>
                        </a:lnSpc>
                        <a:spcBef>
                          <a:spcPts val="0"/>
                        </a:spcBef>
                        <a:buNone/>
                      </a:pPr>
                      <a:r>
                        <a:rPr lang="en-US" sz="1700" b="true">
                          <a:solidFill>
                            <a:srgbClr val="111111"/>
                          </a:solidFill>
                          <a:latin typeface="Nunito Semi-Bold"/>
                          <a:ea typeface="Nunito Semi-Bold"/>
                          <a:cs typeface="Nunito Semi-Bold"/>
                          <a:sym typeface="Nunito Semi-Bold"/>
                        </a:rPr>
                        <a:t>1.33</a:t>
                      </a:r>
                    </a:p>
                  </a:txBody>
                  <a:tcPr marL="82296" marR="82296"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c>
                  <a:txBody>
                    <a:bodyPr anchor="ctr" rtlCol="false" lIns="0" tIns="0" rIns="0" bIns="0" wrap="square"/>
                    <a:lstStyle/>
                    <a:p>
                      <a:pPr algn="ctr">
                        <a:lnSpc>
                          <a:spcPts val="2210"/>
                        </a:lnSpc>
                        <a:spcBef>
                          <a:spcPts val="0"/>
                        </a:spcBef>
                        <a:buNone/>
                      </a:pPr>
                      <a:r>
                        <a:rPr lang="en-US" sz="1700" b="true">
                          <a:solidFill>
                            <a:srgbClr val="111111"/>
                          </a:solidFill>
                          <a:latin typeface="Nunito Semi-Bold"/>
                          <a:ea typeface="Nunito Semi-Bold"/>
                          <a:cs typeface="Nunito Semi-Bold"/>
                          <a:sym typeface="Nunito Semi-Bold"/>
                        </a:rPr>
                        <a:t>0.0500</a:t>
                      </a:r>
                    </a:p>
                  </a:txBody>
                  <a:tcPr marL="82296" marR="82296"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c>
                  <a:txBody>
                    <a:bodyPr anchor="ctr" rtlCol="false" lIns="0" tIns="0" rIns="0" bIns="0" wrap="square"/>
                    <a:lstStyle/>
                    <a:p>
                      <a:pPr algn="ctr">
                        <a:lnSpc>
                          <a:spcPts val="2210"/>
                        </a:lnSpc>
                        <a:spcBef>
                          <a:spcPts val="0"/>
                        </a:spcBef>
                        <a:buNone/>
                      </a:pPr>
                      <a:r>
                        <a:rPr lang="en-US" sz="1700" b="true">
                          <a:solidFill>
                            <a:srgbClr val="111111"/>
                          </a:solidFill>
                          <a:latin typeface="Nunito Semi-Bold"/>
                          <a:ea typeface="Nunito Semi-Bold"/>
                          <a:cs typeface="Nunito Semi-Bold"/>
                          <a:sym typeface="Nunito Semi-Bold"/>
                        </a:rPr>
                        <a:t>significant</a:t>
                      </a:r>
                    </a:p>
                  </a:txBody>
                  <a:tcPr marL="82296" marR="82296"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r>
              <a:tr h="566928">
                <a:tc>
                  <a:txBody>
                    <a:bodyPr anchor="ctr" rtlCol="false" lIns="0" tIns="0" rIns="0" bIns="0" wrap="square"/>
                    <a:lstStyle/>
                    <a:p>
                      <a:pPr algn="l">
                        <a:lnSpc>
                          <a:spcPts val="2210"/>
                        </a:lnSpc>
                        <a:spcBef>
                          <a:spcPts val="0"/>
                        </a:spcBef>
                        <a:buNone/>
                      </a:pPr>
                      <a:r>
                        <a:rPr lang="en-US" sz="1700" b="true">
                          <a:solidFill>
                            <a:srgbClr val="111111"/>
                          </a:solidFill>
                          <a:latin typeface="Nunito Bold"/>
                          <a:ea typeface="Nunito Bold"/>
                          <a:cs typeface="Nunito Bold"/>
                          <a:sym typeface="Nunito Bold"/>
                        </a:rPr>
                        <a:t>DyHuCoG vs RecDCL</a:t>
                      </a:r>
                    </a:p>
                  </a:txBody>
                  <a:tcPr marL="82296" marR="82296"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6ECDF"/>
                    </a:solidFill>
                  </a:tcPr>
                </a:tc>
                <a:tc>
                  <a:txBody>
                    <a:bodyPr anchor="ctr" rtlCol="false" lIns="0" tIns="0" rIns="0" bIns="0" wrap="square"/>
                    <a:lstStyle/>
                    <a:p>
                      <a:pPr algn="ctr">
                        <a:lnSpc>
                          <a:spcPts val="2210"/>
                        </a:lnSpc>
                        <a:spcBef>
                          <a:spcPts val="0"/>
                        </a:spcBef>
                        <a:buNone/>
                      </a:pPr>
                      <a:r>
                        <a:rPr lang="en-US" sz="1700" b="true">
                          <a:solidFill>
                            <a:srgbClr val="111111"/>
                          </a:solidFill>
                          <a:latin typeface="Nunito Semi-Bold"/>
                          <a:ea typeface="Nunito Semi-Bold"/>
                          <a:cs typeface="Nunito Semi-Bold"/>
                          <a:sym typeface="Nunito Semi-Bold"/>
                        </a:rPr>
                        <a:t>92.72</a:t>
                      </a:r>
                    </a:p>
                  </a:txBody>
                  <a:tcPr marL="82296" marR="82296"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6ECDF"/>
                    </a:solidFill>
                  </a:tcPr>
                </a:tc>
                <a:tc>
                  <a:txBody>
                    <a:bodyPr anchor="ctr" rtlCol="false" lIns="0" tIns="0" rIns="0" bIns="0" wrap="square"/>
                    <a:lstStyle/>
                    <a:p>
                      <a:pPr algn="ctr">
                        <a:lnSpc>
                          <a:spcPts val="2210"/>
                        </a:lnSpc>
                        <a:spcBef>
                          <a:spcPts val="0"/>
                        </a:spcBef>
                        <a:buNone/>
                      </a:pPr>
                      <a:r>
                        <a:rPr lang="en-US" sz="1700" b="true">
                          <a:solidFill>
                            <a:srgbClr val="111111"/>
                          </a:solidFill>
                          <a:latin typeface="Nunito Semi-Bold"/>
                          <a:ea typeface="Nunito Semi-Bold"/>
                          <a:cs typeface="Nunito Semi-Bold"/>
                          <a:sym typeface="Nunito Semi-Bold"/>
                        </a:rPr>
                        <a:t>&lt; 10</a:t>
                      </a:r>
                      <a:r>
                        <a:rPr lang="en-US" sz="1700" b="true" baseline="30000">
                          <a:solidFill>
                            <a:srgbClr val="111111"/>
                          </a:solidFill>
                          <a:latin typeface="Nunito Semi-Bold"/>
                          <a:ea typeface="Nunito Semi-Bold"/>
                          <a:cs typeface="Nunito Semi-Bold"/>
                          <a:sym typeface="Nunito Semi-Bold"/>
                        </a:rPr>
                        <a:t>−300</a:t>
                      </a:r>
                    </a:p>
                  </a:txBody>
                  <a:tcPr marL="82296" marR="82296"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6ECDF"/>
                    </a:solidFill>
                  </a:tcPr>
                </a:tc>
                <a:tc>
                  <a:txBody>
                    <a:bodyPr anchor="ctr" rtlCol="false" lIns="0" tIns="0" rIns="0" bIns="0" wrap="square"/>
                    <a:lstStyle/>
                    <a:p>
                      <a:pPr algn="ctr">
                        <a:lnSpc>
                          <a:spcPts val="2210"/>
                        </a:lnSpc>
                        <a:spcBef>
                          <a:spcPts val="0"/>
                        </a:spcBef>
                        <a:buNone/>
                      </a:pPr>
                      <a:r>
                        <a:rPr lang="en-US" sz="1700" b="true">
                          <a:solidFill>
                            <a:srgbClr val="111111"/>
                          </a:solidFill>
                          <a:latin typeface="Nunito Semi-Bold"/>
                          <a:ea typeface="Nunito Semi-Bold"/>
                          <a:cs typeface="Nunito Semi-Bold"/>
                          <a:sym typeface="Nunito Semi-Bold"/>
                        </a:rPr>
                        <a:t>2.67</a:t>
                      </a:r>
                    </a:p>
                  </a:txBody>
                  <a:tcPr marL="82296" marR="82296"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6ECDF"/>
                    </a:solidFill>
                  </a:tcPr>
                </a:tc>
                <a:tc>
                  <a:txBody>
                    <a:bodyPr anchor="ctr" rtlCol="false" lIns="0" tIns="0" rIns="0" bIns="0" wrap="square"/>
                    <a:lstStyle/>
                    <a:p>
                      <a:pPr algn="ctr">
                        <a:lnSpc>
                          <a:spcPts val="2210"/>
                        </a:lnSpc>
                        <a:spcBef>
                          <a:spcPts val="0"/>
                        </a:spcBef>
                        <a:buNone/>
                      </a:pPr>
                      <a:r>
                        <a:rPr lang="en-US" sz="1700" b="true">
                          <a:solidFill>
                            <a:srgbClr val="111111"/>
                          </a:solidFill>
                          <a:latin typeface="Nunito Semi-Bold"/>
                          <a:ea typeface="Nunito Semi-Bold"/>
                          <a:cs typeface="Nunito Semi-Bold"/>
                          <a:sym typeface="Nunito Semi-Bold"/>
                        </a:rPr>
                        <a:t>0.0083</a:t>
                      </a:r>
                    </a:p>
                  </a:txBody>
                  <a:tcPr marL="82296" marR="82296"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6ECDF"/>
                    </a:solidFill>
                  </a:tcPr>
                </a:tc>
                <a:tc>
                  <a:txBody>
                    <a:bodyPr anchor="ctr" rtlCol="false" lIns="0" tIns="0" rIns="0" bIns="0" wrap="square"/>
                    <a:lstStyle/>
                    <a:p>
                      <a:pPr algn="ctr">
                        <a:lnSpc>
                          <a:spcPts val="2210"/>
                        </a:lnSpc>
                        <a:spcBef>
                          <a:spcPts val="0"/>
                        </a:spcBef>
                        <a:buNone/>
                      </a:pPr>
                      <a:r>
                        <a:rPr lang="en-US" sz="1700" b="true">
                          <a:solidFill>
                            <a:srgbClr val="111111"/>
                          </a:solidFill>
                          <a:latin typeface="Nunito Semi-Bold"/>
                          <a:ea typeface="Nunito Semi-Bold"/>
                          <a:cs typeface="Nunito Semi-Bold"/>
                          <a:sym typeface="Nunito Semi-Bold"/>
                        </a:rPr>
                        <a:t>significant</a:t>
                      </a:r>
                    </a:p>
                  </a:txBody>
                  <a:tcPr marL="82296" marR="82296"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6ECDF"/>
                    </a:solidFill>
                  </a:tcPr>
                </a:tc>
              </a:tr>
              <a:tr h="566928">
                <a:tc>
                  <a:txBody>
                    <a:bodyPr anchor="ctr" rtlCol="false" lIns="0" tIns="0" rIns="0" bIns="0" wrap="square"/>
                    <a:lstStyle/>
                    <a:p>
                      <a:pPr algn="l">
                        <a:lnSpc>
                          <a:spcPts val="2210"/>
                        </a:lnSpc>
                        <a:spcBef>
                          <a:spcPts val="0"/>
                        </a:spcBef>
                        <a:buNone/>
                      </a:pPr>
                      <a:r>
                        <a:rPr lang="en-US" sz="1700" b="true">
                          <a:solidFill>
                            <a:srgbClr val="111111"/>
                          </a:solidFill>
                          <a:latin typeface="Nunito Bold"/>
                          <a:ea typeface="Nunito Bold"/>
                          <a:cs typeface="Nunito Bold"/>
                          <a:sym typeface="Nunito Bold"/>
                        </a:rPr>
                        <a:t>DyHuCoG vs HCCF</a:t>
                      </a:r>
                    </a:p>
                  </a:txBody>
                  <a:tcPr marL="82296" marR="82296"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c>
                  <a:txBody>
                    <a:bodyPr anchor="ctr" rtlCol="false" lIns="0" tIns="0" rIns="0" bIns="0" wrap="square"/>
                    <a:lstStyle/>
                    <a:p>
                      <a:pPr algn="ctr">
                        <a:lnSpc>
                          <a:spcPts val="2210"/>
                        </a:lnSpc>
                        <a:spcBef>
                          <a:spcPts val="0"/>
                        </a:spcBef>
                        <a:buNone/>
                      </a:pPr>
                      <a:r>
                        <a:rPr lang="en-US" sz="1700" b="true">
                          <a:solidFill>
                            <a:srgbClr val="111111"/>
                          </a:solidFill>
                          <a:latin typeface="Nunito Semi-Bold"/>
                          <a:ea typeface="Nunito Semi-Bold"/>
                          <a:cs typeface="Nunito Semi-Bold"/>
                          <a:sym typeface="Nunito Semi-Bold"/>
                        </a:rPr>
                        <a:t>61.21</a:t>
                      </a:r>
                    </a:p>
                  </a:txBody>
                  <a:tcPr marL="82296" marR="82296"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c>
                  <a:txBody>
                    <a:bodyPr anchor="ctr" rtlCol="false" lIns="0" tIns="0" rIns="0" bIns="0" wrap="square"/>
                    <a:lstStyle/>
                    <a:p>
                      <a:pPr algn="ctr">
                        <a:lnSpc>
                          <a:spcPts val="2210"/>
                        </a:lnSpc>
                        <a:spcBef>
                          <a:spcPts val="0"/>
                        </a:spcBef>
                        <a:buNone/>
                      </a:pPr>
                      <a:r>
                        <a:rPr lang="en-US" sz="1700" b="true">
                          <a:solidFill>
                            <a:srgbClr val="111111"/>
                          </a:solidFill>
                          <a:latin typeface="Nunito Semi-Bold"/>
                          <a:ea typeface="Nunito Semi-Bold"/>
                          <a:cs typeface="Nunito Semi-Bold"/>
                          <a:sym typeface="Nunito Semi-Bold"/>
                        </a:rPr>
                        <a:t>&lt; 10</a:t>
                      </a:r>
                      <a:r>
                        <a:rPr lang="en-US" sz="1700" b="true" baseline="30000">
                          <a:solidFill>
                            <a:srgbClr val="111111"/>
                          </a:solidFill>
                          <a:latin typeface="Nunito Semi-Bold"/>
                          <a:ea typeface="Nunito Semi-Bold"/>
                          <a:cs typeface="Nunito Semi-Bold"/>
                          <a:sym typeface="Nunito Semi-Bold"/>
                        </a:rPr>
                        <a:t>−300</a:t>
                      </a:r>
                    </a:p>
                  </a:txBody>
                  <a:tcPr marL="82296" marR="82296"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c>
                  <a:txBody>
                    <a:bodyPr anchor="ctr" rtlCol="false" lIns="0" tIns="0" rIns="0" bIns="0" wrap="square"/>
                    <a:lstStyle/>
                    <a:p>
                      <a:pPr algn="ctr">
                        <a:lnSpc>
                          <a:spcPts val="2210"/>
                        </a:lnSpc>
                        <a:spcBef>
                          <a:spcPts val="0"/>
                        </a:spcBef>
                        <a:buNone/>
                      </a:pPr>
                      <a:r>
                        <a:rPr lang="en-US" sz="1700" b="true">
                          <a:solidFill>
                            <a:srgbClr val="111111"/>
                          </a:solidFill>
                          <a:latin typeface="Nunito Semi-Bold"/>
                          <a:ea typeface="Nunito Semi-Bold"/>
                          <a:cs typeface="Nunito Semi-Bold"/>
                          <a:sym typeface="Nunito Semi-Bold"/>
                        </a:rPr>
                        <a:t>1.76</a:t>
                      </a:r>
                    </a:p>
                  </a:txBody>
                  <a:tcPr marL="82296" marR="82296"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c>
                  <a:txBody>
                    <a:bodyPr anchor="ctr" rtlCol="false" lIns="0" tIns="0" rIns="0" bIns="0" wrap="square"/>
                    <a:lstStyle/>
                    <a:p>
                      <a:pPr algn="ctr">
                        <a:lnSpc>
                          <a:spcPts val="2210"/>
                        </a:lnSpc>
                        <a:spcBef>
                          <a:spcPts val="0"/>
                        </a:spcBef>
                        <a:buNone/>
                      </a:pPr>
                      <a:r>
                        <a:rPr lang="en-US" sz="1700" b="true">
                          <a:solidFill>
                            <a:srgbClr val="111111"/>
                          </a:solidFill>
                          <a:latin typeface="Nunito Semi-Bold"/>
                          <a:ea typeface="Nunito Semi-Bold"/>
                          <a:cs typeface="Nunito Semi-Bold"/>
                          <a:sym typeface="Nunito Semi-Bold"/>
                        </a:rPr>
                        <a:t>0.0100</a:t>
                      </a:r>
                    </a:p>
                  </a:txBody>
                  <a:tcPr marL="82296" marR="82296"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c>
                  <a:txBody>
                    <a:bodyPr anchor="ctr" rtlCol="false" lIns="0" tIns="0" rIns="0" bIns="0" wrap="square"/>
                    <a:lstStyle/>
                    <a:p>
                      <a:pPr algn="ctr">
                        <a:lnSpc>
                          <a:spcPts val="2210"/>
                        </a:lnSpc>
                        <a:spcBef>
                          <a:spcPts val="0"/>
                        </a:spcBef>
                        <a:buNone/>
                      </a:pPr>
                      <a:r>
                        <a:rPr lang="en-US" sz="1700" b="true">
                          <a:solidFill>
                            <a:srgbClr val="111111"/>
                          </a:solidFill>
                          <a:latin typeface="Nunito Semi-Bold"/>
                          <a:ea typeface="Nunito Semi-Bold"/>
                          <a:cs typeface="Nunito Semi-Bold"/>
                          <a:sym typeface="Nunito Semi-Bold"/>
                        </a:rPr>
                        <a:t>significant</a:t>
                      </a:r>
                    </a:p>
                  </a:txBody>
                  <a:tcPr marL="82296" marR="82296"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r>
              <a:tr h="566928">
                <a:tc>
                  <a:txBody>
                    <a:bodyPr anchor="ctr" rtlCol="false" lIns="0" tIns="0" rIns="0" bIns="0" wrap="square"/>
                    <a:lstStyle/>
                    <a:p>
                      <a:pPr algn="l">
                        <a:lnSpc>
                          <a:spcPts val="2210"/>
                        </a:lnSpc>
                        <a:spcBef>
                          <a:spcPts val="0"/>
                        </a:spcBef>
                        <a:buNone/>
                      </a:pPr>
                      <a:r>
                        <a:rPr lang="en-US" sz="1700" b="true">
                          <a:solidFill>
                            <a:srgbClr val="111111"/>
                          </a:solidFill>
                          <a:latin typeface="Nunito Bold"/>
                          <a:ea typeface="Nunito Bold"/>
                          <a:cs typeface="Nunito Bold"/>
                          <a:sym typeface="Nunito Bold"/>
                        </a:rPr>
                        <a:t>DyHuCoG vs LightGCN</a:t>
                      </a:r>
                    </a:p>
                  </a:txBody>
                  <a:tcPr marL="82296" marR="82296"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6ECDF"/>
                    </a:solidFill>
                  </a:tcPr>
                </a:tc>
                <a:tc>
                  <a:txBody>
                    <a:bodyPr anchor="ctr" rtlCol="false" lIns="0" tIns="0" rIns="0" bIns="0" wrap="square"/>
                    <a:lstStyle/>
                    <a:p>
                      <a:pPr algn="ctr">
                        <a:lnSpc>
                          <a:spcPts val="2210"/>
                        </a:lnSpc>
                        <a:spcBef>
                          <a:spcPts val="0"/>
                        </a:spcBef>
                        <a:buNone/>
                      </a:pPr>
                      <a:r>
                        <a:rPr lang="en-US" sz="1700" b="true">
                          <a:solidFill>
                            <a:srgbClr val="111111"/>
                          </a:solidFill>
                          <a:latin typeface="Nunito Semi-Bold"/>
                          <a:ea typeface="Nunito Semi-Bold"/>
                          <a:cs typeface="Nunito Semi-Bold"/>
                          <a:sym typeface="Nunito Semi-Bold"/>
                        </a:rPr>
                        <a:t>132.19</a:t>
                      </a:r>
                    </a:p>
                  </a:txBody>
                  <a:tcPr marL="82296" marR="82296"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6ECDF"/>
                    </a:solidFill>
                  </a:tcPr>
                </a:tc>
                <a:tc>
                  <a:txBody>
                    <a:bodyPr anchor="ctr" rtlCol="false" lIns="0" tIns="0" rIns="0" bIns="0" wrap="square"/>
                    <a:lstStyle/>
                    <a:p>
                      <a:pPr algn="ctr">
                        <a:lnSpc>
                          <a:spcPts val="2210"/>
                        </a:lnSpc>
                        <a:spcBef>
                          <a:spcPts val="0"/>
                        </a:spcBef>
                        <a:buNone/>
                      </a:pPr>
                      <a:r>
                        <a:rPr lang="en-US" sz="1700" b="true">
                          <a:solidFill>
                            <a:srgbClr val="111111"/>
                          </a:solidFill>
                          <a:latin typeface="Nunito Semi-Bold"/>
                          <a:ea typeface="Nunito Semi-Bold"/>
                          <a:cs typeface="Nunito Semi-Bold"/>
                          <a:sym typeface="Nunito Semi-Bold"/>
                        </a:rPr>
                        <a:t>&lt; 10</a:t>
                      </a:r>
                      <a:r>
                        <a:rPr lang="en-US" sz="1700" b="true" baseline="30000">
                          <a:solidFill>
                            <a:srgbClr val="111111"/>
                          </a:solidFill>
                          <a:latin typeface="Nunito Semi-Bold"/>
                          <a:ea typeface="Nunito Semi-Bold"/>
                          <a:cs typeface="Nunito Semi-Bold"/>
                          <a:sym typeface="Nunito Semi-Bold"/>
                        </a:rPr>
                        <a:t>−300</a:t>
                      </a:r>
                    </a:p>
                  </a:txBody>
                  <a:tcPr marL="82296" marR="82296"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6ECDF"/>
                    </a:solidFill>
                  </a:tcPr>
                </a:tc>
                <a:tc>
                  <a:txBody>
                    <a:bodyPr anchor="ctr" rtlCol="false" lIns="0" tIns="0" rIns="0" bIns="0" wrap="square"/>
                    <a:lstStyle/>
                    <a:p>
                      <a:pPr algn="ctr">
                        <a:lnSpc>
                          <a:spcPts val="2210"/>
                        </a:lnSpc>
                        <a:spcBef>
                          <a:spcPts val="0"/>
                        </a:spcBef>
                        <a:buNone/>
                      </a:pPr>
                      <a:r>
                        <a:rPr lang="en-US" sz="1700" b="true">
                          <a:solidFill>
                            <a:srgbClr val="111111"/>
                          </a:solidFill>
                          <a:latin typeface="Nunito Semi-Bold"/>
                          <a:ea typeface="Nunito Semi-Bold"/>
                          <a:cs typeface="Nunito Semi-Bold"/>
                          <a:sym typeface="Nunito Semi-Bold"/>
                        </a:rPr>
                        <a:t>3.80</a:t>
                      </a:r>
                    </a:p>
                  </a:txBody>
                  <a:tcPr marL="82296" marR="82296"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6ECDF"/>
                    </a:solidFill>
                  </a:tcPr>
                </a:tc>
                <a:tc>
                  <a:txBody>
                    <a:bodyPr anchor="ctr" rtlCol="false" lIns="0" tIns="0" rIns="0" bIns="0" wrap="square"/>
                    <a:lstStyle/>
                    <a:p>
                      <a:pPr algn="ctr">
                        <a:lnSpc>
                          <a:spcPts val="2210"/>
                        </a:lnSpc>
                        <a:spcBef>
                          <a:spcPts val="0"/>
                        </a:spcBef>
                        <a:buNone/>
                      </a:pPr>
                      <a:r>
                        <a:rPr lang="en-US" sz="1700" b="true">
                          <a:solidFill>
                            <a:srgbClr val="111111"/>
                          </a:solidFill>
                          <a:latin typeface="Nunito Semi-Bold"/>
                          <a:ea typeface="Nunito Semi-Bold"/>
                          <a:cs typeface="Nunito Semi-Bold"/>
                          <a:sym typeface="Nunito Semi-Bold"/>
                        </a:rPr>
                        <a:t>0.0125</a:t>
                      </a:r>
                    </a:p>
                  </a:txBody>
                  <a:tcPr marL="82296" marR="82296"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6ECDF"/>
                    </a:solidFill>
                  </a:tcPr>
                </a:tc>
                <a:tc>
                  <a:txBody>
                    <a:bodyPr anchor="ctr" rtlCol="false" lIns="0" tIns="0" rIns="0" bIns="0" wrap="square"/>
                    <a:lstStyle/>
                    <a:p>
                      <a:pPr algn="ctr">
                        <a:lnSpc>
                          <a:spcPts val="2210"/>
                        </a:lnSpc>
                        <a:spcBef>
                          <a:spcPts val="0"/>
                        </a:spcBef>
                        <a:buNone/>
                      </a:pPr>
                      <a:r>
                        <a:rPr lang="en-US" sz="1700" b="true">
                          <a:solidFill>
                            <a:srgbClr val="111111"/>
                          </a:solidFill>
                          <a:latin typeface="Nunito Semi-Bold"/>
                          <a:ea typeface="Nunito Semi-Bold"/>
                          <a:cs typeface="Nunito Semi-Bold"/>
                          <a:sym typeface="Nunito Semi-Bold"/>
                        </a:rPr>
                        <a:t>significant</a:t>
                      </a:r>
                    </a:p>
                  </a:txBody>
                  <a:tcPr marL="82296" marR="82296"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6ECDF"/>
                    </a:solidFill>
                  </a:tcPr>
                </a:tc>
              </a:tr>
              <a:tr h="566928">
                <a:tc>
                  <a:txBody>
                    <a:bodyPr anchor="ctr" rtlCol="false" lIns="0" tIns="0" rIns="0" bIns="0" wrap="square"/>
                    <a:lstStyle/>
                    <a:p>
                      <a:pPr algn="l">
                        <a:lnSpc>
                          <a:spcPts val="2210"/>
                        </a:lnSpc>
                        <a:spcBef>
                          <a:spcPts val="0"/>
                        </a:spcBef>
                        <a:buNone/>
                      </a:pPr>
                      <a:r>
                        <a:rPr lang="en-US" sz="1700" b="true">
                          <a:solidFill>
                            <a:srgbClr val="111111"/>
                          </a:solidFill>
                          <a:latin typeface="Nunito Bold"/>
                          <a:ea typeface="Nunito Bold"/>
                          <a:cs typeface="Nunito Bold"/>
                          <a:sym typeface="Nunito Bold"/>
                        </a:rPr>
                        <a:t>DyHuCoG vs NCF</a:t>
                      </a:r>
                    </a:p>
                  </a:txBody>
                  <a:tcPr marL="82296" marR="82296"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c>
                  <a:txBody>
                    <a:bodyPr anchor="ctr" rtlCol="false" lIns="0" tIns="0" rIns="0" bIns="0" wrap="square"/>
                    <a:lstStyle/>
                    <a:p>
                      <a:pPr algn="ctr">
                        <a:lnSpc>
                          <a:spcPts val="2210"/>
                        </a:lnSpc>
                        <a:spcBef>
                          <a:spcPts val="0"/>
                        </a:spcBef>
                        <a:buNone/>
                      </a:pPr>
                      <a:r>
                        <a:rPr lang="en-US" sz="1700" b="true">
                          <a:solidFill>
                            <a:srgbClr val="111111"/>
                          </a:solidFill>
                          <a:latin typeface="Nunito Semi-Bold"/>
                          <a:ea typeface="Nunito Semi-Bold"/>
                          <a:cs typeface="Nunito Semi-Bold"/>
                          <a:sym typeface="Nunito Semi-Bold"/>
                        </a:rPr>
                        <a:t>311.13</a:t>
                      </a:r>
                    </a:p>
                  </a:txBody>
                  <a:tcPr marL="82296" marR="82296"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c>
                  <a:txBody>
                    <a:bodyPr anchor="ctr" rtlCol="false" lIns="0" tIns="0" rIns="0" bIns="0" wrap="square"/>
                    <a:lstStyle/>
                    <a:p>
                      <a:pPr algn="ctr">
                        <a:lnSpc>
                          <a:spcPts val="2210"/>
                        </a:lnSpc>
                        <a:spcBef>
                          <a:spcPts val="0"/>
                        </a:spcBef>
                        <a:buNone/>
                      </a:pPr>
                      <a:r>
                        <a:rPr lang="en-US" sz="1700" b="true">
                          <a:solidFill>
                            <a:srgbClr val="111111"/>
                          </a:solidFill>
                          <a:latin typeface="Nunito Semi-Bold"/>
                          <a:ea typeface="Nunito Semi-Bold"/>
                          <a:cs typeface="Nunito Semi-Bold"/>
                          <a:sym typeface="Nunito Semi-Bold"/>
                        </a:rPr>
                        <a:t>&lt; 10</a:t>
                      </a:r>
                      <a:r>
                        <a:rPr lang="en-US" sz="1700" b="true" baseline="30000">
                          <a:solidFill>
                            <a:srgbClr val="111111"/>
                          </a:solidFill>
                          <a:latin typeface="Nunito Semi-Bold"/>
                          <a:ea typeface="Nunito Semi-Bold"/>
                          <a:cs typeface="Nunito Semi-Bold"/>
                          <a:sym typeface="Nunito Semi-Bold"/>
                        </a:rPr>
                        <a:t>−300</a:t>
                      </a:r>
                    </a:p>
                  </a:txBody>
                  <a:tcPr marL="82296" marR="82296"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c>
                  <a:txBody>
                    <a:bodyPr anchor="ctr" rtlCol="false" lIns="0" tIns="0" rIns="0" bIns="0" wrap="square"/>
                    <a:lstStyle/>
                    <a:p>
                      <a:pPr algn="ctr">
                        <a:lnSpc>
                          <a:spcPts val="2210"/>
                        </a:lnSpc>
                        <a:spcBef>
                          <a:spcPts val="0"/>
                        </a:spcBef>
                        <a:buNone/>
                      </a:pPr>
                      <a:r>
                        <a:rPr lang="en-US" sz="1700" b="true">
                          <a:solidFill>
                            <a:srgbClr val="111111"/>
                          </a:solidFill>
                          <a:latin typeface="Nunito Semi-Bold"/>
                          <a:ea typeface="Nunito Semi-Bold"/>
                          <a:cs typeface="Nunito Semi-Bold"/>
                          <a:sym typeface="Nunito Semi-Bold"/>
                        </a:rPr>
                        <a:t>8.95</a:t>
                      </a:r>
                    </a:p>
                  </a:txBody>
                  <a:tcPr marL="82296" marR="82296"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c>
                  <a:txBody>
                    <a:bodyPr anchor="ctr" rtlCol="false" lIns="0" tIns="0" rIns="0" bIns="0" wrap="square"/>
                    <a:lstStyle/>
                    <a:p>
                      <a:pPr algn="ctr">
                        <a:lnSpc>
                          <a:spcPts val="2210"/>
                        </a:lnSpc>
                        <a:spcBef>
                          <a:spcPts val="0"/>
                        </a:spcBef>
                        <a:buNone/>
                      </a:pPr>
                      <a:r>
                        <a:rPr lang="en-US" sz="1700" b="true">
                          <a:solidFill>
                            <a:srgbClr val="111111"/>
                          </a:solidFill>
                          <a:latin typeface="Nunito Semi-Bold"/>
                          <a:ea typeface="Nunito Semi-Bold"/>
                          <a:cs typeface="Nunito Semi-Bold"/>
                          <a:sym typeface="Nunito Semi-Bold"/>
                        </a:rPr>
                        <a:t>0.0167</a:t>
                      </a:r>
                    </a:p>
                  </a:txBody>
                  <a:tcPr marL="82296" marR="82296"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c>
                  <a:txBody>
                    <a:bodyPr anchor="ctr" rtlCol="false" lIns="0" tIns="0" rIns="0" bIns="0" wrap="square"/>
                    <a:lstStyle/>
                    <a:p>
                      <a:pPr algn="ctr">
                        <a:lnSpc>
                          <a:spcPts val="2210"/>
                        </a:lnSpc>
                        <a:spcBef>
                          <a:spcPts val="0"/>
                        </a:spcBef>
                        <a:buNone/>
                      </a:pPr>
                      <a:r>
                        <a:rPr lang="en-US" sz="1700" b="true">
                          <a:solidFill>
                            <a:srgbClr val="111111"/>
                          </a:solidFill>
                          <a:latin typeface="Nunito Semi-Bold"/>
                          <a:ea typeface="Nunito Semi-Bold"/>
                          <a:cs typeface="Nunito Semi-Bold"/>
                          <a:sym typeface="Nunito Semi-Bold"/>
                        </a:rPr>
                        <a:t>significant</a:t>
                      </a:r>
                    </a:p>
                  </a:txBody>
                  <a:tcPr marL="82296" marR="82296"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r>
              <a:tr h="566928">
                <a:tc>
                  <a:txBody>
                    <a:bodyPr anchor="ctr" rtlCol="false" lIns="0" tIns="0" rIns="0" bIns="0" wrap="square"/>
                    <a:lstStyle/>
                    <a:p>
                      <a:pPr algn="l">
                        <a:lnSpc>
                          <a:spcPts val="2210"/>
                        </a:lnSpc>
                        <a:spcBef>
                          <a:spcPts val="0"/>
                        </a:spcBef>
                        <a:buNone/>
                      </a:pPr>
                      <a:r>
                        <a:rPr lang="en-US" sz="1700" b="true">
                          <a:solidFill>
                            <a:srgbClr val="111111"/>
                          </a:solidFill>
                          <a:latin typeface="Nunito Bold"/>
                          <a:ea typeface="Nunito Bold"/>
                          <a:cs typeface="Nunito Bold"/>
                          <a:sym typeface="Nunito Bold"/>
                        </a:rPr>
                        <a:t>DyHuCoG vs MF</a:t>
                      </a:r>
                    </a:p>
                  </a:txBody>
                  <a:tcPr marL="82296" marR="82296"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6ECDF"/>
                    </a:solidFill>
                  </a:tcPr>
                </a:tc>
                <a:tc>
                  <a:txBody>
                    <a:bodyPr anchor="ctr" rtlCol="false" lIns="0" tIns="0" rIns="0" bIns="0" wrap="square"/>
                    <a:lstStyle/>
                    <a:p>
                      <a:pPr algn="ctr">
                        <a:lnSpc>
                          <a:spcPts val="2210"/>
                        </a:lnSpc>
                        <a:spcBef>
                          <a:spcPts val="0"/>
                        </a:spcBef>
                        <a:buNone/>
                      </a:pPr>
                      <a:r>
                        <a:rPr lang="en-US" sz="1700" b="true">
                          <a:solidFill>
                            <a:srgbClr val="111111"/>
                          </a:solidFill>
                          <a:latin typeface="Nunito Semi-Bold"/>
                          <a:ea typeface="Nunito Semi-Bold"/>
                          <a:cs typeface="Nunito Semi-Bold"/>
                          <a:sym typeface="Nunito Semi-Bold"/>
                        </a:rPr>
                        <a:t>341.76</a:t>
                      </a:r>
                    </a:p>
                  </a:txBody>
                  <a:tcPr marL="82296" marR="82296"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6ECDF"/>
                    </a:solidFill>
                  </a:tcPr>
                </a:tc>
                <a:tc>
                  <a:txBody>
                    <a:bodyPr anchor="ctr" rtlCol="false" lIns="0" tIns="0" rIns="0" bIns="0" wrap="square"/>
                    <a:lstStyle/>
                    <a:p>
                      <a:pPr algn="ctr">
                        <a:lnSpc>
                          <a:spcPts val="2210"/>
                        </a:lnSpc>
                        <a:spcBef>
                          <a:spcPts val="0"/>
                        </a:spcBef>
                        <a:buNone/>
                      </a:pPr>
                      <a:r>
                        <a:rPr lang="en-US" sz="1700" b="true">
                          <a:solidFill>
                            <a:srgbClr val="111111"/>
                          </a:solidFill>
                          <a:latin typeface="Nunito Semi-Bold"/>
                          <a:ea typeface="Nunito Semi-Bold"/>
                          <a:cs typeface="Nunito Semi-Bold"/>
                          <a:sym typeface="Nunito Semi-Bold"/>
                        </a:rPr>
                        <a:t>&lt; 10</a:t>
                      </a:r>
                      <a:r>
                        <a:rPr lang="en-US" sz="1700" b="true" baseline="30000">
                          <a:solidFill>
                            <a:srgbClr val="111111"/>
                          </a:solidFill>
                          <a:latin typeface="Nunito Semi-Bold"/>
                          <a:ea typeface="Nunito Semi-Bold"/>
                          <a:cs typeface="Nunito Semi-Bold"/>
                          <a:sym typeface="Nunito Semi-Bold"/>
                        </a:rPr>
                        <a:t>−300</a:t>
                      </a:r>
                    </a:p>
                  </a:txBody>
                  <a:tcPr marL="82296" marR="82296"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6ECDF"/>
                    </a:solidFill>
                  </a:tcPr>
                </a:tc>
                <a:tc>
                  <a:txBody>
                    <a:bodyPr anchor="ctr" rtlCol="false" lIns="0" tIns="0" rIns="0" bIns="0" wrap="square"/>
                    <a:lstStyle/>
                    <a:p>
                      <a:pPr algn="ctr">
                        <a:lnSpc>
                          <a:spcPts val="2210"/>
                        </a:lnSpc>
                        <a:spcBef>
                          <a:spcPts val="0"/>
                        </a:spcBef>
                        <a:buNone/>
                      </a:pPr>
                      <a:r>
                        <a:rPr lang="en-US" sz="1700" b="true">
                          <a:solidFill>
                            <a:srgbClr val="111111"/>
                          </a:solidFill>
                          <a:latin typeface="Nunito Semi-Bold"/>
                          <a:ea typeface="Nunito Semi-Bold"/>
                          <a:cs typeface="Nunito Semi-Bold"/>
                          <a:sym typeface="Nunito Semi-Bold"/>
                        </a:rPr>
                        <a:t>9.83</a:t>
                      </a:r>
                    </a:p>
                  </a:txBody>
                  <a:tcPr marL="82296" marR="82296"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6ECDF"/>
                    </a:solidFill>
                  </a:tcPr>
                </a:tc>
                <a:tc>
                  <a:txBody>
                    <a:bodyPr anchor="ctr" rtlCol="false" lIns="0" tIns="0" rIns="0" bIns="0" wrap="square"/>
                    <a:lstStyle/>
                    <a:p>
                      <a:pPr algn="ctr">
                        <a:lnSpc>
                          <a:spcPts val="2210"/>
                        </a:lnSpc>
                        <a:spcBef>
                          <a:spcPts val="0"/>
                        </a:spcBef>
                        <a:buNone/>
                      </a:pPr>
                      <a:r>
                        <a:rPr lang="en-US" sz="1700" b="true">
                          <a:solidFill>
                            <a:srgbClr val="111111"/>
                          </a:solidFill>
                          <a:latin typeface="Nunito Semi-Bold"/>
                          <a:ea typeface="Nunito Semi-Bold"/>
                          <a:cs typeface="Nunito Semi-Bold"/>
                          <a:sym typeface="Nunito Semi-Bold"/>
                        </a:rPr>
                        <a:t>0.0250</a:t>
                      </a:r>
                    </a:p>
                  </a:txBody>
                  <a:tcPr marL="82296" marR="82296"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6ECDF"/>
                    </a:solidFill>
                  </a:tcPr>
                </a:tc>
                <a:tc>
                  <a:txBody>
                    <a:bodyPr anchor="ctr" rtlCol="false" lIns="0" tIns="0" rIns="0" bIns="0" wrap="square"/>
                    <a:lstStyle/>
                    <a:p>
                      <a:pPr algn="ctr">
                        <a:lnSpc>
                          <a:spcPts val="2210"/>
                        </a:lnSpc>
                        <a:spcBef>
                          <a:spcPts val="0"/>
                        </a:spcBef>
                        <a:buNone/>
                      </a:pPr>
                      <a:r>
                        <a:rPr lang="en-US" sz="1700" b="true">
                          <a:solidFill>
                            <a:srgbClr val="111111"/>
                          </a:solidFill>
                          <a:latin typeface="Nunito Semi-Bold"/>
                          <a:ea typeface="Nunito Semi-Bold"/>
                          <a:cs typeface="Nunito Semi-Bold"/>
                          <a:sym typeface="Nunito Semi-Bold"/>
                        </a:rPr>
                        <a:t>significant</a:t>
                      </a:r>
                    </a:p>
                  </a:txBody>
                  <a:tcPr marL="82296" marR="82296"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6ECDF"/>
                    </a:solidFill>
                  </a:tcPr>
                </a:tc>
              </a:tr>
            </a:tbl>
          </a:graphicData>
        </a:graphic>
      </p:graphicFrame>
      <p:sp>
        <p:nvSpPr>
          <p:cNvPr id="8" name="Rounded Rectangle 7"/>
          <p:cNvSpPr/>
          <p:nvPr/>
        </p:nvSpPr>
        <p:spPr>
          <a:xfrm>
            <a:off x="1028700" y="7551674"/>
            <a:ext cx="7932420" cy="1665478"/>
          </a:xfrm>
          <a:prstGeom prst="roundRect">
            <a:avLst>
              <a:gd name="adj" fmla="val 18667"/>
            </a:avLst>
          </a:prstGeom>
          <a:solidFill>
            <a:srgbClr val="F6ECDF"/>
          </a:solidFill>
          <a:ln>
            <a:noFill/>
          </a:ln>
        </p:spPr>
        <p:txBody>
          <a:bodyPr anchor="ctr" rtlCol="false" lIns="0" tIns="0" rIns="0" bIns="0" wrap="square"/>
          <a:lstStyle/>
          <a:p>
            <a:endParaRPr lang="en-US" sz="1800"/>
          </a:p>
        </p:txBody>
      </p:sp>
      <p:sp>
        <p:nvSpPr>
          <p:cNvPr id="9" name="Rounded Rectangle 8"/>
          <p:cNvSpPr/>
          <p:nvPr/>
        </p:nvSpPr>
        <p:spPr>
          <a:xfrm>
            <a:off x="1485900" y="7313930"/>
            <a:ext cx="2585068" cy="438912"/>
          </a:xfrm>
          <a:prstGeom prst="roundRect">
            <a:avLst>
              <a:gd name="adj" fmla="val 50000"/>
            </a:avLst>
          </a:prstGeom>
          <a:solidFill>
            <a:srgbClr val="4472C4"/>
          </a:solidFill>
          <a:ln w="28575">
            <a:solidFill>
              <a:srgbClr val="4472C4"/>
            </a:solidFill>
          </a:ln>
        </p:spPr>
        <p:txBody>
          <a:bodyPr anchor="ctr" rtlCol="false" lIns="45720" tIns="0" rIns="45720" bIns="0" wrap="square"/>
          <a:lstStyle/>
          <a:p>
            <a:pPr algn="ctr">
              <a:lnSpc>
                <a:spcPts val="2640"/>
              </a:lnSpc>
              <a:spcBef>
                <a:spcPts val="0"/>
              </a:spcBef>
              <a:buNone/>
            </a:pPr>
            <a:r>
              <a:rPr lang="en-US" sz="2200" b="true">
                <a:solidFill>
                  <a:srgbClr val="FFFFFF"/>
                </a:solidFill>
                <a:latin typeface="Nunito Bold"/>
                <a:ea typeface="Nunito Bold"/>
                <a:cs typeface="Nunito Bold"/>
                <a:sym typeface="Nunito Bold"/>
              </a:rPr>
              <a:t>How to read it</a:t>
            </a:r>
          </a:p>
        </p:txBody>
      </p:sp>
      <p:sp>
        <p:nvSpPr>
          <p:cNvPr id="10" name="TextBox 9"/>
          <p:cNvSpPr txBox="1"/>
          <p:nvPr/>
        </p:nvSpPr>
        <p:spPr>
          <a:xfrm>
            <a:off x="1485900" y="8100314"/>
            <a:ext cx="7063740" cy="933958"/>
          </a:xfrm>
          <a:prstGeom prst="rect">
            <a:avLst/>
          </a:prstGeom>
          <a:noFill/>
        </p:spPr>
        <p:txBody>
          <a:bodyPr anchor="t" rtlCol="false" lIns="0" tIns="0" rIns="0" bIns="0" wrap="square"/>
          <a:lstStyle/>
          <a:p>
            <a:pPr algn="l" marL="274320" indent="-274320">
              <a:lnSpc>
                <a:spcPts val="2173"/>
              </a:lnSpc>
              <a:spcBef>
                <a:spcPts val="0"/>
              </a:spcBef>
              <a:buClr>
                <a:srgbClr val="1F7A8C"/>
              </a:buClr>
              <a:buSzPct val="100000"/>
              <a:buFont typeface="Arial"/>
              <a:buChar char="•"/>
            </a:pPr>
            <a:r>
              <a:rPr lang="en-US" sz="1552" b="true">
                <a:solidFill>
                  <a:srgbClr val="111111"/>
                </a:solidFill>
                <a:latin typeface="Nunito Semi-Bold"/>
                <a:ea typeface="Nunito Semi-Bold"/>
                <a:cs typeface="Nunito Semi-Bold"/>
                <a:sym typeface="Nunito Semi-Bold"/>
              </a:rPr>
              <a:t>Paired t-test over </a:t>
            </a:r>
            <a:r>
              <a:rPr lang="en-US" sz="1552" b="true">
                <a:solidFill>
                  <a:srgbClr val="111111"/>
                </a:solidFill>
                <a:latin typeface="Nunito Bold"/>
                <a:ea typeface="Nunito Bold"/>
                <a:cs typeface="Nunito Bold"/>
                <a:sym typeface="Nunito Bold"/>
              </a:rPr>
              <a:t>6,040 users</a:t>
            </a:r>
            <a:r>
              <a:rPr lang="en-US" sz="1552" b="true">
                <a:solidFill>
                  <a:srgbClr val="111111"/>
                </a:solidFill>
                <a:latin typeface="Nunito Semi-Bold"/>
                <a:ea typeface="Nunito Semi-Bold"/>
                <a:cs typeface="Nunito Semi-Bold"/>
                <a:sym typeface="Nunito Semi-Bold"/>
              </a:rPr>
              <a:t> (df = 6,039); Holm–Bonferroni gives each of the six p-values its own threshold.</a:t>
            </a:r>
          </a:p>
          <a:p>
            <a:pPr algn="l" marL="274320" indent="-274320">
              <a:lnSpc>
                <a:spcPts val="2173"/>
              </a:lnSpc>
              <a:spcBef>
                <a:spcPts val="388"/>
              </a:spcBef>
              <a:buClr>
                <a:srgbClr val="1F7A8C"/>
              </a:buClr>
              <a:buSzPct val="100000"/>
              <a:buFont typeface="Arial"/>
              <a:buChar char="•"/>
            </a:pPr>
            <a:r>
              <a:rPr lang="en-US" sz="1552" b="true">
                <a:solidFill>
                  <a:srgbClr val="111111"/>
                </a:solidFill>
                <a:latin typeface="Nunito Semi-Bold"/>
                <a:ea typeface="Nunito Semi-Bold"/>
                <a:cs typeface="Nunito Semi-Bold"/>
                <a:sym typeface="Nunito Semi-Bold"/>
              </a:rPr>
              <a:t>Every p-value is far below its threshold; </a:t>
            </a:r>
            <a:r>
              <a:rPr lang="en-US" sz="1552" b="true">
                <a:solidFill>
                  <a:srgbClr val="111111"/>
                </a:solidFill>
                <a:latin typeface="Nunito Bold"/>
                <a:ea typeface="Nunito Bold"/>
                <a:cs typeface="Nunito Bold"/>
                <a:sym typeface="Nunito Bold"/>
              </a:rPr>
              <a:t>Wilcoxon</a:t>
            </a:r>
            <a:r>
              <a:rPr lang="en-US" sz="1552" b="true">
                <a:solidFill>
                  <a:srgbClr val="111111"/>
                </a:solidFill>
                <a:latin typeface="Nunito Semi-Bold"/>
                <a:ea typeface="Nunito Semi-Bold"/>
                <a:cs typeface="Nunito Semi-Bold"/>
                <a:sym typeface="Nunito Semi-Bold"/>
              </a:rPr>
              <a:t> agrees (p &lt; 0.001).</a:t>
            </a:r>
          </a:p>
        </p:txBody>
      </p:sp>
      <p:sp>
        <p:nvSpPr>
          <p:cNvPr id="11" name="Rounded Rectangle 10"/>
          <p:cNvSpPr/>
          <p:nvPr/>
        </p:nvSpPr>
        <p:spPr>
          <a:xfrm>
            <a:off x="9326880" y="7551674"/>
            <a:ext cx="7932420" cy="1665478"/>
          </a:xfrm>
          <a:prstGeom prst="roundRect">
            <a:avLst>
              <a:gd name="adj" fmla="val 18667"/>
            </a:avLst>
          </a:prstGeom>
          <a:solidFill>
            <a:srgbClr val="4472C4"/>
          </a:solidFill>
          <a:ln>
            <a:noFill/>
          </a:ln>
        </p:spPr>
        <p:txBody>
          <a:bodyPr anchor="ctr" rtlCol="false" lIns="0" tIns="0" rIns="0" bIns="0" wrap="square"/>
          <a:lstStyle/>
          <a:p>
            <a:endParaRPr lang="en-US" sz="1800"/>
          </a:p>
        </p:txBody>
      </p:sp>
      <p:sp>
        <p:nvSpPr>
          <p:cNvPr id="12" name="Rounded Rectangle 11"/>
          <p:cNvSpPr/>
          <p:nvPr/>
        </p:nvSpPr>
        <p:spPr>
          <a:xfrm>
            <a:off x="9784080" y="7313930"/>
            <a:ext cx="2026195" cy="438912"/>
          </a:xfrm>
          <a:prstGeom prst="roundRect">
            <a:avLst>
              <a:gd name="adj" fmla="val 50000"/>
            </a:avLst>
          </a:prstGeom>
          <a:solidFill>
            <a:srgbClr val="FFFFFF"/>
          </a:solidFill>
          <a:ln w="28575">
            <a:solidFill>
              <a:srgbClr val="FFFFFF"/>
            </a:solidFill>
          </a:ln>
        </p:spPr>
        <p:txBody>
          <a:bodyPr anchor="ctr" rtlCol="false" lIns="45720" tIns="0" rIns="45720" bIns="0" wrap="square"/>
          <a:lstStyle/>
          <a:p>
            <a:pPr algn="ctr">
              <a:lnSpc>
                <a:spcPts val="2640"/>
              </a:lnSpc>
              <a:spcBef>
                <a:spcPts val="0"/>
              </a:spcBef>
              <a:buNone/>
            </a:pPr>
            <a:r>
              <a:rPr lang="en-US" sz="2200" b="true">
                <a:solidFill>
                  <a:srgbClr val="4472C4"/>
                </a:solidFill>
                <a:latin typeface="Nunito Bold"/>
                <a:ea typeface="Nunito Bold"/>
                <a:cs typeface="Nunito Bold"/>
                <a:sym typeface="Nunito Bold"/>
              </a:rPr>
              <a:t>Effect size</a:t>
            </a:r>
          </a:p>
        </p:txBody>
      </p:sp>
      <p:sp>
        <p:nvSpPr>
          <p:cNvPr id="13" name="TextBox 12"/>
          <p:cNvSpPr txBox="1"/>
          <p:nvPr/>
        </p:nvSpPr>
        <p:spPr>
          <a:xfrm>
            <a:off x="9784080" y="8100314"/>
            <a:ext cx="7063740" cy="933958"/>
          </a:xfrm>
          <a:prstGeom prst="rect">
            <a:avLst/>
          </a:prstGeom>
          <a:noFill/>
        </p:spPr>
        <p:txBody>
          <a:bodyPr anchor="t" rtlCol="false" lIns="0" tIns="0" rIns="0" bIns="0" wrap="square"/>
          <a:lstStyle/>
          <a:p>
            <a:pPr algn="l" marL="274320" indent="-274320">
              <a:lnSpc>
                <a:spcPts val="2226"/>
              </a:lnSpc>
              <a:spcBef>
                <a:spcPts val="0"/>
              </a:spcBef>
              <a:buClr>
                <a:srgbClr val="ECC665"/>
              </a:buClr>
              <a:buSzPct val="100000"/>
              <a:buFont typeface="Arial"/>
              <a:buChar char="•"/>
            </a:pPr>
            <a:r>
              <a:rPr lang="en-US" sz="1504" b="true">
                <a:solidFill>
                  <a:srgbClr val="FFFFFF"/>
                </a:solidFill>
                <a:latin typeface="Nunito Semi-Bold"/>
                <a:ea typeface="Nunito Semi-Bold"/>
                <a:cs typeface="Nunito Semi-Bold"/>
                <a:sym typeface="Nunito Semi-Bold"/>
              </a:rPr>
              <a:t>Cohen's d</a:t>
            </a:r>
            <a:r>
              <a:rPr lang="en-US" sz="1504" b="true" baseline="-25000">
                <a:solidFill>
                  <a:srgbClr val="FFFFFF"/>
                </a:solidFill>
                <a:latin typeface="Nunito Semi-Bold"/>
                <a:ea typeface="Nunito Semi-Bold"/>
                <a:cs typeface="Nunito Semi-Bold"/>
                <a:sym typeface="Nunito Semi-Bold"/>
              </a:rPr>
              <a:t>z</a:t>
            </a:r>
            <a:r>
              <a:rPr lang="en-US" sz="1504" b="true">
                <a:solidFill>
                  <a:srgbClr val="FFFFFF"/>
                </a:solidFill>
                <a:latin typeface="Nunito Semi-Bold"/>
                <a:ea typeface="Nunito Semi-Bold"/>
                <a:cs typeface="Nunito Semi-Bold"/>
                <a:sym typeface="Nunito Semi-Bold"/>
              </a:rPr>
              <a:t> ≥ 1.33 everywhere: </a:t>
            </a:r>
            <a:r>
              <a:rPr lang="en-US" sz="1504" b="true">
                <a:solidFill>
                  <a:srgbClr val="FFFFFF"/>
                </a:solidFill>
                <a:latin typeface="Nunito Bold"/>
                <a:ea typeface="Nunito Bold"/>
                <a:cs typeface="Nunito Bold"/>
                <a:sym typeface="Nunito Bold"/>
              </a:rPr>
              <a:t>large</a:t>
            </a:r>
            <a:r>
              <a:rPr lang="en-US" sz="1504" b="true">
                <a:solidFill>
                  <a:srgbClr val="FFFFFF"/>
                </a:solidFill>
                <a:latin typeface="Nunito Semi-Bold"/>
                <a:ea typeface="Nunito Semi-Bold"/>
                <a:cs typeface="Nunito Semi-Bold"/>
                <a:sym typeface="Nunito Semi-Bold"/>
              </a:rPr>
              <a:t> (0.8) is exceeded even against the strongest baseline.</a:t>
            </a:r>
          </a:p>
          <a:p>
            <a:pPr algn="l" marL="274320" indent="-274320">
              <a:lnSpc>
                <a:spcPts val="2106"/>
              </a:lnSpc>
              <a:spcBef>
                <a:spcPts val="376"/>
              </a:spcBef>
              <a:buClr>
                <a:srgbClr val="ECC665"/>
              </a:buClr>
              <a:buSzPct val="100000"/>
              <a:buFont typeface="Arial"/>
              <a:buChar char="•"/>
            </a:pPr>
            <a:r>
              <a:rPr lang="en-US" sz="1504" b="true">
                <a:solidFill>
                  <a:srgbClr val="FFFFFF"/>
                </a:solidFill>
                <a:latin typeface="Nunito Semi-Bold"/>
                <a:ea typeface="Nunito Semi-Bold"/>
                <a:cs typeface="Nunito Semi-Bold"/>
                <a:sym typeface="Nunito Semi-Bold"/>
              </a:rPr>
              <a:t>The improvement is practically meaningful, not only statistically visible.</a:t>
            </a:r>
          </a:p>
        </p:txBody>
      </p:sp>
    </p:spTree>
  </p:cSld>
  <p:clrMapOvr>
    <a:masterClrMapping/>
  </p:clrMapOvr>
</p:sld>
</file>

<file path=ppt/slides/slide9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pic>
        <p:nvPicPr>
          <p:cNvPr id="2" name="Picture 1" descr="ensias_logo.jpg"/>
          <p:cNvPicPr>
            <a:picLocks noChangeAspect="1"/>
          </p:cNvPicPr>
          <p:nvPr/>
        </p:nvPicPr>
        <p:blipFill>
          <a:blip r:embed="rId2"/>
          <a:stretch>
            <a:fillRect/>
          </a:stretch>
        </p:blipFill>
        <p:spPr>
          <a:xfrm>
            <a:off x="1028700" y="9674352"/>
            <a:ext cx="542964" cy="384048"/>
          </a:xfrm>
          <a:prstGeom prst="rect">
            <a:avLst/>
          </a:prstGeom>
        </p:spPr>
      </p:pic>
      <p:sp>
        <p:nvSpPr>
          <p:cNvPr id="3" name="TextBox 2"/>
          <p:cNvSpPr txBox="1"/>
          <p:nvPr/>
        </p:nvSpPr>
        <p:spPr>
          <a:xfrm>
            <a:off x="1577340" y="9601200"/>
            <a:ext cx="14493240" cy="566928"/>
          </a:xfrm>
          <a:prstGeom prst="rect">
            <a:avLst/>
          </a:prstGeom>
          <a:noFill/>
        </p:spPr>
        <p:txBody>
          <a:bodyPr anchor="ctr" rtlCol="false" lIns="0" tIns="0" rIns="0" bIns="0" wrap="square"/>
          <a:lstStyle/>
          <a:p>
            <a:pPr algn="l">
              <a:lnSpc>
                <a:spcPts val="1200"/>
              </a:lnSpc>
              <a:spcBef>
                <a:spcPts val="0"/>
              </a:spcBef>
              <a:buNone/>
            </a:pPr>
            <a:r>
              <a:rPr lang="en-US" sz="1000" b="true">
                <a:solidFill>
                  <a:srgbClr val="8A8378"/>
                </a:solidFill>
                <a:latin typeface="Nunito Semi-Bold"/>
                <a:ea typeface="Nunito Semi-Bold"/>
                <a:cs typeface="Nunito Semi-Bold"/>
                <a:sym typeface="Nunito Semi-Bold"/>
              </a:rPr>
              <a:t>[3] Louhichi, M., Nesmaoui, R. &amp; Lazaar, M. DyHuCoG: A Dynamic Hypergraph Cooperative Game for Preference-aware Recommendation. IJIES 19(2), 887–902 (2026).   [8] Castro, J., Gómez, D. &amp; Tejada, J. Polynomial Calculation of the Shapley Value Based on Sampling. Computers &amp; Operations Research 36(5), 1726–1730 (2009).</a:t>
            </a:r>
          </a:p>
        </p:txBody>
      </p:sp>
      <p:sp>
        <p:nvSpPr>
          <p:cNvPr id="4" name="TextBox 3"/>
          <p:cNvSpPr txBox="1"/>
          <p:nvPr/>
        </p:nvSpPr>
        <p:spPr>
          <a:xfrm>
            <a:off x="16162020" y="9692640"/>
            <a:ext cx="1097280" cy="329184"/>
          </a:xfrm>
          <a:prstGeom prst="rect">
            <a:avLst/>
          </a:prstGeom>
          <a:noFill/>
        </p:spPr>
        <p:txBody>
          <a:bodyPr anchor="t" rtlCol="false" lIns="0" tIns="0" rIns="0" bIns="0" wrap="square"/>
          <a:lstStyle/>
          <a:p>
            <a:pPr algn="r">
              <a:lnSpc>
                <a:spcPts val="2200"/>
              </a:lnSpc>
              <a:spcBef>
                <a:spcPts val="0"/>
              </a:spcBef>
              <a:buNone/>
            </a:pPr>
            <a:r>
              <a:rPr lang="en-US" sz="1800" b="true">
                <a:solidFill>
                  <a:srgbClr val="111111"/>
                </a:solidFill>
                <a:latin typeface="Nunito Ultra-Bold"/>
                <a:ea typeface="Nunito Ultra-Bold"/>
                <a:cs typeface="Nunito Ultra-Bold"/>
                <a:sym typeface="Nunito Ultra-Bold"/>
              </a:rPr>
              <a:t>79</a:t>
            </a:r>
          </a:p>
        </p:txBody>
      </p:sp>
      <p:sp>
        <p:nvSpPr>
          <p:cNvPr id="5" name="TextBox 4"/>
          <p:cNvSpPr txBox="1"/>
          <p:nvPr/>
        </p:nvSpPr>
        <p:spPr>
          <a:xfrm>
            <a:off x="1028700" y="1389888"/>
            <a:ext cx="12938760" cy="329184"/>
          </a:xfrm>
          <a:prstGeom prst="rect">
            <a:avLst/>
          </a:prstGeom>
          <a:noFill/>
        </p:spPr>
        <p:txBody>
          <a:bodyPr anchor="t" rtlCol="false" lIns="0" tIns="0" rIns="0" bIns="0" wrap="square"/>
          <a:lstStyle/>
          <a:p>
            <a:pPr algn="l">
              <a:lnSpc>
                <a:spcPts val="2000"/>
              </a:lnSpc>
              <a:spcBef>
                <a:spcPts val="0"/>
              </a:spcBef>
              <a:buNone/>
            </a:pPr>
            <a:r>
              <a:rPr lang="en-US" sz="1500" b="true" spc="160">
                <a:solidFill>
                  <a:srgbClr val="1F7A8C"/>
                </a:solidFill>
                <a:latin typeface="Nunito Ultra-Bold"/>
                <a:ea typeface="Nunito Ultra-Bold"/>
                <a:cs typeface="Nunito Ultra-Bold"/>
                <a:sym typeface="Nunito Ultra-Bold"/>
              </a:rPr>
              <a:t>BACKUP</a:t>
            </a:r>
          </a:p>
        </p:txBody>
      </p:sp>
      <p:sp>
        <p:nvSpPr>
          <p:cNvPr id="6" name="TextBox 5"/>
          <p:cNvSpPr txBox="1"/>
          <p:nvPr/>
        </p:nvSpPr>
        <p:spPr>
          <a:xfrm>
            <a:off x="1028700" y="1719072"/>
            <a:ext cx="16230600" cy="730250"/>
          </a:xfrm>
          <a:prstGeom prst="rect">
            <a:avLst/>
          </a:prstGeom>
          <a:noFill/>
        </p:spPr>
        <p:txBody>
          <a:bodyPr anchor="t" rtlCol="false" lIns="0" tIns="0" rIns="0" bIns="0" wrap="square"/>
          <a:lstStyle/>
          <a:p>
            <a:pPr algn="l">
              <a:lnSpc>
                <a:spcPts val="5060"/>
              </a:lnSpc>
              <a:spcBef>
                <a:spcPts val="0"/>
              </a:spcBef>
              <a:buNone/>
            </a:pPr>
            <a:r>
              <a:rPr lang="en-US" sz="4600" b="true" spc="-230">
                <a:solidFill>
                  <a:srgbClr val="111111"/>
                </a:solidFill>
                <a:latin typeface="Roca Two Bold"/>
                <a:ea typeface="Roca Two Bold"/>
                <a:cs typeface="Roca Two Bold"/>
                <a:sym typeface="Roca Two Bold"/>
              </a:rPr>
              <a:t>Backup: Tables 7.3 and 7.4, Cost and Convergence</a:t>
            </a:r>
          </a:p>
        </p:txBody>
      </p:sp>
      <p:sp>
        <p:nvSpPr>
          <p:cNvPr id="7" name="TextBox 6"/>
          <p:cNvSpPr txBox="1"/>
          <p:nvPr/>
        </p:nvSpPr>
        <p:spPr>
          <a:xfrm>
            <a:off x="1028700" y="2897378"/>
            <a:ext cx="10241280" cy="320040"/>
          </a:xfrm>
          <a:prstGeom prst="rect">
            <a:avLst/>
          </a:prstGeom>
          <a:noFill/>
        </p:spPr>
        <p:txBody>
          <a:bodyPr anchor="t" rtlCol="false" lIns="0" tIns="0" rIns="0" bIns="0" wrap="square"/>
          <a:lstStyle/>
          <a:p>
            <a:pPr algn="l">
              <a:lnSpc>
                <a:spcPts val="1600"/>
              </a:lnSpc>
              <a:spcBef>
                <a:spcPts val="0"/>
              </a:spcBef>
              <a:buNone/>
            </a:pPr>
            <a:r>
              <a:rPr lang="en-US" sz="1300" b="true" spc="150">
                <a:solidFill>
                  <a:srgbClr val="1F7A8C"/>
                </a:solidFill>
                <a:latin typeface="Nunito Ultra-Bold"/>
                <a:ea typeface="Nunito Ultra-Bold"/>
                <a:cs typeface="Nunito Ultra-Bold"/>
                <a:sym typeface="Nunito Ultra-Bold"/>
              </a:rPr>
              <a:t>TABLE 7.3  ·  RUNTIME AND MEMORY</a:t>
            </a:r>
          </a:p>
        </p:txBody>
      </p:sp>
      <p:graphicFrame>
        <p:nvGraphicFramePr>
          <p:cNvPr id="8" name="Table 7"/>
          <p:cNvGraphicFramePr>
            <a:graphicFrameLocks noGrp="1"/>
          </p:cNvGraphicFramePr>
          <p:nvPr/>
        </p:nvGraphicFramePr>
        <p:xfrm>
          <a:off x="1028700" y="3263138"/>
          <a:ext cx="10241276" cy="3790188"/>
        </p:xfrm>
        <a:graphic>
          <a:graphicData uri="http://schemas.openxmlformats.org/drawingml/2006/table">
            <a:tbl>
              <a:tblPr firstRow="0" bandRow="0" firstCol="0" lastRow="0" lastCol="0" bandCol="0">
                <a:tableStyleId>{2D5ABB26-0587-4C30-8999-92F81FD0307C}</a:tableStyleId>
              </a:tblPr>
              <a:tblGrid>
                <a:gridCol w="1503307"/>
                <a:gridCol w="1597263"/>
                <a:gridCol w="1127480"/>
                <a:gridCol w="1127480"/>
                <a:gridCol w="1691220"/>
                <a:gridCol w="1127480"/>
                <a:gridCol w="1127480"/>
                <a:gridCol w="939566"/>
              </a:tblGrid>
              <a:tr h="589788">
                <a:tc>
                  <a:txBody>
                    <a:bodyPr anchor="ctr" rtlCol="false" lIns="0" tIns="0" rIns="0" bIns="0" wrap="square"/>
                    <a:lstStyle/>
                    <a:p>
                      <a:pPr algn="l">
                        <a:lnSpc>
                          <a:spcPts val="1690"/>
                        </a:lnSpc>
                        <a:spcBef>
                          <a:spcPts val="0"/>
                        </a:spcBef>
                        <a:buNone/>
                      </a:pPr>
                      <a:r>
                        <a:rPr lang="en-US" sz="1300" b="true">
                          <a:solidFill>
                            <a:srgbClr val="FFFFFF"/>
                          </a:solidFill>
                          <a:latin typeface="Nunito Bold"/>
                          <a:ea typeface="Nunito Bold"/>
                          <a:cs typeface="Nunito Bold"/>
                          <a:sym typeface="Nunito Bold"/>
                        </a:rPr>
                        <a:t>Model</a:t>
                      </a:r>
                    </a:p>
                  </a:txBody>
                  <a:tcPr marL="54864" marR="54864" marT="45720" marB="45720" anchor="ctr">
                    <a:lnL w="12700" cap="flat" cmpd="sng" algn="ctr">
                      <a:solidFill>
                        <a:srgbClr val="4472C4"/>
                      </a:solidFill>
                      <a:prstDash val="solid"/>
                    </a:lnL>
                    <a:lnR w="12700" cap="flat" cmpd="sng" algn="ctr">
                      <a:solidFill>
                        <a:srgbClr val="4472C4"/>
                      </a:solidFill>
                      <a:prstDash val="solid"/>
                    </a:lnR>
                    <a:lnT w="12700" cap="flat" cmpd="sng" algn="ctr">
                      <a:solidFill>
                        <a:srgbClr val="4472C4"/>
                      </a:solidFill>
                      <a:prstDash val="solid"/>
                    </a:lnT>
                    <a:lnB w="12700" cap="flat" cmpd="sng" algn="ctr">
                      <a:solidFill>
                        <a:srgbClr val="4472C4"/>
                      </a:solidFill>
                      <a:prstDash val="solid"/>
                    </a:lnB>
                    <a:solidFill>
                      <a:srgbClr val="4472C4"/>
                    </a:solidFill>
                  </a:tcPr>
                </a:tc>
                <a:tc>
                  <a:txBody>
                    <a:bodyPr anchor="ctr" rtlCol="false" lIns="0" tIns="0" rIns="0" bIns="0" wrap="square"/>
                    <a:lstStyle/>
                    <a:p>
                      <a:pPr algn="ctr">
                        <a:lnSpc>
                          <a:spcPts val="1690"/>
                        </a:lnSpc>
                        <a:spcBef>
                          <a:spcPts val="0"/>
                        </a:spcBef>
                        <a:buNone/>
                      </a:pPr>
                      <a:r>
                        <a:rPr lang="en-US" sz="1300" b="true">
                          <a:solidFill>
                            <a:srgbClr val="FFFFFF"/>
                          </a:solidFill>
                          <a:latin typeface="Nunito Bold"/>
                          <a:ea typeface="Nunito Bold"/>
                          <a:cs typeface="Nunito Bold"/>
                          <a:sym typeface="Nunito Bold"/>
                        </a:rPr>
                        <a:t>Train (s) ML-1M</a:t>
                      </a:r>
                    </a:p>
                  </a:txBody>
                  <a:tcPr marL="54864" marR="54864" marT="45720" marB="45720" anchor="ctr">
                    <a:lnL w="12700" cap="flat" cmpd="sng" algn="ctr">
                      <a:solidFill>
                        <a:srgbClr val="4472C4"/>
                      </a:solidFill>
                      <a:prstDash val="solid"/>
                    </a:lnL>
                    <a:lnR w="12700" cap="flat" cmpd="sng" algn="ctr">
                      <a:solidFill>
                        <a:srgbClr val="4472C4"/>
                      </a:solidFill>
                      <a:prstDash val="solid"/>
                    </a:lnR>
                    <a:lnT w="12700" cap="flat" cmpd="sng" algn="ctr">
                      <a:solidFill>
                        <a:srgbClr val="4472C4"/>
                      </a:solidFill>
                      <a:prstDash val="solid"/>
                    </a:lnT>
                    <a:lnB w="12700" cap="flat" cmpd="sng" algn="ctr">
                      <a:solidFill>
                        <a:srgbClr val="4472C4"/>
                      </a:solidFill>
                      <a:prstDash val="solid"/>
                    </a:lnB>
                    <a:solidFill>
                      <a:srgbClr val="4472C4"/>
                    </a:solidFill>
                  </a:tcPr>
                </a:tc>
                <a:tc>
                  <a:txBody>
                    <a:bodyPr anchor="ctr" rtlCol="false" lIns="0" tIns="0" rIns="0" bIns="0" wrap="square"/>
                    <a:lstStyle/>
                    <a:p>
                      <a:pPr algn="ctr">
                        <a:lnSpc>
                          <a:spcPts val="1690"/>
                        </a:lnSpc>
                        <a:spcBef>
                          <a:spcPts val="0"/>
                        </a:spcBef>
                        <a:buNone/>
                      </a:pPr>
                      <a:r>
                        <a:rPr lang="en-US" sz="1300" b="true">
                          <a:solidFill>
                            <a:srgbClr val="FFFFFF"/>
                          </a:solidFill>
                          <a:latin typeface="Nunito Bold"/>
                          <a:ea typeface="Nunito Bold"/>
                          <a:cs typeface="Nunito Bold"/>
                          <a:sym typeface="Nunito Bold"/>
                        </a:rPr>
                        <a:t>Infer (ms)</a:t>
                      </a:r>
                    </a:p>
                  </a:txBody>
                  <a:tcPr marL="54864" marR="54864" marT="45720" marB="45720" anchor="ctr">
                    <a:lnL w="12700" cap="flat" cmpd="sng" algn="ctr">
                      <a:solidFill>
                        <a:srgbClr val="4472C4"/>
                      </a:solidFill>
                      <a:prstDash val="solid"/>
                    </a:lnL>
                    <a:lnR w="12700" cap="flat" cmpd="sng" algn="ctr">
                      <a:solidFill>
                        <a:srgbClr val="4472C4"/>
                      </a:solidFill>
                      <a:prstDash val="solid"/>
                    </a:lnR>
                    <a:lnT w="12700" cap="flat" cmpd="sng" algn="ctr">
                      <a:solidFill>
                        <a:srgbClr val="4472C4"/>
                      </a:solidFill>
                      <a:prstDash val="solid"/>
                    </a:lnT>
                    <a:lnB w="12700" cap="flat" cmpd="sng" algn="ctr">
                      <a:solidFill>
                        <a:srgbClr val="4472C4"/>
                      </a:solidFill>
                      <a:prstDash val="solid"/>
                    </a:lnB>
                    <a:solidFill>
                      <a:srgbClr val="4472C4"/>
                    </a:solidFill>
                  </a:tcPr>
                </a:tc>
                <a:tc>
                  <a:txBody>
                    <a:bodyPr anchor="ctr" rtlCol="false" lIns="0" tIns="0" rIns="0" bIns="0" wrap="square"/>
                    <a:lstStyle/>
                    <a:p>
                      <a:pPr algn="ctr">
                        <a:lnSpc>
                          <a:spcPts val="1690"/>
                        </a:lnSpc>
                        <a:spcBef>
                          <a:spcPts val="0"/>
                        </a:spcBef>
                        <a:buNone/>
                      </a:pPr>
                      <a:r>
                        <a:rPr lang="en-US" sz="1300" b="true">
                          <a:solidFill>
                            <a:srgbClr val="FFFFFF"/>
                          </a:solidFill>
                          <a:latin typeface="Nunito Bold"/>
                          <a:ea typeface="Nunito Bold"/>
                          <a:cs typeface="Nunito Bold"/>
                          <a:sym typeface="Nunito Bold"/>
                        </a:rPr>
                        <a:t>Mem (GB)</a:t>
                      </a:r>
                    </a:p>
                  </a:txBody>
                  <a:tcPr marL="54864" marR="54864" marT="45720" marB="45720" anchor="ctr">
                    <a:lnL w="12700" cap="flat" cmpd="sng" algn="ctr">
                      <a:solidFill>
                        <a:srgbClr val="4472C4"/>
                      </a:solidFill>
                      <a:prstDash val="solid"/>
                    </a:lnL>
                    <a:lnR w="12700" cap="flat" cmpd="sng" algn="ctr">
                      <a:solidFill>
                        <a:srgbClr val="4472C4"/>
                      </a:solidFill>
                      <a:prstDash val="solid"/>
                    </a:lnR>
                    <a:lnT w="12700" cap="flat" cmpd="sng" algn="ctr">
                      <a:solidFill>
                        <a:srgbClr val="4472C4"/>
                      </a:solidFill>
                      <a:prstDash val="solid"/>
                    </a:lnT>
                    <a:lnB w="12700" cap="flat" cmpd="sng" algn="ctr">
                      <a:solidFill>
                        <a:srgbClr val="4472C4"/>
                      </a:solidFill>
                      <a:prstDash val="solid"/>
                    </a:lnB>
                    <a:solidFill>
                      <a:srgbClr val="4472C4"/>
                    </a:solidFill>
                  </a:tcPr>
                </a:tc>
                <a:tc>
                  <a:txBody>
                    <a:bodyPr anchor="ctr" rtlCol="false" lIns="0" tIns="0" rIns="0" bIns="0" wrap="square"/>
                    <a:lstStyle/>
                    <a:p>
                      <a:pPr algn="ctr">
                        <a:lnSpc>
                          <a:spcPts val="1690"/>
                        </a:lnSpc>
                        <a:spcBef>
                          <a:spcPts val="0"/>
                        </a:spcBef>
                        <a:buNone/>
                      </a:pPr>
                      <a:r>
                        <a:rPr lang="en-US" sz="1300" b="true">
                          <a:solidFill>
                            <a:srgbClr val="FFFFFF"/>
                          </a:solidFill>
                          <a:latin typeface="Nunito Bold"/>
                          <a:ea typeface="Nunito Bold"/>
                          <a:cs typeface="Nunito Bold"/>
                          <a:sym typeface="Nunito Bold"/>
                        </a:rPr>
                        <a:t>Train (s) Amazon</a:t>
                      </a:r>
                    </a:p>
                  </a:txBody>
                  <a:tcPr marL="54864" marR="54864" marT="45720" marB="45720" anchor="ctr">
                    <a:lnL w="12700" cap="flat" cmpd="sng" algn="ctr">
                      <a:solidFill>
                        <a:srgbClr val="4472C4"/>
                      </a:solidFill>
                      <a:prstDash val="solid"/>
                    </a:lnL>
                    <a:lnR w="12700" cap="flat" cmpd="sng" algn="ctr">
                      <a:solidFill>
                        <a:srgbClr val="4472C4"/>
                      </a:solidFill>
                      <a:prstDash val="solid"/>
                    </a:lnR>
                    <a:lnT w="12700" cap="flat" cmpd="sng" algn="ctr">
                      <a:solidFill>
                        <a:srgbClr val="4472C4"/>
                      </a:solidFill>
                      <a:prstDash val="solid"/>
                    </a:lnT>
                    <a:lnB w="12700" cap="flat" cmpd="sng" algn="ctr">
                      <a:solidFill>
                        <a:srgbClr val="4472C4"/>
                      </a:solidFill>
                      <a:prstDash val="solid"/>
                    </a:lnB>
                    <a:solidFill>
                      <a:srgbClr val="4472C4"/>
                    </a:solidFill>
                  </a:tcPr>
                </a:tc>
                <a:tc>
                  <a:txBody>
                    <a:bodyPr anchor="ctr" rtlCol="false" lIns="0" tIns="0" rIns="0" bIns="0" wrap="square"/>
                    <a:lstStyle/>
                    <a:p>
                      <a:pPr algn="ctr">
                        <a:lnSpc>
                          <a:spcPts val="1690"/>
                        </a:lnSpc>
                        <a:spcBef>
                          <a:spcPts val="0"/>
                        </a:spcBef>
                        <a:buNone/>
                      </a:pPr>
                      <a:r>
                        <a:rPr lang="en-US" sz="1300" b="true">
                          <a:solidFill>
                            <a:srgbClr val="FFFFFF"/>
                          </a:solidFill>
                          <a:latin typeface="Nunito Bold"/>
                          <a:ea typeface="Nunito Bold"/>
                          <a:cs typeface="Nunito Bold"/>
                          <a:sym typeface="Nunito Bold"/>
                        </a:rPr>
                        <a:t>Infer (ms)</a:t>
                      </a:r>
                    </a:p>
                  </a:txBody>
                  <a:tcPr marL="54864" marR="54864" marT="45720" marB="45720" anchor="ctr">
                    <a:lnL w="12700" cap="flat" cmpd="sng" algn="ctr">
                      <a:solidFill>
                        <a:srgbClr val="4472C4"/>
                      </a:solidFill>
                      <a:prstDash val="solid"/>
                    </a:lnL>
                    <a:lnR w="12700" cap="flat" cmpd="sng" algn="ctr">
                      <a:solidFill>
                        <a:srgbClr val="4472C4"/>
                      </a:solidFill>
                      <a:prstDash val="solid"/>
                    </a:lnR>
                    <a:lnT w="12700" cap="flat" cmpd="sng" algn="ctr">
                      <a:solidFill>
                        <a:srgbClr val="4472C4"/>
                      </a:solidFill>
                      <a:prstDash val="solid"/>
                    </a:lnT>
                    <a:lnB w="12700" cap="flat" cmpd="sng" algn="ctr">
                      <a:solidFill>
                        <a:srgbClr val="4472C4"/>
                      </a:solidFill>
                      <a:prstDash val="solid"/>
                    </a:lnB>
                    <a:solidFill>
                      <a:srgbClr val="4472C4"/>
                    </a:solidFill>
                  </a:tcPr>
                </a:tc>
                <a:tc>
                  <a:txBody>
                    <a:bodyPr anchor="ctr" rtlCol="false" lIns="0" tIns="0" rIns="0" bIns="0" wrap="square"/>
                    <a:lstStyle/>
                    <a:p>
                      <a:pPr algn="ctr">
                        <a:lnSpc>
                          <a:spcPts val="1690"/>
                        </a:lnSpc>
                        <a:spcBef>
                          <a:spcPts val="0"/>
                        </a:spcBef>
                        <a:buNone/>
                      </a:pPr>
                      <a:r>
                        <a:rPr lang="en-US" sz="1300" b="true">
                          <a:solidFill>
                            <a:srgbClr val="FFFFFF"/>
                          </a:solidFill>
                          <a:latin typeface="Nunito Bold"/>
                          <a:ea typeface="Nunito Bold"/>
                          <a:cs typeface="Nunito Bold"/>
                          <a:sym typeface="Nunito Bold"/>
                        </a:rPr>
                        <a:t>Mem (GB)</a:t>
                      </a:r>
                    </a:p>
                  </a:txBody>
                  <a:tcPr marL="54864" marR="54864" marT="45720" marB="45720" anchor="ctr">
                    <a:lnL w="12700" cap="flat" cmpd="sng" algn="ctr">
                      <a:solidFill>
                        <a:srgbClr val="4472C4"/>
                      </a:solidFill>
                      <a:prstDash val="solid"/>
                    </a:lnL>
                    <a:lnR w="12700" cap="flat" cmpd="sng" algn="ctr">
                      <a:solidFill>
                        <a:srgbClr val="4472C4"/>
                      </a:solidFill>
                      <a:prstDash val="solid"/>
                    </a:lnR>
                    <a:lnT w="12700" cap="flat" cmpd="sng" algn="ctr">
                      <a:solidFill>
                        <a:srgbClr val="4472C4"/>
                      </a:solidFill>
                      <a:prstDash val="solid"/>
                    </a:lnT>
                    <a:lnB w="12700" cap="flat" cmpd="sng" algn="ctr">
                      <a:solidFill>
                        <a:srgbClr val="4472C4"/>
                      </a:solidFill>
                      <a:prstDash val="solid"/>
                    </a:lnB>
                    <a:solidFill>
                      <a:srgbClr val="4472C4"/>
                    </a:solidFill>
                  </a:tcPr>
                </a:tc>
                <a:tc>
                  <a:txBody>
                    <a:bodyPr anchor="ctr" rtlCol="false" lIns="0" tIns="0" rIns="0" bIns="0" wrap="square"/>
                    <a:lstStyle/>
                    <a:p>
                      <a:pPr algn="ctr">
                        <a:lnSpc>
                          <a:spcPts val="1690"/>
                        </a:lnSpc>
                        <a:spcBef>
                          <a:spcPts val="0"/>
                        </a:spcBef>
                        <a:buNone/>
                      </a:pPr>
                      <a:r>
                        <a:rPr lang="en-US" sz="1300" b="true">
                          <a:solidFill>
                            <a:srgbClr val="FFFFFF"/>
                          </a:solidFill>
                          <a:latin typeface="Nunito Bold"/>
                          <a:ea typeface="Nunito Bold"/>
                          <a:cs typeface="Nunito Bold"/>
                          <a:sym typeface="Nunito Bold"/>
                        </a:rPr>
                        <a:t>× MF (ML-1M)</a:t>
                      </a:r>
                    </a:p>
                  </a:txBody>
                  <a:tcPr marL="54864" marR="54864" marT="45720" marB="45720" anchor="ctr">
                    <a:lnL w="12700" cap="flat" cmpd="sng" algn="ctr">
                      <a:solidFill>
                        <a:srgbClr val="4472C4"/>
                      </a:solidFill>
                      <a:prstDash val="solid"/>
                    </a:lnL>
                    <a:lnR w="12700" cap="flat" cmpd="sng" algn="ctr">
                      <a:solidFill>
                        <a:srgbClr val="4472C4"/>
                      </a:solidFill>
                      <a:prstDash val="solid"/>
                    </a:lnR>
                    <a:lnT w="12700" cap="flat" cmpd="sng" algn="ctr">
                      <a:solidFill>
                        <a:srgbClr val="4472C4"/>
                      </a:solidFill>
                      <a:prstDash val="solid"/>
                    </a:lnT>
                    <a:lnB w="12700" cap="flat" cmpd="sng" algn="ctr">
                      <a:solidFill>
                        <a:srgbClr val="4472C4"/>
                      </a:solidFill>
                      <a:prstDash val="solid"/>
                    </a:lnB>
                    <a:solidFill>
                      <a:srgbClr val="4472C4"/>
                    </a:solidFill>
                  </a:tcPr>
                </a:tc>
              </a:tr>
              <a:tr h="457200">
                <a:tc>
                  <a:txBody>
                    <a:bodyPr anchor="ctr" rtlCol="false" lIns="0" tIns="0" rIns="0" bIns="0" wrap="square"/>
                    <a:lstStyle/>
                    <a:p>
                      <a:pPr algn="l">
                        <a:lnSpc>
                          <a:spcPts val="1820"/>
                        </a:lnSpc>
                        <a:spcBef>
                          <a:spcPts val="0"/>
                        </a:spcBef>
                        <a:buNone/>
                      </a:pPr>
                      <a:r>
                        <a:rPr lang="en-US" sz="1400" b="true">
                          <a:solidFill>
                            <a:srgbClr val="111111"/>
                          </a:solidFill>
                          <a:latin typeface="Nunito Bold"/>
                          <a:ea typeface="Nunito Bold"/>
                          <a:cs typeface="Nunito Bold"/>
                          <a:sym typeface="Nunito Bold"/>
                        </a:rPr>
                        <a:t>MF</a:t>
                      </a:r>
                    </a:p>
                  </a:txBody>
                  <a:tcPr marL="54864" marR="54864"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c>
                  <a:txBody>
                    <a:bodyPr anchor="ctr" rtlCol="false" lIns="0" tIns="0" rIns="0" bIns="0" wrap="square"/>
                    <a:lstStyle/>
                    <a:p>
                      <a:pPr algn="ctr">
                        <a:lnSpc>
                          <a:spcPts val="1820"/>
                        </a:lnSpc>
                        <a:spcBef>
                          <a:spcPts val="0"/>
                        </a:spcBef>
                        <a:buNone/>
                      </a:pPr>
                      <a:r>
                        <a:rPr lang="en-US" sz="1400" b="true">
                          <a:solidFill>
                            <a:srgbClr val="111111"/>
                          </a:solidFill>
                          <a:latin typeface="Nunito Semi-Bold"/>
                          <a:ea typeface="Nunito Semi-Bold"/>
                          <a:cs typeface="Nunito Semi-Bold"/>
                          <a:sym typeface="Nunito Semi-Bold"/>
                        </a:rPr>
                        <a:t>485</a:t>
                      </a:r>
                    </a:p>
                  </a:txBody>
                  <a:tcPr marL="54864" marR="54864"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c>
                  <a:txBody>
                    <a:bodyPr anchor="ctr" rtlCol="false" lIns="0" tIns="0" rIns="0" bIns="0" wrap="square"/>
                    <a:lstStyle/>
                    <a:p>
                      <a:pPr algn="ctr">
                        <a:lnSpc>
                          <a:spcPts val="1820"/>
                        </a:lnSpc>
                        <a:spcBef>
                          <a:spcPts val="0"/>
                        </a:spcBef>
                        <a:buNone/>
                      </a:pPr>
                      <a:r>
                        <a:rPr lang="en-US" sz="1400" b="true">
                          <a:solidFill>
                            <a:srgbClr val="111111"/>
                          </a:solidFill>
                          <a:latin typeface="Nunito Semi-Bold"/>
                          <a:ea typeface="Nunito Semi-Bold"/>
                          <a:cs typeface="Nunito Semi-Bold"/>
                          <a:sym typeface="Nunito Semi-Bold"/>
                        </a:rPr>
                        <a:t>0.54</a:t>
                      </a:r>
                    </a:p>
                  </a:txBody>
                  <a:tcPr marL="54864" marR="54864"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c>
                  <a:txBody>
                    <a:bodyPr anchor="ctr" rtlCol="false" lIns="0" tIns="0" rIns="0" bIns="0" wrap="square"/>
                    <a:lstStyle/>
                    <a:p>
                      <a:pPr algn="ctr">
                        <a:lnSpc>
                          <a:spcPts val="1820"/>
                        </a:lnSpc>
                        <a:spcBef>
                          <a:spcPts val="0"/>
                        </a:spcBef>
                        <a:buNone/>
                      </a:pPr>
                      <a:r>
                        <a:rPr lang="en-US" sz="1400" b="true">
                          <a:solidFill>
                            <a:srgbClr val="111111"/>
                          </a:solidFill>
                          <a:latin typeface="Nunito Semi-Bold"/>
                          <a:ea typeface="Nunito Semi-Bold"/>
                          <a:cs typeface="Nunito Semi-Bold"/>
                          <a:sym typeface="Nunito Semi-Bold"/>
                        </a:rPr>
                        <a:t>2.1</a:t>
                      </a:r>
                    </a:p>
                  </a:txBody>
                  <a:tcPr marL="54864" marR="54864"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c>
                  <a:txBody>
                    <a:bodyPr anchor="ctr" rtlCol="false" lIns="0" tIns="0" rIns="0" bIns="0" wrap="square"/>
                    <a:lstStyle/>
                    <a:p>
                      <a:pPr algn="ctr">
                        <a:lnSpc>
                          <a:spcPts val="1820"/>
                        </a:lnSpc>
                        <a:spcBef>
                          <a:spcPts val="0"/>
                        </a:spcBef>
                        <a:buNone/>
                      </a:pPr>
                      <a:r>
                        <a:rPr lang="en-US" sz="1400" b="true">
                          <a:solidFill>
                            <a:srgbClr val="111111"/>
                          </a:solidFill>
                          <a:latin typeface="Nunito Semi-Bold"/>
                          <a:ea typeface="Nunito Semi-Bold"/>
                          <a:cs typeface="Nunito Semi-Bold"/>
                          <a:sym typeface="Nunito Semi-Bold"/>
                        </a:rPr>
                        <a:t>2,202</a:t>
                      </a:r>
                    </a:p>
                  </a:txBody>
                  <a:tcPr marL="54864" marR="54864"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c>
                  <a:txBody>
                    <a:bodyPr anchor="ctr" rtlCol="false" lIns="0" tIns="0" rIns="0" bIns="0" wrap="square"/>
                    <a:lstStyle/>
                    <a:p>
                      <a:pPr algn="ctr">
                        <a:lnSpc>
                          <a:spcPts val="1820"/>
                        </a:lnSpc>
                        <a:spcBef>
                          <a:spcPts val="0"/>
                        </a:spcBef>
                        <a:buNone/>
                      </a:pPr>
                      <a:r>
                        <a:rPr lang="en-US" sz="1400" b="true">
                          <a:solidFill>
                            <a:srgbClr val="111111"/>
                          </a:solidFill>
                          <a:latin typeface="Nunito Semi-Bold"/>
                          <a:ea typeface="Nunito Semi-Bold"/>
                          <a:cs typeface="Nunito Semi-Bold"/>
                          <a:sym typeface="Nunito Semi-Bold"/>
                        </a:rPr>
                        <a:t>2.46</a:t>
                      </a:r>
                    </a:p>
                  </a:txBody>
                  <a:tcPr marL="54864" marR="54864"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c>
                  <a:txBody>
                    <a:bodyPr anchor="ctr" rtlCol="false" lIns="0" tIns="0" rIns="0" bIns="0" wrap="square"/>
                    <a:lstStyle/>
                    <a:p>
                      <a:pPr algn="ctr">
                        <a:lnSpc>
                          <a:spcPts val="1820"/>
                        </a:lnSpc>
                        <a:spcBef>
                          <a:spcPts val="0"/>
                        </a:spcBef>
                        <a:buNone/>
                      </a:pPr>
                      <a:r>
                        <a:rPr lang="en-US" sz="1400" b="true">
                          <a:solidFill>
                            <a:srgbClr val="111111"/>
                          </a:solidFill>
                          <a:latin typeface="Nunito Semi-Bold"/>
                          <a:ea typeface="Nunito Semi-Bold"/>
                          <a:cs typeface="Nunito Semi-Bold"/>
                          <a:sym typeface="Nunito Semi-Bold"/>
                        </a:rPr>
                        <a:t>8.5</a:t>
                      </a:r>
                    </a:p>
                  </a:txBody>
                  <a:tcPr marL="54864" marR="54864"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c>
                  <a:txBody>
                    <a:bodyPr anchor="ctr" rtlCol="false" lIns="0" tIns="0" rIns="0" bIns="0" wrap="square"/>
                    <a:lstStyle/>
                    <a:p>
                      <a:pPr algn="ctr">
                        <a:lnSpc>
                          <a:spcPts val="1820"/>
                        </a:lnSpc>
                        <a:spcBef>
                          <a:spcPts val="0"/>
                        </a:spcBef>
                        <a:buNone/>
                      </a:pPr>
                      <a:r>
                        <a:rPr lang="en-US" sz="1400" b="true">
                          <a:solidFill>
                            <a:srgbClr val="111111"/>
                          </a:solidFill>
                          <a:latin typeface="Nunito Semi-Bold"/>
                          <a:ea typeface="Nunito Semi-Bold"/>
                          <a:cs typeface="Nunito Semi-Bold"/>
                          <a:sym typeface="Nunito Semi-Bold"/>
                        </a:rPr>
                        <a:t>1.00</a:t>
                      </a:r>
                    </a:p>
                  </a:txBody>
                  <a:tcPr marL="54864" marR="54864"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r>
              <a:tr h="457200">
                <a:tc>
                  <a:txBody>
                    <a:bodyPr anchor="ctr" rtlCol="false" lIns="0" tIns="0" rIns="0" bIns="0" wrap="square"/>
                    <a:lstStyle/>
                    <a:p>
                      <a:pPr algn="l">
                        <a:lnSpc>
                          <a:spcPts val="1820"/>
                        </a:lnSpc>
                        <a:spcBef>
                          <a:spcPts val="0"/>
                        </a:spcBef>
                        <a:buNone/>
                      </a:pPr>
                      <a:r>
                        <a:rPr lang="en-US" sz="1400" b="true">
                          <a:solidFill>
                            <a:srgbClr val="111111"/>
                          </a:solidFill>
                          <a:latin typeface="Nunito Bold"/>
                          <a:ea typeface="Nunito Bold"/>
                          <a:cs typeface="Nunito Bold"/>
                          <a:sym typeface="Nunito Bold"/>
                        </a:rPr>
                        <a:t>NCF</a:t>
                      </a:r>
                    </a:p>
                  </a:txBody>
                  <a:tcPr marL="54864" marR="54864"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6ECDF"/>
                    </a:solidFill>
                  </a:tcPr>
                </a:tc>
                <a:tc>
                  <a:txBody>
                    <a:bodyPr anchor="ctr" rtlCol="false" lIns="0" tIns="0" rIns="0" bIns="0" wrap="square"/>
                    <a:lstStyle/>
                    <a:p>
                      <a:pPr algn="ctr">
                        <a:lnSpc>
                          <a:spcPts val="1820"/>
                        </a:lnSpc>
                        <a:spcBef>
                          <a:spcPts val="0"/>
                        </a:spcBef>
                        <a:buNone/>
                      </a:pPr>
                      <a:r>
                        <a:rPr lang="en-US" sz="1400" b="true">
                          <a:solidFill>
                            <a:srgbClr val="111111"/>
                          </a:solidFill>
                          <a:latin typeface="Nunito Semi-Bold"/>
                          <a:ea typeface="Nunito Semi-Bold"/>
                          <a:cs typeface="Nunito Semi-Bold"/>
                          <a:sym typeface="Nunito Semi-Bold"/>
                        </a:rPr>
                        <a:t>675</a:t>
                      </a:r>
                    </a:p>
                  </a:txBody>
                  <a:tcPr marL="54864" marR="54864"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6ECDF"/>
                    </a:solidFill>
                  </a:tcPr>
                </a:tc>
                <a:tc>
                  <a:txBody>
                    <a:bodyPr anchor="ctr" rtlCol="false" lIns="0" tIns="0" rIns="0" bIns="0" wrap="square"/>
                    <a:lstStyle/>
                    <a:p>
                      <a:pPr algn="ctr">
                        <a:lnSpc>
                          <a:spcPts val="1820"/>
                        </a:lnSpc>
                        <a:spcBef>
                          <a:spcPts val="0"/>
                        </a:spcBef>
                        <a:buNone/>
                      </a:pPr>
                      <a:r>
                        <a:rPr lang="en-US" sz="1400" b="true">
                          <a:solidFill>
                            <a:srgbClr val="111111"/>
                          </a:solidFill>
                          <a:latin typeface="Nunito Semi-Bold"/>
                          <a:ea typeface="Nunito Semi-Bold"/>
                          <a:cs typeface="Nunito Semi-Bold"/>
                          <a:sym typeface="Nunito Semi-Bold"/>
                        </a:rPr>
                        <a:t>0.76</a:t>
                      </a:r>
                    </a:p>
                  </a:txBody>
                  <a:tcPr marL="54864" marR="54864"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6ECDF"/>
                    </a:solidFill>
                  </a:tcPr>
                </a:tc>
                <a:tc>
                  <a:txBody>
                    <a:bodyPr anchor="ctr" rtlCol="false" lIns="0" tIns="0" rIns="0" bIns="0" wrap="square"/>
                    <a:lstStyle/>
                    <a:p>
                      <a:pPr algn="ctr">
                        <a:lnSpc>
                          <a:spcPts val="1820"/>
                        </a:lnSpc>
                        <a:spcBef>
                          <a:spcPts val="0"/>
                        </a:spcBef>
                        <a:buNone/>
                      </a:pPr>
                      <a:r>
                        <a:rPr lang="en-US" sz="1400" b="true">
                          <a:solidFill>
                            <a:srgbClr val="111111"/>
                          </a:solidFill>
                          <a:latin typeface="Nunito Semi-Bold"/>
                          <a:ea typeface="Nunito Semi-Bold"/>
                          <a:cs typeface="Nunito Semi-Bold"/>
                          <a:sym typeface="Nunito Semi-Bold"/>
                        </a:rPr>
                        <a:t>2.7</a:t>
                      </a:r>
                    </a:p>
                  </a:txBody>
                  <a:tcPr marL="54864" marR="54864"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6ECDF"/>
                    </a:solidFill>
                  </a:tcPr>
                </a:tc>
                <a:tc>
                  <a:txBody>
                    <a:bodyPr anchor="ctr" rtlCol="false" lIns="0" tIns="0" rIns="0" bIns="0" wrap="square"/>
                    <a:lstStyle/>
                    <a:p>
                      <a:pPr algn="ctr">
                        <a:lnSpc>
                          <a:spcPts val="1820"/>
                        </a:lnSpc>
                        <a:spcBef>
                          <a:spcPts val="0"/>
                        </a:spcBef>
                        <a:buNone/>
                      </a:pPr>
                      <a:r>
                        <a:rPr lang="en-US" sz="1400" b="true">
                          <a:solidFill>
                            <a:srgbClr val="111111"/>
                          </a:solidFill>
                          <a:latin typeface="Nunito Semi-Bold"/>
                          <a:ea typeface="Nunito Semi-Bold"/>
                          <a:cs typeface="Nunito Semi-Bold"/>
                          <a:sym typeface="Nunito Semi-Bold"/>
                        </a:rPr>
                        <a:t>3,073</a:t>
                      </a:r>
                    </a:p>
                  </a:txBody>
                  <a:tcPr marL="54864" marR="54864"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6ECDF"/>
                    </a:solidFill>
                  </a:tcPr>
                </a:tc>
                <a:tc>
                  <a:txBody>
                    <a:bodyPr anchor="ctr" rtlCol="false" lIns="0" tIns="0" rIns="0" bIns="0" wrap="square"/>
                    <a:lstStyle/>
                    <a:p>
                      <a:pPr algn="ctr">
                        <a:lnSpc>
                          <a:spcPts val="1820"/>
                        </a:lnSpc>
                        <a:spcBef>
                          <a:spcPts val="0"/>
                        </a:spcBef>
                        <a:buNone/>
                      </a:pPr>
                      <a:r>
                        <a:rPr lang="en-US" sz="1400" b="true">
                          <a:solidFill>
                            <a:srgbClr val="111111"/>
                          </a:solidFill>
                          <a:latin typeface="Nunito Semi-Bold"/>
                          <a:ea typeface="Nunito Semi-Bold"/>
                          <a:cs typeface="Nunito Semi-Bold"/>
                          <a:sym typeface="Nunito Semi-Bold"/>
                        </a:rPr>
                        <a:t>3.42</a:t>
                      </a:r>
                    </a:p>
                  </a:txBody>
                  <a:tcPr marL="54864" marR="54864"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6ECDF"/>
                    </a:solidFill>
                  </a:tcPr>
                </a:tc>
                <a:tc>
                  <a:txBody>
                    <a:bodyPr anchor="ctr" rtlCol="false" lIns="0" tIns="0" rIns="0" bIns="0" wrap="square"/>
                    <a:lstStyle/>
                    <a:p>
                      <a:pPr algn="ctr">
                        <a:lnSpc>
                          <a:spcPts val="1820"/>
                        </a:lnSpc>
                        <a:spcBef>
                          <a:spcPts val="0"/>
                        </a:spcBef>
                        <a:buNone/>
                      </a:pPr>
                      <a:r>
                        <a:rPr lang="en-US" sz="1400" b="true">
                          <a:solidFill>
                            <a:srgbClr val="111111"/>
                          </a:solidFill>
                          <a:latin typeface="Nunito Semi-Bold"/>
                          <a:ea typeface="Nunito Semi-Bold"/>
                          <a:cs typeface="Nunito Semi-Bold"/>
                          <a:sym typeface="Nunito Semi-Bold"/>
                        </a:rPr>
                        <a:t>11.1</a:t>
                      </a:r>
                    </a:p>
                  </a:txBody>
                  <a:tcPr marL="54864" marR="54864"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6ECDF"/>
                    </a:solidFill>
                  </a:tcPr>
                </a:tc>
                <a:tc>
                  <a:txBody>
                    <a:bodyPr anchor="ctr" rtlCol="false" lIns="0" tIns="0" rIns="0" bIns="0" wrap="square"/>
                    <a:lstStyle/>
                    <a:p>
                      <a:pPr algn="ctr">
                        <a:lnSpc>
                          <a:spcPts val="1820"/>
                        </a:lnSpc>
                        <a:spcBef>
                          <a:spcPts val="0"/>
                        </a:spcBef>
                        <a:buNone/>
                      </a:pPr>
                      <a:r>
                        <a:rPr lang="en-US" sz="1400" b="true">
                          <a:solidFill>
                            <a:srgbClr val="111111"/>
                          </a:solidFill>
                          <a:latin typeface="Nunito Semi-Bold"/>
                          <a:ea typeface="Nunito Semi-Bold"/>
                          <a:cs typeface="Nunito Semi-Bold"/>
                          <a:sym typeface="Nunito Semi-Bold"/>
                        </a:rPr>
                        <a:t>1.41</a:t>
                      </a:r>
                    </a:p>
                  </a:txBody>
                  <a:tcPr marL="54864" marR="54864"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6ECDF"/>
                    </a:solidFill>
                  </a:tcPr>
                </a:tc>
              </a:tr>
              <a:tr h="457200">
                <a:tc>
                  <a:txBody>
                    <a:bodyPr anchor="ctr" rtlCol="false" lIns="0" tIns="0" rIns="0" bIns="0" wrap="square"/>
                    <a:lstStyle/>
                    <a:p>
                      <a:pPr algn="l">
                        <a:lnSpc>
                          <a:spcPts val="1820"/>
                        </a:lnSpc>
                        <a:spcBef>
                          <a:spcPts val="0"/>
                        </a:spcBef>
                        <a:buNone/>
                      </a:pPr>
                      <a:r>
                        <a:rPr lang="en-US" sz="1400" b="true">
                          <a:solidFill>
                            <a:srgbClr val="111111"/>
                          </a:solidFill>
                          <a:latin typeface="Nunito Bold"/>
                          <a:ea typeface="Nunito Bold"/>
                          <a:cs typeface="Nunito Bold"/>
                          <a:sym typeface="Nunito Bold"/>
                        </a:rPr>
                        <a:t>LightGCN</a:t>
                      </a:r>
                    </a:p>
                  </a:txBody>
                  <a:tcPr marL="54864" marR="54864"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c>
                  <a:txBody>
                    <a:bodyPr anchor="ctr" rtlCol="false" lIns="0" tIns="0" rIns="0" bIns="0" wrap="square"/>
                    <a:lstStyle/>
                    <a:p>
                      <a:pPr algn="ctr">
                        <a:lnSpc>
                          <a:spcPts val="1820"/>
                        </a:lnSpc>
                        <a:spcBef>
                          <a:spcPts val="0"/>
                        </a:spcBef>
                        <a:buNone/>
                      </a:pPr>
                      <a:r>
                        <a:rPr lang="en-US" sz="1400" b="true">
                          <a:solidFill>
                            <a:srgbClr val="111111"/>
                          </a:solidFill>
                          <a:latin typeface="Nunito Semi-Bold"/>
                          <a:ea typeface="Nunito Semi-Bold"/>
                          <a:cs typeface="Nunito Semi-Bold"/>
                          <a:sym typeface="Nunito Semi-Bold"/>
                        </a:rPr>
                        <a:t>786</a:t>
                      </a:r>
                    </a:p>
                  </a:txBody>
                  <a:tcPr marL="54864" marR="54864"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c>
                  <a:txBody>
                    <a:bodyPr anchor="ctr" rtlCol="false" lIns="0" tIns="0" rIns="0" bIns="0" wrap="square"/>
                    <a:lstStyle/>
                    <a:p>
                      <a:pPr algn="ctr">
                        <a:lnSpc>
                          <a:spcPts val="1820"/>
                        </a:lnSpc>
                        <a:spcBef>
                          <a:spcPts val="0"/>
                        </a:spcBef>
                        <a:buNone/>
                      </a:pPr>
                      <a:r>
                        <a:rPr lang="en-US" sz="1400" b="true">
                          <a:solidFill>
                            <a:srgbClr val="111111"/>
                          </a:solidFill>
                          <a:latin typeface="Nunito Semi-Bold"/>
                          <a:ea typeface="Nunito Semi-Bold"/>
                          <a:cs typeface="Nunito Semi-Bold"/>
                          <a:sym typeface="Nunito Semi-Bold"/>
                        </a:rPr>
                        <a:t>0.88</a:t>
                      </a:r>
                    </a:p>
                  </a:txBody>
                  <a:tcPr marL="54864" marR="54864"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c>
                  <a:txBody>
                    <a:bodyPr anchor="ctr" rtlCol="false" lIns="0" tIns="0" rIns="0" bIns="0" wrap="square"/>
                    <a:lstStyle/>
                    <a:p>
                      <a:pPr algn="ctr">
                        <a:lnSpc>
                          <a:spcPts val="1820"/>
                        </a:lnSpc>
                        <a:spcBef>
                          <a:spcPts val="0"/>
                        </a:spcBef>
                        <a:buNone/>
                      </a:pPr>
                      <a:r>
                        <a:rPr lang="en-US" sz="1400" b="true">
                          <a:solidFill>
                            <a:srgbClr val="111111"/>
                          </a:solidFill>
                          <a:latin typeface="Nunito Semi-Bold"/>
                          <a:ea typeface="Nunito Semi-Bold"/>
                          <a:cs typeface="Nunito Semi-Bold"/>
                          <a:sym typeface="Nunito Semi-Bold"/>
                        </a:rPr>
                        <a:t>3.2</a:t>
                      </a:r>
                    </a:p>
                  </a:txBody>
                  <a:tcPr marL="54864" marR="54864"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c>
                  <a:txBody>
                    <a:bodyPr anchor="ctr" rtlCol="false" lIns="0" tIns="0" rIns="0" bIns="0" wrap="square"/>
                    <a:lstStyle/>
                    <a:p>
                      <a:pPr algn="ctr">
                        <a:lnSpc>
                          <a:spcPts val="1820"/>
                        </a:lnSpc>
                        <a:spcBef>
                          <a:spcPts val="0"/>
                        </a:spcBef>
                        <a:buNone/>
                      </a:pPr>
                      <a:r>
                        <a:rPr lang="en-US" sz="1400" b="true">
                          <a:solidFill>
                            <a:srgbClr val="111111"/>
                          </a:solidFill>
                          <a:latin typeface="Nunito Semi-Bold"/>
                          <a:ea typeface="Nunito Semi-Bold"/>
                          <a:cs typeface="Nunito Semi-Bold"/>
                          <a:sym typeface="Nunito Semi-Bold"/>
                        </a:rPr>
                        <a:t>3,645</a:t>
                      </a:r>
                    </a:p>
                  </a:txBody>
                  <a:tcPr marL="54864" marR="54864"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c>
                  <a:txBody>
                    <a:bodyPr anchor="ctr" rtlCol="false" lIns="0" tIns="0" rIns="0" bIns="0" wrap="square"/>
                    <a:lstStyle/>
                    <a:p>
                      <a:pPr algn="ctr">
                        <a:lnSpc>
                          <a:spcPts val="1820"/>
                        </a:lnSpc>
                        <a:spcBef>
                          <a:spcPts val="0"/>
                        </a:spcBef>
                        <a:buNone/>
                      </a:pPr>
                      <a:r>
                        <a:rPr lang="en-US" sz="1400" b="true">
                          <a:solidFill>
                            <a:srgbClr val="111111"/>
                          </a:solidFill>
                          <a:latin typeface="Nunito Semi-Bold"/>
                          <a:ea typeface="Nunito Semi-Bold"/>
                          <a:cs typeface="Nunito Semi-Bold"/>
                          <a:sym typeface="Nunito Semi-Bold"/>
                        </a:rPr>
                        <a:t>4.05</a:t>
                      </a:r>
                    </a:p>
                  </a:txBody>
                  <a:tcPr marL="54864" marR="54864"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c>
                  <a:txBody>
                    <a:bodyPr anchor="ctr" rtlCol="false" lIns="0" tIns="0" rIns="0" bIns="0" wrap="square"/>
                    <a:lstStyle/>
                    <a:p>
                      <a:pPr algn="ctr">
                        <a:lnSpc>
                          <a:spcPts val="1820"/>
                        </a:lnSpc>
                        <a:spcBef>
                          <a:spcPts val="0"/>
                        </a:spcBef>
                        <a:buNone/>
                      </a:pPr>
                      <a:r>
                        <a:rPr lang="en-US" sz="1400" b="true">
                          <a:solidFill>
                            <a:srgbClr val="111111"/>
                          </a:solidFill>
                          <a:latin typeface="Nunito Semi-Bold"/>
                          <a:ea typeface="Nunito Semi-Bold"/>
                          <a:cs typeface="Nunito Semi-Bold"/>
                          <a:sym typeface="Nunito Semi-Bold"/>
                        </a:rPr>
                        <a:t>12.8</a:t>
                      </a:r>
                    </a:p>
                  </a:txBody>
                  <a:tcPr marL="54864" marR="54864"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c>
                  <a:txBody>
                    <a:bodyPr anchor="ctr" rtlCol="false" lIns="0" tIns="0" rIns="0" bIns="0" wrap="square"/>
                    <a:lstStyle/>
                    <a:p>
                      <a:pPr algn="ctr">
                        <a:lnSpc>
                          <a:spcPts val="1820"/>
                        </a:lnSpc>
                        <a:spcBef>
                          <a:spcPts val="0"/>
                        </a:spcBef>
                        <a:buNone/>
                      </a:pPr>
                      <a:r>
                        <a:rPr lang="en-US" sz="1400" b="true">
                          <a:solidFill>
                            <a:srgbClr val="111111"/>
                          </a:solidFill>
                          <a:latin typeface="Nunito Semi-Bold"/>
                          <a:ea typeface="Nunito Semi-Bold"/>
                          <a:cs typeface="Nunito Semi-Bold"/>
                          <a:sym typeface="Nunito Semi-Bold"/>
                        </a:rPr>
                        <a:t>1.63</a:t>
                      </a:r>
                    </a:p>
                  </a:txBody>
                  <a:tcPr marL="54864" marR="54864"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r>
              <a:tr h="457200">
                <a:tc>
                  <a:txBody>
                    <a:bodyPr anchor="ctr" rtlCol="false" lIns="0" tIns="0" rIns="0" bIns="0" wrap="square"/>
                    <a:lstStyle/>
                    <a:p>
                      <a:pPr algn="l">
                        <a:lnSpc>
                          <a:spcPts val="1820"/>
                        </a:lnSpc>
                        <a:spcBef>
                          <a:spcPts val="0"/>
                        </a:spcBef>
                        <a:buNone/>
                      </a:pPr>
                      <a:r>
                        <a:rPr lang="en-US" sz="1400" b="true">
                          <a:solidFill>
                            <a:srgbClr val="111111"/>
                          </a:solidFill>
                          <a:latin typeface="Nunito Bold"/>
                          <a:ea typeface="Nunito Bold"/>
                          <a:cs typeface="Nunito Bold"/>
                          <a:sym typeface="Nunito Bold"/>
                        </a:rPr>
                        <a:t>RecDCL</a:t>
                      </a:r>
                    </a:p>
                  </a:txBody>
                  <a:tcPr marL="54864" marR="54864"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6ECDF"/>
                    </a:solidFill>
                  </a:tcPr>
                </a:tc>
                <a:tc>
                  <a:txBody>
                    <a:bodyPr anchor="ctr" rtlCol="false" lIns="0" tIns="0" rIns="0" bIns="0" wrap="square"/>
                    <a:lstStyle/>
                    <a:p>
                      <a:pPr algn="ctr">
                        <a:lnSpc>
                          <a:spcPts val="1820"/>
                        </a:lnSpc>
                        <a:spcBef>
                          <a:spcPts val="0"/>
                        </a:spcBef>
                        <a:buNone/>
                      </a:pPr>
                      <a:r>
                        <a:rPr lang="en-US" sz="1400" b="true">
                          <a:solidFill>
                            <a:srgbClr val="111111"/>
                          </a:solidFill>
                          <a:latin typeface="Nunito Semi-Bold"/>
                          <a:ea typeface="Nunito Semi-Bold"/>
                          <a:cs typeface="Nunito Semi-Bold"/>
                          <a:sym typeface="Nunito Semi-Bold"/>
                        </a:rPr>
                        <a:t>968</a:t>
                      </a:r>
                    </a:p>
                  </a:txBody>
                  <a:tcPr marL="54864" marR="54864"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6ECDF"/>
                    </a:solidFill>
                  </a:tcPr>
                </a:tc>
                <a:tc>
                  <a:txBody>
                    <a:bodyPr anchor="ctr" rtlCol="false" lIns="0" tIns="0" rIns="0" bIns="0" wrap="square"/>
                    <a:lstStyle/>
                    <a:p>
                      <a:pPr algn="ctr">
                        <a:lnSpc>
                          <a:spcPts val="1820"/>
                        </a:lnSpc>
                        <a:spcBef>
                          <a:spcPts val="0"/>
                        </a:spcBef>
                        <a:buNone/>
                      </a:pPr>
                      <a:r>
                        <a:rPr lang="en-US" sz="1400" b="true">
                          <a:solidFill>
                            <a:srgbClr val="111111"/>
                          </a:solidFill>
                          <a:latin typeface="Nunito Semi-Bold"/>
                          <a:ea typeface="Nunito Semi-Bold"/>
                          <a:cs typeface="Nunito Semi-Bold"/>
                          <a:sym typeface="Nunito Semi-Bold"/>
                        </a:rPr>
                        <a:t>1.02</a:t>
                      </a:r>
                    </a:p>
                  </a:txBody>
                  <a:tcPr marL="54864" marR="54864"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6ECDF"/>
                    </a:solidFill>
                  </a:tcPr>
                </a:tc>
                <a:tc>
                  <a:txBody>
                    <a:bodyPr anchor="ctr" rtlCol="false" lIns="0" tIns="0" rIns="0" bIns="0" wrap="square"/>
                    <a:lstStyle/>
                    <a:p>
                      <a:pPr algn="ctr">
                        <a:lnSpc>
                          <a:spcPts val="1820"/>
                        </a:lnSpc>
                        <a:spcBef>
                          <a:spcPts val="0"/>
                        </a:spcBef>
                        <a:buNone/>
                      </a:pPr>
                      <a:r>
                        <a:rPr lang="en-US" sz="1400" b="true">
                          <a:solidFill>
                            <a:srgbClr val="111111"/>
                          </a:solidFill>
                          <a:latin typeface="Nunito Semi-Bold"/>
                          <a:ea typeface="Nunito Semi-Bold"/>
                          <a:cs typeface="Nunito Semi-Bold"/>
                          <a:sym typeface="Nunito Semi-Bold"/>
                        </a:rPr>
                        <a:t>3.6</a:t>
                      </a:r>
                    </a:p>
                  </a:txBody>
                  <a:tcPr marL="54864" marR="54864"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6ECDF"/>
                    </a:solidFill>
                  </a:tcPr>
                </a:tc>
                <a:tc>
                  <a:txBody>
                    <a:bodyPr anchor="ctr" rtlCol="false" lIns="0" tIns="0" rIns="0" bIns="0" wrap="square"/>
                    <a:lstStyle/>
                    <a:p>
                      <a:pPr algn="ctr">
                        <a:lnSpc>
                          <a:spcPts val="1820"/>
                        </a:lnSpc>
                        <a:spcBef>
                          <a:spcPts val="0"/>
                        </a:spcBef>
                        <a:buNone/>
                      </a:pPr>
                      <a:r>
                        <a:rPr lang="en-US" sz="1400" b="true">
                          <a:solidFill>
                            <a:srgbClr val="111111"/>
                          </a:solidFill>
                          <a:latin typeface="Nunito Semi-Bold"/>
                          <a:ea typeface="Nunito Semi-Bold"/>
                          <a:cs typeface="Nunito Semi-Bold"/>
                          <a:sym typeface="Nunito Semi-Bold"/>
                        </a:rPr>
                        <a:t>4,527</a:t>
                      </a:r>
                    </a:p>
                  </a:txBody>
                  <a:tcPr marL="54864" marR="54864"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6ECDF"/>
                    </a:solidFill>
                  </a:tcPr>
                </a:tc>
                <a:tc>
                  <a:txBody>
                    <a:bodyPr anchor="ctr" rtlCol="false" lIns="0" tIns="0" rIns="0" bIns="0" wrap="square"/>
                    <a:lstStyle/>
                    <a:p>
                      <a:pPr algn="ctr">
                        <a:lnSpc>
                          <a:spcPts val="1820"/>
                        </a:lnSpc>
                        <a:spcBef>
                          <a:spcPts val="0"/>
                        </a:spcBef>
                        <a:buNone/>
                      </a:pPr>
                      <a:r>
                        <a:rPr lang="en-US" sz="1400" b="true">
                          <a:solidFill>
                            <a:srgbClr val="111111"/>
                          </a:solidFill>
                          <a:latin typeface="Nunito Semi-Bold"/>
                          <a:ea typeface="Nunito Semi-Bold"/>
                          <a:cs typeface="Nunito Semi-Bold"/>
                          <a:sym typeface="Nunito Semi-Bold"/>
                        </a:rPr>
                        <a:t>5.04</a:t>
                      </a:r>
                    </a:p>
                  </a:txBody>
                  <a:tcPr marL="54864" marR="54864"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6ECDF"/>
                    </a:solidFill>
                  </a:tcPr>
                </a:tc>
                <a:tc>
                  <a:txBody>
                    <a:bodyPr anchor="ctr" rtlCol="false" lIns="0" tIns="0" rIns="0" bIns="0" wrap="square"/>
                    <a:lstStyle/>
                    <a:p>
                      <a:pPr algn="ctr">
                        <a:lnSpc>
                          <a:spcPts val="1820"/>
                        </a:lnSpc>
                        <a:spcBef>
                          <a:spcPts val="0"/>
                        </a:spcBef>
                        <a:buNone/>
                      </a:pPr>
                      <a:r>
                        <a:rPr lang="en-US" sz="1400" b="true">
                          <a:solidFill>
                            <a:srgbClr val="111111"/>
                          </a:solidFill>
                          <a:latin typeface="Nunito Semi-Bold"/>
                          <a:ea typeface="Nunito Semi-Bold"/>
                          <a:cs typeface="Nunito Semi-Bold"/>
                          <a:sym typeface="Nunito Semi-Bold"/>
                        </a:rPr>
                        <a:t>15.6</a:t>
                      </a:r>
                    </a:p>
                  </a:txBody>
                  <a:tcPr marL="54864" marR="54864"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6ECDF"/>
                    </a:solidFill>
                  </a:tcPr>
                </a:tc>
                <a:tc>
                  <a:txBody>
                    <a:bodyPr anchor="ctr" rtlCol="false" lIns="0" tIns="0" rIns="0" bIns="0" wrap="square"/>
                    <a:lstStyle/>
                    <a:p>
                      <a:pPr algn="ctr">
                        <a:lnSpc>
                          <a:spcPts val="1820"/>
                        </a:lnSpc>
                        <a:spcBef>
                          <a:spcPts val="0"/>
                        </a:spcBef>
                        <a:buNone/>
                      </a:pPr>
                      <a:r>
                        <a:rPr lang="en-US" sz="1400" b="true">
                          <a:solidFill>
                            <a:srgbClr val="111111"/>
                          </a:solidFill>
                          <a:latin typeface="Nunito Semi-Bold"/>
                          <a:ea typeface="Nunito Semi-Bold"/>
                          <a:cs typeface="Nunito Semi-Bold"/>
                          <a:sym typeface="Nunito Semi-Bold"/>
                        </a:rPr>
                        <a:t>1.89</a:t>
                      </a:r>
                    </a:p>
                  </a:txBody>
                  <a:tcPr marL="54864" marR="54864"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6ECDF"/>
                    </a:solidFill>
                  </a:tcPr>
                </a:tc>
              </a:tr>
              <a:tr h="457200">
                <a:tc>
                  <a:txBody>
                    <a:bodyPr anchor="ctr" rtlCol="false" lIns="0" tIns="0" rIns="0" bIns="0" wrap="square"/>
                    <a:lstStyle/>
                    <a:p>
                      <a:pPr algn="l">
                        <a:lnSpc>
                          <a:spcPts val="1820"/>
                        </a:lnSpc>
                        <a:spcBef>
                          <a:spcPts val="0"/>
                        </a:spcBef>
                        <a:buNone/>
                      </a:pPr>
                      <a:r>
                        <a:rPr lang="en-US" sz="1400" b="true">
                          <a:solidFill>
                            <a:srgbClr val="111111"/>
                          </a:solidFill>
                          <a:latin typeface="Nunito Bold"/>
                          <a:ea typeface="Nunito Bold"/>
                          <a:cs typeface="Nunito Bold"/>
                          <a:sym typeface="Nunito Bold"/>
                        </a:rPr>
                        <a:t>HCCF</a:t>
                      </a:r>
                    </a:p>
                  </a:txBody>
                  <a:tcPr marL="54864" marR="54864"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c>
                  <a:txBody>
                    <a:bodyPr anchor="ctr" rtlCol="false" lIns="0" tIns="0" rIns="0" bIns="0" wrap="square"/>
                    <a:lstStyle/>
                    <a:p>
                      <a:pPr algn="ctr">
                        <a:lnSpc>
                          <a:spcPts val="1820"/>
                        </a:lnSpc>
                        <a:spcBef>
                          <a:spcPts val="0"/>
                        </a:spcBef>
                        <a:buNone/>
                      </a:pPr>
                      <a:r>
                        <a:rPr lang="en-US" sz="1400" b="true">
                          <a:solidFill>
                            <a:srgbClr val="111111"/>
                          </a:solidFill>
                          <a:latin typeface="Nunito Semi-Bold"/>
                          <a:ea typeface="Nunito Semi-Bold"/>
                          <a:cs typeface="Nunito Semi-Bold"/>
                          <a:sym typeface="Nunito Semi-Bold"/>
                        </a:rPr>
                        <a:t>952</a:t>
                      </a:r>
                    </a:p>
                  </a:txBody>
                  <a:tcPr marL="54864" marR="54864"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c>
                  <a:txBody>
                    <a:bodyPr anchor="ctr" rtlCol="false" lIns="0" tIns="0" rIns="0" bIns="0" wrap="square"/>
                    <a:lstStyle/>
                    <a:p>
                      <a:pPr algn="ctr">
                        <a:lnSpc>
                          <a:spcPts val="1820"/>
                        </a:lnSpc>
                        <a:spcBef>
                          <a:spcPts val="0"/>
                        </a:spcBef>
                        <a:buNone/>
                      </a:pPr>
                      <a:r>
                        <a:rPr lang="en-US" sz="1400" b="true">
                          <a:solidFill>
                            <a:srgbClr val="111111"/>
                          </a:solidFill>
                          <a:latin typeface="Nunito Semi-Bold"/>
                          <a:ea typeface="Nunito Semi-Bold"/>
                          <a:cs typeface="Nunito Semi-Bold"/>
                          <a:sym typeface="Nunito Semi-Bold"/>
                        </a:rPr>
                        <a:t>1.06</a:t>
                      </a:r>
                    </a:p>
                  </a:txBody>
                  <a:tcPr marL="54864" marR="54864"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c>
                  <a:txBody>
                    <a:bodyPr anchor="ctr" rtlCol="false" lIns="0" tIns="0" rIns="0" bIns="0" wrap="square"/>
                    <a:lstStyle/>
                    <a:p>
                      <a:pPr algn="ctr">
                        <a:lnSpc>
                          <a:spcPts val="1820"/>
                        </a:lnSpc>
                        <a:spcBef>
                          <a:spcPts val="0"/>
                        </a:spcBef>
                        <a:buNone/>
                      </a:pPr>
                      <a:r>
                        <a:rPr lang="en-US" sz="1400" b="true">
                          <a:solidFill>
                            <a:srgbClr val="111111"/>
                          </a:solidFill>
                          <a:latin typeface="Nunito Semi-Bold"/>
                          <a:ea typeface="Nunito Semi-Bold"/>
                          <a:cs typeface="Nunito Semi-Bold"/>
                          <a:sym typeface="Nunito Semi-Bold"/>
                        </a:rPr>
                        <a:t>3.8</a:t>
                      </a:r>
                    </a:p>
                  </a:txBody>
                  <a:tcPr marL="54864" marR="54864"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c>
                  <a:txBody>
                    <a:bodyPr anchor="ctr" rtlCol="false" lIns="0" tIns="0" rIns="0" bIns="0" wrap="square"/>
                    <a:lstStyle/>
                    <a:p>
                      <a:pPr algn="ctr">
                        <a:lnSpc>
                          <a:spcPts val="1820"/>
                        </a:lnSpc>
                        <a:spcBef>
                          <a:spcPts val="0"/>
                        </a:spcBef>
                        <a:buNone/>
                      </a:pPr>
                      <a:r>
                        <a:rPr lang="en-US" sz="1400" b="true">
                          <a:solidFill>
                            <a:srgbClr val="111111"/>
                          </a:solidFill>
                          <a:latin typeface="Nunito Semi-Bold"/>
                          <a:ea typeface="Nunito Semi-Bold"/>
                          <a:cs typeface="Nunito Semi-Bold"/>
                          <a:sym typeface="Nunito Semi-Bold"/>
                        </a:rPr>
                        <a:t>4,419</a:t>
                      </a:r>
                    </a:p>
                  </a:txBody>
                  <a:tcPr marL="54864" marR="54864"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c>
                  <a:txBody>
                    <a:bodyPr anchor="ctr" rtlCol="false" lIns="0" tIns="0" rIns="0" bIns="0" wrap="square"/>
                    <a:lstStyle/>
                    <a:p>
                      <a:pPr algn="ctr">
                        <a:lnSpc>
                          <a:spcPts val="1820"/>
                        </a:lnSpc>
                        <a:spcBef>
                          <a:spcPts val="0"/>
                        </a:spcBef>
                        <a:buNone/>
                      </a:pPr>
                      <a:r>
                        <a:rPr lang="en-US" sz="1400" b="true">
                          <a:solidFill>
                            <a:srgbClr val="111111"/>
                          </a:solidFill>
                          <a:latin typeface="Nunito Semi-Bold"/>
                          <a:ea typeface="Nunito Semi-Bold"/>
                          <a:cs typeface="Nunito Semi-Bold"/>
                          <a:sym typeface="Nunito Semi-Bold"/>
                        </a:rPr>
                        <a:t>4.92</a:t>
                      </a:r>
                    </a:p>
                  </a:txBody>
                  <a:tcPr marL="54864" marR="54864"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c>
                  <a:txBody>
                    <a:bodyPr anchor="ctr" rtlCol="false" lIns="0" tIns="0" rIns="0" bIns="0" wrap="square"/>
                    <a:lstStyle/>
                    <a:p>
                      <a:pPr algn="ctr">
                        <a:lnSpc>
                          <a:spcPts val="1820"/>
                        </a:lnSpc>
                        <a:spcBef>
                          <a:spcPts val="0"/>
                        </a:spcBef>
                        <a:buNone/>
                      </a:pPr>
                      <a:r>
                        <a:rPr lang="en-US" sz="1400" b="true">
                          <a:solidFill>
                            <a:srgbClr val="111111"/>
                          </a:solidFill>
                          <a:latin typeface="Nunito Semi-Bold"/>
                          <a:ea typeface="Nunito Semi-Bold"/>
                          <a:cs typeface="Nunito Semi-Bold"/>
                          <a:sym typeface="Nunito Semi-Bold"/>
                        </a:rPr>
                        <a:t>15.3</a:t>
                      </a:r>
                    </a:p>
                  </a:txBody>
                  <a:tcPr marL="54864" marR="54864"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c>
                  <a:txBody>
                    <a:bodyPr anchor="ctr" rtlCol="false" lIns="0" tIns="0" rIns="0" bIns="0" wrap="square"/>
                    <a:lstStyle/>
                    <a:p>
                      <a:pPr algn="ctr">
                        <a:lnSpc>
                          <a:spcPts val="1820"/>
                        </a:lnSpc>
                        <a:spcBef>
                          <a:spcPts val="0"/>
                        </a:spcBef>
                        <a:buNone/>
                      </a:pPr>
                      <a:r>
                        <a:rPr lang="en-US" sz="1400" b="true">
                          <a:solidFill>
                            <a:srgbClr val="111111"/>
                          </a:solidFill>
                          <a:latin typeface="Nunito Semi-Bold"/>
                          <a:ea typeface="Nunito Semi-Bold"/>
                          <a:cs typeface="Nunito Semi-Bold"/>
                          <a:sym typeface="Nunito Semi-Bold"/>
                        </a:rPr>
                        <a:t>1.96</a:t>
                      </a:r>
                    </a:p>
                  </a:txBody>
                  <a:tcPr marL="54864" marR="54864"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r>
              <a:tr h="457200">
                <a:tc>
                  <a:txBody>
                    <a:bodyPr anchor="ctr" rtlCol="false" lIns="0" tIns="0" rIns="0" bIns="0" wrap="square"/>
                    <a:lstStyle/>
                    <a:p>
                      <a:pPr algn="l">
                        <a:lnSpc>
                          <a:spcPts val="1820"/>
                        </a:lnSpc>
                        <a:spcBef>
                          <a:spcPts val="0"/>
                        </a:spcBef>
                        <a:buNone/>
                      </a:pPr>
                      <a:r>
                        <a:rPr lang="en-US" sz="1400" b="true">
                          <a:solidFill>
                            <a:srgbClr val="111111"/>
                          </a:solidFill>
                          <a:latin typeface="Nunito Bold"/>
                          <a:ea typeface="Nunito Bold"/>
                          <a:cs typeface="Nunito Bold"/>
                          <a:sym typeface="Nunito Bold"/>
                        </a:rPr>
                        <a:t>HPCF</a:t>
                      </a:r>
                    </a:p>
                  </a:txBody>
                  <a:tcPr marL="54864" marR="54864"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6ECDF"/>
                    </a:solidFill>
                  </a:tcPr>
                </a:tc>
                <a:tc>
                  <a:txBody>
                    <a:bodyPr anchor="ctr" rtlCol="false" lIns="0" tIns="0" rIns="0" bIns="0" wrap="square"/>
                    <a:lstStyle/>
                    <a:p>
                      <a:pPr algn="ctr">
                        <a:lnSpc>
                          <a:spcPts val="1820"/>
                        </a:lnSpc>
                        <a:spcBef>
                          <a:spcPts val="0"/>
                        </a:spcBef>
                        <a:buNone/>
                      </a:pPr>
                      <a:r>
                        <a:rPr lang="en-US" sz="1400" b="true">
                          <a:solidFill>
                            <a:srgbClr val="111111"/>
                          </a:solidFill>
                          <a:latin typeface="Nunito Semi-Bold"/>
                          <a:ea typeface="Nunito Semi-Bold"/>
                          <a:cs typeface="Nunito Semi-Bold"/>
                          <a:sym typeface="Nunito Semi-Bold"/>
                        </a:rPr>
                        <a:t>1,125</a:t>
                      </a:r>
                    </a:p>
                  </a:txBody>
                  <a:tcPr marL="54864" marR="54864"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6ECDF"/>
                    </a:solidFill>
                  </a:tcPr>
                </a:tc>
                <a:tc>
                  <a:txBody>
                    <a:bodyPr anchor="ctr" rtlCol="false" lIns="0" tIns="0" rIns="0" bIns="0" wrap="square"/>
                    <a:lstStyle/>
                    <a:p>
                      <a:pPr algn="ctr">
                        <a:lnSpc>
                          <a:spcPts val="1820"/>
                        </a:lnSpc>
                        <a:spcBef>
                          <a:spcPts val="0"/>
                        </a:spcBef>
                        <a:buNone/>
                      </a:pPr>
                      <a:r>
                        <a:rPr lang="en-US" sz="1400" b="true">
                          <a:solidFill>
                            <a:srgbClr val="111111"/>
                          </a:solidFill>
                          <a:latin typeface="Nunito Semi-Bold"/>
                          <a:ea typeface="Nunito Semi-Bold"/>
                          <a:cs typeface="Nunito Semi-Bold"/>
                          <a:sym typeface="Nunito Semi-Bold"/>
                        </a:rPr>
                        <a:t>1.18</a:t>
                      </a:r>
                    </a:p>
                  </a:txBody>
                  <a:tcPr marL="54864" marR="54864"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6ECDF"/>
                    </a:solidFill>
                  </a:tcPr>
                </a:tc>
                <a:tc>
                  <a:txBody>
                    <a:bodyPr anchor="ctr" rtlCol="false" lIns="0" tIns="0" rIns="0" bIns="0" wrap="square"/>
                    <a:lstStyle/>
                    <a:p>
                      <a:pPr algn="ctr">
                        <a:lnSpc>
                          <a:spcPts val="1820"/>
                        </a:lnSpc>
                        <a:spcBef>
                          <a:spcPts val="0"/>
                        </a:spcBef>
                        <a:buNone/>
                      </a:pPr>
                      <a:r>
                        <a:rPr lang="en-US" sz="1400" b="true">
                          <a:solidFill>
                            <a:srgbClr val="111111"/>
                          </a:solidFill>
                          <a:latin typeface="Nunito Semi-Bold"/>
                          <a:ea typeface="Nunito Semi-Bold"/>
                          <a:cs typeface="Nunito Semi-Bold"/>
                          <a:sym typeface="Nunito Semi-Bold"/>
                        </a:rPr>
                        <a:t>4.1</a:t>
                      </a:r>
                    </a:p>
                  </a:txBody>
                  <a:tcPr marL="54864" marR="54864"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6ECDF"/>
                    </a:solidFill>
                  </a:tcPr>
                </a:tc>
                <a:tc>
                  <a:txBody>
                    <a:bodyPr anchor="ctr" rtlCol="false" lIns="0" tIns="0" rIns="0" bIns="0" wrap="square"/>
                    <a:lstStyle/>
                    <a:p>
                      <a:pPr algn="ctr">
                        <a:lnSpc>
                          <a:spcPts val="1820"/>
                        </a:lnSpc>
                        <a:spcBef>
                          <a:spcPts val="0"/>
                        </a:spcBef>
                        <a:buNone/>
                      </a:pPr>
                      <a:r>
                        <a:rPr lang="en-US" sz="1400" b="true">
                          <a:solidFill>
                            <a:srgbClr val="111111"/>
                          </a:solidFill>
                          <a:latin typeface="Nunito Semi-Bold"/>
                          <a:ea typeface="Nunito Semi-Bold"/>
                          <a:cs typeface="Nunito Semi-Bold"/>
                          <a:sym typeface="Nunito Semi-Bold"/>
                        </a:rPr>
                        <a:t>5,234</a:t>
                      </a:r>
                    </a:p>
                  </a:txBody>
                  <a:tcPr marL="54864" marR="54864"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6ECDF"/>
                    </a:solidFill>
                  </a:tcPr>
                </a:tc>
                <a:tc>
                  <a:txBody>
                    <a:bodyPr anchor="ctr" rtlCol="false" lIns="0" tIns="0" rIns="0" bIns="0" wrap="square"/>
                    <a:lstStyle/>
                    <a:p>
                      <a:pPr algn="ctr">
                        <a:lnSpc>
                          <a:spcPts val="1820"/>
                        </a:lnSpc>
                        <a:spcBef>
                          <a:spcPts val="0"/>
                        </a:spcBef>
                        <a:buNone/>
                      </a:pPr>
                      <a:r>
                        <a:rPr lang="en-US" sz="1400" b="true">
                          <a:solidFill>
                            <a:srgbClr val="111111"/>
                          </a:solidFill>
                          <a:latin typeface="Nunito Semi-Bold"/>
                          <a:ea typeface="Nunito Semi-Bold"/>
                          <a:cs typeface="Nunito Semi-Bold"/>
                          <a:sym typeface="Nunito Semi-Bold"/>
                        </a:rPr>
                        <a:t>5.48</a:t>
                      </a:r>
                    </a:p>
                  </a:txBody>
                  <a:tcPr marL="54864" marR="54864"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6ECDF"/>
                    </a:solidFill>
                  </a:tcPr>
                </a:tc>
                <a:tc>
                  <a:txBody>
                    <a:bodyPr anchor="ctr" rtlCol="false" lIns="0" tIns="0" rIns="0" bIns="0" wrap="square"/>
                    <a:lstStyle/>
                    <a:p>
                      <a:pPr algn="ctr">
                        <a:lnSpc>
                          <a:spcPts val="1820"/>
                        </a:lnSpc>
                        <a:spcBef>
                          <a:spcPts val="0"/>
                        </a:spcBef>
                        <a:buNone/>
                      </a:pPr>
                      <a:r>
                        <a:rPr lang="en-US" sz="1400" b="true">
                          <a:solidFill>
                            <a:srgbClr val="111111"/>
                          </a:solidFill>
                          <a:latin typeface="Nunito Semi-Bold"/>
                          <a:ea typeface="Nunito Semi-Bold"/>
                          <a:cs typeface="Nunito Semi-Bold"/>
                          <a:sym typeface="Nunito Semi-Bold"/>
                        </a:rPr>
                        <a:t>16.8</a:t>
                      </a:r>
                    </a:p>
                  </a:txBody>
                  <a:tcPr marL="54864" marR="54864"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6ECDF"/>
                    </a:solidFill>
                  </a:tcPr>
                </a:tc>
                <a:tc>
                  <a:txBody>
                    <a:bodyPr anchor="ctr" rtlCol="false" lIns="0" tIns="0" rIns="0" bIns="0" wrap="square"/>
                    <a:lstStyle/>
                    <a:p>
                      <a:pPr algn="ctr">
                        <a:lnSpc>
                          <a:spcPts val="1820"/>
                        </a:lnSpc>
                        <a:spcBef>
                          <a:spcPts val="0"/>
                        </a:spcBef>
                        <a:buNone/>
                      </a:pPr>
                      <a:r>
                        <a:rPr lang="en-US" sz="1400" b="true">
                          <a:solidFill>
                            <a:srgbClr val="111111"/>
                          </a:solidFill>
                          <a:latin typeface="Nunito Semi-Bold"/>
                          <a:ea typeface="Nunito Semi-Bold"/>
                          <a:cs typeface="Nunito Semi-Bold"/>
                          <a:sym typeface="Nunito Semi-Bold"/>
                        </a:rPr>
                        <a:t>2.19</a:t>
                      </a:r>
                    </a:p>
                  </a:txBody>
                  <a:tcPr marL="54864" marR="54864"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6ECDF"/>
                    </a:solidFill>
                  </a:tcPr>
                </a:tc>
              </a:tr>
              <a:tr h="457200">
                <a:tc>
                  <a:txBody>
                    <a:bodyPr anchor="ctr" rtlCol="false" lIns="0" tIns="0" rIns="0" bIns="0" wrap="square"/>
                    <a:lstStyle/>
                    <a:p>
                      <a:pPr algn="l">
                        <a:lnSpc>
                          <a:spcPts val="1820"/>
                        </a:lnSpc>
                        <a:spcBef>
                          <a:spcPts val="0"/>
                        </a:spcBef>
                        <a:buNone/>
                      </a:pPr>
                      <a:r>
                        <a:rPr lang="en-US" sz="1400" b="1">
                          <a:solidFill>
                            <a:srgbClr val="111111"/>
                          </a:solidFill>
                          <a:latin typeface="Nunito Bold"/>
                          <a:ea typeface="Nunito Bold"/>
                          <a:cs typeface="Nunito Bold"/>
                          <a:sym typeface="Nunito Bold"/>
                        </a:rPr>
                        <a:t>DyHuCoG</a:t>
                      </a:r>
                    </a:p>
                  </a:txBody>
                  <a:tcPr marL="54864" marR="54864"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D9E2F3"/>
                    </a:solidFill>
                  </a:tcPr>
                </a:tc>
                <a:tc>
                  <a:txBody>
                    <a:bodyPr anchor="ctr" rtlCol="false" lIns="0" tIns="0" rIns="0" bIns="0" wrap="square"/>
                    <a:lstStyle/>
                    <a:p>
                      <a:pPr algn="ctr">
                        <a:lnSpc>
                          <a:spcPts val="1820"/>
                        </a:lnSpc>
                        <a:spcBef>
                          <a:spcPts val="0"/>
                        </a:spcBef>
                        <a:buNone/>
                      </a:pPr>
                      <a:r>
                        <a:rPr lang="en-US" sz="1400" b="1">
                          <a:solidFill>
                            <a:srgbClr val="111111"/>
                          </a:solidFill>
                          <a:latin typeface="Nunito Semi-Bold"/>
                          <a:ea typeface="Nunito Semi-Bold"/>
                          <a:cs typeface="Nunito Semi-Bold"/>
                          <a:sym typeface="Nunito Semi-Bold"/>
                        </a:rPr>
                        <a:t>2,000</a:t>
                      </a:r>
                    </a:p>
                  </a:txBody>
                  <a:tcPr marL="54864" marR="54864"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D9E2F3"/>
                    </a:solidFill>
                  </a:tcPr>
                </a:tc>
                <a:tc>
                  <a:txBody>
                    <a:bodyPr anchor="ctr" rtlCol="false" lIns="0" tIns="0" rIns="0" bIns="0" wrap="square"/>
                    <a:lstStyle/>
                    <a:p>
                      <a:pPr algn="ctr">
                        <a:lnSpc>
                          <a:spcPts val="1820"/>
                        </a:lnSpc>
                        <a:spcBef>
                          <a:spcPts val="0"/>
                        </a:spcBef>
                        <a:buNone/>
                      </a:pPr>
                      <a:r>
                        <a:rPr lang="en-US" sz="1400" b="1">
                          <a:solidFill>
                            <a:srgbClr val="111111"/>
                          </a:solidFill>
                          <a:latin typeface="Nunito Semi-Bold"/>
                          <a:ea typeface="Nunito Semi-Bold"/>
                          <a:cs typeface="Nunito Semi-Bold"/>
                          <a:sym typeface="Nunito Semi-Bold"/>
                        </a:rPr>
                        <a:t>1.84</a:t>
                      </a:r>
                    </a:p>
                  </a:txBody>
                  <a:tcPr marL="54864" marR="54864"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D9E2F3"/>
                    </a:solidFill>
                  </a:tcPr>
                </a:tc>
                <a:tc>
                  <a:txBody>
                    <a:bodyPr anchor="ctr" rtlCol="false" lIns="0" tIns="0" rIns="0" bIns="0" wrap="square"/>
                    <a:lstStyle/>
                    <a:p>
                      <a:pPr algn="ctr">
                        <a:lnSpc>
                          <a:spcPts val="1820"/>
                        </a:lnSpc>
                        <a:spcBef>
                          <a:spcPts val="0"/>
                        </a:spcBef>
                        <a:buNone/>
                      </a:pPr>
                      <a:r>
                        <a:rPr lang="en-US" sz="1400" b="1">
                          <a:solidFill>
                            <a:srgbClr val="111111"/>
                          </a:solidFill>
                          <a:latin typeface="Nunito Semi-Bold"/>
                          <a:ea typeface="Nunito Semi-Bold"/>
                          <a:cs typeface="Nunito Semi-Bold"/>
                          <a:sym typeface="Nunito Semi-Bold"/>
                        </a:rPr>
                        <a:t>4.4</a:t>
                      </a:r>
                    </a:p>
                  </a:txBody>
                  <a:tcPr marL="54864" marR="54864"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D9E2F3"/>
                    </a:solidFill>
                  </a:tcPr>
                </a:tc>
                <a:tc>
                  <a:txBody>
                    <a:bodyPr anchor="ctr" rtlCol="false" lIns="0" tIns="0" rIns="0" bIns="0" wrap="square"/>
                    <a:lstStyle/>
                    <a:p>
                      <a:pPr algn="ctr">
                        <a:lnSpc>
                          <a:spcPts val="1820"/>
                        </a:lnSpc>
                        <a:spcBef>
                          <a:spcPts val="0"/>
                        </a:spcBef>
                        <a:buNone/>
                      </a:pPr>
                      <a:r>
                        <a:rPr lang="en-US" sz="1400" b="1">
                          <a:solidFill>
                            <a:srgbClr val="111111"/>
                          </a:solidFill>
                          <a:latin typeface="Nunito Semi-Bold"/>
                          <a:ea typeface="Nunito Semi-Bold"/>
                          <a:cs typeface="Nunito Semi-Bold"/>
                          <a:sym typeface="Nunito Semi-Bold"/>
                        </a:rPr>
                        <a:t>9,279</a:t>
                      </a:r>
                    </a:p>
                  </a:txBody>
                  <a:tcPr marL="54864" marR="54864"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D9E2F3"/>
                    </a:solidFill>
                  </a:tcPr>
                </a:tc>
                <a:tc>
                  <a:txBody>
                    <a:bodyPr anchor="ctr" rtlCol="false" lIns="0" tIns="0" rIns="0" bIns="0" wrap="square"/>
                    <a:lstStyle/>
                    <a:p>
                      <a:pPr algn="ctr">
                        <a:lnSpc>
                          <a:spcPts val="1820"/>
                        </a:lnSpc>
                        <a:spcBef>
                          <a:spcPts val="0"/>
                        </a:spcBef>
                        <a:buNone/>
                      </a:pPr>
                      <a:r>
                        <a:rPr lang="en-US" sz="1400" b="1">
                          <a:solidFill>
                            <a:srgbClr val="111111"/>
                          </a:solidFill>
                          <a:latin typeface="Nunito Semi-Bold"/>
                          <a:ea typeface="Nunito Semi-Bold"/>
                          <a:cs typeface="Nunito Semi-Bold"/>
                          <a:sym typeface="Nunito Semi-Bold"/>
                        </a:rPr>
                        <a:t>8.52</a:t>
                      </a:r>
                    </a:p>
                  </a:txBody>
                  <a:tcPr marL="54864" marR="54864"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D9E2F3"/>
                    </a:solidFill>
                  </a:tcPr>
                </a:tc>
                <a:tc>
                  <a:txBody>
                    <a:bodyPr anchor="ctr" rtlCol="false" lIns="0" tIns="0" rIns="0" bIns="0" wrap="square"/>
                    <a:lstStyle/>
                    <a:p>
                      <a:pPr algn="ctr">
                        <a:lnSpc>
                          <a:spcPts val="1820"/>
                        </a:lnSpc>
                        <a:spcBef>
                          <a:spcPts val="0"/>
                        </a:spcBef>
                        <a:buNone/>
                      </a:pPr>
                      <a:r>
                        <a:rPr lang="en-US" sz="1400" b="1">
                          <a:solidFill>
                            <a:srgbClr val="111111"/>
                          </a:solidFill>
                          <a:latin typeface="Nunito Semi-Bold"/>
                          <a:ea typeface="Nunito Semi-Bold"/>
                          <a:cs typeface="Nunito Semi-Bold"/>
                          <a:sym typeface="Nunito Semi-Bold"/>
                        </a:rPr>
                        <a:t>17.9</a:t>
                      </a:r>
                    </a:p>
                  </a:txBody>
                  <a:tcPr marL="54864" marR="54864"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D9E2F3"/>
                    </a:solidFill>
                  </a:tcPr>
                </a:tc>
                <a:tc>
                  <a:txBody>
                    <a:bodyPr anchor="ctr" rtlCol="false" lIns="0" tIns="0" rIns="0" bIns="0" wrap="square"/>
                    <a:lstStyle/>
                    <a:p>
                      <a:pPr algn="ctr">
                        <a:lnSpc>
                          <a:spcPts val="1820"/>
                        </a:lnSpc>
                        <a:spcBef>
                          <a:spcPts val="0"/>
                        </a:spcBef>
                        <a:buNone/>
                      </a:pPr>
                      <a:r>
                        <a:rPr lang="en-US" sz="1400" b="1">
                          <a:solidFill>
                            <a:srgbClr val="111111"/>
                          </a:solidFill>
                          <a:latin typeface="Nunito Semi-Bold"/>
                          <a:ea typeface="Nunito Semi-Bold"/>
                          <a:cs typeface="Nunito Semi-Bold"/>
                          <a:sym typeface="Nunito Semi-Bold"/>
                        </a:rPr>
                        <a:t>3.41</a:t>
                      </a:r>
                    </a:p>
                  </a:txBody>
                  <a:tcPr marL="54864" marR="54864"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D9E2F3"/>
                    </a:solidFill>
                  </a:tcPr>
                </a:tc>
              </a:tr>
            </a:tbl>
          </a:graphicData>
        </a:graphic>
      </p:graphicFrame>
      <p:sp>
        <p:nvSpPr>
          <p:cNvPr id="9" name="TextBox 8"/>
          <p:cNvSpPr txBox="1"/>
          <p:nvPr/>
        </p:nvSpPr>
        <p:spPr>
          <a:xfrm>
            <a:off x="11727180" y="2897378"/>
            <a:ext cx="5532120" cy="320040"/>
          </a:xfrm>
          <a:prstGeom prst="rect">
            <a:avLst/>
          </a:prstGeom>
          <a:noFill/>
        </p:spPr>
        <p:txBody>
          <a:bodyPr anchor="t" rtlCol="false" lIns="0" tIns="0" rIns="0" bIns="0" wrap="square"/>
          <a:lstStyle/>
          <a:p>
            <a:pPr algn="l">
              <a:lnSpc>
                <a:spcPts val="1600"/>
              </a:lnSpc>
              <a:spcBef>
                <a:spcPts val="0"/>
              </a:spcBef>
              <a:buNone/>
            </a:pPr>
            <a:r>
              <a:rPr lang="en-US" sz="1300" b="true" spc="150">
                <a:solidFill>
                  <a:srgbClr val="1F7A8C"/>
                </a:solidFill>
                <a:latin typeface="Nunito Ultra-Bold"/>
                <a:ea typeface="Nunito Ultra-Bold"/>
                <a:cs typeface="Nunito Ultra-Bold"/>
                <a:sym typeface="Nunito Ultra-Bold"/>
              </a:rPr>
              <a:t>TABLE 7.4  ·  MONTE CARLO SHAPLEY</a:t>
            </a:r>
          </a:p>
        </p:txBody>
      </p:sp>
      <p:graphicFrame>
        <p:nvGraphicFramePr>
          <p:cNvPr id="10" name="Table 9"/>
          <p:cNvGraphicFramePr>
            <a:graphicFrameLocks noGrp="1"/>
          </p:cNvGraphicFramePr>
          <p:nvPr/>
        </p:nvGraphicFramePr>
        <p:xfrm>
          <a:off x="11727180" y="3263138"/>
          <a:ext cx="5532120" cy="2286000"/>
        </p:xfrm>
        <a:graphic>
          <a:graphicData uri="http://schemas.openxmlformats.org/drawingml/2006/table">
            <a:tbl>
              <a:tblPr firstRow="0" bandRow="0" firstCol="0" lastRow="0" lastCol="0" bandCol="0">
                <a:tableStyleId>{2D5ABB26-0587-4C30-8999-92F81FD0307C}</a:tableStyleId>
              </a:tblPr>
              <a:tblGrid>
                <a:gridCol w="737616"/>
                <a:gridCol w="1475232"/>
                <a:gridCol w="1198626"/>
                <a:gridCol w="1198626"/>
                <a:gridCol w="922020"/>
              </a:tblGrid>
              <a:tr h="457200">
                <a:tc>
                  <a:txBody>
                    <a:bodyPr anchor="ctr" rtlCol="false" lIns="0" tIns="0" rIns="0" bIns="0" wrap="square"/>
                    <a:lstStyle/>
                    <a:p>
                      <a:pPr algn="ctr">
                        <a:lnSpc>
                          <a:spcPts val="1690"/>
                        </a:lnSpc>
                        <a:spcBef>
                          <a:spcPts val="0"/>
                        </a:spcBef>
                        <a:buNone/>
                      </a:pPr>
                      <a:r>
                        <a:rPr lang="en-US" sz="1300" b="true">
                          <a:solidFill>
                            <a:srgbClr val="FFFFFF"/>
                          </a:solidFill>
                          <a:latin typeface="Nunito Bold"/>
                          <a:ea typeface="Nunito Bold"/>
                          <a:cs typeface="Nunito Bold"/>
                          <a:sym typeface="Nunito Bold"/>
                        </a:rPr>
                        <a:t>M</a:t>
                      </a:r>
                    </a:p>
                  </a:txBody>
                  <a:tcPr marL="54864" marR="54864" marT="45720" marB="45720" anchor="ctr">
                    <a:lnL w="12700" cap="flat" cmpd="sng" algn="ctr">
                      <a:solidFill>
                        <a:srgbClr val="4472C4"/>
                      </a:solidFill>
                      <a:prstDash val="solid"/>
                    </a:lnL>
                    <a:lnR w="12700" cap="flat" cmpd="sng" algn="ctr">
                      <a:solidFill>
                        <a:srgbClr val="4472C4"/>
                      </a:solidFill>
                      <a:prstDash val="solid"/>
                    </a:lnR>
                    <a:lnT w="12700" cap="flat" cmpd="sng" algn="ctr">
                      <a:solidFill>
                        <a:srgbClr val="4472C4"/>
                      </a:solidFill>
                      <a:prstDash val="solid"/>
                    </a:lnT>
                    <a:lnB w="12700" cap="flat" cmpd="sng" algn="ctr">
                      <a:solidFill>
                        <a:srgbClr val="4472C4"/>
                      </a:solidFill>
                      <a:prstDash val="solid"/>
                    </a:lnB>
                    <a:solidFill>
                      <a:srgbClr val="4472C4"/>
                    </a:solidFill>
                  </a:tcPr>
                </a:tc>
                <a:tc>
                  <a:txBody>
                    <a:bodyPr anchor="ctr" rtlCol="false" lIns="0" tIns="0" rIns="0" bIns="0" wrap="square"/>
                    <a:lstStyle/>
                    <a:p>
                      <a:pPr algn="ctr">
                        <a:lnSpc>
                          <a:spcPts val="1690"/>
                        </a:lnSpc>
                        <a:spcBef>
                          <a:spcPts val="0"/>
                        </a:spcBef>
                        <a:buNone/>
                      </a:pPr>
                      <a:r>
                        <a:rPr lang="en-US" sz="1300" b="true">
                          <a:solidFill>
                            <a:srgbClr val="FFFFFF"/>
                          </a:solidFill>
                          <a:latin typeface="Nunito Bold"/>
                          <a:ea typeface="Nunito Bold"/>
                          <a:cs typeface="Nunito Bold"/>
                          <a:sym typeface="Nunito Bold"/>
                        </a:rPr>
                        <a:t>MSE</a:t>
                      </a:r>
                    </a:p>
                  </a:txBody>
                  <a:tcPr marL="54864" marR="54864" marT="45720" marB="45720" anchor="ctr">
                    <a:lnL w="12700" cap="flat" cmpd="sng" algn="ctr">
                      <a:solidFill>
                        <a:srgbClr val="4472C4"/>
                      </a:solidFill>
                      <a:prstDash val="solid"/>
                    </a:lnL>
                    <a:lnR w="12700" cap="flat" cmpd="sng" algn="ctr">
                      <a:solidFill>
                        <a:srgbClr val="4472C4"/>
                      </a:solidFill>
                      <a:prstDash val="solid"/>
                    </a:lnR>
                    <a:lnT w="12700" cap="flat" cmpd="sng" algn="ctr">
                      <a:solidFill>
                        <a:srgbClr val="4472C4"/>
                      </a:solidFill>
                      <a:prstDash val="solid"/>
                    </a:lnT>
                    <a:lnB w="12700" cap="flat" cmpd="sng" algn="ctr">
                      <a:solidFill>
                        <a:srgbClr val="4472C4"/>
                      </a:solidFill>
                      <a:prstDash val="solid"/>
                    </a:lnB>
                    <a:solidFill>
                      <a:srgbClr val="4472C4"/>
                    </a:solidFill>
                  </a:tcPr>
                </a:tc>
                <a:tc>
                  <a:txBody>
                    <a:bodyPr anchor="ctr" rtlCol="false" lIns="0" tIns="0" rIns="0" bIns="0" wrap="square"/>
                    <a:lstStyle/>
                    <a:p>
                      <a:pPr algn="ctr">
                        <a:lnSpc>
                          <a:spcPts val="1690"/>
                        </a:lnSpc>
                        <a:spcBef>
                          <a:spcPts val="0"/>
                        </a:spcBef>
                        <a:buNone/>
                      </a:pPr>
                      <a:r>
                        <a:rPr lang="en-US" sz="1300" b="true">
                          <a:solidFill>
                            <a:srgbClr val="FFFFFF"/>
                          </a:solidFill>
                          <a:latin typeface="Nunito Bold"/>
                          <a:ea typeface="Nunito Bold"/>
                          <a:cs typeface="Nunito Bold"/>
                          <a:sym typeface="Nunito Bold"/>
                        </a:rPr>
                        <a:t>Accuracy</a:t>
                      </a:r>
                    </a:p>
                  </a:txBody>
                  <a:tcPr marL="54864" marR="54864" marT="45720" marB="45720" anchor="ctr">
                    <a:lnL w="12700" cap="flat" cmpd="sng" algn="ctr">
                      <a:solidFill>
                        <a:srgbClr val="4472C4"/>
                      </a:solidFill>
                      <a:prstDash val="solid"/>
                    </a:lnL>
                    <a:lnR w="12700" cap="flat" cmpd="sng" algn="ctr">
                      <a:solidFill>
                        <a:srgbClr val="4472C4"/>
                      </a:solidFill>
                      <a:prstDash val="solid"/>
                    </a:lnR>
                    <a:lnT w="12700" cap="flat" cmpd="sng" algn="ctr">
                      <a:solidFill>
                        <a:srgbClr val="4472C4"/>
                      </a:solidFill>
                      <a:prstDash val="solid"/>
                    </a:lnT>
                    <a:lnB w="12700" cap="flat" cmpd="sng" algn="ctr">
                      <a:solidFill>
                        <a:srgbClr val="4472C4"/>
                      </a:solidFill>
                      <a:prstDash val="solid"/>
                    </a:lnB>
                    <a:solidFill>
                      <a:srgbClr val="4472C4"/>
                    </a:solidFill>
                  </a:tcPr>
                </a:tc>
                <a:tc>
                  <a:txBody>
                    <a:bodyPr anchor="ctr" rtlCol="false" lIns="0" tIns="0" rIns="0" bIns="0" wrap="square"/>
                    <a:lstStyle/>
                    <a:p>
                      <a:pPr algn="ctr">
                        <a:lnSpc>
                          <a:spcPts val="1690"/>
                        </a:lnSpc>
                        <a:spcBef>
                          <a:spcPts val="0"/>
                        </a:spcBef>
                        <a:buNone/>
                      </a:pPr>
                      <a:r>
                        <a:rPr lang="en-US" sz="1300" b="true">
                          <a:solidFill>
                            <a:srgbClr val="FFFFFF"/>
                          </a:solidFill>
                          <a:latin typeface="Nunito Bold"/>
                          <a:ea typeface="Nunito Bold"/>
                          <a:cs typeface="Nunito Bold"/>
                          <a:sym typeface="Nunito Bold"/>
                        </a:rPr>
                        <a:t>Train (s)</a:t>
                      </a:r>
                    </a:p>
                  </a:txBody>
                  <a:tcPr marL="54864" marR="54864" marT="45720" marB="45720" anchor="ctr">
                    <a:lnL w="12700" cap="flat" cmpd="sng" algn="ctr">
                      <a:solidFill>
                        <a:srgbClr val="4472C4"/>
                      </a:solidFill>
                      <a:prstDash val="solid"/>
                    </a:lnL>
                    <a:lnR w="12700" cap="flat" cmpd="sng" algn="ctr">
                      <a:solidFill>
                        <a:srgbClr val="4472C4"/>
                      </a:solidFill>
                      <a:prstDash val="solid"/>
                    </a:lnR>
                    <a:lnT w="12700" cap="flat" cmpd="sng" algn="ctr">
                      <a:solidFill>
                        <a:srgbClr val="4472C4"/>
                      </a:solidFill>
                      <a:prstDash val="solid"/>
                    </a:lnT>
                    <a:lnB w="12700" cap="flat" cmpd="sng" algn="ctr">
                      <a:solidFill>
                        <a:srgbClr val="4472C4"/>
                      </a:solidFill>
                      <a:prstDash val="solid"/>
                    </a:lnB>
                    <a:solidFill>
                      <a:srgbClr val="4472C4"/>
                    </a:solidFill>
                  </a:tcPr>
                </a:tc>
                <a:tc>
                  <a:txBody>
                    <a:bodyPr anchor="ctr" rtlCol="false" lIns="0" tIns="0" rIns="0" bIns="0" wrap="square"/>
                    <a:lstStyle/>
                    <a:p>
                      <a:pPr algn="ctr">
                        <a:lnSpc>
                          <a:spcPts val="1690"/>
                        </a:lnSpc>
                        <a:spcBef>
                          <a:spcPts val="0"/>
                        </a:spcBef>
                        <a:buNone/>
                      </a:pPr>
                      <a:r>
                        <a:rPr lang="en-US" sz="1300" b="true">
                          <a:solidFill>
                            <a:srgbClr val="FFFFFF"/>
                          </a:solidFill>
                          <a:latin typeface="Nunito Bold"/>
                          <a:ea typeface="Nunito Bold"/>
                          <a:cs typeface="Nunito Bold"/>
                          <a:sym typeface="Nunito Bold"/>
                        </a:rPr>
                        <a:t>× base</a:t>
                      </a:r>
                    </a:p>
                  </a:txBody>
                  <a:tcPr marL="54864" marR="54864" marT="45720" marB="45720" anchor="ctr">
                    <a:lnL w="12700" cap="flat" cmpd="sng" algn="ctr">
                      <a:solidFill>
                        <a:srgbClr val="4472C4"/>
                      </a:solidFill>
                      <a:prstDash val="solid"/>
                    </a:lnL>
                    <a:lnR w="12700" cap="flat" cmpd="sng" algn="ctr">
                      <a:solidFill>
                        <a:srgbClr val="4472C4"/>
                      </a:solidFill>
                      <a:prstDash val="solid"/>
                    </a:lnR>
                    <a:lnT w="12700" cap="flat" cmpd="sng" algn="ctr">
                      <a:solidFill>
                        <a:srgbClr val="4472C4"/>
                      </a:solidFill>
                      <a:prstDash val="solid"/>
                    </a:lnT>
                    <a:lnB w="12700" cap="flat" cmpd="sng" algn="ctr">
                      <a:solidFill>
                        <a:srgbClr val="4472C4"/>
                      </a:solidFill>
                      <a:prstDash val="solid"/>
                    </a:lnB>
                    <a:solidFill>
                      <a:srgbClr val="4472C4"/>
                    </a:solidFill>
                  </a:tcPr>
                </a:tc>
              </a:tr>
              <a:tr h="457200">
                <a:tc>
                  <a:txBody>
                    <a:bodyPr anchor="ctr" rtlCol="false" lIns="0" tIns="0" rIns="0" bIns="0" wrap="square"/>
                    <a:lstStyle/>
                    <a:p>
                      <a:pPr algn="ctr">
                        <a:lnSpc>
                          <a:spcPts val="1820"/>
                        </a:lnSpc>
                        <a:spcBef>
                          <a:spcPts val="0"/>
                        </a:spcBef>
                        <a:buNone/>
                      </a:pPr>
                      <a:r>
                        <a:rPr lang="en-US" sz="1400" b="true">
                          <a:solidFill>
                            <a:srgbClr val="111111"/>
                          </a:solidFill>
                          <a:latin typeface="Nunito Bold"/>
                          <a:ea typeface="Nunito Bold"/>
                          <a:cs typeface="Nunito Bold"/>
                          <a:sym typeface="Nunito Bold"/>
                        </a:rPr>
                        <a:t>10</a:t>
                      </a:r>
                    </a:p>
                  </a:txBody>
                  <a:tcPr marL="54864" marR="54864"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c>
                  <a:txBody>
                    <a:bodyPr anchor="ctr" rtlCol="false" lIns="0" tIns="0" rIns="0" bIns="0" wrap="square"/>
                    <a:lstStyle/>
                    <a:p>
                      <a:pPr algn="ctr">
                        <a:lnSpc>
                          <a:spcPts val="1820"/>
                        </a:lnSpc>
                        <a:spcBef>
                          <a:spcPts val="0"/>
                        </a:spcBef>
                        <a:buNone/>
                      </a:pPr>
                      <a:r>
                        <a:rPr lang="en-US" sz="1400" b="true">
                          <a:solidFill>
                            <a:srgbClr val="111111"/>
                          </a:solidFill>
                          <a:latin typeface="Nunito Semi-Bold"/>
                          <a:ea typeface="Nunito Semi-Bold"/>
                          <a:cs typeface="Nunito Semi-Bold"/>
                          <a:sym typeface="Nunito Semi-Bold"/>
                        </a:rPr>
                        <a:t>1.4 × 10</a:t>
                      </a:r>
                      <a:r>
                        <a:rPr lang="en-US" sz="1400" b="true" baseline="30000">
                          <a:solidFill>
                            <a:srgbClr val="111111"/>
                          </a:solidFill>
                          <a:latin typeface="Nunito Semi-Bold"/>
                          <a:ea typeface="Nunito Semi-Bold"/>
                          <a:cs typeface="Nunito Semi-Bold"/>
                          <a:sym typeface="Nunito Semi-Bold"/>
                        </a:rPr>
                        <a:t>−4</a:t>
                      </a:r>
                    </a:p>
                  </a:txBody>
                  <a:tcPr marL="54864" marR="54864"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c>
                  <a:txBody>
                    <a:bodyPr anchor="ctr" rtlCol="false" lIns="0" tIns="0" rIns="0" bIns="0" wrap="square"/>
                    <a:lstStyle/>
                    <a:p>
                      <a:pPr algn="ctr">
                        <a:lnSpc>
                          <a:spcPts val="1820"/>
                        </a:lnSpc>
                        <a:spcBef>
                          <a:spcPts val="0"/>
                        </a:spcBef>
                        <a:buNone/>
                      </a:pPr>
                      <a:r>
                        <a:rPr lang="en-US" sz="1400" b="true">
                          <a:solidFill>
                            <a:srgbClr val="111111"/>
                          </a:solidFill>
                          <a:latin typeface="Nunito Semi-Bold"/>
                          <a:ea typeface="Nunito Semi-Bold"/>
                          <a:cs typeface="Nunito Semi-Bold"/>
                          <a:sym typeface="Nunito Semi-Bold"/>
                        </a:rPr>
                        <a:t>95 %</a:t>
                      </a:r>
                    </a:p>
                  </a:txBody>
                  <a:tcPr marL="54864" marR="54864"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c>
                  <a:txBody>
                    <a:bodyPr anchor="ctr" rtlCol="false" lIns="0" tIns="0" rIns="0" bIns="0" wrap="square"/>
                    <a:lstStyle/>
                    <a:p>
                      <a:pPr algn="ctr">
                        <a:lnSpc>
                          <a:spcPts val="1820"/>
                        </a:lnSpc>
                        <a:spcBef>
                          <a:spcPts val="0"/>
                        </a:spcBef>
                        <a:buNone/>
                      </a:pPr>
                      <a:r>
                        <a:rPr lang="en-US" sz="1400" b="true">
                          <a:solidFill>
                            <a:srgbClr val="111111"/>
                          </a:solidFill>
                          <a:latin typeface="Nunito Semi-Bold"/>
                          <a:ea typeface="Nunito Semi-Bold"/>
                          <a:cs typeface="Nunito Semi-Bold"/>
                          <a:sym typeface="Nunito Semi-Bold"/>
                        </a:rPr>
                        <a:t>≈ 1,460</a:t>
                      </a:r>
                    </a:p>
                  </a:txBody>
                  <a:tcPr marL="54864" marR="54864"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c>
                  <a:txBody>
                    <a:bodyPr anchor="ctr" rtlCol="false" lIns="0" tIns="0" rIns="0" bIns="0" wrap="square"/>
                    <a:lstStyle/>
                    <a:p>
                      <a:pPr algn="ctr">
                        <a:lnSpc>
                          <a:spcPts val="1820"/>
                        </a:lnSpc>
                        <a:spcBef>
                          <a:spcPts val="0"/>
                        </a:spcBef>
                        <a:buNone/>
                      </a:pPr>
                      <a:r>
                        <a:rPr lang="en-US" sz="1400" b="true">
                          <a:solidFill>
                            <a:srgbClr val="111111"/>
                          </a:solidFill>
                          <a:latin typeface="Nunito Semi-Bold"/>
                          <a:ea typeface="Nunito Semi-Bold"/>
                          <a:cs typeface="Nunito Semi-Bold"/>
                          <a:sym typeface="Nunito Semi-Bold"/>
                        </a:rPr>
                        <a:t>1.3×</a:t>
                      </a:r>
                    </a:p>
                  </a:txBody>
                  <a:tcPr marL="54864" marR="54864"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r>
              <a:tr h="457200">
                <a:tc>
                  <a:txBody>
                    <a:bodyPr anchor="ctr" rtlCol="false" lIns="0" tIns="0" rIns="0" bIns="0" wrap="square"/>
                    <a:lstStyle/>
                    <a:p>
                      <a:pPr algn="ctr">
                        <a:lnSpc>
                          <a:spcPts val="1820"/>
                        </a:lnSpc>
                        <a:spcBef>
                          <a:spcPts val="0"/>
                        </a:spcBef>
                        <a:buNone/>
                      </a:pPr>
                      <a:r>
                        <a:rPr lang="en-US" sz="1400" b="true">
                          <a:solidFill>
                            <a:srgbClr val="111111"/>
                          </a:solidFill>
                          <a:latin typeface="Nunito Bold"/>
                          <a:ea typeface="Nunito Bold"/>
                          <a:cs typeface="Nunito Bold"/>
                          <a:sym typeface="Nunito Bold"/>
                        </a:rPr>
                        <a:t>25</a:t>
                      </a:r>
                    </a:p>
                  </a:txBody>
                  <a:tcPr marL="54864" marR="54864"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6ECDF"/>
                    </a:solidFill>
                  </a:tcPr>
                </a:tc>
                <a:tc>
                  <a:txBody>
                    <a:bodyPr anchor="ctr" rtlCol="false" lIns="0" tIns="0" rIns="0" bIns="0" wrap="square"/>
                    <a:lstStyle/>
                    <a:p>
                      <a:pPr algn="ctr">
                        <a:lnSpc>
                          <a:spcPts val="1820"/>
                        </a:lnSpc>
                        <a:spcBef>
                          <a:spcPts val="0"/>
                        </a:spcBef>
                        <a:buNone/>
                      </a:pPr>
                      <a:r>
                        <a:rPr lang="en-US" sz="1400" b="true">
                          <a:solidFill>
                            <a:srgbClr val="111111"/>
                          </a:solidFill>
                          <a:latin typeface="Nunito Semi-Bold"/>
                          <a:ea typeface="Nunito Semi-Bold"/>
                          <a:cs typeface="Nunito Semi-Bold"/>
                          <a:sym typeface="Nunito Semi-Bold"/>
                        </a:rPr>
                        <a:t>5.6 × 10</a:t>
                      </a:r>
                      <a:r>
                        <a:rPr lang="en-US" sz="1400" b="true" baseline="30000">
                          <a:solidFill>
                            <a:srgbClr val="111111"/>
                          </a:solidFill>
                          <a:latin typeface="Nunito Semi-Bold"/>
                          <a:ea typeface="Nunito Semi-Bold"/>
                          <a:cs typeface="Nunito Semi-Bold"/>
                          <a:sym typeface="Nunito Semi-Bold"/>
                        </a:rPr>
                        <a:t>−5</a:t>
                      </a:r>
                    </a:p>
                  </a:txBody>
                  <a:tcPr marL="54864" marR="54864"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6ECDF"/>
                    </a:solidFill>
                  </a:tcPr>
                </a:tc>
                <a:tc>
                  <a:txBody>
                    <a:bodyPr anchor="ctr" rtlCol="false" lIns="0" tIns="0" rIns="0" bIns="0" wrap="square"/>
                    <a:lstStyle/>
                    <a:p>
                      <a:pPr algn="ctr">
                        <a:lnSpc>
                          <a:spcPts val="1820"/>
                        </a:lnSpc>
                        <a:spcBef>
                          <a:spcPts val="0"/>
                        </a:spcBef>
                        <a:buNone/>
                      </a:pPr>
                      <a:r>
                        <a:rPr lang="en-US" sz="1400" b="true">
                          <a:solidFill>
                            <a:srgbClr val="111111"/>
                          </a:solidFill>
                          <a:latin typeface="Nunito Semi-Bold"/>
                          <a:ea typeface="Nunito Semi-Bold"/>
                          <a:cs typeface="Nunito Semi-Bold"/>
                          <a:sym typeface="Nunito Semi-Bold"/>
                        </a:rPr>
                        <a:t>98 %</a:t>
                      </a:r>
                    </a:p>
                  </a:txBody>
                  <a:tcPr marL="54864" marR="54864"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6ECDF"/>
                    </a:solidFill>
                  </a:tcPr>
                </a:tc>
                <a:tc>
                  <a:txBody>
                    <a:bodyPr anchor="ctr" rtlCol="false" lIns="0" tIns="0" rIns="0" bIns="0" wrap="square"/>
                    <a:lstStyle/>
                    <a:p>
                      <a:pPr algn="ctr">
                        <a:lnSpc>
                          <a:spcPts val="1820"/>
                        </a:lnSpc>
                        <a:spcBef>
                          <a:spcPts val="0"/>
                        </a:spcBef>
                        <a:buNone/>
                      </a:pPr>
                      <a:r>
                        <a:rPr lang="en-US" sz="1400" b="true">
                          <a:solidFill>
                            <a:srgbClr val="111111"/>
                          </a:solidFill>
                          <a:latin typeface="Nunito Semi-Bold"/>
                          <a:ea typeface="Nunito Semi-Bold"/>
                          <a:cs typeface="Nunito Semi-Bold"/>
                          <a:sym typeface="Nunito Semi-Bold"/>
                        </a:rPr>
                        <a:t>≈ 1,800</a:t>
                      </a:r>
                    </a:p>
                  </a:txBody>
                  <a:tcPr marL="54864" marR="54864"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6ECDF"/>
                    </a:solidFill>
                  </a:tcPr>
                </a:tc>
                <a:tc>
                  <a:txBody>
                    <a:bodyPr anchor="ctr" rtlCol="false" lIns="0" tIns="0" rIns="0" bIns="0" wrap="square"/>
                    <a:lstStyle/>
                    <a:p>
                      <a:pPr algn="ctr">
                        <a:lnSpc>
                          <a:spcPts val="1820"/>
                        </a:lnSpc>
                        <a:spcBef>
                          <a:spcPts val="0"/>
                        </a:spcBef>
                        <a:buNone/>
                      </a:pPr>
                      <a:r>
                        <a:rPr lang="en-US" sz="1400" b="true">
                          <a:solidFill>
                            <a:srgbClr val="111111"/>
                          </a:solidFill>
                          <a:latin typeface="Nunito Semi-Bold"/>
                          <a:ea typeface="Nunito Semi-Bold"/>
                          <a:cs typeface="Nunito Semi-Bold"/>
                          <a:sym typeface="Nunito Semi-Bold"/>
                        </a:rPr>
                        <a:t>1.6×</a:t>
                      </a:r>
                    </a:p>
                  </a:txBody>
                  <a:tcPr marL="54864" marR="54864"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6ECDF"/>
                    </a:solidFill>
                  </a:tcPr>
                </a:tc>
              </a:tr>
              <a:tr h="457200">
                <a:tc>
                  <a:txBody>
                    <a:bodyPr anchor="ctr" rtlCol="false" lIns="0" tIns="0" rIns="0" bIns="0" wrap="square"/>
                    <a:lstStyle/>
                    <a:p>
                      <a:pPr algn="ctr">
                        <a:lnSpc>
                          <a:spcPts val="1820"/>
                        </a:lnSpc>
                        <a:spcBef>
                          <a:spcPts val="0"/>
                        </a:spcBef>
                        <a:buNone/>
                      </a:pPr>
                      <a:r>
                        <a:rPr lang="en-US" sz="1400" b="1">
                          <a:solidFill>
                            <a:srgbClr val="111111"/>
                          </a:solidFill>
                          <a:latin typeface="Nunito Bold"/>
                          <a:ea typeface="Nunito Bold"/>
                          <a:cs typeface="Nunito Bold"/>
                          <a:sym typeface="Nunito Bold"/>
                        </a:rPr>
                        <a:t>50</a:t>
                      </a:r>
                    </a:p>
                  </a:txBody>
                  <a:tcPr marL="54864" marR="54864"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D9E2F3"/>
                    </a:solidFill>
                  </a:tcPr>
                </a:tc>
                <a:tc>
                  <a:txBody>
                    <a:bodyPr anchor="ctr" rtlCol="false" lIns="0" tIns="0" rIns="0" bIns="0" wrap="square"/>
                    <a:lstStyle/>
                    <a:p>
                      <a:pPr algn="ctr">
                        <a:lnSpc>
                          <a:spcPts val="1820"/>
                        </a:lnSpc>
                        <a:spcBef>
                          <a:spcPts val="0"/>
                        </a:spcBef>
                        <a:buNone/>
                      </a:pPr>
                      <a:r>
                        <a:rPr lang="en-US" sz="1400" b="1">
                          <a:solidFill>
                            <a:srgbClr val="111111"/>
                          </a:solidFill>
                          <a:latin typeface="Nunito Semi-Bold"/>
                          <a:ea typeface="Nunito Semi-Bold"/>
                          <a:cs typeface="Nunito Semi-Bold"/>
                          <a:sym typeface="Nunito Semi-Bold"/>
                        </a:rPr>
                        <a:t>1.4 × 10</a:t>
                      </a:r>
                      <a:r>
                        <a:rPr lang="en-US" sz="1400" b="1" baseline="30000">
                          <a:solidFill>
                            <a:srgbClr val="111111"/>
                          </a:solidFill>
                          <a:latin typeface="Nunito Semi-Bold"/>
                          <a:ea typeface="Nunito Semi-Bold"/>
                          <a:cs typeface="Nunito Semi-Bold"/>
                          <a:sym typeface="Nunito Semi-Bold"/>
                        </a:rPr>
                        <a:t>−5</a:t>
                      </a:r>
                    </a:p>
                  </a:txBody>
                  <a:tcPr marL="54864" marR="54864"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D9E2F3"/>
                    </a:solidFill>
                  </a:tcPr>
                </a:tc>
                <a:tc>
                  <a:txBody>
                    <a:bodyPr anchor="ctr" rtlCol="false" lIns="0" tIns="0" rIns="0" bIns="0" wrap="square"/>
                    <a:lstStyle/>
                    <a:p>
                      <a:pPr algn="ctr">
                        <a:lnSpc>
                          <a:spcPts val="1820"/>
                        </a:lnSpc>
                        <a:spcBef>
                          <a:spcPts val="0"/>
                        </a:spcBef>
                        <a:buNone/>
                      </a:pPr>
                      <a:r>
                        <a:rPr lang="en-US" sz="1400" b="1">
                          <a:solidFill>
                            <a:srgbClr val="111111"/>
                          </a:solidFill>
                          <a:latin typeface="Nunito Semi-Bold"/>
                          <a:ea typeface="Nunito Semi-Bold"/>
                          <a:cs typeface="Nunito Semi-Bold"/>
                          <a:sym typeface="Nunito Semi-Bold"/>
                        </a:rPr>
                        <a:t>99 %</a:t>
                      </a:r>
                    </a:p>
                  </a:txBody>
                  <a:tcPr marL="54864" marR="54864"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D9E2F3"/>
                    </a:solidFill>
                  </a:tcPr>
                </a:tc>
                <a:tc>
                  <a:txBody>
                    <a:bodyPr anchor="ctr" rtlCol="false" lIns="0" tIns="0" rIns="0" bIns="0" wrap="square"/>
                    <a:lstStyle/>
                    <a:p>
                      <a:pPr algn="ctr">
                        <a:lnSpc>
                          <a:spcPts val="1820"/>
                        </a:lnSpc>
                        <a:spcBef>
                          <a:spcPts val="0"/>
                        </a:spcBef>
                        <a:buNone/>
                      </a:pPr>
                      <a:r>
                        <a:rPr lang="en-US" sz="1400" b="1">
                          <a:solidFill>
                            <a:srgbClr val="111111"/>
                          </a:solidFill>
                          <a:latin typeface="Nunito Semi-Bold"/>
                          <a:ea typeface="Nunito Semi-Bold"/>
                          <a:cs typeface="Nunito Semi-Bold"/>
                          <a:sym typeface="Nunito Semi-Bold"/>
                        </a:rPr>
                        <a:t>2,001</a:t>
                      </a:r>
                    </a:p>
                  </a:txBody>
                  <a:tcPr marL="54864" marR="54864"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D9E2F3"/>
                    </a:solidFill>
                  </a:tcPr>
                </a:tc>
                <a:tc>
                  <a:txBody>
                    <a:bodyPr anchor="ctr" rtlCol="false" lIns="0" tIns="0" rIns="0" bIns="0" wrap="square"/>
                    <a:lstStyle/>
                    <a:p>
                      <a:pPr algn="ctr">
                        <a:lnSpc>
                          <a:spcPts val="1820"/>
                        </a:lnSpc>
                        <a:spcBef>
                          <a:spcPts val="0"/>
                        </a:spcBef>
                        <a:buNone/>
                      </a:pPr>
                      <a:r>
                        <a:rPr lang="en-US" sz="1400" b="1">
                          <a:solidFill>
                            <a:srgbClr val="111111"/>
                          </a:solidFill>
                          <a:latin typeface="Nunito Semi-Bold"/>
                          <a:ea typeface="Nunito Semi-Bold"/>
                          <a:cs typeface="Nunito Semi-Bold"/>
                          <a:sym typeface="Nunito Semi-Bold"/>
                        </a:rPr>
                        <a:t>1.78×</a:t>
                      </a:r>
                    </a:p>
                  </a:txBody>
                  <a:tcPr marL="54864" marR="54864"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D9E2F3"/>
                    </a:solidFill>
                  </a:tcPr>
                </a:tc>
              </a:tr>
              <a:tr h="457200">
                <a:tc>
                  <a:txBody>
                    <a:bodyPr anchor="ctr" rtlCol="false" lIns="0" tIns="0" rIns="0" bIns="0" wrap="square"/>
                    <a:lstStyle/>
                    <a:p>
                      <a:pPr algn="ctr">
                        <a:lnSpc>
                          <a:spcPts val="1820"/>
                        </a:lnSpc>
                        <a:spcBef>
                          <a:spcPts val="0"/>
                        </a:spcBef>
                        <a:buNone/>
                      </a:pPr>
                      <a:r>
                        <a:rPr lang="en-US" sz="1400" b="true">
                          <a:solidFill>
                            <a:srgbClr val="111111"/>
                          </a:solidFill>
                          <a:latin typeface="Nunito Bold"/>
                          <a:ea typeface="Nunito Bold"/>
                          <a:cs typeface="Nunito Bold"/>
                          <a:sym typeface="Nunito Bold"/>
                        </a:rPr>
                        <a:t>100</a:t>
                      </a:r>
                    </a:p>
                  </a:txBody>
                  <a:tcPr marL="54864" marR="54864"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6ECDF"/>
                    </a:solidFill>
                  </a:tcPr>
                </a:tc>
                <a:tc>
                  <a:txBody>
                    <a:bodyPr anchor="ctr" rtlCol="false" lIns="0" tIns="0" rIns="0" bIns="0" wrap="square"/>
                    <a:lstStyle/>
                    <a:p>
                      <a:pPr algn="ctr">
                        <a:lnSpc>
                          <a:spcPts val="1820"/>
                        </a:lnSpc>
                        <a:spcBef>
                          <a:spcPts val="0"/>
                        </a:spcBef>
                        <a:buNone/>
                      </a:pPr>
                      <a:r>
                        <a:rPr lang="en-US" sz="1400" b="true">
                          <a:solidFill>
                            <a:srgbClr val="111111"/>
                          </a:solidFill>
                          <a:latin typeface="Nunito Semi-Bold"/>
                          <a:ea typeface="Nunito Semi-Bold"/>
                          <a:cs typeface="Nunito Semi-Bold"/>
                          <a:sym typeface="Nunito Semi-Bold"/>
                        </a:rPr>
                        <a:t>3.5 × 10</a:t>
                      </a:r>
                      <a:r>
                        <a:rPr lang="en-US" sz="1400" b="true" baseline="30000">
                          <a:solidFill>
                            <a:srgbClr val="111111"/>
                          </a:solidFill>
                          <a:latin typeface="Nunito Semi-Bold"/>
                          <a:ea typeface="Nunito Semi-Bold"/>
                          <a:cs typeface="Nunito Semi-Bold"/>
                          <a:sym typeface="Nunito Semi-Bold"/>
                        </a:rPr>
                        <a:t>−6</a:t>
                      </a:r>
                    </a:p>
                  </a:txBody>
                  <a:tcPr marL="54864" marR="54864"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6ECDF"/>
                    </a:solidFill>
                  </a:tcPr>
                </a:tc>
                <a:tc>
                  <a:txBody>
                    <a:bodyPr anchor="ctr" rtlCol="false" lIns="0" tIns="0" rIns="0" bIns="0" wrap="square"/>
                    <a:lstStyle/>
                    <a:p>
                      <a:pPr algn="ctr">
                        <a:lnSpc>
                          <a:spcPts val="1820"/>
                        </a:lnSpc>
                        <a:spcBef>
                          <a:spcPts val="0"/>
                        </a:spcBef>
                        <a:buNone/>
                      </a:pPr>
                      <a:r>
                        <a:rPr lang="en-US" sz="1400" b="true">
                          <a:solidFill>
                            <a:srgbClr val="111111"/>
                          </a:solidFill>
                          <a:latin typeface="Nunito Semi-Bold"/>
                          <a:ea typeface="Nunito Semi-Bold"/>
                          <a:cs typeface="Nunito Semi-Bold"/>
                          <a:sym typeface="Nunito Semi-Bold"/>
                        </a:rPr>
                        <a:t>99.5 %</a:t>
                      </a:r>
                    </a:p>
                  </a:txBody>
                  <a:tcPr marL="54864" marR="54864"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6ECDF"/>
                    </a:solidFill>
                  </a:tcPr>
                </a:tc>
                <a:tc>
                  <a:txBody>
                    <a:bodyPr anchor="ctr" rtlCol="false" lIns="0" tIns="0" rIns="0" bIns="0" wrap="square"/>
                    <a:lstStyle/>
                    <a:p>
                      <a:pPr algn="ctr">
                        <a:lnSpc>
                          <a:spcPts val="1820"/>
                        </a:lnSpc>
                        <a:spcBef>
                          <a:spcPts val="0"/>
                        </a:spcBef>
                        <a:buNone/>
                      </a:pPr>
                      <a:r>
                        <a:rPr lang="en-US" sz="1400" b="true">
                          <a:solidFill>
                            <a:srgbClr val="111111"/>
                          </a:solidFill>
                          <a:latin typeface="Nunito Semi-Bold"/>
                          <a:ea typeface="Nunito Semi-Bold"/>
                          <a:cs typeface="Nunito Semi-Bold"/>
                          <a:sym typeface="Nunito Semi-Bold"/>
                        </a:rPr>
                        <a:t>≈ 2,810</a:t>
                      </a:r>
                    </a:p>
                  </a:txBody>
                  <a:tcPr marL="54864" marR="54864"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6ECDF"/>
                    </a:solidFill>
                  </a:tcPr>
                </a:tc>
                <a:tc>
                  <a:txBody>
                    <a:bodyPr anchor="ctr" rtlCol="false" lIns="0" tIns="0" rIns="0" bIns="0" wrap="square"/>
                    <a:lstStyle/>
                    <a:p>
                      <a:pPr algn="ctr">
                        <a:lnSpc>
                          <a:spcPts val="1820"/>
                        </a:lnSpc>
                        <a:spcBef>
                          <a:spcPts val="0"/>
                        </a:spcBef>
                        <a:buNone/>
                      </a:pPr>
                      <a:r>
                        <a:rPr lang="en-US" sz="1400" b="true">
                          <a:solidFill>
                            <a:srgbClr val="111111"/>
                          </a:solidFill>
                          <a:latin typeface="Nunito Semi-Bold"/>
                          <a:ea typeface="Nunito Semi-Bold"/>
                          <a:cs typeface="Nunito Semi-Bold"/>
                          <a:sym typeface="Nunito Semi-Bold"/>
                        </a:rPr>
                        <a:t>2.5×</a:t>
                      </a:r>
                    </a:p>
                  </a:txBody>
                  <a:tcPr marL="54864" marR="54864"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6ECDF"/>
                    </a:solidFill>
                  </a:tcPr>
                </a:tc>
              </a:tr>
            </a:tbl>
          </a:graphicData>
        </a:graphic>
      </p:graphicFrame>
      <p:sp>
        <p:nvSpPr>
          <p:cNvPr id="11" name="Rounded Rectangle 10"/>
          <p:cNvSpPr/>
          <p:nvPr/>
        </p:nvSpPr>
        <p:spPr>
          <a:xfrm>
            <a:off x="1028700" y="7419086"/>
            <a:ext cx="16230600" cy="1005840"/>
          </a:xfrm>
          <a:prstGeom prst="roundRect">
            <a:avLst>
              <a:gd name="adj" fmla="val 20000"/>
            </a:avLst>
          </a:prstGeom>
          <a:solidFill>
            <a:srgbClr val="F6ECDF"/>
          </a:solidFill>
          <a:ln>
            <a:noFill/>
          </a:ln>
        </p:spPr>
        <p:txBody>
          <a:bodyPr anchor="ctr" rtlCol="false" lIns="365760" tIns="45720" rIns="365760" bIns="45720" wrap="square"/>
          <a:lstStyle/>
          <a:p>
            <a:pPr algn="ctr">
              <a:lnSpc>
                <a:spcPts val="2200"/>
              </a:lnSpc>
              <a:spcBef>
                <a:spcPts val="0"/>
              </a:spcBef>
              <a:buNone/>
            </a:pPr>
            <a:r>
              <a:rPr lang="en-US" sz="1700" b="true">
                <a:solidFill>
                  <a:srgbClr val="111111"/>
                </a:solidFill>
                <a:latin typeface="Nunito Semi-Bold"/>
                <a:ea typeface="Nunito Semi-Bold"/>
                <a:cs typeface="Nunito Semi-Bold"/>
                <a:sym typeface="Nunito Semi-Bold"/>
              </a:rPr>
              <a:t>DyHuCoG costs about </a:t>
            </a:r>
            <a:r>
              <a:rPr lang="en-US" sz="1700" b="true">
                <a:solidFill>
                  <a:srgbClr val="111111"/>
                </a:solidFill>
                <a:latin typeface="Nunito Bold"/>
                <a:ea typeface="Nunito Bold"/>
                <a:cs typeface="Nunito Bold"/>
                <a:sym typeface="Nunito Bold"/>
              </a:rPr>
              <a:t>1.78× HPCF</a:t>
            </a:r>
            <a:r>
              <a:rPr lang="en-US" sz="1700" b="true">
                <a:solidFill>
                  <a:srgbClr val="111111"/>
                </a:solidFill>
                <a:latin typeface="Nunito Semi-Bold"/>
                <a:ea typeface="Nunito Semi-Bold"/>
                <a:cs typeface="Nunito Semi-Bold"/>
                <a:sym typeface="Nunito Semi-Bold"/>
              </a:rPr>
              <a:t> in training time and stays under </a:t>
            </a:r>
            <a:r>
              <a:rPr lang="en-US" sz="1700" b="true">
                <a:solidFill>
                  <a:srgbClr val="111111"/>
                </a:solidFill>
                <a:latin typeface="Nunito Bold"/>
                <a:ea typeface="Nunito Bold"/>
                <a:cs typeface="Nunito Bold"/>
                <a:sym typeface="Nunito Bold"/>
              </a:rPr>
              <a:t>2 ms per query</a:t>
            </a:r>
            <a:r>
              <a:rPr lang="en-US" sz="1700" b="true">
                <a:solidFill>
                  <a:srgbClr val="111111"/>
                </a:solidFill>
                <a:latin typeface="Nunito Semi-Bold"/>
                <a:ea typeface="Nunito Semi-Bold"/>
                <a:cs typeface="Nunito Semi-Bold"/>
                <a:sym typeface="Nunito Semi-Bold"/>
              </a:rPr>
              <a:t> on MovieLens-1M; M = 50 permutations is the knee of the accuracy / cost curve, which is why it is the default.</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Company/>
  <LinksUpToDate>false</LinksUpToDate>
  <SharedDoc>false</SharedDoc>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xsi="http://www.w3.org/2001/XMLSchema-instance">
  <dcterms:created xsi:type="dcterms:W3CDTF">2006-08-16T00:00:00Z</dcterms:created>
  <dc:identifier>DAHURed54lA</dc:identifier>
  <dcterms:modified xsi:type="dcterms:W3CDTF">2011-08-01T06:04:30Z</dcterms:modified>
  <cp:revision>1</cp:revision>
  <dc:title>Beige Green Modern Illustrative Playful Thesis Defense Presentation</dc:title>
</cp:coreProperties>
</file>