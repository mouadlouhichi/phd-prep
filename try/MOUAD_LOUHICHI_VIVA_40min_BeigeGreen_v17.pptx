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6.xml"/><Relationship Id="rId26" Type="http://schemas.openxmlformats.org/officeDocument/2006/relationships/notesMaster" Target="notesMasters/notesMaster1.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the opportunity to present my work. I am Mouad Louhichi, and the thesis I am defending, supervised by Professor Mohamed Lazaar, is entitled: Cooperative Game Theory for Explainable AI in Recommendation Systems, A Shapley Framework for Actionable Insight. Keep one idea in mind: Shapley attribution is not just a way to explain a model after training. I show how it becomes one framework that explains black-box models, stays consistent across levels of detail, and guides how recommenders learn.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plan for the next forty minutes. I will start with the motivation and the concept of actionable insight, then the research context, the limitations and the research questions. Then the common experimental protocol, and the three contributions, each following the same path: the gap, the objectives, the methodology, the protocol, the results and the findings. I will close with the outcomes and the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motivation. The first question is simple: why has explainability become a core requirement for modern recommenders?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Recommenders now decide what we see, watch and buy. They are accurate, but their reasoning is hard to understand. Three questions drive this thesis. First, scale: these models shape the experience of billions of users. Second, transparency: even state-of-the-art recommenders and clustering pipelines are often black boxes. Third, trust: can we build transparency into the model itself, instead of adding explanations later? And the thesis starts from one idea: accuracy and interpretability are two goals to achieve together, not competing objectives.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thesis turns on. An explanation is actionable when it points to something we can actually change, and changing it clearly affects the output. It must be expressed in the language of the domain: acidity in wine, pollution in air quality, user preferences in recommenders. 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context. The history of this field is also the history of the interpretability problem. Early similarity-based approaches were easy to explain because they used visible features. Matrix factorization improved accuracy and scale, but hid the meaning in latent factors. Neural and graph models added power through hidden representations and message passing, and hypergraphs added richer relationships. At each step we gained predictive power while losing transparency. That growing gap is what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not only theoretical models. Netflix, Spotify, Amazon and Yelp already personalize the experience of millions of users. The performance is impressive, yet the user rarely knows why a specific item was selected. That is the situation this work starts from.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 To understand where the difficulty comes from, I will briefly review the main recommendation approaches and explain their respective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 The principle is simple: the system recommends items according to their characteristics and the user's previous preferences. The main advantage of this approach is that it is naturally explainable. The recommendation can be linked to visible features that users and experts can understand. But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 Here, the system does not rely on item features, but instead learns from the behaviour and preferences of similar users. This idea has been extremely successful because it can discover hidden patterns from user-item interactions. But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 Hybrid systems combine different sources of information to reduce the limitations of individual methods. Matrix factorization became one of the most successful approaches because it provides accurate and scalable recommendations. But the learned user and item factors are latent representations. They improve prediction performance, but their meaning is usually unknown. 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most important for this thesis, is graph and hypergraph recommendation. Users, items and interactions become connected structures, and message passing lets information propagate over several hops. Hypergraphs go further, joining a user, an item and a context in one higher-order relation. But this power brings a new challenge: the importance of each message stays hidden. The model learns complex relationships, yet cannot say which of them actually mattered.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evolution leaves four limitations. First, data sparsity: the user-item matrix is almost empty, which makes learning hard. Second, cold-start: new users and items have no history. Third, popularity bias: popular items get more exposure while relevant, less popular ones are ignored. And the one this thesis targets: the absence of interpretability. For clustering it is even harder, because existing methods give either local or global explanations, rarely both consistently.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observations lead to three problems that shape this research. First, complex models are hard to explain in a way that is both faithful and actionable. Second, explanations often do not scale to large datasets or multi-level structures. Third, explanations are produced after training, so they describe the model without influencing how it learns. The central idea is that Shapley attribution gives one cooperative-game framework for all three.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gap, five research questions follow. RQ1 asks how Shapley values can explain black-box clustering faithfully at instance and cluster level. RQ2 extends this to large-scale, multi-level clustering while staying consistent. RQ3 moves beyond explanation: can cooperative attribution become part of how recommenders learn? RQ4 asks whether this improves ranking while keeping context and diversity. And RQ5 asks what we gain by reading both tasks through one cooperative-game 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questions lead to three contributions. The first introduces a Shapley framework for explaining black-box clustering, evaluated on Wine Quality with faithful feature attribution. The second extends it to large-scale multi-level clustering on Beijing Air Quality, with a formal guarantee of consistency across levels. The third, DyHuCoG, integrates cooperative attribution directly into hypergraph recommendation learning. Together they follow one progression: explanation, then scalability, then action.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 The objective is to make the evaluation consistent and reproducible across all experiments. I will present the datasets, the baselines, the evaluation metrics, and the computational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cover both tasks: Wine Quality and Beijing Air Quality for clustering, MovieLens-1M and Amazon-Book for recommendation. The first is the Portuguese White Wine Quality dataset: 4,898 samples described by 11 physicochemical measurements such as acidity, density, sulphates and alcohol. It suits the first contribution because every variable has a clear meaning in the real domain, so an important factor maps straight to something a wine expert can understand and influence.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It contains 383,585 hourly observations collected from monitoring stations, including pollutant measurements and weather variables. Compared with wine data, this dataset introduces several additional challenges: much larger scale, environmental complexity, and temporal variation. This makes it an appropriate test case for evaluating whether explanations can remain meaningful in large multi-level structures.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 The first one is MovieLens-1M, containing approximately one million ratings from more than six thousand users over thousands of movies. It is a standard benchmark widely used in recommendation research, allowing comparison with existing methods.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is Amazon-Book, which is much more sparse, with millions of interactions but a very low user-item density. 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the experimental design, reproducibility and prevention of data leakage are important considerations. For clustering experiments, cross-validation is used. For recommendation experiments, I use user-level time-ordered splits with validation-based early stopping. All experiments are repeated using multiple random seeds to ensure that the results are not dependent on a specific initialization.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approaches are compared with strong existing baselines. For clustering explanation, the main comparison is performed against LIME-based explanations, which represent one of the most common post-hoc explanation approaches. For recommendation, the comparison includes classical matrix factorization methods and recent graph and hypergraph recommenders, including HPCF.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evaluation metrics are used depending on the task. For recommendation, NDCG@20 is used as the main ranking metric. Also, coverage and intra-list diversity are evaluated because recommendation quality is not only about accuracy, but also about providing diverse and less biased results. For clustering, metrics such as Silhouette and Davies-Bouldin are used to evaluate the quality of the obtained partitions. These metrics allow us to evaluate both model performance and the quality of the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regarding the computational environment, clustering experiments were performed on a standard workstation, while recommendation experiments, especially DyHuCoG training, were performed using an RTX 4090 GPU. These configurations allow us to evaluate not only the performance of the proposed approaches, but also their practical computational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 The objective here is to answer the following question: can we explain the decisions of a black-box clustering model using a principled attribution method?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clustering itself. Unlike supervised learning, there is no predefined target. The model discovers groups straight from the data, so understanding each cluster is harder. Existing methods focus either on individual instances or on global descriptions, rarely both at once. So the first contribution asks how Shapley attribution can give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main objectives. The first objective is to provide explanations at both cluster level and individual sample level. The second objective is to keep the explanations in the original feature space, because explanations are only useful when domain experts can understand them. The third objective is to rely on a theoretically grounded attribution method based on cooperative game theory.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 A cooperative game has a set of players, the coalitions between them, and a value function measuring each coalition's contribution. The question is how to fairly distribute the total among the players. The Shapley value answers this: the average marginal contribution of each player across all arrival orders. Here the players are the input features, and the Shapley value measures each feature's contribution to the clustering result.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apply Shapley values to clustering, the clustering problem is reformulated as a cooperative game. The players correspond to the features, and the value function represents the quality of the clustering obtained using a subset of features. In this work, the Silhouette score is used to measure this quality. But evaluating every possible feature coalition is computationally expensive. So a surrogate model is introduced to approximate the clustering decisions and make Shapley computation practical.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pipeline contains four main steps. First, K-Means is applied to create the initial clusters. Second, a LightGBM classifier is trained to reproduce these cluster assignments. Third, TreeSHAP is applied to this surrogate model to compute feature contributions. Finally, the obtained explanations are compared with LIME. The key point is that the surrogate model must faithfully represent the original clustering behaviour.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From a purely geometric perspective, two clusters provide the best separation according to the clustering metrics. But three clusters are selected because they provide more meaningful chemical interpretations. This choice illustrates an important principle of this thesis: the goal is not only to optimize mathematical criteria, but also to obtain explanations that can support human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show that several variables play a major role in explaining the wine clusters. The most important factors include density, pH, acidity, sulfur dioxide variables, and alcohol content. These variables are meaningful because they correspond to real physicochemical properties of wine. More importantly, the explanation is not limited to a global ranking. It also shows that different clusters are characterized by different combinations of important variables.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first research question. Shapley values can explain black-box clustering when the surrogate model provides sufficient fidelity. They provide both global and local explanations while keeping the attribution connected to the original features. Compared with approaches such as LIME, the main advantage is that Shapley values are based on a formal cooperative-game foundation with desirable properties such as fairness and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 The approach provides explanations at different levels while maintaining the meaning of the original variables. So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first contribution also presents some limitations. First, the quality of the explanation depends on the fidelity of the surrogate model. Second, the evaluation is performed on tabular data, so the generalization to other data types remains open. Finally, the explanation remains single-level. It explains one clustering structure, but does not explain how feature importance changes across different levels of organization. 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 is that Shapley attribution provides a principled way to understand an unsupervised model. But real-world datasets are often much larger and may contain hierarchical structures. So the next question is whether the same explanation principle can remain meaningful when moving from one level of analysis to several levels.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 The objective is to extend Shapley-based explanation from single-level clustering to large-scale and multi-level clustering. This contribution addresses the second research question.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in this case is not only scale, but also consistency across levels. When a large cluster is divided into smaller sub-clusters, the explanation should help us understand both the global structure and the specific characteristics of each sub-group. But existing approaches do not provide a formal relationship between the explanation of a parent cluster and the explanations of its children. This is the main research gap addressed in this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First, to design a multi-level explanation framework where each level has its own surrogate model. Second, to establish a formal relationship between explanations at different levels of the hierarchy. Third, to evaluate whether this framework remains practical and meaningful on a large environmental dataset.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 follows a recursive strategy. First, the complete dataset is partitioned into coarse clusters. Then, each cluster can be further divided into smaller sub-clusters. At every level, a surrogate model is trained and SHAP values are computed using the same original feature space. This allows the importance of variables to be compared across different levels while preserving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theoretical contribution of this work is Proposition 6.1. This proposition establishes a relationship between the explanation of a parent cluster and the explanations of its child clusters. The parent attribution can be expressed as a size-weighted combination of child attributions, plus a residual term. This residual mainly reflects the difference introduced by surrogate approximation. So changes in importance across levels are not considered inconsistencies, but rather structured variations that can be interpreted.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experimental protocol follows the same general principles as the first contribution. The Beijing Air Quality dataset is first clustered at a global level. Then, each cluster is further divided to create a multi-level structure. At each level, a dedicated surrogate model is trained and SHAP explanations are computed. Finally, the proposed relationship is evaluated through aggregation and sensitivity analysis.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The selected solution achieves a Silhouette score of approximately 0.63 and a Davies-Bouldin score around 0.55. The stability analysis also shows that the conclusions remain consistent under changes in modelling parameters such as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reveals an interesting environmental interpretation. The most important variables are temperature, dew point, and pressure, followed by pollutants such as carbon monoxide, nitrogen dioxide, and particulate matter. This shows that pollution patterns are not determined only by pollutant concentrations themselves.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from the global level to individual clusters, the explanation changes. Globally, temperature and dew point define the main environmental regimes. But inside each regime, different variables matter: one cluster may be warmer and ozone-driven, another may be winter pollution with particulate matter. These differences are not contradictions. They give a more detailed picture of the data structure.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 Shapley explanations can be extended to large-scale and multi-level clustering when the hierarchy is explicitly defined and the approximation process is transparent. 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 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some limitations remain. The clustering process is still static, even though the air-quality data have a temporal dimension. The explanations continue to depend on surrogate models and approximation techniques. Most importantly, attribution is still post-hoc: it explains what the model has already learned, but it does not participate in the learning process itself. This observation leads naturally to the third contribution, where explanation becomes part of model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II is that Shapley attribution stays consistent across levels of detail once the hierarchy is explicit. The explanation therefore becomes interpretable at scale. It still describes a partition that was computed in advance, which raises the question behind the third contribution: can attribution become part of the learning itself?</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 This contribution represents the main transition of the thesis. In the first two contributions, Shapley values were used to explain models after they were trained. Here, the objective is different: can attribution become part of the learning process itself?</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limitation of existing hypergraph recommendation models is that they usually treat the different relationships in the graph structure in a similar way. But in real recommendation scenarios, not every interaction contributes equally to the final prediction. Some user-item-context relationships are more informative than others. The idea behind DyHuCoG is therefore to use cooperative attribution during training, so that the model can learn which relationships provide the most valuable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DyHuCoG addresses two research questions. First, can cooperative attribution move beyond post-hoc explanation and become part of the learning process? Second, can this integration improve ranking while keeping context and diversity? To answer them, it combines hypergraph learning with Shapley attribution. Its objectives are to model recommendation as a cooperative game over users, items and context, to embed a preference-aware Monte Carlo Shapley estimate inside message passing, and to optimize accuracy, diversity and relevance together. The main idea: the same mechanism that explains importance can also guide learning.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this idea, recommendation is represented as a cooperative game. The players are the different elements involved in the recommendation process: users, items, and contextual information. Their interactions are represented through hyperedges, which allow modelling higher-order relationships. The contribution of each element is estimated through Shapley values. So instead of learning only from the existence of a relationship, the model also considers the contribution of this relationship to the final objective.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computationally impossible for large recommenders. The number of possible coalitions grows exponentially with the number of players. So DyHuCoG uses Monte Carlo approximation. Instead of evaluating all possible coalitions, we sample a limited number of permutations and estimate the average marginal contribution. This provides a practical approximation while preserving the main properties of Shapley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 The model starts from a hypergraph recommendation structure where information is propagated through message passing. The main modification is the introduction of Shapley-based weights inside this propagation process. Important relationships receive stronger influence, while less informative relationships contribute less. An attention mechanism is also introduced to stabilize the learning process. 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evaluation is performed on two recommendation benchmarks: MovieLens-1M and Amazon-Book. The proposed method is compared with several baseline approaches, including recent graph and hypergraph recommenders. The evaluation considers ranking quality using NDCG and Recall, but also evaluates coverage and diversity. This is important because a recommendation system should not only be accurate, but should also provide varied and meaningful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 Compared with the strongest baseline, HPCF, the NDCG score improves from 0.2528 to 0.2775, representing an improvement of approximately 9.8 percent. Recall also improves, while coverage and diversity remain higher. This shows that the proposed approach does not improve accuracy by simply recommending the most popular items, but also maintains recommendation variety.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which represents a much more challenging sparse recommendation scenario. Despite the higher difficulty, DyHuCoG continues to outperform the baselines. The improvement compared with HPCF reaches approximately 13.3 percent in NDCG. This result is important because it shows that cooperative attribution remains useful even when the available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contribution of each component, an ablation study is performed. The results show that each component plays an important role. Removing contextual information produces a significant degradation, which confirms the importance of context-aware recommendation. Removing Shapley weighting also reduces performance, demonstrating that cooperative attribution contributes directly to the learning process. So the improvement comes from the combination of hypergraph modelling, context information, and cooperative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 DyHuCoG requires more training time than traditional hypergraph recommenders because attribution is computed during learning. But inference remains practical, with recommendation latency at a reasonable level. So the additional computational complexity is a trade-off for obtaining a more accurate and interpretable model.</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also performed. The comparison is conducted using user-level recommendation results. The statistical tests confirm that the improvements over the baseline are significant. The effect size also shows that the improvement is not only statistically detectable, but also practically meaningful.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allow us to answer the third and fourth research questions. For the third question, the answer is yes: Shapley attribution can move beyond post-hoc explanation and become part of the learning process. For the fourth question, the answer is also yes: DyHuCoG improves recommendation quality while maintaining diversity and contextual relevance. So attribution becomes not only an explanation mechanism, but also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Instead of generating explanations after training, the model uses attribution information while learning. This creates a direct connection between what the model optimizes and what the explanation reveals.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contribution also has limitations. First, the integration of Shapley estimation increases computational cost. Second, the effectiveness of the approach depends on the availability of meaningful contextual information. Third, Monte Carlo estimation can still be improved through more advanced sampling strategies. 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 Explanation is no longer only an observation after the model is built. 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now summarize the main outcomes of this thesis and present the future perspectives. The objective is to connect the three contributions and highlight the common idea that links them together.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 The first contribution explains black-box clustering using Shapley attribution and meaningful domain variables. The second contribution extends this idea to large-scale and multi-level structures while maintaining consistency between explanations. The third contribution moves beyond explanation and uses attribution to guide the learning process of recommenders. Together, these contributions show how cooperative game theory can provide a unified perspective for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 These publications correspond to the three main stages of the thesis: explainable clustering, multi-level explainability, and cooperative recommendation learning. 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 First, exact Shapley computation remains expensive, requiring approximation methods. Second, surrogate-based explanations depend on the quality of the approximation. Third, the current experiments are mainly offline and based on benchmark datasets. 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limitations naturally define several future research directions. The first direction is improving Shapley estimation through more efficient and adaptive sampling strategies. The second direction is extending the framework to dynamic and online recommenders where preferences evolve over time. The third direction is conducting user-centered evaluations to measure trust and usefulness. Finally, the framework could be extended toward other trustworthy AI objectives such as fairness.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cooperative game theory gives one common framework for explainable AI across clustering and recommendation. Four points stand out. Shapley attribution measures contribution in a principled way. It explains black-box clustering with meaningful variables. It stays interpretable at large scale and across levels. And through DyHuCoG it becomes part of the learning process itself. So explanation need not stay a description of what happened. It becomes a way to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 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second half of the reference list, including the datasets, the statistical tests, and the related article with the team.</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that brings me to the end of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 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Table 7.1: every baseline, both datasets, with mean and standard deviation over five seeds. Two points, if useful. The standard deviations are about one tenth of the gap between DyHuCoG and HPCF on every metric, so the ordering doesn't depend on the seed. The improvement is also consistent across all four metrics, not concentrated on one.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Table 7.6: paired t-tests of DyHuCoG against every baseline on per-user NDCG, on MovieLens-1M, over six thousand and forty users. Holm-Bonferroni gives each of the six p-values its own threshold, and every p-value is many orders of magnitude below it. Cohen's d is 1.33 against HPCF and larger against the weaker baselines, and above 0.8 is normally counted as large. Wilcoxon agrees.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finally, the cost figures. Table 7.3 gives training time, inference latency and memory for every model on both datasets: DyHuCoG trains in about two thousand seconds against eleven hundred for HPCF, and inference stays under two milliseconds per query. Table 7.4 is the Monte Carlo convergence study, where ten permutations give about ninety-five percent accuracy and fifty give ninety-nine. Fifty, then, is the knee of the curve.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xml"/><Relationship Id="rId4" Type="http://schemas.openxmlformats.org/officeDocument/2006/relationships/image" Target="../media/image5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xml"/><Relationship Id="rId4" Type="http://schemas.openxmlformats.org/officeDocument/2006/relationships/image" Target="../media/image5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9.xml"/><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0.xml"/><Relationship Id="rId4" Type="http://schemas.openxmlformats.org/officeDocument/2006/relationships/image" Target="../media/image5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1.xml"/><Relationship Id="rId4" Type="http://schemas.openxmlformats.org/officeDocument/2006/relationships/image" Target="../media/image6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2.xml"/><Relationship Id="rId4" Type="http://schemas.openxmlformats.org/officeDocument/2006/relationships/image" Target="../media/image6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4.xml"/><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67.png"/><Relationship Id="rId10" Type="http://schemas.openxmlformats.org/officeDocument/2006/relationships/image" Target="../media/image6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9.xml"/><Relationship Id="rId4" Type="http://schemas.openxmlformats.org/officeDocument/2006/relationships/image" Target="../media/image69.png"/><Relationship Id="rId5" Type="http://schemas.openxmlformats.org/officeDocument/2006/relationships/image" Target="../media/image7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3.xml"/><Relationship Id="rId4" Type="http://schemas.openxmlformats.org/officeDocument/2006/relationships/image" Target="../media/image71.png"/><Relationship Id="rId5" Type="http://schemas.openxmlformats.org/officeDocument/2006/relationships/image" Target="../media/image7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1.xml"/><Relationship Id="rId4" Type="http://schemas.openxmlformats.org/officeDocument/2006/relationships/image" Target="../media/image73.png"/><Relationship Id="rId5" Type="http://schemas.openxmlformats.org/officeDocument/2006/relationships/image" Target="../media/image7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2.xml"/><Relationship Id="rId4" Type="http://schemas.openxmlformats.org/officeDocument/2006/relationships/image" Target="../media/image75.png"/><Relationship Id="rId5" Type="http://schemas.openxmlformats.org/officeDocument/2006/relationships/image" Target="../media/image76.png"/><Relationship Id="rId6" Type="http://schemas.openxmlformats.org/officeDocument/2006/relationships/image" Target="../media/image7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5.xml"/><Relationship Id="rId4" Type="http://schemas.openxmlformats.org/officeDocument/2006/relationships/image" Target="../media/image7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6.xml"/><Relationship Id="rId4" Type="http://schemas.openxmlformats.org/officeDocument/2006/relationships/image" Target="../media/image7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image" Target="../media/image8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6.xml"/><Relationship Id="rId4" Type="http://schemas.openxmlformats.org/officeDocument/2006/relationships/image" Target="../media/image88.png"/><Relationship Id="rId5" Type="http://schemas.openxmlformats.org/officeDocument/2006/relationships/image" Target="../media/image89.png"/><Relationship Id="rId6" Type="http://schemas.openxmlformats.org/officeDocument/2006/relationships/image" Target="../media/image90.png"/><Relationship Id="rId7" Type="http://schemas.openxmlformats.org/officeDocument/2006/relationships/image" Target="../media/image91.png"/><Relationship Id="rId8" Type="http://schemas.openxmlformats.org/officeDocument/2006/relationships/image" Target="../media/image92.png"/><Relationship Id="rId9" Type="http://schemas.openxmlformats.org/officeDocument/2006/relationships/image" Target="../media/image93.png"/><Relationship Id="rId10" Type="http://schemas.openxmlformats.org/officeDocument/2006/relationships/image" Target="../media/image9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1.xml"/><Relationship Id="rId4" Type="http://schemas.openxmlformats.org/officeDocument/2006/relationships/image" Target="../media/image9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2.xml"/><Relationship Id="rId4" Type="http://schemas.openxmlformats.org/officeDocument/2006/relationships/image" Target="../media/image96.png"/><Relationship Id="rId5" Type="http://schemas.openxmlformats.org/officeDocument/2006/relationships/image" Target="../media/image97.png"/><Relationship Id="rId6" Type="http://schemas.openxmlformats.org/officeDocument/2006/relationships/image" Target="../media/image9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7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9.xml"/></Relationships>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5" name="TextBox 4"/>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6" name="Picture 5" descr="image.png"/>
          <p:cNvPicPr>
            <a:picLocks noChangeAspect="1"/>
          </p:cNvPicPr>
          <p:nvPr/>
        </p:nvPicPr>
        <p:blipFill>
          <a:blip r:embed="rId3"/>
          <a:stretch>
            <a:fillRect/>
          </a:stretch>
        </p:blipFill>
        <p:spPr>
          <a:xfrm>
            <a:off x="11612880" y="1554480"/>
            <a:ext cx="548640" cy="301180"/>
          </a:xfrm>
          <a:prstGeom prst="rect">
            <a:avLst/>
          </a:prstGeom>
        </p:spPr>
      </p:pic>
      <p:pic>
        <p:nvPicPr>
          <p:cNvPr id="7" name="Picture 6"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8" name="TextBox 7"/>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9" name="Rounded Rectangle 8"/>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0" name="Rounded Rectangle 9"/>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1" name="Rounded Rectangle 10"/>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2" name="Rounded Rectangle 11"/>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3" name="Rounded Rectangle 12"/>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4" name="Rounded Rectangle 13"/>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5" name="Rounded Rectangle 14"/>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6" name="Rounded Rectangle 15"/>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6" name="Oval 5"/>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sp>
        <p:nvSpPr>
          <p:cNvPr id="21" name="Rounded Rectangle 20"/>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4" name="Rounded Rectangle 23"/>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5" name="Rounded Rectangle 24"/>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26" name="TextBox 25"/>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market &gt; $15B by 2029.</a:t>
            </a:r>
          </a:p>
        </p:txBody>
      </p:sp>
      <p:sp>
        <p:nvSpPr>
          <p:cNvPr id="27" name="Rounded Rectangle 26"/>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29" name="TextBox 28"/>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must explain.</a:t>
            </a:r>
          </a:p>
        </p:txBody>
      </p:sp>
      <p:sp>
        <p:nvSpPr>
          <p:cNvPr id="30" name="Rounded Rectangle 29"/>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1" name="Rounded Rectangle 30"/>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2" name="TextBox 31"/>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3" name="Rounded Rectangle 32"/>
          <p:cNvSpPr/>
          <p:nvPr/>
        </p:nvSpPr>
        <p:spPr>
          <a:xfrm>
            <a:off x="1028700" y="8118602"/>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4" name="TextBox 23"/>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at least one factor that can be changed</a:t>
            </a:r>
            <a:r>
              <a:rPr lang="en-US" sz="2100" b="true">
                <a:solidFill>
                  <a:srgbClr val="111111"/>
                </a:solidFill>
                <a:latin typeface="Nunito Semi-Bold"/>
                <a:ea typeface="Nunito Semi-Bold"/>
                <a:cs typeface="Nunito Semi-Bold"/>
                <a:sym typeface="Nunito Semi-Bold"/>
              </a:rPr>
              <a:t>, and that change leads to a </a:t>
            </a:r>
            <a:r>
              <a:rPr lang="en-US" sz="2100" b="true">
                <a:solidFill>
                  <a:srgbClr val="111111"/>
                </a:solidFill>
                <a:latin typeface="Nunito Bold"/>
                <a:ea typeface="Nunito Bold"/>
                <a:cs typeface="Nunito Bold"/>
                <a:sym typeface="Nunito Bold"/>
              </a:rPr>
              <a:t>clear change in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 and that factor is </a:t>
            </a:r>
            <a:r>
              <a:rPr lang="en-US" sz="2100" b="true">
                <a:solidFill>
                  <a:srgbClr val="111111"/>
                </a:solidFill>
                <a:latin typeface="Nunito Bold"/>
                <a:ea typeface="Nunito Bold"/>
                <a:cs typeface="Nunito Bold"/>
                <a:sym typeface="Nunito Bold"/>
              </a:rPr>
              <a:t>stated in the domain's own terms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domain's own terms: a chemical variable (wine), a pollution indicator (air quality), a preference signal (recommendation), </a:t>
            </a:r>
            <a:r>
              <a:rPr lang="en-US" sz="2100" b="true">
                <a:solidFill>
                  <a:srgbClr val="111111"/>
                </a:solidFill>
                <a:latin typeface="Nunito Bold"/>
                <a:ea typeface="Nunito Bold"/>
                <a:cs typeface="Nunito Bold"/>
                <a:sym typeface="Nunito Bold"/>
              </a:rPr>
              <a:t>not a hidden latent code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an explanation that names a changeable driver supports </a:t>
            </a:r>
            <a:r>
              <a:rPr lang="en-US" sz="2100" b="true">
                <a:solidFill>
                  <a:srgbClr val="111111"/>
                </a:solidFill>
                <a:latin typeface="Nunito Bold"/>
                <a:ea typeface="Nunito Bold"/>
                <a:cs typeface="Nunito Bold"/>
                <a:sym typeface="Nunito Bold"/>
              </a:rPr>
              <a:t>action</a:t>
            </a:r>
            <a:r>
              <a:rPr lang="en-US" sz="2100" b="true">
                <a:solidFill>
                  <a:srgbClr val="111111"/>
                </a:solidFill>
                <a:latin typeface="Nunito Semi-Bold"/>
                <a:ea typeface="Nunito Semi-Bold"/>
                <a:cs typeface="Nunito Semi-Bold"/>
                <a:sym typeface="Nunito Semi-Bold"/>
              </a:rPr>
              <a:t>, not only description.</a:t>
            </a:r>
          </a:p>
        </p:txBody>
      </p:sp>
      <p:pic>
        <p:nvPicPr>
          <p:cNvPr id="25" name="Picture 24" descr="intro_actionable.png"/>
          <p:cNvPicPr>
            <a:picLocks noChangeAspect="1"/>
          </p:cNvPicPr>
          <p:nvPr/>
        </p:nvPicPr>
        <p:blipFill>
          <a:blip r:embed="rId4"/>
          <a:stretch>
            <a:fillRect/>
          </a:stretch>
        </p:blipFill>
        <p:spPr>
          <a:xfrm>
            <a:off x="9441180" y="4295382"/>
            <a:ext cx="7818120" cy="4264429"/>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pic>
        <p:nvPicPr>
          <p:cNvPr id="24" name="Picture 23" descr="intro_evolution.png"/>
          <p:cNvPicPr>
            <a:picLocks noChangeAspect="1"/>
          </p:cNvPicPr>
          <p:nvPr/>
        </p:nvPicPr>
        <p:blipFill>
          <a:blip r:embed="rId4"/>
          <a:stretch>
            <a:fillRect/>
          </a:stretch>
        </p:blipFill>
        <p:spPr>
          <a:xfrm>
            <a:off x="3818387" y="3455162"/>
            <a:ext cx="10651225" cy="594487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4" name="Rounded Rectangle 23"/>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25" name="Rounded Rectangle 24"/>
          <p:cNvSpPr/>
          <p:nvPr/>
        </p:nvSpPr>
        <p:spPr>
          <a:xfrm>
            <a:off x="1485900" y="3866642"/>
            <a:ext cx="2903220" cy="1828800"/>
          </a:xfrm>
          <a:prstGeom prst="roundRect">
            <a:avLst>
              <a:gd name="adj" fmla="val 11000"/>
            </a:avLst>
          </a:prstGeom>
          <a:solidFill>
            <a:srgbClr val="E7EAF3"/>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Netflix</a:t>
            </a:r>
          </a:p>
        </p:txBody>
      </p:sp>
      <p:sp>
        <p:nvSpPr>
          <p:cNvPr id="26" name="TextBox 25"/>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27" name="TextBox 26"/>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28" name="Rounded Rectangle 27"/>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29" name="Rounded Rectangle 28"/>
          <p:cNvSpPr/>
          <p:nvPr/>
        </p:nvSpPr>
        <p:spPr>
          <a:xfrm>
            <a:off x="5623560" y="3866642"/>
            <a:ext cx="2903220" cy="1828800"/>
          </a:xfrm>
          <a:prstGeom prst="roundRect">
            <a:avLst>
              <a:gd name="adj" fmla="val 11000"/>
            </a:avLst>
          </a:prstGeom>
          <a:solidFill>
            <a:srgbClr val="E7EAF3"/>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Spotify</a:t>
            </a:r>
          </a:p>
        </p:txBody>
      </p:sp>
      <p:sp>
        <p:nvSpPr>
          <p:cNvPr id="30" name="TextBox 29"/>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1" name="TextBox 30"/>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2" name="Rounded Rectangle 31"/>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3" name="Rounded Rectangle 32"/>
          <p:cNvSpPr/>
          <p:nvPr/>
        </p:nvSpPr>
        <p:spPr>
          <a:xfrm>
            <a:off x="9761220" y="3866642"/>
            <a:ext cx="2903220" cy="1828800"/>
          </a:xfrm>
          <a:prstGeom prst="roundRect">
            <a:avLst>
              <a:gd name="adj" fmla="val 11000"/>
            </a:avLst>
          </a:prstGeom>
          <a:solidFill>
            <a:srgbClr val="E7EAF3"/>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Yelp</a:t>
            </a:r>
          </a:p>
        </p:txBody>
      </p:sp>
      <p:sp>
        <p:nvSpPr>
          <p:cNvPr id="34" name="TextBox 33"/>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35" name="TextBox 34"/>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36" name="Rounded Rectangle 35"/>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7" name="Rounded Rectangle 36"/>
          <p:cNvSpPr/>
          <p:nvPr/>
        </p:nvSpPr>
        <p:spPr>
          <a:xfrm>
            <a:off x="13898880" y="3866642"/>
            <a:ext cx="2903220" cy="1828800"/>
          </a:xfrm>
          <a:prstGeom prst="roundRect">
            <a:avLst>
              <a:gd name="adj" fmla="val 11000"/>
            </a:avLst>
          </a:prstGeom>
          <a:solidFill>
            <a:srgbClr val="E7EAF3"/>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Amazon</a:t>
            </a:r>
          </a:p>
        </p:txBody>
      </p:sp>
      <p:sp>
        <p:nvSpPr>
          <p:cNvPr id="38" name="TextBox 37"/>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39" name="TextBox 38"/>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0" name="Rounded Rectangle 39"/>
          <p:cNvSpPr/>
          <p:nvPr/>
        </p:nvSpPr>
        <p:spPr>
          <a:xfrm>
            <a:off x="1028700" y="8301482"/>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5" name="TextBox 4"/>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6" name="Oval 5"/>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8" name="TextBox 7"/>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25" name="Rounded Rectangle 24"/>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28" name="Picture 27" descr="ctx_content.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25" name="Rounded Rectangle 24"/>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28" name="Picture 27" descr="ctx_c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25" name="Rounded Rectangle 24"/>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28" name="Picture 27" descr="ctx_m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25" name="Rounded Rectangle 24"/>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28" name="Picture 27" descr="ctx_hyper.png"/>
          <p:cNvPicPr>
            <a:picLocks noChangeAspect="1"/>
          </p:cNvPicPr>
          <p:nvPr/>
        </p:nvPicPr>
        <p:blipFill>
          <a:blip r:embed="rId4"/>
          <a:stretch>
            <a:fillRect/>
          </a:stretch>
        </p:blipFill>
        <p:spPr>
          <a:xfrm>
            <a:off x="9258300" y="4057599"/>
            <a:ext cx="8001000" cy="4465674"/>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sp>
        <p:nvSpPr>
          <p:cNvPr id="21" name="Rounded Rectangle 20"/>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25" name="Rounded Rectangle 24"/>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26" name="Rounded Rectangle 25"/>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27" name="Rounded Rectangle 26"/>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28" name="Rounded Rectangle 27"/>
          <p:cNvSpPr/>
          <p:nvPr/>
        </p:nvSpPr>
        <p:spPr>
          <a:xfrm>
            <a:off x="1028700" y="7049262"/>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485900" y="6811518"/>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0" name="TextBox 29"/>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5" name="Oval 24"/>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26" name="TextBox 25"/>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27" name="Rounded Rectangle 26"/>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8" name="Oval 27"/>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29" name="TextBox 28"/>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0" name="Rounded Rectangle 29"/>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1" name="Oval 30"/>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2" name="TextBox 31"/>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3" name="Rounded Rectangle 32"/>
          <p:cNvSpPr/>
          <p:nvPr/>
        </p:nvSpPr>
        <p:spPr>
          <a:xfrm>
            <a:off x="1028700" y="7387082"/>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4" name="TextBox 33"/>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5" name="Rounded Rectangle 24"/>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6" name="Rounded Rectangle 25"/>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27" name="TextBox 26"/>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28" name="Rounded Rectangle 27"/>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29" name="Rounded Rectangle 28"/>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0" name="Rounded Rectangle 29"/>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1" name="TextBox 30"/>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2" name="Rounded Rectangle 31"/>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3" name="Rounded Rectangle 32"/>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5" name="TextBox 34"/>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6" name="Rounded Rectangle 35"/>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37" name="Rounded Rectangle 36"/>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8" name="Rounded Rectangle 37"/>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39" name="TextBox 38"/>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0" name="Rounded Rectangle 39"/>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1" name="Rounded Rectangle 40"/>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2" name="Rounded Rectangle 41"/>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3" name="TextBox 42"/>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4" name="Rounded Rectangle 43"/>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4" name="Rounded Rectangle 23"/>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5" name="TextBox 24"/>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6" name="Rounded Rectangle 25"/>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27" name="TextBox 26"/>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28" name="Rounded Rectangle 27"/>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29" name="TextBox 28"/>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0" name="Rounded Rectangle 29"/>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1" name="TextBox 30"/>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2" name="Rounded Rectangle 31"/>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4" name="Rounded Rectangle 33"/>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5" name="TextBox 34"/>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6" name="Rounded Rectangle 35"/>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5" name="TextBox 4"/>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6" name="Oval 5"/>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8" name="TextBox 7"/>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Bold"/>
              </a:rPr>
              <a:t>4,898 white-wine samples</a:t>
            </a:r>
            <a:r>
              <a:rPr lang="en-US" sz="1786" b="true">
                <a:solidFill>
                  <a:srgbClr val="111111"/>
                </a:solidFill>
                <a:latin typeface="Nunito Semi-Bold"/>
                <a:ea typeface="Nunito Semi-Bold"/>
                <a:cs typeface="Nunito Semi-Bold"/>
                <a:sym typeface="Nunito Semi-Bold"/>
              </a:rPr>
              <a:t> described by </a:t>
            </a:r>
            <a:r>
              <a:rPr lang="en-US" sz="1786" b="true">
                <a:solidFill>
                  <a:srgbClr val="111111"/>
                </a:solidFill>
                <a:latin typeface="Nunito Bold"/>
                <a:ea typeface="Nunito Bold"/>
                <a:cs typeface="Nunito Bold"/>
                <a:sym typeface="Nunito Bold"/>
              </a:rPr>
              <a:t>11 physicochemical measurements</a:t>
            </a:r>
            <a:r>
              <a:rPr lang="en-US" sz="1786"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1786" b="true">
                <a:solidFill>
                  <a:srgbClr val="111111"/>
                </a:solidFill>
                <a:latin typeface="Nunito Bold"/>
                <a:ea typeface="Nunito Bold"/>
                <a:cs typeface="Nunito Bold"/>
                <a:sym typeface="Nunito Bold"/>
              </a:rPr>
              <a:t>variables a wine expert understands</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Used for </a:t>
            </a:r>
            <a:r>
              <a:rPr lang="en-US" sz="1786" b="true">
                <a:solidFill>
                  <a:srgbClr val="111111"/>
                </a:solidFill>
                <a:latin typeface="Nunito Bold"/>
                <a:ea typeface="Nunito Bold"/>
                <a:cs typeface="Nunito Bold"/>
                <a:sym typeface="Nunito Bold"/>
              </a:rPr>
              <a:t>Contribution I</a:t>
            </a:r>
            <a:r>
              <a:rPr lang="en-US" sz="1786"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public file</a:t>
            </a:r>
          </a:p>
        </p:txBody>
      </p:sp>
      <p:graphicFrame>
        <p:nvGraphicFramePr>
          <p:cNvPr id="27" name="Table 26"/>
          <p:cNvGraphicFramePr>
            <a:graphicFrameLocks noGrp="1"/>
          </p:cNvGraphicFramePr>
          <p:nvPr/>
        </p:nvGraphicFramePr>
        <p:xfrm>
          <a:off x="1028700" y="7260082"/>
          <a:ext cx="16230600" cy="1705864"/>
        </p:xfrm>
        <a:graphic>
          <a:graphicData uri="http://schemas.openxmlformats.org/drawingml/2006/table">
            <a:tbl>
              <a:tblPr firstRow="0" bandRow="0" firstCol="0" lastRow="0" lastCol="0" bandCol="0">
                <a:tableStyleId>{2D5ABB26-0587-4C30-8999-92F81FD0307C}</a:tableStyleId>
              </a:tblPr>
              <a:tblGrid>
                <a:gridCol w="1586992"/>
                <a:gridCol w="1731264"/>
                <a:gridCol w="1442720"/>
                <a:gridCol w="1659128"/>
                <a:gridCol w="1442720"/>
                <a:gridCol w="1298448"/>
                <a:gridCol w="1298448"/>
                <a:gridCol w="1298448"/>
                <a:gridCol w="1009904"/>
                <a:gridCol w="1298448"/>
                <a:gridCol w="1154176"/>
                <a:gridCol w="1009904"/>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fixed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volatile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citric acid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residual sugar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chlorides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free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total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density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pH</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sulphates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alcohol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quality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0.9951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383,585 hourly records</a:t>
            </a:r>
            <a:r>
              <a:rPr lang="en-US" sz="19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11 modelling variables:</a:t>
            </a:r>
            <a:r>
              <a:rPr lang="en-US" sz="19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Large, noisy, varies with season and weather: the stress test for </a:t>
            </a:r>
            <a:r>
              <a:rPr lang="en-US" sz="1900" b="true">
                <a:solidFill>
                  <a:srgbClr val="111111"/>
                </a:solidFill>
                <a:latin typeface="Nunito Bold"/>
                <a:ea typeface="Nunito Bold"/>
                <a:cs typeface="Nunito Bold"/>
                <a:sym typeface="Nunito Bold"/>
              </a:rPr>
              <a:t>Contribution II</a:t>
            </a:r>
            <a:r>
              <a:rPr lang="en-US" sz="1900" b="true">
                <a:solidFill>
                  <a:srgbClr val="111111"/>
                </a:solidFill>
                <a:latin typeface="Nunito Semi-Bold"/>
                <a:ea typeface="Nunito Semi-Bold"/>
                <a:cs typeface="Nunito Semi-Bold"/>
                <a:sym typeface="Nunito Semi-Bold"/>
              </a:rPr>
              <a:t> (scale + multi-level structure).</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coarse regimes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Aotizhongxin station file</a:t>
            </a:r>
          </a:p>
        </p:txBody>
      </p:sp>
      <p:graphicFrame>
        <p:nvGraphicFramePr>
          <p:cNvPr id="27" name="Table 26"/>
          <p:cNvGraphicFramePr>
            <a:graphicFrameLocks noGrp="1"/>
          </p:cNvGraphicFramePr>
          <p:nvPr/>
        </p:nvGraphicFramePr>
        <p:xfrm>
          <a:off x="1028700" y="7260082"/>
          <a:ext cx="16230594" cy="1705864"/>
        </p:xfrm>
        <a:graphic>
          <a:graphicData uri="http://schemas.openxmlformats.org/drawingml/2006/table">
            <a:tbl>
              <a:tblPr firstRow="0" bandRow="0" firstCol="0" lastRow="0" lastCol="0" bandCol="0">
                <a:tableStyleId>{2D5ABB26-0587-4C30-8999-92F81FD0307C}</a:tableStyleId>
              </a:tblPr>
              <a:tblGrid>
                <a:gridCol w="2233568"/>
                <a:gridCol w="2531377"/>
                <a:gridCol w="1191236"/>
                <a:gridCol w="1191236"/>
                <a:gridCol w="1042332"/>
                <a:gridCol w="1042332"/>
                <a:gridCol w="1042332"/>
                <a:gridCol w="1042332"/>
                <a:gridCol w="1191236"/>
                <a:gridCol w="1340141"/>
                <a:gridCol w="1191236"/>
                <a:gridCol w="1191236"/>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station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date · hour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PM2.5</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PM10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NO₂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CO</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O₃</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TEMP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DEWP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WSPM</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00h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01h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02h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About 1 million ratings</a:t>
            </a:r>
            <a:r>
              <a:rPr lang="en-US" sz="1900" b="true">
                <a:solidFill>
                  <a:srgbClr val="111111"/>
                </a:solidFill>
                <a:latin typeface="Nunito Semi-Bold"/>
                <a:ea typeface="Nunito Semi-Bold"/>
                <a:cs typeface="Nunito Semi-Bold"/>
                <a:sym typeface="Nunito Semi-Bold"/>
              </a:rPr>
              <a:t> from </a:t>
            </a:r>
            <a:r>
              <a:rPr lang="en-US" sz="1900" b="true">
                <a:solidFill>
                  <a:srgbClr val="111111"/>
                </a:solidFill>
                <a:latin typeface="Nunito Bold"/>
                <a:ea typeface="Nunito Bold"/>
                <a:cs typeface="Nunito Bold"/>
                <a:sym typeface="Nunito Bold"/>
              </a:rPr>
              <a:t>6,040 users</a:t>
            </a:r>
            <a:r>
              <a:rPr lang="en-US" sz="1900" b="true">
                <a:solidFill>
                  <a:srgbClr val="111111"/>
                </a:solidFill>
                <a:latin typeface="Nunito Semi-Bold"/>
                <a:ea typeface="Nunito Semi-Bold"/>
                <a:cs typeface="Nunito Semi-Bold"/>
                <a:sym typeface="Nunito Semi-Bold"/>
              </a:rPr>
              <a:t> on </a:t>
            </a:r>
            <a:r>
              <a:rPr lang="en-US" sz="1900" b="true">
                <a:solidFill>
                  <a:srgbClr val="111111"/>
                </a:solidFill>
                <a:latin typeface="Nunito Bold"/>
                <a:ea typeface="Nunito Bold"/>
                <a:cs typeface="Nunito Bold"/>
                <a:sym typeface="Nunito Bold"/>
              </a:rPr>
              <a:t>3,706 movies</a:t>
            </a:r>
            <a:r>
              <a:rPr lang="en-US" sz="1900" b="true">
                <a:solidFill>
                  <a:srgbClr val="111111"/>
                </a:solidFill>
                <a:latin typeface="Nunito Semi-Bold"/>
                <a:ea typeface="Nunito Semi-Bold"/>
                <a:cs typeface="Nunito Semi-Bold"/>
                <a:sym typeface="Nunito Semi-Bold"/>
              </a:rPr>
              <a:t> (GroupLens, 2000).</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Comparatively </a:t>
            </a:r>
            <a:r>
              <a:rPr lang="en-US" sz="1900" b="true">
                <a:solidFill>
                  <a:srgbClr val="111111"/>
                </a:solidFill>
                <a:latin typeface="Nunito Bold"/>
                <a:ea typeface="Nunito Bold"/>
                <a:cs typeface="Nunito Bold"/>
                <a:sym typeface="Nunito Bold"/>
              </a:rPr>
              <a:t>dense</a:t>
            </a:r>
            <a:r>
              <a:rPr lang="en-US" sz="19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ratings.dat joined with movies.dat</a:t>
            </a:r>
          </a:p>
        </p:txBody>
      </p:sp>
      <p:graphicFrame>
        <p:nvGraphicFramePr>
          <p:cNvPr id="27" name="Table 26"/>
          <p:cNvGraphicFramePr>
            <a:graphicFrameLocks noGrp="1"/>
          </p:cNvGraphicFramePr>
          <p:nvPr/>
        </p:nvGraphicFramePr>
        <p:xfrm>
          <a:off x="1028700" y="7260082"/>
          <a:ext cx="16230597" cy="2132330"/>
        </p:xfrm>
        <a:graphic>
          <a:graphicData uri="http://schemas.openxmlformats.org/drawingml/2006/table">
            <a:tbl>
              <a:tblPr firstRow="0" bandRow="0" firstCol="0" lastRow="0" lastCol="0" bandCol="0">
                <a:tableStyleId>{2D5ABB26-0587-4C30-8999-92F81FD0307C}</a:tableStyleId>
              </a:tblPr>
              <a:tblGrid>
                <a:gridCol w="1363915"/>
                <a:gridCol w="1363915"/>
                <a:gridCol w="5728447"/>
                <a:gridCol w="4637314"/>
                <a:gridCol w="1227524"/>
                <a:gridCol w="1909482"/>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MovieID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Genres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Timestamp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One Flew Over the Cuckoo's Nest (1975)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978300760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James and the Giant Peach (1996)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Animation · Children's · Musical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978302109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My Fair Lady (1964)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Musical · Romance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978301968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3408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Erin Brockovich (2000)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978300275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52,643 users</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91,599 books</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2,984,108 interactions</a:t>
            </a:r>
            <a:r>
              <a:rPr lang="en-US" sz="19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Extremely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Included to test whether Shapley-guided weighting </a:t>
            </a:r>
            <a:r>
              <a:rPr lang="en-US" sz="1900" b="true">
                <a:solidFill>
                  <a:srgbClr val="111111"/>
                </a:solidFill>
                <a:latin typeface="Nunito Bold"/>
                <a:ea typeface="Nunito Bold"/>
                <a:cs typeface="Nunito Bold"/>
                <a:sym typeface="Nunito Bold"/>
              </a:rPr>
              <a:t>helps most when the signal is weakest</a:t>
            </a:r>
            <a:r>
              <a:rPr lang="en-US" sz="19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illustrative rows in the format of the public file</a:t>
            </a:r>
          </a:p>
        </p:txBody>
      </p:sp>
      <p:graphicFrame>
        <p:nvGraphicFramePr>
          <p:cNvPr id="27" name="Table 26"/>
          <p:cNvGraphicFramePr>
            <a:graphicFrameLocks noGrp="1"/>
          </p:cNvGraphicFramePr>
          <p:nvPr/>
        </p:nvGraphicFramePr>
        <p:xfrm>
          <a:off x="1028700" y="7260082"/>
          <a:ext cx="16230598" cy="1705864"/>
        </p:xfrm>
        <a:graphic>
          <a:graphicData uri="http://schemas.openxmlformats.org/drawingml/2006/table">
            <a:tbl>
              <a:tblPr firstRow="0" bandRow="0" firstCol="0" lastRow="0" lastCol="0" bandCol="0">
                <a:tableStyleId>{2D5ABB26-0587-4C30-8999-92F81FD0307C}</a:tableStyleId>
              </a:tblPr>
              <a:tblGrid>
                <a:gridCol w="2264734"/>
                <a:gridCol w="3019646"/>
                <a:gridCol w="3774558"/>
                <a:gridCol w="1509823"/>
                <a:gridCol w="5661837"/>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user_id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item_id (ASIN)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category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review summary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A1B2C3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B000123XYZ</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Literature &amp; Fiction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Could not put it down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A4D5E6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B000456ABC</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Science &amp; Math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Clear and well written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A7F8G9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B000789DEF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History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Good but slow in the middle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Rounded Rectangle 23"/>
          <p:cNvSpPr/>
          <p:nvPr/>
        </p:nvSpPr>
        <p:spPr>
          <a:xfrm>
            <a:off x="1028700" y="3592322"/>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25" name="Rounded Rectangle 24"/>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26" name="TextBox 25"/>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27" name="Rounded Rectangle 26"/>
          <p:cNvSpPr/>
          <p:nvPr/>
        </p:nvSpPr>
        <p:spPr>
          <a:xfrm>
            <a:off x="9326880" y="3592322"/>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28" name="Rounded Rectangle 27"/>
          <p:cNvSpPr/>
          <p:nvPr/>
        </p:nvSpPr>
        <p:spPr>
          <a:xfrm>
            <a:off x="9784080" y="3354578"/>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29" name="TextBox 28"/>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020"/>
              </a:lnSpc>
              <a:spcBef>
                <a:spcPts val="0"/>
              </a:spcBef>
              <a:buNone/>
            </a:pPr>
            <a:r>
              <a:rPr lang="en-US" sz="85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[10] Koren, Y., Bell, R. &amp; Volinsky, C. Matrix Factorization Techniques for Recommender Systems. Computer 42(8), 30–37 (2009).   [11] He, X. et al. Neural Collaborative Filtering. WWW, 173–182 (2017).   [12]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[15] Zhang, D. et al. RecDCL: Dual Contrastive Learning for Recommendation. The Web Conference, 3655–3666 (2024).</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4" name="Table 23"/>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5" name="Rounded Rectangle 24"/>
          <p:cNvSpPr/>
          <p:nvPr/>
        </p:nvSpPr>
        <p:spPr>
          <a:xfrm>
            <a:off x="1028700" y="8155178"/>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7963154"/>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27" name="TextBox 26"/>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Rectangle 23"/>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25" name="TextBox 24"/>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26" name="TextBox 25"/>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27" name="TextBox 26"/>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28" name="Rectangle 27"/>
          <p:cNvSpPr/>
          <p:nvPr/>
        </p:nvSpPr>
        <p:spPr>
          <a:xfrm>
            <a:off x="1028700" y="3747770"/>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29" name="TextBox 28"/>
          <p:cNvSpPr txBox="1"/>
          <p:nvPr/>
        </p:nvSpPr>
        <p:spPr>
          <a:xfrm>
            <a:off x="1165860" y="3747770"/>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0" name="Equation"/>
              <p:cNvSpPr txBox="1"/>
              <p:nvPr/>
            </p:nvSpPr>
            <p:spPr>
              <a:xfrm>
                <a:off x="3771900" y="3775202"/>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NDCG@</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m:rPr>
                              <m:sty m:val="p"/>
                            </m:rPr>
                            <a:rPr lang="en-US" sz="1150">
                              <a:solidFill>
                                <a:srgbClr val="111111"/>
                              </a:solidFill>
                              <a:latin typeface="Cambria Math" panose="02040503050406030204" pitchFamily="18" charset="0"/>
                            </a:rPr>
                            <m:t xml:space="preserve">IDCG@</m:t>
                          </m:r>
                          <m:r>
                            <a:rPr lang="en-US" sz="1150" i="1">
                              <a:solidFill>
                                <a:srgbClr val="111111"/>
                              </a:solidFill>
                              <a:latin typeface="Cambria Math" panose="02040503050406030204" pitchFamily="18" charset="0"/>
                            </a:rPr>
                            <m:t xml:space="preserve">K</m:t>
                          </m:r>
                        </m:den>
                      </m:f>
                      <m:r>
                        <m:rPr>
                          <m:sty m:val="p"/>
                        </m:rPr>
                        <a:rPr lang="en-US" sz="1150">
                          <a:solidFill>
                            <a:srgbClr val="111111"/>
                          </a:solidFill>
                          <a:latin typeface="Cambria Math" panose="02040503050406030204" pitchFamily="18" charset="0"/>
                        </a:rPr>
                        <m:t xml:space="preserve"> </m:t>
                      </m:r>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rel</m:t>
                                  </m:r>
                                </m:e>
                                <m:sub>
                                  <m:r>
                                    <a:rPr lang="en-US" sz="1150" i="1">
                                      <a:solidFill>
                                        <a:srgbClr val="111111"/>
                                      </a:solidFill>
                                      <a:latin typeface="Cambria Math" panose="02040503050406030204" pitchFamily="18" charset="0"/>
                                    </a:rPr>
                                    <m:t xml:space="preserve">i</m:t>
                                  </m:r>
                                </m:sub>
                              </m:sSub>
                            </m:num>
                            <m:den>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log</m:t>
                                  </m:r>
                                </m:e>
                                <m:sub>
                                  <m:r>
                                    <m:rPr>
                                      <m:sty m:val="p"/>
                                    </m:rPr>
                                    <a:rPr lang="en-US" sz="1150">
                                      <a:solidFill>
                                        <a:srgbClr val="111111"/>
                                      </a:solidFill>
                                      <a:latin typeface="Cambria Math" panose="02040503050406030204" pitchFamily="18" charset="0"/>
                                    </a:rPr>
                                    <m:t xml:space="preserve">2</m:t>
                                  </m:r>
                                </m:sub>
                              </m:sSub>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den>
                          </m:f>
                        </m:e>
                      </m:nary>
                    </m:oMath>
                  </m:oMathPara>
                </a14:m>
                <a:endParaRPr lang="en-US" sz="1150"/>
              </a:p>
            </p:txBody>
          </p:sp>
        </mc:Choice>
        <mc:Fallback>
          <p:sp>
            <p:nvSpPr>
              <p:cNvPr id="30" name="Equation"/>
              <p:cNvSpPr txBox="1"/>
              <p:nvPr/>
            </p:nvSpPr>
            <p:spPr>
              <a:xfrm>
                <a:off x="3771900" y="3775202"/>
                <a:ext cx="6309360" cy="684675"/>
              </a:xfrm>
              <a:prstGeom prst="rect">
                <a:avLst/>
              </a:prstGeom>
              <a:blipFill>
                <a:blip r:embed="rId4"/>
                <a:stretch>
                  <a:fillRect/>
                </a:stretch>
              </a:blipFill>
            </p:spPr>
            <p:txBody>
              <a:bodyPr/>
              <a:lstStyle/>
              <a:p>
                <a:endParaRPr lang="en-US"/>
              </a:p>
            </p:txBody>
          </p:sp>
        </mc:Fallback>
      </mc:AlternateContent>
      <p:sp>
        <p:nvSpPr>
          <p:cNvPr id="31" name="TextBox 30"/>
          <p:cNvSpPr txBox="1"/>
          <p:nvPr/>
        </p:nvSpPr>
        <p:spPr>
          <a:xfrm>
            <a:off x="10309860" y="3747770"/>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2" name="Connector 31"/>
          <p:cNvCxnSpPr/>
          <p:nvPr/>
        </p:nvCxnSpPr>
        <p:spPr>
          <a:xfrm>
            <a:off x="1028700" y="4487309"/>
            <a:ext cx="16230600" cy="0"/>
          </a:xfrm>
          <a:prstGeom prst="line">
            <a:avLst/>
          </a:prstGeom>
          <a:ln w="12700">
            <a:solidFill>
              <a:srgbClr val="E3D6C4"/>
            </a:solidFill>
          </a:ln>
        </p:spPr>
      </p:cxnSp>
      <p:sp>
        <p:nvSpPr>
          <p:cNvPr id="33" name="Rectangle 32"/>
          <p:cNvSpPr/>
          <p:nvPr/>
        </p:nvSpPr>
        <p:spPr>
          <a:xfrm>
            <a:off x="1028700" y="4487309"/>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34" name="TextBox 33"/>
          <p:cNvSpPr txBox="1"/>
          <p:nvPr/>
        </p:nvSpPr>
        <p:spPr>
          <a:xfrm>
            <a:off x="1165860" y="4487309"/>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35" name="Equation"/>
              <p:cNvSpPr txBox="1"/>
              <p:nvPr/>
            </p:nvSpPr>
            <p:spPr>
              <a:xfrm>
                <a:off x="3771900" y="4514741"/>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00">
                          <a:solidFill>
                            <a:srgbClr val="111111"/>
                          </a:solidFill>
                          <a:latin typeface="Cambria Math" panose="02040503050406030204" pitchFamily="18" charset="0"/>
                        </a:rPr>
                        <m:t xml:space="preserve">Recall@</m:t>
                      </m:r>
                      <m:r>
                        <a:rPr lang="en-US" sz="1100" i="1">
                          <a:solidFill>
                            <a:srgbClr val="111111"/>
                          </a:solidFill>
                          <a:latin typeface="Cambria Math" panose="02040503050406030204" pitchFamily="18" charset="0"/>
                        </a:rPr>
                        <m:t xml:space="preserve">K</m:t>
                      </m:r>
                      <m:r>
                        <m:rPr>
                          <m:sty m:val="p"/>
                        </m:rPr>
                        <a:rPr lang="en-US" sz="1100">
                          <a:solidFill>
                            <a:srgbClr val="111111"/>
                          </a:solidFill>
                          <a:latin typeface="Cambria Math" panose="02040503050406030204" pitchFamily="18" charset="0"/>
                        </a:rPr>
                        <m:t xml:space="preserve">=</m:t>
                      </m:r>
                      <m:f>
                        <m:fPr>
                          <m:ctrlPr>
                            <a:rPr lang="en-US" sz="1100" i="1">
                              <a:solidFill>
                                <a:srgbClr val="111111"/>
                              </a:solidFill>
                              <a:latin typeface="Cambria Math" panose="02040503050406030204" pitchFamily="18" charset="0"/>
                            </a:rPr>
                          </m:ctrlPr>
                        </m:fPr>
                        <m:num>
                          <m:r>
                            <m:rPr>
                              <m:sty m:val="p"/>
                            </m:rPr>
                            <a:rPr lang="en-US" sz="1100">
                              <a:solidFill>
                                <a:srgbClr val="111111"/>
                              </a:solidFill>
                              <a:latin typeface="Cambria Math" panose="02040503050406030204" pitchFamily="18" charset="0"/>
                            </a:rPr>
                            <m:t xml:space="preserve">| </m:t>
                          </m:r>
                          <m:sSubSup>
                            <m:sSubSupPr>
                              <m:ctrlPr>
                                <a:rPr lang="en-US" sz="1100" i="1">
                                  <a:solidFill>
                                    <a:srgbClr val="111111"/>
                                  </a:solidFill>
                                  <a:latin typeface="Cambria Math" panose="02040503050406030204" pitchFamily="18" charset="0"/>
                                </a:rPr>
                              </m:ctrlPr>
                            </m:sSubSupPr>
                            <m:e>
                              <m:r>
                                <a:rPr lang="en-US" sz="1100" i="1">
                                  <a:solidFill>
                                    <a:srgbClr val="111111"/>
                                  </a:solidFill>
                                  <a:latin typeface="Cambria Math" panose="02040503050406030204" pitchFamily="18" charset="0"/>
                                </a:rPr>
                                <m:t xml:space="preserve">L</m:t>
                              </m:r>
                            </m:e>
                            <m:sub>
                              <m:r>
                                <a:rPr lang="en-US" sz="1100" i="1">
                                  <a:solidFill>
                                    <a:srgbClr val="111111"/>
                                  </a:solidFill>
                                  <a:latin typeface="Cambria Math" panose="02040503050406030204" pitchFamily="18" charset="0"/>
                                </a:rPr>
                                <m:t xml:space="preserve">u</m:t>
                              </m:r>
                            </m:sub>
                            <m:sup>
                              <m:r>
                                <a:rPr lang="en-US" sz="1100" i="1">
                                  <a:solidFill>
                                    <a:srgbClr val="111111"/>
                                  </a:solidFill>
                                  <a:latin typeface="Cambria Math" panose="02040503050406030204" pitchFamily="18" charset="0"/>
                                </a:rPr>
                                <m:t xml:space="preserve">K</m:t>
                              </m:r>
                            </m:sup>
                          </m:sSubSup>
                          <m:r>
                            <m:rPr>
                              <m:sty m:val="p"/>
                            </m:rPr>
                            <a:rPr lang="en-US" sz="1100">
                              <a:solidFill>
                                <a:srgbClr val="111111"/>
                              </a:solidFill>
                              <a:latin typeface="Cambria Math" panose="02040503050406030204" pitchFamily="18" charset="0"/>
                            </a:rPr>
                            <m:t xml:space="preserve">∩</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num>
                        <m:den>
                          <m:r>
                            <m:rPr>
                              <m:sty m:val="p"/>
                            </m:rPr>
                            <a:rPr lang="en-US" sz="1100">
                              <a:solidFill>
                                <a:srgbClr val="111111"/>
                              </a:solidFill>
                              <a:latin typeface="Cambria Math" panose="02040503050406030204" pitchFamily="18" charset="0"/>
                            </a:rPr>
                            <m:t xml:space="preserve">| </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den>
                      </m:f>
                    </m:oMath>
                  </m:oMathPara>
                </a14:m>
                <a:endParaRPr lang="en-US" sz="1100"/>
              </a:p>
            </p:txBody>
          </p:sp>
        </mc:Choice>
        <mc:Fallback>
          <p:sp>
            <p:nvSpPr>
              <p:cNvPr id="35" name="Equation"/>
              <p:cNvSpPr txBox="1"/>
              <p:nvPr/>
            </p:nvSpPr>
            <p:spPr>
              <a:xfrm>
                <a:off x="3771900" y="4514741"/>
                <a:ext cx="6309360" cy="684675"/>
              </a:xfrm>
              <a:prstGeom prst="rect">
                <a:avLst/>
              </a:prstGeom>
              <a:blipFill>
                <a:blip r:embed="rId5"/>
                <a:stretch>
                  <a:fillRect/>
                </a:stretch>
              </a:blipFill>
            </p:spPr>
            <p:txBody>
              <a:bodyPr/>
              <a:lstStyle/>
              <a:p>
                <a:endParaRPr lang="en-US"/>
              </a:p>
            </p:txBody>
          </p:sp>
        </mc:Fallback>
      </mc:AlternateContent>
      <p:sp>
        <p:nvSpPr>
          <p:cNvPr id="36" name="TextBox 35"/>
          <p:cNvSpPr txBox="1"/>
          <p:nvPr/>
        </p:nvSpPr>
        <p:spPr>
          <a:xfrm>
            <a:off x="10309860" y="4487309"/>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37" name="Connector 36"/>
          <p:cNvCxnSpPr/>
          <p:nvPr/>
        </p:nvCxnSpPr>
        <p:spPr>
          <a:xfrm>
            <a:off x="1028700" y="5226848"/>
            <a:ext cx="16230600" cy="0"/>
          </a:xfrm>
          <a:prstGeom prst="line">
            <a:avLst/>
          </a:prstGeom>
          <a:ln w="12700">
            <a:solidFill>
              <a:srgbClr val="E3D6C4"/>
            </a:solidFill>
          </a:ln>
        </p:spPr>
      </p:cxnSp>
      <p:sp>
        <p:nvSpPr>
          <p:cNvPr id="38" name="Rectangle 37"/>
          <p:cNvSpPr/>
          <p:nvPr/>
        </p:nvSpPr>
        <p:spPr>
          <a:xfrm>
            <a:off x="1028700" y="5226848"/>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39" name="TextBox 38"/>
          <p:cNvSpPr txBox="1"/>
          <p:nvPr/>
        </p:nvSpPr>
        <p:spPr>
          <a:xfrm>
            <a:off x="1165860" y="5226848"/>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Precision@K</a:t>
            </a:r>
          </a:p>
        </p:txBody>
      </p:sp>
      <mc:AlternateContent xmlns:mc="http://schemas.openxmlformats.org/markup-compatibility/2006">
        <mc:Choice xmlns:a14="http://schemas.microsoft.com/office/drawing/2010/main" Requires="a14">
          <p:sp>
            <p:nvSpPr>
              <p:cNvPr id="40" name="Equation"/>
              <p:cNvSpPr txBox="1"/>
              <p:nvPr/>
            </p:nvSpPr>
            <p:spPr>
              <a:xfrm>
                <a:off x="3771900" y="5254280"/>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Precision@</m:t>
                      </m:r>
                      <m:r>
                        <a:rPr lang="en-US" sz="1250" i="1">
                          <a:solidFill>
                            <a:srgbClr val="111111"/>
                          </a:solidFill>
                          <a:latin typeface="Cambria Math" panose="02040503050406030204" pitchFamily="18" charset="0"/>
                        </a:rPr>
                        <m:t xml:space="preserve">K</m:t>
                      </m:r>
                      <m:r>
                        <m:rPr>
                          <m:sty m:val="p"/>
                        </m:rPr>
                        <a:rPr lang="en-US" sz="1250">
                          <a:solidFill>
                            <a:srgbClr val="111111"/>
                          </a:solidFill>
                          <a:latin typeface="Cambria Math" panose="02040503050406030204" pitchFamily="18" charset="0"/>
                        </a:rPr>
                        <m:t xml:space="preserve">=</m:t>
                      </m:r>
                      <m:f>
                        <m:fPr>
                          <m:ctrlPr>
                            <a:rPr lang="en-US" sz="1250" i="1">
                              <a:solidFill>
                                <a:srgbClr val="111111"/>
                              </a:solidFill>
                              <a:latin typeface="Cambria Math" panose="02040503050406030204" pitchFamily="18" charset="0"/>
                            </a:rPr>
                          </m:ctrlPr>
                        </m:fPr>
                        <m:num>
                          <m:r>
                            <m:rPr>
                              <m:sty m:val="p"/>
                            </m:rPr>
                            <a:rPr lang="en-US" sz="1250">
                              <a:solidFill>
                                <a:srgbClr val="111111"/>
                              </a:solidFill>
                              <a:latin typeface="Cambria Math" panose="02040503050406030204" pitchFamily="18" charset="0"/>
                            </a:rPr>
                            <m:t xml:space="preserve">| </m:t>
                          </m:r>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r>
                            <m:rPr>
                              <m:sty m:val="p"/>
                            </m:rPr>
                            <a:rPr lang="en-US" sz="1250">
                              <a:solidFill>
                                <a:srgbClr val="111111"/>
                              </a:solidFill>
                              <a:latin typeface="Cambria Math" panose="02040503050406030204" pitchFamily="18" charset="0"/>
                            </a:rPr>
                            <m:t xml:space="preserve">∩</m:t>
                          </m:r>
                          <m:sSub>
                            <m:sSubPr>
                              <m:ctrlPr>
                                <a:rPr lang="en-US" sz="1250" i="1">
                                  <a:solidFill>
                                    <a:srgbClr val="111111"/>
                                  </a:solidFill>
                                  <a:latin typeface="Cambria Math" panose="02040503050406030204" pitchFamily="18" charset="0"/>
                                </a:rPr>
                              </m:ctrlPr>
                            </m:sSubPr>
                            <m:e>
                              <m:r>
                                <m:rPr>
                                  <m:scr m:val="script"/>
                                  <m:sty m:val="p"/>
                                </m:rPr>
                                <a:rPr lang="en-US" sz="1250">
                                  <a:solidFill>
                                    <a:srgbClr val="111111"/>
                                  </a:solidFill>
                                  <a:latin typeface="Cambria Math" panose="02040503050406030204" pitchFamily="18" charset="0"/>
                                </a:rPr>
                                <m:t xml:space="preserve">R</m:t>
                              </m:r>
                            </m:e>
                            <m:sub>
                              <m:r>
                                <a:rPr lang="en-US" sz="1250" i="1">
                                  <a:solidFill>
                                    <a:srgbClr val="111111"/>
                                  </a:solidFill>
                                  <a:latin typeface="Cambria Math" panose="02040503050406030204" pitchFamily="18" charset="0"/>
                                </a:rPr>
                                <m:t xml:space="preserve">u</m:t>
                              </m:r>
                            </m:sub>
                          </m:sSub>
                          <m:r>
                            <m:rPr>
                              <m:sty m:val="p"/>
                            </m:rPr>
                            <a:rPr lang="en-US" sz="1250">
                              <a:solidFill>
                                <a:srgbClr val="111111"/>
                              </a:solidFill>
                              <a:latin typeface="Cambria Math" panose="02040503050406030204" pitchFamily="18" charset="0"/>
                            </a:rPr>
                            <m:t xml:space="preserve"> |</m:t>
                          </m:r>
                        </m:num>
                        <m:den>
                          <m:r>
                            <a:rPr lang="en-US" sz="1250" i="1">
                              <a:solidFill>
                                <a:srgbClr val="111111"/>
                              </a:solidFill>
                              <a:latin typeface="Cambria Math" panose="02040503050406030204" pitchFamily="18" charset="0"/>
                            </a:rPr>
                            <m:t xml:space="preserve">K</m:t>
                          </m:r>
                        </m:den>
                      </m:f>
                    </m:oMath>
                  </m:oMathPara>
                </a14:m>
                <a:endParaRPr lang="en-US" sz="1250"/>
              </a:p>
            </p:txBody>
          </p:sp>
        </mc:Choice>
        <mc:Fallback>
          <p:sp>
            <p:nvSpPr>
              <p:cNvPr id="40" name="Equation"/>
              <p:cNvSpPr txBox="1"/>
              <p:nvPr/>
            </p:nvSpPr>
            <p:spPr>
              <a:xfrm>
                <a:off x="3771900" y="5254280"/>
                <a:ext cx="6309360" cy="684675"/>
              </a:xfrm>
              <a:prstGeom prst="rect">
                <a:avLst/>
              </a:prstGeom>
              <a:blipFill>
                <a:blip r:embed="rId6"/>
                <a:stretch>
                  <a:fillRect/>
                </a:stretch>
              </a:blipFill>
            </p:spPr>
            <p:txBody>
              <a:bodyPr/>
              <a:lstStyle/>
              <a:p>
                <a:endParaRPr lang="en-US"/>
              </a:p>
            </p:txBody>
          </p:sp>
        </mc:Fallback>
      </mc:AlternateContent>
      <p:sp>
        <p:nvSpPr>
          <p:cNvPr id="41" name="TextBox 40"/>
          <p:cNvSpPr txBox="1"/>
          <p:nvPr/>
        </p:nvSpPr>
        <p:spPr>
          <a:xfrm>
            <a:off x="10309860" y="5226848"/>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top-K list that is relevant.</a:t>
            </a:r>
          </a:p>
        </p:txBody>
      </p:sp>
      <p:cxnSp>
        <p:nvCxnSpPr>
          <p:cNvPr id="42" name="Connector 41"/>
          <p:cNvCxnSpPr/>
          <p:nvPr/>
        </p:nvCxnSpPr>
        <p:spPr>
          <a:xfrm>
            <a:off x="1028700" y="5966387"/>
            <a:ext cx="16230600" cy="0"/>
          </a:xfrm>
          <a:prstGeom prst="line">
            <a:avLst/>
          </a:prstGeom>
          <a:ln w="12700">
            <a:solidFill>
              <a:srgbClr val="E3D6C4"/>
            </a:solidFill>
          </a:ln>
        </p:spPr>
      </p:cxnSp>
      <p:sp>
        <p:nvSpPr>
          <p:cNvPr id="43" name="Rectangle 42"/>
          <p:cNvSpPr/>
          <p:nvPr/>
        </p:nvSpPr>
        <p:spPr>
          <a:xfrm>
            <a:off x="1028700" y="5966387"/>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44" name="TextBox 43"/>
          <p:cNvSpPr txBox="1"/>
          <p:nvPr/>
        </p:nvSpPr>
        <p:spPr>
          <a:xfrm>
            <a:off x="1165860" y="5966387"/>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993819"/>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Cov=</m:t>
                      </m:r>
                      <m:f>
                        <m:fPr>
                          <m:ctrlPr>
                            <a:rPr lang="en-US" sz="1250" i="1">
                              <a:solidFill>
                                <a:srgbClr val="111111"/>
                              </a:solidFill>
                              <a:latin typeface="Cambria Math" panose="02040503050406030204" pitchFamily="18" charset="0"/>
                            </a:rPr>
                          </m:ctrlPr>
                        </m:fPr>
                        <m:num>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nary>
                                <m:naryPr>
                                  <m:chr m:val="⋃"/>
                                  <m:limLoc m:val="subSup"/>
                                  <m:supHide m:val="1"/>
                                  <m:ctrlPr>
                                    <a:rPr lang="en-US" sz="1250" i="1">
                                      <a:solidFill>
                                        <a:srgbClr val="111111"/>
                                      </a:solidFill>
                                      <a:latin typeface="Cambria Math" panose="02040503050406030204" pitchFamily="18" charset="0"/>
                                    </a:rPr>
                                  </m:ctrlPr>
                                </m:naryPr>
                                <m:sub>
                                  <m:r>
                                    <a:rPr lang="en-US" sz="1250" i="1">
                                      <a:solidFill>
                                        <a:srgbClr val="111111"/>
                                      </a:solidFill>
                                      <a:latin typeface="Cambria Math" panose="02040503050406030204" pitchFamily="18" charset="0"/>
                                    </a:rPr>
                                    <m:t xml:space="preserve">u</m:t>
                                  </m:r>
                                </m:sub>
                                <m:sup/>
                                <m:e>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e>
                              </m:nary>
                              <m:r>
                                <m:rPr>
                                  <m:sty m:val="p"/>
                                </m:rPr>
                                <a:rPr lang="en-US" sz="1250">
                                  <a:solidFill>
                                    <a:srgbClr val="111111"/>
                                  </a:solidFill>
                                  <a:latin typeface="Cambria Math" panose="02040503050406030204" pitchFamily="18" charset="0"/>
                                </a:rPr>
                                <m:t xml:space="preserve"> </m:t>
                              </m:r>
                            </m:e>
                          </m:d>
                        </m:num>
                        <m:den>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r>
                                <a:rPr lang="en-US" sz="1250" i="1">
                                  <a:solidFill>
                                    <a:srgbClr val="111111"/>
                                  </a:solidFill>
                                  <a:latin typeface="Cambria Math" panose="02040503050406030204" pitchFamily="18" charset="0"/>
                                </a:rPr>
                                <m:t xml:space="preserve">I</m:t>
                              </m:r>
                              <m:r>
                                <m:rPr>
                                  <m:sty m:val="p"/>
                                </m:rPr>
                                <a:rPr lang="en-US" sz="1250">
                                  <a:solidFill>
                                    <a:srgbClr val="111111"/>
                                  </a:solidFill>
                                  <a:latin typeface="Cambria Math" panose="02040503050406030204" pitchFamily="18" charset="0"/>
                                </a:rPr>
                                <m:t xml:space="preserve"> </m:t>
                              </m:r>
                            </m:e>
                          </m:d>
                        </m:den>
                      </m:f>
                    </m:oMath>
                  </m:oMathPara>
                </a14:m>
                <a:endParaRPr lang="en-US" sz="1250"/>
              </a:p>
            </p:txBody>
          </p:sp>
        </mc:Choice>
        <mc:Fallback>
          <p:sp>
            <p:nvSpPr>
              <p:cNvPr id="45" name="Equation"/>
              <p:cNvSpPr txBox="1"/>
              <p:nvPr/>
            </p:nvSpPr>
            <p:spPr>
              <a:xfrm>
                <a:off x="3771900" y="5993819"/>
                <a:ext cx="6309360" cy="684675"/>
              </a:xfrm>
              <a:prstGeom prst="rect">
                <a:avLst/>
              </a:prstGeom>
              <a:blipFill>
                <a:blip r:embed="rId7"/>
                <a:stretch>
                  <a:fillRect/>
                </a:stretch>
              </a:blipFill>
            </p:spPr>
            <p:txBody>
              <a:bodyPr/>
              <a:lstStyle/>
              <a:p>
                <a:endParaRPr lang="en-US"/>
              </a:p>
            </p:txBody>
          </p:sp>
        </mc:Fallback>
      </mc:AlternateContent>
      <p:sp>
        <p:nvSpPr>
          <p:cNvPr id="46" name="TextBox 45"/>
          <p:cNvSpPr txBox="1"/>
          <p:nvPr/>
        </p:nvSpPr>
        <p:spPr>
          <a:xfrm>
            <a:off x="10309860" y="5966387"/>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705926"/>
            <a:ext cx="16230600" cy="0"/>
          </a:xfrm>
          <a:prstGeom prst="line">
            <a:avLst/>
          </a:prstGeom>
          <a:ln w="12700">
            <a:solidFill>
              <a:srgbClr val="E3D6C4"/>
            </a:solidFill>
          </a:ln>
        </p:spPr>
      </p:cxnSp>
      <p:sp>
        <p:nvSpPr>
          <p:cNvPr id="48" name="Rectangle 47"/>
          <p:cNvSpPr/>
          <p:nvPr/>
        </p:nvSpPr>
        <p:spPr>
          <a:xfrm>
            <a:off x="1028700" y="6705926"/>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49" name="TextBox 48"/>
          <p:cNvSpPr txBox="1"/>
          <p:nvPr/>
        </p:nvSpPr>
        <p:spPr>
          <a:xfrm>
            <a:off x="1165860" y="6705926"/>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733358"/>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ILD(</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L</m:t>
                          </m:r>
                        </m:e>
                        <m:sub>
                          <m:r>
                            <a:rPr lang="en-US" sz="1150" i="1">
                              <a:solidFill>
                                <a:srgbClr val="111111"/>
                              </a:solidFill>
                              <a:latin typeface="Cambria Math" panose="02040503050406030204" pitchFamily="18" charset="0"/>
                            </a:rPr>
                            <m:t xml:space="preserve">u</m:t>
                          </m:r>
                        </m:sub>
                      </m:sSub>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2</m:t>
                          </m:r>
                        </m:num>
                        <m:den>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−1)</m:t>
                          </m:r>
                        </m:den>
                      </m:f>
                      <m:nary>
                        <m:naryPr>
                          <m:chr m:val="∑"/>
                          <m:limLoc m:val="subSup"/>
                          <m:supHide m:val="1"/>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&lt;</m:t>
                          </m:r>
                          <m:r>
                            <a:rPr lang="en-US" sz="1150" i="1">
                              <a:solidFill>
                                <a:srgbClr val="111111"/>
                              </a:solidFill>
                              <a:latin typeface="Cambria Math" panose="02040503050406030204" pitchFamily="18" charset="0"/>
                            </a:rPr>
                            <m:t xml:space="preserve">j</m:t>
                          </m:r>
                        </m:sub>
                        <m:sup/>
                        <m:e>
                          <m:d>
                            <m:dPr>
                              <m:ctrlPr>
                                <a:rPr lang="en-US" sz="1150" i="1">
                                  <a:solidFill>
                                    <a:srgbClr val="111111"/>
                                  </a:solidFill>
                                  <a:latin typeface="Cambria Math" panose="02040503050406030204" pitchFamily="18" charset="0"/>
                                </a:rPr>
                              </m:ctrlPr>
                            </m:dPr>
                            <m:e>
                              <m:r>
                                <m:rPr>
                                  <m:sty m:val="p"/>
                                </m:rPr>
                                <a:rPr lang="en-US" sz="1150">
                                  <a:solidFill>
                                    <a:srgbClr val="111111"/>
                                  </a:solidFill>
                                  <a:latin typeface="Cambria Math" panose="02040503050406030204" pitchFamily="18" charset="0"/>
                                </a:rPr>
                                <m:t xml:space="preserve">1−sim(</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j</m:t>
                              </m:r>
                              <m:r>
                                <m:rPr>
                                  <m:sty m:val="p"/>
                                </m:rPr>
                                <a:rPr lang="en-US" sz="1150">
                                  <a:solidFill>
                                    <a:srgbClr val="111111"/>
                                  </a:solidFill>
                                  <a:latin typeface="Cambria Math" panose="02040503050406030204" pitchFamily="18" charset="0"/>
                                </a:rPr>
                                <m:t xml:space="preserve">)</m:t>
                              </m:r>
                            </m:e>
                          </m:d>
                        </m:e>
                      </m:nary>
                    </m:oMath>
                  </m:oMathPara>
                </a14:m>
                <a:endParaRPr lang="en-US" sz="1150"/>
              </a:p>
            </p:txBody>
          </p:sp>
        </mc:Choice>
        <mc:Fallback>
          <p:sp>
            <p:nvSpPr>
              <p:cNvPr id="50" name="Equation"/>
              <p:cNvSpPr txBox="1"/>
              <p:nvPr/>
            </p:nvSpPr>
            <p:spPr>
              <a:xfrm>
                <a:off x="3771900" y="6733358"/>
                <a:ext cx="6309360" cy="684675"/>
              </a:xfrm>
              <a:prstGeom prst="rect">
                <a:avLst/>
              </a:prstGeom>
              <a:blipFill>
                <a:blip r:embed="rId8"/>
                <a:stretch>
                  <a:fillRect/>
                </a:stretch>
              </a:blipFill>
            </p:spPr>
            <p:txBody>
              <a:bodyPr/>
              <a:lstStyle/>
              <a:p>
                <a:endParaRPr lang="en-US"/>
              </a:p>
            </p:txBody>
          </p:sp>
        </mc:Fallback>
      </mc:AlternateContent>
      <p:sp>
        <p:nvSpPr>
          <p:cNvPr id="51" name="TextBox 50"/>
          <p:cNvSpPr txBox="1"/>
          <p:nvPr/>
        </p:nvSpPr>
        <p:spPr>
          <a:xfrm>
            <a:off x="10309860" y="6705926"/>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445465"/>
            <a:ext cx="16230600" cy="0"/>
          </a:xfrm>
          <a:prstGeom prst="line">
            <a:avLst/>
          </a:prstGeom>
          <a:ln w="12700">
            <a:solidFill>
              <a:srgbClr val="E3D6C4"/>
            </a:solidFill>
          </a:ln>
        </p:spPr>
      </p:cxnSp>
      <p:sp>
        <p:nvSpPr>
          <p:cNvPr id="53" name="Rectangle 52"/>
          <p:cNvSpPr/>
          <p:nvPr/>
        </p:nvSpPr>
        <p:spPr>
          <a:xfrm>
            <a:off x="1028700" y="7445465"/>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54" name="TextBox 53"/>
          <p:cNvSpPr txBox="1"/>
          <p:nvPr/>
        </p:nvSpPr>
        <p:spPr>
          <a:xfrm>
            <a:off x="1165860" y="7445465"/>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472897"/>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num>
                        <m:den>
                          <m:r>
                            <m:rPr>
                              <m:sty m:val="p"/>
                            </m:rPr>
                            <a:rPr lang="en-US" sz="1150">
                              <a:solidFill>
                                <a:srgbClr val="111111"/>
                              </a:solidFill>
                              <a:latin typeface="Cambria Math" panose="02040503050406030204" pitchFamily="18" charset="0"/>
                            </a:rPr>
                            <m:t xml:space="preserve">max{</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den>
                      </m:f>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∈[−1,1]</m:t>
                      </m:r>
                    </m:oMath>
                  </m:oMathPara>
                </a14:m>
                <a:endParaRPr lang="en-US" sz="1150"/>
              </a:p>
            </p:txBody>
          </p:sp>
        </mc:Choice>
        <mc:Fallback>
          <p:sp>
            <p:nvSpPr>
              <p:cNvPr id="55" name="Equation"/>
              <p:cNvSpPr txBox="1"/>
              <p:nvPr/>
            </p:nvSpPr>
            <p:spPr>
              <a:xfrm>
                <a:off x="3771900" y="7472897"/>
                <a:ext cx="6309360" cy="684675"/>
              </a:xfrm>
              <a:prstGeom prst="rect">
                <a:avLst/>
              </a:prstGeom>
              <a:blipFill>
                <a:blip r:embed="rId9"/>
                <a:stretch>
                  <a:fillRect/>
                </a:stretch>
              </a:blipFill>
            </p:spPr>
            <p:txBody>
              <a:bodyPr/>
              <a:lstStyle/>
              <a:p>
                <a:endParaRPr lang="en-US"/>
              </a:p>
            </p:txBody>
          </p:sp>
        </mc:Fallback>
      </mc:AlternateContent>
      <p:sp>
        <p:nvSpPr>
          <p:cNvPr id="56" name="TextBox 55"/>
          <p:cNvSpPr txBox="1"/>
          <p:nvPr/>
        </p:nvSpPr>
        <p:spPr>
          <a:xfrm>
            <a:off x="10309860" y="7445465"/>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8185004"/>
            <a:ext cx="16230600" cy="0"/>
          </a:xfrm>
          <a:prstGeom prst="line">
            <a:avLst/>
          </a:prstGeom>
          <a:ln w="12700">
            <a:solidFill>
              <a:srgbClr val="E3D6C4"/>
            </a:solidFill>
          </a:ln>
        </p:spPr>
      </p:cxnSp>
      <p:sp>
        <p:nvSpPr>
          <p:cNvPr id="58" name="Rectangle 57"/>
          <p:cNvSpPr/>
          <p:nvPr/>
        </p:nvSpPr>
        <p:spPr>
          <a:xfrm>
            <a:off x="1028700" y="8185004"/>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59" name="TextBox 58"/>
          <p:cNvSpPr txBox="1"/>
          <p:nvPr/>
        </p:nvSpPr>
        <p:spPr>
          <a:xfrm>
            <a:off x="1165860" y="8185004"/>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8212436"/>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DB=</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a:rPr lang="en-US" sz="1150" i="1">
                              <a:solidFill>
                                <a:srgbClr val="111111"/>
                              </a:solidFill>
                              <a:latin typeface="Cambria Math" panose="02040503050406030204" pitchFamily="18" charset="0"/>
                            </a:rPr>
                            <m:t xml:space="preserve">k</m:t>
                          </m:r>
                        </m:den>
                      </m:f>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max</m:t>
                              </m:r>
                            </m:e>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c</m:t>
                              </m:r>
                            </m:sub>
                          </m:sSub>
                        </m:e>
                      </m:nary>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num>
                        <m:den>
                          <m:r>
                            <a:rPr lang="en-US" sz="1150" i="1">
                              <a:solidFill>
                                <a:srgbClr val="111111"/>
                              </a:solidFill>
                              <a:latin typeface="Cambria Math" panose="02040503050406030204" pitchFamily="18" charset="0"/>
                            </a:rPr>
                            <m:t xml:space="preserve">d</m:t>
                          </m:r>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den>
                      </m:f>
                    </m:oMath>
                  </m:oMathPara>
                </a14:m>
                <a:endParaRPr lang="en-US" sz="1150"/>
              </a:p>
            </p:txBody>
          </p:sp>
        </mc:Choice>
        <mc:Fallback>
          <p:sp>
            <p:nvSpPr>
              <p:cNvPr id="60" name="Equation"/>
              <p:cNvSpPr txBox="1"/>
              <p:nvPr/>
            </p:nvSpPr>
            <p:spPr>
              <a:xfrm>
                <a:off x="3771900" y="8212436"/>
                <a:ext cx="6309360" cy="684675"/>
              </a:xfrm>
              <a:prstGeom prst="rect">
                <a:avLst/>
              </a:prstGeom>
              <a:blipFill>
                <a:blip r:embed="rId10"/>
                <a:stretch>
                  <a:fillRect/>
                </a:stretch>
              </a:blipFill>
            </p:spPr>
            <p:txBody>
              <a:bodyPr/>
              <a:lstStyle/>
              <a:p>
                <a:endParaRPr lang="en-US"/>
              </a:p>
            </p:txBody>
          </p:sp>
        </mc:Fallback>
      </mc:AlternateContent>
      <p:sp>
        <p:nvSpPr>
          <p:cNvPr id="61" name="TextBox 60"/>
          <p:cNvSpPr txBox="1"/>
          <p:nvPr/>
        </p:nvSpPr>
        <p:spPr>
          <a:xfrm>
            <a:off x="10309860" y="8185004"/>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924544"/>
            <a:ext cx="16230600" cy="0"/>
          </a:xfrm>
          <a:prstGeom prst="line">
            <a:avLst/>
          </a:prstGeom>
          <a:ln w="12700">
            <a:solidFill>
              <a:srgbClr val="E3D6C4"/>
            </a:solidFill>
          </a:ln>
        </p:spPr>
      </p:cxnSp>
      <p:sp>
        <p:nvSpPr>
          <p:cNvPr id="63" name="TextBox 62"/>
          <p:cNvSpPr txBox="1"/>
          <p:nvPr/>
        </p:nvSpPr>
        <p:spPr>
          <a:xfrm>
            <a:off x="1028700" y="8997696"/>
            <a:ext cx="1623060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Notation:</a:t>
            </a:r>
            <a:r>
              <a:rPr lang="en-US" sz="1300" b="true">
                <a:solidFill>
                  <a:srgbClr val="8A8378"/>
                </a:solidFill>
                <a:latin typeface="Nunito Semi-Bold"/>
                <a:ea typeface="Nunito Semi-Bold"/>
                <a:cs typeface="Nunito Semi-Bold"/>
                <a:sym typeface="Nunito Semi-Bold"/>
              </a:rPr>
              <a:t> L</a:t>
            </a:r>
            <a:r>
              <a:rPr lang="en-US" sz="1300" b="true" baseline="-25000">
                <a:solidFill>
                  <a:srgbClr val="8A8378"/>
                </a:solidFill>
                <a:latin typeface="Nunito Semi-Bold"/>
                <a:ea typeface="Nunito Semi-Bold"/>
                <a:cs typeface="Nunito Semi-Bold"/>
                <a:sym typeface="Nunito Semi-Bold"/>
              </a:rPr>
              <a:t>u</a:t>
            </a:r>
            <a:r>
              <a:rPr lang="en-US" sz="1300" b="true" baseline="30000">
                <a:solidFill>
                  <a:srgbClr val="8A8378"/>
                </a:solidFill>
                <a:latin typeface="Nunito Semi-Bold"/>
                <a:ea typeface="Nunito Semi-Bold"/>
                <a:cs typeface="Nunito Semi-Bold"/>
                <a:sym typeface="Nunito Semi-Bold"/>
              </a:rPr>
              <a:t>K</a:t>
            </a:r>
            <a:r>
              <a:rPr lang="en-US" sz="1300" b="true">
                <a:solidFill>
                  <a:srgbClr val="8A8378"/>
                </a:solidFill>
                <a:latin typeface="Nunito Semi-Bold"/>
                <a:ea typeface="Nunito Semi-Bold"/>
                <a:cs typeface="Nunito Semi-Bold"/>
                <a:sym typeface="Nunito Semi-Bold"/>
              </a:rPr>
              <a:t> = top-K list of user u; </a:t>
            </a:r>
            <a:r>
              <a:rPr lang="en-US" sz="1300" b="true">
                <a:solidFill>
                  <a:srgbClr val="8A8378"/>
                </a:solidFill>
                <a:latin typeface="Cambria Math"/>
                <a:ea typeface="Cambria Math"/>
                <a:cs typeface="Cambria Math"/>
                <a:sym typeface="Cambria Math"/>
              </a:rPr>
              <a:t>ℛ</a:t>
            </a:r>
            <a:r>
              <a:rPr lang="en-US" sz="1300" b="true" baseline="-25000">
                <a:solidFill>
                  <a:srgbClr val="8A8378"/>
                </a:solidFill>
                <a:latin typeface="Nunito Semi-Bold"/>
                <a:ea typeface="Nunito Semi-Bold"/>
                <a:cs typeface="Nunito Semi-Bold"/>
                <a:sym typeface="Nunito Semi-Bold"/>
              </a:rPr>
              <a:t>u</a:t>
            </a:r>
            <a:r>
              <a:rPr lang="en-US" sz="1300" b="true">
                <a:solidFill>
                  <a:srgbClr val="8A8378"/>
                </a:solidFill>
                <a:latin typeface="Nunito Semi-Bold"/>
                <a:ea typeface="Nunito Semi-Bold"/>
                <a:cs typeface="Nunito Semi-Bold"/>
                <a:sym typeface="Nunito Semi-Bold"/>
              </a:rPr>
              <a:t> = relevant (held-out) items of u; rel</a:t>
            </a:r>
            <a:r>
              <a:rPr lang="en-US" sz="1300" b="true" baseline="-25000">
                <a:solidFill>
                  <a:srgbClr val="8A8378"/>
                </a:solidFill>
                <a:latin typeface="Nunito Semi-Bold"/>
                <a:ea typeface="Nunito Semi-Bold"/>
                <a:cs typeface="Nunito Semi-Bold"/>
                <a:sym typeface="Nunito Semi-Bold"/>
              </a:rPr>
              <a:t>i</a:t>
            </a:r>
            <a:r>
              <a:rPr lang="en-US" sz="1300" b="true">
                <a:solidFill>
                  <a:srgbClr val="8A8378"/>
                </a:solidFill>
                <a:latin typeface="Cambria Math"/>
                <a:ea typeface="Cambria Math"/>
                <a:cs typeface="Cambria Math"/>
                <a:sym typeface="Cambria Math"/>
              </a:rPr>
              <a:t> ∈ </a:t>
            </a:r>
            <a:r>
              <a:rPr lang="en-US" sz="1300" b="true">
                <a:solidFill>
                  <a:srgbClr val="8A8378"/>
                </a:solidFill>
                <a:latin typeface="Nunito Semi-Bold"/>
                <a:ea typeface="Nunito Semi-Bold"/>
                <a:cs typeface="Nunito Semi-Bold"/>
                <a:sym typeface="Nunito Semi-Bold"/>
              </a:rPr>
              <a:t>{0,1}; a(x), b(x) = mean intra- and nearest-cluster distance; </a:t>
            </a:r>
            <a:r>
              <a:rPr lang="en-US" sz="1300" b="true">
                <a:solidFill>
                  <a:srgbClr val="8A8378"/>
                </a:solidFill>
                <a:latin typeface="Calibri"/>
                <a:ea typeface="Calibri"/>
                <a:cs typeface="Calibri"/>
                <a:sym typeface="Calibri"/>
              </a:rPr>
              <a:t>σ</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μ</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 spread and centroid of cluster c. Reported at K </a:t>
            </a:r>
            <a:r>
              <a:rPr lang="en-US" sz="1300" b="true">
                <a:solidFill>
                  <a:srgbClr val="8A8378"/>
                </a:solidFill>
                <a:latin typeface="Cambria Math"/>
                <a:ea typeface="Cambria Math"/>
                <a:cs typeface="Cambria Math"/>
                <a:sym typeface="Cambria Math"/>
              </a:rPr>
              <a:t>∈ </a:t>
            </a:r>
            <a:r>
              <a:rPr lang="en-US" sz="1300" b="true">
                <a:solidFill>
                  <a:srgbClr val="8A8378"/>
                </a:solidFill>
                <a:latin typeface="Nunito Semi-Bold"/>
                <a:ea typeface="Nunito Semi-Bold"/>
                <a:cs typeface="Nunito Semi-Bold"/>
                <a:sym typeface="Nunito Semi-Bold"/>
              </a:rPr>
              <a:t>{5, 10, 20}; NDCG@20 is the main measure.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4" name="Table 23"/>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5" name="TextBox 24"/>
          <p:cNvSpPr txBox="1"/>
          <p:nvPr/>
        </p:nvSpPr>
        <p:spPr>
          <a:xfrm>
            <a:off x="1028700" y="6545834"/>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6" name="Rounded Rectangle 25"/>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28" name="TextBox 27"/>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29" name="Rounded Rectangle 28"/>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0" name="Rounded Rectangle 29"/>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1" name="TextBox 30"/>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6" name="Oval 5"/>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26" name="Rounded Rectangle 25"/>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27" name="TextBox 26"/>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28" name="Table 27"/>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26" name="Rounded Rectangle 25"/>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27" name="TextBox 26"/>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2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28"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28"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29" name="Rounded Rectangle 28"/>
          <p:cNvSpPr/>
          <p:nvPr/>
        </p:nvSpPr>
        <p:spPr>
          <a:xfrm>
            <a:off x="1028700" y="6792722"/>
            <a:ext cx="7680960" cy="1371600"/>
          </a:xfrm>
          <a:prstGeom prst="roundRect">
            <a:avLst>
              <a:gd name="adj" fmla="val 14666"/>
            </a:avLst>
          </a:prstGeom>
          <a:solidFill>
            <a:srgbClr val="E7EAF3"/>
          </a:solidFill>
          <a:ln w="25400">
            <a:solidFill>
              <a:srgbClr val="1F7A8C"/>
            </a:solidFill>
          </a:ln>
        </p:spPr>
        <p:txBody>
          <a:bodyPr anchor="ctr" rtlCol="false" lIns="0" tIns="0" rIns="0" bIns="0" wrap="square"/>
          <a:lstStyle/>
          <a:p>
            <a:endParaRPr lang="en-US" sz="1800"/>
          </a:p>
        </p:txBody>
      </p:sp>
      <p:sp>
        <p:nvSpPr>
          <p:cNvPr id="30" name="Rounded Rectangle 29"/>
          <p:cNvSpPr/>
          <p:nvPr/>
        </p:nvSpPr>
        <p:spPr>
          <a:xfrm>
            <a:off x="1348740" y="6600698"/>
            <a:ext cx="38908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TOY EXAMPLE: A THREE-PIECE BAND</a:t>
            </a:r>
          </a:p>
        </p:txBody>
      </p:sp>
      <p:sp>
        <p:nvSpPr>
          <p:cNvPr id="31" name="TextBox 30"/>
          <p:cNvSpPr txBox="1"/>
          <p:nvPr/>
        </p:nvSpPr>
        <p:spPr>
          <a:xfrm>
            <a:off x="1394460" y="7067042"/>
            <a:ext cx="6949440" cy="960120"/>
          </a:xfrm>
          <a:prstGeom prst="rect">
            <a:avLst/>
          </a:prstGeom>
          <a:noFill/>
        </p:spPr>
        <p:txBody>
          <a:bodyPr anchor="ctr" rtlCol="false" lIns="0" tIns="0" rIns="0" bIns="0" wrap="square"/>
          <a:lstStyle/>
          <a:p>
            <a:pPr algn="l">
              <a:lnSpc>
                <a:spcPts val="2309"/>
              </a:lnSpc>
              <a:spcBef>
                <a:spcPts val="0"/>
              </a:spcBef>
              <a:buNone/>
            </a:pPr>
            <a:r>
              <a:rPr lang="en-US" sz="1649" b="true">
                <a:solidFill>
                  <a:srgbClr val="111111"/>
                </a:solidFill>
                <a:latin typeface="Nunito Semi-Bold"/>
                <a:ea typeface="Nunito Semi-Bold"/>
                <a:cs typeface="Nunito Semi-Bold"/>
                <a:sym typeface="Nunito Semi-Bold"/>
              </a:rPr>
              <a:t>Guitar, Voice and Drums are paid for a gig. Alone they earn </a:t>
            </a:r>
            <a:r>
              <a:rPr lang="en-US" sz="1649" b="true">
                <a:solidFill>
                  <a:srgbClr val="111111"/>
                </a:solidFill>
                <a:latin typeface="Nunito Bold"/>
                <a:ea typeface="Nunito Bold"/>
                <a:cs typeface="Nunito Bold"/>
                <a:sym typeface="Nunito Bold"/>
              </a:rPr>
              <a:t>60, 40 and 20</a:t>
            </a:r>
            <a:r>
              <a:rPr lang="en-US" sz="1649" b="true">
                <a:solidFill>
                  <a:srgbClr val="111111"/>
                </a:solidFill>
                <a:latin typeface="Nunito Semi-Bold"/>
                <a:ea typeface="Nunito Semi-Bold"/>
                <a:cs typeface="Nunito Semi-Bold"/>
                <a:sym typeface="Nunito Semi-Bold"/>
              </a:rPr>
              <a:t>; Guitar and Voice together earn </a:t>
            </a:r>
            <a:r>
              <a:rPr lang="en-US" sz="1649" b="true">
                <a:solidFill>
                  <a:srgbClr val="111111"/>
                </a:solidFill>
                <a:latin typeface="Nunito Bold"/>
                <a:ea typeface="Nunito Bold"/>
                <a:cs typeface="Nunito Bold"/>
                <a:sym typeface="Nunito Bold"/>
              </a:rPr>
              <a:t>140</a:t>
            </a:r>
            <a:r>
              <a:rPr lang="en-US" sz="1649" b="true">
                <a:solidFill>
                  <a:srgbClr val="111111"/>
                </a:solidFill>
                <a:latin typeface="Nunito Semi-Bold"/>
                <a:ea typeface="Nunito Semi-Bold"/>
                <a:cs typeface="Nunito Semi-Bold"/>
                <a:sym typeface="Nunito Semi-Bold"/>
              </a:rPr>
              <a:t>, more than their sum; all three earn </a:t>
            </a:r>
            <a:r>
              <a:rPr lang="en-US" sz="1649" b="true">
                <a:solidFill>
                  <a:srgbClr val="111111"/>
                </a:solidFill>
                <a:latin typeface="Nunito Bold"/>
                <a:ea typeface="Nunito Bold"/>
                <a:cs typeface="Nunito Bold"/>
                <a:sym typeface="Nunito Bold"/>
              </a:rPr>
              <a:t>200</a:t>
            </a:r>
            <a:r>
              <a:rPr lang="en-US" sz="1649" b="true">
                <a:solidFill>
                  <a:srgbClr val="111111"/>
                </a:solidFill>
                <a:latin typeface="Nunito Semi-Bold"/>
                <a:ea typeface="Nunito Semi-Bold"/>
                <a:cs typeface="Nunito Semi-Bold"/>
                <a:sym typeface="Nunito Semi-Bold"/>
              </a:rPr>
              <a:t>. A fair split must credit what a player </a:t>
            </a:r>
            <a:r>
              <a:rPr lang="en-US" sz="1649" b="true">
                <a:solidFill>
                  <a:srgbClr val="111111"/>
                </a:solidFill>
                <a:latin typeface="Nunito Bold"/>
                <a:ea typeface="Nunito Bold"/>
                <a:cs typeface="Nunito Bold"/>
                <a:sym typeface="Nunito Bold"/>
              </a:rPr>
              <a:t>adds to the others</a:t>
            </a:r>
            <a:r>
              <a:rPr lang="en-US" sz="1649" b="true">
                <a:solidFill>
                  <a:srgbClr val="111111"/>
                </a:solidFill>
                <a:latin typeface="Nunito Semi-Bold"/>
                <a:ea typeface="Nunito Semi-Bold"/>
                <a:cs typeface="Nunito Semi-Bold"/>
                <a:sym typeface="Nunito Semi-Bold"/>
              </a:rPr>
              <a:t>.</a:t>
            </a:r>
          </a:p>
        </p:txBody>
      </p:sp>
      <p:sp>
        <p:nvSpPr>
          <p:cNvPr id="32" name="Rounded Rectangle 31"/>
          <p:cNvSpPr/>
          <p:nvPr/>
        </p:nvSpPr>
        <p:spPr>
          <a:xfrm>
            <a:off x="1028700" y="8347202"/>
            <a:ext cx="7680960" cy="1965960"/>
          </a:xfrm>
          <a:prstGeom prst="roundRect">
            <a:avLst>
              <a:gd name="adj" fmla="val 13023"/>
            </a:avLst>
          </a:prstGeom>
          <a:solidFill>
            <a:srgbClr val="111111"/>
          </a:solidFill>
          <a:ln>
            <a:noFill/>
          </a:ln>
        </p:spPr>
        <p:txBody>
          <a:bodyPr anchor="ctr" rtlCol="false" lIns="0" tIns="0" rIns="0" bIns="0" wrap="square"/>
          <a:lstStyle/>
          <a:p>
            <a:endParaRPr lang="en-US" sz="1800"/>
          </a:p>
        </p:txBody>
      </p:sp>
      <p:sp>
        <p:nvSpPr>
          <p:cNvPr id="33" name="TextBox 32"/>
          <p:cNvSpPr txBox="1"/>
          <p:nvPr/>
        </p:nvSpPr>
        <p:spPr>
          <a:xfrm>
            <a:off x="1028700" y="8475218"/>
            <a:ext cx="7680960" cy="256032"/>
          </a:xfrm>
          <a:prstGeom prst="rect">
            <a:avLst/>
          </a:prstGeom>
          <a:noFill/>
        </p:spPr>
        <p:txBody>
          <a:bodyPr anchor="t" rtlCol="false" lIns="0" tIns="0" rIns="0" bIns="0" wrap="square"/>
          <a:lstStyle/>
          <a:p>
            <a:pPr algn="ctr">
              <a:lnSpc>
                <a:spcPts val="1500"/>
              </a:lnSpc>
              <a:spcBef>
                <a:spcPts val="0"/>
              </a:spcBef>
              <a:buNone/>
            </a:pPr>
            <a:r>
              <a:rPr lang="en-US" sz="12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4" name="Equation"/>
              <p:cNvSpPr txBox="1"/>
              <p:nvPr/>
            </p:nvSpPr>
            <p:spPr>
              <a:xfrm>
                <a:off x="1211580" y="8749538"/>
                <a:ext cx="7315200" cy="10972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800" i="1">
                              <a:solidFill>
                                <a:srgbClr val="FFFFFF"/>
                              </a:solidFill>
                              <a:latin typeface="Cambria Math" panose="02040503050406030204" pitchFamily="18" charset="0"/>
                            </a:rPr>
                          </m:ctrlPr>
                        </m:sSubPr>
                        <m:e>
                          <m:r>
                            <a:rPr lang="en-US" sz="1800" i="1">
                              <a:solidFill>
                                <a:srgbClr val="FFFFFF"/>
                              </a:solidFill>
                              <a:latin typeface="Cambria Math" panose="02040503050406030204" pitchFamily="18" charset="0"/>
                            </a:rPr>
                            <m:t xml:space="preserve">φ</m:t>
                          </m:r>
                        </m:e>
                        <m:sub>
                          <m:r>
                            <a:rPr lang="en-US" sz="1800" i="1">
                              <a:solidFill>
                                <a:srgbClr val="FFFFFF"/>
                              </a:solidFill>
                              <a:latin typeface="Cambria Math" panose="02040503050406030204" pitchFamily="18" charset="0"/>
                            </a:rPr>
                            <m:t xml:space="preserve">j</m:t>
                          </m:r>
                        </m:sub>
                      </m:sSub>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nary>
                        <m:naryPr>
                          <m:chr m:val="∑"/>
                          <m:limLoc m:val="undOvr"/>
                          <m:supHide m:val="1"/>
                          <m:ctrlPr>
                            <a:rPr lang="en-US" sz="1800" i="1">
                              <a:solidFill>
                                <a:srgbClr val="FFFFFF"/>
                              </a:solidFill>
                              <a:latin typeface="Cambria Math" panose="02040503050406030204" pitchFamily="18" charset="0"/>
                            </a:rPr>
                          </m:ctrlPr>
                        </m:naryPr>
                        <m:sub>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j</m:t>
                          </m:r>
                          <m:r>
                            <m:rPr>
                              <m:sty m:val="p"/>
                            </m:rPr>
                            <a:rPr lang="en-US" sz="1800">
                              <a:solidFill>
                                <a:srgbClr val="FFFFFF"/>
                              </a:solidFill>
                              <a:latin typeface="Cambria Math" panose="02040503050406030204" pitchFamily="18" charset="0"/>
                            </a:rPr>
                            <m:t xml:space="preserve">}</m:t>
                          </m:r>
                        </m:sub>
                        <m:sup/>
                        <m:e>
                          <m:f>
                            <m:fPr>
                              <m:ctrlPr>
                                <a:rPr lang="en-US" sz="1800" i="1">
                                  <a:solidFill>
                                    <a:srgbClr val="FFFFFF"/>
                                  </a:solidFill>
                                  <a:latin typeface="Cambria Math" panose="02040503050406030204" pitchFamily="18" charset="0"/>
                                </a:rPr>
                              </m:ctrlPr>
                            </m:fPr>
                            <m:num>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 (</m:t>
                              </m:r>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|−1)!</m:t>
                              </m:r>
                            </m:num>
                            <m:den>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den>
                          </m:f>
                        </m:e>
                      </m:nary>
                      <m:r>
                        <m:rPr>
                          <m:sty m:val="p"/>
                        </m:rPr>
                        <a:rPr lang="en-US" sz="1800">
                          <a:solidFill>
                            <a:srgbClr val="FFFFFF"/>
                          </a:solidFill>
                          <a:latin typeface="Cambria Math" panose="02040503050406030204" pitchFamily="18" charset="0"/>
                        </a:rPr>
                        <m:t xml:space="preserve"> </m:t>
                      </m:r>
                      <m:d>
                        <m:dPr>
                          <m:begChr m:val="["/>
                          <m:endChr m:val="]"/>
                          <m:ctrlPr>
                            <a:rPr lang="en-US" sz="1800" i="1">
                              <a:solidFill>
                                <a:srgbClr val="FFFFFF"/>
                              </a:solidFill>
                              <a:latin typeface="Cambria Math" panose="02040503050406030204" pitchFamily="18" charset="0"/>
                            </a:rPr>
                          </m:ctrlPr>
                        </m:dPr>
                        <m:e>
                          <m:r>
                            <m:rPr>
                              <m:sty m:val="p"/>
                            </m:rPr>
                            <a:rPr lang="en-US" sz="1800">
                              <a:solidFill>
                                <a:srgbClr val="FFFFFF"/>
                              </a:solidFill>
                              <a:latin typeface="Cambria Math" panose="02040503050406030204" pitchFamily="18" charset="0"/>
                            </a:rPr>
                            <m:t xml:space="preserve"> </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j</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 </m:t>
                          </m:r>
                        </m:e>
                      </m:d>
                    </m:oMath>
                  </m:oMathPara>
                </a14:m>
                <a:endParaRPr lang="en-US" sz="1800"/>
              </a:p>
            </p:txBody>
          </p:sp>
        </mc:Choice>
        <mc:Fallback>
          <p:sp>
            <p:nvSpPr>
              <p:cNvPr id="34" name="Equation"/>
              <p:cNvSpPr txBox="1"/>
              <p:nvPr/>
            </p:nvSpPr>
            <p:spPr>
              <a:xfrm>
                <a:off x="1211580" y="8749538"/>
                <a:ext cx="7315200" cy="1097280"/>
              </a:xfrm>
              <a:prstGeom prst="rect">
                <a:avLst/>
              </a:prstGeom>
              <a:blipFill>
                <a:blip r:embed="rId5"/>
                <a:stretch>
                  <a:fillRect/>
                </a:stretch>
              </a:blipFill>
            </p:spPr>
            <p:txBody>
              <a:bodyPr/>
              <a:lstStyle/>
              <a:p>
                <a:endParaRPr lang="en-US"/>
              </a:p>
            </p:txBody>
          </p:sp>
        </mc:Fallback>
      </mc:AlternateContent>
      <p:sp>
        <p:nvSpPr>
          <p:cNvPr id="35" name="TextBox 34"/>
          <p:cNvSpPr txBox="1"/>
          <p:nvPr/>
        </p:nvSpPr>
        <p:spPr>
          <a:xfrm>
            <a:off x="1028700" y="9883394"/>
            <a:ext cx="7680960" cy="310896"/>
          </a:xfrm>
          <a:prstGeom prst="rect">
            <a:avLst/>
          </a:prstGeom>
          <a:noFill/>
        </p:spPr>
        <p:txBody>
          <a:bodyPr anchor="t" rtlCol="false" lIns="0" tIns="0" rIns="0" bIns="0" wrap="square"/>
          <a:lstStyle/>
          <a:p>
            <a:pPr algn="ctr">
              <a:lnSpc>
                <a:spcPts val="1800"/>
              </a:lnSpc>
              <a:spcBef>
                <a:spcPts val="0"/>
              </a:spcBef>
              <a:buNone/>
            </a:pPr>
            <a:r>
              <a:rPr lang="en-US" sz="1500" b="true">
                <a:solidFill>
                  <a:srgbClr val="D6E4F7"/>
                </a:solidFill>
                <a:latin typeface="Nunito Semi-Bold"/>
                <a:ea typeface="Nunito Semi-Bold"/>
                <a:cs typeface="Nunito Semi-Bold"/>
                <a:sym typeface="Nunito Semi-Bold"/>
              </a:rPr>
              <a:t>average marginal contribution over every arrival order</a:t>
            </a:r>
          </a:p>
        </p:txBody>
      </p:sp>
      <p:sp>
        <p:nvSpPr>
          <p:cNvPr id="36" name="TextBox 35"/>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7" name="Table 36"/>
          <p:cNvGraphicFramePr>
            <a:graphicFrameLocks noGrp="1"/>
          </p:cNvGraphicFramePr>
          <p:nvPr/>
        </p:nvGraphicFramePr>
        <p:xfrm>
          <a:off x="9166860" y="3656330"/>
          <a:ext cx="8092439" cy="4150868"/>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nobody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8" name="Rounded Rectangle 37"/>
          <p:cNvSpPr/>
          <p:nvPr/>
        </p:nvSpPr>
        <p:spPr>
          <a:xfrm>
            <a:off x="9166860" y="8008366"/>
            <a:ext cx="8092440" cy="1143000"/>
          </a:xfrm>
          <a:prstGeom prst="roundRect">
            <a:avLst>
              <a:gd name="adj" fmla="val 16000"/>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39" name="Rounded Rectangle 38"/>
          <p:cNvSpPr/>
          <p:nvPr/>
        </p:nvSpPr>
        <p:spPr>
          <a:xfrm>
            <a:off x="9166860" y="9334246"/>
            <a:ext cx="3945636" cy="594360"/>
          </a:xfrm>
          <a:prstGeom prst="roundRect">
            <a:avLst>
              <a:gd name="adj" fmla="val 30769"/>
            </a:avLst>
          </a:prstGeom>
          <a:solidFill>
            <a:srgbClr val="E7EAF3"/>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Efficiency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the shares add up to v(N)</a:t>
            </a:r>
          </a:p>
        </p:txBody>
      </p:sp>
      <p:sp>
        <p:nvSpPr>
          <p:cNvPr id="40" name="Rounded Rectangle 39"/>
          <p:cNvSpPr/>
          <p:nvPr/>
        </p:nvSpPr>
        <p:spPr>
          <a:xfrm>
            <a:off x="13313664" y="9334246"/>
            <a:ext cx="3945636" cy="594360"/>
          </a:xfrm>
          <a:prstGeom prst="roundRect">
            <a:avLst>
              <a:gd name="adj" fmla="val 30769"/>
            </a:avLst>
          </a:prstGeom>
          <a:solidFill>
            <a:srgbClr val="E7EAF3"/>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Symmetry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equal contributors, equal credit</a:t>
            </a:r>
          </a:p>
        </p:txBody>
      </p:sp>
      <p:sp>
        <p:nvSpPr>
          <p:cNvPr id="41" name="Rounded Rectangle 40"/>
          <p:cNvSpPr/>
          <p:nvPr/>
        </p:nvSpPr>
        <p:spPr>
          <a:xfrm>
            <a:off x="9166860" y="10111486"/>
            <a:ext cx="3945636" cy="594360"/>
          </a:xfrm>
          <a:prstGeom prst="roundRect">
            <a:avLst>
              <a:gd name="adj" fmla="val 30769"/>
            </a:avLst>
          </a:prstGeom>
          <a:solidFill>
            <a:srgbClr val="E7EAF3"/>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Null player</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adds nothing </a:t>
            </a:r>
            <a:r>
              <a:rPr lang="en-US" sz="1200" b="true">
                <a:solidFill>
                  <a:srgbClr val="8A8378"/>
                </a:solidFill>
                <a:latin typeface="Calibri"/>
                <a:ea typeface="Calibri"/>
                <a:cs typeface="Calibri"/>
                <a:sym typeface="Calibri"/>
              </a:rPr>
              <a:t>→ </a:t>
            </a:r>
            <a:r>
              <a:rPr lang="en-US" sz="1200" b="true">
                <a:solidFill>
                  <a:srgbClr val="8A8378"/>
                </a:solidFill>
                <a:latin typeface="Nunito Semi-Bold"/>
                <a:ea typeface="Nunito Semi-Bold"/>
                <a:cs typeface="Nunito Semi-Bold"/>
                <a:sym typeface="Nunito Semi-Bold"/>
              </a:rPr>
              <a:t>gets nothing</a:t>
            </a:r>
          </a:p>
        </p:txBody>
      </p:sp>
      <p:sp>
        <p:nvSpPr>
          <p:cNvPr id="42" name="Rounded Rectangle 41"/>
          <p:cNvSpPr/>
          <p:nvPr/>
        </p:nvSpPr>
        <p:spPr>
          <a:xfrm>
            <a:off x="13313664" y="10111486"/>
            <a:ext cx="3945636" cy="594360"/>
          </a:xfrm>
          <a:prstGeom prst="roundRect">
            <a:avLst>
              <a:gd name="adj" fmla="val 30769"/>
            </a:avLst>
          </a:prstGeom>
          <a:solidFill>
            <a:srgbClr val="E7EAF3"/>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Additivity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linear across games</a:t>
            </a:r>
          </a:p>
        </p:txBody>
      </p:sp>
      <p:sp>
        <p:nvSpPr>
          <p:cNvPr id="43" name="Rounded Rectangle 42"/>
          <p:cNvSpPr/>
          <p:nvPr/>
        </p:nvSpPr>
        <p:spPr>
          <a:xfrm>
            <a:off x="9166860" y="10934446"/>
            <a:ext cx="8092440" cy="-1671574"/>
          </a:xfrm>
          <a:prstGeom prst="roundRect">
            <a:avLst>
              <a:gd name="adj" fmla="val 0"/>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Shapley proved it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6" name="Connector 25"/>
          <p:cNvCxnSpPr/>
          <p:nvPr/>
        </p:nvCxnSpPr>
        <p:spPr>
          <a:xfrm>
            <a:off x="4027932" y="4049522"/>
            <a:ext cx="1362456" cy="0"/>
          </a:xfrm>
          <a:prstGeom prst="line">
            <a:avLst/>
          </a:prstGeom>
          <a:ln w="31750">
            <a:solidFill>
              <a:srgbClr val="4472C4"/>
            </a:solidFill>
            <a:tailEnd type="triangle" w="med" len="med"/>
          </a:ln>
        </p:spPr>
      </p:cxnSp>
      <p:sp>
        <p:nvSpPr>
          <p:cNvPr id="27" name="Rounded Rectangle 26"/>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28" name="Connector 27"/>
          <p:cNvCxnSpPr/>
          <p:nvPr/>
        </p:nvCxnSpPr>
        <p:spPr>
          <a:xfrm>
            <a:off x="8462772" y="4049522"/>
            <a:ext cx="1362456" cy="0"/>
          </a:xfrm>
          <a:prstGeom prst="line">
            <a:avLst/>
          </a:prstGeom>
          <a:ln w="31750">
            <a:solidFill>
              <a:srgbClr val="4472C4"/>
            </a:solidFill>
            <a:tailEnd type="triangle" w="med" len="med"/>
          </a:ln>
        </p:spPr>
      </p:cxnSp>
      <p:sp>
        <p:nvSpPr>
          <p:cNvPr id="29" name="Rounded Rectangle 28"/>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0" name="Connector 29"/>
          <p:cNvCxnSpPr/>
          <p:nvPr/>
        </p:nvCxnSpPr>
        <p:spPr>
          <a:xfrm>
            <a:off x="12897612" y="4049522"/>
            <a:ext cx="1362456" cy="0"/>
          </a:xfrm>
          <a:prstGeom prst="line">
            <a:avLst/>
          </a:prstGeom>
          <a:ln w="31750">
            <a:solidFill>
              <a:srgbClr val="4472C4"/>
            </a:solidFill>
            <a:tailEnd type="triangle" w="med" len="med"/>
          </a:ln>
        </p:spPr>
      </p:cxnSp>
      <p:sp>
        <p:nvSpPr>
          <p:cNvPr id="31" name="Rounded Rectangle 30"/>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2" name="Rounded Rectangle 31"/>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4" name="TextBox 33"/>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5" name="Rounded Rectangle 34"/>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37" name="TextBox 36"/>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6" name="Table 25"/>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7" name="Rounded Rectangle 26"/>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28" name="Rounded Rectangle 27"/>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26" name="Rounded Rectangle 25"/>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27" name="Picture 26" descr="fig5_1_wine_global.png"/>
          <p:cNvPicPr>
            <a:picLocks noChangeAspect="1"/>
          </p:cNvPicPr>
          <p:nvPr/>
        </p:nvPicPr>
        <p:blipFill>
          <a:blip r:embed="rId4"/>
          <a:stretch>
            <a:fillRect/>
          </a:stretch>
        </p:blipFill>
        <p:spPr>
          <a:xfrm>
            <a:off x="9984489" y="3546602"/>
            <a:ext cx="5359901" cy="3320160"/>
          </a:xfrm>
          <a:prstGeom prst="rect">
            <a:avLst/>
          </a:prstGeom>
        </p:spPr>
      </p:pic>
      <p:sp>
        <p:nvSpPr>
          <p:cNvPr id="28" name="TextBox 27"/>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29" name="Rounded Rectangle 28"/>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5_2_wine_clusters.png"/>
          <p:cNvPicPr>
            <a:picLocks noChangeAspect="1"/>
          </p:cNvPicPr>
          <p:nvPr/>
        </p:nvPicPr>
        <p:blipFill>
          <a:blip r:embed="rId5"/>
          <a:stretch>
            <a:fillRect/>
          </a:stretch>
        </p:blipFill>
        <p:spPr>
          <a:xfrm>
            <a:off x="10379599" y="7808595"/>
            <a:ext cx="4569680" cy="814197"/>
          </a:xfrm>
          <a:prstGeom prst="rect">
            <a:avLst/>
          </a:prstGeom>
        </p:spPr>
      </p:pic>
      <p:sp>
        <p:nvSpPr>
          <p:cNvPr id="31" name="TextBox 30"/>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27" name="TextBox 26"/>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28" name="Table 27"/>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1" name="Rounded Rectangle 30"/>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1" name="Rounded Rectangle 30"/>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6" name="Oval 5"/>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26" name="Rounded Rectangle 25"/>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27" name="TextBox 26"/>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28" name="Table 27"/>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6" name="Rounded Rectangle 25"/>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27" name="Rounded Rectangle 26"/>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28" name="Connector 27"/>
          <p:cNvCxnSpPr/>
          <p:nvPr/>
        </p:nvCxnSpPr>
        <p:spPr>
          <a:xfrm flipH="1">
            <a:off x="10515600" y="4278122"/>
            <a:ext cx="2743200" cy="502920"/>
          </a:xfrm>
          <a:prstGeom prst="line">
            <a:avLst/>
          </a:prstGeom>
          <a:ln w="25400">
            <a:solidFill>
              <a:srgbClr val="4472C4"/>
            </a:solidFill>
            <a:tailEnd type="triangle" w="med" len="med"/>
          </a:ln>
        </p:spPr>
      </p:cxnSp>
      <p:sp>
        <p:nvSpPr>
          <p:cNvPr id="29" name="Rounded Rectangle 28"/>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0" name="Connector 29"/>
          <p:cNvCxnSpPr/>
          <p:nvPr/>
        </p:nvCxnSpPr>
        <p:spPr>
          <a:xfrm flipH="1">
            <a:off x="9859518" y="6088634"/>
            <a:ext cx="656082" cy="393192"/>
          </a:xfrm>
          <a:prstGeom prst="line">
            <a:avLst/>
          </a:prstGeom>
          <a:ln w="19050">
            <a:solidFill>
              <a:srgbClr val="4472C4"/>
            </a:solidFill>
            <a:tailEnd type="triangle" w="med" len="med"/>
          </a:ln>
        </p:spPr>
      </p:cxnSp>
      <p:sp>
        <p:nvSpPr>
          <p:cNvPr id="31" name="Rounded Rectangle 30"/>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2" name="Connector 31"/>
          <p:cNvCxnSpPr/>
          <p:nvPr/>
        </p:nvCxnSpPr>
        <p:spPr>
          <a:xfrm>
            <a:off x="10515600" y="6088634"/>
            <a:ext cx="656082" cy="393192"/>
          </a:xfrm>
          <a:prstGeom prst="line">
            <a:avLst/>
          </a:prstGeom>
          <a:ln w="19050">
            <a:solidFill>
              <a:srgbClr val="4472C4"/>
            </a:solidFill>
            <a:tailEnd type="triangle" w="med" len="med"/>
          </a:ln>
        </p:spPr>
      </p:cxnSp>
      <p:sp>
        <p:nvSpPr>
          <p:cNvPr id="33" name="Rounded Rectangle 32"/>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4" name="Connector 33"/>
          <p:cNvCxnSpPr/>
          <p:nvPr/>
        </p:nvCxnSpPr>
        <p:spPr>
          <a:xfrm>
            <a:off x="13258800" y="4278122"/>
            <a:ext cx="0" cy="502920"/>
          </a:xfrm>
          <a:prstGeom prst="line">
            <a:avLst/>
          </a:prstGeom>
          <a:ln w="25400">
            <a:solidFill>
              <a:srgbClr val="4472C4"/>
            </a:solidFill>
            <a:tailEnd type="triangle" w="med" len="med"/>
          </a:ln>
        </p:spPr>
      </p:cxnSp>
      <p:sp>
        <p:nvSpPr>
          <p:cNvPr id="35" name="Rounded Rectangle 34"/>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6" name="Connector 35"/>
          <p:cNvCxnSpPr/>
          <p:nvPr/>
        </p:nvCxnSpPr>
        <p:spPr>
          <a:xfrm flipH="1">
            <a:off x="12602718" y="6088634"/>
            <a:ext cx="656082" cy="393192"/>
          </a:xfrm>
          <a:prstGeom prst="line">
            <a:avLst/>
          </a:prstGeom>
          <a:ln w="19050">
            <a:solidFill>
              <a:srgbClr val="4472C4"/>
            </a:solidFill>
            <a:tailEnd type="triangle" w="med" len="med"/>
          </a:ln>
        </p:spPr>
      </p:cxnSp>
      <p:sp>
        <p:nvSpPr>
          <p:cNvPr id="37" name="Rounded Rectangle 36"/>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8" name="Connector 37"/>
          <p:cNvCxnSpPr/>
          <p:nvPr/>
        </p:nvCxnSpPr>
        <p:spPr>
          <a:xfrm>
            <a:off x="13258800" y="6088634"/>
            <a:ext cx="656082" cy="393192"/>
          </a:xfrm>
          <a:prstGeom prst="line">
            <a:avLst/>
          </a:prstGeom>
          <a:ln w="19050">
            <a:solidFill>
              <a:srgbClr val="4472C4"/>
            </a:solidFill>
            <a:tailEnd type="triangle" w="med" len="med"/>
          </a:ln>
        </p:spPr>
      </p:cxnSp>
      <p:sp>
        <p:nvSpPr>
          <p:cNvPr id="39" name="Rounded Rectangle 38"/>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0" name="Connector 39"/>
          <p:cNvCxnSpPr/>
          <p:nvPr/>
        </p:nvCxnSpPr>
        <p:spPr>
          <a:xfrm>
            <a:off x="13258800" y="4278122"/>
            <a:ext cx="2743200" cy="502920"/>
          </a:xfrm>
          <a:prstGeom prst="line">
            <a:avLst/>
          </a:prstGeom>
          <a:ln w="25400">
            <a:solidFill>
              <a:srgbClr val="4472C4"/>
            </a:solidFill>
            <a:tailEnd type="triangle" w="med" len="med"/>
          </a:ln>
        </p:spPr>
      </p:cxnSp>
      <p:sp>
        <p:nvSpPr>
          <p:cNvPr id="41" name="Rounded Rectangle 40"/>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2" name="Connector 41"/>
          <p:cNvCxnSpPr/>
          <p:nvPr/>
        </p:nvCxnSpPr>
        <p:spPr>
          <a:xfrm flipH="1">
            <a:off x="15345918" y="6088634"/>
            <a:ext cx="656082" cy="393192"/>
          </a:xfrm>
          <a:prstGeom prst="line">
            <a:avLst/>
          </a:prstGeom>
          <a:ln w="19050">
            <a:solidFill>
              <a:srgbClr val="4472C4"/>
            </a:solidFill>
            <a:tailEnd type="triangle" w="med" len="med"/>
          </a:ln>
        </p:spPr>
      </p:cxnSp>
      <p:sp>
        <p:nvSpPr>
          <p:cNvPr id="43" name="Rounded Rectangle 42"/>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4" name="Connector 43"/>
          <p:cNvCxnSpPr/>
          <p:nvPr/>
        </p:nvCxnSpPr>
        <p:spPr>
          <a:xfrm>
            <a:off x="16002000" y="6088634"/>
            <a:ext cx="656082" cy="393192"/>
          </a:xfrm>
          <a:prstGeom prst="line">
            <a:avLst/>
          </a:prstGeom>
          <a:ln w="19050">
            <a:solidFill>
              <a:srgbClr val="4472C4"/>
            </a:solidFill>
            <a:tailEnd type="triangle" w="med" len="med"/>
          </a:ln>
        </p:spPr>
      </p:cxnSp>
      <p:sp>
        <p:nvSpPr>
          <p:cNvPr id="45" name="Rounded Rectangle 44"/>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6" name="TextBox 45"/>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47"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47" name="Equation"/>
              <p:cNvSpPr txBox="1"/>
              <p:nvPr/>
            </p:nvSpPr>
            <p:spPr>
              <a:xfrm>
                <a:off x="9441180" y="7761986"/>
                <a:ext cx="7635240" cy="960120"/>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48"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w</m:t>
                          </m:r>
                        </m:e>
                        <m:sub>
                          <m:r>
                            <a:rPr lang="en-US" sz="1400" i="1">
                              <a:solidFill>
                                <a:srgbClr val="D6E4F7"/>
                              </a:solidFill>
                              <a:latin typeface="Cambria Math" panose="02040503050406030204" pitchFamily="18" charset="0"/>
                            </a:rPr>
                            <m:t xml:space="preserve">c′</m:t>
                          </m:r>
                        </m:sub>
                      </m:sSub>
                      <m:r>
                        <m:rPr>
                          <m:sty m:val="p"/>
                        </m:rPr>
                        <a:rPr lang="en-US" sz="1400">
                          <a:solidFill>
                            <a:srgbClr val="D6E4F7"/>
                          </a:solidFill>
                          <a:latin typeface="Cambria Math" panose="02040503050406030204" pitchFamily="18" charset="0"/>
                        </a:rPr>
                        <m:t xml:space="preserve">=|</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 |</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m:t>
                      </m:r>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ε</m:t>
                          </m:r>
                        </m:e>
                        <m:sub>
                          <m:r>
                            <a:rPr lang="en-US" sz="1400" i="1">
                              <a:solidFill>
                                <a:srgbClr val="D6E4F7"/>
                              </a:solidFill>
                              <a:latin typeface="Cambria Math" panose="02040503050406030204" pitchFamily="18" charset="0"/>
                            </a:rPr>
                            <m:t xml:space="preserve">j</m:t>
                          </m:r>
                        </m:sub>
                      </m:sSub>
                      <m:r>
                        <m:rPr>
                          <m:sty m:val="p"/>
                        </m:rPr>
                        <a:rPr lang="en-US" sz="1400">
                          <a:solidFill>
                            <a:srgbClr val="D6E4F7"/>
                          </a:solidFill>
                          <a:latin typeface="Cambria Math" panose="02040503050406030204" pitchFamily="18" charset="0"/>
                        </a:rPr>
                        <m:t xml:space="preserve">→0</m:t>
                      </m:r>
                      <m:r>
                        <m:rPr>
                          <m:nor/>
                        </m:rPr>
                        <a:rPr lang="en-US" sz="1400">
                          <a:solidFill>
                            <a:srgbClr val="D6E4F7"/>
                          </a:solidFill>
                          <a:latin typeface="Cambria Math" panose="02040503050406030204" pitchFamily="18" charset="0"/>
                        </a:rPr>
                        <m:t xml:space="preserve">  under perfect surrogate fidelity</m:t>
                      </m:r>
                    </m:oMath>
                  </m:oMathPara>
                </a14:m>
                <a:endParaRPr lang="en-US" sz="1400"/>
              </a:p>
            </p:txBody>
          </p:sp>
        </mc:Choice>
        <mc:Fallback>
          <p:sp>
            <p:nvSpPr>
              <p:cNvPr id="48" name="Equation"/>
              <p:cNvSpPr txBox="1"/>
              <p:nvPr/>
            </p:nvSpPr>
            <p:spPr>
              <a:xfrm>
                <a:off x="9441180" y="8712962"/>
                <a:ext cx="7635240" cy="457200"/>
              </a:xfrm>
              <a:prstGeom prst="rect">
                <a:avLst/>
              </a:prstGeom>
              <a:blipFill>
                <a:blip r:embed="rId5"/>
                <a:stretch>
                  <a:fillRect/>
                </a:stretch>
              </a:blipFill>
            </p:spPr>
            <p:txBody>
              <a:bodyPr/>
              <a:lstStyle/>
              <a:p>
                <a:endParaRPr lang="en-US"/>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Oval 24"/>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6"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6" name="Equation"/>
              <p:cNvSpPr txBox="1"/>
              <p:nvPr/>
            </p:nvSpPr>
            <p:spPr>
              <a:xfrm>
                <a:off x="1440180" y="3363722"/>
                <a:ext cx="3840480" cy="658368"/>
              </a:xfrm>
              <a:prstGeom prst="rect">
                <a:avLst/>
              </a:prstGeom>
              <a:blipFill>
                <a:blip r:embed="rId4"/>
                <a:stretch>
                  <a:fillRect/>
                </a:stretch>
              </a:blipFill>
            </p:spPr>
            <p:txBody>
              <a:bodyPr/>
              <a:lstStyle/>
              <a:p>
                <a:endParaRPr lang="en-US"/>
              </a:p>
            </p:txBody>
          </p:sp>
        </mc:Fallback>
      </mc:AlternateContent>
      <p:sp>
        <p:nvSpPr>
          <p:cNvPr id="27" name="TextBox 26"/>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28" name="Oval 27"/>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29" name="Equation"/>
              <p:cNvSpPr txBox="1"/>
              <p:nvPr/>
            </p:nvSpPr>
            <p:spPr>
              <a:xfrm>
                <a:off x="1440180" y="409524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1" name="TextBox 30"/>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2" name="Rounded Rectangle 31"/>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3"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3" name="Equation"/>
              <p:cNvSpPr txBox="1"/>
              <p:nvPr/>
            </p:nvSpPr>
            <p:spPr>
              <a:xfrm>
                <a:off x="1211580" y="5393690"/>
                <a:ext cx="7863840" cy="1508760"/>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5" name="Rounded Rectangle 34"/>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7" name="TextBox 36"/>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39" name="Rounded Rectangle 38"/>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3 </a:t>
            </a:r>
            <a:r>
              <a:rPr lang="en-US" sz="3400" b="true">
                <a:solidFill>
                  <a:srgbClr val="1F7A8C"/>
                </a:solidFill>
                <a:latin typeface="Calibri"/>
                <a:ea typeface="Calibri"/>
                <a:cs typeface="Calibri"/>
                <a:sym typeface="Calibri"/>
              </a:rPr>
              <a:t>→ </a:t>
            </a:r>
            <a:r>
              <a:rPr lang="en-US" sz="3400" b="true">
                <a:solidFill>
                  <a:srgbClr val="1F7A8C"/>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6" name="Rounded Rectangle 25"/>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27" name="Rounded Rectangle 26"/>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28" name="TextBox 27"/>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29" name="Rounded Rectangle 28"/>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0" name="Rounded Rectangle 29"/>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1" name="TextBox 30"/>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2" name="Rounded Rectangle 31"/>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4" name="TextBox 33"/>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26" name="Rounded Rectangle 25"/>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27" name="Picture 26" descr="fig6_1_beijing_global.png"/>
          <p:cNvPicPr>
            <a:picLocks noChangeAspect="1"/>
          </p:cNvPicPr>
          <p:nvPr/>
        </p:nvPicPr>
        <p:blipFill>
          <a:blip r:embed="rId4"/>
          <a:stretch>
            <a:fillRect/>
          </a:stretch>
        </p:blipFill>
        <p:spPr>
          <a:xfrm>
            <a:off x="9013665" y="3546602"/>
            <a:ext cx="7484428" cy="5076190"/>
          </a:xfrm>
          <a:prstGeom prst="rect">
            <a:avLst/>
          </a:prstGeom>
        </p:spPr>
      </p:pic>
      <p:sp>
        <p:nvSpPr>
          <p:cNvPr id="28" name="TextBox 27"/>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26" name="Picture 25" descr="fig6_3_beijing_multilevel.png"/>
          <p:cNvPicPr>
            <a:picLocks noChangeAspect="1"/>
          </p:cNvPicPr>
          <p:nvPr/>
        </p:nvPicPr>
        <p:blipFill>
          <a:blip r:embed="rId4"/>
          <a:stretch>
            <a:fillRect/>
          </a:stretch>
        </p:blipFill>
        <p:spPr>
          <a:xfrm>
            <a:off x="6273209" y="3500882"/>
            <a:ext cx="5741581" cy="1645920"/>
          </a:xfrm>
          <a:prstGeom prst="rect">
            <a:avLst/>
          </a:prstGeom>
        </p:spPr>
      </p:pic>
      <p:sp>
        <p:nvSpPr>
          <p:cNvPr id="27" name="TextBox 26"/>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28" name="Rounded Rectangle 27"/>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29" name="Rounded Rectangle 28"/>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0" name="TextBox 29"/>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1" name="Rounded Rectangle 30"/>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2" name="Rounded Rectangle 31"/>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3" name="TextBox 32"/>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4" name="Rounded Rectangle 33"/>
          <p:cNvSpPr/>
          <p:nvPr/>
        </p:nvSpPr>
        <p:spPr>
          <a:xfrm>
            <a:off x="1028700" y="8621522"/>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35" name="TextBox 34"/>
          <p:cNvSpPr txBox="1"/>
          <p:nvPr/>
        </p:nvSpPr>
        <p:spPr>
          <a:xfrm>
            <a:off x="1485900" y="8731250"/>
            <a:ext cx="15316200" cy="376174"/>
          </a:xfrm>
          <a:prstGeom prst="rect">
            <a:avLst/>
          </a:prstGeom>
          <a:noFill/>
        </p:spPr>
        <p:txBody>
          <a:bodyPr anchor="ctr" rtlCol="false" lIns="0" tIns="0" rIns="0" bIns="0" wrap="square"/>
          <a:lstStyle/>
          <a:p>
            <a:pPr algn="l">
              <a:lnSpc>
                <a:spcPts val="1764"/>
              </a:lnSpc>
              <a:spcBef>
                <a:spcPts val="0"/>
              </a:spcBef>
              <a:buNone/>
            </a:pPr>
            <a:r>
              <a:rPr lang="en-US" sz="1260" b="true">
                <a:solidFill>
                  <a:srgbClr val="111111"/>
                </a:solidFill>
                <a:latin typeface="Nunito Bold"/>
                <a:ea typeface="Nunito Bold"/>
                <a:cs typeface="Nunito Bold"/>
                <a:sym typeface="Nunito Bold"/>
              </a:rPr>
              <a:t>This change is NOT a contradiction. It is exactly what a multi-level explanation should reveal.</a:t>
            </a:r>
            <a:r>
              <a:rPr lang="en-US" sz="1260" b="true">
                <a:solidFill>
                  <a:srgbClr val="111111"/>
                </a:solidFill>
                <a:latin typeface="Nunito Semi-Bold"/>
                <a:ea typeface="Nunito Semi-Bold"/>
                <a:cs typeface="Nunito Semi-Bold"/>
                <a:sym typeface="Nunito Semi-Bold"/>
              </a:rPr>
              <a:t> A variable can be </a:t>
            </a:r>
            <a:r>
              <a:rPr lang="en-US" sz="1260" b="true">
                <a:solidFill>
                  <a:srgbClr val="111111"/>
                </a:solidFill>
                <a:latin typeface="Nunito Bold"/>
                <a:ea typeface="Nunito Bold"/>
                <a:cs typeface="Nunito Bold"/>
                <a:sym typeface="Nunito Bold"/>
              </a:rPr>
              <a:t>globally important yet locally uninformative</a:t>
            </a:r>
            <a:r>
              <a:rPr lang="en-US" sz="1260" b="true">
                <a:solidFill>
                  <a:srgbClr val="111111"/>
                </a:solidFill>
                <a:latin typeface="Nunito Semi-Bold"/>
                <a:ea typeface="Nunito Semi-Bold"/>
                <a:cs typeface="Nunito Semi-Bold"/>
                <a:sym typeface="Nunito Semi-Bold"/>
              </a:rPr>
              <a:t> inside a sub-cluster; Proposition 6.1 guarantees the two readings agree, up to the surrogate residual.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27" name="TextBox 26"/>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28" name="Table 27"/>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1" name="Rounded Rectangle 30"/>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1" name="Rounded Rectangle 30"/>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6" name="Oval 5"/>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26" name="Rounded Rectangle 25"/>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27" name="TextBox 26"/>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28" name="Rounded Rectangle 27"/>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0" name="TextBox 29"/>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1" name="Table 30"/>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6" name="Rounded Rectangle 25"/>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7"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27" name="Equation"/>
              <p:cNvSpPr txBox="1"/>
              <p:nvPr/>
            </p:nvSpPr>
            <p:spPr>
              <a:xfrm>
                <a:off x="1257300" y="5759450"/>
                <a:ext cx="7406640" cy="658368"/>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8"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28" name="Equation"/>
              <p:cNvSpPr txBox="1"/>
              <p:nvPr/>
            </p:nvSpPr>
            <p:spPr>
              <a:xfrm>
                <a:off x="1257300" y="6426962"/>
                <a:ext cx="7406640" cy="548640"/>
              </a:xfrm>
              <a:prstGeom prst="rect">
                <a:avLst/>
              </a:prstGeom>
              <a:blipFill>
                <a:blip r:embed="rId5"/>
                <a:stretch>
                  <a:fillRect/>
                </a:stretch>
              </a:blipFill>
            </p:spPr>
            <p:txBody>
              <a:bodyPr/>
              <a:lstStyle/>
              <a:p>
                <a:endParaRPr lang="en-US"/>
              </a:p>
            </p:txBody>
          </p:sp>
        </mc:Fallback>
      </mc:AlternateContent>
      <p:sp>
        <p:nvSpPr>
          <p:cNvPr id="29" name="TextBox 28"/>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0" name="TextBox 29"/>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1" name="Rounded Rectangle 30"/>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3" name="Oval 32"/>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4" name="Oval 33"/>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5" name="Oval 34"/>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6" name="Rounded Rectangle 35"/>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37" name="Equation"/>
              <p:cNvSpPr txBox="1"/>
              <p:nvPr/>
            </p:nvSpPr>
            <p:spPr>
              <a:xfrm>
                <a:off x="9715500" y="7112762"/>
                <a:ext cx="1828800" cy="1120775"/>
              </a:xfrm>
              <a:prstGeom prst="rect">
                <a:avLst/>
              </a:prstGeom>
              <a:blipFill>
                <a:blip r:embed="rId6"/>
                <a:stretch>
                  <a:fillRect/>
                </a:stretch>
              </a:blipFill>
            </p:spPr>
            <p:txBody>
              <a:bodyPr/>
              <a:lstStyle/>
              <a:p>
                <a:endParaRPr lang="en-US"/>
              </a:p>
            </p:txBody>
          </p:sp>
        </mc:Fallback>
      </mc:AlternateContent>
      <p:sp>
        <p:nvSpPr>
          <p:cNvPr id="38" name="TextBox 37"/>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39"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39" name="Equation"/>
              <p:cNvSpPr txBox="1"/>
              <p:nvPr/>
            </p:nvSpPr>
            <p:spPr>
              <a:xfrm>
                <a:off x="9715500" y="8142097"/>
                <a:ext cx="1828800" cy="1120775"/>
              </a:xfrm>
              <a:prstGeom prst="rect">
                <a:avLst/>
              </a:prstGeom>
              <a:blipFill>
                <a:blip r:embed="rId7"/>
                <a:stretch>
                  <a:fillRect/>
                </a:stretch>
              </a:blipFill>
            </p:spPr>
            <p:txBody>
              <a:bodyPr/>
              <a:lstStyle/>
              <a:p>
                <a:endParaRPr lang="en-US"/>
              </a:p>
            </p:txBody>
          </p:sp>
        </mc:Fallback>
      </mc:AlternateContent>
      <p:sp>
        <p:nvSpPr>
          <p:cNvPr id="40" name="TextBox 39"/>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6" name="Rounded Rectangle 25"/>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7"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27" name="Equation"/>
              <p:cNvSpPr txBox="1"/>
              <p:nvPr/>
            </p:nvSpPr>
            <p:spPr>
              <a:xfrm>
                <a:off x="1211580" y="3958082"/>
                <a:ext cx="8229600" cy="1325880"/>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8"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28" name="Equation"/>
              <p:cNvSpPr txBox="1"/>
              <p:nvPr/>
            </p:nvSpPr>
            <p:spPr>
              <a:xfrm>
                <a:off x="1211580" y="528396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9" name="Equation"/>
              <p:cNvSpPr txBox="1"/>
              <p:nvPr/>
            </p:nvSpPr>
            <p:spPr>
              <a:xfrm>
                <a:off x="1211580" y="6838442"/>
                <a:ext cx="82296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600">
                          <a:solidFill>
                            <a:srgbClr val="111111"/>
                          </a:solidFill>
                          <a:latin typeface="Cambria Math" panose="02040503050406030204" pitchFamily="18" charset="0"/>
                        </a:rPr>
                        <m:t xml:space="preserve">Var</m:t>
                      </m:r>
                      <m:d>
                        <m:dPr>
                          <m:begChr m:val="["/>
                          <m:endChr m:val="]"/>
                          <m:ctrlPr>
                            <a:rPr lang="en-US" sz="1600" i="1">
                              <a:solidFill>
                                <a:srgbClr val="111111"/>
                              </a:solidFill>
                              <a:latin typeface="Cambria Math" panose="02040503050406030204" pitchFamily="18" charset="0"/>
                            </a:rPr>
                          </m:ctrlPr>
                        </m:dPr>
                        <m:e>
                          <m:sSub>
                            <m:sSubPr>
                              <m:ctrlPr>
                                <a:rPr lang="en-US" sz="1600" i="1">
                                  <a:solidFill>
                                    <a:srgbClr val="111111"/>
                                  </a:solidFill>
                                  <a:latin typeface="Cambria Math" panose="02040503050406030204" pitchFamily="18" charset="0"/>
                                </a:rPr>
                              </m:ctrlPr>
                            </m:sSubPr>
                            <m:e>
                              <m:acc>
                                <m:accPr>
                                  <m:chr m:val="̂"/>
                                  <m:ctrlPr>
                                    <a:rPr lang="en-US" sz="1600" i="1">
                                      <a:solidFill>
                                        <a:srgbClr val="111111"/>
                                      </a:solidFill>
                                      <a:latin typeface="Cambria Math" panose="02040503050406030204" pitchFamily="18" charset="0"/>
                                    </a:rPr>
                                  </m:ctrlPr>
                                </m:accPr>
                                <m:e>
                                  <m:r>
                                    <a:rPr lang="en-US" sz="1600" i="1">
                                      <a:solidFill>
                                        <a:srgbClr val="111111"/>
                                      </a:solidFill>
                                      <a:latin typeface="Cambria Math" panose="02040503050406030204" pitchFamily="18" charset="0"/>
                                    </a:rPr>
                                    <m:t xml:space="preserve">φ</m:t>
                                  </m:r>
                                </m:e>
                              </m:acc>
                            </m:e>
                            <m:sub>
                              <m:r>
                                <a:rPr lang="en-US" sz="1600" i="1">
                                  <a:solidFill>
                                    <a:srgbClr val="111111"/>
                                  </a:solidFill>
                                  <a:latin typeface="Cambria Math" panose="02040503050406030204" pitchFamily="18" charset="0"/>
                                </a:rPr>
                                <m:t xml:space="preserve">j</m:t>
                              </m:r>
                            </m:sub>
                          </m:sSub>
                        </m:e>
                      </m:d>
                      <m:r>
                        <m:rPr>
                          <m:sty m:val="p"/>
                        </m:rPr>
                        <a:rPr lang="en-US" sz="1600">
                          <a:solidFill>
                            <a:srgbClr val="111111"/>
                          </a:solidFill>
                          <a:latin typeface="Cambria Math" panose="02040503050406030204" pitchFamily="18" charset="0"/>
                        </a:rPr>
                        <m:t xml:space="preserve">=</m:t>
                      </m:r>
                      <m:sSup>
                        <m:sSupPr>
                          <m:ctrlPr>
                            <a:rPr lang="en-US" sz="1600" i="1">
                              <a:solidFill>
                                <a:srgbClr val="111111"/>
                              </a:solidFill>
                              <a:latin typeface="Cambria Math" panose="02040503050406030204" pitchFamily="18" charset="0"/>
                            </a:rPr>
                          </m:ctrlPr>
                        </m:sSupPr>
                        <m:e>
                          <m:r>
                            <a:rPr lang="en-US" sz="1600" i="1">
                              <a:solidFill>
                                <a:srgbClr val="111111"/>
                              </a:solidFill>
                              <a:latin typeface="Cambria Math" panose="02040503050406030204" pitchFamily="18" charset="0"/>
                            </a:rPr>
                            <m:t xml:space="preserve">σ</m:t>
                          </m:r>
                        </m:e>
                        <m:sup>
                          <m:r>
                            <m:rPr>
                              <m:sty m:val="p"/>
                            </m:rPr>
                            <a:rPr lang="en-US" sz="1600">
                              <a:solidFill>
                                <a:srgbClr val="111111"/>
                              </a:solidFill>
                              <a:latin typeface="Cambria Math" panose="02040503050406030204" pitchFamily="18" charset="0"/>
                            </a:rPr>
                            <m:t xml:space="preserve">2</m:t>
                          </m:r>
                        </m:sup>
                      </m:sSup>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  ⇒  MSE=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m:t>
                      </m:r>
                      <m:r>
                        <m:rPr>
                          <m:nor/>
                        </m:rPr>
                        <a:rPr lang="en-US" sz="1600">
                          <a:solidFill>
                            <a:srgbClr val="111111"/>
                          </a:solidFill>
                          <a:latin typeface="Cambria Math" panose="02040503050406030204" pitchFamily="18" charset="0"/>
                        </a:rPr>
                        <m:t xml:space="preserve">error</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ad>
                        <m:radPr>
                          <m:degHide m:val="1"/>
                          <m:ctrlPr>
                            <a:rPr lang="en-US" sz="1600" i="1">
                              <a:solidFill>
                                <a:srgbClr val="111111"/>
                              </a:solidFill>
                              <a:latin typeface="Cambria Math" panose="02040503050406030204" pitchFamily="18" charset="0"/>
                            </a:rPr>
                          </m:ctrlPr>
                        </m:radPr>
                        <m:deg/>
                        <m:e>
                          <m:r>
                            <a:rPr lang="en-US" sz="1600" i="1">
                              <a:solidFill>
                                <a:srgbClr val="111111"/>
                              </a:solidFill>
                              <a:latin typeface="Cambria Math" panose="02040503050406030204" pitchFamily="18" charset="0"/>
                            </a:rPr>
                            <m:t xml:space="preserve">M</m:t>
                          </m:r>
                        </m:e>
                      </m:rad>
                      <m:r>
                        <m:rPr>
                          <m:sty m:val="p"/>
                        </m:rPr>
                        <a:rPr lang="en-US" sz="1600">
                          <a:solidFill>
                            <a:srgbClr val="111111"/>
                          </a:solidFill>
                          <a:latin typeface="Cambria Math" panose="02040503050406030204" pitchFamily="18" charset="0"/>
                        </a:rPr>
                        <m:t xml:space="preserve">)</m:t>
                      </m:r>
                    </m:oMath>
                  </m:oMathPara>
                </a14:m>
                <a:endParaRPr lang="en-US" sz="1600"/>
              </a:p>
            </p:txBody>
          </p:sp>
        </mc:Choice>
        <mc:Fallback>
          <p:sp>
            <p:nvSpPr>
              <p:cNvPr id="29" name="Equation"/>
              <p:cNvSpPr txBox="1"/>
              <p:nvPr/>
            </p:nvSpPr>
            <p:spPr>
              <a:xfrm>
                <a:off x="1211580" y="6838442"/>
                <a:ext cx="8229600" cy="548640"/>
              </a:xfrm>
              <a:prstGeom prst="rect">
                <a:avLst/>
              </a:prstGeom>
              <a:blipFill>
                <a:blip r:embed="rId6"/>
                <a:stretch>
                  <a:fillRect/>
                </a:stretch>
              </a:blipFill>
            </p:spPr>
            <p:txBody>
              <a:bodyPr/>
              <a:lstStyle/>
              <a:p>
                <a:endParaRPr lang="en-US"/>
              </a:p>
            </p:txBody>
          </p:sp>
        </mc:Fallback>
      </mc:AlternateContent>
      <p:sp>
        <p:nvSpPr>
          <p:cNvPr id="30" name="TextBox 29"/>
          <p:cNvSpPr txBox="1"/>
          <p:nvPr/>
        </p:nvSpPr>
        <p:spPr>
          <a:xfrm>
            <a:off x="1028700" y="7478522"/>
            <a:ext cx="8595360" cy="1830070"/>
          </a:xfrm>
          <a:prstGeom prst="rect">
            <a:avLst/>
          </a:prstGeom>
          <a:noFill/>
        </p:spPr>
        <p:txBody>
          <a:bodyPr anchor="t" rtlCol="false" lIns="0" tIns="0" rIns="0" bIns="0" wrap="square"/>
          <a:lstStyle/>
          <a:p>
            <a:pPr algn="l" marL="274320" indent="-274320">
              <a:lnSpc>
                <a:spcPts val="2341"/>
              </a:lnSpc>
              <a:spcBef>
                <a:spcPts val="0"/>
              </a:spcBef>
              <a:buClr>
                <a:srgbClr val="1F7A8C"/>
              </a:buClr>
              <a:buSzPct val="100000"/>
              <a:buFont typeface="Arial"/>
              <a:buChar char="•"/>
            </a:pPr>
            <a:r>
              <a:rPr lang="en-US" sz="1672" b="true">
                <a:solidFill>
                  <a:srgbClr val="111111"/>
                </a:solidFill>
                <a:latin typeface="Nunito Bold"/>
                <a:ea typeface="Nunito Bold"/>
                <a:cs typeface="Nunito Bold"/>
                <a:sym typeface="Nunito Bold"/>
              </a:rPr>
              <a:t>Unbiased estimator:</a:t>
            </a:r>
            <a:r>
              <a:rPr lang="en-US" sz="1672" b="true">
                <a:solidFill>
                  <a:srgbClr val="111111"/>
                </a:solidFill>
                <a:latin typeface="Nunito Semi-Bold"/>
                <a:ea typeface="Nunito Semi-Bold"/>
                <a:cs typeface="Nunito Semi-Bold"/>
                <a:sym typeface="Nunito Semi-Bold"/>
              </a:rPr>
              <a:t> error shrinks as the number of permutations M grows.</a:t>
            </a:r>
          </a:p>
          <a:p>
            <a:pPr algn="l" marL="274320" indent="-274320">
              <a:lnSpc>
                <a:spcPts val="2475"/>
              </a:lnSpc>
              <a:spcBef>
                <a:spcPts val="704"/>
              </a:spcBef>
              <a:buClr>
                <a:srgbClr val="1F7A8C"/>
              </a:buClr>
              <a:buSzPct val="100000"/>
              <a:buFont typeface="Arial"/>
              <a:buChar char="•"/>
            </a:pPr>
            <a:r>
              <a:rPr lang="en-US" sz="1672" b="true">
                <a:solidFill>
                  <a:srgbClr val="111111"/>
                </a:solidFill>
                <a:latin typeface="Nunito Bold"/>
                <a:ea typeface="Nunito Bold"/>
                <a:cs typeface="Nunito Bold"/>
                <a:sym typeface="Nunito Bold"/>
              </a:rPr>
              <a:t>M = 50 selected:</a:t>
            </a:r>
            <a:r>
              <a:rPr lang="en-US" sz="1672" b="true">
                <a:solidFill>
                  <a:srgbClr val="111111"/>
                </a:solidFill>
                <a:latin typeface="Nunito Semi-Bold"/>
                <a:ea typeface="Nunito Semi-Bold"/>
                <a:cs typeface="Nunito Semi-Bold"/>
                <a:sym typeface="Nunito Semi-Bold"/>
              </a:rPr>
              <a:t> MSE ≈ 1.4×10</a:t>
            </a:r>
            <a:r>
              <a:rPr lang="en-US" sz="1672" b="true" baseline="30000">
                <a:solidFill>
                  <a:srgbClr val="111111"/>
                </a:solidFill>
                <a:latin typeface="Nunito Semi-Bold"/>
                <a:ea typeface="Nunito Semi-Bold"/>
                <a:cs typeface="Nunito Semi-Bold"/>
                <a:sym typeface="Nunito Semi-Bold"/>
              </a:rPr>
              <a:t>−5</a:t>
            </a:r>
            <a:r>
              <a:rPr lang="en-US" sz="1672" b="true">
                <a:solidFill>
                  <a:srgbClr val="111111"/>
                </a:solidFill>
                <a:latin typeface="Nunito Semi-Bold"/>
                <a:ea typeface="Nunito Semi-Bold"/>
                <a:cs typeface="Nunito Semi-Bold"/>
                <a:sym typeface="Nunito Semi-Bold"/>
              </a:rPr>
              <a:t>, ≈ 99 % accuracy on MovieLens-1M; M = 100 </a:t>
            </a:r>
            <a:r>
              <a:rPr lang="en-US" sz="1672" b="true">
                <a:solidFill>
                  <a:srgbClr val="111111"/>
                </a:solidFill>
                <a:latin typeface="Calibri"/>
                <a:ea typeface="Calibri"/>
                <a:cs typeface="Calibri"/>
                <a:sym typeface="Calibri"/>
              </a:rPr>
              <a:t>→ </a:t>
            </a:r>
            <a:r>
              <a:rPr lang="en-US" sz="1672" b="true">
                <a:solidFill>
                  <a:srgbClr val="111111"/>
                </a:solidFill>
                <a:latin typeface="Nunito Semi-Bold"/>
                <a:ea typeface="Nunito Semi-Bold"/>
                <a:cs typeface="Nunito Semi-Bold"/>
                <a:sym typeface="Nunito Semi-Bold"/>
              </a:rPr>
              <a:t>MSE 3.5×10</a:t>
            </a:r>
            <a:r>
              <a:rPr lang="en-US" sz="1672" b="true" baseline="30000">
                <a:solidFill>
                  <a:srgbClr val="111111"/>
                </a:solidFill>
                <a:latin typeface="Nunito Semi-Bold"/>
                <a:ea typeface="Nunito Semi-Bold"/>
                <a:cs typeface="Nunito Semi-Bold"/>
                <a:sym typeface="Nunito Semi-Bold"/>
              </a:rPr>
              <a:t>−6</a:t>
            </a:r>
            <a:r>
              <a:rPr lang="en-US" sz="1672" b="true">
                <a:solidFill>
                  <a:srgbClr val="111111"/>
                </a:solidFill>
                <a:latin typeface="Nunito Semi-Bold"/>
                <a:ea typeface="Nunito Semi-Bold"/>
                <a:cs typeface="Nunito Semi-Bold"/>
                <a:sym typeface="Nunito Semi-Bold"/>
              </a:rPr>
              <a:t> (diminishing returns).</a:t>
            </a:r>
          </a:p>
          <a:p>
            <a:pPr algn="l" marL="274320" indent="-274320">
              <a:lnSpc>
                <a:spcPts val="2341"/>
              </a:lnSpc>
              <a:spcBef>
                <a:spcPts val="704"/>
              </a:spcBef>
              <a:buClr>
                <a:srgbClr val="1F7A8C"/>
              </a:buClr>
              <a:buSzPct val="100000"/>
              <a:buFont typeface="Arial"/>
              <a:buChar char="•"/>
            </a:pPr>
            <a:r>
              <a:rPr lang="en-US" sz="1672" b="true">
                <a:solidFill>
                  <a:srgbClr val="111111"/>
                </a:solidFill>
                <a:latin typeface="Nunito Semi-Bold"/>
                <a:ea typeface="Nunito Semi-Bold"/>
                <a:cs typeface="Nunito Semi-Bold"/>
                <a:sym typeface="Nunito Semi-Bold"/>
              </a:rPr>
              <a:t>Refreshed </a:t>
            </a:r>
            <a:r>
              <a:rPr lang="en-US" sz="1672" b="true">
                <a:solidFill>
                  <a:srgbClr val="111111"/>
                </a:solidFill>
                <a:latin typeface="Nunito Bold"/>
                <a:ea typeface="Nunito Bold"/>
                <a:cs typeface="Nunito Bold"/>
                <a:sym typeface="Nunito Bold"/>
              </a:rPr>
              <a:t>every 10 batches</a:t>
            </a:r>
            <a:r>
              <a:rPr lang="en-US" sz="1672" b="true">
                <a:solidFill>
                  <a:srgbClr val="111111"/>
                </a:solidFill>
                <a:latin typeface="Nunito Semi-Bold"/>
                <a:ea typeface="Nunito Semi-Bold"/>
                <a:cs typeface="Nunito Semi-Bold"/>
                <a:sym typeface="Nunito Semi-Bold"/>
              </a:rPr>
              <a:t> (≈ 49 updates / epoch), smoothed by an </a:t>
            </a:r>
            <a:r>
              <a:rPr lang="en-US" sz="1672" b="true">
                <a:solidFill>
                  <a:srgbClr val="111111"/>
                </a:solidFill>
                <a:latin typeface="Nunito Bold"/>
                <a:ea typeface="Nunito Bold"/>
                <a:cs typeface="Nunito Bold"/>
                <a:sym typeface="Nunito Bold"/>
              </a:rPr>
              <a:t>exponential moving average</a:t>
            </a:r>
            <a:r>
              <a:rPr lang="en-US" sz="1672" b="true">
                <a:solidFill>
                  <a:srgbClr val="111111"/>
                </a:solidFill>
                <a:latin typeface="Nunito Semi-Bold"/>
                <a:ea typeface="Nunito Semi-Bold"/>
                <a:cs typeface="Nunito Semi-Bold"/>
                <a:sym typeface="Nunito Semi-Bold"/>
              </a:rPr>
              <a:t>.</a:t>
            </a:r>
          </a:p>
        </p:txBody>
      </p:sp>
      <p:graphicFrame>
        <p:nvGraphicFramePr>
          <p:cNvPr id="31" name="Table 30"/>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TextBox 31"/>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3" name="Rounded Rectangle 32"/>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5" name="TextBox 34"/>
          <p:cNvSpPr txBox="1"/>
          <p:nvPr/>
        </p:nvSpPr>
        <p:spPr>
          <a:xfrm>
            <a:off x="10629900" y="6957314"/>
            <a:ext cx="6217920" cy="1574038"/>
          </a:xfrm>
          <a:prstGeom prst="rect">
            <a:avLst/>
          </a:prstGeom>
          <a:noFill/>
        </p:spPr>
        <p:txBody>
          <a:bodyPr anchor="t" rtlCol="false" lIns="0" tIns="0" rIns="0" bIns="0" wrap="square"/>
          <a:lstStyle/>
          <a:p>
            <a:pPr algn="l" marL="274320" indent="-274320">
              <a:lnSpc>
                <a:spcPts val="2369"/>
              </a:lnSpc>
              <a:spcBef>
                <a:spcPts val="0"/>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Sample M permutations per refresh </a:t>
            </a:r>
            <a:r>
              <a:rPr lang="en-US" sz="1692" b="true">
                <a:solidFill>
                  <a:srgbClr val="FFFFFF"/>
                </a:solidFill>
                <a:latin typeface="Calibri"/>
                <a:ea typeface="Calibri"/>
                <a:cs typeface="Calibri"/>
                <a:sym typeface="Calibri"/>
              </a:rPr>
              <a:t>→ </a:t>
            </a:r>
            <a:r>
              <a:rPr lang="en-US" sz="1692" b="true">
                <a:solidFill>
                  <a:srgbClr val="FFFFFF"/>
                </a:solidFill>
                <a:latin typeface="Nunito Semi-Bold"/>
                <a:ea typeface="Nunito Semi-Bold"/>
                <a:cs typeface="Nunito Semi-Bold"/>
                <a:sym typeface="Nunito Semi-Bold"/>
              </a:rPr>
              <a:t>estimate </a:t>
            </a:r>
            <a:r>
              <a:rPr lang="en-US" sz="1692" b="true">
                <a:solidFill>
                  <a:srgbClr val="FFFFFF"/>
                </a:solidFill>
                <a:latin typeface="Cambria Math"/>
                <a:ea typeface="Cambria Math"/>
                <a:cs typeface="Cambria Math"/>
                <a:sym typeface="Cambria Math"/>
              </a:rPr>
              <a:t>φ̂ </a:t>
            </a:r>
            <a:r>
              <a:rPr lang="en-US" sz="1692" b="true">
                <a:solidFill>
                  <a:srgbClr val="FFFFFF"/>
                </a:solidFill>
                <a:latin typeface="Nunito Semi-Bold"/>
                <a:ea typeface="Nunito Semi-Bold"/>
                <a:cs typeface="Nunito Semi-Bold"/>
                <a:sym typeface="Nunito Semi-Bold"/>
              </a:rPr>
              <a:t>for the players in the episode.</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Clip, EMA-smooth, normalise </a:t>
            </a:r>
            <a:r>
              <a:rPr lang="en-US" sz="1692" b="true">
                <a:solidFill>
                  <a:srgbClr val="FFFFFF"/>
                </a:solidFill>
                <a:latin typeface="Calibri"/>
                <a:ea typeface="Calibri"/>
                <a:cs typeface="Calibri"/>
                <a:sym typeface="Calibri"/>
              </a:rPr>
              <a:t>→ </a:t>
            </a:r>
            <a:r>
              <a:rPr lang="en-US" sz="1692" b="true">
                <a:solidFill>
                  <a:srgbClr val="FFFFFF"/>
                </a:solidFill>
                <a:latin typeface="Nunito Bold"/>
                <a:ea typeface="Nunito Bold"/>
                <a:cs typeface="Nunito Bold"/>
                <a:sym typeface="Nunito Bold"/>
              </a:rPr>
              <a:t>hypergraph edge weights</a:t>
            </a:r>
            <a:r>
              <a:rPr lang="en-US" sz="1692" b="true">
                <a:solidFill>
                  <a:srgbClr val="FFFFFF"/>
                </a:solidFill>
                <a:latin typeface="Nunito Semi-Bold"/>
                <a:ea typeface="Nunito Semi-Bold"/>
                <a:cs typeface="Nunito Semi-Bold"/>
                <a:sym typeface="Nunito Semi-Bold"/>
              </a:rPr>
              <a:t>.</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Cost per epoch:</a:t>
            </a:r>
          </a:p>
        </p:txBody>
      </p:sp>
      <mc:AlternateContent xmlns:mc="http://schemas.openxmlformats.org/markup-compatibility/2006">
        <mc:Choice xmlns:a14="http://schemas.microsoft.com/office/drawing/2010/main" Requires="a14">
          <p:sp>
            <p:nvSpPr>
              <p:cNvPr id="36" name="Equation"/>
              <p:cNvSpPr txBox="1"/>
              <p:nvPr/>
            </p:nvSpPr>
            <p:spPr>
              <a:xfrm>
                <a:off x="10629900" y="8531352"/>
                <a:ext cx="6172200" cy="5943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L</m:t>
                          </m:r>
                          <m:r>
                            <m:rPr>
                              <m:sty m:val="p"/>
                            </m:rPr>
                            <a:rPr lang="en-US" sz="1900">
                              <a:solidFill>
                                <a:srgbClr val="ECC665"/>
                              </a:solidFill>
                              <a:latin typeface="Cambria Math" panose="02040503050406030204" pitchFamily="18" charset="0"/>
                            </a:rPr>
                            <m:t xml:space="preserve">+1) </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d</m:t>
                          </m:r>
                        </m:e>
                      </m:d>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f</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m</m:t>
                          </m:r>
                        </m:e>
                      </m:d>
                    </m:oMath>
                  </m:oMathPara>
                </a14:m>
                <a:endParaRPr lang="en-US" sz="1900"/>
              </a:p>
            </p:txBody>
          </p:sp>
        </mc:Choice>
        <mc:Fallback>
          <p:sp>
            <p:nvSpPr>
              <p:cNvPr id="36" name="Equation"/>
              <p:cNvSpPr txBox="1"/>
              <p:nvPr/>
            </p:nvSpPr>
            <p:spPr>
              <a:xfrm>
                <a:off x="10629900" y="8531352"/>
                <a:ext cx="6172200" cy="594360"/>
              </a:xfrm>
              <a:prstGeom prst="rect">
                <a:avLst/>
              </a:prstGeom>
              <a:blipFill>
                <a:blip r:embed="rId7"/>
                <a:stretch>
                  <a:fillRect/>
                </a:stretch>
              </a:blipFill>
            </p:spPr>
            <p:txBody>
              <a:bodyPr/>
              <a:lstStyle/>
              <a:p>
                <a:endParaRPr lang="en-US"/>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363722"/>
            <a:ext cx="16230600" cy="1691640"/>
          </a:xfrm>
          <a:prstGeom prst="roundRect">
            <a:avLst>
              <a:gd name="adj" fmla="val 13513"/>
            </a:avLst>
          </a:prstGeom>
          <a:solidFill>
            <a:srgbClr val="FFFFFF"/>
          </a:solidFill>
          <a:ln w="15875">
            <a:solidFill>
              <a:srgbClr val="E3D6C4"/>
            </a:solidFill>
          </a:ln>
        </p:spPr>
        <p:txBody>
          <a:bodyPr anchor="ctr" rtlCol="false" lIns="0" tIns="0" rIns="0" bIns="0" wrap="square"/>
          <a:lstStyle/>
          <a:p>
            <a:endParaRPr lang="en-US" sz="1800"/>
          </a:p>
        </p:txBody>
      </p:sp>
      <p:pic>
        <p:nvPicPr>
          <p:cNvPr id="26" name="Picture 25" descr="dyhucog_arch.png"/>
          <p:cNvPicPr>
            <a:picLocks noChangeAspect="1"/>
          </p:cNvPicPr>
          <p:nvPr/>
        </p:nvPicPr>
        <p:blipFill>
          <a:blip r:embed="rId4"/>
          <a:stretch>
            <a:fillRect/>
          </a:stretch>
        </p:blipFill>
        <p:spPr>
          <a:xfrm>
            <a:off x="6205039" y="3500882"/>
            <a:ext cx="5877921" cy="1417320"/>
          </a:xfrm>
          <a:prstGeom prst="rect">
            <a:avLst/>
          </a:prstGeom>
        </p:spPr>
      </p:pic>
      <p:sp>
        <p:nvSpPr>
          <p:cNvPr id="27" name="TextBox 26"/>
          <p:cNvSpPr txBox="1"/>
          <p:nvPr/>
        </p:nvSpPr>
        <p:spPr>
          <a:xfrm>
            <a:off x="1211580" y="4671314"/>
            <a:ext cx="15864840" cy="411480"/>
          </a:xfrm>
          <a:prstGeom prst="rect">
            <a:avLst/>
          </a:prstGeom>
          <a:noFill/>
        </p:spPr>
        <p:txBody>
          <a:bodyPr anchor="t" rtlCol="false" lIns="0" tIns="0" rIns="0" bIns="0" wrap="square"/>
          <a:lstStyle/>
          <a:p>
            <a:pPr algn="r">
              <a:lnSpc>
                <a:spcPts val="1600"/>
              </a:lnSpc>
              <a:spcBef>
                <a:spcPts val="0"/>
              </a:spcBef>
              <a:buNone/>
            </a:pPr>
            <a:r>
              <a:rPr lang="en-US" sz="1200" b="true">
                <a:solidFill>
                  <a:srgbClr val="8A8378"/>
                </a:solidFill>
                <a:latin typeface="Nunito Semi-Bold"/>
                <a:ea typeface="Nunito Semi-Bold"/>
                <a:cs typeface="Nunito Semi-Bold"/>
                <a:sym typeface="Nunito Semi-Bold"/>
              </a:rPr>
              <a:t>Fig. 7.1 (thesis): workflow of the DyHuCoG architecture</a:t>
            </a:r>
          </a:p>
        </p:txBody>
      </p:sp>
      <p:sp>
        <p:nvSpPr>
          <p:cNvPr id="28" name="Rounded Rectangle 27"/>
          <p:cNvSpPr/>
          <p:nvPr/>
        </p:nvSpPr>
        <p:spPr>
          <a:xfrm>
            <a:off x="1028700" y="5283962"/>
            <a:ext cx="16230600" cy="609811"/>
          </a:xfrm>
          <a:prstGeom prst="roundRect">
            <a:avLst>
              <a:gd name="adj" fmla="val 23991"/>
            </a:avLst>
          </a:prstGeom>
          <a:solidFill>
            <a:srgbClr val="E7EAF3"/>
          </a:solidFill>
          <a:ln>
            <a:noFill/>
          </a:ln>
        </p:spPr>
        <p:txBody>
          <a:bodyPr anchor="ctr" rtlCol="false" lIns="0" tIns="0" rIns="0" bIns="0" wrap="square"/>
          <a:lstStyle/>
          <a:p>
            <a:endParaRPr lang="en-US" sz="1800"/>
          </a:p>
        </p:txBody>
      </p:sp>
      <p:sp>
        <p:nvSpPr>
          <p:cNvPr id="29" name="TextBox 28"/>
          <p:cNvSpPr txBox="1"/>
          <p:nvPr/>
        </p:nvSpPr>
        <p:spPr>
          <a:xfrm>
            <a:off x="1348740" y="5283962"/>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Base propagation</a:t>
            </a:r>
          </a:p>
        </p:txBody>
      </p:sp>
      <mc:AlternateContent xmlns:mc="http://schemas.openxmlformats.org/markup-compatibility/2006">
        <mc:Choice xmlns:a14="http://schemas.microsoft.com/office/drawing/2010/main" Requires="a14">
          <p:sp>
            <p:nvSpPr>
              <p:cNvPr id="30" name="Equation"/>
              <p:cNvSpPr txBox="1"/>
              <p:nvPr/>
            </p:nvSpPr>
            <p:spPr>
              <a:xfrm>
                <a:off x="4686300" y="5283962"/>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a:rPr lang="en-US" sz="2200" i="1">
                              <a:solidFill>
                                <a:srgbClr val="111111"/>
                              </a:solidFill>
                              <a:latin typeface="Cambria Math" panose="02040503050406030204" pitchFamily="18" charset="0"/>
                            </a:rPr>
                            <m:t xml:space="preserve">A</m:t>
                          </m:r>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e>
                      </m:d>
                    </m:oMath>
                  </m:oMathPara>
                </a14:m>
                <a:endParaRPr lang="en-US" sz="2200"/>
              </a:p>
            </p:txBody>
          </p:sp>
        </mc:Choice>
        <mc:Fallback>
          <p:sp>
            <p:nvSpPr>
              <p:cNvPr id="30" name="Equation"/>
              <p:cNvSpPr txBox="1"/>
              <p:nvPr/>
            </p:nvSpPr>
            <p:spPr>
              <a:xfrm>
                <a:off x="4686300" y="5283962"/>
                <a:ext cx="12298680" cy="609811"/>
              </a:xfrm>
              <a:prstGeom prst="rect">
                <a:avLst/>
              </a:prstGeom>
              <a:blipFill>
                <a:blip r:embed="rId5"/>
                <a:stretch>
                  <a:fillRect/>
                </a:stretch>
              </a:blipFill>
            </p:spPr>
            <p:txBody>
              <a:bodyPr/>
              <a:lstStyle/>
              <a:p>
                <a:endParaRPr lang="en-US"/>
              </a:p>
            </p:txBody>
          </p:sp>
        </mc:Fallback>
      </mc:AlternateContent>
      <p:sp>
        <p:nvSpPr>
          <p:cNvPr id="31" name="Rounded Rectangle 30"/>
          <p:cNvSpPr/>
          <p:nvPr/>
        </p:nvSpPr>
        <p:spPr>
          <a:xfrm>
            <a:off x="1028700" y="5985213"/>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32" name="TextBox 31"/>
          <p:cNvSpPr txBox="1"/>
          <p:nvPr/>
        </p:nvSpPr>
        <p:spPr>
          <a:xfrm>
            <a:off x="1348740" y="5985213"/>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5985213"/>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j</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+1)</m:t>
                          </m:r>
                        </m:sup>
                      </m:sSub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σ</m:t>
                      </m:r>
                      <m:d>
                        <m:dPr>
                          <m:ctrlPr>
                            <a:rPr lang="en-US" sz="1750" i="1">
                              <a:solidFill>
                                <a:srgbClr val="111111"/>
                              </a:solidFill>
                              <a:latin typeface="Cambria Math" panose="02040503050406030204" pitchFamily="18" charset="0"/>
                            </a:rPr>
                          </m:ctrlPr>
                        </m:dPr>
                        <m:e>
                          <m:sSup>
                            <m:sSupPr>
                              <m:ctrlPr>
                                <a:rPr lang="en-US" sz="1750" i="1">
                                  <a:solidFill>
                                    <a:srgbClr val="111111"/>
                                  </a:solidFill>
                                  <a:latin typeface="Cambria Math" panose="02040503050406030204" pitchFamily="18" charset="0"/>
                                </a:rPr>
                              </m:ctrlPr>
                            </m:sSupPr>
                            <m:e>
                              <m:r>
                                <a:rPr lang="en-US" sz="1750" i="1">
                                  <a:solidFill>
                                    <a:srgbClr val="111111"/>
                                  </a:solidFill>
                                  <a:latin typeface="Cambria Math" panose="02040503050406030204" pitchFamily="18" charset="0"/>
                                </a:rPr>
                                <m:t xml:space="preserve">W</m:t>
                              </m:r>
                            </m:e>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p>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j</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bSup>
                          <m:r>
                            <m:rPr>
                              <m:sty m:val="p"/>
                            </m:rPr>
                            <a:rPr lang="en-US" sz="1750">
                              <a:solidFill>
                                <a:srgbClr val="111111"/>
                              </a:solidFill>
                              <a:latin typeface="Cambria Math" panose="02040503050406030204" pitchFamily="18" charset="0"/>
                            </a:rPr>
                            <m:t xml:space="preserve">+</m:t>
                          </m:r>
                          <m:nary>
                            <m:naryPr>
                              <m:chr m:val="∑"/>
                              <m:limLoc m:val="subSup"/>
                              <m:supHide m:val="1"/>
                              <m:ctrlPr>
                                <a:rPr lang="en-US" sz="1750" i="1">
                                  <a:solidFill>
                                    <a:srgbClr val="111111"/>
                                  </a:solidFill>
                                  <a:latin typeface="Cambria Math" panose="02040503050406030204" pitchFamily="18" charset="0"/>
                                </a:rPr>
                              </m:ctrlPr>
                            </m:naryPr>
                            <m:sub>
                              <m:r>
                                <a:rPr lang="en-US" sz="1750" i="1">
                                  <a:solidFill>
                                    <a:srgbClr val="111111"/>
                                  </a:solidFill>
                                  <a:latin typeface="Cambria Math" panose="02040503050406030204" pitchFamily="18" charset="0"/>
                                </a:rPr>
                                <m:t xml:space="preserve">k</m:t>
                              </m:r>
                              <m:r>
                                <m:rPr>
                                  <m:sty m:val="p"/>
                                </m:rPr>
                                <a:rPr lang="en-US" sz="1750">
                                  <a:solidFill>
                                    <a:srgbClr val="111111"/>
                                  </a:solidFill>
                                  <a:latin typeface="Cambria Math" panose="02040503050406030204" pitchFamily="18" charset="0"/>
                                </a:rPr>
                                <m:t xml:space="preserve">∈</m:t>
                              </m:r>
                              <m:r>
                                <m:rPr>
                                  <m:scr m:val="script"/>
                                  <m:sty m:val="p"/>
                                </m:rPr>
                                <a:rPr lang="en-US" sz="1750">
                                  <a:solidFill>
                                    <a:srgbClr val="111111"/>
                                  </a:solidFill>
                                  <a:latin typeface="Cambria Math" panose="02040503050406030204" pitchFamily="18" charset="0"/>
                                </a:rPr>
                                <m:t xml:space="preserve">N</m:t>
                              </m:r>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j</m:t>
                              </m:r>
                              <m:r>
                                <m:rPr>
                                  <m:sty m:val="p"/>
                                </m:rPr>
                                <a:rPr lang="en-US" sz="1750">
                                  <a:solidFill>
                                    <a:srgbClr val="111111"/>
                                  </a:solidFill>
                                  <a:latin typeface="Cambria Math" panose="02040503050406030204" pitchFamily="18" charset="0"/>
                                </a:rPr>
                                <m:t xml:space="preserve">)</m:t>
                              </m:r>
                            </m:sub>
                            <m:sup/>
                            <m:e>
                              <m:sSub>
                                <m:sSubPr>
                                  <m:ctrlPr>
                                    <a:rPr lang="en-US" sz="1750" i="1">
                                      <a:solidFill>
                                        <a:srgbClr val="111111"/>
                                      </a:solidFill>
                                      <a:latin typeface="Cambria Math" panose="02040503050406030204" pitchFamily="18" charset="0"/>
                                    </a:rPr>
                                  </m:ctrlPr>
                                </m:sSubPr>
                                <m:e>
                                  <m:r>
                                    <a:rPr lang="en-US" sz="1750" i="1">
                                      <a:solidFill>
                                        <a:srgbClr val="111111"/>
                                      </a:solidFill>
                                      <a:latin typeface="Cambria Math" panose="02040503050406030204" pitchFamily="18" charset="0"/>
                                    </a:rPr>
                                    <m:t xml:space="preserve">w</m:t>
                                  </m:r>
                                </m:e>
                                <m:sub>
                                  <m:r>
                                    <a:rPr lang="en-US" sz="1750" i="1">
                                      <a:solidFill>
                                        <a:srgbClr val="111111"/>
                                      </a:solidFill>
                                      <a:latin typeface="Cambria Math" panose="02040503050406030204" pitchFamily="18" charset="0"/>
                                    </a:rPr>
                                    <m:t xml:space="preserve">jk</m:t>
                                  </m:r>
                                </m:sub>
                              </m:sSub>
                            </m:e>
                          </m:nary>
                          <m:r>
                            <m:rPr>
                              <m:sty m:val="p"/>
                            </m:rPr>
                            <a:rPr lang="en-US" sz="1750">
                              <a:solidFill>
                                <a:srgbClr val="111111"/>
                              </a:solidFill>
                              <a:latin typeface="Cambria Math" panose="02040503050406030204" pitchFamily="18" charset="0"/>
                            </a:rPr>
                            <m:t xml:space="preserve"> </m:t>
                          </m:r>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k</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bSup>
                        </m:e>
                      </m:d>
                    </m:oMath>
                  </m:oMathPara>
                </a14:m>
                <a:endParaRPr lang="en-US" sz="1750"/>
              </a:p>
            </p:txBody>
          </p:sp>
        </mc:Choice>
        <mc:Fallback>
          <p:sp>
            <p:nvSpPr>
              <p:cNvPr id="33" name="Equation"/>
              <p:cNvSpPr txBox="1"/>
              <p:nvPr/>
            </p:nvSpPr>
            <p:spPr>
              <a:xfrm>
                <a:off x="4686300" y="5985213"/>
                <a:ext cx="12298680" cy="609811"/>
              </a:xfrm>
              <a:prstGeom prst="rect">
                <a:avLst/>
              </a:prstGeom>
              <a:blipFill>
                <a:blip r:embed="rId6"/>
                <a:stretch>
                  <a:fillRect/>
                </a:stretch>
              </a:blipFill>
            </p:spPr>
            <p:txBody>
              <a:bodyPr/>
              <a:lstStyle/>
              <a:p>
                <a:endParaRPr lang="en-US"/>
              </a:p>
            </p:txBody>
          </p:sp>
        </mc:Fallback>
      </mc:AlternateContent>
      <p:sp>
        <p:nvSpPr>
          <p:cNvPr id="34" name="Rounded Rectangle 33"/>
          <p:cNvSpPr/>
          <p:nvPr/>
        </p:nvSpPr>
        <p:spPr>
          <a:xfrm>
            <a:off x="1028700" y="6686465"/>
            <a:ext cx="16230600" cy="609811"/>
          </a:xfrm>
          <a:prstGeom prst="roundRect">
            <a:avLst>
              <a:gd name="adj" fmla="val 23991"/>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1348740" y="6686465"/>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Normalised weights</a:t>
            </a:r>
          </a:p>
        </p:txBody>
      </p:sp>
      <mc:AlternateContent xmlns:mc="http://schemas.openxmlformats.org/markup-compatibility/2006">
        <mc:Choice xmlns:a14="http://schemas.microsoft.com/office/drawing/2010/main" Requires="a14">
          <p:sp>
            <p:nvSpPr>
              <p:cNvPr id="36" name="Equation"/>
              <p:cNvSpPr txBox="1"/>
              <p:nvPr/>
            </p:nvSpPr>
            <p:spPr>
              <a:xfrm>
                <a:off x="4686300" y="6686465"/>
                <a:ext cx="937260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050" i="1">
                              <a:solidFill>
                                <a:srgbClr val="111111"/>
                              </a:solidFill>
                              <a:latin typeface="Cambria Math" panose="02040503050406030204" pitchFamily="18" charset="0"/>
                            </a:rPr>
                          </m:ctrlPr>
                        </m:sSubPr>
                        <m:e>
                          <m:r>
                            <a:rPr lang="en-US" sz="2050" i="1">
                              <a:solidFill>
                                <a:srgbClr val="111111"/>
                              </a:solidFill>
                              <a:latin typeface="Cambria Math" panose="02040503050406030204" pitchFamily="18" charset="0"/>
                            </a:rPr>
                            <m:t xml:space="preserve">w</m:t>
                          </m:r>
                        </m:e>
                        <m:sub>
                          <m:r>
                            <a:rPr lang="en-US" sz="2050" i="1">
                              <a:solidFill>
                                <a:srgbClr val="111111"/>
                              </a:solidFill>
                              <a:latin typeface="Cambria Math" panose="02040503050406030204" pitchFamily="18" charset="0"/>
                            </a:rPr>
                            <m:t xml:space="preserve">jk</m:t>
                          </m:r>
                        </m:sub>
                      </m:sSub>
                      <m:r>
                        <m:rPr>
                          <m:sty m:val="p"/>
                        </m:rPr>
                        <a:rPr lang="en-US" sz="2050">
                          <a:solidFill>
                            <a:srgbClr val="111111"/>
                          </a:solidFill>
                          <a:latin typeface="Cambria Math" panose="02040503050406030204" pitchFamily="18" charset="0"/>
                        </a:rPr>
                        <m:t xml:space="preserve">=</m:t>
                      </m:r>
                      <m:sSub>
                        <m:sSubPr>
                          <m:ctrlPr>
                            <a:rPr lang="en-US" sz="2050" i="1">
                              <a:solidFill>
                                <a:srgbClr val="111111"/>
                              </a:solidFill>
                              <a:latin typeface="Cambria Math" panose="02040503050406030204" pitchFamily="18" charset="0"/>
                            </a:rPr>
                          </m:ctrlPr>
                        </m:sSubPr>
                        <m:e>
                          <m:acc>
                            <m:accPr>
                              <m:chr m:val="̂"/>
                              <m:ctrlPr>
                                <a:rPr lang="en-US" sz="2050" i="1">
                                  <a:solidFill>
                                    <a:srgbClr val="111111"/>
                                  </a:solidFill>
                                  <a:latin typeface="Cambria Math" panose="02040503050406030204" pitchFamily="18" charset="0"/>
                                </a:rPr>
                              </m:ctrlPr>
                            </m:accPr>
                            <m:e>
                              <m:r>
                                <a:rPr lang="en-US" sz="2050" i="1">
                                  <a:solidFill>
                                    <a:srgbClr val="111111"/>
                                  </a:solidFill>
                                  <a:latin typeface="Cambria Math" panose="02040503050406030204" pitchFamily="18" charset="0"/>
                                </a:rPr>
                                <m:t xml:space="preserve">φ</m:t>
                              </m:r>
                            </m:e>
                          </m:acc>
                        </m:e>
                        <m:sub>
                          <m:r>
                            <a:rPr lang="en-US" sz="2050" i="1">
                              <a:solidFill>
                                <a:srgbClr val="111111"/>
                              </a:solidFill>
                              <a:latin typeface="Cambria Math" panose="02040503050406030204" pitchFamily="18" charset="0"/>
                            </a:rPr>
                            <m:t xml:space="preserve">jk</m:t>
                          </m:r>
                        </m:sub>
                      </m:sSub>
                      <m:r>
                        <m:rPr>
                          <m:sty m:val="p"/>
                        </m:rPr>
                        <a:rPr lang="en-US" sz="2050">
                          <a:solidFill>
                            <a:srgbClr val="111111"/>
                          </a:solidFill>
                          <a:latin typeface="Cambria Math" panose="02040503050406030204" pitchFamily="18" charset="0"/>
                        </a:rPr>
                        <m:t xml:space="preserve"> / </m:t>
                      </m:r>
                      <m:nary>
                        <m:naryPr>
                          <m:chr m:val="∑"/>
                          <m:limLoc m:val="subSup"/>
                          <m:supHide m:val="1"/>
                          <m:ctrlPr>
                            <a:rPr lang="en-US" sz="2050" i="1">
                              <a:solidFill>
                                <a:srgbClr val="111111"/>
                              </a:solidFill>
                              <a:latin typeface="Cambria Math" panose="02040503050406030204" pitchFamily="18" charset="0"/>
                            </a:rPr>
                          </m:ctrlPr>
                        </m:naryPr>
                        <m:sub>
                          <m:r>
                            <a:rPr lang="en-US" sz="2050" i="1">
                              <a:solidFill>
                                <a:srgbClr val="111111"/>
                              </a:solidFill>
                              <a:latin typeface="Cambria Math" panose="02040503050406030204" pitchFamily="18" charset="0"/>
                            </a:rPr>
                            <m:t xml:space="preserve">k′</m:t>
                          </m:r>
                          <m:r>
                            <m:rPr>
                              <m:sty m:val="p"/>
                            </m:rPr>
                            <a:rPr lang="en-US" sz="2050">
                              <a:solidFill>
                                <a:srgbClr val="111111"/>
                              </a:solidFill>
                              <a:latin typeface="Cambria Math" panose="02040503050406030204" pitchFamily="18" charset="0"/>
                            </a:rPr>
                            <m:t xml:space="preserve">∈</m:t>
                          </m:r>
                          <m:r>
                            <m:rPr>
                              <m:scr m:val="script"/>
                              <m:sty m:val="p"/>
                            </m:rPr>
                            <a:rPr lang="en-US" sz="2050">
                              <a:solidFill>
                                <a:srgbClr val="111111"/>
                              </a:solidFill>
                              <a:latin typeface="Cambria Math" panose="02040503050406030204" pitchFamily="18" charset="0"/>
                            </a:rPr>
                            <m:t xml:space="preserve">N</m:t>
                          </m:r>
                          <m:r>
                            <m:rPr>
                              <m:sty m:val="p"/>
                            </m:rPr>
                            <a:rPr lang="en-US" sz="2050">
                              <a:solidFill>
                                <a:srgbClr val="111111"/>
                              </a:solidFill>
                              <a:latin typeface="Cambria Math" panose="02040503050406030204" pitchFamily="18" charset="0"/>
                            </a:rPr>
                            <m:t xml:space="preserve">(</m:t>
                          </m:r>
                          <m:r>
                            <a:rPr lang="en-US" sz="2050" i="1">
                              <a:solidFill>
                                <a:srgbClr val="111111"/>
                              </a:solidFill>
                              <a:latin typeface="Cambria Math" panose="02040503050406030204" pitchFamily="18" charset="0"/>
                            </a:rPr>
                            <m:t xml:space="preserve">j</m:t>
                          </m:r>
                          <m:r>
                            <m:rPr>
                              <m:sty m:val="p"/>
                            </m:rPr>
                            <a:rPr lang="en-US" sz="2050">
                              <a:solidFill>
                                <a:srgbClr val="111111"/>
                              </a:solidFill>
                              <a:latin typeface="Cambria Math" panose="02040503050406030204" pitchFamily="18" charset="0"/>
                            </a:rPr>
                            <m:t xml:space="preserve">)</m:t>
                          </m:r>
                        </m:sub>
                        <m:sup/>
                        <m:e>
                          <m:sSub>
                            <m:sSubPr>
                              <m:ctrlPr>
                                <a:rPr lang="en-US" sz="2050" i="1">
                                  <a:solidFill>
                                    <a:srgbClr val="111111"/>
                                  </a:solidFill>
                                  <a:latin typeface="Cambria Math" panose="02040503050406030204" pitchFamily="18" charset="0"/>
                                </a:rPr>
                              </m:ctrlPr>
                            </m:sSubPr>
                            <m:e>
                              <m:acc>
                                <m:accPr>
                                  <m:chr m:val="̂"/>
                                  <m:ctrlPr>
                                    <a:rPr lang="en-US" sz="2050" i="1">
                                      <a:solidFill>
                                        <a:srgbClr val="111111"/>
                                      </a:solidFill>
                                      <a:latin typeface="Cambria Math" panose="02040503050406030204" pitchFamily="18" charset="0"/>
                                    </a:rPr>
                                  </m:ctrlPr>
                                </m:accPr>
                                <m:e>
                                  <m:r>
                                    <a:rPr lang="en-US" sz="2050" i="1">
                                      <a:solidFill>
                                        <a:srgbClr val="111111"/>
                                      </a:solidFill>
                                      <a:latin typeface="Cambria Math" panose="02040503050406030204" pitchFamily="18" charset="0"/>
                                    </a:rPr>
                                    <m:t xml:space="preserve">φ</m:t>
                                  </m:r>
                                </m:e>
                              </m:acc>
                            </m:e>
                            <m:sub>
                              <m:r>
                                <a:rPr lang="en-US" sz="2050" i="1">
                                  <a:solidFill>
                                    <a:srgbClr val="111111"/>
                                  </a:solidFill>
                                  <a:latin typeface="Cambria Math" panose="02040503050406030204" pitchFamily="18" charset="0"/>
                                </a:rPr>
                                <m:t xml:space="preserve">jk′</m:t>
                              </m:r>
                            </m:sub>
                          </m:sSub>
                        </m:e>
                      </m:nary>
                    </m:oMath>
                  </m:oMathPara>
                </a14:m>
                <a:endParaRPr lang="en-US" sz="2050"/>
              </a:p>
            </p:txBody>
          </p:sp>
        </mc:Choice>
        <mc:Fallback>
          <p:sp>
            <p:nvSpPr>
              <p:cNvPr id="36" name="Equation"/>
              <p:cNvSpPr txBox="1"/>
              <p:nvPr/>
            </p:nvSpPr>
            <p:spPr>
              <a:xfrm>
                <a:off x="4686300" y="6686465"/>
                <a:ext cx="9372600" cy="609811"/>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4241780" y="6686465"/>
            <a:ext cx="2743200" cy="609811"/>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clipped + EMA-smoothed</a:t>
            </a:r>
          </a:p>
        </p:txBody>
      </p:sp>
      <p:sp>
        <p:nvSpPr>
          <p:cNvPr id="38" name="Rounded Rectangle 37"/>
          <p:cNvSpPr/>
          <p:nvPr/>
        </p:nvSpPr>
        <p:spPr>
          <a:xfrm>
            <a:off x="1028700" y="7387717"/>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39" name="TextBox 38"/>
          <p:cNvSpPr txBox="1"/>
          <p:nvPr/>
        </p:nvSpPr>
        <p:spPr>
          <a:xfrm>
            <a:off x="1348740" y="7387717"/>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40" name="Equation"/>
              <p:cNvSpPr txBox="1"/>
              <p:nvPr/>
            </p:nvSpPr>
            <p:spPr>
              <a:xfrm>
                <a:off x="4686300" y="7387717"/>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a</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l</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 ]</m:t>
                          </m:r>
                        </m:e>
                      </m:d>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=(1+</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4686300" y="7387717"/>
                <a:ext cx="12298680" cy="609811"/>
              </a:xfrm>
              <a:prstGeom prst="rect">
                <a:avLst/>
              </a:prstGeom>
              <a:blipFill>
                <a:blip r:embed="rId8"/>
                <a:stretch>
                  <a:fillRect/>
                </a:stretch>
              </a:blipFill>
            </p:spPr>
            <p:txBody>
              <a:bodyPr/>
              <a:lstStyle/>
              <a:p>
                <a:endParaRPr lang="en-US"/>
              </a:p>
            </p:txBody>
          </p:sp>
        </mc:Fallback>
      </mc:AlternateContent>
      <p:sp>
        <p:nvSpPr>
          <p:cNvPr id="41" name="Rounded Rectangle 40"/>
          <p:cNvSpPr/>
          <p:nvPr/>
        </p:nvSpPr>
        <p:spPr>
          <a:xfrm>
            <a:off x="1028700" y="8088968"/>
            <a:ext cx="16230600" cy="609811"/>
          </a:xfrm>
          <a:prstGeom prst="roundRect">
            <a:avLst>
              <a:gd name="adj" fmla="val 23991"/>
            </a:avLst>
          </a:prstGeom>
          <a:solidFill>
            <a:srgbClr val="E7EAF3"/>
          </a:solidFill>
          <a:ln>
            <a:noFill/>
          </a:ln>
        </p:spPr>
        <p:txBody>
          <a:bodyPr anchor="ctr" rtlCol="false" lIns="0" tIns="0" rIns="0" bIns="0" wrap="square"/>
          <a:lstStyle/>
          <a:p>
            <a:endParaRPr lang="en-US" sz="1800"/>
          </a:p>
        </p:txBody>
      </p:sp>
      <p:sp>
        <p:nvSpPr>
          <p:cNvPr id="42" name="TextBox 41"/>
          <p:cNvSpPr txBox="1"/>
          <p:nvPr/>
        </p:nvSpPr>
        <p:spPr>
          <a:xfrm>
            <a:off x="1348740" y="8088968"/>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3" name="Equation"/>
              <p:cNvSpPr txBox="1"/>
              <p:nvPr/>
            </p:nvSpPr>
            <p:spPr>
              <a:xfrm>
                <a:off x="4686300" y="8088968"/>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200" i="1">
                          <a:solidFill>
                            <a:srgbClr val="111111"/>
                          </a:solidFill>
                          <a:latin typeface="Cambria Math" panose="02040503050406030204" pitchFamily="18" charset="0"/>
                        </a:rPr>
                        <m:t xml:space="preserve">f</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u</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i</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c</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a:rPr lang="en-US" sz="2200" i="1">
                              <a:solidFill>
                                <a:srgbClr val="111111"/>
                              </a:solidFill>
                              <a:latin typeface="Cambria Math" panose="02040503050406030204" pitchFamily="18" charset="0"/>
                            </a:rPr>
                            <m:t xml:space="preserve">c</m:t>
                          </m:r>
                        </m:sub>
                      </m:sSub>
                      <m:r>
                        <m:rPr>
                          <m:sty m:val="p"/>
                        </m:rPr>
                        <a:rPr lang="en-US" sz="2200">
                          <a:solidFill>
                            <a:srgbClr val="111111"/>
                          </a:solidFill>
                          <a:latin typeface="Cambria Math" panose="02040503050406030204" pitchFamily="18" charset="0"/>
                        </a:rPr>
                        <m:t xml:space="preserve"> ⟨ </m:t>
                      </m:r>
                      <m:r>
                        <a:rPr lang="en-US" sz="2200" i="1">
                          <a:solidFill>
                            <a:srgbClr val="111111"/>
                          </a:solidFill>
                          <a:latin typeface="Cambria Math" panose="02040503050406030204" pitchFamily="18" charset="0"/>
                        </a:rPr>
                        <m:t xml:space="preserve">g</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3" name="Equation"/>
              <p:cNvSpPr txBox="1"/>
              <p:nvPr/>
            </p:nvSpPr>
            <p:spPr>
              <a:xfrm>
                <a:off x="4686300" y="8088968"/>
                <a:ext cx="12298680" cy="609811"/>
              </a:xfrm>
              <a:prstGeom prst="rect">
                <a:avLst/>
              </a:prstGeom>
              <a:blipFill>
                <a:blip r:embed="rId9"/>
                <a:stretch>
                  <a:fillRect/>
                </a:stretch>
              </a:blipFill>
            </p:spPr>
            <p:txBody>
              <a:bodyPr/>
              <a:lstStyle/>
              <a:p>
                <a:endParaRPr lang="en-US"/>
              </a:p>
            </p:txBody>
          </p:sp>
        </mc:Fallback>
      </mc:AlternateContent>
      <p:sp>
        <p:nvSpPr>
          <p:cNvPr id="44" name="Rounded Rectangle 43"/>
          <p:cNvSpPr/>
          <p:nvPr/>
        </p:nvSpPr>
        <p:spPr>
          <a:xfrm>
            <a:off x="1028700" y="8790220"/>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45" name="TextBox 44"/>
          <p:cNvSpPr txBox="1"/>
          <p:nvPr/>
        </p:nvSpPr>
        <p:spPr>
          <a:xfrm>
            <a:off x="1348740" y="8790220"/>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Training loss</a:t>
            </a:r>
          </a:p>
        </p:txBody>
      </p:sp>
      <mc:AlternateContent xmlns:mc="http://schemas.openxmlformats.org/markup-compatibility/2006">
        <mc:Choice xmlns:a14="http://schemas.microsoft.com/office/drawing/2010/main" Requires="a14">
          <p:sp>
            <p:nvSpPr>
              <p:cNvPr id="46" name="Equation"/>
              <p:cNvSpPr txBox="1"/>
              <p:nvPr/>
            </p:nvSpPr>
            <p:spPr>
              <a:xfrm>
                <a:off x="4686300" y="8790220"/>
                <a:ext cx="9372600" cy="609811"/>
              </a:xfrm>
              <a:prstGeom prst="rect">
                <a:avLst/>
              </a:prstGeom>
              <a:noFill/>
            </p:spPr>
            <p:txBody>
              <a:bodyPr wrap="none" rtlCol="0" anchor="ctr" lIns="0" tIns="0" rIns="0" bIns="0"/>
              <a:lstStyle/>
              <a:p>
                <a:pPr algn="l"/>
                <a14:m xmlns:m="http://schemas.openxmlformats.org/officeDocument/2006/math">
                  <m:oMathPara>
                    <m:oMathParaPr>
                      <m:jc m:val="left"/>
                    </m:oMathParaPr>
                    <m:oMath>
                      <m:r>
                        <m:rPr>
                          <m:scr m:val="script"/>
                          <m:sty m:val="p"/>
                        </m:rPr>
                        <a:rPr lang="en-US" sz="2200">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rec</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div</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div</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ctx</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ctx</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reg</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reg</m:t>
                          </m:r>
                        </m:sub>
                      </m:sSub>
                    </m:oMath>
                  </m:oMathPara>
                </a14:m>
                <a:endParaRPr lang="en-US" sz="2200"/>
              </a:p>
            </p:txBody>
          </p:sp>
        </mc:Choice>
        <mc:Fallback>
          <p:sp>
            <p:nvSpPr>
              <p:cNvPr id="46" name="Equation"/>
              <p:cNvSpPr txBox="1"/>
              <p:nvPr/>
            </p:nvSpPr>
            <p:spPr>
              <a:xfrm>
                <a:off x="4686300" y="8790220"/>
                <a:ext cx="9372600" cy="609811"/>
              </a:xfrm>
              <a:prstGeom prst="rect">
                <a:avLst/>
              </a:prstGeom>
              <a:blipFill>
                <a:blip r:embed="rId10"/>
                <a:stretch>
                  <a:fillRect/>
                </a:stretch>
              </a:blipFill>
            </p:spPr>
            <p:txBody>
              <a:bodyPr/>
              <a:lstStyle/>
              <a:p>
                <a:endParaRPr lang="en-US"/>
              </a:p>
            </p:txBody>
          </p:sp>
        </mc:Fallback>
      </mc:AlternateContent>
      <p:sp>
        <p:nvSpPr>
          <p:cNvPr id="47" name="TextBox 46"/>
          <p:cNvSpPr txBox="1"/>
          <p:nvPr/>
        </p:nvSpPr>
        <p:spPr>
          <a:xfrm>
            <a:off x="14241780" y="8790220"/>
            <a:ext cx="2743200" cy="609811"/>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BPR + diversity + context + L2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26" name="Rounded Rectangle 25"/>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27" name="Table 26"/>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8" name="TextBox 27"/>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26" name="Rounded Rectangle 25"/>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27" name="Table 26"/>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8" name="TextBox 27"/>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7.2  ·  MOVIELENS-1M</a:t>
            </a:r>
          </a:p>
        </p:txBody>
      </p:sp>
      <p:graphicFrame>
        <p:nvGraphicFramePr>
          <p:cNvPr id="26" name="Table 25"/>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7" name="TextBox 26"/>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28" name="Table 27"/>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Rounded Rectangle 28"/>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0" name="Rounded Rectangle 29"/>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1" name="TextBox 30"/>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26" name="Rounded Rectangle 25"/>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27" name="Rounded Rectangle 26"/>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28" name="Rounded Rectangle 27"/>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29" name="TextBox 28"/>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0" name="Rounded Rectangle 29"/>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2" name="TextBox 31"/>
          <p:cNvSpPr txBox="1"/>
          <p:nvPr/>
        </p:nvSpPr>
        <p:spPr>
          <a:xfrm>
            <a:off x="1531620" y="6884162"/>
            <a:ext cx="6972300" cy="15557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Per-epoch cost: propagation plus periodic Shapley refresh:</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Inference latency is </a:t>
            </a:r>
            <a:r>
              <a:rPr lang="en-US" sz="1820" b="true">
                <a:solidFill>
                  <a:srgbClr val="111111"/>
                </a:solidFill>
                <a:latin typeface="Nunito Bold"/>
                <a:ea typeface="Nunito Bold"/>
                <a:cs typeface="Nunito Bold"/>
                <a:sym typeface="Nunito Bold"/>
              </a:rPr>
              <a:t>suitable for real-time use</a:t>
            </a:r>
            <a:r>
              <a:rPr lang="en-US" sz="1820" b="true">
                <a:solidFill>
                  <a:srgbClr val="111111"/>
                </a:solidFill>
                <a:latin typeface="Nunito Semi-Bold"/>
                <a:ea typeface="Nunito Semi-Bold"/>
                <a:cs typeface="Nunito Semi-Bold"/>
                <a:sym typeface="Nunito Semi-Bold"/>
              </a:rPr>
              <a:t>.</a:t>
            </a:r>
          </a:p>
        </p:txBody>
      </p:sp>
      <mc:AlternateContent xmlns:mc="http://schemas.openxmlformats.org/markup-compatibility/2006">
        <mc:Choice xmlns:a14="http://schemas.microsoft.com/office/drawing/2010/main" Requires="a14">
          <p:sp>
            <p:nvSpPr>
              <p:cNvPr id="33" name="Equation"/>
              <p:cNvSpPr txBox="1"/>
              <p:nvPr/>
            </p:nvSpPr>
            <p:spPr>
              <a:xfrm>
                <a:off x="1531620" y="8485632"/>
                <a:ext cx="69265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000" i="1">
                          <a:solidFill>
                            <a:srgbClr val="4472C4"/>
                          </a:solidFill>
                          <a:latin typeface="Cambria Math" panose="02040503050406030204" pitchFamily="18" charset="0"/>
                        </a:rPr>
                        <m:t xml:space="preserve">O</m:t>
                      </m:r>
                      <m:d>
                        <m:dPr>
                          <m:ctrlPr>
                            <a:rPr lang="en-US" sz="2000" i="1">
                              <a:solidFill>
                                <a:srgbClr val="4472C4"/>
                              </a:solidFill>
                              <a:latin typeface="Cambria Math" panose="02040503050406030204" pitchFamily="18" charset="0"/>
                            </a:rPr>
                          </m:ctrlPr>
                        </m:dPr>
                        <m:e>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L</m:t>
                          </m:r>
                          <m:r>
                            <m:rPr>
                              <m:sty m:val="p"/>
                            </m:rPr>
                            <a:rPr lang="en-US" sz="2000">
                              <a:solidFill>
                                <a:srgbClr val="4472C4"/>
                              </a:solidFill>
                              <a:latin typeface="Cambria Math" panose="02040503050406030204" pitchFamily="18" charset="0"/>
                            </a:rPr>
                            <m:t xml:space="preserve">+1) </m:t>
                          </m:r>
                          <m:r>
                            <a:rPr lang="en-US" sz="2000" i="1">
                              <a:solidFill>
                                <a:srgbClr val="4472C4"/>
                              </a:solidFill>
                              <a:latin typeface="Cambria Math" panose="02040503050406030204" pitchFamily="18" charset="0"/>
                            </a:rPr>
                            <m:t xml:space="preserve">m</m:t>
                          </m:r>
                          <m:r>
                            <m:rPr>
                              <m:sty m:val="p"/>
                            </m:rPr>
                            <a:rPr lang="en-US" sz="2000">
                              <a:solidFill>
                                <a:srgbClr val="4472C4"/>
                              </a:solidFill>
                              <a:latin typeface="Cambria Math" panose="02040503050406030204" pitchFamily="18" charset="0"/>
                            </a:rPr>
                            <m:t xml:space="preserve"> </m:t>
                          </m:r>
                          <m:r>
                            <a:rPr lang="en-US" sz="2000" i="1">
                              <a:solidFill>
                                <a:srgbClr val="4472C4"/>
                              </a:solidFill>
                              <a:latin typeface="Cambria Math" panose="02040503050406030204" pitchFamily="18" charset="0"/>
                            </a:rPr>
                            <m:t xml:space="preserve">d</m:t>
                          </m:r>
                        </m:e>
                      </m:d>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O</m:t>
                      </m:r>
                      <m:d>
                        <m:dPr>
                          <m:ctrlPr>
                            <a:rPr lang="en-US" sz="2000" i="1">
                              <a:solidFill>
                                <a:srgbClr val="4472C4"/>
                              </a:solidFill>
                              <a:latin typeface="Cambria Math" panose="02040503050406030204" pitchFamily="18" charset="0"/>
                            </a:rPr>
                          </m:ctrlPr>
                        </m:dPr>
                        <m:e>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M</m:t>
                          </m:r>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f</m:t>
                          </m:r>
                          <m:r>
                            <m:rPr>
                              <m:sty m:val="p"/>
                            </m:rPr>
                            <a:rPr lang="en-US" sz="2000">
                              <a:solidFill>
                                <a:srgbClr val="4472C4"/>
                              </a:solidFill>
                              <a:latin typeface="Cambria Math" panose="02040503050406030204" pitchFamily="18" charset="0"/>
                            </a:rPr>
                            <m:t xml:space="preserve">) </m:t>
                          </m:r>
                          <m:r>
                            <a:rPr lang="en-US" sz="2000" i="1">
                              <a:solidFill>
                                <a:srgbClr val="4472C4"/>
                              </a:solidFill>
                              <a:latin typeface="Cambria Math" panose="02040503050406030204" pitchFamily="18" charset="0"/>
                            </a:rPr>
                            <m:t xml:space="preserve">m</m:t>
                          </m:r>
                        </m:e>
                      </m:d>
                    </m:oMath>
                  </m:oMathPara>
                </a14:m>
                <a:endParaRPr lang="en-US" sz="2000"/>
              </a:p>
            </p:txBody>
          </p:sp>
        </mc:Choice>
        <mc:Fallback>
          <p:sp>
            <p:nvSpPr>
              <p:cNvPr id="33" name="Equation"/>
              <p:cNvSpPr txBox="1"/>
              <p:nvPr/>
            </p:nvSpPr>
            <p:spPr>
              <a:xfrm>
                <a:off x="1531620" y="8485632"/>
                <a:ext cx="6926580" cy="64008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5" name="Rounded Rectangle 34"/>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36" name="TextBox 35"/>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6"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26" name="Equation"/>
              <p:cNvSpPr txBox="1"/>
              <p:nvPr/>
            </p:nvSpPr>
            <p:spPr>
              <a:xfrm>
                <a:off x="1211580" y="3729482"/>
                <a:ext cx="4831080" cy="1051560"/>
              </a:xfrm>
              <a:prstGeom prst="rect">
                <a:avLst/>
              </a:prstGeom>
              <a:blipFill>
                <a:blip r:embed="rId4"/>
                <a:stretch>
                  <a:fillRect/>
                </a:stretch>
              </a:blipFill>
            </p:spPr>
            <p:txBody>
              <a:bodyPr/>
              <a:lstStyle/>
              <a:p>
                <a:endParaRPr lang="en-US"/>
              </a:p>
            </p:txBody>
          </p:sp>
        </mc:Fallback>
      </mc:AlternateContent>
      <p:sp>
        <p:nvSpPr>
          <p:cNvPr id="27" name="TextBox 26"/>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28" name="Rounded Rectangle 27"/>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29" name="Equation"/>
              <p:cNvSpPr txBox="1"/>
              <p:nvPr/>
            </p:nvSpPr>
            <p:spPr>
              <a:xfrm>
                <a:off x="6728460" y="3729482"/>
                <a:ext cx="4831080" cy="1051560"/>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1" name="Rounded Rectangle 30"/>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2" name="Equation"/>
              <p:cNvSpPr txBox="1"/>
              <p:nvPr/>
            </p:nvSpPr>
            <p:spPr>
              <a:xfrm>
                <a:off x="12245340" y="3729482"/>
                <a:ext cx="4831080" cy="1051560"/>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4" name="TextBox 33"/>
          <p:cNvSpPr txBox="1"/>
          <p:nvPr/>
        </p:nvSpPr>
        <p:spPr>
          <a:xfrm>
            <a:off x="1028700" y="569544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35" name="Rounded Rectangle 34"/>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37" name="TextBox 36"/>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27" name="TextBox 26"/>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28" name="Rounded Rectangle 27"/>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0" name="TextBox 29"/>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1" name="Table 30"/>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1" name="Rounded Rectangle 30"/>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1" name="Rounded Rectangle 30"/>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6" name="Oval 5"/>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sp>
        <p:nvSpPr>
          <p:cNvPr id="21" name="Rounded Rectangle 20"/>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6" name="Table 25"/>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7" name="Rounded Rectangle 26"/>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single level</a:t>
            </a:r>
          </a:p>
        </p:txBody>
      </p:sp>
      <p:cxnSp>
        <p:nvCxnSpPr>
          <p:cNvPr id="28" name="Connector 27"/>
          <p:cNvCxnSpPr/>
          <p:nvPr/>
        </p:nvCxnSpPr>
        <p:spPr>
          <a:xfrm>
            <a:off x="5143500" y="6725666"/>
            <a:ext cx="1897380" cy="0"/>
          </a:xfrm>
          <a:prstGeom prst="line">
            <a:avLst/>
          </a:prstGeom>
          <a:ln w="38100">
            <a:solidFill>
              <a:srgbClr val="4472C4"/>
            </a:solidFill>
            <a:tailEnd type="triangle" w="med" len="med"/>
          </a:ln>
        </p:spPr>
      </p:cxnSp>
      <p:sp>
        <p:nvSpPr>
          <p:cNvPr id="29" name="Rounded Rectangle 28"/>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hierarchical</a:t>
            </a:r>
          </a:p>
        </p:txBody>
      </p:sp>
      <p:cxnSp>
        <p:nvCxnSpPr>
          <p:cNvPr id="30" name="Connector 29"/>
          <p:cNvCxnSpPr/>
          <p:nvPr/>
        </p:nvCxnSpPr>
        <p:spPr>
          <a:xfrm>
            <a:off x="11247120" y="6725666"/>
            <a:ext cx="1897380" cy="0"/>
          </a:xfrm>
          <a:prstGeom prst="line">
            <a:avLst/>
          </a:prstGeom>
          <a:ln w="38100">
            <a:solidFill>
              <a:srgbClr val="4472C4"/>
            </a:solidFill>
            <a:tailEnd type="triangle" w="med" len="med"/>
          </a:ln>
        </p:spPr>
      </p:cxnSp>
      <p:sp>
        <p:nvSpPr>
          <p:cNvPr id="31" name="Rounded Rectangle 30"/>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in-training signal</a:t>
            </a:r>
          </a:p>
        </p:txBody>
      </p:sp>
      <p:sp>
        <p:nvSpPr>
          <p:cNvPr id="32" name="Rounded Rectangle 31"/>
          <p:cNvSpPr/>
          <p:nvPr/>
        </p:nvSpPr>
        <p:spPr>
          <a:xfrm>
            <a:off x="1028700" y="7640066"/>
            <a:ext cx="16230600" cy="1577086"/>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3" name="Rounded Rectangle 32"/>
          <p:cNvSpPr/>
          <p:nvPr/>
        </p:nvSpPr>
        <p:spPr>
          <a:xfrm>
            <a:off x="1348740" y="7448042"/>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4" name="TextBox 33"/>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6" name="Table 25"/>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7" name="Rounded Rectangle 26"/>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28" name="Rounded Rectangle 27"/>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29" name="TextBox 28"/>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0" name="Rounded Rectangle 29"/>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1" name="Rounded Rectangle 30"/>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2" name="TextBox 31"/>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6" name="Rounded Rectangle 25"/>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27" name="Rounded Rectangle 26"/>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28" name="Rounded Rectangle 27"/>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29" name="Rounded Rectangle 28"/>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6" name="Rounded Rectangle 25"/>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27" name="Oval 26"/>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28" name="TextBox 27"/>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29" name="Rounded Rectangle 28"/>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0" name="Oval 29"/>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1" name="TextBox 30"/>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2" name="Rounded Rectangle 31"/>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4" name="TextBox 33"/>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5" name="Rounded Rectangle 34"/>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6" name="Oval 35"/>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37" name="TextBox 36"/>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26" name="Rounded Rectangle 25"/>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27" name="Rounded Rectangle 26"/>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28" name="TextBox 27"/>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29" name="TextBox 28"/>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0" name="Rounded Rectangle 29"/>
          <p:cNvSpPr/>
          <p:nvPr/>
        </p:nvSpPr>
        <p:spPr>
          <a:xfrm>
            <a:off x="102870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4874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3" name="Rounded Rectangle 32"/>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547497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36" name="Rounded Rectangle 35"/>
          <p:cNvSpPr/>
          <p:nvPr/>
        </p:nvSpPr>
        <p:spPr>
          <a:xfrm>
            <a:off x="928116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960120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39" name="Rounded Rectangle 38"/>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72743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sp>
        <p:nvSpPr>
          <p:cNvPr id="21" name="Rounded Rectangle 20"/>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2" name="Rounded Rectangle 21"/>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a:t>
            </a:r>
          </a:p>
        </p:txBody>
      </p:sp>
      <p:sp>
        <p:nvSpPr>
          <p:cNvPr id="23" name="TextBox 22"/>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4" name="Rounded Rectangle 23"/>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5" name="Rounded Rectangle 24"/>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a:t>
            </a:r>
          </a:p>
        </p:txBody>
      </p:sp>
      <p:sp>
        <p:nvSpPr>
          <p:cNvPr id="26" name="TextBox 25"/>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27" name="Rounded Rectangle 26"/>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8" name="Rounded Rectangle 27"/>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[3]</a:t>
            </a:r>
          </a:p>
        </p:txBody>
      </p:sp>
      <p:sp>
        <p:nvSpPr>
          <p:cNvPr id="29" name="TextBox 28"/>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0" name="Rounded Rectangle 29"/>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1" name="Rounded Rectangle 30"/>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[4]</a:t>
            </a:r>
          </a:p>
        </p:txBody>
      </p:sp>
      <p:sp>
        <p:nvSpPr>
          <p:cNvPr id="32" name="TextBox 31"/>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3" name="Rounded Rectangle 32"/>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[5]</a:t>
            </a:r>
          </a:p>
        </p:txBody>
      </p:sp>
      <p:sp>
        <p:nvSpPr>
          <p:cNvPr id="35" name="TextBox 34"/>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6" name="Rounded Rectangle 35"/>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7" name="Rounded Rectangle 36"/>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[6]</a:t>
            </a:r>
          </a:p>
        </p:txBody>
      </p:sp>
      <p:sp>
        <p:nvSpPr>
          <p:cNvPr id="38" name="TextBox 37"/>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39" name="Rounded Rectangle 38"/>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0" name="Rounded Rectangle 39"/>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[7]</a:t>
            </a:r>
          </a:p>
        </p:txBody>
      </p:sp>
      <p:sp>
        <p:nvSpPr>
          <p:cNvPr id="41" name="TextBox 40"/>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2" name="Rounded Rectangle 41"/>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3" name="Rounded Rectangle 42"/>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[8]</a:t>
            </a:r>
          </a:p>
        </p:txBody>
      </p:sp>
      <p:sp>
        <p:nvSpPr>
          <p:cNvPr id="44" name="TextBox 43"/>
          <p:cNvSpPr txBox="1"/>
          <p:nvPr/>
        </p:nvSpPr>
        <p:spPr>
          <a:xfrm>
            <a:off x="1943100" y="613041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5" name="Rounded Rectangle 44"/>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6" name="Rounded Rectangle 45"/>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[9]</a:t>
            </a:r>
          </a:p>
        </p:txBody>
      </p:sp>
      <p:sp>
        <p:nvSpPr>
          <p:cNvPr id="47" name="TextBox 46"/>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48" name="Rounded Rectangle 47"/>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9" name="Rounded Rectangle 48"/>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[10]</a:t>
            </a:r>
          </a:p>
        </p:txBody>
      </p:sp>
      <p:sp>
        <p:nvSpPr>
          <p:cNvPr id="50" name="TextBox 49"/>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1" name="Rounded Rectangle 50"/>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2" name="Rounded Rectangle 51"/>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[11]</a:t>
            </a:r>
          </a:p>
        </p:txBody>
      </p:sp>
      <p:sp>
        <p:nvSpPr>
          <p:cNvPr id="53" name="TextBox 52"/>
          <p:cNvSpPr txBox="1"/>
          <p:nvPr/>
        </p:nvSpPr>
        <p:spPr>
          <a:xfrm>
            <a:off x="1943100" y="7594382"/>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Neural Collaborative Filtering. WWW, 173–182 (2017).</a:t>
            </a:r>
          </a:p>
        </p:txBody>
      </p:sp>
      <p:sp>
        <p:nvSpPr>
          <p:cNvPr id="54" name="Rounded Rectangle 53"/>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5" name="Rounded Rectangle 54"/>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[12]</a:t>
            </a:r>
          </a:p>
        </p:txBody>
      </p:sp>
      <p:sp>
        <p:nvSpPr>
          <p:cNvPr id="56" name="TextBox 55"/>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57" name="Rounded Rectangle 56"/>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8" name="Rounded Rectangle 57"/>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[13]</a:t>
            </a:r>
          </a:p>
        </p:txBody>
      </p:sp>
      <p:sp>
        <p:nvSpPr>
          <p:cNvPr id="59" name="TextBox 58"/>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0" name="Rounded Rectangle 59"/>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1" name="Rounded Rectangle 60"/>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[14]</a:t>
            </a:r>
          </a:p>
        </p:txBody>
      </p:sp>
      <p:sp>
        <p:nvSpPr>
          <p:cNvPr id="62" name="TextBox 61"/>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sp>
        <p:nvSpPr>
          <p:cNvPr id="21" name="Rounded Rectangle 20"/>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2" name="Rounded Rectangle 21"/>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[15]</a:t>
            </a:r>
          </a:p>
        </p:txBody>
      </p:sp>
      <p:sp>
        <p:nvSpPr>
          <p:cNvPr id="23" name="TextBox 22"/>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4" name="Rounded Rectangle 23"/>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5" name="Rounded Rectangle 24"/>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[16]</a:t>
            </a:r>
          </a:p>
        </p:txBody>
      </p:sp>
      <p:sp>
        <p:nvSpPr>
          <p:cNvPr id="26" name="TextBox 25"/>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Feng, Y. et al. Hypergraph Neural Networks. AAAI 33, 3558–3565 (2019).</a:t>
            </a:r>
          </a:p>
        </p:txBody>
      </p:sp>
      <p:sp>
        <p:nvSpPr>
          <p:cNvPr id="27" name="Rounded Rectangle 26"/>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8" name="Rounded Rectangle 27"/>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[17]</a:t>
            </a:r>
          </a:p>
        </p:txBody>
      </p:sp>
      <p:sp>
        <p:nvSpPr>
          <p:cNvPr id="29" name="TextBox 28"/>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0" name="Rounded Rectangle 29"/>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1" name="Rounded Rectangle 30"/>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[18]</a:t>
            </a:r>
          </a:p>
        </p:txBody>
      </p:sp>
      <p:sp>
        <p:nvSpPr>
          <p:cNvPr id="32" name="TextBox 31"/>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3" name="Rounded Rectangle 32"/>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[19]</a:t>
            </a:r>
          </a:p>
        </p:txBody>
      </p:sp>
      <p:sp>
        <p:nvSpPr>
          <p:cNvPr id="35" name="TextBox 34"/>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6" name="Rounded Rectangle 35"/>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7" name="Rounded Rectangle 36"/>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[20]</a:t>
            </a:r>
          </a:p>
        </p:txBody>
      </p:sp>
      <p:sp>
        <p:nvSpPr>
          <p:cNvPr id="38" name="TextBox 37"/>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39" name="Rounded Rectangle 38"/>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0" name="Rounded Rectangle 39"/>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[21]</a:t>
            </a:r>
          </a:p>
        </p:txBody>
      </p:sp>
      <p:sp>
        <p:nvSpPr>
          <p:cNvPr id="41" name="TextBox 40"/>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2" name="Rounded Rectangle 41"/>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3" name="Rounded Rectangle 42"/>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[22]</a:t>
            </a:r>
          </a:p>
        </p:txBody>
      </p:sp>
      <p:sp>
        <p:nvSpPr>
          <p:cNvPr id="44" name="TextBox 43"/>
          <p:cNvSpPr txBox="1"/>
          <p:nvPr/>
        </p:nvSpPr>
        <p:spPr>
          <a:xfrm>
            <a:off x="1943100" y="6130417"/>
            <a:ext cx="15179040" cy="433124"/>
          </a:xfrm>
          <a:prstGeom prst="rect">
            <a:avLst/>
          </a:prstGeom>
          <a:noFill/>
        </p:spPr>
        <p:txBody>
          <a:bodyPr anchor="ctr" rtlCol="false" lIns="0" tIns="0" rIns="0" bIns="0" wrap="square"/>
          <a:lstStyle/>
          <a:p>
            <a:pPr algn="l">
              <a:lnSpc>
                <a:spcPts val="1765"/>
              </a:lnSpc>
              <a:spcBef>
                <a:spcPts val="0"/>
              </a:spcBef>
              <a:buNone/>
            </a:pPr>
            <a:r>
              <a:rPr lang="en-US" sz="1261"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5" name="Rounded Rectangle 44"/>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6" name="Rounded Rectangle 45"/>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[23]</a:t>
            </a:r>
          </a:p>
        </p:txBody>
      </p:sp>
      <p:sp>
        <p:nvSpPr>
          <p:cNvPr id="47" name="TextBox 46"/>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48" name="Rounded Rectangle 47"/>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9" name="Rounded Rectangle 48"/>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[24]</a:t>
            </a:r>
          </a:p>
        </p:txBody>
      </p:sp>
      <p:sp>
        <p:nvSpPr>
          <p:cNvPr id="50" name="TextBox 49"/>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1" name="Rounded Rectangle 50"/>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2" name="Rounded Rectangle 51"/>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[25]</a:t>
            </a:r>
          </a:p>
        </p:txBody>
      </p:sp>
      <p:sp>
        <p:nvSpPr>
          <p:cNvPr id="53" name="TextBox 52"/>
          <p:cNvSpPr txBox="1"/>
          <p:nvPr/>
        </p:nvSpPr>
        <p:spPr>
          <a:xfrm>
            <a:off x="1943100" y="7594382"/>
            <a:ext cx="15179040" cy="433124"/>
          </a:xfrm>
          <a:prstGeom prst="rect">
            <a:avLst/>
          </a:prstGeom>
          <a:noFill/>
        </p:spPr>
        <p:txBody>
          <a:bodyPr anchor="ctr" rtlCol="false" lIns="0" tIns="0" rIns="0" bIns="0" wrap="square"/>
          <a:lstStyle/>
          <a:p>
            <a:pPr algn="l">
              <a:lnSpc>
                <a:spcPts val="1602"/>
              </a:lnSpc>
              <a:spcBef>
                <a:spcPts val="0"/>
              </a:spcBef>
              <a:buNone/>
            </a:pPr>
            <a:r>
              <a:rPr lang="en-US" sz="1144"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4" name="Rounded Rectangle 53"/>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5" name="Rounded Rectangle 54"/>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[26]</a:t>
            </a:r>
          </a:p>
        </p:txBody>
      </p:sp>
      <p:sp>
        <p:nvSpPr>
          <p:cNvPr id="56" name="TextBox 55"/>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57" name="Rounded Rectangle 56"/>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8" name="Rounded Rectangle 57"/>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[27]</a:t>
            </a:r>
          </a:p>
        </p:txBody>
      </p:sp>
      <p:sp>
        <p:nvSpPr>
          <p:cNvPr id="59" name="TextBox 58"/>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0" name="Rounded Rectangle 59"/>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1" name="Rounded Rectangle 60"/>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[28]</a:t>
            </a:r>
          </a:p>
        </p:txBody>
      </p:sp>
      <p:sp>
        <p:nvSpPr>
          <p:cNvPr id="62" name="TextBox 61"/>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pic>
        <p:nvPicPr>
          <p:cNvPr id="4" name="Picture 3" descr="ensias_logo.jpg"/>
          <p:cNvPicPr>
            <a:picLocks noChangeAspect="1"/>
          </p:cNvPicPr>
          <p:nvPr/>
        </p:nvPicPr>
        <p:blipFill>
          <a:blip r:embed="rId3"/>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7" name="TextBox 6"/>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8" name="Picture 7" descr="image.png"/>
          <p:cNvPicPr>
            <a:picLocks noChangeAspect="1"/>
          </p:cNvPicPr>
          <p:nvPr/>
        </p:nvPicPr>
        <p:blipFill>
          <a:blip r:embed="rId4"/>
          <a:stretch>
            <a:fillRect/>
          </a:stretch>
        </p:blipFill>
        <p:spPr>
          <a:xfrm>
            <a:off x="13350240" y="2468880"/>
            <a:ext cx="822960" cy="747445"/>
          </a:xfrm>
          <a:prstGeom prst="rect">
            <a:avLst/>
          </a:prstGeom>
        </p:spPr>
      </p:pic>
      <p:pic>
        <p:nvPicPr>
          <p:cNvPr id="9" name="Picture 8"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0" name="Oval 9"/>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1" name="TextBox 10"/>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2" name="Rounded Rectangle 11"/>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3" name="Rounded Rectangle 12"/>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4" name="Rounded Rectangle 13"/>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5" name="Rounded Rectangle 14"/>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sp>
        <p:nvSpPr>
          <p:cNvPr id="7" name="TextBox 6"/>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MOVIELENS-1M</a:t>
            </a:r>
          </a:p>
        </p:txBody>
      </p:sp>
      <p:graphicFrame>
        <p:nvGraphicFramePr>
          <p:cNvPr id="8" name="Table 7"/>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9" name="TextBox 8"/>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10" name="Table 9"/>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1" name="Rounded Rectangle 10"/>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graphicFrame>
        <p:nvGraphicFramePr>
          <p:cNvPr id="7" name="Table 6"/>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8" name="Rounded Rectangle 7"/>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9" name="Rounded Rectangle 8"/>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0" name="TextBox 9"/>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1" name="Rounded Rectangle 10"/>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2" name="Rounded Rectangle 11"/>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3" name="TextBox 12"/>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sp>
        <p:nvSpPr>
          <p:cNvPr id="7" name="TextBox 6"/>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7.3  ·  RUNTIME AND MEMORY</a:t>
            </a:r>
          </a:p>
        </p:txBody>
      </p:sp>
      <p:graphicFrame>
        <p:nvGraphicFramePr>
          <p:cNvPr id="8" name="Table 7"/>
          <p:cNvGraphicFramePr>
            <a:graphicFrameLocks noGrp="1"/>
          </p:cNvGraphicFramePr>
          <p:nvPr/>
        </p:nvGraphicFramePr>
        <p:xfrm>
          <a:off x="1028700" y="3263138"/>
          <a:ext cx="10241276" cy="379018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589788">
                <a:tc>
                  <a:txBody>
                    <a:bodyPr anchor="ctr" rtlCol="false" lIns="0" tIns="0" rIns="0" bIns="0" wrap="square"/>
                    <a:lstStyle/>
                    <a:p>
                      <a:pPr algn="l">
                        <a:lnSpc>
                          <a:spcPts val="1690"/>
                        </a:lnSpc>
                        <a:spcBef>
                          <a:spcPts val="0"/>
                        </a:spcBef>
                        <a:buNone/>
                      </a:pPr>
                      <a:r>
                        <a:rPr lang="en-US" sz="13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9" name="TextBox 8"/>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7.4  ·  MONTE CARLO SHAPLEY</a:t>
            </a:r>
          </a:p>
        </p:txBody>
      </p:sp>
      <p:graphicFrame>
        <p:nvGraphicFramePr>
          <p:cNvPr id="10" name="Table 9"/>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1" name="Rounded Rectangle 10"/>
          <p:cNvSpPr/>
          <p:nvPr/>
        </p:nvSpPr>
        <p:spPr>
          <a:xfrm>
            <a:off x="1028700" y="741908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