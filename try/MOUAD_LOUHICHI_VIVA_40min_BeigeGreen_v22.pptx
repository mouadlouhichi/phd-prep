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71" r:id="rId25"/>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 id="330" r:id="rId85"/>
    <p:sldId id="331" r:id="rId86"/>
    <p:sldId id="332" r:id="rId87"/>
    <p:sldId id="333" r:id="rId88"/>
    <p:sldId id="334" r:id="rId89"/>
    <p:sldId id="335" r:id="rId90"/>
    <p:sldId id="336" r:id="rId91"/>
    <p:sldId id="337" r:id="rId92"/>
    <p:sldId id="338" r:id="rId93"/>
    <p:sldId id="339" r:id="rId94"/>
    <p:sldId id="340" r:id="rId95"/>
    <p:sldId id="341" r:id="rId96"/>
    <p:sldId id="342" r:id="rId97"/>
    <p:sldId id="343" r:id="rId98"/>
    <p:sldId id="344" r:id="rId99"/>
    <p:sldId id="345" r:id="rId100"/>
    <p:sldId id="346" r:id="rId101"/>
    <p:sldId id="347" r:id="rId102"/>
    <p:sldId id="348" r:id="rId103"/>
    <p:sldId id="349" r:id="rId104"/>
  </p:sldIdLst>
  <p:sldSz cx="18288000" cy="10287000"/>
  <p:notesSz cx="6858000" cy="9144000"/>
  <p:embeddedFontLst>
    <p:embeddedFont>
      <p:font typeface="Roca Two Bold" charset="1" panose="00000800000000000000"/>
      <p:regular r:id="rId21"/>
    </p:embeddedFont>
    <p:embeddedFont>
      <p:font typeface="Nunito Semi-Bold" charset="1" panose="00000000000000000000"/>
      <p:regular r:id="rId22"/>
    </p:embeddedFont>
    <p:embeddedFont>
      <p:font typeface="Nunito Bold" charset="1" panose="00000000000000000000"/>
      <p:regular r:id="rId23"/>
    </p:embeddedFont>
    <p:embeddedFont>
      <p:font typeface="Nunito Ultra-Bold"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slide" Target="slides/slide1.xml"/><Relationship Id="rId26" Type="http://schemas.openxmlformats.org/officeDocument/2006/relationships/notesMaster" Target="notesMasters/notesMaster1.xml"/><Relationship Id="rId27" Type="http://schemas.openxmlformats.org/officeDocument/2006/relationships/slide" Target="slides/slide2.xml"/><Relationship Id="rId28" Type="http://schemas.openxmlformats.org/officeDocument/2006/relationships/slide" Target="slides/slide3.xml"/><Relationship Id="rId29" Type="http://schemas.openxmlformats.org/officeDocument/2006/relationships/slide" Target="slides/slide4.xml"/><Relationship Id="rId30" Type="http://schemas.openxmlformats.org/officeDocument/2006/relationships/slide" Target="slides/slide5.xml"/><Relationship Id="rId31" Type="http://schemas.openxmlformats.org/officeDocument/2006/relationships/slide" Target="slides/slide6.xml"/><Relationship Id="rId32" Type="http://schemas.openxmlformats.org/officeDocument/2006/relationships/slide" Target="slides/slide7.xml"/><Relationship Id="rId33" Type="http://schemas.openxmlformats.org/officeDocument/2006/relationships/slide" Target="slides/slide8.xml"/><Relationship Id="rId34" Type="http://schemas.openxmlformats.org/officeDocument/2006/relationships/slide" Target="slides/slide9.xml"/><Relationship Id="rId35" Type="http://schemas.openxmlformats.org/officeDocument/2006/relationships/slide" Target="slides/slide10.xml"/><Relationship Id="rId36" Type="http://schemas.openxmlformats.org/officeDocument/2006/relationships/slide" Target="slides/slide11.xml"/><Relationship Id="rId37" Type="http://schemas.openxmlformats.org/officeDocument/2006/relationships/slide" Target="slides/slide12.xml"/><Relationship Id="rId38" Type="http://schemas.openxmlformats.org/officeDocument/2006/relationships/slide" Target="slides/slide13.xml"/><Relationship Id="rId39" Type="http://schemas.openxmlformats.org/officeDocument/2006/relationships/slide" Target="slides/slide14.xml"/><Relationship Id="rId40" Type="http://schemas.openxmlformats.org/officeDocument/2006/relationships/slide" Target="slides/slide15.xml"/><Relationship Id="rId41" Type="http://schemas.openxmlformats.org/officeDocument/2006/relationships/slide" Target="slides/slide16.xml"/><Relationship Id="rId42" Type="http://schemas.openxmlformats.org/officeDocument/2006/relationships/slide" Target="slides/slide17.xml"/><Relationship Id="rId43" Type="http://schemas.openxmlformats.org/officeDocument/2006/relationships/slide" Target="slides/slide18.xml"/><Relationship Id="rId44" Type="http://schemas.openxmlformats.org/officeDocument/2006/relationships/slide" Target="slides/slide19.xml"/><Relationship Id="rId45" Type="http://schemas.openxmlformats.org/officeDocument/2006/relationships/slide" Target="slides/slide20.xml"/><Relationship Id="rId46" Type="http://schemas.openxmlformats.org/officeDocument/2006/relationships/slide" Target="slides/slide21.xml"/><Relationship Id="rId47" Type="http://schemas.openxmlformats.org/officeDocument/2006/relationships/slide" Target="slides/slide22.xml"/><Relationship Id="rId48" Type="http://schemas.openxmlformats.org/officeDocument/2006/relationships/slide" Target="slides/slide23.xml"/><Relationship Id="rId49" Type="http://schemas.openxmlformats.org/officeDocument/2006/relationships/slide" Target="slides/slide24.xml"/><Relationship Id="rId50" Type="http://schemas.openxmlformats.org/officeDocument/2006/relationships/slide" Target="slides/slide25.xml"/><Relationship Id="rId51" Type="http://schemas.openxmlformats.org/officeDocument/2006/relationships/slide" Target="slides/slide26.xml"/><Relationship Id="rId52" Type="http://schemas.openxmlformats.org/officeDocument/2006/relationships/slide" Target="slides/slide27.xml"/><Relationship Id="rId53" Type="http://schemas.openxmlformats.org/officeDocument/2006/relationships/slide" Target="slides/slide28.xml"/><Relationship Id="rId54" Type="http://schemas.openxmlformats.org/officeDocument/2006/relationships/slide" Target="slides/slide29.xml"/><Relationship Id="rId55" Type="http://schemas.openxmlformats.org/officeDocument/2006/relationships/slide" Target="slides/slide30.xml"/><Relationship Id="rId56" Type="http://schemas.openxmlformats.org/officeDocument/2006/relationships/slide" Target="slides/slide31.xml"/><Relationship Id="rId57" Type="http://schemas.openxmlformats.org/officeDocument/2006/relationships/slide" Target="slides/slide32.xml"/><Relationship Id="rId58" Type="http://schemas.openxmlformats.org/officeDocument/2006/relationships/slide" Target="slides/slide33.xml"/><Relationship Id="rId59" Type="http://schemas.openxmlformats.org/officeDocument/2006/relationships/slide" Target="slides/slide34.xml"/><Relationship Id="rId60" Type="http://schemas.openxmlformats.org/officeDocument/2006/relationships/slide" Target="slides/slide35.xml"/><Relationship Id="rId61" Type="http://schemas.openxmlformats.org/officeDocument/2006/relationships/slide" Target="slides/slide36.xml"/><Relationship Id="rId62" Type="http://schemas.openxmlformats.org/officeDocument/2006/relationships/slide" Target="slides/slide37.xml"/><Relationship Id="rId63" Type="http://schemas.openxmlformats.org/officeDocument/2006/relationships/slide" Target="slides/slide38.xml"/><Relationship Id="rId64" Type="http://schemas.openxmlformats.org/officeDocument/2006/relationships/slide" Target="slides/slide39.xml"/><Relationship Id="rId65" Type="http://schemas.openxmlformats.org/officeDocument/2006/relationships/slide" Target="slides/slide40.xml"/><Relationship Id="rId66" Type="http://schemas.openxmlformats.org/officeDocument/2006/relationships/slide" Target="slides/slide41.xml"/><Relationship Id="rId67" Type="http://schemas.openxmlformats.org/officeDocument/2006/relationships/slide" Target="slides/slide42.xml"/><Relationship Id="rId68" Type="http://schemas.openxmlformats.org/officeDocument/2006/relationships/slide" Target="slides/slide43.xml"/><Relationship Id="rId69" Type="http://schemas.openxmlformats.org/officeDocument/2006/relationships/slide" Target="slides/slide44.xml"/><Relationship Id="rId70" Type="http://schemas.openxmlformats.org/officeDocument/2006/relationships/slide" Target="slides/slide45.xml"/><Relationship Id="rId71" Type="http://schemas.openxmlformats.org/officeDocument/2006/relationships/slide" Target="slides/slide46.xml"/><Relationship Id="rId72" Type="http://schemas.openxmlformats.org/officeDocument/2006/relationships/slide" Target="slides/slide47.xml"/><Relationship Id="rId73" Type="http://schemas.openxmlformats.org/officeDocument/2006/relationships/slide" Target="slides/slide48.xml"/><Relationship Id="rId74" Type="http://schemas.openxmlformats.org/officeDocument/2006/relationships/slide" Target="slides/slide49.xml"/><Relationship Id="rId75" Type="http://schemas.openxmlformats.org/officeDocument/2006/relationships/slide" Target="slides/slide50.xml"/><Relationship Id="rId76" Type="http://schemas.openxmlformats.org/officeDocument/2006/relationships/slide" Target="slides/slide51.xml"/><Relationship Id="rId77" Type="http://schemas.openxmlformats.org/officeDocument/2006/relationships/slide" Target="slides/slide52.xml"/><Relationship Id="rId78" Type="http://schemas.openxmlformats.org/officeDocument/2006/relationships/slide" Target="slides/slide53.xml"/><Relationship Id="rId79" Type="http://schemas.openxmlformats.org/officeDocument/2006/relationships/slide" Target="slides/slide54.xml"/><Relationship Id="rId80" Type="http://schemas.openxmlformats.org/officeDocument/2006/relationships/slide" Target="slides/slide55.xml"/><Relationship Id="rId81" Type="http://schemas.openxmlformats.org/officeDocument/2006/relationships/slide" Target="slides/slide56.xml"/><Relationship Id="rId82" Type="http://schemas.openxmlformats.org/officeDocument/2006/relationships/slide" Target="slides/slide57.xml"/><Relationship Id="rId83" Type="http://schemas.openxmlformats.org/officeDocument/2006/relationships/slide" Target="slides/slide58.xml"/><Relationship Id="rId84" Type="http://schemas.openxmlformats.org/officeDocument/2006/relationships/slide" Target="slides/slide59.xml"/><Relationship Id="rId85" Type="http://schemas.openxmlformats.org/officeDocument/2006/relationships/slide" Target="slides/slide60.xml"/><Relationship Id="rId86" Type="http://schemas.openxmlformats.org/officeDocument/2006/relationships/slide" Target="slides/slide61.xml"/><Relationship Id="rId87" Type="http://schemas.openxmlformats.org/officeDocument/2006/relationships/slide" Target="slides/slide62.xml"/><Relationship Id="rId88" Type="http://schemas.openxmlformats.org/officeDocument/2006/relationships/slide" Target="slides/slide63.xml"/><Relationship Id="rId89" Type="http://schemas.openxmlformats.org/officeDocument/2006/relationships/slide" Target="slides/slide64.xml"/><Relationship Id="rId90" Type="http://schemas.openxmlformats.org/officeDocument/2006/relationships/slide" Target="slides/slide65.xml"/><Relationship Id="rId91" Type="http://schemas.openxmlformats.org/officeDocument/2006/relationships/slide" Target="slides/slide66.xml"/><Relationship Id="rId92" Type="http://schemas.openxmlformats.org/officeDocument/2006/relationships/slide" Target="slides/slide67.xml"/><Relationship Id="rId93" Type="http://schemas.openxmlformats.org/officeDocument/2006/relationships/slide" Target="slides/slide68.xml"/><Relationship Id="rId94" Type="http://schemas.openxmlformats.org/officeDocument/2006/relationships/slide" Target="slides/slide69.xml"/><Relationship Id="rId95" Type="http://schemas.openxmlformats.org/officeDocument/2006/relationships/slide" Target="slides/slide70.xml"/><Relationship Id="rId96" Type="http://schemas.openxmlformats.org/officeDocument/2006/relationships/slide" Target="slides/slide71.xml"/><Relationship Id="rId97" Type="http://schemas.openxmlformats.org/officeDocument/2006/relationships/slide" Target="slides/slide72.xml"/><Relationship Id="rId98" Type="http://schemas.openxmlformats.org/officeDocument/2006/relationships/slide" Target="slides/slide73.xml"/><Relationship Id="rId99" Type="http://schemas.openxmlformats.org/officeDocument/2006/relationships/slide" Target="slides/slide74.xml"/><Relationship Id="rId100" Type="http://schemas.openxmlformats.org/officeDocument/2006/relationships/slide" Target="slides/slide75.xml"/><Relationship Id="rId101" Type="http://schemas.openxmlformats.org/officeDocument/2006/relationships/slide" Target="slides/slide76.xml"/><Relationship Id="rId102" Type="http://schemas.openxmlformats.org/officeDocument/2006/relationships/slide" Target="slides/slide77.xml"/><Relationship Id="rId103" Type="http://schemas.openxmlformats.org/officeDocument/2006/relationships/slide" Target="slides/slide78.xml"/><Relationship Id="rId104" Type="http://schemas.openxmlformats.org/officeDocument/2006/relationships/slide" Target="slides/slide7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Mister President. Good morning, Professors. Thank you for the opportunity to present my work today.</a:t>
            </a:r>
          </a:p>
          <a:p/>
          <a:p>
            <a:r>
              <a:t>My name is Mouad Louhichi, and the thesis I am defending, supervised by Professor Mohamed Lazaar, is entitled Cooperative Game Theory for Explainable AI in Recommendation Systems, A Shapley Framework for Actionable Insight.</a:t>
            </a:r>
          </a:p>
          <a:p/>
          <a:p>
            <a:r>
              <a:t>The idea to keep in mind: Shapley attribution is not only a post-hoc explanation method. In this thesis it becomes a unified framework that explains black-box models, stays consistent across levels of detail, and guides how recommendation systems learn.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how I have organized the next thirty-six minutes.</a:t>
            </a:r>
          </a:p>
          <a:p/>
          <a:p>
            <a:r>
              <a:t>I will start with the motivation behind this research and introduce the concept of actionable insight, which is the central idea of this thesis.</a:t>
            </a:r>
          </a:p>
          <a:p/>
          <a:p>
            <a:r>
              <a:t>Then, I will present the research context, the limitations of existing approaches, and the research questions that motivated this work.</a:t>
            </a:r>
          </a:p>
          <a:p/>
          <a:p>
            <a:r>
              <a:t>After that, I will describe the common experimental protocol before presenting the three contributions.</a:t>
            </a:r>
          </a:p>
          <a:p/>
          <a:p>
            <a:r>
              <a:t>Each contribution follows the same structure: the research gap, the objectives, the methodology, the evaluation protocol, the results, and the main findings.</a:t>
            </a:r>
          </a:p>
          <a:p/>
          <a:p>
            <a:r>
              <a:t>Finally, I will conclude with the main outcomes of the thesis and the future perspectives.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start with the introduction, and more specifically with the motivation behind this research.</a:t>
            </a:r>
          </a:p>
          <a:p/>
          <a:p>
            <a:r>
              <a:t>The first question I would like to address is: why has explainability become a core requirement for modern recommendation systems?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black-box AI systems shape what billions of users see, buy and watch every day? Recommenders now shape news, study, health and credit decisions, a market above 15 billion dollars by 2029.</a:t>
            </a:r>
          </a:p>
          <a:p/>
          <a:p>
            <a:r>
              <a:t>Why do state-of-the-art recommenders and clustering pipelines stay black boxes? Deep and graph models hide their logic and are hard to audit, and under the EU AI Act, high-risk systems must explain themselves.</a:t>
            </a:r>
          </a:p>
          <a:p/>
          <a:p>
            <a:r>
              <a:t>And how can transparency be built into the model instead of being added afterwards, so the insight is accountable, auditable and actionable, not just accurate?</a:t>
            </a:r>
          </a:p>
          <a:p/>
          <a:p>
            <a:r>
              <a:t>The core tension on this slide is that as models gain power, they lose the transparency needed for trustworthy use.</a:t>
            </a:r>
          </a:p>
          <a:p/>
          <a:p>
            <a:r>
              <a:t>This thesis treats accuracy and interpretability as goals to be met together, not traded against each other.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brings me to the definition the whole thesis turns on.</a:t>
            </a:r>
          </a:p>
          <a:p/>
          <a:p>
            <a:r>
              <a:t>An explanation is actionable when it points to something we can actually change, and when changing it clearly affects the model output.</a:t>
            </a:r>
          </a:p>
          <a:p/>
          <a:p>
            <a:r>
              <a:t>It should also speak the language of the domain, like acidity in wine, pollution indicators in air quality, or user preferences in recommendation.</a:t>
            </a:r>
          </a:p>
          <a:p/>
          <a:p>
            <a:r>
              <a:t>So a good explanation does not only describe what happened. It tells us what to change to improve the outcome.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me put this in context by looking at the evolution of recommendation systems.</a:t>
            </a:r>
          </a:p>
          <a:p/>
          <a:p>
            <a:r>
              <a:t>Early similarity-based approaches were easier to explain because they relied on visible features.</a:t>
            </a:r>
          </a:p>
          <a:p/>
          <a:p>
            <a:r>
              <a:t>Then matrix factorization improved accuracy and scalability, but introduced latent factors whose meanings were hidden.</a:t>
            </a:r>
          </a:p>
          <a:p/>
          <a:p>
            <a:r>
              <a:t>Later, neural and graph-based approaches increased modelling power through hidden representations and message passing.</a:t>
            </a:r>
          </a:p>
          <a:p/>
          <a:p>
            <a:r>
              <a:t>Finally, hypergraph models introduced richer relationships between users, items and contexts.</a:t>
            </a:r>
          </a:p>
          <a:p/>
          <a:p>
            <a:r>
              <a:t>At each step we gained predictive power while losing transparency. This growing gap is exactly what this thesis addresses.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systems are not only theoretical models. They are already part of everyday applications.</a:t>
            </a:r>
          </a:p>
          <a:p/>
          <a:p>
            <a:r>
              <a:t>Netflix, Spotify, Amazon and Yelp use recommendation to personalize the experience of millions of users.</a:t>
            </a:r>
          </a:p>
          <a:p/>
          <a:p>
            <a:r>
              <a:t>The performance is impressive, but the reasoning behind each suggestion stays hidden from the user.</a:t>
            </a:r>
          </a:p>
          <a:p/>
          <a:p>
            <a:r>
              <a:t>Everywhere, and hidden: that is exactly the gap this thesis targets.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will move from the motivation to the research problem itself.</a:t>
            </a:r>
          </a:p>
          <a:p/>
          <a:p>
            <a:r>
              <a:t>To understand where the difficulty comes from, I will briefly review the main recommendation approaches and explain their respective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this evolution, several limitations of current recommendation systems appear.</a:t>
            </a:r>
          </a:p>
          <a:p/>
          <a:p>
            <a:r>
              <a:t>First, data sparsity: the interaction matrix is almost empty in many real-world scenarios. Second, cold-start, when new users or items lack history. Third, popularity bias, where popular items take exposure from relevant but less popular ones.</a:t>
            </a:r>
          </a:p>
          <a:p/>
          <a:p>
            <a:r>
              <a:t>And above all, the absence of interpretability. For clustering it is even harder, because existing approaches rarely give local and global explanations in a consistent way.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research questions follow, mapped on the slide to the contributions.</a:t>
            </a:r>
          </a:p>
          <a:p/>
          <a:p>
            <a:r>
              <a:t>RQ1 asks whether Shapley values can explain black-box clustering faithfully at instance and cluster level. RQ2 extends this to large-scale, multi-level clustering while staying feasible and consistent. RQ3 asks whether cooperative attribution can move beyond post-hoc and become part of how a recommender learns, and RQ4 whether ranking, context and diversity improve together. RQ5 asks what one cooperative-game view brings to both explanation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research questions lead to three contributions, as the slide maps them.</a:t>
            </a:r>
          </a:p>
          <a:p/>
          <a:p>
            <a:r>
              <a:t>The first introduces a Shapley-based framework for explaining black-box clustering, evaluated on Wine Quality. The second extends it to large-scale multi-level clustering on Beijing Air Quality, with a formal consistency argument. The third, DyHuCoG, integrates cooperative attribution directly into hypergraph recommendation learning.</a:t>
            </a:r>
          </a:p>
          <a:p/>
          <a:p>
            <a:r>
              <a:t>Together they follow one progression: from explanation, to scalability, to action.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research questions lead to three main contributions.</a:t>
            </a:r>
          </a:p>
          <a:p/>
          <a:p>
            <a:r>
              <a:t>The first contribution introduces a Shapley-based framework for explaining black-box clustering. It is evaluated on the Wine Quality dataset and focuses on faithful feature attribution.</a:t>
            </a:r>
          </a:p>
          <a:p/>
          <a:p>
            <a:r>
              <a:t>The second contribution extends this idea to large-scale multi-level clustering using Beijing Air Quality data, with a formal approach to maintain consistency across levels.</a:t>
            </a:r>
          </a:p>
          <a:p/>
          <a:p>
            <a:r>
              <a:t>The third contribution, called DyHuCoG, moves beyond explanation and integrates cooperative attribution directly into hypergraph recommendation learning.</a:t>
            </a:r>
          </a:p>
          <a:p/>
          <a:p>
            <a:r>
              <a:t>Together, these three contributions follow a common progression: from explanation, to scalability, and finally to action.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presenting the contributions, I will first describe the common experimental protocol used throughout the thesis.</a:t>
            </a:r>
          </a:p>
          <a:p/>
          <a:p>
            <a:r>
              <a:t>The objective is to make the evaluation consistent and reproducible across all experiments.</a:t>
            </a:r>
          </a:p>
          <a:p/>
          <a:p>
            <a:r>
              <a:t>I will present the datasets, the baselines, the evaluation metrics, and the computational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Reproducibility and the prevention of data leakage are central to the design, as the slide summarises.</a:t>
            </a:r>
          </a:p>
          <a:p/>
          <a:p>
            <a:r>
              <a:t>For clustering, five-fold cross-validation checks the surrogate and attribution stability, features are standardised, k is chosen by elbow, Silhouette and Davies-Bouldin, and the surrogate must pass a fidelity floor of macro-F1 around 0.82.</a:t>
            </a:r>
          </a:p>
          <a:p/>
          <a:p>
            <a:r>
              <a:t>For recommendation, the split is user-level and time-ordered, 70 train, 10 validation and 20 test, with a leave-one-out target, ratings above 3 as positive, and seeds 42 to 46 with early stopping.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baselines cover four families, so the effect of cooperative attribution is not confused with a lucky model choice.</a:t>
            </a:r>
          </a:p>
          <a:p/>
          <a:p>
            <a:r>
              <a:t>For clustering explanation, the comparison is the LIME surrogate pipeline. For recommendation, the slide lists MF, NCF, LightGCN, RecDCL, HCCF and HPCF, and HPCF is the strongest reference.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the computational environment: clustering experiments ran on a standard workstation, while DyHuCoG training used an RTX 4090 GPU.</a:t>
            </a:r>
          </a:p>
          <a:p/>
          <a:p>
            <a:r>
              <a:t>These configurations let us evaluate performance and scalability in realistic conditions.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this experimental framework established, I can now move to the first contribution of this thesis.</a:t>
            </a:r>
          </a:p>
          <a:p/>
          <a:p>
            <a:r>
              <a:t>The objective here is to answer the following question: can we explain the decisions of a black-box clustering model using a principled attribution method?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difficulty comes from the nature of clustering itself.</a:t>
            </a:r>
          </a:p>
          <a:p/>
          <a:p>
            <a:r>
              <a:t>Unlike supervised learning, clustering has no predefined target variable. The model discovers groups directly from the data, which makes the reason behind each cluster harder to understand.</a:t>
            </a:r>
          </a:p>
          <a:p/>
          <a:p>
            <a:r>
              <a:t>Existing explanation approaches focus either on individual instances or on global cluster descriptions, but rarely provide both levels at once.</a:t>
            </a:r>
          </a:p>
          <a:p/>
          <a:p>
            <a:r>
              <a:t>Therefore, the first contribution investigates how Shapley attribution can provide a faithful explanation framework for black-box clustering.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main objectives.</a:t>
            </a:r>
          </a:p>
          <a:p/>
          <a:p>
            <a:r>
              <a:t>The first objective is to provide explanations at both cluster level and individual sample level.</a:t>
            </a:r>
          </a:p>
          <a:p/>
          <a:p>
            <a:r>
              <a:t>The second objective is to keep the explanations in the original feature space, because explanations are only useful when domain experts can understand them.</a:t>
            </a:r>
          </a:p>
          <a:p/>
          <a:p>
            <a:r>
              <a:t>The third objective is to rely on a theoretically grounded attribution method based on cooperative game theory.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a surrogate? As the slide says, direct TreeSHAP on K-Means is impossible, because TreeSHAP explains tree models, not centroids, and explaining the PCA representation would move attribution away from the interpretable variables.</a:t>
            </a:r>
          </a:p>
          <a:p/>
          <a:p>
            <a:r>
              <a:t>So the surrogate keeps the domain terms that make the analysis actionable, with a fidelity floor of macro-F1 about 0.82.</a:t>
            </a:r>
          </a:p>
          <a:p/>
          <a:p>
            <a:r>
              <a:t>The pipeline on the slide has four steps. K-Means produces the cluster labels. A LightGBM multiclass surrogate learns to predict them from the original features. TreeSHAP then gives fast, exact attribution in that same feature space, and the outputs are global importance, cluster profiles and local force plots.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important choice concerns the number of clusters, and the slide shows the trade-off.</a:t>
            </a:r>
          </a:p>
          <a:p/>
          <a:p>
            <a:r>
              <a:t>Geometrically, k = 2 wins, with Silhouette 0.214 and Davies-Bouldin 1.775, against 0.144 and 2.097 for k = 3.</a:t>
            </a:r>
          </a:p>
          <a:p/>
          <a:p>
            <a:r>
              <a:t>But k = 3 is selected because three clusters give a richer, more meaningful wine partition, so more actionable explanations. Interpretability outranks geometry. And the 0.63 Silhouette you will see later belongs to Beijing, not to this partition.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show that several variables play a major role in explaining the wine clusters.</a:t>
            </a:r>
          </a:p>
          <a:p/>
          <a:p>
            <a:r>
              <a:t>The most important factors include density, pH, fixed acidity, sulfur dioxide variables, and alcohol content, all real physicochemical properties of wine.</a:t>
            </a:r>
          </a:p>
          <a:p/>
          <a:p>
            <a:r>
              <a:t>And the explanation is not limited to a global ranking: different clusters are characterized by different combinations of important variables.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first research question.</a:t>
            </a:r>
          </a:p>
          <a:p/>
          <a:p>
            <a:r>
              <a:t>Shapley values can explain black-box clustering when the surrogate model provides sufficient fidelity.</a:t>
            </a:r>
          </a:p>
          <a:p/>
          <a:p>
            <a:r>
              <a:t>They provide both global and local explanations while keeping the attribution connected to the original features.</a:t>
            </a:r>
          </a:p>
          <a:p/>
          <a:p>
            <a:r>
              <a:t>Compared with approaches such as LIME, the main advantage is that Shapley values are based on a formal cooperative-game foundation with desirable properties such as fairness and consistency.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 the main achievement is the introduction of a Shapley-based framework for explaining black-box clustering.</a:t>
            </a:r>
          </a:p>
          <a:p/>
          <a:p>
            <a:r>
              <a:t>The approach provides explanations at different levels while maintaining the meaning of the original variables.</a:t>
            </a:r>
          </a:p>
          <a:p/>
          <a:p>
            <a:r>
              <a:t>Therefore, the explanations are not only mathematically grounded, but also understandable from a domain perspective.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first contribution also presents some limitations.</a:t>
            </a:r>
          </a:p>
          <a:p/>
          <a:p>
            <a:r>
              <a:t>First, the quality of the explanation depends on the fidelity of the surrogate model.</a:t>
            </a:r>
          </a:p>
          <a:p/>
          <a:p>
            <a:r>
              <a:t>Second, the evaluation is performed on tabular data, so the generalization to other data types remains open.</a:t>
            </a:r>
          </a:p>
          <a:p/>
          <a:p>
            <a:r>
              <a:t>Finally, the explanation remains single-level. It explains one clustering structure, but does not explain how feature importance changes across different levels of organization.</a:t>
            </a:r>
          </a:p>
          <a:p/>
          <a:p>
            <a:r>
              <a:t>This limitation motivates the second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takeaway from Contribution I is that Shapley attribution provides a principled way to understand an unsupervised model.</a:t>
            </a:r>
          </a:p>
          <a:p/>
          <a:p>
            <a:r>
              <a:t>However, real-world datasets are often much larger and may contain hierarchical structures.</a:t>
            </a:r>
          </a:p>
          <a:p/>
          <a:p>
            <a:r>
              <a:t>Therefore, the next question is whether the same explanation principle can remain meaningful when moving from one level of analysis to several levels.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second contribution of the thesis.</a:t>
            </a:r>
          </a:p>
          <a:p/>
          <a:p>
            <a:r>
              <a:t>The objective is to extend Shapley-based explanation from single-level clustering to large-scale and multi-level clustering.</a:t>
            </a:r>
          </a:p>
          <a:p/>
          <a:p>
            <a:r>
              <a:t>This contribution addresses the second research question.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challenge in this case is not only scale, but also consistency across levels.</a:t>
            </a:r>
          </a:p>
          <a:p/>
          <a:p>
            <a:r>
              <a:t>When a large cluster is divided into smaller sub-clusters, the explanation should help us understand both the global structure and the specific characteristics of each sub-group.</a:t>
            </a:r>
          </a:p>
          <a:p/>
          <a:p>
            <a:r>
              <a:t>However, existing approaches do not provide a formal relationship between the explanation of a parent cluster and the explanations of its children.</a:t>
            </a:r>
          </a:p>
          <a:p/>
          <a:p>
            <a:r>
              <a:t>This is the main research gap addressed in this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objectives.</a:t>
            </a:r>
          </a:p>
          <a:p/>
          <a:p>
            <a:r>
              <a:t>First, to design a multi-level explanation framework where each level has its own surrogate model.</a:t>
            </a:r>
          </a:p>
          <a:p/>
          <a:p>
            <a:r>
              <a:t>Second, to establish a formal relationship between explanations at different levels of the hierarchy.</a:t>
            </a:r>
          </a:p>
          <a:p/>
          <a:p>
            <a:r>
              <a:t>Third, to evaluate whether this framework remains practical and meaningful on a large environmental dataset.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approach follows a recursive strategy.</a:t>
            </a:r>
          </a:p>
          <a:p/>
          <a:p>
            <a:r>
              <a:t>First, the complete dataset is partitioned into coarse clusters.</a:t>
            </a:r>
          </a:p>
          <a:p/>
          <a:p>
            <a:r>
              <a:t>Then, each cluster can be further divided into smaller sub-clusters.</a:t>
            </a:r>
          </a:p>
          <a:p/>
          <a:p>
            <a:r>
              <a:t>At every level, a surrogate model is trained and SHAP values are computed using the same original feature space.</a:t>
            </a:r>
          </a:p>
          <a:p/>
          <a:p>
            <a:r>
              <a:t>This allows the importance of variables to be compared across different levels while preserving interpretability.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theoretical contribution of this work is Proposition 6.1.</a:t>
            </a:r>
          </a:p>
          <a:p/>
          <a:p>
            <a:r>
              <a:t>This proposition establishes a relationship between the explanation of a parent cluster and the explanations of its child clusters.</a:t>
            </a:r>
          </a:p>
          <a:p/>
          <a:p>
            <a:r>
              <a:t>The parent attribution can be expressed as a size-weighted combination of child attributions, plus a residual term.</a:t>
            </a:r>
          </a:p>
          <a:p/>
          <a:p>
            <a:r>
              <a:t>This residual mainly reflects the difference introduced by surrogate approximation.</a:t>
            </a:r>
          </a:p>
          <a:p/>
          <a:p>
            <a:r>
              <a:t>Therefore, changes in importance across levels are not considered inconsistencies, but rather structured variations that can be interpreted.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clustering results show that the obtained structure is meaningful, with a Silhouette score of about 0.63 and a Davies-Bouldin score around 0.55.</a:t>
            </a:r>
          </a:p>
          <a:p/>
          <a:p>
            <a:r>
              <a:t>And the stability analysis shows the conclusions remain consistent under changes in the number of clusters, projection dimension, and surrogate complexity.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explanation gives an interesting environmental interpretation.</a:t>
            </a:r>
          </a:p>
          <a:p/>
          <a:p>
            <a:r>
              <a:t>The most important variables are temperature, dew point, and pressure, followed by pollutants such as carbon monoxide, nitrogen dioxide, and particulate matter.</a:t>
            </a:r>
          </a:p>
          <a:p/>
          <a:p>
            <a:r>
              <a:t>Pollution patterns are not determined by pollutant concentrations alone. Weather conditions influence how pollutants accumulate, disperse, and interact.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moving from the global level to individual clusters, the explanation changes.</a:t>
            </a:r>
          </a:p>
          <a:p/>
          <a:p>
            <a:r>
              <a:t>At the global level, variables such as temperature and dew point explain the main environmental regimes.</a:t>
            </a:r>
          </a:p>
          <a:p/>
          <a:p>
            <a:r>
              <a:t>However, inside each regime, different variables become important.</a:t>
            </a:r>
          </a:p>
          <a:p/>
          <a:p>
            <a:r>
              <a:t>For example, one cluster may be characterized by warmer conditions and ozone-related behaviour, while another may correspond to winter pollution involving particulate matter and other pollutants.</a:t>
            </a:r>
          </a:p>
          <a:p/>
          <a:p>
            <a:r>
              <a:t>These differences are not contradictions. They provide a more detailed understanding of the data structure.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second research question.</a:t>
            </a:r>
          </a:p>
          <a:p/>
          <a:p>
            <a:r>
              <a:t>Shapley explanations can be extended to large-scale and multi-level clustering when the hierarchy is explicitly defined and the approximation process is transparent.</a:t>
            </a:r>
          </a:p>
          <a:p/>
          <a:p>
            <a:r>
              <a:t>The main remaining limitation is that attribution is still performed after the model has been created.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 the main achievement is extending explainability from a single clustering level to a hierarchical and large-scale scenario.</a:t>
            </a:r>
          </a:p>
          <a:p/>
          <a:p>
            <a:r>
              <a:t>The explanation remains connected to the original variables while providing insight at different levels of detail.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some limitations remain.</a:t>
            </a:r>
          </a:p>
          <a:p/>
          <a:p>
            <a:r>
              <a:t>The clustering process is still static, even though the air-quality data have a temporal dimension.</a:t>
            </a:r>
          </a:p>
          <a:p/>
          <a:p>
            <a:r>
              <a:t>The explanations continue to depend on surrogate models and approximation techniques.</a:t>
            </a:r>
          </a:p>
          <a:p/>
          <a:p>
            <a:r>
              <a:t>Most importantly, attribution is still post-hoc: it explains what the model has already learned, but it does not participate in the learning process itself.</a:t>
            </a:r>
          </a:p>
          <a:p/>
          <a:p>
            <a:r>
              <a:t>This observation leads naturally to the third contribution, where explanation becomes part of model optimization.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Contribution II therefore delivers explanations that scale and stay consistent across levels, but the pipeline is still static. Preferences change over time, and nothing here adapts to that. That open point is exactly what Contribution III takes 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third contribution of this thesis: DyHuCoG, which stands for Dynamic Hypergraph Cooperative Game.</a:t>
            </a:r>
          </a:p>
          <a:p/>
          <a:p>
            <a:r>
              <a:t>This contribution represents the main transition of the thesis.</a:t>
            </a:r>
          </a:p>
          <a:p/>
          <a:p>
            <a:r>
              <a:t>In the first two contributions, Shapley values were used to explain models after they were trained.</a:t>
            </a:r>
          </a:p>
          <a:p/>
          <a:p>
            <a:r>
              <a:t>Here, the objective is different: can attribution become part of the learning process itself?</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limitation of existing hypergraph recommendation models is that they usually treat the different relationships in the graph structure in a similar way.</a:t>
            </a:r>
          </a:p>
          <a:p/>
          <a:p>
            <a:r>
              <a:t>However, in real recommendation scenarios, not every interaction contributes equally to the final prediction.</a:t>
            </a:r>
          </a:p>
          <a:p/>
          <a:p>
            <a:r>
              <a:t>Some user-item-context relationships are more informative than others.</a:t>
            </a:r>
          </a:p>
          <a:p/>
          <a:p>
            <a:r>
              <a:t>The idea behind DyHuCoG is therefore to use cooperative attribution during training, so that the model can learn which relationships provide the most valuable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addresses two research questions, shown on the slide: can cooperative attribution become part of how a recommender learns, and can it improve ranking, context and diversity together?</a:t>
            </a:r>
          </a:p>
          <a:p/>
          <a:p>
            <a:r>
              <a:t>The slide lists three objectives. First, model recommendation as a cooperative game over users, items and contexts. Second, put preference-aware Monte Carlo Shapley inside message passing as dynamic hyperedge weights. Third, optimise ranking accuracy, diversity and contextual relevance together.</a:t>
            </a:r>
          </a:p>
          <a:p/>
          <a:p>
            <a:r>
              <a:t>The first objective is to model recommendation as a cooperative game involving users, items, and contextual information.</a:t>
            </a:r>
          </a:p>
          <a:p/>
          <a:p>
            <a:r>
              <a:t>The second objective is to introduce a preference-aware Monte Carlo Shapley estimation mechanism inside hypergraph message passing.</a:t>
            </a:r>
          </a:p>
          <a:p/>
          <a:p>
            <a:r>
              <a:t>The third objective is to optimize several objectives together: ranking accuracy, diversity, and contextual relevance.</a:t>
            </a:r>
          </a:p>
          <a:p/>
          <a:p>
            <a:r>
              <a:t>The main idea is that the same mechanism used to explain importance can also guide the learning process.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formulate this idea, recommendation is represented as a cooperative game.</a:t>
            </a:r>
          </a:p>
          <a:p/>
          <a:p>
            <a:r>
              <a:t>The players are the different elements involved in the recommendation process: users, items, and contextual information.</a:t>
            </a:r>
          </a:p>
          <a:p/>
          <a:p>
            <a:r>
              <a:t>Their interactions are represented through hyperedges, which allow modelling higher-order relationships.</a:t>
            </a:r>
          </a:p>
          <a:p/>
          <a:p>
            <a:r>
              <a:t>The contribution of each element is estimated through Shapley values.</a:t>
            </a:r>
          </a:p>
          <a:p/>
          <a:p>
            <a:r>
              <a:t>Therefore, instead of learning only from the existence of a relationship, the model also considers the contribution of this relationship to the final objective.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challenge is that exact Shapley computation is impossible for large recommendation systems, because the number of coalitions grows exponentially with the number of players.</a:t>
            </a:r>
          </a:p>
          <a:p/>
          <a:p>
            <a:r>
              <a:t>Therefore, DyHuCoG uses Monte Carlo approximation: we sample a limited number of permutations and estimate the average marginal contribution.</a:t>
            </a:r>
          </a:p>
          <a:p/>
          <a:p>
            <a:r>
              <a:t>This preserves the main properties of Shapley attribution, and the table shows M = 50 reaches about 99 percent accuracy.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architecture of DyHuCoG.</a:t>
            </a:r>
          </a:p>
          <a:p/>
          <a:p>
            <a:r>
              <a:t>The model starts from a hypergraph recommendation structure where information is propagated through message passing.</a:t>
            </a:r>
          </a:p>
          <a:p/>
          <a:p>
            <a:r>
              <a:t>The main modification is the introduction of Shapley-based weights inside this propagation process.</a:t>
            </a:r>
          </a:p>
          <a:p/>
          <a:p>
            <a:r>
              <a:t>Important relationships receive stronger influence, while less informative relationships contribute less.</a:t>
            </a:r>
          </a:p>
          <a:p/>
          <a:p>
            <a:r>
              <a:t>An attention mechanism is also introduced to stabilize the learning process.</a:t>
            </a:r>
          </a:p>
          <a:p/>
          <a:p>
            <a:r>
              <a:t>Finally, the objective function combines ranking optimization, diversity, contextual information, and regularization.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evaluation is conducted on Amazon-Book, a much more challenging sparse recommendation scenario.</a:t>
            </a:r>
          </a:p>
          <a:p/>
          <a:p>
            <a:r>
              <a:t>Despite the higher difficulty, DyHuCoG continues to outperform the baselines, and the improvement over HPCF reaches approximately 13.3 percent in NDCG.</a:t>
            </a:r>
          </a:p>
          <a:p/>
          <a:p>
            <a:r>
              <a:t>So cooperative attribution remains useful even when interaction information is limited.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evaluation is conducted on Amazon-Book, which represents a much more challenging sparse recommendation scenario.</a:t>
            </a:r>
          </a:p>
          <a:p/>
          <a:p>
            <a:r>
              <a:t>Despite the higher difficulty, DyHuCoG continues to outperform the baselines.</a:t>
            </a:r>
          </a:p>
          <a:p/>
          <a:p>
            <a:r>
              <a:t>The improvement compared with HPCF reaches approximately 13.3 percent in NDCG.</a:t>
            </a:r>
          </a:p>
          <a:p/>
          <a:p>
            <a:r>
              <a:t>This result is important because it shows that cooperative attribution remains useful even when the available interaction information is limited.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the contribution of each component, an ablation study is performed, removing one component at a time.</a:t>
            </a:r>
          </a:p>
          <a:p/>
          <a:p>
            <a:r>
              <a:t>The results show that each component plays an important role. Removing contextual information produces the largest degradation, and removing Shapley weighting also reduces performance, so cooperative attribution contributes directly to learning.</a:t>
            </a:r>
          </a:p>
          <a:p/>
          <a:p>
            <a:r>
              <a:t>The tables give the drops: context 8.2 and 11.0 percent, hypergraph 6.8 and 8.9, Shapley weighting 4.6 and 6.1.</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course, integrating Shapley estimation into training introduces an additional computational cost.</a:t>
            </a:r>
          </a:p>
          <a:p/>
          <a:p>
            <a:r>
              <a:t>DyHuCoG requires more training time than traditional hypergraph recommenders because attribution is computed during learning, while inference stays practical.</a:t>
            </a:r>
          </a:p>
          <a:p/>
          <a:p>
            <a:r>
              <a:t>Concretely, training takes about 1.78 times HPCF on MovieLens-1M, and inference stays at 1.84 milliseconds per query, suitable for real-time use.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verify that the improvements are not due to random variation, statistical validation is performed with paired tests on per-user results.</a:t>
            </a:r>
          </a:p>
          <a:p/>
          <a:p>
            <a:r>
              <a:t>The tests confirm that the improvements over the baselines are significant, and the effect sizes show that the gain is practically meaningful.</a:t>
            </a:r>
          </a:p>
          <a:p/>
          <a:p>
            <a:r>
              <a:t>The slide gives the figures: t = 46.38, a Cohen's d of 1.33, significant after Holm-Bonferroni correction.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results allow us to answer the third and fourth research questions.</a:t>
            </a:r>
          </a:p>
          <a:p/>
          <a:p>
            <a:r>
              <a:t>For the third question, the answer is yes: Shapley attribution can move beyond post-hoc explanation and become part of the learning process.</a:t>
            </a:r>
          </a:p>
          <a:p/>
          <a:p>
            <a:r>
              <a:t>For the fourth question, the answer is also yes: DyHuCoG improves recommendation quality while maintaining diversity and contextual relevance.</a:t>
            </a:r>
          </a:p>
          <a:p/>
          <a:p>
            <a:r>
              <a:t>Therefore, attribution becomes not only an explanation mechanism, but also a learning mechanism.</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III, DyHuCoG transforms the role of explanation.</a:t>
            </a:r>
          </a:p>
          <a:p/>
          <a:p>
            <a:r>
              <a:t>Instead of generating explanations after training, the model uses attribution information while learning.</a:t>
            </a:r>
          </a:p>
          <a:p/>
          <a:p>
            <a:r>
              <a:t>This creates a direct connection between what the model optimizes and what the explanation reveals.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contribution also has limitations.</a:t>
            </a:r>
          </a:p>
          <a:p/>
          <a:p>
            <a:r>
              <a:t>First, the integration of Shapley estimation increases computational cost.</a:t>
            </a:r>
          </a:p>
          <a:p/>
          <a:p>
            <a:r>
              <a:t>Second, the effectiveness of the approach depends on the availability of meaningful contextual information.</a:t>
            </a:r>
          </a:p>
          <a:p/>
          <a:p>
            <a:r>
              <a:t>Third, Monte Carlo estimation can still be improved through more advanced sampling strategies.</a:t>
            </a:r>
          </a:p>
          <a:p/>
          <a:p>
            <a:r>
              <a:t>Finally, the current evaluation is offline, and a future direction is to evaluate how users perceive and benefit from these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message of DyHuCoG is that attribution can become a first-class component of artificial intelligence models.</a:t>
            </a:r>
          </a:p>
          <a:p/>
          <a:p>
            <a:r>
              <a:t>Explanation is no longer only an observation after the model is built.</a:t>
            </a:r>
          </a:p>
          <a:p/>
          <a:p>
            <a:r>
              <a:t>It becomes part of the methodology used to train the model itself.</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contributions follow a common progression: explain, scale, and guide.</a:t>
            </a:r>
          </a:p>
          <a:p/>
          <a:p>
            <a:r>
              <a:t>The first explains black-box clustering with Shapley attribution and meaningful domain variables. The second keeps the explanation consistent across levels at scale. The third uses attribution to guide what the recommender learns.</a:t>
            </a:r>
          </a:p>
          <a:p/>
          <a:p>
            <a:r>
              <a:t>One cooperative-game definition, three value functions: the same Shapley logic runs through all of them.</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contributions follow a common progression: explain, scale, and guide.</a:t>
            </a:r>
          </a:p>
          <a:p/>
          <a:p>
            <a:r>
              <a:t>The first contribution explains black-box clustering using Shapley attribution and meaningful domain variables.</a:t>
            </a:r>
          </a:p>
          <a:p/>
          <a:p>
            <a:r>
              <a:t>The second contribution extends this idea to large-scale and multi-level structures while maintaining consistency between explanations.</a:t>
            </a:r>
          </a:p>
          <a:p/>
          <a:p>
            <a:r>
              <a:t>The third contribution moves beyond explanation and uses attribution to guide the learning process of recommendation systems.</a:t>
            </a:r>
          </a:p>
          <a:p/>
          <a:p>
            <a:r>
              <a:t>Together, these contributions show how cooperative game theory can provide a unified perspective for explainable AI.</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research has resulted in three journal publications as first author.</a:t>
            </a:r>
          </a:p>
          <a:p/>
          <a:p>
            <a:r>
              <a:t>These publications correspond to the three main stages of the thesis: explainable clustering, multi-level explainability, and cooperative recommendation learning.</a:t>
            </a:r>
          </a:p>
          <a:p/>
          <a:p>
            <a:r>
              <a:t>They reflect the progressive development of the proposed framework.</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limitations remain open after this work.</a:t>
            </a:r>
          </a:p>
          <a:p/>
          <a:p>
            <a:r>
              <a:t>First, exact Shapley computation remains expensive, requiring approximation methods.</a:t>
            </a:r>
          </a:p>
          <a:p/>
          <a:p>
            <a:r>
              <a:t>Second, surrogate-based explanations depend on the quality of the approximation.</a:t>
            </a:r>
          </a:p>
          <a:p/>
          <a:p>
            <a:r>
              <a:t>Third, the current experiments are mainly offline and based on benchmark datasets.</a:t>
            </a:r>
          </a:p>
          <a:p/>
          <a:p>
            <a:r>
              <a:t>Finally, actionability should be evaluated more directly with human users to measure whether explanations actually improve understanding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cooperative game theory provides a common framework for explainable AI across clustering and recommendation.</a:t>
            </a:r>
          </a:p>
          <a:p/>
          <a:p>
            <a:r>
              <a:t>As the slide sums up, Shapley attribution is a common formal language. It explains black-box clustering with meaningful variables, stays consistent at scale and across levels, and through DyHuCoG becomes part of the learning process itself.</a:t>
            </a:r>
          </a:p>
          <a:p/>
          <a:p>
            <a:r>
              <a:t>Explanation does not have to remain a description of what happened. It can help us understand, control and improve AI systems.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this thesis shows that cooperative game theory provides a common framework for explainable artificial intelligence across clustering and recommendation tasks.</a:t>
            </a:r>
          </a:p>
          <a:p/>
          <a:p>
            <a:r>
              <a:t>The main contributions demonstrate four important points.</a:t>
            </a:r>
          </a:p>
          <a:p/>
          <a:p>
            <a:r>
              <a:t>First, Shapley attribution provides a principled way to measure contribution.</a:t>
            </a:r>
          </a:p>
          <a:p/>
          <a:p>
            <a:r>
              <a:t>Second, it can explain black-box clustering using meaningful variables.</a:t>
            </a:r>
          </a:p>
          <a:p/>
          <a:p>
            <a:r>
              <a:t>Third, it can remain interpretable when moving to large-scale and multi-level structures.</a:t>
            </a:r>
          </a:p>
          <a:p/>
          <a:p>
            <a:r>
              <a:t>Finally, it can become part of the learning process itself through DyHuCoG.</a:t>
            </a:r>
          </a:p>
          <a:p/>
          <a:p>
            <a:r>
              <a:t>The main message is that explanation does not have to remain a description of what happened. It can become a mechanism that helps us understand, control, and improve AI systems.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slides contain the main references used throughout this thesis.</a:t>
            </a:r>
          </a:p>
          <a:p/>
          <a:p>
            <a:r>
              <a:t>I will not discuss them individually, but they represent the scientific foundations supporting the different contributions presented today.</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a:t>
            </a:r>
          </a:p>
          <a:p/>
          <a:p>
            <a:r>
              <a:t>I would be pleased to answer your questions and discuss any aspect of this work, including the methodology, theoretical foundations, or experimental results.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family is content-based filtering.</a:t>
            </a:r>
          </a:p>
          <a:p/>
          <a:p>
            <a:r>
              <a:t>The principle is simple: the system recommends items according to their characteristics and the user's previous preferences.</a:t>
            </a:r>
          </a:p>
          <a:p/>
          <a:p>
            <a:r>
              <a:t>The main advantage of this approach is that it is naturally explainable. The recommendation can be linked to visible features that users and experts can understand.</a:t>
            </a:r>
          </a:p>
          <a:p/>
          <a:p>
            <a:r>
              <a:t>However, this approach requires rich metadata and may suffer from over-specialization because it tends to recommend items similar to what the user already knows.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family is collaborative filtering.</a:t>
            </a:r>
          </a:p>
          <a:p/>
          <a:p>
            <a:r>
              <a:t>Here, the system does not rely on item features, but instead learns from the behaviour and preferences of similar users.</a:t>
            </a:r>
          </a:p>
          <a:p/>
          <a:p>
            <a:r>
              <a:t>This idea has been extremely successful because it can discover hidden patterns from user-item interactions.</a:t>
            </a:r>
          </a:p>
          <a:p/>
          <a:p>
            <a:r>
              <a:t>However, it also introduces important limitations, especially the cold-start problem. New users and new items have limited interaction history, which makes accurate recommendation more difficult.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family combines hybrid approaches and matrix factorization.</a:t>
            </a:r>
          </a:p>
          <a:p/>
          <a:p>
            <a:r>
              <a:t>Hybrid systems combine different sources of information to reduce the limitations of individual methods.</a:t>
            </a:r>
          </a:p>
          <a:p/>
          <a:p>
            <a:r>
              <a:t>Matrix factorization became one of the most successful approaches because it provides accurate and scalable recommendations.</a:t>
            </a:r>
          </a:p>
          <a:p/>
          <a:p>
            <a:r>
              <a:t>However, the learned user and item factors are latent representations. They improve prediction performance, but their meaning is usually unknown.</a:t>
            </a:r>
          </a:p>
          <a:p/>
          <a:p>
            <a:r>
              <a:t>This is where the gap between accuracy and interpretability becomes stronger.</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family, and the one that is most important for this thesis, is graph-based and hypergraph recommendation.</a:t>
            </a:r>
          </a:p>
          <a:p/>
          <a:p>
            <a:r>
              <a:t>These approaches represent users, items and their interactions as nodes and edges in a graph, and they use message passing, as in LightGCN, HCCF and HPCF, so that information reaches multi-hop neighbours.</a:t>
            </a:r>
          </a:p>
          <a:p/>
          <a:p>
            <a:r>
              <a:t>Hypergraphs go one step further: a single hyperedge can connect a user, an item and a context at the same time, which is why they reach state of the art on sparse benchmarks such as MovieLens-1M and Amazon-Book.</a:t>
            </a:r>
          </a:p>
          <a:p/>
          <a:p>
            <a:r>
              <a:t>The price: large graphs cost compute and memory, and every message is treated as equally important, so which relationships mattered stays hidden. That hidden importance is the gap this thesis addresses.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datasets are used in this thesis, covering both clustering and recommendation tasks.</a:t>
            </a:r>
          </a:p>
          <a:p/>
          <a:p>
            <a:r>
              <a:t>For clustering, I use Wine Quality and Beijing Air Quality. The first checks whether explanations stay connected to meaningful physical variables. The second provides a larger and more complex scenario for scalability and multi-level explanations.</a:t>
            </a:r>
          </a:p>
          <a:p/>
          <a:p>
            <a:r>
              <a:t>The first dataset is the Portuguese White Wine Quality dataset.</a:t>
            </a:r>
          </a:p>
          <a:p/>
          <a:p>
            <a:r>
              <a:t>It contains 4,898 samples described by 11 physicochemical measurements, including acidity, density, sulphates, and alcohol.</a:t>
            </a:r>
          </a:p>
          <a:p/>
          <a:p>
            <a:r>
              <a:t>It suits the first contribution because every variable has a clear meaning in the chemistry of wine.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dataset is Beijing Multi-Site Air Quality, with 383,585 hourly records.</a:t>
            </a:r>
          </a:p>
          <a:p/>
          <a:p>
            <a:r>
              <a:t>The slide lists the 11 modelling variables: six pollutants and five weather variables.</a:t>
            </a:r>
          </a:p>
          <a:p/>
          <a:p>
            <a:r>
              <a:t>It provides a much larger and more complex scenario, used to test scalability and multi-level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recommendation experiments, two datasets are considered.</a:t>
            </a:r>
          </a:p>
          <a:p/>
          <a:p>
            <a:r>
              <a:t>The first one is MovieLens-1M, containing approximately one million ratings from more than six thousand users over thousands of movies. It is the standard benchmark of the field.</a:t>
            </a:r>
          </a:p>
          <a:p/>
          <a:p>
            <a:r>
              <a:t>The second one is Amazon-Book, which is much more sparse, with millions of interactions but a very low user-item density.</a:t>
            </a:r>
          </a:p>
          <a:p/>
          <a:p>
            <a:r>
              <a:t>This allows us to evaluate whether the proposed method remains effective when the available signal is limited.</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recommendation experiments, two datasets are considered.</a:t>
            </a:r>
          </a:p>
          <a:p/>
          <a:p>
            <a:r>
              <a:t>The first one is MovieLens-1M, containing approximately one million ratings from more than six thousand users over thousands of movies. It is the standard benchmark of the field.</a:t>
            </a:r>
          </a:p>
          <a:p/>
          <a:p>
            <a:r>
              <a:t>The second one is Amazon-Book, which is much more sparse, with millions of interactions but a very low user-item density.</a:t>
            </a:r>
          </a:p>
          <a:p/>
          <a:p>
            <a:r>
              <a:t>This allows us to evaluate whether the proposed method remains effective when the available signal is limited.</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evaluation metrics are used depending on the task.</a:t>
            </a:r>
          </a:p>
          <a:p/>
          <a:p>
            <a:r>
              <a:t>For recommendation, NDCG@20 is used as the main ranking metric. In addition, coverage and intra-list diversity are evaluated because recommendation quality is not only about accuracy, but also about providing diverse and less biased results.</a:t>
            </a:r>
          </a:p>
          <a:p/>
          <a:p>
            <a:r>
              <a:t>For clustering, metrics such as Silhouette and Davies-Bouldin are used to evaluate the quality of the obtained partitions.</a:t>
            </a:r>
          </a:p>
          <a:p/>
          <a:p>
            <a:r>
              <a:t>These metrics allow us to evaluate both model performance and the quality of the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methodology, the mathematical foundation: cooperative game theory.</a:t>
            </a:r>
          </a:p>
          <a:p/>
          <a:p>
            <a:r>
              <a:t>A cooperative game has players, the coalitions between them, and a value function that measures what each coalition creates on its own. On the slide, the band example: alone, Guitar, Voice and Drums earn 60, 40 and 20, reach 140 as a duo, and 200 as the whole band.</a:t>
            </a:r>
          </a:p>
          <a:p/>
          <a:p>
            <a:r>
              <a:t>The Shapley value shares the total fairly, as the average marginal contribution over every arrival order. As the slide shows, one arrival order adds 40, then 40, then 120, and the average over the six orders is 90, 70, 40. As the orange bar states, it is the only rule satisfying the four axioms at once.</a:t>
            </a:r>
          </a:p>
          <a:p/>
          <a:p>
            <a:r>
              <a:t>In this thesis, the players are the input features, and the value function is the Silhouette of the clustering.</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for this contribution is straightforward. We compare SHAP and LIME on stability and cross-cluster comparability, and we check the global ranking against the known chemistry of the wine.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experimental protocol follows the same general principles as the first contribution.</a:t>
            </a:r>
          </a:p>
          <a:p/>
          <a:p>
            <a:r>
              <a:t>The Beijing Air Quality dataset is first clustered at a global level.</a:t>
            </a:r>
          </a:p>
          <a:p/>
          <a:p>
            <a:r>
              <a:t>Then, each cluster is further divided to create a multi-level structure.</a:t>
            </a:r>
          </a:p>
          <a:p/>
          <a:p>
            <a:r>
              <a:t>At each level, a dedicated surrogate model is trained and SHAP explanations are computed.</a:t>
            </a:r>
          </a:p>
          <a:p/>
          <a:p>
            <a:r>
              <a:t>Finally, the proposed relationship is evaluated through aggregation and sensitivity analysis.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on MovieLens-1M show that DyHuCoG achieves the best performance among the evaluated methods.</a:t>
            </a:r>
          </a:p>
          <a:p/>
          <a:p>
            <a:r>
              <a:t>Compared with the strongest baseline, HPCF, the NDCG score improves from 0.2528 to 0.2775, an improvement of approximately 9.8 percent, and Recall improves as well.</a:t>
            </a:r>
          </a:p>
          <a:p/>
          <a:p>
            <a:r>
              <a:t>Coverage and diversity stay higher too, so the gain does not come from pushing popular items: the variety of the recommendations is preserved.</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slides contain the main references used throughout this thesis.</a:t>
            </a:r>
          </a:p>
          <a:p/>
          <a:p>
            <a:r>
              <a:t>I will not discuss them individually, but they represent the scientific foundations supporting the different contributions presented today.</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a:t>
            </a:r>
          </a:p>
          <a:p/>
          <a:p>
            <a:r>
              <a:t>I would be pleased to answer your questions and discuss any aspect of this work, including the methodology, theoretical foundations, or experimental results.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xml"/><Relationship Id="rId5" Type="http://schemas.openxmlformats.org/officeDocument/2006/relationships/image" Target="../media/image5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7.xml"/><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61.png"/><Relationship Id="rId5" Type="http://schemas.openxmlformats.org/officeDocument/2006/relationships/notesSlide" Target="../notesSlides/notesSlide6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image" Target="../media/image62.png"/><Relationship Id="rId5" Type="http://schemas.openxmlformats.org/officeDocument/2006/relationships/notesSlide" Target="../notesSlides/notesSlide6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image" Target="../media/image63.png"/><Relationship Id="rId5" Type="http://schemas.openxmlformats.org/officeDocument/2006/relationships/notesSlide" Target="../notesSlides/notesSlide6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image" Target="../media/image64.png"/><Relationship Id="rId5" Type="http://schemas.openxmlformats.org/officeDocument/2006/relationships/notesSlide" Target="../notesSlides/notesSlide6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6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6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67.png"/><Relationship Id="rId7" Type="http://schemas.openxmlformats.org/officeDocument/2006/relationships/image" Target="../media/image68.png"/><Relationship Id="rId8" Type="http://schemas.openxmlformats.org/officeDocument/2006/relationships/image" Target="../media/image69.png"/><Relationship Id="rId9" Type="http://schemas.openxmlformats.org/officeDocument/2006/relationships/image" Target="../media/image70.png"/><Relationship Id="rId10" Type="http://schemas.openxmlformats.org/officeDocument/2006/relationships/image" Target="../media/image71.png"/><Relationship Id="rId11" Type="http://schemas.openxmlformats.org/officeDocument/2006/relationships/notesSlide" Target="../notesSlides/notesSlide7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image" Target="../media/image72.png"/><Relationship Id="rId5" Type="http://schemas.openxmlformats.org/officeDocument/2006/relationships/image" Target="../media/image73.png"/><Relationship Id="rId6" Type="http://schemas.openxmlformats.org/officeDocument/2006/relationships/notesSlide" Target="../notesSlides/notesSlide7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2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22.xml"/><Relationship Id="rId5" Type="http://schemas.openxmlformats.org/officeDocument/2006/relationships/image" Target="../media/image74.png"/><Relationship Id="rId6" Type="http://schemas.openxmlformats.org/officeDocument/2006/relationships/image" Target="../media/image7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2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30.xml"/><Relationship Id="rId5" Type="http://schemas.openxmlformats.org/officeDocument/2006/relationships/image" Target="../media/image76.png"/><Relationship Id="rId6" Type="http://schemas.openxmlformats.org/officeDocument/2006/relationships/image" Target="../media/image7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31.xml"/><Relationship Id="rId5" Type="http://schemas.openxmlformats.org/officeDocument/2006/relationships/image" Target="../media/image78.png"/><Relationship Id="rId6" Type="http://schemas.openxmlformats.org/officeDocument/2006/relationships/image" Target="../media/image79.png"/><Relationship Id="rId7" Type="http://schemas.openxmlformats.org/officeDocument/2006/relationships/image" Target="../media/image8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7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3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33.xml"/><Relationship Id="rId5" Type="http://schemas.openxmlformats.org/officeDocument/2006/relationships/image" Target="../media/image8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34.xml"/><Relationship Id="rId5" Type="http://schemas.openxmlformats.org/officeDocument/2006/relationships/image" Target="../media/image8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3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3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3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3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4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4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42.xml"/><Relationship Id="rId5" Type="http://schemas.openxmlformats.org/officeDocument/2006/relationships/image" Target="../media/image83.png"/><Relationship Id="rId6" Type="http://schemas.openxmlformats.org/officeDocument/2006/relationships/image" Target="../media/image84.png"/><Relationship Id="rId7" Type="http://schemas.openxmlformats.org/officeDocument/2006/relationships/image" Target="../media/image85.png"/><Relationship Id="rId8" Type="http://schemas.openxmlformats.org/officeDocument/2006/relationships/image" Target="../media/image8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43.xml"/><Relationship Id="rId5" Type="http://schemas.openxmlformats.org/officeDocument/2006/relationships/image" Target="../media/image87.png"/><Relationship Id="rId6" Type="http://schemas.openxmlformats.org/officeDocument/2006/relationships/image" Target="../media/image8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44.xml"/><Relationship Id="rId5" Type="http://schemas.openxmlformats.org/officeDocument/2006/relationships/image" Target="../media/image89.png"/><Relationship Id="rId6" Type="http://schemas.openxmlformats.org/officeDocument/2006/relationships/image" Target="../media/image90.png"/><Relationship Id="rId7" Type="http://schemas.openxmlformats.org/officeDocument/2006/relationships/image" Target="../media/image91.png"/><Relationship Id="rId8" Type="http://schemas.openxmlformats.org/officeDocument/2006/relationships/image" Target="../media/image9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4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4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4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4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49.xml"/><Relationship Id="rId5" Type="http://schemas.openxmlformats.org/officeDocument/2006/relationships/image" Target="../media/image93.png"/><Relationship Id="rId6" Type="http://schemas.openxmlformats.org/officeDocument/2006/relationships/image" Target="../media/image94.png"/><Relationship Id="rId7" Type="http://schemas.openxmlformats.org/officeDocument/2006/relationships/image" Target="../media/image9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5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5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5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5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5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5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5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5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7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5.jpg"/><Relationship Id="rId4" Type="http://schemas.openxmlformats.org/officeDocument/2006/relationships/image" Target="../media/image26.png"/><Relationship Id="rId5" Type="http://schemas.openxmlformats.org/officeDocument/2006/relationships/image" Target="../media/image33.png"/><Relationship Id="rId6" Type="http://schemas.openxmlformats.org/officeDocument/2006/relationships/notesSlide" Target="../notesSlides/notesSlide6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7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PHD THESIS DEFENCE  ·  COMPUTER SCIENCE</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2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55219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40360">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560"/>
                        </a:lnSpc>
                        <a:spcBef>
                          <a:spcPts val="0"/>
                        </a:spcBef>
                        <a:buNone/>
                      </a:pPr>
                      <a:r>
                        <a:rPr lang="en-US" sz="12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51407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02</a:t>
            </a:r>
          </a:p>
        </p:txBody>
      </p:sp>
      <p:sp>
        <p:nvSpPr>
          <p:cNvPr id="7" name="TextBox 6"/>
          <p:cNvSpPr txBox="1"/>
          <p:nvPr/>
        </p:nvSpPr>
        <p:spPr>
          <a:xfrm>
            <a:off x="1028700" y="1737360"/>
            <a:ext cx="16230600" cy="1463040"/>
          </a:xfrm>
          <a:prstGeom prst="rect">
            <a:avLst/>
          </a:prstGeom>
          <a:noFill/>
        </p:spPr>
        <p:txBody>
          <a:bodyPr anchor="t" rtlCol="false" lIns="0" tIns="0" rIns="0" bIns="0" wrap="square"/>
          <a:lstStyle/>
          <a:p>
            <a:pPr algn="ctr">
              <a:lnSpc>
                <a:spcPts val="9600"/>
              </a:lnSpc>
              <a:spcBef>
                <a:spcPts val="0"/>
              </a:spcBef>
              <a:buNone/>
            </a:pPr>
            <a:r>
              <a:rPr lang="en-US" sz="9200" b="true" spc="-500">
                <a:solidFill>
                  <a:srgbClr val="111111"/>
                </a:solidFill>
                <a:latin typeface="Roca Two Bold"/>
                <a:ea typeface="Roca Two Bold"/>
                <a:cs typeface="Roca Two Bold"/>
                <a:sym typeface="Roca Two Bold"/>
              </a:rPr>
              <a:t>Outline</a:t>
            </a:r>
          </a:p>
        </p:txBody>
      </p:sp>
      <p:pic>
        <p:nvPicPr>
          <p:cNvPr id="8" name="Picture 7" descr="image.png"/>
          <p:cNvPicPr>
            <a:picLocks noChangeAspect="1"/>
          </p:cNvPicPr>
          <p:nvPr/>
        </p:nvPicPr>
        <p:blipFill>
          <a:blip r:embed="rId3"/>
          <a:stretch>
            <a:fillRect/>
          </a:stretch>
        </p:blipFill>
        <p:spPr>
          <a:xfrm>
            <a:off x="11612880" y="1554480"/>
            <a:ext cx="548640" cy="301180"/>
          </a:xfrm>
          <a:prstGeom prst="rect">
            <a:avLst/>
          </a:prstGeom>
        </p:spPr>
      </p:pic>
      <p:pic>
        <p:nvPicPr>
          <p:cNvPr id="9" name="Picture 8" descr="image.png"/>
          <p:cNvPicPr>
            <a:picLocks noChangeAspect="1"/>
          </p:cNvPicPr>
          <p:nvPr/>
        </p:nvPicPr>
        <p:blipFill>
          <a:blip r:embed="rId4"/>
          <a:stretch>
            <a:fillRect/>
          </a:stretch>
        </p:blipFill>
        <p:spPr>
          <a:xfrm rot="10800000">
            <a:off x="5943600" y="2651760"/>
            <a:ext cx="502920" cy="276082"/>
          </a:xfrm>
          <a:prstGeom prst="rect">
            <a:avLst/>
          </a:prstGeom>
        </p:spPr>
      </p:pic>
      <p:sp>
        <p:nvSpPr>
          <p:cNvPr id="10" name="TextBox 9"/>
          <p:cNvSpPr txBox="1"/>
          <p:nvPr/>
        </p:nvSpPr>
        <p:spPr>
          <a:xfrm>
            <a:off x="1028700" y="3246120"/>
            <a:ext cx="16230600" cy="457200"/>
          </a:xfrm>
          <a:prstGeom prst="rect">
            <a:avLst/>
          </a:prstGeom>
          <a:noFill/>
        </p:spPr>
        <p:txBody>
          <a:bodyPr anchor="t" rtlCol="false" lIns="0" tIns="0" rIns="0" bIns="0" wrap="square"/>
          <a:lstStyle/>
          <a:p>
            <a:pPr algn="ctr">
              <a:lnSpc>
                <a:spcPts val="2600"/>
              </a:lnSpc>
              <a:spcBef>
                <a:spcPts val="0"/>
              </a:spcBef>
              <a:buNone/>
            </a:pPr>
            <a:r>
              <a:rPr lang="en-US" sz="2100" b="true">
                <a:solidFill>
                  <a:srgbClr val="8A8378"/>
                </a:solidFill>
                <a:latin typeface="Nunito Semi-Bold"/>
                <a:ea typeface="Nunito Semi-Bold"/>
                <a:cs typeface="Nunito Semi-Bold"/>
                <a:sym typeface="Nunito Semi-Bold"/>
              </a:rPr>
              <a:t>Seven parts  ·  each contribution follows the same structure: research gap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objectives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methodology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protocol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results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findings</a:t>
            </a:r>
          </a:p>
        </p:txBody>
      </p:sp>
      <p:sp>
        <p:nvSpPr>
          <p:cNvPr id="11" name="Rounded Rectangle 10"/>
          <p:cNvSpPr/>
          <p:nvPr/>
        </p:nvSpPr>
        <p:spPr>
          <a:xfrm>
            <a:off x="102870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01</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Introduction</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Motivation · Actionable insight · Why XAI matters</a:t>
            </a:r>
          </a:p>
        </p:txBody>
      </p:sp>
      <p:sp>
        <p:nvSpPr>
          <p:cNvPr id="12" name="Rounded Rectangle 11"/>
          <p:cNvSpPr/>
          <p:nvPr/>
        </p:nvSpPr>
        <p:spPr>
          <a:xfrm>
            <a:off x="515493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02</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Context &amp; Problematic</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Four approaches · Limitations · Research questions</a:t>
            </a:r>
          </a:p>
        </p:txBody>
      </p:sp>
      <p:sp>
        <p:nvSpPr>
          <p:cNvPr id="13" name="Rounded Rectangle 12"/>
          <p:cNvSpPr/>
          <p:nvPr/>
        </p:nvSpPr>
        <p:spPr>
          <a:xfrm>
            <a:off x="928116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03</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Experimental Protocol</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Four datasets · Baselines · Metrics · Hardware</a:t>
            </a:r>
          </a:p>
        </p:txBody>
      </p:sp>
      <p:sp>
        <p:nvSpPr>
          <p:cNvPr id="14" name="Rounded Rectangle 13"/>
          <p:cNvSpPr/>
          <p:nvPr/>
        </p:nvSpPr>
        <p:spPr>
          <a:xfrm>
            <a:off x="1340739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04</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Deep dive: cooperative games · Explainable clustering (Wine)</a:t>
            </a:r>
          </a:p>
        </p:txBody>
      </p:sp>
      <p:sp>
        <p:nvSpPr>
          <p:cNvPr id="15" name="Rounded Rectangle 14"/>
          <p:cNvSpPr/>
          <p:nvPr/>
        </p:nvSpPr>
        <p:spPr>
          <a:xfrm>
            <a:off x="102870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05</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Contribution II</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Multi-level XAI for large-scale clustering (Beijing)</a:t>
            </a:r>
          </a:p>
        </p:txBody>
      </p:sp>
      <p:sp>
        <p:nvSpPr>
          <p:cNvPr id="16" name="Rounded Rectangle 15"/>
          <p:cNvSpPr/>
          <p:nvPr/>
        </p:nvSpPr>
        <p:spPr>
          <a:xfrm>
            <a:off x="5154930" y="667512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06</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III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DyHuCoG: a cooperative game on hypergraphs</a:t>
            </a:r>
          </a:p>
        </p:txBody>
      </p:sp>
      <p:sp>
        <p:nvSpPr>
          <p:cNvPr id="17" name="Rounded Rectangle 16"/>
          <p:cNvSpPr/>
          <p:nvPr/>
        </p:nvSpPr>
        <p:spPr>
          <a:xfrm>
            <a:off x="928116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07</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Conclusion &amp; Perspectives</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Synthesis · Publications · Perspectives · References</a:t>
            </a:r>
          </a:p>
        </p:txBody>
      </p:sp>
      <p:sp>
        <p:nvSpPr>
          <p:cNvPr id="18" name="Rounded Rectangle 17"/>
          <p:cNvSpPr/>
          <p:nvPr/>
        </p:nvSpPr>
        <p:spPr>
          <a:xfrm>
            <a:off x="13407390" y="6675120"/>
            <a:ext cx="3851910" cy="2331720"/>
          </a:xfrm>
          <a:prstGeom prst="roundRect">
            <a:avLst>
              <a:gd name="adj" fmla="val 15686"/>
            </a:avLst>
          </a:prstGeom>
          <a:solidFill>
            <a:srgbClr val="ECC665"/>
          </a:solidFill>
          <a:ln>
            <a:noFill/>
          </a:ln>
        </p:spPr>
        <p:txBody>
          <a:bodyPr anchor="ctr" rtlCol="false" lIns="91440" tIns="45720" rIns="91440" bIns="45720" wrap="square"/>
          <a:lstStyle/>
          <a:p>
            <a:pPr algn="ctr">
              <a:lnSpc>
                <a:spcPts val="4800"/>
              </a:lnSpc>
              <a:spcBef>
                <a:spcPts val="0"/>
              </a:spcBef>
              <a:buNone/>
            </a:pPr>
            <a:r>
              <a:rPr lang="en-US" sz="4400" b="true" spc="-200">
                <a:solidFill>
                  <a:srgbClr val="111111"/>
                </a:solidFill>
                <a:latin typeface="Roca Two Bold"/>
                <a:ea typeface="Roca Two Bold"/>
                <a:cs typeface="Roca Two Bold"/>
                <a:sym typeface="Roca Two Bold"/>
              </a:rPr>
              <a:t>Q &amp; A</a:t>
            </a:r>
          </a:p>
          <a:p>
            <a:pPr algn="ctr">
              <a:lnSpc>
                <a:spcPts val="2100"/>
              </a:lnSpc>
              <a:spcBef>
                <a:spcPts val="600"/>
              </a:spcBef>
              <a:buNone/>
            </a:pPr>
            <a:r>
              <a:rPr lang="en-US" sz="1700" b="true">
                <a:solidFill>
                  <a:srgbClr val="111111"/>
                </a:solidFill>
                <a:latin typeface="Nunito Bold"/>
                <a:ea typeface="Nunito Bold"/>
                <a:cs typeface="Nunito Bold"/>
                <a:sym typeface="Nunito Bold"/>
              </a:rPr>
              <a:t>Discussion with the jury  ·  backup tables at the end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03</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Introduction</a:t>
            </a:r>
          </a:p>
        </p:txBody>
      </p:sp>
      <p:sp>
        <p:nvSpPr>
          <p:cNvPr id="8" name="Oval 7"/>
          <p:cNvSpPr/>
          <p:nvPr/>
        </p:nvSpPr>
        <p:spPr>
          <a:xfrm>
            <a:off x="11961761"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1961761"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01</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Why explainability is a core requirement for recommender systems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Motivation</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Black-box AI systems shape what billions of people see, buy and watch every day: accurate, but not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Actionable insight</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An explanation is useful when it names a factor, in the domain's own words, that a designer can change.</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Research context</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From matrix factorisation to hypergraph recommenders: each step added modelling power and removed transparency.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8" name="Rounded Rectangle 7"/>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Motivation: Three Questions</a:t>
            </a:r>
          </a:p>
        </p:txBody>
      </p:sp>
      <p:pic>
        <p:nvPicPr>
          <p:cNvPr id="23" name="Picture 22" descr="image.png"/>
          <p:cNvPicPr>
            <a:picLocks noChangeAspect="1"/>
          </p:cNvPicPr>
          <p:nvPr/>
        </p:nvPicPr>
        <p:blipFill>
          <a:blip r:embed="rId3"/>
          <a:stretch>
            <a:fillRect/>
          </a:stretch>
        </p:blipFill>
        <p:spPr>
          <a:xfrm>
            <a:off x="8592285" y="1673352"/>
            <a:ext cx="457200" cy="250983"/>
          </a:xfrm>
          <a:prstGeom prst="rect">
            <a:avLst/>
          </a:prstGeom>
        </p:spPr>
      </p:pic>
      <p:sp>
        <p:nvSpPr>
          <p:cNvPr id="24" name="Rounded Rectangle 23"/>
          <p:cNvSpPr/>
          <p:nvPr/>
        </p:nvSpPr>
        <p:spPr>
          <a:xfrm>
            <a:off x="1028700" y="2559050"/>
            <a:ext cx="171580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Motivation</a:t>
            </a:r>
          </a:p>
        </p:txBody>
      </p:sp>
      <p:sp>
        <p:nvSpPr>
          <p:cNvPr id="25" name="Rounded Rectangle 24"/>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6" name="Rounded Rectangle 25"/>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7" name="Rounded Rectangle 26"/>
          <p:cNvSpPr/>
          <p:nvPr/>
        </p:nvSpPr>
        <p:spPr>
          <a:xfrm>
            <a:off x="102870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28" name="Rounded Rectangle 27"/>
          <p:cNvSpPr/>
          <p:nvPr/>
        </p:nvSpPr>
        <p:spPr>
          <a:xfrm>
            <a:off x="1485900" y="3354578"/>
            <a:ext cx="216867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Everywhere</a:t>
            </a:r>
          </a:p>
        </p:txBody>
      </p:sp>
      <p:sp>
        <p:nvSpPr>
          <p:cNvPr id="29" name="TextBox 28"/>
          <p:cNvSpPr txBox="1"/>
          <p:nvPr/>
        </p:nvSpPr>
        <p:spPr>
          <a:xfrm>
            <a:off x="148590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do black-box AI systems shape what billions of users see, buy and watch every day?</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Recommenders shape news, study, health and credit decisions; market &gt; $15B by 2029.</a:t>
            </a:r>
          </a:p>
        </p:txBody>
      </p:sp>
      <p:sp>
        <p:nvSpPr>
          <p:cNvPr id="30" name="Rounded Rectangle 29"/>
          <p:cNvSpPr/>
          <p:nvPr/>
        </p:nvSpPr>
        <p:spPr>
          <a:xfrm>
            <a:off x="654558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1" name="Rounded Rectangle 30"/>
          <p:cNvSpPr/>
          <p:nvPr/>
        </p:nvSpPr>
        <p:spPr>
          <a:xfrm>
            <a:off x="7002780" y="3354578"/>
            <a:ext cx="248842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The Black Box</a:t>
            </a:r>
          </a:p>
        </p:txBody>
      </p:sp>
      <p:sp>
        <p:nvSpPr>
          <p:cNvPr id="32" name="TextBox 31"/>
          <p:cNvSpPr txBox="1"/>
          <p:nvPr/>
        </p:nvSpPr>
        <p:spPr>
          <a:xfrm>
            <a:off x="700278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Why do state-of-the-art recommenders and clustering pipelines stay black boxes for users and designers?</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Deep &amp; graph models: hidden logic, hard to audit. EU AI Act: high-risk </a:t>
            </a:r>
            <a:r>
              <a:rPr lang="en-US" sz="1800" b="true">
                <a:solidFill>
                  <a:srgbClr val="BDD0EA"/>
                </a:solidFill>
                <a:latin typeface="Calibri"/>
                <a:ea typeface="Calibri"/>
                <a:cs typeface="Calibri"/>
                <a:sym typeface="Calibri"/>
              </a:rPr>
              <a:t>→ </a:t>
            </a:r>
            <a:r>
              <a:rPr lang="en-US" sz="1800" b="true">
                <a:solidFill>
                  <a:srgbClr val="BDD0EA"/>
                </a:solidFill>
                <a:latin typeface="Nunito Semi-Bold"/>
                <a:ea typeface="Nunito Semi-Bold"/>
                <a:cs typeface="Nunito Semi-Bold"/>
                <a:sym typeface="Nunito Semi-Bold"/>
              </a:rPr>
              <a:t>must explain.</a:t>
            </a:r>
          </a:p>
        </p:txBody>
      </p:sp>
      <p:sp>
        <p:nvSpPr>
          <p:cNvPr id="33" name="Rounded Rectangle 32"/>
          <p:cNvSpPr/>
          <p:nvPr/>
        </p:nvSpPr>
        <p:spPr>
          <a:xfrm>
            <a:off x="1206246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12519660" y="3354578"/>
            <a:ext cx="2395577"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Toward Trust</a:t>
            </a:r>
          </a:p>
        </p:txBody>
      </p:sp>
      <p:sp>
        <p:nvSpPr>
          <p:cNvPr id="35" name="TextBox 34"/>
          <p:cNvSpPr txBox="1"/>
          <p:nvPr/>
        </p:nvSpPr>
        <p:spPr>
          <a:xfrm>
            <a:off x="1251966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can transparency be built into the model, instead of being added afterwards?</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Insight that is accountable, auditable and actionable, not just accurate.</a:t>
            </a:r>
          </a:p>
        </p:txBody>
      </p:sp>
      <p:sp>
        <p:nvSpPr>
          <p:cNvPr id="36" name="Rounded Rectangle 35"/>
          <p:cNvSpPr/>
          <p:nvPr/>
        </p:nvSpPr>
        <p:spPr>
          <a:xfrm>
            <a:off x="1028700" y="8118602"/>
            <a:ext cx="16230600" cy="868680"/>
          </a:xfrm>
          <a:prstGeom prst="roundRect">
            <a:avLst>
              <a:gd name="adj" fmla="val 26315"/>
            </a:avLst>
          </a:prstGeom>
          <a:solidFill>
            <a:srgbClr val="E7EAF3"/>
          </a:solidFill>
          <a:ln>
            <a:noFill/>
          </a:ln>
        </p:spPr>
        <p:txBody>
          <a:bodyPr anchor="ctr" rtlCol="false" lIns="365760" tIns="91440" rIns="365760" bIns="91440" wrap="square"/>
          <a:lstStyle/>
          <a:p>
            <a:pPr algn="ctr">
              <a:lnSpc>
                <a:spcPts val="2600"/>
              </a:lnSpc>
              <a:spcBef>
                <a:spcPts val="0"/>
              </a:spcBef>
              <a:buNone/>
            </a:pPr>
            <a:r>
              <a:rPr lang="en-US" sz="2000" b="true">
                <a:solidFill>
                  <a:srgbClr val="111111"/>
                </a:solidFill>
                <a:latin typeface="Nunito Bold"/>
                <a:ea typeface="Nunito Bold"/>
                <a:cs typeface="Nunito Bold"/>
                <a:sym typeface="Nunito Bold"/>
              </a:rPr>
              <a:t>The core tension:</a:t>
            </a:r>
            <a:r>
              <a:rPr lang="en-US" sz="2000" b="true">
                <a:solidFill>
                  <a:srgbClr val="111111"/>
                </a:solidFill>
                <a:latin typeface="Nunito Semi-Bold"/>
                <a:ea typeface="Nunito Semi-Bold"/>
                <a:cs typeface="Nunito Semi-Bold"/>
                <a:sym typeface="Nunito Semi-Bold"/>
              </a:rPr>
              <a:t> as models gain power, they lose the transparency needed for trustworthy use. This thesis treats </a:t>
            </a:r>
            <a:r>
              <a:rPr lang="en-US" sz="2000" b="true">
                <a:solidFill>
                  <a:srgbClr val="111111"/>
                </a:solidFill>
                <a:latin typeface="Nunito Bold"/>
                <a:ea typeface="Nunito Bold"/>
                <a:cs typeface="Nunito Bold"/>
                <a:sym typeface="Nunito Bold"/>
              </a:rPr>
              <a:t>accuracy and interpretability as goals to be met together</a:t>
            </a:r>
            <a:r>
              <a:rPr lang="en-US" sz="2000" b="true">
                <a:solidFill>
                  <a:srgbClr val="111111"/>
                </a:solidFill>
                <a:latin typeface="Nunito Semi-Bold"/>
                <a:ea typeface="Nunito Semi-Bold"/>
                <a:cs typeface="Nunito Semi-Bold"/>
                <a:sym typeface="Nunito Semi-Bold"/>
              </a:rPr>
              <a:t>, not traded against each other.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[25] Doshi-Velez, F. &amp; Kim, B. Towards a Rigorous Science of Interpretable Machine Learning. arXiv:1702.08608 (2017).  ·  Rudin, C. et al. Interpretable ML: Fundamental Principles and 10 Grand Challenges. Statistics Surveys 16 (2022).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8" name="Rounded Rectangle 7"/>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Actionable Insight: the Definition</a:t>
            </a:r>
          </a:p>
        </p:txBody>
      </p:sp>
      <p:pic>
        <p:nvPicPr>
          <p:cNvPr id="23" name="Picture 22" descr="image.png"/>
          <p:cNvPicPr>
            <a:picLocks noChangeAspect="1"/>
          </p:cNvPicPr>
          <p:nvPr/>
        </p:nvPicPr>
        <p:blipFill>
          <a:blip r:embed="rId3"/>
          <a:stretch>
            <a:fillRect/>
          </a:stretch>
        </p:blipFill>
        <p:spPr>
          <a:xfrm>
            <a:off x="9706798" y="1673352"/>
            <a:ext cx="457200" cy="415247"/>
          </a:xfrm>
          <a:prstGeom prst="rect">
            <a:avLst/>
          </a:prstGeom>
        </p:spPr>
      </p:pic>
      <p:sp>
        <p:nvSpPr>
          <p:cNvPr id="24" name="Rounded Rectangle 23"/>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5" name="Rounded Rectangle 24"/>
          <p:cNvSpPr/>
          <p:nvPr/>
        </p:nvSpPr>
        <p:spPr>
          <a:xfrm>
            <a:off x="2872521" y="2559050"/>
            <a:ext cx="254485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Actionable Insight</a:t>
            </a:r>
          </a:p>
        </p:txBody>
      </p:sp>
      <p:sp>
        <p:nvSpPr>
          <p:cNvPr id="26" name="Rounded Rectangle 25"/>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7" name="TextBox 26"/>
          <p:cNvSpPr txBox="1"/>
          <p:nvPr/>
        </p:nvSpPr>
        <p:spPr>
          <a:xfrm>
            <a:off x="1028700" y="3363722"/>
            <a:ext cx="7863840" cy="5944870"/>
          </a:xfrm>
          <a:prstGeom prst="rect">
            <a:avLst/>
          </a:prstGeom>
          <a:noFill/>
        </p:spPr>
        <p:txBody>
          <a:bodyPr anchor="t" rtlCol="false" lIns="0" tIns="0" rIns="0" bIns="0" wrap="square"/>
          <a:lstStyle/>
          <a:p>
            <a:pPr algn="l">
              <a:lnSpc>
                <a:spcPts val="3125"/>
              </a:lnSpc>
              <a:spcBef>
                <a:spcPts val="0"/>
              </a:spcBef>
              <a:buNone/>
            </a:pPr>
            <a:r>
              <a:rPr lang="en-US" sz="2500" b="true">
                <a:solidFill>
                  <a:srgbClr val="4472C4"/>
                </a:solidFill>
                <a:latin typeface="Nunito Ultra-Bold"/>
                <a:ea typeface="Nunito Ultra-Bold"/>
                <a:cs typeface="Nunito Ultra-Bold"/>
                <a:sym typeface="Nunito Ultra-Bold"/>
              </a:rPr>
              <a:t>Definition 1.1 (Actionable insight)</a:t>
            </a:r>
          </a:p>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An explanation is actionable when it points to </a:t>
            </a:r>
            <a:r>
              <a:rPr lang="en-US" sz="2100" b="true">
                <a:solidFill>
                  <a:srgbClr val="111111"/>
                </a:solidFill>
                <a:latin typeface="Nunito Bold"/>
                <a:ea typeface="Nunito Bold"/>
                <a:cs typeface="Nunito Bold"/>
                <a:sym typeface="Nunito Bold"/>
              </a:rPr>
              <a:t>at least one factor that can be changed</a:t>
            </a:r>
            <a:r>
              <a:rPr lang="en-US" sz="2100" b="true">
                <a:solidFill>
                  <a:srgbClr val="111111"/>
                </a:solidFill>
                <a:latin typeface="Nunito Semi-Bold"/>
                <a:ea typeface="Nunito Semi-Bold"/>
                <a:cs typeface="Nunito Semi-Bold"/>
                <a:sym typeface="Nunito Semi-Bold"/>
              </a:rPr>
              <a:t>, and that change leads to a </a:t>
            </a:r>
            <a:r>
              <a:rPr lang="en-US" sz="2100" b="true">
                <a:solidFill>
                  <a:srgbClr val="111111"/>
                </a:solidFill>
                <a:latin typeface="Nunito Bold"/>
                <a:ea typeface="Nunito Bold"/>
                <a:cs typeface="Nunito Bold"/>
                <a:sym typeface="Nunito Bold"/>
              </a:rPr>
              <a:t>clear change in the model output</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 and that factor is </a:t>
            </a:r>
            <a:r>
              <a:rPr lang="en-US" sz="2100" b="true">
                <a:solidFill>
                  <a:srgbClr val="111111"/>
                </a:solidFill>
                <a:latin typeface="Nunito Bold"/>
                <a:ea typeface="Nunito Bold"/>
                <a:cs typeface="Nunito Bold"/>
                <a:sym typeface="Nunito Bold"/>
              </a:rPr>
              <a:t>stated in the domain's own terms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domain's own terms: a chemical variable (wine), a pollution indicator (air quality), a preference signal (recommendation), </a:t>
            </a:r>
            <a:r>
              <a:rPr lang="en-US" sz="2100" b="true">
                <a:solidFill>
                  <a:srgbClr val="111111"/>
                </a:solidFill>
                <a:latin typeface="Nunito Bold"/>
                <a:ea typeface="Nunito Bold"/>
                <a:cs typeface="Nunito Bold"/>
                <a:sym typeface="Nunito Bold"/>
              </a:rPr>
              <a:t>not a hidden latent code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 it matters:</a:t>
            </a:r>
            <a:r>
              <a:rPr lang="en-US" sz="2100" b="true">
                <a:solidFill>
                  <a:srgbClr val="111111"/>
                </a:solidFill>
                <a:latin typeface="Nunito Semi-Bold"/>
                <a:ea typeface="Nunito Semi-Bold"/>
                <a:cs typeface="Nunito Semi-Bold"/>
                <a:sym typeface="Nunito Semi-Bold"/>
              </a:rPr>
              <a:t> an explanation that names a changeable driver supports </a:t>
            </a:r>
            <a:r>
              <a:rPr lang="en-US" sz="2100" b="true">
                <a:solidFill>
                  <a:srgbClr val="111111"/>
                </a:solidFill>
                <a:latin typeface="Nunito Bold"/>
                <a:ea typeface="Nunito Bold"/>
                <a:cs typeface="Nunito Bold"/>
                <a:sym typeface="Nunito Bold"/>
              </a:rPr>
              <a:t>action</a:t>
            </a:r>
            <a:r>
              <a:rPr lang="en-US" sz="2100" b="true">
                <a:solidFill>
                  <a:srgbClr val="111111"/>
                </a:solidFill>
                <a:latin typeface="Nunito Semi-Bold"/>
                <a:ea typeface="Nunito Semi-Bold"/>
                <a:cs typeface="Nunito Semi-Bold"/>
                <a:sym typeface="Nunito Semi-Bold"/>
              </a:rPr>
              <a:t>, not only description.</a:t>
            </a:r>
          </a:p>
        </p:txBody>
      </p:sp>
      <p:pic>
        <p:nvPicPr>
          <p:cNvPr id="28" name="Picture 27" descr="intro_actionable.png"/>
          <p:cNvPicPr>
            <a:picLocks noChangeAspect="1"/>
          </p:cNvPicPr>
          <p:nvPr/>
        </p:nvPicPr>
        <p:blipFill>
          <a:blip r:embed="rId5"/>
          <a:stretch>
            <a:fillRect/>
          </a:stretch>
        </p:blipFill>
        <p:spPr>
          <a:xfrm>
            <a:off x="9441180" y="4295382"/>
            <a:ext cx="7818120" cy="426442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[12] He, X. et al. LightGCN: Simplifying and Powering Graph Convolution Network for Recommendation. SIGIR, 639–648 (2020).   [16] Feng, Y. et al. Hypergraph Neural Networks. AAAI 33, 3558–3565 (2019).   [26] European Union. Regulation (EU) 2024/1689 (AI Act), Art. 13 (2024).  ·  Regulation (EU) 2016/679 (GDPR), Art. 22 (2016).  ·  OECD. Recommendation of the Council on Artificial Intelligence (2019).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8" name="Rounded Rectangle 7"/>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Context</a:t>
            </a:r>
          </a:p>
        </p:txBody>
      </p:sp>
      <p:pic>
        <p:nvPicPr>
          <p:cNvPr id="23" name="Picture 22" descr="image.png"/>
          <p:cNvPicPr>
            <a:picLocks noChangeAspect="1"/>
          </p:cNvPicPr>
          <p:nvPr/>
        </p:nvPicPr>
        <p:blipFill>
          <a:blip r:embed="rId3"/>
          <a:stretch>
            <a:fillRect/>
          </a:stretch>
        </p:blipFill>
        <p:spPr>
          <a:xfrm>
            <a:off x="5880294" y="1673352"/>
            <a:ext cx="457200" cy="452148"/>
          </a:xfrm>
          <a:prstGeom prst="rect">
            <a:avLst/>
          </a:prstGeom>
        </p:spPr>
      </p:pic>
      <p:sp>
        <p:nvSpPr>
          <p:cNvPr id="24" name="Rounded Rectangle 23"/>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5" name="Rounded Rectangle 24"/>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6" name="Rounded Rectangle 25"/>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7" name="TextBox 26"/>
          <p:cNvSpPr txBox="1"/>
          <p:nvPr/>
        </p:nvSpPr>
        <p:spPr>
          <a:xfrm>
            <a:off x="1028700" y="3363722"/>
            <a:ext cx="16230600" cy="36576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EVOLUTION OF RECOMMENDER SYSTEMS</a:t>
            </a:r>
          </a:p>
        </p:txBody>
      </p:sp>
      <p:sp>
        <p:nvSpPr>
          <p:cNvPr id="28" name="Rounded Rectangle 27"/>
          <p:cNvSpPr/>
          <p:nvPr/>
        </p:nvSpPr>
        <p:spPr>
          <a:xfrm>
            <a:off x="102870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Similarity models</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2003–09</a:t>
            </a:r>
          </a:p>
        </p:txBody>
      </p:sp>
      <p:cxnSp>
        <p:nvCxnSpPr>
          <p:cNvPr id="29" name="Connector 28"/>
          <p:cNvCxnSpPr/>
          <p:nvPr/>
        </p:nvCxnSpPr>
        <p:spPr>
          <a:xfrm>
            <a:off x="3415284" y="4438142"/>
            <a:ext cx="1033272" cy="0"/>
          </a:xfrm>
          <a:prstGeom prst="line">
            <a:avLst/>
          </a:prstGeom>
          <a:ln w="28575">
            <a:solidFill>
              <a:srgbClr val="4472C4"/>
            </a:solidFill>
            <a:tailEnd type="triangle" w="med" len="med"/>
          </a:ln>
        </p:spPr>
      </p:cxnSp>
      <p:sp>
        <p:nvSpPr>
          <p:cNvPr id="30" name="Rounded Rectangle 29"/>
          <p:cNvSpPr/>
          <p:nvPr/>
        </p:nvSpPr>
        <p:spPr>
          <a:xfrm>
            <a:off x="450342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Matrix factorisation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2009–13</a:t>
            </a:r>
          </a:p>
        </p:txBody>
      </p:sp>
      <p:cxnSp>
        <p:nvCxnSpPr>
          <p:cNvPr id="31" name="Connector 30"/>
          <p:cNvCxnSpPr/>
          <p:nvPr/>
        </p:nvCxnSpPr>
        <p:spPr>
          <a:xfrm>
            <a:off x="6890004" y="4438142"/>
            <a:ext cx="1033272" cy="0"/>
          </a:xfrm>
          <a:prstGeom prst="line">
            <a:avLst/>
          </a:prstGeom>
          <a:ln w="28575">
            <a:solidFill>
              <a:srgbClr val="4472C4"/>
            </a:solidFill>
            <a:tailEnd type="triangle" w="med" len="med"/>
          </a:ln>
        </p:spPr>
      </p:cxnSp>
      <p:sp>
        <p:nvSpPr>
          <p:cNvPr id="32" name="Rounded Rectangle 31"/>
          <p:cNvSpPr/>
          <p:nvPr/>
        </p:nvSpPr>
        <p:spPr>
          <a:xfrm>
            <a:off x="797814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Neural CF</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2016–19</a:t>
            </a:r>
          </a:p>
        </p:txBody>
      </p:sp>
      <p:cxnSp>
        <p:nvCxnSpPr>
          <p:cNvPr id="33" name="Connector 32"/>
          <p:cNvCxnSpPr/>
          <p:nvPr/>
        </p:nvCxnSpPr>
        <p:spPr>
          <a:xfrm>
            <a:off x="10364724" y="4438142"/>
            <a:ext cx="1033272" cy="0"/>
          </a:xfrm>
          <a:prstGeom prst="line">
            <a:avLst/>
          </a:prstGeom>
          <a:ln w="28575">
            <a:solidFill>
              <a:srgbClr val="4472C4"/>
            </a:solidFill>
            <a:tailEnd type="triangle" w="med" len="med"/>
          </a:ln>
        </p:spPr>
      </p:cxnSp>
      <p:sp>
        <p:nvSpPr>
          <p:cNvPr id="34" name="Rounded Rectangle 33"/>
          <p:cNvSpPr/>
          <p:nvPr/>
        </p:nvSpPr>
        <p:spPr>
          <a:xfrm>
            <a:off x="1145286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Graph CNN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2018–22</a:t>
            </a:r>
          </a:p>
        </p:txBody>
      </p:sp>
      <p:cxnSp>
        <p:nvCxnSpPr>
          <p:cNvPr id="35" name="Connector 34"/>
          <p:cNvCxnSpPr/>
          <p:nvPr/>
        </p:nvCxnSpPr>
        <p:spPr>
          <a:xfrm>
            <a:off x="13839444" y="4438142"/>
            <a:ext cx="1033272" cy="0"/>
          </a:xfrm>
          <a:prstGeom prst="line">
            <a:avLst/>
          </a:prstGeom>
          <a:ln w="28575">
            <a:solidFill>
              <a:srgbClr val="4472C4"/>
            </a:solidFill>
            <a:tailEnd type="triangle" w="med" len="med"/>
          </a:ln>
        </p:spPr>
      </p:cxnSp>
      <p:sp>
        <p:nvSpPr>
          <p:cNvPr id="36" name="Rounded Rectangle 35"/>
          <p:cNvSpPr/>
          <p:nvPr/>
        </p:nvSpPr>
        <p:spPr>
          <a:xfrm>
            <a:off x="14927580" y="3866642"/>
            <a:ext cx="2331720" cy="1143000"/>
          </a:xfrm>
          <a:prstGeom prst="roundRect">
            <a:avLst>
              <a:gd name="adj" fmla="val 16000"/>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Hypergraph</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2022+</a:t>
            </a:r>
          </a:p>
        </p:txBody>
      </p:sp>
      <p:cxnSp>
        <p:nvCxnSpPr>
          <p:cNvPr id="37" name="Connector 36"/>
          <p:cNvCxnSpPr/>
          <p:nvPr/>
        </p:nvCxnSpPr>
        <p:spPr>
          <a:xfrm>
            <a:off x="1028700" y="5283962"/>
            <a:ext cx="16230600" cy="0"/>
          </a:xfrm>
          <a:prstGeom prst="line">
            <a:avLst/>
          </a:prstGeom>
          <a:ln w="50800">
            <a:solidFill>
              <a:srgbClr val="1F7A8C"/>
            </a:solidFill>
            <a:tailEnd type="triangle" w="med" len="med"/>
          </a:ln>
        </p:spPr>
      </p:cxnSp>
      <p:sp>
        <p:nvSpPr>
          <p:cNvPr id="38" name="TextBox 37"/>
          <p:cNvSpPr txBox="1"/>
          <p:nvPr/>
        </p:nvSpPr>
        <p:spPr>
          <a:xfrm>
            <a:off x="1028700" y="5375402"/>
            <a:ext cx="16230600" cy="365760"/>
          </a:xfrm>
          <a:prstGeom prst="rect">
            <a:avLst/>
          </a:prstGeom>
          <a:noFill/>
        </p:spPr>
        <p:txBody>
          <a:bodyPr anchor="t" rtlCol="false" lIns="0" tIns="0" rIns="0" bIns="0" wrap="square"/>
          <a:lstStyle/>
          <a:p>
            <a:pPr algn="ctr">
              <a:lnSpc>
                <a:spcPts val="2300"/>
              </a:lnSpc>
              <a:spcBef>
                <a:spcPts val="0"/>
              </a:spcBef>
              <a:buNone/>
            </a:pPr>
            <a:r>
              <a:rPr lang="en-US" sz="1800" b="true">
                <a:solidFill>
                  <a:srgbClr val="1F7A8C"/>
                </a:solidFill>
                <a:latin typeface="Nunito Bold"/>
                <a:ea typeface="Nunito Bold"/>
                <a:cs typeface="Nunito Bold"/>
                <a:sym typeface="Nunito Bold"/>
              </a:rPr>
              <a:t>The interpretability gap grows:</a:t>
            </a:r>
            <a:r>
              <a:rPr lang="en-US" sz="1800" b="true">
                <a:solidFill>
                  <a:srgbClr val="1F7A8C"/>
                </a:solidFill>
                <a:latin typeface="Nunito Semi-Bold"/>
                <a:ea typeface="Nunito Semi-Bold"/>
                <a:cs typeface="Nunito Semi-Bold"/>
                <a:sym typeface="Nunito Semi-Bold"/>
              </a:rPr>
              <a:t> each step improved ranking, but replaced a hidden latent code with a hidden message-passing mechanism. Neither can be acted on.</a:t>
            </a:r>
          </a:p>
        </p:txBody>
      </p:sp>
      <p:sp>
        <p:nvSpPr>
          <p:cNvPr id="39" name="Rounded Rectangle 38"/>
          <p:cNvSpPr/>
          <p:nvPr/>
        </p:nvSpPr>
        <p:spPr>
          <a:xfrm>
            <a:off x="1028700" y="628980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40" name="Rounded Rectangle 39"/>
          <p:cNvSpPr/>
          <p:nvPr/>
        </p:nvSpPr>
        <p:spPr>
          <a:xfrm>
            <a:off x="1485900" y="6052058"/>
            <a:ext cx="351115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the gap matters</a:t>
            </a:r>
          </a:p>
        </p:txBody>
      </p:sp>
      <p:sp>
        <p:nvSpPr>
          <p:cNvPr id="41" name="TextBox 40"/>
          <p:cNvSpPr txBox="1"/>
          <p:nvPr/>
        </p:nvSpPr>
        <p:spPr>
          <a:xfrm>
            <a:off x="1485900" y="6884162"/>
            <a:ext cx="7063740" cy="2241550"/>
          </a:xfrm>
          <a:prstGeom prst="rect">
            <a:avLst/>
          </a:prstGeom>
          <a:noFill/>
        </p:spPr>
        <p:txBody>
          <a:bodyPr anchor="t" rtlCol="false" lIns="0" tIns="0" rIns="0" bIns="0" wrap="square"/>
          <a:lstStyle/>
          <a:p>
            <a:pPr algn="l" marL="274320" indent="-274320">
              <a:lnSpc>
                <a:spcPts val="2580"/>
              </a:lnSpc>
              <a:spcBef>
                <a:spcPts val="0"/>
              </a:spcBef>
              <a:buClr>
                <a:srgbClr val="ECC665"/>
              </a:buClr>
              <a:buSzPct val="100000"/>
              <a:buFont typeface="Arial"/>
              <a:buChar char="•"/>
            </a:pPr>
            <a:r>
              <a:rPr lang="en-US" sz="1843" b="true">
                <a:solidFill>
                  <a:srgbClr val="FFFFFF"/>
                </a:solidFill>
                <a:latin typeface="Nunito Bold"/>
                <a:ea typeface="Nunito Bold"/>
                <a:cs typeface="Nunito Bold"/>
                <a:sym typeface="Nunito Bold"/>
              </a:rPr>
              <a:t>Weakens user trust:</a:t>
            </a:r>
            <a:r>
              <a:rPr lang="en-US" sz="1843" b="true">
                <a:solidFill>
                  <a:srgbClr val="FFFFFF"/>
                </a:solidFill>
                <a:latin typeface="Nunito Semi-Bold"/>
                <a:ea typeface="Nunito Semi-Bold"/>
                <a:cs typeface="Nunito Semi-Bold"/>
                <a:sym typeface="Nunito Semi-Bold"/>
              </a:rPr>
              <a:t> users see outputs without knowing why.</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Bold"/>
                <a:ea typeface="Nunito Bold"/>
                <a:cs typeface="Nunito Bold"/>
                <a:sym typeface="Nunito Bold"/>
              </a:rPr>
              <a:t>Limits debugging</a:t>
            </a:r>
            <a:r>
              <a:rPr lang="en-US" sz="1843" b="true">
                <a:solidFill>
                  <a:srgbClr val="FFFFFF"/>
                </a:solidFill>
                <a:latin typeface="Nunito Semi-Bold"/>
                <a:ea typeface="Nunito Semi-Bold"/>
                <a:cs typeface="Nunito Semi-Bold"/>
                <a:sym typeface="Nunito Semi-Bold"/>
              </a:rPr>
              <a:t> and scientific learning.</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Bold"/>
                <a:ea typeface="Nunito Bold"/>
                <a:cs typeface="Nunito Bold"/>
                <a:sym typeface="Nunito Bold"/>
              </a:rPr>
              <a:t>Conflicts with regulation:</a:t>
            </a:r>
            <a:r>
              <a:rPr lang="en-US" sz="1843" b="true">
                <a:solidFill>
                  <a:srgbClr val="FFFFFF"/>
                </a:solidFill>
                <a:latin typeface="Nunito Semi-Bold"/>
                <a:ea typeface="Nunito Semi-Bold"/>
                <a:cs typeface="Nunito Semi-Bold"/>
                <a:sym typeface="Nunito Semi-Bold"/>
              </a:rPr>
              <a:t> EU AI Act, OECD principles, GDPR.</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Semi-Bold"/>
                <a:ea typeface="Nunito Semi-Bold"/>
                <a:cs typeface="Nunito Semi-Bold"/>
                <a:sym typeface="Nunito Semi-Bold"/>
              </a:rPr>
              <a:t>EU AI Act (Art. 13): high-risk systems must provide explanations </a:t>
            </a:r>
            <a:r>
              <a:rPr lang="en-US" sz="1843" b="true">
                <a:solidFill>
                  <a:srgbClr val="FFFFFF"/>
                </a:solidFill>
                <a:latin typeface="Nunito Bold"/>
                <a:ea typeface="Nunito Bold"/>
                <a:cs typeface="Nunito Bold"/>
                <a:sym typeface="Nunito Bold"/>
              </a:rPr>
              <a:t>in human-understandable terms</a:t>
            </a:r>
            <a:r>
              <a:rPr lang="en-US" sz="1843" b="true">
                <a:solidFill>
                  <a:srgbClr val="FFFFFF"/>
                </a:solidFill>
                <a:latin typeface="Nunito Semi-Bold"/>
                <a:ea typeface="Nunito Semi-Bold"/>
                <a:cs typeface="Nunito Semi-Bold"/>
                <a:sym typeface="Nunito Semi-Bold"/>
              </a:rPr>
              <a:t>.</a:t>
            </a:r>
          </a:p>
        </p:txBody>
      </p:sp>
      <p:sp>
        <p:nvSpPr>
          <p:cNvPr id="42" name="Rounded Rectangle 41"/>
          <p:cNvSpPr/>
          <p:nvPr/>
        </p:nvSpPr>
        <p:spPr>
          <a:xfrm>
            <a:off x="9326880" y="628980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9784080" y="6052058"/>
            <a:ext cx="383778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What this thesis argues</a:t>
            </a:r>
          </a:p>
        </p:txBody>
      </p:sp>
      <p:sp>
        <p:nvSpPr>
          <p:cNvPr id="44" name="TextBox 43"/>
          <p:cNvSpPr txBox="1"/>
          <p:nvPr/>
        </p:nvSpPr>
        <p:spPr>
          <a:xfrm>
            <a:off x="9784080" y="6884162"/>
            <a:ext cx="7063740" cy="2241550"/>
          </a:xfrm>
          <a:prstGeom prst="rect">
            <a:avLst/>
          </a:prstGeom>
          <a:noFill/>
        </p:spPr>
        <p:txBody>
          <a:bodyPr anchor="t" rtlCol="false" lIns="0" tIns="0" rIns="0" bIns="0" wrap="square"/>
          <a:lstStyle/>
          <a:p>
            <a:pPr algn="l" marL="274320" indent="-274320">
              <a:lnSpc>
                <a:spcPts val="2500"/>
              </a:lnSpc>
              <a:spcBef>
                <a:spcPts val="0"/>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Recommenders moved from similarity filters to </a:t>
            </a:r>
            <a:r>
              <a:rPr lang="en-US" sz="1786" b="true">
                <a:solidFill>
                  <a:srgbClr val="111111"/>
                </a:solidFill>
                <a:latin typeface="Nunito Bold"/>
                <a:ea typeface="Nunito Bold"/>
                <a:cs typeface="Nunito Bold"/>
                <a:sym typeface="Nunito Bold"/>
              </a:rPr>
              <a:t>representation learning on sparse, high-dimensional, changing data</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564"/>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Hypergraph models add higher-order user-item-context relations but assume </a:t>
            </a:r>
            <a:r>
              <a:rPr lang="en-US" sz="1786" b="true">
                <a:solidFill>
                  <a:srgbClr val="111111"/>
                </a:solidFill>
                <a:latin typeface="Nunito Bold"/>
                <a:ea typeface="Nunito Bold"/>
                <a:cs typeface="Nunito Bold"/>
                <a:sym typeface="Nunito Bold"/>
              </a:rPr>
              <a:t>every message matters equally</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564"/>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A well-founded attribution method is needed, and it should be </a:t>
            </a:r>
            <a:r>
              <a:rPr lang="en-US" sz="1786" b="true">
                <a:solidFill>
                  <a:srgbClr val="111111"/>
                </a:solidFill>
                <a:latin typeface="Nunito Bold"/>
                <a:ea typeface="Nunito Bold"/>
                <a:cs typeface="Nunito Bold"/>
                <a:sym typeface="Nunito Bold"/>
              </a:rPr>
              <a:t>part of the model itself</a:t>
            </a:r>
            <a:r>
              <a:rPr lang="en-US" sz="1786" b="true">
                <a:solidFill>
                  <a:srgbClr val="111111"/>
                </a:solidFill>
                <a:latin typeface="Nunito Semi-Bold"/>
                <a:ea typeface="Nunito Semi-Bold"/>
                <a:cs typeface="Nunito Semi-Bold"/>
                <a:sym typeface="Nunito Semi-Bold"/>
              </a:rPr>
              <a:t>, not an add-on.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[22] Adomavicius, G. &amp; Tuzhilin, A. Toward the Next Generation of Recommender Systems. IEEE TKDE 17(6), 734–749 (2005).  ·  Burke, R. Hybrid Recommender Systems. UMUAI 12(4), 331–370 (2002).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8" name="Rounded Rectangle 7"/>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AI-Powered Recommendation Is Everywhere</a:t>
            </a:r>
          </a:p>
        </p:txBody>
      </p:sp>
      <p:pic>
        <p:nvPicPr>
          <p:cNvPr id="23" name="Picture 22" descr="image.png"/>
          <p:cNvPicPr>
            <a:picLocks noChangeAspect="1"/>
          </p:cNvPicPr>
          <p:nvPr/>
        </p:nvPicPr>
        <p:blipFill>
          <a:blip r:embed="rId3"/>
          <a:stretch>
            <a:fillRect/>
          </a:stretch>
        </p:blipFill>
        <p:spPr>
          <a:xfrm>
            <a:off x="12921990" y="1673352"/>
            <a:ext cx="457200" cy="617115"/>
          </a:xfrm>
          <a:prstGeom prst="rect">
            <a:avLst/>
          </a:prstGeom>
        </p:spPr>
      </p:pic>
      <p:sp>
        <p:nvSpPr>
          <p:cNvPr id="24" name="Rounded Rectangle 23"/>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5" name="Rounded Rectangle 24"/>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6" name="Rounded Rectangle 25"/>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7" name="Rounded Rectangle 26"/>
          <p:cNvSpPr/>
          <p:nvPr/>
        </p:nvSpPr>
        <p:spPr>
          <a:xfrm>
            <a:off x="102870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28" name="Picture 27" descr="netflix.png"/>
          <p:cNvPicPr>
            <a:picLocks noChangeAspect="1"/>
          </p:cNvPicPr>
          <p:nvPr/>
        </p:nvPicPr>
        <p:blipFill>
          <a:blip r:embed="rId5"/>
          <a:stretch>
            <a:fillRect/>
          </a:stretch>
        </p:blipFill>
        <p:spPr>
          <a:xfrm>
            <a:off x="1383030" y="3887423"/>
            <a:ext cx="3108960" cy="1695796"/>
          </a:xfrm>
          <a:prstGeom prst="rect">
            <a:avLst/>
          </a:prstGeom>
        </p:spPr>
      </p:pic>
      <p:sp>
        <p:nvSpPr>
          <p:cNvPr id="29" name="TextBox 28"/>
          <p:cNvSpPr txBox="1"/>
          <p:nvPr/>
        </p:nvSpPr>
        <p:spPr>
          <a:xfrm>
            <a:off x="130302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Netflix</a:t>
            </a:r>
          </a:p>
        </p:txBody>
      </p:sp>
      <p:sp>
        <p:nvSpPr>
          <p:cNvPr id="30" name="TextBox 29"/>
          <p:cNvSpPr txBox="1"/>
          <p:nvPr/>
        </p:nvSpPr>
        <p:spPr>
          <a:xfrm>
            <a:off x="130302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Movie and TV recommendation platform</a:t>
            </a:r>
          </a:p>
        </p:txBody>
      </p:sp>
      <p:sp>
        <p:nvSpPr>
          <p:cNvPr id="31" name="Rounded Rectangle 30"/>
          <p:cNvSpPr/>
          <p:nvPr/>
        </p:nvSpPr>
        <p:spPr>
          <a:xfrm>
            <a:off x="516636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2" name="Picture 31" descr="spotify.png"/>
          <p:cNvPicPr>
            <a:picLocks noChangeAspect="1"/>
          </p:cNvPicPr>
          <p:nvPr/>
        </p:nvPicPr>
        <p:blipFill>
          <a:blip r:embed="rId6"/>
          <a:stretch>
            <a:fillRect/>
          </a:stretch>
        </p:blipFill>
        <p:spPr>
          <a:xfrm>
            <a:off x="6069330" y="3729482"/>
            <a:ext cx="2011680" cy="2011680"/>
          </a:xfrm>
          <a:prstGeom prst="rect">
            <a:avLst/>
          </a:prstGeom>
        </p:spPr>
      </p:pic>
      <p:sp>
        <p:nvSpPr>
          <p:cNvPr id="33" name="TextBox 32"/>
          <p:cNvSpPr txBox="1"/>
          <p:nvPr/>
        </p:nvSpPr>
        <p:spPr>
          <a:xfrm>
            <a:off x="544068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Spotify</a:t>
            </a:r>
          </a:p>
        </p:txBody>
      </p:sp>
      <p:sp>
        <p:nvSpPr>
          <p:cNvPr id="34" name="TextBox 33"/>
          <p:cNvSpPr txBox="1"/>
          <p:nvPr/>
        </p:nvSpPr>
        <p:spPr>
          <a:xfrm>
            <a:off x="544068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Music recommendation and streaming service</a:t>
            </a:r>
          </a:p>
        </p:txBody>
      </p:sp>
      <p:sp>
        <p:nvSpPr>
          <p:cNvPr id="35" name="Rounded Rectangle 34"/>
          <p:cNvSpPr/>
          <p:nvPr/>
        </p:nvSpPr>
        <p:spPr>
          <a:xfrm>
            <a:off x="930402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6" name="Picture 35" descr="yelp.png"/>
          <p:cNvPicPr>
            <a:picLocks noChangeAspect="1"/>
          </p:cNvPicPr>
          <p:nvPr/>
        </p:nvPicPr>
        <p:blipFill>
          <a:blip r:embed="rId7"/>
          <a:stretch>
            <a:fillRect/>
          </a:stretch>
        </p:blipFill>
        <p:spPr>
          <a:xfrm>
            <a:off x="9658350" y="3737032"/>
            <a:ext cx="3108960" cy="1996579"/>
          </a:xfrm>
          <a:prstGeom prst="rect">
            <a:avLst/>
          </a:prstGeom>
        </p:spPr>
      </p:pic>
      <p:sp>
        <p:nvSpPr>
          <p:cNvPr id="37" name="TextBox 36"/>
          <p:cNvSpPr txBox="1"/>
          <p:nvPr/>
        </p:nvSpPr>
        <p:spPr>
          <a:xfrm>
            <a:off x="957834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Yelp</a:t>
            </a:r>
          </a:p>
        </p:txBody>
      </p:sp>
      <p:sp>
        <p:nvSpPr>
          <p:cNvPr id="38" name="TextBox 37"/>
          <p:cNvSpPr txBox="1"/>
          <p:nvPr/>
        </p:nvSpPr>
        <p:spPr>
          <a:xfrm>
            <a:off x="957834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Local business and restaurant recommendation</a:t>
            </a:r>
          </a:p>
        </p:txBody>
      </p:sp>
      <p:sp>
        <p:nvSpPr>
          <p:cNvPr id="39" name="Rounded Rectangle 38"/>
          <p:cNvSpPr/>
          <p:nvPr/>
        </p:nvSpPr>
        <p:spPr>
          <a:xfrm>
            <a:off x="1344168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40" name="Picture 39" descr="amazon.png"/>
          <p:cNvPicPr>
            <a:picLocks noChangeAspect="1"/>
          </p:cNvPicPr>
          <p:nvPr/>
        </p:nvPicPr>
        <p:blipFill>
          <a:blip r:embed="rId8"/>
          <a:stretch>
            <a:fillRect/>
          </a:stretch>
        </p:blipFill>
        <p:spPr>
          <a:xfrm>
            <a:off x="14344650" y="3729482"/>
            <a:ext cx="2011680" cy="2011680"/>
          </a:xfrm>
          <a:prstGeom prst="rect">
            <a:avLst/>
          </a:prstGeom>
        </p:spPr>
      </p:pic>
      <p:sp>
        <p:nvSpPr>
          <p:cNvPr id="41" name="TextBox 40"/>
          <p:cNvSpPr txBox="1"/>
          <p:nvPr/>
        </p:nvSpPr>
        <p:spPr>
          <a:xfrm>
            <a:off x="1371600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Amazon</a:t>
            </a:r>
          </a:p>
        </p:txBody>
      </p:sp>
      <p:sp>
        <p:nvSpPr>
          <p:cNvPr id="42" name="TextBox 41"/>
          <p:cNvSpPr txBox="1"/>
          <p:nvPr/>
        </p:nvSpPr>
        <p:spPr>
          <a:xfrm>
            <a:off x="1371600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E-commerce platform with personalised product recommendations</a:t>
            </a:r>
          </a:p>
        </p:txBody>
      </p:sp>
      <p:sp>
        <p:nvSpPr>
          <p:cNvPr id="43" name="Rounded Rectangle 42"/>
          <p:cNvSpPr/>
          <p:nvPr/>
        </p:nvSpPr>
        <p:spPr>
          <a:xfrm>
            <a:off x="1028700" y="8301482"/>
            <a:ext cx="16230600" cy="869950"/>
          </a:xfrm>
          <a:prstGeom prst="roundRect">
            <a:avLst>
              <a:gd name="adj" fmla="val 31532"/>
            </a:avLst>
          </a:prstGeom>
          <a:solidFill>
            <a:srgbClr val="E7EAF3"/>
          </a:solidFill>
          <a:ln>
            <a:noFill/>
          </a:ln>
        </p:spPr>
        <p:txBody>
          <a:bodyPr anchor="ctr" rtlCol="false" lIns="548640" tIns="91440" rIns="548640" bIns="91440" wrap="square"/>
          <a:lstStyle/>
          <a:p>
            <a:pPr algn="ctr">
              <a:lnSpc>
                <a:spcPts val="2700"/>
              </a:lnSpc>
              <a:spcBef>
                <a:spcPts val="0"/>
              </a:spcBef>
              <a:buNone/>
            </a:pPr>
            <a:r>
              <a:rPr lang="en-US" sz="2100" b="true">
                <a:solidFill>
                  <a:srgbClr val="111111"/>
                </a:solidFill>
                <a:latin typeface="Nunito Semi-Bold"/>
                <a:ea typeface="Nunito Semi-Bold"/>
                <a:cs typeface="Nunito Semi-Bold"/>
                <a:sym typeface="Nunito Semi-Bold"/>
              </a:rPr>
              <a:t>AI recommendation shapes what </a:t>
            </a:r>
            <a:r>
              <a:rPr lang="en-US" sz="2100" b="true">
                <a:solidFill>
                  <a:srgbClr val="111111"/>
                </a:solidFill>
                <a:latin typeface="Nunito Bold"/>
                <a:ea typeface="Nunito Bold"/>
                <a:cs typeface="Nunito Bold"/>
                <a:sym typeface="Nunito Bold"/>
              </a:rPr>
              <a:t>billions</a:t>
            </a:r>
            <a:r>
              <a:rPr lang="en-US" sz="2100" b="true">
                <a:solidFill>
                  <a:srgbClr val="111111"/>
                </a:solidFill>
                <a:latin typeface="Nunito Semi-Bold"/>
                <a:ea typeface="Nunito Semi-Bold"/>
                <a:cs typeface="Nunito Semi-Bold"/>
                <a:sym typeface="Nunito Semi-Bold"/>
              </a:rPr>
              <a:t> see, buy and listen to every day. Each system is very </a:t>
            </a:r>
            <a:r>
              <a:rPr lang="en-US" sz="2100" b="true">
                <a:solidFill>
                  <a:srgbClr val="111111"/>
                </a:solidFill>
                <a:latin typeface="Nunito Bold"/>
                <a:ea typeface="Nunito Bold"/>
                <a:cs typeface="Nunito Bold"/>
                <a:sym typeface="Nunito Bold"/>
              </a:rPr>
              <a:t>accurate, yet a black box</a:t>
            </a:r>
            <a:r>
              <a:rPr lang="en-US" sz="2100" b="true">
                <a:solidFill>
                  <a:srgbClr val="111111"/>
                </a:solidFill>
                <a:latin typeface="Nunito Semi-Bold"/>
                <a:ea typeface="Nunito Semi-Bold"/>
                <a:cs typeface="Nunito Semi-Bold"/>
                <a:sym typeface="Nunito Semi-Bold"/>
              </a:rPr>
              <a:t>: its reasoning is hidden from the user. Everywhere, and hidden: that is </a:t>
            </a:r>
            <a:r>
              <a:rPr lang="en-US" sz="2100" b="true">
                <a:solidFill>
                  <a:srgbClr val="111111"/>
                </a:solidFill>
                <a:latin typeface="Nunito Bold"/>
                <a:ea typeface="Nunito Bold"/>
                <a:cs typeface="Nunito Bold"/>
                <a:sym typeface="Nunito Bold"/>
              </a:rPr>
              <a:t>exactly the gap this thesis targets</a:t>
            </a:r>
            <a:r>
              <a:rPr lang="en-US" sz="21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08</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Context &amp; Problematic</a:t>
            </a:r>
          </a:p>
        </p:txBody>
      </p:sp>
      <p:sp>
        <p:nvSpPr>
          <p:cNvPr id="8" name="Oval 7"/>
          <p:cNvSpPr/>
          <p:nvPr/>
        </p:nvSpPr>
        <p:spPr>
          <a:xfrm>
            <a:off x="15944631"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944631"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02</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The main approaches, their limitations and the five research questions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Approaches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Collaborative, content-based, hybrid, matrix factorisation and graph/hypergraph recommenders: each one stronger, each one less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Problematic</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main limitations: lack of explainability, difficulty of scaling, weak link between explanation and learning.</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Contributions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Five research questions answered by three contributions that build on each other, under one cooperative-game view.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Content-Based Filtering</a:t>
            </a:r>
          </a:p>
        </p:txBody>
      </p:sp>
      <p:pic>
        <p:nvPicPr>
          <p:cNvPr id="23" name="Picture 22" descr="image.png"/>
          <p:cNvPicPr>
            <a:picLocks noChangeAspect="1"/>
          </p:cNvPicPr>
          <p:nvPr/>
        </p:nvPicPr>
        <p:blipFill>
          <a:blip r:embed="rId3"/>
          <a:stretch>
            <a:fillRect/>
          </a:stretch>
        </p:blipFill>
        <p:spPr>
          <a:xfrm>
            <a:off x="7401574" y="1673352"/>
            <a:ext cx="457200" cy="250983"/>
          </a:xfrm>
          <a:prstGeom prst="rect">
            <a:avLst/>
          </a:prstGeom>
        </p:spPr>
      </p:pic>
      <p:sp>
        <p:nvSpPr>
          <p:cNvPr id="24" name="Rounded Rectangle 23"/>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TextBox 26"/>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a:t>
            </a:r>
            <a:r>
              <a:rPr lang="en-US" sz="2100" b="true">
                <a:solidFill>
                  <a:srgbClr val="111111"/>
                </a:solidFill>
                <a:latin typeface="Nunito Bold"/>
                <a:ea typeface="Nunito Bold"/>
                <a:cs typeface="Nunito Bold"/>
                <a:sym typeface="Nunito Bold"/>
              </a:rPr>
              <a:t>based on their features</a:t>
            </a:r>
            <a:r>
              <a:rPr lang="en-US" sz="2100" b="true">
                <a:solidFill>
                  <a:srgbClr val="111111"/>
                </a:solidFill>
                <a:latin typeface="Nunito Semi-Bold"/>
                <a:ea typeface="Nunito Semi-Bold"/>
                <a:cs typeface="Nunito Semi-Bold"/>
                <a:sym typeface="Nunito Semi-Bold"/>
              </a:rPr>
              <a:t> and the user's past preferences.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Builds a </a:t>
            </a:r>
            <a:r>
              <a:rPr lang="en-US" sz="2100" b="true">
                <a:solidFill>
                  <a:srgbClr val="111111"/>
                </a:solidFill>
                <a:latin typeface="Nunito Bold"/>
                <a:ea typeface="Nunito Bold"/>
                <a:cs typeface="Nunito Bold"/>
                <a:sym typeface="Nunito Bold"/>
              </a:rPr>
              <a:t>user profile</a:t>
            </a:r>
            <a:r>
              <a:rPr lang="en-US" sz="2100" b="true">
                <a:solidFill>
                  <a:srgbClr val="111111"/>
                </a:solidFill>
                <a:latin typeface="Nunito Semi-Bold"/>
                <a:ea typeface="Nunito Semi-Bold"/>
                <a:cs typeface="Nunito Semi-Bold"/>
                <a:sym typeface="Nunito Semi-Bold"/>
              </a:rPr>
              <a:t> from previously liked, viewed or selected items.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Suggests new items with </a:t>
            </a:r>
            <a:r>
              <a:rPr lang="en-US" sz="2100" b="true">
                <a:solidFill>
                  <a:srgbClr val="111111"/>
                </a:solidFill>
                <a:latin typeface="Nunito Bold"/>
                <a:ea typeface="Nunito Bold"/>
                <a:cs typeface="Nunito Bold"/>
                <a:sym typeface="Nunito Bold"/>
              </a:rPr>
              <a:t>similar characteristics</a:t>
            </a:r>
            <a:r>
              <a:rPr lang="en-US" sz="2100" b="true">
                <a:solidFill>
                  <a:srgbClr val="111111"/>
                </a:solidFill>
                <a:latin typeface="Nunito Semi-Bold"/>
                <a:ea typeface="Nunito Semi-Bold"/>
                <a:cs typeface="Nunito Semi-Bold"/>
                <a:sym typeface="Nunito Semi-Bold"/>
              </a:rPr>
              <a:t> (genre, cast, keywords, brand).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Explainable by construction: the reason is a </a:t>
            </a:r>
            <a:r>
              <a:rPr lang="en-US" sz="2100" b="true">
                <a:solidFill>
                  <a:srgbClr val="111111"/>
                </a:solidFill>
                <a:latin typeface="Nunito Bold"/>
                <a:ea typeface="Nunito Bold"/>
                <a:cs typeface="Nunito Bold"/>
                <a:sym typeface="Nunito Bold"/>
              </a:rPr>
              <a:t>named feature</a:t>
            </a:r>
            <a:r>
              <a:rPr lang="en-US" sz="2100" b="true">
                <a:solidFill>
                  <a:srgbClr val="111111"/>
                </a:solidFill>
                <a:latin typeface="Nunito Semi-Bold"/>
                <a:ea typeface="Nunito Semi-Bold"/>
                <a:cs typeface="Nunito Semi-Bold"/>
                <a:sym typeface="Nunito Semi-Bold"/>
              </a:rPr>
              <a:t> the user recognises.</a:t>
            </a:r>
          </a:p>
        </p:txBody>
      </p:sp>
      <p:sp>
        <p:nvSpPr>
          <p:cNvPr id="28" name="Rounded Rectangle 27"/>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29" name="Rounded Rectangle 28"/>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0" name="TextBox 29"/>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Recommendations may become too similar and lack diversity; it needs good item metadata.</a:t>
            </a:r>
          </a:p>
        </p:txBody>
      </p:sp>
      <p:pic>
        <p:nvPicPr>
          <p:cNvPr id="31" name="Picture 30" descr="ctx_content.png"/>
          <p:cNvPicPr>
            <a:picLocks noChangeAspect="1"/>
          </p:cNvPicPr>
          <p:nvPr/>
        </p:nvPicPr>
        <p:blipFill>
          <a:blip r:embed="rId4"/>
          <a:stretch>
            <a:fillRect/>
          </a:stretch>
        </p:blipFill>
        <p:spPr>
          <a:xfrm>
            <a:off x="9258300" y="4108346"/>
            <a:ext cx="8001000" cy="4364181"/>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Collaborative Filtering</a:t>
            </a:r>
          </a:p>
        </p:txBody>
      </p:sp>
      <p:pic>
        <p:nvPicPr>
          <p:cNvPr id="23" name="Picture 22" descr="image.png"/>
          <p:cNvPicPr>
            <a:picLocks noChangeAspect="1"/>
          </p:cNvPicPr>
          <p:nvPr/>
        </p:nvPicPr>
        <p:blipFill>
          <a:blip r:embed="rId3"/>
          <a:stretch>
            <a:fillRect/>
          </a:stretch>
        </p:blipFill>
        <p:spPr>
          <a:xfrm>
            <a:off x="7040539" y="1673352"/>
            <a:ext cx="457200" cy="539881"/>
          </a:xfrm>
          <a:prstGeom prst="rect">
            <a:avLst/>
          </a:prstGeom>
        </p:spPr>
      </p:pic>
      <p:sp>
        <p:nvSpPr>
          <p:cNvPr id="24" name="Rounded Rectangle 23"/>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TextBox 26"/>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using the </a:t>
            </a:r>
            <a:r>
              <a:rPr lang="en-US" sz="2100" b="true">
                <a:solidFill>
                  <a:srgbClr val="111111"/>
                </a:solidFill>
                <a:latin typeface="Nunito Bold"/>
                <a:ea typeface="Nunito Bold"/>
                <a:cs typeface="Nunito Bold"/>
                <a:sym typeface="Nunito Bold"/>
              </a:rPr>
              <a:t>preferences and behaviour of similar users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Finds patterns in </a:t>
            </a:r>
            <a:r>
              <a:rPr lang="en-US" sz="2100" b="true">
                <a:solidFill>
                  <a:srgbClr val="111111"/>
                </a:solidFill>
                <a:latin typeface="Nunito Bold"/>
                <a:ea typeface="Nunito Bold"/>
                <a:cs typeface="Nunito Bold"/>
                <a:sym typeface="Nunito Bold"/>
              </a:rPr>
              <a:t>user-item interactions</a:t>
            </a:r>
            <a:r>
              <a:rPr lang="en-US" sz="2100" b="true">
                <a:solidFill>
                  <a:srgbClr val="111111"/>
                </a:solidFill>
                <a:latin typeface="Nunito Semi-Bold"/>
                <a:ea typeface="Nunito Semi-Bold"/>
                <a:cs typeface="Nunito Semi-Bold"/>
                <a:sym typeface="Nunito Semi-Bold"/>
              </a:rPr>
              <a:t>: ratings, clicks, purchases.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Can be </a:t>
            </a:r>
            <a:r>
              <a:rPr lang="en-US" sz="2100" b="true">
                <a:solidFill>
                  <a:srgbClr val="111111"/>
                </a:solidFill>
                <a:latin typeface="Nunito Bold"/>
                <a:ea typeface="Nunito Bold"/>
                <a:cs typeface="Nunito Bold"/>
                <a:sym typeface="Nunito Bold"/>
              </a:rPr>
              <a:t>user-based</a:t>
            </a:r>
            <a:r>
              <a:rPr lang="en-US" sz="2100" b="true">
                <a:solidFill>
                  <a:srgbClr val="111111"/>
                </a:solidFill>
                <a:latin typeface="Nunito Semi-Bold"/>
                <a:ea typeface="Nunito Semi-Bold"/>
                <a:cs typeface="Nunito Semi-Bold"/>
                <a:sym typeface="Nunito Semi-Bold"/>
              </a:rPr>
              <a:t> or </a:t>
            </a:r>
            <a:r>
              <a:rPr lang="en-US" sz="2100" b="true">
                <a:solidFill>
                  <a:srgbClr val="111111"/>
                </a:solidFill>
                <a:latin typeface="Nunito Bold"/>
                <a:ea typeface="Nunito Bold"/>
                <a:cs typeface="Nunito Bold"/>
                <a:sym typeface="Nunito Bold"/>
              </a:rPr>
              <a:t>item-based</a:t>
            </a:r>
            <a:r>
              <a:rPr lang="en-US" sz="2100" b="true">
                <a:solidFill>
                  <a:srgbClr val="111111"/>
                </a:solidFill>
                <a:latin typeface="Nunito Semi-Bold"/>
                <a:ea typeface="Nunito Semi-Bold"/>
                <a:cs typeface="Nunito Semi-Bold"/>
                <a:sym typeface="Nunito Semi-Bold"/>
              </a:rPr>
              <a:t>; needs no item content at all.</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base idea behind matrix factorisation and graph recommenders.</a:t>
            </a:r>
          </a:p>
        </p:txBody>
      </p:sp>
      <p:sp>
        <p:nvSpPr>
          <p:cNvPr id="28" name="Rounded Rectangle 27"/>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29" name="Rounded Rectangle 28"/>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0" name="TextBox 29"/>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It struggles with new users or new items because of limited interaction data (cold start).</a:t>
            </a:r>
          </a:p>
        </p:txBody>
      </p:sp>
      <p:pic>
        <p:nvPicPr>
          <p:cNvPr id="31" name="Picture 30" descr="ctx_cf.png"/>
          <p:cNvPicPr>
            <a:picLocks noChangeAspect="1"/>
          </p:cNvPicPr>
          <p:nvPr/>
        </p:nvPicPr>
        <p:blipFill>
          <a:blip r:embed="rId4"/>
          <a:stretch>
            <a:fillRect/>
          </a:stretch>
        </p:blipFill>
        <p:spPr>
          <a:xfrm>
            <a:off x="9258300" y="4108346"/>
            <a:ext cx="8001000" cy="4364181"/>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[22] Adomavicius, G. &amp; Tuzhilin, A. Toward the Next Generation of Recommender Systems. IEEE TKDE 17(6), 734–749 (2005).  ·  Burke, R. Hybrid Recommender Systems. UMUAI 12(4), 331–370 (2002).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Hybrid Approaches and Matrix Factorisation</a:t>
            </a:r>
          </a:p>
        </p:txBody>
      </p:sp>
      <p:pic>
        <p:nvPicPr>
          <p:cNvPr id="23" name="Picture 22" descr="image.png"/>
          <p:cNvPicPr>
            <a:picLocks noChangeAspect="1"/>
          </p:cNvPicPr>
          <p:nvPr/>
        </p:nvPicPr>
        <p:blipFill>
          <a:blip r:embed="rId3"/>
          <a:stretch>
            <a:fillRect/>
          </a:stretch>
        </p:blipFill>
        <p:spPr>
          <a:xfrm>
            <a:off x="12801265" y="1673352"/>
            <a:ext cx="457200" cy="373212"/>
          </a:xfrm>
          <a:prstGeom prst="rect">
            <a:avLst/>
          </a:prstGeom>
        </p:spPr>
      </p:pic>
      <p:sp>
        <p:nvSpPr>
          <p:cNvPr id="24" name="Rounded Rectangle 23"/>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TextBox 26"/>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Hybrid:</a:t>
            </a:r>
            <a:r>
              <a:rPr lang="en-US" sz="2100" b="true">
                <a:solidFill>
                  <a:srgbClr val="111111"/>
                </a:solidFill>
                <a:latin typeface="Nunito Semi-Bold"/>
                <a:ea typeface="Nunito Semi-Bold"/>
                <a:cs typeface="Nunito Semi-Bold"/>
                <a:sym typeface="Nunito Semi-Bold"/>
              </a:rPr>
              <a:t> combines content-based and collaborative methods to reduce the weaknesses of each.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Handles limited data, over-specialisation and part of the cold-start problem.</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Matrix factorisation (MF):</a:t>
            </a:r>
            <a:r>
              <a:rPr lang="en-US" sz="2100" b="true">
                <a:solidFill>
                  <a:srgbClr val="111111"/>
                </a:solidFill>
                <a:latin typeface="Nunito Semi-Bold"/>
                <a:ea typeface="Nunito Semi-Bold"/>
                <a:cs typeface="Nunito Semi-Bold"/>
                <a:sym typeface="Nunito Semi-Bold"/>
              </a:rPr>
              <a:t> the interaction matrix R is split into user and item factors P and Q.</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MF made recommendation accurate and scalable; it is the standard baseline of the field.</a:t>
            </a:r>
          </a:p>
        </p:txBody>
      </p:sp>
      <p:sp>
        <p:nvSpPr>
          <p:cNvPr id="28" name="Rounded Rectangle 27"/>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29" name="Rounded Rectangle 28"/>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0" name="TextBox 29"/>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The latent factors are compact but hidden: a good score cannot be traced back to a factor a person understands.</a:t>
            </a:r>
          </a:p>
        </p:txBody>
      </p:sp>
      <p:pic>
        <p:nvPicPr>
          <p:cNvPr id="31" name="Picture 30" descr="ctx_mf.png"/>
          <p:cNvPicPr>
            <a:picLocks noChangeAspect="1"/>
          </p:cNvPicPr>
          <p:nvPr/>
        </p:nvPicPr>
        <p:blipFill>
          <a:blip r:embed="rId4"/>
          <a:stretch>
            <a:fillRect/>
          </a:stretch>
        </p:blipFill>
        <p:spPr>
          <a:xfrm>
            <a:off x="9258300" y="4108346"/>
            <a:ext cx="8001000" cy="4364181"/>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[16] Feng, Y. et al. Hypergraph Neural Networks. AAAI 33, 3558–3565 (2019).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Graph-Based and Hypergraph Recommenders</a:t>
            </a:r>
          </a:p>
        </p:txBody>
      </p:sp>
      <p:pic>
        <p:nvPicPr>
          <p:cNvPr id="23" name="Picture 22" descr="image.png"/>
          <p:cNvPicPr>
            <a:picLocks noChangeAspect="1"/>
          </p:cNvPicPr>
          <p:nvPr/>
        </p:nvPicPr>
        <p:blipFill>
          <a:blip r:embed="rId3"/>
          <a:stretch>
            <a:fillRect/>
          </a:stretch>
        </p:blipFill>
        <p:spPr>
          <a:xfrm>
            <a:off x="13302882" y="1673352"/>
            <a:ext cx="457200" cy="427074"/>
          </a:xfrm>
          <a:prstGeom prst="rect">
            <a:avLst/>
          </a:prstGeom>
        </p:spPr>
      </p:pic>
      <p:sp>
        <p:nvSpPr>
          <p:cNvPr id="24" name="Rounded Rectangle 23"/>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TextBox 26"/>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Represent users, items and their interactions as </a:t>
            </a:r>
            <a:r>
              <a:rPr lang="en-US" sz="2100" b="true">
                <a:solidFill>
                  <a:srgbClr val="111111"/>
                </a:solidFill>
                <a:latin typeface="Nunito Bold"/>
                <a:ea typeface="Nunito Bold"/>
                <a:cs typeface="Nunito Bold"/>
                <a:sym typeface="Nunito Bold"/>
              </a:rPr>
              <a:t>nodes and edges</a:t>
            </a:r>
            <a:r>
              <a:rPr lang="en-US" sz="2100" b="true">
                <a:solidFill>
                  <a:srgbClr val="111111"/>
                </a:solidFill>
                <a:latin typeface="Nunito Semi-Bold"/>
                <a:ea typeface="Nunito Semi-Bold"/>
                <a:cs typeface="Nunito Semi-Bold"/>
                <a:sym typeface="Nunito Semi-Bold"/>
              </a:rPr>
              <a:t> in a graph.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 </a:t>
            </a:r>
            <a:r>
              <a:rPr lang="en-US" sz="2100" b="true">
                <a:solidFill>
                  <a:srgbClr val="111111"/>
                </a:solidFill>
                <a:latin typeface="Nunito Bold"/>
                <a:ea typeface="Nunito Bold"/>
                <a:cs typeface="Nunito Bold"/>
                <a:sym typeface="Nunito Bold"/>
              </a:rPr>
              <a:t>message passing</a:t>
            </a:r>
            <a:r>
              <a:rPr lang="en-US" sz="2100" b="true">
                <a:solidFill>
                  <a:srgbClr val="111111"/>
                </a:solidFill>
                <a:latin typeface="Nunito Semi-Bold"/>
                <a:ea typeface="Nunito Semi-Bold"/>
                <a:cs typeface="Nunito Semi-Bold"/>
                <a:sym typeface="Nunito Semi-Bold"/>
              </a:rPr>
              <a:t> (LightGCN, HCCF, HPCF) to reach multi-hop neighbours.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Hypergraphs</a:t>
            </a:r>
            <a:r>
              <a:rPr lang="en-US" sz="2100" b="true">
                <a:solidFill>
                  <a:srgbClr val="111111"/>
                </a:solidFill>
                <a:latin typeface="Nunito Semi-Bold"/>
                <a:ea typeface="Nunito Semi-Bold"/>
                <a:cs typeface="Nunito Semi-Bold"/>
                <a:sym typeface="Nunito Semi-Bold"/>
              </a:rPr>
              <a:t> connect more than two nodes at once: user, item and context in one hyperedge.</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State of the art in accuracy on sparse benchmarks such as MovieLens-1M and Amazon-Book.</a:t>
            </a:r>
          </a:p>
        </p:txBody>
      </p:sp>
      <p:sp>
        <p:nvSpPr>
          <p:cNvPr id="28" name="Rounded Rectangle 27"/>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29" name="Rounded Rectangle 28"/>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0" name="TextBox 29"/>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Large graphs cost compute and memory, and all messages are treated as equally important and unexplained.</a:t>
            </a:r>
          </a:p>
        </p:txBody>
      </p:sp>
      <p:pic>
        <p:nvPicPr>
          <p:cNvPr id="31" name="Picture 30" descr="ctx_hyper.png"/>
          <p:cNvPicPr>
            <a:picLocks noChangeAspect="1"/>
          </p:cNvPicPr>
          <p:nvPr/>
        </p:nvPicPr>
        <p:blipFill>
          <a:blip r:embed="rId4"/>
          <a:stretch>
            <a:fillRect/>
          </a:stretch>
        </p:blipFill>
        <p:spPr>
          <a:xfrm>
            <a:off x="9258300" y="4057599"/>
            <a:ext cx="8001000" cy="446567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[23] Zhu, Z. et al. Popularity Bias in Dynamic Recommendation. KDD, 2439–2449 (2021).  ·  Hurley, N. &amp; Zhang, M. Novelty and Diversity in Top-N Recommendation. ACM TOIT 10(4) (2011).   [21] Zhang, Y. &amp; Chen, X. Explainable Recommendation: A Survey and New Perspectives. Foundations and Trends in IR 14(1), 1–101 (2020).</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666750"/>
          </a:xfrm>
          <a:prstGeom prst="rect">
            <a:avLst/>
          </a:prstGeom>
          <a:noFill/>
        </p:spPr>
        <p:txBody>
          <a:bodyPr anchor="t" rtlCol="false" lIns="0" tIns="0" rIns="0" bIns="0" wrap="square"/>
          <a:lstStyle/>
          <a:p>
            <a:pPr algn="l">
              <a:lnSpc>
                <a:spcPts val="4620"/>
              </a:lnSpc>
              <a:spcBef>
                <a:spcPts val="0"/>
              </a:spcBef>
              <a:buNone/>
            </a:pPr>
            <a:r>
              <a:rPr lang="en-US" sz="4200" b="true" spc="-210">
                <a:solidFill>
                  <a:srgbClr val="111111"/>
                </a:solidFill>
                <a:latin typeface="Roca Two Bold"/>
                <a:ea typeface="Roca Two Bold"/>
                <a:cs typeface="Roca Two Bold"/>
                <a:sym typeface="Roca Two Bold"/>
              </a:rPr>
              <a:t>Limitations of Classical Recommenders &amp; Unsupervised Models</a:t>
            </a:r>
          </a:p>
        </p:txBody>
      </p:sp>
      <p:pic>
        <p:nvPicPr>
          <p:cNvPr id="23" name="Picture 22" descr="image.png"/>
          <p:cNvPicPr>
            <a:picLocks noChangeAspect="1"/>
          </p:cNvPicPr>
          <p:nvPr/>
        </p:nvPicPr>
        <p:blipFill>
          <a:blip r:embed="rId3"/>
          <a:stretch>
            <a:fillRect/>
          </a:stretch>
        </p:blipFill>
        <p:spPr>
          <a:xfrm>
            <a:off x="16315229" y="1673352"/>
            <a:ext cx="457200" cy="399005"/>
          </a:xfrm>
          <a:prstGeom prst="rect">
            <a:avLst/>
          </a:prstGeom>
        </p:spPr>
      </p:pic>
      <p:sp>
        <p:nvSpPr>
          <p:cNvPr id="24" name="Rounded Rectangle 23"/>
          <p:cNvSpPr/>
          <p:nvPr/>
        </p:nvSpPr>
        <p:spPr>
          <a:xfrm>
            <a:off x="1028700" y="24955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4955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4955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Rounded Rectangle 26"/>
          <p:cNvSpPr/>
          <p:nvPr/>
        </p:nvSpPr>
        <p:spPr>
          <a:xfrm>
            <a:off x="102870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01</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Data sparsity &amp; scalability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user-item matrix is almost empty, so there is very little signal to learn from.</a:t>
            </a:r>
          </a:p>
        </p:txBody>
      </p:sp>
      <p:sp>
        <p:nvSpPr>
          <p:cNvPr id="28" name="Rounded Rectangle 27"/>
          <p:cNvSpPr/>
          <p:nvPr/>
        </p:nvSpPr>
        <p:spPr>
          <a:xfrm>
            <a:off x="515493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02</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Cold-start</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New users and items are at a disadvantage: no history to learn from.</a:t>
            </a:r>
          </a:p>
        </p:txBody>
      </p:sp>
      <p:sp>
        <p:nvSpPr>
          <p:cNvPr id="29" name="Rounded Rectangle 28"/>
          <p:cNvSpPr/>
          <p:nvPr/>
        </p:nvSpPr>
        <p:spPr>
          <a:xfrm>
            <a:off x="928116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03</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Popularity bias &amp; lack of diversity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Exposure leads to interaction, which leads to more exposure: a filter-bubble loop.</a:t>
            </a:r>
          </a:p>
        </p:txBody>
      </p:sp>
      <p:sp>
        <p:nvSpPr>
          <p:cNvPr id="30" name="Rounded Rectangle 29"/>
          <p:cNvSpPr/>
          <p:nvPr/>
        </p:nvSpPr>
        <p:spPr>
          <a:xfrm>
            <a:off x="13407390" y="3391662"/>
            <a:ext cx="3851910" cy="3017520"/>
          </a:xfrm>
          <a:prstGeom prst="roundRect">
            <a:avLst>
              <a:gd name="adj" fmla="val 9090"/>
            </a:avLst>
          </a:prstGeom>
          <a:solidFill>
            <a:srgbClr val="1F7A8C"/>
          </a:solidFill>
          <a:ln>
            <a:noFill/>
          </a:ln>
        </p:spPr>
        <p:txBody>
          <a:bodyPr anchor="t" rtlCol="false" lIns="320040" tIns="320040" rIns="274320" bIns="228600" wrap="square"/>
          <a:lstStyle/>
          <a:p>
            <a:pPr algn="l">
              <a:lnSpc>
                <a:spcPts val="3000"/>
              </a:lnSpc>
              <a:spcBef>
                <a:spcPts val="0"/>
              </a:spcBef>
              <a:buNone/>
            </a:pPr>
            <a:r>
              <a:rPr lang="en-US" sz="2600" b="true">
                <a:solidFill>
                  <a:srgbClr val="FFFFFF"/>
                </a:solidFill>
                <a:latin typeface="Nunito Ultra-Bold"/>
                <a:ea typeface="Nunito Ultra-Bold"/>
                <a:cs typeface="Nunito Ultra-Bold"/>
                <a:sym typeface="Nunito Ultra-Bold"/>
              </a:rPr>
              <a:t>04</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Absence of interpretability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most basic limit, and the one this thesis targets.</a:t>
            </a:r>
          </a:p>
        </p:txBody>
      </p:sp>
      <p:sp>
        <p:nvSpPr>
          <p:cNvPr id="31" name="Rounded Rectangle 30"/>
          <p:cNvSpPr/>
          <p:nvPr/>
        </p:nvSpPr>
        <p:spPr>
          <a:xfrm>
            <a:off x="1028700" y="7049262"/>
            <a:ext cx="16230600" cy="2259330"/>
          </a:xfrm>
          <a:prstGeom prst="roundRect">
            <a:avLst>
              <a:gd name="adj" fmla="val 13760"/>
            </a:avLst>
          </a:prstGeom>
          <a:solidFill>
            <a:srgbClr val="E7EAF3"/>
          </a:solidFill>
          <a:ln>
            <a:noFill/>
          </a:ln>
        </p:spPr>
        <p:txBody>
          <a:bodyPr anchor="ctr" rtlCol="false" lIns="0" tIns="0" rIns="0" bIns="0" wrap="square"/>
          <a:lstStyle/>
          <a:p>
            <a:endParaRPr lang="en-US" sz="1800"/>
          </a:p>
        </p:txBody>
      </p:sp>
      <p:sp>
        <p:nvSpPr>
          <p:cNvPr id="32" name="Rounded Rectangle 31"/>
          <p:cNvSpPr/>
          <p:nvPr/>
        </p:nvSpPr>
        <p:spPr>
          <a:xfrm>
            <a:off x="1485900" y="6811518"/>
            <a:ext cx="7857234"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For clustering specifically, the situation is even harder</a:t>
            </a:r>
          </a:p>
        </p:txBody>
      </p:sp>
      <p:sp>
        <p:nvSpPr>
          <p:cNvPr id="33" name="TextBox 32"/>
          <p:cNvSpPr txBox="1"/>
          <p:nvPr/>
        </p:nvSpPr>
        <p:spPr>
          <a:xfrm>
            <a:off x="1531620" y="7689342"/>
            <a:ext cx="15270480" cy="1344930"/>
          </a:xfrm>
          <a:prstGeom prst="rect">
            <a:avLst/>
          </a:prstGeom>
          <a:noFill/>
        </p:spPr>
        <p:txBody>
          <a:bodyPr anchor="t" rtlCol="false" lIns="0" tIns="0" rIns="0" bIns="0" wrap="square"/>
          <a:lstStyle/>
          <a:p>
            <a:pPr algn="l" marL="274320" indent="-274320">
              <a:lnSpc>
                <a:spcPts val="2587"/>
              </a:lnSpc>
              <a:spcBef>
                <a:spcPts val="0"/>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Methods give a </a:t>
            </a:r>
            <a:r>
              <a:rPr lang="en-US" sz="1848" b="true">
                <a:solidFill>
                  <a:srgbClr val="111111"/>
                </a:solidFill>
                <a:latin typeface="Nunito Bold"/>
                <a:ea typeface="Nunito Bold"/>
                <a:cs typeface="Nunito Bold"/>
                <a:sym typeface="Nunito Bold"/>
              </a:rPr>
              <a:t>local OR a global</a:t>
            </a:r>
            <a:r>
              <a:rPr lang="en-US" sz="1848" b="true">
                <a:solidFill>
                  <a:srgbClr val="111111"/>
                </a:solidFill>
                <a:latin typeface="Nunito Semi-Bold"/>
                <a:ea typeface="Nunito Semi-Bold"/>
                <a:cs typeface="Nunito Semi-Bold"/>
                <a:sym typeface="Nunito Semi-Bold"/>
              </a:rPr>
              <a:t> explanation, not both.</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They </a:t>
            </a:r>
            <a:r>
              <a:rPr lang="en-US" sz="1848" b="true">
                <a:solidFill>
                  <a:srgbClr val="111111"/>
                </a:solidFill>
                <a:latin typeface="Nunito Bold"/>
                <a:ea typeface="Nunito Bold"/>
                <a:cs typeface="Nunito Bold"/>
                <a:sym typeface="Nunito Bold"/>
              </a:rPr>
              <a:t>struggle to scale</a:t>
            </a:r>
            <a:r>
              <a:rPr lang="en-US" sz="1848" b="true">
                <a:solidFill>
                  <a:srgbClr val="111111"/>
                </a:solidFill>
                <a:latin typeface="Nunito Semi-Bold"/>
                <a:ea typeface="Nunito Semi-Bold"/>
                <a:cs typeface="Nunito Semi-Bold"/>
                <a:sym typeface="Nunito Semi-Bold"/>
              </a:rPr>
              <a:t>, and explanations rarely stay </a:t>
            </a:r>
            <a:r>
              <a:rPr lang="en-US" sz="1848" b="true">
                <a:solidFill>
                  <a:srgbClr val="111111"/>
                </a:solidFill>
                <a:latin typeface="Nunito Bold"/>
                <a:ea typeface="Nunito Bold"/>
                <a:cs typeface="Nunito Bold"/>
                <a:sym typeface="Nunito Bold"/>
              </a:rPr>
              <a:t>consistent across levels of detail</a:t>
            </a:r>
            <a:r>
              <a:rPr lang="en-US" sz="1848" b="true">
                <a:solidFill>
                  <a:srgbClr val="111111"/>
                </a:solidFill>
                <a:latin typeface="Nunito Semi-Bold"/>
                <a:ea typeface="Nunito Semi-Bold"/>
                <a:cs typeface="Nunito Semi-Bold"/>
                <a:sym typeface="Nunito Semi-Bold"/>
              </a:rPr>
              <a:t>.</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Bold"/>
                <a:ea typeface="Nunito Bold"/>
                <a:cs typeface="Nunito Bold"/>
                <a:sym typeface="Nunito Bold"/>
              </a:rPr>
              <a:t>The gap:</a:t>
            </a:r>
            <a:r>
              <a:rPr lang="en-US" sz="1848" b="true">
                <a:solidFill>
                  <a:srgbClr val="111111"/>
                </a:solidFill>
                <a:latin typeface="Nunito Semi-Bold"/>
                <a:ea typeface="Nunito Semi-Bold"/>
                <a:cs typeface="Nunito Semi-Bold"/>
                <a:sym typeface="Nunito Semi-Bold"/>
              </a:rPr>
              <a:t> no faithful local + global explanation, poor scaling, and no consistency across levels. This is exactly what this thesis works 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Three Main Limitations: Problem Statement</a:t>
            </a:r>
          </a:p>
        </p:txBody>
      </p:sp>
      <p:pic>
        <p:nvPicPr>
          <p:cNvPr id="23" name="Picture 22" descr="image.png"/>
          <p:cNvPicPr>
            <a:picLocks noChangeAspect="1"/>
          </p:cNvPicPr>
          <p:nvPr/>
        </p:nvPicPr>
        <p:blipFill>
          <a:blip r:embed="rId3"/>
          <a:stretch>
            <a:fillRect/>
          </a:stretch>
        </p:blipFill>
        <p:spPr>
          <a:xfrm>
            <a:off x="12569927" y="1673352"/>
            <a:ext cx="457200" cy="446713"/>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Rounded Rectangle 26"/>
          <p:cNvSpPr/>
          <p:nvPr/>
        </p:nvSpPr>
        <p:spPr>
          <a:xfrm>
            <a:off x="102870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28" name="Oval 27"/>
          <p:cNvSpPr/>
          <p:nvPr/>
        </p:nvSpPr>
        <p:spPr>
          <a:xfrm>
            <a:off x="134874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1</a:t>
            </a:r>
          </a:p>
        </p:txBody>
      </p:sp>
      <p:sp>
        <p:nvSpPr>
          <p:cNvPr id="29" name="TextBox 28"/>
          <p:cNvSpPr txBox="1"/>
          <p:nvPr/>
        </p:nvSpPr>
        <p:spPr>
          <a:xfrm>
            <a:off x="1348740" y="4643882"/>
            <a:ext cx="4556760" cy="2194560"/>
          </a:xfrm>
          <a:prstGeom prst="rect">
            <a:avLst/>
          </a:prstGeom>
          <a:noFill/>
        </p:spPr>
        <p:txBody>
          <a:bodyPr anchor="t"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Lack of explainability</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Complex models are still hard to explain in a way that is </a:t>
            </a:r>
            <a:r>
              <a:rPr lang="en-US" sz="1900" b="true">
                <a:solidFill>
                  <a:srgbClr val="F1EDE6"/>
                </a:solidFill>
                <a:latin typeface="Nunito Bold"/>
                <a:ea typeface="Nunito Bold"/>
                <a:cs typeface="Nunito Bold"/>
                <a:sym typeface="Nunito Bold"/>
              </a:rPr>
              <a:t>faithful and actionable</a:t>
            </a:r>
            <a:r>
              <a:rPr lang="en-US" sz="1900" b="true">
                <a:solidFill>
                  <a:srgbClr val="F1EDE6"/>
                </a:solidFill>
                <a:latin typeface="Nunito Semi-Bold"/>
                <a:ea typeface="Nunito Semi-Bold"/>
                <a:cs typeface="Nunito Semi-Bold"/>
                <a:sym typeface="Nunito Semi-Bold"/>
              </a:rPr>
              <a:t>.</a:t>
            </a:r>
          </a:p>
        </p:txBody>
      </p:sp>
      <p:sp>
        <p:nvSpPr>
          <p:cNvPr id="30" name="Rounded Rectangle 29"/>
          <p:cNvSpPr/>
          <p:nvPr/>
        </p:nvSpPr>
        <p:spPr>
          <a:xfrm>
            <a:off x="654558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1" name="Oval 30"/>
          <p:cNvSpPr/>
          <p:nvPr/>
        </p:nvSpPr>
        <p:spPr>
          <a:xfrm>
            <a:off x="686562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2</a:t>
            </a:r>
          </a:p>
        </p:txBody>
      </p:sp>
      <p:sp>
        <p:nvSpPr>
          <p:cNvPr id="32" name="TextBox 31"/>
          <p:cNvSpPr txBox="1"/>
          <p:nvPr/>
        </p:nvSpPr>
        <p:spPr>
          <a:xfrm>
            <a:off x="6865620" y="4643882"/>
            <a:ext cx="4556760" cy="2194560"/>
          </a:xfrm>
          <a:prstGeom prst="rect">
            <a:avLst/>
          </a:prstGeom>
          <a:noFill/>
        </p:spPr>
        <p:txBody>
          <a:bodyPr anchor="t" rtlCol="false" lIns="0" tIns="0" rIns="0" bIns="0" wrap="square"/>
          <a:lstStyle/>
          <a:p>
            <a:pPr algn="l">
              <a:lnSpc>
                <a:spcPts val="2820"/>
              </a:lnSpc>
              <a:spcBef>
                <a:spcPts val="0"/>
              </a:spcBef>
              <a:buNone/>
            </a:pPr>
            <a:r>
              <a:rPr lang="en-US" sz="2256" b="true">
                <a:solidFill>
                  <a:srgbClr val="FFFFFF"/>
                </a:solidFill>
                <a:latin typeface="Nunito Ultra-Bold"/>
                <a:ea typeface="Nunito Ultra-Bold"/>
                <a:cs typeface="Nunito Ultra-Bold"/>
                <a:sym typeface="Nunito Ultra-Bold"/>
              </a:rPr>
              <a:t>Difficulty of scaling</a:t>
            </a:r>
          </a:p>
          <a:p>
            <a:pPr algn="l">
              <a:lnSpc>
                <a:spcPts val="2500"/>
              </a:lnSpc>
              <a:spcBef>
                <a:spcPts val="752"/>
              </a:spcBef>
              <a:buNone/>
            </a:pPr>
            <a:r>
              <a:rPr lang="en-US" sz="1786" b="true">
                <a:solidFill>
                  <a:srgbClr val="F1EDE6"/>
                </a:solidFill>
                <a:latin typeface="Nunito Semi-Bold"/>
                <a:ea typeface="Nunito Semi-Bold"/>
                <a:cs typeface="Nunito Semi-Bold"/>
                <a:sym typeface="Nunito Semi-Bold"/>
              </a:rPr>
              <a:t>Local explanations do not carry over to </a:t>
            </a:r>
            <a:r>
              <a:rPr lang="en-US" sz="1786" b="true">
                <a:solidFill>
                  <a:srgbClr val="F1EDE6"/>
                </a:solidFill>
                <a:latin typeface="Nunito Bold"/>
                <a:ea typeface="Nunito Bold"/>
                <a:cs typeface="Nunito Bold"/>
                <a:sym typeface="Nunito Bold"/>
              </a:rPr>
              <a:t>multi-level structures or large datasets</a:t>
            </a:r>
            <a:r>
              <a:rPr lang="en-US" sz="1786" b="true">
                <a:solidFill>
                  <a:srgbClr val="F1EDE6"/>
                </a:solidFill>
                <a:latin typeface="Nunito Semi-Bold"/>
                <a:ea typeface="Nunito Semi-Bold"/>
                <a:cs typeface="Nunito Semi-Bold"/>
                <a:sym typeface="Nunito Semi-Bold"/>
              </a:rPr>
              <a:t>: a method that works on a toy partition may break on hundreds of thousands of nested records.</a:t>
            </a:r>
          </a:p>
        </p:txBody>
      </p:sp>
      <p:sp>
        <p:nvSpPr>
          <p:cNvPr id="33" name="Rounded Rectangle 32"/>
          <p:cNvSpPr/>
          <p:nvPr/>
        </p:nvSpPr>
        <p:spPr>
          <a:xfrm>
            <a:off x="1206246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4" name="Oval 33"/>
          <p:cNvSpPr/>
          <p:nvPr/>
        </p:nvSpPr>
        <p:spPr>
          <a:xfrm>
            <a:off x="1238250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3</a:t>
            </a:r>
          </a:p>
        </p:txBody>
      </p:sp>
      <p:sp>
        <p:nvSpPr>
          <p:cNvPr id="35" name="TextBox 34"/>
          <p:cNvSpPr txBox="1"/>
          <p:nvPr/>
        </p:nvSpPr>
        <p:spPr>
          <a:xfrm>
            <a:off x="12382500" y="4643882"/>
            <a:ext cx="4556760" cy="2194560"/>
          </a:xfrm>
          <a:prstGeom prst="rect">
            <a:avLst/>
          </a:prstGeom>
          <a:noFill/>
        </p:spPr>
        <p:txBody>
          <a:bodyPr anchor="t" rtlCol="false" lIns="0" tIns="0" rIns="0" bIns="0" wrap="square"/>
          <a:lstStyle/>
          <a:p>
            <a:pPr algn="l">
              <a:lnSpc>
                <a:spcPts val="2910"/>
              </a:lnSpc>
              <a:spcBef>
                <a:spcPts val="0"/>
              </a:spcBef>
              <a:buNone/>
            </a:pPr>
            <a:r>
              <a:rPr lang="en-US" sz="2328" b="true">
                <a:solidFill>
                  <a:srgbClr val="FFFFFF"/>
                </a:solidFill>
                <a:latin typeface="Nunito Ultra-Bold"/>
                <a:ea typeface="Nunito Ultra-Bold"/>
                <a:cs typeface="Nunito Ultra-Bold"/>
                <a:sym typeface="Nunito Ultra-Bold"/>
              </a:rPr>
              <a:t>Weak integration into learning</a:t>
            </a:r>
          </a:p>
          <a:p>
            <a:pPr algn="l">
              <a:lnSpc>
                <a:spcPts val="2580"/>
              </a:lnSpc>
              <a:spcBef>
                <a:spcPts val="776"/>
              </a:spcBef>
              <a:buNone/>
            </a:pPr>
            <a:r>
              <a:rPr lang="en-US" sz="1843" b="true">
                <a:solidFill>
                  <a:srgbClr val="F1EDE6"/>
                </a:solidFill>
                <a:latin typeface="Nunito Semi-Bold"/>
                <a:ea typeface="Nunito Semi-Bold"/>
                <a:cs typeface="Nunito Semi-Bold"/>
                <a:sym typeface="Nunito Semi-Bold"/>
              </a:rPr>
              <a:t>Most explanations stay </a:t>
            </a:r>
            <a:r>
              <a:rPr lang="en-US" sz="1843" b="true">
                <a:solidFill>
                  <a:srgbClr val="F1EDE6"/>
                </a:solidFill>
                <a:latin typeface="Nunito Bold"/>
                <a:ea typeface="Nunito Bold"/>
                <a:cs typeface="Nunito Bold"/>
                <a:sym typeface="Nunito Bold"/>
              </a:rPr>
              <a:t>post-hoc</a:t>
            </a:r>
            <a:r>
              <a:rPr lang="en-US" sz="1843" b="true">
                <a:solidFill>
                  <a:srgbClr val="F1EDE6"/>
                </a:solidFill>
                <a:latin typeface="Nunito Semi-Bold"/>
                <a:ea typeface="Nunito Semi-Bold"/>
                <a:cs typeface="Nunito Semi-Bold"/>
                <a:sym typeface="Nunito Semi-Bold"/>
              </a:rPr>
              <a:t>: they do not shape how the model learns, nor the </a:t>
            </a:r>
            <a:r>
              <a:rPr lang="en-US" sz="1843" b="true">
                <a:solidFill>
                  <a:srgbClr val="F1EDE6"/>
                </a:solidFill>
                <a:latin typeface="Nunito Bold"/>
                <a:ea typeface="Nunito Bold"/>
                <a:cs typeface="Nunito Bold"/>
                <a:sym typeface="Nunito Bold"/>
              </a:rPr>
              <a:t>accuracy / diversity / context trade-off</a:t>
            </a:r>
            <a:r>
              <a:rPr lang="en-US" sz="1843" b="true">
                <a:solidFill>
                  <a:srgbClr val="F1EDE6"/>
                </a:solidFill>
                <a:latin typeface="Nunito Semi-Bold"/>
                <a:ea typeface="Nunito Semi-Bold"/>
                <a:cs typeface="Nunito Semi-Bold"/>
                <a:sym typeface="Nunito Semi-Bold"/>
              </a:rPr>
              <a:t>.</a:t>
            </a:r>
          </a:p>
        </p:txBody>
      </p:sp>
      <p:sp>
        <p:nvSpPr>
          <p:cNvPr id="36" name="Rounded Rectangle 35"/>
          <p:cNvSpPr/>
          <p:nvPr/>
        </p:nvSpPr>
        <p:spPr>
          <a:xfrm>
            <a:off x="1028700" y="7387082"/>
            <a:ext cx="16230600" cy="1967230"/>
          </a:xfrm>
          <a:prstGeom prst="roundRect">
            <a:avLst>
              <a:gd name="adj" fmla="val 13944"/>
            </a:avLst>
          </a:prstGeom>
          <a:noFill/>
          <a:ln w="31750">
            <a:solidFill>
              <a:srgbClr val="1F7A8C"/>
            </a:solidFill>
          </a:ln>
        </p:spPr>
        <p:txBody>
          <a:bodyPr anchor="ctr" rtlCol="false" lIns="0" tIns="0" rIns="0" bIns="0" wrap="square"/>
          <a:lstStyle/>
          <a:p>
            <a:endParaRPr lang="en-US" sz="1800"/>
          </a:p>
        </p:txBody>
      </p:sp>
      <p:sp>
        <p:nvSpPr>
          <p:cNvPr id="37" name="TextBox 36"/>
          <p:cNvSpPr txBox="1"/>
          <p:nvPr/>
        </p:nvSpPr>
        <p:spPr>
          <a:xfrm>
            <a:off x="1485900" y="7615682"/>
            <a:ext cx="15316200" cy="1510030"/>
          </a:xfrm>
          <a:prstGeom prst="rect">
            <a:avLst/>
          </a:prstGeom>
          <a:noFill/>
        </p:spPr>
        <p:txBody>
          <a:bodyPr anchor="ctr" rtlCol="false" lIns="0" tIns="0" rIns="0" bIns="0" wrap="square"/>
          <a:lstStyle/>
          <a:p>
            <a:pPr algn="l">
              <a:lnSpc>
                <a:spcPts val="1800"/>
              </a:lnSpc>
              <a:spcBef>
                <a:spcPts val="0"/>
              </a:spcBef>
              <a:buNone/>
            </a:pPr>
            <a:r>
              <a:rPr lang="en-US" sz="1400" b="true" spc="180">
                <a:solidFill>
                  <a:srgbClr val="1F7A8C"/>
                </a:solidFill>
                <a:latin typeface="Nunito Ultra-Bold"/>
                <a:ea typeface="Nunito Ultra-Bold"/>
                <a:cs typeface="Nunito Ultra-Bold"/>
                <a:sym typeface="Nunito Ultra-Bold"/>
              </a:rPr>
              <a:t>THESIS GAP</a:t>
            </a:r>
          </a:p>
          <a:p>
            <a:pPr algn="l">
              <a:lnSpc>
                <a:spcPts val="2940"/>
              </a:lnSpc>
              <a:spcBef>
                <a:spcPts val="600"/>
              </a:spcBef>
              <a:buNone/>
            </a:pPr>
            <a:r>
              <a:rPr lang="en-US" sz="2100" b="true">
                <a:solidFill>
                  <a:srgbClr val="111111"/>
                </a:solidFill>
                <a:latin typeface="Nunito Semi-Bold"/>
                <a:ea typeface="Nunito Semi-Bold"/>
                <a:cs typeface="Nunito Semi-Bold"/>
                <a:sym typeface="Nunito Semi-Bold"/>
              </a:rPr>
              <a:t>The literature still lacks </a:t>
            </a:r>
            <a:r>
              <a:rPr lang="en-US" sz="2100" b="true">
                <a:solidFill>
                  <a:srgbClr val="111111"/>
                </a:solidFill>
                <a:latin typeface="Nunito Bold"/>
                <a:ea typeface="Nunito Bold"/>
                <a:cs typeface="Nunito Bold"/>
                <a:sym typeface="Nunito Bold"/>
              </a:rPr>
              <a:t>one cooperative-attribution framework</a:t>
            </a:r>
            <a:r>
              <a:rPr lang="en-US" sz="2100" b="true">
                <a:solidFill>
                  <a:srgbClr val="111111"/>
                </a:solidFill>
                <a:latin typeface="Nunito Semi-Bold"/>
                <a:ea typeface="Nunito Semi-Bold"/>
                <a:cs typeface="Nunito Semi-Bold"/>
                <a:sym typeface="Nunito Semi-Bold"/>
              </a:rPr>
              <a:t> that explains clustering faithfully, stays consistent across levels, and then works as an </a:t>
            </a:r>
            <a:r>
              <a:rPr lang="en-US" sz="2100" b="true">
                <a:solidFill>
                  <a:srgbClr val="111111"/>
                </a:solidFill>
                <a:latin typeface="Nunito Bold"/>
                <a:ea typeface="Nunito Bold"/>
                <a:cs typeface="Nunito Bold"/>
                <a:sym typeface="Nunito Bold"/>
              </a:rPr>
              <a:t>in-training signal</a:t>
            </a:r>
            <a:r>
              <a:rPr lang="en-US" sz="2100" b="true">
                <a:solidFill>
                  <a:srgbClr val="111111"/>
                </a:solidFill>
                <a:latin typeface="Nunito Semi-Bold"/>
                <a:ea typeface="Nunito Semi-Bold"/>
                <a:cs typeface="Nunito Semi-Bold"/>
                <a:sym typeface="Nunito Semi-Bold"/>
              </a:rPr>
              <a:t> in recommendation. </a:t>
            </a:r>
            <a:r>
              <a:rPr lang="en-US" sz="2100" b="true">
                <a:solidFill>
                  <a:srgbClr val="111111"/>
                </a:solidFill>
                <a:latin typeface="Nunito Bold"/>
                <a:ea typeface="Nunito Bold"/>
                <a:cs typeface="Nunito Bold"/>
                <a:sym typeface="Nunito Bold"/>
              </a:rPr>
              <a:t>Claim:</a:t>
            </a:r>
            <a:r>
              <a:rPr lang="en-US" sz="2100" b="true">
                <a:solidFill>
                  <a:srgbClr val="111111"/>
                </a:solidFill>
                <a:latin typeface="Nunito Semi-Bold"/>
                <a:ea typeface="Nunito Semi-Bold"/>
                <a:cs typeface="Nunito Semi-Bold"/>
                <a:sym typeface="Nunito Semi-Bold"/>
              </a:rPr>
              <a:t> Shapley-value attribution can be that framework.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Questions (RQ1–RQ5) and Overall Aim</a:t>
            </a:r>
          </a:p>
        </p:txBody>
      </p:sp>
      <p:pic>
        <p:nvPicPr>
          <p:cNvPr id="23" name="Picture 22" descr="image.png"/>
          <p:cNvPicPr>
            <a:picLocks noChangeAspect="1"/>
          </p:cNvPicPr>
          <p:nvPr/>
        </p:nvPicPr>
        <p:blipFill>
          <a:blip r:embed="rId3"/>
          <a:stretch>
            <a:fillRect/>
          </a:stretch>
        </p:blipFill>
        <p:spPr>
          <a:xfrm>
            <a:off x="13647239" y="1673352"/>
            <a:ext cx="457200" cy="452148"/>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Rounded Rectangle 26"/>
          <p:cNvSpPr/>
          <p:nvPr/>
        </p:nvSpPr>
        <p:spPr>
          <a:xfrm>
            <a:off x="1028700" y="3363722"/>
            <a:ext cx="16230600" cy="868680"/>
          </a:xfrm>
          <a:prstGeom prst="roundRect">
            <a:avLst>
              <a:gd name="adj" fmla="val 26315"/>
            </a:avLst>
          </a:prstGeom>
          <a:solidFill>
            <a:srgbClr val="4472C4"/>
          </a:solidFill>
          <a:ln>
            <a:noFill/>
          </a:ln>
        </p:spPr>
        <p:txBody>
          <a:bodyPr anchor="ctr" rtlCol="false" lIns="457200" tIns="91440" rIns="457200" bIns="91440" wrap="square"/>
          <a:lstStyle/>
          <a:p>
            <a:pPr algn="ctr">
              <a:lnSpc>
                <a:spcPts val="2600"/>
              </a:lnSpc>
              <a:spcBef>
                <a:spcPts val="0"/>
              </a:spcBef>
              <a:buNone/>
            </a:pPr>
            <a:r>
              <a:rPr lang="en-US" sz="2000" b="true">
                <a:solidFill>
                  <a:srgbClr val="FFFFFF"/>
                </a:solidFill>
                <a:latin typeface="Nunito Bold"/>
                <a:ea typeface="Nunito Bold"/>
                <a:cs typeface="Nunito Bold"/>
                <a:sym typeface="Nunito Bold"/>
              </a:rPr>
              <a:t>Aim:</a:t>
            </a:r>
            <a:r>
              <a:rPr lang="en-US" sz="2000" b="true">
                <a:solidFill>
                  <a:srgbClr val="FFFFFF"/>
                </a:solidFill>
                <a:latin typeface="Nunito Semi-Bold"/>
                <a:ea typeface="Nunito Semi-Bold"/>
                <a:cs typeface="Nunito Semi-Bold"/>
                <a:sym typeface="Nunito Semi-Bold"/>
              </a:rPr>
              <a:t> develop, justify and evaluate a cooperative-game view of XAI for clustering and recommendation, using Shapley attribution both as an </a:t>
            </a:r>
            <a:r>
              <a:rPr lang="en-US" sz="2000" b="true">
                <a:solidFill>
                  <a:srgbClr val="FFFFFF"/>
                </a:solidFill>
                <a:latin typeface="Nunito Bold"/>
                <a:ea typeface="Nunito Bold"/>
                <a:cs typeface="Nunito Bold"/>
                <a:sym typeface="Nunito Bold"/>
              </a:rPr>
              <a:t>explanation method</a:t>
            </a:r>
            <a:r>
              <a:rPr lang="en-US" sz="2000" b="true">
                <a:solidFill>
                  <a:srgbClr val="FFFFFF"/>
                </a:solidFill>
                <a:latin typeface="Nunito Semi-Bold"/>
                <a:ea typeface="Nunito Semi-Bold"/>
                <a:cs typeface="Nunito Semi-Bold"/>
                <a:sym typeface="Nunito Semi-Bold"/>
              </a:rPr>
              <a:t> and as an </a:t>
            </a:r>
            <a:r>
              <a:rPr lang="en-US" sz="2000" b="true">
                <a:solidFill>
                  <a:srgbClr val="FFFFFF"/>
                </a:solidFill>
                <a:latin typeface="Nunito Bold"/>
                <a:ea typeface="Nunito Bold"/>
                <a:cs typeface="Nunito Bold"/>
                <a:sym typeface="Nunito Bold"/>
              </a:rPr>
              <a:t>in-training signal</a:t>
            </a:r>
            <a:r>
              <a:rPr lang="en-US" sz="2000" b="true">
                <a:solidFill>
                  <a:srgbClr val="FFFFFF"/>
                </a:solidFill>
                <a:latin typeface="Nunito Semi-Bold"/>
                <a:ea typeface="Nunito Semi-Bold"/>
                <a:cs typeface="Nunito Semi-Bold"/>
                <a:sym typeface="Nunito Semi-Bold"/>
              </a:rPr>
              <a:t>.</a:t>
            </a:r>
          </a:p>
        </p:txBody>
      </p:sp>
      <p:sp>
        <p:nvSpPr>
          <p:cNvPr id="28" name="Rounded Rectangle 27"/>
          <p:cNvSpPr/>
          <p:nvPr/>
        </p:nvSpPr>
        <p:spPr>
          <a:xfrm>
            <a:off x="1028700" y="446100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29" name="Rounded Rectangle 28"/>
          <p:cNvSpPr/>
          <p:nvPr/>
        </p:nvSpPr>
        <p:spPr>
          <a:xfrm>
            <a:off x="1211580" y="458901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RQ1</a:t>
            </a:r>
          </a:p>
        </p:txBody>
      </p:sp>
      <p:sp>
        <p:nvSpPr>
          <p:cNvPr id="30" name="TextBox 29"/>
          <p:cNvSpPr txBox="1"/>
          <p:nvPr/>
        </p:nvSpPr>
        <p:spPr>
          <a:xfrm>
            <a:off x="2583180" y="446100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Shapley values explain black-box clustering </a:t>
            </a:r>
            <a:r>
              <a:rPr lang="en-US" sz="2000" b="true">
                <a:solidFill>
                  <a:srgbClr val="111111"/>
                </a:solidFill>
                <a:latin typeface="Nunito Bold"/>
                <a:ea typeface="Nunito Bold"/>
                <a:cs typeface="Nunito Bold"/>
                <a:sym typeface="Nunito Bold"/>
              </a:rPr>
              <a:t>faithfully at instance and cluster level</a:t>
            </a:r>
            <a:r>
              <a:rPr lang="en-US" sz="2000" b="true">
                <a:solidFill>
                  <a:srgbClr val="111111"/>
                </a:solidFill>
                <a:latin typeface="Nunito Semi-Bold"/>
                <a:ea typeface="Nunito Semi-Bold"/>
                <a:cs typeface="Nunito Semi-Bold"/>
                <a:sym typeface="Nunito Semi-Bold"/>
              </a:rPr>
              <a:t>?</a:t>
            </a:r>
          </a:p>
        </p:txBody>
      </p:sp>
      <p:sp>
        <p:nvSpPr>
          <p:cNvPr id="31" name="Rounded Rectangle 30"/>
          <p:cNvSpPr/>
          <p:nvPr/>
        </p:nvSpPr>
        <p:spPr>
          <a:xfrm>
            <a:off x="15339060" y="458901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C1</a:t>
            </a:r>
          </a:p>
        </p:txBody>
      </p:sp>
      <p:sp>
        <p:nvSpPr>
          <p:cNvPr id="32" name="Rounded Rectangle 31"/>
          <p:cNvSpPr/>
          <p:nvPr/>
        </p:nvSpPr>
        <p:spPr>
          <a:xfrm>
            <a:off x="1028700" y="546526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3" name="Rounded Rectangle 32"/>
          <p:cNvSpPr/>
          <p:nvPr/>
        </p:nvSpPr>
        <p:spPr>
          <a:xfrm>
            <a:off x="1211580" y="559328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RQ2</a:t>
            </a:r>
          </a:p>
        </p:txBody>
      </p:sp>
      <p:sp>
        <p:nvSpPr>
          <p:cNvPr id="34" name="TextBox 33"/>
          <p:cNvSpPr txBox="1"/>
          <p:nvPr/>
        </p:nvSpPr>
        <p:spPr>
          <a:xfrm>
            <a:off x="2583180" y="546526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this extend to </a:t>
            </a:r>
            <a:r>
              <a:rPr lang="en-US" sz="2000" b="true">
                <a:solidFill>
                  <a:srgbClr val="111111"/>
                </a:solidFill>
                <a:latin typeface="Nunito Bold"/>
                <a:ea typeface="Nunito Bold"/>
                <a:cs typeface="Nunito Bold"/>
                <a:sym typeface="Nunito Bold"/>
              </a:rPr>
              <a:t>large-scale, multi-level clustering</a:t>
            </a:r>
            <a:r>
              <a:rPr lang="en-US" sz="2000" b="true">
                <a:solidFill>
                  <a:srgbClr val="111111"/>
                </a:solidFill>
                <a:latin typeface="Nunito Semi-Bold"/>
                <a:ea typeface="Nunito Semi-Bold"/>
                <a:cs typeface="Nunito Semi-Bold"/>
                <a:sym typeface="Nunito Semi-Bold"/>
              </a:rPr>
              <a:t> while staying feasible and consistent?</a:t>
            </a:r>
          </a:p>
        </p:txBody>
      </p:sp>
      <p:sp>
        <p:nvSpPr>
          <p:cNvPr id="35" name="Rounded Rectangle 34"/>
          <p:cNvSpPr/>
          <p:nvPr/>
        </p:nvSpPr>
        <p:spPr>
          <a:xfrm>
            <a:off x="15339060" y="559328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C2</a:t>
            </a:r>
          </a:p>
        </p:txBody>
      </p:sp>
      <p:sp>
        <p:nvSpPr>
          <p:cNvPr id="36" name="Rounded Rectangle 35"/>
          <p:cNvSpPr/>
          <p:nvPr/>
        </p:nvSpPr>
        <p:spPr>
          <a:xfrm>
            <a:off x="1028700" y="646953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211580" y="659754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RQ3</a:t>
            </a:r>
          </a:p>
        </p:txBody>
      </p:sp>
      <p:sp>
        <p:nvSpPr>
          <p:cNvPr id="38" name="TextBox 37"/>
          <p:cNvSpPr txBox="1"/>
          <p:nvPr/>
        </p:nvSpPr>
        <p:spPr>
          <a:xfrm>
            <a:off x="2583180" y="646953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cooperative attribution move </a:t>
            </a:r>
            <a:r>
              <a:rPr lang="en-US" sz="2000" b="true">
                <a:solidFill>
                  <a:srgbClr val="111111"/>
                </a:solidFill>
                <a:latin typeface="Nunito Bold"/>
                <a:ea typeface="Nunito Bold"/>
                <a:cs typeface="Nunito Bold"/>
                <a:sym typeface="Nunito Bold"/>
              </a:rPr>
              <a:t>beyond post-hoc</a:t>
            </a:r>
            <a:r>
              <a:rPr lang="en-US" sz="2000" b="true">
                <a:solidFill>
                  <a:srgbClr val="111111"/>
                </a:solidFill>
                <a:latin typeface="Nunito Semi-Bold"/>
                <a:ea typeface="Nunito Semi-Bold"/>
                <a:cs typeface="Nunito Semi-Bold"/>
                <a:sym typeface="Nunito Semi-Bold"/>
              </a:rPr>
              <a:t> and become part of how graph recommenders learn?</a:t>
            </a:r>
          </a:p>
        </p:txBody>
      </p:sp>
      <p:sp>
        <p:nvSpPr>
          <p:cNvPr id="39" name="Rounded Rectangle 38"/>
          <p:cNvSpPr/>
          <p:nvPr/>
        </p:nvSpPr>
        <p:spPr>
          <a:xfrm>
            <a:off x="15339060" y="659754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0" name="Rounded Rectangle 39"/>
          <p:cNvSpPr/>
          <p:nvPr/>
        </p:nvSpPr>
        <p:spPr>
          <a:xfrm>
            <a:off x="1028700" y="747379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41" name="Rounded Rectangle 40"/>
          <p:cNvSpPr/>
          <p:nvPr/>
        </p:nvSpPr>
        <p:spPr>
          <a:xfrm>
            <a:off x="1211580" y="760181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RQ4</a:t>
            </a:r>
          </a:p>
        </p:txBody>
      </p:sp>
      <p:sp>
        <p:nvSpPr>
          <p:cNvPr id="42" name="TextBox 41"/>
          <p:cNvSpPr txBox="1"/>
          <p:nvPr/>
        </p:nvSpPr>
        <p:spPr>
          <a:xfrm>
            <a:off x="2583180" y="747379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a recommender </a:t>
            </a:r>
            <a:r>
              <a:rPr lang="en-US" sz="2000" b="true">
                <a:solidFill>
                  <a:srgbClr val="111111"/>
                </a:solidFill>
                <a:latin typeface="Nunito Bold"/>
                <a:ea typeface="Nunito Bold"/>
                <a:cs typeface="Nunito Bold"/>
                <a:sym typeface="Nunito Bold"/>
              </a:rPr>
              <a:t>improve ranking accuracy, context and diversity at the same time</a:t>
            </a:r>
            <a:r>
              <a:rPr lang="en-US" sz="2000" b="true">
                <a:solidFill>
                  <a:srgbClr val="111111"/>
                </a:solidFill>
                <a:latin typeface="Nunito Semi-Bold"/>
                <a:ea typeface="Nunito Semi-Bold"/>
                <a:cs typeface="Nunito Semi-Bold"/>
                <a:sym typeface="Nunito Semi-Bold"/>
              </a:rPr>
              <a:t> when importance comes from a cooperative-game utility?</a:t>
            </a:r>
          </a:p>
        </p:txBody>
      </p:sp>
      <p:sp>
        <p:nvSpPr>
          <p:cNvPr id="43" name="Rounded Rectangle 42"/>
          <p:cNvSpPr/>
          <p:nvPr/>
        </p:nvSpPr>
        <p:spPr>
          <a:xfrm>
            <a:off x="15339060" y="760181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4" name="Rounded Rectangle 43"/>
          <p:cNvSpPr/>
          <p:nvPr/>
        </p:nvSpPr>
        <p:spPr>
          <a:xfrm>
            <a:off x="1028700" y="847806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45" name="Rounded Rectangle 44"/>
          <p:cNvSpPr/>
          <p:nvPr/>
        </p:nvSpPr>
        <p:spPr>
          <a:xfrm>
            <a:off x="1211580" y="8606078"/>
            <a:ext cx="1143000" cy="620217"/>
          </a:xfrm>
          <a:prstGeom prst="roundRect">
            <a:avLst>
              <a:gd name="adj" fmla="val 22114"/>
            </a:avLst>
          </a:prstGeom>
          <a:solidFill>
            <a:srgbClr val="111111"/>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RQ5</a:t>
            </a:r>
          </a:p>
        </p:txBody>
      </p:sp>
      <p:sp>
        <p:nvSpPr>
          <p:cNvPr id="46" name="TextBox 45"/>
          <p:cNvSpPr txBox="1"/>
          <p:nvPr/>
        </p:nvSpPr>
        <p:spPr>
          <a:xfrm>
            <a:off x="2583180" y="847806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What do we gain when clustering explanation and recommendation learning are </a:t>
            </a:r>
            <a:r>
              <a:rPr lang="en-US" sz="2000" b="true">
                <a:solidFill>
                  <a:srgbClr val="111111"/>
                </a:solidFill>
                <a:latin typeface="Nunito Bold"/>
                <a:ea typeface="Nunito Bold"/>
                <a:cs typeface="Nunito Bold"/>
                <a:sym typeface="Nunito Bold"/>
              </a:rPr>
              <a:t>two stages of one cooperative-game view</a:t>
            </a:r>
            <a:r>
              <a:rPr lang="en-US" sz="2000" b="true">
                <a:solidFill>
                  <a:srgbClr val="111111"/>
                </a:solidFill>
                <a:latin typeface="Nunito Semi-Bold"/>
                <a:ea typeface="Nunito Semi-Bold"/>
                <a:cs typeface="Nunito Semi-Bold"/>
                <a:sym typeface="Nunito Semi-Bold"/>
              </a:rPr>
              <a:t>?</a:t>
            </a:r>
          </a:p>
        </p:txBody>
      </p:sp>
      <p:sp>
        <p:nvSpPr>
          <p:cNvPr id="47" name="Rounded Rectangle 46"/>
          <p:cNvSpPr/>
          <p:nvPr/>
        </p:nvSpPr>
        <p:spPr>
          <a:xfrm>
            <a:off x="15339060" y="860607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Thesis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Three Contributions</a:t>
            </a:r>
          </a:p>
        </p:txBody>
      </p:sp>
      <p:pic>
        <p:nvPicPr>
          <p:cNvPr id="23" name="Picture 22" descr="image.png"/>
          <p:cNvPicPr>
            <a:picLocks noChangeAspect="1"/>
          </p:cNvPicPr>
          <p:nvPr/>
        </p:nvPicPr>
        <p:blipFill>
          <a:blip r:embed="rId3"/>
          <a:stretch>
            <a:fillRect/>
          </a:stretch>
        </p:blipFill>
        <p:spPr>
          <a:xfrm>
            <a:off x="7638654" y="1673352"/>
            <a:ext cx="457200" cy="415247"/>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Contributions</a:t>
            </a:r>
          </a:p>
        </p:txBody>
      </p:sp>
      <p:sp>
        <p:nvSpPr>
          <p:cNvPr id="27" name="Rounded Rectangle 26"/>
          <p:cNvSpPr/>
          <p:nvPr/>
        </p:nvSpPr>
        <p:spPr>
          <a:xfrm>
            <a:off x="1028700" y="3455162"/>
            <a:ext cx="5196840" cy="4480560"/>
          </a:xfrm>
          <a:prstGeom prst="roundRect">
            <a:avLst>
              <a:gd name="adj" fmla="val 6530"/>
            </a:avLst>
          </a:prstGeom>
          <a:solidFill>
            <a:srgbClr val="4472C4"/>
          </a:solidFill>
          <a:ln>
            <a:noFill/>
          </a:ln>
        </p:spPr>
        <p:txBody>
          <a:bodyPr anchor="ctr" rtlCol="false" lIns="0" tIns="0" rIns="0" bIns="0" wrap="square"/>
          <a:lstStyle/>
          <a:p>
            <a:endParaRPr lang="en-US" sz="1800"/>
          </a:p>
        </p:txBody>
      </p:sp>
      <p:sp>
        <p:nvSpPr>
          <p:cNvPr id="28" name="TextBox 27"/>
          <p:cNvSpPr txBox="1"/>
          <p:nvPr/>
        </p:nvSpPr>
        <p:spPr>
          <a:xfrm>
            <a:off x="139446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C1</a:t>
            </a:r>
          </a:p>
        </p:txBody>
      </p:sp>
      <p:sp>
        <p:nvSpPr>
          <p:cNvPr id="29" name="Rounded Rectangle 28"/>
          <p:cNvSpPr/>
          <p:nvPr/>
        </p:nvSpPr>
        <p:spPr>
          <a:xfrm>
            <a:off x="421386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4472C4"/>
                </a:solidFill>
                <a:latin typeface="Nunito Bold"/>
                <a:ea typeface="Nunito Bold"/>
                <a:cs typeface="Nunito Bold"/>
                <a:sym typeface="Nunito Bold"/>
              </a:rPr>
              <a:t>RQ1</a:t>
            </a:r>
          </a:p>
        </p:txBody>
      </p:sp>
      <p:sp>
        <p:nvSpPr>
          <p:cNvPr id="30" name="TextBox 29"/>
          <p:cNvSpPr txBox="1"/>
          <p:nvPr/>
        </p:nvSpPr>
        <p:spPr>
          <a:xfrm>
            <a:off x="139446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Explainable black-box clustering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PCA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K-Means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LightGBM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TreeSHAP pipeline.</a:t>
            </a:r>
          </a:p>
          <a:p>
            <a:pPr algn="l">
              <a:lnSpc>
                <a:spcPts val="1700"/>
              </a:lnSpc>
              <a:spcBef>
                <a:spcPts val="1400"/>
              </a:spcBef>
              <a:buNone/>
            </a:pPr>
            <a:r>
              <a:rPr lang="en-US" sz="1300" b="true" spc="140">
                <a:solidFill>
                  <a:srgbClr val="ECC665"/>
                </a:solidFill>
                <a:latin typeface="Nunito Ultra-Bold"/>
                <a:ea typeface="Nunito Ultra-Bold"/>
                <a:cs typeface="Nunito Ultra-Bold"/>
                <a:sym typeface="Nunito Ultra-Bold"/>
              </a:rPr>
              <a:t>WINE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Faithful instance- and cluster-level feature attribution.</a:t>
            </a:r>
          </a:p>
        </p:txBody>
      </p:sp>
      <p:sp>
        <p:nvSpPr>
          <p:cNvPr id="31" name="Rounded Rectangle 30"/>
          <p:cNvSpPr/>
          <p:nvPr/>
        </p:nvSpPr>
        <p:spPr>
          <a:xfrm>
            <a:off x="6545580" y="3455162"/>
            <a:ext cx="5196840" cy="4480560"/>
          </a:xfrm>
          <a:prstGeom prst="roundRect">
            <a:avLst>
              <a:gd name="adj" fmla="val 6530"/>
            </a:avLst>
          </a:prstGeom>
          <a:solidFill>
            <a:srgbClr val="2F5597"/>
          </a:solidFill>
          <a:ln>
            <a:noFill/>
          </a:ln>
        </p:spPr>
        <p:txBody>
          <a:bodyPr anchor="ctr" rtlCol="false" lIns="0" tIns="0" rIns="0" bIns="0" wrap="square"/>
          <a:lstStyle/>
          <a:p>
            <a:endParaRPr lang="en-US" sz="1800"/>
          </a:p>
        </p:txBody>
      </p:sp>
      <p:sp>
        <p:nvSpPr>
          <p:cNvPr id="32" name="TextBox 31"/>
          <p:cNvSpPr txBox="1"/>
          <p:nvPr/>
        </p:nvSpPr>
        <p:spPr>
          <a:xfrm>
            <a:off x="691134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C2</a:t>
            </a:r>
          </a:p>
        </p:txBody>
      </p:sp>
      <p:sp>
        <p:nvSpPr>
          <p:cNvPr id="33" name="Rounded Rectangle 32"/>
          <p:cNvSpPr/>
          <p:nvPr/>
        </p:nvSpPr>
        <p:spPr>
          <a:xfrm>
            <a:off x="973074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2F5597"/>
                </a:solidFill>
                <a:latin typeface="Nunito Bold"/>
                <a:ea typeface="Nunito Bold"/>
                <a:cs typeface="Nunito Bold"/>
                <a:sym typeface="Nunito Bold"/>
              </a:rPr>
              <a:t>RQ2</a:t>
            </a:r>
          </a:p>
        </p:txBody>
      </p:sp>
      <p:sp>
        <p:nvSpPr>
          <p:cNvPr id="34" name="TextBox 33"/>
          <p:cNvSpPr txBox="1"/>
          <p:nvPr/>
        </p:nvSpPr>
        <p:spPr>
          <a:xfrm>
            <a:off x="691134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Enhanced multi-level XAI</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Large-scale clustering with cross-level SHAP aggregation (Prop. 6.1).</a:t>
            </a:r>
          </a:p>
          <a:p>
            <a:pPr algn="l">
              <a:lnSpc>
                <a:spcPts val="1700"/>
              </a:lnSpc>
              <a:spcBef>
                <a:spcPts val="1400"/>
              </a:spcBef>
              <a:buNone/>
            </a:pPr>
            <a:r>
              <a:rPr lang="en-US" sz="1300" b="true" spc="140">
                <a:solidFill>
                  <a:srgbClr val="ECC665"/>
                </a:solidFill>
                <a:latin typeface="Nunito Ultra-Bold"/>
                <a:ea typeface="Nunito Ultra-Bold"/>
                <a:cs typeface="Nunito Ultra-Bold"/>
                <a:sym typeface="Nunito Ultra-Bold"/>
              </a:rPr>
              <a:t>BEIJING AIR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Attribution stays consistent across levels and at scale.</a:t>
            </a:r>
          </a:p>
        </p:txBody>
      </p:sp>
      <p:sp>
        <p:nvSpPr>
          <p:cNvPr id="35" name="Rounded Rectangle 34"/>
          <p:cNvSpPr/>
          <p:nvPr/>
        </p:nvSpPr>
        <p:spPr>
          <a:xfrm>
            <a:off x="12062460" y="3455162"/>
            <a:ext cx="5196840" cy="4480560"/>
          </a:xfrm>
          <a:prstGeom prst="roundRect">
            <a:avLst>
              <a:gd name="adj" fmla="val 6530"/>
            </a:avLst>
          </a:prstGeom>
          <a:solidFill>
            <a:srgbClr val="1F7A8C"/>
          </a:solidFill>
          <a:ln>
            <a:noFill/>
          </a:ln>
        </p:spPr>
        <p:txBody>
          <a:bodyPr anchor="ctr" rtlCol="false" lIns="0" tIns="0" rIns="0" bIns="0" wrap="square"/>
          <a:lstStyle/>
          <a:p>
            <a:endParaRPr lang="en-US" sz="1800"/>
          </a:p>
        </p:txBody>
      </p:sp>
      <p:sp>
        <p:nvSpPr>
          <p:cNvPr id="36" name="TextBox 35"/>
          <p:cNvSpPr txBox="1"/>
          <p:nvPr/>
        </p:nvSpPr>
        <p:spPr>
          <a:xfrm>
            <a:off x="1242822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FFFFFF"/>
                </a:solidFill>
                <a:latin typeface="Roca Two Bold"/>
                <a:ea typeface="Roca Two Bold"/>
                <a:cs typeface="Roca Two Bold"/>
                <a:sym typeface="Roca Two Bold"/>
              </a:rPr>
              <a:t>C3</a:t>
            </a:r>
          </a:p>
        </p:txBody>
      </p:sp>
      <p:sp>
        <p:nvSpPr>
          <p:cNvPr id="37" name="Rounded Rectangle 36"/>
          <p:cNvSpPr/>
          <p:nvPr/>
        </p:nvSpPr>
        <p:spPr>
          <a:xfrm>
            <a:off x="15247620" y="3802634"/>
            <a:ext cx="1552948"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1F7A8C"/>
                </a:solidFill>
                <a:latin typeface="Nunito Bold"/>
                <a:ea typeface="Nunito Bold"/>
                <a:cs typeface="Nunito Bold"/>
                <a:sym typeface="Nunito Bold"/>
              </a:rPr>
              <a:t>RQ3 · RQ4</a:t>
            </a:r>
          </a:p>
        </p:txBody>
      </p:sp>
      <p:sp>
        <p:nvSpPr>
          <p:cNvPr id="38" name="TextBox 37"/>
          <p:cNvSpPr txBox="1"/>
          <p:nvPr/>
        </p:nvSpPr>
        <p:spPr>
          <a:xfrm>
            <a:off x="1242822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DyHuCoG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Dynamic Hypergraph Cooperative Game for preference-aware recommendation.</a:t>
            </a:r>
          </a:p>
          <a:p>
            <a:pPr algn="l">
              <a:lnSpc>
                <a:spcPts val="1700"/>
              </a:lnSpc>
              <a:spcBef>
                <a:spcPts val="1400"/>
              </a:spcBef>
              <a:buNone/>
            </a:pPr>
            <a:r>
              <a:rPr lang="en-US" sz="1300" b="true" spc="140">
                <a:solidFill>
                  <a:srgbClr val="FFFFFF"/>
                </a:solidFill>
                <a:latin typeface="Nunito Ultra-Bold"/>
                <a:ea typeface="Nunito Ultra-Bold"/>
                <a:cs typeface="Nunito Ultra-Bold"/>
                <a:sym typeface="Nunito Ultra-Bold"/>
              </a:rPr>
              <a:t>MOVIELENS-1M · AMAZON-BOOK</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Preference-aware Monte Carlo Shapley as an in-training signal.</a:t>
            </a:r>
          </a:p>
        </p:txBody>
      </p:sp>
      <p:sp>
        <p:nvSpPr>
          <p:cNvPr id="39" name="Rounded Rectangle 38"/>
          <p:cNvSpPr/>
          <p:nvPr/>
        </p:nvSpPr>
        <p:spPr>
          <a:xfrm>
            <a:off x="1028700" y="8301482"/>
            <a:ext cx="16230600" cy="1052830"/>
          </a:xfrm>
          <a:prstGeom prst="roundRect">
            <a:avLst>
              <a:gd name="adj" fmla="val 21712"/>
            </a:avLst>
          </a:prstGeom>
          <a:solidFill>
            <a:srgbClr val="E7EAF3"/>
          </a:solidFill>
          <a:ln>
            <a:noFill/>
          </a:ln>
        </p:spPr>
        <p:txBody>
          <a:bodyPr anchor="ctr" rtlCol="false" lIns="457200" tIns="91440" rIns="457200" bIns="91440" wrap="square"/>
          <a:lstStyle/>
          <a:p>
            <a:pPr algn="ctr">
              <a:lnSpc>
                <a:spcPts val="2700"/>
              </a:lnSpc>
              <a:spcBef>
                <a:spcPts val="0"/>
              </a:spcBef>
              <a:buNone/>
            </a:pPr>
            <a:r>
              <a:rPr lang="en-US" sz="2100" b="true">
                <a:solidFill>
                  <a:srgbClr val="111111"/>
                </a:solidFill>
                <a:latin typeface="Nunito Bold"/>
                <a:ea typeface="Nunito Bold"/>
                <a:cs typeface="Nunito Bold"/>
                <a:sym typeface="Nunito Bold"/>
              </a:rPr>
              <a:t>Thesis claim:</a:t>
            </a:r>
            <a:r>
              <a:rPr lang="en-US" sz="2100" b="true">
                <a:solidFill>
                  <a:srgbClr val="111111"/>
                </a:solidFill>
                <a:latin typeface="Nunito Semi-Bold"/>
                <a:ea typeface="Nunito Semi-Bold"/>
                <a:cs typeface="Nunito Semi-Bold"/>
                <a:sym typeface="Nunito Semi-Bold"/>
              </a:rPr>
              <a:t> cooperative game theory works as </a:t>
            </a:r>
            <a:r>
              <a:rPr lang="en-US" sz="2100" b="true">
                <a:solidFill>
                  <a:srgbClr val="111111"/>
                </a:solidFill>
                <a:latin typeface="Nunito Bold"/>
                <a:ea typeface="Nunito Bold"/>
                <a:cs typeface="Nunito Bold"/>
                <a:sym typeface="Nunito Bold"/>
              </a:rPr>
              <a:t>one shared attribution view</a:t>
            </a:r>
            <a:r>
              <a:rPr lang="en-US" sz="2100" b="true">
                <a:solidFill>
                  <a:srgbClr val="111111"/>
                </a:solidFill>
                <a:latin typeface="Nunito Semi-Bold"/>
                <a:ea typeface="Nunito Semi-Bold"/>
                <a:cs typeface="Nunito Semi-Bold"/>
                <a:sym typeface="Nunito Semi-Bold"/>
              </a:rPr>
              <a:t> for explanation, optimisation and action: three steps that build on each other, not three unrelated papers.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17</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Experimental Protocol</a:t>
            </a:r>
          </a:p>
        </p:txBody>
      </p:sp>
      <p:sp>
        <p:nvSpPr>
          <p:cNvPr id="8" name="Oval 7"/>
          <p:cNvSpPr/>
          <p:nvPr/>
        </p:nvSpPr>
        <p:spPr>
          <a:xfrm>
            <a:off x="15673226"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673226"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03</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One shared protocol so that the three contributions can be read together</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Datasets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and Beijing Air Quality for clustering; MovieLens-1M and Amazon-Book for recommendation.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Baselines &amp; metrics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LIME for clustering explanation; MF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HPCF for recommendation; NDCG@20, Recall, Coverage, ILD, Silhouette, Davies–Bouldin.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Reproducibility</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Fixed seeds, time-ordered user-level splits, early stopping, standard academic hardware (i9-14900K + RTX 4090).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[19] Cortez, P. et al. Wine Quality. UCI Machine Learning Repository (2009).  ·  Dua, D. &amp; Taniskidou, E. Beijing Multi-Site Air Quality Data. UCI Machine Learning Repository (2017).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Wine Quality: Portuguese Vinho Verde</a:t>
            </a:r>
          </a:p>
        </p:txBody>
      </p:sp>
      <p:pic>
        <p:nvPicPr>
          <p:cNvPr id="23" name="Picture 22" descr="image.png"/>
          <p:cNvPicPr>
            <a:picLocks noChangeAspect="1"/>
          </p:cNvPicPr>
          <p:nvPr/>
        </p:nvPicPr>
        <p:blipFill>
          <a:blip r:embed="rId3"/>
          <a:stretch>
            <a:fillRect/>
          </a:stretch>
        </p:blipFill>
        <p:spPr>
          <a:xfrm>
            <a:off x="11227909" y="1673352"/>
            <a:ext cx="457200" cy="250983"/>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7" name="TextBox 26"/>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500"/>
              </a:lnSpc>
              <a:spcBef>
                <a:spcPts val="0"/>
              </a:spcBef>
              <a:buClr>
                <a:srgbClr val="1F7A8C"/>
              </a:buClr>
              <a:buSzPct val="100000"/>
              <a:buFont typeface="Arial"/>
              <a:buChar char="•"/>
            </a:pPr>
            <a:r>
              <a:rPr lang="en-US" sz="1786" b="true">
                <a:solidFill>
                  <a:srgbClr val="111111"/>
                </a:solidFill>
                <a:latin typeface="Nunito Bold"/>
                <a:ea typeface="Nunito Bold"/>
                <a:cs typeface="Nunito Bold"/>
                <a:sym typeface="Nunito Bold"/>
              </a:rPr>
              <a:t>4,898 white-wine samples</a:t>
            </a:r>
            <a:r>
              <a:rPr lang="en-US" sz="1786" b="true">
                <a:solidFill>
                  <a:srgbClr val="111111"/>
                </a:solidFill>
                <a:latin typeface="Nunito Semi-Bold"/>
                <a:ea typeface="Nunito Semi-Bold"/>
                <a:cs typeface="Nunito Semi-Bold"/>
                <a:sym typeface="Nunito Semi-Bold"/>
              </a:rPr>
              <a:t> described by </a:t>
            </a:r>
            <a:r>
              <a:rPr lang="en-US" sz="1786" b="true">
                <a:solidFill>
                  <a:srgbClr val="111111"/>
                </a:solidFill>
                <a:latin typeface="Nunito Bold"/>
                <a:ea typeface="Nunito Bold"/>
                <a:cs typeface="Nunito Bold"/>
                <a:sym typeface="Nunito Bold"/>
              </a:rPr>
              <a:t>11 physicochemical measurements</a:t>
            </a:r>
            <a:r>
              <a:rPr lang="en-US" sz="1786" b="true">
                <a:solidFill>
                  <a:srgbClr val="111111"/>
                </a:solidFill>
                <a:latin typeface="Nunito Semi-Bold"/>
                <a:ea typeface="Nunito Semi-Bold"/>
                <a:cs typeface="Nunito Semi-Bold"/>
                <a:sym typeface="Nunito Semi-Bold"/>
              </a:rPr>
              <a:t> and a sensory quality score (UCI repository).</a:t>
            </a:r>
          </a:p>
          <a:p>
            <a:pPr algn="l" marL="274320" indent="-274320">
              <a:lnSpc>
                <a:spcPts val="2500"/>
              </a:lnSpc>
              <a:spcBef>
                <a:spcPts val="752"/>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Small, dense and chemically correlated: the ideal place to check that an explanation lands on </a:t>
            </a:r>
            <a:r>
              <a:rPr lang="en-US" sz="1786" b="true">
                <a:solidFill>
                  <a:srgbClr val="111111"/>
                </a:solidFill>
                <a:latin typeface="Nunito Bold"/>
                <a:ea typeface="Nunito Bold"/>
                <a:cs typeface="Nunito Bold"/>
                <a:sym typeface="Nunito Bold"/>
              </a:rPr>
              <a:t>variables a wine expert understands</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752"/>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Used for </a:t>
            </a:r>
            <a:r>
              <a:rPr lang="en-US" sz="1786" b="true">
                <a:solidFill>
                  <a:srgbClr val="111111"/>
                </a:solidFill>
                <a:latin typeface="Nunito Bold"/>
                <a:ea typeface="Nunito Bold"/>
                <a:cs typeface="Nunito Bold"/>
                <a:sym typeface="Nunito Bold"/>
              </a:rPr>
              <a:t>Contribution I</a:t>
            </a:r>
            <a:r>
              <a:rPr lang="en-US" sz="1786" b="true">
                <a:solidFill>
                  <a:srgbClr val="111111"/>
                </a:solidFill>
                <a:latin typeface="Nunito Semi-Bold"/>
                <a:ea typeface="Nunito Semi-Bold"/>
                <a:cs typeface="Nunito Semi-Bold"/>
                <a:sym typeface="Nunito Semi-Bold"/>
              </a:rPr>
              <a:t>: single-level clustering, then Shapley attribution back to the chemistry.</a:t>
            </a:r>
          </a:p>
        </p:txBody>
      </p:sp>
      <p:graphicFrame>
        <p:nvGraphicFramePr>
          <p:cNvPr id="28" name="Table 27"/>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Wine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4,898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11 numeric</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Target (not used for clustering)</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quality 3 to 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Missing values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none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Scale of 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standardised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k* = 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9" name="TextBox 28"/>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first rows of the public file</a:t>
            </a:r>
          </a:p>
        </p:txBody>
      </p:sp>
      <p:graphicFrame>
        <p:nvGraphicFramePr>
          <p:cNvPr id="30" name="Table 29"/>
          <p:cNvGraphicFramePr>
            <a:graphicFrameLocks noGrp="1"/>
          </p:cNvGraphicFramePr>
          <p:nvPr/>
        </p:nvGraphicFramePr>
        <p:xfrm>
          <a:off x="1028700" y="7260082"/>
          <a:ext cx="16230600" cy="1705864"/>
        </p:xfrm>
        <a:graphic>
          <a:graphicData uri="http://schemas.openxmlformats.org/drawingml/2006/table">
            <a:tbl>
              <a:tblPr firstRow="0" bandRow="0" firstCol="0" lastRow="0" lastCol="0" bandCol="0">
                <a:tableStyleId>{2D5ABB26-0587-4C30-8999-92F81FD0307C}</a:tableStyleId>
              </a:tblPr>
              <a:tblGrid>
                <a:gridCol w="1586992"/>
                <a:gridCol w="1731264"/>
                <a:gridCol w="1442720"/>
                <a:gridCol w="1659128"/>
                <a:gridCol w="1442720"/>
                <a:gridCol w="1298448"/>
                <a:gridCol w="1298448"/>
                <a:gridCol w="1298448"/>
                <a:gridCol w="1009904"/>
                <a:gridCol w="1298448"/>
                <a:gridCol w="1154176"/>
                <a:gridCol w="1009904"/>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fixed acidity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volatile acidity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citric acid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residual sugar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chlorides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free SO₂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total SO₂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density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pH</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sulphates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alcohol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quality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1.0010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132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0.9940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0.9951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[19] Cortez, P. et al. Wine Quality. UCI Machine Learning Repository (2009).  ·  Dua, D. &amp; Taniskidou, E. Beijing Multi-Site Air Quality Data. UCI Machine Learning Repository (2017).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Beijing Multi-Site Air Quality</a:t>
            </a:r>
          </a:p>
        </p:txBody>
      </p:sp>
      <p:pic>
        <p:nvPicPr>
          <p:cNvPr id="23" name="Picture 22" descr="image.png"/>
          <p:cNvPicPr>
            <a:picLocks noChangeAspect="1"/>
          </p:cNvPicPr>
          <p:nvPr/>
        </p:nvPicPr>
        <p:blipFill>
          <a:blip r:embed="rId3"/>
          <a:stretch>
            <a:fillRect/>
          </a:stretch>
        </p:blipFill>
        <p:spPr>
          <a:xfrm>
            <a:off x="8588295" y="1673352"/>
            <a:ext cx="457200" cy="415247"/>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7" name="TextBox 26"/>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383,585 hourly records</a:t>
            </a:r>
            <a:r>
              <a:rPr lang="en-US" sz="1900" b="true">
                <a:solidFill>
                  <a:srgbClr val="111111"/>
                </a:solidFill>
                <a:latin typeface="Nunito Semi-Bold"/>
                <a:ea typeface="Nunito Semi-Bold"/>
                <a:cs typeface="Nunito Semi-Bold"/>
                <a:sym typeface="Nunito Semi-Bold"/>
              </a:rPr>
              <a:t> from Beijing monitoring stations, March 2013 to February 2017 (UCI repository).</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11 modelling variables:</a:t>
            </a:r>
            <a:r>
              <a:rPr lang="en-US" sz="1900" b="true">
                <a:solidFill>
                  <a:srgbClr val="111111"/>
                </a:solidFill>
                <a:latin typeface="Nunito Semi-Bold"/>
                <a:ea typeface="Nunito Semi-Bold"/>
                <a:cs typeface="Nunito Semi-Bold"/>
                <a:sym typeface="Nunito Semi-Bold"/>
              </a:rPr>
              <a:t> six pollutants (PM2.5, PM10, SO₂, NO₂, CO, O₃) and weather (temperature, pressure, dew point, rain, wind speed).</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Large, noisy, varies with season and weather: the stress test for </a:t>
            </a:r>
            <a:r>
              <a:rPr lang="en-US" sz="1900" b="true">
                <a:solidFill>
                  <a:srgbClr val="111111"/>
                </a:solidFill>
                <a:latin typeface="Nunito Bold"/>
                <a:ea typeface="Nunito Bold"/>
                <a:cs typeface="Nunito Bold"/>
                <a:sym typeface="Nunito Bold"/>
              </a:rPr>
              <a:t>Contribution II</a:t>
            </a:r>
            <a:r>
              <a:rPr lang="en-US" sz="1900" b="true">
                <a:solidFill>
                  <a:srgbClr val="111111"/>
                </a:solidFill>
                <a:latin typeface="Nunito Semi-Bold"/>
                <a:ea typeface="Nunito Semi-Bold"/>
                <a:cs typeface="Nunito Semi-Bold"/>
                <a:sym typeface="Nunito Semi-Bold"/>
              </a:rPr>
              <a:t> (scale + multi-level structure).</a:t>
            </a:r>
          </a:p>
        </p:txBody>
      </p:sp>
      <p:graphicFrame>
        <p:nvGraphicFramePr>
          <p:cNvPr id="28" name="Table 27"/>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Beijing Multi-Site Air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383,585 hourly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Period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2013 to 2017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Variables used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11 (6 pollutants + 5 weather)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Structure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coarse regimes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k = 3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9 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Silhouette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0.63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9" name="TextBox 28"/>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first rows of the Aotizhongxin station file</a:t>
            </a:r>
          </a:p>
        </p:txBody>
      </p:sp>
      <p:graphicFrame>
        <p:nvGraphicFramePr>
          <p:cNvPr id="30" name="Table 29"/>
          <p:cNvGraphicFramePr>
            <a:graphicFrameLocks noGrp="1"/>
          </p:cNvGraphicFramePr>
          <p:nvPr/>
        </p:nvGraphicFramePr>
        <p:xfrm>
          <a:off x="1028700" y="7260082"/>
          <a:ext cx="16230594" cy="1705864"/>
        </p:xfrm>
        <a:graphic>
          <a:graphicData uri="http://schemas.openxmlformats.org/drawingml/2006/table">
            <a:tbl>
              <a:tblPr firstRow="0" bandRow="0" firstCol="0" lastRow="0" lastCol="0" bandCol="0">
                <a:tableStyleId>{2D5ABB26-0587-4C30-8999-92F81FD0307C}</a:tableStyleId>
              </a:tblPr>
              <a:tblGrid>
                <a:gridCol w="2233568"/>
                <a:gridCol w="2531377"/>
                <a:gridCol w="1191236"/>
                <a:gridCol w="1191236"/>
                <a:gridCol w="1042332"/>
                <a:gridCol w="1042332"/>
                <a:gridCol w="1042332"/>
                <a:gridCol w="1042332"/>
                <a:gridCol w="1191236"/>
                <a:gridCol w="1340141"/>
                <a:gridCol w="1191236"/>
                <a:gridCol w="1191236"/>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station</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date · hour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PM2.5</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PM10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NO₂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CO</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O₃</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TEMP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PRES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DEWP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WSPM</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00h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01h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02h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MovieLens-1M</a:t>
            </a:r>
          </a:p>
        </p:txBody>
      </p:sp>
      <p:pic>
        <p:nvPicPr>
          <p:cNvPr id="23" name="Picture 22" descr="image.png"/>
          <p:cNvPicPr>
            <a:picLocks noChangeAspect="1"/>
          </p:cNvPicPr>
          <p:nvPr/>
        </p:nvPicPr>
        <p:blipFill>
          <a:blip r:embed="rId3"/>
          <a:stretch>
            <a:fillRect/>
          </a:stretch>
        </p:blipFill>
        <p:spPr>
          <a:xfrm>
            <a:off x="4963971" y="1673352"/>
            <a:ext cx="457200" cy="452148"/>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7" name="TextBox 26"/>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About 1 million ratings</a:t>
            </a:r>
            <a:r>
              <a:rPr lang="en-US" sz="1900" b="true">
                <a:solidFill>
                  <a:srgbClr val="111111"/>
                </a:solidFill>
                <a:latin typeface="Nunito Semi-Bold"/>
                <a:ea typeface="Nunito Semi-Bold"/>
                <a:cs typeface="Nunito Semi-Bold"/>
                <a:sym typeface="Nunito Semi-Bold"/>
              </a:rPr>
              <a:t> from </a:t>
            </a:r>
            <a:r>
              <a:rPr lang="en-US" sz="1900" b="true">
                <a:solidFill>
                  <a:srgbClr val="111111"/>
                </a:solidFill>
                <a:latin typeface="Nunito Bold"/>
                <a:ea typeface="Nunito Bold"/>
                <a:cs typeface="Nunito Bold"/>
                <a:sym typeface="Nunito Bold"/>
              </a:rPr>
              <a:t>6,040 users</a:t>
            </a:r>
            <a:r>
              <a:rPr lang="en-US" sz="1900" b="true">
                <a:solidFill>
                  <a:srgbClr val="111111"/>
                </a:solidFill>
                <a:latin typeface="Nunito Semi-Bold"/>
                <a:ea typeface="Nunito Semi-Bold"/>
                <a:cs typeface="Nunito Semi-Bold"/>
                <a:sym typeface="Nunito Semi-Bold"/>
              </a:rPr>
              <a:t> on </a:t>
            </a:r>
            <a:r>
              <a:rPr lang="en-US" sz="1900" b="true">
                <a:solidFill>
                  <a:srgbClr val="111111"/>
                </a:solidFill>
                <a:latin typeface="Nunito Bold"/>
                <a:ea typeface="Nunito Bold"/>
                <a:cs typeface="Nunito Bold"/>
                <a:sym typeface="Nunito Bold"/>
              </a:rPr>
              <a:t>3,706 movies</a:t>
            </a:r>
            <a:r>
              <a:rPr lang="en-US" sz="1900" b="true">
                <a:solidFill>
                  <a:srgbClr val="111111"/>
                </a:solidFill>
                <a:latin typeface="Nunito Semi-Bold"/>
                <a:ea typeface="Nunito Semi-Bold"/>
                <a:cs typeface="Nunito Semi-Bold"/>
                <a:sym typeface="Nunito Semi-Bold"/>
              </a:rPr>
              <a:t> (GroupLens, 2000).</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standard benchmark for collaborative filtering for two decades: LightGCN, HCCF, HPCF and most graph recommenders report on it.</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Comparatively </a:t>
            </a:r>
            <a:r>
              <a:rPr lang="en-US" sz="1900" b="true">
                <a:solidFill>
                  <a:srgbClr val="111111"/>
                </a:solidFill>
                <a:latin typeface="Nunito Bold"/>
                <a:ea typeface="Nunito Bold"/>
                <a:cs typeface="Nunito Bold"/>
                <a:sym typeface="Nunito Bold"/>
              </a:rPr>
              <a:t>dense</a:t>
            </a:r>
            <a:r>
              <a:rPr lang="en-US" sz="1900" b="true">
                <a:solidFill>
                  <a:srgbClr val="111111"/>
                </a:solidFill>
                <a:latin typeface="Nunito Semi-Bold"/>
                <a:ea typeface="Nunito Semi-Bold"/>
                <a:cs typeface="Nunito Semi-Bold"/>
                <a:sym typeface="Nunito Semi-Bold"/>
              </a:rPr>
              <a:t> (0.0447); ratings &gt; 3 become positive implicit feedback. Genre is the context proxy.</a:t>
            </a:r>
          </a:p>
        </p:txBody>
      </p:sp>
      <p:graphicFrame>
        <p:nvGraphicFramePr>
          <p:cNvPr id="28" name="Table 27"/>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MovieLens-1M</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6,040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3,706 movies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1,000,209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0.0447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Rating scale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 to 5 stars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Min. interactions / user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9" name="TextBox 28"/>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first rows of ratings.dat joined with movies.dat</a:t>
            </a:r>
          </a:p>
        </p:txBody>
      </p:sp>
      <p:graphicFrame>
        <p:nvGraphicFramePr>
          <p:cNvPr id="30" name="Table 29"/>
          <p:cNvGraphicFramePr>
            <a:graphicFrameLocks noGrp="1"/>
          </p:cNvGraphicFramePr>
          <p:nvPr/>
        </p:nvGraphicFramePr>
        <p:xfrm>
          <a:off x="1028700" y="7260082"/>
          <a:ext cx="16230597" cy="2132330"/>
        </p:xfrm>
        <a:graphic>
          <a:graphicData uri="http://schemas.openxmlformats.org/drawingml/2006/table">
            <a:tbl>
              <a:tblPr firstRow="0" bandRow="0" firstCol="0" lastRow="0" lastCol="0" bandCol="0">
                <a:tableStyleId>{2D5ABB26-0587-4C30-8999-92F81FD0307C}</a:tableStyleId>
              </a:tblPr>
              <a:tblGrid>
                <a:gridCol w="1363915"/>
                <a:gridCol w="1363915"/>
                <a:gridCol w="5728447"/>
                <a:gridCol w="4637314"/>
                <a:gridCol w="1227524"/>
                <a:gridCol w="1909482"/>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UserID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MovieID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Genres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Rating</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Timestamp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One Flew Over the Cuckoo's Nest (1975)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Drama</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978300760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James and the Giant Peach (1996)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Animation · Children's · Musical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978302109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My Fair Lady (1964)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Musical · Romance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978301968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3408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Erin Brockovich (2000)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Drama</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978300275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Amazon-Book</a:t>
            </a:r>
          </a:p>
        </p:txBody>
      </p:sp>
      <p:pic>
        <p:nvPicPr>
          <p:cNvPr id="23" name="Picture 22" descr="image.png"/>
          <p:cNvPicPr>
            <a:picLocks noChangeAspect="1"/>
          </p:cNvPicPr>
          <p:nvPr/>
        </p:nvPicPr>
        <p:blipFill>
          <a:blip r:embed="rId3"/>
          <a:stretch>
            <a:fillRect/>
          </a:stretch>
        </p:blipFill>
        <p:spPr>
          <a:xfrm>
            <a:off x="5002206" y="1673352"/>
            <a:ext cx="457200" cy="617115"/>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7" name="TextBox 26"/>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52,643 users</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91,599 books</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2,984,108 interactions</a:t>
            </a:r>
            <a:r>
              <a:rPr lang="en-US" sz="1900" b="true">
                <a:solidFill>
                  <a:srgbClr val="111111"/>
                </a:solidFill>
                <a:latin typeface="Nunito Semi-Bold"/>
                <a:ea typeface="Nunito Semi-Bold"/>
                <a:cs typeface="Nunito Semi-Bold"/>
                <a:sym typeface="Nunito Semi-Bold"/>
              </a:rPr>
              <a:t> from Amazon review data (McAuley Lab, UCSD).</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Extremely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(density ≈ 0.0006): the user-item matrix is almost empty.</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Included to test whether Shapley-guided weighting </a:t>
            </a:r>
            <a:r>
              <a:rPr lang="en-US" sz="1900" b="true">
                <a:solidFill>
                  <a:srgbClr val="111111"/>
                </a:solidFill>
                <a:latin typeface="Nunito Bold"/>
                <a:ea typeface="Nunito Bold"/>
                <a:cs typeface="Nunito Bold"/>
                <a:sym typeface="Nunito Bold"/>
              </a:rPr>
              <a:t>helps most when the signal is weakest</a:t>
            </a:r>
            <a:r>
              <a:rPr lang="en-US" sz="1900" b="true">
                <a:solidFill>
                  <a:srgbClr val="111111"/>
                </a:solidFill>
                <a:latin typeface="Nunito Semi-Bold"/>
                <a:ea typeface="Nunito Semi-Bold"/>
                <a:cs typeface="Nunito Semi-Bold"/>
                <a:sym typeface="Nunito Semi-Bold"/>
              </a:rPr>
              <a:t>; the large-scale benchmark of Contribution III.</a:t>
            </a:r>
          </a:p>
        </p:txBody>
      </p:sp>
      <p:graphicFrame>
        <p:nvGraphicFramePr>
          <p:cNvPr id="28" name="Table 27"/>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Amazon-Book</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52,643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91,599 books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2,984,108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0.0006</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Feedback</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implicit (review = interaction)</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Context proxy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book category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9" name="TextBox 28"/>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illustrative rows in the format of the public file</a:t>
            </a:r>
          </a:p>
        </p:txBody>
      </p:sp>
      <p:graphicFrame>
        <p:nvGraphicFramePr>
          <p:cNvPr id="30" name="Table 29"/>
          <p:cNvGraphicFramePr>
            <a:graphicFrameLocks noGrp="1"/>
          </p:cNvGraphicFramePr>
          <p:nvPr/>
        </p:nvGraphicFramePr>
        <p:xfrm>
          <a:off x="1028700" y="7260082"/>
          <a:ext cx="16230598" cy="1705864"/>
        </p:xfrm>
        <a:graphic>
          <a:graphicData uri="http://schemas.openxmlformats.org/drawingml/2006/table">
            <a:tbl>
              <a:tblPr firstRow="0" bandRow="0" firstCol="0" lastRow="0" lastCol="0" bandCol="0">
                <a:tableStyleId>{2D5ABB26-0587-4C30-8999-92F81FD0307C}</a:tableStyleId>
              </a:tblPr>
              <a:tblGrid>
                <a:gridCol w="2264734"/>
                <a:gridCol w="3019646"/>
                <a:gridCol w="3774558"/>
                <a:gridCol w="1509823"/>
                <a:gridCol w="5661837"/>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user_id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item_id (ASIN)</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category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rating</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review summary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A1B2C3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B000123XYZ</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Literature &amp; Fiction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Could not put it down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A4D5E6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B000456ABC</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Science &amp; Math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Clear and well written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A7F8G9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B000789DEF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History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Good but slow in the middle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[14] Xiangyi, Y. et al. Hypergraph Projection Enhanced Collaborative Filtering (HPCF). Int. J. Data Science and Analytics 19(2), 269–281 (2025).</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Data Splitting &amp; Preprocessing</a:t>
            </a:r>
          </a:p>
        </p:txBody>
      </p:sp>
      <p:pic>
        <p:nvPicPr>
          <p:cNvPr id="23" name="Picture 22" descr="image.png"/>
          <p:cNvPicPr>
            <a:picLocks noChangeAspect="1"/>
          </p:cNvPicPr>
          <p:nvPr/>
        </p:nvPicPr>
        <p:blipFill>
          <a:blip r:embed="rId3"/>
          <a:stretch>
            <a:fillRect/>
          </a:stretch>
        </p:blipFill>
        <p:spPr>
          <a:xfrm>
            <a:off x="9239964" y="1673352"/>
            <a:ext cx="457200" cy="250983"/>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7" name="Rounded Rectangle 26"/>
          <p:cNvSpPr/>
          <p:nvPr/>
        </p:nvSpPr>
        <p:spPr>
          <a:xfrm>
            <a:off x="1028700" y="3592322"/>
            <a:ext cx="7932420" cy="5716270"/>
          </a:xfrm>
          <a:prstGeom prst="roundRect">
            <a:avLst>
              <a:gd name="adj" fmla="val 5438"/>
            </a:avLst>
          </a:prstGeom>
          <a:solidFill>
            <a:srgbClr val="4472C4"/>
          </a:solidFill>
          <a:ln>
            <a:noFill/>
          </a:ln>
        </p:spPr>
        <p:txBody>
          <a:bodyPr anchor="ctr" rtlCol="false" lIns="0" tIns="0" rIns="0" bIns="0" wrap="square"/>
          <a:lstStyle/>
          <a:p>
            <a:endParaRPr lang="en-US" sz="1800"/>
          </a:p>
        </p:txBody>
      </p:sp>
      <p:sp>
        <p:nvSpPr>
          <p:cNvPr id="28" name="Rounded Rectangle 27"/>
          <p:cNvSpPr/>
          <p:nvPr/>
        </p:nvSpPr>
        <p:spPr>
          <a:xfrm>
            <a:off x="1485900" y="3354578"/>
            <a:ext cx="3217901"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Clustering (C1, C2)</a:t>
            </a:r>
          </a:p>
        </p:txBody>
      </p:sp>
      <p:sp>
        <p:nvSpPr>
          <p:cNvPr id="29" name="TextBox 28"/>
          <p:cNvSpPr txBox="1"/>
          <p:nvPr/>
        </p:nvSpPr>
        <p:spPr>
          <a:xfrm>
            <a:off x="153162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Bold"/>
                <a:ea typeface="Nunito Bold"/>
                <a:cs typeface="Nunito Bold"/>
                <a:sym typeface="Nunito Bold"/>
              </a:rPr>
              <a:t>Five-fold cross-validation</a:t>
            </a:r>
            <a:r>
              <a:rPr lang="en-US" sz="2000" b="true">
                <a:solidFill>
                  <a:srgbClr val="FFFFFF"/>
                </a:solidFill>
                <a:latin typeface="Nunito Semi-Bold"/>
                <a:ea typeface="Nunito Semi-Bold"/>
                <a:cs typeface="Nunito Semi-Bold"/>
                <a:sym typeface="Nunito Semi-Bold"/>
              </a:rPr>
              <a:t> for surrogate / attribution stability.</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Feature standardisation; PCA used only as a geometric and visual check.</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Multi-criteria k selection: elbow, Silhouette, Davies–Bouldin.</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Surrogate fidelity floor: </a:t>
            </a:r>
            <a:r>
              <a:rPr lang="en-US" sz="2000" b="true">
                <a:solidFill>
                  <a:srgbClr val="FFFFFF"/>
                </a:solidFill>
                <a:latin typeface="Nunito Bold"/>
                <a:ea typeface="Nunito Bold"/>
                <a:cs typeface="Nunito Bold"/>
                <a:sym typeface="Nunito Bold"/>
              </a:rPr>
              <a:t>macro-F1 ≈ 0.82</a:t>
            </a:r>
            <a:r>
              <a:rPr lang="en-US" sz="2000" b="true">
                <a:solidFill>
                  <a:srgbClr val="FFFFFF"/>
                </a:solidFill>
                <a:latin typeface="Nunito Semi-Bold"/>
                <a:ea typeface="Nunito Semi-Bold"/>
                <a:cs typeface="Nunito Semi-Bold"/>
                <a:sym typeface="Nunito Semi-Bold"/>
              </a:rPr>
              <a:t>.</a:t>
            </a:r>
          </a:p>
        </p:txBody>
      </p:sp>
      <p:sp>
        <p:nvSpPr>
          <p:cNvPr id="30" name="Rounded Rectangle 29"/>
          <p:cNvSpPr/>
          <p:nvPr/>
        </p:nvSpPr>
        <p:spPr>
          <a:xfrm>
            <a:off x="9326880" y="3592322"/>
            <a:ext cx="7932420" cy="5716270"/>
          </a:xfrm>
          <a:prstGeom prst="roundRect">
            <a:avLst>
              <a:gd name="adj" fmla="val 5438"/>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9784080" y="3354578"/>
            <a:ext cx="364295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Recommendation (C3)</a:t>
            </a:r>
          </a:p>
        </p:txBody>
      </p:sp>
      <p:sp>
        <p:nvSpPr>
          <p:cNvPr id="32" name="TextBox 31"/>
          <p:cNvSpPr txBox="1"/>
          <p:nvPr/>
        </p:nvSpPr>
        <p:spPr>
          <a:xfrm>
            <a:off x="982980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User-level, time-ordered split:</a:t>
            </a:r>
            <a:r>
              <a:rPr lang="en-US" sz="2000" b="true">
                <a:solidFill>
                  <a:srgbClr val="111111"/>
                </a:solidFill>
                <a:latin typeface="Nunito Semi-Bold"/>
                <a:ea typeface="Nunito Semi-Bold"/>
                <a:cs typeface="Nunito Semi-Bold"/>
                <a:sym typeface="Nunito Semi-Bold"/>
              </a:rPr>
              <a:t> 70 % train / 10 % validation / 20 % test.</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Leave-one-out:</a:t>
            </a:r>
            <a:r>
              <a:rPr lang="en-US" sz="2000" b="true">
                <a:solidFill>
                  <a:srgbClr val="111111"/>
                </a:solidFill>
                <a:latin typeface="Nunito Semi-Bold"/>
                <a:ea typeface="Nunito Semi-Bold"/>
                <a:cs typeface="Nunito Semi-Bold"/>
                <a:sym typeface="Nunito Semi-Bold"/>
              </a:rPr>
              <a:t> the latest test positive per user is the target, ranked against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Implicit conversion: MovieLens-1M ratings &gt; 3 treated as positive.</a:t>
            </a:r>
          </a:p>
          <a:p>
            <a:pPr algn="l" marL="274320" indent="-274320">
              <a:lnSpc>
                <a:spcPts val="296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Popularity-aware negative sampling </a:t>
            </a:r>
            <a:r>
              <a:rPr lang="en-US" sz="2000" b="true">
                <a:solidFill>
                  <a:srgbClr val="111111"/>
                </a:solidFill>
                <a:latin typeface="Nunito Bold"/>
                <a:ea typeface="Nunito Bold"/>
                <a:cs typeface="Nunito Bold"/>
                <a:sym typeface="Nunito Bold"/>
              </a:rPr>
              <a:t>q(i) </a:t>
            </a:r>
            <a:r>
              <a:rPr lang="en-US" sz="2000" b="true">
                <a:solidFill>
                  <a:srgbClr val="111111"/>
                </a:solidFill>
                <a:latin typeface="Cambria Math"/>
                <a:ea typeface="Cambria Math"/>
                <a:cs typeface="Cambria Math"/>
                <a:sym typeface="Cambria Math"/>
              </a:rPr>
              <a:t>∝ </a:t>
            </a:r>
            <a:r>
              <a:rPr lang="en-US" sz="2000" b="true">
                <a:solidFill>
                  <a:srgbClr val="111111"/>
                </a:solidFill>
                <a:latin typeface="Nunito Bold"/>
                <a:ea typeface="Nunito Bold"/>
                <a:cs typeface="Nunito Bold"/>
                <a:sym typeface="Nunito Bold"/>
              </a:rPr>
              <a:t>f</a:t>
            </a:r>
            <a:r>
              <a:rPr lang="en-US" sz="2000" b="true" baseline="-25000">
                <a:solidFill>
                  <a:srgbClr val="111111"/>
                </a:solidFill>
                <a:latin typeface="Nunito Bold"/>
                <a:ea typeface="Nunito Bold"/>
                <a:cs typeface="Nunito Bold"/>
                <a:sym typeface="Nunito Bold"/>
              </a:rPr>
              <a:t>i</a:t>
            </a:r>
            <a:r>
              <a:rPr lang="en-US" sz="2000" b="true" baseline="30000">
                <a:solidFill>
                  <a:srgbClr val="111111"/>
                </a:solidFill>
                <a:latin typeface="Calibri"/>
                <a:ea typeface="Calibri"/>
                <a:cs typeface="Calibri"/>
                <a:sym typeface="Calibri"/>
              </a:rPr>
              <a:t>η</a:t>
            </a:r>
            <a:r>
              <a:rPr lang="en-US" sz="2000" b="true">
                <a:solidFill>
                  <a:srgbClr val="111111"/>
                </a:solidFill>
                <a:latin typeface="Nunito Semi-Bold"/>
                <a:ea typeface="Nunito Semi-Bold"/>
                <a:cs typeface="Nunito Semi-Bold"/>
                <a:sym typeface="Nunito Semi-Bold"/>
              </a:rPr>
              <a:t> for harder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Reproducibility: seeds {42, 43, 44, 45, 46}; early-stopping patience 20.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020"/>
              </a:lnSpc>
              <a:spcBef>
                <a:spcPts val="0"/>
              </a:spcBef>
              <a:buNone/>
            </a:pPr>
            <a:r>
              <a:rPr lang="en-US" sz="850" b="true">
                <a:solidFill>
                  <a:srgbClr val="8A8378"/>
                </a:solidFill>
                <a:latin typeface="Nunito Semi-Bold"/>
                <a:ea typeface="Nunito Semi-Bold"/>
                <a:cs typeface="Nunito Semi-Bold"/>
                <a:sym typeface="Nunito Semi-Bold"/>
              </a:rPr>
              <a:t>[7] Ribeiro, M. T., Singh, S. &amp; Guestrin, C. "Why Should I Trust You?": Explaining the Predictions of Any Classifier (LIME). KDD, 1135–1144 (2016).   [10] Koren, Y., Bell, R. &amp; Volinsky, C. Matrix Factorization Techniques for Recommender Systems. Computer 42(8), 30–37 (2009).   [11] He, X. et al. Neural Collaborative Filtering. WWW, 173–182 (2017).   [12]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[15] Zhang, D. et al. RecDCL: Dual Contrastive Learning for Recommendation. The Web Conference, 3655–3666 (2024).</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Baselines</a:t>
            </a:r>
          </a:p>
        </p:txBody>
      </p:sp>
      <p:pic>
        <p:nvPicPr>
          <p:cNvPr id="23" name="Picture 22" descr="image.png"/>
          <p:cNvPicPr>
            <a:picLocks noChangeAspect="1"/>
          </p:cNvPicPr>
          <p:nvPr/>
        </p:nvPicPr>
        <p:blipFill>
          <a:blip r:embed="rId3"/>
          <a:stretch>
            <a:fillRect/>
          </a:stretch>
        </p:blipFill>
        <p:spPr>
          <a:xfrm>
            <a:off x="3729007" y="1673352"/>
            <a:ext cx="457200" cy="539881"/>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graphicFrame>
        <p:nvGraphicFramePr>
          <p:cNvPr id="27" name="Table 26"/>
          <p:cNvGraphicFramePr>
            <a:graphicFrameLocks noGrp="1"/>
          </p:cNvGraphicFramePr>
          <p:nvPr/>
        </p:nvGraphicFramePr>
        <p:xfrm>
          <a:off x="1028700" y="3363722"/>
          <a:ext cx="16230599" cy="4242816"/>
        </p:xfrm>
        <a:graphic>
          <a:graphicData uri="http://schemas.openxmlformats.org/drawingml/2006/table">
            <a:tbl>
              <a:tblPr firstRow="0" bandRow="0" firstCol="0" lastRow="0" lastCol="0" bandCol="0">
                <a:tableStyleId>{2D5ABB26-0587-4C30-8999-92F81FD0307C}</a:tableStyleId>
              </a:tblPr>
              <a:tblGrid>
                <a:gridCol w="2664725"/>
                <a:gridCol w="3875964"/>
                <a:gridCol w="7994176"/>
                <a:gridCol w="1695734"/>
              </a:tblGrid>
              <a:tr h="530352">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Family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Baseline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represents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Used in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Local surrogate explanation; the standard alternative to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C1, C2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Classical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(BPR)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Matrix factorisation with pairwise ranking loss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Neural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Neural collaborative filtering (MLP on embeddings)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Simplified graph convolution on the user-item 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 + contrastive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Dual contrastive learning for recommendation (2024)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contrastive collaborative filtering (2022)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projection enhanced collaborative filtering (2025)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8" name="Rounded Rectangle 27"/>
          <p:cNvSpPr/>
          <p:nvPr/>
        </p:nvSpPr>
        <p:spPr>
          <a:xfrm>
            <a:off x="1028700" y="8155178"/>
            <a:ext cx="16230600" cy="1016254"/>
          </a:xfrm>
          <a:prstGeom prst="roundRect">
            <a:avLst>
              <a:gd name="adj" fmla="val 19795"/>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7963154"/>
            <a:ext cx="1867571"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WHY THIS SET</a:t>
            </a:r>
          </a:p>
        </p:txBody>
      </p:sp>
      <p:sp>
        <p:nvSpPr>
          <p:cNvPr id="30" name="TextBox 29"/>
          <p:cNvSpPr txBox="1"/>
          <p:nvPr/>
        </p:nvSpPr>
        <p:spPr>
          <a:xfrm>
            <a:off x="1394460" y="8429498"/>
            <a:ext cx="15499080" cy="604774"/>
          </a:xfrm>
          <a:prstGeom prst="rect">
            <a:avLst/>
          </a:prstGeom>
          <a:noFill/>
        </p:spPr>
        <p:txBody>
          <a:bodyPr anchor="ctr" rtlCol="false" lIns="0" tIns="0" rIns="0" bIns="0" wrap="square"/>
          <a:lstStyle/>
          <a:p>
            <a:pPr algn="l">
              <a:lnSpc>
                <a:spcPts val="2261"/>
              </a:lnSpc>
              <a:spcBef>
                <a:spcPts val="0"/>
              </a:spcBef>
              <a:buNone/>
            </a:pPr>
            <a:r>
              <a:rPr lang="en-US" sz="1615" b="true">
                <a:solidFill>
                  <a:srgbClr val="111111"/>
                </a:solidFill>
                <a:latin typeface="Nunito Semi-Bold"/>
                <a:ea typeface="Nunito Semi-Bold"/>
                <a:cs typeface="Nunito Semi-Bold"/>
                <a:sym typeface="Nunito Semi-Bold"/>
              </a:rPr>
              <a:t>Classical, neural, graph and hypergraph families together, so the effect of </a:t>
            </a:r>
            <a:r>
              <a:rPr lang="en-US" sz="1615" b="true">
                <a:solidFill>
                  <a:srgbClr val="111111"/>
                </a:solidFill>
                <a:latin typeface="Nunito Bold"/>
                <a:ea typeface="Nunito Bold"/>
                <a:cs typeface="Nunito Bold"/>
                <a:sym typeface="Nunito Bold"/>
              </a:rPr>
              <a:t>cooperative attribution</a:t>
            </a:r>
            <a:r>
              <a:rPr lang="en-US" sz="1615" b="true">
                <a:solidFill>
                  <a:srgbClr val="111111"/>
                </a:solidFill>
                <a:latin typeface="Nunito Semi-Bold"/>
                <a:ea typeface="Nunito Semi-Bold"/>
                <a:cs typeface="Nunito Semi-Bold"/>
                <a:sym typeface="Nunito Semi-Bold"/>
              </a:rPr>
              <a:t> is not confused with a lucky model choice. HPCF is the strongest reference; all baselines were finalised in early 2026.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[23] Zhu, Z. et al. Popularity Bias in Dynamic Recommendation. KDD, 2439–2449 (2021).  ·  Hurley, N. &amp; Zhang, M. Novelty and Diversity in Top-N Recommendation. ACM TOIT 10(4) (2011).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Metrics</a:t>
            </a:r>
          </a:p>
        </p:txBody>
      </p:sp>
      <p:pic>
        <p:nvPicPr>
          <p:cNvPr id="23" name="Picture 22" descr="image.png"/>
          <p:cNvPicPr>
            <a:picLocks noChangeAspect="1"/>
          </p:cNvPicPr>
          <p:nvPr/>
        </p:nvPicPr>
        <p:blipFill>
          <a:blip r:embed="rId3"/>
          <a:stretch>
            <a:fillRect/>
          </a:stretch>
        </p:blipFill>
        <p:spPr>
          <a:xfrm>
            <a:off x="6134170" y="1673352"/>
            <a:ext cx="457200" cy="373212"/>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7" name="Rectangle 26"/>
          <p:cNvSpPr/>
          <p:nvPr/>
        </p:nvSpPr>
        <p:spPr>
          <a:xfrm>
            <a:off x="1028700" y="3363722"/>
            <a:ext cx="16230600" cy="384048"/>
          </a:xfrm>
          <a:prstGeom prst="rect">
            <a:avLst/>
          </a:prstGeom>
          <a:solidFill>
            <a:srgbClr val="4472C4"/>
          </a:solidFill>
          <a:ln>
            <a:noFill/>
          </a:ln>
        </p:spPr>
        <p:txBody>
          <a:bodyPr anchor="ctr" rtlCol="false" lIns="0" tIns="0" rIns="0" bIns="0" wrap="square"/>
          <a:lstStyle/>
          <a:p>
            <a:endParaRPr lang="en-US" sz="1800"/>
          </a:p>
        </p:txBody>
      </p:sp>
      <p:sp>
        <p:nvSpPr>
          <p:cNvPr id="28" name="TextBox 27"/>
          <p:cNvSpPr txBox="1"/>
          <p:nvPr/>
        </p:nvSpPr>
        <p:spPr>
          <a:xfrm>
            <a:off x="1165860" y="3363722"/>
            <a:ext cx="237744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Metric</a:t>
            </a:r>
          </a:p>
        </p:txBody>
      </p:sp>
      <p:sp>
        <p:nvSpPr>
          <p:cNvPr id="29" name="TextBox 28"/>
          <p:cNvSpPr txBox="1"/>
          <p:nvPr/>
        </p:nvSpPr>
        <p:spPr>
          <a:xfrm>
            <a:off x="3817620" y="3363722"/>
            <a:ext cx="621792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Formula</a:t>
            </a:r>
          </a:p>
        </p:txBody>
      </p:sp>
      <p:sp>
        <p:nvSpPr>
          <p:cNvPr id="30" name="TextBox 29"/>
          <p:cNvSpPr txBox="1"/>
          <p:nvPr/>
        </p:nvSpPr>
        <p:spPr>
          <a:xfrm>
            <a:off x="10309860" y="3363722"/>
            <a:ext cx="681228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Why it is used</a:t>
            </a:r>
          </a:p>
        </p:txBody>
      </p:sp>
      <p:sp>
        <p:nvSpPr>
          <p:cNvPr id="31" name="Rectangle 30"/>
          <p:cNvSpPr/>
          <p:nvPr/>
        </p:nvSpPr>
        <p:spPr>
          <a:xfrm>
            <a:off x="1028700" y="3747770"/>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32" name="TextBox 31"/>
          <p:cNvSpPr txBox="1"/>
          <p:nvPr/>
        </p:nvSpPr>
        <p:spPr>
          <a:xfrm>
            <a:off x="1165860" y="3747770"/>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NDCG@K  (main)</a:t>
            </a:r>
          </a:p>
        </p:txBody>
      </p:sp>
      <mc:AlternateContent xmlns:mc="http://schemas.openxmlformats.org/markup-compatibility/2006">
        <mc:Choice xmlns:a14="http://schemas.microsoft.com/office/drawing/2010/main" Requires="a14">
          <p:sp>
            <p:nvSpPr>
              <p:cNvPr id="33" name="Equation"/>
              <p:cNvSpPr txBox="1"/>
              <p:nvPr/>
            </p:nvSpPr>
            <p:spPr>
              <a:xfrm>
                <a:off x="3771900" y="3775202"/>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NDCG@</m:t>
                      </m:r>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1</m:t>
                          </m:r>
                        </m:num>
                        <m:den>
                          <m:r>
                            <m:rPr>
                              <m:sty m:val="p"/>
                            </m:rPr>
                            <a:rPr lang="en-US" sz="1150">
                              <a:solidFill>
                                <a:srgbClr val="111111"/>
                              </a:solidFill>
                              <a:latin typeface="Cambria Math" panose="02040503050406030204" pitchFamily="18" charset="0"/>
                            </a:rPr>
                            <m:t xml:space="preserve">IDCG@</m:t>
                          </m:r>
                          <m:r>
                            <a:rPr lang="en-US" sz="1150" i="1">
                              <a:solidFill>
                                <a:srgbClr val="111111"/>
                              </a:solidFill>
                              <a:latin typeface="Cambria Math" panose="02040503050406030204" pitchFamily="18" charset="0"/>
                            </a:rPr>
                            <m:t xml:space="preserve">K</m:t>
                          </m:r>
                        </m:den>
                      </m:f>
                      <m:r>
                        <m:rPr>
                          <m:sty m:val="p"/>
                        </m:rPr>
                        <a:rPr lang="en-US" sz="1150">
                          <a:solidFill>
                            <a:srgbClr val="111111"/>
                          </a:solidFill>
                          <a:latin typeface="Cambria Math" panose="02040503050406030204" pitchFamily="18" charset="0"/>
                        </a:rPr>
                        <m:t xml:space="preserve"> </m:t>
                      </m:r>
                      <m:nary>
                        <m:naryPr>
                          <m:chr m:val="∑"/>
                          <m:limLoc m:val="subSup"/>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=1</m:t>
                          </m:r>
                        </m:sub>
                        <m:sup>
                          <m:r>
                            <a:rPr lang="en-US" sz="1150" i="1">
                              <a:solidFill>
                                <a:srgbClr val="111111"/>
                              </a:solidFill>
                              <a:latin typeface="Cambria Math" panose="02040503050406030204" pitchFamily="18" charset="0"/>
                            </a:rPr>
                            <m:t xml:space="preserve">K</m:t>
                          </m:r>
                        </m:sup>
                        <m:e>
                          <m:f>
                            <m:fPr>
                              <m:ctrlPr>
                                <a:rPr lang="en-US" sz="1150" i="1">
                                  <a:solidFill>
                                    <a:srgbClr val="111111"/>
                                  </a:solidFill>
                                  <a:latin typeface="Cambria Math" panose="02040503050406030204" pitchFamily="18" charset="0"/>
                                </a:rPr>
                              </m:ctrlPr>
                            </m:fPr>
                            <m:num>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rel</m:t>
                                  </m:r>
                                </m:e>
                                <m:sub>
                                  <m:r>
                                    <a:rPr lang="en-US" sz="1150" i="1">
                                      <a:solidFill>
                                        <a:srgbClr val="111111"/>
                                      </a:solidFill>
                                      <a:latin typeface="Cambria Math" panose="02040503050406030204" pitchFamily="18" charset="0"/>
                                    </a:rPr>
                                    <m:t xml:space="preserve">i</m:t>
                                  </m:r>
                                </m:sub>
                              </m:sSub>
                            </m:num>
                            <m:den>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log</m:t>
                                  </m:r>
                                </m:e>
                                <m:sub>
                                  <m:r>
                                    <m:rPr>
                                      <m:sty m:val="p"/>
                                    </m:rPr>
                                    <a:rPr lang="en-US" sz="1150">
                                      <a:solidFill>
                                        <a:srgbClr val="111111"/>
                                      </a:solidFill>
                                      <a:latin typeface="Cambria Math" panose="02040503050406030204" pitchFamily="18" charset="0"/>
                                    </a:rPr>
                                    <m:t xml:space="preserve">2</m:t>
                                  </m:r>
                                </m:sub>
                              </m:sSub>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+1)</m:t>
                              </m:r>
                            </m:den>
                          </m:f>
                        </m:e>
                      </m:nary>
                    </m:oMath>
                  </m:oMathPara>
                </a14:m>
                <a:endParaRPr lang="en-US" sz="1150"/>
              </a:p>
            </p:txBody>
          </p:sp>
        </mc:Choice>
        <mc:Fallback>
          <p:sp>
            <p:nvSpPr>
              <p:cNvPr id="33" name="Equation"/>
              <p:cNvSpPr txBox="1"/>
              <p:nvPr/>
            </p:nvSpPr>
            <p:spPr>
              <a:xfrm>
                <a:off x="3771900" y="3775202"/>
                <a:ext cx="6309360" cy="684675"/>
              </a:xfrm>
              <a:prstGeom prst="rect">
                <a:avLst/>
              </a:prstGeom>
              <a:blipFill>
                <a:blip r:embed="rId4"/>
                <a:stretch>
                  <a:fillRect/>
                </a:stretch>
              </a:blipFill>
            </p:spPr>
            <p:txBody>
              <a:bodyPr/>
              <a:lstStyle/>
              <a:p>
                <a:endParaRPr lang="en-US"/>
              </a:p>
            </p:txBody>
          </p:sp>
        </mc:Fallback>
      </mc:AlternateContent>
      <p:sp>
        <p:nvSpPr>
          <p:cNvPr id="34" name="TextBox 33"/>
          <p:cNvSpPr txBox="1"/>
          <p:nvPr/>
        </p:nvSpPr>
        <p:spPr>
          <a:xfrm>
            <a:off x="10309860" y="3747770"/>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Ranking quality; rewards relevant items placed near the top of the list.</a:t>
            </a:r>
          </a:p>
        </p:txBody>
      </p:sp>
      <p:cxnSp>
        <p:nvCxnSpPr>
          <p:cNvPr id="35" name="Connector 34"/>
          <p:cNvCxnSpPr/>
          <p:nvPr/>
        </p:nvCxnSpPr>
        <p:spPr>
          <a:xfrm>
            <a:off x="1028700" y="4487309"/>
            <a:ext cx="16230600" cy="0"/>
          </a:xfrm>
          <a:prstGeom prst="line">
            <a:avLst/>
          </a:prstGeom>
          <a:ln w="12700">
            <a:solidFill>
              <a:srgbClr val="E3D6C4"/>
            </a:solidFill>
          </a:ln>
        </p:spPr>
      </p:cxnSp>
      <p:sp>
        <p:nvSpPr>
          <p:cNvPr id="36" name="Rectangle 35"/>
          <p:cNvSpPr/>
          <p:nvPr/>
        </p:nvSpPr>
        <p:spPr>
          <a:xfrm>
            <a:off x="1028700" y="4487309"/>
            <a:ext cx="16230600" cy="739539"/>
          </a:xfrm>
          <a:prstGeom prst="rect">
            <a:avLst/>
          </a:prstGeom>
          <a:solidFill>
            <a:srgbClr val="E7EAF3"/>
          </a:solidFill>
          <a:ln>
            <a:noFill/>
          </a:ln>
        </p:spPr>
        <p:txBody>
          <a:bodyPr anchor="ctr" rtlCol="false" lIns="0" tIns="0" rIns="0" bIns="0" wrap="square"/>
          <a:lstStyle/>
          <a:p>
            <a:endParaRPr lang="en-US" sz="1800"/>
          </a:p>
        </p:txBody>
      </p:sp>
      <p:sp>
        <p:nvSpPr>
          <p:cNvPr id="37" name="TextBox 36"/>
          <p:cNvSpPr txBox="1"/>
          <p:nvPr/>
        </p:nvSpPr>
        <p:spPr>
          <a:xfrm>
            <a:off x="1165860" y="4487309"/>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Recall@K</a:t>
            </a:r>
          </a:p>
        </p:txBody>
      </p:sp>
      <mc:AlternateContent xmlns:mc="http://schemas.openxmlformats.org/markup-compatibility/2006">
        <mc:Choice xmlns:a14="http://schemas.microsoft.com/office/drawing/2010/main" Requires="a14">
          <p:sp>
            <p:nvSpPr>
              <p:cNvPr id="38" name="Equation"/>
              <p:cNvSpPr txBox="1"/>
              <p:nvPr/>
            </p:nvSpPr>
            <p:spPr>
              <a:xfrm>
                <a:off x="3771900" y="4514741"/>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00">
                          <a:solidFill>
                            <a:srgbClr val="111111"/>
                          </a:solidFill>
                          <a:latin typeface="Cambria Math" panose="02040503050406030204" pitchFamily="18" charset="0"/>
                        </a:rPr>
                        <m:t xml:space="preserve">Recall@</m:t>
                      </m:r>
                      <m:r>
                        <a:rPr lang="en-US" sz="1100" i="1">
                          <a:solidFill>
                            <a:srgbClr val="111111"/>
                          </a:solidFill>
                          <a:latin typeface="Cambria Math" panose="02040503050406030204" pitchFamily="18" charset="0"/>
                        </a:rPr>
                        <m:t xml:space="preserve">K</m:t>
                      </m:r>
                      <m:r>
                        <m:rPr>
                          <m:sty m:val="p"/>
                        </m:rPr>
                        <a:rPr lang="en-US" sz="1100">
                          <a:solidFill>
                            <a:srgbClr val="111111"/>
                          </a:solidFill>
                          <a:latin typeface="Cambria Math" panose="02040503050406030204" pitchFamily="18" charset="0"/>
                        </a:rPr>
                        <m:t xml:space="preserve">=</m:t>
                      </m:r>
                      <m:f>
                        <m:fPr>
                          <m:ctrlPr>
                            <a:rPr lang="en-US" sz="1100" i="1">
                              <a:solidFill>
                                <a:srgbClr val="111111"/>
                              </a:solidFill>
                              <a:latin typeface="Cambria Math" panose="02040503050406030204" pitchFamily="18" charset="0"/>
                            </a:rPr>
                          </m:ctrlPr>
                        </m:fPr>
                        <m:num>
                          <m:r>
                            <m:rPr>
                              <m:sty m:val="p"/>
                            </m:rPr>
                            <a:rPr lang="en-US" sz="1100">
                              <a:solidFill>
                                <a:srgbClr val="111111"/>
                              </a:solidFill>
                              <a:latin typeface="Cambria Math" panose="02040503050406030204" pitchFamily="18" charset="0"/>
                            </a:rPr>
                            <m:t xml:space="preserve">| </m:t>
                          </m:r>
                          <m:sSubSup>
                            <m:sSubSupPr>
                              <m:ctrlPr>
                                <a:rPr lang="en-US" sz="1100" i="1">
                                  <a:solidFill>
                                    <a:srgbClr val="111111"/>
                                  </a:solidFill>
                                  <a:latin typeface="Cambria Math" panose="02040503050406030204" pitchFamily="18" charset="0"/>
                                </a:rPr>
                              </m:ctrlPr>
                            </m:sSubSupPr>
                            <m:e>
                              <m:r>
                                <a:rPr lang="en-US" sz="1100" i="1">
                                  <a:solidFill>
                                    <a:srgbClr val="111111"/>
                                  </a:solidFill>
                                  <a:latin typeface="Cambria Math" panose="02040503050406030204" pitchFamily="18" charset="0"/>
                                </a:rPr>
                                <m:t xml:space="preserve">L</m:t>
                              </m:r>
                            </m:e>
                            <m:sub>
                              <m:r>
                                <a:rPr lang="en-US" sz="1100" i="1">
                                  <a:solidFill>
                                    <a:srgbClr val="111111"/>
                                  </a:solidFill>
                                  <a:latin typeface="Cambria Math" panose="02040503050406030204" pitchFamily="18" charset="0"/>
                                </a:rPr>
                                <m:t xml:space="preserve">u</m:t>
                              </m:r>
                            </m:sub>
                            <m:sup>
                              <m:r>
                                <a:rPr lang="en-US" sz="1100" i="1">
                                  <a:solidFill>
                                    <a:srgbClr val="111111"/>
                                  </a:solidFill>
                                  <a:latin typeface="Cambria Math" panose="02040503050406030204" pitchFamily="18" charset="0"/>
                                </a:rPr>
                                <m:t xml:space="preserve">K</m:t>
                              </m:r>
                            </m:sup>
                          </m:sSubSup>
                          <m:r>
                            <m:rPr>
                              <m:sty m:val="p"/>
                            </m:rPr>
                            <a:rPr lang="en-US" sz="1100">
                              <a:solidFill>
                                <a:srgbClr val="111111"/>
                              </a:solidFill>
                              <a:latin typeface="Cambria Math" panose="02040503050406030204" pitchFamily="18" charset="0"/>
                            </a:rPr>
                            <m:t xml:space="preserve">∩</m:t>
                          </m:r>
                          <m:sSub>
                            <m:sSubPr>
                              <m:ctrlPr>
                                <a:rPr lang="en-US" sz="1100" i="1">
                                  <a:solidFill>
                                    <a:srgbClr val="111111"/>
                                  </a:solidFill>
                                  <a:latin typeface="Cambria Math" panose="02040503050406030204" pitchFamily="18" charset="0"/>
                                </a:rPr>
                              </m:ctrlPr>
                            </m:sSubPr>
                            <m:e>
                              <m:r>
                                <m:rPr>
                                  <m:scr m:val="script"/>
                                  <m:sty m:val="p"/>
                                </m:rPr>
                                <a:rPr lang="en-US" sz="1100">
                                  <a:solidFill>
                                    <a:srgbClr val="111111"/>
                                  </a:solidFill>
                                  <a:latin typeface="Cambria Math" panose="02040503050406030204" pitchFamily="18" charset="0"/>
                                </a:rPr>
                                <m:t xml:space="preserve">R</m:t>
                              </m:r>
                            </m:e>
                            <m:sub>
                              <m:r>
                                <a:rPr lang="en-US" sz="1100" i="1">
                                  <a:solidFill>
                                    <a:srgbClr val="111111"/>
                                  </a:solidFill>
                                  <a:latin typeface="Cambria Math" panose="02040503050406030204" pitchFamily="18" charset="0"/>
                                </a:rPr>
                                <m:t xml:space="preserve">u</m:t>
                              </m:r>
                            </m:sub>
                          </m:sSub>
                          <m:r>
                            <m:rPr>
                              <m:sty m:val="p"/>
                            </m:rPr>
                            <a:rPr lang="en-US" sz="1100">
                              <a:solidFill>
                                <a:srgbClr val="111111"/>
                              </a:solidFill>
                              <a:latin typeface="Cambria Math" panose="02040503050406030204" pitchFamily="18" charset="0"/>
                            </a:rPr>
                            <m:t xml:space="preserve"> |</m:t>
                          </m:r>
                        </m:num>
                        <m:den>
                          <m:r>
                            <m:rPr>
                              <m:sty m:val="p"/>
                            </m:rPr>
                            <a:rPr lang="en-US" sz="1100">
                              <a:solidFill>
                                <a:srgbClr val="111111"/>
                              </a:solidFill>
                              <a:latin typeface="Cambria Math" panose="02040503050406030204" pitchFamily="18" charset="0"/>
                            </a:rPr>
                            <m:t xml:space="preserve">| </m:t>
                          </m:r>
                          <m:sSub>
                            <m:sSubPr>
                              <m:ctrlPr>
                                <a:rPr lang="en-US" sz="1100" i="1">
                                  <a:solidFill>
                                    <a:srgbClr val="111111"/>
                                  </a:solidFill>
                                  <a:latin typeface="Cambria Math" panose="02040503050406030204" pitchFamily="18" charset="0"/>
                                </a:rPr>
                              </m:ctrlPr>
                            </m:sSubPr>
                            <m:e>
                              <m:r>
                                <m:rPr>
                                  <m:scr m:val="script"/>
                                  <m:sty m:val="p"/>
                                </m:rPr>
                                <a:rPr lang="en-US" sz="1100">
                                  <a:solidFill>
                                    <a:srgbClr val="111111"/>
                                  </a:solidFill>
                                  <a:latin typeface="Cambria Math" panose="02040503050406030204" pitchFamily="18" charset="0"/>
                                </a:rPr>
                                <m:t xml:space="preserve">R</m:t>
                              </m:r>
                            </m:e>
                            <m:sub>
                              <m:r>
                                <a:rPr lang="en-US" sz="1100" i="1">
                                  <a:solidFill>
                                    <a:srgbClr val="111111"/>
                                  </a:solidFill>
                                  <a:latin typeface="Cambria Math" panose="02040503050406030204" pitchFamily="18" charset="0"/>
                                </a:rPr>
                                <m:t xml:space="preserve">u</m:t>
                              </m:r>
                            </m:sub>
                          </m:sSub>
                          <m:r>
                            <m:rPr>
                              <m:sty m:val="p"/>
                            </m:rPr>
                            <a:rPr lang="en-US" sz="1100">
                              <a:solidFill>
                                <a:srgbClr val="111111"/>
                              </a:solidFill>
                              <a:latin typeface="Cambria Math" panose="02040503050406030204" pitchFamily="18" charset="0"/>
                            </a:rPr>
                            <m:t xml:space="preserve"> |</m:t>
                          </m:r>
                        </m:den>
                      </m:f>
                    </m:oMath>
                  </m:oMathPara>
                </a14:m>
                <a:endParaRPr lang="en-US" sz="1100"/>
              </a:p>
            </p:txBody>
          </p:sp>
        </mc:Choice>
        <mc:Fallback>
          <p:sp>
            <p:nvSpPr>
              <p:cNvPr id="38" name="Equation"/>
              <p:cNvSpPr txBox="1"/>
              <p:nvPr/>
            </p:nvSpPr>
            <p:spPr>
              <a:xfrm>
                <a:off x="3771900" y="4514741"/>
                <a:ext cx="6309360" cy="684675"/>
              </a:xfrm>
              <a:prstGeom prst="rect">
                <a:avLst/>
              </a:prstGeom>
              <a:blipFill>
                <a:blip r:embed="rId5"/>
                <a:stretch>
                  <a:fillRect/>
                </a:stretch>
              </a:blipFill>
            </p:spPr>
            <p:txBody>
              <a:bodyPr/>
              <a:lstStyle/>
              <a:p>
                <a:endParaRPr lang="en-US"/>
              </a:p>
            </p:txBody>
          </p:sp>
        </mc:Fallback>
      </mc:AlternateContent>
      <p:sp>
        <p:nvSpPr>
          <p:cNvPr id="39" name="TextBox 38"/>
          <p:cNvSpPr txBox="1"/>
          <p:nvPr/>
        </p:nvSpPr>
        <p:spPr>
          <a:xfrm>
            <a:off x="10309860" y="4487309"/>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user's relevant items that appear in the top-K list.</a:t>
            </a:r>
          </a:p>
        </p:txBody>
      </p:sp>
      <p:cxnSp>
        <p:nvCxnSpPr>
          <p:cNvPr id="40" name="Connector 39"/>
          <p:cNvCxnSpPr/>
          <p:nvPr/>
        </p:nvCxnSpPr>
        <p:spPr>
          <a:xfrm>
            <a:off x="1028700" y="5226848"/>
            <a:ext cx="16230600" cy="0"/>
          </a:xfrm>
          <a:prstGeom prst="line">
            <a:avLst/>
          </a:prstGeom>
          <a:ln w="12700">
            <a:solidFill>
              <a:srgbClr val="E3D6C4"/>
            </a:solidFill>
          </a:ln>
        </p:spPr>
      </p:cxnSp>
      <p:sp>
        <p:nvSpPr>
          <p:cNvPr id="41" name="Rectangle 40"/>
          <p:cNvSpPr/>
          <p:nvPr/>
        </p:nvSpPr>
        <p:spPr>
          <a:xfrm>
            <a:off x="1028700" y="5226848"/>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42" name="TextBox 41"/>
          <p:cNvSpPr txBox="1"/>
          <p:nvPr/>
        </p:nvSpPr>
        <p:spPr>
          <a:xfrm>
            <a:off x="1165860" y="5226848"/>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Precision@K</a:t>
            </a:r>
          </a:p>
        </p:txBody>
      </p:sp>
      <mc:AlternateContent xmlns:mc="http://schemas.openxmlformats.org/markup-compatibility/2006">
        <mc:Choice xmlns:a14="http://schemas.microsoft.com/office/drawing/2010/main" Requires="a14">
          <p:sp>
            <p:nvSpPr>
              <p:cNvPr id="43" name="Equation"/>
              <p:cNvSpPr txBox="1"/>
              <p:nvPr/>
            </p:nvSpPr>
            <p:spPr>
              <a:xfrm>
                <a:off x="3771900" y="5254280"/>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250">
                          <a:solidFill>
                            <a:srgbClr val="111111"/>
                          </a:solidFill>
                          <a:latin typeface="Cambria Math" panose="02040503050406030204" pitchFamily="18" charset="0"/>
                        </a:rPr>
                        <m:t xml:space="preserve">Precision@</m:t>
                      </m:r>
                      <m:r>
                        <a:rPr lang="en-US" sz="1250" i="1">
                          <a:solidFill>
                            <a:srgbClr val="111111"/>
                          </a:solidFill>
                          <a:latin typeface="Cambria Math" panose="02040503050406030204" pitchFamily="18" charset="0"/>
                        </a:rPr>
                        <m:t xml:space="preserve">K</m:t>
                      </m:r>
                      <m:r>
                        <m:rPr>
                          <m:sty m:val="p"/>
                        </m:rPr>
                        <a:rPr lang="en-US" sz="1250">
                          <a:solidFill>
                            <a:srgbClr val="111111"/>
                          </a:solidFill>
                          <a:latin typeface="Cambria Math" panose="02040503050406030204" pitchFamily="18" charset="0"/>
                        </a:rPr>
                        <m:t xml:space="preserve">=</m:t>
                      </m:r>
                      <m:f>
                        <m:fPr>
                          <m:ctrlPr>
                            <a:rPr lang="en-US" sz="1250" i="1">
                              <a:solidFill>
                                <a:srgbClr val="111111"/>
                              </a:solidFill>
                              <a:latin typeface="Cambria Math" panose="02040503050406030204" pitchFamily="18" charset="0"/>
                            </a:rPr>
                          </m:ctrlPr>
                        </m:fPr>
                        <m:num>
                          <m:r>
                            <m:rPr>
                              <m:sty m:val="p"/>
                            </m:rPr>
                            <a:rPr lang="en-US" sz="1250">
                              <a:solidFill>
                                <a:srgbClr val="111111"/>
                              </a:solidFill>
                              <a:latin typeface="Cambria Math" panose="02040503050406030204" pitchFamily="18" charset="0"/>
                            </a:rPr>
                            <m:t xml:space="preserve">| </m:t>
                          </m:r>
                          <m:sSubSup>
                            <m:sSubSupPr>
                              <m:ctrlPr>
                                <a:rPr lang="en-US" sz="1250" i="1">
                                  <a:solidFill>
                                    <a:srgbClr val="111111"/>
                                  </a:solidFill>
                                  <a:latin typeface="Cambria Math" panose="02040503050406030204" pitchFamily="18" charset="0"/>
                                </a:rPr>
                              </m:ctrlPr>
                            </m:sSubSupPr>
                            <m:e>
                              <m:r>
                                <a:rPr lang="en-US" sz="1250" i="1">
                                  <a:solidFill>
                                    <a:srgbClr val="111111"/>
                                  </a:solidFill>
                                  <a:latin typeface="Cambria Math" panose="02040503050406030204" pitchFamily="18" charset="0"/>
                                </a:rPr>
                                <m:t xml:space="preserve">L</m:t>
                              </m:r>
                            </m:e>
                            <m:sub>
                              <m:r>
                                <a:rPr lang="en-US" sz="1250" i="1">
                                  <a:solidFill>
                                    <a:srgbClr val="111111"/>
                                  </a:solidFill>
                                  <a:latin typeface="Cambria Math" panose="02040503050406030204" pitchFamily="18" charset="0"/>
                                </a:rPr>
                                <m:t xml:space="preserve">u</m:t>
                              </m:r>
                            </m:sub>
                            <m:sup>
                              <m:r>
                                <a:rPr lang="en-US" sz="1250" i="1">
                                  <a:solidFill>
                                    <a:srgbClr val="111111"/>
                                  </a:solidFill>
                                  <a:latin typeface="Cambria Math" panose="02040503050406030204" pitchFamily="18" charset="0"/>
                                </a:rPr>
                                <m:t xml:space="preserve">K</m:t>
                              </m:r>
                            </m:sup>
                          </m:sSubSup>
                          <m:r>
                            <m:rPr>
                              <m:sty m:val="p"/>
                            </m:rPr>
                            <a:rPr lang="en-US" sz="1250">
                              <a:solidFill>
                                <a:srgbClr val="111111"/>
                              </a:solidFill>
                              <a:latin typeface="Cambria Math" panose="02040503050406030204" pitchFamily="18" charset="0"/>
                            </a:rPr>
                            <m:t xml:space="preserve">∩</m:t>
                          </m:r>
                          <m:sSub>
                            <m:sSubPr>
                              <m:ctrlPr>
                                <a:rPr lang="en-US" sz="1250" i="1">
                                  <a:solidFill>
                                    <a:srgbClr val="111111"/>
                                  </a:solidFill>
                                  <a:latin typeface="Cambria Math" panose="02040503050406030204" pitchFamily="18" charset="0"/>
                                </a:rPr>
                              </m:ctrlPr>
                            </m:sSubPr>
                            <m:e>
                              <m:r>
                                <m:rPr>
                                  <m:scr m:val="script"/>
                                  <m:sty m:val="p"/>
                                </m:rPr>
                                <a:rPr lang="en-US" sz="1250">
                                  <a:solidFill>
                                    <a:srgbClr val="111111"/>
                                  </a:solidFill>
                                  <a:latin typeface="Cambria Math" panose="02040503050406030204" pitchFamily="18" charset="0"/>
                                </a:rPr>
                                <m:t xml:space="preserve">R</m:t>
                              </m:r>
                            </m:e>
                            <m:sub>
                              <m:r>
                                <a:rPr lang="en-US" sz="1250" i="1">
                                  <a:solidFill>
                                    <a:srgbClr val="111111"/>
                                  </a:solidFill>
                                  <a:latin typeface="Cambria Math" panose="02040503050406030204" pitchFamily="18" charset="0"/>
                                </a:rPr>
                                <m:t xml:space="preserve">u</m:t>
                              </m:r>
                            </m:sub>
                          </m:sSub>
                          <m:r>
                            <m:rPr>
                              <m:sty m:val="p"/>
                            </m:rPr>
                            <a:rPr lang="en-US" sz="1250">
                              <a:solidFill>
                                <a:srgbClr val="111111"/>
                              </a:solidFill>
                              <a:latin typeface="Cambria Math" panose="02040503050406030204" pitchFamily="18" charset="0"/>
                            </a:rPr>
                            <m:t xml:space="preserve"> |</m:t>
                          </m:r>
                        </m:num>
                        <m:den>
                          <m:r>
                            <a:rPr lang="en-US" sz="1250" i="1">
                              <a:solidFill>
                                <a:srgbClr val="111111"/>
                              </a:solidFill>
                              <a:latin typeface="Cambria Math" panose="02040503050406030204" pitchFamily="18" charset="0"/>
                            </a:rPr>
                            <m:t xml:space="preserve">K</m:t>
                          </m:r>
                        </m:den>
                      </m:f>
                    </m:oMath>
                  </m:oMathPara>
                </a14:m>
                <a:endParaRPr lang="en-US" sz="1250"/>
              </a:p>
            </p:txBody>
          </p:sp>
        </mc:Choice>
        <mc:Fallback>
          <p:sp>
            <p:nvSpPr>
              <p:cNvPr id="43" name="Equation"/>
              <p:cNvSpPr txBox="1"/>
              <p:nvPr/>
            </p:nvSpPr>
            <p:spPr>
              <a:xfrm>
                <a:off x="3771900" y="5254280"/>
                <a:ext cx="6309360" cy="684675"/>
              </a:xfrm>
              <a:prstGeom prst="rect">
                <a:avLst/>
              </a:prstGeom>
              <a:blipFill>
                <a:blip r:embed="rId6"/>
                <a:stretch>
                  <a:fillRect/>
                </a:stretch>
              </a:blipFill>
            </p:spPr>
            <p:txBody>
              <a:bodyPr/>
              <a:lstStyle/>
              <a:p>
                <a:endParaRPr lang="en-US"/>
              </a:p>
            </p:txBody>
          </p:sp>
        </mc:Fallback>
      </mc:AlternateContent>
      <p:sp>
        <p:nvSpPr>
          <p:cNvPr id="44" name="TextBox 43"/>
          <p:cNvSpPr txBox="1"/>
          <p:nvPr/>
        </p:nvSpPr>
        <p:spPr>
          <a:xfrm>
            <a:off x="10309860" y="5226848"/>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top-K list that is relevant.</a:t>
            </a:r>
          </a:p>
        </p:txBody>
      </p:sp>
      <p:cxnSp>
        <p:nvCxnSpPr>
          <p:cNvPr id="45" name="Connector 44"/>
          <p:cNvCxnSpPr/>
          <p:nvPr/>
        </p:nvCxnSpPr>
        <p:spPr>
          <a:xfrm>
            <a:off x="1028700" y="5966387"/>
            <a:ext cx="16230600" cy="0"/>
          </a:xfrm>
          <a:prstGeom prst="line">
            <a:avLst/>
          </a:prstGeom>
          <a:ln w="12700">
            <a:solidFill>
              <a:srgbClr val="E3D6C4"/>
            </a:solidFill>
          </a:ln>
        </p:spPr>
      </p:cxnSp>
      <p:sp>
        <p:nvSpPr>
          <p:cNvPr id="46" name="Rectangle 45"/>
          <p:cNvSpPr/>
          <p:nvPr/>
        </p:nvSpPr>
        <p:spPr>
          <a:xfrm>
            <a:off x="1028700" y="5966387"/>
            <a:ext cx="16230600" cy="739539"/>
          </a:xfrm>
          <a:prstGeom prst="rect">
            <a:avLst/>
          </a:prstGeom>
          <a:solidFill>
            <a:srgbClr val="E7EAF3"/>
          </a:solidFill>
          <a:ln>
            <a:noFill/>
          </a:ln>
        </p:spPr>
        <p:txBody>
          <a:bodyPr anchor="ctr" rtlCol="false" lIns="0" tIns="0" rIns="0" bIns="0" wrap="square"/>
          <a:lstStyle/>
          <a:p>
            <a:endParaRPr lang="en-US" sz="1800"/>
          </a:p>
        </p:txBody>
      </p:sp>
      <p:sp>
        <p:nvSpPr>
          <p:cNvPr id="47" name="TextBox 46"/>
          <p:cNvSpPr txBox="1"/>
          <p:nvPr/>
        </p:nvSpPr>
        <p:spPr>
          <a:xfrm>
            <a:off x="1165860" y="5966387"/>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Catalogue Coverage</a:t>
            </a:r>
          </a:p>
        </p:txBody>
      </p:sp>
      <mc:AlternateContent xmlns:mc="http://schemas.openxmlformats.org/markup-compatibility/2006">
        <mc:Choice xmlns:a14="http://schemas.microsoft.com/office/drawing/2010/main" Requires="a14">
          <p:sp>
            <p:nvSpPr>
              <p:cNvPr id="48" name="Equation"/>
              <p:cNvSpPr txBox="1"/>
              <p:nvPr/>
            </p:nvSpPr>
            <p:spPr>
              <a:xfrm>
                <a:off x="3771900" y="5993819"/>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250">
                          <a:solidFill>
                            <a:srgbClr val="111111"/>
                          </a:solidFill>
                          <a:latin typeface="Cambria Math" panose="02040503050406030204" pitchFamily="18" charset="0"/>
                        </a:rPr>
                        <m:t xml:space="preserve">Cov=</m:t>
                      </m:r>
                      <m:f>
                        <m:fPr>
                          <m:ctrlPr>
                            <a:rPr lang="en-US" sz="1250" i="1">
                              <a:solidFill>
                                <a:srgbClr val="111111"/>
                              </a:solidFill>
                              <a:latin typeface="Cambria Math" panose="02040503050406030204" pitchFamily="18" charset="0"/>
                            </a:rPr>
                          </m:ctrlPr>
                        </m:fPr>
                        <m:num>
                          <m:d>
                            <m:dPr>
                              <m:begChr m:val="|"/>
                              <m:endChr m:val="|"/>
                              <m:ctrlPr>
                                <a:rPr lang="en-US" sz="1250" i="1">
                                  <a:solidFill>
                                    <a:srgbClr val="111111"/>
                                  </a:solidFill>
                                  <a:latin typeface="Cambria Math" panose="02040503050406030204" pitchFamily="18" charset="0"/>
                                </a:rPr>
                              </m:ctrlPr>
                            </m:dPr>
                            <m:e>
                              <m:r>
                                <m:rPr>
                                  <m:sty m:val="p"/>
                                </m:rPr>
                                <a:rPr lang="en-US" sz="1250">
                                  <a:solidFill>
                                    <a:srgbClr val="111111"/>
                                  </a:solidFill>
                                  <a:latin typeface="Cambria Math" panose="02040503050406030204" pitchFamily="18" charset="0"/>
                                </a:rPr>
                                <m:t xml:space="preserve"> </m:t>
                              </m:r>
                              <m:nary>
                                <m:naryPr>
                                  <m:chr m:val="⋃"/>
                                  <m:limLoc m:val="subSup"/>
                                  <m:supHide m:val="1"/>
                                  <m:ctrlPr>
                                    <a:rPr lang="en-US" sz="1250" i="1">
                                      <a:solidFill>
                                        <a:srgbClr val="111111"/>
                                      </a:solidFill>
                                      <a:latin typeface="Cambria Math" panose="02040503050406030204" pitchFamily="18" charset="0"/>
                                    </a:rPr>
                                  </m:ctrlPr>
                                </m:naryPr>
                                <m:sub>
                                  <m:r>
                                    <a:rPr lang="en-US" sz="1250" i="1">
                                      <a:solidFill>
                                        <a:srgbClr val="111111"/>
                                      </a:solidFill>
                                      <a:latin typeface="Cambria Math" panose="02040503050406030204" pitchFamily="18" charset="0"/>
                                    </a:rPr>
                                    <m:t xml:space="preserve">u</m:t>
                                  </m:r>
                                </m:sub>
                                <m:sup/>
                                <m:e>
                                  <m:sSubSup>
                                    <m:sSubSupPr>
                                      <m:ctrlPr>
                                        <a:rPr lang="en-US" sz="1250" i="1">
                                          <a:solidFill>
                                            <a:srgbClr val="111111"/>
                                          </a:solidFill>
                                          <a:latin typeface="Cambria Math" panose="02040503050406030204" pitchFamily="18" charset="0"/>
                                        </a:rPr>
                                      </m:ctrlPr>
                                    </m:sSubSupPr>
                                    <m:e>
                                      <m:r>
                                        <a:rPr lang="en-US" sz="1250" i="1">
                                          <a:solidFill>
                                            <a:srgbClr val="111111"/>
                                          </a:solidFill>
                                          <a:latin typeface="Cambria Math" panose="02040503050406030204" pitchFamily="18" charset="0"/>
                                        </a:rPr>
                                        <m:t xml:space="preserve">L</m:t>
                                      </m:r>
                                    </m:e>
                                    <m:sub>
                                      <m:r>
                                        <a:rPr lang="en-US" sz="1250" i="1">
                                          <a:solidFill>
                                            <a:srgbClr val="111111"/>
                                          </a:solidFill>
                                          <a:latin typeface="Cambria Math" panose="02040503050406030204" pitchFamily="18" charset="0"/>
                                        </a:rPr>
                                        <m:t xml:space="preserve">u</m:t>
                                      </m:r>
                                    </m:sub>
                                    <m:sup>
                                      <m:r>
                                        <a:rPr lang="en-US" sz="1250" i="1">
                                          <a:solidFill>
                                            <a:srgbClr val="111111"/>
                                          </a:solidFill>
                                          <a:latin typeface="Cambria Math" panose="02040503050406030204" pitchFamily="18" charset="0"/>
                                        </a:rPr>
                                        <m:t xml:space="preserve">K</m:t>
                                      </m:r>
                                    </m:sup>
                                  </m:sSubSup>
                                </m:e>
                              </m:nary>
                              <m:r>
                                <m:rPr>
                                  <m:sty m:val="p"/>
                                </m:rPr>
                                <a:rPr lang="en-US" sz="1250">
                                  <a:solidFill>
                                    <a:srgbClr val="111111"/>
                                  </a:solidFill>
                                  <a:latin typeface="Cambria Math" panose="02040503050406030204" pitchFamily="18" charset="0"/>
                                </a:rPr>
                                <m:t xml:space="preserve"> </m:t>
                              </m:r>
                            </m:e>
                          </m:d>
                        </m:num>
                        <m:den>
                          <m:d>
                            <m:dPr>
                              <m:begChr m:val="|"/>
                              <m:endChr m:val="|"/>
                              <m:ctrlPr>
                                <a:rPr lang="en-US" sz="1250" i="1">
                                  <a:solidFill>
                                    <a:srgbClr val="111111"/>
                                  </a:solidFill>
                                  <a:latin typeface="Cambria Math" panose="02040503050406030204" pitchFamily="18" charset="0"/>
                                </a:rPr>
                              </m:ctrlPr>
                            </m:dPr>
                            <m:e>
                              <m:r>
                                <m:rPr>
                                  <m:sty m:val="p"/>
                                </m:rPr>
                                <a:rPr lang="en-US" sz="1250">
                                  <a:solidFill>
                                    <a:srgbClr val="111111"/>
                                  </a:solidFill>
                                  <a:latin typeface="Cambria Math" panose="02040503050406030204" pitchFamily="18" charset="0"/>
                                </a:rPr>
                                <m:t xml:space="preserve"> </m:t>
                              </m:r>
                              <m:r>
                                <a:rPr lang="en-US" sz="1250" i="1">
                                  <a:solidFill>
                                    <a:srgbClr val="111111"/>
                                  </a:solidFill>
                                  <a:latin typeface="Cambria Math" panose="02040503050406030204" pitchFamily="18" charset="0"/>
                                </a:rPr>
                                <m:t xml:space="preserve">I</m:t>
                              </m:r>
                              <m:r>
                                <m:rPr>
                                  <m:sty m:val="p"/>
                                </m:rPr>
                                <a:rPr lang="en-US" sz="1250">
                                  <a:solidFill>
                                    <a:srgbClr val="111111"/>
                                  </a:solidFill>
                                  <a:latin typeface="Cambria Math" panose="02040503050406030204" pitchFamily="18" charset="0"/>
                                </a:rPr>
                                <m:t xml:space="preserve"> </m:t>
                              </m:r>
                            </m:e>
                          </m:d>
                        </m:den>
                      </m:f>
                    </m:oMath>
                  </m:oMathPara>
                </a14:m>
                <a:endParaRPr lang="en-US" sz="1250"/>
              </a:p>
            </p:txBody>
          </p:sp>
        </mc:Choice>
        <mc:Fallback>
          <p:sp>
            <p:nvSpPr>
              <p:cNvPr id="48" name="Equation"/>
              <p:cNvSpPr txBox="1"/>
              <p:nvPr/>
            </p:nvSpPr>
            <p:spPr>
              <a:xfrm>
                <a:off x="3771900" y="5993819"/>
                <a:ext cx="6309360" cy="684675"/>
              </a:xfrm>
              <a:prstGeom prst="rect">
                <a:avLst/>
              </a:prstGeom>
              <a:blipFill>
                <a:blip r:embed="rId7"/>
                <a:stretch>
                  <a:fillRect/>
                </a:stretch>
              </a:blipFill>
            </p:spPr>
            <p:txBody>
              <a:bodyPr/>
              <a:lstStyle/>
              <a:p>
                <a:endParaRPr lang="en-US"/>
              </a:p>
            </p:txBody>
          </p:sp>
        </mc:Fallback>
      </mc:AlternateContent>
      <p:sp>
        <p:nvSpPr>
          <p:cNvPr id="49" name="TextBox 48"/>
          <p:cNvSpPr txBox="1"/>
          <p:nvPr/>
        </p:nvSpPr>
        <p:spPr>
          <a:xfrm>
            <a:off x="10309860" y="5966387"/>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System-level diversity: how much of the catalogue is ever recommended.</a:t>
            </a:r>
          </a:p>
        </p:txBody>
      </p:sp>
      <p:cxnSp>
        <p:nvCxnSpPr>
          <p:cNvPr id="50" name="Connector 49"/>
          <p:cNvCxnSpPr/>
          <p:nvPr/>
        </p:nvCxnSpPr>
        <p:spPr>
          <a:xfrm>
            <a:off x="1028700" y="6705926"/>
            <a:ext cx="16230600" cy="0"/>
          </a:xfrm>
          <a:prstGeom prst="line">
            <a:avLst/>
          </a:prstGeom>
          <a:ln w="12700">
            <a:solidFill>
              <a:srgbClr val="E3D6C4"/>
            </a:solidFill>
          </a:ln>
        </p:spPr>
      </p:cxnSp>
      <p:sp>
        <p:nvSpPr>
          <p:cNvPr id="51" name="Rectangle 50"/>
          <p:cNvSpPr/>
          <p:nvPr/>
        </p:nvSpPr>
        <p:spPr>
          <a:xfrm>
            <a:off x="1028700" y="6705926"/>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52" name="TextBox 51"/>
          <p:cNvSpPr txBox="1"/>
          <p:nvPr/>
        </p:nvSpPr>
        <p:spPr>
          <a:xfrm>
            <a:off x="1165860" y="6705926"/>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Intra-List Diversity</a:t>
            </a:r>
          </a:p>
        </p:txBody>
      </p:sp>
      <mc:AlternateContent xmlns:mc="http://schemas.openxmlformats.org/markup-compatibility/2006">
        <mc:Choice xmlns:a14="http://schemas.microsoft.com/office/drawing/2010/main" Requires="a14">
          <p:sp>
            <p:nvSpPr>
              <p:cNvPr id="53" name="Equation"/>
              <p:cNvSpPr txBox="1"/>
              <p:nvPr/>
            </p:nvSpPr>
            <p:spPr>
              <a:xfrm>
                <a:off x="3771900" y="6733358"/>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ILD(</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L</m:t>
                          </m:r>
                        </m:e>
                        <m:sub>
                          <m:r>
                            <a:rPr lang="en-US" sz="1150" i="1">
                              <a:solidFill>
                                <a:srgbClr val="111111"/>
                              </a:solidFill>
                              <a:latin typeface="Cambria Math" panose="02040503050406030204" pitchFamily="18" charset="0"/>
                            </a:rPr>
                            <m:t xml:space="preserve">u</m:t>
                          </m:r>
                        </m:sub>
                      </m:sSub>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2</m:t>
                          </m:r>
                        </m:num>
                        <m:den>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−1)</m:t>
                          </m:r>
                        </m:den>
                      </m:f>
                      <m:nary>
                        <m:naryPr>
                          <m:chr m:val="∑"/>
                          <m:limLoc m:val="subSup"/>
                          <m:supHide m:val="1"/>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&lt;</m:t>
                          </m:r>
                          <m:r>
                            <a:rPr lang="en-US" sz="1150" i="1">
                              <a:solidFill>
                                <a:srgbClr val="111111"/>
                              </a:solidFill>
                              <a:latin typeface="Cambria Math" panose="02040503050406030204" pitchFamily="18" charset="0"/>
                            </a:rPr>
                            <m:t xml:space="preserve">j</m:t>
                          </m:r>
                        </m:sub>
                        <m:sup/>
                        <m:e>
                          <m:d>
                            <m:dPr>
                              <m:ctrlPr>
                                <a:rPr lang="en-US" sz="1150" i="1">
                                  <a:solidFill>
                                    <a:srgbClr val="111111"/>
                                  </a:solidFill>
                                  <a:latin typeface="Cambria Math" panose="02040503050406030204" pitchFamily="18" charset="0"/>
                                </a:rPr>
                              </m:ctrlPr>
                            </m:dPr>
                            <m:e>
                              <m:r>
                                <m:rPr>
                                  <m:sty m:val="p"/>
                                </m:rPr>
                                <a:rPr lang="en-US" sz="1150">
                                  <a:solidFill>
                                    <a:srgbClr val="111111"/>
                                  </a:solidFill>
                                  <a:latin typeface="Cambria Math" panose="02040503050406030204" pitchFamily="18" charset="0"/>
                                </a:rPr>
                                <m:t xml:space="preserve">1−sim(</m:t>
                              </m:r>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j</m:t>
                              </m:r>
                              <m:r>
                                <m:rPr>
                                  <m:sty m:val="p"/>
                                </m:rPr>
                                <a:rPr lang="en-US" sz="1150">
                                  <a:solidFill>
                                    <a:srgbClr val="111111"/>
                                  </a:solidFill>
                                  <a:latin typeface="Cambria Math" panose="02040503050406030204" pitchFamily="18" charset="0"/>
                                </a:rPr>
                                <m:t xml:space="preserve">)</m:t>
                              </m:r>
                            </m:e>
                          </m:d>
                        </m:e>
                      </m:nary>
                    </m:oMath>
                  </m:oMathPara>
                </a14:m>
                <a:endParaRPr lang="en-US" sz="1150"/>
              </a:p>
            </p:txBody>
          </p:sp>
        </mc:Choice>
        <mc:Fallback>
          <p:sp>
            <p:nvSpPr>
              <p:cNvPr id="53" name="Equation"/>
              <p:cNvSpPr txBox="1"/>
              <p:nvPr/>
            </p:nvSpPr>
            <p:spPr>
              <a:xfrm>
                <a:off x="3771900" y="6733358"/>
                <a:ext cx="6309360" cy="684675"/>
              </a:xfrm>
              <a:prstGeom prst="rect">
                <a:avLst/>
              </a:prstGeom>
              <a:blipFill>
                <a:blip r:embed="rId8"/>
                <a:stretch>
                  <a:fillRect/>
                </a:stretch>
              </a:blipFill>
            </p:spPr>
            <p:txBody>
              <a:bodyPr/>
              <a:lstStyle/>
              <a:p>
                <a:endParaRPr lang="en-US"/>
              </a:p>
            </p:txBody>
          </p:sp>
        </mc:Fallback>
      </mc:AlternateContent>
      <p:sp>
        <p:nvSpPr>
          <p:cNvPr id="54" name="TextBox 53"/>
          <p:cNvSpPr txBox="1"/>
          <p:nvPr/>
        </p:nvSpPr>
        <p:spPr>
          <a:xfrm>
            <a:off x="10309860" y="6705926"/>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List-level diversity; built into the DyHuCoG coalition utility.</a:t>
            </a:r>
          </a:p>
        </p:txBody>
      </p:sp>
      <p:cxnSp>
        <p:nvCxnSpPr>
          <p:cNvPr id="55" name="Connector 54"/>
          <p:cNvCxnSpPr/>
          <p:nvPr/>
        </p:nvCxnSpPr>
        <p:spPr>
          <a:xfrm>
            <a:off x="1028700" y="7445465"/>
            <a:ext cx="16230600" cy="0"/>
          </a:xfrm>
          <a:prstGeom prst="line">
            <a:avLst/>
          </a:prstGeom>
          <a:ln w="12700">
            <a:solidFill>
              <a:srgbClr val="E3D6C4"/>
            </a:solidFill>
          </a:ln>
        </p:spPr>
      </p:cxnSp>
      <p:sp>
        <p:nvSpPr>
          <p:cNvPr id="56" name="Rectangle 55"/>
          <p:cNvSpPr/>
          <p:nvPr/>
        </p:nvSpPr>
        <p:spPr>
          <a:xfrm>
            <a:off x="1028700" y="7445465"/>
            <a:ext cx="16230600" cy="739539"/>
          </a:xfrm>
          <a:prstGeom prst="rect">
            <a:avLst/>
          </a:prstGeom>
          <a:solidFill>
            <a:srgbClr val="E7EAF3"/>
          </a:solidFill>
          <a:ln>
            <a:noFill/>
          </a:ln>
        </p:spPr>
        <p:txBody>
          <a:bodyPr anchor="ctr" rtlCol="false" lIns="0" tIns="0" rIns="0" bIns="0" wrap="square"/>
          <a:lstStyle/>
          <a:p>
            <a:endParaRPr lang="en-US" sz="1800"/>
          </a:p>
        </p:txBody>
      </p:sp>
      <p:sp>
        <p:nvSpPr>
          <p:cNvPr id="57" name="TextBox 56"/>
          <p:cNvSpPr txBox="1"/>
          <p:nvPr/>
        </p:nvSpPr>
        <p:spPr>
          <a:xfrm>
            <a:off x="1165860" y="7445465"/>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Silhouette</a:t>
            </a:r>
          </a:p>
        </p:txBody>
      </p:sp>
      <mc:AlternateContent xmlns:mc="http://schemas.openxmlformats.org/markup-compatibility/2006">
        <mc:Choice xmlns:a14="http://schemas.microsoft.com/office/drawing/2010/main" Requires="a14">
          <p:sp>
            <p:nvSpPr>
              <p:cNvPr id="58" name="Equation"/>
              <p:cNvSpPr txBox="1"/>
              <p:nvPr/>
            </p:nvSpPr>
            <p:spPr>
              <a:xfrm>
                <a:off x="3771900" y="7472897"/>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1150" i="1">
                          <a:solidFill>
                            <a:srgbClr val="111111"/>
                          </a:solidFill>
                          <a:latin typeface="Cambria Math" panose="02040503050406030204" pitchFamily="18" charset="0"/>
                        </a:rPr>
                        <m:t xml:space="preserve">s</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a:rPr lang="en-US" sz="1150" i="1">
                              <a:solidFill>
                                <a:srgbClr val="111111"/>
                              </a:solidFill>
                              <a:latin typeface="Cambria Math" panose="02040503050406030204" pitchFamily="18" charset="0"/>
                            </a:rPr>
                            <m:t xml:space="preserve">b</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a</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num>
                        <m:den>
                          <m:r>
                            <m:rPr>
                              <m:sty m:val="p"/>
                            </m:rPr>
                            <a:rPr lang="en-US" sz="1150">
                              <a:solidFill>
                                <a:srgbClr val="111111"/>
                              </a:solidFill>
                              <a:latin typeface="Cambria Math" panose="02040503050406030204" pitchFamily="18" charset="0"/>
                            </a:rPr>
                            <m:t xml:space="preserve">max{</m:t>
                          </m:r>
                          <m:r>
                            <a:rPr lang="en-US" sz="1150" i="1">
                              <a:solidFill>
                                <a:srgbClr val="111111"/>
                              </a:solidFill>
                              <a:latin typeface="Cambria Math" panose="02040503050406030204" pitchFamily="18" charset="0"/>
                            </a:rPr>
                            <m:t xml:space="preserve">a</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 </m:t>
                          </m:r>
                          <m:r>
                            <a:rPr lang="en-US" sz="1150" i="1">
                              <a:solidFill>
                                <a:srgbClr val="111111"/>
                              </a:solidFill>
                              <a:latin typeface="Cambria Math" panose="02040503050406030204" pitchFamily="18" charset="0"/>
                            </a:rPr>
                            <m:t xml:space="preserve">b</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den>
                      </m:f>
                      <m:r>
                        <m:rPr>
                          <m:sty m:val="p"/>
                        </m:rPr>
                        <a:rPr lang="en-US" sz="1150">
                          <a:solidFill>
                            <a:srgbClr val="111111"/>
                          </a:solidFill>
                          <a:latin typeface="Cambria Math" panose="02040503050406030204" pitchFamily="18" charset="0"/>
                        </a:rPr>
                        <m:t xml:space="preserve">,  </m:t>
                      </m:r>
                      <m:r>
                        <a:rPr lang="en-US" sz="1150" i="1">
                          <a:solidFill>
                            <a:srgbClr val="111111"/>
                          </a:solidFill>
                          <a:latin typeface="Cambria Math" panose="02040503050406030204" pitchFamily="18" charset="0"/>
                        </a:rPr>
                        <m:t xml:space="preserve">s</m:t>
                      </m:r>
                      <m:r>
                        <m:rPr>
                          <m:sty m:val="p"/>
                        </m:rPr>
                        <a:rPr lang="en-US" sz="1150">
                          <a:solidFill>
                            <a:srgbClr val="111111"/>
                          </a:solidFill>
                          <a:latin typeface="Cambria Math" panose="02040503050406030204" pitchFamily="18" charset="0"/>
                        </a:rPr>
                        <m:t xml:space="preserve">∈[−1,1]</m:t>
                      </m:r>
                    </m:oMath>
                  </m:oMathPara>
                </a14:m>
                <a:endParaRPr lang="en-US" sz="1150"/>
              </a:p>
            </p:txBody>
          </p:sp>
        </mc:Choice>
        <mc:Fallback>
          <p:sp>
            <p:nvSpPr>
              <p:cNvPr id="58" name="Equation"/>
              <p:cNvSpPr txBox="1"/>
              <p:nvPr/>
            </p:nvSpPr>
            <p:spPr>
              <a:xfrm>
                <a:off x="3771900" y="7472897"/>
                <a:ext cx="6309360" cy="684675"/>
              </a:xfrm>
              <a:prstGeom prst="rect">
                <a:avLst/>
              </a:prstGeom>
              <a:blipFill>
                <a:blip r:embed="rId9"/>
                <a:stretch>
                  <a:fillRect/>
                </a:stretch>
              </a:blipFill>
            </p:spPr>
            <p:txBody>
              <a:bodyPr/>
              <a:lstStyle/>
              <a:p>
                <a:endParaRPr lang="en-US"/>
              </a:p>
            </p:txBody>
          </p:sp>
        </mc:Fallback>
      </mc:AlternateContent>
      <p:sp>
        <p:nvSpPr>
          <p:cNvPr id="59" name="TextBox 58"/>
          <p:cNvSpPr txBox="1"/>
          <p:nvPr/>
        </p:nvSpPr>
        <p:spPr>
          <a:xfrm>
            <a:off x="10309860" y="7445465"/>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Clustering quality; the value function of the clustering game (C1, C2).</a:t>
            </a:r>
          </a:p>
        </p:txBody>
      </p:sp>
      <p:cxnSp>
        <p:nvCxnSpPr>
          <p:cNvPr id="60" name="Connector 59"/>
          <p:cNvCxnSpPr/>
          <p:nvPr/>
        </p:nvCxnSpPr>
        <p:spPr>
          <a:xfrm>
            <a:off x="1028700" y="8185004"/>
            <a:ext cx="16230600" cy="0"/>
          </a:xfrm>
          <a:prstGeom prst="line">
            <a:avLst/>
          </a:prstGeom>
          <a:ln w="12700">
            <a:solidFill>
              <a:srgbClr val="E3D6C4"/>
            </a:solidFill>
          </a:ln>
        </p:spPr>
      </p:cxnSp>
      <p:sp>
        <p:nvSpPr>
          <p:cNvPr id="61" name="Rectangle 60"/>
          <p:cNvSpPr/>
          <p:nvPr/>
        </p:nvSpPr>
        <p:spPr>
          <a:xfrm>
            <a:off x="1028700" y="8185004"/>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62" name="TextBox 61"/>
          <p:cNvSpPr txBox="1"/>
          <p:nvPr/>
        </p:nvSpPr>
        <p:spPr>
          <a:xfrm>
            <a:off x="1165860" y="8185004"/>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Davies–Bouldin</a:t>
            </a:r>
          </a:p>
        </p:txBody>
      </p:sp>
      <mc:AlternateContent xmlns:mc="http://schemas.openxmlformats.org/markup-compatibility/2006">
        <mc:Choice xmlns:a14="http://schemas.microsoft.com/office/drawing/2010/main" Requires="a14">
          <p:sp>
            <p:nvSpPr>
              <p:cNvPr id="63" name="Equation"/>
              <p:cNvSpPr txBox="1"/>
              <p:nvPr/>
            </p:nvSpPr>
            <p:spPr>
              <a:xfrm>
                <a:off x="3771900" y="8212436"/>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DB=</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1</m:t>
                          </m:r>
                        </m:num>
                        <m:den>
                          <m:r>
                            <a:rPr lang="en-US" sz="1150" i="1">
                              <a:solidFill>
                                <a:srgbClr val="111111"/>
                              </a:solidFill>
                              <a:latin typeface="Cambria Math" panose="02040503050406030204" pitchFamily="18" charset="0"/>
                            </a:rPr>
                            <m:t xml:space="preserve">k</m:t>
                          </m:r>
                        </m:den>
                      </m:f>
                      <m:nary>
                        <m:naryPr>
                          <m:chr m:val="∑"/>
                          <m:limLoc m:val="subSup"/>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c</m:t>
                          </m:r>
                          <m:r>
                            <m:rPr>
                              <m:sty m:val="p"/>
                            </m:rPr>
                            <a:rPr lang="en-US" sz="1150">
                              <a:solidFill>
                                <a:srgbClr val="111111"/>
                              </a:solidFill>
                              <a:latin typeface="Cambria Math" panose="02040503050406030204" pitchFamily="18" charset="0"/>
                            </a:rPr>
                            <m:t xml:space="preserve">=1</m:t>
                          </m:r>
                        </m:sub>
                        <m:sup>
                          <m:r>
                            <a:rPr lang="en-US" sz="1150" i="1">
                              <a:solidFill>
                                <a:srgbClr val="111111"/>
                              </a:solidFill>
                              <a:latin typeface="Cambria Math" panose="02040503050406030204" pitchFamily="18" charset="0"/>
                            </a:rPr>
                            <m:t xml:space="preserve">k</m:t>
                          </m:r>
                        </m:sup>
                        <m:e>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max</m:t>
                              </m:r>
                            </m:e>
                            <m:sub>
                              <m:r>
                                <a:rPr lang="en-US" sz="1150" i="1">
                                  <a:solidFill>
                                    <a:srgbClr val="111111"/>
                                  </a:solidFill>
                                  <a:latin typeface="Cambria Math" panose="02040503050406030204" pitchFamily="18" charset="0"/>
                                </a:rPr>
                                <m:t xml:space="preserve">c′</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c</m:t>
                              </m:r>
                            </m:sub>
                          </m:sSub>
                        </m:e>
                      </m:nary>
                      <m:f>
                        <m:fPr>
                          <m:ctrlPr>
                            <a:rPr lang="en-US" sz="1150" i="1">
                              <a:solidFill>
                                <a:srgbClr val="111111"/>
                              </a:solidFill>
                              <a:latin typeface="Cambria Math" panose="02040503050406030204" pitchFamily="18" charset="0"/>
                            </a:rPr>
                          </m:ctrlPr>
                        </m:fPr>
                        <m:num>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σ</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σ</m:t>
                              </m:r>
                            </m:e>
                            <m:sub>
                              <m:r>
                                <a:rPr lang="en-US" sz="1150" i="1">
                                  <a:solidFill>
                                    <a:srgbClr val="111111"/>
                                  </a:solidFill>
                                  <a:latin typeface="Cambria Math" panose="02040503050406030204" pitchFamily="18" charset="0"/>
                                </a:rPr>
                                <m:t xml:space="preserve">c′</m:t>
                              </m:r>
                            </m:sub>
                          </m:sSub>
                        </m:num>
                        <m:den>
                          <m:r>
                            <a:rPr lang="en-US" sz="1150" i="1">
                              <a:solidFill>
                                <a:srgbClr val="111111"/>
                              </a:solidFill>
                              <a:latin typeface="Cambria Math" panose="02040503050406030204" pitchFamily="18" charset="0"/>
                            </a:rPr>
                            <m:t xml:space="preserve">d</m:t>
                          </m:r>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μ</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μ</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den>
                      </m:f>
                    </m:oMath>
                  </m:oMathPara>
                </a14:m>
                <a:endParaRPr lang="en-US" sz="1150"/>
              </a:p>
            </p:txBody>
          </p:sp>
        </mc:Choice>
        <mc:Fallback>
          <p:sp>
            <p:nvSpPr>
              <p:cNvPr id="63" name="Equation"/>
              <p:cNvSpPr txBox="1"/>
              <p:nvPr/>
            </p:nvSpPr>
            <p:spPr>
              <a:xfrm>
                <a:off x="3771900" y="8212436"/>
                <a:ext cx="6309360" cy="684675"/>
              </a:xfrm>
              <a:prstGeom prst="rect">
                <a:avLst/>
              </a:prstGeom>
              <a:blipFill>
                <a:blip r:embed="rId10"/>
                <a:stretch>
                  <a:fillRect/>
                </a:stretch>
              </a:blipFill>
            </p:spPr>
            <p:txBody>
              <a:bodyPr/>
              <a:lstStyle/>
              <a:p>
                <a:endParaRPr lang="en-US"/>
              </a:p>
            </p:txBody>
          </p:sp>
        </mc:Fallback>
      </mc:AlternateContent>
      <p:sp>
        <p:nvSpPr>
          <p:cNvPr id="64" name="TextBox 63"/>
          <p:cNvSpPr txBox="1"/>
          <p:nvPr/>
        </p:nvSpPr>
        <p:spPr>
          <a:xfrm>
            <a:off x="10309860" y="8185004"/>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 overlap; lower is better.</a:t>
            </a:r>
          </a:p>
        </p:txBody>
      </p:sp>
      <p:cxnSp>
        <p:nvCxnSpPr>
          <p:cNvPr id="65" name="Connector 64"/>
          <p:cNvCxnSpPr/>
          <p:nvPr/>
        </p:nvCxnSpPr>
        <p:spPr>
          <a:xfrm>
            <a:off x="1028700" y="8924544"/>
            <a:ext cx="16230600" cy="0"/>
          </a:xfrm>
          <a:prstGeom prst="line">
            <a:avLst/>
          </a:prstGeom>
          <a:ln w="12700">
            <a:solidFill>
              <a:srgbClr val="E3D6C4"/>
            </a:solidFill>
          </a:ln>
        </p:spPr>
      </p:cxnSp>
      <p:sp>
        <p:nvSpPr>
          <p:cNvPr id="66" name="TextBox 65"/>
          <p:cNvSpPr txBox="1"/>
          <p:nvPr/>
        </p:nvSpPr>
        <p:spPr>
          <a:xfrm>
            <a:off x="1028700" y="8997696"/>
            <a:ext cx="1623060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Notation:</a:t>
            </a:r>
            <a:r>
              <a:rPr lang="en-US" sz="1300" b="true">
                <a:solidFill>
                  <a:srgbClr val="8A8378"/>
                </a:solidFill>
                <a:latin typeface="Nunito Semi-Bold"/>
                <a:ea typeface="Nunito Semi-Bold"/>
                <a:cs typeface="Nunito Semi-Bold"/>
                <a:sym typeface="Nunito Semi-Bold"/>
              </a:rPr>
              <a:t> L</a:t>
            </a:r>
            <a:r>
              <a:rPr lang="en-US" sz="1300" b="true" baseline="-25000">
                <a:solidFill>
                  <a:srgbClr val="8A8378"/>
                </a:solidFill>
                <a:latin typeface="Nunito Semi-Bold"/>
                <a:ea typeface="Nunito Semi-Bold"/>
                <a:cs typeface="Nunito Semi-Bold"/>
                <a:sym typeface="Nunito Semi-Bold"/>
              </a:rPr>
              <a:t>u</a:t>
            </a:r>
            <a:r>
              <a:rPr lang="en-US" sz="1300" b="true" baseline="30000">
                <a:solidFill>
                  <a:srgbClr val="8A8378"/>
                </a:solidFill>
                <a:latin typeface="Nunito Semi-Bold"/>
                <a:ea typeface="Nunito Semi-Bold"/>
                <a:cs typeface="Nunito Semi-Bold"/>
                <a:sym typeface="Nunito Semi-Bold"/>
              </a:rPr>
              <a:t>K</a:t>
            </a:r>
            <a:r>
              <a:rPr lang="en-US" sz="1300" b="true">
                <a:solidFill>
                  <a:srgbClr val="8A8378"/>
                </a:solidFill>
                <a:latin typeface="Nunito Semi-Bold"/>
                <a:ea typeface="Nunito Semi-Bold"/>
                <a:cs typeface="Nunito Semi-Bold"/>
                <a:sym typeface="Nunito Semi-Bold"/>
              </a:rPr>
              <a:t> = top-K list of user u; </a:t>
            </a:r>
            <a:r>
              <a:rPr lang="en-US" sz="1300" b="true">
                <a:solidFill>
                  <a:srgbClr val="8A8378"/>
                </a:solidFill>
                <a:latin typeface="Cambria Math"/>
                <a:ea typeface="Cambria Math"/>
                <a:cs typeface="Cambria Math"/>
                <a:sym typeface="Cambria Math"/>
              </a:rPr>
              <a:t>ℛ</a:t>
            </a:r>
            <a:r>
              <a:rPr lang="en-US" sz="1300" b="true" baseline="-25000">
                <a:solidFill>
                  <a:srgbClr val="8A8378"/>
                </a:solidFill>
                <a:latin typeface="Nunito Semi-Bold"/>
                <a:ea typeface="Nunito Semi-Bold"/>
                <a:cs typeface="Nunito Semi-Bold"/>
                <a:sym typeface="Nunito Semi-Bold"/>
              </a:rPr>
              <a:t>u</a:t>
            </a:r>
            <a:r>
              <a:rPr lang="en-US" sz="1300" b="true">
                <a:solidFill>
                  <a:srgbClr val="8A8378"/>
                </a:solidFill>
                <a:latin typeface="Nunito Semi-Bold"/>
                <a:ea typeface="Nunito Semi-Bold"/>
                <a:cs typeface="Nunito Semi-Bold"/>
                <a:sym typeface="Nunito Semi-Bold"/>
              </a:rPr>
              <a:t> = relevant (held-out) items of u; rel</a:t>
            </a:r>
            <a:r>
              <a:rPr lang="en-US" sz="1300" b="true" baseline="-25000">
                <a:solidFill>
                  <a:srgbClr val="8A8378"/>
                </a:solidFill>
                <a:latin typeface="Nunito Semi-Bold"/>
                <a:ea typeface="Nunito Semi-Bold"/>
                <a:cs typeface="Nunito Semi-Bold"/>
                <a:sym typeface="Nunito Semi-Bold"/>
              </a:rPr>
              <a:t>i</a:t>
            </a:r>
            <a:r>
              <a:rPr lang="en-US" sz="1300" b="true">
                <a:solidFill>
                  <a:srgbClr val="8A8378"/>
                </a:solidFill>
                <a:latin typeface="Cambria Math"/>
                <a:ea typeface="Cambria Math"/>
                <a:cs typeface="Cambria Math"/>
                <a:sym typeface="Cambria Math"/>
              </a:rPr>
              <a:t> ∈ </a:t>
            </a:r>
            <a:r>
              <a:rPr lang="en-US" sz="1300" b="true">
                <a:solidFill>
                  <a:srgbClr val="8A8378"/>
                </a:solidFill>
                <a:latin typeface="Nunito Semi-Bold"/>
                <a:ea typeface="Nunito Semi-Bold"/>
                <a:cs typeface="Nunito Semi-Bold"/>
                <a:sym typeface="Nunito Semi-Bold"/>
              </a:rPr>
              <a:t>{0,1}; a(x), b(x) = mean intra- and nearest-cluster distance; </a:t>
            </a:r>
            <a:r>
              <a:rPr lang="en-US" sz="1300" b="true">
                <a:solidFill>
                  <a:srgbClr val="8A8378"/>
                </a:solidFill>
                <a:latin typeface="Calibri"/>
                <a:ea typeface="Calibri"/>
                <a:cs typeface="Calibri"/>
                <a:sym typeface="Calibri"/>
              </a:rPr>
              <a:t>σ</a:t>
            </a:r>
            <a:r>
              <a:rPr lang="en-US" sz="1300" b="true" baseline="-25000">
                <a:solidFill>
                  <a:srgbClr val="8A8378"/>
                </a:solidFill>
                <a:latin typeface="Nunito Semi-Bold"/>
                <a:ea typeface="Nunito Semi-Bold"/>
                <a:cs typeface="Nunito Semi-Bold"/>
                <a:sym typeface="Nunito Semi-Bold"/>
              </a:rPr>
              <a:t>c</a:t>
            </a:r>
            <a:r>
              <a:rPr lang="en-US" sz="1300" b="true">
                <a:solidFill>
                  <a:srgbClr val="8A8378"/>
                </a:solidFill>
                <a:latin typeface="Nunito Semi-Bold"/>
                <a:ea typeface="Nunito Semi-Bold"/>
                <a:cs typeface="Nunito Semi-Bold"/>
                <a:sym typeface="Nunito Semi-Bold"/>
              </a:rPr>
              <a:t>, μ</a:t>
            </a:r>
            <a:r>
              <a:rPr lang="en-US" sz="1300" b="true" baseline="-25000">
                <a:solidFill>
                  <a:srgbClr val="8A8378"/>
                </a:solidFill>
                <a:latin typeface="Nunito Semi-Bold"/>
                <a:ea typeface="Nunito Semi-Bold"/>
                <a:cs typeface="Nunito Semi-Bold"/>
                <a:sym typeface="Nunito Semi-Bold"/>
              </a:rPr>
              <a:t>c</a:t>
            </a:r>
            <a:r>
              <a:rPr lang="en-US" sz="1300" b="true">
                <a:solidFill>
                  <a:srgbClr val="8A8378"/>
                </a:solidFill>
                <a:latin typeface="Nunito Semi-Bold"/>
                <a:ea typeface="Nunito Semi-Bold"/>
                <a:cs typeface="Nunito Semi-Bold"/>
                <a:sym typeface="Nunito Semi-Bold"/>
              </a:rPr>
              <a:t> = spread and centroid of cluster c. Reported at K </a:t>
            </a:r>
            <a:r>
              <a:rPr lang="en-US" sz="1300" b="true">
                <a:solidFill>
                  <a:srgbClr val="8A8378"/>
                </a:solidFill>
                <a:latin typeface="Cambria Math"/>
                <a:ea typeface="Cambria Math"/>
                <a:cs typeface="Cambria Math"/>
                <a:sym typeface="Cambria Math"/>
              </a:rPr>
              <a:t>∈ </a:t>
            </a:r>
            <a:r>
              <a:rPr lang="en-US" sz="1300" b="true">
                <a:solidFill>
                  <a:srgbClr val="8A8378"/>
                </a:solidFill>
                <a:latin typeface="Nunito Semi-Bold"/>
                <a:ea typeface="Nunito Semi-Bold"/>
                <a:cs typeface="Nunito Semi-Bold"/>
                <a:sym typeface="Nunito Semi-Bold"/>
              </a:rPr>
              <a:t>{5, 10, 20}; NDCG@20 is the main measure.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Hardware &amp; Software</a:t>
            </a:r>
          </a:p>
        </p:txBody>
      </p:sp>
      <p:pic>
        <p:nvPicPr>
          <p:cNvPr id="23" name="Picture 22" descr="image.png"/>
          <p:cNvPicPr>
            <a:picLocks noChangeAspect="1"/>
          </p:cNvPicPr>
          <p:nvPr/>
        </p:nvPicPr>
        <p:blipFill>
          <a:blip r:embed="rId3"/>
          <a:stretch>
            <a:fillRect/>
          </a:stretch>
        </p:blipFill>
        <p:spPr>
          <a:xfrm>
            <a:off x="7035228" y="1673352"/>
            <a:ext cx="457200" cy="427074"/>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Hardware</a:t>
            </a:r>
          </a:p>
        </p:txBody>
      </p:sp>
      <p:graphicFrame>
        <p:nvGraphicFramePr>
          <p:cNvPr id="27" name="Table 26"/>
          <p:cNvGraphicFramePr>
            <a:graphicFrameLocks noGrp="1"/>
          </p:cNvGraphicFramePr>
          <p:nvPr/>
        </p:nvGraphicFramePr>
        <p:xfrm>
          <a:off x="1028700" y="3363722"/>
          <a:ext cx="16230599" cy="3108960"/>
        </p:xfrm>
        <a:graphic>
          <a:graphicData uri="http://schemas.openxmlformats.org/drawingml/2006/table">
            <a:tbl>
              <a:tblPr firstRow="0" bandRow="0" firstCol="0" lastRow="0" lastCol="0" bandCol="0">
                <a:tableStyleId>{2D5ABB26-0587-4C30-8999-92F81FD0307C}</a:tableStyleId>
              </a:tblPr>
              <a:tblGrid>
                <a:gridCol w="2705100"/>
                <a:gridCol w="2080846"/>
                <a:gridCol w="3537438"/>
                <a:gridCol w="2705100"/>
                <a:gridCol w="1456592"/>
                <a:gridCol w="3745523"/>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Hardware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CPU / GPU</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RAM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Storage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Main software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  ·  Wine 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 Altair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  ·  Beijing multi-level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 (full dataset in memory)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III  ·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 + GPU</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NVIDIA GeForce RTX 4090 (24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Python 3.8, PyTorch 2.0.1, NumPy / SciPy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8" name="TextBox 27"/>
          <p:cNvSpPr txBox="1"/>
          <p:nvPr/>
        </p:nvSpPr>
        <p:spPr>
          <a:xfrm>
            <a:off x="1028700" y="6545834"/>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4.2 (thesis): hardware and software configuration, arranged here by contribution.</a:t>
            </a:r>
          </a:p>
        </p:txBody>
      </p:sp>
      <p:sp>
        <p:nvSpPr>
          <p:cNvPr id="29" name="Rounded Rectangle 28"/>
          <p:cNvSpPr/>
          <p:nvPr/>
        </p:nvSpPr>
        <p:spPr>
          <a:xfrm>
            <a:off x="1028700" y="7249922"/>
            <a:ext cx="7932420" cy="1967230"/>
          </a:xfrm>
          <a:prstGeom prst="roundRect">
            <a:avLst>
              <a:gd name="adj" fmla="val 15803"/>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70121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31" name="TextBox 30"/>
          <p:cNvSpPr txBox="1"/>
          <p:nvPr/>
        </p:nvSpPr>
        <p:spPr>
          <a:xfrm>
            <a:off x="148590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The hardware explains the </a:t>
            </a:r>
            <a:r>
              <a:rPr lang="en-US" sz="1547" b="true">
                <a:solidFill>
                  <a:srgbClr val="FFFFFF"/>
                </a:solidFill>
                <a:latin typeface="Nunito Bold"/>
                <a:ea typeface="Nunito Bold"/>
                <a:cs typeface="Nunito Bold"/>
                <a:sym typeface="Nunito Bold"/>
              </a:rPr>
              <a:t>runtime figures</a:t>
            </a:r>
            <a:r>
              <a:rPr lang="en-US" sz="1547" b="true">
                <a:solidFill>
                  <a:srgbClr val="FFFFFF"/>
                </a:solidFill>
                <a:latin typeface="Nunito Semi-Bold"/>
                <a:ea typeface="Nunito Semi-Bold"/>
                <a:cs typeface="Nunito Semi-Bold"/>
                <a:sym typeface="Nunito Semi-Bold"/>
              </a:rPr>
              <a:t> quoted later (DyHuCoG ≈ 1.78× HPCF training time on MovieLens-1M).</a:t>
            </a:r>
          </a:p>
          <a:p>
            <a:pPr algn="l" marL="274320" indent="-274320">
              <a:lnSpc>
                <a:spcPts val="2166"/>
              </a:lnSpc>
              <a:spcBef>
                <a:spcPts val="546"/>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Metrics at K </a:t>
            </a:r>
            <a:r>
              <a:rPr lang="en-US" sz="1547" b="true">
                <a:solidFill>
                  <a:srgbClr val="FFFFFF"/>
                </a:solidFill>
                <a:latin typeface="Cambria Math"/>
                <a:ea typeface="Cambria Math"/>
                <a:cs typeface="Cambria Math"/>
                <a:sym typeface="Cambria Math"/>
              </a:rPr>
              <a:t>∈ </a:t>
            </a:r>
            <a:r>
              <a:rPr lang="en-US" sz="1547" b="true">
                <a:solidFill>
                  <a:srgbClr val="FFFFFF"/>
                </a:solidFill>
                <a:latin typeface="Nunito Semi-Bold"/>
                <a:ea typeface="Nunito Semi-Bold"/>
                <a:cs typeface="Nunito Semi-Bold"/>
                <a:sym typeface="Nunito Semi-Bold"/>
              </a:rPr>
              <a:t>{5, 10, 20}; five seeds; early stopping on validation NDCG@20.</a:t>
            </a:r>
          </a:p>
        </p:txBody>
      </p:sp>
      <p:sp>
        <p:nvSpPr>
          <p:cNvPr id="32" name="Rounded Rectangle 31"/>
          <p:cNvSpPr/>
          <p:nvPr/>
        </p:nvSpPr>
        <p:spPr>
          <a:xfrm>
            <a:off x="9326880" y="7249922"/>
            <a:ext cx="7932420" cy="1967230"/>
          </a:xfrm>
          <a:prstGeom prst="roundRect">
            <a:avLst>
              <a:gd name="adj" fmla="val 15803"/>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9784080" y="7012178"/>
            <a:ext cx="147020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Scope</a:t>
            </a:r>
          </a:p>
        </p:txBody>
      </p:sp>
      <p:sp>
        <p:nvSpPr>
          <p:cNvPr id="34" name="TextBox 33"/>
          <p:cNvSpPr txBox="1"/>
          <p:nvPr/>
        </p:nvSpPr>
        <p:spPr>
          <a:xfrm>
            <a:off x="978408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1F7A8C"/>
              </a:buClr>
              <a:buSzPct val="100000"/>
              <a:buFont typeface="Arial"/>
              <a:buChar char="•"/>
            </a:pPr>
            <a:r>
              <a:rPr lang="en-US" sz="1547" b="true">
                <a:solidFill>
                  <a:srgbClr val="111111"/>
                </a:solidFill>
                <a:latin typeface="Nunito Bold"/>
                <a:ea typeface="Nunito Bold"/>
                <a:cs typeface="Nunito Bold"/>
                <a:sym typeface="Nunito Bold"/>
              </a:rPr>
              <a:t>Everything runs on standard academic hardware</a:t>
            </a:r>
            <a:r>
              <a:rPr lang="en-US" sz="1547" b="true">
                <a:solidFill>
                  <a:srgbClr val="111111"/>
                </a:solidFill>
                <a:latin typeface="Nunito Semi-Bold"/>
                <a:ea typeface="Nunito Semi-Bold"/>
                <a:cs typeface="Nunito Semi-Bold"/>
                <a:sym typeface="Nunito Semi-Bold"/>
              </a:rPr>
              <a:t>; nothing needs industrial-scale compute.</a:t>
            </a:r>
          </a:p>
          <a:p>
            <a:pPr algn="l" marL="274320" indent="-274320">
              <a:lnSpc>
                <a:spcPts val="2166"/>
              </a:lnSpc>
              <a:spcBef>
                <a:spcPts val="546"/>
              </a:spcBef>
              <a:buClr>
                <a:srgbClr val="1F7A8C"/>
              </a:buClr>
              <a:buSzPct val="100000"/>
              <a:buFont typeface="Arial"/>
              <a:buChar char="•"/>
            </a:pPr>
            <a:r>
              <a:rPr lang="en-US" sz="1547" b="true">
                <a:solidFill>
                  <a:srgbClr val="111111"/>
                </a:solidFill>
                <a:latin typeface="Nunito Semi-Bold"/>
                <a:ea typeface="Nunito Semi-Bold"/>
                <a:cs typeface="Nunito Semi-Bold"/>
                <a:sym typeface="Nunito Semi-Bold"/>
              </a:rPr>
              <a:t>Clustering, surrogates, SHAP and DyHuCoG share the same seeds and splits.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26</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a:t>
            </a:r>
          </a:p>
        </p:txBody>
      </p:sp>
      <p:sp>
        <p:nvSpPr>
          <p:cNvPr id="8" name="Oval 7"/>
          <p:cNvSpPr/>
          <p:nvPr/>
        </p:nvSpPr>
        <p:spPr>
          <a:xfrm>
            <a:off x="13049535"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049535"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04</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Explainable black-box clustering with Shapley values  ·  answers RQ1</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Cluster-level explanation that keeps feature-level attribution in the original feature space; justify Shapley over LIME.</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Features are players; Silhouette is the value function; a LightGBM surrogate bridges K-Means to exact TreeSHAP.</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k</a:t>
            </a:r>
            <a:r>
              <a:rPr lang="en-US" sz="2100" b="true" baseline="30000">
                <a:solidFill>
                  <a:srgbClr val="FFFFFF"/>
                </a:solidFill>
                <a:latin typeface="Nunito Semi-Bold"/>
                <a:ea typeface="Nunito Semi-Bold"/>
                <a:cs typeface="Nunito Semi-Bold"/>
                <a:sym typeface="Nunito Semi-Bold"/>
              </a:rPr>
              <a:t>*</a:t>
            </a:r>
            <a:r>
              <a:rPr lang="en-US" sz="2100" b="true">
                <a:solidFill>
                  <a:srgbClr val="FFFFFF"/>
                </a:solidFill>
                <a:latin typeface="Nunito Semi-Bold"/>
                <a:ea typeface="Nunito Semi-Bold"/>
                <a:cs typeface="Nunito Semi-Bold"/>
                <a:sym typeface="Nunito Semi-Bold"/>
              </a:rPr>
              <a:t> = 3 chosen for interpretability; density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pH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acidity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SO₂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alcohol recovered as a chemically meaningful ranking.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[5] Lundberg, S. M. &amp; Lee, S.-I. A Unified Approach to Interpreting Model Predictions (SHAP). NeurIPS 30, 4765–4774 (2017).   [6] Lundberg, S. M. et al. From Local Explanations to Global Understanding with Explainable AI for Trees (TreeSHAP). Nature Machine Intelligence 2, 56–67 (2020).   [7] Ribeiro, M. T., Singh, S. &amp; Guestrin, C. "Why Should I Trust You?": Explaining the Predictions of Any Classifier (LIME). KDD, 1135–1144 (2016).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3" name="Picture 22" descr="image.png"/>
          <p:cNvPicPr>
            <a:picLocks noChangeAspect="1"/>
          </p:cNvPicPr>
          <p:nvPr/>
        </p:nvPicPr>
        <p:blipFill>
          <a:blip r:embed="rId3"/>
          <a:stretch>
            <a:fillRect/>
          </a:stretch>
        </p:blipFill>
        <p:spPr>
          <a:xfrm>
            <a:off x="4883941"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Shapley explanation is </a:t>
            </a:r>
            <a:r>
              <a:rPr lang="en-US" sz="2100" b="true">
                <a:solidFill>
                  <a:srgbClr val="111111"/>
                </a:solidFill>
                <a:latin typeface="Nunito Bold"/>
                <a:ea typeface="Nunito Bold"/>
                <a:cs typeface="Nunito Bold"/>
                <a:sym typeface="Nunito Bold"/>
              </a:rPr>
              <a:t>standard in supervised tasks</a:t>
            </a:r>
            <a:r>
              <a:rPr lang="en-US" sz="2100" b="true">
                <a:solidFill>
                  <a:srgbClr val="111111"/>
                </a:solidFill>
                <a:latin typeface="Nunito Semi-Bold"/>
                <a:ea typeface="Nunito Semi-Bold"/>
                <a:cs typeface="Nunito Semi-Bold"/>
                <a:sym typeface="Nunito Semi-Bold"/>
              </a:rPr>
              <a:t> [5, 6], but clustering is still much less explained.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clustering-interpretability methods favour </a:t>
            </a:r>
            <a:r>
              <a:rPr lang="en-US" sz="2100" b="true">
                <a:solidFill>
                  <a:srgbClr val="111111"/>
                </a:solidFill>
                <a:latin typeface="Nunito Bold"/>
                <a:ea typeface="Nunito Bold"/>
                <a:cs typeface="Nunito Bold"/>
                <a:sym typeface="Nunito Bold"/>
              </a:rPr>
              <a:t>local or global</a:t>
            </a:r>
            <a:r>
              <a:rPr lang="en-US" sz="2100" b="true">
                <a:solidFill>
                  <a:srgbClr val="111111"/>
                </a:solidFill>
                <a:latin typeface="Nunito Semi-Bold"/>
                <a:ea typeface="Nunito Semi-Bold"/>
                <a:cs typeface="Nunito Semi-Bold"/>
                <a:sym typeface="Nunito Semi-Bold"/>
              </a:rPr>
              <a:t> explanation, not both.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They often fail to scale or to stay </a:t>
            </a:r>
            <a:r>
              <a:rPr lang="en-US" sz="2100" b="true">
                <a:solidFill>
                  <a:srgbClr val="111111"/>
                </a:solidFill>
                <a:latin typeface="Nunito Bold"/>
                <a:ea typeface="Nunito Bold"/>
                <a:cs typeface="Nunito Bold"/>
                <a:sym typeface="Nunito Bold"/>
              </a:rPr>
              <a:t>consistent across clusters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Clustering is the hardest test bed: the model creates its own structure, so cluster meaning must be worked out after the fact.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Local surrogates such as LIME [7] give no guarantee that the credit assigned to a feature is fair or stable.</a:t>
            </a:r>
          </a:p>
        </p:txBody>
      </p:sp>
      <p:sp>
        <p:nvSpPr>
          <p:cNvPr id="29" name="Rounded Rectangle 28"/>
          <p:cNvSpPr/>
          <p:nvPr/>
        </p:nvSpPr>
        <p:spPr>
          <a:xfrm>
            <a:off x="1028700" y="761695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0" name="Rounded Rectangle 29"/>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1" name="TextBox 30"/>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principled, axiomatic way to explain </a:t>
            </a:r>
            <a:r>
              <a:rPr lang="en-US" sz="2200" b="true">
                <a:solidFill>
                  <a:srgbClr val="111111"/>
                </a:solidFill>
                <a:latin typeface="Nunito Bold"/>
                <a:ea typeface="Nunito Bold"/>
                <a:cs typeface="Nunito Bold"/>
                <a:sym typeface="Nunito Bold"/>
              </a:rPr>
              <a:t>why a black-box clustering put an observation in a given cluster</a:t>
            </a:r>
            <a:r>
              <a:rPr lang="en-US" sz="2200" b="true">
                <a:solidFill>
                  <a:srgbClr val="111111"/>
                </a:solidFill>
                <a:latin typeface="Nunito Semi-Bold"/>
                <a:ea typeface="Nunito Semi-Bold"/>
                <a:cs typeface="Nunito Semi-Bold"/>
                <a:sym typeface="Nunito Semi-Bold"/>
              </a:rPr>
              <a:t>, in the original feature space and consistently across clusters.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RQ1 and Objectives</a:t>
            </a:r>
          </a:p>
        </p:txBody>
      </p:sp>
      <p:pic>
        <p:nvPicPr>
          <p:cNvPr id="23" name="Picture 22" descr="image.png"/>
          <p:cNvPicPr>
            <a:picLocks noChangeAspect="1"/>
          </p:cNvPicPr>
          <p:nvPr/>
        </p:nvPicPr>
        <p:blipFill>
          <a:blip r:embed="rId3"/>
          <a:stretch>
            <a:fillRect/>
          </a:stretch>
        </p:blipFill>
        <p:spPr>
          <a:xfrm>
            <a:off x="6193139"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RQ1</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Shapley values explain black-box clustering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at both instance level and cluster level?</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 pipeline that yields a cluster-level explanation while keeping </a:t>
                      </a:r>
                      <a:r>
                        <a:rPr lang="en-US" sz="1800" b="true">
                          <a:solidFill>
                            <a:srgbClr val="111111"/>
                          </a:solidFill>
                          <a:latin typeface="Nunito Bold"/>
                          <a:ea typeface="Nunito Bold"/>
                          <a:cs typeface="Nunito Bold"/>
                          <a:sym typeface="Nunito Bold"/>
                        </a:rPr>
                        <a:t>feature-level attribution</a:t>
                      </a:r>
                      <a:r>
                        <a:rPr lang="en-US" sz="1800" b="true">
                          <a:solidFill>
                            <a:srgbClr val="111111"/>
                          </a:solidFill>
                          <a:latin typeface="Nunito Semi-Bold"/>
                          <a:ea typeface="Nunito Semi-Bold"/>
                          <a:cs typeface="Nunito Semi-Bold"/>
                          <a:sym typeface="Nunito Semi-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5.2, cluster profiles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Attribution in the </a:t>
                      </a:r>
                      <a:r>
                        <a:rPr lang="en-US" sz="1800" b="true">
                          <a:solidFill>
                            <a:srgbClr val="111111"/>
                          </a:solidFill>
                          <a:latin typeface="Nunito Bold"/>
                          <a:ea typeface="Nunito Bold"/>
                          <a:cs typeface="Nunito Bold"/>
                          <a:sym typeface="Nunito Bold"/>
                        </a:rPr>
                        <a:t>original variables</a:t>
                      </a:r>
                      <a:r>
                        <a:rPr lang="en-US" sz="1800" b="true">
                          <a:solidFill>
                            <a:srgbClr val="111111"/>
                          </a:solidFill>
                          <a:latin typeface="Nunito Semi-Bold"/>
                          <a:ea typeface="Nunito Semi-Bold"/>
                          <a:cs typeface="Nunito Semi-Bold"/>
                          <a:sym typeface="Nunito Semi-Bold"/>
                        </a:rPr>
                        <a:t> (density, pH, acidity, sulfur dioxide, alcohol), not in a reduced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5.1, global ranking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Justify Shapley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An argument from the </a:t>
                      </a:r>
                      <a:r>
                        <a:rPr lang="en-US" sz="1800" b="true">
                          <a:solidFill>
                            <a:srgbClr val="111111"/>
                          </a:solidFill>
                          <a:latin typeface="Nunito Bold"/>
                          <a:ea typeface="Nunito Bold"/>
                          <a:cs typeface="Nunito Bold"/>
                          <a:sym typeface="Nunito Bold"/>
                        </a:rPr>
                        <a:t>four axioms</a:t>
                      </a:r>
                      <a:r>
                        <a:rPr lang="en-US" sz="1800" b="true">
                          <a:solidFill>
                            <a:srgbClr val="111111"/>
                          </a:solidFill>
                          <a:latin typeface="Nunito Semi-Bold"/>
                          <a:ea typeface="Nunito Semi-Bold"/>
                          <a:cs typeface="Nunito Semi-Bold"/>
                          <a:sym typeface="Nunito Semi-Bold"/>
                        </a:rPr>
                        <a:t> for why the cooperative concept is the right 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SHAP vs LIME 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[4] Shapley, L. S. A Value for n-Person Games. Contributions to the Theory of Games II, 307–317, Princeton University Press (1953).   [5] Lundberg, S. M. &amp; Lee, S.-I. A Unified Approach to Interpreting Model Predictions (SHAP). NeurIPS 30, 4765–4774 (2017).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Cooperative Game and the Shapley Value</a:t>
            </a:r>
          </a:p>
        </p:txBody>
      </p:sp>
      <p:pic>
        <p:nvPicPr>
          <p:cNvPr id="23" name="Picture 22" descr="image.png"/>
          <p:cNvPicPr>
            <a:picLocks noChangeAspect="1"/>
          </p:cNvPicPr>
          <p:nvPr/>
        </p:nvPicPr>
        <p:blipFill>
          <a:blip r:embed="rId3"/>
          <a:stretch>
            <a:fillRect/>
          </a:stretch>
        </p:blipFill>
        <p:spPr>
          <a:xfrm>
            <a:off x="12978774"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680960" cy="2286000"/>
          </a:xfrm>
          <a:prstGeom prst="rect">
            <a:avLst/>
          </a:prstGeom>
          <a:noFill/>
        </p:spPr>
        <p:txBody>
          <a:bodyPr anchor="t" rtlCol="false" lIns="0" tIns="0" rIns="0" bIns="0" wrap="square"/>
          <a:lstStyle/>
          <a:p>
            <a:pPr algn="l">
              <a:lnSpc>
                <a:spcPts val="2231"/>
              </a:lnSpc>
              <a:spcBef>
                <a:spcPts val="0"/>
              </a:spcBef>
              <a:buNone/>
            </a:pPr>
            <a:r>
              <a:rPr lang="en-US" sz="1785" b="true">
                <a:solidFill>
                  <a:srgbClr val="4472C4"/>
                </a:solidFill>
                <a:latin typeface="Nunito Ultra-Bold"/>
                <a:ea typeface="Nunito Ultra-Bold"/>
                <a:cs typeface="Nunito Ultra-Bold"/>
                <a:sym typeface="Nunito Ultra-Bold"/>
              </a:rPr>
              <a:t>Three ingredients</a:t>
            </a:r>
          </a:p>
          <a:p>
            <a:pPr algn="l" marL="274320" indent="-274320">
              <a:lnSpc>
                <a:spcPts val="2390"/>
              </a:lnSpc>
              <a:spcBef>
                <a:spcPts val="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Players</a:t>
            </a:r>
            <a:r>
              <a:rPr lang="en-US" sz="1615" b="true">
                <a:solidFill>
                  <a:srgbClr val="111111"/>
                </a:solidFill>
                <a:latin typeface="Nunito Semi-Bold"/>
                <a:ea typeface="Nunito Semi-Bold"/>
                <a:cs typeface="Nunito Semi-Bold"/>
                <a:sym typeface="Nunito Semi-Bold"/>
              </a:rPr>
              <a:t> N = {1, …, n}, and a </a:t>
            </a:r>
            <a:r>
              <a:rPr lang="en-US" sz="1615" b="true">
                <a:solidFill>
                  <a:srgbClr val="111111"/>
                </a:solidFill>
                <a:latin typeface="Nunito Bold"/>
                <a:ea typeface="Nunito Bold"/>
                <a:cs typeface="Nunito Bold"/>
                <a:sym typeface="Nunito Bold"/>
              </a:rPr>
              <a:t>coalition</a:t>
            </a:r>
            <a:r>
              <a:rPr lang="en-US" sz="1615" b="true">
                <a:solidFill>
                  <a:srgbClr val="111111"/>
                </a:solidFill>
                <a:latin typeface="Nunito Semi-Bold"/>
                <a:ea typeface="Nunito Semi-Bold"/>
                <a:cs typeface="Nunito Semi-Bold"/>
                <a:sym typeface="Nunito Semi-Bold"/>
              </a:rPr>
              <a:t> S </a:t>
            </a:r>
            <a:r>
              <a:rPr lang="en-US" sz="1615" b="true">
                <a:solidFill>
                  <a:srgbClr val="111111"/>
                </a:solidFill>
                <a:latin typeface="Cambria Math"/>
                <a:ea typeface="Cambria Math"/>
                <a:cs typeface="Cambria Math"/>
                <a:sym typeface="Cambria Math"/>
              </a:rPr>
              <a:t>⊆ </a:t>
            </a:r>
            <a:r>
              <a:rPr lang="en-US" sz="1615" b="true">
                <a:solidFill>
                  <a:srgbClr val="111111"/>
                </a:solidFill>
                <a:latin typeface="Nunito Semi-Bold"/>
                <a:ea typeface="Nunito Semi-Bold"/>
                <a:cs typeface="Nunito Semi-Bold"/>
                <a:sym typeface="Nunito Semi-Bold"/>
              </a:rPr>
              <a:t>N: any group of them; there are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Nunito Semi-Bold"/>
                <a:ea typeface="Nunito Semi-Bold"/>
                <a:cs typeface="Nunito Semi-Bold"/>
                <a:sym typeface="Nunito Semi-Bold"/>
              </a:rPr>
              <a:t>.</a:t>
            </a:r>
          </a:p>
          <a:p>
            <a:pPr algn="l" marL="274320" indent="-274320">
              <a:lnSpc>
                <a:spcPts val="2390"/>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Characteristic function</a:t>
            </a:r>
            <a:r>
              <a:rPr lang="en-US" sz="1615" b="true">
                <a:solidFill>
                  <a:srgbClr val="111111"/>
                </a:solidFill>
                <a:latin typeface="Nunito Semi-Bold"/>
                <a:ea typeface="Nunito Semi-Bold"/>
                <a:cs typeface="Nunito Semi-Bold"/>
                <a:sym typeface="Nunito Semi-Bold"/>
              </a:rPr>
              <a:t> v: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Calibri"/>
                <a:ea typeface="Calibri"/>
                <a:cs typeface="Calibri"/>
                <a:sym typeface="Calibri"/>
              </a:rPr>
              <a:t> → </a:t>
            </a:r>
            <a:r>
              <a:rPr lang="en-US" sz="1615" b="true">
                <a:solidFill>
                  <a:srgbClr val="111111"/>
                </a:solidFill>
                <a:latin typeface="Cambria Math"/>
                <a:ea typeface="Cambria Math"/>
                <a:cs typeface="Cambria Math"/>
                <a:sym typeface="Cambria Math"/>
              </a:rPr>
              <a:t>ℝ </a:t>
            </a:r>
            <a:r>
              <a:rPr lang="en-US" sz="1615" b="true">
                <a:solidFill>
                  <a:srgbClr val="111111"/>
                </a:solidFill>
                <a:latin typeface="Nunito Semi-Bold"/>
                <a:ea typeface="Nunito Semi-Bold"/>
                <a:cs typeface="Nunito Semi-Bold"/>
                <a:sym typeface="Nunito Semi-Bold"/>
              </a:rPr>
              <a:t>with v(∅) = 0: the value a coalition creates </a:t>
            </a:r>
            <a:r>
              <a:rPr lang="en-US" sz="1615" b="true">
                <a:solidFill>
                  <a:srgbClr val="111111"/>
                </a:solidFill>
                <a:latin typeface="Nunito Bold"/>
                <a:ea typeface="Nunito Bold"/>
                <a:cs typeface="Nunito Bold"/>
                <a:sym typeface="Nunito Bold"/>
              </a:rPr>
              <a:t>on its own</a:t>
            </a:r>
            <a:r>
              <a:rPr lang="en-US" sz="1615" b="true">
                <a:solidFill>
                  <a:srgbClr val="111111"/>
                </a:solidFill>
                <a:latin typeface="Nunito Semi-Bold"/>
                <a:ea typeface="Nunito Semi-Bold"/>
                <a:cs typeface="Nunito Semi-Bold"/>
                <a:sym typeface="Nunito Semi-Bold"/>
              </a:rPr>
              <a:t>.</a:t>
            </a:r>
          </a:p>
          <a:p>
            <a:pPr algn="l" marL="274320" indent="-274320">
              <a:lnSpc>
                <a:spcPts val="2261"/>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The question:</a:t>
            </a:r>
            <a:r>
              <a:rPr lang="en-US" sz="1615" b="true">
                <a:solidFill>
                  <a:srgbClr val="111111"/>
                </a:solidFill>
                <a:latin typeface="Nunito Semi-Bold"/>
                <a:ea typeface="Nunito Semi-Bold"/>
                <a:cs typeface="Nunito Semi-Bold"/>
                <a:sym typeface="Nunito Semi-Bold"/>
              </a:rPr>
              <a:t> the grand coalition earns v(N), so </a:t>
            </a:r>
            <a:r>
              <a:rPr lang="en-US" sz="1615" b="true">
                <a:solidFill>
                  <a:srgbClr val="111111"/>
                </a:solidFill>
                <a:latin typeface="Nunito Bold"/>
                <a:ea typeface="Nunito Bold"/>
                <a:cs typeface="Nunito Bold"/>
                <a:sym typeface="Nunito Bold"/>
              </a:rPr>
              <a:t>how should it be shared fairly</a:t>
            </a:r>
            <a:r>
              <a:rPr lang="en-US" sz="1615" b="true">
                <a:solidFill>
                  <a:srgbClr val="111111"/>
                </a:solidFill>
                <a:latin typeface="Nunito Semi-Bold"/>
                <a:ea typeface="Nunito Semi-Bold"/>
                <a:cs typeface="Nunito Semi-Bold"/>
                <a:sym typeface="Nunito Semi-Bold"/>
              </a:rPr>
              <a:t>?</a:t>
            </a:r>
          </a:p>
        </p:txBody>
      </p:sp>
      <p:sp>
        <p:nvSpPr>
          <p:cNvPr id="29" name="Rounded Rectangle 28"/>
          <p:cNvSpPr/>
          <p:nvPr/>
        </p:nvSpPr>
        <p:spPr>
          <a:xfrm>
            <a:off x="1028700" y="5741162"/>
            <a:ext cx="7680960" cy="868680"/>
          </a:xfrm>
          <a:prstGeom prst="roundRect">
            <a:avLst>
              <a:gd name="adj" fmla="val 23157"/>
            </a:avLst>
          </a:prstGeom>
          <a:solidFill>
            <a:srgbClr val="4472C4"/>
          </a:solidFill>
          <a:ln>
            <a:noFill/>
          </a:ln>
        </p:spPr>
        <p:txBody>
          <a:bodyPr anchor="ctr" rtlCol="false" lIns="0" tIns="0" rIns="0" bIns="0" wrap="square"/>
          <a:lstStyle/>
          <a:p>
            <a:endParaRPr lang="en-US" sz="1800"/>
          </a:p>
        </p:txBody>
      </p:sp>
      <p:sp>
        <p:nvSpPr>
          <p:cNvPr id="30" name="TextBox 29"/>
          <p:cNvSpPr txBox="1"/>
          <p:nvPr/>
        </p:nvSpPr>
        <p:spPr>
          <a:xfrm>
            <a:off x="1028700" y="5805170"/>
            <a:ext cx="7680960" cy="237744"/>
          </a:xfrm>
          <a:prstGeom prst="rect">
            <a:avLst/>
          </a:prstGeom>
          <a:noFill/>
        </p:spPr>
        <p:txBody>
          <a:bodyPr anchor="t" rtlCol="false" lIns="0" tIns="0" rIns="0" bIns="0" wrap="square"/>
          <a:lstStyle/>
          <a:p>
            <a:pPr algn="ctr">
              <a:lnSpc>
                <a:spcPts val="1400"/>
              </a:lnSpc>
              <a:spcBef>
                <a:spcPts val="0"/>
              </a:spcBef>
              <a:buNone/>
            </a:pPr>
            <a:r>
              <a:rPr lang="en-US" sz="1200" b="true" spc="150">
                <a:solidFill>
                  <a:srgbClr val="ECC665"/>
                </a:solidFill>
                <a:latin typeface="Nunito Ultra-Bold"/>
                <a:ea typeface="Nunito Ultra-Bold"/>
                <a:cs typeface="Nunito Ultra-Bold"/>
                <a:sym typeface="Nunito Ultra-Bold"/>
              </a:rPr>
              <a:t>A COOPERATIVE GAME IS A PAIR</a:t>
            </a:r>
          </a:p>
        </p:txBody>
      </p:sp>
      <mc:AlternateContent xmlns:mc="http://schemas.openxmlformats.org/markup-compatibility/2006">
        <mc:Choice xmlns:a14="http://schemas.microsoft.com/office/drawing/2010/main" Requires="a14">
          <p:sp>
            <p:nvSpPr>
              <p:cNvPr id="31" name="Equation"/>
              <p:cNvSpPr txBox="1"/>
              <p:nvPr/>
            </p:nvSpPr>
            <p:spPr>
              <a:xfrm>
                <a:off x="1211580" y="6015482"/>
                <a:ext cx="73152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N</m:t>
                      </m:r>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m:t>
                      </m:r>
                      <m:sSup>
                        <m:sSupPr>
                          <m:ctrlPr>
                            <a:rPr lang="en-US" sz="1900" i="1">
                              <a:solidFill>
                                <a:srgbClr val="FFFFFF"/>
                              </a:solidFill>
                              <a:latin typeface="Cambria Math" panose="02040503050406030204" pitchFamily="18" charset="0"/>
                            </a:rPr>
                          </m:ctrlPr>
                        </m:sSupPr>
                        <m:e>
                          <m:r>
                            <m:rPr>
                              <m:sty m:val="p"/>
                            </m:rPr>
                            <a:rPr lang="en-US" sz="1900">
                              <a:solidFill>
                                <a:srgbClr val="FFFFFF"/>
                              </a:solidFill>
                              <a:latin typeface="Cambria Math" panose="02040503050406030204" pitchFamily="18" charset="0"/>
                            </a:rPr>
                            <m:t xml:space="preserve">2</m:t>
                          </m:r>
                        </m:e>
                        <m:sup>
                          <m:r>
                            <a:rPr lang="en-US" sz="1900" i="1">
                              <a:solidFill>
                                <a:srgbClr val="FFFFFF"/>
                              </a:solidFill>
                              <a:latin typeface="Cambria Math" panose="02040503050406030204" pitchFamily="18" charset="0"/>
                            </a:rPr>
                            <m:t xml:space="preserve">N</m:t>
                          </m:r>
                        </m:sup>
                      </m:sSup>
                      <m:r>
                        <m:rPr>
                          <m:sty m:val="p"/>
                        </m:rPr>
                        <a:rPr lang="en-US" sz="1900">
                          <a:solidFill>
                            <a:srgbClr val="FFFFFF"/>
                          </a:solidFill>
                          <a:latin typeface="Cambria Math" panose="02040503050406030204" pitchFamily="18" charset="0"/>
                        </a:rPr>
                        <m:t xml:space="preserve">→</m:t>
                      </m:r>
                      <m:r>
                        <m:rPr>
                          <m:scr m:val="double-struck"/>
                          <m:sty m:val="p"/>
                        </m:rPr>
                        <a:rPr lang="en-US" sz="1900">
                          <a:solidFill>
                            <a:srgbClr val="FFFFFF"/>
                          </a:solidFill>
                          <a:latin typeface="Cambria Math" panose="02040503050406030204" pitchFamily="18" charset="0"/>
                        </a:rPr>
                        <m:t xml:space="preserve">R</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(∅)=0</m:t>
                      </m:r>
                    </m:oMath>
                  </m:oMathPara>
                </a14:m>
                <a:endParaRPr lang="en-US" sz="1900"/>
              </a:p>
            </p:txBody>
          </p:sp>
        </mc:Choice>
        <mc:Fallback>
          <p:sp>
            <p:nvSpPr>
              <p:cNvPr id="31" name="Equation"/>
              <p:cNvSpPr txBox="1"/>
              <p:nvPr/>
            </p:nvSpPr>
            <p:spPr>
              <a:xfrm>
                <a:off x="1211580" y="6015482"/>
                <a:ext cx="7315200" cy="548640"/>
              </a:xfrm>
              <a:prstGeom prst="rect">
                <a:avLst/>
              </a:prstGeom>
              <a:blipFill>
                <a:blip r:embed="rId4"/>
                <a:stretch>
                  <a:fillRect/>
                </a:stretch>
              </a:blipFill>
            </p:spPr>
            <p:txBody>
              <a:bodyPr/>
              <a:lstStyle/>
              <a:p>
                <a:endParaRPr lang="en-US"/>
              </a:p>
            </p:txBody>
          </p:sp>
        </mc:Fallback>
      </mc:AlternateContent>
      <p:sp>
        <p:nvSpPr>
          <p:cNvPr id="32" name="Rounded Rectangle 31"/>
          <p:cNvSpPr/>
          <p:nvPr/>
        </p:nvSpPr>
        <p:spPr>
          <a:xfrm>
            <a:off x="1028700" y="6792722"/>
            <a:ext cx="7680960" cy="2148840"/>
          </a:xfrm>
          <a:prstGeom prst="roundRect">
            <a:avLst>
              <a:gd name="adj" fmla="val 11914"/>
            </a:avLst>
          </a:prstGeom>
          <a:solidFill>
            <a:srgbClr val="111111"/>
          </a:solidFill>
          <a:ln>
            <a:noFill/>
          </a:ln>
        </p:spPr>
        <p:txBody>
          <a:bodyPr anchor="ctr" rtlCol="false" lIns="0" tIns="0" rIns="0" bIns="0" wrap="square"/>
          <a:lstStyle/>
          <a:p>
            <a:endParaRPr lang="en-US" sz="1800"/>
          </a:p>
        </p:txBody>
      </p:sp>
      <p:sp>
        <p:nvSpPr>
          <p:cNvPr id="33" name="TextBox 32"/>
          <p:cNvSpPr txBox="1"/>
          <p:nvPr/>
        </p:nvSpPr>
        <p:spPr>
          <a:xfrm>
            <a:off x="1028700" y="6939026"/>
            <a:ext cx="7680960" cy="256032"/>
          </a:xfrm>
          <a:prstGeom prst="rect">
            <a:avLst/>
          </a:prstGeom>
          <a:noFill/>
        </p:spPr>
        <p:txBody>
          <a:bodyPr anchor="t" rtlCol="false" lIns="0" tIns="0" rIns="0" bIns="0" wrap="square"/>
          <a:lstStyle/>
          <a:p>
            <a:pPr algn="ctr">
              <a:lnSpc>
                <a:spcPts val="1600"/>
              </a:lnSpc>
              <a:spcBef>
                <a:spcPts val="0"/>
              </a:spcBef>
              <a:buNone/>
            </a:pPr>
            <a:r>
              <a:rPr lang="en-US" sz="1300" b="true" spc="160">
                <a:solidFill>
                  <a:srgbClr val="ECC665"/>
                </a:solidFill>
                <a:latin typeface="Nunito Ultra-Bold"/>
                <a:ea typeface="Nunito Ultra-Bold"/>
                <a:cs typeface="Nunito Ultra-Bold"/>
                <a:sym typeface="Nunito Ultra-Bold"/>
              </a:rPr>
              <a:t>SHAPLEY VALUE OF PLAYER j  ·  SHAPLEY, 1953</a:t>
            </a:r>
          </a:p>
        </p:txBody>
      </p:sp>
      <mc:AlternateContent xmlns:mc="http://schemas.openxmlformats.org/markup-compatibility/2006">
        <mc:Choice xmlns:a14="http://schemas.microsoft.com/office/drawing/2010/main" Requires="a14">
          <p:sp>
            <p:nvSpPr>
              <p:cNvPr id="34" name="Equation"/>
              <p:cNvSpPr txBox="1"/>
              <p:nvPr/>
            </p:nvSpPr>
            <p:spPr>
              <a:xfrm>
                <a:off x="1211580" y="7249922"/>
                <a:ext cx="7315200" cy="11887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950" i="1">
                              <a:solidFill>
                                <a:srgbClr val="FFFFFF"/>
                              </a:solidFill>
                              <a:latin typeface="Cambria Math" panose="02040503050406030204" pitchFamily="18" charset="0"/>
                            </a:rPr>
                          </m:ctrlPr>
                        </m:sSubPr>
                        <m:e>
                          <m:r>
                            <a:rPr lang="en-US" sz="1950" i="1">
                              <a:solidFill>
                                <a:srgbClr val="FFFFFF"/>
                              </a:solidFill>
                              <a:latin typeface="Cambria Math" panose="02040503050406030204" pitchFamily="18" charset="0"/>
                            </a:rPr>
                            <m:t xml:space="preserve">φ</m:t>
                          </m:r>
                        </m:e>
                        <m:sub>
                          <m:r>
                            <a:rPr lang="en-US" sz="1950" i="1">
                              <a:solidFill>
                                <a:srgbClr val="FFFFFF"/>
                              </a:solidFill>
                              <a:latin typeface="Cambria Math" panose="02040503050406030204" pitchFamily="18" charset="0"/>
                            </a:rPr>
                            <m:t xml:space="preserve">j</m:t>
                          </m:r>
                        </m:sub>
                      </m:sSub>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nary>
                        <m:naryPr>
                          <m:chr m:val="∑"/>
                          <m:limLoc m:val="undOvr"/>
                          <m:supHide m:val="1"/>
                          <m:ctrlPr>
                            <a:rPr lang="en-US" sz="1950" i="1">
                              <a:solidFill>
                                <a:srgbClr val="FFFFFF"/>
                              </a:solidFill>
                              <a:latin typeface="Cambria Math" panose="02040503050406030204" pitchFamily="18" charset="0"/>
                            </a:rPr>
                          </m:ctrlPr>
                        </m:naryPr>
                        <m:sub>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sub>
                        <m:sup/>
                        <m:e>
                          <m:f>
                            <m:fPr>
                              <m:ctrlPr>
                                <a:rPr lang="en-US" sz="1950" i="1">
                                  <a:solidFill>
                                    <a:srgbClr val="FFFFFF"/>
                                  </a:solidFill>
                                  <a:latin typeface="Cambria Math" panose="02040503050406030204" pitchFamily="18" charset="0"/>
                                </a:rPr>
                              </m:ctrlPr>
                            </m:fPr>
                            <m:num>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|−1)!</m:t>
                              </m:r>
                            </m:num>
                            <m:den>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den>
                          </m:f>
                        </m:e>
                      </m:nary>
                      <m:r>
                        <m:rPr>
                          <m:sty m:val="p"/>
                        </m:rPr>
                        <a:rPr lang="en-US" sz="1950">
                          <a:solidFill>
                            <a:srgbClr val="FFFFFF"/>
                          </a:solidFill>
                          <a:latin typeface="Cambria Math" panose="02040503050406030204" pitchFamily="18" charset="0"/>
                        </a:rPr>
                        <m:t xml:space="preserve"> </m:t>
                      </m:r>
                      <m:d>
                        <m:dPr>
                          <m:begChr m:val="["/>
                          <m:endChr m:val="]"/>
                          <m:ctrlPr>
                            <a:rPr lang="en-US" sz="1950" i="1">
                              <a:solidFill>
                                <a:srgbClr val="FFFFFF"/>
                              </a:solidFill>
                              <a:latin typeface="Cambria Math" panose="02040503050406030204" pitchFamily="18" charset="0"/>
                            </a:rPr>
                          </m:ctrlPr>
                        </m:dPr>
                        <m:e>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e>
                      </m:d>
                    </m:oMath>
                  </m:oMathPara>
                </a14:m>
                <a:endParaRPr lang="en-US" sz="1950"/>
              </a:p>
            </p:txBody>
          </p:sp>
        </mc:Choice>
        <mc:Fallback>
          <p:sp>
            <p:nvSpPr>
              <p:cNvPr id="34" name="Equation"/>
              <p:cNvSpPr txBox="1"/>
              <p:nvPr/>
            </p:nvSpPr>
            <p:spPr>
              <a:xfrm>
                <a:off x="1211580" y="7249922"/>
                <a:ext cx="7315200" cy="1188720"/>
              </a:xfrm>
              <a:prstGeom prst="rect">
                <a:avLst/>
              </a:prstGeom>
              <a:blipFill>
                <a:blip r:embed="rId5"/>
                <a:stretch>
                  <a:fillRect/>
                </a:stretch>
              </a:blipFill>
            </p:spPr>
            <p:txBody>
              <a:bodyPr/>
              <a:lstStyle/>
              <a:p>
                <a:endParaRPr lang="en-US"/>
              </a:p>
            </p:txBody>
          </p:sp>
        </mc:Fallback>
      </mc:AlternateContent>
      <p:sp>
        <p:nvSpPr>
          <p:cNvPr id="35" name="TextBox 34"/>
          <p:cNvSpPr txBox="1"/>
          <p:nvPr/>
        </p:nvSpPr>
        <p:spPr>
          <a:xfrm>
            <a:off x="1028700" y="8438642"/>
            <a:ext cx="7680960" cy="475488"/>
          </a:xfrm>
          <a:prstGeom prst="rect">
            <a:avLst/>
          </a:prstGeom>
          <a:noFill/>
        </p:spPr>
        <p:txBody>
          <a:bodyPr anchor="t" rtlCol="false" lIns="0" tIns="0" rIns="0" bIns="0" wrap="square"/>
          <a:lstStyle/>
          <a:p>
            <a:pPr algn="ctr">
              <a:lnSpc>
                <a:spcPts val="1700"/>
              </a:lnSpc>
              <a:spcBef>
                <a:spcPts val="0"/>
              </a:spcBef>
              <a:buNone/>
            </a:pPr>
            <a:r>
              <a:rPr lang="en-US" sz="1400" b="true">
                <a:solidFill>
                  <a:srgbClr val="D6E4F7"/>
                </a:solidFill>
                <a:latin typeface="Nunito Semi-Bold"/>
                <a:ea typeface="Nunito Semi-Bold"/>
                <a:cs typeface="Nunito Semi-Bold"/>
                <a:sym typeface="Nunito Semi-Bold"/>
              </a:rPr>
              <a:t>average marginal contribution over every arrival order</a:t>
            </a:r>
          </a:p>
          <a:p>
            <a:pPr algn="ctr">
              <a:lnSpc>
                <a:spcPts val="1700"/>
              </a:lnSpc>
              <a:spcBef>
                <a:spcPts val="0"/>
              </a:spcBef>
              <a:buNone/>
            </a:pPr>
            <a:r>
              <a:rPr lang="en-US" sz="1400" b="true">
                <a:solidFill>
                  <a:srgbClr val="D6E4F7"/>
                </a:solidFill>
                <a:latin typeface="Nunito Semi-Bold"/>
                <a:ea typeface="Nunito Semi-Bold"/>
                <a:cs typeface="Nunito Semi-Bold"/>
                <a:sym typeface="Nunito Semi-Bold"/>
              </a:rPr>
              <a:t>in this thesis: players = input features, v(S) = Silhouette of the clustering</a:t>
            </a:r>
          </a:p>
        </p:txBody>
      </p:sp>
      <p:sp>
        <p:nvSpPr>
          <p:cNvPr id="36" name="TextBox 35"/>
          <p:cNvSpPr txBox="1"/>
          <p:nvPr/>
        </p:nvSpPr>
        <p:spPr>
          <a:xfrm>
            <a:off x="9166860" y="3318002"/>
            <a:ext cx="8092440" cy="292608"/>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CHARACTERISTIC FUNCTION v(S) OF THE BAND</a:t>
            </a:r>
          </a:p>
        </p:txBody>
      </p:sp>
      <p:graphicFrame>
        <p:nvGraphicFramePr>
          <p:cNvPr id="37" name="Table 36"/>
          <p:cNvGraphicFramePr>
            <a:graphicFrameLocks noGrp="1"/>
          </p:cNvGraphicFramePr>
          <p:nvPr/>
        </p:nvGraphicFramePr>
        <p:xfrm>
          <a:off x="9166860" y="3656330"/>
          <a:ext cx="8092439" cy="4150868"/>
        </p:xfrm>
        <a:graphic>
          <a:graphicData uri="http://schemas.openxmlformats.org/drawingml/2006/table">
            <a:tbl>
              <a:tblPr firstRow="0" bandRow="0" firstCol="0" lastRow="0" lastCol="0" bandCol="0">
                <a:tableStyleId>{2D5ABB26-0587-4C30-8999-92F81FD0307C}</a:tableStyleId>
              </a:tblPr>
              <a:tblGrid>
                <a:gridCol w="2427732"/>
                <a:gridCol w="3884371"/>
                <a:gridCol w="1780336"/>
              </a:tblGrid>
              <a:tr h="446532">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Coalition 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Who plays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v(S)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nobody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Drums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Voice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the whole band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8" name="Rounded Rectangle 37"/>
          <p:cNvSpPr/>
          <p:nvPr/>
        </p:nvSpPr>
        <p:spPr>
          <a:xfrm>
            <a:off x="9166860" y="7971790"/>
            <a:ext cx="8092440" cy="1051560"/>
          </a:xfrm>
          <a:prstGeom prst="roundRect">
            <a:avLst>
              <a:gd name="adj" fmla="val 17391"/>
            </a:avLst>
          </a:prstGeom>
          <a:solidFill>
            <a:srgbClr val="E7EAF3"/>
          </a:solidFill>
          <a:ln>
            <a:noFill/>
          </a:ln>
        </p:spPr>
        <p:txBody>
          <a:bodyPr anchor="ctr" rtlCol="false" lIns="274320" tIns="73152" rIns="274320" bIns="73152" wrap="square"/>
          <a:lstStyle/>
          <a:p>
            <a:pPr algn="l">
              <a:lnSpc>
                <a:spcPts val="1900"/>
              </a:lnSpc>
              <a:spcBef>
                <a:spcPts val="0"/>
              </a:spcBef>
              <a:buNone/>
            </a:pPr>
            <a:r>
              <a:rPr lang="en-US" sz="1500" b="true">
                <a:solidFill>
                  <a:srgbClr val="111111"/>
                </a:solidFill>
                <a:latin typeface="Nunito Semi-Bold"/>
                <a:ea typeface="Nunito Semi-Bold"/>
                <a:cs typeface="Nunito Semi-Bold"/>
                <a:sym typeface="Nunito Semi-Bold"/>
              </a:rPr>
              <a:t>One arrival order, V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D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G: Voice adds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Drums takes 40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80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Guitar completes the band, 80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200 (</a:t>
            </a:r>
            <a:r>
              <a:rPr lang="en-US" sz="1500" b="true">
                <a:solidFill>
                  <a:srgbClr val="111111"/>
                </a:solidFill>
                <a:latin typeface="Nunito Bold"/>
                <a:ea typeface="Nunito Bold"/>
                <a:cs typeface="Nunito Bold"/>
                <a:sym typeface="Nunito Bold"/>
              </a:rPr>
              <a:t>+120</a:t>
            </a:r>
            <a:r>
              <a:rPr lang="en-US" sz="1500" b="true">
                <a:solidFill>
                  <a:srgbClr val="111111"/>
                </a:solidFill>
                <a:latin typeface="Nunito Semi-Bold"/>
                <a:ea typeface="Nunito Semi-Bold"/>
                <a:cs typeface="Nunito Semi-Bold"/>
                <a:sym typeface="Nunito Semi-Bold"/>
              </a:rPr>
              <a:t>). Averaged over all six orders: </a:t>
            </a:r>
            <a:r>
              <a:rPr lang="en-US" sz="1500" b="true">
                <a:solidFill>
                  <a:srgbClr val="111111"/>
                </a:solidFill>
                <a:latin typeface="Nunito Bold"/>
                <a:ea typeface="Nunito Bold"/>
                <a:cs typeface="Nunito Bold"/>
                <a:sym typeface="Nunito Bold"/>
              </a:rPr>
              <a:t>90 / 70 / 40</a:t>
            </a:r>
            <a:r>
              <a:rPr lang="en-US" sz="1500" b="true">
                <a:solidFill>
                  <a:srgbClr val="111111"/>
                </a:solidFill>
                <a:latin typeface="Nunito Semi-Bold"/>
                <a:ea typeface="Nunito Semi-Bold"/>
                <a:cs typeface="Nunito Semi-Bold"/>
                <a:sym typeface="Nunito Semi-Bold"/>
              </a:rPr>
              <a:t>, which sums to 200.</a:t>
            </a:r>
          </a:p>
        </p:txBody>
      </p:sp>
      <p:sp>
        <p:nvSpPr>
          <p:cNvPr id="39" name="Rounded Rectangle 38"/>
          <p:cNvSpPr/>
          <p:nvPr/>
        </p:nvSpPr>
        <p:spPr>
          <a:xfrm>
            <a:off x="9166860" y="9206230"/>
            <a:ext cx="8092440" cy="148082"/>
          </a:xfrm>
          <a:prstGeom prst="roundRect">
            <a:avLst>
              <a:gd name="adj" fmla="val 50000"/>
            </a:avLst>
          </a:prstGeom>
          <a:solidFill>
            <a:srgbClr val="1F7A8C"/>
          </a:solidFill>
          <a:ln>
            <a:noFill/>
          </a:ln>
        </p:spPr>
        <p:txBody>
          <a:bodyPr anchor="ctr" rtlCol="false" lIns="274320" tIns="73152" rIns="274320" bIns="73152" wrap="square"/>
          <a:lstStyle/>
          <a:p>
            <a:pPr algn="ctr">
              <a:lnSpc>
                <a:spcPts val="2000"/>
              </a:lnSpc>
              <a:spcBef>
                <a:spcPts val="0"/>
              </a:spcBef>
              <a:buNone/>
            </a:pPr>
            <a:r>
              <a:rPr lang="en-US" sz="1600" b="true">
                <a:solidFill>
                  <a:srgbClr val="FFFFFF"/>
                </a:solidFill>
                <a:latin typeface="Nunito Bold"/>
                <a:ea typeface="Nunito Bold"/>
                <a:cs typeface="Nunito Bold"/>
                <a:sym typeface="Nunito Bold"/>
              </a:rPr>
              <a:t>Why this rule:</a:t>
            </a:r>
            <a:r>
              <a:rPr lang="en-US" sz="1600" b="true">
                <a:solidFill>
                  <a:srgbClr val="FFFFFF"/>
                </a:solidFill>
                <a:latin typeface="Nunito Semi-Bold"/>
                <a:ea typeface="Nunito Semi-Bold"/>
                <a:cs typeface="Nunito Semi-Bold"/>
                <a:sym typeface="Nunito Semi-Bold"/>
              </a:rPr>
              <a:t> the Shapley value is the </a:t>
            </a:r>
            <a:r>
              <a:rPr lang="en-US" sz="1600" b="true">
                <a:solidFill>
                  <a:srgbClr val="FFFFFF"/>
                </a:solidFill>
                <a:latin typeface="Nunito Bold"/>
                <a:ea typeface="Nunito Bold"/>
                <a:cs typeface="Nunito Bold"/>
                <a:sym typeface="Nunito Bold"/>
              </a:rPr>
              <a:t>only</a:t>
            </a:r>
            <a:r>
              <a:rPr lang="en-US" sz="1600" b="true">
                <a:solidFill>
                  <a:srgbClr val="FFFFFF"/>
                </a:solidFill>
                <a:latin typeface="Nunito Semi-Bold"/>
                <a:ea typeface="Nunito Semi-Bold"/>
                <a:cs typeface="Nunito Semi-Bold"/>
                <a:sym typeface="Nunito Semi-Bold"/>
              </a:rPr>
              <a:t> allocation satisfying all four axioms at once: </a:t>
            </a:r>
            <a:r>
              <a:rPr lang="en-US" sz="1600" b="true">
                <a:solidFill>
                  <a:srgbClr val="FFFFFF"/>
                </a:solidFill>
                <a:latin typeface="Nunito Bold"/>
                <a:ea typeface="Nunito Bold"/>
                <a:cs typeface="Nunito Bold"/>
                <a:sym typeface="Nunito Bold"/>
              </a:rPr>
              <a:t>efficiency</a:t>
            </a:r>
            <a:r>
              <a:rPr lang="en-US" sz="1600" b="true">
                <a:solidFill>
                  <a:srgbClr val="FFFFFF"/>
                </a:solidFill>
                <a:latin typeface="Nunito Semi-Bold"/>
                <a:ea typeface="Nunito Semi-Bold"/>
                <a:cs typeface="Nunito Semi-Bold"/>
                <a:sym typeface="Nunito Semi-Bold"/>
              </a:rPr>
              <a:t> (the shares add up to v(N)), </a:t>
            </a:r>
            <a:r>
              <a:rPr lang="en-US" sz="1600" b="true">
                <a:solidFill>
                  <a:srgbClr val="FFFFFF"/>
                </a:solidFill>
                <a:latin typeface="Nunito Bold"/>
                <a:ea typeface="Nunito Bold"/>
                <a:cs typeface="Nunito Bold"/>
                <a:sym typeface="Nunito Bold"/>
              </a:rPr>
              <a:t>symmetry</a:t>
            </a:r>
            <a:r>
              <a:rPr lang="en-US" sz="1600" b="true">
                <a:solidFill>
                  <a:srgbClr val="FFFFFF"/>
                </a:solidFill>
                <a:latin typeface="Nunito Semi-Bold"/>
                <a:ea typeface="Nunito Semi-Bold"/>
                <a:cs typeface="Nunito Semi-Bold"/>
                <a:sym typeface="Nunito Semi-Bold"/>
              </a:rPr>
              <a:t>, </a:t>
            </a:r>
            <a:r>
              <a:rPr lang="en-US" sz="1600" b="true">
                <a:solidFill>
                  <a:srgbClr val="FFFFFF"/>
                </a:solidFill>
                <a:latin typeface="Nunito Bold"/>
                <a:ea typeface="Nunito Bold"/>
                <a:cs typeface="Nunito Bold"/>
                <a:sym typeface="Nunito Bold"/>
              </a:rPr>
              <a:t>null player</a:t>
            </a:r>
            <a:r>
              <a:rPr lang="en-US" sz="1600" b="true">
                <a:solidFill>
                  <a:srgbClr val="FFFFFF"/>
                </a:solidFill>
                <a:latin typeface="Nunito Semi-Bold"/>
                <a:ea typeface="Nunito Semi-Bold"/>
                <a:cs typeface="Nunito Semi-Bold"/>
                <a:sym typeface="Nunito Semi-Bold"/>
              </a:rPr>
              <a:t> and </a:t>
            </a:r>
            <a:r>
              <a:rPr lang="en-US" sz="1600" b="true">
                <a:solidFill>
                  <a:srgbClr val="FFFFFF"/>
                </a:solidFill>
                <a:latin typeface="Nunito Bold"/>
                <a:ea typeface="Nunito Bold"/>
                <a:cs typeface="Nunito Bold"/>
                <a:sym typeface="Nunito Bold"/>
              </a:rPr>
              <a:t>additivity</a:t>
            </a:r>
            <a:r>
              <a:rPr lang="en-US" sz="160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Bridge: LightGBM Surrogate + TreeSHAP</a:t>
            </a:r>
          </a:p>
        </p:txBody>
      </p:sp>
      <p:pic>
        <p:nvPicPr>
          <p:cNvPr id="23" name="Picture 22" descr="image.png"/>
          <p:cNvPicPr>
            <a:picLocks noChangeAspect="1"/>
          </p:cNvPicPr>
          <p:nvPr/>
        </p:nvPicPr>
        <p:blipFill>
          <a:blip r:embed="rId3"/>
          <a:stretch>
            <a:fillRect/>
          </a:stretch>
        </p:blipFill>
        <p:spPr>
          <a:xfrm>
            <a:off x="12801592"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K-Means</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cluster labels</a:t>
            </a:r>
          </a:p>
        </p:txBody>
      </p:sp>
      <p:cxnSp>
        <p:nvCxnSpPr>
          <p:cNvPr id="29" name="Connector 28"/>
          <p:cNvCxnSpPr/>
          <p:nvPr/>
        </p:nvCxnSpPr>
        <p:spPr>
          <a:xfrm>
            <a:off x="4027932" y="4049522"/>
            <a:ext cx="1362456" cy="0"/>
          </a:xfrm>
          <a:prstGeom prst="line">
            <a:avLst/>
          </a:prstGeom>
          <a:ln w="31750">
            <a:solidFill>
              <a:srgbClr val="4472C4"/>
            </a:solidFill>
            <a:tailEnd type="triangle" w="med" len="med"/>
          </a:ln>
        </p:spPr>
      </p:cxnSp>
      <p:sp>
        <p:nvSpPr>
          <p:cNvPr id="30" name="Rounded Rectangle 29"/>
          <p:cNvSpPr/>
          <p:nvPr/>
        </p:nvSpPr>
        <p:spPr>
          <a:xfrm>
            <a:off x="546354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LightGBM</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multiclass surrogate</a:t>
            </a:r>
          </a:p>
        </p:txBody>
      </p:sp>
      <p:cxnSp>
        <p:nvCxnSpPr>
          <p:cNvPr id="31" name="Connector 30"/>
          <p:cNvCxnSpPr/>
          <p:nvPr/>
        </p:nvCxnSpPr>
        <p:spPr>
          <a:xfrm>
            <a:off x="8462772" y="4049522"/>
            <a:ext cx="1362456" cy="0"/>
          </a:xfrm>
          <a:prstGeom prst="line">
            <a:avLst/>
          </a:prstGeom>
          <a:ln w="31750">
            <a:solidFill>
              <a:srgbClr val="4472C4"/>
            </a:solidFill>
            <a:tailEnd type="triangle" w="med" len="med"/>
          </a:ln>
        </p:spPr>
      </p:cxnSp>
      <p:sp>
        <p:nvSpPr>
          <p:cNvPr id="32" name="Rounded Rectangle 31"/>
          <p:cNvSpPr/>
          <p:nvPr/>
        </p:nvSpPr>
        <p:spPr>
          <a:xfrm>
            <a:off x="9898380" y="3455162"/>
            <a:ext cx="2926080" cy="1188720"/>
          </a:xfrm>
          <a:prstGeom prst="roundRect">
            <a:avLst>
              <a:gd name="adj" fmla="val 16923"/>
            </a:avLst>
          </a:prstGeom>
          <a:solidFill>
            <a:srgbClr val="111111"/>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TreeSHAP</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exact attribution</a:t>
            </a:r>
          </a:p>
        </p:txBody>
      </p:sp>
      <p:cxnSp>
        <p:nvCxnSpPr>
          <p:cNvPr id="33" name="Connector 32"/>
          <p:cNvCxnSpPr/>
          <p:nvPr/>
        </p:nvCxnSpPr>
        <p:spPr>
          <a:xfrm>
            <a:off x="12897612" y="4049522"/>
            <a:ext cx="1362456" cy="0"/>
          </a:xfrm>
          <a:prstGeom prst="line">
            <a:avLst/>
          </a:prstGeom>
          <a:ln w="31750">
            <a:solidFill>
              <a:srgbClr val="4472C4"/>
            </a:solidFill>
            <a:tailEnd type="triangle" w="med" len="med"/>
          </a:ln>
        </p:spPr>
      </p:cxnSp>
      <p:sp>
        <p:nvSpPr>
          <p:cNvPr id="34" name="Rounded Rectangle 33"/>
          <p:cNvSpPr/>
          <p:nvPr/>
        </p:nvSpPr>
        <p:spPr>
          <a:xfrm>
            <a:off x="14333220" y="3455162"/>
            <a:ext cx="2926080" cy="1188720"/>
          </a:xfrm>
          <a:prstGeom prst="roundRect">
            <a:avLst>
              <a:gd name="adj" fmla="val 16923"/>
            </a:avLst>
          </a:prstGeom>
          <a:solidFill>
            <a:srgbClr val="1F7A8C"/>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Explanation</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original feature space</a:t>
            </a:r>
          </a:p>
        </p:txBody>
      </p:sp>
      <p:sp>
        <p:nvSpPr>
          <p:cNvPr id="35" name="Rounded Rectangle 34"/>
          <p:cNvSpPr/>
          <p:nvPr/>
        </p:nvSpPr>
        <p:spPr>
          <a:xfrm>
            <a:off x="1028700" y="5283962"/>
            <a:ext cx="7932420" cy="4070350"/>
          </a:xfrm>
          <a:prstGeom prst="roundRect">
            <a:avLst>
              <a:gd name="adj" fmla="val 7638"/>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485900" y="5046218"/>
            <a:ext cx="1292063"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How</a:t>
            </a:r>
          </a:p>
        </p:txBody>
      </p:sp>
      <p:sp>
        <p:nvSpPr>
          <p:cNvPr id="37" name="TextBox 36"/>
          <p:cNvSpPr txBox="1"/>
          <p:nvPr/>
        </p:nvSpPr>
        <p:spPr>
          <a:xfrm>
            <a:off x="1531620" y="5924042"/>
            <a:ext cx="6972300" cy="315595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Once K-Means produces cluster labels, train a </a:t>
            </a:r>
            <a:r>
              <a:rPr lang="en-US" sz="2000" b="true">
                <a:solidFill>
                  <a:srgbClr val="FFFFFF"/>
                </a:solidFill>
                <a:latin typeface="Nunito Bold"/>
                <a:ea typeface="Nunito Bold"/>
                <a:cs typeface="Nunito Bold"/>
                <a:sym typeface="Nunito Bold"/>
              </a:rPr>
              <a:t>LightGBM multiclass surrogate</a:t>
            </a:r>
            <a:r>
              <a:rPr lang="en-US" sz="2000" b="true">
                <a:solidFill>
                  <a:srgbClr val="FFFFFF"/>
                </a:solidFill>
                <a:latin typeface="Nunito Semi-Bold"/>
                <a:ea typeface="Nunito Semi-Bold"/>
                <a:cs typeface="Nunito Semi-Bold"/>
                <a:sym typeface="Nunito Semi-Bold"/>
              </a:rPr>
              <a:t> to predict them from the original features.</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Apply </a:t>
            </a:r>
            <a:r>
              <a:rPr lang="en-US" sz="2000" b="true">
                <a:solidFill>
                  <a:srgbClr val="FFFFFF"/>
                </a:solidFill>
                <a:latin typeface="Nunito Bold"/>
                <a:ea typeface="Nunito Bold"/>
                <a:cs typeface="Nunito Bold"/>
                <a:sym typeface="Nunito Bold"/>
              </a:rPr>
              <a:t>TreeSHAP</a:t>
            </a:r>
            <a:r>
              <a:rPr lang="en-US" sz="2000" b="true">
                <a:solidFill>
                  <a:srgbClr val="FFFFFF"/>
                </a:solidFill>
                <a:latin typeface="Nunito Semi-Bold"/>
                <a:ea typeface="Nunito Semi-Bold"/>
                <a:cs typeface="Nunito Semi-Bold"/>
                <a:sym typeface="Nunito Semi-Bold"/>
              </a:rPr>
              <a:t> to the surrogate: fast, exact tree-based attribution in the original feature space.</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Aggregate into </a:t>
            </a:r>
            <a:r>
              <a:rPr lang="en-US" sz="2000" b="true">
                <a:solidFill>
                  <a:srgbClr val="FFFFFF"/>
                </a:solidFill>
                <a:latin typeface="Nunito Bold"/>
                <a:ea typeface="Nunito Bold"/>
                <a:cs typeface="Nunito Bold"/>
                <a:sym typeface="Nunito Bold"/>
              </a:rPr>
              <a:t>global importance</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cluster-specific profiles</a:t>
            </a:r>
            <a:r>
              <a:rPr lang="en-US" sz="2000" b="true">
                <a:solidFill>
                  <a:srgbClr val="FFFFFF"/>
                </a:solidFill>
                <a:latin typeface="Nunito Semi-Bold"/>
                <a:ea typeface="Nunito Semi-Bold"/>
                <a:cs typeface="Nunito Semi-Bold"/>
                <a:sym typeface="Nunito Semi-Bold"/>
              </a:rPr>
              <a:t> and </a:t>
            </a:r>
            <a:r>
              <a:rPr lang="en-US" sz="2000" b="true">
                <a:solidFill>
                  <a:srgbClr val="FFFFFF"/>
                </a:solidFill>
                <a:latin typeface="Nunito Bold"/>
                <a:ea typeface="Nunito Bold"/>
                <a:cs typeface="Nunito Bold"/>
                <a:sym typeface="Nunito Bold"/>
              </a:rPr>
              <a:t>local force plots</a:t>
            </a:r>
            <a:r>
              <a:rPr lang="en-US" sz="2000" b="true">
                <a:solidFill>
                  <a:srgbClr val="FFFFFF"/>
                </a:solidFill>
                <a:latin typeface="Nunito Semi-Bold"/>
                <a:ea typeface="Nunito Semi-Bold"/>
                <a:cs typeface="Nunito Semi-Bold"/>
                <a:sym typeface="Nunito Semi-Bold"/>
              </a:rPr>
              <a:t>.</a:t>
            </a:r>
          </a:p>
        </p:txBody>
      </p:sp>
      <p:sp>
        <p:nvSpPr>
          <p:cNvPr id="38" name="Rounded Rectangle 37"/>
          <p:cNvSpPr/>
          <p:nvPr/>
        </p:nvSpPr>
        <p:spPr>
          <a:xfrm>
            <a:off x="9326880" y="5283962"/>
            <a:ext cx="7932420" cy="4070350"/>
          </a:xfrm>
          <a:prstGeom prst="roundRect">
            <a:avLst>
              <a:gd name="adj" fmla="val 7638"/>
            </a:avLst>
          </a:prstGeom>
          <a:solidFill>
            <a:srgbClr val="E7EAF3"/>
          </a:solidFill>
          <a:ln>
            <a:noFill/>
          </a:ln>
        </p:spPr>
        <p:txBody>
          <a:bodyPr anchor="ctr" rtlCol="false" lIns="0" tIns="0" rIns="0" bIns="0" wrap="square"/>
          <a:lstStyle/>
          <a:p>
            <a:endParaRPr lang="en-US" sz="1800"/>
          </a:p>
        </p:txBody>
      </p:sp>
      <p:sp>
        <p:nvSpPr>
          <p:cNvPr id="39" name="Rounded Rectangle 38"/>
          <p:cNvSpPr/>
          <p:nvPr/>
        </p:nvSpPr>
        <p:spPr>
          <a:xfrm>
            <a:off x="9784080" y="5046218"/>
            <a:ext cx="129839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Why</a:t>
            </a:r>
          </a:p>
        </p:txBody>
      </p:sp>
      <p:sp>
        <p:nvSpPr>
          <p:cNvPr id="40" name="TextBox 39"/>
          <p:cNvSpPr txBox="1"/>
          <p:nvPr/>
        </p:nvSpPr>
        <p:spPr>
          <a:xfrm>
            <a:off x="9829800" y="5924042"/>
            <a:ext cx="6972300" cy="3155950"/>
          </a:xfrm>
          <a:prstGeom prst="rect">
            <a:avLst/>
          </a:prstGeom>
          <a:noFill/>
        </p:spPr>
        <p:txBody>
          <a:bodyPr anchor="t" rtlCol="false" lIns="0" tIns="0" rIns="0" bIns="0" wrap="square"/>
          <a:lstStyle/>
          <a:p>
            <a:pPr algn="l" marL="274320" indent="-274320">
              <a:lnSpc>
                <a:spcPts val="2548"/>
              </a:lnSpc>
              <a:spcBef>
                <a:spcPts val="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Direct TreeSHAP on K-Means is impossible: it explains </a:t>
            </a:r>
            <a:r>
              <a:rPr lang="en-US" sz="1820" b="true">
                <a:solidFill>
                  <a:srgbClr val="111111"/>
                </a:solidFill>
                <a:latin typeface="Nunito Bold"/>
                <a:ea typeface="Nunito Bold"/>
                <a:cs typeface="Nunito Bold"/>
                <a:sym typeface="Nunito Bold"/>
              </a:rPr>
              <a:t>tree models, not centroids</a:t>
            </a:r>
            <a:r>
              <a:rPr lang="en-US" sz="1820" b="true">
                <a:solidFill>
                  <a:srgbClr val="111111"/>
                </a:solidFill>
                <a:latin typeface="Nunito Semi-Bold"/>
                <a:ea typeface="Nunito Semi-Bold"/>
                <a:cs typeface="Nunito Semi-Bold"/>
                <a:sym typeface="Nunito Semi-Bold"/>
              </a:rPr>
              <a:t>.</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Explaining the PCA representation would move attribution away from the interpretable variables.</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The surrogate keeps the </a:t>
            </a:r>
            <a:r>
              <a:rPr lang="en-US" sz="1820" b="true">
                <a:solidFill>
                  <a:srgbClr val="111111"/>
                </a:solidFill>
                <a:latin typeface="Nunito Bold"/>
                <a:ea typeface="Nunito Bold"/>
                <a:cs typeface="Nunito Bold"/>
                <a:sym typeface="Nunito Bold"/>
              </a:rPr>
              <a:t>chemistry / pollution terms</a:t>
            </a:r>
            <a:r>
              <a:rPr lang="en-US" sz="1820" b="true">
                <a:solidFill>
                  <a:srgbClr val="111111"/>
                </a:solidFill>
                <a:latin typeface="Nunito Semi-Bold"/>
                <a:ea typeface="Nunito Semi-Bold"/>
                <a:cs typeface="Nunito Semi-Bold"/>
                <a:sym typeface="Nunito Semi-Bold"/>
              </a:rPr>
              <a:t> that make the analysis actionable.</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Bold"/>
                <a:ea typeface="Nunito Bold"/>
                <a:cs typeface="Nunito Bold"/>
                <a:sym typeface="Nunito Bold"/>
              </a:rPr>
              <a:t>Validity condition:</a:t>
            </a:r>
            <a:r>
              <a:rPr lang="en-US" sz="1820" b="true">
                <a:solidFill>
                  <a:srgbClr val="111111"/>
                </a:solidFill>
                <a:latin typeface="Nunito Semi-Bold"/>
                <a:ea typeface="Nunito Semi-Bold"/>
                <a:cs typeface="Nunito Semi-Bold"/>
                <a:sym typeface="Nunito Semi-Bold"/>
              </a:rPr>
              <a:t> surrogate fidelity is high, with </a:t>
            </a:r>
            <a:r>
              <a:rPr lang="en-US" sz="1820" b="true">
                <a:solidFill>
                  <a:srgbClr val="111111"/>
                </a:solidFill>
                <a:latin typeface="Nunito Bold"/>
                <a:ea typeface="Nunito Bold"/>
                <a:cs typeface="Nunito Bold"/>
                <a:sym typeface="Nunito Bold"/>
              </a:rPr>
              <a:t>macro-F1 ≈ 0.82</a:t>
            </a:r>
            <a:r>
              <a:rPr lang="en-US" sz="1820" b="true">
                <a:solidFill>
                  <a:srgbClr val="111111"/>
                </a:solidFill>
                <a:latin typeface="Nunito Semi-Bold"/>
                <a:ea typeface="Nunito Semi-Bold"/>
                <a:cs typeface="Nunito Semi-Bold"/>
                <a:sym typeface="Nunito Semi-Bold"/>
              </a:rPr>
              <a:t> as the floor.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[6] Lundberg, S. M. et al. From Local Explanations to Global Understanding with Explainable AI for Trees (TreeSHAP). Nature Machine Intelligence 2, 56–67 (2020).   [7] Ribeiro, M. T., Singh, S. &amp; Guestrin, C. "Why Should I Trust You?": Explaining the Predictions of Any Classifier (LIME). KDD, 1135–1144 (2016).   [17] Rousseeuw, P. J. Silhouettes: A Graphical Aid to the Interpretation and Validation of Cluster Analysis. J. Comput. Appl. Math. 20, 53–65 (1987).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3" name="Picture 22" descr="image.png"/>
          <p:cNvPicPr>
            <a:picLocks noChangeAspect="1"/>
          </p:cNvPicPr>
          <p:nvPr/>
        </p:nvPicPr>
        <p:blipFill>
          <a:blip r:embed="rId3"/>
          <a:stretch>
            <a:fillRect/>
          </a:stretch>
        </p:blipFill>
        <p:spPr>
          <a:xfrm>
            <a:off x="6376338"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28" name="Table 27"/>
          <p:cNvGraphicFramePr>
            <a:graphicFrameLocks noGrp="1"/>
          </p:cNvGraphicFramePr>
          <p:nvPr/>
        </p:nvGraphicFramePr>
        <p:xfrm>
          <a:off x="1028700" y="3363722"/>
          <a:ext cx="9966960" cy="4617212"/>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Wine Quality, 4,898 samples × 11 standardised chemical features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PCA-stabilised data; k scanned over 2 … 10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Choice of 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Elbow + Silhouette + Davies–Bouldin, then an interpretability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LightGBM multiclass, five-fold cross-validation, macro-F1 as fidelity score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on the surrogate, in the original 11-feature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Outputs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Global mean |SHAP| ranking, per-cluster profiles,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LIME-based surrogate explanation on the same partition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9" name="Rounded Rectangle 28"/>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1" name="TextBox 30"/>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Fidelity floor met:</a:t>
            </a:r>
            <a:r>
              <a:rPr lang="en-US" sz="1900" b="true">
                <a:solidFill>
                  <a:srgbClr val="FFFFFF"/>
                </a:solidFill>
                <a:latin typeface="Nunito Semi-Bold"/>
                <a:ea typeface="Nunito Semi-Bold"/>
                <a:cs typeface="Nunito Semi-Bold"/>
                <a:sym typeface="Nunito Semi-Bold"/>
              </a:rPr>
              <a:t> macro-F1 ≈ 0.82 or higher, otherwise the explanation is not trusted.</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Global ranking is chemically meaningful:</a:t>
            </a:r>
            <a:r>
              <a:rPr lang="en-US" sz="1900" b="true">
                <a:solidFill>
                  <a:srgbClr val="FFFFFF"/>
                </a:solidFill>
                <a:latin typeface="Nunito Semi-Bold"/>
                <a:ea typeface="Nunito Semi-Bold"/>
                <a:cs typeface="Nunito Semi-Bold"/>
                <a:sym typeface="Nunito Semi-Bold"/>
              </a:rPr>
              <a:t> the top features are ones an expert would name.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Clusters have distinct signatures:</a:t>
            </a:r>
            <a:r>
              <a:rPr lang="en-US" sz="1900" b="true">
                <a:solidFill>
                  <a:srgbClr val="FFFFFF"/>
                </a:solidFill>
                <a:latin typeface="Nunito Semi-Bold"/>
                <a:ea typeface="Nunito Semi-Bold"/>
                <a:cs typeface="Nunito Semi-Bold"/>
                <a:sym typeface="Nunito Semi-Bold"/>
              </a:rPr>
              <a:t> the same features, different weights per cluster.</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Shapley beats LIME</a:t>
            </a:r>
            <a:r>
              <a:rPr lang="en-US" sz="1900" b="true">
                <a:solidFill>
                  <a:srgbClr val="FFFFFF"/>
                </a:solidFill>
                <a:latin typeface="Nunito Semi-Bold"/>
                <a:ea typeface="Nunito Semi-Bold"/>
                <a:cs typeface="Nunito Semi-Bold"/>
                <a:sym typeface="Nunito Semi-Bold"/>
              </a:rPr>
              <a:t> on stability and cross-cluster comparison.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Choosing k: Interpretability over Geometry</a:t>
            </a:r>
          </a:p>
        </p:txBody>
      </p:sp>
      <p:pic>
        <p:nvPicPr>
          <p:cNvPr id="23" name="Picture 22" descr="image.png"/>
          <p:cNvPicPr>
            <a:picLocks noChangeAspect="1"/>
          </p:cNvPicPr>
          <p:nvPr/>
        </p:nvPicPr>
        <p:blipFill>
          <a:blip r:embed="rId3"/>
          <a:stretch>
            <a:fillRect/>
          </a:stretch>
        </p:blipFill>
        <p:spPr>
          <a:xfrm>
            <a:off x="12331918"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86384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Multi-criteria evaluation across </a:t>
            </a:r>
            <a:r>
              <a:rPr lang="en-US" sz="2100" b="true">
                <a:solidFill>
                  <a:srgbClr val="111111"/>
                </a:solidFill>
                <a:latin typeface="Nunito Bold"/>
                <a:ea typeface="Nunito Bold"/>
                <a:cs typeface="Nunito Bold"/>
                <a:sym typeface="Nunito Bold"/>
              </a:rPr>
              <a:t>k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{2 … 10}</a:t>
            </a:r>
            <a:r>
              <a:rPr lang="en-US" sz="2100" b="true">
                <a:solidFill>
                  <a:srgbClr val="111111"/>
                </a:solidFill>
                <a:latin typeface="Nunito Semi-Bold"/>
                <a:ea typeface="Nunito Semi-Bold"/>
                <a:cs typeface="Nunito Semi-Bold"/>
                <a:sym typeface="Nunito Semi-Bold"/>
              </a:rPr>
              <a:t> using elbow, Silhouette and Davies–Bouldin.</a:t>
            </a:r>
          </a:p>
          <a:p>
            <a:pPr algn="l" marL="274320" indent="-274320">
              <a:lnSpc>
                <a:spcPts val="3108"/>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We select </a:t>
            </a:r>
            <a:r>
              <a:rPr lang="en-US" sz="2100" b="true">
                <a:solidFill>
                  <a:srgbClr val="111111"/>
                </a:solidFill>
                <a:latin typeface="Nunito Bold"/>
                <a:ea typeface="Nunito Bold"/>
                <a:cs typeface="Nunito Bold"/>
                <a:sym typeface="Nunito Bold"/>
              </a:rPr>
              <a:t>k</a:t>
            </a:r>
            <a:r>
              <a:rPr lang="en-US" sz="2100" b="true" baseline="30000">
                <a:solidFill>
                  <a:srgbClr val="111111"/>
                </a:solidFill>
                <a:latin typeface="Nunito Bold"/>
                <a:ea typeface="Nunito Bold"/>
                <a:cs typeface="Nunito Bold"/>
                <a:sym typeface="Nunito Bold"/>
              </a:rPr>
              <a:t>*</a:t>
            </a:r>
            <a:r>
              <a:rPr lang="en-US" sz="2100" b="true">
                <a:solidFill>
                  <a:srgbClr val="111111"/>
                </a:solidFill>
                <a:latin typeface="Nunito Bold"/>
                <a:ea typeface="Nunito Bold"/>
                <a:cs typeface="Nunito Bold"/>
                <a:sym typeface="Nunito Bold"/>
              </a:rPr>
              <a:t> = 3, even though it is NOT the best geometry</a:t>
            </a:r>
            <a:r>
              <a:rPr lang="en-US" sz="21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2: Silhouette 0.214, Davies–Bouldin 1.775 (better separation).</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3: Silhouette 0.144, Davies–Bouldin 2.097 (weaker separation).</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a:t>
            </a:r>
            <a:r>
              <a:rPr lang="en-US" sz="2100" b="true">
                <a:solidFill>
                  <a:srgbClr val="111111"/>
                </a:solidFill>
                <a:latin typeface="Nunito Semi-Bold"/>
                <a:ea typeface="Nunito Semi-Bold"/>
                <a:cs typeface="Nunito Semi-Bold"/>
                <a:sym typeface="Nunito Semi-Bold"/>
              </a:rPr>
              <a:t> three clusters give a richer, more meaningful wine partition </a:t>
            </a:r>
            <a:r>
              <a:rPr lang="en-US" sz="2100" b="true">
                <a:solidFill>
                  <a:srgbClr val="111111"/>
                </a:solidFill>
                <a:latin typeface="Calibri"/>
                <a:ea typeface="Calibri"/>
                <a:cs typeface="Calibri"/>
                <a:sym typeface="Calibri"/>
              </a:rPr>
              <a:t>→ </a:t>
            </a:r>
            <a:r>
              <a:rPr lang="en-US" sz="2100" b="true">
                <a:solidFill>
                  <a:srgbClr val="111111"/>
                </a:solidFill>
                <a:latin typeface="Nunito Bold"/>
                <a:ea typeface="Nunito Bold"/>
                <a:cs typeface="Nunito Bold"/>
                <a:sym typeface="Nunito Bold"/>
              </a:rPr>
              <a:t>more actionable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Note: the higher Silhouette ≈ 0.63 belongs to Beijing (C2), not to this wine partition.</a:t>
            </a:r>
          </a:p>
        </p:txBody>
      </p:sp>
      <p:graphicFrame>
        <p:nvGraphicFramePr>
          <p:cNvPr id="29" name="Table 28"/>
          <p:cNvGraphicFramePr>
            <a:graphicFrameLocks noGrp="1"/>
          </p:cNvGraphicFramePr>
          <p:nvPr/>
        </p:nvGraphicFramePr>
        <p:xfrm>
          <a:off x="9441180" y="3363722"/>
          <a:ext cx="7818120" cy="2284984"/>
        </p:xfrm>
        <a:graphic>
          <a:graphicData uri="http://schemas.openxmlformats.org/drawingml/2006/table">
            <a:tbl>
              <a:tblPr firstRow="0" bandRow="0" firstCol="0" lastRow="0" lastCol="0" bandCol="0">
                <a:tableStyleId>{2D5ABB26-0587-4C30-8999-92F81FD0307C}</a:tableStyleId>
              </a:tblPr>
              <a:tblGrid>
                <a:gridCol w="977265"/>
                <a:gridCol w="1563624"/>
                <a:gridCol w="1954530"/>
                <a:gridCol w="3322701"/>
              </a:tblGrid>
              <a:tr h="776732">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k</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Silhouette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Davies–Bouldin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Reading</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1.775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best geometry, coarse meaning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31520">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3 </a:t>
                      </a:r>
                      <a:r>
                        <a:rPr lang="en-US" sz="17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0.144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2.097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richer wine partition · selected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0" name="Rounded Rectangle 29"/>
          <p:cNvSpPr/>
          <p:nvPr/>
        </p:nvSpPr>
        <p:spPr>
          <a:xfrm>
            <a:off x="9441180" y="6014466"/>
            <a:ext cx="3771900" cy="3294126"/>
          </a:xfrm>
          <a:prstGeom prst="roundRect">
            <a:avLst>
              <a:gd name="adj" fmla="val 8327"/>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a:t>
            </a:r>
            <a:r>
              <a:rPr lang="en-US" sz="4000" b="true" baseline="30000">
                <a:solidFill>
                  <a:srgbClr val="ECC665"/>
                </a:solidFill>
                <a:latin typeface="Nunito Ultra-Bold"/>
                <a:ea typeface="Nunito Ultra-Bold"/>
                <a:cs typeface="Nunito Ultra-Bold"/>
                <a:sym typeface="Nunito Ultra-Bold"/>
              </a:rPr>
              <a:t>*</a:t>
            </a:r>
            <a:r>
              <a:rPr lang="en-US" sz="4000" b="true">
                <a:solidFill>
                  <a:srgbClr val="ECC665"/>
                </a:solidFill>
                <a:latin typeface="Nunito Ultra-Bold"/>
                <a:ea typeface="Nunito Ultra-Bold"/>
                <a:cs typeface="Nunito Ultra-Bold"/>
                <a:sym typeface="Nunito Ultra-Bold"/>
              </a:rPr>
              <a:t>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chosen on </a:t>
            </a:r>
            <a:r>
              <a:rPr lang="en-US" sz="1700" b="true">
                <a:solidFill>
                  <a:srgbClr val="FFFFFF"/>
                </a:solidFill>
                <a:latin typeface="Nunito Bold"/>
                <a:ea typeface="Nunito Bold"/>
                <a:cs typeface="Nunito Bold"/>
                <a:sym typeface="Nunito Bold"/>
              </a:rPr>
              <a:t>interpretability</a:t>
            </a:r>
            <a:r>
              <a:rPr lang="en-US" sz="1700" b="true">
                <a:solidFill>
                  <a:srgbClr val="FFFFFF"/>
                </a:solidFill>
                <a:latin typeface="Nunito Semi-Bold"/>
                <a:ea typeface="Nunito Semi-Bold"/>
                <a:cs typeface="Nunito Semi-Bold"/>
                <a:sym typeface="Nunito Semi-Bold"/>
              </a:rPr>
              <a:t> grounds</a:t>
            </a:r>
          </a:p>
        </p:txBody>
      </p:sp>
      <p:sp>
        <p:nvSpPr>
          <p:cNvPr id="31" name="Rounded Rectangle 30"/>
          <p:cNvSpPr/>
          <p:nvPr/>
        </p:nvSpPr>
        <p:spPr>
          <a:xfrm>
            <a:off x="13487400" y="6014466"/>
            <a:ext cx="3771900" cy="3294126"/>
          </a:xfrm>
          <a:prstGeom prst="roundRect">
            <a:avLst>
              <a:gd name="adj" fmla="val 8327"/>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0.82</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surrogate </a:t>
            </a:r>
            <a:r>
              <a:rPr lang="en-US" sz="1700" b="true">
                <a:solidFill>
                  <a:srgbClr val="FFFFFF"/>
                </a:solidFill>
                <a:latin typeface="Nunito Bold"/>
                <a:ea typeface="Nunito Bold"/>
                <a:cs typeface="Nunito Bold"/>
                <a:sym typeface="Nunito Bold"/>
              </a:rPr>
              <a:t>macro-F1</a:t>
            </a:r>
            <a:r>
              <a:rPr lang="en-US" sz="1700" b="true">
                <a:solidFill>
                  <a:srgbClr val="FFFFFF"/>
                </a:solidFill>
                <a:latin typeface="Nunito Semi-Bold"/>
                <a:ea typeface="Nunito Semi-Bold"/>
                <a:cs typeface="Nunito Semi-Bold"/>
                <a:sym typeface="Nunito Semi-Bold"/>
              </a:rPr>
              <a:t> · fidelity floor met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Wine Quality</a:t>
            </a:r>
          </a:p>
        </p:txBody>
      </p:sp>
      <p:pic>
        <p:nvPicPr>
          <p:cNvPr id="23" name="Picture 22" descr="image.png"/>
          <p:cNvPicPr>
            <a:picLocks noChangeAspect="1"/>
          </p:cNvPicPr>
          <p:nvPr/>
        </p:nvPicPr>
        <p:blipFill>
          <a:blip r:embed="rId3"/>
          <a:stretch>
            <a:fillRect/>
          </a:stretch>
        </p:blipFill>
        <p:spPr>
          <a:xfrm>
            <a:off x="10549542"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658368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Mean |SHAP| ranks </a:t>
            </a:r>
            <a:r>
              <a:rPr lang="en-US" sz="1900" b="true">
                <a:solidFill>
                  <a:srgbClr val="111111"/>
                </a:solidFill>
                <a:latin typeface="Nunito Bold"/>
                <a:ea typeface="Nunito Bold"/>
                <a:cs typeface="Nunito Bold"/>
                <a:sym typeface="Nunito Bold"/>
              </a:rPr>
              <a:t>density</a:t>
            </a:r>
            <a:r>
              <a:rPr lang="en-US" sz="1900" b="true">
                <a:solidFill>
                  <a:srgbClr val="111111"/>
                </a:solidFill>
                <a:latin typeface="Nunito Semi-Bold"/>
                <a:ea typeface="Nunito Semi-Bold"/>
                <a:cs typeface="Nunito Semi-Bold"/>
                <a:sym typeface="Nunito Semi-Bold"/>
              </a:rPr>
              <a:t> first, then </a:t>
            </a:r>
            <a:r>
              <a:rPr lang="en-US" sz="1900" b="true">
                <a:solidFill>
                  <a:srgbClr val="111111"/>
                </a:solidFill>
                <a:latin typeface="Nunito Bold"/>
                <a:ea typeface="Nunito Bold"/>
                <a:cs typeface="Nunito Bold"/>
                <a:sym typeface="Nunito Bold"/>
              </a:rPr>
              <a:t>pH</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fixed acidity</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sulfur dioxide</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alcohol</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main drivers relate to </a:t>
            </a:r>
            <a:r>
              <a:rPr lang="en-US" sz="1900" b="true">
                <a:solidFill>
                  <a:srgbClr val="111111"/>
                </a:solidFill>
                <a:latin typeface="Nunito Bold"/>
                <a:ea typeface="Nunito Bold"/>
                <a:cs typeface="Nunito Bold"/>
                <a:sym typeface="Nunito Bold"/>
              </a:rPr>
              <a:t>structure, preservation and sensory balance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a:t>
            </a:r>
            <a:r>
              <a:rPr lang="en-US" sz="1900" b="true">
                <a:solidFill>
                  <a:srgbClr val="111111"/>
                </a:solidFill>
                <a:latin typeface="Nunito Bold"/>
                <a:ea typeface="Nunito Bold"/>
                <a:cs typeface="Nunito Bold"/>
                <a:sym typeface="Nunito Bold"/>
              </a:rPr>
              <a:t>NOT a random side effect of the classifier</a:t>
            </a:r>
            <a:r>
              <a:rPr lang="en-US" sz="1900" b="true">
                <a:solidFill>
                  <a:srgbClr val="111111"/>
                </a:solidFill>
                <a:latin typeface="Nunito Semi-Bold"/>
                <a:ea typeface="Nunito Semi-Bold"/>
                <a:cs typeface="Nunito Semi-Bold"/>
                <a:sym typeface="Nunito Semi-Bold"/>
              </a:rPr>
              <a:t>: the surrogate reproduces the partition from the original variables, so the ranking reflects the partition itself.</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Density and pH separate wine styles; sulfur dioxide reflects preservation; alcohol shapes body.</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Each driver is a </a:t>
            </a:r>
            <a:r>
              <a:rPr lang="en-US" sz="1900" b="true">
                <a:solidFill>
                  <a:srgbClr val="111111"/>
                </a:solidFill>
                <a:latin typeface="Nunito Bold"/>
                <a:ea typeface="Nunito Bold"/>
                <a:cs typeface="Nunito Bold"/>
                <a:sym typeface="Nunito Bold"/>
              </a:rPr>
              <a:t>domain-level factor that can be changed</a:t>
            </a:r>
            <a:r>
              <a:rPr lang="en-US" sz="1900" b="true">
                <a:solidFill>
                  <a:srgbClr val="111111"/>
                </a:solidFill>
                <a:latin typeface="Nunito Semi-Bold"/>
                <a:ea typeface="Nunito Semi-Bold"/>
                <a:cs typeface="Nunito Semi-Bold"/>
                <a:sym typeface="Nunito Semi-Bold"/>
              </a:rPr>
              <a:t>: exactly Definition 1.1 of an actionable insight.</a:t>
            </a:r>
          </a:p>
        </p:txBody>
      </p:sp>
      <p:sp>
        <p:nvSpPr>
          <p:cNvPr id="29" name="Rounded Rectangle 28"/>
          <p:cNvSpPr/>
          <p:nvPr/>
        </p:nvSpPr>
        <p:spPr>
          <a:xfrm>
            <a:off x="8069580" y="3363722"/>
            <a:ext cx="9189720" cy="4097400"/>
          </a:xfrm>
          <a:prstGeom prst="roundRect">
            <a:avLst>
              <a:gd name="adj" fmla="val 5579"/>
            </a:avLst>
          </a:prstGeom>
          <a:solidFill>
            <a:srgbClr val="FFFFFF"/>
          </a:solidFill>
          <a:ln w="15875">
            <a:solidFill>
              <a:srgbClr val="E3D6C4"/>
            </a:solidFill>
          </a:ln>
        </p:spPr>
        <p:txBody>
          <a:bodyPr anchor="ctr" rtlCol="false" lIns="0" tIns="0" rIns="0" bIns="0" wrap="square"/>
          <a:lstStyle/>
          <a:p>
            <a:endParaRPr lang="en-US" sz="1800"/>
          </a:p>
        </p:txBody>
      </p:sp>
      <p:pic>
        <p:nvPicPr>
          <p:cNvPr id="30" name="Picture 29" descr="fig5_1_wine_global.png"/>
          <p:cNvPicPr>
            <a:picLocks noChangeAspect="1"/>
          </p:cNvPicPr>
          <p:nvPr/>
        </p:nvPicPr>
        <p:blipFill>
          <a:blip r:embed="rId5"/>
          <a:stretch>
            <a:fillRect/>
          </a:stretch>
        </p:blipFill>
        <p:spPr>
          <a:xfrm>
            <a:off x="9961097" y="3546602"/>
            <a:ext cx="5406684" cy="3320160"/>
          </a:xfrm>
          <a:prstGeom prst="rect">
            <a:avLst/>
          </a:prstGeom>
        </p:spPr>
      </p:pic>
      <p:sp>
        <p:nvSpPr>
          <p:cNvPr id="31" name="TextBox 30"/>
          <p:cNvSpPr txBox="1"/>
          <p:nvPr/>
        </p:nvSpPr>
        <p:spPr>
          <a:xfrm>
            <a:off x="8069580" y="7003923"/>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5.1 (thesis): global SHAP feature importance for the wine clustering surrogate</a:t>
            </a:r>
          </a:p>
        </p:txBody>
      </p:sp>
      <p:sp>
        <p:nvSpPr>
          <p:cNvPr id="32" name="Rounded Rectangle 31"/>
          <p:cNvSpPr/>
          <p:nvPr/>
        </p:nvSpPr>
        <p:spPr>
          <a:xfrm>
            <a:off x="8069580" y="7625715"/>
            <a:ext cx="9189720" cy="1591437"/>
          </a:xfrm>
          <a:prstGeom prst="roundRect">
            <a:avLst>
              <a:gd name="adj" fmla="val 14364"/>
            </a:avLst>
          </a:prstGeom>
          <a:solidFill>
            <a:srgbClr val="FFFFFF"/>
          </a:solidFill>
          <a:ln w="15875">
            <a:solidFill>
              <a:srgbClr val="E3D6C4"/>
            </a:solidFill>
          </a:ln>
        </p:spPr>
        <p:txBody>
          <a:bodyPr anchor="ctr" rtlCol="false" lIns="0" tIns="0" rIns="0" bIns="0" wrap="square"/>
          <a:lstStyle/>
          <a:p>
            <a:endParaRPr lang="en-US" sz="1800"/>
          </a:p>
        </p:txBody>
      </p:sp>
      <p:pic>
        <p:nvPicPr>
          <p:cNvPr id="33" name="Picture 32" descr="fig5_2_wine_clusters.png"/>
          <p:cNvPicPr>
            <a:picLocks noChangeAspect="1"/>
          </p:cNvPicPr>
          <p:nvPr/>
        </p:nvPicPr>
        <p:blipFill>
          <a:blip r:embed="rId6"/>
          <a:stretch>
            <a:fillRect/>
          </a:stretch>
        </p:blipFill>
        <p:spPr>
          <a:xfrm>
            <a:off x="9385446" y="7808595"/>
            <a:ext cx="6557986" cy="814197"/>
          </a:xfrm>
          <a:prstGeom prst="rect">
            <a:avLst/>
          </a:prstGeom>
        </p:spPr>
      </p:pic>
      <p:sp>
        <p:nvSpPr>
          <p:cNvPr id="34" name="TextBox 33"/>
          <p:cNvSpPr txBox="1"/>
          <p:nvPr/>
        </p:nvSpPr>
        <p:spPr>
          <a:xfrm>
            <a:off x="8069580" y="8759952"/>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5.2 (thesis): per-cluster SHAP signatures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RQ1</a:t>
            </a:r>
          </a:p>
        </p:txBody>
      </p:sp>
      <p:pic>
        <p:nvPicPr>
          <p:cNvPr id="23" name="Picture 22" descr="image.png"/>
          <p:cNvPicPr>
            <a:picLocks noChangeAspect="1"/>
          </p:cNvPicPr>
          <p:nvPr/>
        </p:nvPicPr>
        <p:blipFill>
          <a:blip r:embed="rId3"/>
          <a:stretch>
            <a:fillRect/>
          </a:stretch>
        </p:blipFill>
        <p:spPr>
          <a:xfrm>
            <a:off x="5060521"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RQ1</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a:t>
            </a:r>
            <a:r>
              <a:rPr lang="en-US" sz="2200" b="true">
                <a:solidFill>
                  <a:srgbClr val="111111"/>
                </a:solidFill>
                <a:latin typeface="Nunito Semi-Bold"/>
                <a:ea typeface="Nunito Semi-Bold"/>
                <a:cs typeface="Nunito Semi-Bold"/>
                <a:sym typeface="Nunito Semi-Bold"/>
              </a:rPr>
              <a:t> Shapley values explain a black-box partition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(given a high-fidelity surrogate) and </a:t>
            </a:r>
            <a:r>
              <a:rPr lang="en-US" sz="2200" b="true">
                <a:solidFill>
                  <a:srgbClr val="111111"/>
                </a:solidFill>
                <a:latin typeface="Nunito Bold"/>
                <a:ea typeface="Nunito Bold"/>
                <a:cs typeface="Nunito Bold"/>
                <a:sym typeface="Nunito Bold"/>
              </a:rPr>
              <a:t>consistently</a:t>
            </a:r>
            <a:r>
              <a:rPr lang="en-US" sz="2200" b="true">
                <a:solidFill>
                  <a:srgbClr val="111111"/>
                </a:solidFill>
                <a:latin typeface="Nunito Semi-Bold"/>
                <a:ea typeface="Nunito Semi-Bold"/>
                <a:cs typeface="Nunito Semi-Bold"/>
                <a:sym typeface="Nunito Semi-Bold"/>
              </a:rPr>
              <a:t> at cluster level, in the original feature space.</a:t>
            </a:r>
          </a:p>
        </p:txBody>
      </p:sp>
      <p:graphicFrame>
        <p:nvGraphicFramePr>
          <p:cNvPr id="31" name="Table 30"/>
          <p:cNvGraphicFramePr>
            <a:graphicFrameLocks noGrp="1"/>
          </p:cNvGraphicFramePr>
          <p:nvPr/>
        </p:nvGraphicFramePr>
        <p:xfrm>
          <a:off x="1028700" y="5421122"/>
          <a:ext cx="16230599" cy="3141472"/>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 with feature-level 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Global ranking + per-cluster SHAP profiles (Fig. 5.1, 5.2) +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Attribution in the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Density, pH, fixed acidity, sulfur dioxide, alcohol: no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Shapley justified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Four axioms; higher stability and cross-cluster comparability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3" name="Picture 22" descr="image.png"/>
          <p:cNvPicPr>
            <a:picLocks noChangeAspect="1"/>
          </p:cNvPicPr>
          <p:nvPr/>
        </p:nvPicPr>
        <p:blipFill>
          <a:blip r:embed="rId3"/>
          <a:stretch>
            <a:fillRect/>
          </a:stretch>
        </p:blipFill>
        <p:spPr>
          <a:xfrm>
            <a:off x="4641445"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29" name="Oval 28"/>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0" name="TextBox 29"/>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 black-box partition can be explained at two levels at once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Cluster-level meaning is tied to single feature contributions, so the explanation is both global and local.</a:t>
            </a:r>
          </a:p>
        </p:txBody>
      </p:sp>
      <p:sp>
        <p:nvSpPr>
          <p:cNvPr id="31" name="Rounded Rectangle 30"/>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2" name="Oval 31"/>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3" name="TextBox 32"/>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Attribution lands in the chemistry, not in a latent space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Density, pH, fixed acidity, sulfur dioxide and alcohol: variables a wine maker can act on.</a:t>
            </a:r>
          </a:p>
        </p:txBody>
      </p:sp>
      <p:sp>
        <p:nvSpPr>
          <p:cNvPr id="34" name="Rounded Rectangle 33"/>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5" name="Oval 34"/>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6" name="TextBox 35"/>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Interpretability can outrank geometry when choosing k</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k = 3 was kept over k = 2 despite a lower Silhouette because it gives a richer, more useful partition.</a:t>
            </a:r>
          </a:p>
        </p:txBody>
      </p:sp>
      <p:sp>
        <p:nvSpPr>
          <p:cNvPr id="37" name="Rounded Rectangle 36"/>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8" name="Oval 37"/>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9" name="TextBox 38"/>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cooperative concept is what makes the explanation trustworthy</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Efficiency, symmetry, null player and additivity give guarantees that a local surrogate such as LIME does not.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SURROGATE DEPENDENCE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Fidelity depends on the </a:t>
            </a:r>
            <a:r>
              <a:rPr lang="en-US" sz="1900" b="true">
                <a:solidFill>
                  <a:srgbClr val="FFFFFF"/>
                </a:solidFill>
                <a:latin typeface="Nunito Bold"/>
                <a:ea typeface="Nunito Bold"/>
                <a:cs typeface="Nunito Bold"/>
                <a:sym typeface="Nunito Bold"/>
              </a:rPr>
              <a:t>LightGBM surrogate</a:t>
            </a:r>
            <a:r>
              <a:rPr lang="en-US" sz="1900" b="true">
                <a:solidFill>
                  <a:srgbClr val="FFFFFF"/>
                </a:solidFill>
                <a:latin typeface="Nunito Semi-Bold"/>
                <a:ea typeface="Nunito Semi-Bold"/>
                <a:cs typeface="Nunito Semi-Bold"/>
                <a:sym typeface="Nunito Semi-Bold"/>
              </a:rPr>
              <a:t>, not on the K-Means geometry directly; the fidelity floor must be checked every time.</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structured, graph or image input in this contribution.</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SINGLE LEVEL</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Cannot explain how importance changes between a partition and its </a:t>
            </a:r>
            <a:r>
              <a:rPr lang="en-US" sz="1900" b="true">
                <a:solidFill>
                  <a:srgbClr val="FFFFFF"/>
                </a:solidFill>
                <a:latin typeface="Nunito Bold"/>
                <a:ea typeface="Nunito Bold"/>
                <a:cs typeface="Nunito Bold"/>
                <a:sym typeface="Nunito Bold"/>
              </a:rPr>
              <a:t>sub-partitions</a:t>
            </a:r>
            <a:r>
              <a:rPr lang="en-US" sz="1900" b="true">
                <a:solidFill>
                  <a:srgbClr val="FFFFFF"/>
                </a:solidFill>
                <a:latin typeface="Nunito Semi-Bold"/>
                <a:ea typeface="Nunito Semi-Bold"/>
                <a:cs typeface="Nunito Semi-Bold"/>
                <a:sym typeface="Nunito Semi-Bold"/>
              </a:rPr>
              <a:t>.</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surrogate approximation smooths out variation between single observations.</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single-level</a:t>
            </a:r>
            <a:r>
              <a:rPr lang="en-US" sz="2000" b="true">
                <a:solidFill>
                  <a:srgbClr val="111111"/>
                </a:solidFill>
                <a:latin typeface="Nunito Semi-Bold"/>
                <a:ea typeface="Nunito Semi-Bold"/>
                <a:cs typeface="Nunito Semi-Bold"/>
                <a:sym typeface="Nunito Semi-Bold"/>
              </a:rPr>
              <a:t> limitation is the one that matters most for what follows: real data are rarely flat.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a:t>
            </a:r>
          </a:p>
        </p:txBody>
      </p:sp>
      <p:pic>
        <p:nvPicPr>
          <p:cNvPr id="23" name="Picture 22" descr="image.png"/>
          <p:cNvPicPr>
            <a:picLocks noChangeAspect="1"/>
          </p:cNvPicPr>
          <p:nvPr/>
        </p:nvPicPr>
        <p:blipFill>
          <a:blip r:embed="rId3"/>
          <a:stretch>
            <a:fillRect/>
          </a:stretch>
        </p:blipFill>
        <p:spPr>
          <a:xfrm>
            <a:off x="7838100"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Single lens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One axiomatic rule explains the whole partition, cluster by cluster.</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Original space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answer comes back in variables an expert can change.</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But…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Real data are rarely single-level: broad groups contain nested sub-groups.</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367987"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is a </a:t>
            </a:r>
            <a:r>
              <a:rPr lang="en-US" sz="2300" b="true">
                <a:solidFill>
                  <a:srgbClr val="111111"/>
                </a:solidFill>
                <a:latin typeface="Nunito Bold"/>
                <a:ea typeface="Nunito Bold"/>
                <a:cs typeface="Nunito Bold"/>
                <a:sym typeface="Nunito Bold"/>
              </a:rPr>
              <a:t>well-founded lens</a:t>
            </a:r>
            <a:r>
              <a:rPr lang="en-US" sz="2300" b="true">
                <a:solidFill>
                  <a:srgbClr val="111111"/>
                </a:solidFill>
                <a:latin typeface="Nunito Semi-Bold"/>
                <a:ea typeface="Nunito Semi-Bold"/>
                <a:cs typeface="Nunito Semi-Bold"/>
                <a:sym typeface="Nunito Semi-Bold"/>
              </a:rPr>
              <a:t> for explaining an unsupervised partition, and keeping it in the </a:t>
            </a:r>
            <a:r>
              <a:rPr lang="en-US" sz="2300" b="true">
                <a:solidFill>
                  <a:srgbClr val="111111"/>
                </a:solidFill>
                <a:latin typeface="Nunito Bold"/>
                <a:ea typeface="Nunito Bold"/>
                <a:cs typeface="Nunito Bold"/>
                <a:sym typeface="Nunito Bold"/>
              </a:rPr>
              <a:t>original feature space</a:t>
            </a:r>
            <a:r>
              <a:rPr lang="en-US" sz="2300" b="true">
                <a:solidFill>
                  <a:srgbClr val="111111"/>
                </a:solidFill>
                <a:latin typeface="Nunito Semi-Bold"/>
                <a:ea typeface="Nunito Semi-Bold"/>
                <a:cs typeface="Nunito Semi-Bold"/>
                <a:sym typeface="Nunito Semi-Bold"/>
              </a:rPr>
              <a:t> is what makes the explanation actionable.</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question:</a:t>
            </a:r>
            <a:r>
              <a:rPr lang="en-US" sz="2000" b="true">
                <a:solidFill>
                  <a:srgbClr val="FFFFFF"/>
                </a:solidFill>
                <a:latin typeface="Nunito Semi-Bold"/>
                <a:ea typeface="Nunito Semi-Bold"/>
                <a:cs typeface="Nunito Semi-Bold"/>
                <a:sym typeface="Nunito Semi-Bold"/>
              </a:rPr>
              <a:t> does this logic survive scale and hierarchy?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38</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a:t>
            </a:r>
          </a:p>
        </p:txBody>
      </p:sp>
      <p:sp>
        <p:nvSpPr>
          <p:cNvPr id="8" name="Oval 7"/>
          <p:cNvSpPr/>
          <p:nvPr/>
        </p:nvSpPr>
        <p:spPr>
          <a:xfrm>
            <a:off x="13590479"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590479"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05</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Enhanced multi-level XAI for large-scale clustering  ·  answers RQ2</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 truly multi-level workflow, a formal cross-level consistency argument (Proposition 6.1), validation on a very different large dataset.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Recursive clustering, level-specific surrogates in the same feature space, size-weighted cross-level SHAP aggregation.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Beijing Air Quality (383,585 records): Silhouette ≈ 0.63, three atmospheric regimes, weather variables at the centre of the structure.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3" name="Picture 22" descr="image.png"/>
          <p:cNvPicPr>
            <a:picLocks noChangeAspect="1"/>
          </p:cNvPicPr>
          <p:nvPr/>
        </p:nvPicPr>
        <p:blipFill>
          <a:blip r:embed="rId3"/>
          <a:stretch>
            <a:fillRect/>
          </a:stretch>
        </p:blipFill>
        <p:spPr>
          <a:xfrm>
            <a:off x="4883941" y="1673352"/>
            <a:ext cx="457200" cy="427074"/>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Once clustering is multi-level, feature importance must stay readable </a:t>
            </a:r>
            <a:r>
              <a:rPr lang="en-US" sz="2100" b="true">
                <a:solidFill>
                  <a:srgbClr val="111111"/>
                </a:solidFill>
                <a:latin typeface="Nunito Bold"/>
                <a:ea typeface="Nunito Bold"/>
                <a:cs typeface="Nunito Bold"/>
                <a:sym typeface="Nunito Bold"/>
              </a:rPr>
              <a:t>within a cluster, across sub-clusters and across the levels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Large-scale data make exact explanation </a:t>
            </a:r>
            <a:r>
              <a:rPr lang="en-US" sz="2100" b="true">
                <a:solidFill>
                  <a:srgbClr val="111111"/>
                </a:solidFill>
                <a:latin typeface="Nunito Bold"/>
                <a:ea typeface="Nunito Bold"/>
                <a:cs typeface="Nunito Bold"/>
                <a:sym typeface="Nunito Bold"/>
              </a:rPr>
              <a:t>too costly to compute</a:t>
            </a:r>
            <a:r>
              <a:rPr lang="en-US" sz="2100" b="true">
                <a:solidFill>
                  <a:srgbClr val="111111"/>
                </a:solidFill>
                <a:latin typeface="Nunito Semi-Bold"/>
                <a:ea typeface="Nunito Semi-Bold"/>
                <a:cs typeface="Nunito Semi-Bold"/>
                <a:sym typeface="Nunito Semi-Bold"/>
              </a:rPr>
              <a:t>: 383,585 records cannot be explained coalition by coalition.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 flat explanation may be true yet </a:t>
            </a:r>
            <a:r>
              <a:rPr lang="en-US" sz="2100" b="true">
                <a:solidFill>
                  <a:srgbClr val="111111"/>
                </a:solidFill>
                <a:latin typeface="Nunito Bold"/>
                <a:ea typeface="Nunito Bold"/>
                <a:cs typeface="Nunito Bold"/>
                <a:sym typeface="Nunito Bold"/>
              </a:rPr>
              <a:t>incomplete</a:t>
            </a:r>
            <a:r>
              <a:rPr lang="en-US" sz="2100" b="true">
                <a:solidFill>
                  <a:srgbClr val="111111"/>
                </a:solidFill>
                <a:latin typeface="Nunito Semi-Bold"/>
                <a:ea typeface="Nunito Semi-Bold"/>
                <a:cs typeface="Nunito Semi-Bold"/>
                <a:sym typeface="Nunito Semi-Bold"/>
              </a:rPr>
              <a:t>: it cannot show how importance changes inside a cluster.</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hierarchical clustering work reports structure but gives </a:t>
            </a:r>
            <a:r>
              <a:rPr lang="en-US" sz="2100" b="true">
                <a:solidFill>
                  <a:srgbClr val="111111"/>
                </a:solidFill>
                <a:latin typeface="Nunito Bold"/>
                <a:ea typeface="Nunito Bold"/>
                <a:cs typeface="Nunito Bold"/>
                <a:sym typeface="Nunito Bold"/>
              </a:rPr>
              <a:t>no formal link</a:t>
            </a:r>
            <a:r>
              <a:rPr lang="en-US" sz="2100" b="true">
                <a:solidFill>
                  <a:srgbClr val="111111"/>
                </a:solidFill>
                <a:latin typeface="Nunito Semi-Bold"/>
                <a:ea typeface="Nunito Semi-Bold"/>
                <a:cs typeface="Nunito Semi-Bold"/>
                <a:sym typeface="Nunito Semi-Bold"/>
              </a:rPr>
              <a:t> between the explanation of a parent and that of its children.</a:t>
            </a:r>
          </a:p>
        </p:txBody>
      </p:sp>
      <p:sp>
        <p:nvSpPr>
          <p:cNvPr id="29" name="Rounded Rectangle 28"/>
          <p:cNvSpPr/>
          <p:nvPr/>
        </p:nvSpPr>
        <p:spPr>
          <a:xfrm>
            <a:off x="1028700" y="761695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0" name="Rounded Rectangle 29"/>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1" name="TextBox 30"/>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multi-level explanation method for large-scale clustering that is </a:t>
            </a:r>
            <a:r>
              <a:rPr lang="en-US" sz="2200" b="true">
                <a:solidFill>
                  <a:srgbClr val="111111"/>
                </a:solidFill>
                <a:latin typeface="Nunito Bold"/>
                <a:ea typeface="Nunito Bold"/>
                <a:cs typeface="Nunito Bold"/>
                <a:sym typeface="Nunito Bold"/>
              </a:rPr>
              <a:t>both computationally feasible and provably consistent across levels</a:t>
            </a:r>
            <a:r>
              <a:rPr lang="en-US" sz="22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RQ2 and Objectives</a:t>
            </a:r>
          </a:p>
        </p:txBody>
      </p:sp>
      <p:pic>
        <p:nvPicPr>
          <p:cNvPr id="23" name="Picture 22" descr="image.png"/>
          <p:cNvPicPr>
            <a:picLocks noChangeAspect="1"/>
          </p:cNvPicPr>
          <p:nvPr/>
        </p:nvPicPr>
        <p:blipFill>
          <a:blip r:embed="rId3"/>
          <a:stretch>
            <a:fillRect/>
          </a:stretch>
        </p:blipFill>
        <p:spPr>
          <a:xfrm>
            <a:off x="6337553"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RQ2</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the Shapley explanation extend to </a:t>
            </a:r>
            <a:r>
              <a:rPr lang="en-US" sz="2200" b="true">
                <a:solidFill>
                  <a:srgbClr val="111111"/>
                </a:solidFill>
                <a:latin typeface="Nunito Bold"/>
                <a:ea typeface="Nunito Bold"/>
                <a:cs typeface="Nunito Bold"/>
                <a:sym typeface="Nunito Bold"/>
              </a:rPr>
              <a:t>large-scale, multi-level clustering</a:t>
            </a:r>
            <a:r>
              <a:rPr lang="en-US" sz="2200" b="true">
                <a:solidFill>
                  <a:srgbClr val="111111"/>
                </a:solidFill>
                <a:latin typeface="Nunito Semi-Bold"/>
                <a:ea typeface="Nunito Semi-Bold"/>
                <a:cs typeface="Nunito Semi-Bold"/>
                <a:sym typeface="Nunito Semi-Bold"/>
              </a:rPr>
              <a:t> while staying feasible and consistent?</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Recursive clustering with </a:t>
                      </a:r>
                      <a:r>
                        <a:rPr lang="en-US" sz="1800" b="true">
                          <a:solidFill>
                            <a:srgbClr val="111111"/>
                          </a:solidFill>
                          <a:latin typeface="Nunito Bold"/>
                          <a:ea typeface="Nunito Bold"/>
                          <a:cs typeface="Nunito Bold"/>
                          <a:sym typeface="Nunito Bold"/>
                        </a:rPr>
                        <a:t>level-specific surrogates</a:t>
                      </a:r>
                      <a:r>
                        <a:rPr lang="en-US" sz="1800" b="true">
                          <a:solidFill>
                            <a:srgbClr val="111111"/>
                          </a:solidFill>
                          <a:latin typeface="Nunito Semi-Bold"/>
                          <a:ea typeface="Nunito Semi-Bold"/>
                          <a:cs typeface="Nunito Semi-Bold"/>
                          <a:sym typeface="Nunito Semi-Bold"/>
                        </a:rPr>
                        <a:t>, not a rerun of the single-level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Workflow, Fig. 6.3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 formal consistency argument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Proposition 6.1</a:t>
                      </a:r>
                      <a:r>
                        <a:rPr lang="en-US" sz="1800" b="true">
                          <a:solidFill>
                            <a:srgbClr val="111111"/>
                          </a:solidFill>
                          <a:latin typeface="Nunito Semi-Bold"/>
                          <a:ea typeface="Nunito Semi-Bold"/>
                          <a:cs typeface="Nunito Semi-Bold"/>
                          <a:sym typeface="Nunito Semi-Bold"/>
                        </a:rPr>
                        <a:t>: parent importance equals the size-weighted expectation over its children.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at scale on new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Multi-Site Air Quality: </a:t>
                      </a:r>
                      <a:r>
                        <a:rPr lang="en-US" sz="1800" b="true">
                          <a:solidFill>
                            <a:srgbClr val="111111"/>
                          </a:solidFill>
                          <a:latin typeface="Nunito Bold"/>
                          <a:ea typeface="Nunito Bold"/>
                          <a:cs typeface="Nunito Bold"/>
                          <a:sym typeface="Nunito Bold"/>
                        </a:rPr>
                        <a:t>383,585 hourly records</a:t>
                      </a:r>
                      <a:r>
                        <a:rPr lang="en-US" sz="1800" b="true">
                          <a:solidFill>
                            <a:srgbClr val="111111"/>
                          </a:solidFill>
                          <a:latin typeface="Nunito Semi-Bold"/>
                          <a:ea typeface="Nunito Semi-Bold"/>
                          <a:cs typeface="Nunito Semi-Bold"/>
                          <a:sym typeface="Nunito Semi-Bold"/>
                        </a:rPr>
                        <a:t>, a domain far from wine.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6.1, Fig. 6.1, 6.2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Multi-Level Workflow with Cross-Level Aggregation</a:t>
            </a:r>
          </a:p>
        </p:txBody>
      </p:sp>
      <p:pic>
        <p:nvPicPr>
          <p:cNvPr id="23" name="Picture 22" descr="image.png"/>
          <p:cNvPicPr>
            <a:picLocks noChangeAspect="1"/>
          </p:cNvPicPr>
          <p:nvPr/>
        </p:nvPicPr>
        <p:blipFill>
          <a:blip r:embed="rId3"/>
          <a:stretch>
            <a:fillRect/>
          </a:stretch>
        </p:blipFill>
        <p:spPr>
          <a:xfrm>
            <a:off x="14669741"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68096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Recursive / nested:</a:t>
            </a:r>
            <a:r>
              <a:rPr lang="en-US" sz="2100" b="true">
                <a:solidFill>
                  <a:srgbClr val="111111"/>
                </a:solidFill>
                <a:latin typeface="Nunito Semi-Bold"/>
                <a:ea typeface="Nunito Semi-Bold"/>
                <a:cs typeface="Nunito Semi-Bold"/>
                <a:sym typeface="Nunito Semi-Bold"/>
              </a:rPr>
              <a:t> coarse clustering on the full dataset, then split each cluster again.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For each level, train a </a:t>
            </a:r>
            <a:r>
              <a:rPr lang="en-US" sz="2100" b="true">
                <a:solidFill>
                  <a:srgbClr val="111111"/>
                </a:solidFill>
                <a:latin typeface="Nunito Bold"/>
                <a:ea typeface="Nunito Bold"/>
                <a:cs typeface="Nunito Bold"/>
                <a:sym typeface="Nunito Bold"/>
              </a:rPr>
              <a:t>level-specific surrogate</a:t>
            </a:r>
            <a:r>
              <a:rPr lang="en-US" sz="2100" b="true">
                <a:solidFill>
                  <a:srgbClr val="111111"/>
                </a:solidFill>
                <a:latin typeface="Nunito Semi-Bold"/>
                <a:ea typeface="Nunito Semi-Bold"/>
                <a:cs typeface="Nunito Semi-Bold"/>
                <a:sym typeface="Nunito Semi-Bold"/>
              </a:rPr>
              <a:t> and compute SHAP in the </a:t>
            </a:r>
            <a:r>
              <a:rPr lang="en-US" sz="2100" b="true">
                <a:solidFill>
                  <a:srgbClr val="111111"/>
                </a:solidFill>
                <a:latin typeface="Nunito Bold"/>
                <a:ea typeface="Nunito Bold"/>
                <a:cs typeface="Nunito Bold"/>
                <a:sym typeface="Nunito Bold"/>
              </a:rPr>
              <a:t>SAME original feature space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Cross-level aggregation is </a:t>
            </a:r>
            <a:r>
              <a:rPr lang="en-US" sz="2100" b="true">
                <a:solidFill>
                  <a:srgbClr val="111111"/>
                </a:solidFill>
                <a:latin typeface="Nunito Bold"/>
                <a:ea typeface="Nunito Bold"/>
                <a:cs typeface="Nunito Bold"/>
                <a:sym typeface="Nunito Bold"/>
              </a:rPr>
              <a:t>NOT a naive average</a:t>
            </a:r>
            <a:r>
              <a:rPr lang="en-US" sz="2100" b="true">
                <a:solidFill>
                  <a:srgbClr val="111111"/>
                </a:solidFill>
                <a:latin typeface="Nunito Semi-Bold"/>
                <a:ea typeface="Nunito Semi-Bold"/>
                <a:cs typeface="Nunito Semi-Bold"/>
                <a:sym typeface="Nunito Semi-Bold"/>
              </a:rPr>
              <a:t>: it respects cluster size and nesting structure.</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Parent-level attribution = an </a:t>
            </a:r>
            <a:r>
              <a:rPr lang="en-US" sz="1900" b="true">
                <a:solidFill>
                  <a:srgbClr val="111111"/>
                </a:solidFill>
                <a:latin typeface="Nunito Bold"/>
                <a:ea typeface="Nunito Bold"/>
                <a:cs typeface="Nunito Bold"/>
                <a:sym typeface="Nunito Bold"/>
              </a:rPr>
              <a:t>expectation over the explanations of its children</a:t>
            </a:r>
            <a:r>
              <a:rPr lang="en-US" sz="19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The hierarchy is a practical analysis tool, not a claim that nature is really organised this way.</a:t>
            </a:r>
          </a:p>
        </p:txBody>
      </p:sp>
      <p:sp>
        <p:nvSpPr>
          <p:cNvPr id="29" name="Rounded Rectangle 28"/>
          <p:cNvSpPr/>
          <p:nvPr/>
        </p:nvSpPr>
        <p:spPr>
          <a:xfrm>
            <a:off x="11258550" y="3363722"/>
            <a:ext cx="4000500" cy="868680"/>
          </a:xfrm>
          <a:prstGeom prst="roundRect">
            <a:avLst>
              <a:gd name="adj" fmla="val 21052"/>
            </a:avLst>
          </a:prstGeom>
          <a:solidFill>
            <a:srgbClr val="111111"/>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Level 1 · coarse clustering (k = 3)</a:t>
            </a:r>
          </a:p>
        </p:txBody>
      </p:sp>
      <p:sp>
        <p:nvSpPr>
          <p:cNvPr id="30" name="Rounded Rectangle 29"/>
          <p:cNvSpPr/>
          <p:nvPr/>
        </p:nvSpPr>
        <p:spPr>
          <a:xfrm>
            <a:off x="9258300" y="4826762"/>
            <a:ext cx="2514600" cy="1234440"/>
          </a:xfrm>
          <a:prstGeom prst="roundRect">
            <a:avLst>
              <a:gd name="adj" fmla="val 14814"/>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A</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temp · dew point · ozone</a:t>
            </a:r>
          </a:p>
        </p:txBody>
      </p:sp>
      <p:cxnSp>
        <p:nvCxnSpPr>
          <p:cNvPr id="31" name="Connector 30"/>
          <p:cNvCxnSpPr/>
          <p:nvPr/>
        </p:nvCxnSpPr>
        <p:spPr>
          <a:xfrm flipH="1">
            <a:off x="10515600" y="4278122"/>
            <a:ext cx="2743200" cy="502920"/>
          </a:xfrm>
          <a:prstGeom prst="line">
            <a:avLst/>
          </a:prstGeom>
          <a:ln w="25400">
            <a:solidFill>
              <a:srgbClr val="4472C4"/>
            </a:solidFill>
            <a:tailEnd type="triangle" w="med" len="med"/>
          </a:ln>
        </p:spPr>
      </p:cxnSp>
      <p:sp>
        <p:nvSpPr>
          <p:cNvPr id="32" name="Rounded Rectangle 31"/>
          <p:cNvSpPr/>
          <p:nvPr/>
        </p:nvSpPr>
        <p:spPr>
          <a:xfrm>
            <a:off x="92583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3" name="Connector 32"/>
          <p:cNvCxnSpPr/>
          <p:nvPr/>
        </p:nvCxnSpPr>
        <p:spPr>
          <a:xfrm flipH="1">
            <a:off x="9859518" y="6088634"/>
            <a:ext cx="656082" cy="393192"/>
          </a:xfrm>
          <a:prstGeom prst="line">
            <a:avLst/>
          </a:prstGeom>
          <a:ln w="19050">
            <a:solidFill>
              <a:srgbClr val="4472C4"/>
            </a:solidFill>
            <a:tailEnd type="triangle" w="med" len="med"/>
          </a:ln>
        </p:spPr>
      </p:cxnSp>
      <p:sp>
        <p:nvSpPr>
          <p:cNvPr id="34" name="Rounded Rectangle 33"/>
          <p:cNvSpPr/>
          <p:nvPr/>
        </p:nvSpPr>
        <p:spPr>
          <a:xfrm>
            <a:off x="105704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5" name="Connector 34"/>
          <p:cNvCxnSpPr/>
          <p:nvPr/>
        </p:nvCxnSpPr>
        <p:spPr>
          <a:xfrm>
            <a:off x="10515600" y="6088634"/>
            <a:ext cx="656082" cy="393192"/>
          </a:xfrm>
          <a:prstGeom prst="line">
            <a:avLst/>
          </a:prstGeom>
          <a:ln w="19050">
            <a:solidFill>
              <a:srgbClr val="4472C4"/>
            </a:solidFill>
            <a:tailEnd type="triangle" w="med" len="med"/>
          </a:ln>
        </p:spPr>
      </p:cxnSp>
      <p:sp>
        <p:nvSpPr>
          <p:cNvPr id="36" name="Rounded Rectangle 35"/>
          <p:cNvSpPr/>
          <p:nvPr/>
        </p:nvSpPr>
        <p:spPr>
          <a:xfrm>
            <a:off x="12001500" y="4826762"/>
            <a:ext cx="2514600" cy="1234440"/>
          </a:xfrm>
          <a:prstGeom prst="roundRect">
            <a:avLst>
              <a:gd name="adj" fmla="val 14814"/>
            </a:avLst>
          </a:prstGeom>
          <a:solidFill>
            <a:srgbClr val="2F5597"/>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B</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CO · SO₂ · PM · wind</a:t>
            </a:r>
          </a:p>
        </p:txBody>
      </p:sp>
      <p:cxnSp>
        <p:nvCxnSpPr>
          <p:cNvPr id="37" name="Connector 36"/>
          <p:cNvCxnSpPr/>
          <p:nvPr/>
        </p:nvCxnSpPr>
        <p:spPr>
          <a:xfrm>
            <a:off x="13258800" y="4278122"/>
            <a:ext cx="0" cy="502920"/>
          </a:xfrm>
          <a:prstGeom prst="line">
            <a:avLst/>
          </a:prstGeom>
          <a:ln w="25400">
            <a:solidFill>
              <a:srgbClr val="4472C4"/>
            </a:solidFill>
            <a:tailEnd type="triangle" w="med" len="med"/>
          </a:ln>
        </p:spPr>
      </p:cxnSp>
      <p:sp>
        <p:nvSpPr>
          <p:cNvPr id="38" name="Rounded Rectangle 37"/>
          <p:cNvSpPr/>
          <p:nvPr/>
        </p:nvSpPr>
        <p:spPr>
          <a:xfrm>
            <a:off x="120015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9" name="Connector 38"/>
          <p:cNvCxnSpPr/>
          <p:nvPr/>
        </p:nvCxnSpPr>
        <p:spPr>
          <a:xfrm flipH="1">
            <a:off x="12602718" y="6088634"/>
            <a:ext cx="656082" cy="393192"/>
          </a:xfrm>
          <a:prstGeom prst="line">
            <a:avLst/>
          </a:prstGeom>
          <a:ln w="19050">
            <a:solidFill>
              <a:srgbClr val="4472C4"/>
            </a:solidFill>
            <a:tailEnd type="triangle" w="med" len="med"/>
          </a:ln>
        </p:spPr>
      </p:cxnSp>
      <p:sp>
        <p:nvSpPr>
          <p:cNvPr id="40" name="Rounded Rectangle 39"/>
          <p:cNvSpPr/>
          <p:nvPr/>
        </p:nvSpPr>
        <p:spPr>
          <a:xfrm>
            <a:off x="133136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1" name="Connector 40"/>
          <p:cNvCxnSpPr/>
          <p:nvPr/>
        </p:nvCxnSpPr>
        <p:spPr>
          <a:xfrm>
            <a:off x="13258800" y="6088634"/>
            <a:ext cx="656082" cy="393192"/>
          </a:xfrm>
          <a:prstGeom prst="line">
            <a:avLst/>
          </a:prstGeom>
          <a:ln w="19050">
            <a:solidFill>
              <a:srgbClr val="4472C4"/>
            </a:solidFill>
            <a:tailEnd type="triangle" w="med" len="med"/>
          </a:ln>
        </p:spPr>
      </p:cxnSp>
      <p:sp>
        <p:nvSpPr>
          <p:cNvPr id="42" name="Rounded Rectangle 41"/>
          <p:cNvSpPr/>
          <p:nvPr/>
        </p:nvSpPr>
        <p:spPr>
          <a:xfrm>
            <a:off x="14744700" y="4826762"/>
            <a:ext cx="2514600" cy="1234440"/>
          </a:xfrm>
          <a:prstGeom prst="roundRect">
            <a:avLst>
              <a:gd name="adj" fmla="val 148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C</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clean air · weather</a:t>
            </a:r>
          </a:p>
        </p:txBody>
      </p:sp>
      <p:cxnSp>
        <p:nvCxnSpPr>
          <p:cNvPr id="43" name="Connector 42"/>
          <p:cNvCxnSpPr/>
          <p:nvPr/>
        </p:nvCxnSpPr>
        <p:spPr>
          <a:xfrm>
            <a:off x="13258800" y="4278122"/>
            <a:ext cx="2743200" cy="502920"/>
          </a:xfrm>
          <a:prstGeom prst="line">
            <a:avLst/>
          </a:prstGeom>
          <a:ln w="25400">
            <a:solidFill>
              <a:srgbClr val="4472C4"/>
            </a:solidFill>
            <a:tailEnd type="triangle" w="med" len="med"/>
          </a:ln>
        </p:spPr>
      </p:cxnSp>
      <p:sp>
        <p:nvSpPr>
          <p:cNvPr id="44" name="Rounded Rectangle 43"/>
          <p:cNvSpPr/>
          <p:nvPr/>
        </p:nvSpPr>
        <p:spPr>
          <a:xfrm>
            <a:off x="147447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45" name="Connector 44"/>
          <p:cNvCxnSpPr/>
          <p:nvPr/>
        </p:nvCxnSpPr>
        <p:spPr>
          <a:xfrm flipH="1">
            <a:off x="15345918" y="6088634"/>
            <a:ext cx="656082" cy="393192"/>
          </a:xfrm>
          <a:prstGeom prst="line">
            <a:avLst/>
          </a:prstGeom>
          <a:ln w="19050">
            <a:solidFill>
              <a:srgbClr val="4472C4"/>
            </a:solidFill>
            <a:tailEnd type="triangle" w="med" len="med"/>
          </a:ln>
        </p:spPr>
      </p:cxnSp>
      <p:sp>
        <p:nvSpPr>
          <p:cNvPr id="46" name="Rounded Rectangle 45"/>
          <p:cNvSpPr/>
          <p:nvPr/>
        </p:nvSpPr>
        <p:spPr>
          <a:xfrm>
            <a:off x="160568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7" name="Connector 46"/>
          <p:cNvCxnSpPr/>
          <p:nvPr/>
        </p:nvCxnSpPr>
        <p:spPr>
          <a:xfrm>
            <a:off x="16002000" y="6088634"/>
            <a:ext cx="656082" cy="393192"/>
          </a:xfrm>
          <a:prstGeom prst="line">
            <a:avLst/>
          </a:prstGeom>
          <a:ln w="19050">
            <a:solidFill>
              <a:srgbClr val="4472C4"/>
            </a:solidFill>
            <a:tailEnd type="triangle" w="med" len="med"/>
          </a:ln>
        </p:spPr>
      </p:cxnSp>
      <p:sp>
        <p:nvSpPr>
          <p:cNvPr id="48" name="Rounded Rectangle 47"/>
          <p:cNvSpPr/>
          <p:nvPr/>
        </p:nvSpPr>
        <p:spPr>
          <a:xfrm>
            <a:off x="9258300" y="7341362"/>
            <a:ext cx="8001000" cy="1967230"/>
          </a:xfrm>
          <a:prstGeom prst="roundRect">
            <a:avLst>
              <a:gd name="adj" fmla="val 11620"/>
            </a:avLst>
          </a:prstGeom>
          <a:solidFill>
            <a:srgbClr val="4472C4"/>
          </a:solidFill>
          <a:ln>
            <a:noFill/>
          </a:ln>
        </p:spPr>
        <p:txBody>
          <a:bodyPr anchor="ctr" rtlCol="false" lIns="0" tIns="0" rIns="0" bIns="0" wrap="square"/>
          <a:lstStyle/>
          <a:p>
            <a:endParaRPr lang="en-US" sz="1800"/>
          </a:p>
        </p:txBody>
      </p:sp>
      <p:sp>
        <p:nvSpPr>
          <p:cNvPr id="49" name="TextBox 48"/>
          <p:cNvSpPr txBox="1"/>
          <p:nvPr/>
        </p:nvSpPr>
        <p:spPr>
          <a:xfrm>
            <a:off x="9258300" y="7487666"/>
            <a:ext cx="8001000" cy="274320"/>
          </a:xfrm>
          <a:prstGeom prst="rect">
            <a:avLst/>
          </a:prstGeom>
          <a:noFill/>
        </p:spPr>
        <p:txBody>
          <a:bodyPr anchor="t" rtlCol="false" lIns="0" tIns="0" rIns="0" bIns="0" wrap="square"/>
          <a:lstStyle/>
          <a:p>
            <a:pPr algn="ctr">
              <a:lnSpc>
                <a:spcPts val="1700"/>
              </a:lnSpc>
              <a:spcBef>
                <a:spcPts val="0"/>
              </a:spcBef>
              <a:buNone/>
            </a:pPr>
            <a:r>
              <a:rPr lang="en-US" sz="1300" b="true" spc="150">
                <a:solidFill>
                  <a:srgbClr val="ECC665"/>
                </a:solidFill>
                <a:latin typeface="Nunito Ultra-Bold"/>
                <a:ea typeface="Nunito Ultra-Bold"/>
                <a:cs typeface="Nunito Ultra-Bold"/>
                <a:sym typeface="Nunito Ultra-Bold"/>
              </a:rPr>
              <a:t>PROPOSITION 6.1  ·  CROSS-LEVEL CONSISTENCY</a:t>
            </a:r>
          </a:p>
        </p:txBody>
      </p:sp>
      <mc:AlternateContent xmlns:mc="http://schemas.openxmlformats.org/markup-compatibility/2006">
        <mc:Choice xmlns:a14="http://schemas.microsoft.com/office/drawing/2010/main" Requires="a14">
          <p:sp>
            <p:nvSpPr>
              <p:cNvPr id="50" name="Equation"/>
              <p:cNvSpPr txBox="1"/>
              <p:nvPr/>
            </p:nvSpPr>
            <p:spPr>
              <a:xfrm>
                <a:off x="9441180" y="7761986"/>
                <a:ext cx="7635240" cy="9601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nary>
                        <m:naryPr>
                          <m:chr m:val="∑"/>
                          <m:limLoc m:val="subSup"/>
                          <m:supHide m:val="1"/>
                          <m:ctrlPr>
                            <a:rPr lang="en-US" sz="2200" i="1">
                              <a:solidFill>
                                <a:srgbClr val="FFFFFF"/>
                              </a:solidFill>
                              <a:latin typeface="Cambria Math" panose="02040503050406030204" pitchFamily="18" charset="0"/>
                            </a:rPr>
                          </m:ctrlPr>
                        </m:naryPr>
                        <m:sub>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∈child(</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b>
                        <m:sup/>
                        <m:e>
                          <m:r>
                            <m:rPr>
                              <m:sty m:val="p"/>
                            </m:rPr>
                            <a:rPr lang="en-US" sz="2200">
                              <a:solidFill>
                                <a:srgbClr val="FFFFFF"/>
                              </a:solidFill>
                              <a:latin typeface="Cambria Math" panose="02040503050406030204" pitchFamily="18" charset="0"/>
                            </a:rPr>
                            <m:t xml:space="preserve"> </m:t>
                          </m:r>
                        </m:e>
                      </m:nary>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w</m:t>
                          </m:r>
                        </m:e>
                        <m:sub>
                          <m:r>
                            <a:rPr lang="en-US" sz="2200" i="1">
                              <a:solidFill>
                                <a:srgbClr val="FFFFFF"/>
                              </a:solidFill>
                              <a:latin typeface="Cambria Math" panose="02040503050406030204" pitchFamily="18" charset="0"/>
                            </a:rPr>
                            <m:t xml:space="preserve">c′</m:t>
                          </m:r>
                        </m:sub>
                      </m:sSub>
                      <m:r>
                        <m:rPr>
                          <m:sty m:val="p"/>
                        </m:rPr>
                        <a:rPr lang="en-US" sz="2200">
                          <a:solidFill>
                            <a:srgbClr val="FFFFFF"/>
                          </a:solidFill>
                          <a:latin typeface="Cambria Math" panose="02040503050406030204" pitchFamily="18" charset="0"/>
                        </a:rPr>
                        <m:t xml:space="preserve"> </m:t>
                      </m:r>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+1, </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ε</m:t>
                          </m:r>
                        </m:e>
                        <m:sub>
                          <m:r>
                            <a:rPr lang="en-US" sz="2200" i="1">
                              <a:solidFill>
                                <a:srgbClr val="FFFFFF"/>
                              </a:solidFill>
                              <a:latin typeface="Cambria Math" panose="02040503050406030204" pitchFamily="18" charset="0"/>
                            </a:rPr>
                            <m:t xml:space="preserve">j</m:t>
                          </m:r>
                        </m:sub>
                      </m:sSub>
                    </m:oMath>
                  </m:oMathPara>
                </a14:m>
                <a:endParaRPr lang="en-US" sz="2200"/>
              </a:p>
            </p:txBody>
          </p:sp>
        </mc:Choice>
        <mc:Fallback>
          <p:sp>
            <p:nvSpPr>
              <p:cNvPr id="50" name="Equation"/>
              <p:cNvSpPr txBox="1"/>
              <p:nvPr/>
            </p:nvSpPr>
            <p:spPr>
              <a:xfrm>
                <a:off x="9441180" y="7761986"/>
                <a:ext cx="7635240" cy="96012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51" name="Equation"/>
              <p:cNvSpPr txBox="1"/>
              <p:nvPr/>
            </p:nvSpPr>
            <p:spPr>
              <a:xfrm>
                <a:off x="9441180" y="8712962"/>
                <a:ext cx="7635240" cy="45720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400" i="1">
                              <a:solidFill>
                                <a:srgbClr val="D6E4F7"/>
                              </a:solidFill>
                              <a:latin typeface="Cambria Math" panose="02040503050406030204" pitchFamily="18" charset="0"/>
                            </a:rPr>
                          </m:ctrlPr>
                        </m:sSubPr>
                        <m:e>
                          <m:r>
                            <a:rPr lang="en-US" sz="1400" i="1">
                              <a:solidFill>
                                <a:srgbClr val="D6E4F7"/>
                              </a:solidFill>
                              <a:latin typeface="Cambria Math" panose="02040503050406030204" pitchFamily="18" charset="0"/>
                            </a:rPr>
                            <m:t xml:space="preserve">w</m:t>
                          </m:r>
                        </m:e>
                        <m:sub>
                          <m:r>
                            <a:rPr lang="en-US" sz="1400" i="1">
                              <a:solidFill>
                                <a:srgbClr val="D6E4F7"/>
                              </a:solidFill>
                              <a:latin typeface="Cambria Math" panose="02040503050406030204" pitchFamily="18" charset="0"/>
                            </a:rPr>
                            <m:t xml:space="preserve">c′</m:t>
                          </m:r>
                        </m:sub>
                      </m:sSub>
                      <m:r>
                        <m:rPr>
                          <m:sty m:val="p"/>
                        </m:rPr>
                        <a:rPr lang="en-US" sz="1400">
                          <a:solidFill>
                            <a:srgbClr val="D6E4F7"/>
                          </a:solidFill>
                          <a:latin typeface="Cambria Math" panose="02040503050406030204" pitchFamily="18" charset="0"/>
                        </a:rPr>
                        <m:t xml:space="preserve">=|</m:t>
                      </m:r>
                      <m:r>
                        <a:rPr lang="en-US" sz="1400" i="1">
                          <a:solidFill>
                            <a:srgbClr val="D6E4F7"/>
                          </a:solidFill>
                          <a:latin typeface="Cambria Math" panose="02040503050406030204" pitchFamily="18" charset="0"/>
                        </a:rPr>
                        <m:t xml:space="preserve">c′</m:t>
                      </m:r>
                      <m:r>
                        <m:rPr>
                          <m:sty m:val="p"/>
                        </m:rPr>
                        <a:rPr lang="en-US" sz="1400">
                          <a:solidFill>
                            <a:srgbClr val="D6E4F7"/>
                          </a:solidFill>
                          <a:latin typeface="Cambria Math" panose="02040503050406030204" pitchFamily="18" charset="0"/>
                        </a:rPr>
                        <m:t xml:space="preserve">| / |</m:t>
                      </m:r>
                      <m:r>
                        <a:rPr lang="en-US" sz="1400" i="1">
                          <a:solidFill>
                            <a:srgbClr val="D6E4F7"/>
                          </a:solidFill>
                          <a:latin typeface="Cambria Math" panose="02040503050406030204" pitchFamily="18" charset="0"/>
                        </a:rPr>
                        <m:t xml:space="preserve">c</m:t>
                      </m:r>
                      <m:r>
                        <m:rPr>
                          <m:sty m:val="p"/>
                        </m:rPr>
                        <a:rPr lang="en-US" sz="1400">
                          <a:solidFill>
                            <a:srgbClr val="D6E4F7"/>
                          </a:solidFill>
                          <a:latin typeface="Cambria Math" panose="02040503050406030204" pitchFamily="18" charset="0"/>
                        </a:rPr>
                        <m:t xml:space="preserve">|,  </m:t>
                      </m:r>
                      <m:sSub>
                        <m:sSubPr>
                          <m:ctrlPr>
                            <a:rPr lang="en-US" sz="1400" i="1">
                              <a:solidFill>
                                <a:srgbClr val="D6E4F7"/>
                              </a:solidFill>
                              <a:latin typeface="Cambria Math" panose="02040503050406030204" pitchFamily="18" charset="0"/>
                            </a:rPr>
                          </m:ctrlPr>
                        </m:sSubPr>
                        <m:e>
                          <m:r>
                            <a:rPr lang="en-US" sz="1400" i="1">
                              <a:solidFill>
                                <a:srgbClr val="D6E4F7"/>
                              </a:solidFill>
                              <a:latin typeface="Cambria Math" panose="02040503050406030204" pitchFamily="18" charset="0"/>
                            </a:rPr>
                            <m:t xml:space="preserve">ε</m:t>
                          </m:r>
                        </m:e>
                        <m:sub>
                          <m:r>
                            <a:rPr lang="en-US" sz="1400" i="1">
                              <a:solidFill>
                                <a:srgbClr val="D6E4F7"/>
                              </a:solidFill>
                              <a:latin typeface="Cambria Math" panose="02040503050406030204" pitchFamily="18" charset="0"/>
                            </a:rPr>
                            <m:t xml:space="preserve">j</m:t>
                          </m:r>
                        </m:sub>
                      </m:sSub>
                      <m:r>
                        <m:rPr>
                          <m:sty m:val="p"/>
                        </m:rPr>
                        <a:rPr lang="en-US" sz="1400">
                          <a:solidFill>
                            <a:srgbClr val="D6E4F7"/>
                          </a:solidFill>
                          <a:latin typeface="Cambria Math" panose="02040503050406030204" pitchFamily="18" charset="0"/>
                        </a:rPr>
                        <m:t xml:space="preserve">→0</m:t>
                      </m:r>
                      <m:r>
                        <m:rPr>
                          <m:nor/>
                        </m:rPr>
                        <a:rPr lang="en-US" sz="1400">
                          <a:solidFill>
                            <a:srgbClr val="D6E4F7"/>
                          </a:solidFill>
                          <a:latin typeface="Cambria Math" panose="02040503050406030204" pitchFamily="18" charset="0"/>
                        </a:rPr>
                        <m:t xml:space="preserve">  under perfect surrogate fidelity</m:t>
                      </m:r>
                    </m:oMath>
                  </m:oMathPara>
                </a14:m>
                <a:endParaRPr lang="en-US" sz="1400"/>
              </a:p>
            </p:txBody>
          </p:sp>
        </mc:Choice>
        <mc:Fallback>
          <p:sp>
            <p:nvSpPr>
              <p:cNvPr id="51" name="Equation"/>
              <p:cNvSpPr txBox="1"/>
              <p:nvPr/>
            </p:nvSpPr>
            <p:spPr>
              <a:xfrm>
                <a:off x="9441180" y="8712962"/>
                <a:ext cx="7635240" cy="457200"/>
              </a:xfrm>
              <a:prstGeom prst="rect">
                <a:avLst/>
              </a:prstGeom>
              <a:blipFill>
                <a:blip r:embed="rId6"/>
                <a:stretch>
                  <a:fillRect/>
                </a:stretch>
              </a:blipFill>
            </p:spPr>
            <p:txBody>
              <a:bodyPr/>
              <a:lstStyle/>
              <a:p>
                <a:endParaRPr lang="en-US"/>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Proposition 6.1: Cross-Level Consistency</a:t>
            </a:r>
          </a:p>
        </p:txBody>
      </p:sp>
      <p:pic>
        <p:nvPicPr>
          <p:cNvPr id="23" name="Picture 22" descr="image.png"/>
          <p:cNvPicPr>
            <a:picLocks noChangeAspect="1"/>
          </p:cNvPicPr>
          <p:nvPr/>
        </p:nvPicPr>
        <p:blipFill>
          <a:blip r:embed="rId3"/>
          <a:stretch>
            <a:fillRect/>
          </a:stretch>
        </p:blipFill>
        <p:spPr>
          <a:xfrm>
            <a:off x="11568381"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Oval 27"/>
          <p:cNvSpPr/>
          <p:nvPr/>
        </p:nvSpPr>
        <p:spPr>
          <a:xfrm>
            <a:off x="1028700" y="355574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29" name="Equation"/>
              <p:cNvSpPr txBox="1"/>
              <p:nvPr/>
            </p:nvSpPr>
            <p:spPr>
              <a:xfrm>
                <a:off x="1440180" y="336372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sSub>
                        <m:sSubPr>
                          <m:ctrlPr>
                            <a:rPr lang="en-US" sz="1800" i="1">
                              <a:solidFill>
                                <a:srgbClr val="4472C4"/>
                              </a:solidFill>
                              <a:latin typeface="Cambria Math" panose="02040503050406030204" pitchFamily="18" charset="0"/>
                            </a:rPr>
                          </m:ctrlPr>
                        </m:sSubPr>
                        <m:e>
                          <m:r>
                            <m:rPr>
                              <m:scr m:val="double-struck"/>
                              <m:sty m:val="p"/>
                            </m:rPr>
                            <a:rPr lang="en-US" sz="1800">
                              <a:solidFill>
                                <a:srgbClr val="4472C4"/>
                              </a:solidFill>
                              <a:latin typeface="Cambria Math" panose="02040503050406030204" pitchFamily="18" charset="0"/>
                            </a:rPr>
                            <m:t xml:space="preserve">E</m:t>
                          </m:r>
                        </m:e>
                        <m:sub>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sub>
                      </m:sSub>
                      <m:d>
                        <m:dPr>
                          <m:begChr m:val="["/>
                          <m:endChr m:val="]"/>
                          <m:ctrlPr>
                            <a:rPr lang="en-US" sz="1800" i="1">
                              <a:solidFill>
                                <a:srgbClr val="4472C4"/>
                              </a:solidFill>
                              <a:latin typeface="Cambria Math" panose="02040503050406030204" pitchFamily="18" charset="0"/>
                            </a:rPr>
                          </m:ctrlPr>
                        </m:dPr>
                        <m:e>
                          <m:r>
                            <m:rPr>
                              <m:sty m:val="p"/>
                            </m:rPr>
                            <a:rPr lang="en-US" sz="1800">
                              <a:solidFill>
                                <a:srgbClr val="4472C4"/>
                              </a:solidFill>
                              <a:latin typeface="Cambria Math" panose="02040503050406030204" pitchFamily="18" charset="0"/>
                            </a:rPr>
                            <m:t xml:space="preserve"> </m:t>
                          </m:r>
                          <m:d>
                            <m:dPr>
                              <m:begChr m:val="|"/>
                              <m:endChr m:val="|"/>
                              <m:ctrlPr>
                                <a:rPr lang="en-US" sz="1800" i="1">
                                  <a:solidFill>
                                    <a:srgbClr val="4472C4"/>
                                  </a:solidFill>
                                  <a:latin typeface="Cambria Math" panose="02040503050406030204" pitchFamily="18" charset="0"/>
                                </a:rPr>
                              </m:ctrlPr>
                            </m:dPr>
                            <m:e>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e>
                          </m:d>
                          <m:r>
                            <m:rPr>
                              <m:sty m:val="p"/>
                            </m:rPr>
                            <a:rPr lang="en-US" sz="1800">
                              <a:solidFill>
                                <a:srgbClr val="4472C4"/>
                              </a:solidFill>
                              <a:latin typeface="Cambria Math" panose="02040503050406030204" pitchFamily="18" charset="0"/>
                            </a:rPr>
                            <m:t xml:space="preserve"> </m:t>
                          </m:r>
                        </m:e>
                      </m:d>
                    </m:oMath>
                  </m:oMathPara>
                </a14:m>
                <a:endParaRPr lang="en-US" sz="1800"/>
              </a:p>
            </p:txBody>
          </p:sp>
        </mc:Choice>
        <mc:Fallback>
          <p:sp>
            <p:nvSpPr>
              <p:cNvPr id="29" name="Equation"/>
              <p:cNvSpPr txBox="1"/>
              <p:nvPr/>
            </p:nvSpPr>
            <p:spPr>
              <a:xfrm>
                <a:off x="1440180" y="3363722"/>
                <a:ext cx="3840480" cy="658368"/>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5463540" y="336372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expected absolute SHAP importance of feature j at level l in cluster c</a:t>
            </a:r>
          </a:p>
        </p:txBody>
      </p:sp>
      <p:sp>
        <p:nvSpPr>
          <p:cNvPr id="31" name="Oval 30"/>
          <p:cNvSpPr/>
          <p:nvPr/>
        </p:nvSpPr>
        <p:spPr>
          <a:xfrm>
            <a:off x="1028700" y="428726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32" name="Equation"/>
              <p:cNvSpPr txBox="1"/>
              <p:nvPr/>
            </p:nvSpPr>
            <p:spPr>
              <a:xfrm>
                <a:off x="1440180" y="409524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100" i="1">
                              <a:solidFill>
                                <a:srgbClr val="4472C4"/>
                              </a:solidFill>
                              <a:latin typeface="Cambria Math" panose="02040503050406030204" pitchFamily="18" charset="0"/>
                            </a:rPr>
                          </m:ctrlPr>
                        </m:sSubPr>
                        <m:e>
                          <m:r>
                            <a:rPr lang="en-US" sz="2100" i="1">
                              <a:solidFill>
                                <a:srgbClr val="4472C4"/>
                              </a:solidFill>
                              <a:latin typeface="Cambria Math" panose="02040503050406030204" pitchFamily="18" charset="0"/>
                            </a:rPr>
                            <m:t xml:space="preserve">w</m:t>
                          </m:r>
                        </m:e>
                        <m:sub>
                          <m:r>
                            <a:rPr lang="en-US" sz="2100" i="1">
                              <a:solidFill>
                                <a:srgbClr val="4472C4"/>
                              </a:solidFill>
                              <a:latin typeface="Cambria Math" panose="02040503050406030204" pitchFamily="18" charset="0"/>
                            </a:rPr>
                            <m:t xml:space="preserve">c′</m:t>
                          </m:r>
                        </m:sub>
                      </m:sSub>
                      <m:r>
                        <m:rPr>
                          <m:sty m:val="p"/>
                        </m:rPr>
                        <a:rPr lang="en-US" sz="2100">
                          <a:solidFill>
                            <a:srgbClr val="4472C4"/>
                          </a:solidFill>
                          <a:latin typeface="Cambria Math" panose="02040503050406030204" pitchFamily="18" charset="0"/>
                        </a:rPr>
                        <m:t xml:space="preserve">=|</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 / |</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m:t>
                      </m:r>
                    </m:oMath>
                  </m:oMathPara>
                </a14:m>
                <a:endParaRPr lang="en-US" sz="2100"/>
              </a:p>
            </p:txBody>
          </p:sp>
        </mc:Choice>
        <mc:Fallback>
          <p:sp>
            <p:nvSpPr>
              <p:cNvPr id="32" name="Equation"/>
              <p:cNvSpPr txBox="1"/>
              <p:nvPr/>
            </p:nvSpPr>
            <p:spPr>
              <a:xfrm>
                <a:off x="1440180" y="4095242"/>
                <a:ext cx="3840480" cy="658368"/>
              </a:xfrm>
              <a:prstGeom prst="rect">
                <a:avLst/>
              </a:prstGeom>
              <a:blipFill>
                <a:blip r:embed="rId6"/>
                <a:stretch>
                  <a:fillRect/>
                </a:stretch>
              </a:blipFill>
            </p:spPr>
            <p:txBody>
              <a:bodyPr/>
              <a:lstStyle/>
              <a:p>
                <a:endParaRPr lang="en-US"/>
              </a:p>
            </p:txBody>
          </p:sp>
        </mc:Fallback>
      </mc:AlternateContent>
      <p:sp>
        <p:nvSpPr>
          <p:cNvPr id="33" name="TextBox 32"/>
          <p:cNvSpPr txBox="1"/>
          <p:nvPr/>
        </p:nvSpPr>
        <p:spPr>
          <a:xfrm>
            <a:off x="5463540" y="409524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relative size of child c′ within parent c</a:t>
            </a:r>
          </a:p>
        </p:txBody>
      </p:sp>
      <p:sp>
        <p:nvSpPr>
          <p:cNvPr id="34" name="TextBox 33"/>
          <p:cNvSpPr txBox="1"/>
          <p:nvPr/>
        </p:nvSpPr>
        <p:spPr>
          <a:xfrm>
            <a:off x="1028700" y="4936490"/>
            <a:ext cx="8229600" cy="365760"/>
          </a:xfrm>
          <a:prstGeom prst="rect">
            <a:avLst/>
          </a:prstGeom>
          <a:noFill/>
        </p:spPr>
        <p:txBody>
          <a:bodyPr anchor="t" rtlCol="false" lIns="0" tIns="0" rIns="0" bIns="0" wrap="square"/>
          <a:lstStyle/>
          <a:p>
            <a:pPr algn="l">
              <a:lnSpc>
                <a:spcPts val="2700"/>
              </a:lnSpc>
              <a:spcBef>
                <a:spcPts val="0"/>
              </a:spcBef>
              <a:buNone/>
            </a:pPr>
            <a:r>
              <a:rPr lang="en-US" sz="2100" b="true">
                <a:solidFill>
                  <a:srgbClr val="111111"/>
                </a:solidFill>
                <a:latin typeface="Nunito Semi-Bold"/>
                <a:ea typeface="Nunito Semi-Bold"/>
                <a:cs typeface="Nunito Semi-Bold"/>
                <a:sym typeface="Nunito Semi-Bold"/>
              </a:rPr>
              <a:t>For a </a:t>
            </a:r>
            <a:r>
              <a:rPr lang="en-US" sz="2100" b="true">
                <a:solidFill>
                  <a:srgbClr val="111111"/>
                </a:solidFill>
                <a:latin typeface="Nunito Bold"/>
                <a:ea typeface="Nunito Bold"/>
                <a:cs typeface="Nunito Bold"/>
                <a:sym typeface="Nunito Bold"/>
              </a:rPr>
              <a:t>strict nested hierarchy</a:t>
            </a:r>
            <a:r>
              <a:rPr lang="en-US" sz="2100" b="true">
                <a:solidFill>
                  <a:srgbClr val="111111"/>
                </a:solidFill>
                <a:latin typeface="Nunito Semi-Bold"/>
                <a:ea typeface="Nunito Semi-Bold"/>
                <a:cs typeface="Nunito Semi-Bold"/>
                <a:sym typeface="Nunito Semi-Bold"/>
              </a:rPr>
              <a:t> on a consistent feature space:</a:t>
            </a:r>
          </a:p>
        </p:txBody>
      </p:sp>
      <p:sp>
        <p:nvSpPr>
          <p:cNvPr id="35" name="Rounded Rectangle 34"/>
          <p:cNvSpPr/>
          <p:nvPr/>
        </p:nvSpPr>
        <p:spPr>
          <a:xfrm>
            <a:off x="1028700" y="5393690"/>
            <a:ext cx="8229600" cy="1508760"/>
          </a:xfrm>
          <a:prstGeom prst="roundRect">
            <a:avLst>
              <a:gd name="adj" fmla="val 1212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6" name="Equation"/>
              <p:cNvSpPr txBox="1"/>
              <p:nvPr/>
            </p:nvSpPr>
            <p:spPr>
              <a:xfrm>
                <a:off x="1211580" y="5393690"/>
                <a:ext cx="7863840" cy="15087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nary>
                        <m:naryPr>
                          <m:chr m:val="∑"/>
                          <m:limLoc m:val="undOvr"/>
                          <m:supHide m:val="1"/>
                          <m:ctrlPr>
                            <a:rPr lang="en-US" sz="2550" i="1">
                              <a:solidFill>
                                <a:srgbClr val="4472C4"/>
                              </a:solidFill>
                              <a:latin typeface="Cambria Math" panose="02040503050406030204" pitchFamily="18" charset="0"/>
                            </a:rPr>
                          </m:ctrlPr>
                        </m:naryPr>
                        <m:sub>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∈child(</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b>
                        <m:sup/>
                        <m:e>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w</m:t>
                              </m:r>
                            </m:e>
                            <m:sub>
                              <m:r>
                                <a:rPr lang="en-US" sz="2550" i="1">
                                  <a:solidFill>
                                    <a:srgbClr val="4472C4"/>
                                  </a:solidFill>
                                  <a:latin typeface="Cambria Math" panose="02040503050406030204" pitchFamily="18" charset="0"/>
                                </a:rPr>
                                <m:t xml:space="preserve">c′</m:t>
                              </m:r>
                            </m:sub>
                          </m:sSub>
                        </m:e>
                      </m:nary>
                      <m:r>
                        <m:rPr>
                          <m:sty m:val="p"/>
                        </m:rPr>
                        <a:rPr lang="en-US" sz="2550">
                          <a:solidFill>
                            <a:srgbClr val="4472C4"/>
                          </a:solidFill>
                          <a:latin typeface="Cambria Math" panose="02040503050406030204" pitchFamily="18" charset="0"/>
                        </a:rPr>
                        <m:t xml:space="preserve"> </m:t>
                      </m:r>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+1, </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ε</m:t>
                          </m:r>
                        </m:e>
                        <m:sub>
                          <m:r>
                            <a:rPr lang="en-US" sz="2550" i="1">
                              <a:solidFill>
                                <a:srgbClr val="4472C4"/>
                              </a:solidFill>
                              <a:latin typeface="Cambria Math" panose="02040503050406030204" pitchFamily="18" charset="0"/>
                            </a:rPr>
                            <m:t xml:space="preserve">j</m:t>
                          </m:r>
                        </m:sub>
                      </m:sSub>
                    </m:oMath>
                  </m:oMathPara>
                </a14:m>
                <a:endParaRPr lang="en-US" sz="2550"/>
              </a:p>
            </p:txBody>
          </p:sp>
        </mc:Choice>
        <mc:Fallback>
          <p:sp>
            <p:nvSpPr>
              <p:cNvPr id="36" name="Equation"/>
              <p:cNvSpPr txBox="1"/>
              <p:nvPr/>
            </p:nvSpPr>
            <p:spPr>
              <a:xfrm>
                <a:off x="1211580" y="5393690"/>
                <a:ext cx="7863840" cy="1508760"/>
              </a:xfrm>
              <a:prstGeom prst="rect">
                <a:avLst/>
              </a:prstGeom>
              <a:blipFill>
                <a:blip r:embed="rId7"/>
                <a:stretch>
                  <a:fillRect/>
                </a:stretch>
              </a:blipFill>
            </p:spPr>
            <p:txBody>
              <a:bodyPr/>
              <a:lstStyle/>
              <a:p>
                <a:endParaRPr lang="en-US"/>
              </a:p>
            </p:txBody>
          </p:sp>
        </mc:Fallback>
      </mc:AlternateContent>
      <p:sp>
        <p:nvSpPr>
          <p:cNvPr id="37" name="TextBox 36"/>
          <p:cNvSpPr txBox="1"/>
          <p:nvPr/>
        </p:nvSpPr>
        <p:spPr>
          <a:xfrm>
            <a:off x="1028700" y="7131050"/>
            <a:ext cx="8229600" cy="2177542"/>
          </a:xfrm>
          <a:prstGeom prst="rect">
            <a:avLst/>
          </a:prstGeom>
          <a:noFill/>
        </p:spPr>
        <p:txBody>
          <a:bodyPr anchor="t" rtlCol="false" lIns="0" tIns="0" rIns="0" bIns="0" wrap="square"/>
          <a:lstStyle/>
          <a:p>
            <a:pPr algn="l" marL="274320" indent="-274320">
              <a:lnSpc>
                <a:spcPts val="2782"/>
              </a:lnSpc>
              <a:spcBef>
                <a:spcPts val="0"/>
              </a:spcBef>
              <a:buClr>
                <a:srgbClr val="1F7A8C"/>
              </a:buClr>
              <a:buSzPct val="100000"/>
              <a:buFont typeface="Arial"/>
              <a:buChar char="•"/>
            </a:pPr>
            <a:r>
              <a:rPr lang="en-US" sz="1880" b="true">
                <a:solidFill>
                  <a:srgbClr val="111111"/>
                </a:solidFill>
                <a:latin typeface="Calibri"/>
                <a:ea typeface="Calibri"/>
                <a:cs typeface="Calibri"/>
                <a:sym typeface="Calibri"/>
              </a:rPr>
              <a:t>ε</a:t>
            </a:r>
            <a:r>
              <a:rPr lang="en-US" sz="1880" b="true" baseline="-25000">
                <a:solidFill>
                  <a:srgbClr val="111111"/>
                </a:solidFill>
                <a:latin typeface="Nunito Bold"/>
                <a:ea typeface="Nunito Bold"/>
                <a:cs typeface="Nunito Bold"/>
                <a:sym typeface="Nunito Bold"/>
              </a:rPr>
              <a:t>j</a:t>
            </a:r>
            <a:r>
              <a:rPr lang="en-US" sz="1880" b="true">
                <a:solidFill>
                  <a:srgbClr val="111111"/>
                </a:solidFill>
                <a:latin typeface="Nunito Semi-Bold"/>
                <a:ea typeface="Nunito Semi-Bold"/>
                <a:cs typeface="Nunito Semi-Bold"/>
                <a:sym typeface="Nunito Semi-Bold"/>
              </a:rPr>
              <a:t> is a residual from surrogate mismatch; it vanishes under perfect fidelity.</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Derived via the </a:t>
            </a:r>
            <a:r>
              <a:rPr lang="en-US" sz="1880" b="true">
                <a:solidFill>
                  <a:srgbClr val="111111"/>
                </a:solidFill>
                <a:latin typeface="Nunito Bold"/>
                <a:ea typeface="Nunito Bold"/>
                <a:cs typeface="Nunito Bold"/>
                <a:sym typeface="Nunito Bold"/>
              </a:rPr>
              <a:t>law of total expectation</a:t>
            </a:r>
            <a:r>
              <a:rPr lang="en-US" sz="1880" b="true">
                <a:solidFill>
                  <a:srgbClr val="111111"/>
                </a:solidFill>
                <a:latin typeface="Nunito Semi-Bold"/>
                <a:ea typeface="Nunito Semi-Bold"/>
                <a:cs typeface="Nunito Semi-Bold"/>
                <a:sym typeface="Nunito Semi-Bold"/>
              </a:rPr>
              <a:t> (children partition the parent).</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Does </a:t>
            </a:r>
            <a:r>
              <a:rPr lang="en-US" sz="1880" b="true">
                <a:solidFill>
                  <a:srgbClr val="111111"/>
                </a:solidFill>
                <a:latin typeface="Nunito Bold"/>
                <a:ea typeface="Nunito Bold"/>
                <a:cs typeface="Nunito Bold"/>
                <a:sym typeface="Nunito Bold"/>
              </a:rPr>
              <a:t>NOT</a:t>
            </a:r>
            <a:r>
              <a:rPr lang="en-US" sz="1880" b="true">
                <a:solidFill>
                  <a:srgbClr val="111111"/>
                </a:solidFill>
                <a:latin typeface="Nunito Semi-Bold"/>
                <a:ea typeface="Nunito Semi-Bold"/>
                <a:cs typeface="Nunito Semi-Bold"/>
                <a:sym typeface="Nunito Semi-Bold"/>
              </a:rPr>
              <a:t> mean explanations are identical across levels. It means differences can be </a:t>
            </a:r>
            <a:r>
              <a:rPr lang="en-US" sz="1880" b="true">
                <a:solidFill>
                  <a:srgbClr val="111111"/>
                </a:solidFill>
                <a:latin typeface="Nunito Bold"/>
                <a:ea typeface="Nunito Bold"/>
                <a:cs typeface="Nunito Bold"/>
                <a:sym typeface="Nunito Bold"/>
              </a:rPr>
              <a:t>interpreted</a:t>
            </a:r>
            <a:r>
              <a:rPr lang="en-US" sz="1880" b="true">
                <a:solidFill>
                  <a:srgbClr val="111111"/>
                </a:solidFill>
                <a:latin typeface="Nunito Semi-Bold"/>
                <a:ea typeface="Nunito Semi-Bold"/>
                <a:cs typeface="Nunito Semi-Bold"/>
                <a:sym typeface="Nunito Semi-Bold"/>
              </a:rPr>
              <a:t>, not ruled out as inconsistency.</a:t>
            </a:r>
          </a:p>
        </p:txBody>
      </p:sp>
      <p:sp>
        <p:nvSpPr>
          <p:cNvPr id="38" name="Rounded Rectangle 37"/>
          <p:cNvSpPr/>
          <p:nvPr/>
        </p:nvSpPr>
        <p:spPr>
          <a:xfrm>
            <a:off x="9806940" y="3592322"/>
            <a:ext cx="7452360" cy="3017520"/>
          </a:xfrm>
          <a:prstGeom prst="roundRect">
            <a:avLst>
              <a:gd name="adj" fmla="val 10303"/>
            </a:avLst>
          </a:prstGeom>
          <a:solidFill>
            <a:srgbClr val="4472C4"/>
          </a:solidFill>
          <a:ln>
            <a:noFill/>
          </a:ln>
        </p:spPr>
        <p:txBody>
          <a:bodyPr anchor="ctr" rtlCol="false" lIns="0" tIns="0" rIns="0" bIns="0" wrap="square"/>
          <a:lstStyle/>
          <a:p>
            <a:endParaRPr lang="en-US" sz="1800"/>
          </a:p>
        </p:txBody>
      </p:sp>
      <p:sp>
        <p:nvSpPr>
          <p:cNvPr id="39" name="Rounded Rectangle 38"/>
          <p:cNvSpPr/>
          <p:nvPr/>
        </p:nvSpPr>
        <p:spPr>
          <a:xfrm>
            <a:off x="10264140" y="33545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40" name="TextBox 39"/>
          <p:cNvSpPr txBox="1"/>
          <p:nvPr/>
        </p:nvSpPr>
        <p:spPr>
          <a:xfrm>
            <a:off x="10264140" y="4232402"/>
            <a:ext cx="6583680" cy="210312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Gives the multi-level explanation a </a:t>
            </a:r>
            <a:r>
              <a:rPr lang="en-US" sz="1900" b="true">
                <a:solidFill>
                  <a:srgbClr val="FFFFFF"/>
                </a:solidFill>
                <a:latin typeface="Nunito Bold"/>
                <a:ea typeface="Nunito Bold"/>
                <a:cs typeface="Nunito Bold"/>
                <a:sym typeface="Nunito Bold"/>
              </a:rPr>
              <a:t>formal backbone</a:t>
            </a:r>
            <a:r>
              <a:rPr lang="en-US" sz="1900" b="true">
                <a:solidFill>
                  <a:srgbClr val="FFFFFF"/>
                </a:solidFill>
                <a:latin typeface="Nunito Semi-Bold"/>
                <a:ea typeface="Nunito Semi-Bold"/>
                <a:cs typeface="Nunito Semi-Bold"/>
                <a:sym typeface="Nunito Semi-Bold"/>
              </a:rPr>
              <a:t>.</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Parent importance is an </a:t>
            </a:r>
            <a:r>
              <a:rPr lang="en-US" sz="1900" b="true">
                <a:solidFill>
                  <a:srgbClr val="FFFFFF"/>
                </a:solidFill>
                <a:latin typeface="Nunito Bold"/>
                <a:ea typeface="Nunito Bold"/>
                <a:cs typeface="Nunito Bold"/>
                <a:sym typeface="Nunito Bold"/>
              </a:rPr>
              <a:t>accounting identity</a:t>
            </a:r>
            <a:r>
              <a:rPr lang="en-US" sz="1900" b="true">
                <a:solidFill>
                  <a:srgbClr val="FFFFFF"/>
                </a:solidFill>
                <a:latin typeface="Nunito Semi-Bold"/>
                <a:ea typeface="Nunito Semi-Bold"/>
                <a:cs typeface="Nunito Semi-Bold"/>
                <a:sym typeface="Nunito Semi-Bold"/>
              </a:rPr>
              <a:t> over the children, not a separate story.</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Turns cross-level differences into </a:t>
            </a:r>
            <a:r>
              <a:rPr lang="en-US" sz="1900" b="true">
                <a:solidFill>
                  <a:srgbClr val="FFFFFF"/>
                </a:solidFill>
                <a:latin typeface="Nunito Bold"/>
                <a:ea typeface="Nunito Bold"/>
                <a:cs typeface="Nunito Bold"/>
                <a:sym typeface="Nunito Bold"/>
              </a:rPr>
              <a:t>interpretable signal</a:t>
            </a:r>
            <a:r>
              <a:rPr lang="en-US" sz="1900" b="true">
                <a:solidFill>
                  <a:srgbClr val="FFFFFF"/>
                </a:solidFill>
                <a:latin typeface="Nunito Semi-Bold"/>
                <a:ea typeface="Nunito Semi-Bold"/>
                <a:cs typeface="Nunito Semi-Bold"/>
                <a:sym typeface="Nunito Semi-Bold"/>
              </a:rPr>
              <a:t>.</a:t>
            </a:r>
          </a:p>
        </p:txBody>
      </p:sp>
      <p:sp>
        <p:nvSpPr>
          <p:cNvPr id="41" name="Rounded Rectangle 40"/>
          <p:cNvSpPr/>
          <p:nvPr/>
        </p:nvSpPr>
        <p:spPr>
          <a:xfrm>
            <a:off x="980694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4472C4"/>
                </a:solidFill>
                <a:latin typeface="Nunito Ultra-Bold"/>
                <a:ea typeface="Nunito Ultra-Bold"/>
                <a:cs typeface="Nunito Ultra-Bold"/>
                <a:sym typeface="Nunito Ultra-Bold"/>
              </a:rPr>
              <a:t>383,585</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hourly records · </a:t>
            </a:r>
            <a:r>
              <a:rPr lang="en-US" sz="1700" b="true">
                <a:solidFill>
                  <a:srgbClr val="111111"/>
                </a:solidFill>
                <a:latin typeface="Nunito Bold"/>
                <a:ea typeface="Nunito Bold"/>
                <a:cs typeface="Nunito Bold"/>
                <a:sym typeface="Nunito Bold"/>
              </a:rPr>
              <a:t>11</a:t>
            </a:r>
            <a:r>
              <a:rPr lang="en-US" sz="1700" b="true">
                <a:solidFill>
                  <a:srgbClr val="111111"/>
                </a:solidFill>
                <a:latin typeface="Nunito Semi-Bold"/>
                <a:ea typeface="Nunito Semi-Bold"/>
                <a:cs typeface="Nunito Semi-Bold"/>
                <a:sym typeface="Nunito Semi-Bold"/>
              </a:rPr>
              <a:t> variables</a:t>
            </a:r>
          </a:p>
        </p:txBody>
      </p:sp>
      <p:sp>
        <p:nvSpPr>
          <p:cNvPr id="42" name="Rounded Rectangle 41"/>
          <p:cNvSpPr/>
          <p:nvPr/>
        </p:nvSpPr>
        <p:spPr>
          <a:xfrm>
            <a:off x="1367028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1F7A8C"/>
                </a:solidFill>
                <a:latin typeface="Nunito Ultra-Bold"/>
                <a:ea typeface="Nunito Ultra-Bold"/>
                <a:cs typeface="Nunito Ultra-Bold"/>
                <a:sym typeface="Nunito Ultra-Bold"/>
              </a:rPr>
              <a:t>3 </a:t>
            </a:r>
            <a:r>
              <a:rPr lang="en-US" sz="3400" b="true">
                <a:solidFill>
                  <a:srgbClr val="1F7A8C"/>
                </a:solidFill>
                <a:latin typeface="Calibri"/>
                <a:ea typeface="Calibri"/>
                <a:cs typeface="Calibri"/>
                <a:sym typeface="Calibri"/>
              </a:rPr>
              <a:t>→ </a:t>
            </a:r>
            <a:r>
              <a:rPr lang="en-US" sz="3400" b="true">
                <a:solidFill>
                  <a:srgbClr val="1F7A8C"/>
                </a:solidFill>
                <a:latin typeface="Nunito Ultra-Bold"/>
                <a:ea typeface="Nunito Ultra-Bold"/>
                <a:cs typeface="Nunito Ultra-Bold"/>
                <a:sym typeface="Nunito Ultra-Bold"/>
              </a:rPr>
              <a:t>9</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nested sub-clusters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[19] Cortez, P. et al. Wine Quality. UCI Machine Learning Repository (2009).  ·  Dua, D. &amp; Taniskidou, E. Beijing Multi-Site Air Quality Data. UCI Machine Learning Repository (2017).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3" name="Picture 22" descr="image.png"/>
          <p:cNvPicPr>
            <a:picLocks noChangeAspect="1"/>
          </p:cNvPicPr>
          <p:nvPr/>
        </p:nvPicPr>
        <p:blipFill>
          <a:blip r:embed="rId3"/>
          <a:stretch>
            <a:fillRect/>
          </a:stretch>
        </p:blipFill>
        <p:spPr>
          <a:xfrm>
            <a:off x="6376338"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28" name="Table 27"/>
          <p:cNvGraphicFramePr>
            <a:graphicFrameLocks noGrp="1"/>
          </p:cNvGraphicFramePr>
          <p:nvPr/>
        </p:nvGraphicFramePr>
        <p:xfrm>
          <a:off x="1028700" y="3363722"/>
          <a:ext cx="9966960" cy="4845304"/>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Beijing Multi-Site Air Quality, 383,585 hourly records × 11 variables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full dataset; k chosen by elbow, Silhouette and Davies–Bouldin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Each coarse cluster split again into sub-clusters (3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One LightGBM surrogate per level, five-fold cross-validation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per level, always in the original 11-variable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Aggregation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Size-weighted cross-level aggregation (Proposition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Sensitivity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Repeat with small changes in k, projection dimension and surrogate depth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9" name="Rounded Rectangle 28"/>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1" name="TextBox 30"/>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Separation is strong:</a:t>
            </a:r>
            <a:r>
              <a:rPr lang="en-US" sz="1900" b="true">
                <a:solidFill>
                  <a:srgbClr val="FFFFFF"/>
                </a:solidFill>
                <a:latin typeface="Nunito Semi-Bold"/>
                <a:ea typeface="Nunito Semi-Bold"/>
                <a:cs typeface="Nunito Semi-Bold"/>
                <a:sym typeface="Nunito Semi-Bold"/>
              </a:rPr>
              <a:t> Silhouette and Davies–Bouldin clearly better than the wine case.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Regimes have a physical reading:</a:t>
            </a:r>
            <a:r>
              <a:rPr lang="en-US" sz="1900" b="true">
                <a:solidFill>
                  <a:srgbClr val="FFFFFF"/>
                </a:solidFill>
                <a:latin typeface="Nunito Semi-Bold"/>
                <a:ea typeface="Nunito Semi-Bold"/>
                <a:cs typeface="Nunito Semi-Bold"/>
                <a:sym typeface="Nunito Semi-Bold"/>
              </a:rPr>
              <a:t> each cluster maps to a known atmospheric situation.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Cross-level differences are interpretable</a:t>
            </a:r>
            <a:r>
              <a:rPr lang="en-US" sz="1900" b="true">
                <a:solidFill>
                  <a:srgbClr val="FFFFFF"/>
                </a:solidFill>
                <a:latin typeface="Nunito Semi-Bold"/>
                <a:ea typeface="Nunito Semi-Bold"/>
                <a:cs typeface="Nunito Semi-Bold"/>
                <a:sym typeface="Nunito Semi-Bold"/>
              </a:rPr>
              <a:t>, not contradictions (Proposition 6.1).</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Leading drivers are stable</a:t>
            </a:r>
            <a:r>
              <a:rPr lang="en-US" sz="1900" b="true">
                <a:solidFill>
                  <a:srgbClr val="FFFFFF"/>
                </a:solidFill>
                <a:latin typeface="Nunito Semi-Bold"/>
                <a:ea typeface="Nunito Semi-Bold"/>
                <a:cs typeface="Nunito Semi-Bold"/>
                <a:sym typeface="Nunito Semi-Bold"/>
              </a:rPr>
              <a:t> under sensitivity changes.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Coarse-Level Clustering: Beijing Air Quality</a:t>
            </a:r>
          </a:p>
        </p:txBody>
      </p:sp>
      <p:pic>
        <p:nvPicPr>
          <p:cNvPr id="23" name="Picture 22" descr="image.png"/>
          <p:cNvPicPr>
            <a:picLocks noChangeAspect="1"/>
          </p:cNvPicPr>
          <p:nvPr/>
        </p:nvPicPr>
        <p:blipFill>
          <a:blip r:embed="rId3"/>
          <a:stretch>
            <a:fillRect/>
          </a:stretch>
        </p:blipFill>
        <p:spPr>
          <a:xfrm>
            <a:off x="12341493"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519684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all </a:t>
            </a:r>
            <a:r>
              <a:rPr lang="en-US" sz="1700" b="true">
                <a:solidFill>
                  <a:srgbClr val="FFFFFF"/>
                </a:solidFill>
                <a:latin typeface="Nunito Bold"/>
                <a:ea typeface="Nunito Bold"/>
                <a:cs typeface="Nunito Bold"/>
                <a:sym typeface="Nunito Bold"/>
              </a:rPr>
              <a:t>k-selection criteria</a:t>
            </a:r>
            <a:r>
              <a:rPr lang="en-US" sz="1700" b="true">
                <a:solidFill>
                  <a:srgbClr val="FFFFFF"/>
                </a:solidFill>
                <a:latin typeface="Nunito Semi-Bold"/>
                <a:ea typeface="Nunito Semi-Bold"/>
                <a:cs typeface="Nunito Semi-Bold"/>
                <a:sym typeface="Nunito Semi-Bold"/>
              </a:rPr>
              <a:t> agree</a:t>
            </a:r>
          </a:p>
        </p:txBody>
      </p:sp>
      <p:sp>
        <p:nvSpPr>
          <p:cNvPr id="29" name="Rounded Rectangle 28"/>
          <p:cNvSpPr/>
          <p:nvPr/>
        </p:nvSpPr>
        <p:spPr>
          <a:xfrm>
            <a:off x="6545580" y="3455162"/>
            <a:ext cx="519684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 0.63</a:t>
            </a:r>
          </a:p>
          <a:p>
            <a:pPr algn="ctr">
              <a:lnSpc>
                <a:spcPts val="2125"/>
              </a:lnSpc>
              <a:spcBef>
                <a:spcPts val="400"/>
              </a:spcBef>
              <a:buNone/>
            </a:pPr>
            <a:r>
              <a:rPr lang="en-US" sz="1700" b="true">
                <a:solidFill>
                  <a:srgbClr val="FFFFFF"/>
                </a:solidFill>
                <a:latin typeface="Nunito Bold"/>
                <a:ea typeface="Nunito Bold"/>
                <a:cs typeface="Nunito Bold"/>
                <a:sym typeface="Nunito Bold"/>
              </a:rPr>
              <a:t>Silhouette</a:t>
            </a:r>
            <a:r>
              <a:rPr lang="en-US" sz="1700" b="true">
                <a:solidFill>
                  <a:srgbClr val="FFFFFF"/>
                </a:solidFill>
                <a:latin typeface="Nunito Semi-Bold"/>
                <a:ea typeface="Nunito Semi-Bold"/>
                <a:cs typeface="Nunito Semi-Bold"/>
                <a:sym typeface="Nunito Semi-Bold"/>
              </a:rPr>
              <a:t> · much stronger separation than wine</a:t>
            </a:r>
          </a:p>
        </p:txBody>
      </p:sp>
      <p:sp>
        <p:nvSpPr>
          <p:cNvPr id="30" name="Rounded Rectangle 29"/>
          <p:cNvSpPr/>
          <p:nvPr/>
        </p:nvSpPr>
        <p:spPr>
          <a:xfrm>
            <a:off x="12062460" y="3455162"/>
            <a:ext cx="519684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 0.55</a:t>
            </a:r>
          </a:p>
          <a:p>
            <a:pPr algn="ctr">
              <a:lnSpc>
                <a:spcPts val="2125"/>
              </a:lnSpc>
              <a:spcBef>
                <a:spcPts val="400"/>
              </a:spcBef>
              <a:buNone/>
            </a:pPr>
            <a:r>
              <a:rPr lang="en-US" sz="1700" b="true">
                <a:solidFill>
                  <a:srgbClr val="FFFFFF"/>
                </a:solidFill>
                <a:latin typeface="Nunito Bold"/>
                <a:ea typeface="Nunito Bold"/>
                <a:cs typeface="Nunito Bold"/>
                <a:sym typeface="Nunito Bold"/>
              </a:rPr>
              <a:t>Davies–Bouldin</a:t>
            </a:r>
            <a:r>
              <a:rPr lang="en-US" sz="1700" b="true">
                <a:solidFill>
                  <a:srgbClr val="FFFFFF"/>
                </a:solidFill>
                <a:latin typeface="Nunito Semi-Bold"/>
                <a:ea typeface="Nunito Semi-Bold"/>
                <a:cs typeface="Nunito Semi-Bold"/>
                <a:sym typeface="Nunito Semi-Bold"/>
              </a:rPr>
              <a:t> · clusters rarely overlap</a:t>
            </a:r>
          </a:p>
        </p:txBody>
      </p:sp>
      <p:sp>
        <p:nvSpPr>
          <p:cNvPr id="31" name="TextBox 30"/>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6.1 (thesis): validation metrics for the large-scale clustering study (k = 3, Silhouette 0.63, Davies–Bouldin 0.55).</a:t>
            </a:r>
          </a:p>
        </p:txBody>
      </p:sp>
      <p:sp>
        <p:nvSpPr>
          <p:cNvPr id="32" name="Rounded Rectangle 31"/>
          <p:cNvSpPr/>
          <p:nvPr/>
        </p:nvSpPr>
        <p:spPr>
          <a:xfrm>
            <a:off x="1028700" y="624408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1485900" y="6006338"/>
            <a:ext cx="144573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Setup</a:t>
            </a:r>
          </a:p>
        </p:txBody>
      </p:sp>
      <p:sp>
        <p:nvSpPr>
          <p:cNvPr id="34" name="TextBox 33"/>
          <p:cNvSpPr txBox="1"/>
          <p:nvPr/>
        </p:nvSpPr>
        <p:spPr>
          <a:xfrm>
            <a:off x="153162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Full dataset: </a:t>
            </a:r>
            <a:r>
              <a:rPr lang="en-US" sz="1760" b="true">
                <a:solidFill>
                  <a:srgbClr val="111111"/>
                </a:solidFill>
                <a:latin typeface="Nunito Bold"/>
                <a:ea typeface="Nunito Bold"/>
                <a:cs typeface="Nunito Bold"/>
                <a:sym typeface="Nunito Bold"/>
              </a:rPr>
              <a:t>383,585 hourly records</a:t>
            </a:r>
            <a:r>
              <a:rPr lang="en-US" sz="1760" b="true">
                <a:solidFill>
                  <a:srgbClr val="111111"/>
                </a:solidFill>
                <a:latin typeface="Nunito Semi-Bold"/>
                <a:ea typeface="Nunito Semi-Bold"/>
                <a:cs typeface="Nunito Semi-Bold"/>
                <a:sym typeface="Nunito Semi-Bold"/>
              </a:rPr>
              <a:t>, 11 pollutant + weather variables.</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PCA projection (2 components) used </a:t>
            </a:r>
            <a:r>
              <a:rPr lang="en-US" sz="1760" b="true">
                <a:solidFill>
                  <a:srgbClr val="111111"/>
                </a:solidFill>
                <a:latin typeface="Nunito Bold"/>
                <a:ea typeface="Nunito Bold"/>
                <a:cs typeface="Nunito Bold"/>
                <a:sym typeface="Nunito Bold"/>
              </a:rPr>
              <a:t>only for visual inspection</a:t>
            </a:r>
            <a:r>
              <a:rPr lang="en-US" sz="1760" b="true">
                <a:solidFill>
                  <a:srgbClr val="111111"/>
                </a:solidFill>
                <a:latin typeface="Nunito Semi-Bold"/>
                <a:ea typeface="Nunito Semi-Bold"/>
                <a:cs typeface="Nunito Semi-Bold"/>
                <a:sym typeface="Nunito Semi-Bold"/>
              </a:rPr>
              <a:t>.</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Level-specific LightGBM surrogates; TreeSHAP in the original variable space.</a:t>
            </a:r>
          </a:p>
        </p:txBody>
      </p:sp>
      <p:sp>
        <p:nvSpPr>
          <p:cNvPr id="35" name="Rounded Rectangle 34"/>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9784080" y="6006338"/>
            <a:ext cx="204893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Sensitivity</a:t>
            </a:r>
          </a:p>
        </p:txBody>
      </p:sp>
      <p:sp>
        <p:nvSpPr>
          <p:cNvPr id="37" name="TextBox 36"/>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Robust to small changes in </a:t>
            </a:r>
            <a:r>
              <a:rPr lang="en-US" sz="1760" b="true">
                <a:solidFill>
                  <a:srgbClr val="FFFFFF"/>
                </a:solidFill>
                <a:latin typeface="Nunito Bold"/>
                <a:ea typeface="Nunito Bold"/>
                <a:cs typeface="Nunito Bold"/>
                <a:sym typeface="Nunito Bold"/>
              </a:rPr>
              <a:t>k</a:t>
            </a:r>
            <a:r>
              <a:rPr lang="en-US" sz="1760" b="true">
                <a:solidFill>
                  <a:srgbClr val="FFFFFF"/>
                </a:solidFill>
                <a:latin typeface="Nunito Semi-Bold"/>
                <a:ea typeface="Nunito Semi-Bold"/>
                <a:cs typeface="Nunito Semi-Bold"/>
                <a:sym typeface="Nunito Semi-Bold"/>
              </a:rPr>
              <a:t>, projection dimension and surrogate depth.</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Only </a:t>
            </a:r>
            <a:r>
              <a:rPr lang="en-US" sz="1760" b="true">
                <a:solidFill>
                  <a:srgbClr val="FFFFFF"/>
                </a:solidFill>
                <a:latin typeface="Nunito Bold"/>
                <a:ea typeface="Nunito Bold"/>
                <a:cs typeface="Nunito Bold"/>
                <a:sym typeface="Nunito Bold"/>
              </a:rPr>
              <a:t>low-ranked variables shift</a:t>
            </a:r>
            <a:r>
              <a:rPr lang="en-US" sz="1760" b="true">
                <a:solidFill>
                  <a:srgbClr val="FFFFFF"/>
                </a:solidFill>
                <a:latin typeface="Nunito Semi-Bold"/>
                <a:ea typeface="Nunito Semi-Bold"/>
                <a:cs typeface="Nunito Semi-Bold"/>
                <a:sym typeface="Nunito Semi-Bold"/>
              </a:rPr>
              <a:t>; the leading drivers are stable.</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Comparison point: SHAP-based clustering literature (Gramegna &amp; Giudici, credit risk) reports Silhouette </a:t>
            </a:r>
            <a:r>
              <a:rPr lang="en-US" sz="1760" b="true">
                <a:solidFill>
                  <a:srgbClr val="FFFFFF"/>
                </a:solidFill>
                <a:latin typeface="Nunito Bold"/>
                <a:ea typeface="Nunito Bold"/>
                <a:cs typeface="Nunito Bold"/>
                <a:sym typeface="Nunito Bold"/>
              </a:rPr>
              <a:t>0.37</a:t>
            </a:r>
            <a:r>
              <a:rPr lang="en-US" sz="176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Weather Variables Are Central</a:t>
            </a:r>
          </a:p>
        </p:txBody>
      </p:sp>
      <p:pic>
        <p:nvPicPr>
          <p:cNvPr id="23" name="Picture 22" descr="image.png"/>
          <p:cNvPicPr>
            <a:picLocks noChangeAspect="1"/>
          </p:cNvPicPr>
          <p:nvPr/>
        </p:nvPicPr>
        <p:blipFill>
          <a:blip r:embed="rId3"/>
          <a:stretch>
            <a:fillRect/>
          </a:stretch>
        </p:blipFill>
        <p:spPr>
          <a:xfrm>
            <a:off x="15043687"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676656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Temperature, dew point and pressure</a:t>
            </a:r>
            <a:r>
              <a:rPr lang="en-US" sz="1900" b="true">
                <a:solidFill>
                  <a:srgbClr val="111111"/>
                </a:solidFill>
                <a:latin typeface="Nunito Semi-Bold"/>
                <a:ea typeface="Nunito Semi-Bold"/>
                <a:cs typeface="Nunito Semi-Bold"/>
                <a:sym typeface="Nunito Semi-Bold"/>
              </a:rPr>
              <a:t> lead the ranking; CO, NO₂, PM10 and PM2.5 follow.</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It is </a:t>
            </a:r>
            <a:r>
              <a:rPr lang="en-US" sz="1900" b="true">
                <a:solidFill>
                  <a:srgbClr val="111111"/>
                </a:solidFill>
                <a:latin typeface="Nunito Bold"/>
                <a:ea typeface="Nunito Bold"/>
                <a:cs typeface="Nunito Bold"/>
                <a:sym typeface="Nunito Bold"/>
              </a:rPr>
              <a:t>NOT only pollutant concentrations</a:t>
            </a:r>
            <a:r>
              <a:rPr lang="en-US" sz="1900" b="true">
                <a:solidFill>
                  <a:srgbClr val="111111"/>
                </a:solidFill>
                <a:latin typeface="Nunito Semi-Bold"/>
                <a:ea typeface="Nunito Semi-Bold"/>
                <a:cs typeface="Nunito Semi-Bold"/>
                <a:sym typeface="Nunito Semi-Bold"/>
              </a:rPr>
              <a:t> that matter: weather variables play a </a:t>
            </a:r>
            <a:r>
              <a:rPr lang="en-US" sz="1900" b="true">
                <a:solidFill>
                  <a:srgbClr val="111111"/>
                </a:solidFill>
                <a:latin typeface="Nunito Bold"/>
                <a:ea typeface="Nunito Bold"/>
                <a:cs typeface="Nunito Bold"/>
                <a:sym typeface="Nunito Bold"/>
              </a:rPr>
              <a:t>central role in the structure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Temperature, dew point and pressure control </a:t>
            </a:r>
            <a:r>
              <a:rPr lang="en-US" sz="1900" b="true">
                <a:solidFill>
                  <a:srgbClr val="111111"/>
                </a:solidFill>
                <a:latin typeface="Nunito Bold"/>
                <a:ea typeface="Nunito Bold"/>
                <a:cs typeface="Nunito Bold"/>
                <a:sym typeface="Nunito Bold"/>
              </a:rPr>
              <a:t>dispersion, trapping and sunlight-driven chemistry</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the kind of insight that flat summaries often fail to make explicit.</a:t>
            </a:r>
          </a:p>
        </p:txBody>
      </p:sp>
      <p:sp>
        <p:nvSpPr>
          <p:cNvPr id="29" name="Rounded Rectangle 28"/>
          <p:cNvSpPr/>
          <p:nvPr/>
        </p:nvSpPr>
        <p:spPr>
          <a:xfrm>
            <a:off x="8252460" y="3363722"/>
            <a:ext cx="9006840" cy="5853430"/>
          </a:xfrm>
          <a:prstGeom prst="roundRect">
            <a:avLst>
              <a:gd name="adj" fmla="val 3905"/>
            </a:avLst>
          </a:prstGeom>
          <a:solidFill>
            <a:srgbClr val="FFFFFF"/>
          </a:solidFill>
          <a:ln w="15875">
            <a:solidFill>
              <a:srgbClr val="E3D6C4"/>
            </a:solidFill>
          </a:ln>
        </p:spPr>
        <p:txBody>
          <a:bodyPr anchor="ctr" rtlCol="false" lIns="0" tIns="0" rIns="0" bIns="0" wrap="square"/>
          <a:lstStyle/>
          <a:p>
            <a:endParaRPr lang="en-US" sz="1800"/>
          </a:p>
        </p:txBody>
      </p:sp>
      <p:pic>
        <p:nvPicPr>
          <p:cNvPr id="30" name="Picture 29" descr="fig6_1_beijing_global.png"/>
          <p:cNvPicPr>
            <a:picLocks noChangeAspect="1"/>
          </p:cNvPicPr>
          <p:nvPr/>
        </p:nvPicPr>
        <p:blipFill>
          <a:blip r:embed="rId5"/>
          <a:stretch>
            <a:fillRect/>
          </a:stretch>
        </p:blipFill>
        <p:spPr>
          <a:xfrm>
            <a:off x="8997082" y="3546602"/>
            <a:ext cx="7517595" cy="5076190"/>
          </a:xfrm>
          <a:prstGeom prst="rect">
            <a:avLst/>
          </a:prstGeom>
        </p:spPr>
      </p:pic>
      <p:sp>
        <p:nvSpPr>
          <p:cNvPr id="31" name="TextBox 30"/>
          <p:cNvSpPr txBox="1"/>
          <p:nvPr/>
        </p:nvSpPr>
        <p:spPr>
          <a:xfrm>
            <a:off x="8252460" y="8759952"/>
            <a:ext cx="900684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6.1 (thesis): global SHAP importance at the coarse level, Beijing Air Quality</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How Importance Changes Across Levels</a:t>
            </a:r>
          </a:p>
        </p:txBody>
      </p:sp>
      <p:pic>
        <p:nvPicPr>
          <p:cNvPr id="23" name="Picture 22" descr="image.png"/>
          <p:cNvPicPr>
            <a:picLocks noChangeAspect="1"/>
          </p:cNvPicPr>
          <p:nvPr/>
        </p:nvPicPr>
        <p:blipFill>
          <a:blip r:embed="rId3"/>
          <a:stretch>
            <a:fillRect/>
          </a:stretch>
        </p:blipFill>
        <p:spPr>
          <a:xfrm>
            <a:off x="11659347"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363722"/>
            <a:ext cx="16230600" cy="2331720"/>
          </a:xfrm>
          <a:prstGeom prst="roundRect">
            <a:avLst>
              <a:gd name="adj" fmla="val 9803"/>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fig6_3_beijing_multilevel.png"/>
          <p:cNvPicPr>
            <a:picLocks noChangeAspect="1"/>
          </p:cNvPicPr>
          <p:nvPr/>
        </p:nvPicPr>
        <p:blipFill>
          <a:blip r:embed="rId5"/>
          <a:stretch>
            <a:fillRect/>
          </a:stretch>
        </p:blipFill>
        <p:spPr>
          <a:xfrm>
            <a:off x="5604473" y="3500882"/>
            <a:ext cx="7079053" cy="1645920"/>
          </a:xfrm>
          <a:prstGeom prst="rect">
            <a:avLst/>
          </a:prstGeom>
        </p:spPr>
      </p:pic>
      <p:sp>
        <p:nvSpPr>
          <p:cNvPr id="30" name="TextBox 29"/>
          <p:cNvSpPr txBox="1"/>
          <p:nvPr/>
        </p:nvSpPr>
        <p:spPr>
          <a:xfrm>
            <a:off x="1028700" y="523824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6.3 (thesis): SHAP importance per sub-cluster, level 2 of the hierarchy</a:t>
            </a:r>
          </a:p>
        </p:txBody>
      </p:sp>
      <p:sp>
        <p:nvSpPr>
          <p:cNvPr id="31" name="Rounded Rectangle 30"/>
          <p:cNvSpPr/>
          <p:nvPr/>
        </p:nvSpPr>
        <p:spPr>
          <a:xfrm>
            <a:off x="1028700" y="6198362"/>
            <a:ext cx="7932420" cy="2148840"/>
          </a:xfrm>
          <a:prstGeom prst="roundRect">
            <a:avLst>
              <a:gd name="adj" fmla="val 14468"/>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485900" y="5960618"/>
            <a:ext cx="473940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Coarse level · regime selection</a:t>
            </a:r>
          </a:p>
        </p:txBody>
      </p:sp>
      <p:sp>
        <p:nvSpPr>
          <p:cNvPr id="33" name="TextBox 32"/>
          <p:cNvSpPr txBox="1"/>
          <p:nvPr/>
        </p:nvSpPr>
        <p:spPr>
          <a:xfrm>
            <a:off x="148590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Bold"/>
                <a:ea typeface="Nunito Bold"/>
                <a:cs typeface="Nunito Bold"/>
                <a:sym typeface="Nunito Bold"/>
              </a:rPr>
              <a:t>Temperature and dew point dominate</a:t>
            </a:r>
            <a:r>
              <a:rPr lang="en-US" sz="1800" b="true">
                <a:solidFill>
                  <a:srgbClr val="FFFFFF"/>
                </a:solidFill>
                <a:latin typeface="Nunito Semi-Bold"/>
                <a:ea typeface="Nunito Semi-Bold"/>
                <a:cs typeface="Nunito Semi-Bold"/>
                <a:sym typeface="Nunito Semi-Bold"/>
              </a:rPr>
              <a:t>: they separate the broad atmospheric regimes.</a:t>
            </a:r>
          </a:p>
          <a:p>
            <a:pPr algn="l" marL="274320" indent="-274320">
              <a:lnSpc>
                <a:spcPts val="2520"/>
              </a:lnSpc>
              <a:spcBef>
                <a:spcPts val="6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Parent-level story = which regime the observation belongs to.</a:t>
            </a:r>
          </a:p>
        </p:txBody>
      </p:sp>
      <p:sp>
        <p:nvSpPr>
          <p:cNvPr id="34" name="Rounded Rectangle 33"/>
          <p:cNvSpPr/>
          <p:nvPr/>
        </p:nvSpPr>
        <p:spPr>
          <a:xfrm>
            <a:off x="9326880" y="6198362"/>
            <a:ext cx="7932420" cy="2148840"/>
          </a:xfrm>
          <a:prstGeom prst="roundRect">
            <a:avLst>
              <a:gd name="adj" fmla="val 14468"/>
            </a:avLst>
          </a:prstGeom>
          <a:solidFill>
            <a:srgbClr val="E7EAF3"/>
          </a:solidFill>
          <a:ln>
            <a:noFill/>
          </a:ln>
        </p:spPr>
        <p:txBody>
          <a:bodyPr anchor="ctr" rtlCol="false" lIns="0" tIns="0" rIns="0" bIns="0" wrap="square"/>
          <a:lstStyle/>
          <a:p>
            <a:endParaRPr lang="en-US" sz="1800"/>
          </a:p>
        </p:txBody>
      </p:sp>
      <p:sp>
        <p:nvSpPr>
          <p:cNvPr id="35" name="Rounded Rectangle 34"/>
          <p:cNvSpPr/>
          <p:nvPr/>
        </p:nvSpPr>
        <p:spPr>
          <a:xfrm>
            <a:off x="9784080" y="5960618"/>
            <a:ext cx="620306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Within clusters · variation inside a regime</a:t>
            </a:r>
          </a:p>
        </p:txBody>
      </p:sp>
      <p:sp>
        <p:nvSpPr>
          <p:cNvPr id="36" name="TextBox 35"/>
          <p:cNvSpPr txBox="1"/>
          <p:nvPr/>
        </p:nvSpPr>
        <p:spPr>
          <a:xfrm>
            <a:off x="978408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1F7A8C"/>
              </a:buClr>
              <a:buSzPct val="100000"/>
              <a:buFont typeface="Arial"/>
              <a:buChar char="•"/>
            </a:pPr>
            <a:r>
              <a:rPr lang="en-US" sz="1800" b="true">
                <a:solidFill>
                  <a:srgbClr val="111111"/>
                </a:solidFill>
                <a:latin typeface="Nunito Bold"/>
                <a:ea typeface="Nunito Bold"/>
                <a:cs typeface="Nunito Bold"/>
                <a:sym typeface="Nunito Bold"/>
              </a:rPr>
              <a:t>CO, SO₂, PM10, wind speed, pressure or ozone</a:t>
            </a:r>
            <a:r>
              <a:rPr lang="en-US" sz="1800" b="true">
                <a:solidFill>
                  <a:srgbClr val="111111"/>
                </a:solidFill>
                <a:latin typeface="Nunito Semi-Bold"/>
                <a:ea typeface="Nunito Semi-Bold"/>
                <a:cs typeface="Nunito Semi-Bold"/>
                <a:sym typeface="Nunito Semi-Bold"/>
              </a:rPr>
              <a:t> become more informative.</a:t>
            </a:r>
          </a:p>
          <a:p>
            <a:pPr algn="l" marL="274320" indent="-274320">
              <a:lnSpc>
                <a:spcPts val="2520"/>
              </a:lnSpc>
              <a:spcBef>
                <a:spcPts val="600"/>
              </a:spcBef>
              <a:buClr>
                <a:srgbClr val="1F7A8C"/>
              </a:buClr>
              <a:buSzPct val="100000"/>
              <a:buFont typeface="Arial"/>
              <a:buChar char="•"/>
            </a:pPr>
            <a:r>
              <a:rPr lang="en-US" sz="1800" b="true">
                <a:solidFill>
                  <a:srgbClr val="111111"/>
                </a:solidFill>
                <a:latin typeface="Nunito Semi-Bold"/>
                <a:ea typeface="Nunito Semi-Bold"/>
                <a:cs typeface="Nunito Semi-Bold"/>
                <a:sym typeface="Nunito Semi-Bold"/>
              </a:rPr>
              <a:t>Cluster-level story = what varies once the regime is fixed.</a:t>
            </a:r>
          </a:p>
        </p:txBody>
      </p:sp>
      <p:sp>
        <p:nvSpPr>
          <p:cNvPr id="37" name="Rounded Rectangle 36"/>
          <p:cNvSpPr/>
          <p:nvPr/>
        </p:nvSpPr>
        <p:spPr>
          <a:xfrm>
            <a:off x="1028700" y="8621522"/>
            <a:ext cx="16230600" cy="595630"/>
          </a:xfrm>
          <a:prstGeom prst="roundRect">
            <a:avLst>
              <a:gd name="adj" fmla="val 46055"/>
            </a:avLst>
          </a:prstGeom>
          <a:noFill/>
          <a:ln w="31750">
            <a:solidFill>
              <a:srgbClr val="1F7A8C"/>
            </a:solidFill>
          </a:ln>
        </p:spPr>
        <p:txBody>
          <a:bodyPr anchor="ctr" rtlCol="false" lIns="0" tIns="0" rIns="0" bIns="0" wrap="square"/>
          <a:lstStyle/>
          <a:p>
            <a:endParaRPr lang="en-US" sz="1800"/>
          </a:p>
        </p:txBody>
      </p:sp>
      <p:sp>
        <p:nvSpPr>
          <p:cNvPr id="38" name="TextBox 37"/>
          <p:cNvSpPr txBox="1"/>
          <p:nvPr/>
        </p:nvSpPr>
        <p:spPr>
          <a:xfrm>
            <a:off x="1485900" y="8731250"/>
            <a:ext cx="15316200" cy="376174"/>
          </a:xfrm>
          <a:prstGeom prst="rect">
            <a:avLst/>
          </a:prstGeom>
          <a:noFill/>
        </p:spPr>
        <p:txBody>
          <a:bodyPr anchor="ctr" rtlCol="false" lIns="0" tIns="0" rIns="0" bIns="0" wrap="square"/>
          <a:lstStyle/>
          <a:p>
            <a:pPr algn="l">
              <a:lnSpc>
                <a:spcPts val="1764"/>
              </a:lnSpc>
              <a:spcBef>
                <a:spcPts val="0"/>
              </a:spcBef>
              <a:buNone/>
            </a:pPr>
            <a:r>
              <a:rPr lang="en-US" sz="1260" b="true">
                <a:solidFill>
                  <a:srgbClr val="111111"/>
                </a:solidFill>
                <a:latin typeface="Nunito Bold"/>
                <a:ea typeface="Nunito Bold"/>
                <a:cs typeface="Nunito Bold"/>
                <a:sym typeface="Nunito Bold"/>
              </a:rPr>
              <a:t>This change is NOT a contradiction. It is exactly what a multi-level explanation should reveal.</a:t>
            </a:r>
            <a:r>
              <a:rPr lang="en-US" sz="1260" b="true">
                <a:solidFill>
                  <a:srgbClr val="111111"/>
                </a:solidFill>
                <a:latin typeface="Nunito Semi-Bold"/>
                <a:ea typeface="Nunito Semi-Bold"/>
                <a:cs typeface="Nunito Semi-Bold"/>
                <a:sym typeface="Nunito Semi-Bold"/>
              </a:rPr>
              <a:t> A variable can be </a:t>
            </a:r>
            <a:r>
              <a:rPr lang="en-US" sz="1260" b="true">
                <a:solidFill>
                  <a:srgbClr val="111111"/>
                </a:solidFill>
                <a:latin typeface="Nunito Bold"/>
                <a:ea typeface="Nunito Bold"/>
                <a:cs typeface="Nunito Bold"/>
                <a:sym typeface="Nunito Bold"/>
              </a:rPr>
              <a:t>globally important yet locally uninformative</a:t>
            </a:r>
            <a:r>
              <a:rPr lang="en-US" sz="1260" b="true">
                <a:solidFill>
                  <a:srgbClr val="111111"/>
                </a:solidFill>
                <a:latin typeface="Nunito Semi-Bold"/>
                <a:ea typeface="Nunito Semi-Bold"/>
                <a:cs typeface="Nunito Semi-Bold"/>
                <a:sym typeface="Nunito Semi-Bold"/>
              </a:rPr>
              <a:t> inside a sub-cluster; Proposition 6.1 guarantees the two readings agree, up to the surrogate residual.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RQ2</a:t>
            </a:r>
          </a:p>
        </p:txBody>
      </p:sp>
      <p:pic>
        <p:nvPicPr>
          <p:cNvPr id="23" name="Picture 22" descr="image.png"/>
          <p:cNvPicPr>
            <a:picLocks noChangeAspect="1"/>
          </p:cNvPicPr>
          <p:nvPr/>
        </p:nvPicPr>
        <p:blipFill>
          <a:blip r:embed="rId3"/>
          <a:stretch>
            <a:fillRect/>
          </a:stretch>
        </p:blipFill>
        <p:spPr>
          <a:xfrm>
            <a:off x="5204935"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RQ2</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 within bounds.</a:t>
            </a:r>
            <a:r>
              <a:rPr lang="en-US" sz="2200" b="true">
                <a:solidFill>
                  <a:srgbClr val="111111"/>
                </a:solidFill>
                <a:latin typeface="Nunito Semi-Bold"/>
                <a:ea typeface="Nunito Semi-Bold"/>
                <a:cs typeface="Nunito Semi-Bold"/>
                <a:sym typeface="Nunito Semi-Bold"/>
              </a:rPr>
              <a:t> Consistency is kept at scale and across levels: a nested workflow with level-specific surrogates, backed by Proposition 6.1, explains 383,585 records in the original variable space.</a:t>
            </a:r>
          </a:p>
        </p:txBody>
      </p:sp>
      <p:graphicFrame>
        <p:nvGraphicFramePr>
          <p:cNvPr id="31" name="Table 30"/>
          <p:cNvGraphicFramePr>
            <a:graphicFrameLocks noGrp="1"/>
          </p:cNvGraphicFramePr>
          <p:nvPr/>
        </p:nvGraphicFramePr>
        <p:xfrm>
          <a:off x="1028700" y="5421122"/>
          <a:ext cx="16230599" cy="3173984"/>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Coarse regimes, then sub-clusters, each with its own surrogate; no single flat summary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Formal cross-level consistency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 parent importance = size-weighted expectation over children, up to </a:t>
                      </a:r>
                      <a:r>
                        <a:rPr lang="en-US" sz="1800" b="true">
                          <a:solidFill>
                            <a:srgbClr val="111111"/>
                          </a:solidFill>
                          <a:latin typeface="Calibri"/>
                          <a:ea typeface="Calibri"/>
                          <a:cs typeface="Calibri"/>
                          <a:sym typeface="Calibri"/>
                        </a:rPr>
                        <a:t>ε</a:t>
                      </a:r>
                      <a:r>
                        <a:rPr lang="en-US" sz="1800" b="true" baseline="-25000">
                          <a:solidFill>
                            <a:srgbClr val="111111"/>
                          </a:solidFill>
                          <a:latin typeface="Nunito Semi-Bold"/>
                          <a:ea typeface="Nunito Semi-Bold"/>
                          <a:cs typeface="Nunito Semi-Bold"/>
                          <a:sym typeface="Nunito Semi-Bold"/>
                        </a:rPr>
                        <a:t>j</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on very different large-scale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Air Quality: Silhouette ≈ 0.63, three physically meaningful regimes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3" name="Picture 22" descr="image.png"/>
          <p:cNvPicPr>
            <a:picLocks noChangeAspect="1"/>
          </p:cNvPicPr>
          <p:nvPr/>
        </p:nvPicPr>
        <p:blipFill>
          <a:blip r:embed="rId3"/>
          <a:stretch>
            <a:fillRect/>
          </a:stretch>
        </p:blipFill>
        <p:spPr>
          <a:xfrm>
            <a:off x="4641445"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29" name="Oval 28"/>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0" name="TextBox 29"/>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Weather, not only pollution, defines the structure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Temperature, dew point and pressure lead the coarse-level ranking; they set the regime that pollutants then vary within.</a:t>
            </a:r>
          </a:p>
        </p:txBody>
      </p:sp>
      <p:sp>
        <p:nvSpPr>
          <p:cNvPr id="31" name="Rounded Rectangle 30"/>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2" name="Oval 31"/>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3" name="TextBox 32"/>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Importance legitimately changes with the level</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A variable can be globally important yet locally uninformative; Proposition 6.1 makes that difference interpretable rather than contradictory.</a:t>
            </a:r>
          </a:p>
        </p:txBody>
      </p:sp>
      <p:sp>
        <p:nvSpPr>
          <p:cNvPr id="34" name="Rounded Rectangle 33"/>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5" name="Oval 34"/>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6" name="TextBox 35"/>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explanation scales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Level-specific surrogates and exact TreeSHAP keep the cost linear in the data, not exponential in the features.</a:t>
            </a:r>
          </a:p>
        </p:txBody>
      </p:sp>
      <p:sp>
        <p:nvSpPr>
          <p:cNvPr id="37" name="Rounded Rectangle 36"/>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8" name="Oval 37"/>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9" name="TextBox 38"/>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logic transfers across domains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Same pipeline, same reading, from 4,898 wines to 383,585 hourly air-quality records, with a Silhouette ≈ 0.63 against 0.37 in the reference SHAP-clustering study.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STATIC CLUSTERING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partition is </a:t>
            </a:r>
            <a:r>
              <a:rPr lang="en-US" sz="1900" b="true">
                <a:solidFill>
                  <a:srgbClr val="FFFFFF"/>
                </a:solidFill>
                <a:latin typeface="Nunito Bold"/>
                <a:ea typeface="Nunito Bold"/>
                <a:cs typeface="Nunito Bold"/>
                <a:sym typeface="Nunito Bold"/>
              </a:rPr>
              <a:t>static</a:t>
            </a:r>
            <a:r>
              <a:rPr lang="en-US" sz="1900" b="true">
                <a:solidFill>
                  <a:srgbClr val="FFFFFF"/>
                </a:solidFill>
                <a:latin typeface="Nunito Semi-Bold"/>
                <a:ea typeface="Nunito Semi-Bold"/>
                <a:cs typeface="Nunito Semi-Bold"/>
                <a:sym typeface="Nunito Semi-Bold"/>
              </a:rPr>
              <a:t>, even though the Beijing data are temporal; drift between years is not modelled.</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Surrogate-based SHAP plus representative-instance reporting </a:t>
            </a:r>
            <a:r>
              <a:rPr lang="en-US" sz="1900" b="true">
                <a:solidFill>
                  <a:srgbClr val="FFFFFF"/>
                </a:solidFill>
                <a:latin typeface="Nunito Bold"/>
                <a:ea typeface="Nunito Bold"/>
                <a:cs typeface="Nunito Bold"/>
                <a:sym typeface="Nunito Bold"/>
              </a:rPr>
              <a:t>smooth out variation between single observations</a:t>
            </a:r>
            <a:r>
              <a:rPr lang="en-US" sz="1900" b="true">
                <a:solidFill>
                  <a:srgbClr val="FFFFFF"/>
                </a:solidFill>
                <a:latin typeface="Nunito Semi-Bold"/>
                <a:ea typeface="Nunito Semi-Bold"/>
                <a:cs typeface="Nunito Semi-Bold"/>
                <a:sym typeface="Nunito Semi-Bold"/>
              </a:rPr>
              <a:t>.</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graph, text or image input.</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POST-HOC</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an explanation of a </a:t>
            </a:r>
            <a:r>
              <a:rPr lang="en-US" sz="1900" b="true">
                <a:solidFill>
                  <a:srgbClr val="FFFFFF"/>
                </a:solidFill>
                <a:latin typeface="Nunito Bold"/>
                <a:ea typeface="Nunito Bold"/>
                <a:cs typeface="Nunito Bold"/>
                <a:sym typeface="Nunito Bold"/>
              </a:rPr>
              <a:t>pre-computed partition</a:t>
            </a:r>
            <a:r>
              <a:rPr lang="en-US" sz="1900" b="true">
                <a:solidFill>
                  <a:srgbClr val="FFFFFF"/>
                </a:solidFill>
                <a:latin typeface="Nunito Semi-Bold"/>
                <a:ea typeface="Nunito Semi-Bold"/>
                <a:cs typeface="Nunito Semi-Bold"/>
                <a:sym typeface="Nunito Semi-Bold"/>
              </a:rPr>
              <a:t>: attribution does not influence learning.</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post-hoc</a:t>
            </a:r>
            <a:r>
              <a:rPr lang="en-US" sz="2000" b="true">
                <a:solidFill>
                  <a:srgbClr val="111111"/>
                </a:solidFill>
                <a:latin typeface="Nunito Semi-Bold"/>
                <a:ea typeface="Nunito Semi-Bold"/>
                <a:cs typeface="Nunito Semi-Bold"/>
                <a:sym typeface="Nunito Semi-Bold"/>
              </a:rPr>
              <a:t> limitation is the one that opens the door to Contribution III: what if attribution could shape the learning itself?</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a:t>
            </a:r>
          </a:p>
        </p:txBody>
      </p:sp>
      <p:pic>
        <p:nvPicPr>
          <p:cNvPr id="23" name="Picture 22" descr="image.png"/>
          <p:cNvPicPr>
            <a:picLocks noChangeAspect="1"/>
          </p:cNvPicPr>
          <p:nvPr/>
        </p:nvPicPr>
        <p:blipFill>
          <a:blip r:embed="rId3"/>
          <a:stretch>
            <a:fillRect/>
          </a:stretch>
        </p:blipFill>
        <p:spPr>
          <a:xfrm>
            <a:off x="8008663"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Consistent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Parent and child explanations agree by construction (Proposition 6.1).</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Against scale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383,585 records explained with level-specific surrogates, at a linear cost.</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Still post-hoc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attribution explains a partition that was already computed.</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41963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stays </a:t>
            </a:r>
            <a:r>
              <a:rPr lang="en-US" sz="2300" b="true">
                <a:solidFill>
                  <a:srgbClr val="111111"/>
                </a:solidFill>
                <a:latin typeface="Nunito Bold"/>
                <a:ea typeface="Nunito Bold"/>
                <a:cs typeface="Nunito Bold"/>
                <a:sym typeface="Nunito Bold"/>
              </a:rPr>
              <a:t>consistent across levels of detail</a:t>
            </a:r>
            <a:r>
              <a:rPr lang="en-US" sz="2300" b="true">
                <a:solidFill>
                  <a:srgbClr val="111111"/>
                </a:solidFill>
                <a:latin typeface="Nunito Semi-Bold"/>
                <a:ea typeface="Nunito Semi-Bold"/>
                <a:cs typeface="Nunito Semi-Bold"/>
                <a:sym typeface="Nunito Semi-Bold"/>
              </a:rPr>
              <a:t> when the hierarchy is explicit, so explanations become interpretable </a:t>
            </a:r>
            <a:r>
              <a:rPr lang="en-US" sz="2300" b="true">
                <a:solidFill>
                  <a:srgbClr val="111111"/>
                </a:solidFill>
                <a:latin typeface="Nunito Bold"/>
                <a:ea typeface="Nunito Bold"/>
                <a:cs typeface="Nunito Bold"/>
                <a:sym typeface="Nunito Bold"/>
              </a:rPr>
              <a:t>against scale</a:t>
            </a:r>
            <a:r>
              <a:rPr lang="en-US" sz="2300" b="true">
                <a:solidFill>
                  <a:srgbClr val="111111"/>
                </a:solidFill>
                <a:latin typeface="Nunito Semi-Bold"/>
                <a:ea typeface="Nunito Semi-Bold"/>
                <a:cs typeface="Nunito Semi-Bold"/>
                <a:sym typeface="Nunito Semi-Bold"/>
              </a:rPr>
              <a:t>, not just against one flat partition.</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step:</a:t>
            </a:r>
            <a:r>
              <a:rPr lang="en-US" sz="2000" b="true">
                <a:solidFill>
                  <a:srgbClr val="FFFFFF"/>
                </a:solidFill>
                <a:latin typeface="Nunito Semi-Bold"/>
                <a:ea typeface="Nunito Semi-Bold"/>
                <a:cs typeface="Nunito Semi-Bold"/>
                <a:sym typeface="Nunito Semi-Bold"/>
              </a:rPr>
              <a:t> let attribution shape the learning itself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51</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III</a:t>
            </a:r>
          </a:p>
        </p:txBody>
      </p:sp>
      <p:sp>
        <p:nvSpPr>
          <p:cNvPr id="8" name="Oval 7"/>
          <p:cNvSpPr/>
          <p:nvPr/>
        </p:nvSpPr>
        <p:spPr>
          <a:xfrm>
            <a:off x="14131423"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4131423"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06</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DyHuCoG: a Dynamic Hypergraph Cooperative Game for recommendation  ·  answers RQ3 &amp; RQ4</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Formulate recommendation as a cooperative game over users, items and contexts; make attribution an in-training signal.</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Preference-aware Monte Carlo Shapley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dynamic hypergraph edge weights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attention-gated, context-aware scoring; multi-objective loss.</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MovieLens-1M &amp; Amazon-Book: NDCG, Recall, Coverage and ILD improve together over HPCF; largest gains on the sparsest data.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[21] Zhang, Y. &amp; Chen, X. Explainable Recommendation: A Survey and New Perspectives. Foundations and Trends in IR 14(1), 1–101 (2020).   [23] Zhu, Z. et al. Popularity Bias in Dynamic Recommendation. KDD, 2439–2449 (2021).  ·  Hurley, N. &amp; Zhang, M. Novelty and Diversity in Top-N Recommendation. ACM TOIT 10(4) (2011).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3" name="Picture 22" descr="image.png"/>
          <p:cNvPicPr>
            <a:picLocks noChangeAspect="1"/>
          </p:cNvPicPr>
          <p:nvPr/>
        </p:nvPicPr>
        <p:blipFill>
          <a:blip r:embed="rId3"/>
          <a:stretch>
            <a:fillRect/>
          </a:stretch>
        </p:blipFill>
        <p:spPr>
          <a:xfrm>
            <a:off x="4883941" y="1673352"/>
            <a:ext cx="457200" cy="427074"/>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Graph and hypergraph recommenders [12, 13, 14] treat message importance as </a:t>
            </a:r>
            <a:r>
              <a:rPr lang="en-US" sz="2100" b="true">
                <a:solidFill>
                  <a:srgbClr val="111111"/>
                </a:solidFill>
                <a:latin typeface="Nunito Bold"/>
                <a:ea typeface="Nunito Bold"/>
                <a:cs typeface="Nunito Bold"/>
                <a:sym typeface="Nunito Bold"/>
              </a:rPr>
              <a:t>uniform or attention-weighted</a:t>
            </a:r>
            <a:r>
              <a:rPr lang="en-US" sz="2100" b="true">
                <a:solidFill>
                  <a:srgbClr val="111111"/>
                </a:solidFill>
                <a:latin typeface="Nunito Semi-Bold"/>
                <a:ea typeface="Nunito Semi-Bold"/>
                <a:cs typeface="Nunito Semi-Bold"/>
                <a:sym typeface="Nunito Semi-Bold"/>
              </a:rPr>
              <a:t>, with no well-founded </a:t>
            </a:r>
            <a:r>
              <a:rPr lang="en-US" sz="2100" b="true">
                <a:solidFill>
                  <a:srgbClr val="111111"/>
                </a:solidFill>
                <a:latin typeface="Nunito Bold"/>
                <a:ea typeface="Nunito Bold"/>
                <a:cs typeface="Nunito Bold"/>
                <a:sym typeface="Nunito Bold"/>
              </a:rPr>
              <a:t>marginal-contribution</a:t>
            </a:r>
            <a:r>
              <a:rPr lang="en-US" sz="2100" b="true">
                <a:solidFill>
                  <a:srgbClr val="111111"/>
                </a:solidFill>
                <a:latin typeface="Nunito Semi-Bold"/>
                <a:ea typeface="Nunito Semi-Bold"/>
                <a:cs typeface="Nunito Semi-Bold"/>
                <a:sym typeface="Nunito Semi-Bold"/>
              </a:rPr>
              <a:t> account.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Diversity is often a secondary goal or a </a:t>
            </a:r>
            <a:r>
              <a:rPr lang="en-US" sz="2100" b="true">
                <a:solidFill>
                  <a:srgbClr val="111111"/>
                </a:solidFill>
                <a:latin typeface="Nunito Bold"/>
                <a:ea typeface="Nunito Bold"/>
                <a:cs typeface="Nunito Bold"/>
                <a:sym typeface="Nunito Bold"/>
              </a:rPr>
              <a:t>re-ranking heuristic</a:t>
            </a:r>
            <a:r>
              <a:rPr lang="en-US" sz="2100" b="true">
                <a:solidFill>
                  <a:srgbClr val="111111"/>
                </a:solidFill>
                <a:latin typeface="Nunito Semi-Bold"/>
                <a:ea typeface="Nunito Semi-Bold"/>
                <a:cs typeface="Nunito Semi-Bold"/>
                <a:sym typeface="Nunito Semi-Bold"/>
              </a:rPr>
              <a:t> applied after the model has been trained [23].</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Interpretability is </a:t>
            </a:r>
            <a:r>
              <a:rPr lang="en-US" sz="2100" b="true">
                <a:solidFill>
                  <a:srgbClr val="111111"/>
                </a:solidFill>
                <a:latin typeface="Nunito Bold"/>
                <a:ea typeface="Nunito Bold"/>
                <a:cs typeface="Nunito Bold"/>
                <a:sym typeface="Nunito Bold"/>
              </a:rPr>
              <a:t>added after prediction</a:t>
            </a:r>
            <a:r>
              <a:rPr lang="en-US" sz="2100" b="true">
                <a:solidFill>
                  <a:srgbClr val="111111"/>
                </a:solidFill>
                <a:latin typeface="Nunito Semi-Bold"/>
                <a:ea typeface="Nunito Semi-Bold"/>
                <a:cs typeface="Nunito Semi-Bold"/>
                <a:sym typeface="Nunito Semi-Bold"/>
              </a:rPr>
              <a:t>, not built into the learning objective [21].</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Contributions I and II showed that Shapley attribution is faithful and consistent, but it was still </a:t>
            </a:r>
            <a:r>
              <a:rPr lang="en-US" sz="2100" b="true">
                <a:solidFill>
                  <a:srgbClr val="111111"/>
                </a:solidFill>
                <a:latin typeface="Nunito Bold"/>
                <a:ea typeface="Nunito Bold"/>
                <a:cs typeface="Nunito Bold"/>
                <a:sym typeface="Nunito Bold"/>
              </a:rPr>
              <a:t>post-hoc</a:t>
            </a:r>
            <a:r>
              <a:rPr lang="en-US" sz="2100" b="true">
                <a:solidFill>
                  <a:srgbClr val="111111"/>
                </a:solidFill>
                <a:latin typeface="Nunito Semi-Bold"/>
                <a:ea typeface="Nunito Semi-Bold"/>
                <a:cs typeface="Nunito Semi-Bold"/>
                <a:sym typeface="Nunito Semi-Bold"/>
              </a:rPr>
              <a:t>: it never changed what the model learned.</a:t>
            </a:r>
          </a:p>
        </p:txBody>
      </p:sp>
      <p:sp>
        <p:nvSpPr>
          <p:cNvPr id="29" name="Rounded Rectangle 28"/>
          <p:cNvSpPr/>
          <p:nvPr/>
        </p:nvSpPr>
        <p:spPr>
          <a:xfrm>
            <a:off x="1028700" y="761695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0" name="Rounded Rectangle 29"/>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1" name="TextBox 30"/>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No recommender uses a </a:t>
            </a:r>
            <a:r>
              <a:rPr lang="en-US" sz="2200" b="true">
                <a:solidFill>
                  <a:srgbClr val="111111"/>
                </a:solidFill>
                <a:latin typeface="Nunito Bold"/>
                <a:ea typeface="Nunito Bold"/>
                <a:cs typeface="Nunito Bold"/>
                <a:sym typeface="Nunito Bold"/>
              </a:rPr>
              <a:t>cooperative-game utility</a:t>
            </a:r>
            <a:r>
              <a:rPr lang="en-US" sz="2200" b="true">
                <a:solidFill>
                  <a:srgbClr val="111111"/>
                </a:solidFill>
                <a:latin typeface="Nunito Semi-Bold"/>
                <a:ea typeface="Nunito Semi-Bold"/>
                <a:cs typeface="Nunito Semi-Bold"/>
                <a:sym typeface="Nunito Semi-Bold"/>
              </a:rPr>
              <a:t> to decide, during training, how much each user, item and context should count, while keeping accuracy, context and diversity in the same objective.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RQ3, RQ4 and Objectives</a:t>
            </a:r>
          </a:p>
        </p:txBody>
      </p:sp>
      <p:pic>
        <p:nvPicPr>
          <p:cNvPr id="23" name="Picture 22" descr="image.png"/>
          <p:cNvPicPr>
            <a:picLocks noChangeAspect="1"/>
          </p:cNvPicPr>
          <p:nvPr/>
        </p:nvPicPr>
        <p:blipFill>
          <a:blip r:embed="rId3"/>
          <a:stretch>
            <a:fillRect/>
          </a:stretch>
        </p:blipFill>
        <p:spPr>
          <a:xfrm>
            <a:off x="771447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RQ3</a:t>
            </a:r>
          </a:p>
        </p:txBody>
      </p:sp>
      <p:sp>
        <p:nvSpPr>
          <p:cNvPr id="30" name="TextBox 29"/>
          <p:cNvSpPr txBox="1"/>
          <p:nvPr/>
        </p:nvSpPr>
        <p:spPr>
          <a:xfrm>
            <a:off x="1394460" y="3820922"/>
            <a:ext cx="7200900" cy="100584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Semi-Bold"/>
                <a:ea typeface="Nunito Semi-Bold"/>
                <a:cs typeface="Nunito Semi-Bold"/>
                <a:sym typeface="Nunito Semi-Bold"/>
              </a:rPr>
              <a:t>Can cooperative attribution move </a:t>
            </a:r>
            <a:r>
              <a:rPr lang="en-US" sz="1900" b="true">
                <a:solidFill>
                  <a:srgbClr val="111111"/>
                </a:solidFill>
                <a:latin typeface="Nunito Bold"/>
                <a:ea typeface="Nunito Bold"/>
                <a:cs typeface="Nunito Bold"/>
                <a:sym typeface="Nunito Bold"/>
              </a:rPr>
              <a:t>beyond post-hoc</a:t>
            </a:r>
            <a:r>
              <a:rPr lang="en-US" sz="1900" b="true">
                <a:solidFill>
                  <a:srgbClr val="111111"/>
                </a:solidFill>
                <a:latin typeface="Nunito Semi-Bold"/>
                <a:ea typeface="Nunito Semi-Bold"/>
                <a:cs typeface="Nunito Semi-Bold"/>
                <a:sym typeface="Nunito Semi-Bold"/>
              </a:rPr>
              <a:t> and become part of how a recommender learns?</a:t>
            </a:r>
          </a:p>
        </p:txBody>
      </p:sp>
      <p:sp>
        <p:nvSpPr>
          <p:cNvPr id="31" name="Rounded Rectangle 30"/>
          <p:cNvSpPr/>
          <p:nvPr/>
        </p:nvSpPr>
        <p:spPr>
          <a:xfrm>
            <a:off x="932688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964692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RQ4</a:t>
            </a:r>
          </a:p>
        </p:txBody>
      </p:sp>
      <p:sp>
        <p:nvSpPr>
          <p:cNvPr id="33" name="TextBox 32"/>
          <p:cNvSpPr txBox="1"/>
          <p:nvPr/>
        </p:nvSpPr>
        <p:spPr>
          <a:xfrm>
            <a:off x="9692640" y="3820922"/>
            <a:ext cx="7200900" cy="1005840"/>
          </a:xfrm>
          <a:prstGeom prst="rect">
            <a:avLst/>
          </a:prstGeom>
          <a:noFill/>
        </p:spPr>
        <p:txBody>
          <a:bodyPr anchor="ctr" rtlCol="false" lIns="0" tIns="0" rIns="0" bIns="0" wrap="square"/>
          <a:lstStyle/>
          <a:p>
            <a:pPr algn="l">
              <a:lnSpc>
                <a:spcPts val="2580"/>
              </a:lnSpc>
              <a:spcBef>
                <a:spcPts val="0"/>
              </a:spcBef>
              <a:buNone/>
            </a:pPr>
            <a:r>
              <a:rPr lang="en-US" sz="1843" b="true">
                <a:solidFill>
                  <a:srgbClr val="111111"/>
                </a:solidFill>
                <a:latin typeface="Nunito Semi-Bold"/>
                <a:ea typeface="Nunito Semi-Bold"/>
                <a:cs typeface="Nunito Semi-Bold"/>
                <a:sym typeface="Nunito Semi-Bold"/>
              </a:rPr>
              <a:t>Can it improve </a:t>
            </a:r>
            <a:r>
              <a:rPr lang="en-US" sz="1843" b="true">
                <a:solidFill>
                  <a:srgbClr val="111111"/>
                </a:solidFill>
                <a:latin typeface="Nunito Bold"/>
                <a:ea typeface="Nunito Bold"/>
                <a:cs typeface="Nunito Bold"/>
                <a:sym typeface="Nunito Bold"/>
              </a:rPr>
              <a:t>ranking accuracy, context and diversity together</a:t>
            </a:r>
            <a:r>
              <a:rPr lang="en-US" sz="1843" b="true">
                <a:solidFill>
                  <a:srgbClr val="111111"/>
                </a:solidFill>
                <a:latin typeface="Nunito Semi-Bold"/>
                <a:ea typeface="Nunito Semi-Bold"/>
                <a:cs typeface="Nunito Semi-Bold"/>
                <a:sym typeface="Nunito Semi-Bold"/>
              </a:rPr>
              <a:t> when importance comes from a cooperative-game utility?</a:t>
            </a:r>
          </a:p>
        </p:txBody>
      </p:sp>
      <p:graphicFrame>
        <p:nvGraphicFramePr>
          <p:cNvPr id="34" name="Table 33"/>
          <p:cNvGraphicFramePr>
            <a:graphicFrameLocks noGrp="1"/>
          </p:cNvGraphicFramePr>
          <p:nvPr/>
        </p:nvGraphicFramePr>
        <p:xfrm>
          <a:off x="1028700" y="537540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Recommendation as a cooperative game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Users, items and contexts are the </a:t>
                      </a:r>
                      <a:r>
                        <a:rPr lang="en-US" sz="1800" b="true">
                          <a:solidFill>
                            <a:srgbClr val="111111"/>
                          </a:solidFill>
                          <a:latin typeface="Nunito Bold"/>
                          <a:ea typeface="Nunito Bold"/>
                          <a:cs typeface="Nunito Bold"/>
                          <a:sym typeface="Nunito Bold"/>
                        </a:rPr>
                        <a:t>players</a:t>
                      </a:r>
                      <a:r>
                        <a:rPr lang="en-US" sz="1800" b="true">
                          <a:solidFill>
                            <a:srgbClr val="111111"/>
                          </a:solidFill>
                          <a:latin typeface="Nunito Semi-Bold"/>
                          <a:ea typeface="Nunito Semi-Bold"/>
                          <a:cs typeface="Nunito Semi-Bold"/>
                          <a:sym typeface="Nunito Semi-Bold"/>
                        </a:rPr>
                        <a:t>; the coalition utility mixes accuracy, diversity and novelty.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Game formulation, value function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Preference-aware Monte Carlo Shapley</a:t>
                      </a:r>
                      <a:r>
                        <a:rPr lang="en-US" sz="1800" b="true">
                          <a:solidFill>
                            <a:srgbClr val="111111"/>
                          </a:solidFill>
                          <a:latin typeface="Nunito Semi-Bold"/>
                          <a:ea typeface="Nunito Semi-Bold"/>
                          <a:cs typeface="Nunito Semi-Bold"/>
                          <a:sym typeface="Nunito Semi-Bold"/>
                        </a:rPr>
                        <a:t> estimates become dynamic hyperedge weights during training.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MC Shapley, architecture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Accuracy,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Better NDCG and Recall </a:t>
                      </a:r>
                      <a:r>
                        <a:rPr lang="en-US" sz="1800" b="true">
                          <a:solidFill>
                            <a:srgbClr val="111111"/>
                          </a:solidFill>
                          <a:latin typeface="Nunito Bold"/>
                          <a:ea typeface="Nunito Bold"/>
                          <a:cs typeface="Nunito Bold"/>
                          <a:sym typeface="Nunito Bold"/>
                        </a:rPr>
                        <a:t>and</a:t>
                      </a:r>
                      <a:r>
                        <a:rPr lang="en-US" sz="1800" b="true">
                          <a:solidFill>
                            <a:srgbClr val="111111"/>
                          </a:solidFill>
                          <a:latin typeface="Nunito Semi-Bold"/>
                          <a:ea typeface="Nunito Semi-Bold"/>
                          <a:cs typeface="Nunito Semi-Bold"/>
                          <a:sym typeface="Nunito Semi-Bold"/>
                        </a:rPr>
                        <a:t> higher Coverage and ILD than the strongest baseline, on two 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7.1, Fig. 7.2, 7.3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Recommendation as a Cooperative Game</a:t>
            </a:r>
          </a:p>
        </p:txBody>
      </p:sp>
      <p:pic>
        <p:nvPicPr>
          <p:cNvPr id="23" name="Picture 22" descr="image.png"/>
          <p:cNvPicPr>
            <a:picLocks noChangeAspect="1"/>
          </p:cNvPicPr>
          <p:nvPr/>
        </p:nvPicPr>
        <p:blipFill>
          <a:blip r:embed="rId3"/>
          <a:stretch>
            <a:fillRect/>
          </a:stretch>
        </p:blipFill>
        <p:spPr>
          <a:xfrm>
            <a:off x="11933734"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863840" cy="2194560"/>
          </a:xfrm>
          <a:prstGeom prst="rect">
            <a:avLst/>
          </a:prstGeom>
          <a:noFill/>
        </p:spPr>
        <p:txBody>
          <a:bodyPr anchor="t" rtlCol="false" lIns="0" tIns="0" rIns="0" bIns="0" wrap="square"/>
          <a:lstStyle/>
          <a:p>
            <a:pPr algn="l" marL="274320" indent="-274320">
              <a:lnSpc>
                <a:spcPts val="2764"/>
              </a:lnSpc>
              <a:spcBef>
                <a:spcPts val="0"/>
              </a:spcBef>
              <a:buClr>
                <a:srgbClr val="1F7A8C"/>
              </a:buClr>
              <a:buSzPct val="100000"/>
              <a:buFont typeface="Arial"/>
              <a:buChar char="•"/>
            </a:pPr>
            <a:r>
              <a:rPr lang="en-US" sz="1974" b="true">
                <a:solidFill>
                  <a:srgbClr val="111111"/>
                </a:solidFill>
                <a:latin typeface="Nunito Bold"/>
                <a:ea typeface="Nunito Bold"/>
                <a:cs typeface="Nunito Bold"/>
                <a:sym typeface="Nunito Bold"/>
              </a:rPr>
              <a:t>Player set N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C</a:t>
            </a:r>
            <a:r>
              <a:rPr lang="en-US" sz="1974" b="true">
                <a:solidFill>
                  <a:srgbClr val="111111"/>
                </a:solidFill>
                <a:latin typeface="Nunito Semi-Bold"/>
                <a:ea typeface="Nunito Semi-Bold"/>
                <a:cs typeface="Nunito Semi-Bold"/>
                <a:sym typeface="Nunito Semi-Bold"/>
              </a:rPr>
              <a:t> (users, items, contexts).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Bold"/>
                <a:ea typeface="Nunito Bold"/>
                <a:cs typeface="Nunito Bold"/>
                <a:sym typeface="Nunito Bold"/>
              </a:rPr>
              <a:t>Hypergraph H = (V, E, W)</a:t>
            </a:r>
            <a:r>
              <a:rPr lang="en-US" sz="1974" b="true">
                <a:solidFill>
                  <a:srgbClr val="111111"/>
                </a:solidFill>
                <a:latin typeface="Nunito Semi-Bold"/>
                <a:ea typeface="Nunito Semi-Bold"/>
                <a:cs typeface="Nunito Semi-Bold"/>
                <a:sym typeface="Nunito Semi-Bold"/>
              </a:rPr>
              <a:t>; V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C; </a:t>
            </a:r>
            <a:r>
              <a:rPr lang="en-US" sz="1974" b="true">
                <a:solidFill>
                  <a:srgbClr val="111111"/>
                </a:solidFill>
                <a:latin typeface="Nunito Bold"/>
                <a:ea typeface="Nunito Bold"/>
                <a:cs typeface="Nunito Bold"/>
                <a:sym typeface="Nunito Bold"/>
              </a:rPr>
              <a:t>W = dynamic edge weights</a:t>
            </a:r>
            <a:r>
              <a:rPr lang="en-US" sz="1974" b="true">
                <a:solidFill>
                  <a:srgbClr val="111111"/>
                </a:solidFill>
                <a:latin typeface="Nunito Semi-Bold"/>
                <a:ea typeface="Nunito Semi-Bold"/>
                <a:cs typeface="Nunito Semi-Bold"/>
                <a:sym typeface="Nunito Semi-Bold"/>
              </a:rPr>
              <a:t> from Shapley estimates.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Semi-Bold"/>
                <a:ea typeface="Nunito Semi-Bold"/>
                <a:cs typeface="Nunito Semi-Bold"/>
                <a:sym typeface="Nunito Semi-Bold"/>
              </a:rPr>
              <a:t>A </a:t>
            </a:r>
            <a:r>
              <a:rPr lang="en-US" sz="1974" b="true">
                <a:solidFill>
                  <a:srgbClr val="111111"/>
                </a:solidFill>
                <a:latin typeface="Nunito Bold"/>
                <a:ea typeface="Nunito Bold"/>
                <a:cs typeface="Nunito Bold"/>
                <a:sym typeface="Nunito Bold"/>
              </a:rPr>
              <a:t>coalition S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N</a:t>
            </a:r>
            <a:r>
              <a:rPr lang="en-US" sz="1974" b="true">
                <a:solidFill>
                  <a:srgbClr val="111111"/>
                </a:solidFill>
                <a:latin typeface="Nunito Semi-Bold"/>
                <a:ea typeface="Nunito Semi-Bold"/>
                <a:cs typeface="Nunito Semi-Bold"/>
                <a:sym typeface="Nunito Semi-Bold"/>
              </a:rPr>
              <a:t> is the set of entities taking part in a recommendation episode.</a:t>
            </a:r>
          </a:p>
        </p:txBody>
      </p:sp>
      <p:sp>
        <p:nvSpPr>
          <p:cNvPr id="29" name="Rounded Rectangle 28"/>
          <p:cNvSpPr/>
          <p:nvPr/>
        </p:nvSpPr>
        <p:spPr>
          <a:xfrm>
            <a:off x="1028700" y="5649722"/>
            <a:ext cx="7863840" cy="1417320"/>
          </a:xfrm>
          <a:prstGeom prst="roundRect">
            <a:avLst>
              <a:gd name="adj" fmla="val 16129"/>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57300" y="5759450"/>
                <a:ext cx="7406640" cy="658368"/>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α</m:t>
                      </m:r>
                      <m:r>
                        <m:rPr>
                          <m:sty m:val="p"/>
                        </m:rPr>
                        <a:rPr lang="en-US" sz="1800">
                          <a:solidFill>
                            <a:srgbClr val="FFFFFF"/>
                          </a:solidFill>
                          <a:latin typeface="Cambria Math" panose="02040503050406030204" pitchFamily="18" charset="0"/>
                        </a:rPr>
                        <m:t xml:space="preserve">·NDCG@20(</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β</m:t>
                      </m:r>
                      <m:r>
                        <m:rPr>
                          <m:sty m:val="p"/>
                        </m:rPr>
                        <a:rPr lang="en-US" sz="1800">
                          <a:solidFill>
                            <a:srgbClr val="FFFFFF"/>
                          </a:solidFill>
                          <a:latin typeface="Cambria Math" panose="02040503050406030204" pitchFamily="18" charset="0"/>
                        </a:rPr>
                        <m:t xml:space="preserve">·Diversity(</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γ</m:t>
                      </m:r>
                      <m:r>
                        <m:rPr>
                          <m:sty m:val="p"/>
                        </m:rPr>
                        <a:rPr lang="en-US" sz="1800">
                          <a:solidFill>
                            <a:srgbClr val="FFFFFF"/>
                          </a:solidFill>
                          <a:latin typeface="Cambria Math" panose="02040503050406030204" pitchFamily="18" charset="0"/>
                        </a:rPr>
                        <m:t xml:space="preserve">·ContextScore(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oMath>
                  </m:oMathPara>
                </a14:m>
                <a:endParaRPr lang="en-US" sz="1800"/>
              </a:p>
            </p:txBody>
          </p:sp>
        </mc:Choice>
        <mc:Fallback>
          <p:sp>
            <p:nvSpPr>
              <p:cNvPr id="30" name="Equation"/>
              <p:cNvSpPr txBox="1"/>
              <p:nvPr/>
            </p:nvSpPr>
            <p:spPr>
              <a:xfrm>
                <a:off x="1257300" y="5759450"/>
                <a:ext cx="7406640" cy="658368"/>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57300" y="6426962"/>
                <a:ext cx="740664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=0.60,  </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=0.25,  </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=0.15,  </m:t>
                      </m:r>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=1</m:t>
                      </m:r>
                    </m:oMath>
                  </m:oMathPara>
                </a14:m>
                <a:endParaRPr lang="en-US" sz="1800"/>
              </a:p>
            </p:txBody>
          </p:sp>
        </mc:Choice>
        <mc:Fallback>
          <p:sp>
            <p:nvSpPr>
              <p:cNvPr id="31" name="Equation"/>
              <p:cNvSpPr txBox="1"/>
              <p:nvPr/>
            </p:nvSpPr>
            <p:spPr>
              <a:xfrm>
                <a:off x="1257300" y="6426962"/>
                <a:ext cx="7406640" cy="548640"/>
              </a:xfrm>
              <a:prstGeom prst="rect">
                <a:avLst/>
              </a:prstGeom>
              <a:blipFill>
                <a:blip r:embed="rId6"/>
                <a:stretch>
                  <a:fillRect/>
                </a:stretch>
              </a:blipFill>
            </p:spPr>
            <p:txBody>
              <a:bodyPr/>
              <a:lstStyle/>
              <a:p>
                <a:endParaRPr lang="en-US"/>
              </a:p>
            </p:txBody>
          </p:sp>
        </mc:Fallback>
      </mc:AlternateContent>
      <p:sp>
        <p:nvSpPr>
          <p:cNvPr id="32" name="TextBox 31"/>
          <p:cNvSpPr txBox="1"/>
          <p:nvPr/>
        </p:nvSpPr>
        <p:spPr>
          <a:xfrm>
            <a:off x="1028700" y="7249922"/>
            <a:ext cx="7863840" cy="2058670"/>
          </a:xfrm>
          <a:prstGeom prst="rect">
            <a:avLst/>
          </a:prstGeom>
          <a:noFill/>
        </p:spPr>
        <p:txBody>
          <a:bodyPr anchor="t" rtlCol="false" lIns="0" tIns="0" rIns="0" bIns="0" wrap="square"/>
          <a:lstStyle/>
          <a:p>
            <a:pPr algn="l">
              <a:lnSpc>
                <a:spcPts val="2520"/>
              </a:lnSpc>
              <a:spcBef>
                <a:spcPts val="0"/>
              </a:spcBef>
              <a:buNone/>
            </a:pPr>
            <a:r>
              <a:rPr lang="en-US" sz="1800" b="true">
                <a:solidFill>
                  <a:srgbClr val="111111"/>
                </a:solidFill>
                <a:latin typeface="Nunito Semi-Bold"/>
                <a:ea typeface="Nunito Semi-Bold"/>
                <a:cs typeface="Nunito Semi-Bold"/>
                <a:sym typeface="Nunito Semi-Bold"/>
              </a:rPr>
              <a:t>Preference term </a:t>
            </a:r>
            <a:r>
              <a:rPr lang="en-US" sz="1800" b="true">
                <a:solidFill>
                  <a:srgbClr val="111111"/>
                </a:solidFill>
                <a:latin typeface="Nunito Bold"/>
                <a:ea typeface="Nunito Bold"/>
                <a:cs typeface="Nunito Bold"/>
                <a:sym typeface="Nunito Bold"/>
              </a:rPr>
              <a:t>v</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(S) = v(S) +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 Σ sim(u,i)</a:t>
            </a:r>
            <a:r>
              <a:rPr lang="en-US" sz="1800" b="true">
                <a:solidFill>
                  <a:srgbClr val="111111"/>
                </a:solidFill>
                <a:latin typeface="Nunito Semi-Bold"/>
                <a:ea typeface="Nunito Semi-Bold"/>
                <a:cs typeface="Nunito Semi-Bold"/>
                <a:sym typeface="Nunito Semi-Bold"/>
              </a:rPr>
              <a:t>,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Semi-Bold"/>
                <a:ea typeface="Nunito Semi-Bold"/>
                <a:cs typeface="Nunito Semi-Bold"/>
                <a:sym typeface="Nunito Semi-Bold"/>
              </a:rPr>
              <a:t>pref</a:t>
            </a:r>
            <a:r>
              <a:rPr lang="en-US" sz="1800" b="true">
                <a:solidFill>
                  <a:srgbClr val="111111"/>
                </a:solidFill>
                <a:latin typeface="Nunito Semi-Bold"/>
                <a:ea typeface="Nunito Semi-Bold"/>
                <a:cs typeface="Nunito Semi-Bold"/>
                <a:sym typeface="Nunito Semi-Bold"/>
              </a:rPr>
              <a:t> = 0.20; weights grid-searched, </a:t>
            </a:r>
            <a:r>
              <a:rPr lang="en-US" sz="1800" b="true">
                <a:solidFill>
                  <a:srgbClr val="111111"/>
                </a:solidFill>
                <a:latin typeface="Nunito Bold"/>
                <a:ea typeface="Nunito Bold"/>
                <a:cs typeface="Nunito Bold"/>
                <a:sym typeface="Nunito Bold"/>
              </a:rPr>
              <a:t>&lt; 1.5 % variance</a:t>
            </a:r>
            <a:r>
              <a:rPr lang="en-US" sz="1800" b="true">
                <a:solidFill>
                  <a:srgbClr val="111111"/>
                </a:solidFill>
                <a:latin typeface="Nunito Semi-Bold"/>
                <a:ea typeface="Nunito Semi-Bold"/>
                <a:cs typeface="Nunito Semi-Bold"/>
                <a:sym typeface="Nunito Semi-Bold"/>
              </a:rPr>
              <a:t> in NDCG@20.</a:t>
            </a:r>
          </a:p>
          <a:p>
            <a:pPr algn="l">
              <a:lnSpc>
                <a:spcPts val="2520"/>
              </a:lnSpc>
              <a:spcBef>
                <a:spcPts val="80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same trade-off</a:t>
            </a:r>
            <a:r>
              <a:rPr lang="en-US" sz="1800" b="true">
                <a:solidFill>
                  <a:srgbClr val="111111"/>
                </a:solidFill>
                <a:latin typeface="Nunito Semi-Bold"/>
                <a:ea typeface="Nunito Semi-Bold"/>
                <a:cs typeface="Nunito Semi-Bold"/>
                <a:sym typeface="Nunito Semi-Bold"/>
              </a:rPr>
              <a:t> the recommender must satisfy is the one from which attribution is computed: explanatory game and predictive objective are </a:t>
            </a:r>
            <a:r>
              <a:rPr lang="en-US" sz="1800" b="true">
                <a:solidFill>
                  <a:srgbClr val="111111"/>
                </a:solidFill>
                <a:latin typeface="Nunito Bold"/>
                <a:ea typeface="Nunito Bold"/>
                <a:cs typeface="Nunito Bold"/>
                <a:sym typeface="Nunito Bold"/>
              </a:rPr>
              <a:t>aligned by design</a:t>
            </a:r>
            <a:r>
              <a:rPr lang="en-US" sz="1800" b="true">
                <a:solidFill>
                  <a:srgbClr val="111111"/>
                </a:solidFill>
                <a:latin typeface="Nunito Semi-Bold"/>
                <a:ea typeface="Nunito Semi-Bold"/>
                <a:cs typeface="Nunito Semi-Bold"/>
                <a:sym typeface="Nunito Semi-Bold"/>
              </a:rPr>
              <a:t>.</a:t>
            </a:r>
          </a:p>
        </p:txBody>
      </p:sp>
      <p:sp>
        <p:nvSpPr>
          <p:cNvPr id="33" name="TextBox 32"/>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1F7A8C"/>
                </a:solidFill>
                <a:latin typeface="Nunito Ultra-Bold"/>
                <a:ea typeface="Nunito Ultra-Bold"/>
                <a:cs typeface="Nunito Ultra-Bold"/>
                <a:sym typeface="Nunito Ultra-Bold"/>
              </a:rPr>
              <a:t>PLAYERS AND COALITIONS</a:t>
            </a:r>
          </a:p>
        </p:txBody>
      </p:sp>
      <p:sp>
        <p:nvSpPr>
          <p:cNvPr id="34" name="Rounded Rectangle 33"/>
          <p:cNvSpPr/>
          <p:nvPr/>
        </p:nvSpPr>
        <p:spPr>
          <a:xfrm>
            <a:off x="9715500" y="3912362"/>
            <a:ext cx="7269480" cy="2834640"/>
          </a:xfrm>
          <a:prstGeom prst="roundRect">
            <a:avLst>
              <a:gd name="adj" fmla="val 19354"/>
            </a:avLst>
          </a:prstGeom>
          <a:solidFill>
            <a:srgbClr val="E7EAF3"/>
          </a:solidFill>
          <a:ln>
            <a:noFill/>
          </a:ln>
        </p:spPr>
        <p:txBody>
          <a:bodyPr anchor="ctr" rtlCol="false" lIns="0" tIns="0" rIns="0" bIns="0" wrap="square"/>
          <a:lstStyle/>
          <a:p>
            <a:endParaRPr lang="en-US" sz="1800"/>
          </a:p>
        </p:txBody>
      </p:sp>
      <p:sp>
        <p:nvSpPr>
          <p:cNvPr id="35" name="TextBox 34"/>
          <p:cNvSpPr txBox="1"/>
          <p:nvPr/>
        </p:nvSpPr>
        <p:spPr>
          <a:xfrm>
            <a:off x="9441180" y="4022090"/>
            <a:ext cx="7818120" cy="365760"/>
          </a:xfrm>
          <a:prstGeom prst="rect">
            <a:avLst/>
          </a:prstGeom>
          <a:noFill/>
        </p:spPr>
        <p:txBody>
          <a:bodyPr anchor="t" rtlCol="false" lIns="0" tIns="0" rIns="0" bIns="0" wrap="square"/>
          <a:lstStyle/>
          <a:p>
            <a:pPr algn="ctr">
              <a:lnSpc>
                <a:spcPts val="1800"/>
              </a:lnSpc>
              <a:spcBef>
                <a:spcPts val="0"/>
              </a:spcBef>
              <a:buNone/>
            </a:pPr>
            <a:r>
              <a:rPr lang="en-US" sz="1500" b="true">
                <a:solidFill>
                  <a:srgbClr val="8A8378"/>
                </a:solidFill>
                <a:latin typeface="Nunito Bold"/>
                <a:ea typeface="Nunito Bold"/>
                <a:cs typeface="Nunito Bold"/>
                <a:sym typeface="Nunito Bold"/>
              </a:rPr>
              <a:t>coalition S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N  ·  hyperedge e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E</a:t>
            </a:r>
          </a:p>
        </p:txBody>
      </p:sp>
      <p:sp>
        <p:nvSpPr>
          <p:cNvPr id="36" name="Oval 35"/>
          <p:cNvSpPr/>
          <p:nvPr/>
        </p:nvSpPr>
        <p:spPr>
          <a:xfrm>
            <a:off x="10165080" y="4598162"/>
            <a:ext cx="1737360" cy="1737360"/>
          </a:xfrm>
          <a:prstGeom prst="ellipse">
            <a:avLst/>
          </a:prstGeom>
          <a:solidFill>
            <a:srgbClr val="4472C4"/>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U</a:t>
            </a:r>
          </a:p>
          <a:p>
            <a:pPr algn="ctr">
              <a:lnSpc>
                <a:spcPts val="1800"/>
              </a:lnSpc>
              <a:spcBef>
                <a:spcPts val="200"/>
              </a:spcBef>
              <a:buNone/>
            </a:pPr>
            <a:r>
              <a:rPr lang="en-US" sz="1500" b="true">
                <a:solidFill>
                  <a:srgbClr val="F7F2EA"/>
                </a:solidFill>
                <a:latin typeface="Nunito Bold"/>
                <a:ea typeface="Nunito Bold"/>
                <a:cs typeface="Nunito Bold"/>
                <a:sym typeface="Nunito Bold"/>
              </a:rPr>
              <a:t>Users</a:t>
            </a:r>
          </a:p>
        </p:txBody>
      </p:sp>
      <p:sp>
        <p:nvSpPr>
          <p:cNvPr id="37" name="Oval 36"/>
          <p:cNvSpPr/>
          <p:nvPr/>
        </p:nvSpPr>
        <p:spPr>
          <a:xfrm>
            <a:off x="12481560" y="4598162"/>
            <a:ext cx="1737360" cy="1737360"/>
          </a:xfrm>
          <a:prstGeom prst="ellipse">
            <a:avLst/>
          </a:prstGeom>
          <a:solidFill>
            <a:srgbClr val="2F5597"/>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I</a:t>
            </a:r>
          </a:p>
          <a:p>
            <a:pPr algn="ctr">
              <a:lnSpc>
                <a:spcPts val="1800"/>
              </a:lnSpc>
              <a:spcBef>
                <a:spcPts val="200"/>
              </a:spcBef>
              <a:buNone/>
            </a:pPr>
            <a:r>
              <a:rPr lang="en-US" sz="1500" b="true">
                <a:solidFill>
                  <a:srgbClr val="F7F2EA"/>
                </a:solidFill>
                <a:latin typeface="Nunito Bold"/>
                <a:ea typeface="Nunito Bold"/>
                <a:cs typeface="Nunito Bold"/>
                <a:sym typeface="Nunito Bold"/>
              </a:rPr>
              <a:t>Items</a:t>
            </a:r>
          </a:p>
        </p:txBody>
      </p:sp>
      <p:sp>
        <p:nvSpPr>
          <p:cNvPr id="38" name="Oval 37"/>
          <p:cNvSpPr/>
          <p:nvPr/>
        </p:nvSpPr>
        <p:spPr>
          <a:xfrm>
            <a:off x="14798040" y="4598162"/>
            <a:ext cx="1737360" cy="1737360"/>
          </a:xfrm>
          <a:prstGeom prst="ellipse">
            <a:avLst/>
          </a:prstGeom>
          <a:solidFill>
            <a:srgbClr val="1F7A8C"/>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C</a:t>
            </a:r>
          </a:p>
          <a:p>
            <a:pPr algn="ctr">
              <a:lnSpc>
                <a:spcPts val="1800"/>
              </a:lnSpc>
              <a:spcBef>
                <a:spcPts val="200"/>
              </a:spcBef>
              <a:buNone/>
            </a:pPr>
            <a:r>
              <a:rPr lang="en-US" sz="1500" b="true">
                <a:solidFill>
                  <a:srgbClr val="F7F2EA"/>
                </a:solidFill>
                <a:latin typeface="Nunito Bold"/>
                <a:ea typeface="Nunito Bold"/>
                <a:cs typeface="Nunito Bold"/>
                <a:sym typeface="Nunito Bold"/>
              </a:rPr>
              <a:t>Contexts</a:t>
            </a:r>
          </a:p>
        </p:txBody>
      </p:sp>
      <p:sp>
        <p:nvSpPr>
          <p:cNvPr id="39" name="Rounded Rectangle 38"/>
          <p:cNvSpPr/>
          <p:nvPr/>
        </p:nvSpPr>
        <p:spPr>
          <a:xfrm>
            <a:off x="9441180" y="7067042"/>
            <a:ext cx="7818120" cy="2241550"/>
          </a:xfrm>
          <a:prstGeom prst="roundRect">
            <a:avLst>
              <a:gd name="adj" fmla="val 10198"/>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40" name="Equation"/>
              <p:cNvSpPr txBox="1"/>
              <p:nvPr/>
            </p:nvSpPr>
            <p:spPr>
              <a:xfrm>
                <a:off x="9715500" y="7112762"/>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200" i="1">
                          <a:solidFill>
                            <a:srgbClr val="FFFFFF"/>
                          </a:solidFill>
                          <a:latin typeface="Cambria Math" panose="02040503050406030204" pitchFamily="18" charset="0"/>
                        </a:rPr>
                        <m:t xml:space="preserve">v</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S</m:t>
                      </m:r>
                      <m:r>
                        <m:rPr>
                          <m:sty m:val="p"/>
                        </m:rPr>
                        <a:rPr lang="en-US" sz="2200">
                          <a:solidFill>
                            <a:srgbClr val="FFFFFF"/>
                          </a:solidFill>
                          <a:latin typeface="Cambria Math" panose="02040503050406030204" pitchFamily="18" charset="0"/>
                        </a:rPr>
                        <m:t xml:space="preserve">)</m:t>
                      </m:r>
                    </m:oMath>
                  </m:oMathPara>
                </a14:m>
                <a:endParaRPr lang="en-US" sz="2200"/>
              </a:p>
            </p:txBody>
          </p:sp>
        </mc:Choice>
        <mc:Fallback>
          <p:sp>
            <p:nvSpPr>
              <p:cNvPr id="40" name="Equation"/>
              <p:cNvSpPr txBox="1"/>
              <p:nvPr/>
            </p:nvSpPr>
            <p:spPr>
              <a:xfrm>
                <a:off x="9715500" y="7112762"/>
                <a:ext cx="1828800" cy="1120775"/>
              </a:xfrm>
              <a:prstGeom prst="rect">
                <a:avLst/>
              </a:prstGeom>
              <a:blipFill>
                <a:blip r:embed="rId7"/>
                <a:stretch>
                  <a:fillRect/>
                </a:stretch>
              </a:blipFill>
            </p:spPr>
            <p:txBody>
              <a:bodyPr/>
              <a:lstStyle/>
              <a:p>
                <a:endParaRPr lang="en-US"/>
              </a:p>
            </p:txBody>
          </p:sp>
        </mc:Fallback>
      </mc:AlternateContent>
      <p:sp>
        <p:nvSpPr>
          <p:cNvPr id="41" name="TextBox 40"/>
          <p:cNvSpPr txBox="1"/>
          <p:nvPr/>
        </p:nvSpPr>
        <p:spPr>
          <a:xfrm>
            <a:off x="11635740" y="7112762"/>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FFFFFF"/>
                </a:solidFill>
                <a:latin typeface="Nunito Bold"/>
                <a:ea typeface="Nunito Bold"/>
                <a:cs typeface="Nunito Bold"/>
                <a:sym typeface="Nunito Bold"/>
              </a:rPr>
              <a:t>quality of the recommendation that coalition S can achieve</a:t>
            </a:r>
          </a:p>
        </p:txBody>
      </p:sp>
      <mc:AlternateContent xmlns:mc="http://schemas.openxmlformats.org/markup-compatibility/2006">
        <mc:Choice xmlns:a14="http://schemas.microsoft.com/office/drawing/2010/main" Requires="a14">
          <p:sp>
            <p:nvSpPr>
              <p:cNvPr id="42" name="Equation"/>
              <p:cNvSpPr txBox="1"/>
              <p:nvPr/>
            </p:nvSpPr>
            <p:spPr>
              <a:xfrm>
                <a:off x="9715500" y="8142097"/>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ECC665"/>
                              </a:solidFill>
                              <a:latin typeface="Cambria Math" panose="02040503050406030204" pitchFamily="18" charset="0"/>
                            </a:rPr>
                          </m:ctrlPr>
                        </m:sSubPr>
                        <m:e>
                          <m:acc>
                            <m:accPr>
                              <m:chr m:val="̂"/>
                              <m:ctrlPr>
                                <a:rPr lang="en-US" sz="2200" i="1">
                                  <a:solidFill>
                                    <a:srgbClr val="ECC665"/>
                                  </a:solidFill>
                                  <a:latin typeface="Cambria Math" panose="02040503050406030204" pitchFamily="18" charset="0"/>
                                </a:rPr>
                              </m:ctrlPr>
                            </m:accPr>
                            <m:e>
                              <m:r>
                                <a:rPr lang="en-US" sz="2200" i="1">
                                  <a:solidFill>
                                    <a:srgbClr val="ECC665"/>
                                  </a:solidFill>
                                  <a:latin typeface="Cambria Math" panose="02040503050406030204" pitchFamily="18" charset="0"/>
                                </a:rPr>
                                <m:t xml:space="preserve">φ</m:t>
                              </m:r>
                            </m:e>
                          </m:acc>
                        </m:e>
                        <m:sub>
                          <m:r>
                            <a:rPr lang="en-US" sz="2200" i="1">
                              <a:solidFill>
                                <a:srgbClr val="ECC665"/>
                              </a:solidFill>
                              <a:latin typeface="Cambria Math" panose="02040503050406030204" pitchFamily="18" charset="0"/>
                            </a:rPr>
                            <m:t xml:space="preserve">j</m:t>
                          </m:r>
                        </m:sub>
                      </m:sSub>
                      <m:r>
                        <m:rPr>
                          <m:sty m:val="p"/>
                        </m:rPr>
                        <a:rPr lang="en-US" sz="2200">
                          <a:solidFill>
                            <a:srgbClr val="ECC665"/>
                          </a:solidFill>
                          <a:latin typeface="Cambria Math" panose="02040503050406030204" pitchFamily="18" charset="0"/>
                        </a:rPr>
                        <m:t xml:space="preserve"> → </m:t>
                      </m:r>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w</m:t>
                          </m:r>
                        </m:e>
                        <m:sub>
                          <m:r>
                            <a:rPr lang="en-US" sz="2200" i="1">
                              <a:solidFill>
                                <a:srgbClr val="ECC665"/>
                              </a:solidFill>
                              <a:latin typeface="Cambria Math" panose="02040503050406030204" pitchFamily="18" charset="0"/>
                            </a:rPr>
                            <m:t xml:space="preserve">jk</m:t>
                          </m:r>
                        </m:sub>
                      </m:sSub>
                    </m:oMath>
                  </m:oMathPara>
                </a14:m>
                <a:endParaRPr lang="en-US" sz="2200"/>
              </a:p>
            </p:txBody>
          </p:sp>
        </mc:Choice>
        <mc:Fallback>
          <p:sp>
            <p:nvSpPr>
              <p:cNvPr id="42" name="Equation"/>
              <p:cNvSpPr txBox="1"/>
              <p:nvPr/>
            </p:nvSpPr>
            <p:spPr>
              <a:xfrm>
                <a:off x="9715500" y="8142097"/>
                <a:ext cx="1828800" cy="1120775"/>
              </a:xfrm>
              <a:prstGeom prst="rect">
                <a:avLst/>
              </a:prstGeom>
              <a:blipFill>
                <a:blip r:embed="rId8"/>
                <a:stretch>
                  <a:fillRect/>
                </a:stretch>
              </a:blipFill>
            </p:spPr>
            <p:txBody>
              <a:bodyPr/>
              <a:lstStyle/>
              <a:p>
                <a:endParaRPr lang="en-US"/>
              </a:p>
            </p:txBody>
          </p:sp>
        </mc:Fallback>
      </mc:AlternateContent>
      <p:sp>
        <p:nvSpPr>
          <p:cNvPr id="43" name="TextBox 42"/>
          <p:cNvSpPr txBox="1"/>
          <p:nvPr/>
        </p:nvSpPr>
        <p:spPr>
          <a:xfrm>
            <a:off x="11635740" y="8142097"/>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ECC665"/>
                </a:solidFill>
                <a:latin typeface="Nunito Bold"/>
                <a:ea typeface="Nunito Bold"/>
                <a:cs typeface="Nunito Bold"/>
                <a:sym typeface="Nunito Bold"/>
              </a:rPr>
              <a:t>marginal contribution of player j </a:t>
            </a:r>
            <a:r>
              <a:rPr lang="en-US" sz="1700" b="true">
                <a:solidFill>
                  <a:srgbClr val="ECC665"/>
                </a:solidFill>
                <a:latin typeface="Calibri"/>
                <a:ea typeface="Calibri"/>
                <a:cs typeface="Calibri"/>
                <a:sym typeface="Calibri"/>
              </a:rPr>
              <a:t>→ </a:t>
            </a:r>
            <a:r>
              <a:rPr lang="en-US" sz="1700" b="true">
                <a:solidFill>
                  <a:srgbClr val="ECC665"/>
                </a:solidFill>
                <a:latin typeface="Nunito Bold"/>
                <a:ea typeface="Nunito Bold"/>
                <a:cs typeface="Nunito Bold"/>
                <a:sym typeface="Nunito Bold"/>
              </a:rPr>
              <a:t>dynamic hyperedge weight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Preference-Aware Monte Carlo Shapley</a:t>
            </a:r>
          </a:p>
        </p:txBody>
      </p:sp>
      <p:pic>
        <p:nvPicPr>
          <p:cNvPr id="23" name="Picture 22" descr="image.png"/>
          <p:cNvPicPr>
            <a:picLocks noChangeAspect="1"/>
          </p:cNvPicPr>
          <p:nvPr/>
        </p:nvPicPr>
        <p:blipFill>
          <a:blip r:embed="rId3"/>
          <a:stretch>
            <a:fillRect/>
          </a:stretch>
        </p:blipFill>
        <p:spPr>
          <a:xfrm>
            <a:off x="11509517"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8595360" cy="41148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Exact Shapley is </a:t>
            </a:r>
            <a:r>
              <a:rPr lang="en-US" sz="2100" b="true">
                <a:solidFill>
                  <a:srgbClr val="111111"/>
                </a:solidFill>
                <a:latin typeface="Nunito Bold"/>
                <a:ea typeface="Nunito Bold"/>
                <a:cs typeface="Nunito Bold"/>
                <a:sym typeface="Nunito Bold"/>
              </a:rPr>
              <a:t>combinatorial and not feasible</a:t>
            </a:r>
            <a:r>
              <a:rPr lang="en-US" sz="2100" b="true">
                <a:solidFill>
                  <a:srgbClr val="111111"/>
                </a:solidFill>
                <a:latin typeface="Nunito Semi-Bold"/>
                <a:ea typeface="Nunito Semi-Bold"/>
                <a:cs typeface="Nunito Semi-Bold"/>
                <a:sym typeface="Nunito Semi-Bold"/>
              </a:rPr>
              <a:t> for real systems.</a:t>
            </a:r>
          </a:p>
        </p:txBody>
      </p:sp>
      <p:sp>
        <p:nvSpPr>
          <p:cNvPr id="29" name="Rounded Rectangle 28"/>
          <p:cNvSpPr/>
          <p:nvPr/>
        </p:nvSpPr>
        <p:spPr>
          <a:xfrm>
            <a:off x="1028700" y="3866642"/>
            <a:ext cx="8595360" cy="2834640"/>
          </a:xfrm>
          <a:prstGeom prst="roundRect">
            <a:avLst>
              <a:gd name="adj" fmla="val 645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11580" y="395808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350" i="1">
                              <a:solidFill>
                                <a:srgbClr val="4472C4"/>
                              </a:solidFill>
                              <a:latin typeface="Cambria Math" panose="02040503050406030204" pitchFamily="18" charset="0"/>
                            </a:rPr>
                          </m:ctrlPr>
                        </m:sSubPr>
                        <m:e>
                          <m:acc>
                            <m:accPr>
                              <m:chr m:val="̂"/>
                              <m:ctrlPr>
                                <a:rPr lang="en-US" sz="2350" i="1">
                                  <a:solidFill>
                                    <a:srgbClr val="4472C4"/>
                                  </a:solidFill>
                                  <a:latin typeface="Cambria Math" panose="02040503050406030204" pitchFamily="18" charset="0"/>
                                </a:rPr>
                              </m:ctrlPr>
                            </m:accPr>
                            <m:e>
                              <m:r>
                                <a:rPr lang="en-US" sz="2350" i="1">
                                  <a:solidFill>
                                    <a:srgbClr val="4472C4"/>
                                  </a:solidFill>
                                  <a:latin typeface="Cambria Math" panose="02040503050406030204" pitchFamily="18" charset="0"/>
                                </a:rPr>
                                <m:t xml:space="preserve">φ</m:t>
                              </m:r>
                            </m:e>
                          </m:acc>
                        </m:e>
                        <m:sub>
                          <m:r>
                            <a:rPr lang="en-US" sz="2350" i="1">
                              <a:solidFill>
                                <a:srgbClr val="4472C4"/>
                              </a:solidFill>
                              <a:latin typeface="Cambria Math" panose="02040503050406030204" pitchFamily="18" charset="0"/>
                            </a:rPr>
                            <m:t xml:space="preserve">j</m:t>
                          </m:r>
                        </m:sub>
                      </m:sSub>
                      <m:r>
                        <m:rPr>
                          <m:sty m:val="p"/>
                        </m:rPr>
                        <a:rPr lang="en-US" sz="2350">
                          <a:solidFill>
                            <a:srgbClr val="4472C4"/>
                          </a:solidFill>
                          <a:latin typeface="Cambria Math" panose="02040503050406030204" pitchFamily="18" charset="0"/>
                        </a:rPr>
                        <m:t xml:space="preserve">=</m:t>
                      </m:r>
                      <m:f>
                        <m:fPr>
                          <m:ctrlPr>
                            <a:rPr lang="en-US" sz="2350" i="1">
                              <a:solidFill>
                                <a:srgbClr val="4472C4"/>
                              </a:solidFill>
                              <a:latin typeface="Cambria Math" panose="02040503050406030204" pitchFamily="18" charset="0"/>
                            </a:rPr>
                          </m:ctrlPr>
                        </m:fPr>
                        <m:num>
                          <m:r>
                            <m:rPr>
                              <m:sty m:val="p"/>
                            </m:rPr>
                            <a:rPr lang="en-US" sz="2350">
                              <a:solidFill>
                                <a:srgbClr val="4472C4"/>
                              </a:solidFill>
                              <a:latin typeface="Cambria Math" panose="02040503050406030204" pitchFamily="18" charset="0"/>
                            </a:rPr>
                            <m:t xml:space="preserve">1</m:t>
                          </m:r>
                        </m:num>
                        <m:den>
                          <m:r>
                            <a:rPr lang="en-US" sz="2350" i="1">
                              <a:solidFill>
                                <a:srgbClr val="4472C4"/>
                              </a:solidFill>
                              <a:latin typeface="Cambria Math" panose="02040503050406030204" pitchFamily="18" charset="0"/>
                            </a:rPr>
                            <m:t xml:space="preserve">M</m:t>
                          </m:r>
                        </m:den>
                      </m:f>
                      <m:nary>
                        <m:naryPr>
                          <m:chr m:val="∑"/>
                          <m:limLoc m:val="undOvr"/>
                          <m:ctrlPr>
                            <a:rPr lang="en-US" sz="2350" i="1">
                              <a:solidFill>
                                <a:srgbClr val="4472C4"/>
                              </a:solidFill>
                              <a:latin typeface="Cambria Math" panose="02040503050406030204" pitchFamily="18" charset="0"/>
                            </a:rPr>
                          </m:ctrlPr>
                        </m:naryPr>
                        <m:sub>
                          <m:r>
                            <a:rPr lang="en-US" sz="2350" i="1">
                              <a:solidFill>
                                <a:srgbClr val="4472C4"/>
                              </a:solidFill>
                              <a:latin typeface="Cambria Math" panose="02040503050406030204" pitchFamily="18" charset="0"/>
                            </a:rPr>
                            <m:t xml:space="preserve">m</m:t>
                          </m:r>
                          <m:r>
                            <m:rPr>
                              <m:sty m:val="p"/>
                            </m:rPr>
                            <a:rPr lang="en-US" sz="2350">
                              <a:solidFill>
                                <a:srgbClr val="4472C4"/>
                              </a:solidFill>
                              <a:latin typeface="Cambria Math" panose="02040503050406030204" pitchFamily="18" charset="0"/>
                            </a:rPr>
                            <m:t xml:space="preserve">=1</m:t>
                          </m:r>
                        </m:sub>
                        <m:sup>
                          <m:r>
                            <a:rPr lang="en-US" sz="2350" i="1">
                              <a:solidFill>
                                <a:srgbClr val="4472C4"/>
                              </a:solidFill>
                              <a:latin typeface="Cambria Math" panose="02040503050406030204" pitchFamily="18" charset="0"/>
                            </a:rPr>
                            <m:t xml:space="preserve">M</m:t>
                          </m:r>
                        </m:sup>
                        <m:e>
                          <m:d>
                            <m:dPr>
                              <m:begChr m:val="["/>
                              <m:endChr m:val="]"/>
                              <m:ctrlPr>
                                <a:rPr lang="en-US" sz="2350" i="1">
                                  <a:solidFill>
                                    <a:srgbClr val="4472C4"/>
                                  </a:solidFill>
                                  <a:latin typeface="Cambria Math" panose="02040503050406030204" pitchFamily="18" charset="0"/>
                                </a:rPr>
                              </m:ctrlPr>
                            </m:dPr>
                            <m:e>
                              <m:r>
                                <m:rPr>
                                  <m:sty m:val="p"/>
                                </m:rPr>
                                <a:rPr lang="en-US" sz="2350">
                                  <a:solidFill>
                                    <a:srgbClr val="4472C4"/>
                                  </a:solidFill>
                                  <a:latin typeface="Cambria Math" panose="02040503050406030204" pitchFamily="18" charset="0"/>
                                </a:rPr>
                                <m:t xml:space="preserve"> </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j</m:t>
                              </m:r>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 </m:t>
                              </m:r>
                            </m:e>
                          </m:d>
                        </m:e>
                      </m:nary>
                    </m:oMath>
                  </m:oMathPara>
                </a14:m>
                <a:endParaRPr lang="en-US" sz="2350"/>
              </a:p>
            </p:txBody>
          </p:sp>
        </mc:Choice>
        <mc:Fallback>
          <p:sp>
            <p:nvSpPr>
              <p:cNvPr id="30" name="Equation"/>
              <p:cNvSpPr txBox="1"/>
              <p:nvPr/>
            </p:nvSpPr>
            <p:spPr>
              <a:xfrm>
                <a:off x="1211580" y="3958082"/>
                <a:ext cx="8229600" cy="132588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11580" y="528396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350" i="1">
                              <a:solidFill>
                                <a:srgbClr val="1F7A8C"/>
                              </a:solidFill>
                              <a:latin typeface="Cambria Math" panose="02040503050406030204" pitchFamily="18" charset="0"/>
                            </a:rPr>
                          </m:ctrlPr>
                        </m:sSubSupPr>
                        <m:e>
                          <m:acc>
                            <m:accPr>
                              <m:chr m:val="̂"/>
                              <m:ctrlPr>
                                <a:rPr lang="en-US" sz="2350" i="1">
                                  <a:solidFill>
                                    <a:srgbClr val="1F7A8C"/>
                                  </a:solidFill>
                                  <a:latin typeface="Cambria Math" panose="02040503050406030204" pitchFamily="18" charset="0"/>
                                </a:rPr>
                              </m:ctrlPr>
                            </m:accPr>
                            <m:e>
                              <m:r>
                                <a:rPr lang="en-US" sz="2350" i="1">
                                  <a:solidFill>
                                    <a:srgbClr val="1F7A8C"/>
                                  </a:solidFill>
                                  <a:latin typeface="Cambria Math" panose="02040503050406030204" pitchFamily="18" charset="0"/>
                                </a:rPr>
                                <m:t xml:space="preserve">φ</m:t>
                              </m:r>
                            </m:e>
                          </m:acc>
                        </m:e>
                        <m:sub>
                          <m:r>
                            <a:rPr lang="en-US" sz="2350" i="1">
                              <a:solidFill>
                                <a:srgbClr val="1F7A8C"/>
                              </a:solidFill>
                              <a:latin typeface="Cambria Math" panose="02040503050406030204" pitchFamily="18" charset="0"/>
                            </a:rPr>
                            <m:t xml:space="preserve">j</m:t>
                          </m:r>
                        </m:sub>
                        <m:sup>
                          <m:r>
                            <m:rPr>
                              <m:sty m:val="p"/>
                            </m:rPr>
                            <a:rPr lang="en-US" sz="2350">
                              <a:solidFill>
                                <a:srgbClr val="1F7A8C"/>
                              </a:solidFill>
                              <a:latin typeface="Cambria Math" panose="02040503050406030204" pitchFamily="18" charset="0"/>
                            </a:rPr>
                            <m:t xml:space="preserve"> pref</m:t>
                          </m:r>
                        </m:sup>
                      </m:sSubSup>
                      <m:r>
                        <m:rPr>
                          <m:sty m:val="p"/>
                        </m:rPr>
                        <a:rPr lang="en-US" sz="2350">
                          <a:solidFill>
                            <a:srgbClr val="1F7A8C"/>
                          </a:solidFill>
                          <a:latin typeface="Cambria Math" panose="02040503050406030204" pitchFamily="18" charset="0"/>
                        </a:rPr>
                        <m:t xml:space="preserve">=</m:t>
                      </m:r>
                      <m:f>
                        <m:fPr>
                          <m:ctrlPr>
                            <a:rPr lang="en-US" sz="2350" i="1">
                              <a:solidFill>
                                <a:srgbClr val="1F7A8C"/>
                              </a:solidFill>
                              <a:latin typeface="Cambria Math" panose="02040503050406030204" pitchFamily="18" charset="0"/>
                            </a:rPr>
                          </m:ctrlPr>
                        </m:fPr>
                        <m:num>
                          <m:r>
                            <m:rPr>
                              <m:sty m:val="p"/>
                            </m:rPr>
                            <a:rPr lang="en-US" sz="2350">
                              <a:solidFill>
                                <a:srgbClr val="1F7A8C"/>
                              </a:solidFill>
                              <a:latin typeface="Cambria Math" panose="02040503050406030204" pitchFamily="18" charset="0"/>
                            </a:rPr>
                            <m:t xml:space="preserve">1</m:t>
                          </m:r>
                        </m:num>
                        <m:den>
                          <m:r>
                            <a:rPr lang="en-US" sz="2350" i="1">
                              <a:solidFill>
                                <a:srgbClr val="1F7A8C"/>
                              </a:solidFill>
                              <a:latin typeface="Cambria Math" panose="02040503050406030204" pitchFamily="18" charset="0"/>
                            </a:rPr>
                            <m:t xml:space="preserve">M</m:t>
                          </m:r>
                        </m:den>
                      </m:f>
                      <m:nary>
                        <m:naryPr>
                          <m:chr m:val="∑"/>
                          <m:limLoc m:val="undOvr"/>
                          <m:ctrlPr>
                            <a:rPr lang="en-US" sz="2350" i="1">
                              <a:solidFill>
                                <a:srgbClr val="1F7A8C"/>
                              </a:solidFill>
                              <a:latin typeface="Cambria Math" panose="02040503050406030204" pitchFamily="18" charset="0"/>
                            </a:rPr>
                          </m:ctrlPr>
                        </m:naryPr>
                        <m:sub>
                          <m:r>
                            <a:rPr lang="en-US" sz="2350" i="1">
                              <a:solidFill>
                                <a:srgbClr val="1F7A8C"/>
                              </a:solidFill>
                              <a:latin typeface="Cambria Math" panose="02040503050406030204" pitchFamily="18" charset="0"/>
                            </a:rPr>
                            <m:t xml:space="preserve">m</m:t>
                          </m:r>
                          <m:r>
                            <m:rPr>
                              <m:sty m:val="p"/>
                            </m:rPr>
                            <a:rPr lang="en-US" sz="2350">
                              <a:solidFill>
                                <a:srgbClr val="1F7A8C"/>
                              </a:solidFill>
                              <a:latin typeface="Cambria Math" panose="02040503050406030204" pitchFamily="18" charset="0"/>
                            </a:rPr>
                            <m:t xml:space="preserve">=1</m:t>
                          </m:r>
                        </m:sub>
                        <m:sup>
                          <m:r>
                            <a:rPr lang="en-US" sz="2350" i="1">
                              <a:solidFill>
                                <a:srgbClr val="1F7A8C"/>
                              </a:solidFill>
                              <a:latin typeface="Cambria Math" panose="02040503050406030204" pitchFamily="18" charset="0"/>
                            </a:rPr>
                            <m:t xml:space="preserve">M</m:t>
                          </m:r>
                        </m:sup>
                        <m:e>
                          <m:d>
                            <m:dPr>
                              <m:begChr m:val="["/>
                              <m:endChr m:val="]"/>
                              <m:ctrlPr>
                                <a:rPr lang="en-US" sz="2350" i="1">
                                  <a:solidFill>
                                    <a:srgbClr val="1F7A8C"/>
                                  </a:solidFill>
                                  <a:latin typeface="Cambria Math" panose="02040503050406030204" pitchFamily="18" charset="0"/>
                                </a:rPr>
                              </m:ctrlPr>
                            </m:dPr>
                            <m:e>
                              <m:r>
                                <m:rPr>
                                  <m:sty m:val="p"/>
                                </m:rPr>
                                <a:rPr lang="en-US" sz="2350">
                                  <a:solidFill>
                                    <a:srgbClr val="1F7A8C"/>
                                  </a:solidFill>
                                  <a:latin typeface="Cambria Math" panose="02040503050406030204" pitchFamily="18" charset="0"/>
                                </a:rPr>
                                <m:t xml:space="preserve"> </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m:t>
                              </m:r>
                              <m:r>
                                <a:rPr lang="en-US" sz="2350" i="1">
                                  <a:solidFill>
                                    <a:srgbClr val="1F7A8C"/>
                                  </a:solidFill>
                                  <a:latin typeface="Cambria Math" panose="02040503050406030204" pitchFamily="18" charset="0"/>
                                </a:rPr>
                                <m:t xml:space="preserve">j</m:t>
                              </m:r>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 </m:t>
                              </m:r>
                            </m:e>
                          </m:d>
                        </m:e>
                      </m:nary>
                    </m:oMath>
                  </m:oMathPara>
                </a14:m>
                <a:endParaRPr lang="en-US" sz="2350"/>
              </a:p>
            </p:txBody>
          </p:sp>
        </mc:Choice>
        <mc:Fallback>
          <p:sp>
            <p:nvSpPr>
              <p:cNvPr id="31" name="Equation"/>
              <p:cNvSpPr txBox="1"/>
              <p:nvPr/>
            </p:nvSpPr>
            <p:spPr>
              <a:xfrm>
                <a:off x="1211580" y="5283962"/>
                <a:ext cx="8229600" cy="1325880"/>
              </a:xfrm>
              <a:prstGeom prst="rect">
                <a:avLst/>
              </a:prstGeom>
              <a:blipFill>
                <a:blip r:embed="rId6"/>
                <a:stretch>
                  <a:fillRect/>
                </a:stretch>
              </a:blipFill>
            </p:spPr>
            <p:txBody>
              <a:bodyPr/>
              <a:lstStyle/>
              <a:p>
                <a:endParaRPr lang="en-US"/>
              </a:p>
            </p:txBody>
          </p:sp>
        </mc:Fallback>
      </mc:AlternateContent>
      <p:sp>
        <p:nvSpPr>
          <p:cNvPr id="32" name="TextBox 31"/>
          <p:cNvSpPr txBox="1"/>
          <p:nvPr/>
        </p:nvSpPr>
        <p:spPr>
          <a:xfrm>
            <a:off x="1028700" y="6838442"/>
            <a:ext cx="8595360" cy="247015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Unbiased estimator:</a:t>
            </a:r>
            <a:r>
              <a:rPr lang="en-US" sz="1900" b="true">
                <a:solidFill>
                  <a:srgbClr val="111111"/>
                </a:solidFill>
                <a:latin typeface="Nunito Semi-Bold"/>
                <a:ea typeface="Nunito Semi-Bold"/>
                <a:cs typeface="Nunito Semi-Bold"/>
                <a:sym typeface="Nunito Semi-Bold"/>
              </a:rPr>
              <a:t> variance </a:t>
            </a:r>
            <a:r>
              <a:rPr lang="en-US" sz="1900" b="true">
                <a:solidFill>
                  <a:srgbClr val="111111"/>
                </a:solidFill>
                <a:latin typeface="Calibri"/>
                <a:ea typeface="Calibri"/>
                <a:cs typeface="Calibri"/>
                <a:sym typeface="Calibri"/>
              </a:rPr>
              <a:t>σ</a:t>
            </a:r>
            <a:r>
              <a:rPr lang="en-US" sz="1900" b="true">
                <a:solidFill>
                  <a:srgbClr val="111111"/>
                </a:solidFill>
                <a:latin typeface="Nunito Semi-Bold"/>
                <a:ea typeface="Nunito Semi-Bold"/>
                <a:cs typeface="Nunito Semi-Bold"/>
                <a:sym typeface="Nunito Semi-Bold"/>
              </a:rPr>
              <a:t>²/M, so the error shrinks as the number of permutations M grows.</a:t>
            </a:r>
          </a:p>
          <a:p>
            <a:pPr algn="l" marL="274320" indent="-274320">
              <a:lnSpc>
                <a:spcPts val="2812"/>
              </a:lnSpc>
              <a:spcBef>
                <a:spcPts val="80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M = 50 selected:</a:t>
            </a:r>
            <a:r>
              <a:rPr lang="en-US" sz="1900" b="true">
                <a:solidFill>
                  <a:srgbClr val="111111"/>
                </a:solidFill>
                <a:latin typeface="Nunito Semi-Bold"/>
                <a:ea typeface="Nunito Semi-Bold"/>
                <a:cs typeface="Nunito Semi-Bold"/>
                <a:sym typeface="Nunito Semi-Bold"/>
              </a:rPr>
              <a:t> MSE ≈ 1.4×10</a:t>
            </a:r>
            <a:r>
              <a:rPr lang="en-US" sz="1900" b="true" baseline="30000">
                <a:solidFill>
                  <a:srgbClr val="111111"/>
                </a:solidFill>
                <a:latin typeface="Nunito Semi-Bold"/>
                <a:ea typeface="Nunito Semi-Bold"/>
                <a:cs typeface="Nunito Semi-Bold"/>
                <a:sym typeface="Nunito Semi-Bold"/>
              </a:rPr>
              <a:t>−5</a:t>
            </a:r>
            <a:r>
              <a:rPr lang="en-US" sz="1900" b="true">
                <a:solidFill>
                  <a:srgbClr val="111111"/>
                </a:solidFill>
                <a:latin typeface="Nunito Semi-Bold"/>
                <a:ea typeface="Nunito Semi-Bold"/>
                <a:cs typeface="Nunito Semi-Bold"/>
                <a:sym typeface="Nunito Semi-Bold"/>
              </a:rPr>
              <a:t>, ≈ 99 % accuracy on MovieLens-1M; M = 100 </a:t>
            </a:r>
            <a:r>
              <a:rPr lang="en-US" sz="1900" b="true">
                <a:solidFill>
                  <a:srgbClr val="111111"/>
                </a:solidFill>
                <a:latin typeface="Calibri"/>
                <a:ea typeface="Calibri"/>
                <a:cs typeface="Calibri"/>
                <a:sym typeface="Calibri"/>
              </a:rPr>
              <a:t>→ </a:t>
            </a:r>
            <a:r>
              <a:rPr lang="en-US" sz="1900" b="true">
                <a:solidFill>
                  <a:srgbClr val="111111"/>
                </a:solidFill>
                <a:latin typeface="Nunito Semi-Bold"/>
                <a:ea typeface="Nunito Semi-Bold"/>
                <a:cs typeface="Nunito Semi-Bold"/>
                <a:sym typeface="Nunito Semi-Bold"/>
              </a:rPr>
              <a:t>MSE 3.5×10</a:t>
            </a:r>
            <a:r>
              <a:rPr lang="en-US" sz="1900" b="true" baseline="30000">
                <a:solidFill>
                  <a:srgbClr val="111111"/>
                </a:solidFill>
                <a:latin typeface="Nunito Semi-Bold"/>
                <a:ea typeface="Nunito Semi-Bold"/>
                <a:cs typeface="Nunito Semi-Bold"/>
                <a:sym typeface="Nunito Semi-Bold"/>
              </a:rPr>
              <a:t>−6</a:t>
            </a:r>
            <a:r>
              <a:rPr lang="en-US" sz="1900" b="true">
                <a:solidFill>
                  <a:srgbClr val="111111"/>
                </a:solidFill>
                <a:latin typeface="Nunito Semi-Bold"/>
                <a:ea typeface="Nunito Semi-Bold"/>
                <a:cs typeface="Nunito Semi-Bold"/>
                <a:sym typeface="Nunito Semi-Bold"/>
              </a:rPr>
              <a:t> (diminishing returns).</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Refreshed </a:t>
            </a:r>
            <a:r>
              <a:rPr lang="en-US" sz="1900" b="true">
                <a:solidFill>
                  <a:srgbClr val="111111"/>
                </a:solidFill>
                <a:latin typeface="Nunito Bold"/>
                <a:ea typeface="Nunito Bold"/>
                <a:cs typeface="Nunito Bold"/>
                <a:sym typeface="Nunito Bold"/>
              </a:rPr>
              <a:t>every 10 batches</a:t>
            </a:r>
            <a:r>
              <a:rPr lang="en-US" sz="1900" b="true">
                <a:solidFill>
                  <a:srgbClr val="111111"/>
                </a:solidFill>
                <a:latin typeface="Nunito Semi-Bold"/>
                <a:ea typeface="Nunito Semi-Bold"/>
                <a:cs typeface="Nunito Semi-Bold"/>
                <a:sym typeface="Nunito Semi-Bold"/>
              </a:rPr>
              <a:t> (≈ 49 updates / epoch), smoothed by an </a:t>
            </a:r>
            <a:r>
              <a:rPr lang="en-US" sz="1900" b="true">
                <a:solidFill>
                  <a:srgbClr val="111111"/>
                </a:solidFill>
                <a:latin typeface="Nunito Bold"/>
                <a:ea typeface="Nunito Bold"/>
                <a:cs typeface="Nunito Bold"/>
                <a:sym typeface="Nunito Bold"/>
              </a:rPr>
              <a:t>exponential moving average</a:t>
            </a:r>
            <a:r>
              <a:rPr lang="en-US" sz="1900" b="true">
                <a:solidFill>
                  <a:srgbClr val="111111"/>
                </a:solidFill>
                <a:latin typeface="Nunito Semi-Bold"/>
                <a:ea typeface="Nunito Semi-Bold"/>
                <a:cs typeface="Nunito Semi-Bold"/>
                <a:sym typeface="Nunito Semi-Bold"/>
              </a:rPr>
              <a:t>.</a:t>
            </a:r>
          </a:p>
        </p:txBody>
      </p:sp>
      <p:graphicFrame>
        <p:nvGraphicFramePr>
          <p:cNvPr id="33" name="Table 32"/>
          <p:cNvGraphicFramePr>
            <a:graphicFrameLocks noGrp="1"/>
          </p:cNvGraphicFramePr>
          <p:nvPr/>
        </p:nvGraphicFramePr>
        <p:xfrm>
          <a:off x="10172700" y="3363722"/>
          <a:ext cx="7086598" cy="2267712"/>
        </p:xfrm>
        <a:graphic>
          <a:graphicData uri="http://schemas.openxmlformats.org/drawingml/2006/table">
            <a:tbl>
              <a:tblPr firstRow="0" bandRow="0" firstCol="0" lastRow="0" lastCol="0" bandCol="0">
                <a:tableStyleId>{2D5ABB26-0587-4C30-8999-92F81FD0307C}</a:tableStyleId>
              </a:tblPr>
              <a:tblGrid>
                <a:gridCol w="1635369"/>
                <a:gridCol w="2998176"/>
                <a:gridCol w="2453053"/>
              </a:tblGrid>
              <a:tr h="566928">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MSE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Accuracy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5.6×10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96 %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50 </a:t>
                      </a:r>
                      <a:r>
                        <a:rPr lang="en-US" sz="18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1.4×10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3.5×10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⁶</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99.5 %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4" name="TextBox 33"/>
          <p:cNvSpPr txBox="1"/>
          <p:nvPr/>
        </p:nvSpPr>
        <p:spPr>
          <a:xfrm>
            <a:off x="10172700" y="5704586"/>
            <a:ext cx="7086600" cy="36576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M = 50 balances estimator quality against per-epoch cost; rows 25/100 show the O(1/M) trend.</a:t>
            </a:r>
          </a:p>
        </p:txBody>
      </p:sp>
      <p:sp>
        <p:nvSpPr>
          <p:cNvPr id="35" name="Rounded Rectangle 34"/>
          <p:cNvSpPr/>
          <p:nvPr/>
        </p:nvSpPr>
        <p:spPr>
          <a:xfrm>
            <a:off x="10172700" y="6362954"/>
            <a:ext cx="7086600" cy="2945638"/>
          </a:xfrm>
          <a:prstGeom prst="roundRect">
            <a:avLst>
              <a:gd name="adj" fmla="val 10554"/>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0629900" y="6125210"/>
            <a:ext cx="321070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In the training loop</a:t>
            </a:r>
          </a:p>
        </p:txBody>
      </p:sp>
      <p:sp>
        <p:nvSpPr>
          <p:cNvPr id="37" name="TextBox 36"/>
          <p:cNvSpPr txBox="1"/>
          <p:nvPr/>
        </p:nvSpPr>
        <p:spPr>
          <a:xfrm>
            <a:off x="10629900" y="6957314"/>
            <a:ext cx="6217920" cy="2076958"/>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Sample M permutations per refresh </a:t>
            </a:r>
            <a:r>
              <a:rPr lang="en-US" sz="1800" b="true">
                <a:solidFill>
                  <a:srgbClr val="FFFFFF"/>
                </a:solidFill>
                <a:latin typeface="Calibri"/>
                <a:ea typeface="Calibri"/>
                <a:cs typeface="Calibri"/>
                <a:sym typeface="Calibri"/>
              </a:rPr>
              <a:t>→ </a:t>
            </a:r>
            <a:r>
              <a:rPr lang="en-US" sz="1800" b="true">
                <a:solidFill>
                  <a:srgbClr val="FFFFFF"/>
                </a:solidFill>
                <a:latin typeface="Nunito Semi-Bold"/>
                <a:ea typeface="Nunito Semi-Bold"/>
                <a:cs typeface="Nunito Semi-Bold"/>
                <a:sym typeface="Nunito Semi-Bold"/>
              </a:rPr>
              <a:t>estimate </a:t>
            </a:r>
            <a:r>
              <a:rPr lang="en-US" sz="1800" b="true">
                <a:solidFill>
                  <a:srgbClr val="FFFFFF"/>
                </a:solidFill>
                <a:latin typeface="Cambria Math"/>
                <a:ea typeface="Cambria Math"/>
                <a:cs typeface="Cambria Math"/>
                <a:sym typeface="Cambria Math"/>
              </a:rPr>
              <a:t>φ̂ </a:t>
            </a:r>
            <a:r>
              <a:rPr lang="en-US" sz="1800" b="true">
                <a:solidFill>
                  <a:srgbClr val="FFFFFF"/>
                </a:solidFill>
                <a:latin typeface="Nunito Semi-Bold"/>
                <a:ea typeface="Nunito Semi-Bold"/>
                <a:cs typeface="Nunito Semi-Bold"/>
                <a:sym typeface="Nunito Semi-Bold"/>
              </a:rPr>
              <a:t>for the players in the episode.</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Clip, EMA-smooth, normalise </a:t>
            </a:r>
            <a:r>
              <a:rPr lang="en-US" sz="1800" b="true">
                <a:solidFill>
                  <a:srgbClr val="FFFFFF"/>
                </a:solidFill>
                <a:latin typeface="Calibri"/>
                <a:ea typeface="Calibri"/>
                <a:cs typeface="Calibri"/>
                <a:sym typeface="Calibri"/>
              </a:rPr>
              <a:t>→ </a:t>
            </a:r>
            <a:r>
              <a:rPr lang="en-US" sz="1800" b="true">
                <a:solidFill>
                  <a:srgbClr val="FFFFFF"/>
                </a:solidFill>
                <a:latin typeface="Nunito Bold"/>
                <a:ea typeface="Nunito Bold"/>
                <a:cs typeface="Nunito Bold"/>
                <a:sym typeface="Nunito Bold"/>
              </a:rPr>
              <a:t>hypergraph edge weights</a:t>
            </a:r>
            <a:r>
              <a:rPr lang="en-US" sz="1800" b="true">
                <a:solidFill>
                  <a:srgbClr val="FFFFFF"/>
                </a:solidFill>
                <a:latin typeface="Nunito Semi-Bold"/>
                <a:ea typeface="Nunito Semi-Bold"/>
                <a:cs typeface="Nunito Semi-Bold"/>
                <a:sym typeface="Nunito Semi-Bold"/>
              </a:rPr>
              <a:t>.</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Cost per epoch: </a:t>
            </a:r>
            <a:r>
              <a:rPr lang="en-US" sz="1800" b="true">
                <a:solidFill>
                  <a:srgbClr val="FFFFFF"/>
                </a:solidFill>
                <a:latin typeface="Nunito Bold"/>
                <a:ea typeface="Nunito Bold"/>
                <a:cs typeface="Nunito Bold"/>
                <a:sym typeface="Nunito Bold"/>
              </a:rPr>
              <a:t>O((L+1)·m·d) + O((M/f)·m)</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Shapley-Weighted Hypergraph Message Passing</a:t>
            </a:r>
          </a:p>
        </p:txBody>
      </p:sp>
      <p:pic>
        <p:nvPicPr>
          <p:cNvPr id="23" name="Picture 22" descr="image.png"/>
          <p:cNvPicPr>
            <a:picLocks noChangeAspect="1"/>
          </p:cNvPicPr>
          <p:nvPr/>
        </p:nvPicPr>
        <p:blipFill>
          <a:blip r:embed="rId3"/>
          <a:stretch>
            <a:fillRect/>
          </a:stretch>
        </p:blipFill>
        <p:spPr>
          <a:xfrm>
            <a:off x="13838915"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363722"/>
            <a:ext cx="16230600" cy="3291840"/>
          </a:xfrm>
          <a:prstGeom prst="roundRect">
            <a:avLst>
              <a:gd name="adj" fmla="val 6944"/>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dyhucog_arch.png"/>
          <p:cNvPicPr>
            <a:picLocks noChangeAspect="1"/>
          </p:cNvPicPr>
          <p:nvPr/>
        </p:nvPicPr>
        <p:blipFill>
          <a:blip r:embed="rId5"/>
          <a:stretch>
            <a:fillRect/>
          </a:stretch>
        </p:blipFill>
        <p:spPr>
          <a:xfrm>
            <a:off x="2886858" y="3500882"/>
            <a:ext cx="12514283" cy="3017520"/>
          </a:xfrm>
          <a:prstGeom prst="rect">
            <a:avLst/>
          </a:prstGeom>
        </p:spPr>
      </p:pic>
      <p:sp>
        <p:nvSpPr>
          <p:cNvPr id="30" name="TextBox 29"/>
          <p:cNvSpPr txBox="1"/>
          <p:nvPr/>
        </p:nvSpPr>
        <p:spPr>
          <a:xfrm>
            <a:off x="1211580" y="6271514"/>
            <a:ext cx="15864840" cy="411480"/>
          </a:xfrm>
          <a:prstGeom prst="rect">
            <a:avLst/>
          </a:prstGeom>
          <a:noFill/>
        </p:spPr>
        <p:txBody>
          <a:bodyPr anchor="t" rtlCol="false" lIns="0" tIns="0" rIns="0" bIns="0" wrap="square"/>
          <a:lstStyle/>
          <a:p>
            <a:pPr algn="r">
              <a:lnSpc>
                <a:spcPts val="1800"/>
              </a:lnSpc>
              <a:spcBef>
                <a:spcPts val="0"/>
              </a:spcBef>
              <a:buNone/>
            </a:pPr>
            <a:r>
              <a:rPr lang="en-US" sz="1400" b="true">
                <a:solidFill>
                  <a:srgbClr val="8A8378"/>
                </a:solidFill>
                <a:latin typeface="Nunito Semi-Bold"/>
                <a:ea typeface="Nunito Semi-Bold"/>
                <a:cs typeface="Nunito Semi-Bold"/>
                <a:sym typeface="Nunito Semi-Bold"/>
              </a:rPr>
              <a:t>Fig. 7.1 (thesis): workflow of the DyHuCoG architecture</a:t>
            </a:r>
          </a:p>
        </p:txBody>
      </p:sp>
      <p:sp>
        <p:nvSpPr>
          <p:cNvPr id="31" name="Rounded Rectangle 30"/>
          <p:cNvSpPr/>
          <p:nvPr/>
        </p:nvSpPr>
        <p:spPr>
          <a:xfrm>
            <a:off x="1028700" y="6884162"/>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32" name="TextBox 31"/>
          <p:cNvSpPr txBox="1"/>
          <p:nvPr/>
        </p:nvSpPr>
        <p:spPr>
          <a:xfrm>
            <a:off x="1348740" y="6884162"/>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Shapley-weighted</a:t>
            </a:r>
          </a:p>
        </p:txBody>
      </p:sp>
      <mc:AlternateContent xmlns:mc="http://schemas.openxmlformats.org/markup-compatibility/2006">
        <mc:Choice xmlns:a14="http://schemas.microsoft.com/office/drawing/2010/main" Requires="a14">
          <p:sp>
            <p:nvSpPr>
              <p:cNvPr id="33" name="Equation"/>
              <p:cNvSpPr txBox="1"/>
              <p:nvPr/>
            </p:nvSpPr>
            <p:spPr>
              <a:xfrm>
                <a:off x="4686300" y="6884162"/>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+1)</m:t>
                          </m:r>
                        </m:sup>
                      </m:sSub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W</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p>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r>
                            <m:rPr>
                              <m:sty m:val="p"/>
                            </m:rPr>
                            <a:rPr lang="en-US" sz="2200">
                              <a:solidFill>
                                <a:srgbClr val="111111"/>
                              </a:solidFill>
                              <a:latin typeface="Cambria Math" panose="02040503050406030204" pitchFamily="18" charset="0"/>
                            </a:rPr>
                            <m:t xml:space="preserve">+</m:t>
                          </m:r>
                          <m:nary>
                            <m:naryPr>
                              <m:chr m:val="∑"/>
                              <m:limLoc m:val="subSup"/>
                              <m:supHide m:val="1"/>
                              <m:ctrlPr>
                                <a:rPr lang="en-US" sz="2200" i="1">
                                  <a:solidFill>
                                    <a:srgbClr val="111111"/>
                                  </a:solidFill>
                                  <a:latin typeface="Cambria Math" panose="02040503050406030204" pitchFamily="18" charset="0"/>
                                </a:rPr>
                              </m:ctrlPr>
                            </m:naryPr>
                            <m:sub>
                              <m:r>
                                <a:rPr lang="en-US" sz="2200" i="1">
                                  <a:solidFill>
                                    <a:srgbClr val="111111"/>
                                  </a:solidFill>
                                  <a:latin typeface="Cambria Math" panose="02040503050406030204" pitchFamily="18" charset="0"/>
                                </a:rPr>
                                <m:t xml:space="preserve">k</m:t>
                              </m:r>
                              <m:r>
                                <m:rPr>
                                  <m:sty m:val="p"/>
                                </m:rPr>
                                <a:rPr lang="en-US" sz="2200">
                                  <a:solidFill>
                                    <a:srgbClr val="111111"/>
                                  </a:solidFill>
                                  <a:latin typeface="Cambria Math" panose="02040503050406030204" pitchFamily="18" charset="0"/>
                                </a:rPr>
                                <m:t xml:space="preserve">∈</m:t>
                              </m:r>
                              <m:r>
                                <m:rPr>
                                  <m:scr m:val="script"/>
                                  <m:sty m:val="p"/>
                                </m:rPr>
                                <a:rPr lang="en-US" sz="2200">
                                  <a:solidFill>
                                    <a:srgbClr val="111111"/>
                                  </a:solidFill>
                                  <a:latin typeface="Cambria Math" panose="02040503050406030204" pitchFamily="18" charset="0"/>
                                </a:rPr>
                                <m:t xml:space="preserve">N</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j</m:t>
                              </m:r>
                              <m:r>
                                <m:rPr>
                                  <m:sty m:val="p"/>
                                </m:rPr>
                                <a:rPr lang="en-US" sz="2200">
                                  <a:solidFill>
                                    <a:srgbClr val="111111"/>
                                  </a:solidFill>
                                  <a:latin typeface="Cambria Math" panose="02040503050406030204" pitchFamily="18" charset="0"/>
                                </a:rPr>
                                <m:t xml:space="preserve">)</m:t>
                              </m:r>
                            </m:sub>
                            <m:sup/>
                            <m:e>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w</m:t>
                                  </m:r>
                                </m:e>
                                <m:sub>
                                  <m:r>
                                    <a:rPr lang="en-US" sz="2200" i="1">
                                      <a:solidFill>
                                        <a:srgbClr val="111111"/>
                                      </a:solidFill>
                                      <a:latin typeface="Cambria Math" panose="02040503050406030204" pitchFamily="18" charset="0"/>
                                    </a:rPr>
                                    <m:t xml:space="preserve">jk</m:t>
                                  </m:r>
                                </m:sub>
                              </m:sSub>
                            </m:e>
                          </m:nary>
                          <m:r>
                            <m:rPr>
                              <m:sty m:val="p"/>
                            </m:rPr>
                            <a:rPr lang="en-US" sz="2200">
                              <a:solidFill>
                                <a:srgbClr val="111111"/>
                              </a:solidFill>
                              <a:latin typeface="Cambria Math" panose="02040503050406030204" pitchFamily="18" charset="0"/>
                            </a:rPr>
                            <m:t xml:space="preserve"> </m:t>
                          </m:r>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k</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e>
                      </m:d>
                    </m:oMath>
                  </m:oMathPara>
                </a14:m>
                <a:endParaRPr lang="en-US" sz="2200"/>
              </a:p>
            </p:txBody>
          </p:sp>
        </mc:Choice>
        <mc:Fallback>
          <p:sp>
            <p:nvSpPr>
              <p:cNvPr id="33" name="Equation"/>
              <p:cNvSpPr txBox="1"/>
              <p:nvPr/>
            </p:nvSpPr>
            <p:spPr>
              <a:xfrm>
                <a:off x="4686300" y="6884162"/>
                <a:ext cx="9372600" cy="777663"/>
              </a:xfrm>
              <a:prstGeom prst="rect">
                <a:avLst/>
              </a:prstGeom>
              <a:blipFill>
                <a:blip r:embed="rId6"/>
                <a:stretch>
                  <a:fillRect/>
                </a:stretch>
              </a:blipFill>
            </p:spPr>
            <p:txBody>
              <a:bodyPr/>
              <a:lstStyle/>
              <a:p>
                <a:endParaRPr lang="en-US"/>
              </a:p>
            </p:txBody>
          </p:sp>
        </mc:Fallback>
      </mc:AlternateContent>
      <p:sp>
        <p:nvSpPr>
          <p:cNvPr id="34" name="TextBox 33"/>
          <p:cNvSpPr txBox="1"/>
          <p:nvPr/>
        </p:nvSpPr>
        <p:spPr>
          <a:xfrm>
            <a:off x="14241780" y="6884162"/>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w from normalised, clipped, EMA-smoothed MC Shapley</a:t>
            </a:r>
          </a:p>
        </p:txBody>
      </p:sp>
      <p:sp>
        <p:nvSpPr>
          <p:cNvPr id="35" name="Rounded Rectangle 34"/>
          <p:cNvSpPr/>
          <p:nvPr/>
        </p:nvSpPr>
        <p:spPr>
          <a:xfrm>
            <a:off x="1028700" y="7753265"/>
            <a:ext cx="16230600" cy="777663"/>
          </a:xfrm>
          <a:prstGeom prst="roundRect">
            <a:avLst>
              <a:gd name="adj" fmla="val 18813"/>
            </a:avLst>
          </a:prstGeom>
          <a:solidFill>
            <a:srgbClr val="FBF4EB"/>
          </a:solidFill>
          <a:ln>
            <a:noFill/>
          </a:ln>
        </p:spPr>
        <p:txBody>
          <a:bodyPr anchor="ctr" rtlCol="false" lIns="0" tIns="0" rIns="0" bIns="0" wrap="square"/>
          <a:lstStyle/>
          <a:p>
            <a:endParaRPr lang="en-US" sz="1800"/>
          </a:p>
        </p:txBody>
      </p:sp>
      <p:sp>
        <p:nvSpPr>
          <p:cNvPr id="36" name="TextBox 35"/>
          <p:cNvSpPr txBox="1"/>
          <p:nvPr/>
        </p:nvSpPr>
        <p:spPr>
          <a:xfrm>
            <a:off x="1348740" y="7753265"/>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Attention gate</a:t>
            </a:r>
          </a:p>
        </p:txBody>
      </p:sp>
      <mc:AlternateContent xmlns:mc="http://schemas.openxmlformats.org/markup-compatibility/2006">
        <mc:Choice xmlns:a14="http://schemas.microsoft.com/office/drawing/2010/main" Requires="a14">
          <p:sp>
            <p:nvSpPr>
              <p:cNvPr id="37" name="Equation"/>
              <p:cNvSpPr txBox="1"/>
              <p:nvPr/>
            </p:nvSpPr>
            <p:spPr>
              <a:xfrm>
                <a:off x="4686300" y="7753265"/>
                <a:ext cx="1229868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σ</m:t>
                      </m:r>
                      <m:d>
                        <m:dPr>
                          <m:ctrlPr>
                            <a:rPr lang="en-US" sz="2400" i="1">
                              <a:solidFill>
                                <a:srgbClr val="111111"/>
                              </a:solidFill>
                              <a:latin typeface="Cambria Math" panose="02040503050406030204" pitchFamily="18" charset="0"/>
                            </a:rPr>
                          </m:ctrlPr>
                        </m:dPr>
                        <m:e>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W</m:t>
                              </m:r>
                            </m:e>
                            <m:sub>
                              <m:r>
                                <a:rPr lang="en-US" sz="2400" i="1">
                                  <a:solidFill>
                                    <a:srgbClr val="111111"/>
                                  </a:solidFill>
                                  <a:latin typeface="Cambria Math" panose="02040503050406030204" pitchFamily="18" charset="0"/>
                                </a:rPr>
                                <m:t xml:space="preserve">a</m:t>
                              </m:r>
                            </m:sub>
                          </m:sSub>
                          <m:r>
                            <m:rPr>
                              <m:sty m:val="p"/>
                            </m:rPr>
                            <a:rPr lang="en-US" sz="2400">
                              <a:solidFill>
                                <a:srgbClr val="111111"/>
                              </a:solidFill>
                              <a:latin typeface="Cambria Math" panose="02040503050406030204" pitchFamily="18" charset="0"/>
                            </a:rPr>
                            <m:t xml:space="preserve"> [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l</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 ]</m:t>
                          </m:r>
                        </m:e>
                      </m:d>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=(1+</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37" name="Equation"/>
              <p:cNvSpPr txBox="1"/>
              <p:nvPr/>
            </p:nvSpPr>
            <p:spPr>
              <a:xfrm>
                <a:off x="4686300" y="7753265"/>
                <a:ext cx="12298680" cy="777663"/>
              </a:xfrm>
              <a:prstGeom prst="rect">
                <a:avLst/>
              </a:prstGeom>
              <a:blipFill>
                <a:blip r:embed="rId7"/>
                <a:stretch>
                  <a:fillRect/>
                </a:stretch>
              </a:blipFill>
            </p:spPr>
            <p:txBody>
              <a:bodyPr/>
              <a:lstStyle/>
              <a:p>
                <a:endParaRPr lang="en-US"/>
              </a:p>
            </p:txBody>
          </p:sp>
        </mc:Fallback>
      </mc:AlternateContent>
      <p:sp>
        <p:nvSpPr>
          <p:cNvPr id="38" name="Rounded Rectangle 37"/>
          <p:cNvSpPr/>
          <p:nvPr/>
        </p:nvSpPr>
        <p:spPr>
          <a:xfrm>
            <a:off x="1028700" y="8622368"/>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39" name="TextBox 38"/>
          <p:cNvSpPr txBox="1"/>
          <p:nvPr/>
        </p:nvSpPr>
        <p:spPr>
          <a:xfrm>
            <a:off x="1348740" y="8622368"/>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Context-aware score</a:t>
            </a:r>
          </a:p>
        </p:txBody>
      </p:sp>
      <mc:AlternateContent xmlns:mc="http://schemas.openxmlformats.org/markup-compatibility/2006">
        <mc:Choice xmlns:a14="http://schemas.microsoft.com/office/drawing/2010/main" Requires="a14">
          <p:sp>
            <p:nvSpPr>
              <p:cNvPr id="40" name="Equation"/>
              <p:cNvSpPr txBox="1"/>
              <p:nvPr/>
            </p:nvSpPr>
            <p:spPr>
              <a:xfrm>
                <a:off x="4686300" y="8622368"/>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2400" i="1">
                          <a:solidFill>
                            <a:srgbClr val="111111"/>
                          </a:solidFill>
                          <a:latin typeface="Cambria Math" panose="02040503050406030204" pitchFamily="18" charset="0"/>
                        </a:rPr>
                        <m:t xml:space="preserve">f</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u</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i</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c</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λ</m:t>
                          </m:r>
                        </m:e>
                        <m:sub>
                          <m:r>
                            <a:rPr lang="en-US" sz="2400" i="1">
                              <a:solidFill>
                                <a:srgbClr val="111111"/>
                              </a:solidFill>
                              <a:latin typeface="Cambria Math" panose="02040503050406030204" pitchFamily="18" charset="0"/>
                            </a:rPr>
                            <m:t xml:space="preserve">c</m:t>
                          </m:r>
                        </m:sub>
                      </m:sSub>
                      <m:r>
                        <m:rPr>
                          <m:sty m:val="p"/>
                        </m:rPr>
                        <a:rPr lang="en-US" sz="2400">
                          <a:solidFill>
                            <a:srgbClr val="111111"/>
                          </a:solidFill>
                          <a:latin typeface="Cambria Math" panose="02040503050406030204" pitchFamily="18" charset="0"/>
                        </a:rPr>
                        <m:t xml:space="preserve"> ⟨ </m:t>
                      </m:r>
                      <m:r>
                        <a:rPr lang="en-US" sz="2400" i="1">
                          <a:solidFill>
                            <a:srgbClr val="111111"/>
                          </a:solidFill>
                          <a:latin typeface="Cambria Math" panose="02040503050406030204" pitchFamily="18" charset="0"/>
                        </a:rPr>
                        <m:t xml:space="preserve">g</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40" name="Equation"/>
              <p:cNvSpPr txBox="1"/>
              <p:nvPr/>
            </p:nvSpPr>
            <p:spPr>
              <a:xfrm>
                <a:off x="4686300" y="8622368"/>
                <a:ext cx="9372600" cy="777663"/>
              </a:xfrm>
              <a:prstGeom prst="rect">
                <a:avLst/>
              </a:prstGeom>
              <a:blipFill>
                <a:blip r:embed="rId8"/>
                <a:stretch>
                  <a:fillRect/>
                </a:stretch>
              </a:blipFill>
            </p:spPr>
            <p:txBody>
              <a:bodyPr/>
              <a:lstStyle/>
              <a:p>
                <a:endParaRPr lang="en-US"/>
              </a:p>
            </p:txBody>
          </p:sp>
        </mc:Fallback>
      </mc:AlternateContent>
      <p:sp>
        <p:nvSpPr>
          <p:cNvPr id="41" name="TextBox 40"/>
          <p:cNvSpPr txBox="1"/>
          <p:nvPr/>
        </p:nvSpPr>
        <p:spPr>
          <a:xfrm>
            <a:off x="14241780" y="8622368"/>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loss = BPR + diversity + context + L2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   [27] Holm, S. A Simple Sequentially Rejective Multiple Test Procedure. Scand. J. Statist. 6(2), 65–70 (1979).  ·  Cohen, J. Statistical Power Analysis for the Behavioral Sciences (1988).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3" name="Picture 22" descr="image.png"/>
          <p:cNvPicPr>
            <a:picLocks noChangeAspect="1"/>
          </p:cNvPicPr>
          <p:nvPr/>
        </p:nvPicPr>
        <p:blipFill>
          <a:blip r:embed="rId3"/>
          <a:stretch>
            <a:fillRect/>
          </a:stretch>
        </p:blipFill>
        <p:spPr>
          <a:xfrm>
            <a:off x="6376338"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28" name="Table 27"/>
          <p:cNvGraphicFramePr>
            <a:graphicFrameLocks noGrp="1"/>
          </p:cNvGraphicFramePr>
          <p:nvPr/>
        </p:nvGraphicFramePr>
        <p:xfrm>
          <a:off x="1028700" y="3363722"/>
          <a:ext cx="9966960" cy="5073396"/>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MovieLens-1M (dense, 0.0447) and Amazon-Book (sparse, 0.0006); Yelp2018 as a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Split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User-level, time-ordered 70 / 10 / 20; leave-one-out target per user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Baselines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NCF, LightGCN, RecDCL, HCCF, 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Metrics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NDCG@20 (main), Recall@20, Catalogue Coverage, Intra-List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Repeats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Five seeds {42 … 46}; mean ± standard deviation reported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Statistics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Paired t-test and Wilcoxon on per-user NDCG@20; Holm–Bonferroni; Cohen's d</a:t>
                      </a:r>
                      <a:r>
                        <a:rPr lang="en-US" sz="1700" b="true" baseline="-25000">
                          <a:solidFill>
                            <a:srgbClr val="111111"/>
                          </a:solidFill>
                          <a:latin typeface="Nunito Semi-Bold"/>
                          <a:ea typeface="Nunito Semi-Bold"/>
                          <a:cs typeface="Nunito Semi-Bold"/>
                          <a:sym typeface="Nunito Semi-Bold"/>
                        </a:rPr>
                        <a:t>z</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Ablation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Remove one component at a time: Shapley, hypergraph, attention, context,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9" name="Rounded Rectangle 28"/>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1" name="TextBox 30"/>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Beat HPCF on both datasets</a:t>
            </a:r>
            <a:r>
              <a:rPr lang="en-US" sz="1900" b="true">
                <a:solidFill>
                  <a:srgbClr val="FFFFFF"/>
                </a:solidFill>
                <a:latin typeface="Nunito Semi-Bold"/>
                <a:ea typeface="Nunito Semi-Bold"/>
                <a:cs typeface="Nunito Semi-Bold"/>
                <a:sym typeface="Nunito Semi-Bold"/>
              </a:rPr>
              <a:t> in NDCG@20 and Recall@20, with p &lt; 0.05 after correction.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Coverage and ILD go up at the same time</a:t>
            </a:r>
            <a:r>
              <a:rPr lang="en-US" sz="1900" b="true">
                <a:solidFill>
                  <a:srgbClr val="FFFFFF"/>
                </a:solidFill>
                <a:latin typeface="Nunito Semi-Bold"/>
                <a:ea typeface="Nunito Semi-Bold"/>
                <a:cs typeface="Nunito Semi-Bold"/>
                <a:sym typeface="Nunito Semi-Bold"/>
              </a:rPr>
              <a:t>: no accuracy-for-diversity trade.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Every component matters</a:t>
            </a:r>
            <a:r>
              <a:rPr lang="en-US" sz="1900" b="true">
                <a:solidFill>
                  <a:srgbClr val="FFFFFF"/>
                </a:solidFill>
                <a:latin typeface="Nunito Semi-Bold"/>
                <a:ea typeface="Nunito Semi-Bold"/>
                <a:cs typeface="Nunito Semi-Bold"/>
                <a:sym typeface="Nunito Semi-Bold"/>
              </a:rPr>
              <a:t>: removing any one of them lowers NDCG@20.</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Overhead stays bounded</a:t>
            </a:r>
            <a:r>
              <a:rPr lang="en-US" sz="1900" b="true">
                <a:solidFill>
                  <a:srgbClr val="FFFFFF"/>
                </a:solidFill>
                <a:latin typeface="Nunito Semi-Bold"/>
                <a:ea typeface="Nunito Semi-Bold"/>
                <a:cs typeface="Nunito Semi-Bold"/>
                <a:sym typeface="Nunito Semi-Bold"/>
              </a:rPr>
              <a:t>: training time within about 2× HPCF; real-time inference.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MovieLens-1M</a:t>
            </a:r>
          </a:p>
        </p:txBody>
      </p:sp>
      <p:pic>
        <p:nvPicPr>
          <p:cNvPr id="23" name="Picture 22" descr="image.png"/>
          <p:cNvPicPr>
            <a:picLocks noChangeAspect="1"/>
          </p:cNvPicPr>
          <p:nvPr/>
        </p:nvPicPr>
        <p:blipFill>
          <a:blip r:embed="rId3"/>
          <a:stretch>
            <a:fillRect/>
          </a:stretch>
        </p:blipFill>
        <p:spPr>
          <a:xfrm>
            <a:off x="9149156"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DyHuCoG is best on all four metrics</a:t>
            </a:r>
            <a:r>
              <a:rPr lang="en-US" sz="1900" b="true">
                <a:solidFill>
                  <a:srgbClr val="111111"/>
                </a:solidFill>
                <a:latin typeface="Nunito Semi-Bold"/>
                <a:ea typeface="Nunito Semi-Bold"/>
                <a:cs typeface="Nunito Semi-Bold"/>
                <a:sym typeface="Nunito Semi-Bold"/>
              </a:rPr>
              <a:t> against six baselines from four model families.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0.2775 vs 0.2528</a:t>
            </a:r>
            <a:r>
              <a:rPr lang="en-US" sz="1900" b="true">
                <a:solidFill>
                  <a:srgbClr val="111111"/>
                </a:solidFill>
                <a:latin typeface="Nunito Semi-Bold"/>
                <a:ea typeface="Nunito Semi-Bold"/>
                <a:cs typeface="Nunito Semi-Bold"/>
                <a:sym typeface="Nunito Semi-Bold"/>
              </a:rPr>
              <a:t> for HPCF (+9.8 %); Recall@20 </a:t>
            </a:r>
            <a:r>
              <a:rPr lang="en-US" sz="1900" b="true">
                <a:solidFill>
                  <a:srgbClr val="111111"/>
                </a:solidFill>
                <a:latin typeface="Nunito Bold"/>
                <a:ea typeface="Nunito Bold"/>
                <a:cs typeface="Nunito Bold"/>
                <a:sym typeface="Nunito Bold"/>
              </a:rPr>
              <a:t>0.2362 vs 0.2098</a:t>
            </a:r>
            <a:r>
              <a:rPr lang="en-US" sz="1900" b="true">
                <a:solidFill>
                  <a:srgbClr val="111111"/>
                </a:solidFill>
                <a:latin typeface="Nunito Semi-Bold"/>
                <a:ea typeface="Nunito Semi-Bold"/>
                <a:cs typeface="Nunito Semi-Bold"/>
                <a:sym typeface="Nunito Semi-Bold"/>
              </a:rPr>
              <a:t> (+12.6 %).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0.397 vs 0.342</a:t>
            </a:r>
            <a:r>
              <a:rPr lang="en-US" sz="1900" b="true">
                <a:solidFill>
                  <a:srgbClr val="111111"/>
                </a:solidFill>
                <a:latin typeface="Nunito Semi-Bold"/>
                <a:ea typeface="Nunito Semi-Bold"/>
                <a:cs typeface="Nunito Semi-Bold"/>
                <a:sym typeface="Nunito Semi-Bold"/>
              </a:rPr>
              <a:t> (+16.1 %) and ILD </a:t>
            </a:r>
            <a:r>
              <a:rPr lang="en-US" sz="1900" b="true">
                <a:solidFill>
                  <a:srgbClr val="111111"/>
                </a:solidFill>
                <a:latin typeface="Nunito Bold"/>
                <a:ea typeface="Nunito Bold"/>
                <a:cs typeface="Nunito Bold"/>
                <a:sym typeface="Nunito Bold"/>
              </a:rPr>
              <a:t>0.516 vs 0.461</a:t>
            </a:r>
            <a:r>
              <a:rPr lang="en-US" sz="1900" b="true">
                <a:solidFill>
                  <a:srgbClr val="111111"/>
                </a:solidFill>
                <a:latin typeface="Nunito Semi-Bold"/>
                <a:ea typeface="Nunito Semi-Bold"/>
                <a:cs typeface="Nunito Semi-Bold"/>
                <a:sym typeface="Nunito Semi-Bold"/>
              </a:rPr>
              <a:t> (+11.9 %): more of the catalogue reaches users.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gap widens from classical (MF) to graph (LightGCN) to hypergraph (HCCF, HPCF) models, and DyHuCoG adds another step on top of the strongest.</a:t>
            </a:r>
          </a:p>
        </p:txBody>
      </p:sp>
      <p:sp>
        <p:nvSpPr>
          <p:cNvPr id="29" name="Rounded Rectangle 28"/>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+9.8 %  ·  +12.6 %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0" name="Table 29"/>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0.1200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0.0880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0.239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0.367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0.1100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0.1790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0.1918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0.2362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0.516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1" name="TextBox 30"/>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Amazon-Book</a:t>
            </a:r>
          </a:p>
        </p:txBody>
      </p:sp>
      <p:pic>
        <p:nvPicPr>
          <p:cNvPr id="23" name="Picture 22" descr="image.png"/>
          <p:cNvPicPr>
            <a:picLocks noChangeAspect="1"/>
          </p:cNvPicPr>
          <p:nvPr/>
        </p:nvPicPr>
        <p:blipFill>
          <a:blip r:embed="rId3"/>
          <a:stretch>
            <a:fillRect/>
          </a:stretch>
        </p:blipFill>
        <p:spPr>
          <a:xfrm>
            <a:off x="9187392"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Same picture on the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dataset (density 0.0006), with </a:t>
            </a:r>
            <a:r>
              <a:rPr lang="en-US" sz="1900" b="true">
                <a:solidFill>
                  <a:srgbClr val="111111"/>
                </a:solidFill>
                <a:latin typeface="Nunito Bold"/>
                <a:ea typeface="Nunito Bold"/>
                <a:cs typeface="Nunito Bold"/>
                <a:sym typeface="Nunito Bold"/>
              </a:rPr>
              <a:t>larger relative gains</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0.0306 vs 0.0270</a:t>
            </a:r>
            <a:r>
              <a:rPr lang="en-US" sz="1900" b="true">
                <a:solidFill>
                  <a:srgbClr val="111111"/>
                </a:solidFill>
                <a:latin typeface="Nunito Semi-Bold"/>
                <a:ea typeface="Nunito Semi-Bold"/>
                <a:cs typeface="Nunito Semi-Bold"/>
                <a:sym typeface="Nunito Semi-Bold"/>
              </a:rPr>
              <a:t> for HPCF (+13.3 %); Recall@20 </a:t>
            </a:r>
            <a:r>
              <a:rPr lang="en-US" sz="1900" b="true">
                <a:solidFill>
                  <a:srgbClr val="111111"/>
                </a:solidFill>
                <a:latin typeface="Nunito Bold"/>
                <a:ea typeface="Nunito Bold"/>
                <a:cs typeface="Nunito Bold"/>
                <a:sym typeface="Nunito Bold"/>
              </a:rPr>
              <a:t>0.0417 vs 0.0359</a:t>
            </a:r>
            <a:r>
              <a:rPr lang="en-US" sz="1900" b="true">
                <a:solidFill>
                  <a:srgbClr val="111111"/>
                </a:solidFill>
                <a:latin typeface="Nunito Semi-Bold"/>
                <a:ea typeface="Nunito Semi-Bold"/>
                <a:cs typeface="Nunito Semi-Bold"/>
                <a:sym typeface="Nunito Semi-Bold"/>
              </a:rPr>
              <a:t> (+16.2 %).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0.336 vs 0.259</a:t>
            </a:r>
            <a:r>
              <a:rPr lang="en-US" sz="1900" b="true">
                <a:solidFill>
                  <a:srgbClr val="111111"/>
                </a:solidFill>
                <a:latin typeface="Nunito Semi-Bold"/>
                <a:ea typeface="Nunito Semi-Bold"/>
                <a:cs typeface="Nunito Semi-Bold"/>
                <a:sym typeface="Nunito Semi-Bold"/>
              </a:rPr>
              <a:t> (+29.7 %) and ILD </a:t>
            </a:r>
            <a:r>
              <a:rPr lang="en-US" sz="1900" b="true">
                <a:solidFill>
                  <a:srgbClr val="111111"/>
                </a:solidFill>
                <a:latin typeface="Nunito Bold"/>
                <a:ea typeface="Nunito Bold"/>
                <a:cs typeface="Nunito Bold"/>
                <a:sym typeface="Nunito Bold"/>
              </a:rPr>
              <a:t>0.602 vs 0.535</a:t>
            </a:r>
            <a:r>
              <a:rPr lang="en-US" sz="1900" b="true">
                <a:solidFill>
                  <a:srgbClr val="111111"/>
                </a:solidFill>
                <a:latin typeface="Nunito Semi-Bold"/>
                <a:ea typeface="Nunito Semi-Bold"/>
                <a:cs typeface="Nunito Semi-Bold"/>
                <a:sym typeface="Nunito Semi-Bold"/>
              </a:rPr>
              <a:t> (+12.5 %).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Absolute values are low for every model because the matrix is almost empty; what matters is the </a:t>
            </a:r>
            <a:r>
              <a:rPr lang="en-US" sz="1900" b="true">
                <a:solidFill>
                  <a:srgbClr val="111111"/>
                </a:solidFill>
                <a:latin typeface="Nunito Bold"/>
                <a:ea typeface="Nunito Bold"/>
                <a:cs typeface="Nunito Bold"/>
                <a:sym typeface="Nunito Bold"/>
              </a:rPr>
              <a:t>consistent ordering and the widening gap</a:t>
            </a:r>
            <a:r>
              <a:rPr lang="en-US" sz="1900" b="true">
                <a:solidFill>
                  <a:srgbClr val="111111"/>
                </a:solidFill>
                <a:latin typeface="Nunito Semi-Bold"/>
                <a:ea typeface="Nunito Semi-Bold"/>
                <a:cs typeface="Nunito Semi-Bold"/>
                <a:sym typeface="Nunito Semi-Bold"/>
              </a:rPr>
              <a:t> where data are weakest.</a:t>
            </a:r>
          </a:p>
        </p:txBody>
      </p:sp>
      <p:sp>
        <p:nvSpPr>
          <p:cNvPr id="29" name="Rounded Rectangle 28"/>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+13.3 %  ·  +16.2 %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0" name="Table 29"/>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0.491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0.512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0.0417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0.602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1" name="TextBox 30"/>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Ablation: Every Component Contributes</a:t>
            </a:r>
          </a:p>
        </p:txBody>
      </p:sp>
      <p:pic>
        <p:nvPicPr>
          <p:cNvPr id="23" name="Picture 22" descr="image.png"/>
          <p:cNvPicPr>
            <a:picLocks noChangeAspect="1"/>
          </p:cNvPicPr>
          <p:nvPr/>
        </p:nvPicPr>
        <p:blipFill>
          <a:blip r:embed="rId3"/>
          <a:stretch>
            <a:fillRect/>
          </a:stretch>
        </p:blipFill>
        <p:spPr>
          <a:xfrm>
            <a:off x="11596440"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18002"/>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TABLE 7.2  ·  MOVIELENS-1M</a:t>
            </a:r>
          </a:p>
        </p:txBody>
      </p:sp>
      <p:graphicFrame>
        <p:nvGraphicFramePr>
          <p:cNvPr id="29" name="Table 28"/>
          <p:cNvGraphicFramePr>
            <a:graphicFrameLocks noGrp="1"/>
          </p:cNvGraphicFramePr>
          <p:nvPr/>
        </p:nvGraphicFramePr>
        <p:xfrm>
          <a:off x="10287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0.2586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0.2678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0.2547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−8.2 %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0" name="TextBox 29"/>
          <p:cNvSpPr txBox="1"/>
          <p:nvPr/>
        </p:nvSpPr>
        <p:spPr>
          <a:xfrm>
            <a:off x="9372600" y="3318002"/>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AMAZON-BOOK</a:t>
            </a:r>
          </a:p>
        </p:txBody>
      </p:sp>
      <p:graphicFrame>
        <p:nvGraphicFramePr>
          <p:cNvPr id="31" name="Table 30"/>
          <p:cNvGraphicFramePr>
            <a:graphicFrameLocks noGrp="1"/>
          </p:cNvGraphicFramePr>
          <p:nvPr/>
        </p:nvGraphicFramePr>
        <p:xfrm>
          <a:off x="93726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0.0272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−11.0 %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2" name="Rounded Rectangle 31"/>
          <p:cNvSpPr/>
          <p:nvPr/>
        </p:nvSpPr>
        <p:spPr>
          <a:xfrm>
            <a:off x="1028700" y="7537958"/>
            <a:ext cx="16230600" cy="1724914"/>
          </a:xfrm>
          <a:prstGeom prst="roundRect">
            <a:avLst>
              <a:gd name="adj" fmla="val 18023"/>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1485900" y="7300214"/>
            <a:ext cx="1757407"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Reading</a:t>
            </a:r>
          </a:p>
        </p:txBody>
      </p:sp>
      <p:sp>
        <p:nvSpPr>
          <p:cNvPr id="34" name="TextBox 33"/>
          <p:cNvSpPr txBox="1"/>
          <p:nvPr/>
        </p:nvSpPr>
        <p:spPr>
          <a:xfrm>
            <a:off x="1531620" y="8086598"/>
            <a:ext cx="15270480" cy="993394"/>
          </a:xfrm>
          <a:prstGeom prst="rect">
            <a:avLst/>
          </a:prstGeom>
          <a:noFill/>
        </p:spPr>
        <p:txBody>
          <a:bodyPr anchor="t" rtlCol="false" lIns="0" tIns="0" rIns="0" bIns="0" wrap="square"/>
          <a:lstStyle/>
          <a:p>
            <a:pPr algn="l" marL="274320" indent="-274320">
              <a:lnSpc>
                <a:spcPts val="2142"/>
              </a:lnSpc>
              <a:spcBef>
                <a:spcPts val="0"/>
              </a:spcBef>
              <a:buClr>
                <a:srgbClr val="1F7A8C"/>
              </a:buClr>
              <a:buSzPct val="100000"/>
              <a:buFont typeface="Arial"/>
              <a:buChar char="•"/>
            </a:pPr>
            <a:r>
              <a:rPr lang="en-US" sz="1530" b="true">
                <a:solidFill>
                  <a:srgbClr val="111111"/>
                </a:solidFill>
                <a:latin typeface="Nunito Bold"/>
                <a:ea typeface="Nunito Bold"/>
                <a:cs typeface="Nunito Bold"/>
                <a:sym typeface="Nunito Bold"/>
              </a:rPr>
              <a:t>Context</a:t>
            </a:r>
            <a:r>
              <a:rPr lang="en-US" sz="1530" b="true">
                <a:solidFill>
                  <a:srgbClr val="111111"/>
                </a:solidFill>
                <a:latin typeface="Nunito Semi-Bold"/>
                <a:ea typeface="Nunito Semi-Bold"/>
                <a:cs typeface="Nunito Semi-Bold"/>
                <a:sym typeface="Nunito Semi-Bold"/>
              </a:rPr>
              <a:t> is the most important component (−8.2 % / −11.0 %), then the </a:t>
            </a:r>
            <a:r>
              <a:rPr lang="en-US" sz="1530" b="true">
                <a:solidFill>
                  <a:srgbClr val="111111"/>
                </a:solidFill>
                <a:latin typeface="Nunito Bold"/>
                <a:ea typeface="Nunito Bold"/>
                <a:cs typeface="Nunito Bold"/>
                <a:sym typeface="Nunito Bold"/>
              </a:rPr>
              <a:t>hypergraph</a:t>
            </a:r>
            <a:r>
              <a:rPr lang="en-US" sz="1530" b="true">
                <a:solidFill>
                  <a:srgbClr val="111111"/>
                </a:solidFill>
                <a:latin typeface="Nunito Semi-Bold"/>
                <a:ea typeface="Nunito Semi-Bold"/>
                <a:cs typeface="Nunito Semi-Bold"/>
                <a:sym typeface="Nunito Semi-Bold"/>
              </a:rPr>
              <a:t> structure (−6.8 % / −8.9 %).</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Removing </a:t>
            </a:r>
            <a:r>
              <a:rPr lang="en-US" sz="1530" b="true">
                <a:solidFill>
                  <a:srgbClr val="111111"/>
                </a:solidFill>
                <a:latin typeface="Nunito Bold"/>
                <a:ea typeface="Nunito Bold"/>
                <a:cs typeface="Nunito Bold"/>
                <a:sym typeface="Nunito Bold"/>
              </a:rPr>
              <a:t>Shapley</a:t>
            </a:r>
            <a:r>
              <a:rPr lang="en-US" sz="1530" b="true">
                <a:solidFill>
                  <a:srgbClr val="111111"/>
                </a:solidFill>
                <a:latin typeface="Nunito Semi-Bold"/>
                <a:ea typeface="Nunito Semi-Bold"/>
                <a:cs typeface="Nunito Semi-Bold"/>
                <a:sym typeface="Nunito Semi-Bold"/>
              </a:rPr>
              <a:t> weighting costs 4.6 % / 6.1 %: more on the sparser dataset, where fair credit for weak signals matters most.</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The ablation removes one component at a time; it does not test combinations.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Efficiency and Shapley Convergence</a:t>
            </a:r>
          </a:p>
        </p:txBody>
      </p:sp>
      <p:pic>
        <p:nvPicPr>
          <p:cNvPr id="23" name="Picture 22" descr="image.png"/>
          <p:cNvPicPr>
            <a:picLocks noChangeAspect="1"/>
          </p:cNvPicPr>
          <p:nvPr/>
        </p:nvPicPr>
        <p:blipFill>
          <a:blip r:embed="rId3"/>
          <a:stretch>
            <a:fillRect/>
          </a:stretch>
        </p:blipFill>
        <p:spPr>
          <a:xfrm>
            <a:off x="10646093"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385191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1.78×</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training time vs HPCF </a:t>
            </a:r>
            <a:r>
              <a:rPr lang="en-US" sz="1700" b="true">
                <a:solidFill>
                  <a:srgbClr val="FFFFFF"/>
                </a:solidFill>
                <a:latin typeface="Nunito Bold"/>
                <a:ea typeface="Nunito Bold"/>
                <a:cs typeface="Nunito Bold"/>
                <a:sym typeface="Nunito Bold"/>
              </a:rPr>
              <a:t>(≈ 2000 s vs 1125 s, ML-1M)</a:t>
            </a:r>
          </a:p>
        </p:txBody>
      </p:sp>
      <p:sp>
        <p:nvSpPr>
          <p:cNvPr id="29" name="Rounded Rectangle 28"/>
          <p:cNvSpPr/>
          <p:nvPr/>
        </p:nvSpPr>
        <p:spPr>
          <a:xfrm>
            <a:off x="5154930" y="3455162"/>
            <a:ext cx="385191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1.84 ms</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inference / query on ML-1M </a:t>
            </a:r>
            <a:r>
              <a:rPr lang="en-US" sz="1700" b="true">
                <a:solidFill>
                  <a:srgbClr val="FFFFFF"/>
                </a:solidFill>
                <a:latin typeface="Nunito Bold"/>
                <a:ea typeface="Nunito Bold"/>
                <a:cs typeface="Nunito Bold"/>
                <a:sym typeface="Nunito Bold"/>
              </a:rPr>
              <a:t>(8.52 ms Amazon)</a:t>
            </a:r>
          </a:p>
        </p:txBody>
      </p:sp>
      <p:sp>
        <p:nvSpPr>
          <p:cNvPr id="30" name="Rounded Rectangle 29"/>
          <p:cNvSpPr/>
          <p:nvPr/>
        </p:nvSpPr>
        <p:spPr>
          <a:xfrm>
            <a:off x="9281160" y="3455162"/>
            <a:ext cx="385191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3960"/>
              </a:lnSpc>
              <a:spcBef>
                <a:spcPts val="0"/>
              </a:spcBef>
              <a:buNone/>
            </a:pPr>
            <a:r>
              <a:rPr lang="en-US" sz="3600" b="true">
                <a:solidFill>
                  <a:srgbClr val="FFFFFF"/>
                </a:solidFill>
                <a:latin typeface="Nunito Ultra-Bold"/>
                <a:ea typeface="Nunito Ultra-Bold"/>
                <a:cs typeface="Nunito Ultra-Bold"/>
                <a:sym typeface="Nunito Ultra-Bold"/>
              </a:rPr>
              <a:t>4.4 GB</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memory ML-1M vs 4.1 GB </a:t>
            </a:r>
            <a:r>
              <a:rPr lang="en-US" sz="1700" b="true">
                <a:solidFill>
                  <a:srgbClr val="FFFFFF"/>
                </a:solidFill>
                <a:latin typeface="Nunito Bold"/>
                <a:ea typeface="Nunito Bold"/>
                <a:cs typeface="Nunito Bold"/>
                <a:sym typeface="Nunito Bold"/>
              </a:rPr>
              <a:t>(17.9 vs 16.8 GB Amazon)</a:t>
            </a:r>
          </a:p>
        </p:txBody>
      </p:sp>
      <p:sp>
        <p:nvSpPr>
          <p:cNvPr id="31" name="Rounded Rectangle 30"/>
          <p:cNvSpPr/>
          <p:nvPr/>
        </p:nvSpPr>
        <p:spPr>
          <a:xfrm>
            <a:off x="13407390" y="3455162"/>
            <a:ext cx="3851910" cy="2103120"/>
          </a:xfrm>
          <a:prstGeom prst="roundRect">
            <a:avLst>
              <a:gd name="adj" fmla="val 13043"/>
            </a:avLst>
          </a:prstGeom>
          <a:solidFill>
            <a:srgbClr val="111111"/>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M = 50</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MSE 1.4×10</a:t>
            </a:r>
            <a:r>
              <a:rPr lang="en-US" sz="1700" b="true" baseline="30000">
                <a:solidFill>
                  <a:srgbClr val="FFFFFF"/>
                </a:solidFill>
                <a:latin typeface="Nunito Semi-Bold"/>
                <a:ea typeface="Nunito Semi-Bold"/>
                <a:cs typeface="Nunito Semi-Bold"/>
                <a:sym typeface="Nunito Semi-Bold"/>
              </a:rPr>
              <a:t>−5</a:t>
            </a:r>
            <a:r>
              <a:rPr lang="en-US" sz="1700" b="true">
                <a:solidFill>
                  <a:srgbClr val="FFFFFF"/>
                </a:solidFill>
                <a:latin typeface="Nunito Semi-Bold"/>
                <a:ea typeface="Nunito Semi-Bold"/>
                <a:cs typeface="Nunito Semi-Bold"/>
                <a:sym typeface="Nunito Semi-Bold"/>
              </a:rPr>
              <a:t> · </a:t>
            </a:r>
            <a:r>
              <a:rPr lang="en-US" sz="1700" b="true">
                <a:solidFill>
                  <a:srgbClr val="FFFFFF"/>
                </a:solidFill>
                <a:latin typeface="Nunito Bold"/>
                <a:ea typeface="Nunito Bold"/>
                <a:cs typeface="Nunito Bold"/>
                <a:sym typeface="Nunito Bold"/>
              </a:rPr>
              <a:t>≈ 99 % accuracy</a:t>
            </a:r>
          </a:p>
        </p:txBody>
      </p:sp>
      <p:sp>
        <p:nvSpPr>
          <p:cNvPr id="32" name="TextBox 31"/>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7.3 (thesis): runtime and scalability  ·  Table 7.4 (thesis): Monte Carlo convergence and runtime trade-offs. Full tables in the backup slides.</a:t>
            </a:r>
          </a:p>
        </p:txBody>
      </p:sp>
      <p:sp>
        <p:nvSpPr>
          <p:cNvPr id="33" name="Rounded Rectangle 32"/>
          <p:cNvSpPr/>
          <p:nvPr/>
        </p:nvSpPr>
        <p:spPr>
          <a:xfrm>
            <a:off x="1028700" y="624408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4" name="Rounded Rectangle 33"/>
          <p:cNvSpPr/>
          <p:nvPr/>
        </p:nvSpPr>
        <p:spPr>
          <a:xfrm>
            <a:off x="1485900" y="6006338"/>
            <a:ext cx="218505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Complexity</a:t>
            </a:r>
          </a:p>
        </p:txBody>
      </p:sp>
      <p:sp>
        <p:nvSpPr>
          <p:cNvPr id="35" name="TextBox 34"/>
          <p:cNvSpPr txBox="1"/>
          <p:nvPr/>
        </p:nvSpPr>
        <p:spPr>
          <a:xfrm>
            <a:off x="1531620" y="6884162"/>
            <a:ext cx="6972300" cy="219583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Per-epoch cost </a:t>
            </a:r>
            <a:r>
              <a:rPr lang="en-US" sz="2000" b="true">
                <a:solidFill>
                  <a:srgbClr val="111111"/>
                </a:solidFill>
                <a:latin typeface="Nunito Bold"/>
                <a:ea typeface="Nunito Bold"/>
                <a:cs typeface="Nunito Bold"/>
                <a:sym typeface="Nunito Bold"/>
              </a:rPr>
              <a:t>O((L+1)·m·d) + O((M/f)·m)</a:t>
            </a:r>
            <a:r>
              <a:rPr lang="en-US" sz="2000" b="true">
                <a:solidFill>
                  <a:srgbClr val="111111"/>
                </a:solidFill>
                <a:latin typeface="Nunito Semi-Bold"/>
                <a:ea typeface="Nunito Semi-Bold"/>
                <a:cs typeface="Nunito Semi-Bold"/>
                <a:sym typeface="Nunito Semi-Bold"/>
              </a:rPr>
              <a:t>: propagation plus periodic Shapley refresh.</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A refresh every f = 10 batches keeps the overhead bounded.</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Inference latency is </a:t>
            </a:r>
            <a:r>
              <a:rPr lang="en-US" sz="2000" b="true">
                <a:solidFill>
                  <a:srgbClr val="111111"/>
                </a:solidFill>
                <a:latin typeface="Nunito Bold"/>
                <a:ea typeface="Nunito Bold"/>
                <a:cs typeface="Nunito Bold"/>
                <a:sym typeface="Nunito Bold"/>
              </a:rPr>
              <a:t>suitable for real-time use</a:t>
            </a:r>
            <a:r>
              <a:rPr lang="en-US" sz="2000" b="true">
                <a:solidFill>
                  <a:srgbClr val="111111"/>
                </a:solidFill>
                <a:latin typeface="Nunito Semi-Bold"/>
                <a:ea typeface="Nunito Semi-Bold"/>
                <a:cs typeface="Nunito Semi-Bold"/>
                <a:sym typeface="Nunito Semi-Bold"/>
              </a:rPr>
              <a:t>.</a:t>
            </a:r>
          </a:p>
        </p:txBody>
      </p:sp>
      <p:sp>
        <p:nvSpPr>
          <p:cNvPr id="36" name="Rounded Rectangle 35"/>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7" name="Rounded Rectangle 36"/>
          <p:cNvSpPr/>
          <p:nvPr/>
        </p:nvSpPr>
        <p:spPr>
          <a:xfrm>
            <a:off x="9784080" y="6006338"/>
            <a:ext cx="239858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Convergence</a:t>
            </a:r>
          </a:p>
        </p:txBody>
      </p:sp>
      <p:sp>
        <p:nvSpPr>
          <p:cNvPr id="38" name="TextBox 37"/>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96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50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1.4×10</a:t>
            </a:r>
            <a:r>
              <a:rPr lang="en-US" sz="2000" b="true" baseline="30000">
                <a:solidFill>
                  <a:srgbClr val="FFFFFF"/>
                </a:solidFill>
                <a:latin typeface="Nunito Semi-Bold"/>
                <a:ea typeface="Nunito Semi-Bold"/>
                <a:cs typeface="Nunito Semi-Bold"/>
                <a:sym typeface="Nunito Semi-Bold"/>
              </a:rPr>
              <a:t>−5</a:t>
            </a:r>
            <a:r>
              <a:rPr lang="en-US" sz="2000" b="true">
                <a:solidFill>
                  <a:srgbClr val="FFFFFF"/>
                </a:solidFill>
                <a:latin typeface="Nunito Semi-Bold"/>
                <a:ea typeface="Nunito Semi-Bold"/>
                <a:cs typeface="Nunito Semi-Bold"/>
                <a:sym typeface="Nunito Semi-Bold"/>
              </a:rPr>
              <a:t>, ≈ 99 % accuracy.</a:t>
            </a:r>
          </a:p>
          <a:p>
            <a:pPr algn="l" marL="274320" indent="-274320">
              <a:lnSpc>
                <a:spcPts val="296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100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3.5×10</a:t>
            </a:r>
            <a:r>
              <a:rPr lang="en-US" sz="2000" b="true" baseline="30000">
                <a:solidFill>
                  <a:srgbClr val="FFFFFF"/>
                </a:solidFill>
                <a:latin typeface="Nunito Semi-Bold"/>
                <a:ea typeface="Nunito Semi-Bold"/>
                <a:cs typeface="Nunito Semi-Bold"/>
                <a:sym typeface="Nunito Semi-Bold"/>
              </a:rPr>
              <a:t>−6</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diminishing returns</a:t>
            </a:r>
            <a:r>
              <a:rPr lang="en-US" sz="2000" b="true">
                <a:solidFill>
                  <a:srgbClr val="FFFFFF"/>
                </a:solidFill>
                <a:latin typeface="Nunito Semi-Bold"/>
                <a:ea typeface="Nunito Semi-Bold"/>
                <a:cs typeface="Nunito Semi-Bold"/>
                <a:sym typeface="Nunito Semi-Bold"/>
              </a:rPr>
              <a: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The overhead is the price of an in-training attribution signal: measurable, but modest.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Statistical Significance</a:t>
            </a:r>
          </a:p>
        </p:txBody>
      </p:sp>
      <p:pic>
        <p:nvPicPr>
          <p:cNvPr id="23" name="Picture 22" descr="image.png"/>
          <p:cNvPicPr>
            <a:picLocks noChangeAspect="1"/>
          </p:cNvPicPr>
          <p:nvPr/>
        </p:nvPicPr>
        <p:blipFill>
          <a:blip r:embed="rId3"/>
          <a:stretch>
            <a:fillRect/>
          </a:stretch>
        </p:blipFill>
        <p:spPr>
          <a:xfrm>
            <a:off x="7141903"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5196840" cy="2194560"/>
          </a:xfrm>
          <a:prstGeom prst="roundRect">
            <a:avLst>
              <a:gd name="adj" fmla="val 12500"/>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9" name="Equation"/>
              <p:cNvSpPr txBox="1"/>
              <p:nvPr/>
            </p:nvSpPr>
            <p:spPr>
              <a:xfrm>
                <a:off x="121158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ECC665"/>
                          </a:solidFill>
                          <a:latin typeface="Cambria Math" panose="02040503050406030204" pitchFamily="18" charset="0"/>
                        </a:rPr>
                        <m:t xml:space="preserve">t</m:t>
                      </m:r>
                      <m:r>
                        <m:rPr>
                          <m:sty m:val="p"/>
                        </m:rPr>
                        <a:rPr lang="en-US" sz="3800">
                          <a:solidFill>
                            <a:srgbClr val="ECC665"/>
                          </a:solidFill>
                          <a:latin typeface="Cambria Math" panose="02040503050406030204" pitchFamily="18" charset="0"/>
                        </a:rPr>
                        <m:t xml:space="preserve">=46.38</m:t>
                      </m:r>
                    </m:oMath>
                  </m:oMathPara>
                </a14:m>
                <a:endParaRPr lang="en-US" sz="3800"/>
              </a:p>
            </p:txBody>
          </p:sp>
        </mc:Choice>
        <mc:Fallback>
          <p:sp>
            <p:nvSpPr>
              <p:cNvPr id="29" name="Equation"/>
              <p:cNvSpPr txBox="1"/>
              <p:nvPr/>
            </p:nvSpPr>
            <p:spPr>
              <a:xfrm>
                <a:off x="1211580" y="3729482"/>
                <a:ext cx="4831080" cy="1051560"/>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130302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paired t-test vs HPCF · </a:t>
            </a:r>
            <a:r>
              <a:rPr lang="en-US" sz="1700" b="true">
                <a:solidFill>
                  <a:srgbClr val="FFFFFF"/>
                </a:solidFill>
                <a:latin typeface="Nunito Bold"/>
                <a:ea typeface="Nunito Bold"/>
                <a:cs typeface="Nunito Bold"/>
                <a:sym typeface="Nunito Bold"/>
              </a:rPr>
              <a:t>df = 6,039</a:t>
            </a:r>
          </a:p>
        </p:txBody>
      </p:sp>
      <p:sp>
        <p:nvSpPr>
          <p:cNvPr id="31" name="Rounded Rectangle 30"/>
          <p:cNvSpPr/>
          <p:nvPr/>
        </p:nvSpPr>
        <p:spPr>
          <a:xfrm>
            <a:off x="6545580" y="3455162"/>
            <a:ext cx="5196840" cy="2194560"/>
          </a:xfrm>
          <a:prstGeom prst="roundRect">
            <a:avLst>
              <a:gd name="adj" fmla="val 12500"/>
            </a:avLst>
          </a:prstGeom>
          <a:solidFill>
            <a:srgbClr val="2F5597"/>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2" name="Equation"/>
              <p:cNvSpPr txBox="1"/>
              <p:nvPr/>
            </p:nvSpPr>
            <p:spPr>
              <a:xfrm>
                <a:off x="672846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3800" i="1">
                              <a:solidFill>
                                <a:srgbClr val="ECC665"/>
                              </a:solidFill>
                              <a:latin typeface="Cambria Math" panose="02040503050406030204" pitchFamily="18" charset="0"/>
                            </a:rPr>
                          </m:ctrlPr>
                        </m:sSubPr>
                        <m:e>
                          <m:r>
                            <a:rPr lang="en-US" sz="3800" i="1">
                              <a:solidFill>
                                <a:srgbClr val="ECC665"/>
                              </a:solidFill>
                              <a:latin typeface="Cambria Math" panose="02040503050406030204" pitchFamily="18" charset="0"/>
                            </a:rPr>
                            <m:t xml:space="preserve">d</m:t>
                          </m:r>
                        </m:e>
                        <m:sub>
                          <m:r>
                            <a:rPr lang="en-US" sz="3800" i="1">
                              <a:solidFill>
                                <a:srgbClr val="ECC665"/>
                              </a:solidFill>
                              <a:latin typeface="Cambria Math" panose="02040503050406030204" pitchFamily="18" charset="0"/>
                            </a:rPr>
                            <m:t xml:space="preserve">z</m:t>
                          </m:r>
                        </m:sub>
                      </m:sSub>
                      <m:r>
                        <m:rPr>
                          <m:sty m:val="p"/>
                        </m:rPr>
                        <a:rPr lang="en-US" sz="3800">
                          <a:solidFill>
                            <a:srgbClr val="ECC665"/>
                          </a:solidFill>
                          <a:latin typeface="Cambria Math" panose="02040503050406030204" pitchFamily="18" charset="0"/>
                        </a:rPr>
                        <m:t xml:space="preserve">=1.33</m:t>
                      </m:r>
                    </m:oMath>
                  </m:oMathPara>
                </a14:m>
                <a:endParaRPr lang="en-US" sz="3800"/>
              </a:p>
            </p:txBody>
          </p:sp>
        </mc:Choice>
        <mc:Fallback>
          <p:sp>
            <p:nvSpPr>
              <p:cNvPr id="32" name="Equation"/>
              <p:cNvSpPr txBox="1"/>
              <p:nvPr/>
            </p:nvSpPr>
            <p:spPr>
              <a:xfrm>
                <a:off x="6728460" y="3729482"/>
                <a:ext cx="4831080" cy="1051560"/>
              </a:xfrm>
              <a:prstGeom prst="rect">
                <a:avLst/>
              </a:prstGeom>
              <a:blipFill>
                <a:blip r:embed="rId6"/>
                <a:stretch>
                  <a:fillRect/>
                </a:stretch>
              </a:blipFill>
            </p:spPr>
            <p:txBody>
              <a:bodyPr/>
              <a:lstStyle/>
              <a:p>
                <a:endParaRPr lang="en-US"/>
              </a:p>
            </p:txBody>
          </p:sp>
        </mc:Fallback>
      </mc:AlternateContent>
      <p:sp>
        <p:nvSpPr>
          <p:cNvPr id="33" name="TextBox 32"/>
          <p:cNvSpPr txBox="1"/>
          <p:nvPr/>
        </p:nvSpPr>
        <p:spPr>
          <a:xfrm>
            <a:off x="681990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Bold"/>
                <a:ea typeface="Nunito Bold"/>
                <a:cs typeface="Nunito Bold"/>
                <a:sym typeface="Nunito Bold"/>
              </a:rPr>
              <a:t>Cohen's d</a:t>
            </a:r>
            <a:r>
              <a:rPr lang="en-US" sz="1700" b="true" baseline="-25000">
                <a:solidFill>
                  <a:srgbClr val="FFFFFF"/>
                </a:solidFill>
                <a:latin typeface="Nunito Bold"/>
                <a:ea typeface="Nunito Bold"/>
                <a:cs typeface="Nunito Bold"/>
                <a:sym typeface="Nunito Bold"/>
              </a:rPr>
              <a:t>z</a:t>
            </a:r>
            <a:r>
              <a:rPr lang="en-US" sz="1700" b="true">
                <a:solidFill>
                  <a:srgbClr val="FFFFFF"/>
                </a:solidFill>
                <a:latin typeface="Nunito Semi-Bold"/>
                <a:ea typeface="Nunito Semi-Bold"/>
                <a:cs typeface="Nunito Semi-Bold"/>
                <a:sym typeface="Nunito Semi-Bold"/>
              </a:rPr>
              <a:t> · a large effect size</a:t>
            </a:r>
          </a:p>
        </p:txBody>
      </p:sp>
      <p:sp>
        <p:nvSpPr>
          <p:cNvPr id="34" name="Rounded Rectangle 33"/>
          <p:cNvSpPr/>
          <p:nvPr/>
        </p:nvSpPr>
        <p:spPr>
          <a:xfrm>
            <a:off x="12062460" y="3455162"/>
            <a:ext cx="5196840" cy="2194560"/>
          </a:xfrm>
          <a:prstGeom prst="roundRect">
            <a:avLst>
              <a:gd name="adj" fmla="val 12500"/>
            </a:avLst>
          </a:prstGeom>
          <a:solidFill>
            <a:srgbClr val="1F7A8C"/>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5" name="Equation"/>
              <p:cNvSpPr txBox="1"/>
              <p:nvPr/>
            </p:nvSpPr>
            <p:spPr>
              <a:xfrm>
                <a:off x="1224534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FFFFFF"/>
                          </a:solidFill>
                          <a:latin typeface="Cambria Math" panose="02040503050406030204" pitchFamily="18" charset="0"/>
                        </a:rPr>
                        <m:t xml:space="preserve">p</m:t>
                      </m:r>
                      <m:r>
                        <m:rPr>
                          <m:sty m:val="p"/>
                        </m:rPr>
                        <a:rPr lang="en-US" sz="3800">
                          <a:solidFill>
                            <a:srgbClr val="FFFFFF"/>
                          </a:solidFill>
                          <a:latin typeface="Cambria Math" panose="02040503050406030204" pitchFamily="18" charset="0"/>
                        </a:rPr>
                        <m:t xml:space="preserve">=1.8×</m:t>
                      </m:r>
                      <m:sSup>
                        <m:sSupPr>
                          <m:ctrlPr>
                            <a:rPr lang="en-US" sz="3800" i="1">
                              <a:solidFill>
                                <a:srgbClr val="FFFFFF"/>
                              </a:solidFill>
                              <a:latin typeface="Cambria Math" panose="02040503050406030204" pitchFamily="18" charset="0"/>
                            </a:rPr>
                          </m:ctrlPr>
                        </m:sSupPr>
                        <m:e>
                          <m:r>
                            <m:rPr>
                              <m:sty m:val="p"/>
                            </m:rPr>
                            <a:rPr lang="en-US" sz="3800">
                              <a:solidFill>
                                <a:srgbClr val="FFFFFF"/>
                              </a:solidFill>
                              <a:latin typeface="Cambria Math" panose="02040503050406030204" pitchFamily="18" charset="0"/>
                            </a:rPr>
                            <m:t xml:space="preserve">10</m:t>
                          </m:r>
                        </m:e>
                        <m:sup>
                          <m:r>
                            <m:rPr>
                              <m:sty m:val="p"/>
                            </m:rPr>
                            <a:rPr lang="en-US" sz="3800">
                              <a:solidFill>
                                <a:srgbClr val="FFFFFF"/>
                              </a:solidFill>
                              <a:latin typeface="Cambria Math" panose="02040503050406030204" pitchFamily="18" charset="0"/>
                            </a:rPr>
                            <m:t xml:space="preserve">−270</m:t>
                          </m:r>
                        </m:sup>
                      </m:sSup>
                    </m:oMath>
                  </m:oMathPara>
                </a14:m>
                <a:endParaRPr lang="en-US" sz="3800"/>
              </a:p>
            </p:txBody>
          </p:sp>
        </mc:Choice>
        <mc:Fallback>
          <p:sp>
            <p:nvSpPr>
              <p:cNvPr id="35" name="Equation"/>
              <p:cNvSpPr txBox="1"/>
              <p:nvPr/>
            </p:nvSpPr>
            <p:spPr>
              <a:xfrm>
                <a:off x="12245340" y="3729482"/>
                <a:ext cx="4831080" cy="1051560"/>
              </a:xfrm>
              <a:prstGeom prst="rect">
                <a:avLst/>
              </a:prstGeom>
              <a:blipFill>
                <a:blip r:embed="rId7"/>
                <a:stretch>
                  <a:fillRect/>
                </a:stretch>
              </a:blipFill>
            </p:spPr>
            <p:txBody>
              <a:bodyPr/>
              <a:lstStyle/>
              <a:p>
                <a:endParaRPr lang="en-US"/>
              </a:p>
            </p:txBody>
          </p:sp>
        </mc:Fallback>
      </mc:AlternateContent>
      <p:sp>
        <p:nvSpPr>
          <p:cNvPr id="36" name="TextBox 35"/>
          <p:cNvSpPr txBox="1"/>
          <p:nvPr/>
        </p:nvSpPr>
        <p:spPr>
          <a:xfrm>
            <a:off x="1233678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after </a:t>
            </a:r>
            <a:r>
              <a:rPr lang="en-US" sz="1700" b="true">
                <a:solidFill>
                  <a:srgbClr val="FFFFFF"/>
                </a:solidFill>
                <a:latin typeface="Nunito Bold"/>
                <a:ea typeface="Nunito Bold"/>
                <a:cs typeface="Nunito Bold"/>
                <a:sym typeface="Nunito Bold"/>
              </a:rPr>
              <a:t>Holm–Bonferroni</a:t>
            </a:r>
            <a:r>
              <a:rPr lang="en-US" sz="1700" b="true">
                <a:solidFill>
                  <a:srgbClr val="FFFFFF"/>
                </a:solidFill>
                <a:latin typeface="Nunito Semi-Bold"/>
                <a:ea typeface="Nunito Semi-Bold"/>
                <a:cs typeface="Nunito Semi-Bold"/>
                <a:sym typeface="Nunito Semi-Bold"/>
              </a:rPr>
              <a:t> correction</a:t>
            </a:r>
          </a:p>
        </p:txBody>
      </p:sp>
      <p:sp>
        <p:nvSpPr>
          <p:cNvPr id="37" name="TextBox 36"/>
          <p:cNvSpPr txBox="1"/>
          <p:nvPr/>
        </p:nvSpPr>
        <p:spPr>
          <a:xfrm>
            <a:off x="1028700" y="569544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7.6 (thesis): paired tests on per-user NDCG@20, DyHuCoG vs HPCF (all six comparisons in the backup slides).</a:t>
            </a:r>
          </a:p>
        </p:txBody>
      </p:sp>
      <p:sp>
        <p:nvSpPr>
          <p:cNvPr id="38" name="Rounded Rectangle 37"/>
          <p:cNvSpPr/>
          <p:nvPr/>
        </p:nvSpPr>
        <p:spPr>
          <a:xfrm>
            <a:off x="1028700" y="6335522"/>
            <a:ext cx="16230600" cy="2973070"/>
          </a:xfrm>
          <a:prstGeom prst="roundRect">
            <a:avLst>
              <a:gd name="adj" fmla="val 10457"/>
            </a:avLst>
          </a:prstGeom>
          <a:solidFill>
            <a:srgbClr val="E7EAF3"/>
          </a:solidFill>
          <a:ln>
            <a:noFill/>
          </a:ln>
        </p:spPr>
        <p:txBody>
          <a:bodyPr anchor="ctr" rtlCol="false" lIns="0" tIns="0" rIns="0" bIns="0" wrap="square"/>
          <a:lstStyle/>
          <a:p>
            <a:endParaRPr lang="en-US" sz="1800"/>
          </a:p>
        </p:txBody>
      </p:sp>
      <p:sp>
        <p:nvSpPr>
          <p:cNvPr id="39" name="Rounded Rectangle 38"/>
          <p:cNvSpPr/>
          <p:nvPr/>
        </p:nvSpPr>
        <p:spPr>
          <a:xfrm>
            <a:off x="1485900" y="6097778"/>
            <a:ext cx="179424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Protocol</a:t>
            </a:r>
          </a:p>
        </p:txBody>
      </p:sp>
      <p:sp>
        <p:nvSpPr>
          <p:cNvPr id="40" name="TextBox 39"/>
          <p:cNvSpPr txBox="1"/>
          <p:nvPr/>
        </p:nvSpPr>
        <p:spPr>
          <a:xfrm>
            <a:off x="1531620" y="6975602"/>
            <a:ext cx="15270480" cy="20586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Paired t-tests on </a:t>
            </a:r>
            <a:r>
              <a:rPr lang="en-US" sz="2100" b="true">
                <a:solidFill>
                  <a:srgbClr val="111111"/>
                </a:solidFill>
                <a:latin typeface="Nunito Bold"/>
                <a:ea typeface="Nunito Bold"/>
                <a:cs typeface="Nunito Bold"/>
                <a:sym typeface="Nunito Bold"/>
              </a:rPr>
              <a:t>per-user NDCG@20</a:t>
            </a:r>
            <a:r>
              <a:rPr lang="en-US" sz="2100" b="true">
                <a:solidFill>
                  <a:srgbClr val="111111"/>
                </a:solidFill>
                <a:latin typeface="Nunito Semi-Bold"/>
                <a:ea typeface="Nunito Semi-Bold"/>
                <a:cs typeface="Nunito Semi-Bold"/>
                <a:sym typeface="Nunito Semi-Bold"/>
              </a:rPr>
              <a:t> (n = 6,040 users, MovieLens-1M).</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DyHuCoG beats </a:t>
            </a:r>
            <a:r>
              <a:rPr lang="en-US" sz="2100" b="true">
                <a:solidFill>
                  <a:srgbClr val="111111"/>
                </a:solidFill>
                <a:latin typeface="Nunito Bold"/>
                <a:ea typeface="Nunito Bold"/>
                <a:cs typeface="Nunito Bold"/>
                <a:sym typeface="Nunito Bold"/>
              </a:rPr>
              <a:t>every baseline</a:t>
            </a:r>
            <a:r>
              <a:rPr lang="en-US" sz="2100" b="true">
                <a:solidFill>
                  <a:srgbClr val="111111"/>
                </a:solidFill>
                <a:latin typeface="Nunito Semi-Bold"/>
                <a:ea typeface="Nunito Semi-Bold"/>
                <a:cs typeface="Nunito Semi-Bold"/>
                <a:sym typeface="Nunito Semi-Bold"/>
              </a:rPr>
              <a:t> with very small p-values after Holm–Bonferroni correction.</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Wilcoxon signed-rank test</a:t>
            </a:r>
            <a:r>
              <a:rPr lang="en-US" sz="2100" b="true">
                <a:solidFill>
                  <a:srgbClr val="111111"/>
                </a:solidFill>
                <a:latin typeface="Nunito Semi-Bold"/>
                <a:ea typeface="Nunito Semi-Bold"/>
                <a:cs typeface="Nunito Semi-Bold"/>
                <a:sym typeface="Nunito Semi-Bold"/>
              </a:rPr>
              <a:t> also significant (p &lt; 0.001): the result does not depend on normality.</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Effect sizes are large</a:t>
            </a:r>
            <a:r>
              <a:rPr lang="en-US" sz="2100" b="true">
                <a:solidFill>
                  <a:srgbClr val="111111"/>
                </a:solidFill>
                <a:latin typeface="Nunito Semi-Bold"/>
                <a:ea typeface="Nunito Semi-Bold"/>
                <a:cs typeface="Nunito Semi-Bold"/>
                <a:sym typeface="Nunito Semi-Bold"/>
              </a:rPr>
              <a:t>: the improvements really matter, they are not only statistically visible.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Answers to RQ3 and RQ4</a:t>
            </a:r>
          </a:p>
        </p:txBody>
      </p:sp>
      <p:pic>
        <p:nvPicPr>
          <p:cNvPr id="23" name="Picture 22" descr="image.png"/>
          <p:cNvPicPr>
            <a:picLocks noChangeAspect="1"/>
          </p:cNvPicPr>
          <p:nvPr/>
        </p:nvPicPr>
        <p:blipFill>
          <a:blip r:embed="rId3"/>
          <a:stretch>
            <a:fillRect/>
          </a:stretch>
        </p:blipFill>
        <p:spPr>
          <a:xfrm>
            <a:off x="7806261"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RQ3</a:t>
            </a:r>
          </a:p>
        </p:txBody>
      </p:sp>
      <p:sp>
        <p:nvSpPr>
          <p:cNvPr id="30" name="TextBox 29"/>
          <p:cNvSpPr txBox="1"/>
          <p:nvPr/>
        </p:nvSpPr>
        <p:spPr>
          <a:xfrm>
            <a:off x="139446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Attribution becomes an </a:t>
            </a:r>
            <a:r>
              <a:rPr lang="en-US" sz="1900" b="true">
                <a:solidFill>
                  <a:srgbClr val="111111"/>
                </a:solidFill>
                <a:latin typeface="Nunito Bold"/>
                <a:ea typeface="Nunito Bold"/>
                <a:cs typeface="Nunito Bold"/>
                <a:sym typeface="Nunito Bold"/>
              </a:rPr>
              <a:t>in-training signal</a:t>
            </a:r>
            <a:r>
              <a:rPr lang="en-US" sz="1900" b="true">
                <a:solidFill>
                  <a:srgbClr val="111111"/>
                </a:solidFill>
                <a:latin typeface="Nunito Semi-Bold"/>
                <a:ea typeface="Nunito Semi-Bold"/>
                <a:cs typeface="Nunito Semi-Bold"/>
                <a:sym typeface="Nunito Semi-Bold"/>
              </a:rPr>
              <a:t>: Shapley estimates set the hyperedge weights while the model learns, instead of describing it afterwards.</a:t>
            </a:r>
          </a:p>
        </p:txBody>
      </p:sp>
      <p:sp>
        <p:nvSpPr>
          <p:cNvPr id="31" name="Rounded Rectangle 30"/>
          <p:cNvSpPr/>
          <p:nvPr/>
        </p:nvSpPr>
        <p:spPr>
          <a:xfrm>
            <a:off x="932688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964692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RQ4</a:t>
            </a:r>
          </a:p>
        </p:txBody>
      </p:sp>
      <p:sp>
        <p:nvSpPr>
          <p:cNvPr id="33" name="TextBox 32"/>
          <p:cNvSpPr txBox="1"/>
          <p:nvPr/>
        </p:nvSpPr>
        <p:spPr>
          <a:xfrm>
            <a:off x="969264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Ranking, coverage and diversity </a:t>
            </a:r>
            <a:r>
              <a:rPr lang="en-US" sz="1900" b="true">
                <a:solidFill>
                  <a:srgbClr val="111111"/>
                </a:solidFill>
                <a:latin typeface="Nunito Bold"/>
                <a:ea typeface="Nunito Bold"/>
                <a:cs typeface="Nunito Bold"/>
                <a:sym typeface="Nunito Bold"/>
              </a:rPr>
              <a:t>improve together</a:t>
            </a:r>
            <a:r>
              <a:rPr lang="en-US" sz="1900" b="true">
                <a:solidFill>
                  <a:srgbClr val="111111"/>
                </a:solidFill>
                <a:latin typeface="Nunito Semi-Bold"/>
                <a:ea typeface="Nunito Semi-Bold"/>
                <a:cs typeface="Nunito Semi-Bold"/>
                <a:sym typeface="Nunito Semi-Bold"/>
              </a:rPr>
              <a:t> on both datasets, with the largest gains where data are sparsest.</a:t>
            </a:r>
          </a:p>
        </p:txBody>
      </p:sp>
      <p:graphicFrame>
        <p:nvGraphicFramePr>
          <p:cNvPr id="34" name="Table 33"/>
          <p:cNvGraphicFramePr>
            <a:graphicFrameLocks noGrp="1"/>
          </p:cNvGraphicFramePr>
          <p:nvPr/>
        </p:nvGraphicFramePr>
        <p:xfrm>
          <a:off x="1028700" y="5558282"/>
          <a:ext cx="16230599" cy="3061716"/>
        </p:xfrm>
        <a:graphic>
          <a:graphicData uri="http://schemas.openxmlformats.org/drawingml/2006/table">
            <a:tbl>
              <a:tblPr firstRow="0" bandRow="0" firstCol="0" lastRow="0" lastCol="0" bandCol="0">
                <a:tableStyleId>{2D5ABB26-0587-4C30-8999-92F81FD0307C}</a:tableStyleId>
              </a:tblPr>
              <a:tblGrid>
                <a:gridCol w="5826369"/>
                <a:gridCol w="1352550"/>
                <a:gridCol w="9051680"/>
              </a:tblGrid>
              <a:tr h="73152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O1  ·  Recommendation as a cooperative game over users, items and contexts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Player set U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I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C; coalition utility </a:t>
                      </a:r>
                      <a:r>
                        <a:rPr lang="en-US" sz="1700" b="true">
                          <a:solidFill>
                            <a:srgbClr val="111111"/>
                          </a:solidFill>
                          <a:latin typeface="Calibri"/>
                          <a:ea typeface="Calibri"/>
                          <a:cs typeface="Calibri"/>
                          <a:sym typeface="Calibri"/>
                        </a:rPr>
                        <a:t>α</a:t>
                      </a:r>
                      <a:r>
                        <a:rPr lang="en-US" sz="1700" b="true">
                          <a:solidFill>
                            <a:srgbClr val="111111"/>
                          </a:solidFill>
                          <a:latin typeface="Nunito Semi-Bold"/>
                          <a:ea typeface="Nunito Semi-Bold"/>
                          <a:cs typeface="Nunito Semi-Bold"/>
                          <a:sym typeface="Nunito Semi-Bold"/>
                        </a:rPr>
                        <a:t>·accuracy + </a:t>
                      </a:r>
                      <a:r>
                        <a:rPr lang="en-US" sz="1700" b="true">
                          <a:solidFill>
                            <a:srgbClr val="111111"/>
                          </a:solidFill>
                          <a:latin typeface="Calibri"/>
                          <a:ea typeface="Calibri"/>
                          <a:cs typeface="Calibri"/>
                          <a:sym typeface="Calibri"/>
                        </a:rPr>
                        <a:t>β</a:t>
                      </a:r>
                      <a:r>
                        <a:rPr lang="en-US" sz="1700" b="true">
                          <a:solidFill>
                            <a:srgbClr val="111111"/>
                          </a:solidFill>
                          <a:latin typeface="Nunito Semi-Bold"/>
                          <a:ea typeface="Nunito Semi-Bold"/>
                          <a:cs typeface="Nunito Semi-Bold"/>
                          <a:sym typeface="Nunito Semi-Bold"/>
                        </a:rPr>
                        <a:t>·diversity + </a:t>
                      </a:r>
                      <a:r>
                        <a:rPr lang="en-US" sz="1700" b="true">
                          <a:solidFill>
                            <a:srgbClr val="111111"/>
                          </a:solidFill>
                          <a:latin typeface="Calibri"/>
                          <a:ea typeface="Calibri"/>
                          <a:cs typeface="Calibri"/>
                          <a:sym typeface="Calibri"/>
                        </a:rPr>
                        <a:t>γ</a:t>
                      </a:r>
                      <a:r>
                        <a:rPr lang="en-US" sz="1700" b="true">
                          <a:solidFill>
                            <a:srgbClr val="111111"/>
                          </a:solidFill>
                          <a:latin typeface="Nunito Semi-Bold"/>
                          <a:ea typeface="Nunito Semi-Bold"/>
                          <a:cs typeface="Nunito Semi-Bold"/>
                          <a:sym typeface="Nunito Semi-Bold"/>
                        </a:rPr>
                        <a:t>·novelty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O2  ·  Preference-aware Monte Carlo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 = 50 permutations, ≈ 99 % accuracy, refreshed every 10 batches; ablation −4.6 % / −6.1 % without 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O3  ·  Ranking,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+9.8 % / +13.3 % NDCG@20, +16.1 % / +29.7 % Coverage, +11.9 % / +12.5 % ILD over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3" name="Picture 22" descr="image.png"/>
          <p:cNvPicPr>
            <a:picLocks noChangeAspect="1"/>
          </p:cNvPicPr>
          <p:nvPr/>
        </p:nvPicPr>
        <p:blipFill>
          <a:blip r:embed="rId3"/>
          <a:stretch>
            <a:fillRect/>
          </a:stretch>
        </p:blipFill>
        <p:spPr>
          <a:xfrm>
            <a:off x="4641445" y="1673352"/>
            <a:ext cx="457200" cy="427074"/>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29" name="Oval 28"/>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0" name="TextBox 29"/>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accuracy / diversity / context trade-off is not fixed by nature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When importance comes from a cooperative-game utility, NDCG, Recall, Coverage and ILD all move up together.</a:t>
            </a:r>
          </a:p>
        </p:txBody>
      </p:sp>
      <p:sp>
        <p:nvSpPr>
          <p:cNvPr id="31" name="Rounded Rectangle 30"/>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2" name="Oval 31"/>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3" name="TextBox 32"/>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Gains are largest where data are weakest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+13.3 % NDCG@20 on Amazon-Book vs +9.8 % on MovieLens-1M; +10.9 % / +9.6 % for cold users and cold items.</a:t>
            </a:r>
          </a:p>
        </p:txBody>
      </p:sp>
      <p:sp>
        <p:nvSpPr>
          <p:cNvPr id="34" name="Rounded Rectangle 33"/>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5" name="Oval 34"/>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6" name="TextBox 35"/>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Context and structure carry the most weight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Removing context (−8.2 % / −11.0 %) or the hypergraph (−6.8 % / −8.9 %) hurts most; Shapley weighting adds a further 4.6 % / 6.1 %.</a:t>
            </a:r>
          </a:p>
        </p:txBody>
      </p:sp>
      <p:sp>
        <p:nvSpPr>
          <p:cNvPr id="37" name="Rounded Rectangle 36"/>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8" name="Oval 37"/>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9" name="TextBox 38"/>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improvement is statistically solid and affordable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 = 46.38, d</a:t>
            </a:r>
            <a:r>
              <a:rPr lang="en-US" sz="1900" b="true" baseline="-25000">
                <a:solidFill>
                  <a:srgbClr val="111111"/>
                </a:solidFill>
                <a:latin typeface="Nunito Semi-Bold"/>
                <a:ea typeface="Nunito Semi-Bold"/>
                <a:cs typeface="Nunito Semi-Bold"/>
                <a:sym typeface="Nunito Semi-Bold"/>
              </a:rPr>
              <a:t>z</a:t>
            </a:r>
            <a:r>
              <a:rPr lang="en-US" sz="1900" b="true">
                <a:solidFill>
                  <a:srgbClr val="111111"/>
                </a:solidFill>
                <a:latin typeface="Nunito Semi-Bold"/>
                <a:ea typeface="Nunito Semi-Bold"/>
                <a:cs typeface="Nunito Semi-Bold"/>
                <a:sym typeface="Nunito Semi-Bold"/>
              </a:rPr>
              <a:t> = 1.33, p &lt; 10</a:t>
            </a:r>
            <a:r>
              <a:rPr lang="en-US" sz="1900" b="true" baseline="30000">
                <a:solidFill>
                  <a:srgbClr val="111111"/>
                </a:solidFill>
                <a:latin typeface="Nunito Semi-Bold"/>
                <a:ea typeface="Nunito Semi-Bold"/>
                <a:cs typeface="Nunito Semi-Bold"/>
                <a:sym typeface="Nunito Semi-Bold"/>
              </a:rPr>
              <a:t>−200</a:t>
            </a:r>
            <a:r>
              <a:rPr lang="en-US" sz="1900" b="true">
                <a:solidFill>
                  <a:srgbClr val="111111"/>
                </a:solidFill>
                <a:latin typeface="Nunito Semi-Bold"/>
                <a:ea typeface="Nunito Semi-Bold"/>
                <a:cs typeface="Nunito Semi-Bold"/>
                <a:sym typeface="Nunito Semi-Bold"/>
              </a:rPr>
              <a:t> vs HPCF; training ≈ 1.78× HPCF, inference 1.84 ms per query.</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COMPUTE OVERHEAD</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Roughly </a:t>
            </a:r>
            <a:r>
              <a:rPr lang="en-US" sz="1900" b="true">
                <a:solidFill>
                  <a:srgbClr val="FFFFFF"/>
                </a:solidFill>
                <a:latin typeface="Nunito Bold"/>
                <a:ea typeface="Nunito Bold"/>
                <a:cs typeface="Nunito Bold"/>
                <a:sym typeface="Nunito Bold"/>
              </a:rPr>
              <a:t>1.78× the training time</a:t>
            </a:r>
            <a:r>
              <a:rPr lang="en-US" sz="1900" b="true">
                <a:solidFill>
                  <a:srgbClr val="FFFFFF"/>
                </a:solidFill>
                <a:latin typeface="Nunito Semi-Bold"/>
                <a:ea typeface="Nunito Semi-Bold"/>
                <a:cs typeface="Nunito Semi-Bold"/>
                <a:sym typeface="Nunito Semi-Bold"/>
              </a:rPr>
              <a:t> of HPCF on MovieLens-1M (≈ 3.4× MF); acceptable, but not free.</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NEEDS MEANINGFUL CONTEXT</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largest single component is </a:t>
            </a:r>
            <a:r>
              <a:rPr lang="en-US" sz="1900" b="true">
                <a:solidFill>
                  <a:srgbClr val="FFFFFF"/>
                </a:solidFill>
                <a:latin typeface="Nunito Bold"/>
                <a:ea typeface="Nunito Bold"/>
                <a:cs typeface="Nunito Bold"/>
                <a:sym typeface="Nunito Bold"/>
              </a:rPr>
              <a:t>context</a:t>
            </a:r>
            <a:r>
              <a:rPr lang="en-US" sz="1900" b="true">
                <a:solidFill>
                  <a:srgbClr val="FFFFFF"/>
                </a:solidFill>
                <a:latin typeface="Nunito Semi-Bold"/>
                <a:ea typeface="Nunito Semi-Bold"/>
                <a:cs typeface="Nunito Semi-Bold"/>
                <a:sym typeface="Nunito Semi-Bold"/>
              </a:rPr>
              <a:t>; on data without usable context the gain shrinks.</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MONTE CARLO VARIANCE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M = 50 gives ≈ 99 % accuracy; </a:t>
            </a:r>
            <a:r>
              <a:rPr lang="en-US" sz="1900" b="true">
                <a:solidFill>
                  <a:srgbClr val="FFFFFF"/>
                </a:solidFill>
                <a:latin typeface="Nunito Bold"/>
                <a:ea typeface="Nunito Bold"/>
                <a:cs typeface="Nunito Bold"/>
                <a:sym typeface="Nunito Bold"/>
              </a:rPr>
              <a:t>variance reduction</a:t>
            </a:r>
            <a:r>
              <a:rPr lang="en-US" sz="1900" b="true">
                <a:solidFill>
                  <a:srgbClr val="FFFFFF"/>
                </a:solidFill>
                <a:latin typeface="Nunito Semi-Bold"/>
                <a:ea typeface="Nunito Semi-Bold"/>
                <a:cs typeface="Nunito Semi-Bold"/>
                <a:sym typeface="Nunito Semi-Bold"/>
              </a:rPr>
              <a:t> could cut the refresh cost further.</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SCOPE OF THE CLAIM</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Component-wise ablation only; baselines fixed in early 2026, so superiority is claimed </a:t>
            </a:r>
            <a:r>
              <a:rPr lang="en-US" sz="1900" b="true">
                <a:solidFill>
                  <a:srgbClr val="FFFFFF"/>
                </a:solidFill>
                <a:latin typeface="Nunito Bold"/>
                <a:ea typeface="Nunito Bold"/>
                <a:cs typeface="Nunito Bold"/>
                <a:sym typeface="Nunito Bold"/>
              </a:rPr>
              <a:t>only against the tested baselines</a:t>
            </a:r>
            <a:r>
              <a:rPr lang="en-US" sz="1900" b="true">
                <a:solidFill>
                  <a:srgbClr val="FFFFFF"/>
                </a:solidFill>
                <a:latin typeface="Nunito Semi-Bold"/>
                <a:ea typeface="Nunito Semi-Bold"/>
                <a:cs typeface="Nunito Semi-Bold"/>
                <a:sym typeface="Nunito Semi-Bold"/>
              </a:rPr>
              <a:t>.</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None of these change the main message: attribution can </a:t>
            </a:r>
            <a:r>
              <a:rPr lang="en-US" sz="2000" b="true">
                <a:solidFill>
                  <a:srgbClr val="111111"/>
                </a:solidFill>
                <a:latin typeface="Nunito Bold"/>
                <a:ea typeface="Nunito Bold"/>
                <a:cs typeface="Nunito Bold"/>
                <a:sym typeface="Nunito Bold"/>
              </a:rPr>
              <a:t>guide learning</a:t>
            </a:r>
            <a:r>
              <a:rPr lang="en-US" sz="2000" b="true">
                <a:solidFill>
                  <a:srgbClr val="111111"/>
                </a:solidFill>
                <a:latin typeface="Nunito Semi-Bold"/>
                <a:ea typeface="Nunito Semi-Bold"/>
                <a:cs typeface="Nunito Semi-Bold"/>
                <a:sym typeface="Nunito Semi-Bold"/>
              </a:rPr>
              <a:t>, not only describe it.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III</a:t>
            </a:r>
          </a:p>
        </p:txBody>
      </p:sp>
      <p:pic>
        <p:nvPicPr>
          <p:cNvPr id="23" name="Picture 22" descr="image.png"/>
          <p:cNvPicPr>
            <a:picLocks noChangeAspect="1"/>
          </p:cNvPicPr>
          <p:nvPr/>
        </p:nvPicPr>
        <p:blipFill>
          <a:blip r:embed="rId3"/>
          <a:stretch>
            <a:fillRect/>
          </a:stretch>
        </p:blipFill>
        <p:spPr>
          <a:xfrm>
            <a:off x="8179226"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First-class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Shapley estimates shape the hyperedge weights during training.</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Read-out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waterfall shows the same terms the loss optimises: ranking, diversity, context, preference.</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Axiomatic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Built on the four Shapley axioms, in line with trustworthy-AI expectations.</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47127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Attribution becomes a </a:t>
            </a:r>
            <a:r>
              <a:rPr lang="en-US" sz="2300" b="true">
                <a:solidFill>
                  <a:srgbClr val="111111"/>
                </a:solidFill>
                <a:latin typeface="Nunito Bold"/>
                <a:ea typeface="Nunito Bold"/>
                <a:cs typeface="Nunito Bold"/>
                <a:sym typeface="Nunito Bold"/>
              </a:rPr>
              <a:t>first-class part of the learning objective</a:t>
            </a:r>
            <a:r>
              <a:rPr lang="en-US" sz="2300" b="true">
                <a:solidFill>
                  <a:srgbClr val="111111"/>
                </a:solidFill>
                <a:latin typeface="Nunito Semi-Bold"/>
                <a:ea typeface="Nunito Semi-Bold"/>
                <a:cs typeface="Nunito Semi-Bold"/>
                <a:sym typeface="Nunito Semi-Bold"/>
              </a:rPr>
              <a:t>: the explanation is a direct read-out of what the model optimises, so it is </a:t>
            </a:r>
            <a:r>
              <a:rPr lang="en-US" sz="2300" b="true">
                <a:solidFill>
                  <a:srgbClr val="111111"/>
                </a:solidFill>
                <a:latin typeface="Nunito Bold"/>
                <a:ea typeface="Nunito Bold"/>
                <a:cs typeface="Nunito Bold"/>
                <a:sym typeface="Nunito Bold"/>
              </a:rPr>
              <a:t>faithful by design</a:t>
            </a:r>
            <a:r>
              <a:rPr lang="en-US" sz="2300" b="true">
                <a:solidFill>
                  <a:srgbClr val="111111"/>
                </a:solidFill>
                <a:latin typeface="Nunito Semi-Bold"/>
                <a:ea typeface="Nunito Semi-Bold"/>
                <a:cs typeface="Nunito Semi-Bold"/>
                <a:sym typeface="Nunito Semi-Bold"/>
              </a:rPr>
              <a:t>, not an outside approximation.</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Semi-Bold"/>
                <a:ea typeface="Nunito Semi-Bold"/>
                <a:cs typeface="Nunito Semi-Bold"/>
                <a:sym typeface="Nunito Semi-Bold"/>
              </a:rPr>
              <a:t>From </a:t>
            </a:r>
            <a:r>
              <a:rPr lang="en-US" sz="2000" b="true">
                <a:solidFill>
                  <a:srgbClr val="FFFFFF"/>
                </a:solidFill>
                <a:latin typeface="Nunito Bold"/>
                <a:ea typeface="Nunito Bold"/>
                <a:cs typeface="Nunito Bold"/>
                <a:sym typeface="Nunito Bold"/>
              </a:rPr>
              <a:t>post-hoc description</a:t>
            </a:r>
            <a:r>
              <a:rPr lang="en-US" sz="2000" b="true">
                <a:solidFill>
                  <a:srgbClr val="FFFFFF"/>
                </a:solidFill>
                <a:latin typeface="Nunito Semi-Bold"/>
                <a:ea typeface="Nunito Semi-Bold"/>
                <a:cs typeface="Nunito Semi-Bold"/>
                <a:sym typeface="Nunito Semi-Bold"/>
              </a:rPr>
              <a:t> (C1, C2) to </a:t>
            </a:r>
            <a:r>
              <a:rPr lang="en-US" sz="2000" b="true">
                <a:solidFill>
                  <a:srgbClr val="FFFFFF"/>
                </a:solidFill>
                <a:latin typeface="Nunito Bold"/>
                <a:ea typeface="Nunito Bold"/>
                <a:cs typeface="Nunito Bold"/>
                <a:sym typeface="Nunito Bold"/>
              </a:rPr>
              <a:t>in-training guidance</a:t>
            </a:r>
            <a:r>
              <a:rPr lang="en-US" sz="2000" b="true">
                <a:solidFill>
                  <a:srgbClr val="FFFFFF"/>
                </a:solidFill>
                <a:latin typeface="Nunito Semi-Bold"/>
                <a:ea typeface="Nunito Semi-Bold"/>
                <a:cs typeface="Nunito Semi-Bold"/>
                <a:sym typeface="Nunito Semi-Bold"/>
              </a:rPr>
              <a:t> (C3): the strongest claim of the thesis.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67</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Conclusion</a:t>
            </a:r>
          </a:p>
        </p:txBody>
      </p:sp>
      <p:sp>
        <p:nvSpPr>
          <p:cNvPr id="8" name="Oval 7"/>
          <p:cNvSpPr/>
          <p:nvPr/>
        </p:nvSpPr>
        <p:spPr>
          <a:xfrm>
            <a:off x="10873987"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0873987"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07</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Synthesis, publications, limitations and perspectives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Synthesis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contributions, one cooperative-game thread: faithful explanation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consistency across levels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in-training attribution.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Limitations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Approximation everywhere; surrogate fidelity; tabular and offline settings; no user study of actionability yet.</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Perspectives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Scalable attribution, online / streaming recommendation, user-centred and trustworthy-AI evaluation.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   [2] Louhichi, M., Nesmaoui, R. &amp; Lazaar, M. Game Theory Meets Explainable AI: An Enhanced Approach to Understanding Black Box Models Through Shapley Values. IJACSA 16(7), 716–725 (2025).   [3]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Synthesis of the Three Contributions</a:t>
            </a:r>
          </a:p>
        </p:txBody>
      </p:sp>
      <p:pic>
        <p:nvPicPr>
          <p:cNvPr id="23" name="Picture 22" descr="image.png"/>
          <p:cNvPicPr>
            <a:picLocks noChangeAspect="1"/>
          </p:cNvPicPr>
          <p:nvPr/>
        </p:nvPicPr>
        <p:blipFill>
          <a:blip r:embed="rId3"/>
          <a:stretch>
            <a:fillRect/>
          </a:stretch>
        </p:blipFill>
        <p:spPr>
          <a:xfrm>
            <a:off x="10723663" y="1673352"/>
            <a:ext cx="457200" cy="452148"/>
          </a:xfrm>
          <a:prstGeom prst="rect">
            <a:avLst/>
          </a:prstGeom>
        </p:spPr>
      </p:pic>
      <p:sp>
        <p:nvSpPr>
          <p:cNvPr id="24" name="Rounded Rectangle 23"/>
          <p:cNvSpPr/>
          <p:nvPr/>
        </p:nvSpPr>
        <p:spPr>
          <a:xfrm>
            <a:off x="1028700" y="2559050"/>
            <a:ext cx="160443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29" name="Table 28"/>
          <p:cNvGraphicFramePr>
            <a:graphicFrameLocks noGrp="1"/>
          </p:cNvGraphicFramePr>
          <p:nvPr/>
        </p:nvGraphicFramePr>
        <p:xfrm>
          <a:off x="1028700" y="3363722"/>
          <a:ext cx="16230598" cy="2584704"/>
        </p:xfrm>
        <a:graphic>
          <a:graphicData uri="http://schemas.openxmlformats.org/drawingml/2006/table">
            <a:tbl>
              <a:tblPr firstRow="0" bandRow="0" firstCol="0" lastRow="0" lastCol="0" bandCol="0">
                <a:tableStyleId>{2D5ABB26-0587-4C30-8999-92F81FD0307C}</a:tableStyleId>
              </a:tblPr>
              <a:tblGrid>
                <a:gridCol w="1159328"/>
                <a:gridCol w="4379685"/>
                <a:gridCol w="4637314"/>
                <a:gridCol w="6054271"/>
              </a:tblGrid>
              <a:tr h="566928">
                <a:tc>
                  <a:txBody>
                    <a:bodyPr anchor="ctr" rtlCol="false" lIns="0" tIns="0" rIns="0" bIns="0" wrap="square"/>
                    <a:lstStyle/>
                    <a:p>
                      <a:pPr algn="ctr">
                        <a:lnSpc>
                          <a:spcPts val="2080"/>
                        </a:lnSpc>
                        <a:spcBef>
                          <a:spcPts val="0"/>
                        </a:spcBef>
                        <a:buNone/>
                      </a:pPr>
                      <a:endParaRPr lang="en-US" sz="2200"/>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Main idea</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Achievement</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Key finding</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Explain black-box clustering via Shapley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PCA–K-Means–LightGBM–TreeSHAP pipeline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Faithful, chemistry-consistent cluster attribution (wine)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C2</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Multi-level, large-scale clustering XAI</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Cross-level SHAP aggregation + Proposition 6.1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Consistent across levels; explains the differences between them</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DyHuCoG hypergraph cooperative game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Preference-aware Shapley as an in-training signal</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Accuracy + coverage + diversity improve together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0" name="Rounded Rectangle 29"/>
          <p:cNvSpPr/>
          <p:nvPr/>
        </p:nvSpPr>
        <p:spPr>
          <a:xfrm>
            <a:off x="1028700" y="6314186"/>
            <a:ext cx="4023360" cy="822960"/>
          </a:xfrm>
          <a:prstGeom prst="roundRect">
            <a:avLst>
              <a:gd name="adj" fmla="val 27777"/>
            </a:avLst>
          </a:prstGeom>
          <a:solidFill>
            <a:srgbClr val="4472C4"/>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Explain</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post-hoc, single level</a:t>
            </a:r>
          </a:p>
        </p:txBody>
      </p:sp>
      <p:cxnSp>
        <p:nvCxnSpPr>
          <p:cNvPr id="31" name="Connector 30"/>
          <p:cNvCxnSpPr/>
          <p:nvPr/>
        </p:nvCxnSpPr>
        <p:spPr>
          <a:xfrm>
            <a:off x="5143500" y="6725666"/>
            <a:ext cx="1897380" cy="0"/>
          </a:xfrm>
          <a:prstGeom prst="line">
            <a:avLst/>
          </a:prstGeom>
          <a:ln w="38100">
            <a:solidFill>
              <a:srgbClr val="4472C4"/>
            </a:solidFill>
            <a:tailEnd type="triangle" w="med" len="med"/>
          </a:ln>
        </p:spPr>
      </p:cxnSp>
      <p:sp>
        <p:nvSpPr>
          <p:cNvPr id="32" name="Rounded Rectangle 31"/>
          <p:cNvSpPr/>
          <p:nvPr/>
        </p:nvSpPr>
        <p:spPr>
          <a:xfrm>
            <a:off x="7132320" y="6314186"/>
            <a:ext cx="4023360" cy="822960"/>
          </a:xfrm>
          <a:prstGeom prst="roundRect">
            <a:avLst>
              <a:gd name="adj" fmla="val 27777"/>
            </a:avLst>
          </a:prstGeom>
          <a:solidFill>
            <a:srgbClr val="2F5597"/>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Scale</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post-hoc, hierarchical</a:t>
            </a:r>
          </a:p>
        </p:txBody>
      </p:sp>
      <p:cxnSp>
        <p:nvCxnSpPr>
          <p:cNvPr id="33" name="Connector 32"/>
          <p:cNvCxnSpPr/>
          <p:nvPr/>
        </p:nvCxnSpPr>
        <p:spPr>
          <a:xfrm>
            <a:off x="11247120" y="6725666"/>
            <a:ext cx="1897380" cy="0"/>
          </a:xfrm>
          <a:prstGeom prst="line">
            <a:avLst/>
          </a:prstGeom>
          <a:ln w="38100">
            <a:solidFill>
              <a:srgbClr val="4472C4"/>
            </a:solidFill>
            <a:tailEnd type="triangle" w="med" len="med"/>
          </a:ln>
        </p:spPr>
      </p:cxnSp>
      <p:sp>
        <p:nvSpPr>
          <p:cNvPr id="34" name="Rounded Rectangle 33"/>
          <p:cNvSpPr/>
          <p:nvPr/>
        </p:nvSpPr>
        <p:spPr>
          <a:xfrm>
            <a:off x="13235940" y="6314186"/>
            <a:ext cx="4023360" cy="822960"/>
          </a:xfrm>
          <a:prstGeom prst="roundRect">
            <a:avLst>
              <a:gd name="adj" fmla="val 27777"/>
            </a:avLst>
          </a:prstGeom>
          <a:solidFill>
            <a:srgbClr val="1F7A8C"/>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Guide</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in-training signal</a:t>
            </a:r>
          </a:p>
        </p:txBody>
      </p:sp>
      <p:sp>
        <p:nvSpPr>
          <p:cNvPr id="35" name="Rounded Rectangle 34"/>
          <p:cNvSpPr/>
          <p:nvPr/>
        </p:nvSpPr>
        <p:spPr>
          <a:xfrm>
            <a:off x="1028700" y="7640066"/>
            <a:ext cx="16230600" cy="1577086"/>
          </a:xfrm>
          <a:prstGeom prst="roundRect">
            <a:avLst>
              <a:gd name="adj" fmla="val 12755"/>
            </a:avLst>
          </a:prstGeom>
          <a:solidFill>
            <a:srgbClr val="E7EAF3"/>
          </a:solidFill>
          <a:ln w="25400">
            <a:solidFill>
              <a:srgbClr val="1F7A8C"/>
            </a:solidFill>
          </a:ln>
        </p:spPr>
        <p:txBody>
          <a:bodyPr anchor="ctr" rtlCol="false" lIns="0" tIns="0" rIns="0" bIns="0" wrap="square"/>
          <a:lstStyle/>
          <a:p>
            <a:endParaRPr lang="en-US" sz="1800"/>
          </a:p>
        </p:txBody>
      </p:sp>
      <p:sp>
        <p:nvSpPr>
          <p:cNvPr id="36" name="Rounded Rectangle 35"/>
          <p:cNvSpPr/>
          <p:nvPr/>
        </p:nvSpPr>
        <p:spPr>
          <a:xfrm>
            <a:off x="1348740" y="7448042"/>
            <a:ext cx="2510554"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THESIS</a:t>
            </a:r>
          </a:p>
        </p:txBody>
      </p:sp>
      <p:sp>
        <p:nvSpPr>
          <p:cNvPr id="37" name="TextBox 36"/>
          <p:cNvSpPr txBox="1"/>
          <p:nvPr/>
        </p:nvSpPr>
        <p:spPr>
          <a:xfrm>
            <a:off x="1394460" y="7914386"/>
            <a:ext cx="15499080" cy="1165606"/>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One cooperative-game definition, three value functions: the same Shapley logic </a:t>
            </a:r>
            <a:r>
              <a:rPr lang="en-US" sz="2000" b="true">
                <a:solidFill>
                  <a:srgbClr val="111111"/>
                </a:solidFill>
                <a:latin typeface="Nunito Bold"/>
                <a:ea typeface="Nunito Bold"/>
                <a:cs typeface="Nunito Bold"/>
                <a:sym typeface="Nunito Bold"/>
              </a:rPr>
              <a:t>explains</a:t>
            </a:r>
            <a:r>
              <a:rPr lang="en-US" sz="2000" b="true">
                <a:solidFill>
                  <a:srgbClr val="111111"/>
                </a:solidFill>
                <a:latin typeface="Nunito Semi-Bold"/>
                <a:ea typeface="Nunito Semi-Bold"/>
                <a:cs typeface="Nunito Semi-Bold"/>
                <a:sym typeface="Nunito Semi-Bold"/>
              </a:rPr>
              <a:t> a partition, </a:t>
            </a:r>
            <a:r>
              <a:rPr lang="en-US" sz="2000" b="true">
                <a:solidFill>
                  <a:srgbClr val="111111"/>
                </a:solidFill>
                <a:latin typeface="Nunito Bold"/>
                <a:ea typeface="Nunito Bold"/>
                <a:cs typeface="Nunito Bold"/>
                <a:sym typeface="Nunito Bold"/>
              </a:rPr>
              <a:t>stays consistent</a:t>
            </a:r>
            <a:r>
              <a:rPr lang="en-US" sz="2000" b="true">
                <a:solidFill>
                  <a:srgbClr val="111111"/>
                </a:solidFill>
                <a:latin typeface="Nunito Semi-Bold"/>
                <a:ea typeface="Nunito Semi-Bold"/>
                <a:cs typeface="Nunito Semi-Bold"/>
                <a:sym typeface="Nunito Semi-Bold"/>
              </a:rPr>
              <a:t> across levels, and finally </a:t>
            </a:r>
            <a:r>
              <a:rPr lang="en-US" sz="2000" b="true">
                <a:solidFill>
                  <a:srgbClr val="111111"/>
                </a:solidFill>
                <a:latin typeface="Nunito Bold"/>
                <a:ea typeface="Nunito Bold"/>
                <a:cs typeface="Nunito Bold"/>
                <a:sym typeface="Nunito Bold"/>
              </a:rPr>
              <a:t>guides</a:t>
            </a:r>
            <a:r>
              <a:rPr lang="en-US" sz="2000" b="true">
                <a:solidFill>
                  <a:srgbClr val="111111"/>
                </a:solidFill>
                <a:latin typeface="Nunito Semi-Bold"/>
                <a:ea typeface="Nunito Semi-Bold"/>
                <a:cs typeface="Nunito Semi-Bold"/>
                <a:sym typeface="Nunito Semi-Bold"/>
              </a:rPr>
              <a:t> what a recommender learns.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Publications Supporting the Thesis</a:t>
            </a:r>
          </a:p>
        </p:txBody>
      </p:sp>
      <p:pic>
        <p:nvPicPr>
          <p:cNvPr id="23" name="Picture 22" descr="image.png"/>
          <p:cNvPicPr>
            <a:picLocks noChangeAspect="1"/>
          </p:cNvPicPr>
          <p:nvPr/>
        </p:nvPicPr>
        <p:blipFill>
          <a:blip r:embed="rId3"/>
          <a:stretch>
            <a:fillRect/>
          </a:stretch>
        </p:blipFill>
        <p:spPr>
          <a:xfrm>
            <a:off x="10279040"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29" name="Table 28"/>
          <p:cNvGraphicFramePr>
            <a:graphicFrameLocks noGrp="1"/>
          </p:cNvGraphicFramePr>
          <p:nvPr/>
        </p:nvGraphicFramePr>
        <p:xfrm>
          <a:off x="1028700" y="3363722"/>
          <a:ext cx="16230594" cy="3291840"/>
        </p:xfrm>
        <a:graphic>
          <a:graphicData uri="http://schemas.openxmlformats.org/drawingml/2006/table">
            <a:tbl>
              <a:tblPr firstRow="0" bandRow="0" firstCol="0" lastRow="0" lastCol="0" bandCol="0">
                <a:tableStyleId>{2D5ABB26-0587-4C30-8999-92F81FD0307C}</a:tableStyleId>
              </a:tblPr>
              <a:tblGrid>
                <a:gridCol w="656729"/>
                <a:gridCol w="2814554"/>
                <a:gridCol w="5253835"/>
                <a:gridCol w="3189828"/>
                <a:gridCol w="750547"/>
                <a:gridCol w="2439280"/>
                <a:gridCol w="1125821"/>
              </a:tblGrid>
              <a:tr h="822960">
                <a:tc>
                  <a:txBody>
                    <a:bodyPr anchor="ctr" rtlCol="false" lIns="0" tIns="0" rIns="0" bIns="0" wrap="square"/>
                    <a:lstStyle/>
                    <a:p>
                      <a:pPr algn="ctr">
                        <a:lnSpc>
                          <a:spcPts val="1820"/>
                        </a:lnSpc>
                        <a:spcBef>
                          <a:spcPts val="0"/>
                        </a:spcBef>
                        <a:buNone/>
                      </a:pPr>
                      <a:endParaRPr lang="en-US" sz="2200"/>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Authors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Journal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Year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DOI</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Status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Mbarek,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Shapley Values for Explaining the Black Box Nature of Machine Learning Model Clustering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Procedia Computer Science 220, 806–811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10.1016/j.procs.2023.03.107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Game Theory Meets Explainable AI: An Enhanced Approach to Understanding Black Box Models Through Shapley Values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IJACSA 16(7), 716–725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10.14569/IJACSA.2025.0160780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DyHuCoG: A Dynamic Hypergraph Cooperative Game for Preference-aware Recommendation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IJIES 19(2), 887–902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10.22266/ijies2026.0228.54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0" name="Rounded Rectangle 29"/>
          <p:cNvSpPr/>
          <p:nvPr/>
        </p:nvSpPr>
        <p:spPr>
          <a:xfrm>
            <a:off x="1028700" y="7341362"/>
            <a:ext cx="7932420" cy="1921510"/>
          </a:xfrm>
          <a:prstGeom prst="roundRect">
            <a:avLst>
              <a:gd name="adj" fmla="val 16179"/>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485900" y="7103618"/>
            <a:ext cx="356064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Mapping to the thesis</a:t>
            </a:r>
          </a:p>
        </p:txBody>
      </p:sp>
      <p:sp>
        <p:nvSpPr>
          <p:cNvPr id="32" name="TextBox 31"/>
          <p:cNvSpPr txBox="1"/>
          <p:nvPr/>
        </p:nvSpPr>
        <p:spPr>
          <a:xfrm>
            <a:off x="1485900" y="7890002"/>
            <a:ext cx="7063740" cy="1189990"/>
          </a:xfrm>
          <a:prstGeom prst="rect">
            <a:avLst/>
          </a:prstGeom>
          <a:noFill/>
        </p:spPr>
        <p:txBody>
          <a:bodyPr anchor="t" rtlCol="false" lIns="0" tIns="0" rIns="0" bIns="0" wrap="square"/>
          <a:lstStyle/>
          <a:p>
            <a:pPr algn="l" marL="274320" indent="-274320">
              <a:lnSpc>
                <a:spcPts val="2094"/>
              </a:lnSpc>
              <a:spcBef>
                <a:spcPts val="0"/>
              </a:spcBef>
              <a:buClr>
                <a:srgbClr val="1F7A8C"/>
              </a:buClr>
              <a:buSzPct val="100000"/>
              <a:buFont typeface="Arial"/>
              <a:buChar char="•"/>
            </a:pPr>
            <a:r>
              <a:rPr lang="en-US" sz="1496" b="true">
                <a:solidFill>
                  <a:srgbClr val="111111"/>
                </a:solidFill>
                <a:latin typeface="Nunito Bold"/>
                <a:ea typeface="Nunito Bold"/>
                <a:cs typeface="Nunito Bold"/>
                <a:sym typeface="Nunito Bold"/>
              </a:rPr>
              <a:t>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 (Chapter 5)  ·  </a:t>
            </a:r>
            <a:r>
              <a:rPr lang="en-US" sz="1496" b="true">
                <a:solidFill>
                  <a:srgbClr val="111111"/>
                </a:solidFill>
                <a:latin typeface="Nunito Bold"/>
                <a:ea typeface="Nunito Bold"/>
                <a:cs typeface="Nunito Bold"/>
                <a:sym typeface="Nunito Bold"/>
              </a:rPr>
              <a:t>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 (Chapter 6)  ·  </a:t>
            </a:r>
            <a:r>
              <a:rPr lang="en-US" sz="1496" b="true">
                <a:solidFill>
                  <a:srgbClr val="111111"/>
                </a:solidFill>
                <a:latin typeface="Nunito Bold"/>
                <a:ea typeface="Nunito Bold"/>
                <a:cs typeface="Nunito Bold"/>
                <a:sym typeface="Nunito Bold"/>
              </a:rPr>
              <a:t>III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III (Chapter 7).</a:t>
            </a:r>
          </a:p>
          <a:p>
            <a:pPr algn="l" marL="274320" indent="-274320">
              <a:lnSpc>
                <a:spcPts val="2094"/>
              </a:lnSpc>
              <a:spcBef>
                <a:spcPts val="352"/>
              </a:spcBef>
              <a:buClr>
                <a:srgbClr val="1F7A8C"/>
              </a:buClr>
              <a:buSzPct val="100000"/>
              <a:buFont typeface="Arial"/>
              <a:buChar char="•"/>
            </a:pPr>
            <a:r>
              <a:rPr lang="en-US" sz="1496" b="true">
                <a:solidFill>
                  <a:srgbClr val="111111"/>
                </a:solidFill>
                <a:latin typeface="Nunito Semi-Bold"/>
                <a:ea typeface="Nunito Semi-Bold"/>
                <a:cs typeface="Nunito Semi-Bold"/>
                <a:sym typeface="Nunito Semi-Bold"/>
              </a:rPr>
              <a:t>Three journal articles, candidate as </a:t>
            </a:r>
            <a:r>
              <a:rPr lang="en-US" sz="1496" b="true">
                <a:solidFill>
                  <a:srgbClr val="111111"/>
                </a:solidFill>
                <a:latin typeface="Nunito Bold"/>
                <a:ea typeface="Nunito Bold"/>
                <a:cs typeface="Nunito Bold"/>
                <a:sym typeface="Nunito Bold"/>
              </a:rPr>
              <a:t>first author</a:t>
            </a:r>
            <a:r>
              <a:rPr lang="en-US" sz="1496" b="true">
                <a:solidFill>
                  <a:srgbClr val="111111"/>
                </a:solidFill>
                <a:latin typeface="Nunito Semi-Bold"/>
                <a:ea typeface="Nunito Semi-Bold"/>
                <a:cs typeface="Nunito Semi-Bold"/>
                <a:sym typeface="Nunito Semi-Bold"/>
              </a:rPr>
              <a:t>; IJACSA and IJIES are Scopus-indexed.</a:t>
            </a:r>
          </a:p>
        </p:txBody>
      </p:sp>
      <p:sp>
        <p:nvSpPr>
          <p:cNvPr id="33" name="Rounded Rectangle 32"/>
          <p:cNvSpPr/>
          <p:nvPr/>
        </p:nvSpPr>
        <p:spPr>
          <a:xfrm>
            <a:off x="9326880" y="7341362"/>
            <a:ext cx="7932420" cy="1921510"/>
          </a:xfrm>
          <a:prstGeom prst="roundRect">
            <a:avLst>
              <a:gd name="adj" fmla="val 16179"/>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9784080" y="7103618"/>
            <a:ext cx="439924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Related work with the team</a:t>
            </a:r>
          </a:p>
        </p:txBody>
      </p:sp>
      <p:sp>
        <p:nvSpPr>
          <p:cNvPr id="35" name="TextBox 34"/>
          <p:cNvSpPr txBox="1"/>
          <p:nvPr/>
        </p:nvSpPr>
        <p:spPr>
          <a:xfrm>
            <a:off x="9784080" y="7890002"/>
            <a:ext cx="7063740" cy="1189990"/>
          </a:xfrm>
          <a:prstGeom prst="rect">
            <a:avLst/>
          </a:prstGeom>
          <a:noFill/>
        </p:spPr>
        <p:txBody>
          <a:bodyPr anchor="t" rtlCol="false" lIns="0" tIns="0" rIns="0" bIns="0" wrap="square"/>
          <a:lstStyle/>
          <a:p>
            <a:pPr algn="l" marL="274320" indent="-274320">
              <a:lnSpc>
                <a:spcPts val="2173"/>
              </a:lnSpc>
              <a:spcBef>
                <a:spcPts val="0"/>
              </a:spcBef>
              <a:buClr>
                <a:srgbClr val="ECC665"/>
              </a:buClr>
              <a:buSzPct val="100000"/>
              <a:buFont typeface="Arial"/>
              <a:buChar char="•"/>
            </a:pPr>
            <a:r>
              <a:rPr lang="en-US" sz="1552" b="true">
                <a:solidFill>
                  <a:srgbClr val="FFFFFF"/>
                </a:solidFill>
                <a:latin typeface="Nunito Semi-Bold"/>
                <a:ea typeface="Nunito Semi-Bold"/>
                <a:cs typeface="Nunito Semi-Bold"/>
                <a:sym typeface="Nunito Semi-Bold"/>
              </a:rPr>
              <a:t>Nesmaoui, R., </a:t>
            </a:r>
            <a:r>
              <a:rPr lang="en-US" sz="1552" b="true">
                <a:solidFill>
                  <a:srgbClr val="FFFFFF"/>
                </a:solidFill>
                <a:latin typeface="Nunito Bold"/>
                <a:ea typeface="Nunito Bold"/>
                <a:cs typeface="Nunito Bold"/>
                <a:sym typeface="Nunito Bold"/>
              </a:rPr>
              <a:t>Louhichi, M.</a:t>
            </a:r>
            <a:r>
              <a:rPr lang="en-US" sz="1552" b="true">
                <a:solidFill>
                  <a:srgbClr val="FFFFFF"/>
                </a:solidFill>
                <a:latin typeface="Nunito Semi-Bold"/>
                <a:ea typeface="Nunito Semi-Bold"/>
                <a:cs typeface="Nunito Semi-Bold"/>
                <a:sym typeface="Nunito Semi-Bold"/>
              </a:rPr>
              <a:t> &amp; Lazaar, M. Dynamic Recommender Systems with Real-time Shapley Value-based Contribution Adjustment. IJIES 18, 241–257 (2025): the same cooperative-game view, applied to real-time contribution adjustment.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 Stated Honestly</a:t>
            </a:r>
          </a:p>
        </p:txBody>
      </p:sp>
      <p:pic>
        <p:nvPicPr>
          <p:cNvPr id="23" name="Picture 22" descr="image.png"/>
          <p:cNvPicPr>
            <a:picLocks noChangeAspect="1"/>
          </p:cNvPicPr>
          <p:nvPr/>
        </p:nvPicPr>
        <p:blipFill>
          <a:blip r:embed="rId3"/>
          <a:stretch>
            <a:fillRect/>
          </a:stretch>
        </p:blipFill>
        <p:spPr>
          <a:xfrm>
            <a:off x="8586542" y="1673352"/>
            <a:ext cx="457200" cy="250983"/>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4472C4"/>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Computational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Exact Shapley is not feasible; every contribution relies on approximation, surrogates or limited reporting.</a:t>
            </a:r>
          </a:p>
        </p:txBody>
      </p:sp>
      <p:sp>
        <p:nvSpPr>
          <p:cNvPr id="30" name="Rounded Rectangle 29"/>
          <p:cNvSpPr/>
          <p:nvPr/>
        </p:nvSpPr>
        <p:spPr>
          <a:xfrm>
            <a:off x="9281160" y="3455162"/>
            <a:ext cx="7978140" cy="2789555"/>
          </a:xfrm>
          <a:prstGeom prst="roundRect">
            <a:avLst>
              <a:gd name="adj" fmla="val 9833"/>
            </a:avLst>
          </a:prstGeom>
          <a:solidFill>
            <a:srgbClr val="2F5597"/>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Methodological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Clustering depends on surrogate fidelity; recommendation depends on stable approximate contributions and useful context.</a:t>
            </a:r>
          </a:p>
        </p:txBody>
      </p:sp>
      <p:sp>
        <p:nvSpPr>
          <p:cNvPr id="31" name="Rounded Rectangle 30"/>
          <p:cNvSpPr/>
          <p:nvPr/>
        </p:nvSpPr>
        <p:spPr>
          <a:xfrm>
            <a:off x="1028700" y="6519037"/>
            <a:ext cx="7978140" cy="2789555"/>
          </a:xfrm>
          <a:prstGeom prst="roundRect">
            <a:avLst>
              <a:gd name="adj" fmla="val 9833"/>
            </a:avLst>
          </a:prstGeom>
          <a:solidFill>
            <a:srgbClr val="1F7A8C"/>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FFFFFF"/>
                </a:solidFill>
                <a:latin typeface="Roca Two Bold"/>
                <a:ea typeface="Roca Two Bold"/>
                <a:cs typeface="Roca Two Bold"/>
                <a:sym typeface="Roca Two Bold"/>
              </a:rPr>
              <a:t>Empirical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Tabular clustering + benchmark recommendation; no multimodal, sequential or online setting; no dedicated user study of actionability.</a:t>
            </a:r>
          </a:p>
        </p:txBody>
      </p:sp>
      <p:sp>
        <p:nvSpPr>
          <p:cNvPr id="32" name="Rounded Rectangle 31"/>
          <p:cNvSpPr/>
          <p:nvPr/>
        </p:nvSpPr>
        <p:spPr>
          <a:xfrm>
            <a:off x="9281160" y="6519037"/>
            <a:ext cx="7978140" cy="2789555"/>
          </a:xfrm>
          <a:prstGeom prst="roundRect">
            <a:avLst>
              <a:gd name="adj" fmla="val 9833"/>
            </a:avLst>
          </a:prstGeom>
          <a:solidFill>
            <a:srgbClr val="111111"/>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Claim scope</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A consistent and productive shared view, not one fully unified framework that removes all tension.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Perspectives: Turning Limitations into an Agenda</a:t>
            </a:r>
          </a:p>
        </p:txBody>
      </p:sp>
      <p:pic>
        <p:nvPicPr>
          <p:cNvPr id="23" name="Picture 22" descr="image.png"/>
          <p:cNvPicPr>
            <a:picLocks noChangeAspect="1"/>
          </p:cNvPicPr>
          <p:nvPr/>
        </p:nvPicPr>
        <p:blipFill>
          <a:blip r:embed="rId3"/>
          <a:stretch>
            <a:fillRect/>
          </a:stretch>
        </p:blipFill>
        <p:spPr>
          <a:xfrm>
            <a:off x="13921521"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0" name="Oval 29"/>
          <p:cNvSpPr/>
          <p:nvPr/>
        </p:nvSpPr>
        <p:spPr>
          <a:xfrm>
            <a:off x="1394460" y="3820922"/>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01</a:t>
            </a:r>
          </a:p>
        </p:txBody>
      </p:sp>
      <p:sp>
        <p:nvSpPr>
          <p:cNvPr id="31" name="TextBox 30"/>
          <p:cNvSpPr txBox="1"/>
          <p:nvPr/>
        </p:nvSpPr>
        <p:spPr>
          <a:xfrm>
            <a:off x="235458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Scalable cooperative attribution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Lower-variance Shapley estimators, learned proposal distributions, adaptive refresh rules.</a:t>
            </a:r>
          </a:p>
        </p:txBody>
      </p:sp>
      <p:sp>
        <p:nvSpPr>
          <p:cNvPr id="32" name="Rounded Rectangle 31"/>
          <p:cNvSpPr/>
          <p:nvPr/>
        </p:nvSpPr>
        <p:spPr>
          <a:xfrm>
            <a:off x="9281160" y="3455162"/>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3" name="Oval 32"/>
          <p:cNvSpPr/>
          <p:nvPr/>
        </p:nvSpPr>
        <p:spPr>
          <a:xfrm>
            <a:off x="9646920" y="3820922"/>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02</a:t>
            </a:r>
          </a:p>
        </p:txBody>
      </p:sp>
      <p:sp>
        <p:nvSpPr>
          <p:cNvPr id="34" name="TextBox 33"/>
          <p:cNvSpPr txBox="1"/>
          <p:nvPr/>
        </p:nvSpPr>
        <p:spPr>
          <a:xfrm>
            <a:off x="1060704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Online / streaming recommendation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Truly incremental settings with changing graphs and delayed feedback; this also addresses the static-graph limitation.</a:t>
            </a:r>
          </a:p>
        </p:txBody>
      </p:sp>
      <p:sp>
        <p:nvSpPr>
          <p:cNvPr id="35" name="Rounded Rectangle 34"/>
          <p:cNvSpPr/>
          <p:nvPr/>
        </p:nvSpPr>
        <p:spPr>
          <a:xfrm>
            <a:off x="1028700" y="6519037"/>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6" name="Oval 35"/>
          <p:cNvSpPr/>
          <p:nvPr/>
        </p:nvSpPr>
        <p:spPr>
          <a:xfrm>
            <a:off x="1394460" y="6884797"/>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03</a:t>
            </a:r>
          </a:p>
        </p:txBody>
      </p:sp>
      <p:sp>
        <p:nvSpPr>
          <p:cNvPr id="37" name="TextBox 36"/>
          <p:cNvSpPr txBox="1"/>
          <p:nvPr/>
        </p:nvSpPr>
        <p:spPr>
          <a:xfrm>
            <a:off x="235458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Richer user-centred evaluation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Do explanations measurably improve analyst judgement, user trust, quality of action or perceived fairness?</a:t>
            </a:r>
          </a:p>
        </p:txBody>
      </p:sp>
      <p:sp>
        <p:nvSpPr>
          <p:cNvPr id="38" name="Rounded Rectangle 37"/>
          <p:cNvSpPr/>
          <p:nvPr/>
        </p:nvSpPr>
        <p:spPr>
          <a:xfrm>
            <a:off x="9281160" y="6519037"/>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9" name="Oval 38"/>
          <p:cNvSpPr/>
          <p:nvPr/>
        </p:nvSpPr>
        <p:spPr>
          <a:xfrm>
            <a:off x="9646920" y="6884797"/>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04</a:t>
            </a:r>
          </a:p>
        </p:txBody>
      </p:sp>
      <p:sp>
        <p:nvSpPr>
          <p:cNvPr id="40" name="TextBox 39"/>
          <p:cNvSpPr txBox="1"/>
          <p:nvPr/>
        </p:nvSpPr>
        <p:spPr>
          <a:xfrm>
            <a:off x="1060704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Broader trustworthy-AI evaluation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Exposure fairness, transparency requirements, auditing for governance.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Conclusion</a:t>
            </a:r>
          </a:p>
        </p:txBody>
      </p:sp>
      <p:pic>
        <p:nvPicPr>
          <p:cNvPr id="23" name="Picture 22" descr="image.png"/>
          <p:cNvPicPr>
            <a:picLocks noChangeAspect="1"/>
          </p:cNvPicPr>
          <p:nvPr/>
        </p:nvPicPr>
        <p:blipFill>
          <a:blip r:embed="rId3"/>
          <a:stretch>
            <a:fillRect/>
          </a:stretch>
        </p:blipFill>
        <p:spPr>
          <a:xfrm>
            <a:off x="4224502" y="1673352"/>
            <a:ext cx="457200" cy="452148"/>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Conclusion</a:t>
            </a:r>
          </a:p>
        </p:txBody>
      </p:sp>
      <p:sp>
        <p:nvSpPr>
          <p:cNvPr id="29" name="Rounded Rectangle 28"/>
          <p:cNvSpPr/>
          <p:nvPr/>
        </p:nvSpPr>
        <p:spPr>
          <a:xfrm>
            <a:off x="1028700" y="3546602"/>
            <a:ext cx="16230600" cy="1554480"/>
          </a:xfrm>
          <a:prstGeom prst="roundRect">
            <a:avLst>
              <a:gd name="adj" fmla="val 12941"/>
            </a:avLst>
          </a:prstGeom>
          <a:solidFill>
            <a:srgbClr val="E7EAF3"/>
          </a:solidFill>
          <a:ln w="25400">
            <a:solidFill>
              <a:srgbClr val="4472C4"/>
            </a:solidFill>
          </a:ln>
        </p:spPr>
        <p:txBody>
          <a:bodyPr anchor="ctr" rtlCol="false" lIns="0" tIns="0" rIns="0" bIns="0" wrap="square"/>
          <a:lstStyle/>
          <a:p>
            <a:endParaRPr lang="en-US" sz="1800"/>
          </a:p>
        </p:txBody>
      </p:sp>
      <p:sp>
        <p:nvSpPr>
          <p:cNvPr id="30" name="Rounded Rectangle 29"/>
          <p:cNvSpPr/>
          <p:nvPr/>
        </p:nvSpPr>
        <p:spPr>
          <a:xfrm>
            <a:off x="1348740" y="3354578"/>
            <a:ext cx="207323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THESIS ANSWER</a:t>
            </a:r>
          </a:p>
        </p:txBody>
      </p:sp>
      <p:sp>
        <p:nvSpPr>
          <p:cNvPr id="31" name="TextBox 30"/>
          <p:cNvSpPr txBox="1"/>
          <p:nvPr/>
        </p:nvSpPr>
        <p:spPr>
          <a:xfrm>
            <a:off x="1394460" y="3820922"/>
            <a:ext cx="15499080" cy="1143000"/>
          </a:xfrm>
          <a:prstGeom prst="rect">
            <a:avLst/>
          </a:prstGeom>
          <a:noFill/>
        </p:spPr>
        <p:txBody>
          <a:bodyPr anchor="ctr" rtlCol="false" lIns="0" tIns="0" rIns="0" bIns="0" wrap="square"/>
          <a:lstStyle/>
          <a:p>
            <a:pPr algn="l">
              <a:lnSpc>
                <a:spcPts val="3123"/>
              </a:lnSpc>
              <a:spcBef>
                <a:spcPts val="0"/>
              </a:spcBef>
              <a:buNone/>
            </a:pPr>
            <a:r>
              <a:rPr lang="en-US" sz="2231" b="true">
                <a:solidFill>
                  <a:srgbClr val="111111"/>
                </a:solidFill>
                <a:latin typeface="Nunito Semi-Bold"/>
                <a:ea typeface="Nunito Semi-Bold"/>
                <a:cs typeface="Nunito Semi-Bold"/>
                <a:sym typeface="Nunito Semi-Bold"/>
              </a:rPr>
              <a:t>Cooperative game theory can serve as a </a:t>
            </a:r>
            <a:r>
              <a:rPr lang="en-US" sz="2231" b="true">
                <a:solidFill>
                  <a:srgbClr val="111111"/>
                </a:solidFill>
                <a:latin typeface="Nunito Bold"/>
                <a:ea typeface="Nunito Bold"/>
                <a:cs typeface="Nunito Bold"/>
                <a:sym typeface="Nunito Bold"/>
              </a:rPr>
              <a:t>shared methodological view for actionable explanation</a:t>
            </a:r>
            <a:r>
              <a:rPr lang="en-US" sz="2231" b="true">
                <a:solidFill>
                  <a:srgbClr val="111111"/>
                </a:solidFill>
                <a:latin typeface="Nunito Semi-Bold"/>
                <a:ea typeface="Nunito Semi-Bold"/>
                <a:cs typeface="Nunito Semi-Bold"/>
                <a:sym typeface="Nunito Semi-Bold"/>
              </a:rPr>
              <a:t> across clustering and recommendation: the same Shapley logic explains, stays consistent across levels, and guides learning.</a:t>
            </a:r>
          </a:p>
        </p:txBody>
      </p:sp>
      <p:sp>
        <p:nvSpPr>
          <p:cNvPr id="32" name="TextBox 31"/>
          <p:cNvSpPr txBox="1"/>
          <p:nvPr/>
        </p:nvSpPr>
        <p:spPr>
          <a:xfrm>
            <a:off x="1028700" y="5421122"/>
            <a:ext cx="16230600" cy="32004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KEY OUTCOMES</a:t>
            </a:r>
          </a:p>
        </p:txBody>
      </p:sp>
      <p:sp>
        <p:nvSpPr>
          <p:cNvPr id="33" name="Rounded Rectangle 32"/>
          <p:cNvSpPr/>
          <p:nvPr/>
        </p:nvSpPr>
        <p:spPr>
          <a:xfrm>
            <a:off x="1028700" y="5832602"/>
            <a:ext cx="3851910" cy="3384550"/>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34" name="Oval 33"/>
          <p:cNvSpPr/>
          <p:nvPr/>
        </p:nvSpPr>
        <p:spPr>
          <a:xfrm>
            <a:off x="134874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1</a:t>
            </a:r>
          </a:p>
        </p:txBody>
      </p:sp>
      <p:sp>
        <p:nvSpPr>
          <p:cNvPr id="35" name="TextBox 34"/>
          <p:cNvSpPr txBox="1"/>
          <p:nvPr/>
        </p:nvSpPr>
        <p:spPr>
          <a:xfrm>
            <a:off x="134874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Common language</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Shapley attribution as a common formal language for assigning importance to features, interactions and contexts.</a:t>
            </a:r>
          </a:p>
        </p:txBody>
      </p:sp>
      <p:sp>
        <p:nvSpPr>
          <p:cNvPr id="36" name="Rounded Rectangle 35"/>
          <p:cNvSpPr/>
          <p:nvPr/>
        </p:nvSpPr>
        <p:spPr>
          <a:xfrm>
            <a:off x="515493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37" name="Oval 36"/>
          <p:cNvSpPr/>
          <p:nvPr/>
        </p:nvSpPr>
        <p:spPr>
          <a:xfrm>
            <a:off x="547497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2</a:t>
            </a:r>
          </a:p>
        </p:txBody>
      </p:sp>
      <p:sp>
        <p:nvSpPr>
          <p:cNvPr id="38" name="TextBox 37"/>
          <p:cNvSpPr txBox="1"/>
          <p:nvPr/>
        </p:nvSpPr>
        <p:spPr>
          <a:xfrm>
            <a:off x="547497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Three achievements</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Faithful clustering explanation, consistent multi-level explanation, contribution-aware recommendation learning.</a:t>
            </a:r>
          </a:p>
        </p:txBody>
      </p:sp>
      <p:sp>
        <p:nvSpPr>
          <p:cNvPr id="39" name="Rounded Rectangle 38"/>
          <p:cNvSpPr/>
          <p:nvPr/>
        </p:nvSpPr>
        <p:spPr>
          <a:xfrm>
            <a:off x="9281160" y="5832602"/>
            <a:ext cx="3851910" cy="3384550"/>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40" name="Oval 39"/>
          <p:cNvSpPr/>
          <p:nvPr/>
        </p:nvSpPr>
        <p:spPr>
          <a:xfrm>
            <a:off x="960120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3</a:t>
            </a:r>
          </a:p>
        </p:txBody>
      </p:sp>
      <p:sp>
        <p:nvSpPr>
          <p:cNvPr id="41" name="TextBox 40"/>
          <p:cNvSpPr txBox="1"/>
          <p:nvPr/>
        </p:nvSpPr>
        <p:spPr>
          <a:xfrm>
            <a:off x="960120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Explanation as method</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Not a comment added later: from post-hoc description to in-training guidance.</a:t>
            </a:r>
          </a:p>
        </p:txBody>
      </p:sp>
      <p:sp>
        <p:nvSpPr>
          <p:cNvPr id="42" name="Rounded Rectangle 41"/>
          <p:cNvSpPr/>
          <p:nvPr/>
        </p:nvSpPr>
        <p:spPr>
          <a:xfrm>
            <a:off x="1340739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43" name="Oval 42"/>
          <p:cNvSpPr/>
          <p:nvPr/>
        </p:nvSpPr>
        <p:spPr>
          <a:xfrm>
            <a:off x="1372743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4</a:t>
            </a:r>
          </a:p>
        </p:txBody>
      </p:sp>
      <p:sp>
        <p:nvSpPr>
          <p:cNvPr id="44" name="TextBox 43"/>
          <p:cNvSpPr txBox="1"/>
          <p:nvPr/>
        </p:nvSpPr>
        <p:spPr>
          <a:xfrm>
            <a:off x="1372743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Trustworthy AI</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Aligned with EU AI Act, OECD principles and GDPR expectations.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(1 / 2)</a:t>
            </a:r>
          </a:p>
        </p:txBody>
      </p:sp>
      <p:pic>
        <p:nvPicPr>
          <p:cNvPr id="23" name="Picture 22" descr="image.png"/>
          <p:cNvPicPr>
            <a:picLocks noChangeAspect="1"/>
          </p:cNvPicPr>
          <p:nvPr/>
        </p:nvPicPr>
        <p:blipFill>
          <a:blip r:embed="rId3"/>
          <a:stretch>
            <a:fillRect/>
          </a:stretch>
        </p:blipFill>
        <p:spPr>
          <a:xfrm>
            <a:off x="5569149" y="1673352"/>
            <a:ext cx="457200" cy="617115"/>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Mbarek, M. &amp; Lazaar, M. Shapley Values for Explaining the Black Box Nature of Machine Learning Model Clustering. Procedia Computer Science 220, 806–811 (2023).</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&amp; Lazaar, M. Game Theory Meets Explainable AI: An Enhanced Approach to Understanding Black Box Models Through Shapley Values. IJACSA 16(7), 716–725 (2025).</a:t>
            </a:r>
          </a:p>
        </p:txBody>
      </p:sp>
      <p:sp>
        <p:nvSpPr>
          <p:cNvPr id="30" name="Rounded Rectangle 29"/>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[3]</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&amp; Lazaar, M. DyHuCoG: A Dynamic Hypergraph Cooperative Game for Preference-aware Recommendation. IJIES 19(2), 887–902 (2026).</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[4]</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Shapley, L. S. A Value for n-Person Games. Contributions to the Theory of Games II, 307–317, Princeton University Press (1953).</a:t>
            </a:r>
          </a:p>
        </p:txBody>
      </p:sp>
      <p:sp>
        <p:nvSpPr>
          <p:cNvPr id="36" name="Rounded Rectangle 35"/>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[5]</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Lundberg, S. M. &amp; Lee, S.-I. A Unified Approach to Interpreting Model Predictions (SHAP). NeurIPS 30, 4765–4774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[6]</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Lundberg, S. M. et al. From Local Explanations to Global Understanding with Explainable AI for Trees (TreeSHAP). Nature Machine Intelligence 2, 56–67 (2020).</a:t>
            </a:r>
          </a:p>
        </p:txBody>
      </p:sp>
      <p:sp>
        <p:nvSpPr>
          <p:cNvPr id="42" name="Rounded Rectangle 41"/>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[7]</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Ribeiro, M. T., Singh, S. &amp; Guestrin, C. "Why Should I Trust You?": Explaining the Predictions of Any Classifier (LIME). KDD, 1135–1144 (2016).</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[8]</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Castro, J., Gómez, D. &amp; Tejada, J. Polynomial Calculation of the Shapley Value Based on Sampling. Computers &amp; Operations Research 36(5), 1726–1730 (2009).</a:t>
            </a:r>
          </a:p>
        </p:txBody>
      </p:sp>
      <p:sp>
        <p:nvSpPr>
          <p:cNvPr id="48" name="Rounded Rectangle 47"/>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[9]</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Štrumbelj, E. &amp; Kononenko, I. An Efficient Explanation of Individual Classifications Using Game Theory. JMLR 11, 1–18 (2010).</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[10]</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Koren, Y., Bell, R. &amp; Volinsky, C. Matrix Factorization Techniques for Recommender Systems. Computer 42(8), 30–37 (2009).</a:t>
            </a:r>
          </a:p>
        </p:txBody>
      </p:sp>
      <p:sp>
        <p:nvSpPr>
          <p:cNvPr id="54" name="Rounded Rectangle 53"/>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[11]</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He, X. et al. Neural Collaborative Filtering. WWW, 173–182 (2017).</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[12]</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He, X. et al. LightGCN: Simplifying and Powering Graph Convolution Network for Recommendation. SIGIR, 639–648 (2020).</a:t>
            </a:r>
          </a:p>
        </p:txBody>
      </p:sp>
      <p:sp>
        <p:nvSpPr>
          <p:cNvPr id="60" name="Rounded Rectangle 59"/>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[13]</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Xia, L. et al. Hypergraph Contrastive Collaborative Filtering (HCCF). SIGIR, 70–79 (2022).</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[14]</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Xiangyi, Y. et al. Hypergraph Projection Enhanced Collaborative Filtering (HPCF). Int. J. Data Science and Analytics 19(2), 269–281 (2025).</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(2 / 2)</a:t>
            </a:r>
          </a:p>
        </p:txBody>
      </p:sp>
      <p:pic>
        <p:nvPicPr>
          <p:cNvPr id="23" name="Picture 22" descr="image.png"/>
          <p:cNvPicPr>
            <a:picLocks noChangeAspect="1"/>
          </p:cNvPicPr>
          <p:nvPr/>
        </p:nvPicPr>
        <p:blipFill>
          <a:blip r:embed="rId3"/>
          <a:stretch>
            <a:fillRect/>
          </a:stretch>
        </p:blipFill>
        <p:spPr>
          <a:xfrm>
            <a:off x="5713563" y="1673352"/>
            <a:ext cx="457200" cy="250983"/>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[15]</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Zhang, D. et al. RecDCL: Dual Contrastive Learning for Recommendation. The Web Conference, 3655–3666 (2024).</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[16]</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Feng, Y. et al. Hypergraph Neural Networks. AAAI 33, 3558–3565 (2019).</a:t>
            </a:r>
          </a:p>
        </p:txBody>
      </p:sp>
      <p:sp>
        <p:nvSpPr>
          <p:cNvPr id="30" name="Rounded Rectangle 29"/>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[17]</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Rousseeuw, P. J. Silhouettes: A Graphical Aid to the Interpretation and Validation of Cluster Analysis. J. Comput. Appl. Math. 20, 53–65 (1987).</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[18]</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Gramegna, A. &amp; Giudici, P. SHAP and LIME: An Evaluation of Discriminative Power in Credit Risk. Frontiers in AI 4, 752558 (2021).</a:t>
            </a:r>
          </a:p>
        </p:txBody>
      </p:sp>
      <p:sp>
        <p:nvSpPr>
          <p:cNvPr id="36" name="Rounded Rectangle 35"/>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[19]</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Cortez, P. et al. Wine Quality. UCI Machine Learning Repository (2009).  ·  Dua, D. &amp; Taniskidou, E. Beijing Multi-Site Air Quality Data. UCI Machine Learning Repository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[20]</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Harper, F. M. &amp; Konstan, J. A. The MovieLens Datasets: History and Context. ACM TiiS 5(4), 19 (2015).  ·  McAuley, J. et al. Amazon Review Data (Amazon-Book). UCSD (2018).</a:t>
            </a:r>
          </a:p>
        </p:txBody>
      </p:sp>
      <p:sp>
        <p:nvSpPr>
          <p:cNvPr id="42" name="Rounded Rectangle 41"/>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[21]</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Zhang, Y. &amp; Chen, X. Explainable Recommendation: A Survey and New Perspectives. Foundations and Trends in IR 14(1), 1–101 (2020).</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[22]</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765"/>
              </a:lnSpc>
              <a:spcBef>
                <a:spcPts val="0"/>
              </a:spcBef>
              <a:buNone/>
            </a:pPr>
            <a:r>
              <a:rPr lang="en-US" sz="1261" b="true">
                <a:solidFill>
                  <a:srgbClr val="111111"/>
                </a:solidFill>
                <a:latin typeface="Nunito Semi-Bold"/>
                <a:ea typeface="Nunito Semi-Bold"/>
                <a:cs typeface="Nunito Semi-Bold"/>
                <a:sym typeface="Nunito Semi-Bold"/>
              </a:rPr>
              <a:t>Adomavicius, G. &amp; Tuzhilin, A. Toward the Next Generation of Recommender Systems. IEEE TKDE 17(6), 734–749 (2005).  ·  Burke, R. Hybrid Recommender Systems. UMUAI 12(4), 331–370 (2002).</a:t>
            </a:r>
          </a:p>
        </p:txBody>
      </p:sp>
      <p:sp>
        <p:nvSpPr>
          <p:cNvPr id="48" name="Rounded Rectangle 47"/>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[23]</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Zhu, Z. et al. Popularity Bias in Dynamic Recommendation. KDD, 2439–2449 (2021).  ·  Hurley, N. &amp; Zhang, M. Novelty and Diversity in Top-N Recommendation. ACM TOIT 10(4) (2011).</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[24]</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Arrieta, A. B. et al. Explainable Artificial Intelligence (XAI): Concepts, Taxonomies, Opportunities and Challenges. Information Fusion 58, 82–115 (2020).</a:t>
            </a:r>
          </a:p>
        </p:txBody>
      </p:sp>
      <p:sp>
        <p:nvSpPr>
          <p:cNvPr id="54" name="Rounded Rectangle 53"/>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[25]</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602"/>
              </a:lnSpc>
              <a:spcBef>
                <a:spcPts val="0"/>
              </a:spcBef>
              <a:buNone/>
            </a:pPr>
            <a:r>
              <a:rPr lang="en-US" sz="1144" b="true">
                <a:solidFill>
                  <a:srgbClr val="111111"/>
                </a:solidFill>
                <a:latin typeface="Nunito Semi-Bold"/>
                <a:ea typeface="Nunito Semi-Bold"/>
                <a:cs typeface="Nunito Semi-Bold"/>
                <a:sym typeface="Nunito Semi-Bold"/>
              </a:rPr>
              <a:t>Doshi-Velez, F. &amp; Kim, B. Towards a Rigorous Science of Interpretable Machine Learning. arXiv:1702.08608 (2017).  ·  Rudin, C. et al. Interpretable ML: Fundamental Principles and 10 Grand Challenges. Statistics Surveys 16 (2022).</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[26]</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European Union. Regulation (EU) 2024/1689 (AI Act), Art. 13 (2024).  ·  Regulation (EU) 2016/679 (GDPR), Art. 22 (2016).  ·  OECD. Recommendation of the Council on Artificial Intelligence (2019).</a:t>
            </a:r>
          </a:p>
        </p:txBody>
      </p:sp>
      <p:sp>
        <p:nvSpPr>
          <p:cNvPr id="60" name="Rounded Rectangle 59"/>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[27]</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Holm, S. A Simple Sequentially Rejective Multiple Test Procedure. Scand. J. Statist. 6(2), 65–70 (1979).  ·  Cohen, J. Statistical Power Analysis for the Behavioral Sciences (1988).</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[28]</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Nesmaoui, R., Louhichi, M. &amp; Lazaar, M. Dynamic Recommender Systems with Real-time Shapley Value-based Contribution Adjustment. IJIES 18, 241–257 (2025).</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43000" y="0"/>
            <a:ext cx="10287000" cy="10287000"/>
          </a:xfrm>
          <a:prstGeom prst="rect">
            <a:avLst/>
          </a:prstGeom>
        </p:spPr>
      </p:pic>
      <p:pic>
        <p:nvPicPr>
          <p:cNvPr id="3" name="Picture 2" descr="image.png"/>
          <p:cNvPicPr>
            <a:picLocks noChangeAspect="1"/>
          </p:cNvPicPr>
          <p:nvPr/>
        </p:nvPicPr>
        <p:blipFill>
          <a:blip r:embed="rId2"/>
          <a:stretch>
            <a:fillRect/>
          </a:stretch>
        </p:blipFill>
        <p:spPr>
          <a:xfrm>
            <a:off x="9144000" y="0"/>
            <a:ext cx="10287000" cy="10287000"/>
          </a:xfrm>
          <a:prstGeom prst="rect">
            <a:avLst/>
          </a:prstGeom>
        </p:spPr>
      </p:pic>
      <p:sp>
        <p:nvSpPr>
          <p:cNvPr id="4" name="TextBox 3"/>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5" name="TextBox 4"/>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6" name="Picture 5" descr="ensias_logo.jpg"/>
          <p:cNvPicPr>
            <a:picLocks noChangeAspect="1"/>
          </p:cNvPicPr>
          <p:nvPr/>
        </p:nvPicPr>
        <p:blipFill>
          <a:blip r:embed="rId3"/>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75</a:t>
            </a:r>
          </a:p>
        </p:txBody>
      </p:sp>
      <p:sp>
        <p:nvSpPr>
          <p:cNvPr id="9" name="TextBox 8"/>
          <p:cNvSpPr txBox="1"/>
          <p:nvPr/>
        </p:nvSpPr>
        <p:spPr>
          <a:xfrm>
            <a:off x="1028700" y="2514600"/>
            <a:ext cx="16230600" cy="3291840"/>
          </a:xfrm>
          <a:prstGeom prst="rect">
            <a:avLst/>
          </a:prstGeom>
          <a:noFill/>
        </p:spPr>
        <p:txBody>
          <a:bodyPr anchor="t" rtlCol="false" lIns="0" tIns="0" rIns="0" bIns="0" wrap="square"/>
          <a:lstStyle/>
          <a:p>
            <a:pPr algn="ctr">
              <a:lnSpc>
                <a:spcPts val="15000"/>
              </a:lnSpc>
              <a:spcBef>
                <a:spcPts val="0"/>
              </a:spcBef>
              <a:buNone/>
            </a:pPr>
            <a:r>
              <a:rPr lang="en-US" sz="15000" b="true" spc="-800">
                <a:solidFill>
                  <a:srgbClr val="111111"/>
                </a:solidFill>
                <a:latin typeface="Roca Two Bold"/>
                <a:ea typeface="Roca Two Bold"/>
                <a:cs typeface="Roca Two Bold"/>
                <a:sym typeface="Roca Two Bold"/>
              </a:rPr>
              <a:t>Thank You</a:t>
            </a:r>
          </a:p>
          <a:p>
            <a:pPr algn="ctr">
              <a:lnSpc>
                <a:spcPts val="8400"/>
              </a:lnSpc>
              <a:spcBef>
                <a:spcPts val="400"/>
              </a:spcBef>
              <a:buNone/>
            </a:pPr>
            <a:r>
              <a:rPr lang="en-US" sz="7200" b="true" spc="-350">
                <a:solidFill>
                  <a:srgbClr val="111111"/>
                </a:solidFill>
                <a:latin typeface="Roca Two Bold"/>
                <a:ea typeface="Roca Two Bold"/>
                <a:cs typeface="Roca Two Bold"/>
                <a:sym typeface="Roca Two Bold"/>
              </a:rPr>
              <a:t>for your attention</a:t>
            </a:r>
          </a:p>
        </p:txBody>
      </p:sp>
      <p:pic>
        <p:nvPicPr>
          <p:cNvPr id="10" name="Picture 9" descr="image.png"/>
          <p:cNvPicPr>
            <a:picLocks noChangeAspect="1"/>
          </p:cNvPicPr>
          <p:nvPr/>
        </p:nvPicPr>
        <p:blipFill>
          <a:blip r:embed="rId4"/>
          <a:stretch>
            <a:fillRect/>
          </a:stretch>
        </p:blipFill>
        <p:spPr>
          <a:xfrm>
            <a:off x="13350240" y="2468880"/>
            <a:ext cx="822960" cy="747445"/>
          </a:xfrm>
          <a:prstGeom prst="rect">
            <a:avLst/>
          </a:prstGeom>
        </p:spPr>
      </p:pic>
      <p:pic>
        <p:nvPicPr>
          <p:cNvPr id="11" name="Picture 10" descr="image.png"/>
          <p:cNvPicPr>
            <a:picLocks noChangeAspect="1"/>
          </p:cNvPicPr>
          <p:nvPr/>
        </p:nvPicPr>
        <p:blipFill>
          <a:blip r:embed="rId5"/>
          <a:stretch>
            <a:fillRect/>
          </a:stretch>
        </p:blipFill>
        <p:spPr>
          <a:xfrm rot="20700000">
            <a:off x="3291840" y="4846320"/>
            <a:ext cx="685800" cy="925673"/>
          </a:xfrm>
          <a:prstGeom prst="rect">
            <a:avLst/>
          </a:prstGeom>
        </p:spPr>
      </p:pic>
      <p:sp>
        <p:nvSpPr>
          <p:cNvPr id="12" name="Oval 11"/>
          <p:cNvSpPr/>
          <p:nvPr/>
        </p:nvSpPr>
        <p:spPr>
          <a:xfrm>
            <a:off x="15613380" y="5760720"/>
            <a:ext cx="1005840" cy="1005840"/>
          </a:xfrm>
          <a:prstGeom prst="ellipse">
            <a:avLst/>
          </a:prstGeom>
          <a:solidFill>
            <a:srgbClr val="4472C4"/>
          </a:solidFill>
          <a:ln>
            <a:noFill/>
          </a:ln>
        </p:spPr>
        <p:txBody>
          <a:bodyPr anchor="ctr" rtlCol="false" lIns="0" tIns="0" rIns="0" bIns="0" wrap="square"/>
          <a:lstStyle/>
          <a:p>
            <a:pPr algn="ctr">
              <a:lnSpc>
                <a:spcPts val="4400"/>
              </a:lnSpc>
              <a:spcBef>
                <a:spcPts val="0"/>
              </a:spcBef>
              <a:buNone/>
            </a:pPr>
            <a:r>
              <a:rPr lang="en-US" sz="4000" b="true" spc="-200">
                <a:solidFill>
                  <a:srgbClr val="FFFFFF"/>
                </a:solidFill>
                <a:latin typeface="Roca Two Bold"/>
                <a:ea typeface="Roca Two Bold"/>
                <a:cs typeface="Roca Two Bold"/>
                <a:sym typeface="Roca Two Bold"/>
              </a:rPr>
              <a:t>?</a:t>
            </a:r>
          </a:p>
        </p:txBody>
      </p:sp>
      <p:sp>
        <p:nvSpPr>
          <p:cNvPr id="13" name="TextBox 12"/>
          <p:cNvSpPr txBox="1"/>
          <p:nvPr/>
        </p:nvSpPr>
        <p:spPr>
          <a:xfrm>
            <a:off x="1028700" y="6583680"/>
            <a:ext cx="16230600" cy="640080"/>
          </a:xfrm>
          <a:prstGeom prst="rect">
            <a:avLst/>
          </a:prstGeom>
          <a:noFill/>
        </p:spPr>
        <p:txBody>
          <a:bodyPr anchor="t" rtlCol="false" lIns="0" tIns="0" rIns="0" bIns="0" wrap="square"/>
          <a:lstStyle/>
          <a:p>
            <a:pPr algn="ctr">
              <a:lnSpc>
                <a:spcPts val="3400"/>
              </a:lnSpc>
              <a:spcBef>
                <a:spcPts val="0"/>
              </a:spcBef>
              <a:buNone/>
            </a:pPr>
            <a:r>
              <a:rPr lang="en-US" sz="2800" b="true">
                <a:solidFill>
                  <a:srgbClr val="4472C4"/>
                </a:solidFill>
                <a:latin typeface="Nunito Bold"/>
                <a:ea typeface="Nunito Bold"/>
                <a:cs typeface="Nunito Bold"/>
                <a:sym typeface="Nunito Bold"/>
              </a:rPr>
              <a:t>Questions &amp; Discussion  ·  I welcome your questions and comments.</a:t>
            </a:r>
          </a:p>
        </p:txBody>
      </p:sp>
      <p:sp>
        <p:nvSpPr>
          <p:cNvPr id="14" name="Rounded Rectangle 13"/>
          <p:cNvSpPr/>
          <p:nvPr/>
        </p:nvSpPr>
        <p:spPr>
          <a:xfrm>
            <a:off x="102870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CANDIDATE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Mouad LOUHICHI</a:t>
            </a:r>
          </a:p>
        </p:txBody>
      </p:sp>
      <p:sp>
        <p:nvSpPr>
          <p:cNvPr id="15" name="Rounded Rectangle 14"/>
          <p:cNvSpPr/>
          <p:nvPr/>
        </p:nvSpPr>
        <p:spPr>
          <a:xfrm>
            <a:off x="515493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SUPERVISOR</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Pr. Mohamed LAZAAR</a:t>
            </a:r>
          </a:p>
        </p:txBody>
      </p:sp>
      <p:sp>
        <p:nvSpPr>
          <p:cNvPr id="16" name="Rounded Rectangle 15"/>
          <p:cNvSpPr/>
          <p:nvPr/>
        </p:nvSpPr>
        <p:spPr>
          <a:xfrm>
            <a:off x="928116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LABORATORY</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ENSIAS · UM5 Rabat</a:t>
            </a:r>
          </a:p>
        </p:txBody>
      </p:sp>
      <p:sp>
        <p:nvSpPr>
          <p:cNvPr id="17" name="Rounded Rectangle 16"/>
          <p:cNvSpPr/>
          <p:nvPr/>
        </p:nvSpPr>
        <p:spPr>
          <a:xfrm>
            <a:off x="1340739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DEFENCE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Rabat · 2026</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QUESTIONS &amp; DISCUSSION  ·  THANK YOU</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2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55219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40360">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560"/>
                        </a:lnSpc>
                        <a:spcBef>
                          <a:spcPts val="0"/>
                        </a:spcBef>
                        <a:buNone/>
                      </a:pPr>
                      <a:r>
                        <a:rPr lang="en-US" sz="12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51407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8" name="TextBox 7"/>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7.1, Full Results (mean </a:t>
            </a:r>
            <a:r>
              <a:rPr lang="en-US" sz="4600" b="true" spc="-230">
                <a:solidFill>
                  <a:srgbClr val="111111"/>
                </a:solidFill>
                <a:latin typeface="Cambria Math"/>
                <a:ea typeface="Cambria Math"/>
                <a:cs typeface="Cambria Math"/>
                <a:sym typeface="Cambria Math"/>
              </a:rPr>
              <a:t>± </a:t>
            </a:r>
            <a:r>
              <a:rPr lang="en-US" sz="4600" b="true" spc="-230">
                <a:solidFill>
                  <a:srgbClr val="111111"/>
                </a:solidFill>
                <a:latin typeface="Roca Two Bold"/>
                <a:ea typeface="Roca Two Bold"/>
                <a:cs typeface="Roca Two Bold"/>
                <a:sym typeface="Roca Two Bold"/>
              </a:rPr>
              <a:t>std, 5 seeds)</a:t>
            </a:r>
          </a:p>
        </p:txBody>
      </p:sp>
      <p:pic>
        <p:nvPicPr>
          <p:cNvPr id="9" name="Picture 8" descr="image.png"/>
          <p:cNvPicPr>
            <a:picLocks noChangeAspect="1"/>
          </p:cNvPicPr>
          <p:nvPr/>
        </p:nvPicPr>
        <p:blipFill>
          <a:blip r:embed="rId3"/>
          <a:stretch>
            <a:fillRect/>
          </a:stretch>
        </p:blipFill>
        <p:spPr>
          <a:xfrm>
            <a:off x="14357876" y="1673352"/>
            <a:ext cx="457200" cy="539881"/>
          </a:xfrm>
          <a:prstGeom prst="rect">
            <a:avLst/>
          </a:prstGeom>
        </p:spPr>
      </p:pic>
      <p:sp>
        <p:nvSpPr>
          <p:cNvPr id="10" name="TextBox 9"/>
          <p:cNvSpPr txBox="1"/>
          <p:nvPr/>
        </p:nvSpPr>
        <p:spPr>
          <a:xfrm>
            <a:off x="1028700" y="2897378"/>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MOVIELENS-1M</a:t>
            </a:r>
          </a:p>
        </p:txBody>
      </p:sp>
      <p:graphicFrame>
        <p:nvGraphicFramePr>
          <p:cNvPr id="11" name="Table 10"/>
          <p:cNvGraphicFramePr>
            <a:graphicFrameLocks noGrp="1"/>
          </p:cNvGraphicFramePr>
          <p:nvPr/>
        </p:nvGraphicFramePr>
        <p:xfrm>
          <a:off x="10287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0.1200 ± 0.0025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0.0880 ± 0.0020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0.239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0.367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0.1300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0.1100 ± 0.0022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0.269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0.398 ± 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0.2130 ± 0.0030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0.1790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0.308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0.423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0.2296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0.1918 ± 0.0029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0.324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0.445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0.2470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0.2050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0.448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0.2528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0.2098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0.342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0.461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0.2775 ± 0.0039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0.2362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0.397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0.516 ± 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2" name="TextBox 11"/>
          <p:cNvSpPr txBox="1"/>
          <p:nvPr/>
        </p:nvSpPr>
        <p:spPr>
          <a:xfrm>
            <a:off x="9372600" y="2897378"/>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AMAZON-BOOK</a:t>
            </a:r>
          </a:p>
        </p:txBody>
      </p:sp>
      <p:graphicFrame>
        <p:nvGraphicFramePr>
          <p:cNvPr id="13" name="Table 12"/>
          <p:cNvGraphicFramePr>
            <a:graphicFrameLocks noGrp="1"/>
          </p:cNvGraphicFramePr>
          <p:nvPr/>
        </p:nvGraphicFramePr>
        <p:xfrm>
          <a:off x="93726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0.0049 ± 0.0005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0.0093 ± 0.0009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0.168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0.425 ± 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0.0085 ± 0.0008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0.0142 ± 0.0014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0.193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0.458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0.0236 ± 0.0024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0.0320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0.226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0.491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0.0255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0.0346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0.512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0.0258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0.0344 ± 0.0034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0.520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0.0270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0.0359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0.535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0.0306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0.0417 ± 0.0042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0.336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0.602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4" name="Rounded Rectangle 13"/>
          <p:cNvSpPr/>
          <p:nvPr/>
        </p:nvSpPr>
        <p:spPr>
          <a:xfrm>
            <a:off x="1028700" y="7387082"/>
            <a:ext cx="16230600" cy="822960"/>
          </a:xfrm>
          <a:prstGeom prst="roundRect">
            <a:avLst>
              <a:gd name="adj" fmla="val 24444"/>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Standard deviations are roughly </a:t>
            </a:r>
            <a:r>
              <a:rPr lang="en-US" sz="1700" b="true">
                <a:solidFill>
                  <a:srgbClr val="111111"/>
                </a:solidFill>
                <a:latin typeface="Nunito Bold"/>
                <a:ea typeface="Nunito Bold"/>
                <a:cs typeface="Nunito Bold"/>
                <a:sym typeface="Nunito Bold"/>
              </a:rPr>
              <a:t>one tenth of the gap</a:t>
            </a:r>
            <a:r>
              <a:rPr lang="en-US" sz="1700" b="true">
                <a:solidFill>
                  <a:srgbClr val="111111"/>
                </a:solidFill>
                <a:latin typeface="Nunito Semi-Bold"/>
                <a:ea typeface="Nunito Semi-Bold"/>
                <a:cs typeface="Nunito Semi-Bold"/>
                <a:sym typeface="Nunito Semi-Bold"/>
              </a:rPr>
              <a:t> between DyHuCoG and HPCF on every metric, so the ordering is stable across seeds.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8" name="TextBox 7"/>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7.6, Paired Tests vs Every Baseline</a:t>
            </a:r>
          </a:p>
        </p:txBody>
      </p:sp>
      <p:pic>
        <p:nvPicPr>
          <p:cNvPr id="9" name="Picture 8" descr="image.png"/>
          <p:cNvPicPr>
            <a:picLocks noChangeAspect="1"/>
          </p:cNvPicPr>
          <p:nvPr/>
        </p:nvPicPr>
        <p:blipFill>
          <a:blip r:embed="rId3"/>
          <a:stretch>
            <a:fillRect/>
          </a:stretch>
        </p:blipFill>
        <p:spPr>
          <a:xfrm>
            <a:off x="13676893" y="1673352"/>
            <a:ext cx="457200" cy="373212"/>
          </a:xfrm>
          <a:prstGeom prst="rect">
            <a:avLst/>
          </a:prstGeom>
        </p:spPr>
      </p:pic>
      <p:graphicFrame>
        <p:nvGraphicFramePr>
          <p:cNvPr id="10" name="Table 9"/>
          <p:cNvGraphicFramePr>
            <a:graphicFrameLocks noGrp="1"/>
          </p:cNvGraphicFramePr>
          <p:nvPr/>
        </p:nvGraphicFramePr>
        <p:xfrm>
          <a:off x="1028700" y="2943098"/>
          <a:ext cx="16230597" cy="3968496"/>
        </p:xfrm>
        <a:graphic>
          <a:graphicData uri="http://schemas.openxmlformats.org/drawingml/2006/table">
            <a:tbl>
              <a:tblPr firstRow="0" bandRow="0" firstCol="0" lastRow="0" lastCol="0" bandCol="0">
                <a:tableStyleId>{2D5ABB26-0587-4C30-8999-92F81FD0307C}</a:tableStyleId>
              </a:tblPr>
              <a:tblGrid>
                <a:gridCol w="4725364"/>
                <a:gridCol w="2054506"/>
                <a:gridCol w="2670858"/>
                <a:gridCol w="2054506"/>
                <a:gridCol w="2465407"/>
                <a:gridCol w="2259956"/>
              </a:tblGrid>
              <a:tr h="566928">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Comparison (per-user NDCG@20, ML-1M)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t statistic</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p-value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Cohen's d</a:t>
                      </a:r>
                      <a:r>
                        <a:rPr lang="en-US" sz="1600" b="true" baseline="-25000">
                          <a:solidFill>
                            <a:srgbClr val="FFFFFF"/>
                          </a:solidFill>
                          <a:latin typeface="Nunito Bold"/>
                          <a:ea typeface="Nunito Bold"/>
                          <a:cs typeface="Nunito Bold"/>
                          <a:sym typeface="Nunito Bold"/>
                        </a:rPr>
                        <a:t>z</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Holm threshold </a:t>
                      </a:r>
                      <a:r>
                        <a:rPr lang="en-US" sz="1600" b="true">
                          <a:solidFill>
                            <a:srgbClr val="FFFFFF"/>
                          </a:solidFill>
                          <a:latin typeface="Calibri"/>
                          <a:ea typeface="Calibri"/>
                          <a:cs typeface="Calibri"/>
                          <a:sym typeface="Calibri"/>
                        </a:rPr>
                        <a:t>α</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Result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46.38</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1.81 × 10</a:t>
                      </a:r>
                      <a:r>
                        <a:rPr lang="en-US" sz="1700" b="true" baseline="30000">
                          <a:solidFill>
                            <a:srgbClr val="111111"/>
                          </a:solidFill>
                          <a:latin typeface="Nunito Semi-Bold"/>
                          <a:ea typeface="Nunito Semi-Bold"/>
                          <a:cs typeface="Nunito Semi-Bold"/>
                          <a:sym typeface="Nunito Semi-Bold"/>
                        </a:rPr>
                        <a:t>−270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0.0500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92.72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61.21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132.19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311.13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MF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341.76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1" name="Rounded Rectangle 10"/>
          <p:cNvSpPr/>
          <p:nvPr/>
        </p:nvSpPr>
        <p:spPr>
          <a:xfrm>
            <a:off x="1028700" y="7551674"/>
            <a:ext cx="7932420" cy="1665478"/>
          </a:xfrm>
          <a:prstGeom prst="roundRect">
            <a:avLst>
              <a:gd name="adj" fmla="val 18667"/>
            </a:avLst>
          </a:prstGeom>
          <a:solidFill>
            <a:srgbClr val="E7EAF3"/>
          </a:solidFill>
          <a:ln>
            <a:noFill/>
          </a:ln>
        </p:spPr>
        <p:txBody>
          <a:bodyPr anchor="ctr" rtlCol="false" lIns="0" tIns="0" rIns="0" bIns="0" wrap="square"/>
          <a:lstStyle/>
          <a:p>
            <a:endParaRPr lang="en-US" sz="1800"/>
          </a:p>
        </p:txBody>
      </p:sp>
      <p:sp>
        <p:nvSpPr>
          <p:cNvPr id="12" name="Rounded Rectangle 11"/>
          <p:cNvSpPr/>
          <p:nvPr/>
        </p:nvSpPr>
        <p:spPr>
          <a:xfrm>
            <a:off x="1485900" y="7313930"/>
            <a:ext cx="2585068"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How to read it</a:t>
            </a:r>
          </a:p>
        </p:txBody>
      </p:sp>
      <p:sp>
        <p:nvSpPr>
          <p:cNvPr id="13" name="TextBox 12"/>
          <p:cNvSpPr txBox="1"/>
          <p:nvPr/>
        </p:nvSpPr>
        <p:spPr>
          <a:xfrm>
            <a:off x="1485900" y="8100314"/>
            <a:ext cx="7063740" cy="933958"/>
          </a:xfrm>
          <a:prstGeom prst="rect">
            <a:avLst/>
          </a:prstGeom>
          <a:noFill/>
        </p:spPr>
        <p:txBody>
          <a:bodyPr anchor="t" rtlCol="false" lIns="0" tIns="0" rIns="0" bIns="0" wrap="square"/>
          <a:lstStyle/>
          <a:p>
            <a:pPr algn="l" marL="274320" indent="-274320">
              <a:lnSpc>
                <a:spcPts val="2173"/>
              </a:lnSpc>
              <a:spcBef>
                <a:spcPts val="0"/>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Paired t-test over </a:t>
            </a:r>
            <a:r>
              <a:rPr lang="en-US" sz="1552" b="true">
                <a:solidFill>
                  <a:srgbClr val="111111"/>
                </a:solidFill>
                <a:latin typeface="Nunito Bold"/>
                <a:ea typeface="Nunito Bold"/>
                <a:cs typeface="Nunito Bold"/>
                <a:sym typeface="Nunito Bold"/>
              </a:rPr>
              <a:t>6,040 users</a:t>
            </a:r>
            <a:r>
              <a:rPr lang="en-US" sz="1552" b="true">
                <a:solidFill>
                  <a:srgbClr val="111111"/>
                </a:solidFill>
                <a:latin typeface="Nunito Semi-Bold"/>
                <a:ea typeface="Nunito Semi-Bold"/>
                <a:cs typeface="Nunito Semi-Bold"/>
                <a:sym typeface="Nunito Semi-Bold"/>
              </a:rPr>
              <a:t> (df = 6,039); Holm–Bonferroni gives each of the six p-values its own threshold.</a:t>
            </a:r>
          </a:p>
          <a:p>
            <a:pPr algn="l" marL="274320" indent="-274320">
              <a:lnSpc>
                <a:spcPts val="2173"/>
              </a:lnSpc>
              <a:spcBef>
                <a:spcPts val="388"/>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Every p-value is far below its threshold; </a:t>
            </a:r>
            <a:r>
              <a:rPr lang="en-US" sz="1552" b="true">
                <a:solidFill>
                  <a:srgbClr val="111111"/>
                </a:solidFill>
                <a:latin typeface="Nunito Bold"/>
                <a:ea typeface="Nunito Bold"/>
                <a:cs typeface="Nunito Bold"/>
                <a:sym typeface="Nunito Bold"/>
              </a:rPr>
              <a:t>Wilcoxon</a:t>
            </a:r>
            <a:r>
              <a:rPr lang="en-US" sz="1552" b="true">
                <a:solidFill>
                  <a:srgbClr val="111111"/>
                </a:solidFill>
                <a:latin typeface="Nunito Semi-Bold"/>
                <a:ea typeface="Nunito Semi-Bold"/>
                <a:cs typeface="Nunito Semi-Bold"/>
                <a:sym typeface="Nunito Semi-Bold"/>
              </a:rPr>
              <a:t> agrees (p &lt; 0.001).</a:t>
            </a:r>
          </a:p>
        </p:txBody>
      </p:sp>
      <p:sp>
        <p:nvSpPr>
          <p:cNvPr id="14" name="Rounded Rectangle 13"/>
          <p:cNvSpPr/>
          <p:nvPr/>
        </p:nvSpPr>
        <p:spPr>
          <a:xfrm>
            <a:off x="9326880" y="7551674"/>
            <a:ext cx="7932420" cy="1665478"/>
          </a:xfrm>
          <a:prstGeom prst="roundRect">
            <a:avLst>
              <a:gd name="adj" fmla="val 18667"/>
            </a:avLst>
          </a:prstGeom>
          <a:solidFill>
            <a:srgbClr val="4472C4"/>
          </a:solidFill>
          <a:ln>
            <a:noFill/>
          </a:ln>
        </p:spPr>
        <p:txBody>
          <a:bodyPr anchor="ctr" rtlCol="false" lIns="0" tIns="0" rIns="0" bIns="0" wrap="square"/>
          <a:lstStyle/>
          <a:p>
            <a:endParaRPr lang="en-US" sz="1800"/>
          </a:p>
        </p:txBody>
      </p:sp>
      <p:sp>
        <p:nvSpPr>
          <p:cNvPr id="15" name="Rounded Rectangle 14"/>
          <p:cNvSpPr/>
          <p:nvPr/>
        </p:nvSpPr>
        <p:spPr>
          <a:xfrm>
            <a:off x="9784080" y="7313930"/>
            <a:ext cx="202619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Effect size</a:t>
            </a:r>
          </a:p>
        </p:txBody>
      </p:sp>
      <p:sp>
        <p:nvSpPr>
          <p:cNvPr id="16" name="TextBox 15"/>
          <p:cNvSpPr txBox="1"/>
          <p:nvPr/>
        </p:nvSpPr>
        <p:spPr>
          <a:xfrm>
            <a:off x="9784080" y="8100314"/>
            <a:ext cx="7063740" cy="933958"/>
          </a:xfrm>
          <a:prstGeom prst="rect">
            <a:avLst/>
          </a:prstGeom>
          <a:noFill/>
        </p:spPr>
        <p:txBody>
          <a:bodyPr anchor="t" rtlCol="false" lIns="0" tIns="0" rIns="0" bIns="0" wrap="square"/>
          <a:lstStyle/>
          <a:p>
            <a:pPr algn="l" marL="274320" indent="-274320">
              <a:lnSpc>
                <a:spcPts val="2226"/>
              </a:lnSpc>
              <a:spcBef>
                <a:spcPts val="0"/>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Cohen's d</a:t>
            </a:r>
            <a:r>
              <a:rPr lang="en-US" sz="1504" b="true" baseline="-25000">
                <a:solidFill>
                  <a:srgbClr val="FFFFFF"/>
                </a:solidFill>
                <a:latin typeface="Nunito Semi-Bold"/>
                <a:ea typeface="Nunito Semi-Bold"/>
                <a:cs typeface="Nunito Semi-Bold"/>
                <a:sym typeface="Nunito Semi-Bold"/>
              </a:rPr>
              <a:t>z</a:t>
            </a:r>
            <a:r>
              <a:rPr lang="en-US" sz="1504" b="true">
                <a:solidFill>
                  <a:srgbClr val="FFFFFF"/>
                </a:solidFill>
                <a:latin typeface="Nunito Semi-Bold"/>
                <a:ea typeface="Nunito Semi-Bold"/>
                <a:cs typeface="Nunito Semi-Bold"/>
                <a:sym typeface="Nunito Semi-Bold"/>
              </a:rPr>
              <a:t> ≥ 1.33 everywhere: </a:t>
            </a:r>
            <a:r>
              <a:rPr lang="en-US" sz="1504" b="true">
                <a:solidFill>
                  <a:srgbClr val="FFFFFF"/>
                </a:solidFill>
                <a:latin typeface="Nunito Bold"/>
                <a:ea typeface="Nunito Bold"/>
                <a:cs typeface="Nunito Bold"/>
                <a:sym typeface="Nunito Bold"/>
              </a:rPr>
              <a:t>large</a:t>
            </a:r>
            <a:r>
              <a:rPr lang="en-US" sz="1504" b="true">
                <a:solidFill>
                  <a:srgbClr val="FFFFFF"/>
                </a:solidFill>
                <a:latin typeface="Nunito Semi-Bold"/>
                <a:ea typeface="Nunito Semi-Bold"/>
                <a:cs typeface="Nunito Semi-Bold"/>
                <a:sym typeface="Nunito Semi-Bold"/>
              </a:rPr>
              <a:t> (0.8) is exceeded even against the strongest baseline.</a:t>
            </a:r>
          </a:p>
          <a:p>
            <a:pPr algn="l" marL="274320" indent="-274320">
              <a:lnSpc>
                <a:spcPts val="2106"/>
              </a:lnSpc>
              <a:spcBef>
                <a:spcPts val="376"/>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The improvement is practically meaningful, not only statistically visible.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8" name="TextBox 7"/>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Tables 7.3 and 7.4, Cost and Convergence</a:t>
            </a:r>
          </a:p>
        </p:txBody>
      </p:sp>
      <p:pic>
        <p:nvPicPr>
          <p:cNvPr id="9" name="Picture 8" descr="image.png"/>
          <p:cNvPicPr>
            <a:picLocks noChangeAspect="1"/>
          </p:cNvPicPr>
          <p:nvPr/>
        </p:nvPicPr>
        <p:blipFill>
          <a:blip r:embed="rId3"/>
          <a:stretch>
            <a:fillRect/>
          </a:stretch>
        </p:blipFill>
        <p:spPr>
          <a:xfrm>
            <a:off x="13929945" y="1673352"/>
            <a:ext cx="457200" cy="427074"/>
          </a:xfrm>
          <a:prstGeom prst="rect">
            <a:avLst/>
          </a:prstGeom>
        </p:spPr>
      </p:pic>
      <p:sp>
        <p:nvSpPr>
          <p:cNvPr id="10" name="TextBox 9"/>
          <p:cNvSpPr txBox="1"/>
          <p:nvPr/>
        </p:nvSpPr>
        <p:spPr>
          <a:xfrm>
            <a:off x="1028700" y="2897378"/>
            <a:ext cx="1024128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TABLE 7.3  ·  RUNTIME AND MEMORY</a:t>
            </a:r>
          </a:p>
        </p:txBody>
      </p:sp>
      <p:graphicFrame>
        <p:nvGraphicFramePr>
          <p:cNvPr id="11" name="Table 10"/>
          <p:cNvGraphicFramePr>
            <a:graphicFrameLocks noGrp="1"/>
          </p:cNvGraphicFramePr>
          <p:nvPr/>
        </p:nvGraphicFramePr>
        <p:xfrm>
          <a:off x="1028700" y="3263138"/>
          <a:ext cx="10241276" cy="3790188"/>
        </p:xfrm>
        <a:graphic>
          <a:graphicData uri="http://schemas.openxmlformats.org/drawingml/2006/table">
            <a:tbl>
              <a:tblPr firstRow="0" bandRow="0" firstCol="0" lastRow="0" lastCol="0" bandCol="0">
                <a:tableStyleId>{2D5ABB26-0587-4C30-8999-92F81FD0307C}</a:tableStyleId>
              </a:tblPr>
              <a:tblGrid>
                <a:gridCol w="1503307"/>
                <a:gridCol w="1597263"/>
                <a:gridCol w="1127480"/>
                <a:gridCol w="1127480"/>
                <a:gridCol w="1691220"/>
                <a:gridCol w="1127480"/>
                <a:gridCol w="1127480"/>
                <a:gridCol w="939566"/>
              </a:tblGrid>
              <a:tr h="589788">
                <a:tc>
                  <a:txBody>
                    <a:bodyPr anchor="ctr" rtlCol="false" lIns="0" tIns="0" rIns="0" bIns="0" wrap="square"/>
                    <a:lstStyle/>
                    <a:p>
                      <a:pPr algn="l">
                        <a:lnSpc>
                          <a:spcPts val="1690"/>
                        </a:lnSpc>
                        <a:spcBef>
                          <a:spcPts val="0"/>
                        </a:spcBef>
                        <a:buNone/>
                      </a:pPr>
                      <a:r>
                        <a:rPr lang="en-US" sz="13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 Amazon</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 MF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2,202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2.46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675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0.76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3,073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786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0.88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3,645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12.8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4,527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5.04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1.89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4,419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4.92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1.96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5,234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5.48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1.84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4.4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9,279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8.52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3.41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2" name="TextBox 11"/>
          <p:cNvSpPr txBox="1"/>
          <p:nvPr/>
        </p:nvSpPr>
        <p:spPr>
          <a:xfrm>
            <a:off x="11727180" y="2897378"/>
            <a:ext cx="553212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TABLE 7.4  ·  MONTE CARLO SHAPLEY</a:t>
            </a:r>
          </a:p>
        </p:txBody>
      </p:sp>
      <p:graphicFrame>
        <p:nvGraphicFramePr>
          <p:cNvPr id="13" name="Table 12"/>
          <p:cNvGraphicFramePr>
            <a:graphicFrameLocks noGrp="1"/>
          </p:cNvGraphicFramePr>
          <p:nvPr/>
        </p:nvGraphicFramePr>
        <p:xfrm>
          <a:off x="11727180" y="3263138"/>
          <a:ext cx="5532120" cy="2286000"/>
        </p:xfrm>
        <a:graphic>
          <a:graphicData uri="http://schemas.openxmlformats.org/drawingml/2006/table">
            <a:tbl>
              <a:tblPr firstRow="0" bandRow="0" firstCol="0" lastRow="0" lastCol="0" bandCol="0">
                <a:tableStyleId>{2D5ABB26-0587-4C30-8999-92F81FD0307C}</a:tableStyleId>
              </a:tblPr>
              <a:tblGrid>
                <a:gridCol w="737616"/>
                <a:gridCol w="1475232"/>
                <a:gridCol w="1198626"/>
                <a:gridCol w="1198626"/>
                <a:gridCol w="922020"/>
              </a:tblGrid>
              <a:tr h="457200">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Accuracy</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 base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 × 10</a:t>
                      </a:r>
                      <a:r>
                        <a:rPr lang="en-US" sz="1400" b="true" baseline="30000">
                          <a:solidFill>
                            <a:srgbClr val="111111"/>
                          </a:solidFill>
                          <a:latin typeface="Nunito Semi-Bold"/>
                          <a:ea typeface="Nunito Semi-Bold"/>
                          <a:cs typeface="Nunito Semi-Bold"/>
                          <a:sym typeface="Nunito Semi-Bold"/>
                        </a:rPr>
                        <a:t>−4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1,460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5.6 × 10</a:t>
                      </a:r>
                      <a:r>
                        <a:rPr lang="en-US" sz="1400" b="true"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98 %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1,800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ctr">
                        <a:lnSpc>
                          <a:spcPts val="1820"/>
                        </a:lnSpc>
                        <a:spcBef>
                          <a:spcPts val="0"/>
                        </a:spcBef>
                        <a:buNone/>
                      </a:pPr>
                      <a:r>
                        <a:rPr lang="en-US" sz="1400" b="1">
                          <a:solidFill>
                            <a:srgbClr val="111111"/>
                          </a:solidFill>
                          <a:latin typeface="Nunito Bold"/>
                          <a:ea typeface="Nunito Bold"/>
                          <a:cs typeface="Nunito Bold"/>
                          <a:sym typeface="Nunito Bold"/>
                        </a:rPr>
                        <a:t>50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1.4 × 10</a:t>
                      </a:r>
                      <a:r>
                        <a:rPr lang="en-US" sz="1400" b="1"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99 %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3.5 × 10</a:t>
                      </a:r>
                      <a:r>
                        <a:rPr lang="en-US" sz="1400" b="true" baseline="30000">
                          <a:solidFill>
                            <a:srgbClr val="111111"/>
                          </a:solidFill>
                          <a:latin typeface="Nunito Semi-Bold"/>
                          <a:ea typeface="Nunito Semi-Bold"/>
                          <a:cs typeface="Nunito Semi-Bold"/>
                          <a:sym typeface="Nunito Semi-Bold"/>
                        </a:rPr>
                        <a:t>−6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2,810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4" name="Rounded Rectangle 13"/>
          <p:cNvSpPr/>
          <p:nvPr/>
        </p:nvSpPr>
        <p:spPr>
          <a:xfrm>
            <a:off x="1028700" y="7419086"/>
            <a:ext cx="16230600" cy="1005840"/>
          </a:xfrm>
          <a:prstGeom prst="roundRect">
            <a:avLst>
              <a:gd name="adj" fmla="val 20000"/>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DyHuCoG costs about </a:t>
            </a:r>
            <a:r>
              <a:rPr lang="en-US" sz="1700" b="true">
                <a:solidFill>
                  <a:srgbClr val="111111"/>
                </a:solidFill>
                <a:latin typeface="Nunito Bold"/>
                <a:ea typeface="Nunito Bold"/>
                <a:cs typeface="Nunito Bold"/>
                <a:sym typeface="Nunito Bold"/>
              </a:rPr>
              <a:t>1.78× HPCF</a:t>
            </a:r>
            <a:r>
              <a:rPr lang="en-US" sz="1700" b="true">
                <a:solidFill>
                  <a:srgbClr val="111111"/>
                </a:solidFill>
                <a:latin typeface="Nunito Semi-Bold"/>
                <a:ea typeface="Nunito Semi-Bold"/>
                <a:cs typeface="Nunito Semi-Bold"/>
                <a:sym typeface="Nunito Semi-Bold"/>
              </a:rPr>
              <a:t> in training time and stays under </a:t>
            </a:r>
            <a:r>
              <a:rPr lang="en-US" sz="1700" b="true">
                <a:solidFill>
                  <a:srgbClr val="111111"/>
                </a:solidFill>
                <a:latin typeface="Nunito Bold"/>
                <a:ea typeface="Nunito Bold"/>
                <a:cs typeface="Nunito Bold"/>
                <a:sym typeface="Nunito Bold"/>
              </a:rPr>
              <a:t>2 ms per query</a:t>
            </a:r>
            <a:r>
              <a:rPr lang="en-US" sz="1700" b="true">
                <a:solidFill>
                  <a:srgbClr val="111111"/>
                </a:solidFill>
                <a:latin typeface="Nunito Semi-Bold"/>
                <a:ea typeface="Nunito Semi-Bold"/>
                <a:cs typeface="Nunito Semi-Bold"/>
                <a:sym typeface="Nunito Semi-Bold"/>
              </a:rPr>
              <a:t> on MovieLens-1M; M = 50 permutations is the knee of the accuracy / cost curve, which is why it is the default.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DAHURed54lA</dc:identifier>
  <dcterms:modified xsi:type="dcterms:W3CDTF">2011-08-01T06:04:30Z</dcterms:modified>
  <cp:revision>1</cp:revision>
  <dc:title>Beige Green Modern Illustrative Playful Thesis Defense Presentation</dc:title>
</cp:coreProperties>
</file>