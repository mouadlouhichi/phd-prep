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71" r:id="rId25"/>
    <p:sldId id="272" r:id="rId27"/>
    <p:sldId id="273" r:id="rId28"/>
    <p:sldId id="274" r:id="rId29"/>
    <p:sldId id="275" r:id="rId30"/>
    <p:sldId id="276" r:id="rId31"/>
    <p:sldId id="277" r:id="rId32"/>
    <p:sldId id="278" r:id="rId33"/>
    <p:sldId id="279" r:id="rId34"/>
    <p:sldId id="280" r:id="rId35"/>
    <p:sldId id="281" r:id="rId36"/>
    <p:sldId id="282" r:id="rId37"/>
    <p:sldId id="283" r:id="rId38"/>
    <p:sldId id="285" r:id="rId40"/>
    <p:sldId id="286" r:id="rId41"/>
    <p:sldId id="287" r:id="rId42"/>
    <p:sldId id="288" r:id="rId43"/>
    <p:sldId id="289" r:id="rId44"/>
    <p:sldId id="290" r:id="rId45"/>
    <p:sldId id="291" r:id="rId46"/>
    <p:sldId id="292" r:id="rId47"/>
    <p:sldId id="293" r:id="rId48"/>
    <p:sldId id="294" r:id="rId49"/>
    <p:sldId id="295" r:id="rId50"/>
    <p:sldId id="296" r:id="rId51"/>
    <p:sldId id="297" r:id="rId52"/>
    <p:sldId id="298" r:id="rId53"/>
    <p:sldId id="299" r:id="rId54"/>
    <p:sldId id="300" r:id="rId55"/>
    <p:sldId id="301" r:id="rId56"/>
    <p:sldId id="302" r:id="rId57"/>
    <p:sldId id="303" r:id="rId58"/>
    <p:sldId id="304" r:id="rId59"/>
    <p:sldId id="305" r:id="rId60"/>
    <p:sldId id="306" r:id="rId61"/>
    <p:sldId id="307" r:id="rId62"/>
    <p:sldId id="308" r:id="rId63"/>
    <p:sldId id="309" r:id="rId64"/>
    <p:sldId id="310" r:id="rId65"/>
    <p:sldId id="311" r:id="rId66"/>
    <p:sldId id="312" r:id="rId67"/>
    <p:sldId id="313" r:id="rId68"/>
    <p:sldId id="314" r:id="rId69"/>
    <p:sldId id="315" r:id="rId70"/>
    <p:sldId id="316" r:id="rId71"/>
    <p:sldId id="317" r:id="rId72"/>
    <p:sldId id="318" r:id="rId73"/>
    <p:sldId id="319" r:id="rId74"/>
    <p:sldId id="320" r:id="rId75"/>
    <p:sldId id="321" r:id="rId76"/>
    <p:sldId id="322" r:id="rId77"/>
    <p:sldId id="323" r:id="rId78"/>
    <p:sldId id="324" r:id="rId79"/>
    <p:sldId id="325" r:id="rId80"/>
    <p:sldId id="326" r:id="rId81"/>
    <p:sldId id="327" r:id="rId82"/>
    <p:sldId id="328" r:id="rId83"/>
    <p:sldId id="329" r:id="rId84"/>
    <p:sldId id="330" r:id="rId85"/>
    <p:sldId id="331" r:id="rId86"/>
    <p:sldId id="332" r:id="rId87"/>
    <p:sldId id="333" r:id="rId88"/>
    <p:sldId id="334" r:id="rId89"/>
    <p:sldId id="335" r:id="rId90"/>
    <p:sldId id="336" r:id="rId91"/>
    <p:sldId id="337" r:id="rId92"/>
    <p:sldId id="338" r:id="rId93"/>
    <p:sldId id="339" r:id="rId94"/>
    <p:sldId id="340" r:id="rId95"/>
    <p:sldId id="341" r:id="rId96"/>
    <p:sldId id="342" r:id="rId97"/>
    <p:sldId id="343" r:id="rId98"/>
    <p:sldId id="344" r:id="rId99"/>
    <p:sldId id="345" r:id="rId100"/>
    <p:sldId id="346" r:id="rId101"/>
    <p:sldId id="347" r:id="rId102"/>
    <p:sldId id="348" r:id="rId103"/>
    <p:sldId id="349" r:id="rId104"/>
  </p:sldIdLst>
  <p:sldSz cx="18288000" cy="10287000"/>
  <p:notesSz cx="6858000" cy="9144000"/>
  <p:embeddedFontLst>
    <p:embeddedFont>
      <p:font typeface="Roca Two Bold" charset="1" panose="00000800000000000000"/>
      <p:regular r:id="rId21"/>
    </p:embeddedFont>
    <p:embeddedFont>
      <p:font typeface="Nunito Semi-Bold" charset="1" panose="00000000000000000000"/>
      <p:regular r:id="rId22"/>
    </p:embeddedFont>
    <p:embeddedFont>
      <p:font typeface="Nunito Bold" charset="1" panose="00000000000000000000"/>
      <p:regular r:id="rId23"/>
    </p:embeddedFont>
    <p:embeddedFont>
      <p:font typeface="Nunito Ultra-Bold" charset="1" panose="000000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21" Type="http://schemas.openxmlformats.org/officeDocument/2006/relationships/font" Target="fonts/font21.fntdata"/><Relationship Id="rId22" Type="http://schemas.openxmlformats.org/officeDocument/2006/relationships/font" Target="fonts/font22.fntdata"/><Relationship Id="rId23" Type="http://schemas.openxmlformats.org/officeDocument/2006/relationships/font" Target="fonts/font23.fntdata"/><Relationship Id="rId24" Type="http://schemas.openxmlformats.org/officeDocument/2006/relationships/font" Target="fonts/font24.fntdata"/><Relationship Id="rId25" Type="http://schemas.openxmlformats.org/officeDocument/2006/relationships/slide" Target="slides/slide1.xml"/><Relationship Id="rId26" Type="http://schemas.openxmlformats.org/officeDocument/2006/relationships/notesMaster" Target="notesMasters/notesMaster1.xml"/><Relationship Id="rId27" Type="http://schemas.openxmlformats.org/officeDocument/2006/relationships/slide" Target="slides/slide2.xml"/><Relationship Id="rId28" Type="http://schemas.openxmlformats.org/officeDocument/2006/relationships/slide" Target="slides/slide3.xml"/><Relationship Id="rId29" Type="http://schemas.openxmlformats.org/officeDocument/2006/relationships/slide" Target="slides/slide4.xml"/><Relationship Id="rId30" Type="http://schemas.openxmlformats.org/officeDocument/2006/relationships/slide" Target="slides/slide5.xml"/><Relationship Id="rId31" Type="http://schemas.openxmlformats.org/officeDocument/2006/relationships/slide" Target="slides/slide6.xml"/><Relationship Id="rId32" Type="http://schemas.openxmlformats.org/officeDocument/2006/relationships/slide" Target="slides/slide7.xml"/><Relationship Id="rId33" Type="http://schemas.openxmlformats.org/officeDocument/2006/relationships/slide" Target="slides/slide8.xml"/><Relationship Id="rId34" Type="http://schemas.openxmlformats.org/officeDocument/2006/relationships/slide" Target="slides/slide9.xml"/><Relationship Id="rId35" Type="http://schemas.openxmlformats.org/officeDocument/2006/relationships/slide" Target="slides/slide10.xml"/><Relationship Id="rId36" Type="http://schemas.openxmlformats.org/officeDocument/2006/relationships/slide" Target="slides/slide11.xml"/><Relationship Id="rId37" Type="http://schemas.openxmlformats.org/officeDocument/2006/relationships/slide" Target="slides/slide12.xml"/><Relationship Id="rId38" Type="http://schemas.openxmlformats.org/officeDocument/2006/relationships/slide" Target="slides/slide13.xml"/><Relationship Id="rId40" Type="http://schemas.openxmlformats.org/officeDocument/2006/relationships/slide" Target="slides/slide14.xml"/><Relationship Id="rId41" Type="http://schemas.openxmlformats.org/officeDocument/2006/relationships/slide" Target="slides/slide15.xml"/><Relationship Id="rId42" Type="http://schemas.openxmlformats.org/officeDocument/2006/relationships/slide" Target="slides/slide16.xml"/><Relationship Id="rId43" Type="http://schemas.openxmlformats.org/officeDocument/2006/relationships/slide" Target="slides/slide17.xml"/><Relationship Id="rId44" Type="http://schemas.openxmlformats.org/officeDocument/2006/relationships/slide" Target="slides/slide18.xml"/><Relationship Id="rId45" Type="http://schemas.openxmlformats.org/officeDocument/2006/relationships/slide" Target="slides/slide19.xml"/><Relationship Id="rId46" Type="http://schemas.openxmlformats.org/officeDocument/2006/relationships/slide" Target="slides/slide20.xml"/><Relationship Id="rId47" Type="http://schemas.openxmlformats.org/officeDocument/2006/relationships/slide" Target="slides/slide21.xml"/><Relationship Id="rId48" Type="http://schemas.openxmlformats.org/officeDocument/2006/relationships/slide" Target="slides/slide22.xml"/><Relationship Id="rId49" Type="http://schemas.openxmlformats.org/officeDocument/2006/relationships/slide" Target="slides/slide23.xml"/><Relationship Id="rId50" Type="http://schemas.openxmlformats.org/officeDocument/2006/relationships/slide" Target="slides/slide24.xml"/><Relationship Id="rId51" Type="http://schemas.openxmlformats.org/officeDocument/2006/relationships/slide" Target="slides/slide25.xml"/><Relationship Id="rId52" Type="http://schemas.openxmlformats.org/officeDocument/2006/relationships/slide" Target="slides/slide26.xml"/><Relationship Id="rId53" Type="http://schemas.openxmlformats.org/officeDocument/2006/relationships/slide" Target="slides/slide27.xml"/><Relationship Id="rId54" Type="http://schemas.openxmlformats.org/officeDocument/2006/relationships/slide" Target="slides/slide28.xml"/><Relationship Id="rId55" Type="http://schemas.openxmlformats.org/officeDocument/2006/relationships/slide" Target="slides/slide29.xml"/><Relationship Id="rId56" Type="http://schemas.openxmlformats.org/officeDocument/2006/relationships/slide" Target="slides/slide30.xml"/><Relationship Id="rId57" Type="http://schemas.openxmlformats.org/officeDocument/2006/relationships/slide" Target="slides/slide31.xml"/><Relationship Id="rId58" Type="http://schemas.openxmlformats.org/officeDocument/2006/relationships/slide" Target="slides/slide32.xml"/><Relationship Id="rId59" Type="http://schemas.openxmlformats.org/officeDocument/2006/relationships/slide" Target="slides/slide33.xml"/><Relationship Id="rId60" Type="http://schemas.openxmlformats.org/officeDocument/2006/relationships/slide" Target="slides/slide34.xml"/><Relationship Id="rId61" Type="http://schemas.openxmlformats.org/officeDocument/2006/relationships/slide" Target="slides/slide35.xml"/><Relationship Id="rId62" Type="http://schemas.openxmlformats.org/officeDocument/2006/relationships/slide" Target="slides/slide36.xml"/><Relationship Id="rId63" Type="http://schemas.openxmlformats.org/officeDocument/2006/relationships/slide" Target="slides/slide37.xml"/><Relationship Id="rId64" Type="http://schemas.openxmlformats.org/officeDocument/2006/relationships/slide" Target="slides/slide38.xml"/><Relationship Id="rId65" Type="http://schemas.openxmlformats.org/officeDocument/2006/relationships/slide" Target="slides/slide39.xml"/><Relationship Id="rId66" Type="http://schemas.openxmlformats.org/officeDocument/2006/relationships/slide" Target="slides/slide40.xml"/><Relationship Id="rId67" Type="http://schemas.openxmlformats.org/officeDocument/2006/relationships/slide" Target="slides/slide41.xml"/><Relationship Id="rId68" Type="http://schemas.openxmlformats.org/officeDocument/2006/relationships/slide" Target="slides/slide42.xml"/><Relationship Id="rId69" Type="http://schemas.openxmlformats.org/officeDocument/2006/relationships/slide" Target="slides/slide43.xml"/><Relationship Id="rId70" Type="http://schemas.openxmlformats.org/officeDocument/2006/relationships/slide" Target="slides/slide44.xml"/><Relationship Id="rId71" Type="http://schemas.openxmlformats.org/officeDocument/2006/relationships/slide" Target="slides/slide45.xml"/><Relationship Id="rId72" Type="http://schemas.openxmlformats.org/officeDocument/2006/relationships/slide" Target="slides/slide46.xml"/><Relationship Id="rId73" Type="http://schemas.openxmlformats.org/officeDocument/2006/relationships/slide" Target="slides/slide47.xml"/><Relationship Id="rId74" Type="http://schemas.openxmlformats.org/officeDocument/2006/relationships/slide" Target="slides/slide48.xml"/><Relationship Id="rId75" Type="http://schemas.openxmlformats.org/officeDocument/2006/relationships/slide" Target="slides/slide49.xml"/><Relationship Id="rId76" Type="http://schemas.openxmlformats.org/officeDocument/2006/relationships/slide" Target="slides/slide50.xml"/><Relationship Id="rId77" Type="http://schemas.openxmlformats.org/officeDocument/2006/relationships/slide" Target="slides/slide51.xml"/><Relationship Id="rId78" Type="http://schemas.openxmlformats.org/officeDocument/2006/relationships/slide" Target="slides/slide52.xml"/><Relationship Id="rId79" Type="http://schemas.openxmlformats.org/officeDocument/2006/relationships/slide" Target="slides/slide53.xml"/><Relationship Id="rId80" Type="http://schemas.openxmlformats.org/officeDocument/2006/relationships/slide" Target="slides/slide54.xml"/><Relationship Id="rId81" Type="http://schemas.openxmlformats.org/officeDocument/2006/relationships/slide" Target="slides/slide55.xml"/><Relationship Id="rId82" Type="http://schemas.openxmlformats.org/officeDocument/2006/relationships/slide" Target="slides/slide56.xml"/><Relationship Id="rId83" Type="http://schemas.openxmlformats.org/officeDocument/2006/relationships/slide" Target="slides/slide57.xml"/><Relationship Id="rId84" Type="http://schemas.openxmlformats.org/officeDocument/2006/relationships/slide" Target="slides/slide58.xml"/><Relationship Id="rId85" Type="http://schemas.openxmlformats.org/officeDocument/2006/relationships/slide" Target="slides/slide59.xml"/><Relationship Id="rId86" Type="http://schemas.openxmlformats.org/officeDocument/2006/relationships/slide" Target="slides/slide60.xml"/><Relationship Id="rId87" Type="http://schemas.openxmlformats.org/officeDocument/2006/relationships/slide" Target="slides/slide61.xml"/><Relationship Id="rId88" Type="http://schemas.openxmlformats.org/officeDocument/2006/relationships/slide" Target="slides/slide62.xml"/><Relationship Id="rId89" Type="http://schemas.openxmlformats.org/officeDocument/2006/relationships/slide" Target="slides/slide63.xml"/><Relationship Id="rId90" Type="http://schemas.openxmlformats.org/officeDocument/2006/relationships/slide" Target="slides/slide64.xml"/><Relationship Id="rId91" Type="http://schemas.openxmlformats.org/officeDocument/2006/relationships/slide" Target="slides/slide65.xml"/><Relationship Id="rId92" Type="http://schemas.openxmlformats.org/officeDocument/2006/relationships/slide" Target="slides/slide66.xml"/><Relationship Id="rId93" Type="http://schemas.openxmlformats.org/officeDocument/2006/relationships/slide" Target="slides/slide67.xml"/><Relationship Id="rId94" Type="http://schemas.openxmlformats.org/officeDocument/2006/relationships/slide" Target="slides/slide68.xml"/><Relationship Id="rId95" Type="http://schemas.openxmlformats.org/officeDocument/2006/relationships/slide" Target="slides/slide69.xml"/><Relationship Id="rId96" Type="http://schemas.openxmlformats.org/officeDocument/2006/relationships/slide" Target="slides/slide70.xml"/><Relationship Id="rId97" Type="http://schemas.openxmlformats.org/officeDocument/2006/relationships/slide" Target="slides/slide71.xml"/><Relationship Id="rId98" Type="http://schemas.openxmlformats.org/officeDocument/2006/relationships/slide" Target="slides/slide72.xml"/><Relationship Id="rId99" Type="http://schemas.openxmlformats.org/officeDocument/2006/relationships/slide" Target="slides/slide73.xml"/><Relationship Id="rId100" Type="http://schemas.openxmlformats.org/officeDocument/2006/relationships/slide" Target="slides/slide74.xml"/><Relationship Id="rId101" Type="http://schemas.openxmlformats.org/officeDocument/2006/relationships/slide" Target="slides/slide75.xml"/><Relationship Id="rId102" Type="http://schemas.openxmlformats.org/officeDocument/2006/relationships/slide" Target="slides/slide76.xml"/><Relationship Id="rId103" Type="http://schemas.openxmlformats.org/officeDocument/2006/relationships/slide" Target="slides/slide77.xml"/><Relationship Id="rId104" Type="http://schemas.openxmlformats.org/officeDocument/2006/relationships/slide" Target="slides/slide7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Mister President. Good morning, Professors. Thank you for giving me the opportunity to present my work today.</a:t>
            </a:r>
          </a:p>
          <a:p/>
          <a:p>
            <a:r>
              <a:t>My name is Mouad Louhichi, and the thesis I am defending, supervised by Professor Mohamed Lazaar, is entitled: "Cooperative Game Theory for Explainable Artificial Intelligence in Recommendation Systems: A Shapley Framework for Actionable Insight."</a:t>
            </a:r>
          </a:p>
          <a:p/>
          <a:p>
            <a:r>
              <a:t>The main idea I want you to keep in mind is this: Shapley attribution is not only a method to explain a model after it has been trained. In this thesis I show how it can become one framework that explains black-box models, stays consistent across levels of detail, and finally guides how recommenders learn.</a:t>
            </a:r>
          </a:p>
          <a:p/>
          <a:p>
            <a:r>
              <a:t>(Pre-defence check: confirm the jury list on this slide against the official convocation.)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 is the plan for this presentation. I'll start with the Introduction, then the Context and Problematic, and the Experimental Protocol.</a:t>
            </a:r>
          </a:p>
          <a:p/>
          <a:p>
            <a:r>
              <a:t>Then the three contributions, each following the same path: the gap, the objectives, the methodology, the protocol, the results and the findings.</a:t>
            </a:r>
          </a:p>
          <a:p/>
          <a:p>
            <a:r>
              <a:t>And finally I'll finish with the Conclusion and Perspectives.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let me start with the introduction, and more specifically with the motivation behind this research.</a:t>
            </a:r>
          </a:p>
          <a:p/>
          <a:p>
            <a:r>
              <a:t>The first question I would like to address is: why has explainability become a core requirement for modern recommendation systems?</a:t>
            </a:r>
          </a:p>
          <a:p/>
          <a:p>
            <a:r>
              <a:t>Time check: minute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start with why this matters.</a:t>
            </a:r>
          </a:p>
          <a:p/>
          <a:p>
            <a:r>
              <a:t>Recommenders are everywhere: they already decide much of what billions of people see, buy and watch, from news to health and credit. And the reasoning behind those decisions is hidden, in latent factors or in message passing, so nothing can be audited or acted on.</a:t>
            </a:r>
          </a:p>
          <a:p/>
          <a:p>
            <a:r>
              <a:t>Users, designers and regulators all ask for reasons now. So transparency has to be built into the model, not added afterwards. This thesis treats accuracy and interpretability as goals to be met together.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brings me to the definition the whole thesis turns on.</a:t>
            </a:r>
          </a:p>
          <a:p/>
          <a:p>
            <a:r>
              <a:t>An explanation is actionable when it points to something we can actually change, and when changing it clearly affects the model output.</a:t>
            </a:r>
          </a:p>
          <a:p/>
          <a:p>
            <a:r>
              <a:t>It should also speak the language of the domain, like acidity in wine, pollution indicators in air quality, or user preferences in recommendation.</a:t>
            </a:r>
          </a:p>
          <a:p/>
          <a:p>
            <a:r>
              <a:t>So a good explanation does not only describe what happened. It tells us what to change to improve the outcome.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put this in context.</a:t>
            </a:r>
          </a:p>
          <a:p/>
          <a:p>
            <a:r>
              <a:t>Recommendation systems started with similarity models, then matrix factorisation, then neural and graph models, and now hypergraphs. Each step made the ranking stronger, and each step hid more of the reasoning. So the gap keeps growing: the models do more, and we can explain less.</a:t>
            </a:r>
          </a:p>
          <a:p/>
          <a:p>
            <a:r>
              <a:t>Why does this matter? Three reasons. Users get outputs without any reason, so trust drops. Designers cannot debug what they cannot inspect. And regulators now ask for transparency.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systems are not only theoretical models. They are already part of everyday applications.</a:t>
            </a:r>
          </a:p>
          <a:p/>
          <a:p>
            <a:r>
              <a:t>Netflix, Spotify, Amazon and Yelp use recommendation to personalize the experience of millions of users.</a:t>
            </a:r>
          </a:p>
          <a:p/>
          <a:p>
            <a:r>
              <a:t>The performance is impressive, but the reasoning behind each suggestion stays hidden from the user.</a:t>
            </a:r>
          </a:p>
          <a:p/>
          <a:p>
            <a:r>
              <a:t>Everywhere, and hidden: that is exactly the gap this thesis targets.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I will move from the motivation to the research problem itself.</a:t>
            </a:r>
          </a:p>
          <a:p/>
          <a:p>
            <a:r>
              <a:t>To understand where the difficulty comes from, I will briefly review the main recommendation approaches and explain their respective limitations.</a:t>
            </a:r>
          </a:p>
          <a:p/>
          <a:p>
            <a:r>
              <a:t>Time check: about minute five.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classical limits appear from this evolution. Data sparsity: the user-item matrix is almost empty, so there is very little signal to learn from. Cold-start: new users and items arrive with no history. Popularity bias: exposure leads to interaction, which leads to more exposure, a filter-bubble loop that also squeezes diversity. And above all, the absence of interpretability: the limit this thesis targets. For clustering specifically, methods give a local or a global explanation, not both, and rarely stay consistent across levels of detail. Three structural limitations follow. One, complex models are still hard to explain in a way that is faithful and actionable. Two, local explanations do not carry over to multi-level structures or large datasets: a method that works on a toy partition may break on hundreds of thousands of nested records. Three, most explanations stay post-hoc: they never shape how the model learns, nor how it handles the accuracy, diversity and context trade-off. The gap bar closes: the literature still lacks one cooperative-attribution framework that explains clustering faithfully, stays consistent across levels, and then works as an in-training signal in recommendation. Claim: Shapley-value attribution can be that framework.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questions structure the work, and the slide maps each one to a contribution.</a:t>
            </a:r>
          </a:p>
          <a:p/>
          <a:p>
            <a:r>
              <a:t>RQ1: can Shapley values explain black-box clustering faithfully, at instance level and at cluster level? RQ2: can this extend to large-scale, multi-level clustering while staying feasible and consistent? RQ3: can cooperative attribution move beyond post-hoc and become part of how a recommender learns? RQ4: can ranking, context and diversity improve together when importance comes from a cooperative-game utility? RQ5: what does one cooperative-game view bring to both tasks?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research questions lead to three concrete contributions, which I will present in order.</a:t>
            </a:r>
          </a:p>
          <a:p/>
          <a:p>
            <a:r>
              <a:t>The first contribution introduces a Shapley-based framework for explaining black-box clustering, demonstrated on the Wine Quality data. The second contribution extends that idea to large-scale, multi-level clustering on Beijing Air Quality data, with a formal way to keep the attribution consistent across levels. The third contribution is DyHuCoG, a Dynamic Hypergraph Cooperative Game for preference-aware recommendation that brings attribution inside the model itself, evaluated on MovieLens-1M and Amazon-Book.</a:t>
            </a:r>
          </a:p>
          <a:p/>
          <a:p>
            <a:r>
              <a:t>Together, these three contributions follow one progression: from explanation, to scalability, and finally to action.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presenting the contributions, I will first describe the common experimental protocol used throughout the thesis.</a:t>
            </a:r>
          </a:p>
          <a:p/>
          <a:p>
            <a:r>
              <a:t>The objective is to make the evaluation consistent and reproducible across all experiments.</a:t>
            </a:r>
          </a:p>
          <a:p/>
          <a:p>
            <a:r>
              <a:t>I will present the datasets, the baselines, the evaluation metrics, and the computational environment.</a:t>
            </a:r>
          </a:p>
          <a:p/>
          <a:p>
            <a:r>
              <a:t>Time check: about minute ten.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Reproducibility and the prevention of data leakage are central to the design, as the slide summarises.</a:t>
            </a:r>
          </a:p>
          <a:p/>
          <a:p>
            <a:r>
              <a:t>For clustering, five-fold cross-validation checks the surrogate and attribution stability, features are standardised, k is chosen by elbow, Silhouette and Davies-Bouldin, and the surrogate must pass a fidelity floor of macro-F1 around 0.82.</a:t>
            </a:r>
          </a:p>
          <a:p/>
          <a:p>
            <a:r>
              <a:t>For recommendation, the split is user-level and time-ordered, 70 train, 10 validation and 20 test, with a leave-one-out target, ratings above 3 as positive, and seeds 42 to 46 with early stopping.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baselines cover four families, so the effect of cooperative attribution is not confused with a lucky model choice.</a:t>
            </a:r>
          </a:p>
          <a:p/>
          <a:p>
            <a:r>
              <a:t>For clustering explanation, the comparison is the LIME surrogate pipeline. For recommendation, the slide lists MF, NCF, LightGCN, RecDCL, HCCF and HPCF, and HPCF is the strongest reference.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the computational environment: clustering experiments ran on a standard workstation, while DyHuCoG training used an RTX 4090 GPU.</a:t>
            </a:r>
          </a:p>
          <a:p/>
          <a:p>
            <a:r>
              <a:t>These configurations let us evaluate performance and scalability in realistic conditions.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this experimental framework established, I can now move to the first contribution of this thesis.</a:t>
            </a:r>
          </a:p>
          <a:p/>
          <a:p>
            <a:r>
              <a:t>The objective here is to answer the following question: can we explain the decisions of a black-box clustering model using a principled attribution method?</a:t>
            </a:r>
          </a:p>
          <a:p/>
          <a:p>
            <a:r>
              <a:t>Time check: about minute fourteen.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difficulty comes from the nature of clustering itself.</a:t>
            </a:r>
          </a:p>
          <a:p/>
          <a:p>
            <a:r>
              <a:t>Unlike supervised learning, clustering has no predefined target variable. The model discovers groups directly from the data, which makes the reason behind each cluster harder to understand.</a:t>
            </a:r>
          </a:p>
          <a:p/>
          <a:p>
            <a:r>
              <a:t>Existing explanation approaches focus either on individual instances or on global cluster descriptions, but rarely provide both levels at once.</a:t>
            </a:r>
          </a:p>
          <a:p/>
          <a:p>
            <a:r>
              <a:t>Therefore, the first contribution investigates how Shapley attribution can provide a faithful explanation framework for black-box clustering.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contribution has three objectives. Provide a cluster-level explanation that keeps feature-level attribution. Keep that attribution in the original variables, because explanations are only useful when domain experts can read them. And justify why the cooperative concept, rather than a local surrogate, is the right attribution rule.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a surrogate? Direct TreeSHAP on K-Means is impossible, because TreeSHAP explains tree models, not centroids, and explaining the PCA representation would move the attribution away from the interpretable variables. So the pipeline is four steps: K-Means labels, a LightGBM surrogate that predicts them from the original features, TreeSHAP on that surrogate, and then global importance, cluster profiles and local force plots. The bridge is valid only while the surrogate stays faithful: the floor is macro-F1 about 0.82.</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important choice concerns the number of clusters, and the slide shows the trade-off.</a:t>
            </a:r>
          </a:p>
          <a:p/>
          <a:p>
            <a:r>
              <a:t>Geometrically, k = 2 wins, with Silhouette 0.214 and Davies-Bouldin 1.775, against 0.144 and 2.097 for k = 3.</a:t>
            </a:r>
          </a:p>
          <a:p/>
          <a:p>
            <a:r>
              <a:t>But k = 3 is selected because three clusters give a richer, more meaningful wine partition, so more actionable explanations. Interpretability outranks geometry. And the 0.63 Silhouette you will see later belongs to Beijing, not to this partition.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ranking is chemically readable: density first, then pH, fixed acidity, sulfur dioxide and alcohol. Density and pH separate wine styles, sulfur dioxide reflects preservation, alcohol shapes body. This is not a side effect of the classifier: the surrogate reproduces the partition from the original variables, and every driver is something a wine maker can act 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answers RQ1. Shapley values can explain a black-box partition when the surrogate is faithful, at cluster level and at instance level, in the original variables. Compared with LIME, the advantage is the formal cooperative-game foundation: efficiency, symmetry, null player and additivity.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 the main achievement is the introduction of a Shapley-based framework for explaining black-box clustering.</a:t>
            </a:r>
          </a:p>
          <a:p/>
          <a:p>
            <a:r>
              <a:t>The approach provides explanations at different levels while maintaining the meaning of the original variables.</a:t>
            </a:r>
          </a:p>
          <a:p/>
          <a:p>
            <a:r>
              <a:t>Therefore, the explanations are not only mathematically grounded, but also understandable from a domain perspective.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However, this first contribution also presents some limitations.</a:t>
            </a:r>
          </a:p>
          <a:p/>
          <a:p>
            <a:r>
              <a:t>First, the quality of the explanation depends on the fidelity of the surrogate model.</a:t>
            </a:r>
          </a:p>
          <a:p/>
          <a:p>
            <a:r>
              <a:t>Second, the evaluation is performed on tabular data, so the generalization to other data types remains open.</a:t>
            </a:r>
          </a:p>
          <a:p/>
          <a:p>
            <a:r>
              <a:t>Finally, the explanation remains single-level. It explains one clustering structure, but does not explain how feature importance changes across different levels of organization.</a:t>
            </a:r>
          </a:p>
          <a:p/>
          <a:p>
            <a:r>
              <a:t>This limitation motivates the second contribution.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takeaway is that Shapley attribution is a principled way to explain an unsupervised model, and keeping it in the original feature space is what makes it actionable. But real data are rarely single-level: broad groups contain nested sub-groups. That is the next question.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brings me to the second contribution of the thesis.</a:t>
            </a:r>
          </a:p>
          <a:p/>
          <a:p>
            <a:r>
              <a:t>The objective is to extend Shapley-based explanation from single-level clustering to large-scale and multi-level clustering.</a:t>
            </a:r>
          </a:p>
          <a:p/>
          <a:p>
            <a:r>
              <a:t>This contribution addresses the second research question.</a:t>
            </a:r>
          </a:p>
          <a:p/>
          <a:p>
            <a:r>
              <a:t>Time check: about minute twenty.</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the difficulty is scale and consistency together. When a large cluster is divided, the explanation must stay readable for the parent, for each child, and across levels. Existing hierarchical work reports structure but gives no formal link between a parent explanation and its children: that missing link is the research gap.</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objectives. Build a genuine multi-level workflow, with a surrogate per level rather than a rerun of the single-level pipeline. Provide a formal consistency argument, Proposition 6.1, that relates parent and child importance. And validate at scale on new data: the Beijing air quality records, a domain far from wine.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approach is recursive. The full dataset is partitioned into coarse clusters, then each cluster can be divided again. At every level a surrogate is trained and SHAP is computed in the same original feature space, so importance stays comparable across levels. The aggregation is not a naive average: it respects cluster size and the nesting structure.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Proposition 6.1 is the theoretical core: the expected absolute importance of a feature at the parent level equals the size-weighted expectation over its children, plus a residual induced by surrogate approximation, which vanishes under perfect fidelity. It does not say that explanations are identical across levels; it says the differences can be interpreted rather than dismissed as inconsistency.</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clustering results show that the obtained structure is meaningful, with a Silhouette score of about 0.63 and a Davies-Bouldin score around 0.55.</a:t>
            </a:r>
          </a:p>
          <a:p/>
          <a:p>
            <a:r>
              <a:t>And the stability analysis shows the conclusions remain consistent under changes in the number of clusters, projection dimension, and surrogate complexity.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global explanation gives an interesting environmental interpretation.</a:t>
            </a:r>
          </a:p>
          <a:p/>
          <a:p>
            <a:r>
              <a:t>The most important variables are temperature, dew point, and pressure, followed by pollutants such as carbon monoxide, nitrogen dioxide, and particulate matter.</a:t>
            </a:r>
          </a:p>
          <a:p/>
          <a:p>
            <a:r>
              <a:t>Pollution patterns are not determined by pollutant concentrations alone. Weather conditions influence how pollutants accumulate, disperse, and interact.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figure is where the multi-level view earns its keep. At the coarse level, temperature and dew point dominate because they separate the broad regimes: that is regime selection. Inside a cluster, other variables become informative, CO, SO2, PM10, wind speed, pressure or ozone: that is variation within a regime. The change is not a contradiction; it is what Proposition 6.1 makes interpretable.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allows us to answer the second research question.</a:t>
            </a:r>
          </a:p>
          <a:p/>
          <a:p>
            <a:r>
              <a:t>Shapley explanations can be extended to large-scale and multi-level clustering when the hierarchy is explicitly defined and the approximation process is transparent.</a:t>
            </a:r>
          </a:p>
          <a:p/>
          <a:p>
            <a:r>
              <a:t>The main remaining limitation is that attribution is still performed after the model has been created.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II, the main achievement is extending explainability from a single clustering level to a hierarchical and large-scale scenario.</a:t>
            </a:r>
          </a:p>
          <a:p/>
          <a:p>
            <a:r>
              <a:t>The explanation remains connected to the original variables while providing insight at different levels of detail.</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Some limitations remain. The clustering process is still static, although the air quality data have a temporal dimension. The explanations still depend on surrogate models. And most importantly, attribution is still post-hoc: it explains what the model has learned, but it does not take part in the learning itself. That is what opens Contribution III.</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Contribution II therefore delivers explanations that scale and stay consistent across levels, but the pipeline is still static. Preferences change over time, and nothing here adapts to that. That open point is exactly what Contribution III takes on.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brings me to the third contribution of this thesis: DyHuCoG, which stands for Dynamic Hypergraph Cooperative Game.</a:t>
            </a:r>
          </a:p>
          <a:p/>
          <a:p>
            <a:r>
              <a:t>This contribution represents the main transition of the thesis.</a:t>
            </a:r>
          </a:p>
          <a:p/>
          <a:p>
            <a:r>
              <a:t>In the first two contributions, Shapley values were used to explain models after they were trained.</a:t>
            </a:r>
          </a:p>
          <a:p/>
          <a:p>
            <a:r>
              <a:t>Here, the objective is different: can attribution become part of the learning process itself?</a:t>
            </a:r>
          </a:p>
          <a:p/>
          <a:p>
            <a:r>
              <a:t>Time check: about minute twenty-six.</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gap in existing models is that message importance is uniform or attention-weighted, with no marginal-contribution account, diversity is a re-ranking heuristic, and interpretability is added after prediction. Contributions I and II showed that Shapley attribution is faithful, but still post-hoc: it never changed what the model learned. That is what DyHuCoG changes.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contribution addresses two research questions, shown at the top of the slide: can cooperative attribution become part of how a recommender learns, and can it improve ranking, context and diversity together?</a:t>
            </a:r>
          </a:p>
          <a:p/>
          <a:p>
            <a:r>
              <a:t>Three objectives answer them. First, model recommendation as a cooperative game over users, items and contexts, where the coalition utility mixes accuracy, diversity and context. Second, put preference-aware Monte Carlo Shapley inside message passing, as dynamic hyperedge weights. Third, show that ranking, coverage and diversity improve together on two datasets.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formulate the idea, recommendation is represented as a cooperative game. The players are the users, the items and the contexts of an episode, and their interactions are hyperedges, which allows higher-order relations. Each entity's contribution is estimated with Shapley values, so the model learns not only that a relationship exists, but how much it is worth for the objective.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challenge is that exact Shapley computation is impossible for large recommendation systems, because the number of coalitions grows exponentially with the number of players. So DyHuCoG samples a limited number of permutations and averages the marginal contributions, which preserves the main properties of the estimator. The table gives accuracy against a high-sample reference, not against the exact values: 25 samples already reach about 98 percent, and M = 50 reaches about 99, so 50 is the balance point rather than the cheapest option.</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presents the architecture of DyHuCoG.</a:t>
            </a:r>
          </a:p>
          <a:p/>
          <a:p>
            <a:r>
              <a:t>The model starts from a hypergraph recommendation structure where information is propagated through message passing.</a:t>
            </a:r>
          </a:p>
          <a:p/>
          <a:p>
            <a:r>
              <a:t>The main modification is the introduction of Shapley-based weights inside this propagation process.</a:t>
            </a:r>
          </a:p>
          <a:p/>
          <a:p>
            <a:r>
              <a:t>Important relationships receive stronger influence, while less informative relationships contribute less.</a:t>
            </a:r>
          </a:p>
          <a:p/>
          <a:p>
            <a:r>
              <a:t>An attention mechanism is also introduced to stabilize the learning process.</a:t>
            </a:r>
          </a:p>
          <a:p/>
          <a:p>
            <a:r>
              <a:t>Finally, the objective function combines ranking optimization, diversity, contextual information, and regularization.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results on MovieLens-1M show that DyHuCoG achieves the best performance among the evaluated methods.</a:t>
            </a:r>
          </a:p>
          <a:p/>
          <a:p>
            <a:r>
              <a:t>Compared with the strongest baseline, HPCF, the NDCG score improves from 0.2528 to 0.2775, about 9.8 percent, and Recall improves as well, from 0.2098 to 0.2362.</a:t>
            </a:r>
          </a:p>
          <a:p/>
          <a:p>
            <a:r>
              <a:t>Coverage and diversity stay higher too, so the gain does not come from pushing popular items: the variety of the recommendations is preserved.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evaluation is conducted on Amazon-Book, a much more challenging sparse recommendation scenario.</a:t>
            </a:r>
          </a:p>
          <a:p/>
          <a:p>
            <a:r>
              <a:t>Despite the higher difficulty, DyHuCoG continues to outperform the baselines, and the improvement over HPCF reaches approximately 13.3 percent in NDCG.</a:t>
            </a:r>
          </a:p>
          <a:p/>
          <a:p>
            <a:r>
              <a:t>So cooperative attribution remains useful even when interaction information is limited.</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ablation removes one component at a time, and every component matters. Context is the largest drop, so contextual signals are the substrate; the hypergraph structure comes next; removing Shapley weighting costs 4.6 percent on MovieLens-1M and 6.1 percent on Amazon-Book. So cooperative attribution contributes directly to learning, and more so when the data are sparser.</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 course, integrating Shapley estimation into training introduces an additional computational cost.</a:t>
            </a:r>
          </a:p>
          <a:p/>
          <a:p>
            <a:r>
              <a:t>DyHuCoG requires more training time than traditional hypergraph recommenders because attribution is computed during learning, while inference stays practical.</a:t>
            </a:r>
          </a:p>
          <a:p/>
          <a:p>
            <a:r>
              <a:t>Concretely, training takes about 1.78 times HPCF on MovieLens-1M, and inference stays at 1.84 milliseconds per query, suitable for real-time use.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verify that the improvements are not due to random variation, statistical validation is performed with paired tests on per-user results.</a:t>
            </a:r>
          </a:p>
          <a:p/>
          <a:p>
            <a:r>
              <a:t>The tests confirm that the improvements over the baselines are significant, and the effect sizes show that the gain is practically meaningful.</a:t>
            </a:r>
          </a:p>
          <a:p/>
          <a:p>
            <a:r>
              <a:t>The slide gives the figures: t = 46.38, a Cohen's d of 1.33, significant after Holm-Bonferroni correction.</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results answer RQ3 and RQ4. Shapley attribution can move beyond post-hoc and become part of the learning process, and ranking, coverage and diversity improve together on both datasets, with the largest gains where the data are sparsest. Attribution becomes not only an explanation mechanism, but a learning mechanism.</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III, DyHuCoG transforms the role of explanation: attribution is used while the model learns. The ablation shows it matters, removing Shapley weighting costs 4.6 percent on MovieLens-1M and 6.1 percent on Amazon-Book. On MovieLens-1M the improvement is statistically solid, t equals 46.38 with an effect size of 1.33 after Holm correction; on Amazon-Book I report the same ordering as a descriptive gain over five seeds.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However, this contribution also has limitations.</a:t>
            </a:r>
          </a:p>
          <a:p/>
          <a:p>
            <a:r>
              <a:t>First, the integration of Shapley estimation increases computational cost.</a:t>
            </a:r>
          </a:p>
          <a:p/>
          <a:p>
            <a:r>
              <a:t>Second, the effectiveness of the approach depends on the availability of meaningful contextual information.</a:t>
            </a:r>
          </a:p>
          <a:p/>
          <a:p>
            <a:r>
              <a:t>Third, Monte Carlo estimation can still be improved through more advanced sampling strategies.</a:t>
            </a:r>
          </a:p>
          <a:p/>
          <a:p>
            <a:r>
              <a:t>Finally, the current evaluation is offline, and a future direction is to evaluate how users perceive and benefit from these explanations.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message of DyHuCoG is that attribution can become a first-class component of artificial intelligence models.</a:t>
            </a:r>
          </a:p>
          <a:p/>
          <a:p>
            <a:r>
              <a:t>Explanation is no longer only an observation after the model is built.</a:t>
            </a:r>
          </a:p>
          <a:p/>
          <a:p>
            <a:r>
              <a:t>It becomes part of the methodology used to train the model itself.</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let me bring everything together: the synthesis, the publications, the limitations, the perspectives, and then the thesis answer.</a:t>
            </a:r>
          </a:p>
          <a:p/>
          <a:p>
            <a:r>
              <a:t>Before the closing claim, I want to state the limitations honestly, and the perspectives they open.</a:t>
            </a:r>
          </a:p>
          <a:p/>
          <a:p>
            <a:r>
              <a:t>Time check: about minute thirty-four.</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is the thesis in one view.</a:t>
            </a:r>
          </a:p>
          <a:p/>
          <a:p>
            <a:r>
              <a:t>C1 explains a black-box partition with Shapley attribution. C2 keeps that explanation consistent across levels at scale. C3, DyHuCoG, uses attribution as an in-training signal, and improves accuracy, coverage and diversity together.</a:t>
            </a:r>
          </a:p>
          <a:p/>
          <a:p>
            <a:r>
              <a:t>Read across the three rows, the same logic moves from post-hoc description to in-training guidance: explain, scale, guide.</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research has resulted in three journal publications as first author.</a:t>
            </a:r>
          </a:p>
          <a:p/>
          <a:p>
            <a:r>
              <a:t>These publications correspond to the three main stages of the thesis: explainable clustering, multi-level explainability, and cooperative recommendation learning.</a:t>
            </a:r>
          </a:p>
          <a:p/>
          <a:p>
            <a:r>
              <a:t>They reflect the progressive development of the proposed framework.</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Several limitations remain open after this work.</a:t>
            </a:r>
          </a:p>
          <a:p/>
          <a:p>
            <a:r>
              <a:t>First, exact Shapley computation remains expensive, requiring approximation methods.</a:t>
            </a:r>
          </a:p>
          <a:p/>
          <a:p>
            <a:r>
              <a:t>Second, surrogate-based explanations depend on the quality of the approximation.</a:t>
            </a:r>
          </a:p>
          <a:p/>
          <a:p>
            <a:r>
              <a:t>Third, the current experiments are mainly offline and based on benchmark datasets.</a:t>
            </a:r>
          </a:p>
          <a:p/>
          <a:p>
            <a:r>
              <a:t>Finally, actionability should be evaluated more directly with human users to measure whether explanations actually improve understanding and decision-making.</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limitations become an agenda, and I see four directions.</a:t>
            </a:r>
          </a:p>
          <a:p/>
          <a:p>
            <a:r>
              <a:t>More scalable cooperative attribution: lower-variance Shapley estimators, learned proposal distributions and adaptive refresh rules.</a:t>
            </a:r>
          </a:p>
          <a:p/>
          <a:p>
            <a:r>
              <a:t>Truly online and streaming recommendation, with changing graphs and delayed feedback, which also removes the static-graph assumption.</a:t>
            </a:r>
          </a:p>
          <a:p/>
          <a:p>
            <a:r>
              <a:t>Richer user-centred evaluation: do explanations measurably improve judgement, trust and perceived fairness?</a:t>
            </a:r>
          </a:p>
          <a:p/>
          <a:p>
            <a:r>
              <a:t>And broader trustworthy-AI evaluation, including exposure fairness and auditing for governance.</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thesis answer is in the orange box: cooperative game theory can serve as a shared methodological view for actionable explanation across clustering and recommendation.</a:t>
            </a:r>
          </a:p>
          <a:p/>
          <a:p>
            <a:r>
              <a:t>Four outcomes support it: a common formal language for assigning importance to features, interactions and contexts; faithful clustering explanation and consistent multi-level explanation; explanation as a method rather than a comment added later; and alignment with the expectations of the AI Act, the OECD principles and the GDPR.</a:t>
            </a:r>
          </a:p>
          <a:p/>
          <a:p>
            <a:r>
              <a:t>Explanation does not have to remain a description of what happened. It can help us understand, control and improve AI systems.</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of the two reference slides lists the foundations of this work: my own three papers, Shapley, SHAP, TreeSHAP, LIME, and the recommender baselines from matrix factorisation to HPCF.</a:t>
            </a:r>
          </a:p>
          <a:p/>
          <a:p>
            <a:r>
              <a:t>I will not discuss them individually, but they are the scientific foundations of the three contributions.</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very much for your attention.</a:t>
            </a:r>
          </a:p>
          <a:p/>
          <a:p>
            <a:r>
              <a:t>I would be pleased to answer your questions and discuss any aspect of this work: the methodology, the theoretical foundations, or the experimental results.</a:t>
            </a:r>
          </a:p>
          <a:p/>
          <a:p>
            <a:r>
              <a:t>I will stay on the closing slide for the discussion.</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family is content-based filtering.</a:t>
            </a:r>
          </a:p>
          <a:p/>
          <a:p>
            <a:r>
              <a:t>The principle is simple: the system recommends items according to their characteristics and the user's previous preferences.</a:t>
            </a:r>
          </a:p>
          <a:p/>
          <a:p>
            <a:r>
              <a:t>The main advantage of this approach is that it is naturally explainable. The recommendation can be linked to visible features that users and experts can understand.</a:t>
            </a:r>
          </a:p>
          <a:p/>
          <a:p>
            <a:r>
              <a:t>However, this approach requires rich metadata and may suffer from over-specialization because it tends to recommend items similar to what the user already knows.</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family is collaborative filtering.</a:t>
            </a:r>
          </a:p>
          <a:p/>
          <a:p>
            <a:r>
              <a:t>Here, the system does not rely on item features, but instead learns from the behaviour and preferences of similar users.</a:t>
            </a:r>
          </a:p>
          <a:p/>
          <a:p>
            <a:r>
              <a:t>This idea has been extremely successful because it can discover hidden patterns from user-item interactions.</a:t>
            </a:r>
          </a:p>
          <a:p/>
          <a:p>
            <a:r>
              <a:t>However, it also introduces important limitations, especially the cold-start problem. New users and new items have limited interaction history, which makes accurate recommendation more difficult.</a:t>
            </a:r>
          </a:p>
          <a:p>
            <a:r>
              <a:t>The figure walks through one prediction: similarity is computed on the columns two users both rated, and the missing cell is filled by a similarity-weighted average of the neighbours' ratings, 5.85 over 1.37, so 4.3 out of 5. The strip below recalls how sparse the real matrices are: 4.47% and 0.06% observed.</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family combines hybrid approaches and matrix factorization.</a:t>
            </a:r>
          </a:p>
          <a:p/>
          <a:p>
            <a:r>
              <a:t>Hybrid systems combine different sources of information to reduce the limitations of individual methods.</a:t>
            </a:r>
          </a:p>
          <a:p/>
          <a:p>
            <a:r>
              <a:t>Matrix factorization became one of the most successful approaches because it provides accurate and scalable recommendations.</a:t>
            </a:r>
          </a:p>
          <a:p/>
          <a:p>
            <a:r>
              <a:t>However, the learned user and item factors are latent representations. They improve prediction performance, but their meaning is usually unknown.</a:t>
            </a:r>
          </a:p>
          <a:p/>
          <a:p>
            <a:r>
              <a:t>This is where the gap between accuracy and interpretability becomes stronger.</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figure redraws the thesis comparison in one frame: on the left, eight nodes as an ordinary graph with its adjacency matrix W; on the right, the same nodes as a hypergraph, where hyperedges e1, e2 and e3 each join a subset of nodes and the incidence matrix H records who belongs to which. Message passing over these structures carries the collaborative signal across hops, and DyHuCoG makes the hyperedge weights dynamic.</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datasets are used in this thesis, covering both clustering and recommendation tasks.</a:t>
            </a:r>
          </a:p>
          <a:p/>
          <a:p>
            <a:r>
              <a:t>For clustering, I use Wine Quality and Beijing Air Quality. The first checks whether explanations stay connected to meaningful physical variables. The second provides a larger and more complex scenario for scalability and multi-level explanations.</a:t>
            </a:r>
          </a:p>
          <a:p/>
          <a:p>
            <a:r>
              <a:t>The first dataset is the Portuguese White Wine Quality dataset.</a:t>
            </a:r>
          </a:p>
          <a:p/>
          <a:p>
            <a:r>
              <a:t>It contains 4,898 samples described by 11 physicochemical measurements, including acidity, density, sulphates, and alcohol.</a:t>
            </a:r>
          </a:p>
          <a:p/>
          <a:p>
            <a:r>
              <a:t>It suits the first contribution because every variable has a clear meaning in the chemistry of wine.</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dataset is Beijing Multi-Site Air Quality, with 383,585 hourly records.</a:t>
            </a:r>
          </a:p>
          <a:p/>
          <a:p>
            <a:r>
              <a:t>The slide lists the 11 modelling variables: six pollutants and five weather variables.</a:t>
            </a:r>
          </a:p>
          <a:p/>
          <a:p>
            <a:r>
              <a:t>It provides a much larger and more complex scenario, used to test scalability and multi-level explanations.</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recommendation benchmark is MovieLens-1M: about one million ratings from 6,040 users on 3,706 movies, with a density near 0.045.</a:t>
            </a:r>
          </a:p>
          <a:p/>
          <a:p>
            <a:r>
              <a:t>It is the standard benchmark of the field, so the comparison with LightGCN, HCCF and HPCF is directly readable.</a:t>
            </a:r>
          </a:p>
          <a:p/>
          <a:p>
            <a:r>
              <a:t>Ratings above 3 become positive implicit feedback, and the genre is used as the context proxy.</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benchmark is Amazon-Book: 52,643 users, 91,599 books and about three million interactions, so the density is near 0.0006 and the user-item matrix is almost empty.</a:t>
            </a:r>
          </a:p>
          <a:p/>
          <a:p>
            <a:r>
              <a:t>I include it to test whether Shapley-guided weighting helps most when the signal is weakest, and it is the large-scale benchmark of Contribution III.</a:t>
            </a:r>
          </a:p>
          <a:p/>
          <a:p>
            <a:r>
              <a:t>That gap between 0.045 and 0.0006 is the core of the robustness argument.</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Different metrics answer different questions. For recommendation, NDCG@20 is the main ranking measure, and coverage and intra-list diversity matter because quality is not only accuracy. For clustering, Silhouette and Davies-Bouldin judge the partitions, and they are also the value function of the clustering game.</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the methodology, the mathematical foundation: cooperative game theory.</a:t>
            </a:r>
          </a:p>
          <a:p/>
          <a:p>
            <a:r>
              <a:t>A cooperative game has players, the coalitions between them, and a value function that measures what each coalition creates on its own. On the slide, the band example: alone, Guitar, Voice and Drums earn 60, 40 and 20, reach 140 as a duo, and 200 as the whole band; Guitar and Drums together are worth 100.</a:t>
            </a:r>
          </a:p>
          <a:p/>
          <a:p>
            <a:r>
              <a:t>The Shapley value shares the total fairly, as the average marginal contribution over every arrival order: one order adds 40, then 40, then 120, and the average over the six orders is 90, 70, 40. As the orange bar states, it is the only rule satisfying the four axioms at once.</a:t>
            </a:r>
          </a:p>
          <a:p/>
          <a:p>
            <a:r>
              <a:t>In this thesis, the players are the input features and the value function is the Silhouette of the clustering.</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protocol for this contribution is straightforward. We compare SHAP and LIME on stability and cross-cluster comparability, and we check the global ranking against the known chemistry of the wine.</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protocol keeps the same principles as Contribution I, with two changes. First, clustering runs on the full Beijing dataset. Second, each level gets its own surrogate, and the explanations are then aggregated across levels with size weights, followed by a sensitivity check on k, projection dimension and surrogate depth.</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protocol for the recommendation study. Two datasets: MovieLens-1M as the dense benchmark and Amazon-Book as the sparse one, with Yelp2018 as an auxiliary check. The split is user-level and time-ordered, 70, 10 and 20, with a leave-one-out target, and ratings above 3 are positives. Six baselines from four model families, four metrics with NDCG@20 as the main one, five seeds, and a component-wise ablation.</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reference slide completes the list: the datasets, the evaluation metrics, the AI Act and OECD texts, and the related work with the team.</a:t>
            </a:r>
          </a:p>
          <a:p/>
          <a:p>
            <a:r>
              <a:t>Taken together, these two slides are the full bibliography of the thesis.</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very much for your attention.</a:t>
            </a:r>
          </a:p>
          <a:p/>
          <a:p>
            <a:r>
              <a:t>I would be pleased to answer your questions and discuss any aspect of this work, including the methodology, theoretical foundations, or experimental results.</a:t>
            </a:r>
          </a:p>
          <a:p/>
          <a:p>
            <a:r>
              <a:t>(Pre-defence check: confirm the jury list on this slide against the official convocation.)</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Not part of the main flow. Shown only during the discussion if asked.</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Not part of the main flow. Shown only during the discussion if asked.</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Not part of the main flow. Shown only during the discussion if asked.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jp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5.xml"/><Relationship Id="rId5" Type="http://schemas.openxmlformats.org/officeDocument/2006/relationships/image" Target="../media/image5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7.xml"/><Relationship Id="rId5" Type="http://schemas.openxmlformats.org/officeDocument/2006/relationships/image" Target="../media/image57.png"/><Relationship Id="rId6" Type="http://schemas.openxmlformats.org/officeDocument/2006/relationships/image" Target="../media/image58.png"/><Relationship Id="rId7" Type="http://schemas.openxmlformats.org/officeDocument/2006/relationships/image" Target="../media/image59.png"/><Relationship Id="rId8" Type="http://schemas.openxmlformats.org/officeDocument/2006/relationships/image" Target="../media/image6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image" Target="../media/image61.png"/><Relationship Id="rId5" Type="http://schemas.openxmlformats.org/officeDocument/2006/relationships/notesSlide" Target="../notesSlides/notesSlide6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image" Target="../media/image62.png"/><Relationship Id="rId5" Type="http://schemas.openxmlformats.org/officeDocument/2006/relationships/notesSlide" Target="../notesSlides/notesSlide6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image" Target="../media/image63.png"/><Relationship Id="rId5" Type="http://schemas.openxmlformats.org/officeDocument/2006/relationships/notesSlide" Target="../notesSlides/notesSlide6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image" Target="../media/image64.png"/><Relationship Id="rId5" Type="http://schemas.openxmlformats.org/officeDocument/2006/relationships/notesSlide" Target="../notesSlides/notesSlide6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6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6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6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6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image" Target="../media/image65.png"/><Relationship Id="rId5" Type="http://schemas.openxmlformats.org/officeDocument/2006/relationships/image" Target="../media/image66.png"/><Relationship Id="rId6" Type="http://schemas.openxmlformats.org/officeDocument/2006/relationships/image" Target="../media/image67.png"/><Relationship Id="rId7" Type="http://schemas.openxmlformats.org/officeDocument/2006/relationships/image" Target="../media/image68.png"/><Relationship Id="rId8" Type="http://schemas.openxmlformats.org/officeDocument/2006/relationships/image" Target="../media/image69.png"/><Relationship Id="rId9" Type="http://schemas.openxmlformats.org/officeDocument/2006/relationships/image" Target="../media/image70.png"/><Relationship Id="rId10" Type="http://schemas.openxmlformats.org/officeDocument/2006/relationships/notesSlide" Target="../notesSlides/notesSlide7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1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image" Target="../media/image71.png"/><Relationship Id="rId5" Type="http://schemas.openxmlformats.org/officeDocument/2006/relationships/image" Target="../media/image72.png"/><Relationship Id="rId6" Type="http://schemas.openxmlformats.org/officeDocument/2006/relationships/notesSlide" Target="../notesSlides/notesSlide7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2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7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2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22.xml"/><Relationship Id="rId5" Type="http://schemas.openxmlformats.org/officeDocument/2006/relationships/image" Target="../media/image73.png"/><Relationship Id="rId6" Type="http://schemas.openxmlformats.org/officeDocument/2006/relationships/image" Target="../media/image7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2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2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2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2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2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2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30.xml"/><Relationship Id="rId5" Type="http://schemas.openxmlformats.org/officeDocument/2006/relationships/image" Target="../media/image75.png"/><Relationship Id="rId6" Type="http://schemas.openxmlformats.org/officeDocument/2006/relationships/image" Target="../media/image7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31.xml"/><Relationship Id="rId5" Type="http://schemas.openxmlformats.org/officeDocument/2006/relationships/image" Target="../media/image77.png"/><Relationship Id="rId6" Type="http://schemas.openxmlformats.org/officeDocument/2006/relationships/image" Target="../media/image78.png"/><Relationship Id="rId7" Type="http://schemas.openxmlformats.org/officeDocument/2006/relationships/image" Target="../media/image7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7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3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33.xml"/><Relationship Id="rId5" Type="http://schemas.openxmlformats.org/officeDocument/2006/relationships/image" Target="../media/image8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34.xml"/><Relationship Id="rId5" Type="http://schemas.openxmlformats.org/officeDocument/2006/relationships/image" Target="../media/image8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3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3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3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3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4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4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42.xml"/><Relationship Id="rId5" Type="http://schemas.openxmlformats.org/officeDocument/2006/relationships/image" Target="../media/image82.png"/><Relationship Id="rId6" Type="http://schemas.openxmlformats.org/officeDocument/2006/relationships/image" Target="../media/image83.png"/><Relationship Id="rId7" Type="http://schemas.openxmlformats.org/officeDocument/2006/relationships/image" Target="../media/image84.png"/><Relationship Id="rId8" Type="http://schemas.openxmlformats.org/officeDocument/2006/relationships/image" Target="../media/image85.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43.xml"/><Relationship Id="rId5" Type="http://schemas.openxmlformats.org/officeDocument/2006/relationships/image" Target="../media/image86.png"/><Relationship Id="rId6" Type="http://schemas.openxmlformats.org/officeDocument/2006/relationships/image" Target="../media/image87.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44.xml"/><Relationship Id="rId5" Type="http://schemas.openxmlformats.org/officeDocument/2006/relationships/image" Target="../media/image88.png"/><Relationship Id="rId6" Type="http://schemas.openxmlformats.org/officeDocument/2006/relationships/image" Target="../media/image89.png"/><Relationship Id="rId7" Type="http://schemas.openxmlformats.org/officeDocument/2006/relationships/image" Target="../media/image90.png"/><Relationship Id="rId8" Type="http://schemas.openxmlformats.org/officeDocument/2006/relationships/image" Target="../media/image9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7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4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4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4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4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49.xml"/><Relationship Id="rId5" Type="http://schemas.openxmlformats.org/officeDocument/2006/relationships/image" Target="../media/image92.png"/><Relationship Id="rId6" Type="http://schemas.openxmlformats.org/officeDocument/2006/relationships/image" Target="../media/image93.png"/><Relationship Id="rId7" Type="http://schemas.openxmlformats.org/officeDocument/2006/relationships/image" Target="../media/image94.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5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5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5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5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5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5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5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58.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59.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60.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75.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image" Target="../media/image55.jpg"/><Relationship Id="rId4" Type="http://schemas.openxmlformats.org/officeDocument/2006/relationships/image" Target="../media/image26.png"/><Relationship Id="rId5" Type="http://schemas.openxmlformats.org/officeDocument/2006/relationships/image" Target="../media/image33.png"/><Relationship Id="rId6" Type="http://schemas.openxmlformats.org/officeDocument/2006/relationships/notesSlide" Target="../notesSlides/notesSlide6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jpg"/><Relationship Id="rId5" Type="http://schemas.openxmlformats.org/officeDocument/2006/relationships/notesSlide" Target="../notesSlides/notesSlide76.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7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78.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7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um5_logo.png"/>
          <p:cNvPicPr>
            <a:picLocks noChangeAspect="1"/>
          </p:cNvPicPr>
          <p:nvPr/>
        </p:nvPicPr>
        <p:blipFill>
          <a:blip r:embed="rId2"/>
          <a:stretch>
            <a:fillRect/>
          </a:stretch>
        </p:blipFill>
        <p:spPr>
          <a:xfrm>
            <a:off x="1737415" y="228600"/>
            <a:ext cx="1782969" cy="1298448"/>
          </a:xfrm>
          <a:prstGeom prst="rect">
            <a:avLst/>
          </a:prstGeom>
        </p:spPr>
      </p:pic>
      <p:pic>
        <p:nvPicPr>
          <p:cNvPr id="3" name="Picture 2" descr="ministry_logo.png"/>
          <p:cNvPicPr>
            <a:picLocks noChangeAspect="1"/>
          </p:cNvPicPr>
          <p:nvPr/>
        </p:nvPicPr>
        <p:blipFill>
          <a:blip r:embed="rId3"/>
          <a:stretch>
            <a:fillRect/>
          </a:stretch>
        </p:blipFill>
        <p:spPr>
          <a:xfrm>
            <a:off x="7913027" y="228600"/>
            <a:ext cx="2461944" cy="1298448"/>
          </a:xfrm>
          <a:prstGeom prst="rect">
            <a:avLst/>
          </a:prstGeom>
        </p:spPr>
      </p:pic>
      <p:pic>
        <p:nvPicPr>
          <p:cNvPr id="4" name="Picture 3" descr="ensias_logo.jpg"/>
          <p:cNvPicPr>
            <a:picLocks noChangeAspect="1"/>
          </p:cNvPicPr>
          <p:nvPr/>
        </p:nvPicPr>
        <p:blipFill>
          <a:blip r:embed="rId4"/>
          <a:stretch>
            <a:fillRect/>
          </a:stretch>
        </p:blipFill>
        <p:spPr>
          <a:xfrm>
            <a:off x="14741231" y="228600"/>
            <a:ext cx="1835736" cy="1298448"/>
          </a:xfrm>
          <a:prstGeom prst="rect">
            <a:avLst/>
          </a:prstGeom>
        </p:spPr>
      </p:pic>
      <p:sp>
        <p:nvSpPr>
          <p:cNvPr id="5" name="TextBox 4"/>
          <p:cNvSpPr txBox="1"/>
          <p:nvPr/>
        </p:nvSpPr>
        <p:spPr>
          <a:xfrm>
            <a:off x="1028700" y="1536192"/>
            <a:ext cx="16230600" cy="365760"/>
          </a:xfrm>
          <a:prstGeom prst="rect">
            <a:avLst/>
          </a:prstGeom>
          <a:noFill/>
        </p:spPr>
        <p:txBody>
          <a:bodyPr anchor="t" rtlCol="false" lIns="0" tIns="0" rIns="0" bIns="0" wrap="square"/>
          <a:lstStyle/>
          <a:p>
            <a:pPr algn="ctr">
              <a:lnSpc>
                <a:spcPts val="1900"/>
              </a:lnSpc>
              <a:spcBef>
                <a:spcPts val="0"/>
              </a:spcBef>
              <a:buNone/>
            </a:pPr>
            <a:r>
              <a:rPr lang="en-US" sz="1500" b="true">
                <a:solidFill>
                  <a:srgbClr val="8A8378"/>
                </a:solidFill>
                <a:latin typeface="Nunito Bold"/>
                <a:ea typeface="Nunito Bold"/>
                <a:cs typeface="Nunito Bold"/>
                <a:sym typeface="Nunito Bold"/>
              </a:rPr>
              <a:t>Doctoral Studies Center in Information and Engineering Sciences and Technologies (ST2I)</a:t>
            </a:r>
          </a:p>
        </p:txBody>
      </p:sp>
      <p:sp>
        <p:nvSpPr>
          <p:cNvPr id="6" name="TextBox 5"/>
          <p:cNvSpPr txBox="1"/>
          <p:nvPr/>
        </p:nvSpPr>
        <p:spPr>
          <a:xfrm>
            <a:off x="1028700" y="1938528"/>
            <a:ext cx="16230600" cy="365760"/>
          </a:xfrm>
          <a:prstGeom prst="rect">
            <a:avLst/>
          </a:prstGeom>
          <a:noFill/>
        </p:spPr>
        <p:txBody>
          <a:bodyPr anchor="t" rtlCol="false" lIns="0" tIns="0" rIns="0" bIns="0" wrap="square"/>
          <a:lstStyle/>
          <a:p>
            <a:pPr algn="ctr">
              <a:lnSpc>
                <a:spcPts val="1900"/>
              </a:lnSpc>
              <a:spcBef>
                <a:spcPts val="0"/>
              </a:spcBef>
              <a:buNone/>
            </a:pPr>
            <a:r>
              <a:rPr lang="en-US" sz="1400" b="true" spc="200">
                <a:solidFill>
                  <a:srgbClr val="1F7A8C"/>
                </a:solidFill>
                <a:latin typeface="Nunito Ultra-Bold"/>
                <a:ea typeface="Nunito Ultra-Bold"/>
                <a:cs typeface="Nunito Ultra-Bold"/>
                <a:sym typeface="Nunito Ultra-Bold"/>
              </a:rPr>
              <a:t>PHD THESIS DEFENCE  ·  COMPUTER SCIENCE</a:t>
            </a:r>
          </a:p>
        </p:txBody>
      </p:sp>
      <p:sp>
        <p:nvSpPr>
          <p:cNvPr id="7" name="TextBox 6"/>
          <p:cNvSpPr txBox="1"/>
          <p:nvPr/>
        </p:nvSpPr>
        <p:spPr>
          <a:xfrm>
            <a:off x="1028700" y="2286000"/>
            <a:ext cx="16230600" cy="1828800"/>
          </a:xfrm>
          <a:prstGeom prst="rect">
            <a:avLst/>
          </a:prstGeom>
          <a:noFill/>
        </p:spPr>
        <p:txBody>
          <a:bodyPr anchor="t" rtlCol="false" lIns="0" tIns="0" rIns="0" bIns="0" wrap="square"/>
          <a:lstStyle/>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Cooperative Game Theory for Explainable</a:t>
            </a:r>
          </a:p>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Artificial Intelligence in Recommendation Systems</a:t>
            </a:r>
          </a:p>
        </p:txBody>
      </p:sp>
      <p:sp>
        <p:nvSpPr>
          <p:cNvPr id="8" name="TextBox 7"/>
          <p:cNvSpPr txBox="1"/>
          <p:nvPr/>
        </p:nvSpPr>
        <p:spPr>
          <a:xfrm>
            <a:off x="1028700" y="3913632"/>
            <a:ext cx="16230600" cy="457200"/>
          </a:xfrm>
          <a:prstGeom prst="rect">
            <a:avLst/>
          </a:prstGeom>
          <a:noFill/>
        </p:spPr>
        <p:txBody>
          <a:bodyPr anchor="t" rtlCol="false" lIns="0" tIns="0" rIns="0" bIns="0" wrap="square"/>
          <a:lstStyle/>
          <a:p>
            <a:pPr algn="ctr">
              <a:lnSpc>
                <a:spcPts val="3000"/>
              </a:lnSpc>
              <a:spcBef>
                <a:spcPts val="0"/>
              </a:spcBef>
              <a:buNone/>
            </a:pPr>
            <a:r>
              <a:rPr lang="en-US" sz="2500" b="true" spc="-100">
                <a:solidFill>
                  <a:srgbClr val="4472C4"/>
                </a:solidFill>
                <a:latin typeface="Nunito Bold"/>
                <a:ea typeface="Nunito Bold"/>
                <a:cs typeface="Nunito Bold"/>
                <a:sym typeface="Nunito Bold"/>
              </a:rPr>
              <a:t>1</a:t>
            </a:r>
          </a:p>
        </p:txBody>
      </p:sp>
      <p:sp>
        <p:nvSpPr>
          <p:cNvPr id="9" name="Rounded Rectangle 8"/>
          <p:cNvSpPr/>
          <p:nvPr/>
        </p:nvSpPr>
        <p:spPr>
          <a:xfrm>
            <a:off x="2926080" y="4526280"/>
            <a:ext cx="6035040" cy="786384"/>
          </a:xfrm>
          <a:prstGeom prst="roundRect">
            <a:avLst>
              <a:gd name="adj" fmla="val 27906"/>
            </a:avLst>
          </a:prstGeom>
          <a:solidFill>
            <a:srgbClr val="4472C4"/>
          </a:solidFill>
          <a:ln>
            <a:noFill/>
          </a:ln>
        </p:spPr>
        <p:txBody>
          <a:bodyPr anchor="ctr" rtlCol="false" lIns="91440" tIns="45720" rIns="91440" bIns="45720" wrap="square"/>
          <a:lstStyle/>
          <a:p>
            <a:pPr algn="ctr">
              <a:lnSpc>
                <a:spcPts val="1400"/>
              </a:lnSpc>
              <a:spcBef>
                <a:spcPts val="0"/>
              </a:spcBef>
              <a:buNone/>
            </a:pPr>
            <a:r>
              <a:rPr lang="en-US" sz="1400" b="true" spc="150">
                <a:solidFill>
                  <a:srgbClr val="ECC665"/>
                </a:solidFill>
                <a:latin typeface="Nunito Ultra-Bold"/>
                <a:ea typeface="Nunito Ultra-Bold"/>
                <a:cs typeface="Nunito Ultra-Bold"/>
                <a:sym typeface="Nunito Ultra-Bold"/>
              </a:rPr>
              <a:t>PHD VIVA PRESENTED BY</a:t>
            </a:r>
          </a:p>
          <a:p>
            <a:pPr algn="ctr">
              <a:lnSpc>
                <a:spcPts val="2600"/>
              </a:lnSpc>
              <a:spcBef>
                <a:spcPts val="200"/>
              </a:spcBef>
              <a:buNone/>
            </a:pPr>
            <a:r>
              <a:rPr lang="en-US" sz="2200" b="true">
                <a:solidFill>
                  <a:srgbClr val="FFFFFF"/>
                </a:solidFill>
                <a:latin typeface="Nunito Ultra-Bold"/>
                <a:ea typeface="Nunito Ultra-Bold"/>
                <a:cs typeface="Nunito Ultra-Bold"/>
                <a:sym typeface="Nunito Ultra-Bold"/>
              </a:rPr>
              <a:t>Mouad LOUHICHI</a:t>
            </a:r>
          </a:p>
        </p:txBody>
      </p:sp>
      <p:sp>
        <p:nvSpPr>
          <p:cNvPr id="10" name="Rounded Rectangle 9"/>
          <p:cNvSpPr/>
          <p:nvPr/>
        </p:nvSpPr>
        <p:spPr>
          <a:xfrm>
            <a:off x="9326880" y="4526280"/>
            <a:ext cx="6035040" cy="786384"/>
          </a:xfrm>
          <a:prstGeom prst="roundRect">
            <a:avLst>
              <a:gd name="adj" fmla="val 27906"/>
            </a:avLst>
          </a:prstGeom>
          <a:solidFill>
            <a:srgbClr val="E7EAF3"/>
          </a:solidFill>
          <a:ln>
            <a:noFill/>
          </a:ln>
        </p:spPr>
        <p:txBody>
          <a:bodyPr anchor="ctr" rtlCol="false" lIns="91440" tIns="45720" rIns="91440" bIns="45720" wrap="square"/>
          <a:lstStyle/>
          <a:p>
            <a:pPr algn="ctr">
              <a:lnSpc>
                <a:spcPts val="1400"/>
              </a:lnSpc>
              <a:spcBef>
                <a:spcPts val="0"/>
              </a:spcBef>
              <a:buNone/>
            </a:pPr>
            <a:r>
              <a:rPr lang="en-US" sz="1400" b="true" spc="150">
                <a:solidFill>
                  <a:srgbClr val="1F7A8C"/>
                </a:solidFill>
                <a:latin typeface="Nunito Ultra-Bold"/>
                <a:ea typeface="Nunito Ultra-Bold"/>
                <a:cs typeface="Nunito Ultra-Bold"/>
                <a:sym typeface="Nunito Ultra-Bold"/>
              </a:rPr>
              <a:t>SUPERVISED BY</a:t>
            </a:r>
          </a:p>
          <a:p>
            <a:pPr algn="ctr">
              <a:lnSpc>
                <a:spcPts val="2400"/>
              </a:lnSpc>
              <a:spcBef>
                <a:spcPts val="200"/>
              </a:spcBef>
              <a:buNone/>
            </a:pPr>
            <a:r>
              <a:rPr lang="en-US" sz="2000" b="true">
                <a:solidFill>
                  <a:srgbClr val="111111"/>
                </a:solidFill>
                <a:latin typeface="Nunito Ultra-Bold"/>
                <a:ea typeface="Nunito Ultra-Bold"/>
                <a:cs typeface="Nunito Ultra-Bold"/>
                <a:sym typeface="Nunito Ultra-Bold"/>
              </a:rPr>
              <a:t>Pr. Mohamed LAZAAR  ·  PES, ENSIAS</a:t>
            </a:r>
          </a:p>
        </p:txBody>
      </p:sp>
      <p:sp>
        <p:nvSpPr>
          <p:cNvPr id="11" name="TextBox 10"/>
          <p:cNvSpPr txBox="1"/>
          <p:nvPr/>
        </p:nvSpPr>
        <p:spPr>
          <a:xfrm>
            <a:off x="1028700" y="5504688"/>
            <a:ext cx="16230600" cy="274320"/>
          </a:xfrm>
          <a:prstGeom prst="rect">
            <a:avLst/>
          </a:prstGeom>
          <a:noFill/>
        </p:spPr>
        <p:txBody>
          <a:bodyPr anchor="t" rtlCol="false" lIns="0" tIns="0" rIns="0" bIns="0" wrap="square"/>
          <a:lstStyle/>
          <a:p>
            <a:pPr algn="l">
              <a:lnSpc>
                <a:spcPts val="1500"/>
              </a:lnSpc>
              <a:spcBef>
                <a:spcPts val="0"/>
              </a:spcBef>
              <a:buNone/>
            </a:pPr>
            <a:r>
              <a:rPr lang="en-US" sz="1400" b="true" spc="200">
                <a:solidFill>
                  <a:srgbClr val="8A8378"/>
                </a:solidFill>
                <a:latin typeface="Nunito Ultra-Bold"/>
                <a:ea typeface="Nunito Ultra-Bold"/>
                <a:cs typeface="Nunito Ultra-Bold"/>
                <a:sym typeface="Nunito Ultra-Bold"/>
              </a:rPr>
              <a:t>JURY MEMBERS</a:t>
            </a:r>
          </a:p>
        </p:txBody>
      </p:sp>
      <p:graphicFrame>
        <p:nvGraphicFramePr>
          <p:cNvPr id="12" name="Table 11"/>
          <p:cNvGraphicFramePr>
            <a:graphicFrameLocks noGrp="1"/>
          </p:cNvGraphicFramePr>
          <p:nvPr/>
        </p:nvGraphicFramePr>
        <p:xfrm>
          <a:off x="1028700" y="5797296"/>
          <a:ext cx="16230599" cy="3733800"/>
        </p:xfrm>
        <a:graphic>
          <a:graphicData uri="http://schemas.openxmlformats.org/drawingml/2006/table">
            <a:tbl>
              <a:tblPr firstRow="0" bandRow="0" firstCol="0" lastRow="0" lastCol="0" bandCol="0">
                <a:tableStyleId>{2D5ABB26-0587-4C30-8999-92F81FD0307C}</a:tableStyleId>
              </a:tblPr>
              <a:tblGrid>
                <a:gridCol w="1971942"/>
                <a:gridCol w="5005699"/>
                <a:gridCol w="1365190"/>
                <a:gridCol w="7887768"/>
              </a:tblGrid>
              <a:tr h="373380">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Role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Name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Grade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Institution</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President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Abdellatif EL AFIA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Supervisor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Mohamed LAZAAR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M'hamed AIT KBIR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FST, Abdelmalek Essaâdi University, Tangier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Oussama MAHBOUB</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ENSA, Abdelmalek Essaâdi University, Tetouan</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Noureddine KERZAZI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Hicham OMARA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FP Taza, Sidi Mohamed Ben Abdellah University, Fez</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Fatima OUZAYD</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Yasser EL MADANI EL ALAMI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Guest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Yassine AFOUDI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Faculty of Sciences, Cadi Ayyad University, Marrakech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13" name="TextBox 12"/>
          <p:cNvSpPr txBox="1"/>
          <p:nvPr/>
        </p:nvSpPr>
        <p:spPr>
          <a:xfrm>
            <a:off x="1028700" y="9695688"/>
            <a:ext cx="16230600" cy="274320"/>
          </a:xfrm>
          <a:prstGeom prst="rect">
            <a:avLst/>
          </a:prstGeom>
          <a:noFill/>
        </p:spPr>
        <p:txBody>
          <a:bodyPr anchor="t" rtlCol="false" lIns="0" tIns="0" rIns="0" bIns="0" wrap="square"/>
          <a:lstStyle/>
          <a:p>
            <a:pPr algn="ctr">
              <a:lnSpc>
                <a:spcPts val="1700"/>
              </a:lnSpc>
              <a:spcBef>
                <a:spcPts val="0"/>
              </a:spcBef>
              <a:buNone/>
            </a:pPr>
            <a:r>
              <a:rPr lang="en-US" sz="1400" b="true">
                <a:solidFill>
                  <a:srgbClr val="8A8378"/>
                </a:solidFill>
                <a:latin typeface="Nunito Bold"/>
                <a:ea typeface="Nunito Bold"/>
                <a:cs typeface="Nunito Bold"/>
                <a:sym typeface="Nunito Bold"/>
              </a:rPr>
              <a:t>Rabat, Morocco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02</a:t>
            </a:r>
          </a:p>
        </p:txBody>
      </p:sp>
      <p:sp>
        <p:nvSpPr>
          <p:cNvPr id="7" name="TextBox 6"/>
          <p:cNvSpPr txBox="1"/>
          <p:nvPr/>
        </p:nvSpPr>
        <p:spPr>
          <a:xfrm>
            <a:off x="1028700" y="1737360"/>
            <a:ext cx="16230600" cy="1463040"/>
          </a:xfrm>
          <a:prstGeom prst="rect">
            <a:avLst/>
          </a:prstGeom>
          <a:noFill/>
        </p:spPr>
        <p:txBody>
          <a:bodyPr anchor="t" rtlCol="false" lIns="0" tIns="0" rIns="0" bIns="0" wrap="square"/>
          <a:lstStyle/>
          <a:p>
            <a:pPr algn="ctr">
              <a:lnSpc>
                <a:spcPts val="9600"/>
              </a:lnSpc>
              <a:spcBef>
                <a:spcPts val="0"/>
              </a:spcBef>
              <a:buNone/>
            </a:pPr>
            <a:r>
              <a:rPr lang="en-US" sz="9200" b="true" spc="-500">
                <a:solidFill>
                  <a:srgbClr val="111111"/>
                </a:solidFill>
                <a:latin typeface="Roca Two Bold"/>
                <a:ea typeface="Roca Two Bold"/>
                <a:cs typeface="Roca Two Bold"/>
                <a:sym typeface="Roca Two Bold"/>
              </a:rPr>
              <a:t>Outline</a:t>
            </a:r>
          </a:p>
        </p:txBody>
      </p:sp>
      <p:pic>
        <p:nvPicPr>
          <p:cNvPr id="8" name="Picture 7" descr="image.png"/>
          <p:cNvPicPr>
            <a:picLocks noChangeAspect="1"/>
          </p:cNvPicPr>
          <p:nvPr/>
        </p:nvPicPr>
        <p:blipFill>
          <a:blip r:embed="rId3"/>
          <a:stretch>
            <a:fillRect/>
          </a:stretch>
        </p:blipFill>
        <p:spPr>
          <a:xfrm>
            <a:off x="11612880" y="1554480"/>
            <a:ext cx="548640" cy="301180"/>
          </a:xfrm>
          <a:prstGeom prst="rect">
            <a:avLst/>
          </a:prstGeom>
        </p:spPr>
      </p:pic>
      <p:pic>
        <p:nvPicPr>
          <p:cNvPr id="9" name="Picture 8" descr="image.png"/>
          <p:cNvPicPr>
            <a:picLocks noChangeAspect="1"/>
          </p:cNvPicPr>
          <p:nvPr/>
        </p:nvPicPr>
        <p:blipFill>
          <a:blip r:embed="rId4"/>
          <a:stretch>
            <a:fillRect/>
          </a:stretch>
        </p:blipFill>
        <p:spPr>
          <a:xfrm rot="10800000">
            <a:off x="5943600" y="2651760"/>
            <a:ext cx="502920" cy="276082"/>
          </a:xfrm>
          <a:prstGeom prst="rect">
            <a:avLst/>
          </a:prstGeom>
        </p:spPr>
      </p:pic>
      <p:sp>
        <p:nvSpPr>
          <p:cNvPr id="10" name="TextBox 9"/>
          <p:cNvSpPr txBox="1"/>
          <p:nvPr/>
        </p:nvSpPr>
        <p:spPr>
          <a:xfrm>
            <a:off x="1028700" y="3246120"/>
            <a:ext cx="16230600" cy="457200"/>
          </a:xfrm>
          <a:prstGeom prst="rect">
            <a:avLst/>
          </a:prstGeom>
          <a:noFill/>
        </p:spPr>
        <p:txBody>
          <a:bodyPr anchor="t" rtlCol="false" lIns="0" tIns="0" rIns="0" bIns="0" wrap="square"/>
          <a:lstStyle/>
          <a:p>
            <a:pPr algn="ctr">
              <a:lnSpc>
                <a:spcPts val="2600"/>
              </a:lnSpc>
              <a:spcBef>
                <a:spcPts val="0"/>
              </a:spcBef>
              <a:buNone/>
            </a:pPr>
            <a:r>
              <a:rPr lang="en-US" sz="2100" b="true">
                <a:solidFill>
                  <a:srgbClr val="8A8378"/>
                </a:solidFill>
                <a:latin typeface="Nunito Semi-Bold"/>
                <a:ea typeface="Nunito Semi-Bold"/>
                <a:cs typeface="Nunito Semi-Bold"/>
                <a:sym typeface="Nunito Semi-Bold"/>
              </a:rPr>
              <a:t>Seven parts  ·  each contribution follows the same structure: research gap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objectives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methodology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protocol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results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findings</a:t>
            </a:r>
          </a:p>
        </p:txBody>
      </p:sp>
      <p:sp>
        <p:nvSpPr>
          <p:cNvPr id="11" name="Rounded Rectangle 10"/>
          <p:cNvSpPr/>
          <p:nvPr/>
        </p:nvSpPr>
        <p:spPr>
          <a:xfrm>
            <a:off x="1028700" y="406908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01</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Introduction</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Motivation · Actionable insight · Why XAI matters</a:t>
            </a:r>
          </a:p>
        </p:txBody>
      </p:sp>
      <p:sp>
        <p:nvSpPr>
          <p:cNvPr id="12" name="Rounded Rectangle 11"/>
          <p:cNvSpPr/>
          <p:nvPr/>
        </p:nvSpPr>
        <p:spPr>
          <a:xfrm>
            <a:off x="5154930" y="4069080"/>
            <a:ext cx="3851910" cy="2331720"/>
          </a:xfrm>
          <a:prstGeom prst="roundRect">
            <a:avLst>
              <a:gd name="adj" fmla="val 15686"/>
            </a:avLst>
          </a:prstGeom>
          <a:noFill/>
          <a:ln w="28575">
            <a:solidFill>
              <a:srgbClr val="4472C4"/>
            </a:solidFill>
          </a:ln>
        </p:spPr>
        <p:txBody>
          <a:bodyPr anchor="t" rtlCol="false" lIns="365760" tIns="365760" rIns="320040" bIns="274320" wrap="square"/>
          <a:lstStyle/>
          <a:p>
            <a:pPr algn="l">
              <a:lnSpc>
                <a:spcPts val="3400"/>
              </a:lnSpc>
              <a:spcBef>
                <a:spcPts val="0"/>
              </a:spcBef>
              <a:buNone/>
            </a:pPr>
            <a:r>
              <a:rPr lang="en-US" sz="3000" b="true">
                <a:solidFill>
                  <a:srgbClr val="1F7A8C"/>
                </a:solidFill>
                <a:latin typeface="Nunito Ultra-Bold"/>
                <a:ea typeface="Nunito Ultra-Bold"/>
                <a:cs typeface="Nunito Ultra-Bold"/>
                <a:sym typeface="Nunito Ultra-Bold"/>
              </a:rPr>
              <a:t>02</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Context &amp; Problematic</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Four approaches · Limitations · Research questions</a:t>
            </a:r>
          </a:p>
        </p:txBody>
      </p:sp>
      <p:sp>
        <p:nvSpPr>
          <p:cNvPr id="13" name="Rounded Rectangle 12"/>
          <p:cNvSpPr/>
          <p:nvPr/>
        </p:nvSpPr>
        <p:spPr>
          <a:xfrm>
            <a:off x="9281160" y="406908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03</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Experimental Protocol</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Four datasets · Baselines · Metrics · Hardware</a:t>
            </a:r>
          </a:p>
        </p:txBody>
      </p:sp>
      <p:sp>
        <p:nvSpPr>
          <p:cNvPr id="14" name="Rounded Rectangle 13"/>
          <p:cNvSpPr/>
          <p:nvPr/>
        </p:nvSpPr>
        <p:spPr>
          <a:xfrm>
            <a:off x="13407390" y="4069080"/>
            <a:ext cx="3851910" cy="2331720"/>
          </a:xfrm>
          <a:prstGeom prst="roundRect">
            <a:avLst>
              <a:gd name="adj" fmla="val 15686"/>
            </a:avLst>
          </a:prstGeom>
          <a:noFill/>
          <a:ln w="28575">
            <a:solidFill>
              <a:srgbClr val="4472C4"/>
            </a:solidFill>
          </a:ln>
        </p:spPr>
        <p:txBody>
          <a:bodyPr anchor="t" rtlCol="false" lIns="365760" tIns="365760" rIns="320040" bIns="274320" wrap="square"/>
          <a:lstStyle/>
          <a:p>
            <a:pPr algn="l">
              <a:lnSpc>
                <a:spcPts val="3400"/>
              </a:lnSpc>
              <a:spcBef>
                <a:spcPts val="0"/>
              </a:spcBef>
              <a:buNone/>
            </a:pPr>
            <a:r>
              <a:rPr lang="en-US" sz="3000" b="true">
                <a:solidFill>
                  <a:srgbClr val="1F7A8C"/>
                </a:solidFill>
                <a:latin typeface="Nunito Ultra-Bold"/>
                <a:ea typeface="Nunito Ultra-Bold"/>
                <a:cs typeface="Nunito Ultra-Bold"/>
                <a:sym typeface="Nunito Ultra-Bold"/>
              </a:rPr>
              <a:t>04</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Contribution I</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Deep dive: cooperative games · Explainable clustering (Wine)</a:t>
            </a:r>
          </a:p>
        </p:txBody>
      </p:sp>
      <p:sp>
        <p:nvSpPr>
          <p:cNvPr id="15" name="Rounded Rectangle 14"/>
          <p:cNvSpPr/>
          <p:nvPr/>
        </p:nvSpPr>
        <p:spPr>
          <a:xfrm>
            <a:off x="1028700" y="667512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05</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Contribution II</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Multi-level XAI for large-scale clustering (Beijing)</a:t>
            </a:r>
          </a:p>
        </p:txBody>
      </p:sp>
      <p:sp>
        <p:nvSpPr>
          <p:cNvPr id="16" name="Rounded Rectangle 15"/>
          <p:cNvSpPr/>
          <p:nvPr/>
        </p:nvSpPr>
        <p:spPr>
          <a:xfrm>
            <a:off x="5154930" y="6675120"/>
            <a:ext cx="3851910" cy="2331720"/>
          </a:xfrm>
          <a:prstGeom prst="roundRect">
            <a:avLst>
              <a:gd name="adj" fmla="val 15686"/>
            </a:avLst>
          </a:prstGeom>
          <a:noFill/>
          <a:ln w="28575">
            <a:solidFill>
              <a:srgbClr val="4472C4"/>
            </a:solidFill>
          </a:ln>
        </p:spPr>
        <p:txBody>
          <a:bodyPr anchor="t" rtlCol="false" lIns="365760" tIns="365760" rIns="320040" bIns="274320" wrap="square"/>
          <a:lstStyle/>
          <a:p>
            <a:pPr algn="l">
              <a:lnSpc>
                <a:spcPts val="3400"/>
              </a:lnSpc>
              <a:spcBef>
                <a:spcPts val="0"/>
              </a:spcBef>
              <a:buNone/>
            </a:pPr>
            <a:r>
              <a:rPr lang="en-US" sz="3000" b="true">
                <a:solidFill>
                  <a:srgbClr val="1F7A8C"/>
                </a:solidFill>
                <a:latin typeface="Nunito Ultra-Bold"/>
                <a:ea typeface="Nunito Ultra-Bold"/>
                <a:cs typeface="Nunito Ultra-Bold"/>
                <a:sym typeface="Nunito Ultra-Bold"/>
              </a:rPr>
              <a:t>06</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Contribution III</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DyHuCoG: a cooperative game on hypergraphs</a:t>
            </a:r>
          </a:p>
        </p:txBody>
      </p:sp>
      <p:sp>
        <p:nvSpPr>
          <p:cNvPr id="17" name="Rounded Rectangle 16"/>
          <p:cNvSpPr/>
          <p:nvPr/>
        </p:nvSpPr>
        <p:spPr>
          <a:xfrm>
            <a:off x="9281160" y="667512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07</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Conclusion &amp; Perspectives</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Synthesis · Publications · Perspectives · References</a:t>
            </a:r>
          </a:p>
        </p:txBody>
      </p:sp>
      <p:sp>
        <p:nvSpPr>
          <p:cNvPr id="18" name="Rounded Rectangle 17"/>
          <p:cNvSpPr/>
          <p:nvPr/>
        </p:nvSpPr>
        <p:spPr>
          <a:xfrm>
            <a:off x="13407390" y="6675120"/>
            <a:ext cx="3851910" cy="2331720"/>
          </a:xfrm>
          <a:prstGeom prst="roundRect">
            <a:avLst>
              <a:gd name="adj" fmla="val 15686"/>
            </a:avLst>
          </a:prstGeom>
          <a:solidFill>
            <a:srgbClr val="ECC665"/>
          </a:solidFill>
          <a:ln>
            <a:noFill/>
          </a:ln>
        </p:spPr>
        <p:txBody>
          <a:bodyPr anchor="ctr" rtlCol="false" lIns="91440" tIns="45720" rIns="91440" bIns="45720" wrap="square"/>
          <a:lstStyle/>
          <a:p>
            <a:pPr algn="ctr">
              <a:lnSpc>
                <a:spcPts val="4800"/>
              </a:lnSpc>
              <a:spcBef>
                <a:spcPts val="0"/>
              </a:spcBef>
              <a:buNone/>
            </a:pPr>
            <a:r>
              <a:rPr lang="en-US" sz="4400" b="true" spc="-200">
                <a:solidFill>
                  <a:srgbClr val="111111"/>
                </a:solidFill>
                <a:latin typeface="Roca Two Bold"/>
                <a:ea typeface="Roca Two Bold"/>
                <a:cs typeface="Roca Two Bold"/>
                <a:sym typeface="Roca Two Bold"/>
              </a:rPr>
              <a:t>Q &amp; A</a:t>
            </a:r>
          </a:p>
          <a:p>
            <a:pPr algn="ctr">
              <a:lnSpc>
                <a:spcPts val="2100"/>
              </a:lnSpc>
              <a:spcBef>
                <a:spcPts val="600"/>
              </a:spcBef>
              <a:buNone/>
            </a:pPr>
            <a:r>
              <a:rPr lang="en-US" sz="1700" b="true">
                <a:solidFill>
                  <a:srgbClr val="111111"/>
                </a:solidFill>
                <a:latin typeface="Nunito Bold"/>
                <a:ea typeface="Nunito Bold"/>
                <a:cs typeface="Nunito Bold"/>
                <a:sym typeface="Nunito Bold"/>
              </a:rPr>
              <a:t>Discussion with the jury  ·  backup tables at the end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03</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Introduction</a:t>
            </a:r>
          </a:p>
        </p:txBody>
      </p:sp>
      <p:sp>
        <p:nvSpPr>
          <p:cNvPr id="8" name="Oval 7"/>
          <p:cNvSpPr/>
          <p:nvPr/>
        </p:nvSpPr>
        <p:spPr>
          <a:xfrm>
            <a:off x="11961761"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1961761"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01</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Why explainability is a core requirement for recommender systems</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Motivation</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Black-box AI systems shape what billions of people see, buy and watch every day: accurate, but not transparent.</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Actionable insight</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An explanation is useful when it names a factor, in the domain's own words, that a designer can change.</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Research context</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From matrix factorisation to hypergraph recommenders: each step added modelling power and removed transparency.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10" name="Rounded Rectangle 9"/>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Motivation: Why Explainability Matters</a:t>
            </a:r>
          </a:p>
        </p:txBody>
      </p:sp>
      <p:pic>
        <p:nvPicPr>
          <p:cNvPr id="25" name="Picture 24" descr="image.png"/>
          <p:cNvPicPr>
            <a:picLocks noChangeAspect="1"/>
          </p:cNvPicPr>
          <p:nvPr/>
        </p:nvPicPr>
        <p:blipFill>
          <a:blip r:embed="rId3"/>
          <a:stretch>
            <a:fillRect/>
          </a:stretch>
        </p:blipFill>
        <p:spPr>
          <a:xfrm>
            <a:off x="8592285" y="1673352"/>
            <a:ext cx="457200" cy="250983"/>
          </a:xfrm>
          <a:prstGeom prst="rect">
            <a:avLst/>
          </a:prstGeom>
        </p:spPr>
      </p:pic>
      <p:sp>
        <p:nvSpPr>
          <p:cNvPr id="26" name="Rounded Rectangle 25"/>
          <p:cNvSpPr/>
          <p:nvPr/>
        </p:nvSpPr>
        <p:spPr>
          <a:xfrm>
            <a:off x="1028700" y="2559050"/>
            <a:ext cx="1715805"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Motivation</a:t>
            </a:r>
          </a:p>
        </p:txBody>
      </p:sp>
      <p:sp>
        <p:nvSpPr>
          <p:cNvPr id="27" name="Rounded Rectangle 26"/>
          <p:cNvSpPr/>
          <p:nvPr/>
        </p:nvSpPr>
        <p:spPr>
          <a:xfrm>
            <a:off x="2872521" y="2559050"/>
            <a:ext cx="254485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Actionable Insight</a:t>
            </a:r>
          </a:p>
        </p:txBody>
      </p:sp>
      <p:sp>
        <p:nvSpPr>
          <p:cNvPr id="28" name="Rounded Rectangle 27"/>
          <p:cNvSpPr/>
          <p:nvPr/>
        </p:nvSpPr>
        <p:spPr>
          <a:xfrm>
            <a:off x="5545389" y="2559050"/>
            <a:ext cx="248457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Research Context</a:t>
            </a:r>
          </a:p>
        </p:txBody>
      </p:sp>
      <p:sp>
        <p:nvSpPr>
          <p:cNvPr id="29" name="Rounded Rectangle 28"/>
          <p:cNvSpPr/>
          <p:nvPr/>
        </p:nvSpPr>
        <p:spPr>
          <a:xfrm>
            <a:off x="1028700" y="3592322"/>
            <a:ext cx="5196840" cy="4206240"/>
          </a:xfrm>
          <a:prstGeom prst="roundRect">
            <a:avLst>
              <a:gd name="adj" fmla="val 7391"/>
            </a:avLst>
          </a:prstGeom>
          <a:solidFill>
            <a:srgbClr val="4472C4"/>
          </a:solidFill>
          <a:ln>
            <a:noFill/>
          </a:ln>
        </p:spPr>
        <p:txBody>
          <a:bodyPr anchor="ctr" rtlCol="false" lIns="0" tIns="0" rIns="0" bIns="0" wrap="square"/>
          <a:lstStyle/>
          <a:p>
            <a:endParaRPr lang="en-US" sz="1800"/>
          </a:p>
        </p:txBody>
      </p:sp>
      <p:sp>
        <p:nvSpPr>
          <p:cNvPr id="30" name="Rounded Rectangle 29"/>
          <p:cNvSpPr/>
          <p:nvPr/>
        </p:nvSpPr>
        <p:spPr>
          <a:xfrm>
            <a:off x="1485900" y="3354578"/>
            <a:ext cx="2168674"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4472C4"/>
                </a:solidFill>
                <a:latin typeface="Nunito Bold"/>
                <a:ea typeface="Nunito Bold"/>
                <a:cs typeface="Nunito Bold"/>
                <a:sym typeface="Nunito Bold"/>
              </a:rPr>
              <a:t>Everywhere</a:t>
            </a:r>
          </a:p>
        </p:txBody>
      </p:sp>
      <p:sp>
        <p:nvSpPr>
          <p:cNvPr id="31" name="TextBox 30"/>
          <p:cNvSpPr txBox="1"/>
          <p:nvPr/>
        </p:nvSpPr>
        <p:spPr>
          <a:xfrm>
            <a:off x="148590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Recommenders decide at scale.</a:t>
            </a:r>
          </a:p>
          <a:p>
            <a:pPr algn="l">
              <a:lnSpc>
                <a:spcPts val="2300"/>
              </a:lnSpc>
              <a:spcBef>
                <a:spcPts val="1400"/>
              </a:spcBef>
              <a:buNone/>
            </a:pPr>
            <a:r>
              <a:rPr lang="en-US" sz="1800" b="true">
                <a:solidFill>
                  <a:srgbClr val="BDD0EA"/>
                </a:solidFill>
                <a:latin typeface="Nunito Semi-Bold"/>
                <a:ea typeface="Nunito Semi-Bold"/>
                <a:cs typeface="Nunito Semi-Bold"/>
                <a:sym typeface="Nunito Semi-Bold"/>
              </a:rPr>
              <a:t>They shape what billions of users see, buy and watch every day: news, study, health and credit decisions.</a:t>
            </a:r>
          </a:p>
        </p:txBody>
      </p:sp>
      <p:sp>
        <p:nvSpPr>
          <p:cNvPr id="32" name="Rounded Rectangle 31"/>
          <p:cNvSpPr/>
          <p:nvPr/>
        </p:nvSpPr>
        <p:spPr>
          <a:xfrm>
            <a:off x="6545580" y="3592322"/>
            <a:ext cx="5196840" cy="4206240"/>
          </a:xfrm>
          <a:prstGeom prst="roundRect">
            <a:avLst>
              <a:gd name="adj" fmla="val 7391"/>
            </a:avLst>
          </a:prstGeom>
          <a:solidFill>
            <a:srgbClr val="4472C4"/>
          </a:solidFill>
          <a:ln>
            <a:noFill/>
          </a:ln>
        </p:spPr>
        <p:txBody>
          <a:bodyPr anchor="ctr" rtlCol="false" lIns="0" tIns="0" rIns="0" bIns="0" wrap="square"/>
          <a:lstStyle/>
          <a:p>
            <a:endParaRPr lang="en-US" sz="1800"/>
          </a:p>
        </p:txBody>
      </p:sp>
      <p:sp>
        <p:nvSpPr>
          <p:cNvPr id="33" name="Rounded Rectangle 32"/>
          <p:cNvSpPr/>
          <p:nvPr/>
        </p:nvSpPr>
        <p:spPr>
          <a:xfrm>
            <a:off x="7002780" y="3354578"/>
            <a:ext cx="248842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4472C4"/>
                </a:solidFill>
                <a:latin typeface="Nunito Bold"/>
                <a:ea typeface="Nunito Bold"/>
                <a:cs typeface="Nunito Bold"/>
                <a:sym typeface="Nunito Bold"/>
              </a:rPr>
              <a:t>The Black Box</a:t>
            </a:r>
          </a:p>
        </p:txBody>
      </p:sp>
      <p:sp>
        <p:nvSpPr>
          <p:cNvPr id="34" name="TextBox 33"/>
          <p:cNvSpPr txBox="1"/>
          <p:nvPr/>
        </p:nvSpPr>
        <p:spPr>
          <a:xfrm>
            <a:off x="700278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The reasoning behind those decisions is hidden.</a:t>
            </a:r>
          </a:p>
          <a:p>
            <a:pPr algn="l">
              <a:lnSpc>
                <a:spcPts val="2300"/>
              </a:lnSpc>
              <a:spcBef>
                <a:spcPts val="1400"/>
              </a:spcBef>
              <a:buNone/>
            </a:pPr>
            <a:r>
              <a:rPr lang="en-US" sz="1800" b="true">
                <a:solidFill>
                  <a:srgbClr val="BDD0EA"/>
                </a:solidFill>
                <a:latin typeface="Nunito Semi-Bold"/>
                <a:ea typeface="Nunito Semi-Bold"/>
                <a:cs typeface="Nunito Semi-Bold"/>
                <a:sym typeface="Nunito Semi-Bold"/>
              </a:rPr>
              <a:t>Matrix factorisation hid it in latent factors; deep and graph models hide it in message passing. Neither can be audited or acted on.</a:t>
            </a:r>
          </a:p>
        </p:txBody>
      </p:sp>
      <p:sp>
        <p:nvSpPr>
          <p:cNvPr id="35" name="Rounded Rectangle 34"/>
          <p:cNvSpPr/>
          <p:nvPr/>
        </p:nvSpPr>
        <p:spPr>
          <a:xfrm>
            <a:off x="12062460" y="3592322"/>
            <a:ext cx="5196840" cy="4206240"/>
          </a:xfrm>
          <a:prstGeom prst="roundRect">
            <a:avLst>
              <a:gd name="adj" fmla="val 7391"/>
            </a:avLst>
          </a:prstGeom>
          <a:solidFill>
            <a:srgbClr val="4472C4"/>
          </a:solidFill>
          <a:ln>
            <a:noFill/>
          </a:ln>
        </p:spPr>
        <p:txBody>
          <a:bodyPr anchor="ctr" rtlCol="false" lIns="0" tIns="0" rIns="0" bIns="0" wrap="square"/>
          <a:lstStyle/>
          <a:p>
            <a:endParaRPr lang="en-US" sz="1800"/>
          </a:p>
        </p:txBody>
      </p:sp>
      <p:sp>
        <p:nvSpPr>
          <p:cNvPr id="36" name="Rounded Rectangle 35"/>
          <p:cNvSpPr/>
          <p:nvPr/>
        </p:nvSpPr>
        <p:spPr>
          <a:xfrm>
            <a:off x="12519660" y="3354578"/>
            <a:ext cx="2395577"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4472C4"/>
                </a:solidFill>
                <a:latin typeface="Nunito Bold"/>
                <a:ea typeface="Nunito Bold"/>
                <a:cs typeface="Nunito Bold"/>
                <a:sym typeface="Nunito Bold"/>
              </a:rPr>
              <a:t>Toward Trust</a:t>
            </a:r>
          </a:p>
        </p:txBody>
      </p:sp>
      <p:sp>
        <p:nvSpPr>
          <p:cNvPr id="37" name="TextBox 36"/>
          <p:cNvSpPr txBox="1"/>
          <p:nvPr/>
        </p:nvSpPr>
        <p:spPr>
          <a:xfrm>
            <a:off x="1251966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Transparency is now expected.</a:t>
            </a:r>
          </a:p>
          <a:p>
            <a:pPr algn="l">
              <a:lnSpc>
                <a:spcPts val="2300"/>
              </a:lnSpc>
              <a:spcBef>
                <a:spcPts val="1400"/>
              </a:spcBef>
              <a:buNone/>
            </a:pPr>
            <a:r>
              <a:rPr lang="en-US" sz="1800" b="true">
                <a:solidFill>
                  <a:srgbClr val="BDD0EA"/>
                </a:solidFill>
                <a:latin typeface="Nunito Semi-Bold"/>
                <a:ea typeface="Nunito Semi-Bold"/>
                <a:cs typeface="Nunito Semi-Bold"/>
                <a:sym typeface="Nunito Semi-Bold"/>
              </a:rPr>
              <a:t>Users, designers and regulators now ask for reasons. It has to be built into the model, not added afterwards.</a:t>
            </a:r>
          </a:p>
        </p:txBody>
      </p:sp>
      <p:sp>
        <p:nvSpPr>
          <p:cNvPr id="38" name="Rounded Rectangle 37"/>
          <p:cNvSpPr/>
          <p:nvPr/>
        </p:nvSpPr>
        <p:spPr>
          <a:xfrm>
            <a:off x="1028700" y="8039099"/>
            <a:ext cx="16230600" cy="868680"/>
          </a:xfrm>
          <a:prstGeom prst="roundRect">
            <a:avLst>
              <a:gd name="adj" fmla="val 26315"/>
            </a:avLst>
          </a:prstGeom>
          <a:solidFill>
            <a:srgbClr val="E7EAF3"/>
          </a:solidFill>
          <a:ln>
            <a:noFill/>
          </a:ln>
        </p:spPr>
        <p:txBody>
          <a:bodyPr anchor="ctr" rtlCol="false" lIns="365760" tIns="91440" rIns="365760" bIns="91440" wrap="square"/>
          <a:lstStyle/>
          <a:p>
            <a:pPr algn="ctr">
              <a:lnSpc>
                <a:spcPts val="2600"/>
              </a:lnSpc>
              <a:spcBef>
                <a:spcPts val="0"/>
              </a:spcBef>
              <a:buNone/>
            </a:pPr>
            <a:r>
              <a:rPr lang="en-US" sz="2000" b="true">
                <a:solidFill>
                  <a:srgbClr val="111111"/>
                </a:solidFill>
                <a:latin typeface="Nunito Bold"/>
                <a:ea typeface="Nunito Bold"/>
                <a:cs typeface="Nunito Bold"/>
                <a:sym typeface="Nunito Bold"/>
              </a:rPr>
              <a:t>The core tension:</a:t>
            </a:r>
            <a:r>
              <a:rPr lang="en-US" sz="2000" b="true">
                <a:solidFill>
                  <a:srgbClr val="111111"/>
                </a:solidFill>
                <a:latin typeface="Nunito Semi-Bold"/>
                <a:ea typeface="Nunito Semi-Bold"/>
                <a:cs typeface="Nunito Semi-Bold"/>
                <a:sym typeface="Nunito Semi-Bold"/>
              </a:rPr>
              <a:t> as models gain power, they lose the transparency needed for trustworthy use. This thesis treats </a:t>
            </a:r>
            <a:r>
              <a:rPr lang="en-US" sz="2000" b="true">
                <a:solidFill>
                  <a:srgbClr val="111111"/>
                </a:solidFill>
                <a:latin typeface="Nunito Bold"/>
                <a:ea typeface="Nunito Bold"/>
                <a:cs typeface="Nunito Bold"/>
                <a:sym typeface="Nunito Bold"/>
              </a:rPr>
              <a:t>accuracy and interpretability as goals to be met together</a:t>
            </a:r>
            <a:r>
              <a:rPr lang="en-US" sz="2000" b="true">
                <a:solidFill>
                  <a:srgbClr val="111111"/>
                </a:solidFill>
                <a:latin typeface="Nunito Semi-Bold"/>
                <a:ea typeface="Nunito Semi-Bold"/>
                <a:cs typeface="Nunito Semi-Bold"/>
                <a:sym typeface="Nunito Semi-Bold"/>
              </a:rPr>
              <a:t>, not traded against each other.</a:t>
            </a:r>
          </a:p>
        </p:txBody>
      </p:sp>
      <p:sp>
        <p:nvSpPr>
          <p:cNvPr id="5" name="Rounded Rectangle 4"/>
          <p:cNvSpPr/>
          <p:nvPr/>
        </p:nvSpPr>
        <p:spPr>
          <a:xfrm>
            <a:off x="1024128" y="8898636"/>
            <a:ext cx="16239744" cy="7757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8935212"/>
            <a:ext cx="16239744" cy="7025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[21] Zhang, Y. &amp; Chen, X. Explainable Recommendation: A Survey and New Perspectives. Foundations and Trends in IR 14(1), 1–101 (2020).   [24] Arrieta, A. B. et al. Explainable Artificial Intelligence (XAI): Concepts, Taxonomies, Opportunities and Challenges. Information Fusion 58, 82–115 (2020).   [26] European Union. Regulation (EU) 2024/1689 (AI Act), Art. 13 (2024).  ·  Regulation (EU) 2016/679 (GDPR), Art. 22 (2016).  ·  OECD. Recommendation of the Council on Artificial Intelligence (2019).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10" name="Rounded Rectangle 9"/>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Actionable Insight: the Definition</a:t>
            </a:r>
          </a:p>
        </p:txBody>
      </p:sp>
      <p:pic>
        <p:nvPicPr>
          <p:cNvPr id="25" name="Picture 24" descr="image.png"/>
          <p:cNvPicPr>
            <a:picLocks noChangeAspect="1"/>
          </p:cNvPicPr>
          <p:nvPr/>
        </p:nvPicPr>
        <p:blipFill>
          <a:blip r:embed="rId3"/>
          <a:stretch>
            <a:fillRect/>
          </a:stretch>
        </p:blipFill>
        <p:spPr>
          <a:xfrm>
            <a:off x="9706798" y="1673352"/>
            <a:ext cx="457200" cy="415247"/>
          </a:xfrm>
          <a:prstGeom prst="rect">
            <a:avLst/>
          </a:prstGeom>
        </p:spPr>
      </p:pic>
      <p:sp>
        <p:nvSpPr>
          <p:cNvPr id="26" name="Rounded Rectangle 25"/>
          <p:cNvSpPr/>
          <p:nvPr/>
        </p:nvSpPr>
        <p:spPr>
          <a:xfrm>
            <a:off x="1028700" y="2559050"/>
            <a:ext cx="171580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Motivation</a:t>
            </a:r>
          </a:p>
        </p:txBody>
      </p:sp>
      <p:sp>
        <p:nvSpPr>
          <p:cNvPr id="27" name="Rounded Rectangle 26"/>
          <p:cNvSpPr/>
          <p:nvPr/>
        </p:nvSpPr>
        <p:spPr>
          <a:xfrm>
            <a:off x="2872521" y="2559050"/>
            <a:ext cx="254485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Actionable Insight</a:t>
            </a:r>
          </a:p>
        </p:txBody>
      </p:sp>
      <p:sp>
        <p:nvSpPr>
          <p:cNvPr id="28" name="Rounded Rectangle 27"/>
          <p:cNvSpPr/>
          <p:nvPr/>
        </p:nvSpPr>
        <p:spPr>
          <a:xfrm>
            <a:off x="5545389" y="2559050"/>
            <a:ext cx="248457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Research Context</a:t>
            </a:r>
          </a:p>
        </p:txBody>
      </p:sp>
      <p:sp>
        <p:nvSpPr>
          <p:cNvPr id="29" name="TextBox 28"/>
          <p:cNvSpPr txBox="1"/>
          <p:nvPr/>
        </p:nvSpPr>
        <p:spPr>
          <a:xfrm>
            <a:off x="1028700" y="3178810"/>
            <a:ext cx="7863840" cy="5944870"/>
          </a:xfrm>
          <a:prstGeom prst="rect">
            <a:avLst/>
          </a:prstGeom>
          <a:noFill/>
        </p:spPr>
        <p:txBody>
          <a:bodyPr anchor="t" rtlCol="false" lIns="0" tIns="0" rIns="0" bIns="0" wrap="square"/>
          <a:lstStyle/>
          <a:p>
            <a:pPr algn="l">
              <a:lnSpc>
                <a:spcPts val="3125"/>
              </a:lnSpc>
              <a:spcBef>
                <a:spcPts val="0"/>
              </a:spcBef>
              <a:buNone/>
            </a:pPr>
            <a:r>
              <a:rPr lang="en-US" sz="2500" b="true">
                <a:solidFill>
                  <a:srgbClr val="4472C4"/>
                </a:solidFill>
                <a:latin typeface="Nunito Ultra-Bold"/>
                <a:ea typeface="Nunito Ultra-Bold"/>
                <a:cs typeface="Nunito Ultra-Bold"/>
                <a:sym typeface="Nunito Ultra-Bold"/>
              </a:rPr>
              <a:t>Definition 1.1 (Actionable insight)</a:t>
            </a:r>
          </a:p>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An explanation is actionable when it points to </a:t>
            </a:r>
            <a:r>
              <a:rPr lang="en-US" sz="2100" b="true">
                <a:solidFill>
                  <a:srgbClr val="111111"/>
                </a:solidFill>
                <a:latin typeface="Nunito Bold"/>
                <a:ea typeface="Nunito Bold"/>
                <a:cs typeface="Nunito Bold"/>
                <a:sym typeface="Nunito Bold"/>
              </a:rPr>
              <a:t>something we can actually change</a:t>
            </a:r>
            <a:r>
              <a:rPr lang="en-US" sz="2100" b="true">
                <a:solidFill>
                  <a:srgbClr val="111111"/>
                </a:solidFill>
                <a:latin typeface="Nunito Semi-Bold"/>
                <a:ea typeface="Nunito Semi-Bold"/>
                <a:cs typeface="Nunito Semi-Bold"/>
                <a:sym typeface="Nunito Semi-Bold"/>
              </a:rPr>
              <a:t>, and changing it </a:t>
            </a:r>
            <a:r>
              <a:rPr lang="en-US" sz="2100" b="true">
                <a:solidFill>
                  <a:srgbClr val="111111"/>
                </a:solidFill>
                <a:latin typeface="Nunito Bold"/>
                <a:ea typeface="Nunito Bold"/>
                <a:cs typeface="Nunito Bold"/>
                <a:sym typeface="Nunito Bold"/>
              </a:rPr>
              <a:t>clearly affects the model output</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It should also </a:t>
            </a:r>
            <a:r>
              <a:rPr lang="en-US" sz="2100" b="true">
                <a:solidFill>
                  <a:srgbClr val="111111"/>
                </a:solidFill>
                <a:latin typeface="Nunito Bold"/>
                <a:ea typeface="Nunito Bold"/>
                <a:cs typeface="Nunito Bold"/>
                <a:sym typeface="Nunito Bold"/>
              </a:rPr>
              <a:t>speak the language of the domain</a:t>
            </a:r>
            <a:r>
              <a:rPr lang="en-US" sz="2100" b="true">
                <a:solidFill>
                  <a:srgbClr val="111111"/>
                </a:solidFill>
                <a:latin typeface="Nunito Semi-Bold"/>
                <a:ea typeface="Nunito Semi-Bold"/>
                <a:cs typeface="Nunito Semi-Bold"/>
                <a:sym typeface="Nunito Semi-Bold"/>
              </a:rPr>
              <a:t>: acidity in wine, pollution indicators in air quality, user preferences in recommendation, not a hidden latent code.</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Why it matters:</a:t>
            </a:r>
            <a:r>
              <a:rPr lang="en-US" sz="2100" b="true">
                <a:solidFill>
                  <a:srgbClr val="111111"/>
                </a:solidFill>
                <a:latin typeface="Nunito Semi-Bold"/>
                <a:ea typeface="Nunito Semi-Bold"/>
                <a:cs typeface="Nunito Semi-Bold"/>
                <a:sym typeface="Nunito Semi-Bold"/>
              </a:rPr>
              <a:t> a good explanation does not only describe what happened. It tells us </a:t>
            </a:r>
            <a:r>
              <a:rPr lang="en-US" sz="2100" b="true">
                <a:solidFill>
                  <a:srgbClr val="111111"/>
                </a:solidFill>
                <a:latin typeface="Nunito Bold"/>
                <a:ea typeface="Nunito Bold"/>
                <a:cs typeface="Nunito Bold"/>
                <a:sym typeface="Nunito Bold"/>
              </a:rPr>
              <a:t>what to change to improve the outcome</a:t>
            </a:r>
            <a:r>
              <a:rPr lang="en-US" sz="2100" b="true">
                <a:solidFill>
                  <a:srgbClr val="111111"/>
                </a:solidFill>
                <a:latin typeface="Nunito Semi-Bold"/>
                <a:ea typeface="Nunito Semi-Bold"/>
                <a:cs typeface="Nunito Semi-Bold"/>
                <a:sym typeface="Nunito Semi-Bold"/>
              </a:rPr>
              <a:t>.</a:t>
            </a:r>
          </a:p>
        </p:txBody>
      </p:sp>
      <p:pic>
        <p:nvPicPr>
          <p:cNvPr id="30" name="Picture 29" descr="intro_actionable.png"/>
          <p:cNvPicPr>
            <a:picLocks noChangeAspect="1"/>
          </p:cNvPicPr>
          <p:nvPr/>
        </p:nvPicPr>
        <p:blipFill>
          <a:blip r:embed="rId5"/>
          <a:stretch>
            <a:fillRect/>
          </a:stretch>
        </p:blipFill>
        <p:spPr>
          <a:xfrm>
            <a:off x="9441180" y="4295382"/>
            <a:ext cx="7818120" cy="4264429"/>
          </a:xfrm>
          <a:prstGeom prst="rect">
            <a:avLst/>
          </a:prstGeom>
        </p:spPr>
      </p:pic>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[25] Doshi-Velez, F. &amp; Kim, B. Towards a Rigorous Science of Interpretable Machine Learning. arXiv:1702.08608 (2017).  ·  Rudin, C. et al. Interpretable ML: Fundamental Principles and 10 Grand Challenges. Statistics Surveys 16 (2022).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10" name="Rounded Rectangle 9"/>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Context</a:t>
            </a:r>
          </a:p>
        </p:txBody>
      </p:sp>
      <p:pic>
        <p:nvPicPr>
          <p:cNvPr id="25" name="Picture 24" descr="image.png"/>
          <p:cNvPicPr>
            <a:picLocks noChangeAspect="1"/>
          </p:cNvPicPr>
          <p:nvPr/>
        </p:nvPicPr>
        <p:blipFill>
          <a:blip r:embed="rId3"/>
          <a:stretch>
            <a:fillRect/>
          </a:stretch>
        </p:blipFill>
        <p:spPr>
          <a:xfrm>
            <a:off x="5880294" y="1673352"/>
            <a:ext cx="457200" cy="452148"/>
          </a:xfrm>
          <a:prstGeom prst="rect">
            <a:avLst/>
          </a:prstGeom>
        </p:spPr>
      </p:pic>
      <p:sp>
        <p:nvSpPr>
          <p:cNvPr id="26" name="Rounded Rectangle 25"/>
          <p:cNvSpPr/>
          <p:nvPr/>
        </p:nvSpPr>
        <p:spPr>
          <a:xfrm>
            <a:off x="1028700" y="2559050"/>
            <a:ext cx="171580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Motivation</a:t>
            </a:r>
          </a:p>
        </p:txBody>
      </p:sp>
      <p:sp>
        <p:nvSpPr>
          <p:cNvPr id="27" name="Rounded Rectangle 26"/>
          <p:cNvSpPr/>
          <p:nvPr/>
        </p:nvSpPr>
        <p:spPr>
          <a:xfrm>
            <a:off x="2872521" y="2559050"/>
            <a:ext cx="254485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Actionable Insight</a:t>
            </a:r>
          </a:p>
        </p:txBody>
      </p:sp>
      <p:sp>
        <p:nvSpPr>
          <p:cNvPr id="28" name="Rounded Rectangle 27"/>
          <p:cNvSpPr/>
          <p:nvPr/>
        </p:nvSpPr>
        <p:spPr>
          <a:xfrm>
            <a:off x="5545389" y="2559050"/>
            <a:ext cx="2484575"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Research Context</a:t>
            </a:r>
          </a:p>
        </p:txBody>
      </p:sp>
      <p:sp>
        <p:nvSpPr>
          <p:cNvPr id="29" name="TextBox 28"/>
          <p:cNvSpPr txBox="1"/>
          <p:nvPr/>
        </p:nvSpPr>
        <p:spPr>
          <a:xfrm>
            <a:off x="1028700" y="3363722"/>
            <a:ext cx="16230600" cy="365760"/>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1F7A8C"/>
                </a:solidFill>
                <a:latin typeface="Nunito Ultra-Bold"/>
                <a:ea typeface="Nunito Ultra-Bold"/>
                <a:cs typeface="Nunito Ultra-Bold"/>
                <a:sym typeface="Nunito Ultra-Bold"/>
              </a:rPr>
              <a:t>EVOLUTION OF RECOMMENDER SYSTEMS</a:t>
            </a:r>
          </a:p>
        </p:txBody>
      </p:sp>
      <p:sp>
        <p:nvSpPr>
          <p:cNvPr id="30" name="Rounded Rectangle 29"/>
          <p:cNvSpPr/>
          <p:nvPr/>
        </p:nvSpPr>
        <p:spPr>
          <a:xfrm>
            <a:off x="102870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Similarity models</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2003–09</a:t>
            </a:r>
          </a:p>
        </p:txBody>
      </p:sp>
      <p:cxnSp>
        <p:nvCxnSpPr>
          <p:cNvPr id="31" name="Connector 30"/>
          <p:cNvCxnSpPr/>
          <p:nvPr/>
        </p:nvCxnSpPr>
        <p:spPr>
          <a:xfrm>
            <a:off x="3415284" y="4438142"/>
            <a:ext cx="1033272" cy="0"/>
          </a:xfrm>
          <a:prstGeom prst="line">
            <a:avLst/>
          </a:prstGeom>
          <a:ln w="28575">
            <a:solidFill>
              <a:srgbClr val="4472C4"/>
            </a:solidFill>
            <a:tailEnd type="triangle" w="med" len="med"/>
          </a:ln>
        </p:spPr>
      </p:cxnSp>
      <p:sp>
        <p:nvSpPr>
          <p:cNvPr id="32" name="Rounded Rectangle 31"/>
          <p:cNvSpPr/>
          <p:nvPr/>
        </p:nvSpPr>
        <p:spPr>
          <a:xfrm>
            <a:off x="450342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Matrix factorisation</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2009–13</a:t>
            </a:r>
          </a:p>
        </p:txBody>
      </p:sp>
      <p:cxnSp>
        <p:nvCxnSpPr>
          <p:cNvPr id="33" name="Connector 32"/>
          <p:cNvCxnSpPr/>
          <p:nvPr/>
        </p:nvCxnSpPr>
        <p:spPr>
          <a:xfrm>
            <a:off x="6890004" y="4438142"/>
            <a:ext cx="1033272" cy="0"/>
          </a:xfrm>
          <a:prstGeom prst="line">
            <a:avLst/>
          </a:prstGeom>
          <a:ln w="28575">
            <a:solidFill>
              <a:srgbClr val="4472C4"/>
            </a:solidFill>
            <a:tailEnd type="triangle" w="med" len="med"/>
          </a:ln>
        </p:spPr>
      </p:cxnSp>
      <p:sp>
        <p:nvSpPr>
          <p:cNvPr id="34" name="Rounded Rectangle 33"/>
          <p:cNvSpPr/>
          <p:nvPr/>
        </p:nvSpPr>
        <p:spPr>
          <a:xfrm>
            <a:off x="797814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Neural CF</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2016–19</a:t>
            </a:r>
          </a:p>
        </p:txBody>
      </p:sp>
      <p:cxnSp>
        <p:nvCxnSpPr>
          <p:cNvPr id="35" name="Connector 34"/>
          <p:cNvCxnSpPr/>
          <p:nvPr/>
        </p:nvCxnSpPr>
        <p:spPr>
          <a:xfrm>
            <a:off x="10364724" y="4438142"/>
            <a:ext cx="1033272" cy="0"/>
          </a:xfrm>
          <a:prstGeom prst="line">
            <a:avLst/>
          </a:prstGeom>
          <a:ln w="28575">
            <a:solidFill>
              <a:srgbClr val="4472C4"/>
            </a:solidFill>
            <a:tailEnd type="triangle" w="med" len="med"/>
          </a:ln>
        </p:spPr>
      </p:cxnSp>
      <p:sp>
        <p:nvSpPr>
          <p:cNvPr id="36" name="Rounded Rectangle 35"/>
          <p:cNvSpPr/>
          <p:nvPr/>
        </p:nvSpPr>
        <p:spPr>
          <a:xfrm>
            <a:off x="1145286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Graph CNN</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2018–22</a:t>
            </a:r>
          </a:p>
        </p:txBody>
      </p:sp>
      <p:cxnSp>
        <p:nvCxnSpPr>
          <p:cNvPr id="37" name="Connector 36"/>
          <p:cNvCxnSpPr/>
          <p:nvPr/>
        </p:nvCxnSpPr>
        <p:spPr>
          <a:xfrm>
            <a:off x="13839444" y="4438142"/>
            <a:ext cx="1033272" cy="0"/>
          </a:xfrm>
          <a:prstGeom prst="line">
            <a:avLst/>
          </a:prstGeom>
          <a:ln w="28575">
            <a:solidFill>
              <a:srgbClr val="4472C4"/>
            </a:solidFill>
            <a:tailEnd type="triangle" w="med" len="med"/>
          </a:ln>
        </p:spPr>
      </p:cxnSp>
      <p:sp>
        <p:nvSpPr>
          <p:cNvPr id="38" name="Rounded Rectangle 37"/>
          <p:cNvSpPr/>
          <p:nvPr/>
        </p:nvSpPr>
        <p:spPr>
          <a:xfrm>
            <a:off x="14927580" y="3866642"/>
            <a:ext cx="2331720" cy="1143000"/>
          </a:xfrm>
          <a:prstGeom prst="roundRect">
            <a:avLst>
              <a:gd name="adj" fmla="val 16000"/>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Hypergraph</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2022+</a:t>
            </a:r>
          </a:p>
        </p:txBody>
      </p:sp>
      <p:cxnSp>
        <p:nvCxnSpPr>
          <p:cNvPr id="39" name="Connector 38"/>
          <p:cNvCxnSpPr/>
          <p:nvPr/>
        </p:nvCxnSpPr>
        <p:spPr>
          <a:xfrm>
            <a:off x="1028700" y="5283962"/>
            <a:ext cx="16230600" cy="0"/>
          </a:xfrm>
          <a:prstGeom prst="line">
            <a:avLst/>
          </a:prstGeom>
          <a:ln w="50800">
            <a:solidFill>
              <a:srgbClr val="1F7A8C"/>
            </a:solidFill>
            <a:tailEnd type="triangle" w="med" len="med"/>
          </a:ln>
        </p:spPr>
      </p:cxnSp>
      <p:sp>
        <p:nvSpPr>
          <p:cNvPr id="41" name="Rounded Rectangle 40"/>
          <p:cNvSpPr/>
          <p:nvPr/>
        </p:nvSpPr>
        <p:spPr>
          <a:xfrm>
            <a:off x="1024128" y="5833872"/>
            <a:ext cx="16239744" cy="3072384"/>
          </a:xfrm>
          <a:prstGeom prst="roundRect">
            <a:avLst>
              <a:gd name="adj" fmla="val 9995"/>
            </a:avLst>
          </a:prstGeom>
          <a:solidFill>
            <a:srgbClr val="4472C4"/>
          </a:solidFill>
          <a:ln>
            <a:noFill/>
          </a:ln>
        </p:spPr>
        <p:txBody>
          <a:bodyPr anchor="ctr" rtlCol="false" lIns="0" tIns="0" rIns="0" bIns="0" wrap="square"/>
          <a:lstStyle/>
          <a:p>
            <a:endParaRPr lang="en-US" sz="1800"/>
          </a:p>
        </p:txBody>
      </p:sp>
      <p:sp>
        <p:nvSpPr>
          <p:cNvPr id="42" name="Rounded Rectangle 41"/>
          <p:cNvSpPr/>
          <p:nvPr/>
        </p:nvSpPr>
        <p:spPr>
          <a:xfrm>
            <a:off x="1481328" y="5596128"/>
            <a:ext cx="351115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Why the gap matters</a:t>
            </a:r>
          </a:p>
        </p:txBody>
      </p:sp>
      <p:sp>
        <p:nvSpPr>
          <p:cNvPr id="43" name="TextBox 42"/>
          <p:cNvSpPr txBox="1"/>
          <p:nvPr/>
        </p:nvSpPr>
        <p:spPr>
          <a:xfrm>
            <a:off x="1481328" y="6144768"/>
            <a:ext cx="4864608" cy="2651760"/>
          </a:xfrm>
          <a:prstGeom prst="rect">
            <a:avLst/>
          </a:prstGeom>
          <a:noFill/>
        </p:spPr>
        <p:txBody>
          <a:bodyPr anchor="ctr" rtlCol="false" lIns="0" tIns="0" rIns="0" bIns="0" wrap="square"/>
          <a:lstStyle/>
          <a:p>
            <a:pPr algn="l" marL="274320" indent="-274320">
              <a:lnSpc>
                <a:spcPts val="2580"/>
              </a:lnSpc>
              <a:spcBef>
                <a:spcPts val="0"/>
              </a:spcBef>
              <a:buClr>
                <a:srgbClr val="ECC665"/>
              </a:buClr>
              <a:buSzPct val="100000"/>
              <a:buFont typeface="Arial"/>
              <a:buChar char="•"/>
            </a:pPr>
            <a:r>
              <a:rPr lang="en-US" sz="2200" b="true">
                <a:solidFill>
                  <a:srgbClr val="FFFFFF"/>
                </a:solidFill>
                <a:latin typeface="Nunito Bold"/>
                <a:ea typeface="Nunito Bold"/>
                <a:cs typeface="Nunito Bold"/>
                <a:sym typeface="Nunito Bold"/>
              </a:rPr>
              <a:t>Users get outputs without reasons:</a:t>
            </a:r>
            <a:r>
              <a:rPr lang="en-US" sz="2200" b="true">
                <a:solidFill>
                  <a:srgbClr val="FFFFFF"/>
                </a:solidFill>
                <a:latin typeface="Nunito Semi-Bold"/>
                <a:ea typeface="Nunito Semi-Bold"/>
                <a:cs typeface="Nunito Semi-Bold"/>
                <a:sym typeface="Nunito Semi-Bold"/>
              </a:rPr>
              <a:t> trust drops.</a:t>
            </a:r>
          </a:p>
        </p:txBody>
      </p:sp>
      <p:sp>
        <p:nvSpPr>
          <p:cNvPr id="43" name="TextBox 42"/>
          <p:cNvSpPr txBox="1"/>
          <p:nvPr/>
        </p:nvSpPr>
        <p:spPr>
          <a:xfrm>
            <a:off x="6711696" y="6144768"/>
            <a:ext cx="4864608" cy="2651760"/>
          </a:xfrm>
          <a:prstGeom prst="rect">
            <a:avLst/>
          </a:prstGeom>
          <a:noFill/>
        </p:spPr>
        <p:txBody>
          <a:bodyPr anchor="ctr" rtlCol="false" lIns="0" tIns="0" rIns="0" bIns="0" wrap="square"/>
          <a:lstStyle/>
          <a:p>
            <a:pPr algn="l" marL="274320" indent="-274320">
              <a:lnSpc>
                <a:spcPts val="2580"/>
              </a:lnSpc>
              <a:spcBef>
                <a:spcPts val="0"/>
              </a:spcBef>
              <a:buClr>
                <a:srgbClr val="ECC665"/>
              </a:buClr>
              <a:buSzPct val="100000"/>
              <a:buFont typeface="Arial"/>
              <a:buChar char="•"/>
            </a:pPr>
            <a:r>
              <a:rPr lang="en-US" sz="2200" b="true">
                <a:solidFill>
                  <a:srgbClr val="FFFFFF"/>
                </a:solidFill>
                <a:latin typeface="Nunito Bold"/>
                <a:ea typeface="Nunito Bold"/>
                <a:cs typeface="Nunito Bold"/>
                <a:sym typeface="Nunito Bold"/>
              </a:rPr>
              <a:t>Designers cannot debug</a:t>
            </a:r>
            <a:r>
              <a:rPr lang="en-US" sz="2200" b="true">
                <a:solidFill>
                  <a:srgbClr val="FFFFFF"/>
                </a:solidFill>
                <a:latin typeface="Nunito Semi-Bold"/>
                <a:ea typeface="Nunito Semi-Bold"/>
                <a:cs typeface="Nunito Semi-Bold"/>
                <a:sym typeface="Nunito Semi-Bold"/>
              </a:rPr>
              <a:t> what they cannot inspect.</a:t>
            </a:r>
          </a:p>
        </p:txBody>
      </p:sp>
      <p:sp>
        <p:nvSpPr>
          <p:cNvPr id="43" name="TextBox 42"/>
          <p:cNvSpPr txBox="1"/>
          <p:nvPr/>
        </p:nvSpPr>
        <p:spPr>
          <a:xfrm>
            <a:off x="11942064" y="6144768"/>
            <a:ext cx="4864608" cy="2651760"/>
          </a:xfrm>
          <a:prstGeom prst="rect">
            <a:avLst/>
          </a:prstGeom>
          <a:noFill/>
        </p:spPr>
        <p:txBody>
          <a:bodyPr anchor="ctr" rtlCol="false" lIns="0" tIns="0" rIns="0" bIns="0" wrap="square"/>
          <a:lstStyle/>
          <a:p>
            <a:pPr algn="l" marL="274320" indent="-274320">
              <a:lnSpc>
                <a:spcPts val="2580"/>
              </a:lnSpc>
              <a:spcBef>
                <a:spcPts val="0"/>
              </a:spcBef>
              <a:buClr>
                <a:srgbClr val="ECC665"/>
              </a:buClr>
              <a:buSzPct val="100000"/>
              <a:buFont typeface="Arial"/>
              <a:buChar char="•"/>
            </a:pPr>
            <a:r>
              <a:rPr lang="en-US" sz="2200" b="true">
                <a:solidFill>
                  <a:srgbClr val="FFFFFF"/>
                </a:solidFill>
                <a:latin typeface="Nunito Bold"/>
                <a:ea typeface="Nunito Bold"/>
                <a:cs typeface="Nunito Bold"/>
                <a:sym typeface="Nunito Bold"/>
              </a:rPr>
              <a:t>Regulation now asks for transparency:</a:t>
            </a:r>
            <a:r>
              <a:rPr lang="en-US" sz="2200" b="true">
                <a:solidFill>
                  <a:srgbClr val="FFFFFF"/>
                </a:solidFill>
                <a:latin typeface="Nunito Semi-Bold"/>
                <a:ea typeface="Nunito Semi-Bold"/>
                <a:cs typeface="Nunito Semi-Bold"/>
                <a:sym typeface="Nunito Semi-Bold"/>
              </a:rPr>
              <a:t> EU AI Act, GDPR.</a:t>
            </a:r>
          </a:p>
        </p:txBody>
      </p:sp>
      <p:sp>
        <p:nvSpPr>
          <p:cNvPr id="5" name="Rounded Rectangle 4"/>
          <p:cNvSpPr/>
          <p:nvPr/>
        </p:nvSpPr>
        <p:spPr>
          <a:xfrm>
            <a:off x="1024128" y="8898636"/>
            <a:ext cx="16239744" cy="7757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8935212"/>
            <a:ext cx="16239744" cy="7025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[10] Koren, Y., Bell, R. &amp; Volinsky, C. Matrix Factorization Techniques for Recommender Systems. Computer 42(8), 30–37 (2009).   [12] He, X. et al. LightGCN: Simplifying and Powering Graph Convolution Network for Recommendation. SIGIR, 639–648 (2020).   [16] Feng, Y. et al. Hypergraph Neural Networks. AAAI 33, 3558–3565 (2019).   [26] European Union. Regulation (EU) 2024/1689 (AI Act), Art. 13 (2024).  ·  Regulation (EU) 2016/679 (GDPR), Art. 22 (2016).  ·  OECD. Recommendation of the Council on Artificial Intelligence (2019).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10" name="Rounded Rectangle 9"/>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AI-Powered Recommendation Is Everywhere</a:t>
            </a:r>
          </a:p>
        </p:txBody>
      </p:sp>
      <p:pic>
        <p:nvPicPr>
          <p:cNvPr id="25" name="Picture 24" descr="image.png"/>
          <p:cNvPicPr>
            <a:picLocks noChangeAspect="1"/>
          </p:cNvPicPr>
          <p:nvPr/>
        </p:nvPicPr>
        <p:blipFill>
          <a:blip r:embed="rId3"/>
          <a:stretch>
            <a:fillRect/>
          </a:stretch>
        </p:blipFill>
        <p:spPr>
          <a:xfrm>
            <a:off x="12921990" y="1673352"/>
            <a:ext cx="457200" cy="617115"/>
          </a:xfrm>
          <a:prstGeom prst="rect">
            <a:avLst/>
          </a:prstGeom>
        </p:spPr>
      </p:pic>
      <p:sp>
        <p:nvSpPr>
          <p:cNvPr id="26" name="Rounded Rectangle 25"/>
          <p:cNvSpPr/>
          <p:nvPr/>
        </p:nvSpPr>
        <p:spPr>
          <a:xfrm>
            <a:off x="1028700" y="2559050"/>
            <a:ext cx="171580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Motivation</a:t>
            </a:r>
          </a:p>
        </p:txBody>
      </p:sp>
      <p:sp>
        <p:nvSpPr>
          <p:cNvPr id="27" name="Rounded Rectangle 26"/>
          <p:cNvSpPr/>
          <p:nvPr/>
        </p:nvSpPr>
        <p:spPr>
          <a:xfrm>
            <a:off x="2872521" y="2559050"/>
            <a:ext cx="254485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Actionable Insight</a:t>
            </a:r>
          </a:p>
        </p:txBody>
      </p:sp>
      <p:sp>
        <p:nvSpPr>
          <p:cNvPr id="28" name="Rounded Rectangle 27"/>
          <p:cNvSpPr/>
          <p:nvPr/>
        </p:nvSpPr>
        <p:spPr>
          <a:xfrm>
            <a:off x="5545389" y="2559050"/>
            <a:ext cx="2484575"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Research Context</a:t>
            </a:r>
          </a:p>
        </p:txBody>
      </p:sp>
      <p:sp>
        <p:nvSpPr>
          <p:cNvPr id="29" name="Rounded Rectangle 28"/>
          <p:cNvSpPr/>
          <p:nvPr/>
        </p:nvSpPr>
        <p:spPr>
          <a:xfrm>
            <a:off x="102870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30" name="Picture 29" descr="netflix.png"/>
          <p:cNvPicPr>
            <a:picLocks noChangeAspect="1"/>
          </p:cNvPicPr>
          <p:nvPr/>
        </p:nvPicPr>
        <p:blipFill>
          <a:blip r:embed="rId5"/>
          <a:stretch>
            <a:fillRect/>
          </a:stretch>
        </p:blipFill>
        <p:spPr>
          <a:xfrm>
            <a:off x="1383030" y="3887423"/>
            <a:ext cx="3108960" cy="1695796"/>
          </a:xfrm>
          <a:prstGeom prst="rect">
            <a:avLst/>
          </a:prstGeom>
        </p:spPr>
      </p:pic>
      <p:sp>
        <p:nvSpPr>
          <p:cNvPr id="31" name="TextBox 30"/>
          <p:cNvSpPr txBox="1"/>
          <p:nvPr/>
        </p:nvSpPr>
        <p:spPr>
          <a:xfrm>
            <a:off x="130302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Netflix</a:t>
            </a:r>
          </a:p>
        </p:txBody>
      </p:sp>
      <p:sp>
        <p:nvSpPr>
          <p:cNvPr id="32" name="TextBox 31"/>
          <p:cNvSpPr txBox="1"/>
          <p:nvPr/>
        </p:nvSpPr>
        <p:spPr>
          <a:xfrm>
            <a:off x="130302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Movie and TV recommendation platform</a:t>
            </a:r>
          </a:p>
        </p:txBody>
      </p:sp>
      <p:sp>
        <p:nvSpPr>
          <p:cNvPr id="33" name="Rounded Rectangle 32"/>
          <p:cNvSpPr/>
          <p:nvPr/>
        </p:nvSpPr>
        <p:spPr>
          <a:xfrm>
            <a:off x="516636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34" name="Picture 33" descr="spotify.png"/>
          <p:cNvPicPr>
            <a:picLocks noChangeAspect="1"/>
          </p:cNvPicPr>
          <p:nvPr/>
        </p:nvPicPr>
        <p:blipFill>
          <a:blip r:embed="rId6"/>
          <a:stretch>
            <a:fillRect/>
          </a:stretch>
        </p:blipFill>
        <p:spPr>
          <a:xfrm>
            <a:off x="6069330" y="3729482"/>
            <a:ext cx="2011680" cy="2011680"/>
          </a:xfrm>
          <a:prstGeom prst="rect">
            <a:avLst/>
          </a:prstGeom>
        </p:spPr>
      </p:pic>
      <p:sp>
        <p:nvSpPr>
          <p:cNvPr id="35" name="TextBox 34"/>
          <p:cNvSpPr txBox="1"/>
          <p:nvPr/>
        </p:nvSpPr>
        <p:spPr>
          <a:xfrm>
            <a:off x="544068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Spotify</a:t>
            </a:r>
          </a:p>
        </p:txBody>
      </p:sp>
      <p:sp>
        <p:nvSpPr>
          <p:cNvPr id="36" name="TextBox 35"/>
          <p:cNvSpPr txBox="1"/>
          <p:nvPr/>
        </p:nvSpPr>
        <p:spPr>
          <a:xfrm>
            <a:off x="544068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Music recommendation and streaming service</a:t>
            </a:r>
          </a:p>
        </p:txBody>
      </p:sp>
      <p:sp>
        <p:nvSpPr>
          <p:cNvPr id="37" name="Rounded Rectangle 36"/>
          <p:cNvSpPr/>
          <p:nvPr/>
        </p:nvSpPr>
        <p:spPr>
          <a:xfrm>
            <a:off x="930402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38" name="Picture 37" descr="yelp.png"/>
          <p:cNvPicPr>
            <a:picLocks noChangeAspect="1"/>
          </p:cNvPicPr>
          <p:nvPr/>
        </p:nvPicPr>
        <p:blipFill>
          <a:blip r:embed="rId7"/>
          <a:stretch>
            <a:fillRect/>
          </a:stretch>
        </p:blipFill>
        <p:spPr>
          <a:xfrm>
            <a:off x="9658350" y="3737032"/>
            <a:ext cx="3108960" cy="1996579"/>
          </a:xfrm>
          <a:prstGeom prst="rect">
            <a:avLst/>
          </a:prstGeom>
        </p:spPr>
      </p:pic>
      <p:sp>
        <p:nvSpPr>
          <p:cNvPr id="39" name="TextBox 38"/>
          <p:cNvSpPr txBox="1"/>
          <p:nvPr/>
        </p:nvSpPr>
        <p:spPr>
          <a:xfrm>
            <a:off x="957834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Yelp</a:t>
            </a:r>
          </a:p>
        </p:txBody>
      </p:sp>
      <p:sp>
        <p:nvSpPr>
          <p:cNvPr id="40" name="TextBox 39"/>
          <p:cNvSpPr txBox="1"/>
          <p:nvPr/>
        </p:nvSpPr>
        <p:spPr>
          <a:xfrm>
            <a:off x="957834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Local business and restaurant recommendation</a:t>
            </a:r>
          </a:p>
        </p:txBody>
      </p:sp>
      <p:sp>
        <p:nvSpPr>
          <p:cNvPr id="41" name="Rounded Rectangle 40"/>
          <p:cNvSpPr/>
          <p:nvPr/>
        </p:nvSpPr>
        <p:spPr>
          <a:xfrm>
            <a:off x="1344168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42" name="Picture 41" descr="amazon.png"/>
          <p:cNvPicPr>
            <a:picLocks noChangeAspect="1"/>
          </p:cNvPicPr>
          <p:nvPr/>
        </p:nvPicPr>
        <p:blipFill>
          <a:blip r:embed="rId8"/>
          <a:stretch>
            <a:fillRect/>
          </a:stretch>
        </p:blipFill>
        <p:spPr>
          <a:xfrm>
            <a:off x="14344650" y="3729482"/>
            <a:ext cx="2011680" cy="2011680"/>
          </a:xfrm>
          <a:prstGeom prst="rect">
            <a:avLst/>
          </a:prstGeom>
        </p:spPr>
      </p:pic>
      <p:sp>
        <p:nvSpPr>
          <p:cNvPr id="43" name="TextBox 42"/>
          <p:cNvSpPr txBox="1"/>
          <p:nvPr/>
        </p:nvSpPr>
        <p:spPr>
          <a:xfrm>
            <a:off x="1371600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Amazon</a:t>
            </a:r>
          </a:p>
        </p:txBody>
      </p:sp>
      <p:sp>
        <p:nvSpPr>
          <p:cNvPr id="44" name="TextBox 43"/>
          <p:cNvSpPr txBox="1"/>
          <p:nvPr/>
        </p:nvSpPr>
        <p:spPr>
          <a:xfrm>
            <a:off x="1371600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E-commerce platform with personalised product recommendations</a:t>
            </a:r>
          </a:p>
        </p:txBody>
      </p:sp>
      <p:sp>
        <p:nvSpPr>
          <p:cNvPr id="45" name="Rounded Rectangle 44"/>
          <p:cNvSpPr/>
          <p:nvPr/>
        </p:nvSpPr>
        <p:spPr>
          <a:xfrm>
            <a:off x="1028700" y="8253730"/>
            <a:ext cx="16230600" cy="869950"/>
          </a:xfrm>
          <a:prstGeom prst="roundRect">
            <a:avLst>
              <a:gd name="adj" fmla="val 31532"/>
            </a:avLst>
          </a:prstGeom>
          <a:solidFill>
            <a:srgbClr val="E7EAF3"/>
          </a:solidFill>
          <a:ln>
            <a:noFill/>
          </a:ln>
        </p:spPr>
        <p:txBody>
          <a:bodyPr anchor="ctr" rtlCol="false" lIns="548640" tIns="91440" rIns="548640" bIns="91440" wrap="square"/>
          <a:lstStyle/>
          <a:p>
            <a:pPr algn="ctr">
              <a:lnSpc>
                <a:spcPts val="2700"/>
              </a:lnSpc>
              <a:spcBef>
                <a:spcPts val="0"/>
              </a:spcBef>
              <a:buNone/>
            </a:pPr>
            <a:r>
              <a:rPr lang="en-US" sz="2100" b="true">
                <a:solidFill>
                  <a:srgbClr val="111111"/>
                </a:solidFill>
                <a:latin typeface="Nunito Semi-Bold"/>
                <a:ea typeface="Nunito Semi-Bold"/>
                <a:cs typeface="Nunito Semi-Bold"/>
                <a:sym typeface="Nunito Semi-Bold"/>
              </a:rPr>
              <a:t>AI recommendation shapes what </a:t>
            </a:r>
            <a:r>
              <a:rPr lang="en-US" sz="2100" b="true">
                <a:solidFill>
                  <a:srgbClr val="111111"/>
                </a:solidFill>
                <a:latin typeface="Nunito Bold"/>
                <a:ea typeface="Nunito Bold"/>
                <a:cs typeface="Nunito Bold"/>
                <a:sym typeface="Nunito Bold"/>
              </a:rPr>
              <a:t>billions</a:t>
            </a:r>
            <a:r>
              <a:rPr lang="en-US" sz="2100" b="true">
                <a:solidFill>
                  <a:srgbClr val="111111"/>
                </a:solidFill>
                <a:latin typeface="Nunito Semi-Bold"/>
                <a:ea typeface="Nunito Semi-Bold"/>
                <a:cs typeface="Nunito Semi-Bold"/>
                <a:sym typeface="Nunito Semi-Bold"/>
              </a:rPr>
              <a:t> see, buy and listen to every day. Each system is very </a:t>
            </a:r>
            <a:r>
              <a:rPr lang="en-US" sz="2100" b="true">
                <a:solidFill>
                  <a:srgbClr val="111111"/>
                </a:solidFill>
                <a:latin typeface="Nunito Bold"/>
                <a:ea typeface="Nunito Bold"/>
                <a:cs typeface="Nunito Bold"/>
                <a:sym typeface="Nunito Bold"/>
              </a:rPr>
              <a:t>accurate, yet a black box</a:t>
            </a:r>
            <a:r>
              <a:rPr lang="en-US" sz="2100" b="true">
                <a:solidFill>
                  <a:srgbClr val="111111"/>
                </a:solidFill>
                <a:latin typeface="Nunito Semi-Bold"/>
                <a:ea typeface="Nunito Semi-Bold"/>
                <a:cs typeface="Nunito Semi-Bold"/>
                <a:sym typeface="Nunito Semi-Bold"/>
              </a:rPr>
              <a:t>: its reasoning is hidden from the user. Everywhere, and hidden: that is </a:t>
            </a:r>
            <a:r>
              <a:rPr lang="en-US" sz="2100" b="true">
                <a:solidFill>
                  <a:srgbClr val="111111"/>
                </a:solidFill>
                <a:latin typeface="Nunito Bold"/>
                <a:ea typeface="Nunito Bold"/>
                <a:cs typeface="Nunito Bold"/>
                <a:sym typeface="Nunito Bold"/>
              </a:rPr>
              <a:t>exactly the gap this thesis targets</a:t>
            </a:r>
            <a:r>
              <a:rPr lang="en-US" sz="2100" b="true">
                <a:solidFill>
                  <a:srgbClr val="111111"/>
                </a:solidFill>
                <a:latin typeface="Nunito Semi-Bold"/>
                <a:ea typeface="Nunito Semi-Bold"/>
                <a:cs typeface="Nunito Semi-Bold"/>
                <a:sym typeface="Nunito Semi-Bold"/>
              </a:rPr>
              <a:t>.</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[21] Zhang, Y. &amp; Chen, X. Explainable Recommendation: A Survey and New Perspectives. Foundations and Trends in IR 14(1), 1–101 (2020).   [22] Adomavicius, G. &amp; Tuzhilin, A. Toward the Next Generation of Recommender Systems. IEEE TKDE 17(6), 734–749 (2005).  ·  Burke, R. Hybrid Recommender Systems. UMUAI 12(4), 331–370 (2002).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08</a:t>
            </a:r>
          </a:p>
        </p:txBody>
      </p:sp>
      <p:sp>
        <p:nvSpPr>
          <p:cNvPr id="7" name="TextBox 6"/>
          <p:cNvSpPr txBox="1"/>
          <p:nvPr/>
        </p:nvSpPr>
        <p:spPr>
          <a:xfrm>
            <a:off x="1028700" y="2331720"/>
            <a:ext cx="14859000" cy="1737360"/>
          </a:xfrm>
          <a:prstGeom prst="rect">
            <a:avLst/>
          </a:prstGeom>
          <a:noFill/>
        </p:spPr>
        <p:txBody>
          <a:bodyPr anchor="t" rtlCol="false" lIns="0" tIns="0" rIns="0" bIns="0" wrap="square"/>
          <a:lstStyle/>
          <a:p>
            <a:pPr algn="l">
              <a:lnSpc>
                <a:spcPts val="11628"/>
              </a:lnSpc>
              <a:spcBef>
                <a:spcPts val="0"/>
              </a:spcBef>
              <a:buNone/>
            </a:pPr>
            <a:r>
              <a:rPr lang="en-US" sz="11400" b="true" spc="-661">
                <a:solidFill>
                  <a:srgbClr val="111111"/>
                </a:solidFill>
                <a:latin typeface="Roca Two Bold"/>
                <a:ea typeface="Roca Two Bold"/>
                <a:cs typeface="Roca Two Bold"/>
                <a:sym typeface="Roca Two Bold"/>
              </a:rPr>
              <a:t>Context &amp; Problematic</a:t>
            </a:r>
          </a:p>
        </p:txBody>
      </p:sp>
      <p:sp>
        <p:nvSpPr>
          <p:cNvPr id="8" name="Oval 7"/>
          <p:cNvSpPr/>
          <p:nvPr/>
        </p:nvSpPr>
        <p:spPr>
          <a:xfrm>
            <a:off x="15944631" y="26898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5944631" y="26898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02</a:t>
            </a:r>
          </a:p>
        </p:txBody>
      </p:sp>
      <p:sp>
        <p:nvSpPr>
          <p:cNvPr id="10" name="TextBox 9"/>
          <p:cNvSpPr txBox="1"/>
          <p:nvPr/>
        </p:nvSpPr>
        <p:spPr>
          <a:xfrm>
            <a:off x="1028700" y="3953256"/>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The main approaches, their limitations and the five research questions</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Approaches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Collaborative, content-based, hybrid, matrix factorisation and graph/hypergraph recommenders: each one stronger, each one less transparent.</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Problematic</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Three main limitations: lack of explainability, difficulty of scaling, weak link between explanation and learning.</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Contributions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Five research questions answered by three contributions that build on each other, under one cooperative-game view.</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9</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Content-Based Filtering</a:t>
            </a:r>
          </a:p>
        </p:txBody>
      </p:sp>
      <p:pic>
        <p:nvPicPr>
          <p:cNvPr id="25" name="Picture 24" descr="image.png"/>
          <p:cNvPicPr>
            <a:picLocks noChangeAspect="1"/>
          </p:cNvPicPr>
          <p:nvPr/>
        </p:nvPicPr>
        <p:blipFill>
          <a:blip r:embed="rId3"/>
          <a:stretch>
            <a:fillRect/>
          </a:stretch>
        </p:blipFill>
        <p:spPr>
          <a:xfrm>
            <a:off x="7401574" y="1673352"/>
            <a:ext cx="457200" cy="250983"/>
          </a:xfrm>
          <a:prstGeom prst="rect">
            <a:avLst/>
          </a:prstGeom>
        </p:spPr>
      </p:pic>
      <p:sp>
        <p:nvSpPr>
          <p:cNvPr id="26" name="Rounded Rectangle 25"/>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7" name="Rounded Rectangle 26"/>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8" name="Rounded Rectangle 27"/>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9" name="TextBox 28"/>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Recommends items </a:t>
            </a:r>
            <a:r>
              <a:rPr lang="en-US" sz="2100" b="true">
                <a:solidFill>
                  <a:srgbClr val="111111"/>
                </a:solidFill>
                <a:latin typeface="Nunito Bold"/>
                <a:ea typeface="Nunito Bold"/>
                <a:cs typeface="Nunito Bold"/>
                <a:sym typeface="Nunito Bold"/>
              </a:rPr>
              <a:t>based on their features</a:t>
            </a:r>
            <a:r>
              <a:rPr lang="en-US" sz="2100" b="true">
                <a:solidFill>
                  <a:srgbClr val="111111"/>
                </a:solidFill>
                <a:latin typeface="Nunito Semi-Bold"/>
                <a:ea typeface="Nunito Semi-Bold"/>
                <a:cs typeface="Nunito Semi-Bold"/>
                <a:sym typeface="Nunito Semi-Bold"/>
              </a:rPr>
              <a:t> and the user's past preferences.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Builds a </a:t>
            </a:r>
            <a:r>
              <a:rPr lang="en-US" sz="2100" b="true">
                <a:solidFill>
                  <a:srgbClr val="111111"/>
                </a:solidFill>
                <a:latin typeface="Nunito Bold"/>
                <a:ea typeface="Nunito Bold"/>
                <a:cs typeface="Nunito Bold"/>
                <a:sym typeface="Nunito Bold"/>
              </a:rPr>
              <a:t>user profile</a:t>
            </a:r>
            <a:r>
              <a:rPr lang="en-US" sz="2100" b="true">
                <a:solidFill>
                  <a:srgbClr val="111111"/>
                </a:solidFill>
                <a:latin typeface="Nunito Semi-Bold"/>
                <a:ea typeface="Nunito Semi-Bold"/>
                <a:cs typeface="Nunito Semi-Bold"/>
                <a:sym typeface="Nunito Semi-Bold"/>
              </a:rPr>
              <a:t> from previously liked, viewed or selected items.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Suggests new items with </a:t>
            </a:r>
            <a:r>
              <a:rPr lang="en-US" sz="2100" b="true">
                <a:solidFill>
                  <a:srgbClr val="111111"/>
                </a:solidFill>
                <a:latin typeface="Nunito Bold"/>
                <a:ea typeface="Nunito Bold"/>
                <a:cs typeface="Nunito Bold"/>
                <a:sym typeface="Nunito Bold"/>
              </a:rPr>
              <a:t>similar characteristics</a:t>
            </a:r>
            <a:r>
              <a:rPr lang="en-US" sz="2100" b="true">
                <a:solidFill>
                  <a:srgbClr val="111111"/>
                </a:solidFill>
                <a:latin typeface="Nunito Semi-Bold"/>
                <a:ea typeface="Nunito Semi-Bold"/>
                <a:cs typeface="Nunito Semi-Bold"/>
                <a:sym typeface="Nunito Semi-Bold"/>
              </a:rPr>
              <a:t> (genre, cast, keywords, brand).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Explainable by construction: the reason is a </a:t>
            </a:r>
            <a:r>
              <a:rPr lang="en-US" sz="2100" b="true">
                <a:solidFill>
                  <a:srgbClr val="111111"/>
                </a:solidFill>
                <a:latin typeface="Nunito Bold"/>
                <a:ea typeface="Nunito Bold"/>
                <a:cs typeface="Nunito Bold"/>
                <a:sym typeface="Nunito Bold"/>
              </a:rPr>
              <a:t>named feature</a:t>
            </a:r>
            <a:r>
              <a:rPr lang="en-US" sz="2100" b="true">
                <a:solidFill>
                  <a:srgbClr val="111111"/>
                </a:solidFill>
                <a:latin typeface="Nunito Semi-Bold"/>
                <a:ea typeface="Nunito Semi-Bold"/>
                <a:cs typeface="Nunito Semi-Bold"/>
                <a:sym typeface="Nunito Semi-Bold"/>
              </a:rPr>
              <a:t> the user recognises.</a:t>
            </a:r>
          </a:p>
        </p:txBody>
      </p:sp>
      <p:sp>
        <p:nvSpPr>
          <p:cNvPr id="30" name="Rounded Rectangle 29"/>
          <p:cNvSpPr/>
          <p:nvPr/>
        </p:nvSpPr>
        <p:spPr>
          <a:xfrm>
            <a:off x="1028700" y="8026399"/>
            <a:ext cx="7680960" cy="1097280"/>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31" name="Rounded Rectangle 30"/>
          <p:cNvSpPr/>
          <p:nvPr/>
        </p:nvSpPr>
        <p:spPr>
          <a:xfrm>
            <a:off x="1348740" y="7834376"/>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2" name="TextBox 31"/>
          <p:cNvSpPr txBox="1"/>
          <p:nvPr/>
        </p:nvSpPr>
        <p:spPr>
          <a:xfrm>
            <a:off x="1394460" y="8300720"/>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Recommendations may become too similar and lack diversity; it needs good item metadata.</a:t>
            </a:r>
          </a:p>
        </p:txBody>
      </p:sp>
      <p:pic>
        <p:nvPicPr>
          <p:cNvPr id="33" name="Picture 32" descr="ctx_content.png"/>
          <p:cNvPicPr>
            <a:picLocks noChangeAspect="1"/>
          </p:cNvPicPr>
          <p:nvPr/>
        </p:nvPicPr>
        <p:blipFill>
          <a:blip r:embed="rId4"/>
          <a:stretch>
            <a:fillRect/>
          </a:stretch>
        </p:blipFill>
        <p:spPr>
          <a:xfrm>
            <a:off x="9258300" y="4108346"/>
            <a:ext cx="8001000" cy="4364181"/>
          </a:xfrm>
          <a:prstGeom prst="rect">
            <a:avLst/>
          </a:prstGeom>
        </p:spPr>
      </p:pic>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[22] Adomavicius, G. &amp; Tuzhilin, A. Toward the Next Generation of Recommender Systems. IEEE TKDE 17(6), 734–749 (2005).  ·  Burke, R. Hybrid Recommender Systems. UMUAI 12(4), 331–370 (2002).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10</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Collaborative Filtering</a:t>
            </a:r>
          </a:p>
        </p:txBody>
      </p:sp>
      <p:pic>
        <p:nvPicPr>
          <p:cNvPr id="25" name="Picture 24" descr="image.png"/>
          <p:cNvPicPr>
            <a:picLocks noChangeAspect="1"/>
          </p:cNvPicPr>
          <p:nvPr/>
        </p:nvPicPr>
        <p:blipFill>
          <a:blip r:embed="rId3"/>
          <a:stretch>
            <a:fillRect/>
          </a:stretch>
        </p:blipFill>
        <p:spPr>
          <a:xfrm>
            <a:off x="7040539" y="1673352"/>
            <a:ext cx="457200" cy="539881"/>
          </a:xfrm>
          <a:prstGeom prst="rect">
            <a:avLst/>
          </a:prstGeom>
        </p:spPr>
      </p:pic>
      <p:sp>
        <p:nvSpPr>
          <p:cNvPr id="26" name="Rounded Rectangle 25"/>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7" name="Rounded Rectangle 26"/>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8" name="Rounded Rectangle 27"/>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9" name="TextBox 28"/>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Recommends items using the </a:t>
            </a:r>
            <a:r>
              <a:rPr lang="en-US" sz="2100" b="true">
                <a:solidFill>
                  <a:srgbClr val="111111"/>
                </a:solidFill>
                <a:latin typeface="Nunito Bold"/>
                <a:ea typeface="Nunito Bold"/>
                <a:cs typeface="Nunito Bold"/>
                <a:sym typeface="Nunito Bold"/>
              </a:rPr>
              <a:t>preferences and behaviour of similar users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Finds patterns in </a:t>
            </a:r>
            <a:r>
              <a:rPr lang="en-US" sz="2100" b="true">
                <a:solidFill>
                  <a:srgbClr val="111111"/>
                </a:solidFill>
                <a:latin typeface="Nunito Bold"/>
                <a:ea typeface="Nunito Bold"/>
                <a:cs typeface="Nunito Bold"/>
                <a:sym typeface="Nunito Bold"/>
              </a:rPr>
              <a:t>user-item interactions</a:t>
            </a:r>
            <a:r>
              <a:rPr lang="en-US" sz="2100" b="true">
                <a:solidFill>
                  <a:srgbClr val="111111"/>
                </a:solidFill>
                <a:latin typeface="Nunito Semi-Bold"/>
                <a:ea typeface="Nunito Semi-Bold"/>
                <a:cs typeface="Nunito Semi-Bold"/>
                <a:sym typeface="Nunito Semi-Bold"/>
              </a:rPr>
              <a:t>: ratings, clicks, purchases.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Can be </a:t>
            </a:r>
            <a:r>
              <a:rPr lang="en-US" sz="2100" b="true">
                <a:solidFill>
                  <a:srgbClr val="111111"/>
                </a:solidFill>
                <a:latin typeface="Nunito Bold"/>
                <a:ea typeface="Nunito Bold"/>
                <a:cs typeface="Nunito Bold"/>
                <a:sym typeface="Nunito Bold"/>
              </a:rPr>
              <a:t>user-based</a:t>
            </a:r>
            <a:r>
              <a:rPr lang="en-US" sz="2100" b="true">
                <a:solidFill>
                  <a:srgbClr val="111111"/>
                </a:solidFill>
                <a:latin typeface="Nunito Semi-Bold"/>
                <a:ea typeface="Nunito Semi-Bold"/>
                <a:cs typeface="Nunito Semi-Bold"/>
                <a:sym typeface="Nunito Semi-Bold"/>
              </a:rPr>
              <a:t> or </a:t>
            </a:r>
            <a:r>
              <a:rPr lang="en-US" sz="2100" b="true">
                <a:solidFill>
                  <a:srgbClr val="111111"/>
                </a:solidFill>
                <a:latin typeface="Nunito Bold"/>
                <a:ea typeface="Nunito Bold"/>
                <a:cs typeface="Nunito Bold"/>
                <a:sym typeface="Nunito Bold"/>
              </a:rPr>
              <a:t>item-based</a:t>
            </a:r>
            <a:r>
              <a:rPr lang="en-US" sz="2100" b="true">
                <a:solidFill>
                  <a:srgbClr val="111111"/>
                </a:solidFill>
                <a:latin typeface="Nunito Semi-Bold"/>
                <a:ea typeface="Nunito Semi-Bold"/>
                <a:cs typeface="Nunito Semi-Bold"/>
                <a:sym typeface="Nunito Semi-Bold"/>
              </a:rPr>
              <a:t>; needs no item content at all.</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The base idea behind matrix factorisation and graph recommenders.</a:t>
            </a:r>
          </a:p>
        </p:txBody>
      </p:sp>
      <p:sp>
        <p:nvSpPr>
          <p:cNvPr id="30" name="Rounded Rectangle 29"/>
          <p:cNvSpPr/>
          <p:nvPr/>
        </p:nvSpPr>
        <p:spPr>
          <a:xfrm>
            <a:off x="1028700" y="8026399"/>
            <a:ext cx="7680960" cy="1097280"/>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31" name="Rounded Rectangle 30"/>
          <p:cNvSpPr/>
          <p:nvPr/>
        </p:nvSpPr>
        <p:spPr>
          <a:xfrm>
            <a:off x="1348740" y="7834376"/>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2" name="TextBox 31"/>
          <p:cNvSpPr txBox="1"/>
          <p:nvPr/>
        </p:nvSpPr>
        <p:spPr>
          <a:xfrm>
            <a:off x="1394460" y="8300720"/>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It struggles with new users or new items because of limited interaction data (cold start).</a:t>
            </a:r>
          </a:p>
        </p:txBody>
      </p:sp>
      <p:pic>
        <p:nvPicPr>
          <p:cNvPr id="33" name="Picture 32" descr="ctx_cf.png"/>
          <p:cNvPicPr>
            <a:picLocks noChangeAspect="1"/>
          </p:cNvPicPr>
          <p:nvPr/>
        </p:nvPicPr>
        <p:blipFill>
          <a:blip r:embed="rId4"/>
          <a:stretch>
            <a:fillRect/>
          </a:stretch>
        </p:blipFill>
        <p:spPr>
          <a:xfrm>
            <a:off x="9258300" y="4108346"/>
            <a:ext cx="8001000" cy="4364181"/>
          </a:xfrm>
          <a:prstGeom prst="rect">
            <a:avLst/>
          </a:prstGeom>
        </p:spPr>
      </p:pic>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[22] Adomavicius, G. &amp; Tuzhilin, A. Toward the Next Generation of Recommender Systems. IEEE TKDE 17(6), 734–749 (2005).  ·  Burke, R. Hybrid Recommender Systems. UMUAI 12(4), 331–370 (2002).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11</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Hybrid Approaches and Matrix Factorisation</a:t>
            </a:r>
          </a:p>
        </p:txBody>
      </p:sp>
      <p:pic>
        <p:nvPicPr>
          <p:cNvPr id="25" name="Picture 24" descr="image.png"/>
          <p:cNvPicPr>
            <a:picLocks noChangeAspect="1"/>
          </p:cNvPicPr>
          <p:nvPr/>
        </p:nvPicPr>
        <p:blipFill>
          <a:blip r:embed="rId3"/>
          <a:stretch>
            <a:fillRect/>
          </a:stretch>
        </p:blipFill>
        <p:spPr>
          <a:xfrm>
            <a:off x="12801265" y="1673352"/>
            <a:ext cx="457200" cy="373212"/>
          </a:xfrm>
          <a:prstGeom prst="rect">
            <a:avLst/>
          </a:prstGeom>
        </p:spPr>
      </p:pic>
      <p:sp>
        <p:nvSpPr>
          <p:cNvPr id="26" name="Rounded Rectangle 25"/>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7" name="Rounded Rectangle 26"/>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8" name="Rounded Rectangle 27"/>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9" name="TextBox 28"/>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Hybrid:</a:t>
            </a:r>
            <a:r>
              <a:rPr lang="en-US" sz="2100" b="true">
                <a:solidFill>
                  <a:srgbClr val="111111"/>
                </a:solidFill>
                <a:latin typeface="Nunito Semi-Bold"/>
                <a:ea typeface="Nunito Semi-Bold"/>
                <a:cs typeface="Nunito Semi-Bold"/>
                <a:sym typeface="Nunito Semi-Bold"/>
              </a:rPr>
              <a:t> combines content-based and collaborative methods to reduce the weaknesses of each.</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Handles limited data, over-specialisation and part of the cold-start problem.</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Matrix factorisation (MF):</a:t>
            </a:r>
            <a:r>
              <a:rPr lang="en-US" sz="2100" b="true">
                <a:solidFill>
                  <a:srgbClr val="111111"/>
                </a:solidFill>
                <a:latin typeface="Nunito Semi-Bold"/>
                <a:ea typeface="Nunito Semi-Bold"/>
                <a:cs typeface="Nunito Semi-Bold"/>
                <a:sym typeface="Nunito Semi-Bold"/>
              </a:rPr>
              <a:t> the interaction matrix R is split into user and item factors P and Q.</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MF made recommendation accurate and scalable; it is the standard baseline of the field.</a:t>
            </a:r>
          </a:p>
        </p:txBody>
      </p:sp>
      <p:sp>
        <p:nvSpPr>
          <p:cNvPr id="30" name="Rounded Rectangle 29"/>
          <p:cNvSpPr/>
          <p:nvPr/>
        </p:nvSpPr>
        <p:spPr>
          <a:xfrm>
            <a:off x="1028700" y="8026399"/>
            <a:ext cx="7680960" cy="1097280"/>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31" name="Rounded Rectangle 30"/>
          <p:cNvSpPr/>
          <p:nvPr/>
        </p:nvSpPr>
        <p:spPr>
          <a:xfrm>
            <a:off x="1348740" y="7834376"/>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2" name="TextBox 31"/>
          <p:cNvSpPr txBox="1"/>
          <p:nvPr/>
        </p:nvSpPr>
        <p:spPr>
          <a:xfrm>
            <a:off x="1394460" y="8300720"/>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The latent factors are compact but hidden: a good score cannot be traced back to a factor a person understands.</a:t>
            </a:r>
          </a:p>
        </p:txBody>
      </p:sp>
      <p:pic>
        <p:nvPicPr>
          <p:cNvPr id="33" name="Picture 32" descr="ctx_mf.png"/>
          <p:cNvPicPr>
            <a:picLocks noChangeAspect="1"/>
          </p:cNvPicPr>
          <p:nvPr/>
        </p:nvPicPr>
        <p:blipFill>
          <a:blip r:embed="rId4"/>
          <a:stretch>
            <a:fillRect/>
          </a:stretch>
        </p:blipFill>
        <p:spPr>
          <a:xfrm>
            <a:off x="9258300" y="4108346"/>
            <a:ext cx="8001000" cy="4364181"/>
          </a:xfrm>
          <a:prstGeom prst="rect">
            <a:avLst/>
          </a:prstGeom>
        </p:spPr>
      </p:pic>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[10] Koren, Y., Bell, R. &amp; Volinsky, C. Matrix Factorization Techniques for Recommender Systems. Computer 42(8), 30–37 (2009).   [22] Adomavicius, G. &amp; Tuzhilin, A. Toward the Next Generation of Recommender Systems. IEEE TKDE 17(6), 734–749 (2005).  ·  Burke, R. Hybrid Recommender Systems. UMUAI 12(4), 331–370 (2002).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12</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Graph-Based and Hypergraph Recommenders</a:t>
            </a:r>
          </a:p>
        </p:txBody>
      </p:sp>
      <p:pic>
        <p:nvPicPr>
          <p:cNvPr id="25" name="Picture 24" descr="image.png"/>
          <p:cNvPicPr>
            <a:picLocks noChangeAspect="1"/>
          </p:cNvPicPr>
          <p:nvPr/>
        </p:nvPicPr>
        <p:blipFill>
          <a:blip r:embed="rId3"/>
          <a:stretch>
            <a:fillRect/>
          </a:stretch>
        </p:blipFill>
        <p:spPr>
          <a:xfrm>
            <a:off x="13302882" y="1673352"/>
            <a:ext cx="457200" cy="427074"/>
          </a:xfrm>
          <a:prstGeom prst="rect">
            <a:avLst/>
          </a:prstGeom>
        </p:spPr>
      </p:pic>
      <p:sp>
        <p:nvSpPr>
          <p:cNvPr id="26" name="Rounded Rectangle 25"/>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7" name="Rounded Rectangle 26"/>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8" name="Rounded Rectangle 27"/>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9" name="TextBox 28"/>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Represent users, items and their interactions as </a:t>
            </a:r>
            <a:r>
              <a:rPr lang="en-US" sz="2100" b="true">
                <a:solidFill>
                  <a:srgbClr val="111111"/>
                </a:solidFill>
                <a:latin typeface="Nunito Bold"/>
                <a:ea typeface="Nunito Bold"/>
                <a:cs typeface="Nunito Bold"/>
                <a:sym typeface="Nunito Bold"/>
              </a:rPr>
              <a:t>nodes and edges</a:t>
            </a:r>
            <a:r>
              <a:rPr lang="en-US" sz="2100" b="true">
                <a:solidFill>
                  <a:srgbClr val="111111"/>
                </a:solidFill>
                <a:latin typeface="Nunito Semi-Bold"/>
                <a:ea typeface="Nunito Semi-Bold"/>
                <a:cs typeface="Nunito Semi-Bold"/>
                <a:sym typeface="Nunito Semi-Bold"/>
              </a:rPr>
              <a:t> in a graph.</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Use </a:t>
            </a:r>
            <a:r>
              <a:rPr lang="en-US" sz="2100" b="true">
                <a:solidFill>
                  <a:srgbClr val="111111"/>
                </a:solidFill>
                <a:latin typeface="Nunito Bold"/>
                <a:ea typeface="Nunito Bold"/>
                <a:cs typeface="Nunito Bold"/>
                <a:sym typeface="Nunito Bold"/>
              </a:rPr>
              <a:t>message passing</a:t>
            </a:r>
            <a:r>
              <a:rPr lang="en-US" sz="2100" b="true">
                <a:solidFill>
                  <a:srgbClr val="111111"/>
                </a:solidFill>
                <a:latin typeface="Nunito Semi-Bold"/>
                <a:ea typeface="Nunito Semi-Bold"/>
                <a:cs typeface="Nunito Semi-Bold"/>
                <a:sym typeface="Nunito Semi-Bold"/>
              </a:rPr>
              <a:t> (LightGCN, HCCF, HPCF) to reach multi-hop neighbours.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Hypergraphs</a:t>
            </a:r>
            <a:r>
              <a:rPr lang="en-US" sz="2100" b="true">
                <a:solidFill>
                  <a:srgbClr val="111111"/>
                </a:solidFill>
                <a:latin typeface="Nunito Semi-Bold"/>
                <a:ea typeface="Nunito Semi-Bold"/>
                <a:cs typeface="Nunito Semi-Bold"/>
                <a:sym typeface="Nunito Semi-Bold"/>
              </a:rPr>
              <a:t> connect more than two nodes at once: user, item and context in one hyperedge.</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State of the art in accuracy on sparse benchmarks such as MovieLens-1M and Amazon-Book.</a:t>
            </a:r>
          </a:p>
        </p:txBody>
      </p:sp>
      <p:sp>
        <p:nvSpPr>
          <p:cNvPr id="30" name="Rounded Rectangle 29"/>
          <p:cNvSpPr/>
          <p:nvPr/>
        </p:nvSpPr>
        <p:spPr>
          <a:xfrm>
            <a:off x="1028700" y="7973567"/>
            <a:ext cx="7680960" cy="934212"/>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31" name="Rounded Rectangle 30"/>
          <p:cNvSpPr/>
          <p:nvPr/>
        </p:nvSpPr>
        <p:spPr>
          <a:xfrm>
            <a:off x="1348740" y="7781544"/>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2" name="TextBox 31"/>
          <p:cNvSpPr txBox="1"/>
          <p:nvPr/>
        </p:nvSpPr>
        <p:spPr>
          <a:xfrm>
            <a:off x="1394460" y="8221980"/>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Large graphs cost compute and memory, and all messages are treated as equally important and unexplained.</a:t>
            </a:r>
          </a:p>
        </p:txBody>
      </p:sp>
      <p:pic>
        <p:nvPicPr>
          <p:cNvPr id="33" name="Picture 32" descr="ctx_hyper.png"/>
          <p:cNvPicPr>
            <a:picLocks noChangeAspect="1"/>
          </p:cNvPicPr>
          <p:nvPr/>
        </p:nvPicPr>
        <p:blipFill>
          <a:blip r:embed="rId4"/>
          <a:stretch>
            <a:fillRect/>
          </a:stretch>
        </p:blipFill>
        <p:spPr>
          <a:xfrm>
            <a:off x="9253728" y="4059936"/>
            <a:ext cx="8001000" cy="4462272"/>
          </a:xfrm>
          <a:prstGeom prst="rect">
            <a:avLst/>
          </a:prstGeom>
        </p:spPr>
      </p:pic>
      <p:sp>
        <p:nvSpPr>
          <p:cNvPr id="5" name="Rounded Rectangle 4"/>
          <p:cNvSpPr/>
          <p:nvPr/>
        </p:nvSpPr>
        <p:spPr>
          <a:xfrm>
            <a:off x="1024128" y="8898636"/>
            <a:ext cx="16239744" cy="7757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8935212"/>
            <a:ext cx="16239744" cy="7025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[12] He, X. et al. LightGCN: Simplifying and Powering Graph Convolution Network for Recommendation. SIGIR, 639–648 (2020).   [13] Xia, L. et al. Hypergraph Contrastive Collaborative Filtering (HCCF). SIGIR, 70–79 (2022).   [14] Xiangyi, Y. et al. Hypergraph Projection Enhanced Collaborative Filtering (HPCF). Int. J. Data Science and Analytics 19(2), 269–281 (2025).   [16] Feng, Y. et al. Hypergraph Neural Networks. AAAI 33, 3558–3565 (2019).</a:t>
            </a:r>
          </a:p>
        </p:txBody>
      </p:sp>
      <p:sp>
        <p:nvSpPr>
          <p:cNvPr id="34" name="TextBox 33"/>
          <p:cNvSpPr txBox="1"/>
          <p:nvPr/>
        </p:nvSpPr>
        <p:spPr>
          <a:xfrm>
            <a:off x="9253728" y="8558784"/>
            <a:ext cx="8010144" cy="292608"/>
          </a:xfrm>
          <a:prstGeom prst="rect">
            <a:avLst/>
          </a:prstGeom>
          <a:noFill/>
        </p:spPr>
        <p:txBody>
          <a:bodyPr wrap="none">
            <a:spAutoFit/>
          </a:bodyPr>
          <a:lstStyle/>
          <a:p>
            <a:r>
              <a:rPr sz="1600" b="1">
                <a:solidFill>
                  <a:srgbClr val="8A8378"/>
                </a:solidFill>
                <a:latin typeface="Nunito Semi-Bold"/>
              </a:rPr>
              <a:t>Same data as a graph (W) and as a hypergraph (H).</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13</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1520"/>
          </a:xfrm>
          <a:prstGeom prst="rect">
            <a:avLst/>
          </a:prstGeom>
          <a:noFill/>
        </p:spPr>
        <p:txBody>
          <a:bodyPr anchor="t" rtlCol="false" lIns="0" tIns="0" rIns="0" bIns="0" wrap="square"/>
          <a:lstStyle/>
          <a:p>
            <a:pPr algn="l">
              <a:lnSpc>
                <a:spcPts val="4620"/>
              </a:lnSpc>
              <a:spcBef>
                <a:spcPts val="0"/>
              </a:spcBef>
              <a:buNone/>
            </a:pPr>
            <a:r>
              <a:rPr lang="en-US" sz="4600" b="true" spc="-210">
                <a:solidFill>
                  <a:srgbClr val="111111"/>
                </a:solidFill>
                <a:latin typeface="Roca Two Bold"/>
                <a:ea typeface="Roca Two Bold"/>
                <a:cs typeface="Roca Two Bold"/>
                <a:sym typeface="Roca Two Bold"/>
              </a:rPr>
              <a:t>Limitations &amp; Problem Statement</a:t>
            </a:r>
          </a:p>
        </p:txBody>
      </p:sp>
      <p:pic>
        <p:nvPicPr>
          <p:cNvPr id="25" name="Picture 24" descr="image.png"/>
          <p:cNvPicPr>
            <a:picLocks noChangeAspect="1"/>
          </p:cNvPicPr>
          <p:nvPr/>
        </p:nvPicPr>
        <p:blipFill>
          <a:blip r:embed="rId3"/>
          <a:stretch>
            <a:fillRect/>
          </a:stretch>
        </p:blipFill>
        <p:spPr>
          <a:xfrm>
            <a:off x="10588752" y="1673352"/>
            <a:ext cx="457200" cy="399005"/>
          </a:xfrm>
          <a:prstGeom prst="rect">
            <a:avLst/>
          </a:prstGeom>
        </p:spPr>
      </p:pic>
      <p:sp>
        <p:nvSpPr>
          <p:cNvPr id="26" name="Rounded Rectangle 25"/>
          <p:cNvSpPr/>
          <p:nvPr/>
        </p:nvSpPr>
        <p:spPr>
          <a:xfrm>
            <a:off x="1028700" y="24955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7" name="Rounded Rectangle 26"/>
          <p:cNvSpPr/>
          <p:nvPr/>
        </p:nvSpPr>
        <p:spPr>
          <a:xfrm>
            <a:off x="3011206" y="2495550"/>
            <a:ext cx="187097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8" name="Rounded Rectangle 27"/>
          <p:cNvSpPr/>
          <p:nvPr/>
        </p:nvSpPr>
        <p:spPr>
          <a:xfrm>
            <a:off x="5010194" y="24955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5" name="Rounded Rectangle 4"/>
          <p:cNvSpPr/>
          <p:nvPr/>
        </p:nvSpPr>
        <p:spPr>
          <a:xfrm>
            <a:off x="1024128" y="8897112"/>
            <a:ext cx="16239744" cy="777240"/>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8933688"/>
            <a:ext cx="16239744" cy="704088"/>
          </a:xfrm>
          <a:prstGeom prst="rect">
            <a:avLst/>
          </a:prstGeom>
          <a:noFill/>
        </p:spPr>
        <p:txBody>
          <a:bodyPr anchor="ctr" rtlCol="false" lIns="0" tIns="0" rIns="0" bIns="0" wrap="square"/>
          <a:lstStyle/>
          <a:p>
            <a:pPr algn="l">
              <a:lnSpc>
                <a:spcPts val="1700"/>
              </a:lnSpc>
              <a:spcBef>
                <a:spcPts val="0"/>
              </a:spcBef>
              <a:buNone/>
            </a:pPr>
            <a:r>
              <a:rPr sz="1400" b="1">
                <a:solidFill>
                  <a:srgbClr val="8A8378"/>
                </a:solidFill>
                <a:latin typeface="Nunito Semi-Bold"/>
              </a:rPr>
              <a:t>[21] Zhang, Y. &amp; Chen, X. Explainable Recommendation: A Survey and New Perspectives. Foundations and Trends in IR 14(1), 1–101 (2020).   [23] Zhu, Z. et al. Popularity Bias in Dynamic Recommendation. KDD, 2439–2449 (2021).  ·  Hurley, N. &amp; Zhang, M. Novelty and Diversity in Top-N Recommendation. ACM TOIT 10(4) (2011).   [24] Arrieta, A. B. et al. Explainable Artificial Intelligence (XAI): Concepts, Taxonomies, Opportunities and Challenges. Information Fusion 58, 82–115 (2020).</a:t>
            </a:r>
          </a:p>
        </p:txBody>
      </p:sp>
      <p:sp>
        <p:nvSpPr>
          <p:cNvPr id="29" name="TextBox 28"/>
          <p:cNvSpPr txBox="1"/>
          <p:nvPr/>
        </p:nvSpPr>
        <p:spPr>
          <a:xfrm>
            <a:off x="1024128" y="3054096"/>
            <a:ext cx="5212080" cy="411480"/>
          </a:xfrm>
          <a:prstGeom prst="rect">
            <a:avLst/>
          </a:prstGeom>
          <a:noFill/>
        </p:spPr>
        <p:txBody>
          <a:bodyPr wrap="none">
            <a:spAutoFit/>
          </a:bodyPr>
          <a:lstStyle/>
          <a:p>
            <a:r>
              <a:rPr sz="1800" b="1">
                <a:solidFill>
                  <a:srgbClr val="5A6B8C"/>
                </a:solidFill>
                <a:latin typeface="Nunito Semi-Bold"/>
              </a:rPr>
              <a:t>Classical limits of recommender systems:</a:t>
            </a:r>
          </a:p>
        </p:txBody>
      </p:sp>
      <p:sp>
        <p:nvSpPr>
          <p:cNvPr id="30" name="Rounded Rectangle 29"/>
          <p:cNvSpPr/>
          <p:nvPr/>
        </p:nvSpPr>
        <p:spPr>
          <a:xfrm>
            <a:off x="6400800" y="2999232"/>
            <a:ext cx="2612898" cy="621792"/>
          </a:xfrm>
          <a:prstGeom prst="roundRect">
            <a:avLst>
              <a:gd name="adj" fmla="val 50000"/>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none"/>
          <a:lstStyle/>
          <a:p>
            <a:pPr algn="ctr"/>
            <a:r>
              <a:rPr sz="1800" b="1">
                <a:solidFill>
                  <a:srgbClr val="FFFFFF"/>
                </a:solidFill>
                <a:latin typeface="Nunito Semi-Bold"/>
              </a:rPr>
              <a:t>Data sparsity</a:t>
            </a:r>
          </a:p>
        </p:txBody>
      </p:sp>
      <p:sp>
        <p:nvSpPr>
          <p:cNvPr id="31" name="Rounded Rectangle 30"/>
          <p:cNvSpPr/>
          <p:nvPr/>
        </p:nvSpPr>
        <p:spPr>
          <a:xfrm>
            <a:off x="9127998" y="2999232"/>
            <a:ext cx="2612898" cy="621792"/>
          </a:xfrm>
          <a:prstGeom prst="roundRect">
            <a:avLst>
              <a:gd name="adj" fmla="val 50000"/>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none"/>
          <a:lstStyle/>
          <a:p>
            <a:pPr algn="ctr"/>
            <a:r>
              <a:rPr sz="1800" b="1">
                <a:solidFill>
                  <a:srgbClr val="FFFFFF"/>
                </a:solidFill>
                <a:latin typeface="Nunito Semi-Bold"/>
              </a:rPr>
              <a:t>Cold-start</a:t>
            </a:r>
          </a:p>
        </p:txBody>
      </p:sp>
      <p:sp>
        <p:nvSpPr>
          <p:cNvPr id="32" name="Rounded Rectangle 31"/>
          <p:cNvSpPr/>
          <p:nvPr/>
        </p:nvSpPr>
        <p:spPr>
          <a:xfrm>
            <a:off x="11855196" y="2999232"/>
            <a:ext cx="2612898" cy="621792"/>
          </a:xfrm>
          <a:prstGeom prst="roundRect">
            <a:avLst>
              <a:gd name="adj" fmla="val 50000"/>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none"/>
          <a:lstStyle/>
          <a:p>
            <a:pPr algn="ctr"/>
            <a:r>
              <a:rPr sz="1800" b="1">
                <a:solidFill>
                  <a:srgbClr val="FFFFFF"/>
                </a:solidFill>
                <a:latin typeface="Nunito Semi-Bold"/>
              </a:rPr>
              <a:t>Popularity bias</a:t>
            </a:r>
          </a:p>
        </p:txBody>
      </p:sp>
      <p:sp>
        <p:nvSpPr>
          <p:cNvPr id="33" name="Rounded Rectangle 32"/>
          <p:cNvSpPr/>
          <p:nvPr/>
        </p:nvSpPr>
        <p:spPr>
          <a:xfrm>
            <a:off x="14582394" y="2999232"/>
            <a:ext cx="2612898" cy="621792"/>
          </a:xfrm>
          <a:prstGeom prst="roundRect">
            <a:avLst>
              <a:gd name="adj" fmla="val 50000"/>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none"/>
          <a:lstStyle/>
          <a:p>
            <a:pPr algn="ctr"/>
            <a:r>
              <a:rPr sz="1800" b="1">
                <a:solidFill>
                  <a:srgbClr val="FFFFFF"/>
                </a:solidFill>
                <a:latin typeface="Nunito Semi-Bold"/>
              </a:rPr>
              <a:t>No interpretability</a:t>
            </a:r>
          </a:p>
        </p:txBody>
      </p:sp>
      <p:sp>
        <p:nvSpPr>
          <p:cNvPr id="34" name="TextBox 33"/>
          <p:cNvSpPr txBox="1"/>
          <p:nvPr/>
        </p:nvSpPr>
        <p:spPr>
          <a:xfrm>
            <a:off x="1024128" y="4005072"/>
            <a:ext cx="7772400" cy="411480"/>
          </a:xfrm>
          <a:prstGeom prst="rect">
            <a:avLst/>
          </a:prstGeom>
          <a:noFill/>
        </p:spPr>
        <p:txBody>
          <a:bodyPr wrap="none">
            <a:spAutoFit/>
          </a:bodyPr>
          <a:lstStyle/>
          <a:p>
            <a:r>
              <a:rPr sz="1800" b="1">
                <a:solidFill>
                  <a:srgbClr val="5A6B8C"/>
                </a:solidFill>
                <a:latin typeface="Nunito Semi-Bold"/>
              </a:rPr>
              <a:t>Three structural limits this thesis addresses:</a:t>
            </a:r>
          </a:p>
        </p:txBody>
      </p:sp>
      <p:sp>
        <p:nvSpPr>
          <p:cNvPr id="35" name="Rounded Rectangle 34"/>
          <p:cNvSpPr/>
          <p:nvPr/>
        </p:nvSpPr>
        <p:spPr>
          <a:xfrm>
            <a:off x="1024128" y="4526280"/>
            <a:ext cx="5193792" cy="2423160"/>
          </a:xfrm>
          <a:prstGeom prst="roundRect">
            <a:avLst>
              <a:gd name="adj" fmla="val 5000"/>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344168" y="4828032"/>
            <a:ext cx="566928" cy="566928"/>
          </a:xfrm>
          <a:prstGeom prst="ellipse">
            <a:avLst/>
          </a:prstGeom>
          <a:solidFill>
            <a:srgbClr val="ECC6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111111"/>
                </a:solidFill>
                <a:latin typeface="Nunito Ultra-Bold"/>
              </a:rPr>
              <a:t>1</a:t>
            </a:r>
          </a:p>
        </p:txBody>
      </p:sp>
      <p:sp>
        <p:nvSpPr>
          <p:cNvPr id="37" name="TextBox 36"/>
          <p:cNvSpPr txBox="1"/>
          <p:nvPr/>
        </p:nvSpPr>
        <p:spPr>
          <a:xfrm>
            <a:off x="2075688" y="4855464"/>
            <a:ext cx="3977639" cy="731520"/>
          </a:xfrm>
          <a:prstGeom prst="rect">
            <a:avLst/>
          </a:prstGeom>
          <a:noFill/>
        </p:spPr>
        <p:txBody>
          <a:bodyPr wrap="none">
            <a:spAutoFit/>
          </a:bodyPr>
          <a:lstStyle/>
          <a:p>
            <a:r>
              <a:rPr sz="2200" b="1">
                <a:solidFill>
                  <a:srgbClr val="FFFFFF"/>
                </a:solidFill>
                <a:latin typeface="Nunito Ultra-Bold"/>
              </a:rPr>
              <a:t>Lack of explainability</a:t>
            </a:r>
          </a:p>
        </p:txBody>
      </p:sp>
      <p:sp>
        <p:nvSpPr>
          <p:cNvPr id="38" name="TextBox 37"/>
          <p:cNvSpPr txBox="1"/>
          <p:nvPr/>
        </p:nvSpPr>
        <p:spPr>
          <a:xfrm>
            <a:off x="1344168" y="5760720"/>
            <a:ext cx="4572000" cy="1051560"/>
          </a:xfrm>
          <a:prstGeom prst="rect">
            <a:avLst/>
          </a:prstGeom>
          <a:noFill/>
        </p:spPr>
        <p:txBody>
          <a:bodyPr wrap="none">
            <a:spAutoFit/>
          </a:bodyPr>
          <a:lstStyle/>
          <a:p>
            <a:r>
              <a:rPr sz="2000" b="0">
                <a:solidFill>
                  <a:srgbClr val="F1EDE6"/>
                </a:solidFill>
                <a:latin typeface="Nunito Semi-Bold"/>
              </a:rPr>
              <a:t>Explanations are neither </a:t>
            </a:r>
            <a:r>
              <a:rPr sz="2000" b="1">
                <a:solidFill>
                  <a:srgbClr val="F1EDE6"/>
                </a:solidFill>
                <a:latin typeface="Nunito Semi-Bold"/>
              </a:rPr>
              <a:t>faithful nor actionable</a:t>
            </a:r>
            <a:r>
              <a:rPr sz="2000" b="0">
                <a:solidFill>
                  <a:srgbClr val="F1EDE6"/>
                </a:solidFill>
                <a:latin typeface="Nunito Semi-Bold"/>
              </a:rPr>
              <a:t>.</a:t>
            </a:r>
          </a:p>
        </p:txBody>
      </p:sp>
      <p:sp>
        <p:nvSpPr>
          <p:cNvPr id="39" name="Rounded Rectangle 38"/>
          <p:cNvSpPr/>
          <p:nvPr/>
        </p:nvSpPr>
        <p:spPr>
          <a:xfrm>
            <a:off x="6542532" y="4526280"/>
            <a:ext cx="5193792" cy="2423160"/>
          </a:xfrm>
          <a:prstGeom prst="roundRect">
            <a:avLst>
              <a:gd name="adj" fmla="val 5000"/>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6862572" y="4828032"/>
            <a:ext cx="566928" cy="566928"/>
          </a:xfrm>
          <a:prstGeom prst="ellipse">
            <a:avLst/>
          </a:prstGeom>
          <a:solidFill>
            <a:srgbClr val="ECC6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111111"/>
                </a:solidFill>
                <a:latin typeface="Nunito Ultra-Bold"/>
              </a:rPr>
              <a:t>2</a:t>
            </a:r>
          </a:p>
        </p:txBody>
      </p:sp>
      <p:sp>
        <p:nvSpPr>
          <p:cNvPr id="41" name="TextBox 40"/>
          <p:cNvSpPr txBox="1"/>
          <p:nvPr/>
        </p:nvSpPr>
        <p:spPr>
          <a:xfrm>
            <a:off x="7594092" y="4855464"/>
            <a:ext cx="3977639" cy="731520"/>
          </a:xfrm>
          <a:prstGeom prst="rect">
            <a:avLst/>
          </a:prstGeom>
          <a:noFill/>
        </p:spPr>
        <p:txBody>
          <a:bodyPr wrap="none">
            <a:spAutoFit/>
          </a:bodyPr>
          <a:lstStyle/>
          <a:p>
            <a:r>
              <a:rPr sz="2200" b="1">
                <a:solidFill>
                  <a:srgbClr val="FFFFFF"/>
                </a:solidFill>
                <a:latin typeface="Nunito Ultra-Bold"/>
              </a:rPr>
              <a:t>Difficulty of scaling</a:t>
            </a:r>
          </a:p>
        </p:txBody>
      </p:sp>
      <p:sp>
        <p:nvSpPr>
          <p:cNvPr id="42" name="TextBox 41"/>
          <p:cNvSpPr txBox="1"/>
          <p:nvPr/>
        </p:nvSpPr>
        <p:spPr>
          <a:xfrm>
            <a:off x="6862572" y="5760720"/>
            <a:ext cx="4572000" cy="1051560"/>
          </a:xfrm>
          <a:prstGeom prst="rect">
            <a:avLst/>
          </a:prstGeom>
          <a:noFill/>
        </p:spPr>
        <p:txBody>
          <a:bodyPr wrap="none">
            <a:spAutoFit/>
          </a:bodyPr>
          <a:lstStyle/>
          <a:p>
            <a:r>
              <a:rPr sz="2000" b="0">
                <a:solidFill>
                  <a:srgbClr val="F1EDE6"/>
                </a:solidFill>
                <a:latin typeface="Nunito Semi-Bold"/>
              </a:rPr>
              <a:t>Local explanations break </a:t>
            </a:r>
            <a:r>
              <a:rPr sz="2000" b="1">
                <a:solidFill>
                  <a:srgbClr val="F1EDE6"/>
                </a:solidFill>
                <a:latin typeface="Nunito Semi-Bold"/>
              </a:rPr>
              <a:t>across levels and at scale</a:t>
            </a:r>
            <a:r>
              <a:rPr sz="2000" b="0">
                <a:solidFill>
                  <a:srgbClr val="F1EDE6"/>
                </a:solidFill>
                <a:latin typeface="Nunito Semi-Bold"/>
              </a:rPr>
              <a:t>.</a:t>
            </a:r>
          </a:p>
        </p:txBody>
      </p:sp>
      <p:sp>
        <p:nvSpPr>
          <p:cNvPr id="43" name="Rounded Rectangle 42"/>
          <p:cNvSpPr/>
          <p:nvPr/>
        </p:nvSpPr>
        <p:spPr>
          <a:xfrm>
            <a:off x="12060936" y="4526280"/>
            <a:ext cx="5193792" cy="2423160"/>
          </a:xfrm>
          <a:prstGeom prst="roundRect">
            <a:avLst>
              <a:gd name="adj" fmla="val 5000"/>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2380976" y="4828032"/>
            <a:ext cx="566928" cy="566928"/>
          </a:xfrm>
          <a:prstGeom prst="ellipse">
            <a:avLst/>
          </a:prstGeom>
          <a:solidFill>
            <a:srgbClr val="ECC6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111111"/>
                </a:solidFill>
                <a:latin typeface="Nunito Ultra-Bold"/>
              </a:rPr>
              <a:t>3</a:t>
            </a:r>
          </a:p>
        </p:txBody>
      </p:sp>
      <p:sp>
        <p:nvSpPr>
          <p:cNvPr id="45" name="TextBox 44"/>
          <p:cNvSpPr txBox="1"/>
          <p:nvPr/>
        </p:nvSpPr>
        <p:spPr>
          <a:xfrm>
            <a:off x="13112496" y="4855464"/>
            <a:ext cx="3977639" cy="731520"/>
          </a:xfrm>
          <a:prstGeom prst="rect">
            <a:avLst/>
          </a:prstGeom>
          <a:noFill/>
        </p:spPr>
        <p:txBody>
          <a:bodyPr wrap="none">
            <a:spAutoFit/>
          </a:bodyPr>
          <a:lstStyle/>
          <a:p>
            <a:r>
              <a:rPr sz="2200" b="1">
                <a:solidFill>
                  <a:srgbClr val="FFFFFF"/>
                </a:solidFill>
                <a:latin typeface="Nunito Ultra-Bold"/>
              </a:rPr>
              <a:t>Weak integration into learning</a:t>
            </a:r>
          </a:p>
        </p:txBody>
      </p:sp>
      <p:sp>
        <p:nvSpPr>
          <p:cNvPr id="46" name="TextBox 45"/>
          <p:cNvSpPr txBox="1"/>
          <p:nvPr/>
        </p:nvSpPr>
        <p:spPr>
          <a:xfrm>
            <a:off x="12380976" y="5760720"/>
            <a:ext cx="4572000" cy="1051560"/>
          </a:xfrm>
          <a:prstGeom prst="rect">
            <a:avLst/>
          </a:prstGeom>
          <a:noFill/>
        </p:spPr>
        <p:txBody>
          <a:bodyPr wrap="none">
            <a:spAutoFit/>
          </a:bodyPr>
          <a:lstStyle/>
          <a:p>
            <a:r>
              <a:rPr sz="2000" b="1">
                <a:solidFill>
                  <a:srgbClr val="F1EDE6"/>
                </a:solidFill>
                <a:latin typeface="Nunito Semi-Bold"/>
              </a:rPr>
              <a:t>Post-hoc</a:t>
            </a:r>
            <a:r>
              <a:rPr sz="2000" b="0">
                <a:solidFill>
                  <a:srgbClr val="F1EDE6"/>
                </a:solidFill>
                <a:latin typeface="Nunito Semi-Bold"/>
              </a:rPr>
              <a:t> only: training never sees them.</a:t>
            </a:r>
          </a:p>
        </p:txBody>
      </p:sp>
      <p:sp>
        <p:nvSpPr>
          <p:cNvPr id="47" name="Rounded Rectangle 46"/>
          <p:cNvSpPr/>
          <p:nvPr/>
        </p:nvSpPr>
        <p:spPr>
          <a:xfrm>
            <a:off x="1024128" y="7315200"/>
            <a:ext cx="16230600" cy="1536192"/>
          </a:xfrm>
          <a:prstGeom prst="roundRect">
            <a:avLst>
              <a:gd name="adj" fmla="val 8000"/>
            </a:avLst>
          </a:prstGeom>
          <a:solidFill>
            <a:srgbClr val="E7EA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1481328" y="7104888"/>
            <a:ext cx="2331720" cy="438912"/>
          </a:xfrm>
          <a:prstGeom prst="roundRect">
            <a:avLst>
              <a:gd name="adj" fmla="val 35000"/>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Nunito Ultra-Bold"/>
              </a:rPr>
              <a:t>THESIS GAP</a:t>
            </a:r>
          </a:p>
        </p:txBody>
      </p:sp>
      <p:sp>
        <p:nvSpPr>
          <p:cNvPr id="49" name="TextBox 48"/>
          <p:cNvSpPr txBox="1"/>
          <p:nvPr/>
        </p:nvSpPr>
        <p:spPr>
          <a:xfrm>
            <a:off x="1536192" y="7607808"/>
            <a:ext cx="15270480" cy="1097280"/>
          </a:xfrm>
          <a:prstGeom prst="rect">
            <a:avLst/>
          </a:prstGeom>
          <a:noFill/>
        </p:spPr>
        <p:txBody>
          <a:bodyPr wrap="none">
            <a:spAutoFit/>
          </a:bodyPr>
          <a:lstStyle/>
          <a:p>
            <a:r>
              <a:rPr sz="1800" b="0">
                <a:solidFill>
                  <a:srgbClr val="111111"/>
                </a:solidFill>
                <a:latin typeface="Nunito Semi-Bold"/>
              </a:rPr>
              <a:t>No </a:t>
            </a:r>
            <a:r>
              <a:rPr sz="1800" b="1">
                <a:solidFill>
                  <a:srgbClr val="111111"/>
                </a:solidFill>
                <a:latin typeface="Nunito Semi-Bold"/>
              </a:rPr>
              <a:t>cooperative-attribution framework</a:t>
            </a:r>
            <a:r>
              <a:rPr sz="1800" b="0">
                <a:solidFill>
                  <a:srgbClr val="111111"/>
                </a:solidFill>
                <a:latin typeface="Nunito Semi-Bold"/>
              </a:rPr>
              <a:t> explains clustering faithfully, stays consistent across levels, and works as an </a:t>
            </a:r>
            <a:r>
              <a:rPr sz="1800" b="1">
                <a:solidFill>
                  <a:srgbClr val="111111"/>
                </a:solidFill>
                <a:latin typeface="Nunito Semi-Bold"/>
              </a:rPr>
              <a:t>in-training signal</a:t>
            </a:r>
            <a:r>
              <a:rPr sz="1800" b="0">
                <a:solidFill>
                  <a:srgbClr val="111111"/>
                </a:solidFill>
                <a:latin typeface="Nunito Semi-Bold"/>
              </a:rPr>
              <a:t>. </a:t>
            </a:r>
            <a:r>
              <a:rPr sz="1800" b="1">
                <a:solidFill>
                  <a:srgbClr val="111111"/>
                </a:solidFill>
                <a:latin typeface="Nunito Semi-Bold"/>
              </a:rPr>
              <a:t>Claim:</a:t>
            </a:r>
            <a:r>
              <a:rPr sz="1800" b="0">
                <a:solidFill>
                  <a:srgbClr val="111111"/>
                </a:solidFill>
                <a:latin typeface="Nunito Semi-Bold"/>
              </a:rPr>
              <a:t> Shapley-value attribution can be that framework.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Questions (RQ1–RQ5) and Overall Aim</a:t>
            </a:r>
          </a:p>
        </p:txBody>
      </p:sp>
      <p:pic>
        <p:nvPicPr>
          <p:cNvPr id="23" name="Picture 22" descr="image.png"/>
          <p:cNvPicPr>
            <a:picLocks noChangeAspect="1"/>
          </p:cNvPicPr>
          <p:nvPr/>
        </p:nvPicPr>
        <p:blipFill>
          <a:blip r:embed="rId3"/>
          <a:stretch>
            <a:fillRect/>
          </a:stretch>
        </p:blipFill>
        <p:spPr>
          <a:xfrm>
            <a:off x="13647239" y="1673352"/>
            <a:ext cx="457200" cy="452148"/>
          </a:xfrm>
          <a:prstGeom prst="rect">
            <a:avLst/>
          </a:prstGeom>
        </p:spPr>
      </p:pic>
      <p:sp>
        <p:nvSpPr>
          <p:cNvPr id="24" name="Rounded Rectangle 23"/>
          <p:cNvSpPr/>
          <p:nvPr/>
        </p:nvSpPr>
        <p:spPr>
          <a:xfrm>
            <a:off x="1028700" y="25590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7" name="Rounded Rectangle 26"/>
          <p:cNvSpPr/>
          <p:nvPr/>
        </p:nvSpPr>
        <p:spPr>
          <a:xfrm>
            <a:off x="1028700" y="3363722"/>
            <a:ext cx="16230600" cy="868680"/>
          </a:xfrm>
          <a:prstGeom prst="roundRect">
            <a:avLst>
              <a:gd name="adj" fmla="val 26315"/>
            </a:avLst>
          </a:prstGeom>
          <a:solidFill>
            <a:srgbClr val="4472C4"/>
          </a:solidFill>
          <a:ln>
            <a:noFill/>
          </a:ln>
        </p:spPr>
        <p:txBody>
          <a:bodyPr anchor="ctr" rtlCol="false" lIns="457200" tIns="91440" rIns="457200" bIns="91440" wrap="square"/>
          <a:lstStyle/>
          <a:p>
            <a:pPr algn="ctr">
              <a:lnSpc>
                <a:spcPts val="2600"/>
              </a:lnSpc>
              <a:spcBef>
                <a:spcPts val="0"/>
              </a:spcBef>
              <a:buNone/>
            </a:pPr>
            <a:r>
              <a:rPr lang="en-US" sz="2000" b="true">
                <a:solidFill>
                  <a:srgbClr val="FFFFFF"/>
                </a:solidFill>
                <a:latin typeface="Nunito Bold"/>
                <a:ea typeface="Nunito Bold"/>
                <a:cs typeface="Nunito Bold"/>
                <a:sym typeface="Nunito Bold"/>
              </a:rPr>
              <a:t>Aim:</a:t>
            </a:r>
            <a:r>
              <a:rPr lang="en-US" sz="2000" b="true">
                <a:solidFill>
                  <a:srgbClr val="FFFFFF"/>
                </a:solidFill>
                <a:latin typeface="Nunito Semi-Bold"/>
                <a:ea typeface="Nunito Semi-Bold"/>
                <a:cs typeface="Nunito Semi-Bold"/>
                <a:sym typeface="Nunito Semi-Bold"/>
              </a:rPr>
              <a:t> develop, justify and evaluate a cooperative-game view of XAI for clustering and recommendation, using Shapley attribution both as an </a:t>
            </a:r>
            <a:r>
              <a:rPr lang="en-US" sz="2000" b="true">
                <a:solidFill>
                  <a:srgbClr val="FFFFFF"/>
                </a:solidFill>
                <a:latin typeface="Nunito Bold"/>
                <a:ea typeface="Nunito Bold"/>
                <a:cs typeface="Nunito Bold"/>
                <a:sym typeface="Nunito Bold"/>
              </a:rPr>
              <a:t>explanation method</a:t>
            </a:r>
            <a:r>
              <a:rPr lang="en-US" sz="2000" b="true">
                <a:solidFill>
                  <a:srgbClr val="FFFFFF"/>
                </a:solidFill>
                <a:latin typeface="Nunito Semi-Bold"/>
                <a:ea typeface="Nunito Semi-Bold"/>
                <a:cs typeface="Nunito Semi-Bold"/>
                <a:sym typeface="Nunito Semi-Bold"/>
              </a:rPr>
              <a:t> and as an </a:t>
            </a:r>
            <a:r>
              <a:rPr lang="en-US" sz="2000" b="true">
                <a:solidFill>
                  <a:srgbClr val="FFFFFF"/>
                </a:solidFill>
                <a:latin typeface="Nunito Bold"/>
                <a:ea typeface="Nunito Bold"/>
                <a:cs typeface="Nunito Bold"/>
                <a:sym typeface="Nunito Bold"/>
              </a:rPr>
              <a:t>in-training signal</a:t>
            </a:r>
            <a:r>
              <a:rPr lang="en-US" sz="2000" b="true">
                <a:solidFill>
                  <a:srgbClr val="FFFFFF"/>
                </a:solidFill>
                <a:latin typeface="Nunito Semi-Bold"/>
                <a:ea typeface="Nunito Semi-Bold"/>
                <a:cs typeface="Nunito Semi-Bold"/>
                <a:sym typeface="Nunito Semi-Bold"/>
              </a:rPr>
              <a:t>.</a:t>
            </a:r>
          </a:p>
        </p:txBody>
      </p:sp>
      <p:sp>
        <p:nvSpPr>
          <p:cNvPr id="28" name="Rounded Rectangle 27"/>
          <p:cNvSpPr/>
          <p:nvPr/>
        </p:nvSpPr>
        <p:spPr>
          <a:xfrm>
            <a:off x="1028700" y="4461002"/>
            <a:ext cx="16230600" cy="876249"/>
          </a:xfrm>
          <a:prstGeom prst="roundRect">
            <a:avLst>
              <a:gd name="adj" fmla="val 20870"/>
            </a:avLst>
          </a:prstGeom>
          <a:solidFill>
            <a:srgbClr val="E7EAF3"/>
          </a:solidFill>
          <a:ln>
            <a:noFill/>
          </a:ln>
        </p:spPr>
        <p:txBody>
          <a:bodyPr anchor="ctr" rtlCol="false" lIns="0" tIns="0" rIns="0" bIns="0" wrap="square"/>
          <a:lstStyle/>
          <a:p>
            <a:endParaRPr lang="en-US" sz="1800"/>
          </a:p>
        </p:txBody>
      </p:sp>
      <p:sp>
        <p:nvSpPr>
          <p:cNvPr id="29" name="Rounded Rectangle 28"/>
          <p:cNvSpPr/>
          <p:nvPr/>
        </p:nvSpPr>
        <p:spPr>
          <a:xfrm>
            <a:off x="1211580" y="4589018"/>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RQ1</a:t>
            </a:r>
          </a:p>
        </p:txBody>
      </p:sp>
      <p:sp>
        <p:nvSpPr>
          <p:cNvPr id="30" name="TextBox 29"/>
          <p:cNvSpPr txBox="1"/>
          <p:nvPr/>
        </p:nvSpPr>
        <p:spPr>
          <a:xfrm>
            <a:off x="2583180" y="446100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How can Shapley values explain black-box clustering </a:t>
            </a:r>
            <a:r>
              <a:rPr lang="en-US" sz="2000" b="true">
                <a:solidFill>
                  <a:srgbClr val="111111"/>
                </a:solidFill>
                <a:latin typeface="Nunito Bold"/>
                <a:ea typeface="Nunito Bold"/>
                <a:cs typeface="Nunito Bold"/>
                <a:sym typeface="Nunito Bold"/>
              </a:rPr>
              <a:t>faithfully at instance and cluster level</a:t>
            </a:r>
            <a:r>
              <a:rPr lang="en-US" sz="2000" b="true">
                <a:solidFill>
                  <a:srgbClr val="111111"/>
                </a:solidFill>
                <a:latin typeface="Nunito Semi-Bold"/>
                <a:ea typeface="Nunito Semi-Bold"/>
                <a:cs typeface="Nunito Semi-Bold"/>
                <a:sym typeface="Nunito Semi-Bold"/>
              </a:rPr>
              <a:t>?</a:t>
            </a:r>
          </a:p>
        </p:txBody>
      </p:sp>
      <p:sp>
        <p:nvSpPr>
          <p:cNvPr id="31" name="Rounded Rectangle 30"/>
          <p:cNvSpPr/>
          <p:nvPr/>
        </p:nvSpPr>
        <p:spPr>
          <a:xfrm>
            <a:off x="15339060" y="4589018"/>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C1</a:t>
            </a:r>
          </a:p>
        </p:txBody>
      </p:sp>
      <p:sp>
        <p:nvSpPr>
          <p:cNvPr id="32" name="Rounded Rectangle 31"/>
          <p:cNvSpPr/>
          <p:nvPr/>
        </p:nvSpPr>
        <p:spPr>
          <a:xfrm>
            <a:off x="1028700" y="5465267"/>
            <a:ext cx="16230600" cy="876249"/>
          </a:xfrm>
          <a:prstGeom prst="roundRect">
            <a:avLst>
              <a:gd name="adj" fmla="val 20870"/>
            </a:avLst>
          </a:prstGeom>
          <a:solidFill>
            <a:srgbClr val="FBF4EB"/>
          </a:solidFill>
          <a:ln>
            <a:noFill/>
          </a:ln>
        </p:spPr>
        <p:txBody>
          <a:bodyPr anchor="ctr" rtlCol="false" lIns="0" tIns="0" rIns="0" bIns="0" wrap="square"/>
          <a:lstStyle/>
          <a:p>
            <a:endParaRPr lang="en-US" sz="1800"/>
          </a:p>
        </p:txBody>
      </p:sp>
      <p:sp>
        <p:nvSpPr>
          <p:cNvPr id="33" name="Rounded Rectangle 32"/>
          <p:cNvSpPr/>
          <p:nvPr/>
        </p:nvSpPr>
        <p:spPr>
          <a:xfrm>
            <a:off x="1211580" y="5593283"/>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RQ2</a:t>
            </a:r>
          </a:p>
        </p:txBody>
      </p:sp>
      <p:sp>
        <p:nvSpPr>
          <p:cNvPr id="34" name="TextBox 33"/>
          <p:cNvSpPr txBox="1"/>
          <p:nvPr/>
        </p:nvSpPr>
        <p:spPr>
          <a:xfrm>
            <a:off x="2583180" y="5465267"/>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How can this extend to </a:t>
            </a:r>
            <a:r>
              <a:rPr lang="en-US" sz="2000" b="true">
                <a:solidFill>
                  <a:srgbClr val="111111"/>
                </a:solidFill>
                <a:latin typeface="Nunito Bold"/>
                <a:ea typeface="Nunito Bold"/>
                <a:cs typeface="Nunito Bold"/>
                <a:sym typeface="Nunito Bold"/>
              </a:rPr>
              <a:t>large-scale, multi-level clustering</a:t>
            </a:r>
            <a:r>
              <a:rPr lang="en-US" sz="2000" b="true">
                <a:solidFill>
                  <a:srgbClr val="111111"/>
                </a:solidFill>
                <a:latin typeface="Nunito Semi-Bold"/>
                <a:ea typeface="Nunito Semi-Bold"/>
                <a:cs typeface="Nunito Semi-Bold"/>
                <a:sym typeface="Nunito Semi-Bold"/>
              </a:rPr>
              <a:t> while staying feasible and consistent?</a:t>
            </a:r>
          </a:p>
        </p:txBody>
      </p:sp>
      <p:sp>
        <p:nvSpPr>
          <p:cNvPr id="35" name="Rounded Rectangle 34"/>
          <p:cNvSpPr/>
          <p:nvPr/>
        </p:nvSpPr>
        <p:spPr>
          <a:xfrm>
            <a:off x="15339060" y="5593283"/>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C2</a:t>
            </a:r>
          </a:p>
        </p:txBody>
      </p:sp>
      <p:sp>
        <p:nvSpPr>
          <p:cNvPr id="36" name="Rounded Rectangle 35"/>
          <p:cNvSpPr/>
          <p:nvPr/>
        </p:nvSpPr>
        <p:spPr>
          <a:xfrm>
            <a:off x="1028700" y="6469532"/>
            <a:ext cx="16230600" cy="876249"/>
          </a:xfrm>
          <a:prstGeom prst="roundRect">
            <a:avLst>
              <a:gd name="adj" fmla="val 20870"/>
            </a:avLst>
          </a:prstGeom>
          <a:solidFill>
            <a:srgbClr val="E7EAF3"/>
          </a:solidFill>
          <a:ln>
            <a:noFill/>
          </a:ln>
        </p:spPr>
        <p:txBody>
          <a:bodyPr anchor="ctr" rtlCol="false" lIns="0" tIns="0" rIns="0" bIns="0" wrap="square"/>
          <a:lstStyle/>
          <a:p>
            <a:endParaRPr lang="en-US" sz="1800"/>
          </a:p>
        </p:txBody>
      </p:sp>
      <p:sp>
        <p:nvSpPr>
          <p:cNvPr id="37" name="Rounded Rectangle 36"/>
          <p:cNvSpPr/>
          <p:nvPr/>
        </p:nvSpPr>
        <p:spPr>
          <a:xfrm>
            <a:off x="1211580" y="6597548"/>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RQ3</a:t>
            </a:r>
          </a:p>
        </p:txBody>
      </p:sp>
      <p:sp>
        <p:nvSpPr>
          <p:cNvPr id="38" name="TextBox 37"/>
          <p:cNvSpPr txBox="1"/>
          <p:nvPr/>
        </p:nvSpPr>
        <p:spPr>
          <a:xfrm>
            <a:off x="2583180" y="646953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Can cooperative attribution move </a:t>
            </a:r>
            <a:r>
              <a:rPr lang="en-US" sz="2000" b="true">
                <a:solidFill>
                  <a:srgbClr val="111111"/>
                </a:solidFill>
                <a:latin typeface="Nunito Bold"/>
                <a:ea typeface="Nunito Bold"/>
                <a:cs typeface="Nunito Bold"/>
                <a:sym typeface="Nunito Bold"/>
              </a:rPr>
              <a:t>beyond post-hoc</a:t>
            </a:r>
            <a:r>
              <a:rPr lang="en-US" sz="2000" b="true">
                <a:solidFill>
                  <a:srgbClr val="111111"/>
                </a:solidFill>
                <a:latin typeface="Nunito Semi-Bold"/>
                <a:ea typeface="Nunito Semi-Bold"/>
                <a:cs typeface="Nunito Semi-Bold"/>
                <a:sym typeface="Nunito Semi-Bold"/>
              </a:rPr>
              <a:t> and become part of how graph recommenders learn?</a:t>
            </a:r>
          </a:p>
        </p:txBody>
      </p:sp>
      <p:sp>
        <p:nvSpPr>
          <p:cNvPr id="39" name="Rounded Rectangle 38"/>
          <p:cNvSpPr/>
          <p:nvPr/>
        </p:nvSpPr>
        <p:spPr>
          <a:xfrm>
            <a:off x="15339060" y="6597548"/>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C3</a:t>
            </a:r>
          </a:p>
        </p:txBody>
      </p:sp>
      <p:sp>
        <p:nvSpPr>
          <p:cNvPr id="40" name="Rounded Rectangle 39"/>
          <p:cNvSpPr/>
          <p:nvPr/>
        </p:nvSpPr>
        <p:spPr>
          <a:xfrm>
            <a:off x="1028700" y="7473797"/>
            <a:ext cx="16230600" cy="876249"/>
          </a:xfrm>
          <a:prstGeom prst="roundRect">
            <a:avLst>
              <a:gd name="adj" fmla="val 20870"/>
            </a:avLst>
          </a:prstGeom>
          <a:solidFill>
            <a:srgbClr val="FBF4EB"/>
          </a:solidFill>
          <a:ln>
            <a:noFill/>
          </a:ln>
        </p:spPr>
        <p:txBody>
          <a:bodyPr anchor="ctr" rtlCol="false" lIns="0" tIns="0" rIns="0" bIns="0" wrap="square"/>
          <a:lstStyle/>
          <a:p>
            <a:endParaRPr lang="en-US" sz="1800"/>
          </a:p>
        </p:txBody>
      </p:sp>
      <p:sp>
        <p:nvSpPr>
          <p:cNvPr id="41" name="Rounded Rectangle 40"/>
          <p:cNvSpPr/>
          <p:nvPr/>
        </p:nvSpPr>
        <p:spPr>
          <a:xfrm>
            <a:off x="1211580" y="7601813"/>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RQ4</a:t>
            </a:r>
          </a:p>
        </p:txBody>
      </p:sp>
      <p:sp>
        <p:nvSpPr>
          <p:cNvPr id="42" name="TextBox 41"/>
          <p:cNvSpPr txBox="1"/>
          <p:nvPr/>
        </p:nvSpPr>
        <p:spPr>
          <a:xfrm>
            <a:off x="2583180" y="7473797"/>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Can a recommender </a:t>
            </a:r>
            <a:r>
              <a:rPr lang="en-US" sz="2000" b="true">
                <a:solidFill>
                  <a:srgbClr val="111111"/>
                </a:solidFill>
                <a:latin typeface="Nunito Bold"/>
                <a:ea typeface="Nunito Bold"/>
                <a:cs typeface="Nunito Bold"/>
                <a:sym typeface="Nunito Bold"/>
              </a:rPr>
              <a:t>improve ranking accuracy, context and diversity at the same time</a:t>
            </a:r>
            <a:r>
              <a:rPr lang="en-US" sz="2000" b="true">
                <a:solidFill>
                  <a:srgbClr val="111111"/>
                </a:solidFill>
                <a:latin typeface="Nunito Semi-Bold"/>
                <a:ea typeface="Nunito Semi-Bold"/>
                <a:cs typeface="Nunito Semi-Bold"/>
                <a:sym typeface="Nunito Semi-Bold"/>
              </a:rPr>
              <a:t> when importance comes from a cooperative-game utility?</a:t>
            </a:r>
          </a:p>
        </p:txBody>
      </p:sp>
      <p:sp>
        <p:nvSpPr>
          <p:cNvPr id="43" name="Rounded Rectangle 42"/>
          <p:cNvSpPr/>
          <p:nvPr/>
        </p:nvSpPr>
        <p:spPr>
          <a:xfrm>
            <a:off x="15339060" y="7601813"/>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C3</a:t>
            </a:r>
          </a:p>
        </p:txBody>
      </p:sp>
      <p:sp>
        <p:nvSpPr>
          <p:cNvPr id="44" name="Rounded Rectangle 43"/>
          <p:cNvSpPr/>
          <p:nvPr/>
        </p:nvSpPr>
        <p:spPr>
          <a:xfrm>
            <a:off x="1028700" y="8478062"/>
            <a:ext cx="16230600" cy="876249"/>
          </a:xfrm>
          <a:prstGeom prst="roundRect">
            <a:avLst>
              <a:gd name="adj" fmla="val 20870"/>
            </a:avLst>
          </a:prstGeom>
          <a:solidFill>
            <a:srgbClr val="E7EAF3"/>
          </a:solidFill>
          <a:ln>
            <a:noFill/>
          </a:ln>
        </p:spPr>
        <p:txBody>
          <a:bodyPr anchor="ctr" rtlCol="false" lIns="0" tIns="0" rIns="0" bIns="0" wrap="square"/>
          <a:lstStyle/>
          <a:p>
            <a:endParaRPr lang="en-US" sz="1800"/>
          </a:p>
        </p:txBody>
      </p:sp>
      <p:sp>
        <p:nvSpPr>
          <p:cNvPr id="45" name="Rounded Rectangle 44"/>
          <p:cNvSpPr/>
          <p:nvPr/>
        </p:nvSpPr>
        <p:spPr>
          <a:xfrm>
            <a:off x="1211580" y="8606078"/>
            <a:ext cx="1143000" cy="620217"/>
          </a:xfrm>
          <a:prstGeom prst="roundRect">
            <a:avLst>
              <a:gd name="adj" fmla="val 22114"/>
            </a:avLst>
          </a:prstGeom>
          <a:solidFill>
            <a:srgbClr val="111111"/>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RQ5</a:t>
            </a:r>
          </a:p>
        </p:txBody>
      </p:sp>
      <p:sp>
        <p:nvSpPr>
          <p:cNvPr id="46" name="TextBox 45"/>
          <p:cNvSpPr txBox="1"/>
          <p:nvPr/>
        </p:nvSpPr>
        <p:spPr>
          <a:xfrm>
            <a:off x="2583180" y="847806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What do we gain when clustering explanation and recommendation learning are </a:t>
            </a:r>
            <a:r>
              <a:rPr lang="en-US" sz="2000" b="true">
                <a:solidFill>
                  <a:srgbClr val="111111"/>
                </a:solidFill>
                <a:latin typeface="Nunito Bold"/>
                <a:ea typeface="Nunito Bold"/>
                <a:cs typeface="Nunito Bold"/>
                <a:sym typeface="Nunito Bold"/>
              </a:rPr>
              <a:t>two stages of one cooperative-game view</a:t>
            </a:r>
            <a:r>
              <a:rPr lang="en-US" sz="2000" b="true">
                <a:solidFill>
                  <a:srgbClr val="111111"/>
                </a:solidFill>
                <a:latin typeface="Nunito Semi-Bold"/>
                <a:ea typeface="Nunito Semi-Bold"/>
                <a:cs typeface="Nunito Semi-Bold"/>
                <a:sym typeface="Nunito Semi-Bold"/>
              </a:rPr>
              <a:t>?</a:t>
            </a:r>
          </a:p>
        </p:txBody>
      </p:sp>
      <p:sp>
        <p:nvSpPr>
          <p:cNvPr id="47" name="Rounded Rectangle 46"/>
          <p:cNvSpPr/>
          <p:nvPr/>
        </p:nvSpPr>
        <p:spPr>
          <a:xfrm>
            <a:off x="15339060" y="8606078"/>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Thesis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Three Contributions</a:t>
            </a:r>
          </a:p>
        </p:txBody>
      </p:sp>
      <p:pic>
        <p:nvPicPr>
          <p:cNvPr id="23" name="Picture 22" descr="image.png"/>
          <p:cNvPicPr>
            <a:picLocks noChangeAspect="1"/>
          </p:cNvPicPr>
          <p:nvPr/>
        </p:nvPicPr>
        <p:blipFill>
          <a:blip r:embed="rId3"/>
          <a:stretch>
            <a:fillRect/>
          </a:stretch>
        </p:blipFill>
        <p:spPr>
          <a:xfrm>
            <a:off x="7638654" y="1673352"/>
            <a:ext cx="457200" cy="415247"/>
          </a:xfrm>
          <a:prstGeom prst="rect">
            <a:avLst/>
          </a:prstGeom>
        </p:spPr>
      </p:pic>
      <p:sp>
        <p:nvSpPr>
          <p:cNvPr id="24" name="Rounded Rectangle 23"/>
          <p:cNvSpPr/>
          <p:nvPr/>
        </p:nvSpPr>
        <p:spPr>
          <a:xfrm>
            <a:off x="1028700" y="25590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Contributions</a:t>
            </a:r>
          </a:p>
        </p:txBody>
      </p:sp>
      <p:sp>
        <p:nvSpPr>
          <p:cNvPr id="27" name="Rounded Rectangle 26"/>
          <p:cNvSpPr/>
          <p:nvPr/>
        </p:nvSpPr>
        <p:spPr>
          <a:xfrm>
            <a:off x="1028700" y="3455162"/>
            <a:ext cx="5196840" cy="4480560"/>
          </a:xfrm>
          <a:prstGeom prst="roundRect">
            <a:avLst>
              <a:gd name="adj" fmla="val 6530"/>
            </a:avLst>
          </a:prstGeom>
          <a:solidFill>
            <a:srgbClr val="4472C4"/>
          </a:solidFill>
          <a:ln>
            <a:noFill/>
          </a:ln>
        </p:spPr>
        <p:txBody>
          <a:bodyPr anchor="ctr" rtlCol="false" lIns="0" tIns="0" rIns="0" bIns="0" wrap="square"/>
          <a:lstStyle/>
          <a:p>
            <a:endParaRPr lang="en-US" sz="1800"/>
          </a:p>
        </p:txBody>
      </p:sp>
      <p:sp>
        <p:nvSpPr>
          <p:cNvPr id="28" name="TextBox 27"/>
          <p:cNvSpPr txBox="1"/>
          <p:nvPr/>
        </p:nvSpPr>
        <p:spPr>
          <a:xfrm>
            <a:off x="139446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ECC665"/>
                </a:solidFill>
                <a:latin typeface="Roca Two Bold"/>
                <a:ea typeface="Roca Two Bold"/>
                <a:cs typeface="Roca Two Bold"/>
                <a:sym typeface="Roca Two Bold"/>
              </a:rPr>
              <a:t>C1</a:t>
            </a:r>
          </a:p>
        </p:txBody>
      </p:sp>
      <p:sp>
        <p:nvSpPr>
          <p:cNvPr id="29" name="Rounded Rectangle 28"/>
          <p:cNvSpPr/>
          <p:nvPr/>
        </p:nvSpPr>
        <p:spPr>
          <a:xfrm>
            <a:off x="4213860" y="3802634"/>
            <a:ext cx="991577"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4472C4"/>
                </a:solidFill>
                <a:latin typeface="Nunito Bold"/>
                <a:ea typeface="Nunito Bold"/>
                <a:cs typeface="Nunito Bold"/>
                <a:sym typeface="Nunito Bold"/>
              </a:rPr>
              <a:t>RQ1</a:t>
            </a:r>
          </a:p>
        </p:txBody>
      </p:sp>
      <p:sp>
        <p:nvSpPr>
          <p:cNvPr id="30" name="TextBox 29"/>
          <p:cNvSpPr txBox="1"/>
          <p:nvPr/>
        </p:nvSpPr>
        <p:spPr>
          <a:xfrm>
            <a:off x="139446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Explainable black-box clustering</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PCA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K-Means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LightGBM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TreeSHAP pipeline.</a:t>
            </a:r>
          </a:p>
          <a:p>
            <a:pPr algn="l">
              <a:lnSpc>
                <a:spcPts val="1700"/>
              </a:lnSpc>
              <a:spcBef>
                <a:spcPts val="1400"/>
              </a:spcBef>
              <a:buNone/>
            </a:pPr>
            <a:r>
              <a:rPr lang="en-US" sz="1400" b="true" spc="140">
                <a:solidFill>
                  <a:srgbClr val="ECC665"/>
                </a:solidFill>
                <a:latin typeface="Nunito Ultra-Bold"/>
                <a:ea typeface="Nunito Ultra-Bold"/>
                <a:cs typeface="Nunito Ultra-Bold"/>
                <a:sym typeface="Nunito Ultra-Bold"/>
              </a:rPr>
              <a:t>WINE QUALITY</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Faithful instance- and cluster-level feature attribution.</a:t>
            </a:r>
          </a:p>
        </p:txBody>
      </p:sp>
      <p:sp>
        <p:nvSpPr>
          <p:cNvPr id="31" name="Rounded Rectangle 30"/>
          <p:cNvSpPr/>
          <p:nvPr/>
        </p:nvSpPr>
        <p:spPr>
          <a:xfrm>
            <a:off x="6545580" y="3455162"/>
            <a:ext cx="5196840" cy="4480560"/>
          </a:xfrm>
          <a:prstGeom prst="roundRect">
            <a:avLst>
              <a:gd name="adj" fmla="val 6530"/>
            </a:avLst>
          </a:prstGeom>
          <a:solidFill>
            <a:srgbClr val="2F5597"/>
          </a:solidFill>
          <a:ln>
            <a:noFill/>
          </a:ln>
        </p:spPr>
        <p:txBody>
          <a:bodyPr anchor="ctr" rtlCol="false" lIns="0" tIns="0" rIns="0" bIns="0" wrap="square"/>
          <a:lstStyle/>
          <a:p>
            <a:endParaRPr lang="en-US" sz="1800"/>
          </a:p>
        </p:txBody>
      </p:sp>
      <p:sp>
        <p:nvSpPr>
          <p:cNvPr id="32" name="TextBox 31"/>
          <p:cNvSpPr txBox="1"/>
          <p:nvPr/>
        </p:nvSpPr>
        <p:spPr>
          <a:xfrm>
            <a:off x="691134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ECC665"/>
                </a:solidFill>
                <a:latin typeface="Roca Two Bold"/>
                <a:ea typeface="Roca Two Bold"/>
                <a:cs typeface="Roca Two Bold"/>
                <a:sym typeface="Roca Two Bold"/>
              </a:rPr>
              <a:t>C2</a:t>
            </a:r>
          </a:p>
        </p:txBody>
      </p:sp>
      <p:sp>
        <p:nvSpPr>
          <p:cNvPr id="33" name="Rounded Rectangle 32"/>
          <p:cNvSpPr/>
          <p:nvPr/>
        </p:nvSpPr>
        <p:spPr>
          <a:xfrm>
            <a:off x="9730740" y="3802634"/>
            <a:ext cx="991577"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2F5597"/>
                </a:solidFill>
                <a:latin typeface="Nunito Bold"/>
                <a:ea typeface="Nunito Bold"/>
                <a:cs typeface="Nunito Bold"/>
                <a:sym typeface="Nunito Bold"/>
              </a:rPr>
              <a:t>RQ2</a:t>
            </a:r>
          </a:p>
        </p:txBody>
      </p:sp>
      <p:sp>
        <p:nvSpPr>
          <p:cNvPr id="34" name="TextBox 33"/>
          <p:cNvSpPr txBox="1"/>
          <p:nvPr/>
        </p:nvSpPr>
        <p:spPr>
          <a:xfrm>
            <a:off x="691134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Enhanced multi-level XAI</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Large-scale clustering with cross-level SHAP aggregation (Prop. 6.1).</a:t>
            </a:r>
          </a:p>
          <a:p>
            <a:pPr algn="l">
              <a:lnSpc>
                <a:spcPts val="1700"/>
              </a:lnSpc>
              <a:spcBef>
                <a:spcPts val="1400"/>
              </a:spcBef>
              <a:buNone/>
            </a:pPr>
            <a:r>
              <a:rPr lang="en-US" sz="1400" b="true" spc="140">
                <a:solidFill>
                  <a:srgbClr val="ECC665"/>
                </a:solidFill>
                <a:latin typeface="Nunito Ultra-Bold"/>
                <a:ea typeface="Nunito Ultra-Bold"/>
                <a:cs typeface="Nunito Ultra-Bold"/>
                <a:sym typeface="Nunito Ultra-Bold"/>
              </a:rPr>
              <a:t>BEIJING AIR QUALITY</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Attribution stays consistent across levels and at scale.</a:t>
            </a:r>
          </a:p>
        </p:txBody>
      </p:sp>
      <p:sp>
        <p:nvSpPr>
          <p:cNvPr id="35" name="Rounded Rectangle 34"/>
          <p:cNvSpPr/>
          <p:nvPr/>
        </p:nvSpPr>
        <p:spPr>
          <a:xfrm>
            <a:off x="12062460" y="3455162"/>
            <a:ext cx="5196840" cy="4480560"/>
          </a:xfrm>
          <a:prstGeom prst="roundRect">
            <a:avLst>
              <a:gd name="adj" fmla="val 6530"/>
            </a:avLst>
          </a:prstGeom>
          <a:solidFill>
            <a:srgbClr val="1F7A8C"/>
          </a:solidFill>
          <a:ln>
            <a:noFill/>
          </a:ln>
        </p:spPr>
        <p:txBody>
          <a:bodyPr anchor="ctr" rtlCol="false" lIns="0" tIns="0" rIns="0" bIns="0" wrap="square"/>
          <a:lstStyle/>
          <a:p>
            <a:endParaRPr lang="en-US" sz="1800"/>
          </a:p>
        </p:txBody>
      </p:sp>
      <p:sp>
        <p:nvSpPr>
          <p:cNvPr id="36" name="TextBox 35"/>
          <p:cNvSpPr txBox="1"/>
          <p:nvPr/>
        </p:nvSpPr>
        <p:spPr>
          <a:xfrm>
            <a:off x="1242822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FFFFFF"/>
                </a:solidFill>
                <a:latin typeface="Roca Two Bold"/>
                <a:ea typeface="Roca Two Bold"/>
                <a:cs typeface="Roca Two Bold"/>
                <a:sym typeface="Roca Two Bold"/>
              </a:rPr>
              <a:t>C3</a:t>
            </a:r>
          </a:p>
        </p:txBody>
      </p:sp>
      <p:sp>
        <p:nvSpPr>
          <p:cNvPr id="37" name="Rounded Rectangle 36"/>
          <p:cNvSpPr/>
          <p:nvPr/>
        </p:nvSpPr>
        <p:spPr>
          <a:xfrm>
            <a:off x="15247620" y="3802634"/>
            <a:ext cx="1552948"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1F7A8C"/>
                </a:solidFill>
                <a:latin typeface="Nunito Bold"/>
                <a:ea typeface="Nunito Bold"/>
                <a:cs typeface="Nunito Bold"/>
                <a:sym typeface="Nunito Bold"/>
              </a:rPr>
              <a:t>RQ3 · RQ4</a:t>
            </a:r>
          </a:p>
        </p:txBody>
      </p:sp>
      <p:sp>
        <p:nvSpPr>
          <p:cNvPr id="38" name="TextBox 37"/>
          <p:cNvSpPr txBox="1"/>
          <p:nvPr/>
        </p:nvSpPr>
        <p:spPr>
          <a:xfrm>
            <a:off x="1242822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DyHuCoG</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Dynamic Hypergraph Cooperative Game for preference-aware recommendation.</a:t>
            </a:r>
          </a:p>
          <a:p>
            <a:pPr algn="l">
              <a:lnSpc>
                <a:spcPts val="1700"/>
              </a:lnSpc>
              <a:spcBef>
                <a:spcPts val="1400"/>
              </a:spcBef>
              <a:buNone/>
            </a:pPr>
            <a:r>
              <a:rPr lang="en-US" sz="1400" b="true" spc="140">
                <a:solidFill>
                  <a:srgbClr val="FFFFFF"/>
                </a:solidFill>
                <a:latin typeface="Nunito Ultra-Bold"/>
                <a:ea typeface="Nunito Ultra-Bold"/>
                <a:cs typeface="Nunito Ultra-Bold"/>
                <a:sym typeface="Nunito Ultra-Bold"/>
              </a:rPr>
              <a:t>MOVIELENS-1M · AMAZON-BOOK</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Preference-aware Monte Carlo Shapley as an in-training signal.</a:t>
            </a:r>
          </a:p>
        </p:txBody>
      </p:sp>
      <p:sp>
        <p:nvSpPr>
          <p:cNvPr id="39" name="Rounded Rectangle 38"/>
          <p:cNvSpPr/>
          <p:nvPr/>
        </p:nvSpPr>
        <p:spPr>
          <a:xfrm>
            <a:off x="1028700" y="8301482"/>
            <a:ext cx="16230600" cy="1052830"/>
          </a:xfrm>
          <a:prstGeom prst="roundRect">
            <a:avLst>
              <a:gd name="adj" fmla="val 21712"/>
            </a:avLst>
          </a:prstGeom>
          <a:solidFill>
            <a:srgbClr val="E7EAF3"/>
          </a:solidFill>
          <a:ln>
            <a:noFill/>
          </a:ln>
        </p:spPr>
        <p:txBody>
          <a:bodyPr anchor="ctr" rtlCol="false" lIns="457200" tIns="91440" rIns="457200" bIns="91440" wrap="square"/>
          <a:lstStyle/>
          <a:p>
            <a:pPr algn="ctr">
              <a:lnSpc>
                <a:spcPts val="2700"/>
              </a:lnSpc>
              <a:spcBef>
                <a:spcPts val="0"/>
              </a:spcBef>
              <a:buNone/>
            </a:pPr>
            <a:r>
              <a:rPr lang="en-US" sz="2100" b="true">
                <a:solidFill>
                  <a:srgbClr val="111111"/>
                </a:solidFill>
                <a:latin typeface="Nunito Bold"/>
                <a:ea typeface="Nunito Bold"/>
                <a:cs typeface="Nunito Bold"/>
                <a:sym typeface="Nunito Bold"/>
              </a:rPr>
              <a:t>Thesis claim:</a:t>
            </a:r>
            <a:r>
              <a:rPr lang="en-US" sz="2100" b="true">
                <a:solidFill>
                  <a:srgbClr val="111111"/>
                </a:solidFill>
                <a:latin typeface="Nunito Semi-Bold"/>
                <a:ea typeface="Nunito Semi-Bold"/>
                <a:cs typeface="Nunito Semi-Bold"/>
                <a:sym typeface="Nunito Semi-Bold"/>
              </a:rPr>
              <a:t> cooperative game theory works as </a:t>
            </a:r>
            <a:r>
              <a:rPr lang="en-US" sz="2100" b="true">
                <a:solidFill>
                  <a:srgbClr val="111111"/>
                </a:solidFill>
                <a:latin typeface="Nunito Bold"/>
                <a:ea typeface="Nunito Bold"/>
                <a:cs typeface="Nunito Bold"/>
                <a:sym typeface="Nunito Bold"/>
              </a:rPr>
              <a:t>one shared attribution view</a:t>
            </a:r>
            <a:r>
              <a:rPr lang="en-US" sz="2100" b="true">
                <a:solidFill>
                  <a:srgbClr val="111111"/>
                </a:solidFill>
                <a:latin typeface="Nunito Semi-Bold"/>
                <a:ea typeface="Nunito Semi-Bold"/>
                <a:cs typeface="Nunito Semi-Bold"/>
                <a:sym typeface="Nunito Semi-Bold"/>
              </a:rPr>
              <a:t> for explanation, optimisation and action: three steps that build on each other, not three unrelated papers.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17</a:t>
            </a:r>
          </a:p>
        </p:txBody>
      </p:sp>
      <p:sp>
        <p:nvSpPr>
          <p:cNvPr id="7" name="TextBox 6"/>
          <p:cNvSpPr txBox="1"/>
          <p:nvPr/>
        </p:nvSpPr>
        <p:spPr>
          <a:xfrm>
            <a:off x="1028700" y="2331720"/>
            <a:ext cx="14859000" cy="1737360"/>
          </a:xfrm>
          <a:prstGeom prst="rect">
            <a:avLst/>
          </a:prstGeom>
          <a:noFill/>
        </p:spPr>
        <p:txBody>
          <a:bodyPr anchor="t" rtlCol="false" lIns="0" tIns="0" rIns="0" bIns="0" wrap="square"/>
          <a:lstStyle/>
          <a:p>
            <a:pPr algn="l">
              <a:lnSpc>
                <a:spcPts val="11628"/>
              </a:lnSpc>
              <a:spcBef>
                <a:spcPts val="0"/>
              </a:spcBef>
              <a:buNone/>
            </a:pPr>
            <a:r>
              <a:rPr lang="en-US" sz="11400" b="true" spc="-661">
                <a:solidFill>
                  <a:srgbClr val="111111"/>
                </a:solidFill>
                <a:latin typeface="Roca Two Bold"/>
                <a:ea typeface="Roca Two Bold"/>
                <a:cs typeface="Roca Two Bold"/>
                <a:sym typeface="Roca Two Bold"/>
              </a:rPr>
              <a:t>Experimental Protocol</a:t>
            </a:r>
          </a:p>
        </p:txBody>
      </p:sp>
      <p:sp>
        <p:nvSpPr>
          <p:cNvPr id="8" name="Oval 7"/>
          <p:cNvSpPr/>
          <p:nvPr/>
        </p:nvSpPr>
        <p:spPr>
          <a:xfrm>
            <a:off x="15673226" y="26898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5673226" y="26898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03</a:t>
            </a:r>
          </a:p>
        </p:txBody>
      </p:sp>
      <p:sp>
        <p:nvSpPr>
          <p:cNvPr id="10" name="TextBox 9"/>
          <p:cNvSpPr txBox="1"/>
          <p:nvPr/>
        </p:nvSpPr>
        <p:spPr>
          <a:xfrm>
            <a:off x="1028700" y="3953256"/>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One shared protocol so that the three contributions can be read together</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Datasets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Wine Quality and Beijing Air Quality for clustering; MovieLens-1M and Amazon-Book for recommendation.</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Baselines &amp; metrics</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LIME for clustering explanation; MF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HPCF for recommendation; NDCG@20, Recall, Coverage, ILD, Silhouette, Davies–Bouldin.</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Reproducibility</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Fixed seeds, time-ordered user-level splits, early stopping, standard academic hardware (i9-14900K + RTX 4090).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17</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Wine Quality: Portuguese Vinho Verde</a:t>
            </a:r>
          </a:p>
        </p:txBody>
      </p:sp>
      <p:pic>
        <p:nvPicPr>
          <p:cNvPr id="25" name="Picture 24" descr="image.png"/>
          <p:cNvPicPr>
            <a:picLocks noChangeAspect="1"/>
          </p:cNvPicPr>
          <p:nvPr/>
        </p:nvPicPr>
        <p:blipFill>
          <a:blip r:embed="rId3"/>
          <a:stretch>
            <a:fillRect/>
          </a:stretch>
        </p:blipFill>
        <p:spPr>
          <a:xfrm>
            <a:off x="11227909" y="1673352"/>
            <a:ext cx="457200" cy="250983"/>
          </a:xfrm>
          <a:prstGeom prst="rect">
            <a:avLst/>
          </a:prstGeom>
        </p:spPr>
      </p:pic>
      <p:sp>
        <p:nvSpPr>
          <p:cNvPr id="26" name="Rounded Rectangle 25"/>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TextBox 28"/>
          <p:cNvSpPr txBox="1"/>
          <p:nvPr/>
        </p:nvSpPr>
        <p:spPr>
          <a:xfrm>
            <a:off x="1028700" y="3363722"/>
            <a:ext cx="7863840" cy="466471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4,898 white-wine samples</a:t>
            </a:r>
            <a:r>
              <a:rPr lang="en-US" sz="2100" b="true">
                <a:solidFill>
                  <a:srgbClr val="111111"/>
                </a:solidFill>
                <a:latin typeface="Nunito Semi-Bold"/>
                <a:ea typeface="Nunito Semi-Bold"/>
                <a:cs typeface="Nunito Semi-Bold"/>
                <a:sym typeface="Nunito Semi-Bold"/>
              </a:rPr>
              <a:t> described by </a:t>
            </a:r>
            <a:r>
              <a:rPr lang="en-US" sz="2100" b="true">
                <a:solidFill>
                  <a:srgbClr val="111111"/>
                </a:solidFill>
                <a:latin typeface="Nunito Bold"/>
                <a:ea typeface="Nunito Bold"/>
                <a:cs typeface="Nunito Bold"/>
                <a:sym typeface="Nunito Bold"/>
              </a:rPr>
              <a:t>11 physicochemical measurements</a:t>
            </a:r>
            <a:r>
              <a:rPr lang="en-US" sz="2100" b="true">
                <a:solidFill>
                  <a:srgbClr val="111111"/>
                </a:solidFill>
                <a:latin typeface="Nunito Semi-Bold"/>
                <a:ea typeface="Nunito Semi-Bold"/>
                <a:cs typeface="Nunito Semi-Bold"/>
                <a:sym typeface="Nunito Semi-Bold"/>
              </a:rPr>
              <a:t> and a sensory quality score (UCI repository).</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Small, dense and chemically correlated: the ideal place to check that an explanation lands on </a:t>
            </a:r>
            <a:r>
              <a:rPr lang="en-US" sz="2100" b="true">
                <a:solidFill>
                  <a:srgbClr val="111111"/>
                </a:solidFill>
                <a:latin typeface="Nunito Bold"/>
                <a:ea typeface="Nunito Bold"/>
                <a:cs typeface="Nunito Bold"/>
                <a:sym typeface="Nunito Bold"/>
              </a:rPr>
              <a:t>variables a wine expert understands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Used for </a:t>
            </a:r>
            <a:r>
              <a:rPr lang="en-US" sz="2100" b="true">
                <a:solidFill>
                  <a:srgbClr val="111111"/>
                </a:solidFill>
                <a:latin typeface="Nunito Bold"/>
                <a:ea typeface="Nunito Bold"/>
                <a:cs typeface="Nunito Bold"/>
                <a:sym typeface="Nunito Bold"/>
              </a:rPr>
              <a:t>Contribution I</a:t>
            </a:r>
            <a:r>
              <a:rPr lang="en-US" sz="2100" b="true">
                <a:solidFill>
                  <a:srgbClr val="111111"/>
                </a:solidFill>
                <a:latin typeface="Nunito Semi-Bold"/>
                <a:ea typeface="Nunito Semi-Bold"/>
                <a:cs typeface="Nunito Semi-Bold"/>
                <a:sym typeface="Nunito Semi-Bold"/>
              </a:rPr>
              <a:t>: single-level clustering, then Shapley attribution back to the chemistry.</a:t>
            </a:r>
          </a:p>
        </p:txBody>
      </p:sp>
      <p:graphicFrame>
        <p:nvGraphicFramePr>
          <p:cNvPr id="30" name="Table 29"/>
          <p:cNvGraphicFramePr>
            <a:graphicFrameLocks noGrp="1"/>
          </p:cNvGraphicFramePr>
          <p:nvPr/>
        </p:nvGraphicFramePr>
        <p:xfrm>
          <a:off x="9349740" y="3363722"/>
          <a:ext cx="7909559" cy="3968496"/>
        </p:xfrm>
        <a:graphic>
          <a:graphicData uri="http://schemas.openxmlformats.org/drawingml/2006/table">
            <a:tbl>
              <a:tblPr firstRow="0" bandRow="0" firstCol="0" lastRow="0" lastCol="0" bandCol="0">
                <a:tableStyleId>{2D5ABB26-0587-4C30-8999-92F81FD0307C}</a:tableStyleId>
              </a:tblPr>
              <a:tblGrid>
                <a:gridCol w="4126726"/>
                <a:gridCol w="3782833"/>
              </a:tblGrid>
              <a:tr h="566928">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Wine Quality</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Observations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4,898</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Features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11 numeric</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Target (not used for clustering)</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quality 3 to 9</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Missing values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none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Scale of features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standardised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Selected 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 = 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1" name="Rounded Rectangle 30"/>
          <p:cNvSpPr/>
          <p:nvPr/>
        </p:nvSpPr>
        <p:spPr>
          <a:xfrm>
            <a:off x="1028700" y="8196580"/>
            <a:ext cx="16230600" cy="1143000"/>
          </a:xfrm>
          <a:prstGeom prst="roundRect">
            <a:avLst>
              <a:gd name="adj" fmla="val 17600"/>
            </a:avLst>
          </a:prstGeom>
          <a:solidFill>
            <a:srgbClr val="E7EAF3"/>
          </a:solidFill>
          <a:ln>
            <a:noFill/>
          </a:ln>
        </p:spPr>
        <p:txBody>
          <a:bodyPr anchor="ctr" rtlCol="false" lIns="365760" tIns="45720" rIns="365760" bIns="45720" wrap="square"/>
          <a:lstStyle/>
          <a:p>
            <a:pPr algn="ctr">
              <a:lnSpc>
                <a:spcPts val="2300"/>
              </a:lnSpc>
              <a:spcBef>
                <a:spcPts val="0"/>
              </a:spcBef>
              <a:buNone/>
            </a:pPr>
            <a:r>
              <a:rPr lang="en-US" sz="1800" b="true">
                <a:solidFill>
                  <a:srgbClr val="111111"/>
                </a:solidFill>
                <a:latin typeface="Nunito Semi-Bold"/>
                <a:ea typeface="Nunito Semi-Bold"/>
                <a:cs typeface="Nunito Semi-Bold"/>
                <a:sym typeface="Nunito Semi-Bold"/>
              </a:rPr>
              <a:t>Every variable is a </a:t>
            </a:r>
            <a:r>
              <a:rPr lang="en-US" sz="1800" b="true">
                <a:solidFill>
                  <a:srgbClr val="111111"/>
                </a:solidFill>
                <a:latin typeface="Nunito Bold"/>
                <a:ea typeface="Nunito Bold"/>
                <a:cs typeface="Nunito Bold"/>
                <a:sym typeface="Nunito Bold"/>
              </a:rPr>
              <a:t>lab measurement with a physical meaning</a:t>
            </a:r>
            <a:r>
              <a:rPr lang="en-US" sz="1800" b="true">
                <a:solidFill>
                  <a:srgbClr val="111111"/>
                </a:solidFill>
                <a:latin typeface="Nunito Semi-Bold"/>
                <a:ea typeface="Nunito Semi-Bold"/>
                <a:cs typeface="Nunito Semi-Bold"/>
                <a:sym typeface="Nunito Semi-Bold"/>
              </a:rPr>
              <a:t>; that is exactly the vocabulary in which the Shapley explanation is returned.</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[19] Cortez, P. et al. Wine Quality. UCI Machine Learning Repository (2009).  ·  Zhang, S. et al. Beijing Multi-Site Air Quality Data Set. UCI Machine Learning Repository (2017).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18</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Beijing Multi-Site Air Quality</a:t>
            </a:r>
          </a:p>
        </p:txBody>
      </p:sp>
      <p:pic>
        <p:nvPicPr>
          <p:cNvPr id="25" name="Picture 24" descr="image.png"/>
          <p:cNvPicPr>
            <a:picLocks noChangeAspect="1"/>
          </p:cNvPicPr>
          <p:nvPr/>
        </p:nvPicPr>
        <p:blipFill>
          <a:blip r:embed="rId3"/>
          <a:stretch>
            <a:fillRect/>
          </a:stretch>
        </p:blipFill>
        <p:spPr>
          <a:xfrm>
            <a:off x="8588295" y="1673352"/>
            <a:ext cx="457200" cy="415247"/>
          </a:xfrm>
          <a:prstGeom prst="rect">
            <a:avLst/>
          </a:prstGeom>
        </p:spPr>
      </p:pic>
      <p:sp>
        <p:nvSpPr>
          <p:cNvPr id="26" name="Rounded Rectangle 25"/>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TextBox 28"/>
          <p:cNvSpPr txBox="1"/>
          <p:nvPr/>
        </p:nvSpPr>
        <p:spPr>
          <a:xfrm>
            <a:off x="1028700" y="3363722"/>
            <a:ext cx="7863840" cy="466471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383,585 hourly records</a:t>
            </a:r>
            <a:r>
              <a:rPr lang="en-US" sz="2100" b="true">
                <a:solidFill>
                  <a:srgbClr val="111111"/>
                </a:solidFill>
                <a:latin typeface="Nunito Semi-Bold"/>
                <a:ea typeface="Nunito Semi-Bold"/>
                <a:cs typeface="Nunito Semi-Bold"/>
                <a:sym typeface="Nunito Semi-Bold"/>
              </a:rPr>
              <a:t> from Beijing monitoring stations, March 2013 to February 2017 (UCI repository).</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11 modelling variables:</a:t>
            </a:r>
            <a:r>
              <a:rPr lang="en-US" sz="2100" b="true">
                <a:solidFill>
                  <a:srgbClr val="111111"/>
                </a:solidFill>
                <a:latin typeface="Nunito Semi-Bold"/>
                <a:ea typeface="Nunito Semi-Bold"/>
                <a:cs typeface="Nunito Semi-Bold"/>
                <a:sym typeface="Nunito Semi-Bold"/>
              </a:rPr>
              <a:t> six pollutants (PM2.5, PM10, SO₂, NO₂, CO, O₃) and weather (temperature, pressure, dew point, wind direction, wind speed).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Large, noisy, varies with season and weather: the stress test for </a:t>
            </a:r>
            <a:r>
              <a:rPr lang="en-US" sz="2100" b="true">
                <a:solidFill>
                  <a:srgbClr val="111111"/>
                </a:solidFill>
                <a:latin typeface="Nunito Bold"/>
                <a:ea typeface="Nunito Bold"/>
                <a:cs typeface="Nunito Bold"/>
                <a:sym typeface="Nunito Bold"/>
              </a:rPr>
              <a:t>Contribution II</a:t>
            </a:r>
            <a:r>
              <a:rPr lang="en-US" sz="2100" b="true">
                <a:solidFill>
                  <a:srgbClr val="111111"/>
                </a:solidFill>
                <a:latin typeface="Nunito Semi-Bold"/>
                <a:ea typeface="Nunito Semi-Bold"/>
                <a:cs typeface="Nunito Semi-Bold"/>
                <a:sym typeface="Nunito Semi-Bold"/>
              </a:rPr>
              <a:t> (scale + multi-level structure).</a:t>
            </a:r>
          </a:p>
        </p:txBody>
      </p:sp>
      <p:graphicFrame>
        <p:nvGraphicFramePr>
          <p:cNvPr id="30" name="Table 29"/>
          <p:cNvGraphicFramePr>
            <a:graphicFrameLocks noGrp="1"/>
          </p:cNvGraphicFramePr>
          <p:nvPr/>
        </p:nvGraphicFramePr>
        <p:xfrm>
          <a:off x="9349740" y="3363722"/>
          <a:ext cx="7909559" cy="3968496"/>
        </p:xfrm>
        <a:graphic>
          <a:graphicData uri="http://schemas.openxmlformats.org/drawingml/2006/table">
            <a:tbl>
              <a:tblPr firstRow="0" bandRow="0" firstCol="0" lastRow="0" lastCol="0" bandCol="0">
                <a:tableStyleId>{2D5ABB26-0587-4C30-8999-92F81FD0307C}</a:tableStyleId>
              </a:tblPr>
              <a:tblGrid>
                <a:gridCol w="4126726"/>
                <a:gridCol w="3782833"/>
              </a:tblGrid>
              <a:tr h="566928">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Beijing Multi-Site Air Quality</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Observations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383,585 hourly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Period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2013 to 2017</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Variables used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11 (6 pollutants + 5 weather)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Structure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coarse regimes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sub-clusters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Selected 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 = 3 coarse regimes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Silhouette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 0.63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1" name="Rounded Rectangle 30"/>
          <p:cNvSpPr/>
          <p:nvPr/>
        </p:nvSpPr>
        <p:spPr>
          <a:xfrm>
            <a:off x="1028700" y="8196580"/>
            <a:ext cx="16230600" cy="1143000"/>
          </a:xfrm>
          <a:prstGeom prst="roundRect">
            <a:avLst>
              <a:gd name="adj" fmla="val 17600"/>
            </a:avLst>
          </a:prstGeom>
          <a:solidFill>
            <a:srgbClr val="E7EAF3"/>
          </a:solidFill>
          <a:ln>
            <a:noFill/>
          </a:ln>
        </p:spPr>
        <p:txBody>
          <a:bodyPr anchor="ctr" rtlCol="false" lIns="365760" tIns="45720" rIns="365760" bIns="45720" wrap="square"/>
          <a:lstStyle/>
          <a:p>
            <a:pPr algn="ctr">
              <a:lnSpc>
                <a:spcPts val="2300"/>
              </a:lnSpc>
              <a:spcBef>
                <a:spcPts val="0"/>
              </a:spcBef>
              <a:buNone/>
            </a:pPr>
            <a:r>
              <a:rPr lang="en-US" sz="1800" b="true">
                <a:solidFill>
                  <a:srgbClr val="111111"/>
                </a:solidFill>
                <a:latin typeface="Nunito Semi-Bold"/>
                <a:ea typeface="Nunito Semi-Bold"/>
                <a:cs typeface="Nunito Semi-Bold"/>
                <a:sym typeface="Nunito Semi-Bold"/>
              </a:rPr>
              <a:t>Pollutant and weather variables are measured </a:t>
            </a:r>
            <a:r>
              <a:rPr lang="en-US" sz="1800" b="true">
                <a:solidFill>
                  <a:srgbClr val="111111"/>
                </a:solidFill>
                <a:latin typeface="Nunito Bold"/>
                <a:ea typeface="Nunito Bold"/>
                <a:cs typeface="Nunito Bold"/>
                <a:sym typeface="Nunito Bold"/>
              </a:rPr>
              <a:t>side by side</a:t>
            </a:r>
            <a:r>
              <a:rPr lang="en-US" sz="1800" b="true">
                <a:solidFill>
                  <a:srgbClr val="111111"/>
                </a:solidFill>
                <a:latin typeface="Nunito Semi-Bold"/>
                <a:ea typeface="Nunito Semi-Bold"/>
                <a:cs typeface="Nunito Semi-Bold"/>
                <a:sym typeface="Nunito Semi-Bold"/>
              </a:rPr>
              <a:t>, so the explanation can show that the weather is what sets the regime.</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[19] Cortez, P. et al. Wine Quality. UCI Machine Learning Repository (2009).  ·  Zhang, S. et al. Beijing Multi-Site Air Quality Data Set. UCI Machine Learning Repository (2017).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19</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MovieLens-1M</a:t>
            </a:r>
          </a:p>
        </p:txBody>
      </p:sp>
      <p:pic>
        <p:nvPicPr>
          <p:cNvPr id="25" name="Picture 24" descr="image.png"/>
          <p:cNvPicPr>
            <a:picLocks noChangeAspect="1"/>
          </p:cNvPicPr>
          <p:nvPr/>
        </p:nvPicPr>
        <p:blipFill>
          <a:blip r:embed="rId3"/>
          <a:stretch>
            <a:fillRect/>
          </a:stretch>
        </p:blipFill>
        <p:spPr>
          <a:xfrm>
            <a:off x="4963971" y="1673352"/>
            <a:ext cx="457200" cy="452148"/>
          </a:xfrm>
          <a:prstGeom prst="rect">
            <a:avLst/>
          </a:prstGeom>
        </p:spPr>
      </p:pic>
      <p:sp>
        <p:nvSpPr>
          <p:cNvPr id="26" name="Rounded Rectangle 25"/>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TextBox 28"/>
          <p:cNvSpPr txBox="1"/>
          <p:nvPr/>
        </p:nvSpPr>
        <p:spPr>
          <a:xfrm>
            <a:off x="1028700" y="3363722"/>
            <a:ext cx="7863840" cy="466471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About 1 million ratings</a:t>
            </a:r>
            <a:r>
              <a:rPr lang="en-US" sz="2100" b="true">
                <a:solidFill>
                  <a:srgbClr val="111111"/>
                </a:solidFill>
                <a:latin typeface="Nunito Semi-Bold"/>
                <a:ea typeface="Nunito Semi-Bold"/>
                <a:cs typeface="Nunito Semi-Bold"/>
                <a:sym typeface="Nunito Semi-Bold"/>
              </a:rPr>
              <a:t> from </a:t>
            </a:r>
            <a:r>
              <a:rPr lang="en-US" sz="2100" b="true">
                <a:solidFill>
                  <a:srgbClr val="111111"/>
                </a:solidFill>
                <a:latin typeface="Nunito Bold"/>
                <a:ea typeface="Nunito Bold"/>
                <a:cs typeface="Nunito Bold"/>
                <a:sym typeface="Nunito Bold"/>
              </a:rPr>
              <a:t>6,040 users</a:t>
            </a:r>
            <a:r>
              <a:rPr lang="en-US" sz="2100" b="true">
                <a:solidFill>
                  <a:srgbClr val="111111"/>
                </a:solidFill>
                <a:latin typeface="Nunito Semi-Bold"/>
                <a:ea typeface="Nunito Semi-Bold"/>
                <a:cs typeface="Nunito Semi-Bold"/>
                <a:sym typeface="Nunito Semi-Bold"/>
              </a:rPr>
              <a:t> on </a:t>
            </a:r>
            <a:r>
              <a:rPr lang="en-US" sz="2100" b="true">
                <a:solidFill>
                  <a:srgbClr val="111111"/>
                </a:solidFill>
                <a:latin typeface="Nunito Bold"/>
                <a:ea typeface="Nunito Bold"/>
                <a:cs typeface="Nunito Bold"/>
                <a:sym typeface="Nunito Bold"/>
              </a:rPr>
              <a:t>3,706 movies</a:t>
            </a:r>
            <a:r>
              <a:rPr lang="en-US" sz="2100" b="true">
                <a:solidFill>
                  <a:srgbClr val="111111"/>
                </a:solidFill>
                <a:latin typeface="Nunito Semi-Bold"/>
                <a:ea typeface="Nunito Semi-Bold"/>
                <a:cs typeface="Nunito Semi-Bold"/>
                <a:sym typeface="Nunito Semi-Bold"/>
              </a:rPr>
              <a:t> (GroupLens benchmark).</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The standard benchmark for collaborative filtering for two decades: LightGCN, HCCF, HPCF and most graph recommenders report on it.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Comparatively </a:t>
            </a:r>
            <a:r>
              <a:rPr lang="en-US" sz="2100" b="true">
                <a:solidFill>
                  <a:srgbClr val="111111"/>
                </a:solidFill>
                <a:latin typeface="Nunito Bold"/>
                <a:ea typeface="Nunito Bold"/>
                <a:cs typeface="Nunito Bold"/>
                <a:sym typeface="Nunito Bold"/>
              </a:rPr>
              <a:t>dense</a:t>
            </a:r>
            <a:r>
              <a:rPr lang="en-US" sz="2100" b="true">
                <a:solidFill>
                  <a:srgbClr val="111111"/>
                </a:solidFill>
                <a:latin typeface="Nunito Semi-Bold"/>
                <a:ea typeface="Nunito Semi-Bold"/>
                <a:cs typeface="Nunito Semi-Bold"/>
                <a:sym typeface="Nunito Semi-Bold"/>
              </a:rPr>
              <a:t> (0.0447); ratings &gt; 3 become positive implicit feedback. Genre is the context proxy.</a:t>
            </a:r>
          </a:p>
        </p:txBody>
      </p:sp>
      <p:graphicFrame>
        <p:nvGraphicFramePr>
          <p:cNvPr id="30" name="Table 29"/>
          <p:cNvGraphicFramePr>
            <a:graphicFrameLocks noGrp="1"/>
          </p:cNvGraphicFramePr>
          <p:nvPr/>
        </p:nvGraphicFramePr>
        <p:xfrm>
          <a:off x="9349740" y="3363722"/>
          <a:ext cx="7909559" cy="3968496"/>
        </p:xfrm>
        <a:graphic>
          <a:graphicData uri="http://schemas.openxmlformats.org/drawingml/2006/table">
            <a:tbl>
              <a:tblPr firstRow="0" bandRow="0" firstCol="0" lastRow="0" lastCol="0" bandCol="0">
                <a:tableStyleId>{2D5ABB26-0587-4C30-8999-92F81FD0307C}</a:tableStyleId>
              </a:tblPr>
              <a:tblGrid>
                <a:gridCol w="4126726"/>
                <a:gridCol w="3782833"/>
              </a:tblGrid>
              <a:tr h="566928">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MovieLens-1M</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Users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6,040</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Items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3,706 movies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Interactions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1,000,209</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Density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 0.0447</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Rating scale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1 to 5 stars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Min. interactions / user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20</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1" name="Rounded Rectangle 30"/>
          <p:cNvSpPr/>
          <p:nvPr/>
        </p:nvSpPr>
        <p:spPr>
          <a:xfrm>
            <a:off x="1028700" y="8196580"/>
            <a:ext cx="16230600" cy="1143000"/>
          </a:xfrm>
          <a:prstGeom prst="roundRect">
            <a:avLst>
              <a:gd name="adj" fmla="val 17600"/>
            </a:avLst>
          </a:prstGeom>
          <a:solidFill>
            <a:srgbClr val="E7EAF3"/>
          </a:solidFill>
          <a:ln>
            <a:noFill/>
          </a:ln>
        </p:spPr>
        <p:txBody>
          <a:bodyPr anchor="ctr" rtlCol="false" lIns="365760" tIns="45720" rIns="365760" bIns="45720" wrap="square"/>
          <a:lstStyle/>
          <a:p>
            <a:pPr algn="ctr">
              <a:lnSpc>
                <a:spcPts val="2300"/>
              </a:lnSpc>
              <a:spcBef>
                <a:spcPts val="0"/>
              </a:spcBef>
              <a:buNone/>
            </a:pPr>
            <a:r>
              <a:rPr lang="en-US" sz="1800" b="true">
                <a:solidFill>
                  <a:srgbClr val="111111"/>
                </a:solidFill>
                <a:latin typeface="Nunito Semi-Bold"/>
                <a:ea typeface="Nunito Semi-Bold"/>
                <a:cs typeface="Nunito Semi-Bold"/>
                <a:sym typeface="Nunito Semi-Bold"/>
              </a:rPr>
              <a:t>Using this benchmark keeps the results </a:t>
            </a:r>
            <a:r>
              <a:rPr lang="en-US" sz="1800" b="true">
                <a:solidFill>
                  <a:srgbClr val="111111"/>
                </a:solidFill>
                <a:latin typeface="Nunito Bold"/>
                <a:ea typeface="Nunito Bold"/>
                <a:cs typeface="Nunito Bold"/>
                <a:sym typeface="Nunito Bold"/>
              </a:rPr>
              <a:t>directly comparable</a:t>
            </a:r>
            <a:r>
              <a:rPr lang="en-US" sz="1800" b="true">
                <a:solidFill>
                  <a:srgbClr val="111111"/>
                </a:solidFill>
                <a:latin typeface="Nunito Semi-Bold"/>
                <a:ea typeface="Nunito Semi-Bold"/>
                <a:cs typeface="Nunito Semi-Bold"/>
                <a:sym typeface="Nunito Semi-Bold"/>
              </a:rPr>
              <a:t> with prior work in graph-based recommendation.</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20</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Amazon-Book</a:t>
            </a:r>
          </a:p>
        </p:txBody>
      </p:sp>
      <p:pic>
        <p:nvPicPr>
          <p:cNvPr id="25" name="Picture 24" descr="image.png"/>
          <p:cNvPicPr>
            <a:picLocks noChangeAspect="1"/>
          </p:cNvPicPr>
          <p:nvPr/>
        </p:nvPicPr>
        <p:blipFill>
          <a:blip r:embed="rId3"/>
          <a:stretch>
            <a:fillRect/>
          </a:stretch>
        </p:blipFill>
        <p:spPr>
          <a:xfrm>
            <a:off x="5002206" y="1673352"/>
            <a:ext cx="457200" cy="617115"/>
          </a:xfrm>
          <a:prstGeom prst="rect">
            <a:avLst/>
          </a:prstGeom>
        </p:spPr>
      </p:pic>
      <p:sp>
        <p:nvSpPr>
          <p:cNvPr id="26" name="Rounded Rectangle 25"/>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TextBox 28"/>
          <p:cNvSpPr txBox="1"/>
          <p:nvPr/>
        </p:nvSpPr>
        <p:spPr>
          <a:xfrm>
            <a:off x="1028700" y="3363722"/>
            <a:ext cx="7863840" cy="466471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52,643 users</a:t>
            </a:r>
            <a:r>
              <a:rPr lang="en-US" sz="2100" b="true">
                <a:solidFill>
                  <a:srgbClr val="111111"/>
                </a:solidFill>
                <a:latin typeface="Nunito Semi-Bold"/>
                <a:ea typeface="Nunito Semi-Bold"/>
                <a:cs typeface="Nunito Semi-Bold"/>
                <a:sym typeface="Nunito Semi-Bold"/>
              </a:rPr>
              <a:t>, </a:t>
            </a:r>
            <a:r>
              <a:rPr lang="en-US" sz="2100" b="true">
                <a:solidFill>
                  <a:srgbClr val="111111"/>
                </a:solidFill>
                <a:latin typeface="Nunito Bold"/>
                <a:ea typeface="Nunito Bold"/>
                <a:cs typeface="Nunito Bold"/>
                <a:sym typeface="Nunito Bold"/>
              </a:rPr>
              <a:t>91,599 books</a:t>
            </a:r>
            <a:r>
              <a:rPr lang="en-US" sz="2100" b="true">
                <a:solidFill>
                  <a:srgbClr val="111111"/>
                </a:solidFill>
                <a:latin typeface="Nunito Semi-Bold"/>
                <a:ea typeface="Nunito Semi-Bold"/>
                <a:cs typeface="Nunito Semi-Bold"/>
                <a:sym typeface="Nunito Semi-Bold"/>
              </a:rPr>
              <a:t> and </a:t>
            </a:r>
            <a:r>
              <a:rPr lang="en-US" sz="2100" b="true">
                <a:solidFill>
                  <a:srgbClr val="111111"/>
                </a:solidFill>
                <a:latin typeface="Nunito Bold"/>
                <a:ea typeface="Nunito Bold"/>
                <a:cs typeface="Nunito Bold"/>
                <a:sym typeface="Nunito Bold"/>
              </a:rPr>
              <a:t>2,984,108 interactions</a:t>
            </a:r>
            <a:r>
              <a:rPr lang="en-US" sz="2100" b="true">
                <a:solidFill>
                  <a:srgbClr val="111111"/>
                </a:solidFill>
                <a:latin typeface="Nunito Semi-Bold"/>
                <a:ea typeface="Nunito Semi-Bold"/>
                <a:cs typeface="Nunito Semi-Bold"/>
                <a:sym typeface="Nunito Semi-Bold"/>
              </a:rPr>
              <a:t> from Amazon review data (McAuley Lab, UCSD).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Extremely </a:t>
            </a:r>
            <a:r>
              <a:rPr lang="en-US" sz="2100" b="true">
                <a:solidFill>
                  <a:srgbClr val="111111"/>
                </a:solidFill>
                <a:latin typeface="Nunito Bold"/>
                <a:ea typeface="Nunito Bold"/>
                <a:cs typeface="Nunito Bold"/>
                <a:sym typeface="Nunito Bold"/>
              </a:rPr>
              <a:t>sparse</a:t>
            </a:r>
            <a:r>
              <a:rPr lang="en-US" sz="2100" b="true">
                <a:solidFill>
                  <a:srgbClr val="111111"/>
                </a:solidFill>
                <a:latin typeface="Nunito Semi-Bold"/>
                <a:ea typeface="Nunito Semi-Bold"/>
                <a:cs typeface="Nunito Semi-Bold"/>
                <a:sym typeface="Nunito Semi-Bold"/>
              </a:rPr>
              <a:t> (density ≈ 0.0006): the user-item matrix is almost empty.</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Included to test whether Shapley-guided weighting </a:t>
            </a:r>
            <a:r>
              <a:rPr lang="en-US" sz="2100" b="true">
                <a:solidFill>
                  <a:srgbClr val="111111"/>
                </a:solidFill>
                <a:latin typeface="Nunito Bold"/>
                <a:ea typeface="Nunito Bold"/>
                <a:cs typeface="Nunito Bold"/>
                <a:sym typeface="Nunito Bold"/>
              </a:rPr>
              <a:t>helps most when the signal is weakest</a:t>
            </a:r>
            <a:r>
              <a:rPr lang="en-US" sz="2100" b="true">
                <a:solidFill>
                  <a:srgbClr val="111111"/>
                </a:solidFill>
                <a:latin typeface="Nunito Semi-Bold"/>
                <a:ea typeface="Nunito Semi-Bold"/>
                <a:cs typeface="Nunito Semi-Bold"/>
                <a:sym typeface="Nunito Semi-Bold"/>
              </a:rPr>
              <a:t>; the large-scale benchmark of Contribution III.</a:t>
            </a:r>
          </a:p>
        </p:txBody>
      </p:sp>
      <p:graphicFrame>
        <p:nvGraphicFramePr>
          <p:cNvPr id="30" name="Table 29"/>
          <p:cNvGraphicFramePr>
            <a:graphicFrameLocks noGrp="1"/>
          </p:cNvGraphicFramePr>
          <p:nvPr/>
        </p:nvGraphicFramePr>
        <p:xfrm>
          <a:off x="9349740" y="3363722"/>
          <a:ext cx="7909559" cy="3968496"/>
        </p:xfrm>
        <a:graphic>
          <a:graphicData uri="http://schemas.openxmlformats.org/drawingml/2006/table">
            <a:tbl>
              <a:tblPr firstRow="0" bandRow="0" firstCol="0" lastRow="0" lastCol="0" bandCol="0">
                <a:tableStyleId>{2D5ABB26-0587-4C30-8999-92F81FD0307C}</a:tableStyleId>
              </a:tblPr>
              <a:tblGrid>
                <a:gridCol w="4126726"/>
                <a:gridCol w="3782833"/>
              </a:tblGrid>
              <a:tr h="566928">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Amazon-Book</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Users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52,643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Items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91,599 books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Interactions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2,984,108</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Density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 0.0006</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Feedback</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implicit (review = interaction)</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Context proxy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book category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1" name="Rounded Rectangle 30"/>
          <p:cNvSpPr/>
          <p:nvPr/>
        </p:nvSpPr>
        <p:spPr>
          <a:xfrm>
            <a:off x="1028700" y="8196580"/>
            <a:ext cx="16230600" cy="1143000"/>
          </a:xfrm>
          <a:prstGeom prst="roundRect">
            <a:avLst>
              <a:gd name="adj" fmla="val 17600"/>
            </a:avLst>
          </a:prstGeom>
          <a:solidFill>
            <a:srgbClr val="E7EAF3"/>
          </a:solidFill>
          <a:ln>
            <a:noFill/>
          </a:ln>
        </p:spPr>
        <p:txBody>
          <a:bodyPr anchor="ctr" rtlCol="false" lIns="365760" tIns="45720" rIns="365760" bIns="45720" wrap="square"/>
          <a:lstStyle/>
          <a:p>
            <a:pPr algn="ctr">
              <a:lnSpc>
                <a:spcPts val="2300"/>
              </a:lnSpc>
              <a:spcBef>
                <a:spcPts val="0"/>
              </a:spcBef>
              <a:buNone/>
            </a:pPr>
            <a:r>
              <a:rPr lang="en-US" sz="1800" b="true">
                <a:solidFill>
                  <a:srgbClr val="111111"/>
                </a:solidFill>
                <a:latin typeface="Nunito Semi-Bold"/>
                <a:ea typeface="Nunito Semi-Bold"/>
                <a:cs typeface="Nunito Semi-Bold"/>
                <a:sym typeface="Nunito Semi-Bold"/>
              </a:rPr>
              <a:t>The </a:t>
            </a:r>
            <a:r>
              <a:rPr lang="en-US" sz="1800" b="true">
                <a:solidFill>
                  <a:srgbClr val="111111"/>
                </a:solidFill>
                <a:latin typeface="Nunito Bold"/>
                <a:ea typeface="Nunito Bold"/>
                <a:cs typeface="Nunito Bold"/>
                <a:sym typeface="Nunito Bold"/>
              </a:rPr>
              <a:t>0.0447 vs 0.0006</a:t>
            </a:r>
            <a:r>
              <a:rPr lang="en-US" sz="1800" b="true">
                <a:solidFill>
                  <a:srgbClr val="111111"/>
                </a:solidFill>
                <a:latin typeface="Nunito Semi-Bold"/>
                <a:ea typeface="Nunito Semi-Bold"/>
                <a:cs typeface="Nunito Semi-Bold"/>
                <a:sym typeface="Nunito Semi-Bold"/>
              </a:rPr>
              <a:t> density gap between the two recommendation datasets is the core of the robustness argument.</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21</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Data Splitting &amp; Preprocessing</a:t>
            </a:r>
          </a:p>
        </p:txBody>
      </p:sp>
      <p:pic>
        <p:nvPicPr>
          <p:cNvPr id="25" name="Picture 24" descr="image.png"/>
          <p:cNvPicPr>
            <a:picLocks noChangeAspect="1"/>
          </p:cNvPicPr>
          <p:nvPr/>
        </p:nvPicPr>
        <p:blipFill>
          <a:blip r:embed="rId3"/>
          <a:stretch>
            <a:fillRect/>
          </a:stretch>
        </p:blipFill>
        <p:spPr>
          <a:xfrm>
            <a:off x="9239964" y="1673352"/>
            <a:ext cx="457200" cy="250983"/>
          </a:xfrm>
          <a:prstGeom prst="rect">
            <a:avLst/>
          </a:prstGeom>
        </p:spPr>
      </p:pic>
      <p:sp>
        <p:nvSpPr>
          <p:cNvPr id="26" name="Rounded Rectangle 25"/>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Rounded Rectangle 28"/>
          <p:cNvSpPr/>
          <p:nvPr/>
        </p:nvSpPr>
        <p:spPr>
          <a:xfrm>
            <a:off x="1028700" y="3407410"/>
            <a:ext cx="7932420" cy="5716270"/>
          </a:xfrm>
          <a:prstGeom prst="roundRect">
            <a:avLst>
              <a:gd name="adj" fmla="val 5438"/>
            </a:avLst>
          </a:prstGeom>
          <a:solidFill>
            <a:srgbClr val="4472C4"/>
          </a:solidFill>
          <a:ln>
            <a:noFill/>
          </a:ln>
        </p:spPr>
        <p:txBody>
          <a:bodyPr anchor="ctr" rtlCol="false" lIns="0" tIns="0" rIns="0" bIns="0" wrap="square"/>
          <a:lstStyle/>
          <a:p>
            <a:endParaRPr lang="en-US" sz="1800"/>
          </a:p>
        </p:txBody>
      </p:sp>
      <p:sp>
        <p:nvSpPr>
          <p:cNvPr id="30" name="Rounded Rectangle 29"/>
          <p:cNvSpPr/>
          <p:nvPr/>
        </p:nvSpPr>
        <p:spPr>
          <a:xfrm>
            <a:off x="1485900" y="3169666"/>
            <a:ext cx="3217901"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Clustering (C1, C2)</a:t>
            </a:r>
          </a:p>
        </p:txBody>
      </p:sp>
      <p:sp>
        <p:nvSpPr>
          <p:cNvPr id="31" name="TextBox 30"/>
          <p:cNvSpPr txBox="1"/>
          <p:nvPr/>
        </p:nvSpPr>
        <p:spPr>
          <a:xfrm>
            <a:off x="1531620" y="4047490"/>
            <a:ext cx="6972300" cy="4801870"/>
          </a:xfrm>
          <a:prstGeom prst="rect">
            <a:avLst/>
          </a:prstGeom>
          <a:noFill/>
        </p:spPr>
        <p:txBody>
          <a:bodyPr anchor="t" rtlCol="false" lIns="0" tIns="0" rIns="0" bIns="0" wrap="square"/>
          <a:lstStyle/>
          <a:p>
            <a:pPr algn="l" marL="274320" indent="-274320">
              <a:lnSpc>
                <a:spcPts val="2800"/>
              </a:lnSpc>
              <a:spcBef>
                <a:spcPts val="0"/>
              </a:spcBef>
              <a:buClr>
                <a:srgbClr val="ECC665"/>
              </a:buClr>
              <a:buSzPct val="100000"/>
              <a:buFont typeface="Arial"/>
              <a:buChar char="•"/>
            </a:pPr>
            <a:r>
              <a:rPr lang="en-US" sz="2000" b="true">
                <a:solidFill>
                  <a:srgbClr val="FFFFFF"/>
                </a:solidFill>
                <a:latin typeface="Nunito Bold"/>
                <a:ea typeface="Nunito Bold"/>
                <a:cs typeface="Nunito Bold"/>
                <a:sym typeface="Nunito Bold"/>
              </a:rPr>
              <a:t>Five-fold cross-validation</a:t>
            </a:r>
            <a:r>
              <a:rPr lang="en-US" sz="2000" b="true">
                <a:solidFill>
                  <a:srgbClr val="FFFFFF"/>
                </a:solidFill>
                <a:latin typeface="Nunito Semi-Bold"/>
                <a:ea typeface="Nunito Semi-Bold"/>
                <a:cs typeface="Nunito Semi-Bold"/>
                <a:sym typeface="Nunito Semi-Bold"/>
              </a:rPr>
              <a:t> for surrogate / attribution stability.</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Feature standardisation; PCA used only as a geometric and visual check.</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Multi-criteria k selection: elbow, Silhouette, Davies–Bouldin.</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Surrogate fidelity floor: </a:t>
            </a:r>
            <a:r>
              <a:rPr lang="en-US" sz="2000" b="true">
                <a:solidFill>
                  <a:srgbClr val="FFFFFF"/>
                </a:solidFill>
                <a:latin typeface="Nunito Bold"/>
                <a:ea typeface="Nunito Bold"/>
                <a:cs typeface="Nunito Bold"/>
                <a:sym typeface="Nunito Bold"/>
              </a:rPr>
              <a:t>macro-F1 ≈ 0.82</a:t>
            </a:r>
            <a:r>
              <a:rPr lang="en-US" sz="2000" b="true">
                <a:solidFill>
                  <a:srgbClr val="FFFFFF"/>
                </a:solidFill>
                <a:latin typeface="Nunito Semi-Bold"/>
                <a:ea typeface="Nunito Semi-Bold"/>
                <a:cs typeface="Nunito Semi-Bold"/>
                <a:sym typeface="Nunito Semi-Bold"/>
              </a:rPr>
              <a:t>.</a:t>
            </a:r>
          </a:p>
        </p:txBody>
      </p:sp>
      <p:sp>
        <p:nvSpPr>
          <p:cNvPr id="32" name="Rounded Rectangle 31"/>
          <p:cNvSpPr/>
          <p:nvPr/>
        </p:nvSpPr>
        <p:spPr>
          <a:xfrm>
            <a:off x="9326880" y="3407410"/>
            <a:ext cx="7932420" cy="5716270"/>
          </a:xfrm>
          <a:prstGeom prst="roundRect">
            <a:avLst>
              <a:gd name="adj" fmla="val 5438"/>
            </a:avLst>
          </a:prstGeom>
          <a:solidFill>
            <a:srgbClr val="E7EAF3"/>
          </a:solidFill>
          <a:ln>
            <a:noFill/>
          </a:ln>
        </p:spPr>
        <p:txBody>
          <a:bodyPr anchor="ctr" rtlCol="false" lIns="0" tIns="0" rIns="0" bIns="0" wrap="square"/>
          <a:lstStyle/>
          <a:p>
            <a:endParaRPr lang="en-US" sz="1800"/>
          </a:p>
        </p:txBody>
      </p:sp>
      <p:sp>
        <p:nvSpPr>
          <p:cNvPr id="33" name="Rounded Rectangle 32"/>
          <p:cNvSpPr/>
          <p:nvPr/>
        </p:nvSpPr>
        <p:spPr>
          <a:xfrm>
            <a:off x="9784080" y="3169666"/>
            <a:ext cx="3642955"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Recommendation (C3)</a:t>
            </a:r>
          </a:p>
        </p:txBody>
      </p:sp>
      <p:sp>
        <p:nvSpPr>
          <p:cNvPr id="34" name="TextBox 33"/>
          <p:cNvSpPr txBox="1"/>
          <p:nvPr/>
        </p:nvSpPr>
        <p:spPr>
          <a:xfrm>
            <a:off x="9829800" y="4047490"/>
            <a:ext cx="6972300" cy="4801870"/>
          </a:xfrm>
          <a:prstGeom prst="rect">
            <a:avLst/>
          </a:prstGeom>
          <a:noFill/>
        </p:spPr>
        <p:txBody>
          <a:bodyPr anchor="t" rtlCol="false" lIns="0" tIns="0" rIns="0" bIns="0" wrap="square"/>
          <a:lstStyle/>
          <a:p>
            <a:pPr algn="l" marL="274320" indent="-274320">
              <a:lnSpc>
                <a:spcPts val="2800"/>
              </a:lnSpc>
              <a:spcBef>
                <a:spcPts val="0"/>
              </a:spcBef>
              <a:buClr>
                <a:srgbClr val="1F7A8C"/>
              </a:buClr>
              <a:buSzPct val="100000"/>
              <a:buFont typeface="Arial"/>
              <a:buChar char="•"/>
            </a:pPr>
            <a:r>
              <a:rPr lang="en-US" sz="2000" b="true">
                <a:solidFill>
                  <a:srgbClr val="111111"/>
                </a:solidFill>
                <a:latin typeface="Nunito Bold"/>
                <a:ea typeface="Nunito Bold"/>
                <a:cs typeface="Nunito Bold"/>
                <a:sym typeface="Nunito Bold"/>
              </a:rPr>
              <a:t>User-level, time-ordered split:</a:t>
            </a:r>
            <a:r>
              <a:rPr lang="en-US" sz="2000" b="true">
                <a:solidFill>
                  <a:srgbClr val="111111"/>
                </a:solidFill>
                <a:latin typeface="Nunito Semi-Bold"/>
                <a:ea typeface="Nunito Semi-Bold"/>
                <a:cs typeface="Nunito Semi-Bold"/>
                <a:sym typeface="Nunito Semi-Bold"/>
              </a:rPr>
              <a:t> 70 % train / 10 % validation / 20 % test.</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Bold"/>
                <a:ea typeface="Nunito Bold"/>
                <a:cs typeface="Nunito Bold"/>
                <a:sym typeface="Nunito Bold"/>
              </a:rPr>
              <a:t>Leave-one-out:</a:t>
            </a:r>
            <a:r>
              <a:rPr lang="en-US" sz="2000" b="true">
                <a:solidFill>
                  <a:srgbClr val="111111"/>
                </a:solidFill>
                <a:latin typeface="Nunito Semi-Bold"/>
                <a:ea typeface="Nunito Semi-Bold"/>
                <a:cs typeface="Nunito Semi-Bold"/>
                <a:sym typeface="Nunito Semi-Bold"/>
              </a:rPr>
              <a:t> the latest test positive per user is the target, ranked against negatives.</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Implicit conversion: MovieLens-1M ratings &gt; 3 treated as positive.</a:t>
            </a:r>
          </a:p>
          <a:p>
            <a:pPr algn="l" marL="274320" indent="-274320">
              <a:lnSpc>
                <a:spcPts val="296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Popularity-aware negative sampling </a:t>
            </a:r>
            <a:r>
              <a:rPr lang="en-US" sz="2000" b="true">
                <a:solidFill>
                  <a:srgbClr val="111111"/>
                </a:solidFill>
                <a:latin typeface="Nunito Bold"/>
                <a:ea typeface="Nunito Bold"/>
                <a:cs typeface="Nunito Bold"/>
                <a:sym typeface="Nunito Bold"/>
              </a:rPr>
              <a:t>q(i) </a:t>
            </a:r>
            <a:r>
              <a:rPr lang="en-US" sz="2000" b="true">
                <a:solidFill>
                  <a:srgbClr val="111111"/>
                </a:solidFill>
                <a:latin typeface="Cambria Math"/>
                <a:ea typeface="Cambria Math"/>
                <a:cs typeface="Cambria Math"/>
                <a:sym typeface="Cambria Math"/>
              </a:rPr>
              <a:t>∝ </a:t>
            </a:r>
            <a:r>
              <a:rPr lang="en-US" sz="2000" b="true">
                <a:solidFill>
                  <a:srgbClr val="111111"/>
                </a:solidFill>
                <a:latin typeface="Nunito Bold"/>
                <a:ea typeface="Nunito Bold"/>
                <a:cs typeface="Nunito Bold"/>
                <a:sym typeface="Nunito Bold"/>
              </a:rPr>
              <a:t>f</a:t>
            </a:r>
            <a:r>
              <a:rPr lang="en-US" sz="2000" b="true" baseline="-25000">
                <a:solidFill>
                  <a:srgbClr val="111111"/>
                </a:solidFill>
                <a:latin typeface="Nunito Bold"/>
                <a:ea typeface="Nunito Bold"/>
                <a:cs typeface="Nunito Bold"/>
                <a:sym typeface="Nunito Bold"/>
              </a:rPr>
              <a:t>i</a:t>
            </a:r>
            <a:r>
              <a:rPr lang="en-US" sz="2000" b="true" baseline="30000">
                <a:solidFill>
                  <a:srgbClr val="111111"/>
                </a:solidFill>
                <a:latin typeface="Calibri"/>
                <a:ea typeface="Calibri"/>
                <a:cs typeface="Calibri"/>
                <a:sym typeface="Calibri"/>
              </a:rPr>
              <a:t>η</a:t>
            </a:r>
            <a:r>
              <a:rPr lang="en-US" sz="2000" b="true">
                <a:solidFill>
                  <a:srgbClr val="111111"/>
                </a:solidFill>
                <a:latin typeface="Nunito Semi-Bold"/>
                <a:ea typeface="Nunito Semi-Bold"/>
                <a:cs typeface="Nunito Semi-Bold"/>
                <a:sym typeface="Nunito Semi-Bold"/>
              </a:rPr>
              <a:t> for harder negatives.</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Reproducibility: seeds {42, 43, 44, 45, 46}; early-stopping patience 20.</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[12] He, X. et al. LightGCN: Simplifying and Powering Graph Convolution Network for Recommendation. SIGIR, 639–648 (2020).   [14] Xiangyi, Y. et al. Hypergraph Projection Enhanced Collaborative Filtering (HPCF). Int. J. Data Science and Analytics 19(2), 269–281 (2025).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22</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Baselines</a:t>
            </a:r>
          </a:p>
        </p:txBody>
      </p:sp>
      <p:pic>
        <p:nvPicPr>
          <p:cNvPr id="25" name="Picture 24" descr="image.png"/>
          <p:cNvPicPr>
            <a:picLocks noChangeAspect="1"/>
          </p:cNvPicPr>
          <p:nvPr/>
        </p:nvPicPr>
        <p:blipFill>
          <a:blip r:embed="rId3"/>
          <a:stretch>
            <a:fillRect/>
          </a:stretch>
        </p:blipFill>
        <p:spPr>
          <a:xfrm>
            <a:off x="3729007" y="1673352"/>
            <a:ext cx="457200" cy="539881"/>
          </a:xfrm>
          <a:prstGeom prst="rect">
            <a:avLst/>
          </a:prstGeom>
        </p:spPr>
      </p:pic>
      <p:sp>
        <p:nvSpPr>
          <p:cNvPr id="26" name="Rounded Rectangle 25"/>
          <p:cNvSpPr/>
          <p:nvPr/>
        </p:nvSpPr>
        <p:spPr>
          <a:xfrm>
            <a:off x="1028700" y="2559050"/>
            <a:ext cx="15239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graphicFrame>
        <p:nvGraphicFramePr>
          <p:cNvPr id="29" name="Table 28"/>
          <p:cNvGraphicFramePr>
            <a:graphicFrameLocks noGrp="1"/>
          </p:cNvGraphicFramePr>
          <p:nvPr/>
        </p:nvGraphicFramePr>
        <p:xfrm>
          <a:off x="1028700" y="3363722"/>
          <a:ext cx="16230599" cy="4242816"/>
        </p:xfrm>
        <a:graphic>
          <a:graphicData uri="http://schemas.openxmlformats.org/drawingml/2006/table">
            <a:tbl>
              <a:tblPr firstRow="0" bandRow="0" firstCol="0" lastRow="0" lastCol="0" bandCol="0">
                <a:tableStyleId>{2D5ABB26-0587-4C30-8999-92F81FD0307C}</a:tableStyleId>
              </a:tblPr>
              <a:tblGrid>
                <a:gridCol w="2664725"/>
                <a:gridCol w="3875964"/>
                <a:gridCol w="7994176"/>
                <a:gridCol w="1695734"/>
              </a:tblGrid>
              <a:tr h="530352">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Family</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Baseline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represents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Used in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Explanation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LIME surrogate pipeline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Local surrogate explanation; the standard alternative to SHAP</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C1, C2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Classical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MF (BPR)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Matrix factorisation with pairwise ranking loss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Neural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Neural collaborative filtering (MLP on embeddings)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LightGCN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Simplified graph convolution on the user-item 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Graph + contrastive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RecDCL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Dual contrastive learning for recommendation (2024)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Hypergraph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HCCF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Hypergraph contrastive collaborative filtering (2022)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Hypergraph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HPCF  (strongest reference)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Hypergraph projection enhanced collaborative filtering (2025)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0" name="Rounded Rectangle 29"/>
          <p:cNvSpPr/>
          <p:nvPr/>
        </p:nvSpPr>
        <p:spPr>
          <a:xfrm>
            <a:off x="1028700" y="7891526"/>
            <a:ext cx="16230600" cy="1016254"/>
          </a:xfrm>
          <a:prstGeom prst="roundRect">
            <a:avLst>
              <a:gd name="adj" fmla="val 19795"/>
            </a:avLst>
          </a:prstGeom>
          <a:solidFill>
            <a:srgbClr val="E7EAF3"/>
          </a:solidFill>
          <a:ln w="25400">
            <a:solidFill>
              <a:srgbClr val="4472C4"/>
            </a:solidFill>
          </a:ln>
        </p:spPr>
        <p:txBody>
          <a:bodyPr anchor="ctr" rtlCol="false" lIns="0" tIns="0" rIns="0" bIns="0" wrap="square"/>
          <a:lstStyle/>
          <a:p>
            <a:endParaRPr lang="en-US" sz="1800"/>
          </a:p>
        </p:txBody>
      </p:sp>
      <p:sp>
        <p:nvSpPr>
          <p:cNvPr id="31" name="Rounded Rectangle 30"/>
          <p:cNvSpPr/>
          <p:nvPr/>
        </p:nvSpPr>
        <p:spPr>
          <a:xfrm>
            <a:off x="1348740" y="7699502"/>
            <a:ext cx="1867571"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WHY THIS SET</a:t>
            </a:r>
          </a:p>
        </p:txBody>
      </p:sp>
      <p:sp>
        <p:nvSpPr>
          <p:cNvPr id="32" name="TextBox 31"/>
          <p:cNvSpPr txBox="1"/>
          <p:nvPr/>
        </p:nvSpPr>
        <p:spPr>
          <a:xfrm>
            <a:off x="1394460" y="8303005"/>
            <a:ext cx="15499080" cy="604774"/>
          </a:xfrm>
          <a:prstGeom prst="rect">
            <a:avLst/>
          </a:prstGeom>
          <a:noFill/>
        </p:spPr>
        <p:txBody>
          <a:bodyPr anchor="ctr" rtlCol="false" lIns="0" tIns="0" rIns="0" bIns="0" wrap="square"/>
          <a:lstStyle/>
          <a:p>
            <a:pPr algn="l">
              <a:lnSpc>
                <a:spcPts val="2261"/>
              </a:lnSpc>
              <a:spcBef>
                <a:spcPts val="0"/>
              </a:spcBef>
              <a:buNone/>
            </a:pPr>
            <a:r>
              <a:rPr lang="en-US" sz="1615" b="true">
                <a:solidFill>
                  <a:srgbClr val="111111"/>
                </a:solidFill>
                <a:latin typeface="Nunito Semi-Bold"/>
                <a:ea typeface="Nunito Semi-Bold"/>
                <a:cs typeface="Nunito Semi-Bold"/>
                <a:sym typeface="Nunito Semi-Bold"/>
              </a:rPr>
              <a:t>Classical, neural, graph and hypergraph families together, so the effect of </a:t>
            </a:r>
            <a:r>
              <a:rPr lang="en-US" sz="1615" b="true">
                <a:solidFill>
                  <a:srgbClr val="111111"/>
                </a:solidFill>
                <a:latin typeface="Nunito Bold"/>
                <a:ea typeface="Nunito Bold"/>
                <a:cs typeface="Nunito Bold"/>
                <a:sym typeface="Nunito Bold"/>
              </a:rPr>
              <a:t>cooperative attribution</a:t>
            </a:r>
            <a:r>
              <a:rPr lang="en-US" sz="1615" b="true">
                <a:solidFill>
                  <a:srgbClr val="111111"/>
                </a:solidFill>
                <a:latin typeface="Nunito Semi-Bold"/>
                <a:ea typeface="Nunito Semi-Bold"/>
                <a:cs typeface="Nunito Semi-Bold"/>
                <a:sym typeface="Nunito Semi-Bold"/>
              </a:rPr>
              <a:t> is not confused with a lucky model choice. HPCF is the strongest reference; all baselines were finalised in early 2026.</a:t>
            </a:r>
          </a:p>
        </p:txBody>
      </p:sp>
      <p:sp>
        <p:nvSpPr>
          <p:cNvPr id="5" name="Rounded Rectangle 4"/>
          <p:cNvSpPr/>
          <p:nvPr/>
        </p:nvSpPr>
        <p:spPr>
          <a:xfrm>
            <a:off x="1024128" y="8898636"/>
            <a:ext cx="16239744" cy="7757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8935212"/>
            <a:ext cx="16239744" cy="7025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[7] Ribeiro, M. T., Singh, S. &amp; Guestrin, C. KDD, 1135–1144 (2016).   [10] Koren, Y., Bell, R. &amp; Volinsky, C. Computer 42(8), 30–37 (2009).   [11] He, X. et al. WWW, 173–182 (2017).   [12] He, X. et al. SIGIR, 639–648 (2020).   [13] Xia, L. et al. SIGIR, 70–79 (2022).   [14] Xiangyi, Y. et al. Int. J. Data Science and Analytics 19(2), 269–281 (2025).   [15] Zhang, D. et al. The Web Conference, 3655–3666 (2024).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23</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Metrics</a:t>
            </a:r>
          </a:p>
        </p:txBody>
      </p:sp>
      <p:pic>
        <p:nvPicPr>
          <p:cNvPr id="25" name="Picture 24" descr="image.png"/>
          <p:cNvPicPr>
            <a:picLocks noChangeAspect="1"/>
          </p:cNvPicPr>
          <p:nvPr/>
        </p:nvPicPr>
        <p:blipFill>
          <a:blip r:embed="rId3"/>
          <a:stretch>
            <a:fillRect/>
          </a:stretch>
        </p:blipFill>
        <p:spPr>
          <a:xfrm>
            <a:off x="6134170" y="1673352"/>
            <a:ext cx="457200" cy="373212"/>
          </a:xfrm>
          <a:prstGeom prst="rect">
            <a:avLst/>
          </a:prstGeom>
        </p:spPr>
      </p:pic>
      <p:sp>
        <p:nvSpPr>
          <p:cNvPr id="26" name="Rounded Rectangle 25"/>
          <p:cNvSpPr/>
          <p:nvPr/>
        </p:nvSpPr>
        <p:spPr>
          <a:xfrm>
            <a:off x="1028700" y="2559050"/>
            <a:ext cx="15239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Rectangle 28"/>
          <p:cNvSpPr/>
          <p:nvPr/>
        </p:nvSpPr>
        <p:spPr>
          <a:xfrm>
            <a:off x="1028700" y="3363722"/>
            <a:ext cx="16230600" cy="384048"/>
          </a:xfrm>
          <a:prstGeom prst="rect">
            <a:avLst/>
          </a:prstGeom>
          <a:solidFill>
            <a:srgbClr val="4472C4"/>
          </a:solidFill>
          <a:ln>
            <a:noFill/>
          </a:ln>
        </p:spPr>
        <p:txBody>
          <a:bodyPr anchor="ctr" rtlCol="false" lIns="0" tIns="0" rIns="0" bIns="0" wrap="square"/>
          <a:lstStyle/>
          <a:p>
            <a:endParaRPr lang="en-US" sz="1800"/>
          </a:p>
        </p:txBody>
      </p:sp>
      <p:sp>
        <p:nvSpPr>
          <p:cNvPr id="30" name="TextBox 29"/>
          <p:cNvSpPr txBox="1"/>
          <p:nvPr/>
        </p:nvSpPr>
        <p:spPr>
          <a:xfrm>
            <a:off x="1165860" y="3363722"/>
            <a:ext cx="237744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Metric</a:t>
            </a:r>
          </a:p>
        </p:txBody>
      </p:sp>
      <p:sp>
        <p:nvSpPr>
          <p:cNvPr id="31" name="TextBox 30"/>
          <p:cNvSpPr txBox="1"/>
          <p:nvPr/>
        </p:nvSpPr>
        <p:spPr>
          <a:xfrm>
            <a:off x="3817620" y="3363722"/>
            <a:ext cx="621792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Formula</a:t>
            </a:r>
          </a:p>
        </p:txBody>
      </p:sp>
      <p:sp>
        <p:nvSpPr>
          <p:cNvPr id="32" name="TextBox 31"/>
          <p:cNvSpPr txBox="1"/>
          <p:nvPr/>
        </p:nvSpPr>
        <p:spPr>
          <a:xfrm>
            <a:off x="10309860" y="3363722"/>
            <a:ext cx="681228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Why it is used</a:t>
            </a:r>
          </a:p>
        </p:txBody>
      </p:sp>
      <p:sp>
        <p:nvSpPr>
          <p:cNvPr id="33" name="Rectangle 32"/>
          <p:cNvSpPr/>
          <p:nvPr/>
        </p:nvSpPr>
        <p:spPr>
          <a:xfrm>
            <a:off x="1028700" y="3747770"/>
            <a:ext cx="16230600" cy="835363"/>
          </a:xfrm>
          <a:prstGeom prst="rect">
            <a:avLst/>
          </a:prstGeom>
          <a:solidFill>
            <a:srgbClr val="FFFFFF"/>
          </a:solidFill>
          <a:ln>
            <a:noFill/>
          </a:ln>
        </p:spPr>
        <p:txBody>
          <a:bodyPr anchor="ctr" rtlCol="false" lIns="0" tIns="0" rIns="0" bIns="0" wrap="square"/>
          <a:lstStyle/>
          <a:p>
            <a:endParaRPr lang="en-US" sz="1800"/>
          </a:p>
        </p:txBody>
      </p:sp>
      <p:sp>
        <p:nvSpPr>
          <p:cNvPr id="34" name="TextBox 33"/>
          <p:cNvSpPr txBox="1"/>
          <p:nvPr/>
        </p:nvSpPr>
        <p:spPr>
          <a:xfrm>
            <a:off x="1165860" y="3747770"/>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NDCG@K  (main)</a:t>
            </a:r>
          </a:p>
        </p:txBody>
      </p:sp>
      <mc:AlternateContent xmlns:mc="http://schemas.openxmlformats.org/markup-compatibility/2006">
        <mc:Choice xmlns:a14="http://schemas.microsoft.com/office/drawing/2010/main" Requires="a14">
          <p:sp>
            <p:nvSpPr>
              <p:cNvPr id="35" name="Equation"/>
              <p:cNvSpPr txBox="1"/>
              <p:nvPr/>
            </p:nvSpPr>
            <p:spPr>
              <a:xfrm>
                <a:off x="3771900" y="3775202"/>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600">
                          <a:solidFill>
                            <a:srgbClr val="111111"/>
                          </a:solidFill>
                          <a:latin typeface="Cambria Math" panose="02040503050406030204" pitchFamily="18" charset="0"/>
                        </a:rPr>
                        <m:t xml:space="preserve">NDCG@</m:t>
                      </m:r>
                      <m:r>
                        <a:rPr lang="en-US" sz="1600" i="1">
                          <a:solidFill>
                            <a:srgbClr val="111111"/>
                          </a:solidFill>
                          <a:latin typeface="Cambria Math" panose="02040503050406030204" pitchFamily="18" charset="0"/>
                        </a:rPr>
                        <m:t xml:space="preserve">K</m:t>
                      </m:r>
                      <m:r>
                        <m:rPr>
                          <m:sty m:val="p"/>
                        </m:rPr>
                        <a:rPr lang="en-US" sz="1600">
                          <a:solidFill>
                            <a:srgbClr val="111111"/>
                          </a:solidFill>
                          <a:latin typeface="Cambria Math" panose="02040503050406030204" pitchFamily="18" charset="0"/>
                        </a:rPr>
                        <m:t xml:space="preserve">=</m:t>
                      </m:r>
                      <m:f>
                        <m:fPr>
                          <m:ctrlPr>
                            <a:rPr lang="en-US" sz="1600" i="1">
                              <a:solidFill>
                                <a:srgbClr val="111111"/>
                              </a:solidFill>
                              <a:latin typeface="Cambria Math" panose="02040503050406030204" pitchFamily="18" charset="0"/>
                            </a:rPr>
                          </m:ctrlPr>
                        </m:fPr>
                        <m:num>
                          <m:r>
                            <m:rPr>
                              <m:sty m:val="p"/>
                            </m:rPr>
                            <a:rPr lang="en-US" sz="1600">
                              <a:solidFill>
                                <a:srgbClr val="111111"/>
                              </a:solidFill>
                              <a:latin typeface="Cambria Math" panose="02040503050406030204" pitchFamily="18" charset="0"/>
                            </a:rPr>
                            <m:t xml:space="preserve">1</m:t>
                          </m:r>
                        </m:num>
                        <m:den>
                          <m:r>
                            <m:rPr>
                              <m:sty m:val="p"/>
                            </m:rPr>
                            <a:rPr lang="en-US" sz="1600">
                              <a:solidFill>
                                <a:srgbClr val="111111"/>
                              </a:solidFill>
                              <a:latin typeface="Cambria Math" panose="02040503050406030204" pitchFamily="18" charset="0"/>
                            </a:rPr>
                            <m:t xml:space="preserve">IDCG@</m:t>
                          </m:r>
                          <m:r>
                            <a:rPr lang="en-US" sz="1600" i="1">
                              <a:solidFill>
                                <a:srgbClr val="111111"/>
                              </a:solidFill>
                              <a:latin typeface="Cambria Math" panose="02040503050406030204" pitchFamily="18" charset="0"/>
                            </a:rPr>
                            <m:t xml:space="preserve">K</m:t>
                          </m:r>
                        </m:den>
                      </m:f>
                      <m:r>
                        <m:rPr>
                          <m:sty m:val="p"/>
                        </m:rPr>
                        <a:rPr lang="en-US" sz="1600">
                          <a:solidFill>
                            <a:srgbClr val="111111"/>
                          </a:solidFill>
                          <a:latin typeface="Cambria Math" panose="02040503050406030204" pitchFamily="18" charset="0"/>
                        </a:rPr>
                        <m:t xml:space="preserve"> </m:t>
                      </m:r>
                      <m:nary>
                        <m:naryPr>
                          <m:chr m:val="∑"/>
                          <m:limLoc m:val="subSup"/>
                          <m:ctrlPr>
                            <a:rPr lang="en-US" sz="1600" i="1">
                              <a:solidFill>
                                <a:srgbClr val="111111"/>
                              </a:solidFill>
                              <a:latin typeface="Cambria Math" panose="02040503050406030204" pitchFamily="18" charset="0"/>
                            </a:rPr>
                          </m:ctrlPr>
                        </m:naryPr>
                        <m:sub>
                          <m:r>
                            <a:rPr lang="en-US" sz="1600" i="1">
                              <a:solidFill>
                                <a:srgbClr val="111111"/>
                              </a:solidFill>
                              <a:latin typeface="Cambria Math" panose="02040503050406030204" pitchFamily="18" charset="0"/>
                            </a:rPr>
                            <m:t xml:space="preserve">i</m:t>
                          </m:r>
                          <m:r>
                            <m:rPr>
                              <m:sty m:val="p"/>
                            </m:rPr>
                            <a:rPr lang="en-US" sz="1600">
                              <a:solidFill>
                                <a:srgbClr val="111111"/>
                              </a:solidFill>
                              <a:latin typeface="Cambria Math" panose="02040503050406030204" pitchFamily="18" charset="0"/>
                            </a:rPr>
                            <m:t xml:space="preserve">=1</m:t>
                          </m:r>
                        </m:sub>
                        <m:sup>
                          <m:r>
                            <a:rPr lang="en-US" sz="1600" i="1">
                              <a:solidFill>
                                <a:srgbClr val="111111"/>
                              </a:solidFill>
                              <a:latin typeface="Cambria Math" panose="02040503050406030204" pitchFamily="18" charset="0"/>
                            </a:rPr>
                            <m:t xml:space="preserve">K</m:t>
                          </m:r>
                        </m:sup>
                        <m:e>
                          <m:f>
                            <m:fPr>
                              <m:ctrlPr>
                                <a:rPr lang="en-US" sz="1600" i="1">
                                  <a:solidFill>
                                    <a:srgbClr val="111111"/>
                                  </a:solidFill>
                                  <a:latin typeface="Cambria Math" panose="02040503050406030204" pitchFamily="18" charset="0"/>
                                </a:rPr>
                              </m:ctrlPr>
                            </m:fPr>
                            <m:num>
                              <m:sSub>
                                <m:sSubPr>
                                  <m:ctrlPr>
                                    <a:rPr lang="en-US" sz="1600" i="1">
                                      <a:solidFill>
                                        <a:srgbClr val="111111"/>
                                      </a:solidFill>
                                      <a:latin typeface="Cambria Math" panose="02040503050406030204" pitchFamily="18" charset="0"/>
                                    </a:rPr>
                                  </m:ctrlPr>
                                </m:sSubPr>
                                <m:e>
                                  <m:r>
                                    <m:rPr>
                                      <m:sty m:val="p"/>
                                    </m:rPr>
                                    <a:rPr lang="en-US" sz="1600">
                                      <a:solidFill>
                                        <a:srgbClr val="111111"/>
                                      </a:solidFill>
                                      <a:latin typeface="Cambria Math" panose="02040503050406030204" pitchFamily="18" charset="0"/>
                                    </a:rPr>
                                    <m:t xml:space="preserve">rel</m:t>
                                  </m:r>
                                </m:e>
                                <m:sub>
                                  <m:r>
                                    <a:rPr lang="en-US" sz="1600" i="1">
                                      <a:solidFill>
                                        <a:srgbClr val="111111"/>
                                      </a:solidFill>
                                      <a:latin typeface="Cambria Math" panose="02040503050406030204" pitchFamily="18" charset="0"/>
                                    </a:rPr>
                                    <m:t xml:space="preserve">i</m:t>
                                  </m:r>
                                </m:sub>
                              </m:sSub>
                            </m:num>
                            <m:den>
                              <m:sSub>
                                <m:sSubPr>
                                  <m:ctrlPr>
                                    <a:rPr lang="en-US" sz="1600" i="1">
                                      <a:solidFill>
                                        <a:srgbClr val="111111"/>
                                      </a:solidFill>
                                      <a:latin typeface="Cambria Math" panose="02040503050406030204" pitchFamily="18" charset="0"/>
                                    </a:rPr>
                                  </m:ctrlPr>
                                </m:sSubPr>
                                <m:e>
                                  <m:r>
                                    <m:rPr>
                                      <m:sty m:val="p"/>
                                    </m:rPr>
                                    <a:rPr lang="en-US" sz="1600">
                                      <a:solidFill>
                                        <a:srgbClr val="111111"/>
                                      </a:solidFill>
                                      <a:latin typeface="Cambria Math" panose="02040503050406030204" pitchFamily="18" charset="0"/>
                                    </a:rPr>
                                    <m:t xml:space="preserve">log</m:t>
                                  </m:r>
                                </m:e>
                                <m:sub>
                                  <m:r>
                                    <m:rPr>
                                      <m:sty m:val="p"/>
                                    </m:rPr>
                                    <a:rPr lang="en-US" sz="1600">
                                      <a:solidFill>
                                        <a:srgbClr val="111111"/>
                                      </a:solidFill>
                                      <a:latin typeface="Cambria Math" panose="02040503050406030204" pitchFamily="18" charset="0"/>
                                    </a:rPr>
                                    <m:t xml:space="preserve">2</m:t>
                                  </m:r>
                                </m:sub>
                              </m:sSub>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i</m:t>
                              </m:r>
                              <m:r>
                                <m:rPr>
                                  <m:sty m:val="p"/>
                                </m:rPr>
                                <a:rPr lang="en-US" sz="1600">
                                  <a:solidFill>
                                    <a:srgbClr val="111111"/>
                                  </a:solidFill>
                                  <a:latin typeface="Cambria Math" panose="02040503050406030204" pitchFamily="18" charset="0"/>
                                </a:rPr>
                                <m:t xml:space="preserve">+1)</m:t>
                              </m:r>
                            </m:den>
                          </m:f>
                        </m:e>
                      </m:nary>
                    </m:oMath>
                  </m:oMathPara>
                </a14:m>
                <a:endParaRPr lang="en-US" sz="1600"/>
              </a:p>
            </p:txBody>
          </p:sp>
        </mc:Choice>
        <mc:Fallback>
          <p:sp>
            <p:nvSpPr>
              <p:cNvPr id="35" name="Equation"/>
              <p:cNvSpPr txBox="1"/>
              <p:nvPr/>
            </p:nvSpPr>
            <p:spPr>
              <a:xfrm>
                <a:off x="3771900" y="3775202"/>
                <a:ext cx="6309360" cy="780499"/>
              </a:xfrm>
              <a:prstGeom prst="rect">
                <a:avLst/>
              </a:prstGeom>
              <a:blipFill>
                <a:blip r:embed="rId4"/>
                <a:stretch>
                  <a:fillRect/>
                </a:stretch>
              </a:blipFill>
            </p:spPr>
            <p:txBody>
              <a:bodyPr/>
              <a:lstStyle/>
              <a:p>
                <a:endParaRPr lang="en-US"/>
              </a:p>
            </p:txBody>
          </p:sp>
        </mc:Fallback>
      </mc:AlternateContent>
      <p:sp>
        <p:nvSpPr>
          <p:cNvPr id="36" name="TextBox 35"/>
          <p:cNvSpPr txBox="1"/>
          <p:nvPr/>
        </p:nvSpPr>
        <p:spPr>
          <a:xfrm>
            <a:off x="10309860" y="3747770"/>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Ranking quality; rewards relevant items placed near the top of the list.</a:t>
            </a:r>
          </a:p>
        </p:txBody>
      </p:sp>
      <p:cxnSp>
        <p:nvCxnSpPr>
          <p:cNvPr id="37" name="Connector 36"/>
          <p:cNvCxnSpPr/>
          <p:nvPr/>
        </p:nvCxnSpPr>
        <p:spPr>
          <a:xfrm>
            <a:off x="1028700" y="4583133"/>
            <a:ext cx="16230600" cy="0"/>
          </a:xfrm>
          <a:prstGeom prst="line">
            <a:avLst/>
          </a:prstGeom>
          <a:ln w="12700">
            <a:solidFill>
              <a:srgbClr val="E3D6C4"/>
            </a:solidFill>
          </a:ln>
        </p:spPr>
      </p:cxnSp>
      <p:sp>
        <p:nvSpPr>
          <p:cNvPr id="38" name="Rectangle 37"/>
          <p:cNvSpPr/>
          <p:nvPr/>
        </p:nvSpPr>
        <p:spPr>
          <a:xfrm>
            <a:off x="1028700" y="4583133"/>
            <a:ext cx="16230600" cy="835363"/>
          </a:xfrm>
          <a:prstGeom prst="rect">
            <a:avLst/>
          </a:prstGeom>
          <a:solidFill>
            <a:srgbClr val="E7EAF3"/>
          </a:solidFill>
          <a:ln>
            <a:noFill/>
          </a:ln>
        </p:spPr>
        <p:txBody>
          <a:bodyPr anchor="ctr" rtlCol="false" lIns="0" tIns="0" rIns="0" bIns="0" wrap="square"/>
          <a:lstStyle/>
          <a:p>
            <a:endParaRPr lang="en-US" sz="1800"/>
          </a:p>
        </p:txBody>
      </p:sp>
      <p:sp>
        <p:nvSpPr>
          <p:cNvPr id="39" name="TextBox 38"/>
          <p:cNvSpPr txBox="1"/>
          <p:nvPr/>
        </p:nvSpPr>
        <p:spPr>
          <a:xfrm>
            <a:off x="1165860" y="4583133"/>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Recall@K</a:t>
            </a:r>
          </a:p>
        </p:txBody>
      </p:sp>
      <mc:AlternateContent xmlns:mc="http://schemas.openxmlformats.org/markup-compatibility/2006">
        <mc:Choice xmlns:a14="http://schemas.microsoft.com/office/drawing/2010/main" Requires="a14">
          <p:sp>
            <p:nvSpPr>
              <p:cNvPr id="40" name="Equation"/>
              <p:cNvSpPr txBox="1"/>
              <p:nvPr/>
            </p:nvSpPr>
            <p:spPr>
              <a:xfrm>
                <a:off x="3771900" y="4610565"/>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600">
                          <a:solidFill>
                            <a:srgbClr val="111111"/>
                          </a:solidFill>
                          <a:latin typeface="Cambria Math" panose="02040503050406030204" pitchFamily="18" charset="0"/>
                        </a:rPr>
                        <m:t xml:space="preserve">Recall@</m:t>
                      </m:r>
                      <m:r>
                        <a:rPr lang="en-US" sz="1600" i="1">
                          <a:solidFill>
                            <a:srgbClr val="111111"/>
                          </a:solidFill>
                          <a:latin typeface="Cambria Math" panose="02040503050406030204" pitchFamily="18" charset="0"/>
                        </a:rPr>
                        <m:t xml:space="preserve">K</m:t>
                      </m:r>
                      <m:r>
                        <m:rPr>
                          <m:sty m:val="p"/>
                        </m:rPr>
                        <a:rPr lang="en-US" sz="1600">
                          <a:solidFill>
                            <a:srgbClr val="111111"/>
                          </a:solidFill>
                          <a:latin typeface="Cambria Math" panose="02040503050406030204" pitchFamily="18" charset="0"/>
                        </a:rPr>
                        <m:t xml:space="preserve">=</m:t>
                      </m:r>
                      <m:f>
                        <m:fPr>
                          <m:ctrlPr>
                            <a:rPr lang="en-US" sz="1600" i="1">
                              <a:solidFill>
                                <a:srgbClr val="111111"/>
                              </a:solidFill>
                              <a:latin typeface="Cambria Math" panose="02040503050406030204" pitchFamily="18" charset="0"/>
                            </a:rPr>
                          </m:ctrlPr>
                        </m:fPr>
                        <m:num>
                          <m:r>
                            <m:rPr>
                              <m:sty m:val="p"/>
                            </m:rPr>
                            <a:rPr lang="en-US" sz="1600">
                              <a:solidFill>
                                <a:srgbClr val="111111"/>
                              </a:solidFill>
                              <a:latin typeface="Cambria Math" panose="02040503050406030204" pitchFamily="18" charset="0"/>
                            </a:rPr>
                            <m:t xml:space="preserve">| </m:t>
                          </m:r>
                          <m:sSubSup>
                            <m:sSubSupPr>
                              <m:ctrlPr>
                                <a:rPr lang="en-US" sz="1600" i="1">
                                  <a:solidFill>
                                    <a:srgbClr val="111111"/>
                                  </a:solidFill>
                                  <a:latin typeface="Cambria Math" panose="02040503050406030204" pitchFamily="18" charset="0"/>
                                </a:rPr>
                              </m:ctrlPr>
                            </m:sSubSupPr>
                            <m:e>
                              <m:r>
                                <a:rPr lang="en-US" sz="1600" i="1">
                                  <a:solidFill>
                                    <a:srgbClr val="111111"/>
                                  </a:solidFill>
                                  <a:latin typeface="Cambria Math" panose="02040503050406030204" pitchFamily="18" charset="0"/>
                                </a:rPr>
                                <m:t xml:space="preserve">L</m:t>
                              </m:r>
                            </m:e>
                            <m:sub>
                              <m:r>
                                <a:rPr lang="en-US" sz="1600" i="1">
                                  <a:solidFill>
                                    <a:srgbClr val="111111"/>
                                  </a:solidFill>
                                  <a:latin typeface="Cambria Math" panose="02040503050406030204" pitchFamily="18" charset="0"/>
                                </a:rPr>
                                <m:t xml:space="preserve">u</m:t>
                              </m:r>
                            </m:sub>
                            <m:sup>
                              <m:r>
                                <a:rPr lang="en-US" sz="1600" i="1">
                                  <a:solidFill>
                                    <a:srgbClr val="111111"/>
                                  </a:solidFill>
                                  <a:latin typeface="Cambria Math" panose="02040503050406030204" pitchFamily="18" charset="0"/>
                                </a:rPr>
                                <m:t xml:space="preserve">K</m:t>
                              </m:r>
                            </m:sup>
                          </m:sSubSup>
                          <m:r>
                            <m:rPr>
                              <m:sty m:val="p"/>
                            </m:rPr>
                            <a:rPr lang="en-US" sz="1600">
                              <a:solidFill>
                                <a:srgbClr val="111111"/>
                              </a:solidFill>
                              <a:latin typeface="Cambria Math" panose="02040503050406030204" pitchFamily="18" charset="0"/>
                            </a:rPr>
                            <m:t xml:space="preserve">∩</m:t>
                          </m:r>
                          <m:sSub>
                            <m:sSubPr>
                              <m:ctrlPr>
                                <a:rPr lang="en-US" sz="1600" i="1">
                                  <a:solidFill>
                                    <a:srgbClr val="111111"/>
                                  </a:solidFill>
                                  <a:latin typeface="Cambria Math" panose="02040503050406030204" pitchFamily="18" charset="0"/>
                                </a:rPr>
                              </m:ctrlPr>
                            </m:sSubPr>
                            <m:e>
                              <m:r>
                                <m:rPr>
                                  <m:scr m:val="script"/>
                                  <m:sty m:val="p"/>
                                </m:rPr>
                                <a:rPr lang="en-US" sz="1600">
                                  <a:solidFill>
                                    <a:srgbClr val="111111"/>
                                  </a:solidFill>
                                  <a:latin typeface="Cambria Math" panose="02040503050406030204" pitchFamily="18" charset="0"/>
                                </a:rPr>
                                <m:t xml:space="preserve">R</m:t>
                              </m:r>
                            </m:e>
                            <m:sub>
                              <m:r>
                                <a:rPr lang="en-US" sz="1600" i="1">
                                  <a:solidFill>
                                    <a:srgbClr val="111111"/>
                                  </a:solidFill>
                                  <a:latin typeface="Cambria Math" panose="02040503050406030204" pitchFamily="18" charset="0"/>
                                </a:rPr>
                                <m:t xml:space="preserve">u</m:t>
                              </m:r>
                            </m:sub>
                          </m:sSub>
                          <m:r>
                            <m:rPr>
                              <m:sty m:val="p"/>
                            </m:rPr>
                            <a:rPr lang="en-US" sz="1600">
                              <a:solidFill>
                                <a:srgbClr val="111111"/>
                              </a:solidFill>
                              <a:latin typeface="Cambria Math" panose="02040503050406030204" pitchFamily="18" charset="0"/>
                            </a:rPr>
                            <m:t xml:space="preserve"> |</m:t>
                          </m:r>
                        </m:num>
                        <m:den>
                          <m:r>
                            <m:rPr>
                              <m:sty m:val="p"/>
                            </m:rPr>
                            <a:rPr lang="en-US" sz="1600">
                              <a:solidFill>
                                <a:srgbClr val="111111"/>
                              </a:solidFill>
                              <a:latin typeface="Cambria Math" panose="02040503050406030204" pitchFamily="18" charset="0"/>
                            </a:rPr>
                            <m:t xml:space="preserve">| </m:t>
                          </m:r>
                          <m:sSub>
                            <m:sSubPr>
                              <m:ctrlPr>
                                <a:rPr lang="en-US" sz="1600" i="1">
                                  <a:solidFill>
                                    <a:srgbClr val="111111"/>
                                  </a:solidFill>
                                  <a:latin typeface="Cambria Math" panose="02040503050406030204" pitchFamily="18" charset="0"/>
                                </a:rPr>
                              </m:ctrlPr>
                            </m:sSubPr>
                            <m:e>
                              <m:r>
                                <m:rPr>
                                  <m:scr m:val="script"/>
                                  <m:sty m:val="p"/>
                                </m:rPr>
                                <a:rPr lang="en-US" sz="1600">
                                  <a:solidFill>
                                    <a:srgbClr val="111111"/>
                                  </a:solidFill>
                                  <a:latin typeface="Cambria Math" panose="02040503050406030204" pitchFamily="18" charset="0"/>
                                </a:rPr>
                                <m:t xml:space="preserve">R</m:t>
                              </m:r>
                            </m:e>
                            <m:sub>
                              <m:r>
                                <a:rPr lang="en-US" sz="1600" i="1">
                                  <a:solidFill>
                                    <a:srgbClr val="111111"/>
                                  </a:solidFill>
                                  <a:latin typeface="Cambria Math" panose="02040503050406030204" pitchFamily="18" charset="0"/>
                                </a:rPr>
                                <m:t xml:space="preserve">u</m:t>
                              </m:r>
                            </m:sub>
                          </m:sSub>
                          <m:r>
                            <m:rPr>
                              <m:sty m:val="p"/>
                            </m:rPr>
                            <a:rPr lang="en-US" sz="1600">
                              <a:solidFill>
                                <a:srgbClr val="111111"/>
                              </a:solidFill>
                              <a:latin typeface="Cambria Math" panose="02040503050406030204" pitchFamily="18" charset="0"/>
                            </a:rPr>
                            <m:t xml:space="preserve"> |</m:t>
                          </m:r>
                        </m:den>
                      </m:f>
                    </m:oMath>
                  </m:oMathPara>
                </a14:m>
                <a:endParaRPr lang="en-US" sz="1600"/>
              </a:p>
            </p:txBody>
          </p:sp>
        </mc:Choice>
        <mc:Fallback>
          <p:sp>
            <p:nvSpPr>
              <p:cNvPr id="40" name="Equation"/>
              <p:cNvSpPr txBox="1"/>
              <p:nvPr/>
            </p:nvSpPr>
            <p:spPr>
              <a:xfrm>
                <a:off x="3771900" y="4610565"/>
                <a:ext cx="6309360" cy="780499"/>
              </a:xfrm>
              <a:prstGeom prst="rect">
                <a:avLst/>
              </a:prstGeom>
              <a:blipFill>
                <a:blip r:embed="rId5"/>
                <a:stretch>
                  <a:fillRect/>
                </a:stretch>
              </a:blipFill>
            </p:spPr>
            <p:txBody>
              <a:bodyPr/>
              <a:lstStyle/>
              <a:p>
                <a:endParaRPr lang="en-US"/>
              </a:p>
            </p:txBody>
          </p:sp>
        </mc:Fallback>
      </mc:AlternateContent>
      <p:sp>
        <p:nvSpPr>
          <p:cNvPr id="41" name="TextBox 40"/>
          <p:cNvSpPr txBox="1"/>
          <p:nvPr/>
        </p:nvSpPr>
        <p:spPr>
          <a:xfrm>
            <a:off x="10309860" y="4583133"/>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Share of the user's relevant items that appear in the top-K list.</a:t>
            </a:r>
          </a:p>
        </p:txBody>
      </p:sp>
      <p:cxnSp>
        <p:nvCxnSpPr>
          <p:cNvPr id="42" name="Connector 41"/>
          <p:cNvCxnSpPr/>
          <p:nvPr/>
        </p:nvCxnSpPr>
        <p:spPr>
          <a:xfrm>
            <a:off x="1028700" y="5418497"/>
            <a:ext cx="16230600" cy="0"/>
          </a:xfrm>
          <a:prstGeom prst="line">
            <a:avLst/>
          </a:prstGeom>
          <a:ln w="12700">
            <a:solidFill>
              <a:srgbClr val="E3D6C4"/>
            </a:solidFill>
          </a:ln>
        </p:spPr>
      </p:cxnSp>
      <p:sp>
        <p:nvSpPr>
          <p:cNvPr id="43" name="Rectangle 42"/>
          <p:cNvSpPr/>
          <p:nvPr/>
        </p:nvSpPr>
        <p:spPr>
          <a:xfrm>
            <a:off x="1028700" y="5418497"/>
            <a:ext cx="16230600" cy="835363"/>
          </a:xfrm>
          <a:prstGeom prst="rect">
            <a:avLst/>
          </a:prstGeom>
          <a:solidFill>
            <a:srgbClr val="FFFFFF"/>
          </a:solidFill>
          <a:ln>
            <a:noFill/>
          </a:ln>
        </p:spPr>
        <p:txBody>
          <a:bodyPr anchor="ctr" rtlCol="false" lIns="0" tIns="0" rIns="0" bIns="0" wrap="square"/>
          <a:lstStyle/>
          <a:p>
            <a:endParaRPr lang="en-US" sz="1800"/>
          </a:p>
        </p:txBody>
      </p:sp>
      <p:sp>
        <p:nvSpPr>
          <p:cNvPr id="44" name="TextBox 43"/>
          <p:cNvSpPr txBox="1"/>
          <p:nvPr/>
        </p:nvSpPr>
        <p:spPr>
          <a:xfrm>
            <a:off x="1165860" y="5418497"/>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Catalogue Coverage</a:t>
            </a:r>
          </a:p>
        </p:txBody>
      </p:sp>
      <mc:AlternateContent xmlns:mc="http://schemas.openxmlformats.org/markup-compatibility/2006">
        <mc:Choice xmlns:a14="http://schemas.microsoft.com/office/drawing/2010/main" Requires="a14">
          <p:sp>
            <p:nvSpPr>
              <p:cNvPr id="45" name="Equation"/>
              <p:cNvSpPr txBox="1"/>
              <p:nvPr/>
            </p:nvSpPr>
            <p:spPr>
              <a:xfrm>
                <a:off x="3771900" y="5445929"/>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600">
                          <a:solidFill>
                            <a:srgbClr val="111111"/>
                          </a:solidFill>
                          <a:latin typeface="Cambria Math" panose="02040503050406030204" pitchFamily="18" charset="0"/>
                        </a:rPr>
                        <m:t xml:space="preserve">Cov=</m:t>
                      </m:r>
                      <m:f>
                        <m:fPr>
                          <m:ctrlPr>
                            <a:rPr lang="en-US" sz="1600" i="1">
                              <a:solidFill>
                                <a:srgbClr val="111111"/>
                              </a:solidFill>
                              <a:latin typeface="Cambria Math" panose="02040503050406030204" pitchFamily="18" charset="0"/>
                            </a:rPr>
                          </m:ctrlPr>
                        </m:fPr>
                        <m:num>
                          <m:d>
                            <m:dPr>
                              <m:begChr m:val="|"/>
                              <m:endChr m:val="|"/>
                              <m:ctrlPr>
                                <a:rPr lang="en-US" sz="1600" i="1">
                                  <a:solidFill>
                                    <a:srgbClr val="111111"/>
                                  </a:solidFill>
                                  <a:latin typeface="Cambria Math" panose="02040503050406030204" pitchFamily="18" charset="0"/>
                                </a:rPr>
                              </m:ctrlPr>
                            </m:dPr>
                            <m:e>
                              <m:r>
                                <m:rPr>
                                  <m:sty m:val="p"/>
                                </m:rPr>
                                <a:rPr lang="en-US" sz="1600">
                                  <a:solidFill>
                                    <a:srgbClr val="111111"/>
                                  </a:solidFill>
                                  <a:latin typeface="Cambria Math" panose="02040503050406030204" pitchFamily="18" charset="0"/>
                                </a:rPr>
                                <m:t xml:space="preserve"> </m:t>
                              </m:r>
                              <m:nary>
                                <m:naryPr>
                                  <m:chr m:val="⋃"/>
                                  <m:limLoc m:val="subSup"/>
                                  <m:supHide m:val="1"/>
                                  <m:ctrlPr>
                                    <a:rPr lang="en-US" sz="1600" i="1">
                                      <a:solidFill>
                                        <a:srgbClr val="111111"/>
                                      </a:solidFill>
                                      <a:latin typeface="Cambria Math" panose="02040503050406030204" pitchFamily="18" charset="0"/>
                                    </a:rPr>
                                  </m:ctrlPr>
                                </m:naryPr>
                                <m:sub>
                                  <m:r>
                                    <a:rPr lang="en-US" sz="1600" i="1">
                                      <a:solidFill>
                                        <a:srgbClr val="111111"/>
                                      </a:solidFill>
                                      <a:latin typeface="Cambria Math" panose="02040503050406030204" pitchFamily="18" charset="0"/>
                                    </a:rPr>
                                    <m:t xml:space="preserve">u</m:t>
                                  </m:r>
                                </m:sub>
                                <m:sup/>
                                <m:e>
                                  <m:sSubSup>
                                    <m:sSubSupPr>
                                      <m:ctrlPr>
                                        <a:rPr lang="en-US" sz="1600" i="1">
                                          <a:solidFill>
                                            <a:srgbClr val="111111"/>
                                          </a:solidFill>
                                          <a:latin typeface="Cambria Math" panose="02040503050406030204" pitchFamily="18" charset="0"/>
                                        </a:rPr>
                                      </m:ctrlPr>
                                    </m:sSubSupPr>
                                    <m:e>
                                      <m:r>
                                        <a:rPr lang="en-US" sz="1600" i="1">
                                          <a:solidFill>
                                            <a:srgbClr val="111111"/>
                                          </a:solidFill>
                                          <a:latin typeface="Cambria Math" panose="02040503050406030204" pitchFamily="18" charset="0"/>
                                        </a:rPr>
                                        <m:t xml:space="preserve">L</m:t>
                                      </m:r>
                                    </m:e>
                                    <m:sub>
                                      <m:r>
                                        <a:rPr lang="en-US" sz="1600" i="1">
                                          <a:solidFill>
                                            <a:srgbClr val="111111"/>
                                          </a:solidFill>
                                          <a:latin typeface="Cambria Math" panose="02040503050406030204" pitchFamily="18" charset="0"/>
                                        </a:rPr>
                                        <m:t xml:space="preserve">u</m:t>
                                      </m:r>
                                    </m:sub>
                                    <m:sup>
                                      <m:r>
                                        <a:rPr lang="en-US" sz="1600" i="1">
                                          <a:solidFill>
                                            <a:srgbClr val="111111"/>
                                          </a:solidFill>
                                          <a:latin typeface="Cambria Math" panose="02040503050406030204" pitchFamily="18" charset="0"/>
                                        </a:rPr>
                                        <m:t xml:space="preserve">K</m:t>
                                      </m:r>
                                    </m:sup>
                                  </m:sSubSup>
                                </m:e>
                              </m:nary>
                              <m:r>
                                <m:rPr>
                                  <m:sty m:val="p"/>
                                </m:rPr>
                                <a:rPr lang="en-US" sz="1600">
                                  <a:solidFill>
                                    <a:srgbClr val="111111"/>
                                  </a:solidFill>
                                  <a:latin typeface="Cambria Math" panose="02040503050406030204" pitchFamily="18" charset="0"/>
                                </a:rPr>
                                <m:t xml:space="preserve"> </m:t>
                              </m:r>
                            </m:e>
                          </m:d>
                        </m:num>
                        <m:den>
                          <m:d>
                            <m:dPr>
                              <m:begChr m:val="|"/>
                              <m:endChr m:val="|"/>
                              <m:ctrlPr>
                                <a:rPr lang="en-US" sz="1600" i="1">
                                  <a:solidFill>
                                    <a:srgbClr val="111111"/>
                                  </a:solidFill>
                                  <a:latin typeface="Cambria Math" panose="02040503050406030204" pitchFamily="18" charset="0"/>
                                </a:rPr>
                              </m:ctrlPr>
                            </m:dPr>
                            <m:e>
                              <m:r>
                                <m:rPr>
                                  <m:sty m:val="p"/>
                                </m:rPr>
                                <a:rPr lang="en-US" sz="1600">
                                  <a:solidFill>
                                    <a:srgbClr val="111111"/>
                                  </a:solidFill>
                                  <a:latin typeface="Cambria Math" panose="02040503050406030204" pitchFamily="18" charset="0"/>
                                </a:rPr>
                                <m:t xml:space="preserve"> </m:t>
                              </m:r>
                              <m:r>
                                <a:rPr lang="en-US" sz="1600" i="1">
                                  <a:solidFill>
                                    <a:srgbClr val="111111"/>
                                  </a:solidFill>
                                  <a:latin typeface="Cambria Math" panose="02040503050406030204" pitchFamily="18" charset="0"/>
                                </a:rPr>
                                <m:t xml:space="preserve">I</m:t>
                              </m:r>
                              <m:r>
                                <m:rPr>
                                  <m:sty m:val="p"/>
                                </m:rPr>
                                <a:rPr lang="en-US" sz="1600">
                                  <a:solidFill>
                                    <a:srgbClr val="111111"/>
                                  </a:solidFill>
                                  <a:latin typeface="Cambria Math" panose="02040503050406030204" pitchFamily="18" charset="0"/>
                                </a:rPr>
                                <m:t xml:space="preserve"> </m:t>
                              </m:r>
                            </m:e>
                          </m:d>
                        </m:den>
                      </m:f>
                    </m:oMath>
                  </m:oMathPara>
                </a14:m>
                <a:endParaRPr lang="en-US" sz="1600"/>
              </a:p>
            </p:txBody>
          </p:sp>
        </mc:Choice>
        <mc:Fallback>
          <p:sp>
            <p:nvSpPr>
              <p:cNvPr id="45" name="Equation"/>
              <p:cNvSpPr txBox="1"/>
              <p:nvPr/>
            </p:nvSpPr>
            <p:spPr>
              <a:xfrm>
                <a:off x="3771900" y="5445929"/>
                <a:ext cx="6309360" cy="780499"/>
              </a:xfrm>
              <a:prstGeom prst="rect">
                <a:avLst/>
              </a:prstGeom>
              <a:blipFill>
                <a:blip r:embed="rId6"/>
                <a:stretch>
                  <a:fillRect/>
                </a:stretch>
              </a:blipFill>
            </p:spPr>
            <p:txBody>
              <a:bodyPr/>
              <a:lstStyle/>
              <a:p>
                <a:endParaRPr lang="en-US"/>
              </a:p>
            </p:txBody>
          </p:sp>
        </mc:Fallback>
      </mc:AlternateContent>
      <p:sp>
        <p:nvSpPr>
          <p:cNvPr id="46" name="TextBox 45"/>
          <p:cNvSpPr txBox="1"/>
          <p:nvPr/>
        </p:nvSpPr>
        <p:spPr>
          <a:xfrm>
            <a:off x="10309860" y="5418497"/>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System-level diversity: how much of the catalogue is ever recommended.</a:t>
            </a:r>
          </a:p>
        </p:txBody>
      </p:sp>
      <p:cxnSp>
        <p:nvCxnSpPr>
          <p:cNvPr id="47" name="Connector 46"/>
          <p:cNvCxnSpPr/>
          <p:nvPr/>
        </p:nvCxnSpPr>
        <p:spPr>
          <a:xfrm>
            <a:off x="1028700" y="6253861"/>
            <a:ext cx="16230600" cy="0"/>
          </a:xfrm>
          <a:prstGeom prst="line">
            <a:avLst/>
          </a:prstGeom>
          <a:ln w="12700">
            <a:solidFill>
              <a:srgbClr val="E3D6C4"/>
            </a:solidFill>
          </a:ln>
        </p:spPr>
      </p:cxnSp>
      <p:sp>
        <p:nvSpPr>
          <p:cNvPr id="48" name="Rectangle 47"/>
          <p:cNvSpPr/>
          <p:nvPr/>
        </p:nvSpPr>
        <p:spPr>
          <a:xfrm>
            <a:off x="1028700" y="6253861"/>
            <a:ext cx="16230600" cy="835363"/>
          </a:xfrm>
          <a:prstGeom prst="rect">
            <a:avLst/>
          </a:prstGeom>
          <a:solidFill>
            <a:srgbClr val="E7EAF3"/>
          </a:solidFill>
          <a:ln>
            <a:noFill/>
          </a:ln>
        </p:spPr>
        <p:txBody>
          <a:bodyPr anchor="ctr" rtlCol="false" lIns="0" tIns="0" rIns="0" bIns="0" wrap="square"/>
          <a:lstStyle/>
          <a:p>
            <a:endParaRPr lang="en-US" sz="1800"/>
          </a:p>
        </p:txBody>
      </p:sp>
      <p:sp>
        <p:nvSpPr>
          <p:cNvPr id="49" name="TextBox 48"/>
          <p:cNvSpPr txBox="1"/>
          <p:nvPr/>
        </p:nvSpPr>
        <p:spPr>
          <a:xfrm>
            <a:off x="1165860" y="6253861"/>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Intra-List Diversity</a:t>
            </a:r>
          </a:p>
        </p:txBody>
      </p:sp>
      <mc:AlternateContent xmlns:mc="http://schemas.openxmlformats.org/markup-compatibility/2006">
        <mc:Choice xmlns:a14="http://schemas.microsoft.com/office/drawing/2010/main" Requires="a14">
          <p:sp>
            <p:nvSpPr>
              <p:cNvPr id="50" name="Equation"/>
              <p:cNvSpPr txBox="1"/>
              <p:nvPr/>
            </p:nvSpPr>
            <p:spPr>
              <a:xfrm>
                <a:off x="3771900" y="6281293"/>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600">
                          <a:solidFill>
                            <a:srgbClr val="111111"/>
                          </a:solidFill>
                          <a:latin typeface="Cambria Math" panose="02040503050406030204" pitchFamily="18" charset="0"/>
                        </a:rPr>
                        <m:t xml:space="preserve">ILD(</m:t>
                      </m:r>
                      <m:sSub>
                        <m:sSubPr>
                          <m:ctrlPr>
                            <a:rPr lang="en-US" sz="1600" i="1">
                              <a:solidFill>
                                <a:srgbClr val="111111"/>
                              </a:solidFill>
                              <a:latin typeface="Cambria Math" panose="02040503050406030204" pitchFamily="18" charset="0"/>
                            </a:rPr>
                          </m:ctrlPr>
                        </m:sSubPr>
                        <m:e>
                          <m:r>
                            <a:rPr lang="en-US" sz="1600" i="1">
                              <a:solidFill>
                                <a:srgbClr val="111111"/>
                              </a:solidFill>
                              <a:latin typeface="Cambria Math" panose="02040503050406030204" pitchFamily="18" charset="0"/>
                            </a:rPr>
                            <m:t xml:space="preserve">L</m:t>
                          </m:r>
                        </m:e>
                        <m:sub>
                          <m:r>
                            <a:rPr lang="en-US" sz="1600" i="1">
                              <a:solidFill>
                                <a:srgbClr val="111111"/>
                              </a:solidFill>
                              <a:latin typeface="Cambria Math" panose="02040503050406030204" pitchFamily="18" charset="0"/>
                            </a:rPr>
                            <m:t xml:space="preserve">u</m:t>
                          </m:r>
                        </m:sub>
                      </m:sSub>
                      <m:r>
                        <m:rPr>
                          <m:sty m:val="p"/>
                        </m:rPr>
                        <a:rPr lang="en-US" sz="1600">
                          <a:solidFill>
                            <a:srgbClr val="111111"/>
                          </a:solidFill>
                          <a:latin typeface="Cambria Math" panose="02040503050406030204" pitchFamily="18" charset="0"/>
                        </a:rPr>
                        <m:t xml:space="preserve">)=</m:t>
                      </m:r>
                      <m:f>
                        <m:fPr>
                          <m:ctrlPr>
                            <a:rPr lang="en-US" sz="1600" i="1">
                              <a:solidFill>
                                <a:srgbClr val="111111"/>
                              </a:solidFill>
                              <a:latin typeface="Cambria Math" panose="02040503050406030204" pitchFamily="18" charset="0"/>
                            </a:rPr>
                          </m:ctrlPr>
                        </m:fPr>
                        <m:num>
                          <m:r>
                            <m:rPr>
                              <m:sty m:val="p"/>
                            </m:rPr>
                            <a:rPr lang="en-US" sz="1600">
                              <a:solidFill>
                                <a:srgbClr val="111111"/>
                              </a:solidFill>
                              <a:latin typeface="Cambria Math" panose="02040503050406030204" pitchFamily="18" charset="0"/>
                            </a:rPr>
                            <m:t xml:space="preserve">2</m:t>
                          </m:r>
                        </m:num>
                        <m:den>
                          <m:r>
                            <a:rPr lang="en-US" sz="1600" i="1">
                              <a:solidFill>
                                <a:srgbClr val="111111"/>
                              </a:solidFill>
                              <a:latin typeface="Cambria Math" panose="02040503050406030204" pitchFamily="18" charset="0"/>
                            </a:rPr>
                            <m:t xml:space="preserve">K</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K</m:t>
                          </m:r>
                          <m:r>
                            <m:rPr>
                              <m:sty m:val="p"/>
                            </m:rPr>
                            <a:rPr lang="en-US" sz="1600">
                              <a:solidFill>
                                <a:srgbClr val="111111"/>
                              </a:solidFill>
                              <a:latin typeface="Cambria Math" panose="02040503050406030204" pitchFamily="18" charset="0"/>
                            </a:rPr>
                            <m:t xml:space="preserve">−1)</m:t>
                          </m:r>
                        </m:den>
                      </m:f>
                      <m:nary>
                        <m:naryPr>
                          <m:chr m:val="∑"/>
                          <m:limLoc m:val="subSup"/>
                          <m:supHide m:val="1"/>
                          <m:ctrlPr>
                            <a:rPr lang="en-US" sz="1600" i="1">
                              <a:solidFill>
                                <a:srgbClr val="111111"/>
                              </a:solidFill>
                              <a:latin typeface="Cambria Math" panose="02040503050406030204" pitchFamily="18" charset="0"/>
                            </a:rPr>
                          </m:ctrlPr>
                        </m:naryPr>
                        <m:sub>
                          <m:r>
                            <a:rPr lang="en-US" sz="1600" i="1">
                              <a:solidFill>
                                <a:srgbClr val="111111"/>
                              </a:solidFill>
                              <a:latin typeface="Cambria Math" panose="02040503050406030204" pitchFamily="18" charset="0"/>
                            </a:rPr>
                            <m:t xml:space="preserve">i</m:t>
                          </m:r>
                          <m:r>
                            <m:rPr>
                              <m:sty m:val="p"/>
                            </m:rPr>
                            <a:rPr lang="en-US" sz="1600">
                              <a:solidFill>
                                <a:srgbClr val="111111"/>
                              </a:solidFill>
                              <a:latin typeface="Cambria Math" panose="02040503050406030204" pitchFamily="18" charset="0"/>
                            </a:rPr>
                            <m:t xml:space="preserve">&lt;</m:t>
                          </m:r>
                          <m:r>
                            <a:rPr lang="en-US" sz="1600" i="1">
                              <a:solidFill>
                                <a:srgbClr val="111111"/>
                              </a:solidFill>
                              <a:latin typeface="Cambria Math" panose="02040503050406030204" pitchFamily="18" charset="0"/>
                            </a:rPr>
                            <m:t xml:space="preserve">j</m:t>
                          </m:r>
                        </m:sub>
                        <m:sup/>
                        <m:e>
                          <m:d>
                            <m:dPr>
                              <m:ctrlPr>
                                <a:rPr lang="en-US" sz="1600" i="1">
                                  <a:solidFill>
                                    <a:srgbClr val="111111"/>
                                  </a:solidFill>
                                  <a:latin typeface="Cambria Math" panose="02040503050406030204" pitchFamily="18" charset="0"/>
                                </a:rPr>
                              </m:ctrlPr>
                            </m:dPr>
                            <m:e>
                              <m:r>
                                <m:rPr>
                                  <m:sty m:val="p"/>
                                </m:rPr>
                                <a:rPr lang="en-US" sz="1600">
                                  <a:solidFill>
                                    <a:srgbClr val="111111"/>
                                  </a:solidFill>
                                  <a:latin typeface="Cambria Math" panose="02040503050406030204" pitchFamily="18" charset="0"/>
                                </a:rPr>
                                <m:t xml:space="preserve">1−sim(</m:t>
                              </m:r>
                              <m:r>
                                <a:rPr lang="en-US" sz="1600" i="1">
                                  <a:solidFill>
                                    <a:srgbClr val="111111"/>
                                  </a:solidFill>
                                  <a:latin typeface="Cambria Math" panose="02040503050406030204" pitchFamily="18" charset="0"/>
                                </a:rPr>
                                <m:t xml:space="preserve">i</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j</m:t>
                              </m:r>
                              <m:r>
                                <m:rPr>
                                  <m:sty m:val="p"/>
                                </m:rPr>
                                <a:rPr lang="en-US" sz="1600">
                                  <a:solidFill>
                                    <a:srgbClr val="111111"/>
                                  </a:solidFill>
                                  <a:latin typeface="Cambria Math" panose="02040503050406030204" pitchFamily="18" charset="0"/>
                                </a:rPr>
                                <m:t xml:space="preserve">)</m:t>
                              </m:r>
                            </m:e>
                          </m:d>
                        </m:e>
                      </m:nary>
                    </m:oMath>
                  </m:oMathPara>
                </a14:m>
                <a:endParaRPr lang="en-US" sz="1600"/>
              </a:p>
            </p:txBody>
          </p:sp>
        </mc:Choice>
        <mc:Fallback>
          <p:sp>
            <p:nvSpPr>
              <p:cNvPr id="50" name="Equation"/>
              <p:cNvSpPr txBox="1"/>
              <p:nvPr/>
            </p:nvSpPr>
            <p:spPr>
              <a:xfrm>
                <a:off x="3771900" y="6281293"/>
                <a:ext cx="6309360" cy="780499"/>
              </a:xfrm>
              <a:prstGeom prst="rect">
                <a:avLst/>
              </a:prstGeom>
              <a:blipFill>
                <a:blip r:embed="rId7"/>
                <a:stretch>
                  <a:fillRect/>
                </a:stretch>
              </a:blipFill>
            </p:spPr>
            <p:txBody>
              <a:bodyPr/>
              <a:lstStyle/>
              <a:p>
                <a:endParaRPr lang="en-US"/>
              </a:p>
            </p:txBody>
          </p:sp>
        </mc:Fallback>
      </mc:AlternateContent>
      <p:sp>
        <p:nvSpPr>
          <p:cNvPr id="51" name="TextBox 50"/>
          <p:cNvSpPr txBox="1"/>
          <p:nvPr/>
        </p:nvSpPr>
        <p:spPr>
          <a:xfrm>
            <a:off x="10309860" y="6253861"/>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List-level diversity; built into the DyHuCoG coalition utility.</a:t>
            </a:r>
          </a:p>
        </p:txBody>
      </p:sp>
      <p:cxnSp>
        <p:nvCxnSpPr>
          <p:cNvPr id="52" name="Connector 51"/>
          <p:cNvCxnSpPr/>
          <p:nvPr/>
        </p:nvCxnSpPr>
        <p:spPr>
          <a:xfrm>
            <a:off x="1028700" y="7089224"/>
            <a:ext cx="16230600" cy="0"/>
          </a:xfrm>
          <a:prstGeom prst="line">
            <a:avLst/>
          </a:prstGeom>
          <a:ln w="12700">
            <a:solidFill>
              <a:srgbClr val="E3D6C4"/>
            </a:solidFill>
          </a:ln>
        </p:spPr>
      </p:cxnSp>
      <p:sp>
        <p:nvSpPr>
          <p:cNvPr id="53" name="Rectangle 52"/>
          <p:cNvSpPr/>
          <p:nvPr/>
        </p:nvSpPr>
        <p:spPr>
          <a:xfrm>
            <a:off x="1028700" y="7089224"/>
            <a:ext cx="16230600" cy="835363"/>
          </a:xfrm>
          <a:prstGeom prst="rect">
            <a:avLst/>
          </a:prstGeom>
          <a:solidFill>
            <a:srgbClr val="FFFFFF"/>
          </a:solidFill>
          <a:ln>
            <a:noFill/>
          </a:ln>
        </p:spPr>
        <p:txBody>
          <a:bodyPr anchor="ctr" rtlCol="false" lIns="0" tIns="0" rIns="0" bIns="0" wrap="square"/>
          <a:lstStyle/>
          <a:p>
            <a:endParaRPr lang="en-US" sz="1800"/>
          </a:p>
        </p:txBody>
      </p:sp>
      <p:sp>
        <p:nvSpPr>
          <p:cNvPr id="54" name="TextBox 53"/>
          <p:cNvSpPr txBox="1"/>
          <p:nvPr/>
        </p:nvSpPr>
        <p:spPr>
          <a:xfrm>
            <a:off x="1165860" y="7089224"/>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Silhouette</a:t>
            </a:r>
          </a:p>
        </p:txBody>
      </p:sp>
      <mc:AlternateContent xmlns:mc="http://schemas.openxmlformats.org/markup-compatibility/2006">
        <mc:Choice xmlns:a14="http://schemas.microsoft.com/office/drawing/2010/main" Requires="a14">
          <p:sp>
            <p:nvSpPr>
              <p:cNvPr id="55" name="Equation"/>
              <p:cNvSpPr txBox="1"/>
              <p:nvPr/>
            </p:nvSpPr>
            <p:spPr>
              <a:xfrm>
                <a:off x="3771900" y="7116656"/>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a:rPr lang="en-US" sz="1600" i="1">
                          <a:solidFill>
                            <a:srgbClr val="111111"/>
                          </a:solidFill>
                          <a:latin typeface="Cambria Math" panose="02040503050406030204" pitchFamily="18" charset="0"/>
                        </a:rPr>
                        <m:t xml:space="preserve">s</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x</m:t>
                      </m:r>
                      <m:r>
                        <m:rPr>
                          <m:sty m:val="p"/>
                        </m:rPr>
                        <a:rPr lang="en-US" sz="1600">
                          <a:solidFill>
                            <a:srgbClr val="111111"/>
                          </a:solidFill>
                          <a:latin typeface="Cambria Math" panose="02040503050406030204" pitchFamily="18" charset="0"/>
                        </a:rPr>
                        <m:t xml:space="preserve">)=</m:t>
                      </m:r>
                      <m:f>
                        <m:fPr>
                          <m:ctrlPr>
                            <a:rPr lang="en-US" sz="1600" i="1">
                              <a:solidFill>
                                <a:srgbClr val="111111"/>
                              </a:solidFill>
                              <a:latin typeface="Cambria Math" panose="02040503050406030204" pitchFamily="18" charset="0"/>
                            </a:rPr>
                          </m:ctrlPr>
                        </m:fPr>
                        <m:num>
                          <m:r>
                            <a:rPr lang="en-US" sz="1600" i="1">
                              <a:solidFill>
                                <a:srgbClr val="111111"/>
                              </a:solidFill>
                              <a:latin typeface="Cambria Math" panose="02040503050406030204" pitchFamily="18" charset="0"/>
                            </a:rPr>
                            <m:t xml:space="preserve">b</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x</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a</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x</m:t>
                          </m:r>
                          <m:r>
                            <m:rPr>
                              <m:sty m:val="p"/>
                            </m:rPr>
                            <a:rPr lang="en-US" sz="1600">
                              <a:solidFill>
                                <a:srgbClr val="111111"/>
                              </a:solidFill>
                              <a:latin typeface="Cambria Math" panose="02040503050406030204" pitchFamily="18" charset="0"/>
                            </a:rPr>
                            <m:t xml:space="preserve">)</m:t>
                          </m:r>
                        </m:num>
                        <m:den>
                          <m:r>
                            <m:rPr>
                              <m:sty m:val="p"/>
                            </m:rPr>
                            <a:rPr lang="en-US" sz="1600">
                              <a:solidFill>
                                <a:srgbClr val="111111"/>
                              </a:solidFill>
                              <a:latin typeface="Cambria Math" panose="02040503050406030204" pitchFamily="18" charset="0"/>
                            </a:rPr>
                            <m:t xml:space="preserve">max{</m:t>
                          </m:r>
                          <m:r>
                            <a:rPr lang="en-US" sz="1600" i="1">
                              <a:solidFill>
                                <a:srgbClr val="111111"/>
                              </a:solidFill>
                              <a:latin typeface="Cambria Math" panose="02040503050406030204" pitchFamily="18" charset="0"/>
                            </a:rPr>
                            <m:t xml:space="preserve">a</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x</m:t>
                          </m:r>
                          <m:r>
                            <m:rPr>
                              <m:sty m:val="p"/>
                            </m:rPr>
                            <a:rPr lang="en-US" sz="1600">
                              <a:solidFill>
                                <a:srgbClr val="111111"/>
                              </a:solidFill>
                              <a:latin typeface="Cambria Math" panose="02040503050406030204" pitchFamily="18" charset="0"/>
                            </a:rPr>
                            <m:t xml:space="preserve">), </m:t>
                          </m:r>
                          <m:r>
                            <a:rPr lang="en-US" sz="1600" i="1">
                              <a:solidFill>
                                <a:srgbClr val="111111"/>
                              </a:solidFill>
                              <a:latin typeface="Cambria Math" panose="02040503050406030204" pitchFamily="18" charset="0"/>
                            </a:rPr>
                            <m:t xml:space="preserve">b</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x</m:t>
                          </m:r>
                          <m:r>
                            <m:rPr>
                              <m:sty m:val="p"/>
                            </m:rPr>
                            <a:rPr lang="en-US" sz="1600">
                              <a:solidFill>
                                <a:srgbClr val="111111"/>
                              </a:solidFill>
                              <a:latin typeface="Cambria Math" panose="02040503050406030204" pitchFamily="18" charset="0"/>
                            </a:rPr>
                            <m:t xml:space="preserve">)}</m:t>
                          </m:r>
                        </m:den>
                      </m:f>
                      <m:r>
                        <m:rPr>
                          <m:sty m:val="p"/>
                        </m:rPr>
                        <a:rPr lang="en-US" sz="1600">
                          <a:solidFill>
                            <a:srgbClr val="111111"/>
                          </a:solidFill>
                          <a:latin typeface="Cambria Math" panose="02040503050406030204" pitchFamily="18" charset="0"/>
                        </a:rPr>
                        <m:t xml:space="preserve">,  </m:t>
                      </m:r>
                      <m:r>
                        <a:rPr lang="en-US" sz="1600" i="1">
                          <a:solidFill>
                            <a:srgbClr val="111111"/>
                          </a:solidFill>
                          <a:latin typeface="Cambria Math" panose="02040503050406030204" pitchFamily="18" charset="0"/>
                        </a:rPr>
                        <m:t xml:space="preserve">s</m:t>
                      </m:r>
                      <m:r>
                        <m:rPr>
                          <m:sty m:val="p"/>
                        </m:rPr>
                        <a:rPr lang="en-US" sz="1600">
                          <a:solidFill>
                            <a:srgbClr val="111111"/>
                          </a:solidFill>
                          <a:latin typeface="Cambria Math" panose="02040503050406030204" pitchFamily="18" charset="0"/>
                        </a:rPr>
                        <m:t xml:space="preserve">∈[−1,1]</m:t>
                      </m:r>
                    </m:oMath>
                  </m:oMathPara>
                </a14:m>
                <a:endParaRPr lang="en-US" sz="1600"/>
              </a:p>
            </p:txBody>
          </p:sp>
        </mc:Choice>
        <mc:Fallback>
          <p:sp>
            <p:nvSpPr>
              <p:cNvPr id="55" name="Equation"/>
              <p:cNvSpPr txBox="1"/>
              <p:nvPr/>
            </p:nvSpPr>
            <p:spPr>
              <a:xfrm>
                <a:off x="3771900" y="7116656"/>
                <a:ext cx="6309360" cy="780499"/>
              </a:xfrm>
              <a:prstGeom prst="rect">
                <a:avLst/>
              </a:prstGeom>
              <a:blipFill>
                <a:blip r:embed="rId8"/>
                <a:stretch>
                  <a:fillRect/>
                </a:stretch>
              </a:blipFill>
            </p:spPr>
            <p:txBody>
              <a:bodyPr/>
              <a:lstStyle/>
              <a:p>
                <a:endParaRPr lang="en-US"/>
              </a:p>
            </p:txBody>
          </p:sp>
        </mc:Fallback>
      </mc:AlternateContent>
      <p:sp>
        <p:nvSpPr>
          <p:cNvPr id="56" name="TextBox 55"/>
          <p:cNvSpPr txBox="1"/>
          <p:nvPr/>
        </p:nvSpPr>
        <p:spPr>
          <a:xfrm>
            <a:off x="10309860" y="7089224"/>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Clustering quality; the value function of the clustering game (C1, C2).</a:t>
            </a:r>
          </a:p>
        </p:txBody>
      </p:sp>
      <p:cxnSp>
        <p:nvCxnSpPr>
          <p:cNvPr id="57" name="Connector 56"/>
          <p:cNvCxnSpPr/>
          <p:nvPr/>
        </p:nvCxnSpPr>
        <p:spPr>
          <a:xfrm>
            <a:off x="1028700" y="7924588"/>
            <a:ext cx="16230600" cy="0"/>
          </a:xfrm>
          <a:prstGeom prst="line">
            <a:avLst/>
          </a:prstGeom>
          <a:ln w="12700">
            <a:solidFill>
              <a:srgbClr val="E3D6C4"/>
            </a:solidFill>
          </a:ln>
        </p:spPr>
      </p:cxnSp>
      <p:sp>
        <p:nvSpPr>
          <p:cNvPr id="58" name="Rectangle 57"/>
          <p:cNvSpPr/>
          <p:nvPr/>
        </p:nvSpPr>
        <p:spPr>
          <a:xfrm>
            <a:off x="1028700" y="7924588"/>
            <a:ext cx="16230600" cy="835363"/>
          </a:xfrm>
          <a:prstGeom prst="rect">
            <a:avLst/>
          </a:prstGeom>
          <a:solidFill>
            <a:srgbClr val="E7EAF3"/>
          </a:solidFill>
          <a:ln>
            <a:noFill/>
          </a:ln>
        </p:spPr>
        <p:txBody>
          <a:bodyPr anchor="ctr" rtlCol="false" lIns="0" tIns="0" rIns="0" bIns="0" wrap="square"/>
          <a:lstStyle/>
          <a:p>
            <a:endParaRPr lang="en-US" sz="1800"/>
          </a:p>
        </p:txBody>
      </p:sp>
      <p:sp>
        <p:nvSpPr>
          <p:cNvPr id="59" name="TextBox 58"/>
          <p:cNvSpPr txBox="1"/>
          <p:nvPr/>
        </p:nvSpPr>
        <p:spPr>
          <a:xfrm>
            <a:off x="1165860" y="7924588"/>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Davies–Bouldin</a:t>
            </a:r>
          </a:p>
        </p:txBody>
      </p:sp>
      <mc:AlternateContent xmlns:mc="http://schemas.openxmlformats.org/markup-compatibility/2006">
        <mc:Choice xmlns:a14="http://schemas.microsoft.com/office/drawing/2010/main" Requires="a14">
          <p:sp>
            <p:nvSpPr>
              <p:cNvPr id="60" name="Equation"/>
              <p:cNvSpPr txBox="1"/>
              <p:nvPr/>
            </p:nvSpPr>
            <p:spPr>
              <a:xfrm>
                <a:off x="3771900" y="7952020"/>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600">
                          <a:solidFill>
                            <a:srgbClr val="111111"/>
                          </a:solidFill>
                          <a:latin typeface="Cambria Math" panose="02040503050406030204" pitchFamily="18" charset="0"/>
                        </a:rPr>
                        <m:t xml:space="preserve">DB=</m:t>
                      </m:r>
                      <m:f>
                        <m:fPr>
                          <m:ctrlPr>
                            <a:rPr lang="en-US" sz="1600" i="1">
                              <a:solidFill>
                                <a:srgbClr val="111111"/>
                              </a:solidFill>
                              <a:latin typeface="Cambria Math" panose="02040503050406030204" pitchFamily="18" charset="0"/>
                            </a:rPr>
                          </m:ctrlPr>
                        </m:fPr>
                        <m:num>
                          <m:r>
                            <m:rPr>
                              <m:sty m:val="p"/>
                            </m:rPr>
                            <a:rPr lang="en-US" sz="1600">
                              <a:solidFill>
                                <a:srgbClr val="111111"/>
                              </a:solidFill>
                              <a:latin typeface="Cambria Math" panose="02040503050406030204" pitchFamily="18" charset="0"/>
                            </a:rPr>
                            <m:t xml:space="preserve">1</m:t>
                          </m:r>
                        </m:num>
                        <m:den>
                          <m:r>
                            <a:rPr lang="en-US" sz="1600" i="1">
                              <a:solidFill>
                                <a:srgbClr val="111111"/>
                              </a:solidFill>
                              <a:latin typeface="Cambria Math" panose="02040503050406030204" pitchFamily="18" charset="0"/>
                            </a:rPr>
                            <m:t xml:space="preserve">k</m:t>
                          </m:r>
                        </m:den>
                      </m:f>
                      <m:nary>
                        <m:naryPr>
                          <m:chr m:val="∑"/>
                          <m:limLoc m:val="subSup"/>
                          <m:ctrlPr>
                            <a:rPr lang="en-US" sz="1600" i="1">
                              <a:solidFill>
                                <a:srgbClr val="111111"/>
                              </a:solidFill>
                              <a:latin typeface="Cambria Math" panose="02040503050406030204" pitchFamily="18" charset="0"/>
                            </a:rPr>
                          </m:ctrlPr>
                        </m:naryPr>
                        <m:sub>
                          <m:r>
                            <a:rPr lang="en-US" sz="1600" i="1">
                              <a:solidFill>
                                <a:srgbClr val="111111"/>
                              </a:solidFill>
                              <a:latin typeface="Cambria Math" panose="02040503050406030204" pitchFamily="18" charset="0"/>
                            </a:rPr>
                            <m:t xml:space="preserve">c</m:t>
                          </m:r>
                          <m:r>
                            <m:rPr>
                              <m:sty m:val="p"/>
                            </m:rPr>
                            <a:rPr lang="en-US" sz="1600">
                              <a:solidFill>
                                <a:srgbClr val="111111"/>
                              </a:solidFill>
                              <a:latin typeface="Cambria Math" panose="02040503050406030204" pitchFamily="18" charset="0"/>
                            </a:rPr>
                            <m:t xml:space="preserve">=1</m:t>
                          </m:r>
                        </m:sub>
                        <m:sup>
                          <m:r>
                            <a:rPr lang="en-US" sz="1600" i="1">
                              <a:solidFill>
                                <a:srgbClr val="111111"/>
                              </a:solidFill>
                              <a:latin typeface="Cambria Math" panose="02040503050406030204" pitchFamily="18" charset="0"/>
                            </a:rPr>
                            <m:t xml:space="preserve">k</m:t>
                          </m:r>
                        </m:sup>
                        <m:e>
                          <m:sSub>
                            <m:sSubPr>
                              <m:ctrlPr>
                                <a:rPr lang="en-US" sz="1600" i="1">
                                  <a:solidFill>
                                    <a:srgbClr val="111111"/>
                                  </a:solidFill>
                                  <a:latin typeface="Cambria Math" panose="02040503050406030204" pitchFamily="18" charset="0"/>
                                </a:rPr>
                              </m:ctrlPr>
                            </m:sSubPr>
                            <m:e>
                              <m:r>
                                <m:rPr>
                                  <m:sty m:val="p"/>
                                </m:rPr>
                                <a:rPr lang="en-US" sz="1600">
                                  <a:solidFill>
                                    <a:srgbClr val="111111"/>
                                  </a:solidFill>
                                  <a:latin typeface="Cambria Math" panose="02040503050406030204" pitchFamily="18" charset="0"/>
                                </a:rPr>
                                <m:t xml:space="preserve">max</m:t>
                              </m:r>
                            </m:e>
                            <m:sub>
                              <m:r>
                                <a:rPr lang="en-US" sz="1600" i="1">
                                  <a:solidFill>
                                    <a:srgbClr val="111111"/>
                                  </a:solidFill>
                                  <a:latin typeface="Cambria Math" panose="02040503050406030204" pitchFamily="18" charset="0"/>
                                </a:rPr>
                                <m:t xml:space="preserve">c′</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c</m:t>
                              </m:r>
                            </m:sub>
                          </m:sSub>
                        </m:e>
                      </m:nary>
                      <m:f>
                        <m:fPr>
                          <m:ctrlPr>
                            <a:rPr lang="en-US" sz="1600" i="1">
                              <a:solidFill>
                                <a:srgbClr val="111111"/>
                              </a:solidFill>
                              <a:latin typeface="Cambria Math" panose="02040503050406030204" pitchFamily="18" charset="0"/>
                            </a:rPr>
                          </m:ctrlPr>
                        </m:fPr>
                        <m:num>
                          <m:sSub>
                            <m:sSubPr>
                              <m:ctrlPr>
                                <a:rPr lang="en-US" sz="1600" i="1">
                                  <a:solidFill>
                                    <a:srgbClr val="111111"/>
                                  </a:solidFill>
                                  <a:latin typeface="Cambria Math" panose="02040503050406030204" pitchFamily="18" charset="0"/>
                                </a:rPr>
                              </m:ctrlPr>
                            </m:sSubPr>
                            <m:e>
                              <m:r>
                                <a:rPr lang="en-US" sz="1600" i="1">
                                  <a:solidFill>
                                    <a:srgbClr val="111111"/>
                                  </a:solidFill>
                                  <a:latin typeface="Cambria Math" panose="02040503050406030204" pitchFamily="18" charset="0"/>
                                </a:rPr>
                                <m:t xml:space="preserve">σ</m:t>
                              </m:r>
                            </m:e>
                            <m:sub>
                              <m:r>
                                <a:rPr lang="en-US" sz="1600" i="1">
                                  <a:solidFill>
                                    <a:srgbClr val="111111"/>
                                  </a:solidFill>
                                  <a:latin typeface="Cambria Math" panose="02040503050406030204" pitchFamily="18" charset="0"/>
                                </a:rPr>
                                <m:t xml:space="preserve">c</m:t>
                              </m:r>
                            </m:sub>
                          </m:sSub>
                          <m:r>
                            <m:rPr>
                              <m:sty m:val="p"/>
                            </m:rPr>
                            <a:rPr lang="en-US" sz="1600">
                              <a:solidFill>
                                <a:srgbClr val="111111"/>
                              </a:solidFill>
                              <a:latin typeface="Cambria Math" panose="02040503050406030204" pitchFamily="18" charset="0"/>
                            </a:rPr>
                            <m:t xml:space="preserve">+</m:t>
                          </m:r>
                          <m:sSub>
                            <m:sSubPr>
                              <m:ctrlPr>
                                <a:rPr lang="en-US" sz="1600" i="1">
                                  <a:solidFill>
                                    <a:srgbClr val="111111"/>
                                  </a:solidFill>
                                  <a:latin typeface="Cambria Math" panose="02040503050406030204" pitchFamily="18" charset="0"/>
                                </a:rPr>
                              </m:ctrlPr>
                            </m:sSubPr>
                            <m:e>
                              <m:r>
                                <a:rPr lang="en-US" sz="1600" i="1">
                                  <a:solidFill>
                                    <a:srgbClr val="111111"/>
                                  </a:solidFill>
                                  <a:latin typeface="Cambria Math" panose="02040503050406030204" pitchFamily="18" charset="0"/>
                                </a:rPr>
                                <m:t xml:space="preserve">σ</m:t>
                              </m:r>
                            </m:e>
                            <m:sub>
                              <m:r>
                                <a:rPr lang="en-US" sz="1600" i="1">
                                  <a:solidFill>
                                    <a:srgbClr val="111111"/>
                                  </a:solidFill>
                                  <a:latin typeface="Cambria Math" panose="02040503050406030204" pitchFamily="18" charset="0"/>
                                </a:rPr>
                                <m:t xml:space="preserve">c′</m:t>
                              </m:r>
                            </m:sub>
                          </m:sSub>
                        </m:num>
                        <m:den>
                          <m:r>
                            <a:rPr lang="en-US" sz="1600" i="1">
                              <a:solidFill>
                                <a:srgbClr val="111111"/>
                              </a:solidFill>
                              <a:latin typeface="Cambria Math" panose="02040503050406030204" pitchFamily="18" charset="0"/>
                            </a:rPr>
                            <m:t xml:space="preserve">d</m:t>
                          </m:r>
                          <m:r>
                            <m:rPr>
                              <m:sty m:val="p"/>
                            </m:rPr>
                            <a:rPr lang="en-US" sz="1600">
                              <a:solidFill>
                                <a:srgbClr val="111111"/>
                              </a:solidFill>
                              <a:latin typeface="Cambria Math" panose="02040503050406030204" pitchFamily="18" charset="0"/>
                            </a:rPr>
                            <m:t xml:space="preserve">(</m:t>
                          </m:r>
                          <m:sSub>
                            <m:sSubPr>
                              <m:ctrlPr>
                                <a:rPr lang="en-US" sz="1600" i="1">
                                  <a:solidFill>
                                    <a:srgbClr val="111111"/>
                                  </a:solidFill>
                                  <a:latin typeface="Cambria Math" panose="02040503050406030204" pitchFamily="18" charset="0"/>
                                </a:rPr>
                              </m:ctrlPr>
                            </m:sSubPr>
                            <m:e>
                              <m:r>
                                <a:rPr lang="en-US" sz="1600" i="1">
                                  <a:solidFill>
                                    <a:srgbClr val="111111"/>
                                  </a:solidFill>
                                  <a:latin typeface="Cambria Math" panose="02040503050406030204" pitchFamily="18" charset="0"/>
                                </a:rPr>
                                <m:t xml:space="preserve">μ</m:t>
                              </m:r>
                            </m:e>
                            <m:sub>
                              <m:r>
                                <a:rPr lang="en-US" sz="1600" i="1">
                                  <a:solidFill>
                                    <a:srgbClr val="111111"/>
                                  </a:solidFill>
                                  <a:latin typeface="Cambria Math" panose="02040503050406030204" pitchFamily="18" charset="0"/>
                                </a:rPr>
                                <m:t xml:space="preserve">c</m:t>
                              </m:r>
                            </m:sub>
                          </m:sSub>
                          <m:r>
                            <m:rPr>
                              <m:sty m:val="p"/>
                            </m:rPr>
                            <a:rPr lang="en-US" sz="1600">
                              <a:solidFill>
                                <a:srgbClr val="111111"/>
                              </a:solidFill>
                              <a:latin typeface="Cambria Math" panose="02040503050406030204" pitchFamily="18" charset="0"/>
                            </a:rPr>
                            <m:t xml:space="preserve">,</m:t>
                          </m:r>
                          <m:sSub>
                            <m:sSubPr>
                              <m:ctrlPr>
                                <a:rPr lang="en-US" sz="1600" i="1">
                                  <a:solidFill>
                                    <a:srgbClr val="111111"/>
                                  </a:solidFill>
                                  <a:latin typeface="Cambria Math" panose="02040503050406030204" pitchFamily="18" charset="0"/>
                                </a:rPr>
                              </m:ctrlPr>
                            </m:sSubPr>
                            <m:e>
                              <m:r>
                                <a:rPr lang="en-US" sz="1600" i="1">
                                  <a:solidFill>
                                    <a:srgbClr val="111111"/>
                                  </a:solidFill>
                                  <a:latin typeface="Cambria Math" panose="02040503050406030204" pitchFamily="18" charset="0"/>
                                </a:rPr>
                                <m:t xml:space="preserve">μ</m:t>
                              </m:r>
                            </m:e>
                            <m:sub>
                              <m:r>
                                <a:rPr lang="en-US" sz="1600" i="1">
                                  <a:solidFill>
                                    <a:srgbClr val="111111"/>
                                  </a:solidFill>
                                  <a:latin typeface="Cambria Math" panose="02040503050406030204" pitchFamily="18" charset="0"/>
                                </a:rPr>
                                <m:t xml:space="preserve">c′</m:t>
                              </m:r>
                            </m:sub>
                          </m:sSub>
                          <m:r>
                            <m:rPr>
                              <m:sty m:val="p"/>
                            </m:rPr>
                            <a:rPr lang="en-US" sz="1600">
                              <a:solidFill>
                                <a:srgbClr val="111111"/>
                              </a:solidFill>
                              <a:latin typeface="Cambria Math" panose="02040503050406030204" pitchFamily="18" charset="0"/>
                            </a:rPr>
                            <m:t xml:space="preserve">)</m:t>
                          </m:r>
                        </m:den>
                      </m:f>
                    </m:oMath>
                  </m:oMathPara>
                </a14:m>
                <a:endParaRPr lang="en-US" sz="1600"/>
              </a:p>
            </p:txBody>
          </p:sp>
        </mc:Choice>
        <mc:Fallback>
          <p:sp>
            <p:nvSpPr>
              <p:cNvPr id="60" name="Equation"/>
              <p:cNvSpPr txBox="1"/>
              <p:nvPr/>
            </p:nvSpPr>
            <p:spPr>
              <a:xfrm>
                <a:off x="3771900" y="7952020"/>
                <a:ext cx="6309360" cy="780499"/>
              </a:xfrm>
              <a:prstGeom prst="rect">
                <a:avLst/>
              </a:prstGeom>
              <a:blipFill>
                <a:blip r:embed="rId9"/>
                <a:stretch>
                  <a:fillRect/>
                </a:stretch>
              </a:blipFill>
            </p:spPr>
            <p:txBody>
              <a:bodyPr/>
              <a:lstStyle/>
              <a:p>
                <a:endParaRPr lang="en-US"/>
              </a:p>
            </p:txBody>
          </p:sp>
        </mc:Fallback>
      </mc:AlternateContent>
      <p:sp>
        <p:nvSpPr>
          <p:cNvPr id="61" name="TextBox 60"/>
          <p:cNvSpPr txBox="1"/>
          <p:nvPr/>
        </p:nvSpPr>
        <p:spPr>
          <a:xfrm>
            <a:off x="10309860" y="7924588"/>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Cluster overlap; lower is better.</a:t>
            </a:r>
          </a:p>
        </p:txBody>
      </p:sp>
      <p:cxnSp>
        <p:nvCxnSpPr>
          <p:cNvPr id="62" name="Connector 61"/>
          <p:cNvCxnSpPr/>
          <p:nvPr/>
        </p:nvCxnSpPr>
        <p:spPr>
          <a:xfrm>
            <a:off x="1028700" y="8759952"/>
            <a:ext cx="16230600" cy="0"/>
          </a:xfrm>
          <a:prstGeom prst="line">
            <a:avLst/>
          </a:prstGeom>
          <a:ln w="12700">
            <a:solidFill>
              <a:srgbClr val="E3D6C4"/>
            </a:solidFill>
          </a:ln>
        </p:spPr>
      </p:cxnSp>
      <p:sp>
        <p:nvSpPr>
          <p:cNvPr id="63" name="TextBox 62"/>
          <p:cNvSpPr txBox="1"/>
          <p:nvPr/>
        </p:nvSpPr>
        <p:spPr>
          <a:xfrm>
            <a:off x="1028700" y="8794496"/>
            <a:ext cx="16230600" cy="329184"/>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Notation:</a:t>
            </a:r>
            <a:r>
              <a:rPr lang="en-US" sz="1400" b="true">
                <a:solidFill>
                  <a:srgbClr val="8A8378"/>
                </a:solidFill>
                <a:latin typeface="Nunito Semi-Bold"/>
                <a:ea typeface="Nunito Semi-Bold"/>
                <a:cs typeface="Nunito Semi-Bold"/>
                <a:sym typeface="Nunito Semi-Bold"/>
              </a:rPr>
              <a:t> K </a:t>
            </a:r>
            <a:r>
              <a:rPr lang="en-US" sz="1400" b="true">
                <a:solidFill>
                  <a:srgbClr val="8A8378"/>
                </a:solidFill>
                <a:latin typeface="Cambria Math"/>
                <a:ea typeface="Cambria Math"/>
                <a:cs typeface="Cambria Math"/>
                <a:sym typeface="Cambria Math"/>
              </a:rPr>
              <a:t>∈ </a:t>
            </a:r>
            <a:r>
              <a:rPr lang="en-US" sz="1400" b="true">
                <a:solidFill>
                  <a:srgbClr val="8A8378"/>
                </a:solidFill>
                <a:latin typeface="Nunito Semi-Bold"/>
                <a:ea typeface="Nunito Semi-Bold"/>
                <a:cs typeface="Nunito Semi-Bold"/>
                <a:sym typeface="Nunito Semi-Bold"/>
              </a:rPr>
              <a:t>{5, 10, 20}, NDCG@20 is the main measure, </a:t>
            </a:r>
            <a:r>
              <a:rPr lang="en-US" sz="1400" b="true">
                <a:solidFill>
                  <a:srgbClr val="8A8378"/>
                </a:solidFill>
                <a:latin typeface="Cambria Math"/>
                <a:ea typeface="Cambria Math"/>
                <a:cs typeface="Cambria Math"/>
                <a:sym typeface="Cambria Math"/>
              </a:rPr>
              <a:t>ℛ</a:t>
            </a:r>
            <a:r>
              <a:rPr lang="en-US" sz="1400" b="true" baseline="-25000">
                <a:solidFill>
                  <a:srgbClr val="8A8378"/>
                </a:solidFill>
                <a:latin typeface="Nunito Semi-Bold"/>
                <a:ea typeface="Nunito Semi-Bold"/>
                <a:cs typeface="Nunito Semi-Bold"/>
                <a:sym typeface="Nunito Semi-Bold"/>
              </a:rPr>
              <a:t>u</a:t>
            </a:r>
            <a:r>
              <a:rPr lang="en-US" sz="1400" b="true">
                <a:solidFill>
                  <a:srgbClr val="8A8378"/>
                </a:solidFill>
                <a:latin typeface="Nunito Semi-Bold"/>
                <a:ea typeface="Nunito Semi-Bold"/>
                <a:cs typeface="Nunito Semi-Bold"/>
                <a:sym typeface="Nunito Semi-Bold"/>
              </a:rPr>
              <a:t> = held-out relevant items of u.</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[17] Rousseeuw, P. J. Silhouettes: A Graphical Aid to the Interpretation and Validation of Cluster Analysis. J. Comput. Appl. Math. 20, 53–65 (1987).   [23] Zhu, Z. et al. Popularity Bias in Dynamic Recommendation. KDD, 2439–2449 (2021).  ·  Hurley, N. &amp; Zhang, M. Novelty and Diversity in Top-N Recommendation. ACM TOIT 10(4) (2011).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Hardware &amp; Software</a:t>
            </a:r>
          </a:p>
        </p:txBody>
      </p:sp>
      <p:pic>
        <p:nvPicPr>
          <p:cNvPr id="23" name="Picture 22" descr="image.png"/>
          <p:cNvPicPr>
            <a:picLocks noChangeAspect="1"/>
          </p:cNvPicPr>
          <p:nvPr/>
        </p:nvPicPr>
        <p:blipFill>
          <a:blip r:embed="rId3"/>
          <a:stretch>
            <a:fillRect/>
          </a:stretch>
        </p:blipFill>
        <p:spPr>
          <a:xfrm>
            <a:off x="7035228" y="1673352"/>
            <a:ext cx="457200" cy="427074"/>
          </a:xfrm>
          <a:prstGeom prst="rect">
            <a:avLst/>
          </a:prstGeom>
        </p:spPr>
      </p:pic>
      <p:sp>
        <p:nvSpPr>
          <p:cNvPr id="24" name="Rounded Rectangle 23"/>
          <p:cNvSpPr/>
          <p:nvPr/>
        </p:nvSpPr>
        <p:spPr>
          <a:xfrm>
            <a:off x="1028700" y="2559050"/>
            <a:ext cx="15239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Hardware</a:t>
            </a:r>
          </a:p>
        </p:txBody>
      </p:sp>
      <p:graphicFrame>
        <p:nvGraphicFramePr>
          <p:cNvPr id="27" name="Table 26"/>
          <p:cNvGraphicFramePr>
            <a:graphicFrameLocks noGrp="1"/>
          </p:cNvGraphicFramePr>
          <p:nvPr/>
        </p:nvGraphicFramePr>
        <p:xfrm>
          <a:off x="1028700" y="3363722"/>
          <a:ext cx="16230599" cy="3108960"/>
        </p:xfrm>
        <a:graphic>
          <a:graphicData uri="http://schemas.openxmlformats.org/drawingml/2006/table">
            <a:tbl>
              <a:tblPr firstRow="0" bandRow="0" firstCol="0" lastRow="0" lastCol="0" bandCol="0">
                <a:tableStyleId>{2D5ABB26-0587-4C30-8999-92F81FD0307C}</a:tableStyleId>
              </a:tblPr>
              <a:tblGrid>
                <a:gridCol w="2705100"/>
                <a:gridCol w="2080846"/>
                <a:gridCol w="3537438"/>
                <a:gridCol w="2705100"/>
                <a:gridCol w="1456592"/>
                <a:gridCol w="3745523"/>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Hardware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CPU / GPU</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RAM</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Storage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Main software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  ·  Wine clustering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Intel Core i9-14900K (24 cores)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scikit-learn, LightGBM, SHAP, Altair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II  ·  Beijing multi-level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Intel Core i9-14900K (24 cores)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 (full dataset in memory)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scikit-learn, LightGBM, SHAP</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III  ·  DyHuCoG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 + GPU</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NVIDIA GeForce RTX 4090 (24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Python 3.8, PyTorch 2.0.1, NumPy / SciPy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8" name="TextBox 27"/>
          <p:cNvSpPr txBox="1"/>
          <p:nvPr/>
        </p:nvSpPr>
        <p:spPr>
          <a:xfrm>
            <a:off x="1028700" y="6545834"/>
            <a:ext cx="16230600" cy="411480"/>
          </a:xfrm>
          <a:prstGeom prst="rect">
            <a:avLst/>
          </a:prstGeom>
          <a:noFill/>
        </p:spPr>
        <p:txBody>
          <a:bodyPr anchor="t" rtlCol="false" lIns="0" tIns="0" rIns="0" bIns="0" wrap="square"/>
          <a:lstStyle/>
          <a:p>
            <a:pPr algn="l">
              <a:lnSpc>
                <a:spcPts val="1800"/>
              </a:lnSpc>
              <a:spcBef>
                <a:spcPts val="0"/>
              </a:spcBef>
              <a:buNone/>
            </a:pPr>
            <a:r>
              <a:rPr lang="en-US" sz="1400" b="true">
                <a:solidFill>
                  <a:srgbClr val="8A8378"/>
                </a:solidFill>
                <a:latin typeface="Nunito Semi-Bold"/>
                <a:ea typeface="Nunito Semi-Bold"/>
                <a:cs typeface="Nunito Semi-Bold"/>
                <a:sym typeface="Nunito Semi-Bold"/>
              </a:rPr>
              <a:t>Table 4.2 (thesis): hardware and software configuration, arranged here by contribution.</a:t>
            </a:r>
          </a:p>
        </p:txBody>
      </p:sp>
      <p:sp>
        <p:nvSpPr>
          <p:cNvPr id="29" name="Rounded Rectangle 28"/>
          <p:cNvSpPr/>
          <p:nvPr/>
        </p:nvSpPr>
        <p:spPr>
          <a:xfrm>
            <a:off x="1028700" y="7249922"/>
            <a:ext cx="7932420" cy="1967230"/>
          </a:xfrm>
          <a:prstGeom prst="roundRect">
            <a:avLst>
              <a:gd name="adj" fmla="val 15803"/>
            </a:avLst>
          </a:prstGeom>
          <a:solidFill>
            <a:srgbClr val="4472C4"/>
          </a:solidFill>
          <a:ln>
            <a:noFill/>
          </a:ln>
        </p:spPr>
        <p:txBody>
          <a:bodyPr anchor="ctr" rtlCol="false" lIns="0" tIns="0" rIns="0" bIns="0" wrap="square"/>
          <a:lstStyle/>
          <a:p>
            <a:endParaRPr lang="en-US" sz="1800"/>
          </a:p>
        </p:txBody>
      </p:sp>
      <p:sp>
        <p:nvSpPr>
          <p:cNvPr id="30" name="Rounded Rectangle 29"/>
          <p:cNvSpPr/>
          <p:nvPr/>
        </p:nvSpPr>
        <p:spPr>
          <a:xfrm>
            <a:off x="1485900" y="7012178"/>
            <a:ext cx="2678309"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Why it matters</a:t>
            </a:r>
          </a:p>
        </p:txBody>
      </p:sp>
      <p:sp>
        <p:nvSpPr>
          <p:cNvPr id="31" name="TextBox 30"/>
          <p:cNvSpPr txBox="1"/>
          <p:nvPr/>
        </p:nvSpPr>
        <p:spPr>
          <a:xfrm>
            <a:off x="1485900" y="7798562"/>
            <a:ext cx="7063740" cy="1235710"/>
          </a:xfrm>
          <a:prstGeom prst="rect">
            <a:avLst/>
          </a:prstGeom>
          <a:noFill/>
        </p:spPr>
        <p:txBody>
          <a:bodyPr anchor="t" rtlCol="false" lIns="0" tIns="0" rIns="0" bIns="0" wrap="square"/>
          <a:lstStyle/>
          <a:p>
            <a:pPr algn="l" marL="274320" indent="-274320">
              <a:lnSpc>
                <a:spcPts val="2166"/>
              </a:lnSpc>
              <a:spcBef>
                <a:spcPts val="0"/>
              </a:spcBef>
              <a:buClr>
                <a:srgbClr val="ECC665"/>
              </a:buClr>
              <a:buSzPct val="100000"/>
              <a:buFont typeface="Arial"/>
              <a:buChar char="•"/>
            </a:pPr>
            <a:r>
              <a:rPr lang="en-US" sz="1547" b="true">
                <a:solidFill>
                  <a:srgbClr val="FFFFFF"/>
                </a:solidFill>
                <a:latin typeface="Nunito Semi-Bold"/>
                <a:ea typeface="Nunito Semi-Bold"/>
                <a:cs typeface="Nunito Semi-Bold"/>
                <a:sym typeface="Nunito Semi-Bold"/>
              </a:rPr>
              <a:t>The hardware explains the </a:t>
            </a:r>
            <a:r>
              <a:rPr lang="en-US" sz="1547" b="true">
                <a:solidFill>
                  <a:srgbClr val="FFFFFF"/>
                </a:solidFill>
                <a:latin typeface="Nunito Bold"/>
                <a:ea typeface="Nunito Bold"/>
                <a:cs typeface="Nunito Bold"/>
                <a:sym typeface="Nunito Bold"/>
              </a:rPr>
              <a:t>runtime figures</a:t>
            </a:r>
            <a:r>
              <a:rPr lang="en-US" sz="1547" b="true">
                <a:solidFill>
                  <a:srgbClr val="FFFFFF"/>
                </a:solidFill>
                <a:latin typeface="Nunito Semi-Bold"/>
                <a:ea typeface="Nunito Semi-Bold"/>
                <a:cs typeface="Nunito Semi-Bold"/>
                <a:sym typeface="Nunito Semi-Bold"/>
              </a:rPr>
              <a:t> quoted later (DyHuCoG ≈ 1.78× HPCF training time on MovieLens-1M).</a:t>
            </a:r>
          </a:p>
          <a:p>
            <a:pPr algn="l" marL="274320" indent="-274320">
              <a:lnSpc>
                <a:spcPts val="2166"/>
              </a:lnSpc>
              <a:spcBef>
                <a:spcPts val="546"/>
              </a:spcBef>
              <a:buClr>
                <a:srgbClr val="ECC665"/>
              </a:buClr>
              <a:buSzPct val="100000"/>
              <a:buFont typeface="Arial"/>
              <a:buChar char="•"/>
            </a:pPr>
            <a:r>
              <a:rPr lang="en-US" sz="1547" b="true">
                <a:solidFill>
                  <a:srgbClr val="FFFFFF"/>
                </a:solidFill>
                <a:latin typeface="Nunito Semi-Bold"/>
                <a:ea typeface="Nunito Semi-Bold"/>
                <a:cs typeface="Nunito Semi-Bold"/>
                <a:sym typeface="Nunito Semi-Bold"/>
              </a:rPr>
              <a:t>Metrics at K </a:t>
            </a:r>
            <a:r>
              <a:rPr lang="en-US" sz="1547" b="true">
                <a:solidFill>
                  <a:srgbClr val="FFFFFF"/>
                </a:solidFill>
                <a:latin typeface="Cambria Math"/>
                <a:ea typeface="Cambria Math"/>
                <a:cs typeface="Cambria Math"/>
                <a:sym typeface="Cambria Math"/>
              </a:rPr>
              <a:t>∈ </a:t>
            </a:r>
            <a:r>
              <a:rPr lang="en-US" sz="1547" b="true">
                <a:solidFill>
                  <a:srgbClr val="FFFFFF"/>
                </a:solidFill>
                <a:latin typeface="Nunito Semi-Bold"/>
                <a:ea typeface="Nunito Semi-Bold"/>
                <a:cs typeface="Nunito Semi-Bold"/>
                <a:sym typeface="Nunito Semi-Bold"/>
              </a:rPr>
              <a:t>{5, 10, 20}; five seeds; early stopping on validation NDCG@20.</a:t>
            </a:r>
          </a:p>
        </p:txBody>
      </p:sp>
      <p:sp>
        <p:nvSpPr>
          <p:cNvPr id="32" name="Rounded Rectangle 31"/>
          <p:cNvSpPr/>
          <p:nvPr/>
        </p:nvSpPr>
        <p:spPr>
          <a:xfrm>
            <a:off x="9326880" y="7249922"/>
            <a:ext cx="7932420" cy="1967230"/>
          </a:xfrm>
          <a:prstGeom prst="roundRect">
            <a:avLst>
              <a:gd name="adj" fmla="val 15803"/>
            </a:avLst>
          </a:prstGeom>
          <a:solidFill>
            <a:srgbClr val="E7EAF3"/>
          </a:solidFill>
          <a:ln>
            <a:noFill/>
          </a:ln>
        </p:spPr>
        <p:txBody>
          <a:bodyPr anchor="ctr" rtlCol="false" lIns="0" tIns="0" rIns="0" bIns="0" wrap="square"/>
          <a:lstStyle/>
          <a:p>
            <a:endParaRPr lang="en-US" sz="1800"/>
          </a:p>
        </p:txBody>
      </p:sp>
      <p:sp>
        <p:nvSpPr>
          <p:cNvPr id="33" name="Rounded Rectangle 32"/>
          <p:cNvSpPr/>
          <p:nvPr/>
        </p:nvSpPr>
        <p:spPr>
          <a:xfrm>
            <a:off x="9784080" y="7012178"/>
            <a:ext cx="1470201"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Scope</a:t>
            </a:r>
          </a:p>
        </p:txBody>
      </p:sp>
      <p:sp>
        <p:nvSpPr>
          <p:cNvPr id="34" name="TextBox 33"/>
          <p:cNvSpPr txBox="1"/>
          <p:nvPr/>
        </p:nvSpPr>
        <p:spPr>
          <a:xfrm>
            <a:off x="9784080" y="7798562"/>
            <a:ext cx="7063740" cy="1235710"/>
          </a:xfrm>
          <a:prstGeom prst="rect">
            <a:avLst/>
          </a:prstGeom>
          <a:noFill/>
        </p:spPr>
        <p:txBody>
          <a:bodyPr anchor="t" rtlCol="false" lIns="0" tIns="0" rIns="0" bIns="0" wrap="square"/>
          <a:lstStyle/>
          <a:p>
            <a:pPr algn="l" marL="274320" indent="-274320">
              <a:lnSpc>
                <a:spcPts val="2166"/>
              </a:lnSpc>
              <a:spcBef>
                <a:spcPts val="0"/>
              </a:spcBef>
              <a:buClr>
                <a:srgbClr val="1F7A8C"/>
              </a:buClr>
              <a:buSzPct val="100000"/>
              <a:buFont typeface="Arial"/>
              <a:buChar char="•"/>
            </a:pPr>
            <a:r>
              <a:rPr lang="en-US" sz="1547" b="true">
                <a:solidFill>
                  <a:srgbClr val="111111"/>
                </a:solidFill>
                <a:latin typeface="Nunito Bold"/>
                <a:ea typeface="Nunito Bold"/>
                <a:cs typeface="Nunito Bold"/>
                <a:sym typeface="Nunito Bold"/>
              </a:rPr>
              <a:t>Everything runs on standard academic hardware</a:t>
            </a:r>
            <a:r>
              <a:rPr lang="en-US" sz="1547" b="true">
                <a:solidFill>
                  <a:srgbClr val="111111"/>
                </a:solidFill>
                <a:latin typeface="Nunito Semi-Bold"/>
                <a:ea typeface="Nunito Semi-Bold"/>
                <a:cs typeface="Nunito Semi-Bold"/>
                <a:sym typeface="Nunito Semi-Bold"/>
              </a:rPr>
              <a:t>; nothing needs industrial-scale compute.</a:t>
            </a:r>
          </a:p>
          <a:p>
            <a:pPr algn="l" marL="274320" indent="-274320">
              <a:lnSpc>
                <a:spcPts val="2166"/>
              </a:lnSpc>
              <a:spcBef>
                <a:spcPts val="546"/>
              </a:spcBef>
              <a:buClr>
                <a:srgbClr val="1F7A8C"/>
              </a:buClr>
              <a:buSzPct val="100000"/>
              <a:buFont typeface="Arial"/>
              <a:buChar char="•"/>
            </a:pPr>
            <a:r>
              <a:rPr lang="en-US" sz="1547" b="true">
                <a:solidFill>
                  <a:srgbClr val="111111"/>
                </a:solidFill>
                <a:latin typeface="Nunito Semi-Bold"/>
                <a:ea typeface="Nunito Semi-Bold"/>
                <a:cs typeface="Nunito Semi-Bold"/>
                <a:sym typeface="Nunito Semi-Bold"/>
              </a:rPr>
              <a:t>Clustering, surrogates, SHAP and DyHuCoG share the same seeds and splits.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26</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a:t>
            </a:r>
          </a:p>
        </p:txBody>
      </p:sp>
      <p:sp>
        <p:nvSpPr>
          <p:cNvPr id="8" name="Oval 7"/>
          <p:cNvSpPr/>
          <p:nvPr/>
        </p:nvSpPr>
        <p:spPr>
          <a:xfrm>
            <a:off x="13049535"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3049535"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04</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Explainable black-box clustering with Shapley values  ·  answers RQ1</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Cluster-level explanation that keeps feature-level attribution in the original feature space; justify Shapley over LIME.</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Features are players; Silhouette is the value function; a LightGBM surrogate bridges K-Means to exact TreeSHAP.</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Wine Quality: k</a:t>
            </a:r>
            <a:r>
              <a:rPr lang="en-US" sz="2100" b="true" baseline="30000">
                <a:solidFill>
                  <a:srgbClr val="FFFFFF"/>
                </a:solidFill>
                <a:latin typeface="Nunito Semi-Bold"/>
                <a:ea typeface="Nunito Semi-Bold"/>
                <a:cs typeface="Nunito Semi-Bold"/>
                <a:sym typeface="Nunito Semi-Bold"/>
              </a:rPr>
              <a:t>*</a:t>
            </a:r>
            <a:r>
              <a:rPr lang="en-US" sz="2100" b="true">
                <a:solidFill>
                  <a:srgbClr val="FFFFFF"/>
                </a:solidFill>
                <a:latin typeface="Nunito Semi-Bold"/>
                <a:ea typeface="Nunito Semi-Bold"/>
                <a:cs typeface="Nunito Semi-Bold"/>
                <a:sym typeface="Nunito Semi-Bold"/>
              </a:rPr>
              <a:t> = 3 chosen for interpretability; density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pH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acidity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SO₂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alcohol recovered as a chemically meaningful ranking.</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26</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pic>
        <p:nvPicPr>
          <p:cNvPr id="25" name="Picture 24" descr="image.png"/>
          <p:cNvPicPr>
            <a:picLocks noChangeAspect="1"/>
          </p:cNvPicPr>
          <p:nvPr/>
        </p:nvPicPr>
        <p:blipFill>
          <a:blip r:embed="rId3"/>
          <a:stretch>
            <a:fillRect/>
          </a:stretch>
        </p:blipFill>
        <p:spPr>
          <a:xfrm>
            <a:off x="4883941" y="1673352"/>
            <a:ext cx="457200" cy="399005"/>
          </a:xfrm>
          <a:prstGeom prst="rect">
            <a:avLst/>
          </a:prstGeom>
        </p:spPr>
      </p:pic>
      <p:sp>
        <p:nvSpPr>
          <p:cNvPr id="26" name="Rounded Rectangle 25"/>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Shapley explanation is </a:t>
            </a:r>
            <a:r>
              <a:rPr lang="en-US" sz="2100" b="true">
                <a:solidFill>
                  <a:srgbClr val="111111"/>
                </a:solidFill>
                <a:latin typeface="Nunito Bold"/>
                <a:ea typeface="Nunito Bold"/>
                <a:cs typeface="Nunito Bold"/>
                <a:sym typeface="Nunito Bold"/>
              </a:rPr>
              <a:t>standard in supervised tasks</a:t>
            </a:r>
            <a:r>
              <a:rPr lang="en-US" sz="2100" b="true">
                <a:solidFill>
                  <a:srgbClr val="111111"/>
                </a:solidFill>
                <a:latin typeface="Nunito Semi-Bold"/>
                <a:ea typeface="Nunito Semi-Bold"/>
                <a:cs typeface="Nunito Semi-Bold"/>
                <a:sym typeface="Nunito Semi-Bold"/>
              </a:rPr>
              <a:t> [5, 6], but clustering is still much less explained.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Existing clustering-interpretability methods favour </a:t>
            </a:r>
            <a:r>
              <a:rPr lang="en-US" sz="2100" b="true">
                <a:solidFill>
                  <a:srgbClr val="111111"/>
                </a:solidFill>
                <a:latin typeface="Nunito Bold"/>
                <a:ea typeface="Nunito Bold"/>
                <a:cs typeface="Nunito Bold"/>
                <a:sym typeface="Nunito Bold"/>
              </a:rPr>
              <a:t>local or global</a:t>
            </a:r>
            <a:r>
              <a:rPr lang="en-US" sz="2100" b="true">
                <a:solidFill>
                  <a:srgbClr val="111111"/>
                </a:solidFill>
                <a:latin typeface="Nunito Semi-Bold"/>
                <a:ea typeface="Nunito Semi-Bold"/>
                <a:cs typeface="Nunito Semi-Bold"/>
                <a:sym typeface="Nunito Semi-Bold"/>
              </a:rPr>
              <a:t> explanation, not both.</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They often fail to scale or to stay </a:t>
            </a:r>
            <a:r>
              <a:rPr lang="en-US" sz="2100" b="true">
                <a:solidFill>
                  <a:srgbClr val="111111"/>
                </a:solidFill>
                <a:latin typeface="Nunito Bold"/>
                <a:ea typeface="Nunito Bold"/>
                <a:cs typeface="Nunito Bold"/>
                <a:sym typeface="Nunito Bold"/>
              </a:rPr>
              <a:t>consistent across clusters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Clustering is the hardest test bed: the model creates its own structure, so cluster meaning must be worked out after the fact.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Local surrogates such as LIME [7] give no guarantee that the credit assigned to a feature is fair or stable.</a:t>
            </a:r>
          </a:p>
        </p:txBody>
      </p:sp>
      <p:sp>
        <p:nvSpPr>
          <p:cNvPr id="31" name="Rounded Rectangle 30"/>
          <p:cNvSpPr/>
          <p:nvPr/>
        </p:nvSpPr>
        <p:spPr>
          <a:xfrm>
            <a:off x="1028700" y="7424928"/>
            <a:ext cx="16230600" cy="1482851"/>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2" name="Rounded Rectangle 31"/>
          <p:cNvSpPr/>
          <p:nvPr/>
        </p:nvSpPr>
        <p:spPr>
          <a:xfrm>
            <a:off x="1348740" y="7232904"/>
            <a:ext cx="19765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33" name="TextBox 32"/>
          <p:cNvSpPr txBox="1"/>
          <p:nvPr/>
        </p:nvSpPr>
        <p:spPr>
          <a:xfrm>
            <a:off x="1394460" y="7719060"/>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There is no principled, axiomatic way to explain </a:t>
            </a:r>
            <a:r>
              <a:rPr lang="en-US" sz="2200" b="true">
                <a:solidFill>
                  <a:srgbClr val="111111"/>
                </a:solidFill>
                <a:latin typeface="Nunito Bold"/>
                <a:ea typeface="Nunito Bold"/>
                <a:cs typeface="Nunito Bold"/>
                <a:sym typeface="Nunito Bold"/>
              </a:rPr>
              <a:t>why a black-box clustering put an observation in a given cluster</a:t>
            </a:r>
            <a:r>
              <a:rPr lang="en-US" sz="2200" b="true">
                <a:solidFill>
                  <a:srgbClr val="111111"/>
                </a:solidFill>
                <a:latin typeface="Nunito Semi-Bold"/>
                <a:ea typeface="Nunito Semi-Bold"/>
                <a:cs typeface="Nunito Semi-Bold"/>
                <a:sym typeface="Nunito Semi-Bold"/>
              </a:rPr>
              <a:t>, in the original feature space and consistently across clusters.</a:t>
            </a:r>
          </a:p>
        </p:txBody>
      </p:sp>
      <p:sp>
        <p:nvSpPr>
          <p:cNvPr id="5" name="Rounded Rectangle 4"/>
          <p:cNvSpPr/>
          <p:nvPr/>
        </p:nvSpPr>
        <p:spPr>
          <a:xfrm>
            <a:off x="1024128" y="8898636"/>
            <a:ext cx="16239744" cy="7757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8935212"/>
            <a:ext cx="16239744" cy="7025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[5] Lundberg, S. M. &amp; Lee, S.-I. A Unified Approach to Interpreting Model Predictions (SHAP). NeurIPS 30, 4765–4774 (2017).   [6] Lundberg, S. M. et al. From Local Explanations to Global Understanding with Explainable AI for Trees (TreeSHAP). Nature Machine Intelligence 2, 56–67 (2020).   [7] Ribeiro, M. T., Singh, S. &amp; Guestrin, C. "Why Should I Trust You?": Explaining the Predictions of Any Classifier (LIME). KDD, 1135–1144 (2016).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28</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RQ1 and Objectives</a:t>
            </a:r>
          </a:p>
        </p:txBody>
      </p:sp>
      <p:pic>
        <p:nvPicPr>
          <p:cNvPr id="23" name="Picture 22" descr="image.png"/>
          <p:cNvPicPr>
            <a:picLocks noChangeAspect="1"/>
          </p:cNvPicPr>
          <p:nvPr/>
        </p:nvPicPr>
        <p:blipFill>
          <a:blip r:embed="rId3"/>
          <a:stretch>
            <a:fillRect/>
          </a:stretch>
        </p:blipFill>
        <p:spPr>
          <a:xfrm>
            <a:off x="6193139"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546602"/>
            <a:ext cx="16230600" cy="1325880"/>
          </a:xfrm>
          <a:prstGeom prst="roundRect">
            <a:avLst>
              <a:gd name="adj" fmla="val 15172"/>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RQ1</a:t>
            </a:r>
          </a:p>
        </p:txBody>
      </p:sp>
      <p:sp>
        <p:nvSpPr>
          <p:cNvPr id="30" name="TextBox 29"/>
          <p:cNvSpPr txBox="1"/>
          <p:nvPr/>
        </p:nvSpPr>
        <p:spPr>
          <a:xfrm>
            <a:off x="1394460" y="3820922"/>
            <a:ext cx="15499080" cy="91440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How can Shapley values explain black-box clustering </a:t>
            </a:r>
            <a:r>
              <a:rPr lang="en-US" sz="2200" b="true">
                <a:solidFill>
                  <a:srgbClr val="111111"/>
                </a:solidFill>
                <a:latin typeface="Nunito Bold"/>
                <a:ea typeface="Nunito Bold"/>
                <a:cs typeface="Nunito Bold"/>
                <a:sym typeface="Nunito Bold"/>
              </a:rPr>
              <a:t>faithfully</a:t>
            </a:r>
            <a:r>
              <a:rPr lang="en-US" sz="2200" b="true">
                <a:solidFill>
                  <a:srgbClr val="111111"/>
                </a:solidFill>
                <a:latin typeface="Nunito Semi-Bold"/>
                <a:ea typeface="Nunito Semi-Bold"/>
                <a:cs typeface="Nunito Semi-Bold"/>
                <a:sym typeface="Nunito Semi-Bold"/>
              </a:rPr>
              <a:t>, at both instance level and cluster level?</a:t>
            </a:r>
          </a:p>
        </p:txBody>
      </p:sp>
      <p:graphicFrame>
        <p:nvGraphicFramePr>
          <p:cNvPr id="31" name="Table 30"/>
          <p:cNvGraphicFramePr>
            <a:graphicFrameLocks noGrp="1"/>
          </p:cNvGraphicFramePr>
          <p:nvPr/>
        </p:nvGraphicFramePr>
        <p:xfrm>
          <a:off x="1028700" y="528396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Cluster-level explanation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 pipeline that yields a cluster-level explanation while keeping </a:t>
                      </a:r>
                      <a:r>
                        <a:rPr lang="en-US" sz="1800" b="true">
                          <a:solidFill>
                            <a:srgbClr val="111111"/>
                          </a:solidFill>
                          <a:latin typeface="Nunito Bold"/>
                          <a:ea typeface="Nunito Bold"/>
                          <a:cs typeface="Nunito Bold"/>
                          <a:sym typeface="Nunito Bold"/>
                        </a:rPr>
                        <a:t>feature-level attribution</a:t>
                      </a:r>
                      <a:r>
                        <a:rPr lang="en-US" sz="1800" b="true">
                          <a:solidFill>
                            <a:srgbClr val="111111"/>
                          </a:solidFill>
                          <a:latin typeface="Nunito Semi-Bold"/>
                          <a:ea typeface="Nunito Semi-Bold"/>
                          <a:cs typeface="Nunito Semi-Bold"/>
                          <a:sym typeface="Nunito Semi-Bold"/>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Fig. 5.2, cluster profiles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Original 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Attribution in the </a:t>
                      </a:r>
                      <a:r>
                        <a:rPr lang="en-US" sz="1800" b="true">
                          <a:solidFill>
                            <a:srgbClr val="111111"/>
                          </a:solidFill>
                          <a:latin typeface="Nunito Bold"/>
                          <a:ea typeface="Nunito Bold"/>
                          <a:cs typeface="Nunito Bold"/>
                          <a:sym typeface="Nunito Bold"/>
                        </a:rPr>
                        <a:t>original variables</a:t>
                      </a:r>
                      <a:r>
                        <a:rPr lang="en-US" sz="1800" b="true">
                          <a:solidFill>
                            <a:srgbClr val="111111"/>
                          </a:solidFill>
                          <a:latin typeface="Nunito Semi-Bold"/>
                          <a:ea typeface="Nunito Semi-Bold"/>
                          <a:cs typeface="Nunito Semi-Bold"/>
                          <a:sym typeface="Nunito Semi-Bold"/>
                        </a:rPr>
                        <a:t> (density, pH, acidity, sulfur dioxide, alcohol), not in a reduced latent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Fig. 5.1, global ranking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Justify Shapley over LIME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An argument from the </a:t>
                      </a:r>
                      <a:r>
                        <a:rPr lang="en-US" sz="1800" b="true">
                          <a:solidFill>
                            <a:srgbClr val="111111"/>
                          </a:solidFill>
                          <a:latin typeface="Nunito Bold"/>
                          <a:ea typeface="Nunito Bold"/>
                          <a:cs typeface="Nunito Bold"/>
                          <a:sym typeface="Nunito Bold"/>
                        </a:rPr>
                        <a:t>four axioms</a:t>
                      </a:r>
                      <a:r>
                        <a:rPr lang="en-US" sz="1800" b="true">
                          <a:solidFill>
                            <a:srgbClr val="111111"/>
                          </a:solidFill>
                          <a:latin typeface="Nunito Semi-Bold"/>
                          <a:ea typeface="Nunito Semi-Bold"/>
                          <a:cs typeface="Nunito Semi-Bold"/>
                          <a:sym typeface="Nunito Semi-Bold"/>
                        </a:rPr>
                        <a:t> for why the cooperative concept is the right 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SHAP vs LIME comparison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28</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Cooperative Game and the Shapley Value</a:t>
            </a:r>
          </a:p>
        </p:txBody>
      </p:sp>
      <p:pic>
        <p:nvPicPr>
          <p:cNvPr id="25" name="Picture 24" descr="image.png"/>
          <p:cNvPicPr>
            <a:picLocks noChangeAspect="1"/>
          </p:cNvPicPr>
          <p:nvPr/>
        </p:nvPicPr>
        <p:blipFill>
          <a:blip r:embed="rId3"/>
          <a:stretch>
            <a:fillRect/>
          </a:stretch>
        </p:blipFill>
        <p:spPr>
          <a:xfrm>
            <a:off x="12978774" y="1673352"/>
            <a:ext cx="457200" cy="452148"/>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7680960" cy="2286000"/>
          </a:xfrm>
          <a:prstGeom prst="rect">
            <a:avLst/>
          </a:prstGeom>
          <a:noFill/>
        </p:spPr>
        <p:txBody>
          <a:bodyPr anchor="t" rtlCol="false" lIns="0" tIns="0" rIns="0" bIns="0" wrap="square"/>
          <a:lstStyle/>
          <a:p>
            <a:pPr algn="l">
              <a:lnSpc>
                <a:spcPts val="2231"/>
              </a:lnSpc>
              <a:spcBef>
                <a:spcPts val="0"/>
              </a:spcBef>
              <a:buNone/>
            </a:pPr>
            <a:r>
              <a:rPr lang="en-US" sz="1785" b="true">
                <a:solidFill>
                  <a:srgbClr val="4472C4"/>
                </a:solidFill>
                <a:latin typeface="Nunito Ultra-Bold"/>
                <a:ea typeface="Nunito Ultra-Bold"/>
                <a:cs typeface="Nunito Ultra-Bold"/>
                <a:sym typeface="Nunito Ultra-Bold"/>
              </a:rPr>
              <a:t>Three ingredients</a:t>
            </a:r>
          </a:p>
          <a:p>
            <a:pPr algn="l" marL="274320" indent="-274320">
              <a:lnSpc>
                <a:spcPts val="2390"/>
              </a:lnSpc>
              <a:spcBef>
                <a:spcPts val="0"/>
              </a:spcBef>
              <a:buClr>
                <a:srgbClr val="1F7A8C"/>
              </a:buClr>
              <a:buSzPct val="100000"/>
              <a:buFont typeface="Arial"/>
              <a:buChar char="•"/>
            </a:pPr>
            <a:r>
              <a:rPr lang="en-US" sz="1615" b="true">
                <a:solidFill>
                  <a:srgbClr val="111111"/>
                </a:solidFill>
                <a:latin typeface="Nunito Bold"/>
                <a:ea typeface="Nunito Bold"/>
                <a:cs typeface="Nunito Bold"/>
                <a:sym typeface="Nunito Bold"/>
              </a:rPr>
              <a:t>Players</a:t>
            </a:r>
            <a:r>
              <a:rPr lang="en-US" sz="1615" b="true">
                <a:solidFill>
                  <a:srgbClr val="111111"/>
                </a:solidFill>
                <a:latin typeface="Nunito Semi-Bold"/>
                <a:ea typeface="Nunito Semi-Bold"/>
                <a:cs typeface="Nunito Semi-Bold"/>
                <a:sym typeface="Nunito Semi-Bold"/>
              </a:rPr>
              <a:t> N = {1, …, n}, and a </a:t>
            </a:r>
            <a:r>
              <a:rPr lang="en-US" sz="1615" b="true">
                <a:solidFill>
                  <a:srgbClr val="111111"/>
                </a:solidFill>
                <a:latin typeface="Nunito Bold"/>
                <a:ea typeface="Nunito Bold"/>
                <a:cs typeface="Nunito Bold"/>
                <a:sym typeface="Nunito Bold"/>
              </a:rPr>
              <a:t>coalition</a:t>
            </a:r>
            <a:r>
              <a:rPr lang="en-US" sz="1615" b="true">
                <a:solidFill>
                  <a:srgbClr val="111111"/>
                </a:solidFill>
                <a:latin typeface="Nunito Semi-Bold"/>
                <a:ea typeface="Nunito Semi-Bold"/>
                <a:cs typeface="Nunito Semi-Bold"/>
                <a:sym typeface="Nunito Semi-Bold"/>
              </a:rPr>
              <a:t> S </a:t>
            </a:r>
            <a:r>
              <a:rPr lang="en-US" sz="1615" b="true">
                <a:solidFill>
                  <a:srgbClr val="111111"/>
                </a:solidFill>
                <a:latin typeface="Cambria Math"/>
                <a:ea typeface="Cambria Math"/>
                <a:cs typeface="Cambria Math"/>
                <a:sym typeface="Cambria Math"/>
              </a:rPr>
              <a:t>⊆ </a:t>
            </a:r>
            <a:r>
              <a:rPr lang="en-US" sz="1615" b="true">
                <a:solidFill>
                  <a:srgbClr val="111111"/>
                </a:solidFill>
                <a:latin typeface="Nunito Semi-Bold"/>
                <a:ea typeface="Nunito Semi-Bold"/>
                <a:cs typeface="Nunito Semi-Bold"/>
                <a:sym typeface="Nunito Semi-Bold"/>
              </a:rPr>
              <a:t>N: any group of them; there are 2</a:t>
            </a:r>
            <a:r>
              <a:rPr lang="en-US" sz="1615" b="true" baseline="30000">
                <a:solidFill>
                  <a:srgbClr val="111111"/>
                </a:solidFill>
                <a:latin typeface="Nunito Semi-Bold"/>
                <a:ea typeface="Nunito Semi-Bold"/>
                <a:cs typeface="Nunito Semi-Bold"/>
                <a:sym typeface="Nunito Semi-Bold"/>
              </a:rPr>
              <a:t>n</a:t>
            </a:r>
            <a:r>
              <a:rPr lang="en-US" sz="1615" b="true">
                <a:solidFill>
                  <a:srgbClr val="111111"/>
                </a:solidFill>
                <a:latin typeface="Nunito Semi-Bold"/>
                <a:ea typeface="Nunito Semi-Bold"/>
                <a:cs typeface="Nunito Semi-Bold"/>
                <a:sym typeface="Nunito Semi-Bold"/>
              </a:rPr>
              <a:t>.</a:t>
            </a:r>
          </a:p>
          <a:p>
            <a:pPr algn="l" marL="274320" indent="-274320">
              <a:lnSpc>
                <a:spcPts val="2390"/>
              </a:lnSpc>
              <a:spcBef>
                <a:spcPts val="680"/>
              </a:spcBef>
              <a:buClr>
                <a:srgbClr val="1F7A8C"/>
              </a:buClr>
              <a:buSzPct val="100000"/>
              <a:buFont typeface="Arial"/>
              <a:buChar char="•"/>
            </a:pPr>
            <a:r>
              <a:rPr lang="en-US" sz="1615" b="true">
                <a:solidFill>
                  <a:srgbClr val="111111"/>
                </a:solidFill>
                <a:latin typeface="Nunito Bold"/>
                <a:ea typeface="Nunito Bold"/>
                <a:cs typeface="Nunito Bold"/>
                <a:sym typeface="Nunito Bold"/>
              </a:rPr>
              <a:t>Characteristic function</a:t>
            </a:r>
            <a:r>
              <a:rPr lang="en-US" sz="1615" b="true">
                <a:solidFill>
                  <a:srgbClr val="111111"/>
                </a:solidFill>
                <a:latin typeface="Nunito Semi-Bold"/>
                <a:ea typeface="Nunito Semi-Bold"/>
                <a:cs typeface="Nunito Semi-Bold"/>
                <a:sym typeface="Nunito Semi-Bold"/>
              </a:rPr>
              <a:t> v: 2</a:t>
            </a:r>
            <a:r>
              <a:rPr lang="en-US" sz="1615" b="true" baseline="30000">
                <a:solidFill>
                  <a:srgbClr val="111111"/>
                </a:solidFill>
                <a:latin typeface="Nunito Semi-Bold"/>
                <a:ea typeface="Nunito Semi-Bold"/>
                <a:cs typeface="Nunito Semi-Bold"/>
                <a:sym typeface="Nunito Semi-Bold"/>
              </a:rPr>
              <a:t>N</a:t>
            </a:r>
            <a:r>
              <a:rPr lang="en-US" sz="1615" b="true">
                <a:solidFill>
                  <a:srgbClr val="111111"/>
                </a:solidFill>
                <a:latin typeface="Calibri"/>
                <a:ea typeface="Calibri"/>
                <a:cs typeface="Calibri"/>
                <a:sym typeface="Calibri"/>
              </a:rPr>
              <a:t> → </a:t>
            </a:r>
            <a:r>
              <a:rPr lang="en-US" sz="1615" b="true">
                <a:solidFill>
                  <a:srgbClr val="111111"/>
                </a:solidFill>
                <a:latin typeface="Cambria Math"/>
                <a:ea typeface="Cambria Math"/>
                <a:cs typeface="Cambria Math"/>
                <a:sym typeface="Cambria Math"/>
              </a:rPr>
              <a:t>ℝ </a:t>
            </a:r>
            <a:r>
              <a:rPr lang="en-US" sz="1615" b="true">
                <a:solidFill>
                  <a:srgbClr val="111111"/>
                </a:solidFill>
                <a:latin typeface="Nunito Semi-Bold"/>
                <a:ea typeface="Nunito Semi-Bold"/>
                <a:cs typeface="Nunito Semi-Bold"/>
                <a:sym typeface="Nunito Semi-Bold"/>
              </a:rPr>
              <a:t>with v(∅) = 0: the value a coalition creates </a:t>
            </a:r>
            <a:r>
              <a:rPr lang="en-US" sz="1615" b="true">
                <a:solidFill>
                  <a:srgbClr val="111111"/>
                </a:solidFill>
                <a:latin typeface="Nunito Bold"/>
                <a:ea typeface="Nunito Bold"/>
                <a:cs typeface="Nunito Bold"/>
                <a:sym typeface="Nunito Bold"/>
              </a:rPr>
              <a:t>on its own</a:t>
            </a:r>
            <a:r>
              <a:rPr lang="en-US" sz="1615" b="true">
                <a:solidFill>
                  <a:srgbClr val="111111"/>
                </a:solidFill>
                <a:latin typeface="Nunito Semi-Bold"/>
                <a:ea typeface="Nunito Semi-Bold"/>
                <a:cs typeface="Nunito Semi-Bold"/>
                <a:sym typeface="Nunito Semi-Bold"/>
              </a:rPr>
              <a:t>.</a:t>
            </a:r>
          </a:p>
          <a:p>
            <a:pPr algn="l" marL="274320" indent="-274320">
              <a:lnSpc>
                <a:spcPts val="2261"/>
              </a:lnSpc>
              <a:spcBef>
                <a:spcPts val="680"/>
              </a:spcBef>
              <a:buClr>
                <a:srgbClr val="1F7A8C"/>
              </a:buClr>
              <a:buSzPct val="100000"/>
              <a:buFont typeface="Arial"/>
              <a:buChar char="•"/>
            </a:pPr>
            <a:r>
              <a:rPr lang="en-US" sz="1615" b="true">
                <a:solidFill>
                  <a:srgbClr val="111111"/>
                </a:solidFill>
                <a:latin typeface="Nunito Bold"/>
                <a:ea typeface="Nunito Bold"/>
                <a:cs typeface="Nunito Bold"/>
                <a:sym typeface="Nunito Bold"/>
              </a:rPr>
              <a:t>The question:</a:t>
            </a:r>
            <a:r>
              <a:rPr lang="en-US" sz="1615" b="true">
                <a:solidFill>
                  <a:srgbClr val="111111"/>
                </a:solidFill>
                <a:latin typeface="Nunito Semi-Bold"/>
                <a:ea typeface="Nunito Semi-Bold"/>
                <a:cs typeface="Nunito Semi-Bold"/>
                <a:sym typeface="Nunito Semi-Bold"/>
              </a:rPr>
              <a:t> the grand coalition earns v(N), so </a:t>
            </a:r>
            <a:r>
              <a:rPr lang="en-US" sz="1615" b="true">
                <a:solidFill>
                  <a:srgbClr val="111111"/>
                </a:solidFill>
                <a:latin typeface="Nunito Bold"/>
                <a:ea typeface="Nunito Bold"/>
                <a:cs typeface="Nunito Bold"/>
                <a:sym typeface="Nunito Bold"/>
              </a:rPr>
              <a:t>how should it be shared fairly</a:t>
            </a:r>
            <a:r>
              <a:rPr lang="en-US" sz="1615" b="true">
                <a:solidFill>
                  <a:srgbClr val="111111"/>
                </a:solidFill>
                <a:latin typeface="Nunito Semi-Bold"/>
                <a:ea typeface="Nunito Semi-Bold"/>
                <a:cs typeface="Nunito Semi-Bold"/>
                <a:sym typeface="Nunito Semi-Bold"/>
              </a:rPr>
              <a:t>?</a:t>
            </a:r>
          </a:p>
        </p:txBody>
      </p:sp>
      <p:sp>
        <p:nvSpPr>
          <p:cNvPr id="31" name="Rounded Rectangle 30"/>
          <p:cNvSpPr/>
          <p:nvPr/>
        </p:nvSpPr>
        <p:spPr>
          <a:xfrm>
            <a:off x="1028700" y="5741162"/>
            <a:ext cx="7680960" cy="868680"/>
          </a:xfrm>
          <a:prstGeom prst="roundRect">
            <a:avLst>
              <a:gd name="adj" fmla="val 23157"/>
            </a:avLst>
          </a:prstGeom>
          <a:solidFill>
            <a:srgbClr val="4472C4"/>
          </a:solidFill>
          <a:ln>
            <a:noFill/>
          </a:ln>
        </p:spPr>
        <p:txBody>
          <a:bodyPr anchor="ctr" rtlCol="false" lIns="0" tIns="0" rIns="0" bIns="0" wrap="square"/>
          <a:lstStyle/>
          <a:p>
            <a:endParaRPr lang="en-US" sz="1800"/>
          </a:p>
        </p:txBody>
      </p:sp>
      <p:sp>
        <p:nvSpPr>
          <p:cNvPr id="32" name="TextBox 31"/>
          <p:cNvSpPr txBox="1"/>
          <p:nvPr/>
        </p:nvSpPr>
        <p:spPr>
          <a:xfrm>
            <a:off x="1028700" y="5805170"/>
            <a:ext cx="7680960" cy="237744"/>
          </a:xfrm>
          <a:prstGeom prst="rect">
            <a:avLst/>
          </a:prstGeom>
          <a:noFill/>
        </p:spPr>
        <p:txBody>
          <a:bodyPr anchor="t" rtlCol="false" lIns="0" tIns="0" rIns="0" bIns="0" wrap="square"/>
          <a:lstStyle/>
          <a:p>
            <a:pPr algn="ctr">
              <a:lnSpc>
                <a:spcPts val="1400"/>
              </a:lnSpc>
              <a:spcBef>
                <a:spcPts val="0"/>
              </a:spcBef>
              <a:buNone/>
            </a:pPr>
            <a:r>
              <a:rPr lang="en-US" sz="1400" b="true" spc="150">
                <a:solidFill>
                  <a:srgbClr val="ECC665"/>
                </a:solidFill>
                <a:latin typeface="Nunito Ultra-Bold"/>
                <a:ea typeface="Nunito Ultra-Bold"/>
                <a:cs typeface="Nunito Ultra-Bold"/>
                <a:sym typeface="Nunito Ultra-Bold"/>
              </a:rPr>
              <a:t>A COOPERATIVE GAME IS A PAIR</a:t>
            </a:r>
          </a:p>
        </p:txBody>
      </p:sp>
      <mc:AlternateContent xmlns:mc="http://schemas.openxmlformats.org/markup-compatibility/2006">
        <mc:Choice xmlns:a14="http://schemas.microsoft.com/office/drawing/2010/main" Requires="a14">
          <p:sp>
            <p:nvSpPr>
              <p:cNvPr id="33" name="Equation"/>
              <p:cNvSpPr txBox="1"/>
              <p:nvPr/>
            </p:nvSpPr>
            <p:spPr>
              <a:xfrm>
                <a:off x="1211580" y="6015482"/>
                <a:ext cx="7315200" cy="54864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m:rPr>
                          <m:sty m:val="p"/>
                        </m:rPr>
                        <a:rPr lang="en-US" sz="1900">
                          <a:solidFill>
                            <a:srgbClr val="FFFFFF"/>
                          </a:solidFill>
                          <a:latin typeface="Cambria Math" panose="02040503050406030204" pitchFamily="18" charset="0"/>
                        </a:rPr>
                        <m:t xml:space="preserve">(</m:t>
                      </m:r>
                      <m:r>
                        <a:rPr lang="en-US" sz="1900" i="1">
                          <a:solidFill>
                            <a:srgbClr val="FFFFFF"/>
                          </a:solidFill>
                          <a:latin typeface="Cambria Math" panose="02040503050406030204" pitchFamily="18" charset="0"/>
                        </a:rPr>
                        <m:t xml:space="preserve">N</m:t>
                      </m:r>
                      <m:r>
                        <m:rPr>
                          <m:sty m:val="p"/>
                        </m:rPr>
                        <a:rPr lang="en-US" sz="1900">
                          <a:solidFill>
                            <a:srgbClr val="FFFFFF"/>
                          </a:solidFill>
                          <a:latin typeface="Cambria Math" panose="02040503050406030204" pitchFamily="18" charset="0"/>
                        </a:rPr>
                        <m:t xml:space="preserve">,</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),  </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m:t>
                      </m:r>
                      <m:sSup>
                        <m:sSupPr>
                          <m:ctrlPr>
                            <a:rPr lang="en-US" sz="1900" i="1">
                              <a:solidFill>
                                <a:srgbClr val="FFFFFF"/>
                              </a:solidFill>
                              <a:latin typeface="Cambria Math" panose="02040503050406030204" pitchFamily="18" charset="0"/>
                            </a:rPr>
                          </m:ctrlPr>
                        </m:sSupPr>
                        <m:e>
                          <m:r>
                            <m:rPr>
                              <m:sty m:val="p"/>
                            </m:rPr>
                            <a:rPr lang="en-US" sz="1900">
                              <a:solidFill>
                                <a:srgbClr val="FFFFFF"/>
                              </a:solidFill>
                              <a:latin typeface="Cambria Math" panose="02040503050406030204" pitchFamily="18" charset="0"/>
                            </a:rPr>
                            <m:t xml:space="preserve">2</m:t>
                          </m:r>
                        </m:e>
                        <m:sup>
                          <m:r>
                            <a:rPr lang="en-US" sz="1900" i="1">
                              <a:solidFill>
                                <a:srgbClr val="FFFFFF"/>
                              </a:solidFill>
                              <a:latin typeface="Cambria Math" panose="02040503050406030204" pitchFamily="18" charset="0"/>
                            </a:rPr>
                            <m:t xml:space="preserve">N</m:t>
                          </m:r>
                        </m:sup>
                      </m:sSup>
                      <m:r>
                        <m:rPr>
                          <m:sty m:val="p"/>
                        </m:rPr>
                        <a:rPr lang="en-US" sz="1900">
                          <a:solidFill>
                            <a:srgbClr val="FFFFFF"/>
                          </a:solidFill>
                          <a:latin typeface="Cambria Math" panose="02040503050406030204" pitchFamily="18" charset="0"/>
                        </a:rPr>
                        <m:t xml:space="preserve">→</m:t>
                      </m:r>
                      <m:r>
                        <m:rPr>
                          <m:scr m:val="double-struck"/>
                          <m:sty m:val="p"/>
                        </m:rPr>
                        <a:rPr lang="en-US" sz="1900">
                          <a:solidFill>
                            <a:srgbClr val="FFFFFF"/>
                          </a:solidFill>
                          <a:latin typeface="Cambria Math" panose="02040503050406030204" pitchFamily="18" charset="0"/>
                        </a:rPr>
                        <m:t xml:space="preserve">R</m:t>
                      </m:r>
                      <m:r>
                        <m:rPr>
                          <m:sty m:val="p"/>
                        </m:rPr>
                        <a:rPr lang="en-US" sz="1900">
                          <a:solidFill>
                            <a:srgbClr val="FFFFFF"/>
                          </a:solidFill>
                          <a:latin typeface="Cambria Math" panose="02040503050406030204" pitchFamily="18" charset="0"/>
                        </a:rPr>
                        <m:t xml:space="preserve">,  </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(∅)=0</m:t>
                      </m:r>
                    </m:oMath>
                  </m:oMathPara>
                </a14:m>
                <a:endParaRPr lang="en-US" sz="1900"/>
              </a:p>
            </p:txBody>
          </p:sp>
        </mc:Choice>
        <mc:Fallback>
          <p:sp>
            <p:nvSpPr>
              <p:cNvPr id="33" name="Equation"/>
              <p:cNvSpPr txBox="1"/>
              <p:nvPr/>
            </p:nvSpPr>
            <p:spPr>
              <a:xfrm>
                <a:off x="1211580" y="6015482"/>
                <a:ext cx="7315200" cy="548640"/>
              </a:xfrm>
              <a:prstGeom prst="rect">
                <a:avLst/>
              </a:prstGeom>
              <a:blipFill>
                <a:blip r:embed="rId4"/>
                <a:stretch>
                  <a:fillRect/>
                </a:stretch>
              </a:blipFill>
            </p:spPr>
            <p:txBody>
              <a:bodyPr/>
              <a:lstStyle/>
              <a:p>
                <a:endParaRPr lang="en-US"/>
              </a:p>
            </p:txBody>
          </p:sp>
        </mc:Fallback>
      </mc:AlternateContent>
      <p:sp>
        <p:nvSpPr>
          <p:cNvPr id="34" name="Rounded Rectangle 33"/>
          <p:cNvSpPr/>
          <p:nvPr/>
        </p:nvSpPr>
        <p:spPr>
          <a:xfrm>
            <a:off x="1028700" y="6792722"/>
            <a:ext cx="7680960" cy="2148840"/>
          </a:xfrm>
          <a:prstGeom prst="roundRect">
            <a:avLst>
              <a:gd name="adj" fmla="val 11914"/>
            </a:avLst>
          </a:prstGeom>
          <a:solidFill>
            <a:srgbClr val="111111"/>
          </a:solidFill>
          <a:ln>
            <a:noFill/>
          </a:ln>
        </p:spPr>
        <p:txBody>
          <a:bodyPr anchor="ctr" rtlCol="false" lIns="0" tIns="0" rIns="0" bIns="0" wrap="square"/>
          <a:lstStyle/>
          <a:p>
            <a:endParaRPr lang="en-US" sz="1800"/>
          </a:p>
        </p:txBody>
      </p:sp>
      <p:sp>
        <p:nvSpPr>
          <p:cNvPr id="35" name="TextBox 34"/>
          <p:cNvSpPr txBox="1"/>
          <p:nvPr/>
        </p:nvSpPr>
        <p:spPr>
          <a:xfrm>
            <a:off x="1028700" y="6939026"/>
            <a:ext cx="7680960" cy="256032"/>
          </a:xfrm>
          <a:prstGeom prst="rect">
            <a:avLst/>
          </a:prstGeom>
          <a:noFill/>
        </p:spPr>
        <p:txBody>
          <a:bodyPr anchor="t" rtlCol="false" lIns="0" tIns="0" rIns="0" bIns="0" wrap="square"/>
          <a:lstStyle/>
          <a:p>
            <a:pPr algn="ctr">
              <a:lnSpc>
                <a:spcPts val="1600"/>
              </a:lnSpc>
              <a:spcBef>
                <a:spcPts val="0"/>
              </a:spcBef>
              <a:buNone/>
            </a:pPr>
            <a:r>
              <a:rPr lang="en-US" sz="1400" b="true" spc="160">
                <a:solidFill>
                  <a:srgbClr val="ECC665"/>
                </a:solidFill>
                <a:latin typeface="Nunito Ultra-Bold"/>
                <a:ea typeface="Nunito Ultra-Bold"/>
                <a:cs typeface="Nunito Ultra-Bold"/>
                <a:sym typeface="Nunito Ultra-Bold"/>
              </a:rPr>
              <a:t>SHAPLEY VALUE OF PLAYER j  ·  SHAPLEY, 1953</a:t>
            </a:r>
          </a:p>
        </p:txBody>
      </p:sp>
      <mc:AlternateContent xmlns:mc="http://schemas.openxmlformats.org/markup-compatibility/2006">
        <mc:Choice xmlns:a14="http://schemas.microsoft.com/office/drawing/2010/main" Requires="a14">
          <p:sp>
            <p:nvSpPr>
              <p:cNvPr id="36" name="Equation"/>
              <p:cNvSpPr txBox="1"/>
              <p:nvPr/>
            </p:nvSpPr>
            <p:spPr>
              <a:xfrm>
                <a:off x="1211580" y="7249922"/>
                <a:ext cx="7315200" cy="118872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1950" i="1">
                              <a:solidFill>
                                <a:srgbClr val="FFFFFF"/>
                              </a:solidFill>
                              <a:latin typeface="Cambria Math" panose="02040503050406030204" pitchFamily="18" charset="0"/>
                            </a:rPr>
                          </m:ctrlPr>
                        </m:sSubPr>
                        <m:e>
                          <m:r>
                            <a:rPr lang="en-US" sz="1950" i="1">
                              <a:solidFill>
                                <a:srgbClr val="FFFFFF"/>
                              </a:solidFill>
                              <a:latin typeface="Cambria Math" panose="02040503050406030204" pitchFamily="18" charset="0"/>
                            </a:rPr>
                            <m:t xml:space="preserve">φ</m:t>
                          </m:r>
                        </m:e>
                        <m:sub>
                          <m:r>
                            <a:rPr lang="en-US" sz="1950" i="1">
                              <a:solidFill>
                                <a:srgbClr val="FFFFFF"/>
                              </a:solidFill>
                              <a:latin typeface="Cambria Math" panose="02040503050406030204" pitchFamily="18" charset="0"/>
                            </a:rPr>
                            <m:t xml:space="preserve">j</m:t>
                          </m:r>
                        </m:sub>
                      </m:sSub>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v</m:t>
                      </m:r>
                      <m:r>
                        <m:rPr>
                          <m:sty m:val="p"/>
                        </m:rPr>
                        <a:rPr lang="en-US" sz="1950">
                          <a:solidFill>
                            <a:srgbClr val="FFFFFF"/>
                          </a:solidFill>
                          <a:latin typeface="Cambria Math" panose="02040503050406030204" pitchFamily="18" charset="0"/>
                        </a:rPr>
                        <m:t xml:space="preserve">)=</m:t>
                      </m:r>
                      <m:nary>
                        <m:naryPr>
                          <m:chr m:val="∑"/>
                          <m:limLoc m:val="undOvr"/>
                          <m:supHide m:val="1"/>
                          <m:ctrlPr>
                            <a:rPr lang="en-US" sz="1950" i="1">
                              <a:solidFill>
                                <a:srgbClr val="FFFFFF"/>
                              </a:solidFill>
                              <a:latin typeface="Cambria Math" panose="02040503050406030204" pitchFamily="18" charset="0"/>
                            </a:rPr>
                          </m:ctrlPr>
                        </m:naryPr>
                        <m:sub>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N</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j</m:t>
                          </m:r>
                          <m:r>
                            <m:rPr>
                              <m:sty m:val="p"/>
                            </m:rPr>
                            <a:rPr lang="en-US" sz="1950">
                              <a:solidFill>
                                <a:srgbClr val="FFFFFF"/>
                              </a:solidFill>
                              <a:latin typeface="Cambria Math" panose="02040503050406030204" pitchFamily="18" charset="0"/>
                            </a:rPr>
                            <m:t xml:space="preserve">}</m:t>
                          </m:r>
                        </m:sub>
                        <m:sup/>
                        <m:e>
                          <m:f>
                            <m:fPr>
                              <m:ctrlPr>
                                <a:rPr lang="en-US" sz="1950" i="1">
                                  <a:solidFill>
                                    <a:srgbClr val="FFFFFF"/>
                                  </a:solidFill>
                                  <a:latin typeface="Cambria Math" panose="02040503050406030204" pitchFamily="18" charset="0"/>
                                </a:rPr>
                              </m:ctrlPr>
                            </m:fPr>
                            <m:num>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 (</m:t>
                              </m:r>
                              <m:r>
                                <a:rPr lang="en-US" sz="1950" i="1">
                                  <a:solidFill>
                                    <a:srgbClr val="FFFFFF"/>
                                  </a:solidFill>
                                  <a:latin typeface="Cambria Math" panose="02040503050406030204" pitchFamily="18" charset="0"/>
                                </a:rPr>
                                <m:t xml:space="preserve">n</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|−1)!</m:t>
                              </m:r>
                            </m:num>
                            <m:den>
                              <m:r>
                                <a:rPr lang="en-US" sz="1950" i="1">
                                  <a:solidFill>
                                    <a:srgbClr val="FFFFFF"/>
                                  </a:solidFill>
                                  <a:latin typeface="Cambria Math" panose="02040503050406030204" pitchFamily="18" charset="0"/>
                                </a:rPr>
                                <m:t xml:space="preserve">n</m:t>
                              </m:r>
                              <m:r>
                                <m:rPr>
                                  <m:sty m:val="p"/>
                                </m:rPr>
                                <a:rPr lang="en-US" sz="1950">
                                  <a:solidFill>
                                    <a:srgbClr val="FFFFFF"/>
                                  </a:solidFill>
                                  <a:latin typeface="Cambria Math" panose="02040503050406030204" pitchFamily="18" charset="0"/>
                                </a:rPr>
                                <m:t xml:space="preserve">!</m:t>
                              </m:r>
                            </m:den>
                          </m:f>
                        </m:e>
                      </m:nary>
                      <m:r>
                        <m:rPr>
                          <m:sty m:val="p"/>
                        </m:rPr>
                        <a:rPr lang="en-US" sz="1950">
                          <a:solidFill>
                            <a:srgbClr val="FFFFFF"/>
                          </a:solidFill>
                          <a:latin typeface="Cambria Math" panose="02040503050406030204" pitchFamily="18" charset="0"/>
                        </a:rPr>
                        <m:t xml:space="preserve"> </m:t>
                      </m:r>
                      <m:d>
                        <m:dPr>
                          <m:begChr m:val="["/>
                          <m:endChr m:val="]"/>
                          <m:ctrlPr>
                            <a:rPr lang="en-US" sz="1950" i="1">
                              <a:solidFill>
                                <a:srgbClr val="FFFFFF"/>
                              </a:solidFill>
                              <a:latin typeface="Cambria Math" panose="02040503050406030204" pitchFamily="18" charset="0"/>
                            </a:rPr>
                          </m:ctrlPr>
                        </m:dPr>
                        <m:e>
                          <m:r>
                            <m:rPr>
                              <m:sty m:val="p"/>
                            </m:rPr>
                            <a:rPr lang="en-US" sz="1950">
                              <a:solidFill>
                                <a:srgbClr val="FFFFFF"/>
                              </a:solidFill>
                              <a:latin typeface="Cambria Math" panose="02040503050406030204" pitchFamily="18" charset="0"/>
                            </a:rPr>
                            <m:t xml:space="preserve"> </m:t>
                          </m:r>
                          <m:r>
                            <a:rPr lang="en-US" sz="1950" i="1">
                              <a:solidFill>
                                <a:srgbClr val="FFFFFF"/>
                              </a:solidFill>
                              <a:latin typeface="Cambria Math" panose="02040503050406030204" pitchFamily="18" charset="0"/>
                            </a:rPr>
                            <m:t xml:space="preserve">v</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j</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v</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 </m:t>
                          </m:r>
                        </m:e>
                      </m:d>
                    </m:oMath>
                  </m:oMathPara>
                </a14:m>
                <a:endParaRPr lang="en-US" sz="1950"/>
              </a:p>
            </p:txBody>
          </p:sp>
        </mc:Choice>
        <mc:Fallback>
          <p:sp>
            <p:nvSpPr>
              <p:cNvPr id="36" name="Equation"/>
              <p:cNvSpPr txBox="1"/>
              <p:nvPr/>
            </p:nvSpPr>
            <p:spPr>
              <a:xfrm>
                <a:off x="1211580" y="7249922"/>
                <a:ext cx="7315200" cy="1188720"/>
              </a:xfrm>
              <a:prstGeom prst="rect">
                <a:avLst/>
              </a:prstGeom>
              <a:blipFill>
                <a:blip r:embed="rId5"/>
                <a:stretch>
                  <a:fillRect/>
                </a:stretch>
              </a:blipFill>
            </p:spPr>
            <p:txBody>
              <a:bodyPr/>
              <a:lstStyle/>
              <a:p>
                <a:endParaRPr lang="en-US"/>
              </a:p>
            </p:txBody>
          </p:sp>
        </mc:Fallback>
      </mc:AlternateContent>
      <p:sp>
        <p:nvSpPr>
          <p:cNvPr id="37" name="TextBox 36"/>
          <p:cNvSpPr txBox="1"/>
          <p:nvPr/>
        </p:nvSpPr>
        <p:spPr>
          <a:xfrm>
            <a:off x="1028700" y="8438642"/>
            <a:ext cx="7680960" cy="475488"/>
          </a:xfrm>
          <a:prstGeom prst="rect">
            <a:avLst/>
          </a:prstGeom>
          <a:noFill/>
        </p:spPr>
        <p:txBody>
          <a:bodyPr anchor="t" rtlCol="false" lIns="0" tIns="0" rIns="0" bIns="0" wrap="square"/>
          <a:lstStyle/>
          <a:p>
            <a:pPr algn="ctr">
              <a:lnSpc>
                <a:spcPts val="1700"/>
              </a:lnSpc>
              <a:spcBef>
                <a:spcPts val="0"/>
              </a:spcBef>
              <a:buNone/>
            </a:pPr>
            <a:r>
              <a:rPr lang="en-US" sz="1400" b="true">
                <a:solidFill>
                  <a:srgbClr val="D6E4F7"/>
                </a:solidFill>
                <a:latin typeface="Nunito Semi-Bold"/>
                <a:ea typeface="Nunito Semi-Bold"/>
                <a:cs typeface="Nunito Semi-Bold"/>
                <a:sym typeface="Nunito Semi-Bold"/>
              </a:rPr>
              <a:t>average marginal contribution over every arrival order</a:t>
            </a:r>
          </a:p>
          <a:p>
            <a:pPr algn="ctr">
              <a:lnSpc>
                <a:spcPts val="1700"/>
              </a:lnSpc>
              <a:spcBef>
                <a:spcPts val="0"/>
              </a:spcBef>
              <a:buNone/>
            </a:pPr>
            <a:r>
              <a:rPr lang="en-US" sz="1400" b="true">
                <a:solidFill>
                  <a:srgbClr val="D6E4F7"/>
                </a:solidFill>
                <a:latin typeface="Nunito Semi-Bold"/>
                <a:ea typeface="Nunito Semi-Bold"/>
                <a:cs typeface="Nunito Semi-Bold"/>
                <a:sym typeface="Nunito Semi-Bold"/>
              </a:rPr>
              <a:t>in this thesis: players = input features, v(S) = Silhouette of the clustering</a:t>
            </a:r>
          </a:p>
        </p:txBody>
      </p:sp>
      <p:sp>
        <p:nvSpPr>
          <p:cNvPr id="38" name="TextBox 37"/>
          <p:cNvSpPr txBox="1"/>
          <p:nvPr/>
        </p:nvSpPr>
        <p:spPr>
          <a:xfrm>
            <a:off x="9166860" y="3318002"/>
            <a:ext cx="8092440" cy="292608"/>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CHARACTERISTIC FUNCTION v(S) OF THE BAND</a:t>
            </a:r>
          </a:p>
        </p:txBody>
      </p:sp>
      <p:graphicFrame>
        <p:nvGraphicFramePr>
          <p:cNvPr id="39" name="Table 38"/>
          <p:cNvGraphicFramePr>
            <a:graphicFrameLocks noGrp="1"/>
          </p:cNvGraphicFramePr>
          <p:nvPr/>
        </p:nvGraphicFramePr>
        <p:xfrm>
          <a:off x="9166860" y="3656330"/>
          <a:ext cx="8092439" cy="3224784"/>
        </p:xfrm>
        <a:graphic>
          <a:graphicData uri="http://schemas.openxmlformats.org/drawingml/2006/table">
            <a:tbl>
              <a:tblPr firstRow="0" bandRow="0" firstCol="0" lastRow="0" lastCol="0" bandCol="0">
                <a:tableStyleId>{2D5ABB26-0587-4C30-8999-92F81FD0307C}</a:tableStyleId>
              </a:tblPr>
              <a:tblGrid>
                <a:gridCol w="2427732"/>
                <a:gridCol w="3884371"/>
                <a:gridCol w="1780336"/>
              </a:tblGrid>
              <a:tr h="446532">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Coalition 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Who plays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v(S)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Guitar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{V}</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Voice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Drums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 V}</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Guitar + Voice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140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{V, 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Voice + Drums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 V, 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the whole band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40" name="Rounded Rectangle 39"/>
          <p:cNvSpPr/>
          <p:nvPr/>
        </p:nvSpPr>
        <p:spPr>
          <a:xfrm>
            <a:off x="9166860" y="7045706"/>
            <a:ext cx="8092440" cy="1051560"/>
          </a:xfrm>
          <a:prstGeom prst="roundRect">
            <a:avLst>
              <a:gd name="adj" fmla="val 17391"/>
            </a:avLst>
          </a:prstGeom>
          <a:solidFill>
            <a:srgbClr val="E7EAF3"/>
          </a:solidFill>
          <a:ln>
            <a:noFill/>
          </a:ln>
        </p:spPr>
        <p:txBody>
          <a:bodyPr anchor="ctr" rtlCol="false" lIns="274320" tIns="73152" rIns="274320" bIns="73152" wrap="square"/>
          <a:lstStyle/>
          <a:p>
            <a:pPr algn="l">
              <a:lnSpc>
                <a:spcPts val="1900"/>
              </a:lnSpc>
              <a:spcBef>
                <a:spcPts val="0"/>
              </a:spcBef>
              <a:buNone/>
            </a:pPr>
            <a:r>
              <a:rPr lang="en-US" sz="1500" b="true">
                <a:solidFill>
                  <a:srgbClr val="111111"/>
                </a:solidFill>
                <a:latin typeface="Nunito Semi-Bold"/>
                <a:ea typeface="Nunito Semi-Bold"/>
                <a:cs typeface="Nunito Semi-Bold"/>
                <a:sym typeface="Nunito Semi-Bold"/>
              </a:rPr>
              <a:t>One arrival order, V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D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G: Voice adds </a:t>
            </a:r>
            <a:r>
              <a:rPr lang="en-US" sz="1500" b="true">
                <a:solidFill>
                  <a:srgbClr val="111111"/>
                </a:solidFill>
                <a:latin typeface="Nunito Bold"/>
                <a:ea typeface="Nunito Bold"/>
                <a:cs typeface="Nunito Bold"/>
                <a:sym typeface="Nunito Bold"/>
              </a:rPr>
              <a:t>40</a:t>
            </a:r>
            <a:r>
              <a:rPr lang="en-US" sz="1500" b="true">
                <a:solidFill>
                  <a:srgbClr val="111111"/>
                </a:solidFill>
                <a:latin typeface="Nunito Semi-Bold"/>
                <a:ea typeface="Nunito Semi-Bold"/>
                <a:cs typeface="Nunito Semi-Bold"/>
                <a:sym typeface="Nunito Semi-Bold"/>
              </a:rPr>
              <a:t>, Drums takes 40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80 (</a:t>
            </a:r>
            <a:r>
              <a:rPr lang="en-US" sz="1500" b="true">
                <a:solidFill>
                  <a:srgbClr val="111111"/>
                </a:solidFill>
                <a:latin typeface="Nunito Bold"/>
                <a:ea typeface="Nunito Bold"/>
                <a:cs typeface="Nunito Bold"/>
                <a:sym typeface="Nunito Bold"/>
              </a:rPr>
              <a:t>+40</a:t>
            </a:r>
            <a:r>
              <a:rPr lang="en-US" sz="1500" b="true">
                <a:solidFill>
                  <a:srgbClr val="111111"/>
                </a:solidFill>
                <a:latin typeface="Nunito Semi-Bold"/>
                <a:ea typeface="Nunito Semi-Bold"/>
                <a:cs typeface="Nunito Semi-Bold"/>
                <a:sym typeface="Nunito Semi-Bold"/>
              </a:rPr>
              <a:t>), Guitar completes the band, 80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200 (</a:t>
            </a:r>
            <a:r>
              <a:rPr lang="en-US" sz="1500" b="true">
                <a:solidFill>
                  <a:srgbClr val="111111"/>
                </a:solidFill>
                <a:latin typeface="Nunito Bold"/>
                <a:ea typeface="Nunito Bold"/>
                <a:cs typeface="Nunito Bold"/>
                <a:sym typeface="Nunito Bold"/>
              </a:rPr>
              <a:t>+120</a:t>
            </a:r>
            <a:r>
              <a:rPr lang="en-US" sz="1500" b="true">
                <a:solidFill>
                  <a:srgbClr val="111111"/>
                </a:solidFill>
                <a:latin typeface="Nunito Semi-Bold"/>
                <a:ea typeface="Nunito Semi-Bold"/>
                <a:cs typeface="Nunito Semi-Bold"/>
                <a:sym typeface="Nunito Semi-Bold"/>
              </a:rPr>
              <a:t>). Averaged over all six orders: </a:t>
            </a:r>
            <a:r>
              <a:rPr lang="en-US" sz="1500" b="true">
                <a:solidFill>
                  <a:srgbClr val="111111"/>
                </a:solidFill>
                <a:latin typeface="Nunito Bold"/>
                <a:ea typeface="Nunito Bold"/>
                <a:cs typeface="Nunito Bold"/>
                <a:sym typeface="Nunito Bold"/>
              </a:rPr>
              <a:t>90 / 70 / 40</a:t>
            </a:r>
            <a:r>
              <a:rPr lang="en-US" sz="1500" b="true">
                <a:solidFill>
                  <a:srgbClr val="111111"/>
                </a:solidFill>
                <a:latin typeface="Nunito Semi-Bold"/>
                <a:ea typeface="Nunito Semi-Bold"/>
                <a:cs typeface="Nunito Semi-Bold"/>
                <a:sym typeface="Nunito Semi-Bold"/>
              </a:rPr>
              <a:t>, which sums to 200.</a:t>
            </a:r>
          </a:p>
        </p:txBody>
      </p:sp>
      <p:sp>
        <p:nvSpPr>
          <p:cNvPr id="41" name="Rounded Rectangle 40"/>
          <p:cNvSpPr/>
          <p:nvPr/>
        </p:nvSpPr>
        <p:spPr>
          <a:xfrm>
            <a:off x="9166860" y="8124697"/>
            <a:ext cx="8092440" cy="998982"/>
          </a:xfrm>
          <a:prstGeom prst="roundRect">
            <a:avLst>
              <a:gd name="adj" fmla="val 17025"/>
            </a:avLst>
          </a:prstGeom>
          <a:solidFill>
            <a:srgbClr val="1F7A8C"/>
          </a:solidFill>
          <a:ln>
            <a:noFill/>
          </a:ln>
        </p:spPr>
        <p:txBody>
          <a:bodyPr anchor="ctr" rtlCol="false" lIns="274320" tIns="73152" rIns="274320" bIns="73152" wrap="square"/>
          <a:lstStyle/>
          <a:p>
            <a:pPr algn="ctr">
              <a:lnSpc>
                <a:spcPts val="2000"/>
              </a:lnSpc>
              <a:spcBef>
                <a:spcPts val="0"/>
              </a:spcBef>
              <a:buNone/>
            </a:pPr>
            <a:r>
              <a:rPr lang="en-US" sz="1600" b="true">
                <a:solidFill>
                  <a:srgbClr val="FFFFFF"/>
                </a:solidFill>
                <a:latin typeface="Nunito Bold"/>
                <a:ea typeface="Nunito Bold"/>
                <a:cs typeface="Nunito Bold"/>
                <a:sym typeface="Nunito Bold"/>
              </a:rPr>
              <a:t>Why this rule:</a:t>
            </a:r>
            <a:r>
              <a:rPr lang="en-US" sz="1600" b="true">
                <a:solidFill>
                  <a:srgbClr val="FFFFFF"/>
                </a:solidFill>
                <a:latin typeface="Nunito Semi-Bold"/>
                <a:ea typeface="Nunito Semi-Bold"/>
                <a:cs typeface="Nunito Semi-Bold"/>
                <a:sym typeface="Nunito Semi-Bold"/>
              </a:rPr>
              <a:t> the Shapley value is the </a:t>
            </a:r>
            <a:r>
              <a:rPr lang="en-US" sz="1600" b="true">
                <a:solidFill>
                  <a:srgbClr val="FFFFFF"/>
                </a:solidFill>
                <a:latin typeface="Nunito Bold"/>
                <a:ea typeface="Nunito Bold"/>
                <a:cs typeface="Nunito Bold"/>
                <a:sym typeface="Nunito Bold"/>
              </a:rPr>
              <a:t>only</a:t>
            </a:r>
            <a:r>
              <a:rPr lang="en-US" sz="1600" b="true">
                <a:solidFill>
                  <a:srgbClr val="FFFFFF"/>
                </a:solidFill>
                <a:latin typeface="Nunito Semi-Bold"/>
                <a:ea typeface="Nunito Semi-Bold"/>
                <a:cs typeface="Nunito Semi-Bold"/>
                <a:sym typeface="Nunito Semi-Bold"/>
              </a:rPr>
              <a:t> allocation satisfying all four axioms at once: </a:t>
            </a:r>
            <a:r>
              <a:rPr lang="en-US" sz="1600" b="true">
                <a:solidFill>
                  <a:srgbClr val="FFFFFF"/>
                </a:solidFill>
                <a:latin typeface="Nunito Bold"/>
                <a:ea typeface="Nunito Bold"/>
                <a:cs typeface="Nunito Bold"/>
                <a:sym typeface="Nunito Bold"/>
              </a:rPr>
              <a:t>efficiency</a:t>
            </a:r>
            <a:r>
              <a:rPr lang="en-US" sz="1600" b="true">
                <a:solidFill>
                  <a:srgbClr val="FFFFFF"/>
                </a:solidFill>
                <a:latin typeface="Nunito Semi-Bold"/>
                <a:ea typeface="Nunito Semi-Bold"/>
                <a:cs typeface="Nunito Semi-Bold"/>
                <a:sym typeface="Nunito Semi-Bold"/>
              </a:rPr>
              <a:t> (the shares add up to v(N)), </a:t>
            </a:r>
            <a:r>
              <a:rPr lang="en-US" sz="1600" b="true">
                <a:solidFill>
                  <a:srgbClr val="FFFFFF"/>
                </a:solidFill>
                <a:latin typeface="Nunito Bold"/>
                <a:ea typeface="Nunito Bold"/>
                <a:cs typeface="Nunito Bold"/>
                <a:sym typeface="Nunito Bold"/>
              </a:rPr>
              <a:t>symmetry</a:t>
            </a:r>
            <a:r>
              <a:rPr lang="en-US" sz="1600" b="true">
                <a:solidFill>
                  <a:srgbClr val="FFFFFF"/>
                </a:solidFill>
                <a:latin typeface="Nunito Semi-Bold"/>
                <a:ea typeface="Nunito Semi-Bold"/>
                <a:cs typeface="Nunito Semi-Bold"/>
                <a:sym typeface="Nunito Semi-Bold"/>
              </a:rPr>
              <a:t>, </a:t>
            </a:r>
            <a:r>
              <a:rPr lang="en-US" sz="1600" b="true">
                <a:solidFill>
                  <a:srgbClr val="FFFFFF"/>
                </a:solidFill>
                <a:latin typeface="Nunito Bold"/>
                <a:ea typeface="Nunito Bold"/>
                <a:cs typeface="Nunito Bold"/>
                <a:sym typeface="Nunito Bold"/>
              </a:rPr>
              <a:t>null player</a:t>
            </a:r>
            <a:r>
              <a:rPr lang="en-US" sz="1600" b="true">
                <a:solidFill>
                  <a:srgbClr val="FFFFFF"/>
                </a:solidFill>
                <a:latin typeface="Nunito Semi-Bold"/>
                <a:ea typeface="Nunito Semi-Bold"/>
                <a:cs typeface="Nunito Semi-Bold"/>
                <a:sym typeface="Nunito Semi-Bold"/>
              </a:rPr>
              <a:t> and </a:t>
            </a:r>
            <a:r>
              <a:rPr lang="en-US" sz="1600" b="true">
                <a:solidFill>
                  <a:srgbClr val="FFFFFF"/>
                </a:solidFill>
                <a:latin typeface="Nunito Bold"/>
                <a:ea typeface="Nunito Bold"/>
                <a:cs typeface="Nunito Bold"/>
                <a:sym typeface="Nunito Bold"/>
              </a:rPr>
              <a:t>additivity</a:t>
            </a:r>
            <a:r>
              <a:rPr lang="en-US" sz="1600" b="true">
                <a:solidFill>
                  <a:srgbClr val="FFFFFF"/>
                </a:solidFill>
                <a:latin typeface="Nunito Semi-Bold"/>
                <a:ea typeface="Nunito Semi-Bold"/>
                <a:cs typeface="Nunito Semi-Bold"/>
                <a:sym typeface="Nunito Semi-Bold"/>
              </a:rPr>
              <a:t>.</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[4] Shapley, L. S. A Value for n-Person Games. Contributions to the Theory of Games II, 307–317, Princeton University Press (1953).   [5] Lundberg, S. M. &amp; Lee, S.-I. A Unified Approach to Interpreting Model Predictions (SHAP). NeurIPS 30, 4765–4774 (2017).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Bridge: LightGBM Surrogate + TreeSHAP</a:t>
            </a:r>
          </a:p>
        </p:txBody>
      </p:sp>
      <p:pic>
        <p:nvPicPr>
          <p:cNvPr id="23" name="Picture 22" descr="image.png"/>
          <p:cNvPicPr>
            <a:picLocks noChangeAspect="1"/>
          </p:cNvPicPr>
          <p:nvPr/>
        </p:nvPicPr>
        <p:blipFill>
          <a:blip r:embed="rId3"/>
          <a:stretch>
            <a:fillRect/>
          </a:stretch>
        </p:blipFill>
        <p:spPr>
          <a:xfrm>
            <a:off x="12801592"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455162"/>
            <a:ext cx="2926080" cy="1188720"/>
          </a:xfrm>
          <a:prstGeom prst="roundRect">
            <a:avLst>
              <a:gd name="adj" fmla="val 16923"/>
            </a:avLst>
          </a:prstGeom>
          <a:solidFill>
            <a:srgbClr val="4472C4"/>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K-Means</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cluster labels</a:t>
            </a:r>
          </a:p>
        </p:txBody>
      </p:sp>
      <p:cxnSp>
        <p:nvCxnSpPr>
          <p:cNvPr id="29" name="Connector 28"/>
          <p:cNvCxnSpPr/>
          <p:nvPr/>
        </p:nvCxnSpPr>
        <p:spPr>
          <a:xfrm>
            <a:off x="4027932" y="4049522"/>
            <a:ext cx="1362456" cy="0"/>
          </a:xfrm>
          <a:prstGeom prst="line">
            <a:avLst/>
          </a:prstGeom>
          <a:ln w="31750">
            <a:solidFill>
              <a:srgbClr val="4472C4"/>
            </a:solidFill>
            <a:tailEnd type="triangle" w="med" len="med"/>
          </a:ln>
        </p:spPr>
      </p:cxnSp>
      <p:sp>
        <p:nvSpPr>
          <p:cNvPr id="30" name="Rounded Rectangle 29"/>
          <p:cNvSpPr/>
          <p:nvPr/>
        </p:nvSpPr>
        <p:spPr>
          <a:xfrm>
            <a:off x="5463540" y="3455162"/>
            <a:ext cx="2926080" cy="1188720"/>
          </a:xfrm>
          <a:prstGeom prst="roundRect">
            <a:avLst>
              <a:gd name="adj" fmla="val 16923"/>
            </a:avLst>
          </a:prstGeom>
          <a:solidFill>
            <a:srgbClr val="4472C4"/>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LightGBM</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multiclass surrogate</a:t>
            </a:r>
          </a:p>
        </p:txBody>
      </p:sp>
      <p:cxnSp>
        <p:nvCxnSpPr>
          <p:cNvPr id="31" name="Connector 30"/>
          <p:cNvCxnSpPr/>
          <p:nvPr/>
        </p:nvCxnSpPr>
        <p:spPr>
          <a:xfrm>
            <a:off x="8462772" y="4049522"/>
            <a:ext cx="1362456" cy="0"/>
          </a:xfrm>
          <a:prstGeom prst="line">
            <a:avLst/>
          </a:prstGeom>
          <a:ln w="31750">
            <a:solidFill>
              <a:srgbClr val="4472C4"/>
            </a:solidFill>
            <a:tailEnd type="triangle" w="med" len="med"/>
          </a:ln>
        </p:spPr>
      </p:cxnSp>
      <p:sp>
        <p:nvSpPr>
          <p:cNvPr id="32" name="Rounded Rectangle 31"/>
          <p:cNvSpPr/>
          <p:nvPr/>
        </p:nvSpPr>
        <p:spPr>
          <a:xfrm>
            <a:off x="9898380" y="3455162"/>
            <a:ext cx="2926080" cy="1188720"/>
          </a:xfrm>
          <a:prstGeom prst="roundRect">
            <a:avLst>
              <a:gd name="adj" fmla="val 16923"/>
            </a:avLst>
          </a:prstGeom>
          <a:solidFill>
            <a:srgbClr val="111111"/>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TreeSHAP</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exact attribution</a:t>
            </a:r>
          </a:p>
        </p:txBody>
      </p:sp>
      <p:cxnSp>
        <p:nvCxnSpPr>
          <p:cNvPr id="33" name="Connector 32"/>
          <p:cNvCxnSpPr/>
          <p:nvPr/>
        </p:nvCxnSpPr>
        <p:spPr>
          <a:xfrm>
            <a:off x="12897612" y="4049522"/>
            <a:ext cx="1362456" cy="0"/>
          </a:xfrm>
          <a:prstGeom prst="line">
            <a:avLst/>
          </a:prstGeom>
          <a:ln w="31750">
            <a:solidFill>
              <a:srgbClr val="4472C4"/>
            </a:solidFill>
            <a:tailEnd type="triangle" w="med" len="med"/>
          </a:ln>
        </p:spPr>
      </p:cxnSp>
      <p:sp>
        <p:nvSpPr>
          <p:cNvPr id="34" name="Rounded Rectangle 33"/>
          <p:cNvSpPr/>
          <p:nvPr/>
        </p:nvSpPr>
        <p:spPr>
          <a:xfrm>
            <a:off x="14333220" y="3455162"/>
            <a:ext cx="2926080" cy="1188720"/>
          </a:xfrm>
          <a:prstGeom prst="roundRect">
            <a:avLst>
              <a:gd name="adj" fmla="val 16923"/>
            </a:avLst>
          </a:prstGeom>
          <a:solidFill>
            <a:srgbClr val="1F7A8C"/>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Explanation</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original feature space</a:t>
            </a:r>
          </a:p>
        </p:txBody>
      </p:sp>
      <p:sp>
        <p:nvSpPr>
          <p:cNvPr id="35" name="Rounded Rectangle 34"/>
          <p:cNvSpPr/>
          <p:nvPr/>
        </p:nvSpPr>
        <p:spPr>
          <a:xfrm>
            <a:off x="1028700" y="5283962"/>
            <a:ext cx="7932420" cy="4070350"/>
          </a:xfrm>
          <a:prstGeom prst="roundRect">
            <a:avLst>
              <a:gd name="adj" fmla="val 7638"/>
            </a:avLst>
          </a:prstGeom>
          <a:solidFill>
            <a:srgbClr val="4472C4"/>
          </a:solidFill>
          <a:ln>
            <a:noFill/>
          </a:ln>
        </p:spPr>
        <p:txBody>
          <a:bodyPr anchor="ctr" rtlCol="false" lIns="0" tIns="0" rIns="0" bIns="0" wrap="square"/>
          <a:lstStyle/>
          <a:p>
            <a:endParaRPr lang="en-US" sz="1800"/>
          </a:p>
        </p:txBody>
      </p:sp>
      <p:sp>
        <p:nvSpPr>
          <p:cNvPr id="36" name="Rounded Rectangle 35"/>
          <p:cNvSpPr/>
          <p:nvPr/>
        </p:nvSpPr>
        <p:spPr>
          <a:xfrm>
            <a:off x="1485900" y="5046218"/>
            <a:ext cx="1292063"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How</a:t>
            </a:r>
          </a:p>
        </p:txBody>
      </p:sp>
      <p:sp>
        <p:nvSpPr>
          <p:cNvPr id="37" name="TextBox 36"/>
          <p:cNvSpPr txBox="1"/>
          <p:nvPr/>
        </p:nvSpPr>
        <p:spPr>
          <a:xfrm>
            <a:off x="1531620" y="5924042"/>
            <a:ext cx="6972300" cy="3155950"/>
          </a:xfrm>
          <a:prstGeom prst="rect">
            <a:avLst/>
          </a:prstGeom>
          <a:noFill/>
        </p:spPr>
        <p:txBody>
          <a:bodyPr anchor="t" rtlCol="false" lIns="0" tIns="0" rIns="0" bIns="0" wrap="square"/>
          <a:lstStyle/>
          <a:p>
            <a:pPr algn="l" marL="274320" indent="-274320">
              <a:lnSpc>
                <a:spcPts val="2800"/>
              </a:lnSpc>
              <a:spcBef>
                <a:spcPts val="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Once K-Means produces cluster labels, train a </a:t>
            </a:r>
            <a:r>
              <a:rPr lang="en-US" sz="2000" b="true">
                <a:solidFill>
                  <a:srgbClr val="FFFFFF"/>
                </a:solidFill>
                <a:latin typeface="Nunito Bold"/>
                <a:ea typeface="Nunito Bold"/>
                <a:cs typeface="Nunito Bold"/>
                <a:sym typeface="Nunito Bold"/>
              </a:rPr>
              <a:t>LightGBM multiclass surrogate</a:t>
            </a:r>
            <a:r>
              <a:rPr lang="en-US" sz="2000" b="true">
                <a:solidFill>
                  <a:srgbClr val="FFFFFF"/>
                </a:solidFill>
                <a:latin typeface="Nunito Semi-Bold"/>
                <a:ea typeface="Nunito Semi-Bold"/>
                <a:cs typeface="Nunito Semi-Bold"/>
                <a:sym typeface="Nunito Semi-Bold"/>
              </a:rPr>
              <a:t> to predict them from the original features.</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Apply </a:t>
            </a:r>
            <a:r>
              <a:rPr lang="en-US" sz="2000" b="true">
                <a:solidFill>
                  <a:srgbClr val="FFFFFF"/>
                </a:solidFill>
                <a:latin typeface="Nunito Bold"/>
                <a:ea typeface="Nunito Bold"/>
                <a:cs typeface="Nunito Bold"/>
                <a:sym typeface="Nunito Bold"/>
              </a:rPr>
              <a:t>TreeSHAP</a:t>
            </a:r>
            <a:r>
              <a:rPr lang="en-US" sz="2000" b="true">
                <a:solidFill>
                  <a:srgbClr val="FFFFFF"/>
                </a:solidFill>
                <a:latin typeface="Nunito Semi-Bold"/>
                <a:ea typeface="Nunito Semi-Bold"/>
                <a:cs typeface="Nunito Semi-Bold"/>
                <a:sym typeface="Nunito Semi-Bold"/>
              </a:rPr>
              <a:t> to the surrogate: fast, exact tree-based attribution in the original feature space.</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Aggregate into </a:t>
            </a:r>
            <a:r>
              <a:rPr lang="en-US" sz="2000" b="true">
                <a:solidFill>
                  <a:srgbClr val="FFFFFF"/>
                </a:solidFill>
                <a:latin typeface="Nunito Bold"/>
                <a:ea typeface="Nunito Bold"/>
                <a:cs typeface="Nunito Bold"/>
                <a:sym typeface="Nunito Bold"/>
              </a:rPr>
              <a:t>global importance</a:t>
            </a:r>
            <a:r>
              <a:rPr lang="en-US" sz="2000" b="true">
                <a:solidFill>
                  <a:srgbClr val="FFFFFF"/>
                </a:solidFill>
                <a:latin typeface="Nunito Semi-Bold"/>
                <a:ea typeface="Nunito Semi-Bold"/>
                <a:cs typeface="Nunito Semi-Bold"/>
                <a:sym typeface="Nunito Semi-Bold"/>
              </a:rPr>
              <a:t>, </a:t>
            </a:r>
            <a:r>
              <a:rPr lang="en-US" sz="2000" b="true">
                <a:solidFill>
                  <a:srgbClr val="FFFFFF"/>
                </a:solidFill>
                <a:latin typeface="Nunito Bold"/>
                <a:ea typeface="Nunito Bold"/>
                <a:cs typeface="Nunito Bold"/>
                <a:sym typeface="Nunito Bold"/>
              </a:rPr>
              <a:t>cluster-specific profiles</a:t>
            </a:r>
            <a:r>
              <a:rPr lang="en-US" sz="2000" b="true">
                <a:solidFill>
                  <a:srgbClr val="FFFFFF"/>
                </a:solidFill>
                <a:latin typeface="Nunito Semi-Bold"/>
                <a:ea typeface="Nunito Semi-Bold"/>
                <a:cs typeface="Nunito Semi-Bold"/>
                <a:sym typeface="Nunito Semi-Bold"/>
              </a:rPr>
              <a:t> and </a:t>
            </a:r>
            <a:r>
              <a:rPr lang="en-US" sz="2000" b="true">
                <a:solidFill>
                  <a:srgbClr val="FFFFFF"/>
                </a:solidFill>
                <a:latin typeface="Nunito Bold"/>
                <a:ea typeface="Nunito Bold"/>
                <a:cs typeface="Nunito Bold"/>
                <a:sym typeface="Nunito Bold"/>
              </a:rPr>
              <a:t>local force plots</a:t>
            </a:r>
            <a:r>
              <a:rPr lang="en-US" sz="2000" b="true">
                <a:solidFill>
                  <a:srgbClr val="FFFFFF"/>
                </a:solidFill>
                <a:latin typeface="Nunito Semi-Bold"/>
                <a:ea typeface="Nunito Semi-Bold"/>
                <a:cs typeface="Nunito Semi-Bold"/>
                <a:sym typeface="Nunito Semi-Bold"/>
              </a:rPr>
              <a:t>.</a:t>
            </a:r>
          </a:p>
        </p:txBody>
      </p:sp>
      <p:sp>
        <p:nvSpPr>
          <p:cNvPr id="38" name="Rounded Rectangle 37"/>
          <p:cNvSpPr/>
          <p:nvPr/>
        </p:nvSpPr>
        <p:spPr>
          <a:xfrm>
            <a:off x="9326880" y="5283962"/>
            <a:ext cx="7932420" cy="4070350"/>
          </a:xfrm>
          <a:prstGeom prst="roundRect">
            <a:avLst>
              <a:gd name="adj" fmla="val 7638"/>
            </a:avLst>
          </a:prstGeom>
          <a:solidFill>
            <a:srgbClr val="E7EAF3"/>
          </a:solidFill>
          <a:ln>
            <a:noFill/>
          </a:ln>
        </p:spPr>
        <p:txBody>
          <a:bodyPr anchor="ctr" rtlCol="false" lIns="0" tIns="0" rIns="0" bIns="0" wrap="square"/>
          <a:lstStyle/>
          <a:p>
            <a:endParaRPr lang="en-US" sz="1800"/>
          </a:p>
        </p:txBody>
      </p:sp>
      <p:sp>
        <p:nvSpPr>
          <p:cNvPr id="39" name="Rounded Rectangle 38"/>
          <p:cNvSpPr/>
          <p:nvPr/>
        </p:nvSpPr>
        <p:spPr>
          <a:xfrm>
            <a:off x="9784080" y="5046218"/>
            <a:ext cx="1298395"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Why</a:t>
            </a:r>
          </a:p>
        </p:txBody>
      </p:sp>
      <p:sp>
        <p:nvSpPr>
          <p:cNvPr id="40" name="TextBox 39"/>
          <p:cNvSpPr txBox="1"/>
          <p:nvPr/>
        </p:nvSpPr>
        <p:spPr>
          <a:xfrm>
            <a:off x="9829800" y="5924042"/>
            <a:ext cx="6972300" cy="3155950"/>
          </a:xfrm>
          <a:prstGeom prst="rect">
            <a:avLst/>
          </a:prstGeom>
          <a:noFill/>
        </p:spPr>
        <p:txBody>
          <a:bodyPr anchor="t" rtlCol="false" lIns="0" tIns="0" rIns="0" bIns="0" wrap="square"/>
          <a:lstStyle/>
          <a:p>
            <a:pPr algn="l" marL="274320" indent="-274320">
              <a:lnSpc>
                <a:spcPts val="2548"/>
              </a:lnSpc>
              <a:spcBef>
                <a:spcPts val="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Direct TreeSHAP on K-Means is impossible: it explains </a:t>
            </a:r>
            <a:r>
              <a:rPr lang="en-US" sz="1820" b="true">
                <a:solidFill>
                  <a:srgbClr val="111111"/>
                </a:solidFill>
                <a:latin typeface="Nunito Bold"/>
                <a:ea typeface="Nunito Bold"/>
                <a:cs typeface="Nunito Bold"/>
                <a:sym typeface="Nunito Bold"/>
              </a:rPr>
              <a:t>tree models, not centroids</a:t>
            </a:r>
            <a:r>
              <a:rPr lang="en-US" sz="1820" b="true">
                <a:solidFill>
                  <a:srgbClr val="111111"/>
                </a:solidFill>
                <a:latin typeface="Nunito Semi-Bold"/>
                <a:ea typeface="Nunito Semi-Bold"/>
                <a:cs typeface="Nunito Semi-Bold"/>
                <a:sym typeface="Nunito Semi-Bold"/>
              </a:rPr>
              <a:t>.</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Explaining the PCA representation would move attribution away from the interpretable variables.</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The surrogate keeps the </a:t>
            </a:r>
            <a:r>
              <a:rPr lang="en-US" sz="1820" b="true">
                <a:solidFill>
                  <a:srgbClr val="111111"/>
                </a:solidFill>
                <a:latin typeface="Nunito Bold"/>
                <a:ea typeface="Nunito Bold"/>
                <a:cs typeface="Nunito Bold"/>
                <a:sym typeface="Nunito Bold"/>
              </a:rPr>
              <a:t>chemistry / pollution terms</a:t>
            </a:r>
            <a:r>
              <a:rPr lang="en-US" sz="1820" b="true">
                <a:solidFill>
                  <a:srgbClr val="111111"/>
                </a:solidFill>
                <a:latin typeface="Nunito Semi-Bold"/>
                <a:ea typeface="Nunito Semi-Bold"/>
                <a:cs typeface="Nunito Semi-Bold"/>
                <a:sym typeface="Nunito Semi-Bold"/>
              </a:rPr>
              <a:t> that make the analysis actionable.</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Bold"/>
                <a:ea typeface="Nunito Bold"/>
                <a:cs typeface="Nunito Bold"/>
                <a:sym typeface="Nunito Bold"/>
              </a:rPr>
              <a:t>Validity condition:</a:t>
            </a:r>
            <a:r>
              <a:rPr lang="en-US" sz="1820" b="true">
                <a:solidFill>
                  <a:srgbClr val="111111"/>
                </a:solidFill>
                <a:latin typeface="Nunito Semi-Bold"/>
                <a:ea typeface="Nunito Semi-Bold"/>
                <a:cs typeface="Nunito Semi-Bold"/>
                <a:sym typeface="Nunito Semi-Bold"/>
              </a:rPr>
              <a:t> surrogate fidelity is high, with </a:t>
            </a:r>
            <a:r>
              <a:rPr lang="en-US" sz="1820" b="true">
                <a:solidFill>
                  <a:srgbClr val="111111"/>
                </a:solidFill>
                <a:latin typeface="Nunito Bold"/>
                <a:ea typeface="Nunito Bold"/>
                <a:cs typeface="Nunito Bold"/>
                <a:sym typeface="Nunito Bold"/>
              </a:rPr>
              <a:t>macro-F1 ≈ 0.82</a:t>
            </a:r>
            <a:r>
              <a:rPr lang="en-US" sz="1820" b="true">
                <a:solidFill>
                  <a:srgbClr val="111111"/>
                </a:solidFill>
                <a:latin typeface="Nunito Semi-Bold"/>
                <a:ea typeface="Nunito Semi-Bold"/>
                <a:cs typeface="Nunito Semi-Bold"/>
                <a:sym typeface="Nunito Semi-Bold"/>
              </a:rPr>
              <a:t> as the floor.</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30</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pic>
        <p:nvPicPr>
          <p:cNvPr id="25" name="Picture 24" descr="image.png"/>
          <p:cNvPicPr>
            <a:picLocks noChangeAspect="1"/>
          </p:cNvPicPr>
          <p:nvPr/>
        </p:nvPicPr>
        <p:blipFill>
          <a:blip r:embed="rId3"/>
          <a:stretch>
            <a:fillRect/>
          </a:stretch>
        </p:blipFill>
        <p:spPr>
          <a:xfrm>
            <a:off x="6376338" y="1673352"/>
            <a:ext cx="457200" cy="250983"/>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graphicFrame>
        <p:nvGraphicFramePr>
          <p:cNvPr id="30" name="Table 29"/>
          <p:cNvGraphicFramePr>
            <a:graphicFrameLocks noGrp="1"/>
          </p:cNvGraphicFramePr>
          <p:nvPr/>
        </p:nvGraphicFramePr>
        <p:xfrm>
          <a:off x="1028700" y="3363722"/>
          <a:ext cx="9966960" cy="4617212"/>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Wine Quality, 4,898 samples × 11 standardised chemical features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Clustering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K-Means++ on the PCA-stabilised data; k scanned over 2 … 10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Choice of 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Elbow + Silhouette + Davies–Bouldin, then an interpretability check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Surrogate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LightGBM multiclass, five-fold cross-validation, macro-F1 as fidelity score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Exact TreeSHAP on the surrogate, in the original 11-feature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Outputs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Global mean |SHAP| ranking, per-cluster profiles, local force plots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Comparison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LIME surrogate, as the theoretical comparator (Ch. 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1" name="Rounded Rectangle 30"/>
          <p:cNvSpPr/>
          <p:nvPr/>
        </p:nvSpPr>
        <p:spPr>
          <a:xfrm>
            <a:off x="11452860" y="3237229"/>
            <a:ext cx="5806440" cy="5670550"/>
          </a:xfrm>
          <a:prstGeom prst="roundRect">
            <a:avLst>
              <a:gd name="adj" fmla="val 5482"/>
            </a:avLst>
          </a:prstGeom>
          <a:solidFill>
            <a:srgbClr val="4472C4"/>
          </a:solidFill>
          <a:ln>
            <a:noFill/>
          </a:ln>
        </p:spPr>
        <p:txBody>
          <a:bodyPr anchor="ctr" rtlCol="false" lIns="0" tIns="0" rIns="0" bIns="0" wrap="square"/>
          <a:lstStyle/>
          <a:p>
            <a:endParaRPr lang="en-US" sz="1800"/>
          </a:p>
        </p:txBody>
      </p:sp>
      <p:sp>
        <p:nvSpPr>
          <p:cNvPr id="32" name="Rounded Rectangle 31"/>
          <p:cNvSpPr/>
          <p:nvPr/>
        </p:nvSpPr>
        <p:spPr>
          <a:xfrm>
            <a:off x="11910060" y="2999486"/>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What counts as success</a:t>
            </a:r>
          </a:p>
        </p:txBody>
      </p:sp>
      <p:sp>
        <p:nvSpPr>
          <p:cNvPr id="33" name="TextBox 32"/>
          <p:cNvSpPr txBox="1"/>
          <p:nvPr/>
        </p:nvSpPr>
        <p:spPr>
          <a:xfrm>
            <a:off x="11910060" y="4151630"/>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Fidelity floor met:</a:t>
            </a:r>
            <a:r>
              <a:rPr lang="en-US" sz="1900" b="true">
                <a:solidFill>
                  <a:srgbClr val="FFFFFF"/>
                </a:solidFill>
                <a:latin typeface="Nunito Semi-Bold"/>
                <a:ea typeface="Nunito Semi-Bold"/>
                <a:cs typeface="Nunito Semi-Bold"/>
                <a:sym typeface="Nunito Semi-Bold"/>
              </a:rPr>
              <a:t> macro-F1 ≈ 0.82 or higher, otherwise the explanation is not trusted.</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Global ranking is chemically meaningful:</a:t>
            </a:r>
            <a:r>
              <a:rPr lang="en-US" sz="1900" b="true">
                <a:solidFill>
                  <a:srgbClr val="FFFFFF"/>
                </a:solidFill>
                <a:latin typeface="Nunito Semi-Bold"/>
                <a:ea typeface="Nunito Semi-Bold"/>
                <a:cs typeface="Nunito Semi-Bold"/>
                <a:sym typeface="Nunito Semi-Bold"/>
              </a:rPr>
              <a:t> the top features are ones an expert would name.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Clusters have distinct signatures:</a:t>
            </a:r>
            <a:r>
              <a:rPr lang="en-US" sz="1900" b="true">
                <a:solidFill>
                  <a:srgbClr val="FFFFFF"/>
                </a:solidFill>
                <a:latin typeface="Nunito Semi-Bold"/>
                <a:ea typeface="Nunito Semi-Bold"/>
                <a:cs typeface="Nunito Semi-Bold"/>
                <a:sym typeface="Nunito Semi-Bold"/>
              </a:rPr>
              <a:t> the same features, different weights per cluster.</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Shapley beats LIME</a:t>
            </a:r>
            <a:r>
              <a:rPr lang="en-US" sz="1900" b="true">
                <a:solidFill>
                  <a:srgbClr val="FFFFFF"/>
                </a:solidFill>
                <a:latin typeface="Nunito Semi-Bold"/>
                <a:ea typeface="Nunito Semi-Bold"/>
                <a:cs typeface="Nunito Semi-Bold"/>
                <a:sym typeface="Nunito Semi-Bold"/>
              </a:rPr>
              <a:t> on stability and cross-cluster comparison.</a:t>
            </a:r>
          </a:p>
        </p:txBody>
      </p:sp>
      <p:sp>
        <p:nvSpPr>
          <p:cNvPr id="5" name="Rounded Rectangle 4"/>
          <p:cNvSpPr/>
          <p:nvPr/>
        </p:nvSpPr>
        <p:spPr>
          <a:xfrm>
            <a:off x="1024128" y="8898636"/>
            <a:ext cx="16239744" cy="7757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8935212"/>
            <a:ext cx="16239744" cy="7025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[6] Lundberg, S. M. et al. From Local Explanations to Global Understanding with Explainable AI for Trees (TreeSHAP). Nature Machine Intelligence 2, 56–67 (2020).   [7] Ribeiro, M. T., Singh, S. &amp; Guestrin, C. "Why Should I Trust You?": Explaining the Predictions of Any Classifier (LIME). KDD, 1135–1144 (2016).   [17] Rousseeuw, P. J. Silhouettes: A Graphical Aid to the Interpretation and Validation of Cluster Analysis. J. Comput. Appl. Math. 20, 53–65 (1987).</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Choosing k: Interpretability over Geometry</a:t>
            </a:r>
          </a:p>
        </p:txBody>
      </p:sp>
      <p:pic>
        <p:nvPicPr>
          <p:cNvPr id="23" name="Picture 22" descr="image.png"/>
          <p:cNvPicPr>
            <a:picLocks noChangeAspect="1"/>
          </p:cNvPicPr>
          <p:nvPr/>
        </p:nvPicPr>
        <p:blipFill>
          <a:blip r:embed="rId3"/>
          <a:stretch>
            <a:fillRect/>
          </a:stretch>
        </p:blipFill>
        <p:spPr>
          <a:xfrm>
            <a:off x="12331918"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7863840" cy="594487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Multi-criteria evaluation across </a:t>
            </a:r>
            <a:r>
              <a:rPr lang="en-US" sz="2100" b="true">
                <a:solidFill>
                  <a:srgbClr val="111111"/>
                </a:solidFill>
                <a:latin typeface="Nunito Bold"/>
                <a:ea typeface="Nunito Bold"/>
                <a:cs typeface="Nunito Bold"/>
                <a:sym typeface="Nunito Bold"/>
              </a:rPr>
              <a:t>k </a:t>
            </a:r>
            <a:r>
              <a:rPr lang="en-US" sz="2100" b="true">
                <a:solidFill>
                  <a:srgbClr val="111111"/>
                </a:solidFill>
                <a:latin typeface="Cambria Math"/>
                <a:ea typeface="Cambria Math"/>
                <a:cs typeface="Cambria Math"/>
                <a:sym typeface="Cambria Math"/>
              </a:rPr>
              <a:t>∈ </a:t>
            </a:r>
            <a:r>
              <a:rPr lang="en-US" sz="2100" b="true">
                <a:solidFill>
                  <a:srgbClr val="111111"/>
                </a:solidFill>
                <a:latin typeface="Nunito Bold"/>
                <a:ea typeface="Nunito Bold"/>
                <a:cs typeface="Nunito Bold"/>
                <a:sym typeface="Nunito Bold"/>
              </a:rPr>
              <a:t>{2 … 10}</a:t>
            </a:r>
            <a:r>
              <a:rPr lang="en-US" sz="2100" b="true">
                <a:solidFill>
                  <a:srgbClr val="111111"/>
                </a:solidFill>
                <a:latin typeface="Nunito Semi-Bold"/>
                <a:ea typeface="Nunito Semi-Bold"/>
                <a:cs typeface="Nunito Semi-Bold"/>
                <a:sym typeface="Nunito Semi-Bold"/>
              </a:rPr>
              <a:t> using elbow, Silhouette and Davies–Bouldin.</a:t>
            </a:r>
          </a:p>
          <a:p>
            <a:pPr algn="l" marL="274320" indent="-274320">
              <a:lnSpc>
                <a:spcPts val="3108"/>
              </a:lnSpc>
              <a:spcBef>
                <a:spcPts val="10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We select </a:t>
            </a:r>
            <a:r>
              <a:rPr lang="en-US" sz="2100" b="true">
                <a:solidFill>
                  <a:srgbClr val="111111"/>
                </a:solidFill>
                <a:latin typeface="Nunito Bold"/>
                <a:ea typeface="Nunito Bold"/>
                <a:cs typeface="Nunito Bold"/>
                <a:sym typeface="Nunito Bold"/>
              </a:rPr>
              <a:t>k</a:t>
            </a:r>
            <a:r>
              <a:rPr lang="en-US" sz="2100" b="true" baseline="30000">
                <a:solidFill>
                  <a:srgbClr val="111111"/>
                </a:solidFill>
                <a:latin typeface="Nunito Bold"/>
                <a:ea typeface="Nunito Bold"/>
                <a:cs typeface="Nunito Bold"/>
                <a:sym typeface="Nunito Bold"/>
              </a:rPr>
              <a:t>*</a:t>
            </a:r>
            <a:r>
              <a:rPr lang="en-US" sz="2100" b="true">
                <a:solidFill>
                  <a:srgbClr val="111111"/>
                </a:solidFill>
                <a:latin typeface="Nunito Bold"/>
                <a:ea typeface="Nunito Bold"/>
                <a:cs typeface="Nunito Bold"/>
                <a:sym typeface="Nunito Bold"/>
              </a:rPr>
              <a:t> = 3, even though it is NOT the best geometry</a:t>
            </a:r>
            <a:r>
              <a:rPr lang="en-US" sz="2100" b="true">
                <a:solidFill>
                  <a:srgbClr val="111111"/>
                </a:solidFill>
                <a:latin typeface="Nunito Semi-Bold"/>
                <a:ea typeface="Nunito Semi-Bold"/>
                <a:cs typeface="Nunito Semi-Bold"/>
                <a:sym typeface="Nunito Semi-Bold"/>
              </a:rPr>
              <a:t>.</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k = 2: Silhouette 0.214, Davies–Bouldin 1.775 (better separation).</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k = 3: Silhouette 0.144, Davies–Bouldin 2.097 (weaker separation).</a:t>
            </a:r>
          </a:p>
          <a:p>
            <a:pPr algn="l" marL="274320" indent="-274320">
              <a:lnSpc>
                <a:spcPts val="2940"/>
              </a:lnSpc>
              <a:spcBef>
                <a:spcPts val="10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Why:</a:t>
            </a:r>
            <a:r>
              <a:rPr lang="en-US" sz="2100" b="true">
                <a:solidFill>
                  <a:srgbClr val="111111"/>
                </a:solidFill>
                <a:latin typeface="Nunito Semi-Bold"/>
                <a:ea typeface="Nunito Semi-Bold"/>
                <a:cs typeface="Nunito Semi-Bold"/>
                <a:sym typeface="Nunito Semi-Bold"/>
              </a:rPr>
              <a:t> three clusters give a richer, more meaningful wine partition </a:t>
            </a:r>
            <a:r>
              <a:rPr lang="en-US" sz="2100" b="true">
                <a:solidFill>
                  <a:srgbClr val="111111"/>
                </a:solidFill>
                <a:latin typeface="Calibri"/>
                <a:ea typeface="Calibri"/>
                <a:cs typeface="Calibri"/>
                <a:sym typeface="Calibri"/>
              </a:rPr>
              <a:t>→ </a:t>
            </a:r>
            <a:r>
              <a:rPr lang="en-US" sz="2100" b="true">
                <a:solidFill>
                  <a:srgbClr val="111111"/>
                </a:solidFill>
                <a:latin typeface="Nunito Bold"/>
                <a:ea typeface="Nunito Bold"/>
                <a:cs typeface="Nunito Bold"/>
                <a:sym typeface="Nunito Bold"/>
              </a:rPr>
              <a:t>more actionable</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0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Note: the higher Silhouette ≈ 0.63 belongs to Beijing (C2), not to this wine partition.</a:t>
            </a:r>
          </a:p>
        </p:txBody>
      </p:sp>
      <p:graphicFrame>
        <p:nvGraphicFramePr>
          <p:cNvPr id="29" name="Table 28"/>
          <p:cNvGraphicFramePr>
            <a:graphicFrameLocks noGrp="1"/>
          </p:cNvGraphicFramePr>
          <p:nvPr/>
        </p:nvGraphicFramePr>
        <p:xfrm>
          <a:off x="9441180" y="3363722"/>
          <a:ext cx="7818120" cy="2284984"/>
        </p:xfrm>
        <a:graphic>
          <a:graphicData uri="http://schemas.openxmlformats.org/drawingml/2006/table">
            <a:tbl>
              <a:tblPr firstRow="0" bandRow="0" firstCol="0" lastRow="0" lastCol="0" bandCol="0">
                <a:tableStyleId>{2D5ABB26-0587-4C30-8999-92F81FD0307C}</a:tableStyleId>
              </a:tblPr>
              <a:tblGrid>
                <a:gridCol w="977265"/>
                <a:gridCol w="1563624"/>
                <a:gridCol w="1954530"/>
                <a:gridCol w="3322701"/>
              </a:tblGrid>
              <a:tr h="776732">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k</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Silhouette </a:t>
                      </a:r>
                      <a:r>
                        <a:rPr lang="en-US" sz="1700" b="true">
                          <a:solidFill>
                            <a:srgbClr val="FFFFFF"/>
                          </a:solidFill>
                          <a:latin typeface="Calibri"/>
                          <a:ea typeface="Calibri"/>
                          <a:cs typeface="Calibri"/>
                          <a:sym typeface="Calibri"/>
                        </a:rPr>
                        <a:t>↑</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Davies–Bouldin </a:t>
                      </a:r>
                      <a:r>
                        <a:rPr lang="en-US" sz="1700" b="true">
                          <a:solidFill>
                            <a:srgbClr val="FFFFFF"/>
                          </a:solidFill>
                          <a:latin typeface="Calibri"/>
                          <a:ea typeface="Calibri"/>
                          <a:cs typeface="Calibri"/>
                          <a:sym typeface="Calibri"/>
                        </a:rPr>
                        <a:t>↓</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Reading</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6732">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0.214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1.775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best geometry, coarse meaning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31520">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3 </a:t>
                      </a:r>
                      <a:r>
                        <a:rPr lang="en-US" sz="1700" b="true">
                          <a:solidFill>
                            <a:srgbClr val="111111"/>
                          </a:solidFill>
                          <a:latin typeface="Cambria Math"/>
                          <a:ea typeface="Cambria Math"/>
                          <a:cs typeface="Cambria Math"/>
                          <a:sym typeface="Cambria Math"/>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0.144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2.097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richer wine partition · selected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0" name="Rounded Rectangle 29"/>
          <p:cNvSpPr/>
          <p:nvPr/>
        </p:nvSpPr>
        <p:spPr>
          <a:xfrm>
            <a:off x="9441180" y="6014466"/>
            <a:ext cx="3771900" cy="3294126"/>
          </a:xfrm>
          <a:prstGeom prst="roundRect">
            <a:avLst>
              <a:gd name="adj" fmla="val 8327"/>
            </a:avLst>
          </a:prstGeom>
          <a:solidFill>
            <a:srgbClr val="4472C4"/>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k</a:t>
            </a:r>
            <a:r>
              <a:rPr lang="en-US" sz="4000" b="true" baseline="30000">
                <a:solidFill>
                  <a:srgbClr val="ECC665"/>
                </a:solidFill>
                <a:latin typeface="Nunito Ultra-Bold"/>
                <a:ea typeface="Nunito Ultra-Bold"/>
                <a:cs typeface="Nunito Ultra-Bold"/>
                <a:sym typeface="Nunito Ultra-Bold"/>
              </a:rPr>
              <a:t>*</a:t>
            </a:r>
            <a:r>
              <a:rPr lang="en-US" sz="4000" b="true">
                <a:solidFill>
                  <a:srgbClr val="ECC665"/>
                </a:solidFill>
                <a:latin typeface="Nunito Ultra-Bold"/>
                <a:ea typeface="Nunito Ultra-Bold"/>
                <a:cs typeface="Nunito Ultra-Bold"/>
                <a:sym typeface="Nunito Ultra-Bold"/>
              </a:rPr>
              <a:t> = 3</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chosen on </a:t>
            </a:r>
            <a:r>
              <a:rPr lang="en-US" sz="1700" b="true">
                <a:solidFill>
                  <a:srgbClr val="FFFFFF"/>
                </a:solidFill>
                <a:latin typeface="Nunito Bold"/>
                <a:ea typeface="Nunito Bold"/>
                <a:cs typeface="Nunito Bold"/>
                <a:sym typeface="Nunito Bold"/>
              </a:rPr>
              <a:t>interpretability</a:t>
            </a:r>
            <a:r>
              <a:rPr lang="en-US" sz="1700" b="true">
                <a:solidFill>
                  <a:srgbClr val="FFFFFF"/>
                </a:solidFill>
                <a:latin typeface="Nunito Semi-Bold"/>
                <a:ea typeface="Nunito Semi-Bold"/>
                <a:cs typeface="Nunito Semi-Bold"/>
                <a:sym typeface="Nunito Semi-Bold"/>
              </a:rPr>
              <a:t> grounds</a:t>
            </a:r>
          </a:p>
        </p:txBody>
      </p:sp>
      <p:sp>
        <p:nvSpPr>
          <p:cNvPr id="31" name="Rounded Rectangle 30"/>
          <p:cNvSpPr/>
          <p:nvPr/>
        </p:nvSpPr>
        <p:spPr>
          <a:xfrm>
            <a:off x="13487400" y="6014466"/>
            <a:ext cx="3771900" cy="3294126"/>
          </a:xfrm>
          <a:prstGeom prst="roundRect">
            <a:avLst>
              <a:gd name="adj" fmla="val 8327"/>
            </a:avLst>
          </a:prstGeom>
          <a:solidFill>
            <a:srgbClr val="1F7A8C"/>
          </a:solidFill>
          <a:ln>
            <a:noFill/>
          </a:ln>
        </p:spPr>
        <p:txBody>
          <a:bodyPr anchor="ctr" rtlCol="false" lIns="137160" tIns="91440" rIns="137160" bIns="91440" wrap="square"/>
          <a:lstStyle/>
          <a:p>
            <a:pPr algn="ctr">
              <a:lnSpc>
                <a:spcPts val="4400"/>
              </a:lnSpc>
              <a:spcBef>
                <a:spcPts val="0"/>
              </a:spcBef>
              <a:buNone/>
            </a:pPr>
            <a:r>
              <a:rPr lang="en-US" sz="4000" b="true">
                <a:solidFill>
                  <a:srgbClr val="FFFFFF"/>
                </a:solidFill>
                <a:latin typeface="Nunito Ultra-Bold"/>
                <a:ea typeface="Nunito Ultra-Bold"/>
                <a:cs typeface="Nunito Ultra-Bold"/>
                <a:sym typeface="Nunito Ultra-Bold"/>
              </a:rPr>
              <a:t>0.82</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surrogate </a:t>
            </a:r>
            <a:r>
              <a:rPr lang="en-US" sz="1700" b="true">
                <a:solidFill>
                  <a:srgbClr val="FFFFFF"/>
                </a:solidFill>
                <a:latin typeface="Nunito Bold"/>
                <a:ea typeface="Nunito Bold"/>
                <a:cs typeface="Nunito Bold"/>
                <a:sym typeface="Nunito Bold"/>
              </a:rPr>
              <a:t>macro-F1</a:t>
            </a:r>
            <a:r>
              <a:rPr lang="en-US" sz="1700" b="true">
                <a:solidFill>
                  <a:srgbClr val="FFFFFF"/>
                </a:solidFill>
                <a:latin typeface="Nunito Semi-Bold"/>
                <a:ea typeface="Nunito Semi-Bold"/>
                <a:cs typeface="Nunito Semi-Bold"/>
                <a:sym typeface="Nunito Semi-Bold"/>
              </a:rPr>
              <a:t> · fidelity floor met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32</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Global SHAP Ranking: Wine Quality</a:t>
            </a:r>
          </a:p>
        </p:txBody>
      </p:sp>
      <p:pic>
        <p:nvPicPr>
          <p:cNvPr id="25" name="Picture 24" descr="image.png"/>
          <p:cNvPicPr>
            <a:picLocks noChangeAspect="1"/>
          </p:cNvPicPr>
          <p:nvPr/>
        </p:nvPicPr>
        <p:blipFill>
          <a:blip r:embed="rId3"/>
          <a:stretch>
            <a:fillRect/>
          </a:stretch>
        </p:blipFill>
        <p:spPr>
          <a:xfrm>
            <a:off x="10549542" y="1673352"/>
            <a:ext cx="457200" cy="452148"/>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270250"/>
            <a:ext cx="6583680" cy="5853430"/>
          </a:xfrm>
          <a:prstGeom prst="rect">
            <a:avLst/>
          </a:prstGeom>
          <a:noFill/>
        </p:spPr>
        <p:txBody>
          <a:bodyPr anchor="t" rtlCol="false" lIns="0" tIns="0" rIns="0" bIns="0" wrap="square"/>
          <a:lstStyle/>
          <a:p>
            <a:pPr algn="l">
              <a:lnSpc>
                <a:spcPts val="2750"/>
              </a:lnSpc>
              <a:spcBef>
                <a:spcPts val="0"/>
              </a:spcBef>
              <a:buNone/>
            </a:pPr>
            <a:r>
              <a:rPr lang="en-US" sz="2200" b="true">
                <a:solidFill>
                  <a:srgbClr val="4472C4"/>
                </a:solidFill>
                <a:latin typeface="Nunito Ultra-Bold"/>
                <a:ea typeface="Nunito Ultra-Bold"/>
                <a:cs typeface="Nunito Ultra-Bold"/>
                <a:sym typeface="Nunito Ultra-Bold"/>
              </a:rPr>
              <a:t>Reading the ranking</a:t>
            </a:r>
          </a:p>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Mean |SHAP| ranks </a:t>
            </a:r>
            <a:r>
              <a:rPr lang="en-US" sz="1900" b="true">
                <a:solidFill>
                  <a:srgbClr val="111111"/>
                </a:solidFill>
                <a:latin typeface="Nunito Bold"/>
                <a:ea typeface="Nunito Bold"/>
                <a:cs typeface="Nunito Bold"/>
                <a:sym typeface="Nunito Bold"/>
              </a:rPr>
              <a:t>density</a:t>
            </a:r>
            <a:r>
              <a:rPr lang="en-US" sz="1900" b="true">
                <a:solidFill>
                  <a:srgbClr val="111111"/>
                </a:solidFill>
                <a:latin typeface="Nunito Semi-Bold"/>
                <a:ea typeface="Nunito Semi-Bold"/>
                <a:cs typeface="Nunito Semi-Bold"/>
                <a:sym typeface="Nunito Semi-Bold"/>
              </a:rPr>
              <a:t> first, then </a:t>
            </a:r>
            <a:r>
              <a:rPr lang="en-US" sz="1900" b="true">
                <a:solidFill>
                  <a:srgbClr val="111111"/>
                </a:solidFill>
                <a:latin typeface="Nunito Bold"/>
                <a:ea typeface="Nunito Bold"/>
                <a:cs typeface="Nunito Bold"/>
                <a:sym typeface="Nunito Bold"/>
              </a:rPr>
              <a:t>pH</a:t>
            </a:r>
            <a:r>
              <a:rPr lang="en-US" sz="1900" b="true">
                <a:solidFill>
                  <a:srgbClr val="111111"/>
                </a:solidFill>
                <a:latin typeface="Nunito Semi-Bold"/>
                <a:ea typeface="Nunito Semi-Bold"/>
                <a:cs typeface="Nunito Semi-Bold"/>
                <a:sym typeface="Nunito Semi-Bold"/>
              </a:rPr>
              <a:t>, </a:t>
            </a:r>
            <a:r>
              <a:rPr lang="en-US" sz="1900" b="true">
                <a:solidFill>
                  <a:srgbClr val="111111"/>
                </a:solidFill>
                <a:latin typeface="Nunito Bold"/>
                <a:ea typeface="Nunito Bold"/>
                <a:cs typeface="Nunito Bold"/>
                <a:sym typeface="Nunito Bold"/>
              </a:rPr>
              <a:t>fixed acidity</a:t>
            </a:r>
            <a:r>
              <a:rPr lang="en-US" sz="1900" b="true">
                <a:solidFill>
                  <a:srgbClr val="111111"/>
                </a:solidFill>
                <a:latin typeface="Nunito Semi-Bold"/>
                <a:ea typeface="Nunito Semi-Bold"/>
                <a:cs typeface="Nunito Semi-Bold"/>
                <a:sym typeface="Nunito Semi-Bold"/>
              </a:rPr>
              <a:t>, </a:t>
            </a:r>
            <a:r>
              <a:rPr lang="en-US" sz="1900" b="true">
                <a:solidFill>
                  <a:srgbClr val="111111"/>
                </a:solidFill>
                <a:latin typeface="Nunito Bold"/>
                <a:ea typeface="Nunito Bold"/>
                <a:cs typeface="Nunito Bold"/>
                <a:sym typeface="Nunito Bold"/>
              </a:rPr>
              <a:t>sulfur dioxide</a:t>
            </a:r>
            <a:r>
              <a:rPr lang="en-US" sz="1900" b="true">
                <a:solidFill>
                  <a:srgbClr val="111111"/>
                </a:solidFill>
                <a:latin typeface="Nunito Semi-Bold"/>
                <a:ea typeface="Nunito Semi-Bold"/>
                <a:cs typeface="Nunito Semi-Bold"/>
                <a:sym typeface="Nunito Semi-Bold"/>
              </a:rPr>
              <a:t> and </a:t>
            </a:r>
            <a:r>
              <a:rPr lang="en-US" sz="1900" b="true">
                <a:solidFill>
                  <a:srgbClr val="111111"/>
                </a:solidFill>
                <a:latin typeface="Nunito Bold"/>
                <a:ea typeface="Nunito Bold"/>
                <a:cs typeface="Nunito Bold"/>
                <a:sym typeface="Nunito Bold"/>
              </a:rPr>
              <a:t>alcohol</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The main drivers relate to </a:t>
            </a:r>
            <a:r>
              <a:rPr lang="en-US" sz="1900" b="true">
                <a:solidFill>
                  <a:srgbClr val="111111"/>
                </a:solidFill>
                <a:latin typeface="Nunito Bold"/>
                <a:ea typeface="Nunito Bold"/>
                <a:cs typeface="Nunito Bold"/>
                <a:sym typeface="Nunito Bold"/>
              </a:rPr>
              <a:t>structure, preservation and sensory balance</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This is </a:t>
            </a:r>
            <a:r>
              <a:rPr lang="en-US" sz="1900" b="true">
                <a:solidFill>
                  <a:srgbClr val="111111"/>
                </a:solidFill>
                <a:latin typeface="Nunito Bold"/>
                <a:ea typeface="Nunito Bold"/>
                <a:cs typeface="Nunito Bold"/>
                <a:sym typeface="Nunito Bold"/>
              </a:rPr>
              <a:t>NOT a random side effect of the classifier</a:t>
            </a:r>
            <a:r>
              <a:rPr lang="en-US" sz="1900" b="true">
                <a:solidFill>
                  <a:srgbClr val="111111"/>
                </a:solidFill>
                <a:latin typeface="Nunito Semi-Bold"/>
                <a:ea typeface="Nunito Semi-Bold"/>
                <a:cs typeface="Nunito Semi-Bold"/>
                <a:sym typeface="Nunito Semi-Bold"/>
              </a:rPr>
              <a:t>: the surrogate reproduces the partition from the original variables, so the ranking reflects the partition itself.</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Density and pH separate wine styles; sulfur dioxide reflects preservation; alcohol shapes body.</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Each driver is a </a:t>
            </a:r>
            <a:r>
              <a:rPr lang="en-US" sz="1900" b="true">
                <a:solidFill>
                  <a:srgbClr val="111111"/>
                </a:solidFill>
                <a:latin typeface="Nunito Bold"/>
                <a:ea typeface="Nunito Bold"/>
                <a:cs typeface="Nunito Bold"/>
                <a:sym typeface="Nunito Bold"/>
              </a:rPr>
              <a:t>domain-level factor that can be changed</a:t>
            </a:r>
            <a:r>
              <a:rPr lang="en-US" sz="1900" b="true">
                <a:solidFill>
                  <a:srgbClr val="111111"/>
                </a:solidFill>
                <a:latin typeface="Nunito Semi-Bold"/>
                <a:ea typeface="Nunito Semi-Bold"/>
                <a:cs typeface="Nunito Semi-Bold"/>
                <a:sym typeface="Nunito Semi-Bold"/>
              </a:rPr>
              <a:t>: exactly Definition 1.1 of an actionable insight.</a:t>
            </a:r>
          </a:p>
        </p:txBody>
      </p:sp>
      <p:sp>
        <p:nvSpPr>
          <p:cNvPr id="31" name="Rounded Rectangle 30"/>
          <p:cNvSpPr/>
          <p:nvPr/>
        </p:nvSpPr>
        <p:spPr>
          <a:xfrm>
            <a:off x="8069580" y="3363722"/>
            <a:ext cx="9189720" cy="4097400"/>
          </a:xfrm>
          <a:prstGeom prst="roundRect">
            <a:avLst>
              <a:gd name="adj" fmla="val 5579"/>
            </a:avLst>
          </a:prstGeom>
          <a:solidFill>
            <a:srgbClr val="FFFFFF"/>
          </a:solidFill>
          <a:ln w="15875">
            <a:solidFill>
              <a:srgbClr val="E3D6C4"/>
            </a:solidFill>
          </a:ln>
        </p:spPr>
        <p:txBody>
          <a:bodyPr anchor="ctr" rtlCol="false" lIns="0" tIns="0" rIns="0" bIns="0" wrap="square"/>
          <a:lstStyle/>
          <a:p>
            <a:endParaRPr lang="en-US" sz="1800"/>
          </a:p>
        </p:txBody>
      </p:sp>
      <p:pic>
        <p:nvPicPr>
          <p:cNvPr id="32" name="Picture 31" descr="fig5_1_wine_global.png"/>
          <p:cNvPicPr>
            <a:picLocks noChangeAspect="1"/>
          </p:cNvPicPr>
          <p:nvPr/>
        </p:nvPicPr>
        <p:blipFill>
          <a:blip r:embed="rId5"/>
          <a:stretch>
            <a:fillRect/>
          </a:stretch>
        </p:blipFill>
        <p:spPr>
          <a:xfrm>
            <a:off x="9961097" y="3546602"/>
            <a:ext cx="5406684" cy="3320160"/>
          </a:xfrm>
          <a:prstGeom prst="rect">
            <a:avLst/>
          </a:prstGeom>
        </p:spPr>
      </p:pic>
      <p:sp>
        <p:nvSpPr>
          <p:cNvPr id="33" name="TextBox 32"/>
          <p:cNvSpPr txBox="1"/>
          <p:nvPr/>
        </p:nvSpPr>
        <p:spPr>
          <a:xfrm>
            <a:off x="8069580" y="7003923"/>
            <a:ext cx="918972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5.1 (thesis): global SHAP feature importance for the wine clustering surrogate</a:t>
            </a:r>
          </a:p>
        </p:txBody>
      </p:sp>
      <p:sp>
        <p:nvSpPr>
          <p:cNvPr id="34" name="Rounded Rectangle 33"/>
          <p:cNvSpPr/>
          <p:nvPr/>
        </p:nvSpPr>
        <p:spPr>
          <a:xfrm>
            <a:off x="8069580" y="7532243"/>
            <a:ext cx="9189720" cy="1591437"/>
          </a:xfrm>
          <a:prstGeom prst="roundRect">
            <a:avLst>
              <a:gd name="adj" fmla="val 14364"/>
            </a:avLst>
          </a:prstGeom>
          <a:solidFill>
            <a:srgbClr val="FFFFFF"/>
          </a:solidFill>
          <a:ln w="15875">
            <a:solidFill>
              <a:srgbClr val="E3D6C4"/>
            </a:solidFill>
          </a:ln>
        </p:spPr>
        <p:txBody>
          <a:bodyPr anchor="ctr" rtlCol="false" lIns="0" tIns="0" rIns="0" bIns="0" wrap="square"/>
          <a:lstStyle/>
          <a:p>
            <a:endParaRPr lang="en-US" sz="1800"/>
          </a:p>
        </p:txBody>
      </p:sp>
      <p:pic>
        <p:nvPicPr>
          <p:cNvPr id="35" name="Picture 34" descr="fig5_2_wine_clusters.png"/>
          <p:cNvPicPr>
            <a:picLocks noChangeAspect="1"/>
          </p:cNvPicPr>
          <p:nvPr/>
        </p:nvPicPr>
        <p:blipFill>
          <a:blip r:embed="rId6"/>
          <a:stretch>
            <a:fillRect/>
          </a:stretch>
        </p:blipFill>
        <p:spPr>
          <a:xfrm>
            <a:off x="9385446" y="7715123"/>
            <a:ext cx="6557986" cy="814197"/>
          </a:xfrm>
          <a:prstGeom prst="rect">
            <a:avLst/>
          </a:prstGeom>
        </p:spPr>
      </p:pic>
      <p:sp>
        <p:nvSpPr>
          <p:cNvPr id="36" name="TextBox 35"/>
          <p:cNvSpPr txBox="1"/>
          <p:nvPr/>
        </p:nvSpPr>
        <p:spPr>
          <a:xfrm>
            <a:off x="8069580" y="8712200"/>
            <a:ext cx="918972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5.2 (thesis): per-cluster SHAP signatures</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 to RQ1</a:t>
            </a:r>
          </a:p>
        </p:txBody>
      </p:sp>
      <p:pic>
        <p:nvPicPr>
          <p:cNvPr id="23" name="Picture 22" descr="image.png"/>
          <p:cNvPicPr>
            <a:picLocks noChangeAspect="1"/>
          </p:cNvPicPr>
          <p:nvPr/>
        </p:nvPicPr>
        <p:blipFill>
          <a:blip r:embed="rId3"/>
          <a:stretch>
            <a:fillRect/>
          </a:stretch>
        </p:blipFill>
        <p:spPr>
          <a:xfrm>
            <a:off x="5060521" y="1673352"/>
            <a:ext cx="457200" cy="61711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546602"/>
            <a:ext cx="16230600" cy="1463040"/>
          </a:xfrm>
          <a:prstGeom prst="roundRect">
            <a:avLst>
              <a:gd name="adj" fmla="val 13750"/>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RQ1</a:t>
            </a:r>
          </a:p>
        </p:txBody>
      </p:sp>
      <p:sp>
        <p:nvSpPr>
          <p:cNvPr id="30" name="TextBox 29"/>
          <p:cNvSpPr txBox="1"/>
          <p:nvPr/>
        </p:nvSpPr>
        <p:spPr>
          <a:xfrm>
            <a:off x="1394460" y="3820922"/>
            <a:ext cx="15499080" cy="105156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Bold"/>
                <a:ea typeface="Nunito Bold"/>
                <a:cs typeface="Nunito Bold"/>
                <a:sym typeface="Nunito Bold"/>
              </a:rPr>
              <a:t>Yes.</a:t>
            </a:r>
            <a:r>
              <a:rPr lang="en-US" sz="2200" b="true">
                <a:solidFill>
                  <a:srgbClr val="111111"/>
                </a:solidFill>
                <a:latin typeface="Nunito Semi-Bold"/>
                <a:ea typeface="Nunito Semi-Bold"/>
                <a:cs typeface="Nunito Semi-Bold"/>
                <a:sym typeface="Nunito Semi-Bold"/>
              </a:rPr>
              <a:t> Shapley values explain a black-box partition </a:t>
            </a:r>
            <a:r>
              <a:rPr lang="en-US" sz="2200" b="true">
                <a:solidFill>
                  <a:srgbClr val="111111"/>
                </a:solidFill>
                <a:latin typeface="Nunito Bold"/>
                <a:ea typeface="Nunito Bold"/>
                <a:cs typeface="Nunito Bold"/>
                <a:sym typeface="Nunito Bold"/>
              </a:rPr>
              <a:t>faithfully</a:t>
            </a:r>
            <a:r>
              <a:rPr lang="en-US" sz="2200" b="true">
                <a:solidFill>
                  <a:srgbClr val="111111"/>
                </a:solidFill>
                <a:latin typeface="Nunito Semi-Bold"/>
                <a:ea typeface="Nunito Semi-Bold"/>
                <a:cs typeface="Nunito Semi-Bold"/>
                <a:sym typeface="Nunito Semi-Bold"/>
              </a:rPr>
              <a:t> (given a high-fidelity surrogate) and </a:t>
            </a:r>
            <a:r>
              <a:rPr lang="en-US" sz="2200" b="true">
                <a:solidFill>
                  <a:srgbClr val="111111"/>
                </a:solidFill>
                <a:latin typeface="Nunito Bold"/>
                <a:ea typeface="Nunito Bold"/>
                <a:cs typeface="Nunito Bold"/>
                <a:sym typeface="Nunito Bold"/>
              </a:rPr>
              <a:t>consistently</a:t>
            </a:r>
            <a:r>
              <a:rPr lang="en-US" sz="2200" b="true">
                <a:solidFill>
                  <a:srgbClr val="111111"/>
                </a:solidFill>
                <a:latin typeface="Nunito Semi-Bold"/>
                <a:ea typeface="Nunito Semi-Bold"/>
                <a:cs typeface="Nunito Semi-Bold"/>
                <a:sym typeface="Nunito Semi-Bold"/>
              </a:rPr>
              <a:t> at cluster level, in the original feature space.</a:t>
            </a:r>
          </a:p>
        </p:txBody>
      </p:sp>
      <p:graphicFrame>
        <p:nvGraphicFramePr>
          <p:cNvPr id="31" name="Table 30"/>
          <p:cNvGraphicFramePr>
            <a:graphicFrameLocks noGrp="1"/>
          </p:cNvGraphicFramePr>
          <p:nvPr/>
        </p:nvGraphicFramePr>
        <p:xfrm>
          <a:off x="1028700" y="5421122"/>
          <a:ext cx="16230599" cy="3141472"/>
        </p:xfrm>
        <a:graphic>
          <a:graphicData uri="http://schemas.openxmlformats.org/drawingml/2006/table">
            <a:tbl>
              <a:tblPr firstRow="0" bandRow="0" firstCol="0" lastRow="0" lastCol="0" bandCol="0">
                <a:tableStyleId>{2D5ABB26-0587-4C30-8999-92F81FD0307C}</a:tableStyleId>
              </a:tblPr>
              <a:tblGrid>
                <a:gridCol w="5410200"/>
                <a:gridCol w="1456592"/>
                <a:gridCol w="9363807"/>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Cluster-level explanation with feature-level 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Global ranking + per-cluster SHAP profiles (Fig. 5.1, 5.2) + local force plots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Attribution in the original 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Density, pH, fixed acidity, sulfur dioxide, alcohol: no latent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Shapley justified over LIME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Four axioms; LIME comparator theoretical (Ch. 5, §5.4)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34</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pic>
        <p:nvPicPr>
          <p:cNvPr id="25" name="Picture 24" descr="image.png"/>
          <p:cNvPicPr>
            <a:picLocks noChangeAspect="1"/>
          </p:cNvPicPr>
          <p:nvPr/>
        </p:nvPicPr>
        <p:blipFill>
          <a:blip r:embed="rId3"/>
          <a:stretch>
            <a:fillRect/>
          </a:stretch>
        </p:blipFill>
        <p:spPr>
          <a:xfrm>
            <a:off x="4641445" y="1673352"/>
            <a:ext cx="457200" cy="250983"/>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30" name="Rounded Rectangle 29"/>
          <p:cNvSpPr/>
          <p:nvPr/>
        </p:nvSpPr>
        <p:spPr>
          <a:xfrm>
            <a:off x="1028700" y="3363722"/>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1" name="Oval 30"/>
          <p:cNvSpPr/>
          <p:nvPr/>
        </p:nvSpPr>
        <p:spPr>
          <a:xfrm>
            <a:off x="1303020" y="3750214"/>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32" name="TextBox 31"/>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A black-box partition can be explained at two levels at once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Cluster-level meaning is tied to single feature contributions, so the explanation is both global and local.</a:t>
            </a:r>
          </a:p>
        </p:txBody>
      </p:sp>
      <p:sp>
        <p:nvSpPr>
          <p:cNvPr id="33" name="Rounded Rectangle 32"/>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4" name="Oval 33"/>
          <p:cNvSpPr/>
          <p:nvPr/>
        </p:nvSpPr>
        <p:spPr>
          <a:xfrm>
            <a:off x="1303020" y="5254720"/>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5" name="TextBox 34"/>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Attribution lands in the chemistry, not in a latent space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Density, pH, fixed acidity, sulfur dioxide and alcohol: variables a wine maker can act on.</a:t>
            </a:r>
          </a:p>
        </p:txBody>
      </p:sp>
      <p:sp>
        <p:nvSpPr>
          <p:cNvPr id="36" name="Rounded Rectangle 35"/>
          <p:cNvSpPr/>
          <p:nvPr/>
        </p:nvSpPr>
        <p:spPr>
          <a:xfrm>
            <a:off x="1028700" y="6372733"/>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7" name="Oval 36"/>
          <p:cNvSpPr/>
          <p:nvPr/>
        </p:nvSpPr>
        <p:spPr>
          <a:xfrm>
            <a:off x="1303020" y="6759225"/>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8" name="TextBox 37"/>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Interpretability can outrank geometry when choosing k</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k = 3 was kept over k = 2 despite a lower Silhouette because it gives a richer, more useful partition.</a:t>
            </a:r>
          </a:p>
        </p:txBody>
      </p:sp>
      <p:sp>
        <p:nvSpPr>
          <p:cNvPr id="39" name="Rounded Rectangle 38"/>
          <p:cNvSpPr/>
          <p:nvPr/>
        </p:nvSpPr>
        <p:spPr>
          <a:xfrm>
            <a:off x="1028700" y="7783766"/>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40" name="Oval 39"/>
          <p:cNvSpPr/>
          <p:nvPr/>
        </p:nvSpPr>
        <p:spPr>
          <a:xfrm>
            <a:off x="1303020" y="8170259"/>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41" name="TextBox 40"/>
          <p:cNvSpPr txBox="1"/>
          <p:nvPr/>
        </p:nvSpPr>
        <p:spPr>
          <a:xfrm>
            <a:off x="2171700" y="789349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cooperative concept is what makes the explanation trustworthy</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Efficiency, symmetry, null player and additivity give guarantees that a local surrogate such as LIME does not.</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pic>
        <p:nvPicPr>
          <p:cNvPr id="23" name="Picture 22" descr="image.png"/>
          <p:cNvPicPr>
            <a:picLocks noChangeAspect="1"/>
          </p:cNvPicPr>
          <p:nvPr/>
        </p:nvPicPr>
        <p:blipFill>
          <a:blip r:embed="rId3"/>
          <a:stretch>
            <a:fillRect/>
          </a:stretch>
        </p:blipFill>
        <p:spPr>
          <a:xfrm>
            <a:off x="4251252" y="1673352"/>
            <a:ext cx="457200" cy="539881"/>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SURROGATE DEPENDENCE</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Fidelity depends on the </a:t>
            </a:r>
            <a:r>
              <a:rPr lang="en-US" sz="1900" b="true">
                <a:solidFill>
                  <a:srgbClr val="FFFFFF"/>
                </a:solidFill>
                <a:latin typeface="Nunito Bold"/>
                <a:ea typeface="Nunito Bold"/>
                <a:cs typeface="Nunito Bold"/>
                <a:sym typeface="Nunito Bold"/>
              </a:rPr>
              <a:t>LightGBM surrogate</a:t>
            </a:r>
            <a:r>
              <a:rPr lang="en-US" sz="1900" b="true">
                <a:solidFill>
                  <a:srgbClr val="FFFFFF"/>
                </a:solidFill>
                <a:latin typeface="Nunito Semi-Bold"/>
                <a:ea typeface="Nunito Semi-Bold"/>
                <a:cs typeface="Nunito Semi-Bold"/>
                <a:sym typeface="Nunito Semi-Bold"/>
              </a:rPr>
              <a:t>, not on the K-Means geometry directly; the fidelity floor must be checked every time.</a:t>
            </a:r>
          </a:p>
        </p:txBody>
      </p:sp>
      <p:sp>
        <p:nvSpPr>
          <p:cNvPr id="30" name="Rounded Rectangle 29"/>
          <p:cNvSpPr/>
          <p:nvPr/>
        </p:nvSpPr>
        <p:spPr>
          <a:xfrm>
            <a:off x="9304020" y="3363722"/>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TABULAR ONLY</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Limited to </a:t>
            </a:r>
            <a:r>
              <a:rPr lang="en-US" sz="1900" b="true">
                <a:solidFill>
                  <a:srgbClr val="FFFFFF"/>
                </a:solidFill>
                <a:latin typeface="Nunito Bold"/>
                <a:ea typeface="Nunito Bold"/>
                <a:cs typeface="Nunito Bold"/>
                <a:sym typeface="Nunito Bold"/>
              </a:rPr>
              <a:t>tabular data</a:t>
            </a:r>
            <a:r>
              <a:rPr lang="en-US" sz="1900" b="true">
                <a:solidFill>
                  <a:srgbClr val="FFFFFF"/>
                </a:solidFill>
                <a:latin typeface="Nunito Semi-Bold"/>
                <a:ea typeface="Nunito Semi-Bold"/>
                <a:cs typeface="Nunito Semi-Bold"/>
                <a:sym typeface="Nunito Semi-Bold"/>
              </a:rPr>
              <a:t>; no structured, graph or image input in this contribution.</a:t>
            </a:r>
          </a:p>
        </p:txBody>
      </p:sp>
      <p:sp>
        <p:nvSpPr>
          <p:cNvPr id="32" name="Rounded Rectangle 31"/>
          <p:cNvSpPr/>
          <p:nvPr/>
        </p:nvSpPr>
        <p:spPr>
          <a:xfrm>
            <a:off x="1028700" y="5810377"/>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3" name="TextBox 32"/>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SINGLE LEVEL</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Cannot explain how importance changes between a partition and its </a:t>
            </a:r>
            <a:r>
              <a:rPr lang="en-US" sz="1900" b="true">
                <a:solidFill>
                  <a:srgbClr val="FFFFFF"/>
                </a:solidFill>
                <a:latin typeface="Nunito Bold"/>
                <a:ea typeface="Nunito Bold"/>
                <a:cs typeface="Nunito Bold"/>
                <a:sym typeface="Nunito Bold"/>
              </a:rPr>
              <a:t>sub-partitions</a:t>
            </a:r>
            <a:r>
              <a:rPr lang="en-US" sz="1900" b="true">
                <a:solidFill>
                  <a:srgbClr val="FFFFFF"/>
                </a:solidFill>
                <a:latin typeface="Nunito Semi-Bold"/>
                <a:ea typeface="Nunito Semi-Bold"/>
                <a:cs typeface="Nunito Semi-Bold"/>
                <a:sym typeface="Nunito Semi-Bold"/>
              </a:rPr>
              <a:t>.</a:t>
            </a:r>
          </a:p>
        </p:txBody>
      </p:sp>
      <p:sp>
        <p:nvSpPr>
          <p:cNvPr id="34" name="Rounded Rectangle 33"/>
          <p:cNvSpPr/>
          <p:nvPr/>
        </p:nvSpPr>
        <p:spPr>
          <a:xfrm>
            <a:off x="9304020" y="5810377"/>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35" name="TextBox 34"/>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SMOOTHING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surrogate approximation smooths out variation between single observations.</a:t>
            </a:r>
          </a:p>
        </p:txBody>
      </p:sp>
      <p:sp>
        <p:nvSpPr>
          <p:cNvPr id="36" name="Rounded Rectangle 35"/>
          <p:cNvSpPr/>
          <p:nvPr/>
        </p:nvSpPr>
        <p:spPr>
          <a:xfrm>
            <a:off x="1028700" y="8348472"/>
            <a:ext cx="16230600" cy="960120"/>
          </a:xfrm>
          <a:prstGeom prst="roundRect">
            <a:avLst>
              <a:gd name="adj" fmla="val 23809"/>
            </a:avLst>
          </a:prstGeom>
          <a:noFill/>
          <a:ln w="31750">
            <a:solidFill>
              <a:srgbClr val="1F7A8C"/>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The </a:t>
            </a:r>
            <a:r>
              <a:rPr lang="en-US" sz="2000" b="true">
                <a:solidFill>
                  <a:srgbClr val="111111"/>
                </a:solidFill>
                <a:latin typeface="Nunito Bold"/>
                <a:ea typeface="Nunito Bold"/>
                <a:cs typeface="Nunito Bold"/>
                <a:sym typeface="Nunito Bold"/>
              </a:rPr>
              <a:t>single-level</a:t>
            </a:r>
            <a:r>
              <a:rPr lang="en-US" sz="2000" b="true">
                <a:solidFill>
                  <a:srgbClr val="111111"/>
                </a:solidFill>
                <a:latin typeface="Nunito Semi-Bold"/>
                <a:ea typeface="Nunito Semi-Bold"/>
                <a:cs typeface="Nunito Semi-Bold"/>
                <a:sym typeface="Nunito Semi-Bold"/>
              </a:rPr>
              <a:t> limitation is the one that matters most for what follows: real data are rarely flat.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a:t>
            </a:r>
          </a:p>
        </p:txBody>
      </p:sp>
      <p:pic>
        <p:nvPicPr>
          <p:cNvPr id="23" name="Picture 22" descr="image.png"/>
          <p:cNvPicPr>
            <a:picLocks noChangeAspect="1"/>
          </p:cNvPicPr>
          <p:nvPr/>
        </p:nvPicPr>
        <p:blipFill>
          <a:blip r:embed="rId3"/>
          <a:stretch>
            <a:fillRect/>
          </a:stretch>
        </p:blipFill>
        <p:spPr>
          <a:xfrm>
            <a:off x="7838100" y="1673352"/>
            <a:ext cx="457200" cy="373212"/>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5196840" cy="2651760"/>
          </a:xfrm>
          <a:prstGeom prst="roundRect">
            <a:avLst>
              <a:gd name="adj" fmla="val 10344"/>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Single lens</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One axiomatic rule explains the whole partition, cluster by cluster.</a:t>
            </a:r>
          </a:p>
        </p:txBody>
      </p:sp>
      <p:sp>
        <p:nvSpPr>
          <p:cNvPr id="30" name="Rounded Rectangle 29"/>
          <p:cNvSpPr/>
          <p:nvPr/>
        </p:nvSpPr>
        <p:spPr>
          <a:xfrm>
            <a:off x="6545580" y="3363722"/>
            <a:ext cx="5196840" cy="2651760"/>
          </a:xfrm>
          <a:prstGeom prst="roundRect">
            <a:avLst>
              <a:gd name="adj" fmla="val 10344"/>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Original space</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answer comes back in variables an expert can change.</a:t>
            </a:r>
          </a:p>
        </p:txBody>
      </p:sp>
      <p:sp>
        <p:nvSpPr>
          <p:cNvPr id="32" name="Rounded Rectangle 31"/>
          <p:cNvSpPr/>
          <p:nvPr/>
        </p:nvSpPr>
        <p:spPr>
          <a:xfrm>
            <a:off x="12062460" y="3363722"/>
            <a:ext cx="5196840" cy="2651760"/>
          </a:xfrm>
          <a:prstGeom prst="roundRect">
            <a:avLst>
              <a:gd name="adj" fmla="val 10344"/>
            </a:avLst>
          </a:prstGeom>
          <a:solidFill>
            <a:srgbClr val="1F7A8C"/>
          </a:solidFill>
          <a:ln>
            <a:noFill/>
          </a:ln>
        </p:spPr>
        <p:txBody>
          <a:bodyPr anchor="ctr" rtlCol="false" lIns="0" tIns="0" rIns="0" bIns="0" wrap="square"/>
          <a:lstStyle/>
          <a:p>
            <a:endParaRPr lang="en-US" sz="1800"/>
          </a:p>
        </p:txBody>
      </p:sp>
      <p:sp>
        <p:nvSpPr>
          <p:cNvPr id="33" name="TextBox 32"/>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But…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Real data are rarely single-level: broad groups contain nested sub-groups.</a:t>
            </a:r>
          </a:p>
        </p:txBody>
      </p:sp>
      <p:sp>
        <p:nvSpPr>
          <p:cNvPr id="34" name="Rounded Rectangle 33"/>
          <p:cNvSpPr/>
          <p:nvPr/>
        </p:nvSpPr>
        <p:spPr>
          <a:xfrm>
            <a:off x="1028700" y="647268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5" name="Rounded Rectangle 34"/>
          <p:cNvSpPr/>
          <p:nvPr/>
        </p:nvSpPr>
        <p:spPr>
          <a:xfrm>
            <a:off x="1348740" y="6280658"/>
            <a:ext cx="3367987"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a:t>
            </a:r>
          </a:p>
        </p:txBody>
      </p:sp>
      <p:sp>
        <p:nvSpPr>
          <p:cNvPr id="36" name="TextBox 35"/>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Shapley attribution is a </a:t>
            </a:r>
            <a:r>
              <a:rPr lang="en-US" sz="2300" b="true">
                <a:solidFill>
                  <a:srgbClr val="111111"/>
                </a:solidFill>
                <a:latin typeface="Nunito Bold"/>
                <a:ea typeface="Nunito Bold"/>
                <a:cs typeface="Nunito Bold"/>
                <a:sym typeface="Nunito Bold"/>
              </a:rPr>
              <a:t>well-founded lens</a:t>
            </a:r>
            <a:r>
              <a:rPr lang="en-US" sz="2300" b="true">
                <a:solidFill>
                  <a:srgbClr val="111111"/>
                </a:solidFill>
                <a:latin typeface="Nunito Semi-Bold"/>
                <a:ea typeface="Nunito Semi-Bold"/>
                <a:cs typeface="Nunito Semi-Bold"/>
                <a:sym typeface="Nunito Semi-Bold"/>
              </a:rPr>
              <a:t> for explaining an unsupervised partition, and keeping it in the </a:t>
            </a:r>
            <a:r>
              <a:rPr lang="en-US" sz="2300" b="true">
                <a:solidFill>
                  <a:srgbClr val="111111"/>
                </a:solidFill>
                <a:latin typeface="Nunito Bold"/>
                <a:ea typeface="Nunito Bold"/>
                <a:cs typeface="Nunito Bold"/>
                <a:sym typeface="Nunito Bold"/>
              </a:rPr>
              <a:t>original feature space</a:t>
            </a:r>
            <a:r>
              <a:rPr lang="en-US" sz="2300" b="true">
                <a:solidFill>
                  <a:srgbClr val="111111"/>
                </a:solidFill>
                <a:latin typeface="Nunito Semi-Bold"/>
                <a:ea typeface="Nunito Semi-Bold"/>
                <a:cs typeface="Nunito Semi-Bold"/>
                <a:sym typeface="Nunito Semi-Bold"/>
              </a:rPr>
              <a:t> is what makes the explanation actionable.</a:t>
            </a:r>
          </a:p>
        </p:txBody>
      </p:sp>
      <p:sp>
        <p:nvSpPr>
          <p:cNvPr id="37" name="Rounded Rectangle 36"/>
          <p:cNvSpPr/>
          <p:nvPr/>
        </p:nvSpPr>
        <p:spPr>
          <a:xfrm>
            <a:off x="1028700" y="8392922"/>
            <a:ext cx="16230600" cy="961390"/>
          </a:xfrm>
          <a:prstGeom prst="roundRect">
            <a:avLst>
              <a:gd name="adj" fmla="val 23778"/>
            </a:avLst>
          </a:prstGeom>
          <a:solidFill>
            <a:srgbClr val="4472C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Bold"/>
                <a:ea typeface="Nunito Bold"/>
                <a:cs typeface="Nunito Bold"/>
                <a:sym typeface="Nunito Bold"/>
              </a:rPr>
              <a:t>Next question:</a:t>
            </a:r>
            <a:r>
              <a:rPr lang="en-US" sz="2000" b="true">
                <a:solidFill>
                  <a:srgbClr val="FFFFFF"/>
                </a:solidFill>
                <a:latin typeface="Nunito Semi-Bold"/>
                <a:ea typeface="Nunito Semi-Bold"/>
                <a:cs typeface="Nunito Semi-Bold"/>
                <a:sym typeface="Nunito Semi-Bold"/>
              </a:rPr>
              <a:t> does this logic survive scale and hierarchy?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Contribution II</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38</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II</a:t>
            </a:r>
          </a:p>
        </p:txBody>
      </p:sp>
      <p:sp>
        <p:nvSpPr>
          <p:cNvPr id="8" name="Oval 7"/>
          <p:cNvSpPr/>
          <p:nvPr/>
        </p:nvSpPr>
        <p:spPr>
          <a:xfrm>
            <a:off x="13590479"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3590479"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05</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Enhanced multi-level XAI for large-scale clustering  ·  answers RQ2</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 truly multi-level workflow, a formal cross-level consistency argument (Proposition 6.1), validation on a very different large dataset.</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Recursive clustering, level-specific surrogates in the same feature space, size-weighted cross-level SHAP aggregation.</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Beijing Air Quality (383,585 records): Silhouette ≈ 0.63, three atmospheric regimes, weather variables at the centre of the structure.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38</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pic>
        <p:nvPicPr>
          <p:cNvPr id="25" name="Picture 24" descr="image.png"/>
          <p:cNvPicPr>
            <a:picLocks noChangeAspect="1"/>
          </p:cNvPicPr>
          <p:nvPr/>
        </p:nvPicPr>
        <p:blipFill>
          <a:blip r:embed="rId3"/>
          <a:stretch>
            <a:fillRect/>
          </a:stretch>
        </p:blipFill>
        <p:spPr>
          <a:xfrm>
            <a:off x="4883941" y="1673352"/>
            <a:ext cx="457200" cy="427074"/>
          </a:xfrm>
          <a:prstGeom prst="rect">
            <a:avLst/>
          </a:prstGeom>
        </p:spPr>
      </p:pic>
      <p:sp>
        <p:nvSpPr>
          <p:cNvPr id="26" name="Rounded Rectangle 25"/>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Once clustering is multi-level, feature importance must stay readable </a:t>
            </a:r>
            <a:r>
              <a:rPr lang="en-US" sz="2100" b="true">
                <a:solidFill>
                  <a:srgbClr val="111111"/>
                </a:solidFill>
                <a:latin typeface="Nunito Bold"/>
                <a:ea typeface="Nunito Bold"/>
                <a:cs typeface="Nunito Bold"/>
                <a:sym typeface="Nunito Bold"/>
              </a:rPr>
              <a:t>within a cluster, across sub-clusters and across the levels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Large-scale data make exact explanation </a:t>
            </a:r>
            <a:r>
              <a:rPr lang="en-US" sz="2100" b="true">
                <a:solidFill>
                  <a:srgbClr val="111111"/>
                </a:solidFill>
                <a:latin typeface="Nunito Bold"/>
                <a:ea typeface="Nunito Bold"/>
                <a:cs typeface="Nunito Bold"/>
                <a:sym typeface="Nunito Bold"/>
              </a:rPr>
              <a:t>too costly to compute</a:t>
            </a:r>
            <a:r>
              <a:rPr lang="en-US" sz="2100" b="true">
                <a:solidFill>
                  <a:srgbClr val="111111"/>
                </a:solidFill>
                <a:latin typeface="Nunito Semi-Bold"/>
                <a:ea typeface="Nunito Semi-Bold"/>
                <a:cs typeface="Nunito Semi-Bold"/>
                <a:sym typeface="Nunito Semi-Bold"/>
              </a:rPr>
              <a:t>: 383,585 records cannot be explained coalition by coalition.</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A flat explanation may be true yet </a:t>
            </a:r>
            <a:r>
              <a:rPr lang="en-US" sz="2100" b="true">
                <a:solidFill>
                  <a:srgbClr val="111111"/>
                </a:solidFill>
                <a:latin typeface="Nunito Bold"/>
                <a:ea typeface="Nunito Bold"/>
                <a:cs typeface="Nunito Bold"/>
                <a:sym typeface="Nunito Bold"/>
              </a:rPr>
              <a:t>incomplete</a:t>
            </a:r>
            <a:r>
              <a:rPr lang="en-US" sz="2100" b="true">
                <a:solidFill>
                  <a:srgbClr val="111111"/>
                </a:solidFill>
                <a:latin typeface="Nunito Semi-Bold"/>
                <a:ea typeface="Nunito Semi-Bold"/>
                <a:cs typeface="Nunito Semi-Bold"/>
                <a:sym typeface="Nunito Semi-Bold"/>
              </a:rPr>
              <a:t>: it cannot show how importance changes inside a cluster.</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Existing hierarchical clustering work reports structure but gives </a:t>
            </a:r>
            <a:r>
              <a:rPr lang="en-US" sz="2100" b="true">
                <a:solidFill>
                  <a:srgbClr val="111111"/>
                </a:solidFill>
                <a:latin typeface="Nunito Bold"/>
                <a:ea typeface="Nunito Bold"/>
                <a:cs typeface="Nunito Bold"/>
                <a:sym typeface="Nunito Bold"/>
              </a:rPr>
              <a:t>no formal link</a:t>
            </a:r>
            <a:r>
              <a:rPr lang="en-US" sz="2100" b="true">
                <a:solidFill>
                  <a:srgbClr val="111111"/>
                </a:solidFill>
                <a:latin typeface="Nunito Semi-Bold"/>
                <a:ea typeface="Nunito Semi-Bold"/>
                <a:cs typeface="Nunito Semi-Bold"/>
                <a:sym typeface="Nunito Semi-Bold"/>
              </a:rPr>
              <a:t> between the explanation of a parent and that of its children.</a:t>
            </a:r>
          </a:p>
        </p:txBody>
      </p:sp>
      <p:sp>
        <p:nvSpPr>
          <p:cNvPr id="31" name="Rounded Rectangle 30"/>
          <p:cNvSpPr/>
          <p:nvPr/>
        </p:nvSpPr>
        <p:spPr>
          <a:xfrm>
            <a:off x="1028700" y="7523480"/>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2" name="Rounded Rectangle 31"/>
          <p:cNvSpPr/>
          <p:nvPr/>
        </p:nvSpPr>
        <p:spPr>
          <a:xfrm>
            <a:off x="1348740" y="7331455"/>
            <a:ext cx="19765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33" name="TextBox 32"/>
          <p:cNvSpPr txBox="1"/>
          <p:nvPr/>
        </p:nvSpPr>
        <p:spPr>
          <a:xfrm>
            <a:off x="1394460" y="7797800"/>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There is no multi-level explanation method for large-scale clustering that is </a:t>
            </a:r>
            <a:r>
              <a:rPr lang="en-US" sz="2200" b="true">
                <a:solidFill>
                  <a:srgbClr val="111111"/>
                </a:solidFill>
                <a:latin typeface="Nunito Bold"/>
                <a:ea typeface="Nunito Bold"/>
                <a:cs typeface="Nunito Bold"/>
                <a:sym typeface="Nunito Bold"/>
              </a:rPr>
              <a:t>both computationally feasible and provably consistent across levels</a:t>
            </a:r>
            <a:r>
              <a:rPr lang="en-US" sz="2200" b="true">
                <a:solidFill>
                  <a:srgbClr val="111111"/>
                </a:solidFill>
                <a:latin typeface="Nunito Semi-Bold"/>
                <a:ea typeface="Nunito Semi-Bold"/>
                <a:cs typeface="Nunito Semi-Bold"/>
                <a:sym typeface="Nunito Semi-Bold"/>
              </a:rPr>
              <a:t>.</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   [18] Gramegna, A. &amp; Giudici, P. SHAP and LIME: An Evaluation of Discriminative Power in Credit Risk. Frontiers in AI 4, 752558 (2021).</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RQ2 and Objectives</a:t>
            </a:r>
          </a:p>
        </p:txBody>
      </p:sp>
      <p:pic>
        <p:nvPicPr>
          <p:cNvPr id="23" name="Picture 22" descr="image.png"/>
          <p:cNvPicPr>
            <a:picLocks noChangeAspect="1"/>
          </p:cNvPicPr>
          <p:nvPr/>
        </p:nvPicPr>
        <p:blipFill>
          <a:blip r:embed="rId3"/>
          <a:stretch>
            <a:fillRect/>
          </a:stretch>
        </p:blipFill>
        <p:spPr>
          <a:xfrm>
            <a:off x="6337553" y="1673352"/>
            <a:ext cx="457200" cy="399005"/>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546602"/>
            <a:ext cx="16230600" cy="1325880"/>
          </a:xfrm>
          <a:prstGeom prst="roundRect">
            <a:avLst>
              <a:gd name="adj" fmla="val 15172"/>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RQ2</a:t>
            </a:r>
          </a:p>
        </p:txBody>
      </p:sp>
      <p:sp>
        <p:nvSpPr>
          <p:cNvPr id="30" name="TextBox 29"/>
          <p:cNvSpPr txBox="1"/>
          <p:nvPr/>
        </p:nvSpPr>
        <p:spPr>
          <a:xfrm>
            <a:off x="1394460" y="3820922"/>
            <a:ext cx="15499080" cy="91440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How can the Shapley explanation extend to </a:t>
            </a:r>
            <a:r>
              <a:rPr lang="en-US" sz="2200" b="true">
                <a:solidFill>
                  <a:srgbClr val="111111"/>
                </a:solidFill>
                <a:latin typeface="Nunito Bold"/>
                <a:ea typeface="Nunito Bold"/>
                <a:cs typeface="Nunito Bold"/>
                <a:sym typeface="Nunito Bold"/>
              </a:rPr>
              <a:t>large-scale, multi-level clustering</a:t>
            </a:r>
            <a:r>
              <a:rPr lang="en-US" sz="2200" b="true">
                <a:solidFill>
                  <a:srgbClr val="111111"/>
                </a:solidFill>
                <a:latin typeface="Nunito Semi-Bold"/>
                <a:ea typeface="Nunito Semi-Bold"/>
                <a:cs typeface="Nunito Semi-Bold"/>
                <a:sym typeface="Nunito Semi-Bold"/>
              </a:rPr>
              <a:t> while staying feasible and consistent?</a:t>
            </a:r>
          </a:p>
        </p:txBody>
      </p:sp>
      <p:graphicFrame>
        <p:nvGraphicFramePr>
          <p:cNvPr id="31" name="Table 30"/>
          <p:cNvGraphicFramePr>
            <a:graphicFrameLocks noGrp="1"/>
          </p:cNvGraphicFramePr>
          <p:nvPr/>
        </p:nvGraphicFramePr>
        <p:xfrm>
          <a:off x="1028700" y="528396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A truly multi-level workflow</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Recursive clustering with </a:t>
                      </a:r>
                      <a:r>
                        <a:rPr lang="en-US" sz="1800" b="true">
                          <a:solidFill>
                            <a:srgbClr val="111111"/>
                          </a:solidFill>
                          <a:latin typeface="Nunito Bold"/>
                          <a:ea typeface="Nunito Bold"/>
                          <a:cs typeface="Nunito Bold"/>
                          <a:sym typeface="Nunito Bold"/>
                        </a:rPr>
                        <a:t>level-specific surrogates</a:t>
                      </a:r>
                      <a:r>
                        <a:rPr lang="en-US" sz="1800" b="true">
                          <a:solidFill>
                            <a:srgbClr val="111111"/>
                          </a:solidFill>
                          <a:latin typeface="Nunito Semi-Bold"/>
                          <a:ea typeface="Nunito Semi-Bold"/>
                          <a:cs typeface="Nunito Semi-Bold"/>
                          <a:sym typeface="Nunito Semi-Bold"/>
                        </a:rPr>
                        <a:t>, not a rerun of the single-level pipeline.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Workflow, Fig. 6.3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A formal consistency argument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Proposition 6.1</a:t>
                      </a:r>
                      <a:r>
                        <a:rPr lang="en-US" sz="1800" b="true">
                          <a:solidFill>
                            <a:srgbClr val="111111"/>
                          </a:solidFill>
                          <a:latin typeface="Nunito Semi-Bold"/>
                          <a:ea typeface="Nunito Semi-Bold"/>
                          <a:cs typeface="Nunito Semi-Bold"/>
                          <a:sym typeface="Nunito Semi-Bold"/>
                        </a:rPr>
                        <a:t>: parent importance equals the size-weighted expectation over its children.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Proposition 6.1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Validation at scale on new data</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Beijing Multi-Site Air Quality: </a:t>
                      </a:r>
                      <a:r>
                        <a:rPr lang="en-US" sz="1800" b="true">
                          <a:solidFill>
                            <a:srgbClr val="111111"/>
                          </a:solidFill>
                          <a:latin typeface="Nunito Bold"/>
                          <a:ea typeface="Nunito Bold"/>
                          <a:cs typeface="Nunito Bold"/>
                          <a:sym typeface="Nunito Bold"/>
                        </a:rPr>
                        <a:t>383,585 hourly records</a:t>
                      </a:r>
                      <a:r>
                        <a:rPr lang="en-US" sz="1800" b="true">
                          <a:solidFill>
                            <a:srgbClr val="111111"/>
                          </a:solidFill>
                          <a:latin typeface="Nunito Semi-Bold"/>
                          <a:ea typeface="Nunito Semi-Bold"/>
                          <a:cs typeface="Nunito Semi-Bold"/>
                          <a:sym typeface="Nunito Semi-Bold"/>
                        </a:rPr>
                        <a:t>, a domain far from wine.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Table 6.1, Fig. 6.1, 6.2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Multi-Level Workflow with Cross-Level Aggregation</a:t>
            </a:r>
          </a:p>
        </p:txBody>
      </p:sp>
      <p:pic>
        <p:nvPicPr>
          <p:cNvPr id="23" name="Picture 22" descr="image.png"/>
          <p:cNvPicPr>
            <a:picLocks noChangeAspect="1"/>
          </p:cNvPicPr>
          <p:nvPr/>
        </p:nvPicPr>
        <p:blipFill>
          <a:blip r:embed="rId3"/>
          <a:stretch>
            <a:fillRect/>
          </a:stretch>
        </p:blipFill>
        <p:spPr>
          <a:xfrm>
            <a:off x="14669741"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7680960" cy="594487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Recursive / nested:</a:t>
            </a:r>
            <a:r>
              <a:rPr lang="en-US" sz="2100" b="true">
                <a:solidFill>
                  <a:srgbClr val="111111"/>
                </a:solidFill>
                <a:latin typeface="Nunito Semi-Bold"/>
                <a:ea typeface="Nunito Semi-Bold"/>
                <a:cs typeface="Nunito Semi-Bold"/>
                <a:sym typeface="Nunito Semi-Bold"/>
              </a:rPr>
              <a:t> coarse clustering on the full dataset, then split each cluster again.</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For each level, train a </a:t>
            </a:r>
            <a:r>
              <a:rPr lang="en-US" sz="2100" b="true">
                <a:solidFill>
                  <a:srgbClr val="111111"/>
                </a:solidFill>
                <a:latin typeface="Nunito Bold"/>
                <a:ea typeface="Nunito Bold"/>
                <a:cs typeface="Nunito Bold"/>
                <a:sym typeface="Nunito Bold"/>
              </a:rPr>
              <a:t>level-specific surrogate</a:t>
            </a:r>
            <a:r>
              <a:rPr lang="en-US" sz="2100" b="true">
                <a:solidFill>
                  <a:srgbClr val="111111"/>
                </a:solidFill>
                <a:latin typeface="Nunito Semi-Bold"/>
                <a:ea typeface="Nunito Semi-Bold"/>
                <a:cs typeface="Nunito Semi-Bold"/>
                <a:sym typeface="Nunito Semi-Bold"/>
              </a:rPr>
              <a:t> and compute SHAP in the </a:t>
            </a:r>
            <a:r>
              <a:rPr lang="en-US" sz="2100" b="true">
                <a:solidFill>
                  <a:srgbClr val="111111"/>
                </a:solidFill>
                <a:latin typeface="Nunito Bold"/>
                <a:ea typeface="Nunito Bold"/>
                <a:cs typeface="Nunito Bold"/>
                <a:sym typeface="Nunito Bold"/>
              </a:rPr>
              <a:t>SAME original feature space</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Cross-level aggregation is </a:t>
            </a:r>
            <a:r>
              <a:rPr lang="en-US" sz="2100" b="true">
                <a:solidFill>
                  <a:srgbClr val="111111"/>
                </a:solidFill>
                <a:latin typeface="Nunito Bold"/>
                <a:ea typeface="Nunito Bold"/>
                <a:cs typeface="Nunito Bold"/>
                <a:sym typeface="Nunito Bold"/>
              </a:rPr>
              <a:t>NOT a naive average</a:t>
            </a:r>
            <a:r>
              <a:rPr lang="en-US" sz="2100" b="true">
                <a:solidFill>
                  <a:srgbClr val="111111"/>
                </a:solidFill>
                <a:latin typeface="Nunito Semi-Bold"/>
                <a:ea typeface="Nunito Semi-Bold"/>
                <a:cs typeface="Nunito Semi-Bold"/>
                <a:sym typeface="Nunito Semi-Bold"/>
              </a:rPr>
              <a:t>: it respects cluster size and nesting structure.</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Parent-level attribution = an </a:t>
            </a:r>
            <a:r>
              <a:rPr lang="en-US" sz="1900" b="true">
                <a:solidFill>
                  <a:srgbClr val="111111"/>
                </a:solidFill>
                <a:latin typeface="Nunito Bold"/>
                <a:ea typeface="Nunito Bold"/>
                <a:cs typeface="Nunito Bold"/>
                <a:sym typeface="Nunito Bold"/>
              </a:rPr>
              <a:t>expectation over the explanations of its children</a:t>
            </a:r>
            <a:r>
              <a:rPr lang="en-US" sz="1900" b="true">
                <a:solidFill>
                  <a:srgbClr val="111111"/>
                </a:solidFill>
                <a:latin typeface="Nunito Semi-Bold"/>
                <a:ea typeface="Nunito Semi-Bold"/>
                <a:cs typeface="Nunito Semi-Bold"/>
                <a:sym typeface="Nunito Semi-Bold"/>
              </a:rPr>
              <a:t>.</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The hierarchy is a practical analysis tool, not a claim that nature is really organised this way.</a:t>
            </a:r>
          </a:p>
        </p:txBody>
      </p:sp>
      <p:sp>
        <p:nvSpPr>
          <p:cNvPr id="29" name="Rounded Rectangle 28"/>
          <p:cNvSpPr/>
          <p:nvPr/>
        </p:nvSpPr>
        <p:spPr>
          <a:xfrm>
            <a:off x="11258550" y="3363722"/>
            <a:ext cx="4000500" cy="868680"/>
          </a:xfrm>
          <a:prstGeom prst="roundRect">
            <a:avLst>
              <a:gd name="adj" fmla="val 21052"/>
            </a:avLst>
          </a:prstGeom>
          <a:solidFill>
            <a:srgbClr val="111111"/>
          </a:solidFill>
          <a:ln>
            <a:noFill/>
          </a:ln>
        </p:spPr>
        <p:txBody>
          <a:bodyPr anchor="ctr" rtlCol="false" lIns="91440" tIns="45720" rIns="91440" bIns="45720" wrap="square"/>
          <a:lstStyle/>
          <a:p>
            <a:pPr algn="ctr">
              <a:lnSpc>
                <a:spcPts val="2070"/>
              </a:lnSpc>
              <a:spcBef>
                <a:spcPts val="0"/>
              </a:spcBef>
              <a:buNone/>
            </a:pPr>
            <a:r>
              <a:rPr lang="en-US" sz="1800" b="true">
                <a:solidFill>
                  <a:srgbClr val="FFFFFF"/>
                </a:solidFill>
                <a:latin typeface="Nunito Bold"/>
                <a:ea typeface="Nunito Bold"/>
                <a:cs typeface="Nunito Bold"/>
                <a:sym typeface="Nunito Bold"/>
              </a:rPr>
              <a:t>Level 1 · coarse clustering (k = 3)</a:t>
            </a:r>
          </a:p>
        </p:txBody>
      </p:sp>
      <p:sp>
        <p:nvSpPr>
          <p:cNvPr id="30" name="Rounded Rectangle 29"/>
          <p:cNvSpPr/>
          <p:nvPr/>
        </p:nvSpPr>
        <p:spPr>
          <a:xfrm>
            <a:off x="9258300" y="4826762"/>
            <a:ext cx="2514600" cy="1234440"/>
          </a:xfrm>
          <a:prstGeom prst="roundRect">
            <a:avLst>
              <a:gd name="adj" fmla="val 14814"/>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A</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temp · dew point · ozone</a:t>
            </a:r>
          </a:p>
        </p:txBody>
      </p:sp>
      <p:cxnSp>
        <p:nvCxnSpPr>
          <p:cNvPr id="31" name="Connector 30"/>
          <p:cNvCxnSpPr/>
          <p:nvPr/>
        </p:nvCxnSpPr>
        <p:spPr>
          <a:xfrm flipH="1">
            <a:off x="10515600" y="4278122"/>
            <a:ext cx="2743200" cy="502920"/>
          </a:xfrm>
          <a:prstGeom prst="line">
            <a:avLst/>
          </a:prstGeom>
          <a:ln w="25400">
            <a:solidFill>
              <a:srgbClr val="4472C4"/>
            </a:solidFill>
            <a:tailEnd type="triangle" w="med" len="med"/>
          </a:ln>
        </p:spPr>
      </p:cxnSp>
      <p:sp>
        <p:nvSpPr>
          <p:cNvPr id="32" name="Rounded Rectangle 31"/>
          <p:cNvSpPr/>
          <p:nvPr/>
        </p:nvSpPr>
        <p:spPr>
          <a:xfrm>
            <a:off x="9258300"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33" name="Connector 32"/>
          <p:cNvCxnSpPr/>
          <p:nvPr/>
        </p:nvCxnSpPr>
        <p:spPr>
          <a:xfrm flipH="1">
            <a:off x="9859518" y="6088634"/>
            <a:ext cx="656082" cy="393192"/>
          </a:xfrm>
          <a:prstGeom prst="line">
            <a:avLst/>
          </a:prstGeom>
          <a:ln w="19050">
            <a:solidFill>
              <a:srgbClr val="4472C4"/>
            </a:solidFill>
            <a:tailEnd type="triangle" w="med" len="med"/>
          </a:ln>
        </p:spPr>
      </p:cxnSp>
      <p:sp>
        <p:nvSpPr>
          <p:cNvPr id="34" name="Rounded Rectangle 33"/>
          <p:cNvSpPr/>
          <p:nvPr/>
        </p:nvSpPr>
        <p:spPr>
          <a:xfrm>
            <a:off x="10570464"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35" name="Connector 34"/>
          <p:cNvCxnSpPr/>
          <p:nvPr/>
        </p:nvCxnSpPr>
        <p:spPr>
          <a:xfrm>
            <a:off x="10515600" y="6088634"/>
            <a:ext cx="656082" cy="393192"/>
          </a:xfrm>
          <a:prstGeom prst="line">
            <a:avLst/>
          </a:prstGeom>
          <a:ln w="19050">
            <a:solidFill>
              <a:srgbClr val="4472C4"/>
            </a:solidFill>
            <a:tailEnd type="triangle" w="med" len="med"/>
          </a:ln>
        </p:spPr>
      </p:cxnSp>
      <p:sp>
        <p:nvSpPr>
          <p:cNvPr id="36" name="Rounded Rectangle 35"/>
          <p:cNvSpPr/>
          <p:nvPr/>
        </p:nvSpPr>
        <p:spPr>
          <a:xfrm>
            <a:off x="12001500" y="4826762"/>
            <a:ext cx="2514600" cy="1234440"/>
          </a:xfrm>
          <a:prstGeom prst="roundRect">
            <a:avLst>
              <a:gd name="adj" fmla="val 14814"/>
            </a:avLst>
          </a:prstGeom>
          <a:solidFill>
            <a:srgbClr val="2F5597"/>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B</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CO · SO₂ · PM · wind</a:t>
            </a:r>
          </a:p>
        </p:txBody>
      </p:sp>
      <p:cxnSp>
        <p:nvCxnSpPr>
          <p:cNvPr id="37" name="Connector 36"/>
          <p:cNvCxnSpPr/>
          <p:nvPr/>
        </p:nvCxnSpPr>
        <p:spPr>
          <a:xfrm>
            <a:off x="13258800" y="4278122"/>
            <a:ext cx="0" cy="502920"/>
          </a:xfrm>
          <a:prstGeom prst="line">
            <a:avLst/>
          </a:prstGeom>
          <a:ln w="25400">
            <a:solidFill>
              <a:srgbClr val="4472C4"/>
            </a:solidFill>
            <a:tailEnd type="triangle" w="med" len="med"/>
          </a:ln>
        </p:spPr>
      </p:cxnSp>
      <p:sp>
        <p:nvSpPr>
          <p:cNvPr id="38" name="Rounded Rectangle 37"/>
          <p:cNvSpPr/>
          <p:nvPr/>
        </p:nvSpPr>
        <p:spPr>
          <a:xfrm>
            <a:off x="12001500"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39" name="Connector 38"/>
          <p:cNvCxnSpPr/>
          <p:nvPr/>
        </p:nvCxnSpPr>
        <p:spPr>
          <a:xfrm flipH="1">
            <a:off x="12602718" y="6088634"/>
            <a:ext cx="656082" cy="393192"/>
          </a:xfrm>
          <a:prstGeom prst="line">
            <a:avLst/>
          </a:prstGeom>
          <a:ln w="19050">
            <a:solidFill>
              <a:srgbClr val="4472C4"/>
            </a:solidFill>
            <a:tailEnd type="triangle" w="med" len="med"/>
          </a:ln>
        </p:spPr>
      </p:cxnSp>
      <p:sp>
        <p:nvSpPr>
          <p:cNvPr id="40" name="Rounded Rectangle 39"/>
          <p:cNvSpPr/>
          <p:nvPr/>
        </p:nvSpPr>
        <p:spPr>
          <a:xfrm>
            <a:off x="13313664"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41" name="Connector 40"/>
          <p:cNvCxnSpPr/>
          <p:nvPr/>
        </p:nvCxnSpPr>
        <p:spPr>
          <a:xfrm>
            <a:off x="13258800" y="6088634"/>
            <a:ext cx="656082" cy="393192"/>
          </a:xfrm>
          <a:prstGeom prst="line">
            <a:avLst/>
          </a:prstGeom>
          <a:ln w="19050">
            <a:solidFill>
              <a:srgbClr val="4472C4"/>
            </a:solidFill>
            <a:tailEnd type="triangle" w="med" len="med"/>
          </a:ln>
        </p:spPr>
      </p:cxnSp>
      <p:sp>
        <p:nvSpPr>
          <p:cNvPr id="42" name="Rounded Rectangle 41"/>
          <p:cNvSpPr/>
          <p:nvPr/>
        </p:nvSpPr>
        <p:spPr>
          <a:xfrm>
            <a:off x="14744700" y="4826762"/>
            <a:ext cx="2514600" cy="1234440"/>
          </a:xfrm>
          <a:prstGeom prst="roundRect">
            <a:avLst>
              <a:gd name="adj" fmla="val 148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C</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clean air · weather</a:t>
            </a:r>
          </a:p>
        </p:txBody>
      </p:sp>
      <p:cxnSp>
        <p:nvCxnSpPr>
          <p:cNvPr id="43" name="Connector 42"/>
          <p:cNvCxnSpPr/>
          <p:nvPr/>
        </p:nvCxnSpPr>
        <p:spPr>
          <a:xfrm>
            <a:off x="13258800" y="4278122"/>
            <a:ext cx="2743200" cy="502920"/>
          </a:xfrm>
          <a:prstGeom prst="line">
            <a:avLst/>
          </a:prstGeom>
          <a:ln w="25400">
            <a:solidFill>
              <a:srgbClr val="4472C4"/>
            </a:solidFill>
            <a:tailEnd type="triangle" w="med" len="med"/>
          </a:ln>
        </p:spPr>
      </p:cxnSp>
      <p:sp>
        <p:nvSpPr>
          <p:cNvPr id="44" name="Rounded Rectangle 43"/>
          <p:cNvSpPr/>
          <p:nvPr/>
        </p:nvSpPr>
        <p:spPr>
          <a:xfrm>
            <a:off x="14744700"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45" name="Connector 44"/>
          <p:cNvCxnSpPr/>
          <p:nvPr/>
        </p:nvCxnSpPr>
        <p:spPr>
          <a:xfrm flipH="1">
            <a:off x="15345918" y="6088634"/>
            <a:ext cx="656082" cy="393192"/>
          </a:xfrm>
          <a:prstGeom prst="line">
            <a:avLst/>
          </a:prstGeom>
          <a:ln w="19050">
            <a:solidFill>
              <a:srgbClr val="4472C4"/>
            </a:solidFill>
            <a:tailEnd type="triangle" w="med" len="med"/>
          </a:ln>
        </p:spPr>
      </p:cxnSp>
      <p:sp>
        <p:nvSpPr>
          <p:cNvPr id="46" name="Rounded Rectangle 45"/>
          <p:cNvSpPr/>
          <p:nvPr/>
        </p:nvSpPr>
        <p:spPr>
          <a:xfrm>
            <a:off x="16056864"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47" name="Connector 46"/>
          <p:cNvCxnSpPr/>
          <p:nvPr/>
        </p:nvCxnSpPr>
        <p:spPr>
          <a:xfrm>
            <a:off x="16002000" y="6088634"/>
            <a:ext cx="656082" cy="393192"/>
          </a:xfrm>
          <a:prstGeom prst="line">
            <a:avLst/>
          </a:prstGeom>
          <a:ln w="19050">
            <a:solidFill>
              <a:srgbClr val="4472C4"/>
            </a:solidFill>
            <a:tailEnd type="triangle" w="med" len="med"/>
          </a:ln>
        </p:spPr>
      </p:cxnSp>
      <p:sp>
        <p:nvSpPr>
          <p:cNvPr id="48" name="Rounded Rectangle 47"/>
          <p:cNvSpPr/>
          <p:nvPr/>
        </p:nvSpPr>
        <p:spPr>
          <a:xfrm>
            <a:off x="9258300" y="7341362"/>
            <a:ext cx="8001000" cy="1967230"/>
          </a:xfrm>
          <a:prstGeom prst="roundRect">
            <a:avLst>
              <a:gd name="adj" fmla="val 11620"/>
            </a:avLst>
          </a:prstGeom>
          <a:solidFill>
            <a:srgbClr val="4472C4"/>
          </a:solidFill>
          <a:ln>
            <a:noFill/>
          </a:ln>
        </p:spPr>
        <p:txBody>
          <a:bodyPr anchor="ctr" rtlCol="false" lIns="0" tIns="0" rIns="0" bIns="0" wrap="square"/>
          <a:lstStyle/>
          <a:p>
            <a:endParaRPr lang="en-US" sz="1800"/>
          </a:p>
        </p:txBody>
      </p:sp>
      <p:sp>
        <p:nvSpPr>
          <p:cNvPr id="49" name="TextBox 48"/>
          <p:cNvSpPr txBox="1"/>
          <p:nvPr/>
        </p:nvSpPr>
        <p:spPr>
          <a:xfrm>
            <a:off x="9258300" y="7487666"/>
            <a:ext cx="8001000" cy="274320"/>
          </a:xfrm>
          <a:prstGeom prst="rect">
            <a:avLst/>
          </a:prstGeom>
          <a:noFill/>
        </p:spPr>
        <p:txBody>
          <a:bodyPr anchor="t" rtlCol="false" lIns="0" tIns="0" rIns="0" bIns="0" wrap="square"/>
          <a:lstStyle/>
          <a:p>
            <a:pPr algn="ctr">
              <a:lnSpc>
                <a:spcPts val="1700"/>
              </a:lnSpc>
              <a:spcBef>
                <a:spcPts val="0"/>
              </a:spcBef>
              <a:buNone/>
            </a:pPr>
            <a:r>
              <a:rPr lang="en-US" sz="1400" b="true" spc="150">
                <a:solidFill>
                  <a:srgbClr val="ECC665"/>
                </a:solidFill>
                <a:latin typeface="Nunito Ultra-Bold"/>
                <a:ea typeface="Nunito Ultra-Bold"/>
                <a:cs typeface="Nunito Ultra-Bold"/>
                <a:sym typeface="Nunito Ultra-Bold"/>
              </a:rPr>
              <a:t>PROPOSITION 6.1  ·  CROSS-LEVEL CONSISTENCY</a:t>
            </a:r>
          </a:p>
        </p:txBody>
      </p:sp>
      <mc:AlternateContent xmlns:mc="http://schemas.openxmlformats.org/markup-compatibility/2006">
        <mc:Choice xmlns:a14="http://schemas.microsoft.com/office/drawing/2010/main" Requires="a14">
          <p:sp>
            <p:nvSpPr>
              <p:cNvPr id="50" name="Equation"/>
              <p:cNvSpPr txBox="1"/>
              <p:nvPr/>
            </p:nvSpPr>
            <p:spPr>
              <a:xfrm>
                <a:off x="9441180" y="7761986"/>
                <a:ext cx="7635240" cy="96012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200" i="1">
                              <a:solidFill>
                                <a:srgbClr val="FFFFFF"/>
                              </a:solidFill>
                              <a:latin typeface="Cambria Math" panose="02040503050406030204" pitchFamily="18" charset="0"/>
                            </a:rPr>
                          </m:ctrlPr>
                        </m:sSubSupPr>
                        <m:e>
                          <m:r>
                            <a:rPr lang="en-US" sz="2200" i="1">
                              <a:solidFill>
                                <a:srgbClr val="FFFFFF"/>
                              </a:solidFill>
                              <a:latin typeface="Cambria Math" panose="02040503050406030204" pitchFamily="18" charset="0"/>
                            </a:rPr>
                            <m:t xml:space="preserve">Φ</m:t>
                          </m:r>
                        </m:e>
                        <m:sub>
                          <m:r>
                            <a:rPr lang="en-US" sz="2200" i="1">
                              <a:solidFill>
                                <a:srgbClr val="FFFFFF"/>
                              </a:solidFill>
                              <a:latin typeface="Cambria Math" panose="02040503050406030204" pitchFamily="18" charset="0"/>
                            </a:rPr>
                            <m:t xml:space="preserve">j</m:t>
                          </m:r>
                        </m:sub>
                        <m:sup>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l</m:t>
                          </m:r>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p>
                      </m:sSubSup>
                      <m:r>
                        <m:rPr>
                          <m:sty m:val="p"/>
                        </m:rPr>
                        <a:rPr lang="en-US" sz="2200">
                          <a:solidFill>
                            <a:srgbClr val="FFFFFF"/>
                          </a:solidFill>
                          <a:latin typeface="Cambria Math" panose="02040503050406030204" pitchFamily="18" charset="0"/>
                        </a:rPr>
                        <m:t xml:space="preserve">=</m:t>
                      </m:r>
                      <m:nary>
                        <m:naryPr>
                          <m:chr m:val="∑"/>
                          <m:limLoc m:val="subSup"/>
                          <m:supHide m:val="1"/>
                          <m:ctrlPr>
                            <a:rPr lang="en-US" sz="2200" i="1">
                              <a:solidFill>
                                <a:srgbClr val="FFFFFF"/>
                              </a:solidFill>
                              <a:latin typeface="Cambria Math" panose="02040503050406030204" pitchFamily="18" charset="0"/>
                            </a:rPr>
                          </m:ctrlPr>
                        </m:naryPr>
                        <m:sub>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∈child(</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b>
                        <m:sup/>
                        <m:e>
                          <m:r>
                            <m:rPr>
                              <m:sty m:val="p"/>
                            </m:rPr>
                            <a:rPr lang="en-US" sz="2200">
                              <a:solidFill>
                                <a:srgbClr val="FFFFFF"/>
                              </a:solidFill>
                              <a:latin typeface="Cambria Math" panose="02040503050406030204" pitchFamily="18" charset="0"/>
                            </a:rPr>
                            <m:t xml:space="preserve"> </m:t>
                          </m:r>
                        </m:e>
                      </m:nary>
                      <m:sSub>
                        <m:sSubPr>
                          <m:ctrlPr>
                            <a:rPr lang="en-US" sz="2200" i="1">
                              <a:solidFill>
                                <a:srgbClr val="FFFFFF"/>
                              </a:solidFill>
                              <a:latin typeface="Cambria Math" panose="02040503050406030204" pitchFamily="18" charset="0"/>
                            </a:rPr>
                          </m:ctrlPr>
                        </m:sSubPr>
                        <m:e>
                          <m:r>
                            <a:rPr lang="en-US" sz="2200" i="1">
                              <a:solidFill>
                                <a:srgbClr val="FFFFFF"/>
                              </a:solidFill>
                              <a:latin typeface="Cambria Math" panose="02040503050406030204" pitchFamily="18" charset="0"/>
                            </a:rPr>
                            <m:t xml:space="preserve">w</m:t>
                          </m:r>
                        </m:e>
                        <m:sub>
                          <m:r>
                            <a:rPr lang="en-US" sz="2200" i="1">
                              <a:solidFill>
                                <a:srgbClr val="FFFFFF"/>
                              </a:solidFill>
                              <a:latin typeface="Cambria Math" panose="02040503050406030204" pitchFamily="18" charset="0"/>
                            </a:rPr>
                            <m:t xml:space="preserve">c′</m:t>
                          </m:r>
                        </m:sub>
                      </m:sSub>
                      <m:r>
                        <m:rPr>
                          <m:sty m:val="p"/>
                        </m:rPr>
                        <a:rPr lang="en-US" sz="2200">
                          <a:solidFill>
                            <a:srgbClr val="FFFFFF"/>
                          </a:solidFill>
                          <a:latin typeface="Cambria Math" panose="02040503050406030204" pitchFamily="18" charset="0"/>
                        </a:rPr>
                        <m:t xml:space="preserve"> </m:t>
                      </m:r>
                      <m:sSubSup>
                        <m:sSubSupPr>
                          <m:ctrlPr>
                            <a:rPr lang="en-US" sz="2200" i="1">
                              <a:solidFill>
                                <a:srgbClr val="FFFFFF"/>
                              </a:solidFill>
                              <a:latin typeface="Cambria Math" panose="02040503050406030204" pitchFamily="18" charset="0"/>
                            </a:rPr>
                          </m:ctrlPr>
                        </m:sSubSupPr>
                        <m:e>
                          <m:r>
                            <a:rPr lang="en-US" sz="2200" i="1">
                              <a:solidFill>
                                <a:srgbClr val="FFFFFF"/>
                              </a:solidFill>
                              <a:latin typeface="Cambria Math" panose="02040503050406030204" pitchFamily="18" charset="0"/>
                            </a:rPr>
                            <m:t xml:space="preserve">Φ</m:t>
                          </m:r>
                        </m:e>
                        <m:sub>
                          <m:r>
                            <a:rPr lang="en-US" sz="2200" i="1">
                              <a:solidFill>
                                <a:srgbClr val="FFFFFF"/>
                              </a:solidFill>
                              <a:latin typeface="Cambria Math" panose="02040503050406030204" pitchFamily="18" charset="0"/>
                            </a:rPr>
                            <m:t xml:space="preserve">j</m:t>
                          </m:r>
                        </m:sub>
                        <m:sup>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l</m:t>
                          </m:r>
                          <m:r>
                            <m:rPr>
                              <m:sty m:val="p"/>
                            </m:rPr>
                            <a:rPr lang="en-US" sz="2200">
                              <a:solidFill>
                                <a:srgbClr val="FFFFFF"/>
                              </a:solidFill>
                              <a:latin typeface="Cambria Math" panose="02040503050406030204" pitchFamily="18" charset="0"/>
                            </a:rPr>
                            <m:t xml:space="preserve">+1, </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p>
                      </m:sSubSup>
                      <m:r>
                        <m:rPr>
                          <m:sty m:val="p"/>
                        </m:rPr>
                        <a:rPr lang="en-US" sz="2200">
                          <a:solidFill>
                            <a:srgbClr val="FFFFFF"/>
                          </a:solidFill>
                          <a:latin typeface="Cambria Math" panose="02040503050406030204" pitchFamily="18" charset="0"/>
                        </a:rPr>
                        <m:t xml:space="preserve">+</m:t>
                      </m:r>
                      <m:sSub>
                        <m:sSubPr>
                          <m:ctrlPr>
                            <a:rPr lang="en-US" sz="2200" i="1">
                              <a:solidFill>
                                <a:srgbClr val="FFFFFF"/>
                              </a:solidFill>
                              <a:latin typeface="Cambria Math" panose="02040503050406030204" pitchFamily="18" charset="0"/>
                            </a:rPr>
                          </m:ctrlPr>
                        </m:sSubPr>
                        <m:e>
                          <m:r>
                            <a:rPr lang="en-US" sz="2200" i="1">
                              <a:solidFill>
                                <a:srgbClr val="FFFFFF"/>
                              </a:solidFill>
                              <a:latin typeface="Cambria Math" panose="02040503050406030204" pitchFamily="18" charset="0"/>
                            </a:rPr>
                            <m:t xml:space="preserve">ε</m:t>
                          </m:r>
                        </m:e>
                        <m:sub>
                          <m:r>
                            <a:rPr lang="en-US" sz="2200" i="1">
                              <a:solidFill>
                                <a:srgbClr val="FFFFFF"/>
                              </a:solidFill>
                              <a:latin typeface="Cambria Math" panose="02040503050406030204" pitchFamily="18" charset="0"/>
                            </a:rPr>
                            <m:t xml:space="preserve">j</m:t>
                          </m:r>
                        </m:sub>
                      </m:sSub>
                    </m:oMath>
                  </m:oMathPara>
                </a14:m>
                <a:endParaRPr lang="en-US" sz="2200"/>
              </a:p>
            </p:txBody>
          </p:sp>
        </mc:Choice>
        <mc:Fallback>
          <p:sp>
            <p:nvSpPr>
              <p:cNvPr id="50" name="Equation"/>
              <p:cNvSpPr txBox="1"/>
              <p:nvPr/>
            </p:nvSpPr>
            <p:spPr>
              <a:xfrm>
                <a:off x="9441180" y="7761986"/>
                <a:ext cx="7635240" cy="960120"/>
              </a:xfrm>
              <a:prstGeom prst="rect">
                <a:avLst/>
              </a:prstGeom>
              <a:blipFill>
                <a:blip r:embed="rId5"/>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51" name="Equation"/>
              <p:cNvSpPr txBox="1"/>
              <p:nvPr/>
            </p:nvSpPr>
            <p:spPr>
              <a:xfrm>
                <a:off x="9441180" y="8712962"/>
                <a:ext cx="7635240" cy="45720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1600" i="1">
                              <a:solidFill>
                                <a:srgbClr val="D6E4F7"/>
                              </a:solidFill>
                              <a:latin typeface="Cambria Math" panose="02040503050406030204" pitchFamily="18" charset="0"/>
                            </a:rPr>
                          </m:ctrlPr>
                        </m:sSubPr>
                        <m:e>
                          <m:r>
                            <a:rPr lang="en-US" sz="1600" i="1">
                              <a:solidFill>
                                <a:srgbClr val="D6E4F7"/>
                              </a:solidFill>
                              <a:latin typeface="Cambria Math" panose="02040503050406030204" pitchFamily="18" charset="0"/>
                            </a:rPr>
                            <m:t xml:space="preserve">w</m:t>
                          </m:r>
                        </m:e>
                        <m:sub>
                          <m:r>
                            <a:rPr lang="en-US" sz="1600" i="1">
                              <a:solidFill>
                                <a:srgbClr val="D6E4F7"/>
                              </a:solidFill>
                              <a:latin typeface="Cambria Math" panose="02040503050406030204" pitchFamily="18" charset="0"/>
                            </a:rPr>
                            <m:t xml:space="preserve">c′</m:t>
                          </m:r>
                        </m:sub>
                      </m:sSub>
                      <m:r>
                        <m:rPr>
                          <m:sty m:val="p"/>
                        </m:rPr>
                        <a:rPr lang="en-US" sz="1600">
                          <a:solidFill>
                            <a:srgbClr val="D6E4F7"/>
                          </a:solidFill>
                          <a:latin typeface="Cambria Math" panose="02040503050406030204" pitchFamily="18" charset="0"/>
                        </a:rPr>
                        <m:t xml:space="preserve">=|</m:t>
                      </m:r>
                      <m:r>
                        <a:rPr lang="en-US" sz="1600" i="1">
                          <a:solidFill>
                            <a:srgbClr val="D6E4F7"/>
                          </a:solidFill>
                          <a:latin typeface="Cambria Math" panose="02040503050406030204" pitchFamily="18" charset="0"/>
                        </a:rPr>
                        <m:t xml:space="preserve">c′</m:t>
                      </m:r>
                      <m:r>
                        <m:rPr>
                          <m:sty m:val="p"/>
                        </m:rPr>
                        <a:rPr lang="en-US" sz="1600">
                          <a:solidFill>
                            <a:srgbClr val="D6E4F7"/>
                          </a:solidFill>
                          <a:latin typeface="Cambria Math" panose="02040503050406030204" pitchFamily="18" charset="0"/>
                        </a:rPr>
                        <m:t xml:space="preserve">| / |</m:t>
                      </m:r>
                      <m:r>
                        <a:rPr lang="en-US" sz="1600" i="1">
                          <a:solidFill>
                            <a:srgbClr val="D6E4F7"/>
                          </a:solidFill>
                          <a:latin typeface="Cambria Math" panose="02040503050406030204" pitchFamily="18" charset="0"/>
                        </a:rPr>
                        <m:t xml:space="preserve">c</m:t>
                      </m:r>
                      <m:r>
                        <m:rPr>
                          <m:sty m:val="p"/>
                        </m:rPr>
                        <a:rPr lang="en-US" sz="1600">
                          <a:solidFill>
                            <a:srgbClr val="D6E4F7"/>
                          </a:solidFill>
                          <a:latin typeface="Cambria Math" panose="02040503050406030204" pitchFamily="18" charset="0"/>
                        </a:rPr>
                        <m:t xml:space="preserve">|,  </m:t>
                      </m:r>
                      <m:sSub>
                        <m:sSubPr>
                          <m:ctrlPr>
                            <a:rPr lang="en-US" sz="1600" i="1">
                              <a:solidFill>
                                <a:srgbClr val="D6E4F7"/>
                              </a:solidFill>
                              <a:latin typeface="Cambria Math" panose="02040503050406030204" pitchFamily="18" charset="0"/>
                            </a:rPr>
                          </m:ctrlPr>
                        </m:sSubPr>
                        <m:e>
                          <m:r>
                            <a:rPr lang="en-US" sz="1600" i="1">
                              <a:solidFill>
                                <a:srgbClr val="D6E4F7"/>
                              </a:solidFill>
                              <a:latin typeface="Cambria Math" panose="02040503050406030204" pitchFamily="18" charset="0"/>
                            </a:rPr>
                            <m:t xml:space="preserve">ε</m:t>
                          </m:r>
                        </m:e>
                        <m:sub>
                          <m:r>
                            <a:rPr lang="en-US" sz="1600" i="1">
                              <a:solidFill>
                                <a:srgbClr val="D6E4F7"/>
                              </a:solidFill>
                              <a:latin typeface="Cambria Math" panose="02040503050406030204" pitchFamily="18" charset="0"/>
                            </a:rPr>
                            <m:t xml:space="preserve">j</m:t>
                          </m:r>
                        </m:sub>
                      </m:sSub>
                      <m:r>
                        <m:rPr>
                          <m:sty m:val="p"/>
                        </m:rPr>
                        <a:rPr lang="en-US" sz="1600">
                          <a:solidFill>
                            <a:srgbClr val="D6E4F7"/>
                          </a:solidFill>
                          <a:latin typeface="Cambria Math" panose="02040503050406030204" pitchFamily="18" charset="0"/>
                        </a:rPr>
                        <m:t xml:space="preserve">→0</m:t>
                      </m:r>
                      <m:r>
                        <m:rPr>
                          <m:nor/>
                        </m:rPr>
                        <a:rPr lang="en-US" sz="1600">
                          <a:solidFill>
                            <a:srgbClr val="D6E4F7"/>
                          </a:solidFill>
                          <a:latin typeface="Cambria Math" panose="02040503050406030204" pitchFamily="18" charset="0"/>
                        </a:rPr>
                        <m:t xml:space="preserve">  under perfect surrogate fidelity</m:t>
                      </m:r>
                    </m:oMath>
                  </m:oMathPara>
                </a14:m>
                <a:endParaRPr lang="en-US" sz="1600"/>
              </a:p>
            </p:txBody>
          </p:sp>
        </mc:Choice>
        <mc:Fallback>
          <p:sp>
            <p:nvSpPr>
              <p:cNvPr id="51" name="Equation"/>
              <p:cNvSpPr txBox="1"/>
              <p:nvPr/>
            </p:nvSpPr>
            <p:spPr>
              <a:xfrm>
                <a:off x="9441180" y="8712962"/>
                <a:ext cx="7635240" cy="457200"/>
              </a:xfrm>
              <a:prstGeom prst="rect">
                <a:avLst/>
              </a:prstGeom>
              <a:blipFill>
                <a:blip r:embed="rId6"/>
                <a:stretch>
                  <a:fillRect/>
                </a:stretch>
              </a:blipFill>
            </p:spPr>
            <p:txBody>
              <a:bodyPr/>
              <a:lstStyle/>
              <a:p>
                <a:endParaRPr lang="en-US"/>
              </a:p>
            </p:txBody>
          </p:sp>
        </mc:Fallback>
      </mc:AlternateContent>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Proposition 6.1: Cross-Level Consistency</a:t>
            </a:r>
          </a:p>
        </p:txBody>
      </p:sp>
      <p:pic>
        <p:nvPicPr>
          <p:cNvPr id="23" name="Picture 22" descr="image.png"/>
          <p:cNvPicPr>
            <a:picLocks noChangeAspect="1"/>
          </p:cNvPicPr>
          <p:nvPr/>
        </p:nvPicPr>
        <p:blipFill>
          <a:blip r:embed="rId3"/>
          <a:stretch>
            <a:fillRect/>
          </a:stretch>
        </p:blipFill>
        <p:spPr>
          <a:xfrm>
            <a:off x="11568381"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Oval 27"/>
          <p:cNvSpPr/>
          <p:nvPr/>
        </p:nvSpPr>
        <p:spPr>
          <a:xfrm>
            <a:off x="1028700" y="3555746"/>
            <a:ext cx="274320" cy="274320"/>
          </a:xfrm>
          <a:prstGeom prst="ellipse">
            <a:avLst/>
          </a:prstGeom>
          <a:solidFill>
            <a:srgbClr val="1F7A8C"/>
          </a:solidFill>
          <a:ln>
            <a:noFill/>
          </a:ln>
        </p:spPr>
        <p:txBody>
          <a:bodyPr anchor="ctr" rtlCol="false" lIns="0" tIns="0" rIns="0" bIns="0" wrap="square"/>
          <a:lstStyle/>
          <a:p>
            <a:pPr algn="ctr">
              <a:lnSpc>
                <a:spcPts val="2860"/>
              </a:lnSpc>
              <a:spcBef>
                <a:spcPts val="0"/>
              </a:spcBef>
              <a:buNone/>
            </a:pPr>
          </a:p>
        </p:txBody>
      </p:sp>
      <mc:AlternateContent xmlns:mc="http://schemas.openxmlformats.org/markup-compatibility/2006">
        <mc:Choice xmlns:a14="http://schemas.microsoft.com/office/drawing/2010/main" Requires="a14">
          <p:sp>
            <p:nvSpPr>
              <p:cNvPr id="29" name="Equation"/>
              <p:cNvSpPr txBox="1"/>
              <p:nvPr/>
            </p:nvSpPr>
            <p:spPr>
              <a:xfrm>
                <a:off x="1440180" y="3363722"/>
                <a:ext cx="3840480" cy="658368"/>
              </a:xfrm>
              <a:prstGeom prst="rect">
                <a:avLst/>
              </a:prstGeom>
              <a:noFill/>
            </p:spPr>
            <p:txBody>
              <a:bodyPr wrap="none" rtlCol="0" anchor="ctr" lIns="0" tIns="0" rIns="0" bIns="0"/>
              <a:lstStyle/>
              <a:p>
                <a:pPr algn="l"/>
                <a14:m xmlns:m="http://schemas.openxmlformats.org/officeDocument/2006/math">
                  <m:oMathPara>
                    <m:oMathParaPr>
                      <m:jc m:val="left"/>
                    </m:oMathParaPr>
                    <m:oMath>
                      <m:sSubSup>
                        <m:sSubSupPr>
                          <m:ctrlPr>
                            <a:rPr lang="en-US" sz="1800" i="1">
                              <a:solidFill>
                                <a:srgbClr val="4472C4"/>
                              </a:solidFill>
                              <a:latin typeface="Cambria Math" panose="02040503050406030204" pitchFamily="18" charset="0"/>
                            </a:rPr>
                          </m:ctrlPr>
                        </m:sSubSupPr>
                        <m:e>
                          <m:r>
                            <a:rPr lang="en-US" sz="1800" i="1">
                              <a:solidFill>
                                <a:srgbClr val="4472C4"/>
                              </a:solidFill>
                              <a:latin typeface="Cambria Math" panose="02040503050406030204" pitchFamily="18" charset="0"/>
                            </a:rPr>
                            <m:t xml:space="preserve">Φ</m:t>
                          </m:r>
                        </m:e>
                        <m:sub>
                          <m:r>
                            <a:rPr lang="en-US" sz="1800" i="1">
                              <a:solidFill>
                                <a:srgbClr val="4472C4"/>
                              </a:solidFill>
                              <a:latin typeface="Cambria Math" panose="02040503050406030204" pitchFamily="18" charset="0"/>
                            </a:rPr>
                            <m:t xml:space="preserve">j</m:t>
                          </m:r>
                        </m:sub>
                        <m:sup>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l</m:t>
                          </m:r>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c</m:t>
                          </m:r>
                          <m:r>
                            <m:rPr>
                              <m:sty m:val="p"/>
                            </m:rPr>
                            <a:rPr lang="en-US" sz="1800">
                              <a:solidFill>
                                <a:srgbClr val="4472C4"/>
                              </a:solidFill>
                              <a:latin typeface="Cambria Math" panose="02040503050406030204" pitchFamily="18" charset="0"/>
                            </a:rPr>
                            <m:t xml:space="preserve">)</m:t>
                          </m:r>
                        </m:sup>
                      </m:sSubSup>
                      <m:r>
                        <m:rPr>
                          <m:sty m:val="p"/>
                        </m:rPr>
                        <a:rPr lang="en-US" sz="1800">
                          <a:solidFill>
                            <a:srgbClr val="4472C4"/>
                          </a:solidFill>
                          <a:latin typeface="Cambria Math" panose="02040503050406030204" pitchFamily="18" charset="0"/>
                        </a:rPr>
                        <m:t xml:space="preserve">=</m:t>
                      </m:r>
                      <m:sSub>
                        <m:sSubPr>
                          <m:ctrlPr>
                            <a:rPr lang="en-US" sz="1800" i="1">
                              <a:solidFill>
                                <a:srgbClr val="4472C4"/>
                              </a:solidFill>
                              <a:latin typeface="Cambria Math" panose="02040503050406030204" pitchFamily="18" charset="0"/>
                            </a:rPr>
                          </m:ctrlPr>
                        </m:sSubPr>
                        <m:e>
                          <m:r>
                            <m:rPr>
                              <m:scr m:val="double-struck"/>
                              <m:sty m:val="p"/>
                            </m:rPr>
                            <a:rPr lang="en-US" sz="1800">
                              <a:solidFill>
                                <a:srgbClr val="4472C4"/>
                              </a:solidFill>
                              <a:latin typeface="Cambria Math" panose="02040503050406030204" pitchFamily="18" charset="0"/>
                            </a:rPr>
                            <m:t xml:space="preserve">E</m:t>
                          </m:r>
                        </m:e>
                        <m:sub>
                          <m:r>
                            <a:rPr lang="en-US" sz="1800" i="1">
                              <a:solidFill>
                                <a:srgbClr val="4472C4"/>
                              </a:solidFill>
                              <a:latin typeface="Cambria Math" panose="02040503050406030204" pitchFamily="18" charset="0"/>
                            </a:rPr>
                            <m:t xml:space="preserve">x</m:t>
                          </m:r>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c</m:t>
                          </m:r>
                        </m:sub>
                      </m:sSub>
                      <m:d>
                        <m:dPr>
                          <m:begChr m:val="["/>
                          <m:endChr m:val="]"/>
                          <m:ctrlPr>
                            <a:rPr lang="en-US" sz="1800" i="1">
                              <a:solidFill>
                                <a:srgbClr val="4472C4"/>
                              </a:solidFill>
                              <a:latin typeface="Cambria Math" panose="02040503050406030204" pitchFamily="18" charset="0"/>
                            </a:rPr>
                          </m:ctrlPr>
                        </m:dPr>
                        <m:e>
                          <m:r>
                            <m:rPr>
                              <m:sty m:val="p"/>
                            </m:rPr>
                            <a:rPr lang="en-US" sz="1800">
                              <a:solidFill>
                                <a:srgbClr val="4472C4"/>
                              </a:solidFill>
                              <a:latin typeface="Cambria Math" panose="02040503050406030204" pitchFamily="18" charset="0"/>
                            </a:rPr>
                            <m:t xml:space="preserve"> </m:t>
                          </m:r>
                          <m:d>
                            <m:dPr>
                              <m:begChr m:val="|"/>
                              <m:endChr m:val="|"/>
                              <m:ctrlPr>
                                <a:rPr lang="en-US" sz="1800" i="1">
                                  <a:solidFill>
                                    <a:srgbClr val="4472C4"/>
                                  </a:solidFill>
                                  <a:latin typeface="Cambria Math" panose="02040503050406030204" pitchFamily="18" charset="0"/>
                                </a:rPr>
                              </m:ctrlPr>
                            </m:dPr>
                            <m:e>
                              <m:sSubSup>
                                <m:sSubSupPr>
                                  <m:ctrlPr>
                                    <a:rPr lang="en-US" sz="1800" i="1">
                                      <a:solidFill>
                                        <a:srgbClr val="4472C4"/>
                                      </a:solidFill>
                                      <a:latin typeface="Cambria Math" panose="02040503050406030204" pitchFamily="18" charset="0"/>
                                    </a:rPr>
                                  </m:ctrlPr>
                                </m:sSubSupPr>
                                <m:e>
                                  <m:r>
                                    <a:rPr lang="en-US" sz="1800" i="1">
                                      <a:solidFill>
                                        <a:srgbClr val="4472C4"/>
                                      </a:solidFill>
                                      <a:latin typeface="Cambria Math" panose="02040503050406030204" pitchFamily="18" charset="0"/>
                                    </a:rPr>
                                    <m:t xml:space="preserve">φ</m:t>
                                  </m:r>
                                </m:e>
                                <m:sub>
                                  <m:r>
                                    <a:rPr lang="en-US" sz="1800" i="1">
                                      <a:solidFill>
                                        <a:srgbClr val="4472C4"/>
                                      </a:solidFill>
                                      <a:latin typeface="Cambria Math" panose="02040503050406030204" pitchFamily="18" charset="0"/>
                                    </a:rPr>
                                    <m:t xml:space="preserve">j</m:t>
                                  </m:r>
                                </m:sub>
                                <m:sup>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l</m:t>
                                  </m:r>
                                  <m:r>
                                    <m:rPr>
                                      <m:sty m:val="p"/>
                                    </m:rPr>
                                    <a:rPr lang="en-US" sz="1800">
                                      <a:solidFill>
                                        <a:srgbClr val="4472C4"/>
                                      </a:solidFill>
                                      <a:latin typeface="Cambria Math" panose="02040503050406030204" pitchFamily="18" charset="0"/>
                                    </a:rPr>
                                    <m:t xml:space="preserve">)</m:t>
                                  </m:r>
                                </m:sup>
                              </m:sSubSup>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x</m:t>
                              </m:r>
                              <m:r>
                                <m:rPr>
                                  <m:sty m:val="p"/>
                                </m:rPr>
                                <a:rPr lang="en-US" sz="1800">
                                  <a:solidFill>
                                    <a:srgbClr val="4472C4"/>
                                  </a:solidFill>
                                  <a:latin typeface="Cambria Math" panose="02040503050406030204" pitchFamily="18" charset="0"/>
                                </a:rPr>
                                <m:t xml:space="preserve">)</m:t>
                              </m:r>
                            </m:e>
                          </m:d>
                          <m:r>
                            <m:rPr>
                              <m:sty m:val="p"/>
                            </m:rPr>
                            <a:rPr lang="en-US" sz="1800">
                              <a:solidFill>
                                <a:srgbClr val="4472C4"/>
                              </a:solidFill>
                              <a:latin typeface="Cambria Math" panose="02040503050406030204" pitchFamily="18" charset="0"/>
                            </a:rPr>
                            <m:t xml:space="preserve"> </m:t>
                          </m:r>
                        </m:e>
                      </m:d>
                    </m:oMath>
                  </m:oMathPara>
                </a14:m>
                <a:endParaRPr lang="en-US" sz="1800"/>
              </a:p>
            </p:txBody>
          </p:sp>
        </mc:Choice>
        <mc:Fallback>
          <p:sp>
            <p:nvSpPr>
              <p:cNvPr id="29" name="Equation"/>
              <p:cNvSpPr txBox="1"/>
              <p:nvPr/>
            </p:nvSpPr>
            <p:spPr>
              <a:xfrm>
                <a:off x="1440180" y="3363722"/>
                <a:ext cx="3840480" cy="658368"/>
              </a:xfrm>
              <a:prstGeom prst="rect">
                <a:avLst/>
              </a:prstGeom>
              <a:blipFill>
                <a:blip r:embed="rId5"/>
                <a:stretch>
                  <a:fillRect/>
                </a:stretch>
              </a:blipFill>
            </p:spPr>
            <p:txBody>
              <a:bodyPr/>
              <a:lstStyle/>
              <a:p>
                <a:endParaRPr lang="en-US"/>
              </a:p>
            </p:txBody>
          </p:sp>
        </mc:Fallback>
      </mc:AlternateContent>
      <p:sp>
        <p:nvSpPr>
          <p:cNvPr id="30" name="TextBox 29"/>
          <p:cNvSpPr txBox="1"/>
          <p:nvPr/>
        </p:nvSpPr>
        <p:spPr>
          <a:xfrm>
            <a:off x="5463540" y="3363722"/>
            <a:ext cx="3794760" cy="658368"/>
          </a:xfrm>
          <a:prstGeom prst="rect">
            <a:avLst/>
          </a:prstGeom>
          <a:noFill/>
        </p:spPr>
        <p:txBody>
          <a:bodyPr anchor="ctr" rtlCol="false" lIns="0" tIns="0" rIns="0" bIns="0" wrap="square"/>
          <a:lstStyle/>
          <a:p>
            <a:pPr algn="l">
              <a:lnSpc>
                <a:spcPts val="2100"/>
              </a:lnSpc>
              <a:spcBef>
                <a:spcPts val="0"/>
              </a:spcBef>
              <a:buNone/>
            </a:pPr>
            <a:r>
              <a:rPr lang="en-US" sz="1700" b="true">
                <a:solidFill>
                  <a:srgbClr val="111111"/>
                </a:solidFill>
                <a:latin typeface="Nunito Semi-Bold"/>
                <a:ea typeface="Nunito Semi-Bold"/>
                <a:cs typeface="Nunito Semi-Bold"/>
                <a:sym typeface="Nunito Semi-Bold"/>
              </a:rPr>
              <a:t>expected absolute SHAP importance of feature j at level l in cluster c</a:t>
            </a:r>
          </a:p>
        </p:txBody>
      </p:sp>
      <p:sp>
        <p:nvSpPr>
          <p:cNvPr id="31" name="Oval 30"/>
          <p:cNvSpPr/>
          <p:nvPr/>
        </p:nvSpPr>
        <p:spPr>
          <a:xfrm>
            <a:off x="1028700" y="4287266"/>
            <a:ext cx="274320" cy="274320"/>
          </a:xfrm>
          <a:prstGeom prst="ellipse">
            <a:avLst/>
          </a:prstGeom>
          <a:solidFill>
            <a:srgbClr val="1F7A8C"/>
          </a:solidFill>
          <a:ln>
            <a:noFill/>
          </a:ln>
        </p:spPr>
        <p:txBody>
          <a:bodyPr anchor="ctr" rtlCol="false" lIns="0" tIns="0" rIns="0" bIns="0" wrap="square"/>
          <a:lstStyle/>
          <a:p>
            <a:pPr algn="ctr">
              <a:lnSpc>
                <a:spcPts val="2860"/>
              </a:lnSpc>
              <a:spcBef>
                <a:spcPts val="0"/>
              </a:spcBef>
              <a:buNone/>
            </a:pPr>
          </a:p>
        </p:txBody>
      </p:sp>
      <mc:AlternateContent xmlns:mc="http://schemas.openxmlformats.org/markup-compatibility/2006">
        <mc:Choice xmlns:a14="http://schemas.microsoft.com/office/drawing/2010/main" Requires="a14">
          <p:sp>
            <p:nvSpPr>
              <p:cNvPr id="32" name="Equation"/>
              <p:cNvSpPr txBox="1"/>
              <p:nvPr/>
            </p:nvSpPr>
            <p:spPr>
              <a:xfrm>
                <a:off x="1440180" y="4095242"/>
                <a:ext cx="3840480" cy="658368"/>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2100" i="1">
                              <a:solidFill>
                                <a:srgbClr val="4472C4"/>
                              </a:solidFill>
                              <a:latin typeface="Cambria Math" panose="02040503050406030204" pitchFamily="18" charset="0"/>
                            </a:rPr>
                          </m:ctrlPr>
                        </m:sSubPr>
                        <m:e>
                          <m:r>
                            <a:rPr lang="en-US" sz="2100" i="1">
                              <a:solidFill>
                                <a:srgbClr val="4472C4"/>
                              </a:solidFill>
                              <a:latin typeface="Cambria Math" panose="02040503050406030204" pitchFamily="18" charset="0"/>
                            </a:rPr>
                            <m:t xml:space="preserve">w</m:t>
                          </m:r>
                        </m:e>
                        <m:sub>
                          <m:r>
                            <a:rPr lang="en-US" sz="2100" i="1">
                              <a:solidFill>
                                <a:srgbClr val="4472C4"/>
                              </a:solidFill>
                              <a:latin typeface="Cambria Math" panose="02040503050406030204" pitchFamily="18" charset="0"/>
                            </a:rPr>
                            <m:t xml:space="preserve">c′</m:t>
                          </m:r>
                        </m:sub>
                      </m:sSub>
                      <m:r>
                        <m:rPr>
                          <m:sty m:val="p"/>
                        </m:rPr>
                        <a:rPr lang="en-US" sz="2100">
                          <a:solidFill>
                            <a:srgbClr val="4472C4"/>
                          </a:solidFill>
                          <a:latin typeface="Cambria Math" panose="02040503050406030204" pitchFamily="18" charset="0"/>
                        </a:rPr>
                        <m:t xml:space="preserve">=|</m:t>
                      </m:r>
                      <m:r>
                        <a:rPr lang="en-US" sz="2100" i="1">
                          <a:solidFill>
                            <a:srgbClr val="4472C4"/>
                          </a:solidFill>
                          <a:latin typeface="Cambria Math" panose="02040503050406030204" pitchFamily="18" charset="0"/>
                        </a:rPr>
                        <m:t xml:space="preserve">c′</m:t>
                      </m:r>
                      <m:r>
                        <m:rPr>
                          <m:sty m:val="p"/>
                        </m:rPr>
                        <a:rPr lang="en-US" sz="2100">
                          <a:solidFill>
                            <a:srgbClr val="4472C4"/>
                          </a:solidFill>
                          <a:latin typeface="Cambria Math" panose="02040503050406030204" pitchFamily="18" charset="0"/>
                        </a:rPr>
                        <m:t xml:space="preserve">| / |</m:t>
                      </m:r>
                      <m:r>
                        <a:rPr lang="en-US" sz="2100" i="1">
                          <a:solidFill>
                            <a:srgbClr val="4472C4"/>
                          </a:solidFill>
                          <a:latin typeface="Cambria Math" panose="02040503050406030204" pitchFamily="18" charset="0"/>
                        </a:rPr>
                        <m:t xml:space="preserve">c</m:t>
                      </m:r>
                      <m:r>
                        <m:rPr>
                          <m:sty m:val="p"/>
                        </m:rPr>
                        <a:rPr lang="en-US" sz="2100">
                          <a:solidFill>
                            <a:srgbClr val="4472C4"/>
                          </a:solidFill>
                          <a:latin typeface="Cambria Math" panose="02040503050406030204" pitchFamily="18" charset="0"/>
                        </a:rPr>
                        <m:t xml:space="preserve">|</m:t>
                      </m:r>
                    </m:oMath>
                  </m:oMathPara>
                </a14:m>
                <a:endParaRPr lang="en-US" sz="2100"/>
              </a:p>
            </p:txBody>
          </p:sp>
        </mc:Choice>
        <mc:Fallback>
          <p:sp>
            <p:nvSpPr>
              <p:cNvPr id="32" name="Equation"/>
              <p:cNvSpPr txBox="1"/>
              <p:nvPr/>
            </p:nvSpPr>
            <p:spPr>
              <a:xfrm>
                <a:off x="1440180" y="4095242"/>
                <a:ext cx="3840480" cy="658368"/>
              </a:xfrm>
              <a:prstGeom prst="rect">
                <a:avLst/>
              </a:prstGeom>
              <a:blipFill>
                <a:blip r:embed="rId6"/>
                <a:stretch>
                  <a:fillRect/>
                </a:stretch>
              </a:blipFill>
            </p:spPr>
            <p:txBody>
              <a:bodyPr/>
              <a:lstStyle/>
              <a:p>
                <a:endParaRPr lang="en-US"/>
              </a:p>
            </p:txBody>
          </p:sp>
        </mc:Fallback>
      </mc:AlternateContent>
      <p:sp>
        <p:nvSpPr>
          <p:cNvPr id="33" name="TextBox 32"/>
          <p:cNvSpPr txBox="1"/>
          <p:nvPr/>
        </p:nvSpPr>
        <p:spPr>
          <a:xfrm>
            <a:off x="5463540" y="4095242"/>
            <a:ext cx="3794760" cy="658368"/>
          </a:xfrm>
          <a:prstGeom prst="rect">
            <a:avLst/>
          </a:prstGeom>
          <a:noFill/>
        </p:spPr>
        <p:txBody>
          <a:bodyPr anchor="ctr" rtlCol="false" lIns="0" tIns="0" rIns="0" bIns="0" wrap="square"/>
          <a:lstStyle/>
          <a:p>
            <a:pPr algn="l">
              <a:lnSpc>
                <a:spcPts val="2100"/>
              </a:lnSpc>
              <a:spcBef>
                <a:spcPts val="0"/>
              </a:spcBef>
              <a:buNone/>
            </a:pPr>
            <a:r>
              <a:rPr lang="en-US" sz="1700" b="true">
                <a:solidFill>
                  <a:srgbClr val="111111"/>
                </a:solidFill>
                <a:latin typeface="Nunito Semi-Bold"/>
                <a:ea typeface="Nunito Semi-Bold"/>
                <a:cs typeface="Nunito Semi-Bold"/>
                <a:sym typeface="Nunito Semi-Bold"/>
              </a:rPr>
              <a:t>relative size of child c′ within parent c</a:t>
            </a:r>
          </a:p>
        </p:txBody>
      </p:sp>
      <p:sp>
        <p:nvSpPr>
          <p:cNvPr id="34" name="TextBox 33"/>
          <p:cNvSpPr txBox="1"/>
          <p:nvPr/>
        </p:nvSpPr>
        <p:spPr>
          <a:xfrm>
            <a:off x="1028700" y="4936490"/>
            <a:ext cx="8229600" cy="365760"/>
          </a:xfrm>
          <a:prstGeom prst="rect">
            <a:avLst/>
          </a:prstGeom>
          <a:noFill/>
        </p:spPr>
        <p:txBody>
          <a:bodyPr anchor="t" rtlCol="false" lIns="0" tIns="0" rIns="0" bIns="0" wrap="square"/>
          <a:lstStyle/>
          <a:p>
            <a:pPr algn="l">
              <a:lnSpc>
                <a:spcPts val="2700"/>
              </a:lnSpc>
              <a:spcBef>
                <a:spcPts val="0"/>
              </a:spcBef>
              <a:buNone/>
            </a:pPr>
            <a:r>
              <a:rPr lang="en-US" sz="2100" b="true">
                <a:solidFill>
                  <a:srgbClr val="111111"/>
                </a:solidFill>
                <a:latin typeface="Nunito Semi-Bold"/>
                <a:ea typeface="Nunito Semi-Bold"/>
                <a:cs typeface="Nunito Semi-Bold"/>
                <a:sym typeface="Nunito Semi-Bold"/>
              </a:rPr>
              <a:t>For a </a:t>
            </a:r>
            <a:r>
              <a:rPr lang="en-US" sz="2100" b="true">
                <a:solidFill>
                  <a:srgbClr val="111111"/>
                </a:solidFill>
                <a:latin typeface="Nunito Bold"/>
                <a:ea typeface="Nunito Bold"/>
                <a:cs typeface="Nunito Bold"/>
                <a:sym typeface="Nunito Bold"/>
              </a:rPr>
              <a:t>strict nested hierarchy</a:t>
            </a:r>
            <a:r>
              <a:rPr lang="en-US" sz="2100" b="true">
                <a:solidFill>
                  <a:srgbClr val="111111"/>
                </a:solidFill>
                <a:latin typeface="Nunito Semi-Bold"/>
                <a:ea typeface="Nunito Semi-Bold"/>
                <a:cs typeface="Nunito Semi-Bold"/>
                <a:sym typeface="Nunito Semi-Bold"/>
              </a:rPr>
              <a:t> on a consistent feature space:</a:t>
            </a:r>
          </a:p>
        </p:txBody>
      </p:sp>
      <p:sp>
        <p:nvSpPr>
          <p:cNvPr id="35" name="Rounded Rectangle 34"/>
          <p:cNvSpPr/>
          <p:nvPr/>
        </p:nvSpPr>
        <p:spPr>
          <a:xfrm>
            <a:off x="1028700" y="5393690"/>
            <a:ext cx="8229600" cy="1508760"/>
          </a:xfrm>
          <a:prstGeom prst="roundRect">
            <a:avLst>
              <a:gd name="adj" fmla="val 12121"/>
            </a:avLst>
          </a:prstGeom>
          <a:solidFill>
            <a:srgbClr val="D9E2F3"/>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6" name="Equation"/>
              <p:cNvSpPr txBox="1"/>
              <p:nvPr/>
            </p:nvSpPr>
            <p:spPr>
              <a:xfrm>
                <a:off x="1211580" y="5393690"/>
                <a:ext cx="7863840" cy="150876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550" i="1">
                              <a:solidFill>
                                <a:srgbClr val="4472C4"/>
                              </a:solidFill>
                              <a:latin typeface="Cambria Math" panose="02040503050406030204" pitchFamily="18" charset="0"/>
                            </a:rPr>
                          </m:ctrlPr>
                        </m:sSubSupPr>
                        <m:e>
                          <m:r>
                            <a:rPr lang="en-US" sz="2550" i="1">
                              <a:solidFill>
                                <a:srgbClr val="4472C4"/>
                              </a:solidFill>
                              <a:latin typeface="Cambria Math" panose="02040503050406030204" pitchFamily="18" charset="0"/>
                            </a:rPr>
                            <m:t xml:space="preserve">Φ</m:t>
                          </m:r>
                        </m:e>
                        <m:sub>
                          <m:r>
                            <a:rPr lang="en-US" sz="2550" i="1">
                              <a:solidFill>
                                <a:srgbClr val="4472C4"/>
                              </a:solidFill>
                              <a:latin typeface="Cambria Math" panose="02040503050406030204" pitchFamily="18" charset="0"/>
                            </a:rPr>
                            <m:t xml:space="preserve">j</m:t>
                          </m:r>
                        </m:sub>
                        <m:sup>
                          <m:r>
                            <m:rPr>
                              <m:sty m:val="p"/>
                            </m:rPr>
                            <a:rPr lang="en-US" sz="2550">
                              <a:solidFill>
                                <a:srgbClr val="4472C4"/>
                              </a:solidFill>
                              <a:latin typeface="Cambria Math" panose="02040503050406030204" pitchFamily="18" charset="0"/>
                            </a:rPr>
                            <m:t xml:space="preserve">(</m:t>
                          </m:r>
                          <m:r>
                            <a:rPr lang="en-US" sz="2550" i="1">
                              <a:solidFill>
                                <a:srgbClr val="4472C4"/>
                              </a:solidFill>
                              <a:latin typeface="Cambria Math" panose="02040503050406030204" pitchFamily="18" charset="0"/>
                            </a:rPr>
                            <m:t xml:space="preserve">l</m:t>
                          </m:r>
                          <m:r>
                            <m:rPr>
                              <m:sty m:val="p"/>
                            </m:rPr>
                            <a:rPr lang="en-US" sz="2550">
                              <a:solidFill>
                                <a:srgbClr val="4472C4"/>
                              </a:solidFill>
                              <a:latin typeface="Cambria Math" panose="02040503050406030204" pitchFamily="18" charset="0"/>
                            </a:rPr>
                            <m:t xml:space="preserve">,</m:t>
                          </m:r>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m:t>
                          </m:r>
                        </m:sup>
                      </m:sSubSup>
                      <m:r>
                        <m:rPr>
                          <m:sty m:val="p"/>
                        </m:rPr>
                        <a:rPr lang="en-US" sz="2550">
                          <a:solidFill>
                            <a:srgbClr val="4472C4"/>
                          </a:solidFill>
                          <a:latin typeface="Cambria Math" panose="02040503050406030204" pitchFamily="18" charset="0"/>
                        </a:rPr>
                        <m:t xml:space="preserve">=</m:t>
                      </m:r>
                      <m:nary>
                        <m:naryPr>
                          <m:chr m:val="∑"/>
                          <m:limLoc m:val="undOvr"/>
                          <m:supHide m:val="1"/>
                          <m:ctrlPr>
                            <a:rPr lang="en-US" sz="2550" i="1">
                              <a:solidFill>
                                <a:srgbClr val="4472C4"/>
                              </a:solidFill>
                              <a:latin typeface="Cambria Math" panose="02040503050406030204" pitchFamily="18" charset="0"/>
                            </a:rPr>
                          </m:ctrlPr>
                        </m:naryPr>
                        <m:sub>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∈child(</m:t>
                          </m:r>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m:t>
                          </m:r>
                        </m:sub>
                        <m:sup/>
                        <m:e>
                          <m:sSub>
                            <m:sSubPr>
                              <m:ctrlPr>
                                <a:rPr lang="en-US" sz="2550" i="1">
                                  <a:solidFill>
                                    <a:srgbClr val="4472C4"/>
                                  </a:solidFill>
                                  <a:latin typeface="Cambria Math" panose="02040503050406030204" pitchFamily="18" charset="0"/>
                                </a:rPr>
                              </m:ctrlPr>
                            </m:sSubPr>
                            <m:e>
                              <m:r>
                                <a:rPr lang="en-US" sz="2550" i="1">
                                  <a:solidFill>
                                    <a:srgbClr val="4472C4"/>
                                  </a:solidFill>
                                  <a:latin typeface="Cambria Math" panose="02040503050406030204" pitchFamily="18" charset="0"/>
                                </a:rPr>
                                <m:t xml:space="preserve">w</m:t>
                              </m:r>
                            </m:e>
                            <m:sub>
                              <m:r>
                                <a:rPr lang="en-US" sz="2550" i="1">
                                  <a:solidFill>
                                    <a:srgbClr val="4472C4"/>
                                  </a:solidFill>
                                  <a:latin typeface="Cambria Math" panose="02040503050406030204" pitchFamily="18" charset="0"/>
                                </a:rPr>
                                <m:t xml:space="preserve">c′</m:t>
                              </m:r>
                            </m:sub>
                          </m:sSub>
                        </m:e>
                      </m:nary>
                      <m:r>
                        <m:rPr>
                          <m:sty m:val="p"/>
                        </m:rPr>
                        <a:rPr lang="en-US" sz="2550">
                          <a:solidFill>
                            <a:srgbClr val="4472C4"/>
                          </a:solidFill>
                          <a:latin typeface="Cambria Math" panose="02040503050406030204" pitchFamily="18" charset="0"/>
                        </a:rPr>
                        <m:t xml:space="preserve"> </m:t>
                      </m:r>
                      <m:sSubSup>
                        <m:sSubSupPr>
                          <m:ctrlPr>
                            <a:rPr lang="en-US" sz="2550" i="1">
                              <a:solidFill>
                                <a:srgbClr val="4472C4"/>
                              </a:solidFill>
                              <a:latin typeface="Cambria Math" panose="02040503050406030204" pitchFamily="18" charset="0"/>
                            </a:rPr>
                          </m:ctrlPr>
                        </m:sSubSupPr>
                        <m:e>
                          <m:r>
                            <a:rPr lang="en-US" sz="2550" i="1">
                              <a:solidFill>
                                <a:srgbClr val="4472C4"/>
                              </a:solidFill>
                              <a:latin typeface="Cambria Math" panose="02040503050406030204" pitchFamily="18" charset="0"/>
                            </a:rPr>
                            <m:t xml:space="preserve">Φ</m:t>
                          </m:r>
                        </m:e>
                        <m:sub>
                          <m:r>
                            <a:rPr lang="en-US" sz="2550" i="1">
                              <a:solidFill>
                                <a:srgbClr val="4472C4"/>
                              </a:solidFill>
                              <a:latin typeface="Cambria Math" panose="02040503050406030204" pitchFamily="18" charset="0"/>
                            </a:rPr>
                            <m:t xml:space="preserve">j</m:t>
                          </m:r>
                        </m:sub>
                        <m:sup>
                          <m:r>
                            <m:rPr>
                              <m:sty m:val="p"/>
                            </m:rPr>
                            <a:rPr lang="en-US" sz="2550">
                              <a:solidFill>
                                <a:srgbClr val="4472C4"/>
                              </a:solidFill>
                              <a:latin typeface="Cambria Math" panose="02040503050406030204" pitchFamily="18" charset="0"/>
                            </a:rPr>
                            <m:t xml:space="preserve">(</m:t>
                          </m:r>
                          <m:r>
                            <a:rPr lang="en-US" sz="2550" i="1">
                              <a:solidFill>
                                <a:srgbClr val="4472C4"/>
                              </a:solidFill>
                              <a:latin typeface="Cambria Math" panose="02040503050406030204" pitchFamily="18" charset="0"/>
                            </a:rPr>
                            <m:t xml:space="preserve">l</m:t>
                          </m:r>
                          <m:r>
                            <m:rPr>
                              <m:sty m:val="p"/>
                            </m:rPr>
                            <a:rPr lang="en-US" sz="2550">
                              <a:solidFill>
                                <a:srgbClr val="4472C4"/>
                              </a:solidFill>
                              <a:latin typeface="Cambria Math" panose="02040503050406030204" pitchFamily="18" charset="0"/>
                            </a:rPr>
                            <m:t xml:space="preserve">+1, </m:t>
                          </m:r>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m:t>
                          </m:r>
                        </m:sup>
                      </m:sSubSup>
                      <m:r>
                        <m:rPr>
                          <m:sty m:val="p"/>
                        </m:rPr>
                        <a:rPr lang="en-US" sz="2550">
                          <a:solidFill>
                            <a:srgbClr val="4472C4"/>
                          </a:solidFill>
                          <a:latin typeface="Cambria Math" panose="02040503050406030204" pitchFamily="18" charset="0"/>
                        </a:rPr>
                        <m:t xml:space="preserve">+</m:t>
                      </m:r>
                      <m:sSub>
                        <m:sSubPr>
                          <m:ctrlPr>
                            <a:rPr lang="en-US" sz="2550" i="1">
                              <a:solidFill>
                                <a:srgbClr val="4472C4"/>
                              </a:solidFill>
                              <a:latin typeface="Cambria Math" panose="02040503050406030204" pitchFamily="18" charset="0"/>
                            </a:rPr>
                          </m:ctrlPr>
                        </m:sSubPr>
                        <m:e>
                          <m:r>
                            <a:rPr lang="en-US" sz="2550" i="1">
                              <a:solidFill>
                                <a:srgbClr val="4472C4"/>
                              </a:solidFill>
                              <a:latin typeface="Cambria Math" panose="02040503050406030204" pitchFamily="18" charset="0"/>
                            </a:rPr>
                            <m:t xml:space="preserve">ε</m:t>
                          </m:r>
                        </m:e>
                        <m:sub>
                          <m:r>
                            <a:rPr lang="en-US" sz="2550" i="1">
                              <a:solidFill>
                                <a:srgbClr val="4472C4"/>
                              </a:solidFill>
                              <a:latin typeface="Cambria Math" panose="02040503050406030204" pitchFamily="18" charset="0"/>
                            </a:rPr>
                            <m:t xml:space="preserve">j</m:t>
                          </m:r>
                        </m:sub>
                      </m:sSub>
                    </m:oMath>
                  </m:oMathPara>
                </a14:m>
                <a:endParaRPr lang="en-US" sz="2550"/>
              </a:p>
            </p:txBody>
          </p:sp>
        </mc:Choice>
        <mc:Fallback>
          <p:sp>
            <p:nvSpPr>
              <p:cNvPr id="36" name="Equation"/>
              <p:cNvSpPr txBox="1"/>
              <p:nvPr/>
            </p:nvSpPr>
            <p:spPr>
              <a:xfrm>
                <a:off x="1211580" y="5393690"/>
                <a:ext cx="7863840" cy="1508760"/>
              </a:xfrm>
              <a:prstGeom prst="rect">
                <a:avLst/>
              </a:prstGeom>
              <a:blipFill>
                <a:blip r:embed="rId7"/>
                <a:stretch>
                  <a:fillRect/>
                </a:stretch>
              </a:blipFill>
            </p:spPr>
            <p:txBody>
              <a:bodyPr/>
              <a:lstStyle/>
              <a:p>
                <a:endParaRPr lang="en-US"/>
              </a:p>
            </p:txBody>
          </p:sp>
        </mc:Fallback>
      </mc:AlternateContent>
      <p:sp>
        <p:nvSpPr>
          <p:cNvPr id="37" name="TextBox 36"/>
          <p:cNvSpPr txBox="1"/>
          <p:nvPr/>
        </p:nvSpPr>
        <p:spPr>
          <a:xfrm>
            <a:off x="1028700" y="7131050"/>
            <a:ext cx="8229600" cy="2177542"/>
          </a:xfrm>
          <a:prstGeom prst="rect">
            <a:avLst/>
          </a:prstGeom>
          <a:noFill/>
        </p:spPr>
        <p:txBody>
          <a:bodyPr anchor="t" rtlCol="false" lIns="0" tIns="0" rIns="0" bIns="0" wrap="square"/>
          <a:lstStyle/>
          <a:p>
            <a:pPr algn="l" marL="274320" indent="-274320">
              <a:lnSpc>
                <a:spcPts val="2782"/>
              </a:lnSpc>
              <a:spcBef>
                <a:spcPts val="0"/>
              </a:spcBef>
              <a:buClr>
                <a:srgbClr val="1F7A8C"/>
              </a:buClr>
              <a:buSzPct val="100000"/>
              <a:buFont typeface="Arial"/>
              <a:buChar char="•"/>
            </a:pPr>
            <a:r>
              <a:rPr lang="en-US" sz="1880" b="true">
                <a:solidFill>
                  <a:srgbClr val="111111"/>
                </a:solidFill>
                <a:latin typeface="Calibri"/>
                <a:ea typeface="Calibri"/>
                <a:cs typeface="Calibri"/>
                <a:sym typeface="Calibri"/>
              </a:rPr>
              <a:t>ε</a:t>
            </a:r>
            <a:r>
              <a:rPr lang="en-US" sz="1880" b="true" baseline="-25000">
                <a:solidFill>
                  <a:srgbClr val="111111"/>
                </a:solidFill>
                <a:latin typeface="Nunito Bold"/>
                <a:ea typeface="Nunito Bold"/>
                <a:cs typeface="Nunito Bold"/>
                <a:sym typeface="Nunito Bold"/>
              </a:rPr>
              <a:t>j</a:t>
            </a:r>
            <a:r>
              <a:rPr lang="en-US" sz="1880" b="true">
                <a:solidFill>
                  <a:srgbClr val="111111"/>
                </a:solidFill>
                <a:latin typeface="Nunito Semi-Bold"/>
                <a:ea typeface="Nunito Semi-Bold"/>
                <a:cs typeface="Nunito Semi-Bold"/>
                <a:sym typeface="Nunito Semi-Bold"/>
              </a:rPr>
              <a:t> is a residual from surrogate mismatch; it vanishes under perfect fidelity.</a:t>
            </a:r>
          </a:p>
          <a:p>
            <a:pPr algn="l" marL="274320" indent="-274320">
              <a:lnSpc>
                <a:spcPts val="2632"/>
              </a:lnSpc>
              <a:spcBef>
                <a:spcPts val="940"/>
              </a:spcBef>
              <a:buClr>
                <a:srgbClr val="1F7A8C"/>
              </a:buClr>
              <a:buSzPct val="100000"/>
              <a:buFont typeface="Arial"/>
              <a:buChar char="•"/>
            </a:pPr>
            <a:r>
              <a:rPr lang="en-US" sz="1880" b="true">
                <a:solidFill>
                  <a:srgbClr val="111111"/>
                </a:solidFill>
                <a:latin typeface="Nunito Semi-Bold"/>
                <a:ea typeface="Nunito Semi-Bold"/>
                <a:cs typeface="Nunito Semi-Bold"/>
                <a:sym typeface="Nunito Semi-Bold"/>
              </a:rPr>
              <a:t>Derived via the </a:t>
            </a:r>
            <a:r>
              <a:rPr lang="en-US" sz="1880" b="true">
                <a:solidFill>
                  <a:srgbClr val="111111"/>
                </a:solidFill>
                <a:latin typeface="Nunito Bold"/>
                <a:ea typeface="Nunito Bold"/>
                <a:cs typeface="Nunito Bold"/>
                <a:sym typeface="Nunito Bold"/>
              </a:rPr>
              <a:t>law of total expectation</a:t>
            </a:r>
            <a:r>
              <a:rPr lang="en-US" sz="1880" b="true">
                <a:solidFill>
                  <a:srgbClr val="111111"/>
                </a:solidFill>
                <a:latin typeface="Nunito Semi-Bold"/>
                <a:ea typeface="Nunito Semi-Bold"/>
                <a:cs typeface="Nunito Semi-Bold"/>
                <a:sym typeface="Nunito Semi-Bold"/>
              </a:rPr>
              <a:t> (children partition the parent).</a:t>
            </a:r>
          </a:p>
          <a:p>
            <a:pPr algn="l" marL="274320" indent="-274320">
              <a:lnSpc>
                <a:spcPts val="2632"/>
              </a:lnSpc>
              <a:spcBef>
                <a:spcPts val="940"/>
              </a:spcBef>
              <a:buClr>
                <a:srgbClr val="1F7A8C"/>
              </a:buClr>
              <a:buSzPct val="100000"/>
              <a:buFont typeface="Arial"/>
              <a:buChar char="•"/>
            </a:pPr>
            <a:r>
              <a:rPr lang="en-US" sz="1880" b="true">
                <a:solidFill>
                  <a:srgbClr val="111111"/>
                </a:solidFill>
                <a:latin typeface="Nunito Semi-Bold"/>
                <a:ea typeface="Nunito Semi-Bold"/>
                <a:cs typeface="Nunito Semi-Bold"/>
                <a:sym typeface="Nunito Semi-Bold"/>
              </a:rPr>
              <a:t>Does </a:t>
            </a:r>
            <a:r>
              <a:rPr lang="en-US" sz="1880" b="true">
                <a:solidFill>
                  <a:srgbClr val="111111"/>
                </a:solidFill>
                <a:latin typeface="Nunito Bold"/>
                <a:ea typeface="Nunito Bold"/>
                <a:cs typeface="Nunito Bold"/>
                <a:sym typeface="Nunito Bold"/>
              </a:rPr>
              <a:t>NOT</a:t>
            </a:r>
            <a:r>
              <a:rPr lang="en-US" sz="1880" b="true">
                <a:solidFill>
                  <a:srgbClr val="111111"/>
                </a:solidFill>
                <a:latin typeface="Nunito Semi-Bold"/>
                <a:ea typeface="Nunito Semi-Bold"/>
                <a:cs typeface="Nunito Semi-Bold"/>
                <a:sym typeface="Nunito Semi-Bold"/>
              </a:rPr>
              <a:t> mean explanations are identical across levels. It means differences can be </a:t>
            </a:r>
            <a:r>
              <a:rPr lang="en-US" sz="1880" b="true">
                <a:solidFill>
                  <a:srgbClr val="111111"/>
                </a:solidFill>
                <a:latin typeface="Nunito Bold"/>
                <a:ea typeface="Nunito Bold"/>
                <a:cs typeface="Nunito Bold"/>
                <a:sym typeface="Nunito Bold"/>
              </a:rPr>
              <a:t>interpreted</a:t>
            </a:r>
            <a:r>
              <a:rPr lang="en-US" sz="1880" b="true">
                <a:solidFill>
                  <a:srgbClr val="111111"/>
                </a:solidFill>
                <a:latin typeface="Nunito Semi-Bold"/>
                <a:ea typeface="Nunito Semi-Bold"/>
                <a:cs typeface="Nunito Semi-Bold"/>
                <a:sym typeface="Nunito Semi-Bold"/>
              </a:rPr>
              <a:t>, not ruled out as inconsistency.</a:t>
            </a:r>
          </a:p>
        </p:txBody>
      </p:sp>
      <p:sp>
        <p:nvSpPr>
          <p:cNvPr id="38" name="Rounded Rectangle 37"/>
          <p:cNvSpPr/>
          <p:nvPr/>
        </p:nvSpPr>
        <p:spPr>
          <a:xfrm>
            <a:off x="9806940" y="3592322"/>
            <a:ext cx="7452360" cy="3017520"/>
          </a:xfrm>
          <a:prstGeom prst="roundRect">
            <a:avLst>
              <a:gd name="adj" fmla="val 10303"/>
            </a:avLst>
          </a:prstGeom>
          <a:solidFill>
            <a:srgbClr val="4472C4"/>
          </a:solidFill>
          <a:ln>
            <a:noFill/>
          </a:ln>
        </p:spPr>
        <p:txBody>
          <a:bodyPr anchor="ctr" rtlCol="false" lIns="0" tIns="0" rIns="0" bIns="0" wrap="square"/>
          <a:lstStyle/>
          <a:p>
            <a:endParaRPr lang="en-US" sz="1800"/>
          </a:p>
        </p:txBody>
      </p:sp>
      <p:sp>
        <p:nvSpPr>
          <p:cNvPr id="39" name="Rounded Rectangle 38"/>
          <p:cNvSpPr/>
          <p:nvPr/>
        </p:nvSpPr>
        <p:spPr>
          <a:xfrm>
            <a:off x="10264140" y="3354578"/>
            <a:ext cx="2678309"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Why it matters</a:t>
            </a:r>
          </a:p>
        </p:txBody>
      </p:sp>
      <p:sp>
        <p:nvSpPr>
          <p:cNvPr id="40" name="TextBox 39"/>
          <p:cNvSpPr txBox="1"/>
          <p:nvPr/>
        </p:nvSpPr>
        <p:spPr>
          <a:xfrm>
            <a:off x="10264140" y="4232402"/>
            <a:ext cx="6583680" cy="210312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Gives the multi-level explanation a </a:t>
            </a:r>
            <a:r>
              <a:rPr lang="en-US" sz="1900" b="true">
                <a:solidFill>
                  <a:srgbClr val="FFFFFF"/>
                </a:solidFill>
                <a:latin typeface="Nunito Bold"/>
                <a:ea typeface="Nunito Bold"/>
                <a:cs typeface="Nunito Bold"/>
                <a:sym typeface="Nunito Bold"/>
              </a:rPr>
              <a:t>formal backbone</a:t>
            </a:r>
            <a:r>
              <a:rPr lang="en-US" sz="1900" b="true">
                <a:solidFill>
                  <a:srgbClr val="FFFFFF"/>
                </a:solidFill>
                <a:latin typeface="Nunito Semi-Bold"/>
                <a:ea typeface="Nunito Semi-Bold"/>
                <a:cs typeface="Nunito Semi-Bold"/>
                <a:sym typeface="Nunito Semi-Bold"/>
              </a:rPr>
              <a:t>.</a:t>
            </a:r>
          </a:p>
          <a:p>
            <a:pPr algn="l" marL="274320" indent="-274320">
              <a:lnSpc>
                <a:spcPts val="2660"/>
              </a:lnSpc>
              <a:spcBef>
                <a:spcPts val="80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Parent importance is an </a:t>
            </a:r>
            <a:r>
              <a:rPr lang="en-US" sz="1900" b="true">
                <a:solidFill>
                  <a:srgbClr val="FFFFFF"/>
                </a:solidFill>
                <a:latin typeface="Nunito Bold"/>
                <a:ea typeface="Nunito Bold"/>
                <a:cs typeface="Nunito Bold"/>
                <a:sym typeface="Nunito Bold"/>
              </a:rPr>
              <a:t>accounting identity</a:t>
            </a:r>
            <a:r>
              <a:rPr lang="en-US" sz="1900" b="true">
                <a:solidFill>
                  <a:srgbClr val="FFFFFF"/>
                </a:solidFill>
                <a:latin typeface="Nunito Semi-Bold"/>
                <a:ea typeface="Nunito Semi-Bold"/>
                <a:cs typeface="Nunito Semi-Bold"/>
                <a:sym typeface="Nunito Semi-Bold"/>
              </a:rPr>
              <a:t> over the children, not a separate story.</a:t>
            </a:r>
          </a:p>
          <a:p>
            <a:pPr algn="l" marL="274320" indent="-274320">
              <a:lnSpc>
                <a:spcPts val="2660"/>
              </a:lnSpc>
              <a:spcBef>
                <a:spcPts val="80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Turns cross-level differences into </a:t>
            </a:r>
            <a:r>
              <a:rPr lang="en-US" sz="1900" b="true">
                <a:solidFill>
                  <a:srgbClr val="FFFFFF"/>
                </a:solidFill>
                <a:latin typeface="Nunito Bold"/>
                <a:ea typeface="Nunito Bold"/>
                <a:cs typeface="Nunito Bold"/>
                <a:sym typeface="Nunito Bold"/>
              </a:rPr>
              <a:t>interpretable signal</a:t>
            </a:r>
            <a:r>
              <a:rPr lang="en-US" sz="1900" b="true">
                <a:solidFill>
                  <a:srgbClr val="FFFFFF"/>
                </a:solidFill>
                <a:latin typeface="Nunito Semi-Bold"/>
                <a:ea typeface="Nunito Semi-Bold"/>
                <a:cs typeface="Nunito Semi-Bold"/>
                <a:sym typeface="Nunito Semi-Bold"/>
              </a:rPr>
              <a:t>.</a:t>
            </a:r>
          </a:p>
        </p:txBody>
      </p:sp>
      <p:sp>
        <p:nvSpPr>
          <p:cNvPr id="41" name="Rounded Rectangle 40"/>
          <p:cNvSpPr/>
          <p:nvPr/>
        </p:nvSpPr>
        <p:spPr>
          <a:xfrm>
            <a:off x="9806940" y="6929882"/>
            <a:ext cx="3589020" cy="2378710"/>
          </a:xfrm>
          <a:prstGeom prst="roundRect">
            <a:avLst>
              <a:gd name="adj" fmla="val 11532"/>
            </a:avLst>
          </a:prstGeom>
          <a:solidFill>
            <a:srgbClr val="E7EAF3"/>
          </a:solidFill>
          <a:ln>
            <a:noFill/>
          </a:ln>
        </p:spPr>
        <p:txBody>
          <a:bodyPr anchor="ctr" rtlCol="false" lIns="137160" tIns="91440" rIns="137160" bIns="91440" wrap="square"/>
          <a:lstStyle/>
          <a:p>
            <a:pPr algn="ctr">
              <a:lnSpc>
                <a:spcPts val="3740"/>
              </a:lnSpc>
              <a:spcBef>
                <a:spcPts val="0"/>
              </a:spcBef>
              <a:buNone/>
            </a:pPr>
            <a:r>
              <a:rPr lang="en-US" sz="3400" b="true">
                <a:solidFill>
                  <a:srgbClr val="4472C4"/>
                </a:solidFill>
                <a:latin typeface="Nunito Ultra-Bold"/>
                <a:ea typeface="Nunito Ultra-Bold"/>
                <a:cs typeface="Nunito Ultra-Bold"/>
                <a:sym typeface="Nunito Ultra-Bold"/>
              </a:rPr>
              <a:t>383,585</a:t>
            </a:r>
          </a:p>
          <a:p>
            <a:pPr algn="ctr">
              <a:lnSpc>
                <a:spcPts val="2125"/>
              </a:lnSpc>
              <a:spcBef>
                <a:spcPts val="400"/>
              </a:spcBef>
              <a:buNone/>
            </a:pPr>
            <a:r>
              <a:rPr lang="en-US" sz="1700" b="true">
                <a:solidFill>
                  <a:srgbClr val="111111"/>
                </a:solidFill>
                <a:latin typeface="Nunito Semi-Bold"/>
                <a:ea typeface="Nunito Semi-Bold"/>
                <a:cs typeface="Nunito Semi-Bold"/>
                <a:sym typeface="Nunito Semi-Bold"/>
              </a:rPr>
              <a:t>hourly records · </a:t>
            </a:r>
            <a:r>
              <a:rPr lang="en-US" sz="1700" b="true">
                <a:solidFill>
                  <a:srgbClr val="111111"/>
                </a:solidFill>
                <a:latin typeface="Nunito Bold"/>
                <a:ea typeface="Nunito Bold"/>
                <a:cs typeface="Nunito Bold"/>
                <a:sym typeface="Nunito Bold"/>
              </a:rPr>
              <a:t>11</a:t>
            </a:r>
            <a:r>
              <a:rPr lang="en-US" sz="1700" b="true">
                <a:solidFill>
                  <a:srgbClr val="111111"/>
                </a:solidFill>
                <a:latin typeface="Nunito Semi-Bold"/>
                <a:ea typeface="Nunito Semi-Bold"/>
                <a:cs typeface="Nunito Semi-Bold"/>
                <a:sym typeface="Nunito Semi-Bold"/>
              </a:rPr>
              <a:t> variables</a:t>
            </a:r>
          </a:p>
        </p:txBody>
      </p:sp>
      <p:sp>
        <p:nvSpPr>
          <p:cNvPr id="42" name="Rounded Rectangle 41"/>
          <p:cNvSpPr/>
          <p:nvPr/>
        </p:nvSpPr>
        <p:spPr>
          <a:xfrm>
            <a:off x="13670280" y="6929882"/>
            <a:ext cx="3589020" cy="2378710"/>
          </a:xfrm>
          <a:prstGeom prst="roundRect">
            <a:avLst>
              <a:gd name="adj" fmla="val 11532"/>
            </a:avLst>
          </a:prstGeom>
          <a:solidFill>
            <a:srgbClr val="E7EAF3"/>
          </a:solidFill>
          <a:ln>
            <a:noFill/>
          </a:ln>
        </p:spPr>
        <p:txBody>
          <a:bodyPr anchor="ctr" rtlCol="false" lIns="137160" tIns="91440" rIns="137160" bIns="91440" wrap="square"/>
          <a:lstStyle/>
          <a:p>
            <a:pPr algn="ctr">
              <a:lnSpc>
                <a:spcPts val="3740"/>
              </a:lnSpc>
              <a:spcBef>
                <a:spcPts val="0"/>
              </a:spcBef>
              <a:buNone/>
            </a:pPr>
            <a:r>
              <a:rPr lang="en-US" sz="3400" b="true">
                <a:solidFill>
                  <a:srgbClr val="1F7A8C"/>
                </a:solidFill>
                <a:latin typeface="Nunito Ultra-Bold"/>
                <a:ea typeface="Nunito Ultra-Bold"/>
                <a:cs typeface="Nunito Ultra-Bold"/>
                <a:sym typeface="Nunito Ultra-Bold"/>
              </a:rPr>
              <a:t>k = 3</a:t>
            </a:r>
          </a:p>
          <a:p>
            <a:pPr algn="ctr">
              <a:lnSpc>
                <a:spcPts val="2125"/>
              </a:lnSpc>
              <a:spcBef>
                <a:spcPts val="400"/>
              </a:spcBef>
              <a:buNone/>
            </a:pPr>
            <a:r>
              <a:rPr lang="en-US" sz="1700" b="true">
                <a:solidFill>
                  <a:srgbClr val="111111"/>
                </a:solidFill>
                <a:latin typeface="Nunito Semi-Bold"/>
                <a:ea typeface="Nunito Semi-Bold"/>
                <a:cs typeface="Nunito Semi-Bold"/>
                <a:sym typeface="Nunito Semi-Bold"/>
              </a:rPr>
              <a:t>coarse regimes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nested sub-clusters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42</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pic>
        <p:nvPicPr>
          <p:cNvPr id="25" name="Picture 24" descr="image.png"/>
          <p:cNvPicPr>
            <a:picLocks noChangeAspect="1"/>
          </p:cNvPicPr>
          <p:nvPr/>
        </p:nvPicPr>
        <p:blipFill>
          <a:blip r:embed="rId3"/>
          <a:stretch>
            <a:fillRect/>
          </a:stretch>
        </p:blipFill>
        <p:spPr>
          <a:xfrm>
            <a:off x="6376338" y="1673352"/>
            <a:ext cx="457200" cy="415247"/>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graphicFrame>
        <p:nvGraphicFramePr>
          <p:cNvPr id="30" name="Table 29"/>
          <p:cNvGraphicFramePr>
            <a:graphicFrameLocks noGrp="1"/>
          </p:cNvGraphicFramePr>
          <p:nvPr/>
        </p:nvGraphicFramePr>
        <p:xfrm>
          <a:off x="1028700" y="3363722"/>
          <a:ext cx="9966960" cy="4845304"/>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Beijing Multi-Site Air Quality, 383,585 hourly records × 11 variables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Level 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K-Means++ on the full dataset; k chosen by elbow, Silhouette and Davies–Bouldin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Level 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Each coarse cluster split again into sub-clusters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Surrogates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One LightGBM surrogate per level, five-fold cross-validation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Exact TreeSHAP per level, always in the original 11-variable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Aggregation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Size-weighted cross-level aggregation (Proposition 6.1)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Sensitivity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Repeat with small changes in k, projection dimension and surrogate depth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1" name="Rounded Rectangle 30"/>
          <p:cNvSpPr/>
          <p:nvPr/>
        </p:nvSpPr>
        <p:spPr>
          <a:xfrm>
            <a:off x="11452860" y="3453129"/>
            <a:ext cx="5806440" cy="5670550"/>
          </a:xfrm>
          <a:prstGeom prst="roundRect">
            <a:avLst>
              <a:gd name="adj" fmla="val 5482"/>
            </a:avLst>
          </a:prstGeom>
          <a:solidFill>
            <a:srgbClr val="4472C4"/>
          </a:solidFill>
          <a:ln>
            <a:noFill/>
          </a:ln>
        </p:spPr>
        <p:txBody>
          <a:bodyPr anchor="ctr" rtlCol="false" lIns="0" tIns="0" rIns="0" bIns="0" wrap="square"/>
          <a:lstStyle/>
          <a:p>
            <a:endParaRPr lang="en-US" sz="1800"/>
          </a:p>
        </p:txBody>
      </p:sp>
      <p:sp>
        <p:nvSpPr>
          <p:cNvPr id="32" name="Rounded Rectangle 31"/>
          <p:cNvSpPr/>
          <p:nvPr/>
        </p:nvSpPr>
        <p:spPr>
          <a:xfrm>
            <a:off x="11910060" y="3215385"/>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What counts as success</a:t>
            </a:r>
          </a:p>
        </p:txBody>
      </p:sp>
      <p:sp>
        <p:nvSpPr>
          <p:cNvPr id="33" name="TextBox 32"/>
          <p:cNvSpPr txBox="1"/>
          <p:nvPr/>
        </p:nvSpPr>
        <p:spPr>
          <a:xfrm>
            <a:off x="11910060" y="4093209"/>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Separation is strong:</a:t>
            </a:r>
            <a:r>
              <a:rPr lang="en-US" sz="1900" b="true">
                <a:solidFill>
                  <a:srgbClr val="FFFFFF"/>
                </a:solidFill>
                <a:latin typeface="Nunito Semi-Bold"/>
                <a:ea typeface="Nunito Semi-Bold"/>
                <a:cs typeface="Nunito Semi-Bold"/>
                <a:sym typeface="Nunito Semi-Bold"/>
              </a:rPr>
              <a:t> Silhouette and Davies–Bouldin clearly better than the wine case.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Regimes have a physical reading:</a:t>
            </a:r>
            <a:r>
              <a:rPr lang="en-US" sz="1900" b="true">
                <a:solidFill>
                  <a:srgbClr val="FFFFFF"/>
                </a:solidFill>
                <a:latin typeface="Nunito Semi-Bold"/>
                <a:ea typeface="Nunito Semi-Bold"/>
                <a:cs typeface="Nunito Semi-Bold"/>
                <a:sym typeface="Nunito Semi-Bold"/>
              </a:rPr>
              <a:t> each cluster maps to a known atmospheric situation.</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Cross-level differences are interpretable</a:t>
            </a:r>
            <a:r>
              <a:rPr lang="en-US" sz="1900" b="true">
                <a:solidFill>
                  <a:srgbClr val="FFFFFF"/>
                </a:solidFill>
                <a:latin typeface="Nunito Semi-Bold"/>
                <a:ea typeface="Nunito Semi-Bold"/>
                <a:cs typeface="Nunito Semi-Bold"/>
                <a:sym typeface="Nunito Semi-Bold"/>
              </a:rPr>
              <a:t>, not contradictions (Proposition 6.1).</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Leading drivers are stable</a:t>
            </a:r>
            <a:r>
              <a:rPr lang="en-US" sz="1900" b="true">
                <a:solidFill>
                  <a:srgbClr val="FFFFFF"/>
                </a:solidFill>
                <a:latin typeface="Nunito Semi-Bold"/>
                <a:ea typeface="Nunito Semi-Bold"/>
                <a:cs typeface="Nunito Semi-Bold"/>
                <a:sym typeface="Nunito Semi-Bold"/>
              </a:rPr>
              <a:t> under sensitivity changes.</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[17] Rousseeuw, P. J. Silhouettes: A Graphical Aid to the Interpretation and Validation of Cluster Analysis. J. Comput. Appl. Math. 20, 53–65 (1987).   [19] Cortez, P. et al. Wine Quality. UCI Machine Learning Repository (2009).  ·  Zhang, S. et al. Beijing Multi-Site Air Quality Data Set. UCI Machine Learning Repository (2017).</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Coarse-Level Clustering: Beijing Air Quality</a:t>
            </a:r>
          </a:p>
        </p:txBody>
      </p:sp>
      <p:pic>
        <p:nvPicPr>
          <p:cNvPr id="23" name="Picture 22" descr="image.png"/>
          <p:cNvPicPr>
            <a:picLocks noChangeAspect="1"/>
          </p:cNvPicPr>
          <p:nvPr/>
        </p:nvPicPr>
        <p:blipFill>
          <a:blip r:embed="rId3"/>
          <a:stretch>
            <a:fillRect/>
          </a:stretch>
        </p:blipFill>
        <p:spPr>
          <a:xfrm>
            <a:off x="12341493" y="1673352"/>
            <a:ext cx="457200" cy="25098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455162"/>
            <a:ext cx="5196840" cy="2103120"/>
          </a:xfrm>
          <a:prstGeom prst="roundRect">
            <a:avLst>
              <a:gd name="adj" fmla="val 13043"/>
            </a:avLst>
          </a:prstGeom>
          <a:solidFill>
            <a:srgbClr val="4472C4"/>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k = 3</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all </a:t>
            </a:r>
            <a:r>
              <a:rPr lang="en-US" sz="1700" b="true">
                <a:solidFill>
                  <a:srgbClr val="FFFFFF"/>
                </a:solidFill>
                <a:latin typeface="Nunito Bold"/>
                <a:ea typeface="Nunito Bold"/>
                <a:cs typeface="Nunito Bold"/>
                <a:sym typeface="Nunito Bold"/>
              </a:rPr>
              <a:t>k-selection criteria</a:t>
            </a:r>
            <a:r>
              <a:rPr lang="en-US" sz="1700" b="true">
                <a:solidFill>
                  <a:srgbClr val="FFFFFF"/>
                </a:solidFill>
                <a:latin typeface="Nunito Semi-Bold"/>
                <a:ea typeface="Nunito Semi-Bold"/>
                <a:cs typeface="Nunito Semi-Bold"/>
                <a:sym typeface="Nunito Semi-Bold"/>
              </a:rPr>
              <a:t> agree</a:t>
            </a:r>
          </a:p>
        </p:txBody>
      </p:sp>
      <p:sp>
        <p:nvSpPr>
          <p:cNvPr id="29" name="Rounded Rectangle 28"/>
          <p:cNvSpPr/>
          <p:nvPr/>
        </p:nvSpPr>
        <p:spPr>
          <a:xfrm>
            <a:off x="6545580" y="3455162"/>
            <a:ext cx="5196840" cy="2103120"/>
          </a:xfrm>
          <a:prstGeom prst="roundRect">
            <a:avLst>
              <a:gd name="adj" fmla="val 13043"/>
            </a:avLst>
          </a:prstGeom>
          <a:solidFill>
            <a:srgbClr val="2F5597"/>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 0.63</a:t>
            </a:r>
          </a:p>
          <a:p>
            <a:pPr algn="ctr">
              <a:lnSpc>
                <a:spcPts val="2125"/>
              </a:lnSpc>
              <a:spcBef>
                <a:spcPts val="400"/>
              </a:spcBef>
              <a:buNone/>
            </a:pPr>
            <a:r>
              <a:rPr lang="en-US" sz="1700" b="true">
                <a:solidFill>
                  <a:srgbClr val="FFFFFF"/>
                </a:solidFill>
                <a:latin typeface="Nunito Bold"/>
                <a:ea typeface="Nunito Bold"/>
                <a:cs typeface="Nunito Bold"/>
                <a:sym typeface="Nunito Bold"/>
              </a:rPr>
              <a:t>Silhouette</a:t>
            </a:r>
            <a:r>
              <a:rPr lang="en-US" sz="1700" b="true">
                <a:solidFill>
                  <a:srgbClr val="FFFFFF"/>
                </a:solidFill>
                <a:latin typeface="Nunito Semi-Bold"/>
                <a:ea typeface="Nunito Semi-Bold"/>
                <a:cs typeface="Nunito Semi-Bold"/>
                <a:sym typeface="Nunito Semi-Bold"/>
              </a:rPr>
              <a:t> · much stronger separation than wine</a:t>
            </a:r>
          </a:p>
        </p:txBody>
      </p:sp>
      <p:sp>
        <p:nvSpPr>
          <p:cNvPr id="30" name="Rounded Rectangle 29"/>
          <p:cNvSpPr/>
          <p:nvPr/>
        </p:nvSpPr>
        <p:spPr>
          <a:xfrm>
            <a:off x="12062460" y="3455162"/>
            <a:ext cx="5196840" cy="2103120"/>
          </a:xfrm>
          <a:prstGeom prst="roundRect">
            <a:avLst>
              <a:gd name="adj" fmla="val 13043"/>
            </a:avLst>
          </a:prstGeom>
          <a:solidFill>
            <a:srgbClr val="1F7A8C"/>
          </a:solidFill>
          <a:ln>
            <a:noFill/>
          </a:ln>
        </p:spPr>
        <p:txBody>
          <a:bodyPr anchor="ctr" rtlCol="false" lIns="137160" tIns="91440" rIns="137160" bIns="91440" wrap="square"/>
          <a:lstStyle/>
          <a:p>
            <a:pPr algn="ctr">
              <a:lnSpc>
                <a:spcPts val="4400"/>
              </a:lnSpc>
              <a:spcBef>
                <a:spcPts val="0"/>
              </a:spcBef>
              <a:buNone/>
            </a:pPr>
            <a:r>
              <a:rPr lang="en-US" sz="4000" b="true">
                <a:solidFill>
                  <a:srgbClr val="FFFFFF"/>
                </a:solidFill>
                <a:latin typeface="Nunito Ultra-Bold"/>
                <a:ea typeface="Nunito Ultra-Bold"/>
                <a:cs typeface="Nunito Ultra-Bold"/>
                <a:sym typeface="Nunito Ultra-Bold"/>
              </a:rPr>
              <a:t>≈ 0.55</a:t>
            </a:r>
          </a:p>
          <a:p>
            <a:pPr algn="ctr">
              <a:lnSpc>
                <a:spcPts val="2125"/>
              </a:lnSpc>
              <a:spcBef>
                <a:spcPts val="400"/>
              </a:spcBef>
              <a:buNone/>
            </a:pPr>
            <a:r>
              <a:rPr lang="en-US" sz="1700" b="true">
                <a:solidFill>
                  <a:srgbClr val="FFFFFF"/>
                </a:solidFill>
                <a:latin typeface="Nunito Bold"/>
                <a:ea typeface="Nunito Bold"/>
                <a:cs typeface="Nunito Bold"/>
                <a:sym typeface="Nunito Bold"/>
              </a:rPr>
              <a:t>Davies–Bouldin</a:t>
            </a:r>
            <a:r>
              <a:rPr lang="en-US" sz="1700" b="true">
                <a:solidFill>
                  <a:srgbClr val="FFFFFF"/>
                </a:solidFill>
                <a:latin typeface="Nunito Semi-Bold"/>
                <a:ea typeface="Nunito Semi-Bold"/>
                <a:cs typeface="Nunito Semi-Bold"/>
                <a:sym typeface="Nunito Semi-Bold"/>
              </a:rPr>
              <a:t> · clusters rarely overlap</a:t>
            </a:r>
          </a:p>
        </p:txBody>
      </p:sp>
      <p:sp>
        <p:nvSpPr>
          <p:cNvPr id="31" name="TextBox 30"/>
          <p:cNvSpPr txBox="1"/>
          <p:nvPr/>
        </p:nvSpPr>
        <p:spPr>
          <a:xfrm>
            <a:off x="1028700" y="5604002"/>
            <a:ext cx="16230600" cy="411480"/>
          </a:xfrm>
          <a:prstGeom prst="rect">
            <a:avLst/>
          </a:prstGeom>
          <a:noFill/>
        </p:spPr>
        <p:txBody>
          <a:bodyPr anchor="t" rtlCol="false" lIns="0" tIns="0" rIns="0" bIns="0" wrap="square"/>
          <a:lstStyle/>
          <a:p>
            <a:pPr algn="l">
              <a:lnSpc>
                <a:spcPts val="1800"/>
              </a:lnSpc>
              <a:spcBef>
                <a:spcPts val="0"/>
              </a:spcBef>
              <a:buNone/>
            </a:pPr>
            <a:r>
              <a:rPr lang="en-US" sz="1400" b="true">
                <a:solidFill>
                  <a:srgbClr val="8A8378"/>
                </a:solidFill>
                <a:latin typeface="Nunito Semi-Bold"/>
                <a:ea typeface="Nunito Semi-Bold"/>
                <a:cs typeface="Nunito Semi-Bold"/>
                <a:sym typeface="Nunito Semi-Bold"/>
              </a:rPr>
              <a:t>Table 6.1 (thesis): validation metrics for the large-scale clustering study (k = 3, Silhouette 0.63, Davies–Bouldin 0.55).</a:t>
            </a:r>
          </a:p>
        </p:txBody>
      </p:sp>
      <p:sp>
        <p:nvSpPr>
          <p:cNvPr id="32" name="Rounded Rectangle 31"/>
          <p:cNvSpPr/>
          <p:nvPr/>
        </p:nvSpPr>
        <p:spPr>
          <a:xfrm>
            <a:off x="1028700" y="6244082"/>
            <a:ext cx="7932420" cy="3110230"/>
          </a:xfrm>
          <a:prstGeom prst="roundRect">
            <a:avLst>
              <a:gd name="adj" fmla="val 9995"/>
            </a:avLst>
          </a:prstGeom>
          <a:solidFill>
            <a:srgbClr val="E7EAF3"/>
          </a:solidFill>
          <a:ln>
            <a:noFill/>
          </a:ln>
        </p:spPr>
        <p:txBody>
          <a:bodyPr anchor="ctr" rtlCol="false" lIns="0" tIns="0" rIns="0" bIns="0" wrap="square"/>
          <a:lstStyle/>
          <a:p>
            <a:endParaRPr lang="en-US" sz="1800"/>
          </a:p>
        </p:txBody>
      </p:sp>
      <p:sp>
        <p:nvSpPr>
          <p:cNvPr id="33" name="Rounded Rectangle 32"/>
          <p:cNvSpPr/>
          <p:nvPr/>
        </p:nvSpPr>
        <p:spPr>
          <a:xfrm>
            <a:off x="1485900" y="6006338"/>
            <a:ext cx="1445739"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Setup</a:t>
            </a:r>
          </a:p>
        </p:txBody>
      </p:sp>
      <p:sp>
        <p:nvSpPr>
          <p:cNvPr id="34" name="TextBox 33"/>
          <p:cNvSpPr txBox="1"/>
          <p:nvPr/>
        </p:nvSpPr>
        <p:spPr>
          <a:xfrm>
            <a:off x="1531620" y="6884162"/>
            <a:ext cx="6972300" cy="2195830"/>
          </a:xfrm>
          <a:prstGeom prst="rect">
            <a:avLst/>
          </a:prstGeom>
          <a:noFill/>
        </p:spPr>
        <p:txBody>
          <a:bodyPr anchor="t" rtlCol="false" lIns="0" tIns="0" rIns="0" bIns="0" wrap="square"/>
          <a:lstStyle/>
          <a:p>
            <a:pPr algn="l" marL="274320" indent="-274320">
              <a:lnSpc>
                <a:spcPts val="2464"/>
              </a:lnSpc>
              <a:spcBef>
                <a:spcPts val="0"/>
              </a:spcBef>
              <a:buClr>
                <a:srgbClr val="1F7A8C"/>
              </a:buClr>
              <a:buSzPct val="100000"/>
              <a:buFont typeface="Arial"/>
              <a:buChar char="•"/>
            </a:pPr>
            <a:r>
              <a:rPr lang="en-US" sz="1760" b="true">
                <a:solidFill>
                  <a:srgbClr val="111111"/>
                </a:solidFill>
                <a:latin typeface="Nunito Semi-Bold"/>
                <a:ea typeface="Nunito Semi-Bold"/>
                <a:cs typeface="Nunito Semi-Bold"/>
                <a:sym typeface="Nunito Semi-Bold"/>
              </a:rPr>
              <a:t>Full dataset: </a:t>
            </a:r>
            <a:r>
              <a:rPr lang="en-US" sz="1760" b="true">
                <a:solidFill>
                  <a:srgbClr val="111111"/>
                </a:solidFill>
                <a:latin typeface="Nunito Bold"/>
                <a:ea typeface="Nunito Bold"/>
                <a:cs typeface="Nunito Bold"/>
                <a:sym typeface="Nunito Bold"/>
              </a:rPr>
              <a:t>383,585 hourly records</a:t>
            </a:r>
            <a:r>
              <a:rPr lang="en-US" sz="1760" b="true">
                <a:solidFill>
                  <a:srgbClr val="111111"/>
                </a:solidFill>
                <a:latin typeface="Nunito Semi-Bold"/>
                <a:ea typeface="Nunito Semi-Bold"/>
                <a:cs typeface="Nunito Semi-Bold"/>
                <a:sym typeface="Nunito Semi-Bold"/>
              </a:rPr>
              <a:t>, 11 pollutant + weather variables.</a:t>
            </a:r>
          </a:p>
          <a:p>
            <a:pPr algn="l" marL="274320" indent="-274320">
              <a:lnSpc>
                <a:spcPts val="2464"/>
              </a:lnSpc>
              <a:spcBef>
                <a:spcPts val="880"/>
              </a:spcBef>
              <a:buClr>
                <a:srgbClr val="1F7A8C"/>
              </a:buClr>
              <a:buSzPct val="100000"/>
              <a:buFont typeface="Arial"/>
              <a:buChar char="•"/>
            </a:pPr>
            <a:r>
              <a:rPr lang="en-US" sz="1760" b="true">
                <a:solidFill>
                  <a:srgbClr val="111111"/>
                </a:solidFill>
                <a:latin typeface="Nunito Semi-Bold"/>
                <a:ea typeface="Nunito Semi-Bold"/>
                <a:cs typeface="Nunito Semi-Bold"/>
                <a:sym typeface="Nunito Semi-Bold"/>
              </a:rPr>
              <a:t>PCA projection (2 components) used </a:t>
            </a:r>
            <a:r>
              <a:rPr lang="en-US" sz="1760" b="true">
                <a:solidFill>
                  <a:srgbClr val="111111"/>
                </a:solidFill>
                <a:latin typeface="Nunito Bold"/>
                <a:ea typeface="Nunito Bold"/>
                <a:cs typeface="Nunito Bold"/>
                <a:sym typeface="Nunito Bold"/>
              </a:rPr>
              <a:t>only for visual inspection</a:t>
            </a:r>
            <a:r>
              <a:rPr lang="en-US" sz="1760" b="true">
                <a:solidFill>
                  <a:srgbClr val="111111"/>
                </a:solidFill>
                <a:latin typeface="Nunito Semi-Bold"/>
                <a:ea typeface="Nunito Semi-Bold"/>
                <a:cs typeface="Nunito Semi-Bold"/>
                <a:sym typeface="Nunito Semi-Bold"/>
              </a:rPr>
              <a:t>.</a:t>
            </a:r>
          </a:p>
          <a:p>
            <a:pPr algn="l" marL="274320" indent="-274320">
              <a:lnSpc>
                <a:spcPts val="2464"/>
              </a:lnSpc>
              <a:spcBef>
                <a:spcPts val="880"/>
              </a:spcBef>
              <a:buClr>
                <a:srgbClr val="1F7A8C"/>
              </a:buClr>
              <a:buSzPct val="100000"/>
              <a:buFont typeface="Arial"/>
              <a:buChar char="•"/>
            </a:pPr>
            <a:r>
              <a:rPr lang="en-US" sz="1760" b="true">
                <a:solidFill>
                  <a:srgbClr val="111111"/>
                </a:solidFill>
                <a:latin typeface="Nunito Semi-Bold"/>
                <a:ea typeface="Nunito Semi-Bold"/>
                <a:cs typeface="Nunito Semi-Bold"/>
                <a:sym typeface="Nunito Semi-Bold"/>
              </a:rPr>
              <a:t>Level-specific LightGBM surrogates; TreeSHAP in the original variable space.</a:t>
            </a:r>
          </a:p>
        </p:txBody>
      </p:sp>
      <p:sp>
        <p:nvSpPr>
          <p:cNvPr id="35" name="Rounded Rectangle 34"/>
          <p:cNvSpPr/>
          <p:nvPr/>
        </p:nvSpPr>
        <p:spPr>
          <a:xfrm>
            <a:off x="9326880" y="6244082"/>
            <a:ext cx="7932420" cy="3110230"/>
          </a:xfrm>
          <a:prstGeom prst="roundRect">
            <a:avLst>
              <a:gd name="adj" fmla="val 9995"/>
            </a:avLst>
          </a:prstGeom>
          <a:solidFill>
            <a:srgbClr val="4472C4"/>
          </a:solidFill>
          <a:ln>
            <a:noFill/>
          </a:ln>
        </p:spPr>
        <p:txBody>
          <a:bodyPr anchor="ctr" rtlCol="false" lIns="0" tIns="0" rIns="0" bIns="0" wrap="square"/>
          <a:lstStyle/>
          <a:p>
            <a:endParaRPr lang="en-US" sz="1800"/>
          </a:p>
        </p:txBody>
      </p:sp>
      <p:sp>
        <p:nvSpPr>
          <p:cNvPr id="36" name="Rounded Rectangle 35"/>
          <p:cNvSpPr/>
          <p:nvPr/>
        </p:nvSpPr>
        <p:spPr>
          <a:xfrm>
            <a:off x="9784080" y="6006338"/>
            <a:ext cx="204893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Sensitivity</a:t>
            </a:r>
          </a:p>
        </p:txBody>
      </p:sp>
      <p:sp>
        <p:nvSpPr>
          <p:cNvPr id="37" name="TextBox 36"/>
          <p:cNvSpPr txBox="1"/>
          <p:nvPr/>
        </p:nvSpPr>
        <p:spPr>
          <a:xfrm>
            <a:off x="9829800" y="6884162"/>
            <a:ext cx="6972300" cy="2195830"/>
          </a:xfrm>
          <a:prstGeom prst="rect">
            <a:avLst/>
          </a:prstGeom>
          <a:noFill/>
        </p:spPr>
        <p:txBody>
          <a:bodyPr anchor="t" rtlCol="false" lIns="0" tIns="0" rIns="0" bIns="0" wrap="square"/>
          <a:lstStyle/>
          <a:p>
            <a:pPr algn="l" marL="274320" indent="-274320">
              <a:lnSpc>
                <a:spcPts val="2464"/>
              </a:lnSpc>
              <a:spcBef>
                <a:spcPts val="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Robust to small changes in </a:t>
            </a:r>
            <a:r>
              <a:rPr lang="en-US" sz="1760" b="true">
                <a:solidFill>
                  <a:srgbClr val="FFFFFF"/>
                </a:solidFill>
                <a:latin typeface="Nunito Bold"/>
                <a:ea typeface="Nunito Bold"/>
                <a:cs typeface="Nunito Bold"/>
                <a:sym typeface="Nunito Bold"/>
              </a:rPr>
              <a:t>k</a:t>
            </a:r>
            <a:r>
              <a:rPr lang="en-US" sz="1760" b="true">
                <a:solidFill>
                  <a:srgbClr val="FFFFFF"/>
                </a:solidFill>
                <a:latin typeface="Nunito Semi-Bold"/>
                <a:ea typeface="Nunito Semi-Bold"/>
                <a:cs typeface="Nunito Semi-Bold"/>
                <a:sym typeface="Nunito Semi-Bold"/>
              </a:rPr>
              <a:t>, projection dimension and surrogate depth.</a:t>
            </a:r>
          </a:p>
          <a:p>
            <a:pPr algn="l" marL="274320" indent="-274320">
              <a:lnSpc>
                <a:spcPts val="2464"/>
              </a:lnSpc>
              <a:spcBef>
                <a:spcPts val="88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Only </a:t>
            </a:r>
            <a:r>
              <a:rPr lang="en-US" sz="1760" b="true">
                <a:solidFill>
                  <a:srgbClr val="FFFFFF"/>
                </a:solidFill>
                <a:latin typeface="Nunito Bold"/>
                <a:ea typeface="Nunito Bold"/>
                <a:cs typeface="Nunito Bold"/>
                <a:sym typeface="Nunito Bold"/>
              </a:rPr>
              <a:t>low-ranked variables shift</a:t>
            </a:r>
            <a:r>
              <a:rPr lang="en-US" sz="1760" b="true">
                <a:solidFill>
                  <a:srgbClr val="FFFFFF"/>
                </a:solidFill>
                <a:latin typeface="Nunito Semi-Bold"/>
                <a:ea typeface="Nunito Semi-Bold"/>
                <a:cs typeface="Nunito Semi-Bold"/>
                <a:sym typeface="Nunito Semi-Bold"/>
              </a:rPr>
              <a:t>; the leading drivers are stable.</a:t>
            </a:r>
          </a:p>
          <a:p>
            <a:pPr algn="l" marL="274320" indent="-274320">
              <a:lnSpc>
                <a:spcPts val="2464"/>
              </a:lnSpc>
              <a:spcBef>
                <a:spcPts val="88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Comparison point: SHAP-based clustering literature (Gramegna &amp; Giudici, credit risk) reports Silhouette </a:t>
            </a:r>
            <a:r>
              <a:rPr lang="en-US" sz="1760" b="true">
                <a:solidFill>
                  <a:srgbClr val="FFFFFF"/>
                </a:solidFill>
                <a:latin typeface="Nunito Bold"/>
                <a:ea typeface="Nunito Bold"/>
                <a:cs typeface="Nunito Bold"/>
                <a:sym typeface="Nunito Bold"/>
              </a:rPr>
              <a:t>0.37</a:t>
            </a:r>
            <a:r>
              <a:rPr lang="en-US" sz="1760" b="true">
                <a:solidFill>
                  <a:srgbClr val="FFFFFF"/>
                </a:solidFill>
                <a:latin typeface="Nunito Semi-Bold"/>
                <a:ea typeface="Nunito Semi-Bold"/>
                <a:cs typeface="Nunito Semi-Bold"/>
                <a:sym typeface="Nunito Semi-Bold"/>
              </a:rPr>
              <a: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44</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Global SHAP Ranking: Weather Variables Are Central</a:t>
            </a:r>
          </a:p>
        </p:txBody>
      </p:sp>
      <p:pic>
        <p:nvPicPr>
          <p:cNvPr id="25" name="Picture 24" descr="image.png"/>
          <p:cNvPicPr>
            <a:picLocks noChangeAspect="1"/>
          </p:cNvPicPr>
          <p:nvPr/>
        </p:nvPicPr>
        <p:blipFill>
          <a:blip r:embed="rId3"/>
          <a:stretch>
            <a:fillRect/>
          </a:stretch>
        </p:blipFill>
        <p:spPr>
          <a:xfrm>
            <a:off x="15043687" y="1673352"/>
            <a:ext cx="457200" cy="415247"/>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270250"/>
            <a:ext cx="6766560" cy="5853430"/>
          </a:xfrm>
          <a:prstGeom prst="rect">
            <a:avLst/>
          </a:prstGeom>
          <a:noFill/>
        </p:spPr>
        <p:txBody>
          <a:bodyPr anchor="t" rtlCol="false" lIns="0" tIns="0" rIns="0" bIns="0" wrap="square"/>
          <a:lstStyle/>
          <a:p>
            <a:pPr algn="l">
              <a:lnSpc>
                <a:spcPts val="2750"/>
              </a:lnSpc>
              <a:spcBef>
                <a:spcPts val="0"/>
              </a:spcBef>
              <a:buNone/>
            </a:pPr>
            <a:r>
              <a:rPr lang="en-US" sz="2200" b="true">
                <a:solidFill>
                  <a:srgbClr val="4472C4"/>
                </a:solidFill>
                <a:latin typeface="Nunito Ultra-Bold"/>
                <a:ea typeface="Nunito Ultra-Bold"/>
                <a:cs typeface="Nunito Ultra-Bold"/>
                <a:sym typeface="Nunito Ultra-Bold"/>
              </a:rPr>
              <a:t>Reading the ranking</a:t>
            </a:r>
          </a:p>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Temperature, dew point and pressure</a:t>
            </a:r>
            <a:r>
              <a:rPr lang="en-US" sz="1900" b="true">
                <a:solidFill>
                  <a:srgbClr val="111111"/>
                </a:solidFill>
                <a:latin typeface="Nunito Semi-Bold"/>
                <a:ea typeface="Nunito Semi-Bold"/>
                <a:cs typeface="Nunito Semi-Bold"/>
                <a:sym typeface="Nunito Semi-Bold"/>
              </a:rPr>
              <a:t> lead the ranking; CO, NO₂, PM10 and PM2.5 follow.</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It is </a:t>
            </a:r>
            <a:r>
              <a:rPr lang="en-US" sz="1900" b="true">
                <a:solidFill>
                  <a:srgbClr val="111111"/>
                </a:solidFill>
                <a:latin typeface="Nunito Bold"/>
                <a:ea typeface="Nunito Bold"/>
                <a:cs typeface="Nunito Bold"/>
                <a:sym typeface="Nunito Bold"/>
              </a:rPr>
              <a:t>NOT only pollutant concentrations</a:t>
            </a:r>
            <a:r>
              <a:rPr lang="en-US" sz="1900" b="true">
                <a:solidFill>
                  <a:srgbClr val="111111"/>
                </a:solidFill>
                <a:latin typeface="Nunito Semi-Bold"/>
                <a:ea typeface="Nunito Semi-Bold"/>
                <a:cs typeface="Nunito Semi-Bold"/>
                <a:sym typeface="Nunito Semi-Bold"/>
              </a:rPr>
              <a:t> that matter: weather variables play a </a:t>
            </a:r>
            <a:r>
              <a:rPr lang="en-US" sz="1900" b="true">
                <a:solidFill>
                  <a:srgbClr val="111111"/>
                </a:solidFill>
                <a:latin typeface="Nunito Bold"/>
                <a:ea typeface="Nunito Bold"/>
                <a:cs typeface="Nunito Bold"/>
                <a:sym typeface="Nunito Bold"/>
              </a:rPr>
              <a:t>central role in the structure</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Temperature, dew point and pressure control </a:t>
            </a:r>
            <a:r>
              <a:rPr lang="en-US" sz="1900" b="true">
                <a:solidFill>
                  <a:srgbClr val="111111"/>
                </a:solidFill>
                <a:latin typeface="Nunito Bold"/>
                <a:ea typeface="Nunito Bold"/>
                <a:cs typeface="Nunito Bold"/>
                <a:sym typeface="Nunito Bold"/>
              </a:rPr>
              <a:t>dispersion, trapping and sunlight-driven chemistry</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This is the kind of insight that flat summaries often fail to make explicit.</a:t>
            </a:r>
          </a:p>
        </p:txBody>
      </p:sp>
      <p:sp>
        <p:nvSpPr>
          <p:cNvPr id="31" name="Rounded Rectangle 30"/>
          <p:cNvSpPr/>
          <p:nvPr/>
        </p:nvSpPr>
        <p:spPr>
          <a:xfrm>
            <a:off x="8252460" y="3270250"/>
            <a:ext cx="9006840" cy="5853430"/>
          </a:xfrm>
          <a:prstGeom prst="roundRect">
            <a:avLst>
              <a:gd name="adj" fmla="val 3905"/>
            </a:avLst>
          </a:prstGeom>
          <a:solidFill>
            <a:srgbClr val="FFFFFF"/>
          </a:solidFill>
          <a:ln w="15875">
            <a:solidFill>
              <a:srgbClr val="E3D6C4"/>
            </a:solidFill>
          </a:ln>
        </p:spPr>
        <p:txBody>
          <a:bodyPr anchor="ctr" rtlCol="false" lIns="0" tIns="0" rIns="0" bIns="0" wrap="square"/>
          <a:lstStyle/>
          <a:p>
            <a:endParaRPr lang="en-US" sz="1800"/>
          </a:p>
        </p:txBody>
      </p:sp>
      <p:pic>
        <p:nvPicPr>
          <p:cNvPr id="32" name="Picture 31" descr="fig6_1_beijing_global.png"/>
          <p:cNvPicPr>
            <a:picLocks noChangeAspect="1"/>
          </p:cNvPicPr>
          <p:nvPr/>
        </p:nvPicPr>
        <p:blipFill>
          <a:blip r:embed="rId5"/>
          <a:stretch>
            <a:fillRect/>
          </a:stretch>
        </p:blipFill>
        <p:spPr>
          <a:xfrm>
            <a:off x="8997082" y="3453130"/>
            <a:ext cx="7517595" cy="5076190"/>
          </a:xfrm>
          <a:prstGeom prst="rect">
            <a:avLst/>
          </a:prstGeom>
        </p:spPr>
      </p:pic>
      <p:sp>
        <p:nvSpPr>
          <p:cNvPr id="33" name="TextBox 32"/>
          <p:cNvSpPr txBox="1"/>
          <p:nvPr/>
        </p:nvSpPr>
        <p:spPr>
          <a:xfrm>
            <a:off x="8252460" y="8712200"/>
            <a:ext cx="900684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6.1 (thesis): global SHAP importance at the coarse level, Beijing Air Quality</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45</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How Importance Changes Across Levels</a:t>
            </a:r>
          </a:p>
        </p:txBody>
      </p:sp>
      <p:pic>
        <p:nvPicPr>
          <p:cNvPr id="25" name="Picture 24" descr="image.png"/>
          <p:cNvPicPr>
            <a:picLocks noChangeAspect="1"/>
          </p:cNvPicPr>
          <p:nvPr/>
        </p:nvPicPr>
        <p:blipFill>
          <a:blip r:embed="rId3"/>
          <a:stretch>
            <a:fillRect/>
          </a:stretch>
        </p:blipFill>
        <p:spPr>
          <a:xfrm>
            <a:off x="11659347" y="1673352"/>
            <a:ext cx="457200" cy="452148"/>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Rounded Rectangle 29"/>
          <p:cNvSpPr/>
          <p:nvPr/>
        </p:nvSpPr>
        <p:spPr>
          <a:xfrm>
            <a:off x="1028700" y="3363722"/>
            <a:ext cx="16230600" cy="2331720"/>
          </a:xfrm>
          <a:prstGeom prst="roundRect">
            <a:avLst>
              <a:gd name="adj" fmla="val 9803"/>
            </a:avLst>
          </a:prstGeom>
          <a:solidFill>
            <a:srgbClr val="FFFFFF"/>
          </a:solidFill>
          <a:ln w="15875">
            <a:solidFill>
              <a:srgbClr val="E3D6C4"/>
            </a:solidFill>
          </a:ln>
        </p:spPr>
        <p:txBody>
          <a:bodyPr anchor="ctr" rtlCol="false" lIns="0" tIns="0" rIns="0" bIns="0" wrap="square"/>
          <a:lstStyle/>
          <a:p>
            <a:endParaRPr lang="en-US" sz="1800"/>
          </a:p>
        </p:txBody>
      </p:sp>
      <p:pic>
        <p:nvPicPr>
          <p:cNvPr id="31" name="Picture 30" descr="fig6_3_beijing_multilevel.png"/>
          <p:cNvPicPr>
            <a:picLocks noChangeAspect="1"/>
          </p:cNvPicPr>
          <p:nvPr/>
        </p:nvPicPr>
        <p:blipFill>
          <a:blip r:embed="rId5"/>
          <a:stretch>
            <a:fillRect/>
          </a:stretch>
        </p:blipFill>
        <p:spPr>
          <a:xfrm>
            <a:off x="5604473" y="3500882"/>
            <a:ext cx="7079053" cy="1645920"/>
          </a:xfrm>
          <a:prstGeom prst="rect">
            <a:avLst/>
          </a:prstGeom>
        </p:spPr>
      </p:pic>
      <p:sp>
        <p:nvSpPr>
          <p:cNvPr id="32" name="TextBox 31"/>
          <p:cNvSpPr txBox="1"/>
          <p:nvPr/>
        </p:nvSpPr>
        <p:spPr>
          <a:xfrm>
            <a:off x="1028700" y="5238242"/>
            <a:ext cx="1623060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6.3 (thesis): cluster-specific SHAP importance, coarse level</a:t>
            </a:r>
          </a:p>
        </p:txBody>
      </p:sp>
      <p:sp>
        <p:nvSpPr>
          <p:cNvPr id="33" name="Rounded Rectangle 32"/>
          <p:cNvSpPr/>
          <p:nvPr/>
        </p:nvSpPr>
        <p:spPr>
          <a:xfrm>
            <a:off x="1028700" y="6198362"/>
            <a:ext cx="7932420" cy="2148840"/>
          </a:xfrm>
          <a:prstGeom prst="roundRect">
            <a:avLst>
              <a:gd name="adj" fmla="val 14468"/>
            </a:avLst>
          </a:prstGeom>
          <a:solidFill>
            <a:srgbClr val="4472C4"/>
          </a:solidFill>
          <a:ln>
            <a:noFill/>
          </a:ln>
        </p:spPr>
        <p:txBody>
          <a:bodyPr anchor="ctr" rtlCol="false" lIns="0" tIns="0" rIns="0" bIns="0" wrap="square"/>
          <a:lstStyle/>
          <a:p>
            <a:endParaRPr lang="en-US" sz="1800"/>
          </a:p>
        </p:txBody>
      </p:sp>
      <p:sp>
        <p:nvSpPr>
          <p:cNvPr id="34" name="Rounded Rectangle 33"/>
          <p:cNvSpPr/>
          <p:nvPr/>
        </p:nvSpPr>
        <p:spPr>
          <a:xfrm>
            <a:off x="1485900" y="5960618"/>
            <a:ext cx="4739404"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Coarse level · regime selection</a:t>
            </a:r>
          </a:p>
        </p:txBody>
      </p:sp>
      <p:sp>
        <p:nvSpPr>
          <p:cNvPr id="35" name="TextBox 34"/>
          <p:cNvSpPr txBox="1"/>
          <p:nvPr/>
        </p:nvSpPr>
        <p:spPr>
          <a:xfrm>
            <a:off x="1485900" y="6747002"/>
            <a:ext cx="7063740" cy="1371600"/>
          </a:xfrm>
          <a:prstGeom prst="rect">
            <a:avLst/>
          </a:prstGeom>
          <a:noFill/>
        </p:spPr>
        <p:txBody>
          <a:bodyPr anchor="t" rtlCol="false" lIns="0" tIns="0" rIns="0" bIns="0" wrap="square"/>
          <a:lstStyle/>
          <a:p>
            <a:pPr algn="l" marL="274320" indent="-274320">
              <a:lnSpc>
                <a:spcPts val="2520"/>
              </a:lnSpc>
              <a:spcBef>
                <a:spcPts val="0"/>
              </a:spcBef>
              <a:buClr>
                <a:srgbClr val="ECC665"/>
              </a:buClr>
              <a:buSzPct val="100000"/>
              <a:buFont typeface="Arial"/>
              <a:buChar char="•"/>
            </a:pPr>
            <a:r>
              <a:rPr lang="en-US" sz="1800" b="true">
                <a:solidFill>
                  <a:srgbClr val="FFFFFF"/>
                </a:solidFill>
                <a:latin typeface="Nunito Bold"/>
                <a:ea typeface="Nunito Bold"/>
                <a:cs typeface="Nunito Bold"/>
                <a:sym typeface="Nunito Bold"/>
              </a:rPr>
              <a:t>Temperature and dew point dominate</a:t>
            </a:r>
            <a:r>
              <a:rPr lang="en-US" sz="1800" b="true">
                <a:solidFill>
                  <a:srgbClr val="FFFFFF"/>
                </a:solidFill>
                <a:latin typeface="Nunito Semi-Bold"/>
                <a:ea typeface="Nunito Semi-Bold"/>
                <a:cs typeface="Nunito Semi-Bold"/>
                <a:sym typeface="Nunito Semi-Bold"/>
              </a:rPr>
              <a:t>: they separate the broad atmospheric regimes.</a:t>
            </a:r>
          </a:p>
          <a:p>
            <a:pPr algn="l" marL="274320" indent="-274320">
              <a:lnSpc>
                <a:spcPts val="2520"/>
              </a:lnSpc>
              <a:spcBef>
                <a:spcPts val="60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Parent-level story = which regime the observation belongs to.</a:t>
            </a:r>
          </a:p>
        </p:txBody>
      </p:sp>
      <p:sp>
        <p:nvSpPr>
          <p:cNvPr id="36" name="Rounded Rectangle 35"/>
          <p:cNvSpPr/>
          <p:nvPr/>
        </p:nvSpPr>
        <p:spPr>
          <a:xfrm>
            <a:off x="9326880" y="6198362"/>
            <a:ext cx="7932420" cy="2148840"/>
          </a:xfrm>
          <a:prstGeom prst="roundRect">
            <a:avLst>
              <a:gd name="adj" fmla="val 14468"/>
            </a:avLst>
          </a:prstGeom>
          <a:solidFill>
            <a:srgbClr val="E7EAF3"/>
          </a:solidFill>
          <a:ln>
            <a:noFill/>
          </a:ln>
        </p:spPr>
        <p:txBody>
          <a:bodyPr anchor="ctr" rtlCol="false" lIns="0" tIns="0" rIns="0" bIns="0" wrap="square"/>
          <a:lstStyle/>
          <a:p>
            <a:endParaRPr lang="en-US" sz="1800"/>
          </a:p>
        </p:txBody>
      </p:sp>
      <p:sp>
        <p:nvSpPr>
          <p:cNvPr id="37" name="Rounded Rectangle 36"/>
          <p:cNvSpPr/>
          <p:nvPr/>
        </p:nvSpPr>
        <p:spPr>
          <a:xfrm>
            <a:off x="9784080" y="5960618"/>
            <a:ext cx="6203063"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Within clusters · variation inside a regime</a:t>
            </a:r>
          </a:p>
        </p:txBody>
      </p:sp>
      <p:sp>
        <p:nvSpPr>
          <p:cNvPr id="38" name="TextBox 37"/>
          <p:cNvSpPr txBox="1"/>
          <p:nvPr/>
        </p:nvSpPr>
        <p:spPr>
          <a:xfrm>
            <a:off x="9784080" y="6747002"/>
            <a:ext cx="7063740" cy="1371600"/>
          </a:xfrm>
          <a:prstGeom prst="rect">
            <a:avLst/>
          </a:prstGeom>
          <a:noFill/>
        </p:spPr>
        <p:txBody>
          <a:bodyPr anchor="t" rtlCol="false" lIns="0" tIns="0" rIns="0" bIns="0" wrap="square"/>
          <a:lstStyle/>
          <a:p>
            <a:pPr algn="l" marL="274320" indent="-274320">
              <a:lnSpc>
                <a:spcPts val="2520"/>
              </a:lnSpc>
              <a:spcBef>
                <a:spcPts val="0"/>
              </a:spcBef>
              <a:buClr>
                <a:srgbClr val="1F7A8C"/>
              </a:buClr>
              <a:buSzPct val="100000"/>
              <a:buFont typeface="Arial"/>
              <a:buChar char="•"/>
            </a:pPr>
            <a:r>
              <a:rPr lang="en-US" sz="1800" b="true">
                <a:solidFill>
                  <a:srgbClr val="111111"/>
                </a:solidFill>
                <a:latin typeface="Nunito Bold"/>
                <a:ea typeface="Nunito Bold"/>
                <a:cs typeface="Nunito Bold"/>
                <a:sym typeface="Nunito Bold"/>
              </a:rPr>
              <a:t>CO, SO₂, PM10, wind speed, pressure or ozone</a:t>
            </a:r>
            <a:r>
              <a:rPr lang="en-US" sz="1800" b="true">
                <a:solidFill>
                  <a:srgbClr val="111111"/>
                </a:solidFill>
                <a:latin typeface="Nunito Semi-Bold"/>
                <a:ea typeface="Nunito Semi-Bold"/>
                <a:cs typeface="Nunito Semi-Bold"/>
                <a:sym typeface="Nunito Semi-Bold"/>
              </a:rPr>
              <a:t> become more informative.</a:t>
            </a:r>
          </a:p>
          <a:p>
            <a:pPr algn="l" marL="274320" indent="-274320">
              <a:lnSpc>
                <a:spcPts val="2520"/>
              </a:lnSpc>
              <a:spcBef>
                <a:spcPts val="600"/>
              </a:spcBef>
              <a:buClr>
                <a:srgbClr val="1F7A8C"/>
              </a:buClr>
              <a:buSzPct val="100000"/>
              <a:buFont typeface="Arial"/>
              <a:buChar char="•"/>
            </a:pPr>
            <a:r>
              <a:rPr lang="en-US" sz="1800" b="true">
                <a:solidFill>
                  <a:srgbClr val="111111"/>
                </a:solidFill>
                <a:latin typeface="Nunito Semi-Bold"/>
                <a:ea typeface="Nunito Semi-Bold"/>
                <a:cs typeface="Nunito Semi-Bold"/>
                <a:sym typeface="Nunito Semi-Bold"/>
              </a:rPr>
              <a:t>Cluster-level story = what varies once the regime is fixed.</a:t>
            </a:r>
          </a:p>
        </p:txBody>
      </p:sp>
      <p:sp>
        <p:nvSpPr>
          <p:cNvPr id="39" name="Rounded Rectangle 38"/>
          <p:cNvSpPr/>
          <p:nvPr/>
        </p:nvSpPr>
        <p:spPr>
          <a:xfrm>
            <a:off x="1028700" y="8528050"/>
            <a:ext cx="16230600" cy="595630"/>
          </a:xfrm>
          <a:prstGeom prst="roundRect">
            <a:avLst>
              <a:gd name="adj" fmla="val 46055"/>
            </a:avLst>
          </a:prstGeom>
          <a:noFill/>
          <a:ln w="31750">
            <a:solidFill>
              <a:srgbClr val="1F7A8C"/>
            </a:solidFill>
          </a:ln>
        </p:spPr>
        <p:txBody>
          <a:bodyPr anchor="ctr" rtlCol="false" lIns="0" tIns="0" rIns="0" bIns="0" wrap="square"/>
          <a:lstStyle/>
          <a:p>
            <a:endParaRPr lang="en-US" sz="1800"/>
          </a:p>
        </p:txBody>
      </p:sp>
      <p:sp>
        <p:nvSpPr>
          <p:cNvPr id="40" name="TextBox 39"/>
          <p:cNvSpPr txBox="1"/>
          <p:nvPr/>
        </p:nvSpPr>
        <p:spPr>
          <a:xfrm>
            <a:off x="1485900" y="8637778"/>
            <a:ext cx="15316200" cy="376174"/>
          </a:xfrm>
          <a:prstGeom prst="rect">
            <a:avLst/>
          </a:prstGeom>
          <a:noFill/>
        </p:spPr>
        <p:txBody>
          <a:bodyPr anchor="ctr" rtlCol="false" lIns="0" tIns="0" rIns="0" bIns="0" wrap="square"/>
          <a:lstStyle/>
          <a:p>
            <a:pPr algn="l">
              <a:lnSpc>
                <a:spcPts val="2142"/>
              </a:lnSpc>
              <a:spcBef>
                <a:spcPts val="0"/>
              </a:spcBef>
              <a:buNone/>
            </a:pPr>
            <a:r>
              <a:rPr lang="en-US" sz="1530" b="true">
                <a:solidFill>
                  <a:srgbClr val="111111"/>
                </a:solidFill>
                <a:latin typeface="Nunito Bold"/>
                <a:ea typeface="Nunito Bold"/>
                <a:cs typeface="Nunito Bold"/>
                <a:sym typeface="Nunito Bold"/>
              </a:rPr>
              <a:t>This change is NOT a contradiction. It is exactly what a multi-level explanation should reveal.</a:t>
            </a:r>
            <a:r>
              <a:rPr lang="en-US" sz="1530" b="true">
                <a:solidFill>
                  <a:srgbClr val="111111"/>
                </a:solidFill>
                <a:latin typeface="Nunito Semi-Bold"/>
                <a:ea typeface="Nunito Semi-Bold"/>
                <a:cs typeface="Nunito Semi-Bold"/>
                <a:sym typeface="Nunito Semi-Bold"/>
              </a:rPr>
              <a:t> A variable can be </a:t>
            </a:r>
            <a:r>
              <a:rPr lang="en-US" sz="1530" b="true">
                <a:solidFill>
                  <a:srgbClr val="111111"/>
                </a:solidFill>
                <a:latin typeface="Nunito Bold"/>
                <a:ea typeface="Nunito Bold"/>
                <a:cs typeface="Nunito Bold"/>
                <a:sym typeface="Nunito Bold"/>
              </a:rPr>
              <a:t>globally important yet locally uninformative</a:t>
            </a:r>
            <a:r>
              <a:rPr lang="en-US" sz="1530" b="true">
                <a:solidFill>
                  <a:srgbClr val="111111"/>
                </a:solidFill>
                <a:latin typeface="Nunito Semi-Bold"/>
                <a:ea typeface="Nunito Semi-Bold"/>
                <a:cs typeface="Nunito Semi-Bold"/>
                <a:sym typeface="Nunito Semi-Bold"/>
              </a:rPr>
              <a:t> inside a sub-cluster, and Proposition 6.1 makes the two readings agree up to the surrogate residual.</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 to RQ2</a:t>
            </a:r>
          </a:p>
        </p:txBody>
      </p:sp>
      <p:pic>
        <p:nvPicPr>
          <p:cNvPr id="23" name="Picture 22" descr="image.png"/>
          <p:cNvPicPr>
            <a:picLocks noChangeAspect="1"/>
          </p:cNvPicPr>
          <p:nvPr/>
        </p:nvPicPr>
        <p:blipFill>
          <a:blip r:embed="rId3"/>
          <a:stretch>
            <a:fillRect/>
          </a:stretch>
        </p:blipFill>
        <p:spPr>
          <a:xfrm>
            <a:off x="5204935" y="1673352"/>
            <a:ext cx="457200" cy="61711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546602"/>
            <a:ext cx="16230600" cy="1463040"/>
          </a:xfrm>
          <a:prstGeom prst="roundRect">
            <a:avLst>
              <a:gd name="adj" fmla="val 13750"/>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RQ2</a:t>
            </a:r>
          </a:p>
        </p:txBody>
      </p:sp>
      <p:sp>
        <p:nvSpPr>
          <p:cNvPr id="30" name="TextBox 29"/>
          <p:cNvSpPr txBox="1"/>
          <p:nvPr/>
        </p:nvSpPr>
        <p:spPr>
          <a:xfrm>
            <a:off x="1394460" y="3820922"/>
            <a:ext cx="15499080" cy="105156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Bold"/>
                <a:ea typeface="Nunito Bold"/>
                <a:cs typeface="Nunito Bold"/>
                <a:sym typeface="Nunito Bold"/>
              </a:rPr>
              <a:t>Yes, within bounds.</a:t>
            </a:r>
            <a:r>
              <a:rPr lang="en-US" sz="2200" b="true">
                <a:solidFill>
                  <a:srgbClr val="111111"/>
                </a:solidFill>
                <a:latin typeface="Nunito Semi-Bold"/>
                <a:ea typeface="Nunito Semi-Bold"/>
                <a:cs typeface="Nunito Semi-Bold"/>
                <a:sym typeface="Nunito Semi-Bold"/>
              </a:rPr>
              <a:t> Consistency is kept at scale and across levels: a nested workflow with level-specific surrogates, backed by Proposition 6.1, explains 383,585 records in the original variable space.</a:t>
            </a:r>
          </a:p>
        </p:txBody>
      </p:sp>
      <p:graphicFrame>
        <p:nvGraphicFramePr>
          <p:cNvPr id="31" name="Table 30"/>
          <p:cNvGraphicFramePr>
            <a:graphicFrameLocks noGrp="1"/>
          </p:cNvGraphicFramePr>
          <p:nvPr/>
        </p:nvGraphicFramePr>
        <p:xfrm>
          <a:off x="1028700" y="5421122"/>
          <a:ext cx="16230599" cy="3173984"/>
        </p:xfrm>
        <a:graphic>
          <a:graphicData uri="http://schemas.openxmlformats.org/drawingml/2006/table">
            <a:tbl>
              <a:tblPr firstRow="0" bandRow="0" firstCol="0" lastRow="0" lastCol="0" bandCol="0">
                <a:tableStyleId>{2D5ABB26-0587-4C30-8999-92F81FD0307C}</a:tableStyleId>
              </a:tblPr>
              <a:tblGrid>
                <a:gridCol w="5410200"/>
                <a:gridCol w="1456592"/>
                <a:gridCol w="9363807"/>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A truly multi-level workflow</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Coarse regimes, then sub-clusters, each with its own surrogate; no single flat summary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Formal cross-level consistency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Proposition 6.1: parent importance = size-weighted expectation over children, up to </a:t>
                      </a:r>
                      <a:r>
                        <a:rPr lang="en-US" sz="1800" b="true">
                          <a:solidFill>
                            <a:srgbClr val="111111"/>
                          </a:solidFill>
                          <a:latin typeface="Calibri"/>
                          <a:ea typeface="Calibri"/>
                          <a:cs typeface="Calibri"/>
                          <a:sym typeface="Calibri"/>
                        </a:rPr>
                        <a:t>ε</a:t>
                      </a:r>
                      <a:r>
                        <a:rPr lang="en-US" sz="1800" b="true" baseline="-25000">
                          <a:solidFill>
                            <a:srgbClr val="111111"/>
                          </a:solidFill>
                          <a:latin typeface="Nunito Semi-Bold"/>
                          <a:ea typeface="Nunito Semi-Bold"/>
                          <a:cs typeface="Nunito Semi-Bold"/>
                          <a:sym typeface="Nunito Semi-Bold"/>
                        </a:rPr>
                        <a:t>j</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Validation on very different large-scale data</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Beijing Air Quality: Silhouette ≈ 0.63, three physically meaningful regimes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47</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pic>
        <p:nvPicPr>
          <p:cNvPr id="25" name="Picture 24" descr="image.png"/>
          <p:cNvPicPr>
            <a:picLocks noChangeAspect="1"/>
          </p:cNvPicPr>
          <p:nvPr/>
        </p:nvPicPr>
        <p:blipFill>
          <a:blip r:embed="rId3"/>
          <a:stretch>
            <a:fillRect/>
          </a:stretch>
        </p:blipFill>
        <p:spPr>
          <a:xfrm>
            <a:off x="4641445" y="1673352"/>
            <a:ext cx="457200" cy="250983"/>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30" name="Rounded Rectangle 29"/>
          <p:cNvSpPr/>
          <p:nvPr/>
        </p:nvSpPr>
        <p:spPr>
          <a:xfrm>
            <a:off x="1028700" y="3363722"/>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1" name="Oval 30"/>
          <p:cNvSpPr/>
          <p:nvPr/>
        </p:nvSpPr>
        <p:spPr>
          <a:xfrm>
            <a:off x="1303020" y="3750214"/>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32" name="TextBox 31"/>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Weather, not only pollution, defines the structure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Temperature, dew point and pressure lead the coarse-level ranking; they set the regime that pollutants then vary within.</a:t>
            </a:r>
          </a:p>
        </p:txBody>
      </p:sp>
      <p:sp>
        <p:nvSpPr>
          <p:cNvPr id="33" name="Rounded Rectangle 32"/>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4" name="Oval 33"/>
          <p:cNvSpPr/>
          <p:nvPr/>
        </p:nvSpPr>
        <p:spPr>
          <a:xfrm>
            <a:off x="1303020" y="5254720"/>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5" name="TextBox 34"/>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Importance legitimately changes with the level</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A variable can be globally important yet locally uninformative; Proposition 6.1 makes that difference interpretable rather than contradictory.</a:t>
            </a:r>
          </a:p>
        </p:txBody>
      </p:sp>
      <p:sp>
        <p:nvSpPr>
          <p:cNvPr id="36" name="Rounded Rectangle 35"/>
          <p:cNvSpPr/>
          <p:nvPr/>
        </p:nvSpPr>
        <p:spPr>
          <a:xfrm>
            <a:off x="1028700" y="6372733"/>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7" name="Oval 36"/>
          <p:cNvSpPr/>
          <p:nvPr/>
        </p:nvSpPr>
        <p:spPr>
          <a:xfrm>
            <a:off x="1303020" y="6759225"/>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8" name="TextBox 37"/>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explanation scales</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Level-specific surrogates and exact TreeSHAP keep the cost linear in the data, not exponential in the features.</a:t>
            </a:r>
          </a:p>
        </p:txBody>
      </p:sp>
      <p:sp>
        <p:nvSpPr>
          <p:cNvPr id="39" name="Rounded Rectangle 38"/>
          <p:cNvSpPr/>
          <p:nvPr/>
        </p:nvSpPr>
        <p:spPr>
          <a:xfrm>
            <a:off x="1028700" y="7783766"/>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40" name="Oval 39"/>
          <p:cNvSpPr/>
          <p:nvPr/>
        </p:nvSpPr>
        <p:spPr>
          <a:xfrm>
            <a:off x="1303020" y="8170259"/>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41" name="TextBox 40"/>
          <p:cNvSpPr txBox="1"/>
          <p:nvPr/>
        </p:nvSpPr>
        <p:spPr>
          <a:xfrm>
            <a:off x="2171700" y="789349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logic transfers across domains</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Same pipeline, same reading, from 4,898 wines to 383,585 hourly air-quality records, with a Silhouette ≈ 0.63 against 0.37 in the reference SHAP-clustering study.</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   [18] Gramegna, A. &amp; Giudici, P. SHAP and LIME: An Evaluation of Discriminative Power in Credit Risk. Frontiers in AI 4, 752558 (2021).</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pic>
        <p:nvPicPr>
          <p:cNvPr id="23" name="Picture 22" descr="image.png"/>
          <p:cNvPicPr>
            <a:picLocks noChangeAspect="1"/>
          </p:cNvPicPr>
          <p:nvPr/>
        </p:nvPicPr>
        <p:blipFill>
          <a:blip r:embed="rId3"/>
          <a:stretch>
            <a:fillRect/>
          </a:stretch>
        </p:blipFill>
        <p:spPr>
          <a:xfrm>
            <a:off x="4251252" y="1673352"/>
            <a:ext cx="457200" cy="539881"/>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STATIC CLUSTERING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partition is </a:t>
            </a:r>
            <a:r>
              <a:rPr lang="en-US" sz="1900" b="true">
                <a:solidFill>
                  <a:srgbClr val="FFFFFF"/>
                </a:solidFill>
                <a:latin typeface="Nunito Bold"/>
                <a:ea typeface="Nunito Bold"/>
                <a:cs typeface="Nunito Bold"/>
                <a:sym typeface="Nunito Bold"/>
              </a:rPr>
              <a:t>static</a:t>
            </a:r>
            <a:r>
              <a:rPr lang="en-US" sz="1900" b="true">
                <a:solidFill>
                  <a:srgbClr val="FFFFFF"/>
                </a:solidFill>
                <a:latin typeface="Nunito Semi-Bold"/>
                <a:ea typeface="Nunito Semi-Bold"/>
                <a:cs typeface="Nunito Semi-Bold"/>
                <a:sym typeface="Nunito Semi-Bold"/>
              </a:rPr>
              <a:t>, even though the Beijing data are temporal; drift between years is not modelled.</a:t>
            </a:r>
          </a:p>
        </p:txBody>
      </p:sp>
      <p:sp>
        <p:nvSpPr>
          <p:cNvPr id="30" name="Rounded Rectangle 29"/>
          <p:cNvSpPr/>
          <p:nvPr/>
        </p:nvSpPr>
        <p:spPr>
          <a:xfrm>
            <a:off x="9304020" y="3363722"/>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SMOOTHING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Surrogate-based SHAP plus representative-instance reporting </a:t>
            </a:r>
            <a:r>
              <a:rPr lang="en-US" sz="1900" b="true">
                <a:solidFill>
                  <a:srgbClr val="FFFFFF"/>
                </a:solidFill>
                <a:latin typeface="Nunito Bold"/>
                <a:ea typeface="Nunito Bold"/>
                <a:cs typeface="Nunito Bold"/>
                <a:sym typeface="Nunito Bold"/>
              </a:rPr>
              <a:t>smooth out variation between single observations</a:t>
            </a:r>
            <a:r>
              <a:rPr lang="en-US" sz="1900" b="true">
                <a:solidFill>
                  <a:srgbClr val="FFFFFF"/>
                </a:solidFill>
                <a:latin typeface="Nunito Semi-Bold"/>
                <a:ea typeface="Nunito Semi-Bold"/>
                <a:cs typeface="Nunito Semi-Bold"/>
                <a:sym typeface="Nunito Semi-Bold"/>
              </a:rPr>
              <a:t>.</a:t>
            </a:r>
          </a:p>
        </p:txBody>
      </p:sp>
      <p:sp>
        <p:nvSpPr>
          <p:cNvPr id="32" name="Rounded Rectangle 31"/>
          <p:cNvSpPr/>
          <p:nvPr/>
        </p:nvSpPr>
        <p:spPr>
          <a:xfrm>
            <a:off x="1028700" y="5810377"/>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3" name="TextBox 32"/>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TABULAR ONLY</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Still limited to </a:t>
            </a:r>
            <a:r>
              <a:rPr lang="en-US" sz="1900" b="true">
                <a:solidFill>
                  <a:srgbClr val="FFFFFF"/>
                </a:solidFill>
                <a:latin typeface="Nunito Bold"/>
                <a:ea typeface="Nunito Bold"/>
                <a:cs typeface="Nunito Bold"/>
                <a:sym typeface="Nunito Bold"/>
              </a:rPr>
              <a:t>tabular data</a:t>
            </a:r>
            <a:r>
              <a:rPr lang="en-US" sz="1900" b="true">
                <a:solidFill>
                  <a:srgbClr val="FFFFFF"/>
                </a:solidFill>
                <a:latin typeface="Nunito Semi-Bold"/>
                <a:ea typeface="Nunito Semi-Bold"/>
                <a:cs typeface="Nunito Semi-Bold"/>
                <a:sym typeface="Nunito Semi-Bold"/>
              </a:rPr>
              <a:t>; no graph, text or image input.</a:t>
            </a:r>
          </a:p>
        </p:txBody>
      </p:sp>
      <p:sp>
        <p:nvSpPr>
          <p:cNvPr id="34" name="Rounded Rectangle 33"/>
          <p:cNvSpPr/>
          <p:nvPr/>
        </p:nvSpPr>
        <p:spPr>
          <a:xfrm>
            <a:off x="9304020" y="5810377"/>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35" name="TextBox 34"/>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POST-HOC</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Still an explanation of a </a:t>
            </a:r>
            <a:r>
              <a:rPr lang="en-US" sz="1900" b="true">
                <a:solidFill>
                  <a:srgbClr val="FFFFFF"/>
                </a:solidFill>
                <a:latin typeface="Nunito Bold"/>
                <a:ea typeface="Nunito Bold"/>
                <a:cs typeface="Nunito Bold"/>
                <a:sym typeface="Nunito Bold"/>
              </a:rPr>
              <a:t>pre-computed partition</a:t>
            </a:r>
            <a:r>
              <a:rPr lang="en-US" sz="1900" b="true">
                <a:solidFill>
                  <a:srgbClr val="FFFFFF"/>
                </a:solidFill>
                <a:latin typeface="Nunito Semi-Bold"/>
                <a:ea typeface="Nunito Semi-Bold"/>
                <a:cs typeface="Nunito Semi-Bold"/>
                <a:sym typeface="Nunito Semi-Bold"/>
              </a:rPr>
              <a:t>: attribution does not influence learning.</a:t>
            </a:r>
          </a:p>
        </p:txBody>
      </p:sp>
      <p:sp>
        <p:nvSpPr>
          <p:cNvPr id="36" name="Rounded Rectangle 35"/>
          <p:cNvSpPr/>
          <p:nvPr/>
        </p:nvSpPr>
        <p:spPr>
          <a:xfrm>
            <a:off x="1028700" y="8348472"/>
            <a:ext cx="16230600" cy="960120"/>
          </a:xfrm>
          <a:prstGeom prst="roundRect">
            <a:avLst>
              <a:gd name="adj" fmla="val 23809"/>
            </a:avLst>
          </a:prstGeom>
          <a:noFill/>
          <a:ln w="31750">
            <a:solidFill>
              <a:srgbClr val="1F7A8C"/>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The </a:t>
            </a:r>
            <a:r>
              <a:rPr lang="en-US" sz="2000" b="true">
                <a:solidFill>
                  <a:srgbClr val="111111"/>
                </a:solidFill>
                <a:latin typeface="Nunito Bold"/>
                <a:ea typeface="Nunito Bold"/>
                <a:cs typeface="Nunito Bold"/>
                <a:sym typeface="Nunito Bold"/>
              </a:rPr>
              <a:t>post-hoc</a:t>
            </a:r>
            <a:r>
              <a:rPr lang="en-US" sz="2000" b="true">
                <a:solidFill>
                  <a:srgbClr val="111111"/>
                </a:solidFill>
                <a:latin typeface="Nunito Semi-Bold"/>
                <a:ea typeface="Nunito Semi-Bold"/>
                <a:cs typeface="Nunito Semi-Bold"/>
                <a:sym typeface="Nunito Semi-Bold"/>
              </a:rPr>
              <a:t> limitation is the one that opens the door to Contribution III: what if attribution could shape the learning itself?</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II</a:t>
            </a:r>
          </a:p>
        </p:txBody>
      </p:sp>
      <p:pic>
        <p:nvPicPr>
          <p:cNvPr id="23" name="Picture 22" descr="image.png"/>
          <p:cNvPicPr>
            <a:picLocks noChangeAspect="1"/>
          </p:cNvPicPr>
          <p:nvPr/>
        </p:nvPicPr>
        <p:blipFill>
          <a:blip r:embed="rId3"/>
          <a:stretch>
            <a:fillRect/>
          </a:stretch>
        </p:blipFill>
        <p:spPr>
          <a:xfrm>
            <a:off x="8008663" y="1673352"/>
            <a:ext cx="457200" cy="373212"/>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5196840" cy="2651760"/>
          </a:xfrm>
          <a:prstGeom prst="roundRect">
            <a:avLst>
              <a:gd name="adj" fmla="val 10344"/>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Consistent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Parent and child explanations agree by construction (Proposition 6.1).</a:t>
            </a:r>
          </a:p>
        </p:txBody>
      </p:sp>
      <p:sp>
        <p:nvSpPr>
          <p:cNvPr id="30" name="Rounded Rectangle 29"/>
          <p:cNvSpPr/>
          <p:nvPr/>
        </p:nvSpPr>
        <p:spPr>
          <a:xfrm>
            <a:off x="6545580" y="3363722"/>
            <a:ext cx="5196840" cy="2651760"/>
          </a:xfrm>
          <a:prstGeom prst="roundRect">
            <a:avLst>
              <a:gd name="adj" fmla="val 10344"/>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Against scale</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383,585 records explained with level-specific surrogates, at a linear cost.</a:t>
            </a:r>
          </a:p>
        </p:txBody>
      </p:sp>
      <p:sp>
        <p:nvSpPr>
          <p:cNvPr id="32" name="Rounded Rectangle 31"/>
          <p:cNvSpPr/>
          <p:nvPr/>
        </p:nvSpPr>
        <p:spPr>
          <a:xfrm>
            <a:off x="12062460" y="3363722"/>
            <a:ext cx="5196840" cy="2651760"/>
          </a:xfrm>
          <a:prstGeom prst="roundRect">
            <a:avLst>
              <a:gd name="adj" fmla="val 10344"/>
            </a:avLst>
          </a:prstGeom>
          <a:solidFill>
            <a:srgbClr val="1F7A8C"/>
          </a:solidFill>
          <a:ln>
            <a:noFill/>
          </a:ln>
        </p:spPr>
        <p:txBody>
          <a:bodyPr anchor="ctr" rtlCol="false" lIns="0" tIns="0" rIns="0" bIns="0" wrap="square"/>
          <a:lstStyle/>
          <a:p>
            <a:endParaRPr lang="en-US" sz="1800"/>
          </a:p>
        </p:txBody>
      </p:sp>
      <p:sp>
        <p:nvSpPr>
          <p:cNvPr id="33" name="TextBox 32"/>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Still post-hoc</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attribution explains a partition that was already computed.</a:t>
            </a:r>
          </a:p>
        </p:txBody>
      </p:sp>
      <p:sp>
        <p:nvSpPr>
          <p:cNvPr id="34" name="Rounded Rectangle 33"/>
          <p:cNvSpPr/>
          <p:nvPr/>
        </p:nvSpPr>
        <p:spPr>
          <a:xfrm>
            <a:off x="1028700" y="647268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5" name="Rounded Rectangle 34"/>
          <p:cNvSpPr/>
          <p:nvPr/>
        </p:nvSpPr>
        <p:spPr>
          <a:xfrm>
            <a:off x="1348740" y="6280658"/>
            <a:ext cx="341963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II</a:t>
            </a:r>
          </a:p>
        </p:txBody>
      </p:sp>
      <p:sp>
        <p:nvSpPr>
          <p:cNvPr id="36" name="TextBox 35"/>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Shapley attribution stays </a:t>
            </a:r>
            <a:r>
              <a:rPr lang="en-US" sz="2300" b="true">
                <a:solidFill>
                  <a:srgbClr val="111111"/>
                </a:solidFill>
                <a:latin typeface="Nunito Bold"/>
                <a:ea typeface="Nunito Bold"/>
                <a:cs typeface="Nunito Bold"/>
                <a:sym typeface="Nunito Bold"/>
              </a:rPr>
              <a:t>consistent across levels of detail</a:t>
            </a:r>
            <a:r>
              <a:rPr lang="en-US" sz="2300" b="true">
                <a:solidFill>
                  <a:srgbClr val="111111"/>
                </a:solidFill>
                <a:latin typeface="Nunito Semi-Bold"/>
                <a:ea typeface="Nunito Semi-Bold"/>
                <a:cs typeface="Nunito Semi-Bold"/>
                <a:sym typeface="Nunito Semi-Bold"/>
              </a:rPr>
              <a:t> when the hierarchy is explicit, so explanations become interpretable </a:t>
            </a:r>
            <a:r>
              <a:rPr lang="en-US" sz="2300" b="true">
                <a:solidFill>
                  <a:srgbClr val="111111"/>
                </a:solidFill>
                <a:latin typeface="Nunito Bold"/>
                <a:ea typeface="Nunito Bold"/>
                <a:cs typeface="Nunito Bold"/>
                <a:sym typeface="Nunito Bold"/>
              </a:rPr>
              <a:t>against scale</a:t>
            </a:r>
            <a:r>
              <a:rPr lang="en-US" sz="2300" b="true">
                <a:solidFill>
                  <a:srgbClr val="111111"/>
                </a:solidFill>
                <a:latin typeface="Nunito Semi-Bold"/>
                <a:ea typeface="Nunito Semi-Bold"/>
                <a:cs typeface="Nunito Semi-Bold"/>
                <a:sym typeface="Nunito Semi-Bold"/>
              </a:rPr>
              <a:t>, not just against one flat partition.</a:t>
            </a:r>
          </a:p>
        </p:txBody>
      </p:sp>
      <p:sp>
        <p:nvSpPr>
          <p:cNvPr id="37" name="Rounded Rectangle 36"/>
          <p:cNvSpPr/>
          <p:nvPr/>
        </p:nvSpPr>
        <p:spPr>
          <a:xfrm>
            <a:off x="1028700" y="8392922"/>
            <a:ext cx="16230600" cy="961390"/>
          </a:xfrm>
          <a:prstGeom prst="roundRect">
            <a:avLst>
              <a:gd name="adj" fmla="val 23778"/>
            </a:avLst>
          </a:prstGeom>
          <a:solidFill>
            <a:srgbClr val="4472C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Bold"/>
                <a:ea typeface="Nunito Bold"/>
                <a:cs typeface="Nunito Bold"/>
                <a:sym typeface="Nunito Bold"/>
              </a:rPr>
              <a:t>Next step:</a:t>
            </a:r>
            <a:r>
              <a:rPr lang="en-US" sz="2000" b="true">
                <a:solidFill>
                  <a:srgbClr val="FFFFFF"/>
                </a:solidFill>
                <a:latin typeface="Nunito Semi-Bold"/>
                <a:ea typeface="Nunito Semi-Bold"/>
                <a:cs typeface="Nunito Semi-Bold"/>
                <a:sym typeface="Nunito Semi-Bold"/>
              </a:rPr>
              <a:t> let attribution shape the learning itself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Contribution III</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51</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III</a:t>
            </a:r>
          </a:p>
        </p:txBody>
      </p:sp>
      <p:sp>
        <p:nvSpPr>
          <p:cNvPr id="8" name="Oval 7"/>
          <p:cNvSpPr/>
          <p:nvPr/>
        </p:nvSpPr>
        <p:spPr>
          <a:xfrm>
            <a:off x="14131423"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4131423"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06</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DyHuCoG: a Dynamic Hypergraph Cooperative Game for recommendation  ·  answers RQ3 &amp; RQ4</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Formulate recommendation as a cooperative game over users, items and contexts; make attribution an in-training signal.</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Preference-aware Monte Carlo Shapley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dynamic hypergraph edge weights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attention-gated, context-aware scoring; multi-objective loss.</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MovieLens-1M &amp; Amazon-Book: NDCG, Recall, Coverage and ILD improve together over HPCF; largest gains on the sparsest data.</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51</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pic>
        <p:nvPicPr>
          <p:cNvPr id="25" name="Picture 24" descr="image.png"/>
          <p:cNvPicPr>
            <a:picLocks noChangeAspect="1"/>
          </p:cNvPicPr>
          <p:nvPr/>
        </p:nvPicPr>
        <p:blipFill>
          <a:blip r:embed="rId3"/>
          <a:stretch>
            <a:fillRect/>
          </a:stretch>
        </p:blipFill>
        <p:spPr>
          <a:xfrm>
            <a:off x="4883941" y="1673352"/>
            <a:ext cx="457200" cy="427074"/>
          </a:xfrm>
          <a:prstGeom prst="rect">
            <a:avLst/>
          </a:prstGeom>
        </p:spPr>
      </p:pic>
      <p:sp>
        <p:nvSpPr>
          <p:cNvPr id="26" name="Rounded Rectangle 25"/>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Graph and hypergraph recommenders [12, 13, 14] treat message importance as </a:t>
            </a:r>
            <a:r>
              <a:rPr lang="en-US" sz="2100" b="true">
                <a:solidFill>
                  <a:srgbClr val="111111"/>
                </a:solidFill>
                <a:latin typeface="Nunito Bold"/>
                <a:ea typeface="Nunito Bold"/>
                <a:cs typeface="Nunito Bold"/>
                <a:sym typeface="Nunito Bold"/>
              </a:rPr>
              <a:t>uniform or attention-weighted</a:t>
            </a:r>
            <a:r>
              <a:rPr lang="en-US" sz="2100" b="true">
                <a:solidFill>
                  <a:srgbClr val="111111"/>
                </a:solidFill>
                <a:latin typeface="Nunito Semi-Bold"/>
                <a:ea typeface="Nunito Semi-Bold"/>
                <a:cs typeface="Nunito Semi-Bold"/>
                <a:sym typeface="Nunito Semi-Bold"/>
              </a:rPr>
              <a:t>, with no well-founded </a:t>
            </a:r>
            <a:r>
              <a:rPr lang="en-US" sz="2100" b="true">
                <a:solidFill>
                  <a:srgbClr val="111111"/>
                </a:solidFill>
                <a:latin typeface="Nunito Bold"/>
                <a:ea typeface="Nunito Bold"/>
                <a:cs typeface="Nunito Bold"/>
                <a:sym typeface="Nunito Bold"/>
              </a:rPr>
              <a:t>marginal-contribution</a:t>
            </a:r>
            <a:r>
              <a:rPr lang="en-US" sz="2100" b="true">
                <a:solidFill>
                  <a:srgbClr val="111111"/>
                </a:solidFill>
                <a:latin typeface="Nunito Semi-Bold"/>
                <a:ea typeface="Nunito Semi-Bold"/>
                <a:cs typeface="Nunito Semi-Bold"/>
                <a:sym typeface="Nunito Semi-Bold"/>
              </a:rPr>
              <a:t> account.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Diversity is often a secondary goal or a </a:t>
            </a:r>
            <a:r>
              <a:rPr lang="en-US" sz="2100" b="true">
                <a:solidFill>
                  <a:srgbClr val="111111"/>
                </a:solidFill>
                <a:latin typeface="Nunito Bold"/>
                <a:ea typeface="Nunito Bold"/>
                <a:cs typeface="Nunito Bold"/>
                <a:sym typeface="Nunito Bold"/>
              </a:rPr>
              <a:t>re-ranking heuristic</a:t>
            </a:r>
            <a:r>
              <a:rPr lang="en-US" sz="2100" b="true">
                <a:solidFill>
                  <a:srgbClr val="111111"/>
                </a:solidFill>
                <a:latin typeface="Nunito Semi-Bold"/>
                <a:ea typeface="Nunito Semi-Bold"/>
                <a:cs typeface="Nunito Semi-Bold"/>
                <a:sym typeface="Nunito Semi-Bold"/>
              </a:rPr>
              <a:t> applied after the model has been trained [23].</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Interpretability is </a:t>
            </a:r>
            <a:r>
              <a:rPr lang="en-US" sz="2100" b="true">
                <a:solidFill>
                  <a:srgbClr val="111111"/>
                </a:solidFill>
                <a:latin typeface="Nunito Bold"/>
                <a:ea typeface="Nunito Bold"/>
                <a:cs typeface="Nunito Bold"/>
                <a:sym typeface="Nunito Bold"/>
              </a:rPr>
              <a:t>added after prediction</a:t>
            </a:r>
            <a:r>
              <a:rPr lang="en-US" sz="2100" b="true">
                <a:solidFill>
                  <a:srgbClr val="111111"/>
                </a:solidFill>
                <a:latin typeface="Nunito Semi-Bold"/>
                <a:ea typeface="Nunito Semi-Bold"/>
                <a:cs typeface="Nunito Semi-Bold"/>
                <a:sym typeface="Nunito Semi-Bold"/>
              </a:rPr>
              <a:t>, not built into the learning objective [21].</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Contributions I and II showed that Shapley attribution is faithful and consistent, but it was still </a:t>
            </a:r>
            <a:r>
              <a:rPr lang="en-US" sz="2100" b="true">
                <a:solidFill>
                  <a:srgbClr val="111111"/>
                </a:solidFill>
                <a:latin typeface="Nunito Bold"/>
                <a:ea typeface="Nunito Bold"/>
                <a:cs typeface="Nunito Bold"/>
                <a:sym typeface="Nunito Bold"/>
              </a:rPr>
              <a:t>post-hoc</a:t>
            </a:r>
            <a:r>
              <a:rPr lang="en-US" sz="2100" b="true">
                <a:solidFill>
                  <a:srgbClr val="111111"/>
                </a:solidFill>
                <a:latin typeface="Nunito Semi-Bold"/>
                <a:ea typeface="Nunito Semi-Bold"/>
                <a:cs typeface="Nunito Semi-Bold"/>
                <a:sym typeface="Nunito Semi-Bold"/>
              </a:rPr>
              <a:t>: it never changed what the model learned.</a:t>
            </a:r>
          </a:p>
        </p:txBody>
      </p:sp>
      <p:sp>
        <p:nvSpPr>
          <p:cNvPr id="31" name="Rounded Rectangle 30"/>
          <p:cNvSpPr/>
          <p:nvPr/>
        </p:nvSpPr>
        <p:spPr>
          <a:xfrm>
            <a:off x="1028700" y="7523480"/>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2" name="Rounded Rectangle 31"/>
          <p:cNvSpPr/>
          <p:nvPr/>
        </p:nvSpPr>
        <p:spPr>
          <a:xfrm>
            <a:off x="1348740" y="7331455"/>
            <a:ext cx="19765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33" name="TextBox 32"/>
          <p:cNvSpPr txBox="1"/>
          <p:nvPr/>
        </p:nvSpPr>
        <p:spPr>
          <a:xfrm>
            <a:off x="1394460" y="7797800"/>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No recommender uses a </a:t>
            </a:r>
            <a:r>
              <a:rPr lang="en-US" sz="2200" b="true">
                <a:solidFill>
                  <a:srgbClr val="111111"/>
                </a:solidFill>
                <a:latin typeface="Nunito Bold"/>
                <a:ea typeface="Nunito Bold"/>
                <a:cs typeface="Nunito Bold"/>
                <a:sym typeface="Nunito Bold"/>
              </a:rPr>
              <a:t>cooperative-game utility</a:t>
            </a:r>
            <a:r>
              <a:rPr lang="en-US" sz="2200" b="true">
                <a:solidFill>
                  <a:srgbClr val="111111"/>
                </a:solidFill>
                <a:latin typeface="Nunito Semi-Bold"/>
                <a:ea typeface="Nunito Semi-Bold"/>
                <a:cs typeface="Nunito Semi-Bold"/>
                <a:sym typeface="Nunito Semi-Bold"/>
              </a:rPr>
              <a:t> to decide, during training, how much each user, item and context should count, while keeping accuracy, context and diversity in the same objective.</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[12] He, X. et al. SIGIR, 639–648 (2020).   [13] Xia, L. et al. SIGIR, 70–79 (2022).   [14] Xiangyi, Y. et al. Int. J. Data Science and Analytics 19(2), 269–281 (2025).   [21] Zhang, Y. &amp; Chen, X. Foundations and Trends in IR 14(1), 1–101 (2020).   [23] Zhu, Z. et al. KDD, 2439–2449 (2021). · Hurley, N. &amp; Zhang, M. ACM TOIT 10(4) (2011).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RQ3, RQ4 and Objectives</a:t>
            </a:r>
          </a:p>
        </p:txBody>
      </p:sp>
      <p:pic>
        <p:nvPicPr>
          <p:cNvPr id="23" name="Picture 22" descr="image.png"/>
          <p:cNvPicPr>
            <a:picLocks noChangeAspect="1"/>
          </p:cNvPicPr>
          <p:nvPr/>
        </p:nvPicPr>
        <p:blipFill>
          <a:blip r:embed="rId3"/>
          <a:stretch>
            <a:fillRect/>
          </a:stretch>
        </p:blipFill>
        <p:spPr>
          <a:xfrm>
            <a:off x="7714472" y="1673352"/>
            <a:ext cx="457200" cy="399005"/>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546602"/>
            <a:ext cx="7932420" cy="1417320"/>
          </a:xfrm>
          <a:prstGeom prst="roundRect">
            <a:avLst>
              <a:gd name="adj" fmla="val 14193"/>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RQ3</a:t>
            </a:r>
          </a:p>
        </p:txBody>
      </p:sp>
      <p:sp>
        <p:nvSpPr>
          <p:cNvPr id="30" name="TextBox 29"/>
          <p:cNvSpPr txBox="1"/>
          <p:nvPr/>
        </p:nvSpPr>
        <p:spPr>
          <a:xfrm>
            <a:off x="1394460" y="3820922"/>
            <a:ext cx="7200900" cy="100584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Semi-Bold"/>
                <a:ea typeface="Nunito Semi-Bold"/>
                <a:cs typeface="Nunito Semi-Bold"/>
                <a:sym typeface="Nunito Semi-Bold"/>
              </a:rPr>
              <a:t>Can cooperative attribution move </a:t>
            </a:r>
            <a:r>
              <a:rPr lang="en-US" sz="1900" b="true">
                <a:solidFill>
                  <a:srgbClr val="111111"/>
                </a:solidFill>
                <a:latin typeface="Nunito Bold"/>
                <a:ea typeface="Nunito Bold"/>
                <a:cs typeface="Nunito Bold"/>
                <a:sym typeface="Nunito Bold"/>
              </a:rPr>
              <a:t>beyond post-hoc</a:t>
            </a:r>
            <a:r>
              <a:rPr lang="en-US" sz="1900" b="true">
                <a:solidFill>
                  <a:srgbClr val="111111"/>
                </a:solidFill>
                <a:latin typeface="Nunito Semi-Bold"/>
                <a:ea typeface="Nunito Semi-Bold"/>
                <a:cs typeface="Nunito Semi-Bold"/>
                <a:sym typeface="Nunito Semi-Bold"/>
              </a:rPr>
              <a:t> and become part of how a recommender learns?</a:t>
            </a:r>
          </a:p>
        </p:txBody>
      </p:sp>
      <p:sp>
        <p:nvSpPr>
          <p:cNvPr id="31" name="Rounded Rectangle 30"/>
          <p:cNvSpPr/>
          <p:nvPr/>
        </p:nvSpPr>
        <p:spPr>
          <a:xfrm>
            <a:off x="9326880" y="3546602"/>
            <a:ext cx="7932420" cy="1417320"/>
          </a:xfrm>
          <a:prstGeom prst="roundRect">
            <a:avLst>
              <a:gd name="adj" fmla="val 14193"/>
            </a:avLst>
          </a:prstGeom>
          <a:solidFill>
            <a:srgbClr val="E7EAF3"/>
          </a:solidFill>
          <a:ln w="25400">
            <a:solidFill>
              <a:srgbClr val="4472C4"/>
            </a:solidFill>
          </a:ln>
        </p:spPr>
        <p:txBody>
          <a:bodyPr anchor="ctr" rtlCol="false" lIns="0" tIns="0" rIns="0" bIns="0" wrap="square"/>
          <a:lstStyle/>
          <a:p>
            <a:endParaRPr lang="en-US" sz="1800"/>
          </a:p>
        </p:txBody>
      </p:sp>
      <p:sp>
        <p:nvSpPr>
          <p:cNvPr id="32" name="Rounded Rectangle 31"/>
          <p:cNvSpPr/>
          <p:nvPr/>
        </p:nvSpPr>
        <p:spPr>
          <a:xfrm>
            <a:off x="964692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RQ4</a:t>
            </a:r>
          </a:p>
        </p:txBody>
      </p:sp>
      <p:sp>
        <p:nvSpPr>
          <p:cNvPr id="33" name="TextBox 32"/>
          <p:cNvSpPr txBox="1"/>
          <p:nvPr/>
        </p:nvSpPr>
        <p:spPr>
          <a:xfrm>
            <a:off x="9692640" y="3820922"/>
            <a:ext cx="7200900" cy="1005840"/>
          </a:xfrm>
          <a:prstGeom prst="rect">
            <a:avLst/>
          </a:prstGeom>
          <a:noFill/>
        </p:spPr>
        <p:txBody>
          <a:bodyPr anchor="ctr" rtlCol="false" lIns="0" tIns="0" rIns="0" bIns="0" wrap="square"/>
          <a:lstStyle/>
          <a:p>
            <a:pPr algn="l">
              <a:lnSpc>
                <a:spcPts val="2580"/>
              </a:lnSpc>
              <a:spcBef>
                <a:spcPts val="0"/>
              </a:spcBef>
              <a:buNone/>
            </a:pPr>
            <a:r>
              <a:rPr lang="en-US" sz="1843" b="true">
                <a:solidFill>
                  <a:srgbClr val="111111"/>
                </a:solidFill>
                <a:latin typeface="Nunito Semi-Bold"/>
                <a:ea typeface="Nunito Semi-Bold"/>
                <a:cs typeface="Nunito Semi-Bold"/>
                <a:sym typeface="Nunito Semi-Bold"/>
              </a:rPr>
              <a:t>Can it improve </a:t>
            </a:r>
            <a:r>
              <a:rPr lang="en-US" sz="1843" b="true">
                <a:solidFill>
                  <a:srgbClr val="111111"/>
                </a:solidFill>
                <a:latin typeface="Nunito Bold"/>
                <a:ea typeface="Nunito Bold"/>
                <a:cs typeface="Nunito Bold"/>
                <a:sym typeface="Nunito Bold"/>
              </a:rPr>
              <a:t>ranking accuracy, context and diversity together</a:t>
            </a:r>
            <a:r>
              <a:rPr lang="en-US" sz="1843" b="true">
                <a:solidFill>
                  <a:srgbClr val="111111"/>
                </a:solidFill>
                <a:latin typeface="Nunito Semi-Bold"/>
                <a:ea typeface="Nunito Semi-Bold"/>
                <a:cs typeface="Nunito Semi-Bold"/>
                <a:sym typeface="Nunito Semi-Bold"/>
              </a:rPr>
              <a:t> when importance comes from a cooperative-game utility?</a:t>
            </a:r>
          </a:p>
        </p:txBody>
      </p:sp>
      <p:graphicFrame>
        <p:nvGraphicFramePr>
          <p:cNvPr id="34" name="Table 33"/>
          <p:cNvGraphicFramePr>
            <a:graphicFrameLocks noGrp="1"/>
          </p:cNvGraphicFramePr>
          <p:nvPr/>
        </p:nvGraphicFramePr>
        <p:xfrm>
          <a:off x="1028700" y="537540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Recommendation as a cooperative game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Users, items and contexts are the </a:t>
                      </a:r>
                      <a:r>
                        <a:rPr lang="en-US" sz="1800" b="true">
                          <a:solidFill>
                            <a:srgbClr val="111111"/>
                          </a:solidFill>
                          <a:latin typeface="Nunito Bold"/>
                          <a:ea typeface="Nunito Bold"/>
                          <a:cs typeface="Nunito Bold"/>
                          <a:sym typeface="Nunito Bold"/>
                        </a:rPr>
                        <a:t>players</a:t>
                      </a:r>
                      <a:r>
                        <a:rPr lang="en-US" sz="1800" b="true">
                          <a:solidFill>
                            <a:srgbClr val="111111"/>
                          </a:solidFill>
                          <a:latin typeface="Nunito Semi-Bold"/>
                          <a:ea typeface="Nunito Semi-Bold"/>
                          <a:cs typeface="Nunito Semi-Bold"/>
                          <a:sym typeface="Nunito Semi-Bold"/>
                        </a:rPr>
                        <a:t>; the coalition utility mixes accuracy, diversity and context.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Game formulation, value function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Shapley inside message passing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Preference-aware Monte Carlo Shapley</a:t>
                      </a:r>
                      <a:r>
                        <a:rPr lang="en-US" sz="1800" b="true">
                          <a:solidFill>
                            <a:srgbClr val="111111"/>
                          </a:solidFill>
                          <a:latin typeface="Nunito Semi-Bold"/>
                          <a:ea typeface="Nunito Semi-Bold"/>
                          <a:cs typeface="Nunito Semi-Bold"/>
                          <a:sym typeface="Nunito Semi-Bold"/>
                        </a:rPr>
                        <a:t> estimates become dynamic hyperedge weights during training.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MC Shapley, architecture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Accuracy, coverage and diversity together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Better NDCG and Recall </a:t>
                      </a:r>
                      <a:r>
                        <a:rPr lang="en-US" sz="1800" b="true">
                          <a:solidFill>
                            <a:srgbClr val="111111"/>
                          </a:solidFill>
                          <a:latin typeface="Nunito Bold"/>
                          <a:ea typeface="Nunito Bold"/>
                          <a:cs typeface="Nunito Bold"/>
                          <a:sym typeface="Nunito Bold"/>
                        </a:rPr>
                        <a:t>and</a:t>
                      </a:r>
                      <a:r>
                        <a:rPr lang="en-US" sz="1800" b="true">
                          <a:solidFill>
                            <a:srgbClr val="111111"/>
                          </a:solidFill>
                          <a:latin typeface="Nunito Semi-Bold"/>
                          <a:ea typeface="Nunito Semi-Bold"/>
                          <a:cs typeface="Nunito Semi-Bold"/>
                          <a:sym typeface="Nunito Semi-Bold"/>
                        </a:rPr>
                        <a:t> higher Coverage and ILD than the strongest baseline, on two datasets.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Table 7.1, Fig. 7.2, 7.3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Recommendation as a Cooperative Game</a:t>
            </a:r>
          </a:p>
        </p:txBody>
      </p:sp>
      <p:pic>
        <p:nvPicPr>
          <p:cNvPr id="23" name="Picture 22" descr="image.png"/>
          <p:cNvPicPr>
            <a:picLocks noChangeAspect="1"/>
          </p:cNvPicPr>
          <p:nvPr/>
        </p:nvPicPr>
        <p:blipFill>
          <a:blip r:embed="rId3"/>
          <a:stretch>
            <a:fillRect/>
          </a:stretch>
        </p:blipFill>
        <p:spPr>
          <a:xfrm>
            <a:off x="11933734"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7863840" cy="2194560"/>
          </a:xfrm>
          <a:prstGeom prst="rect">
            <a:avLst/>
          </a:prstGeom>
          <a:noFill/>
        </p:spPr>
        <p:txBody>
          <a:bodyPr anchor="t" rtlCol="false" lIns="0" tIns="0" rIns="0" bIns="0" wrap="square"/>
          <a:lstStyle/>
          <a:p>
            <a:pPr algn="l" marL="274320" indent="-274320">
              <a:lnSpc>
                <a:spcPts val="2764"/>
              </a:lnSpc>
              <a:spcBef>
                <a:spcPts val="0"/>
              </a:spcBef>
              <a:buClr>
                <a:srgbClr val="1F7A8C"/>
              </a:buClr>
              <a:buSzPct val="100000"/>
              <a:buFont typeface="Arial"/>
              <a:buChar char="•"/>
            </a:pPr>
            <a:r>
              <a:rPr lang="en-US" sz="1974" b="true">
                <a:solidFill>
                  <a:srgbClr val="111111"/>
                </a:solidFill>
                <a:latin typeface="Nunito Bold"/>
                <a:ea typeface="Nunito Bold"/>
                <a:cs typeface="Nunito Bold"/>
                <a:sym typeface="Nunito Bold"/>
              </a:rPr>
              <a:t>Player set N = U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I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C</a:t>
            </a:r>
            <a:r>
              <a:rPr lang="en-US" sz="1974" b="true">
                <a:solidFill>
                  <a:srgbClr val="111111"/>
                </a:solidFill>
                <a:latin typeface="Nunito Semi-Bold"/>
                <a:ea typeface="Nunito Semi-Bold"/>
                <a:cs typeface="Nunito Semi-Bold"/>
                <a:sym typeface="Nunito Semi-Bold"/>
              </a:rPr>
              <a:t> (users, items, contexts).</a:t>
            </a:r>
          </a:p>
          <a:p>
            <a:pPr algn="l" marL="274320" indent="-274320">
              <a:lnSpc>
                <a:spcPts val="2764"/>
              </a:lnSpc>
              <a:spcBef>
                <a:spcPts val="1128"/>
              </a:spcBef>
              <a:buClr>
                <a:srgbClr val="1F7A8C"/>
              </a:buClr>
              <a:buSzPct val="100000"/>
              <a:buFont typeface="Arial"/>
              <a:buChar char="•"/>
            </a:pPr>
            <a:r>
              <a:rPr lang="en-US" sz="1974" b="true">
                <a:solidFill>
                  <a:srgbClr val="111111"/>
                </a:solidFill>
                <a:latin typeface="Nunito Bold"/>
                <a:ea typeface="Nunito Bold"/>
                <a:cs typeface="Nunito Bold"/>
                <a:sym typeface="Nunito Bold"/>
              </a:rPr>
              <a:t>Hypergraph H = (V, E, W)</a:t>
            </a:r>
            <a:r>
              <a:rPr lang="en-US" sz="1974" b="true">
                <a:solidFill>
                  <a:srgbClr val="111111"/>
                </a:solidFill>
                <a:latin typeface="Nunito Semi-Bold"/>
                <a:ea typeface="Nunito Semi-Bold"/>
                <a:cs typeface="Nunito Semi-Bold"/>
                <a:sym typeface="Nunito Semi-Bold"/>
              </a:rPr>
              <a:t>; V = U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Semi-Bold"/>
                <a:ea typeface="Nunito Semi-Bold"/>
                <a:cs typeface="Nunito Semi-Bold"/>
                <a:sym typeface="Nunito Semi-Bold"/>
              </a:rPr>
              <a:t>I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Semi-Bold"/>
                <a:ea typeface="Nunito Semi-Bold"/>
                <a:cs typeface="Nunito Semi-Bold"/>
                <a:sym typeface="Nunito Semi-Bold"/>
              </a:rPr>
              <a:t>C; </a:t>
            </a:r>
            <a:r>
              <a:rPr lang="en-US" sz="1974" b="true">
                <a:solidFill>
                  <a:srgbClr val="111111"/>
                </a:solidFill>
                <a:latin typeface="Nunito Bold"/>
                <a:ea typeface="Nunito Bold"/>
                <a:cs typeface="Nunito Bold"/>
                <a:sym typeface="Nunito Bold"/>
              </a:rPr>
              <a:t>W = dynamic edge weights</a:t>
            </a:r>
            <a:r>
              <a:rPr lang="en-US" sz="1974" b="true">
                <a:solidFill>
                  <a:srgbClr val="111111"/>
                </a:solidFill>
                <a:latin typeface="Nunito Semi-Bold"/>
                <a:ea typeface="Nunito Semi-Bold"/>
                <a:cs typeface="Nunito Semi-Bold"/>
                <a:sym typeface="Nunito Semi-Bold"/>
              </a:rPr>
              <a:t> from Shapley estimates.</a:t>
            </a:r>
          </a:p>
          <a:p>
            <a:pPr algn="l" marL="274320" indent="-274320">
              <a:lnSpc>
                <a:spcPts val="2764"/>
              </a:lnSpc>
              <a:spcBef>
                <a:spcPts val="1128"/>
              </a:spcBef>
              <a:buClr>
                <a:srgbClr val="1F7A8C"/>
              </a:buClr>
              <a:buSzPct val="100000"/>
              <a:buFont typeface="Arial"/>
              <a:buChar char="•"/>
            </a:pPr>
            <a:r>
              <a:rPr lang="en-US" sz="1974" b="true">
                <a:solidFill>
                  <a:srgbClr val="111111"/>
                </a:solidFill>
                <a:latin typeface="Nunito Semi-Bold"/>
                <a:ea typeface="Nunito Semi-Bold"/>
                <a:cs typeface="Nunito Semi-Bold"/>
                <a:sym typeface="Nunito Semi-Bold"/>
              </a:rPr>
              <a:t>A </a:t>
            </a:r>
            <a:r>
              <a:rPr lang="en-US" sz="1974" b="true">
                <a:solidFill>
                  <a:srgbClr val="111111"/>
                </a:solidFill>
                <a:latin typeface="Nunito Bold"/>
                <a:ea typeface="Nunito Bold"/>
                <a:cs typeface="Nunito Bold"/>
                <a:sym typeface="Nunito Bold"/>
              </a:rPr>
              <a:t>coalition S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N</a:t>
            </a:r>
            <a:r>
              <a:rPr lang="en-US" sz="1974" b="true">
                <a:solidFill>
                  <a:srgbClr val="111111"/>
                </a:solidFill>
                <a:latin typeface="Nunito Semi-Bold"/>
                <a:ea typeface="Nunito Semi-Bold"/>
                <a:cs typeface="Nunito Semi-Bold"/>
                <a:sym typeface="Nunito Semi-Bold"/>
              </a:rPr>
              <a:t> is the set of entities taking part in a recommendation episode.</a:t>
            </a:r>
          </a:p>
        </p:txBody>
      </p:sp>
      <p:sp>
        <p:nvSpPr>
          <p:cNvPr id="29" name="Rounded Rectangle 28"/>
          <p:cNvSpPr/>
          <p:nvPr/>
        </p:nvSpPr>
        <p:spPr>
          <a:xfrm>
            <a:off x="1028700" y="5649722"/>
            <a:ext cx="7863840" cy="1417320"/>
          </a:xfrm>
          <a:prstGeom prst="roundRect">
            <a:avLst>
              <a:gd name="adj" fmla="val 16129"/>
            </a:avLst>
          </a:prstGeom>
          <a:solidFill>
            <a:srgbClr val="4472C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0" name="Equation"/>
              <p:cNvSpPr txBox="1"/>
              <p:nvPr/>
            </p:nvSpPr>
            <p:spPr>
              <a:xfrm>
                <a:off x="1257300" y="5759450"/>
                <a:ext cx="7406640" cy="658368"/>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1800" i="1">
                          <a:solidFill>
                            <a:srgbClr val="FFFFFF"/>
                          </a:solidFill>
                          <a:latin typeface="Cambria Math" panose="02040503050406030204" pitchFamily="18" charset="0"/>
                        </a:rPr>
                        <m:t xml:space="preserve">v</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α</m:t>
                      </m:r>
                      <m:r>
                        <m:rPr>
                          <m:sty m:val="p"/>
                        </m:rPr>
                        <a:rPr lang="en-US" sz="1800">
                          <a:solidFill>
                            <a:srgbClr val="FFFFFF"/>
                          </a:solidFill>
                          <a:latin typeface="Cambria Math" panose="02040503050406030204" pitchFamily="18" charset="0"/>
                        </a:rPr>
                        <m:t xml:space="preserve">·NDCG@20(</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β</m:t>
                      </m:r>
                      <m:r>
                        <m:rPr>
                          <m:sty m:val="p"/>
                        </m:rPr>
                        <a:rPr lang="en-US" sz="1800">
                          <a:solidFill>
                            <a:srgbClr val="FFFFFF"/>
                          </a:solidFill>
                          <a:latin typeface="Cambria Math" panose="02040503050406030204" pitchFamily="18" charset="0"/>
                        </a:rPr>
                        <m:t xml:space="preserve">·Diversity(</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γ</m:t>
                      </m:r>
                      <m:r>
                        <m:rPr>
                          <m:sty m:val="p"/>
                        </m:rPr>
                        <a:rPr lang="en-US" sz="1800">
                          <a:solidFill>
                            <a:srgbClr val="FFFFFF"/>
                          </a:solidFill>
                          <a:latin typeface="Cambria Math" panose="02040503050406030204" pitchFamily="18" charset="0"/>
                        </a:rPr>
                        <m:t xml:space="preserve">·ContextScore(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oMath>
                  </m:oMathPara>
                </a14:m>
                <a:endParaRPr lang="en-US" sz="1800"/>
              </a:p>
            </p:txBody>
          </p:sp>
        </mc:Choice>
        <mc:Fallback>
          <p:sp>
            <p:nvSpPr>
              <p:cNvPr id="30" name="Equation"/>
              <p:cNvSpPr txBox="1"/>
              <p:nvPr/>
            </p:nvSpPr>
            <p:spPr>
              <a:xfrm>
                <a:off x="1257300" y="5759450"/>
                <a:ext cx="7406640" cy="658368"/>
              </a:xfrm>
              <a:prstGeom prst="rect">
                <a:avLst/>
              </a:prstGeom>
              <a:blipFill>
                <a:blip r:embed="rId5"/>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31" name="Equation"/>
              <p:cNvSpPr txBox="1"/>
              <p:nvPr/>
            </p:nvSpPr>
            <p:spPr>
              <a:xfrm>
                <a:off x="1257300" y="6426962"/>
                <a:ext cx="7406640" cy="54864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1800" i="1">
                          <a:solidFill>
                            <a:srgbClr val="ECC665"/>
                          </a:solidFill>
                          <a:latin typeface="Cambria Math" panose="02040503050406030204" pitchFamily="18" charset="0"/>
                        </a:rPr>
                        <m:t xml:space="preserve">α</m:t>
                      </m:r>
                      <m:r>
                        <m:rPr>
                          <m:sty m:val="p"/>
                        </m:rPr>
                        <a:rPr lang="en-US" sz="1800">
                          <a:solidFill>
                            <a:srgbClr val="ECC665"/>
                          </a:solidFill>
                          <a:latin typeface="Cambria Math" panose="02040503050406030204" pitchFamily="18" charset="0"/>
                        </a:rPr>
                        <m:t xml:space="preserve">=0.60,  </m:t>
                      </m:r>
                      <m:r>
                        <a:rPr lang="en-US" sz="1800" i="1">
                          <a:solidFill>
                            <a:srgbClr val="ECC665"/>
                          </a:solidFill>
                          <a:latin typeface="Cambria Math" panose="02040503050406030204" pitchFamily="18" charset="0"/>
                        </a:rPr>
                        <m:t xml:space="preserve">β</m:t>
                      </m:r>
                      <m:r>
                        <m:rPr>
                          <m:sty m:val="p"/>
                        </m:rPr>
                        <a:rPr lang="en-US" sz="1800">
                          <a:solidFill>
                            <a:srgbClr val="ECC665"/>
                          </a:solidFill>
                          <a:latin typeface="Cambria Math" panose="02040503050406030204" pitchFamily="18" charset="0"/>
                        </a:rPr>
                        <m:t xml:space="preserve">=0.25,  </m:t>
                      </m:r>
                      <m:r>
                        <a:rPr lang="en-US" sz="1800" i="1">
                          <a:solidFill>
                            <a:srgbClr val="ECC665"/>
                          </a:solidFill>
                          <a:latin typeface="Cambria Math" panose="02040503050406030204" pitchFamily="18" charset="0"/>
                        </a:rPr>
                        <m:t xml:space="preserve">γ</m:t>
                      </m:r>
                      <m:r>
                        <m:rPr>
                          <m:sty m:val="p"/>
                        </m:rPr>
                        <a:rPr lang="en-US" sz="1800">
                          <a:solidFill>
                            <a:srgbClr val="ECC665"/>
                          </a:solidFill>
                          <a:latin typeface="Cambria Math" panose="02040503050406030204" pitchFamily="18" charset="0"/>
                        </a:rPr>
                        <m:t xml:space="preserve">=0.15,  </m:t>
                      </m:r>
                      <m:r>
                        <a:rPr lang="en-US" sz="1800" i="1">
                          <a:solidFill>
                            <a:srgbClr val="ECC665"/>
                          </a:solidFill>
                          <a:latin typeface="Cambria Math" panose="02040503050406030204" pitchFamily="18" charset="0"/>
                        </a:rPr>
                        <m:t xml:space="preserve">α</m:t>
                      </m:r>
                      <m:r>
                        <m:rPr>
                          <m:sty m:val="p"/>
                        </m:rPr>
                        <a:rPr lang="en-US" sz="1800">
                          <a:solidFill>
                            <a:srgbClr val="ECC665"/>
                          </a:solidFill>
                          <a:latin typeface="Cambria Math" panose="02040503050406030204" pitchFamily="18" charset="0"/>
                        </a:rPr>
                        <m:t xml:space="preserve">+</m:t>
                      </m:r>
                      <m:r>
                        <a:rPr lang="en-US" sz="1800" i="1">
                          <a:solidFill>
                            <a:srgbClr val="ECC665"/>
                          </a:solidFill>
                          <a:latin typeface="Cambria Math" panose="02040503050406030204" pitchFamily="18" charset="0"/>
                        </a:rPr>
                        <m:t xml:space="preserve">β</m:t>
                      </m:r>
                      <m:r>
                        <m:rPr>
                          <m:sty m:val="p"/>
                        </m:rPr>
                        <a:rPr lang="en-US" sz="1800">
                          <a:solidFill>
                            <a:srgbClr val="ECC665"/>
                          </a:solidFill>
                          <a:latin typeface="Cambria Math" panose="02040503050406030204" pitchFamily="18" charset="0"/>
                        </a:rPr>
                        <m:t xml:space="preserve">+</m:t>
                      </m:r>
                      <m:r>
                        <a:rPr lang="en-US" sz="1800" i="1">
                          <a:solidFill>
                            <a:srgbClr val="ECC665"/>
                          </a:solidFill>
                          <a:latin typeface="Cambria Math" panose="02040503050406030204" pitchFamily="18" charset="0"/>
                        </a:rPr>
                        <m:t xml:space="preserve">γ</m:t>
                      </m:r>
                      <m:r>
                        <m:rPr>
                          <m:sty m:val="p"/>
                        </m:rPr>
                        <a:rPr lang="en-US" sz="1800">
                          <a:solidFill>
                            <a:srgbClr val="ECC665"/>
                          </a:solidFill>
                          <a:latin typeface="Cambria Math" panose="02040503050406030204" pitchFamily="18" charset="0"/>
                        </a:rPr>
                        <m:t xml:space="preserve">=1</m:t>
                      </m:r>
                    </m:oMath>
                  </m:oMathPara>
                </a14:m>
                <a:endParaRPr lang="en-US" sz="1800"/>
              </a:p>
            </p:txBody>
          </p:sp>
        </mc:Choice>
        <mc:Fallback>
          <p:sp>
            <p:nvSpPr>
              <p:cNvPr id="31" name="Equation"/>
              <p:cNvSpPr txBox="1"/>
              <p:nvPr/>
            </p:nvSpPr>
            <p:spPr>
              <a:xfrm>
                <a:off x="1257300" y="6426962"/>
                <a:ext cx="7406640" cy="548640"/>
              </a:xfrm>
              <a:prstGeom prst="rect">
                <a:avLst/>
              </a:prstGeom>
              <a:blipFill>
                <a:blip r:embed="rId6"/>
                <a:stretch>
                  <a:fillRect/>
                </a:stretch>
              </a:blipFill>
            </p:spPr>
            <p:txBody>
              <a:bodyPr/>
              <a:lstStyle/>
              <a:p>
                <a:endParaRPr lang="en-US"/>
              </a:p>
            </p:txBody>
          </p:sp>
        </mc:Fallback>
      </mc:AlternateContent>
      <p:sp>
        <p:nvSpPr>
          <p:cNvPr id="32" name="TextBox 31"/>
          <p:cNvSpPr txBox="1"/>
          <p:nvPr/>
        </p:nvSpPr>
        <p:spPr>
          <a:xfrm>
            <a:off x="1028700" y="7249922"/>
            <a:ext cx="7863840" cy="2058670"/>
          </a:xfrm>
          <a:prstGeom prst="rect">
            <a:avLst/>
          </a:prstGeom>
          <a:noFill/>
        </p:spPr>
        <p:txBody>
          <a:bodyPr anchor="t" rtlCol="false" lIns="0" tIns="0" rIns="0" bIns="0" wrap="square"/>
          <a:lstStyle/>
          <a:p>
            <a:pPr algn="l">
              <a:lnSpc>
                <a:spcPts val="2520"/>
              </a:lnSpc>
              <a:spcBef>
                <a:spcPts val="0"/>
              </a:spcBef>
              <a:buNone/>
            </a:pPr>
            <a:r>
              <a:rPr lang="en-US" sz="1800" b="true">
                <a:solidFill>
                  <a:srgbClr val="111111"/>
                </a:solidFill>
                <a:latin typeface="Nunito Semi-Bold"/>
                <a:ea typeface="Nunito Semi-Bold"/>
                <a:cs typeface="Nunito Semi-Bold"/>
                <a:sym typeface="Nunito Semi-Bold"/>
              </a:rPr>
              <a:t>Preference term </a:t>
            </a:r>
            <a:r>
              <a:rPr lang="en-US" sz="1800" b="true">
                <a:solidFill>
                  <a:srgbClr val="111111"/>
                </a:solidFill>
                <a:latin typeface="Nunito Bold"/>
                <a:ea typeface="Nunito Bold"/>
                <a:cs typeface="Nunito Bold"/>
                <a:sym typeface="Nunito Bold"/>
              </a:rPr>
              <a:t>v</a:t>
            </a:r>
            <a:r>
              <a:rPr lang="en-US" sz="1800" b="true" baseline="-25000">
                <a:solidFill>
                  <a:srgbClr val="111111"/>
                </a:solidFill>
                <a:latin typeface="Nunito Bold"/>
                <a:ea typeface="Nunito Bold"/>
                <a:cs typeface="Nunito Bold"/>
                <a:sym typeface="Nunito Bold"/>
              </a:rPr>
              <a:t>pref</a:t>
            </a:r>
            <a:r>
              <a:rPr lang="en-US" sz="1800" b="true">
                <a:solidFill>
                  <a:srgbClr val="111111"/>
                </a:solidFill>
                <a:latin typeface="Nunito Bold"/>
                <a:ea typeface="Nunito Bold"/>
                <a:cs typeface="Nunito Bold"/>
                <a:sym typeface="Nunito Bold"/>
              </a:rPr>
              <a:t>(S) = v(S) + </a:t>
            </a:r>
            <a:r>
              <a:rPr lang="en-US" sz="1800" b="true">
                <a:solidFill>
                  <a:srgbClr val="111111"/>
                </a:solidFill>
                <a:latin typeface="Calibri"/>
                <a:ea typeface="Calibri"/>
                <a:cs typeface="Calibri"/>
                <a:sym typeface="Calibri"/>
              </a:rPr>
              <a:t>λ</a:t>
            </a:r>
            <a:r>
              <a:rPr lang="en-US" sz="1800" b="true" baseline="-25000">
                <a:solidFill>
                  <a:srgbClr val="111111"/>
                </a:solidFill>
                <a:latin typeface="Nunito Bold"/>
                <a:ea typeface="Nunito Bold"/>
                <a:cs typeface="Nunito Bold"/>
                <a:sym typeface="Nunito Bold"/>
              </a:rPr>
              <a:t>pref</a:t>
            </a:r>
            <a:r>
              <a:rPr lang="en-US" sz="1800" b="true">
                <a:solidFill>
                  <a:srgbClr val="111111"/>
                </a:solidFill>
                <a:latin typeface="Nunito Bold"/>
                <a:ea typeface="Nunito Bold"/>
                <a:cs typeface="Nunito Bold"/>
                <a:sym typeface="Nunito Bold"/>
              </a:rPr>
              <a:t> Σ sim(u,i)</a:t>
            </a:r>
            <a:r>
              <a:rPr lang="en-US" sz="1800" b="true">
                <a:solidFill>
                  <a:srgbClr val="111111"/>
                </a:solidFill>
                <a:latin typeface="Nunito Semi-Bold"/>
                <a:ea typeface="Nunito Semi-Bold"/>
                <a:cs typeface="Nunito Semi-Bold"/>
                <a:sym typeface="Nunito Semi-Bold"/>
              </a:rPr>
              <a:t>, </a:t>
            </a:r>
            <a:r>
              <a:rPr lang="en-US" sz="1800" b="true">
                <a:solidFill>
                  <a:srgbClr val="111111"/>
                </a:solidFill>
                <a:latin typeface="Calibri"/>
                <a:ea typeface="Calibri"/>
                <a:cs typeface="Calibri"/>
                <a:sym typeface="Calibri"/>
              </a:rPr>
              <a:t>λ</a:t>
            </a:r>
            <a:r>
              <a:rPr lang="en-US" sz="1800" b="true" baseline="-25000">
                <a:solidFill>
                  <a:srgbClr val="111111"/>
                </a:solidFill>
                <a:latin typeface="Nunito Semi-Bold"/>
                <a:ea typeface="Nunito Semi-Bold"/>
                <a:cs typeface="Nunito Semi-Bold"/>
                <a:sym typeface="Nunito Semi-Bold"/>
              </a:rPr>
              <a:t>pref</a:t>
            </a:r>
            <a:r>
              <a:rPr lang="en-US" sz="1800" b="true">
                <a:solidFill>
                  <a:srgbClr val="111111"/>
                </a:solidFill>
                <a:latin typeface="Nunito Semi-Bold"/>
                <a:ea typeface="Nunito Semi-Bold"/>
                <a:cs typeface="Nunito Semi-Bold"/>
                <a:sym typeface="Nunito Semi-Bold"/>
              </a:rPr>
              <a:t> = 0.20; weights grid-searched, </a:t>
            </a:r>
            <a:r>
              <a:rPr lang="en-US" sz="1800" b="true">
                <a:solidFill>
                  <a:srgbClr val="111111"/>
                </a:solidFill>
                <a:latin typeface="Nunito Bold"/>
                <a:ea typeface="Nunito Bold"/>
                <a:cs typeface="Nunito Bold"/>
                <a:sym typeface="Nunito Bold"/>
              </a:rPr>
              <a:t>&lt; 1.5 % variance</a:t>
            </a:r>
            <a:r>
              <a:rPr lang="en-US" sz="1800" b="true">
                <a:solidFill>
                  <a:srgbClr val="111111"/>
                </a:solidFill>
                <a:latin typeface="Nunito Semi-Bold"/>
                <a:ea typeface="Nunito Semi-Bold"/>
                <a:cs typeface="Nunito Semi-Bold"/>
                <a:sym typeface="Nunito Semi-Bold"/>
              </a:rPr>
              <a:t> in NDCG@20.</a:t>
            </a:r>
          </a:p>
          <a:p>
            <a:pPr algn="l">
              <a:lnSpc>
                <a:spcPts val="2520"/>
              </a:lnSpc>
              <a:spcBef>
                <a:spcPts val="800"/>
              </a:spcBef>
              <a:buNone/>
            </a:pPr>
            <a:r>
              <a:rPr lang="en-US" sz="1800" b="true">
                <a:solidFill>
                  <a:srgbClr val="111111"/>
                </a:solidFill>
                <a:latin typeface="Nunito Semi-Bold"/>
                <a:ea typeface="Nunito Semi-Bold"/>
                <a:cs typeface="Nunito Semi-Bold"/>
                <a:sym typeface="Nunito Semi-Bold"/>
              </a:rPr>
              <a:t>The </a:t>
            </a:r>
            <a:r>
              <a:rPr lang="en-US" sz="1800" b="true">
                <a:solidFill>
                  <a:srgbClr val="111111"/>
                </a:solidFill>
                <a:latin typeface="Nunito Bold"/>
                <a:ea typeface="Nunito Bold"/>
                <a:cs typeface="Nunito Bold"/>
                <a:sym typeface="Nunito Bold"/>
              </a:rPr>
              <a:t>same trade-off</a:t>
            </a:r>
            <a:r>
              <a:rPr lang="en-US" sz="1800" b="true">
                <a:solidFill>
                  <a:srgbClr val="111111"/>
                </a:solidFill>
                <a:latin typeface="Nunito Semi-Bold"/>
                <a:ea typeface="Nunito Semi-Bold"/>
                <a:cs typeface="Nunito Semi-Bold"/>
                <a:sym typeface="Nunito Semi-Bold"/>
              </a:rPr>
              <a:t> the recommender must satisfy is the one from which attribution is computed: explanatory game and predictive objective are </a:t>
            </a:r>
            <a:r>
              <a:rPr lang="en-US" sz="1800" b="true">
                <a:solidFill>
                  <a:srgbClr val="111111"/>
                </a:solidFill>
                <a:latin typeface="Nunito Bold"/>
                <a:ea typeface="Nunito Bold"/>
                <a:cs typeface="Nunito Bold"/>
                <a:sym typeface="Nunito Bold"/>
              </a:rPr>
              <a:t>aligned by design</a:t>
            </a:r>
            <a:r>
              <a:rPr lang="en-US" sz="1800" b="true">
                <a:solidFill>
                  <a:srgbClr val="111111"/>
                </a:solidFill>
                <a:latin typeface="Nunito Semi-Bold"/>
                <a:ea typeface="Nunito Semi-Bold"/>
                <a:cs typeface="Nunito Semi-Bold"/>
                <a:sym typeface="Nunito Semi-Bold"/>
              </a:rPr>
              <a:t>.</a:t>
            </a:r>
          </a:p>
        </p:txBody>
      </p:sp>
      <p:sp>
        <p:nvSpPr>
          <p:cNvPr id="33" name="TextBox 32"/>
          <p:cNvSpPr txBox="1"/>
          <p:nvPr/>
        </p:nvSpPr>
        <p:spPr>
          <a:xfrm>
            <a:off x="9441180" y="3363722"/>
            <a:ext cx="7818120" cy="365760"/>
          </a:xfrm>
          <a:prstGeom prst="rect">
            <a:avLst/>
          </a:prstGeom>
          <a:noFill/>
        </p:spPr>
        <p:txBody>
          <a:bodyPr anchor="t" rtlCol="false" lIns="0" tIns="0" rIns="0" bIns="0" wrap="square"/>
          <a:lstStyle/>
          <a:p>
            <a:pPr algn="ctr">
              <a:lnSpc>
                <a:spcPts val="1800"/>
              </a:lnSpc>
              <a:spcBef>
                <a:spcPts val="0"/>
              </a:spcBef>
              <a:buNone/>
            </a:pPr>
            <a:r>
              <a:rPr lang="en-US" sz="1400" b="true" spc="160">
                <a:solidFill>
                  <a:srgbClr val="1F7A8C"/>
                </a:solidFill>
                <a:latin typeface="Nunito Ultra-Bold"/>
                <a:ea typeface="Nunito Ultra-Bold"/>
                <a:cs typeface="Nunito Ultra-Bold"/>
                <a:sym typeface="Nunito Ultra-Bold"/>
              </a:rPr>
              <a:t>PLAYERS AND COALITIONS</a:t>
            </a:r>
          </a:p>
        </p:txBody>
      </p:sp>
      <p:sp>
        <p:nvSpPr>
          <p:cNvPr id="34" name="Rounded Rectangle 33"/>
          <p:cNvSpPr/>
          <p:nvPr/>
        </p:nvSpPr>
        <p:spPr>
          <a:xfrm>
            <a:off x="9715500" y="3912362"/>
            <a:ext cx="7269480" cy="2834640"/>
          </a:xfrm>
          <a:prstGeom prst="roundRect">
            <a:avLst>
              <a:gd name="adj" fmla="val 19354"/>
            </a:avLst>
          </a:prstGeom>
          <a:solidFill>
            <a:srgbClr val="E7EAF3"/>
          </a:solidFill>
          <a:ln>
            <a:noFill/>
          </a:ln>
        </p:spPr>
        <p:txBody>
          <a:bodyPr anchor="ctr" rtlCol="false" lIns="0" tIns="0" rIns="0" bIns="0" wrap="square"/>
          <a:lstStyle/>
          <a:p>
            <a:endParaRPr lang="en-US" sz="1800"/>
          </a:p>
        </p:txBody>
      </p:sp>
      <p:sp>
        <p:nvSpPr>
          <p:cNvPr id="35" name="TextBox 34"/>
          <p:cNvSpPr txBox="1"/>
          <p:nvPr/>
        </p:nvSpPr>
        <p:spPr>
          <a:xfrm>
            <a:off x="9441180" y="4022090"/>
            <a:ext cx="7818120" cy="365760"/>
          </a:xfrm>
          <a:prstGeom prst="rect">
            <a:avLst/>
          </a:prstGeom>
          <a:noFill/>
        </p:spPr>
        <p:txBody>
          <a:bodyPr anchor="t" rtlCol="false" lIns="0" tIns="0" rIns="0" bIns="0" wrap="square"/>
          <a:lstStyle/>
          <a:p>
            <a:pPr algn="ctr">
              <a:lnSpc>
                <a:spcPts val="1800"/>
              </a:lnSpc>
              <a:spcBef>
                <a:spcPts val="0"/>
              </a:spcBef>
              <a:buNone/>
            </a:pPr>
            <a:r>
              <a:rPr lang="en-US" sz="1500" b="true">
                <a:solidFill>
                  <a:srgbClr val="8A8378"/>
                </a:solidFill>
                <a:latin typeface="Nunito Bold"/>
                <a:ea typeface="Nunito Bold"/>
                <a:cs typeface="Nunito Bold"/>
                <a:sym typeface="Nunito Bold"/>
              </a:rPr>
              <a:t>coalition S </a:t>
            </a:r>
            <a:r>
              <a:rPr lang="en-US" sz="1500" b="true">
                <a:solidFill>
                  <a:srgbClr val="8A8378"/>
                </a:solidFill>
                <a:latin typeface="Cambria Math"/>
                <a:ea typeface="Cambria Math"/>
                <a:cs typeface="Cambria Math"/>
                <a:sym typeface="Cambria Math"/>
              </a:rPr>
              <a:t>⊆ </a:t>
            </a:r>
            <a:r>
              <a:rPr lang="en-US" sz="1500" b="true">
                <a:solidFill>
                  <a:srgbClr val="8A8378"/>
                </a:solidFill>
                <a:latin typeface="Nunito Bold"/>
                <a:ea typeface="Nunito Bold"/>
                <a:cs typeface="Nunito Bold"/>
                <a:sym typeface="Nunito Bold"/>
              </a:rPr>
              <a:t>N  ·  hyperedge e </a:t>
            </a:r>
            <a:r>
              <a:rPr lang="en-US" sz="1500" b="true">
                <a:solidFill>
                  <a:srgbClr val="8A8378"/>
                </a:solidFill>
                <a:latin typeface="Cambria Math"/>
                <a:ea typeface="Cambria Math"/>
                <a:cs typeface="Cambria Math"/>
                <a:sym typeface="Cambria Math"/>
              </a:rPr>
              <a:t>∈ </a:t>
            </a:r>
            <a:r>
              <a:rPr lang="en-US" sz="1500" b="true">
                <a:solidFill>
                  <a:srgbClr val="8A8378"/>
                </a:solidFill>
                <a:latin typeface="Nunito Bold"/>
                <a:ea typeface="Nunito Bold"/>
                <a:cs typeface="Nunito Bold"/>
                <a:sym typeface="Nunito Bold"/>
              </a:rPr>
              <a:t>E</a:t>
            </a:r>
          </a:p>
        </p:txBody>
      </p:sp>
      <p:sp>
        <p:nvSpPr>
          <p:cNvPr id="36" name="Oval 35"/>
          <p:cNvSpPr/>
          <p:nvPr/>
        </p:nvSpPr>
        <p:spPr>
          <a:xfrm>
            <a:off x="10165080" y="4598162"/>
            <a:ext cx="1737360" cy="1737360"/>
          </a:xfrm>
          <a:prstGeom prst="ellipse">
            <a:avLst/>
          </a:prstGeom>
          <a:solidFill>
            <a:srgbClr val="4472C4"/>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U</a:t>
            </a:r>
          </a:p>
          <a:p>
            <a:pPr algn="ctr">
              <a:lnSpc>
                <a:spcPts val="1800"/>
              </a:lnSpc>
              <a:spcBef>
                <a:spcPts val="200"/>
              </a:spcBef>
              <a:buNone/>
            </a:pPr>
            <a:r>
              <a:rPr lang="en-US" sz="1500" b="true">
                <a:solidFill>
                  <a:srgbClr val="F7F2EA"/>
                </a:solidFill>
                <a:latin typeface="Nunito Bold"/>
                <a:ea typeface="Nunito Bold"/>
                <a:cs typeface="Nunito Bold"/>
                <a:sym typeface="Nunito Bold"/>
              </a:rPr>
              <a:t>Users</a:t>
            </a:r>
          </a:p>
        </p:txBody>
      </p:sp>
      <p:sp>
        <p:nvSpPr>
          <p:cNvPr id="37" name="Oval 36"/>
          <p:cNvSpPr/>
          <p:nvPr/>
        </p:nvSpPr>
        <p:spPr>
          <a:xfrm>
            <a:off x="12481560" y="4598162"/>
            <a:ext cx="1737360" cy="1737360"/>
          </a:xfrm>
          <a:prstGeom prst="ellipse">
            <a:avLst/>
          </a:prstGeom>
          <a:solidFill>
            <a:srgbClr val="2F5597"/>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I</a:t>
            </a:r>
          </a:p>
          <a:p>
            <a:pPr algn="ctr">
              <a:lnSpc>
                <a:spcPts val="1800"/>
              </a:lnSpc>
              <a:spcBef>
                <a:spcPts val="200"/>
              </a:spcBef>
              <a:buNone/>
            </a:pPr>
            <a:r>
              <a:rPr lang="en-US" sz="1500" b="true">
                <a:solidFill>
                  <a:srgbClr val="F7F2EA"/>
                </a:solidFill>
                <a:latin typeface="Nunito Bold"/>
                <a:ea typeface="Nunito Bold"/>
                <a:cs typeface="Nunito Bold"/>
                <a:sym typeface="Nunito Bold"/>
              </a:rPr>
              <a:t>Items</a:t>
            </a:r>
          </a:p>
        </p:txBody>
      </p:sp>
      <p:sp>
        <p:nvSpPr>
          <p:cNvPr id="38" name="Oval 37"/>
          <p:cNvSpPr/>
          <p:nvPr/>
        </p:nvSpPr>
        <p:spPr>
          <a:xfrm>
            <a:off x="14798040" y="4598162"/>
            <a:ext cx="1737360" cy="1737360"/>
          </a:xfrm>
          <a:prstGeom prst="ellipse">
            <a:avLst/>
          </a:prstGeom>
          <a:solidFill>
            <a:srgbClr val="1F7A8C"/>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C</a:t>
            </a:r>
          </a:p>
          <a:p>
            <a:pPr algn="ctr">
              <a:lnSpc>
                <a:spcPts val="1800"/>
              </a:lnSpc>
              <a:spcBef>
                <a:spcPts val="200"/>
              </a:spcBef>
              <a:buNone/>
            </a:pPr>
            <a:r>
              <a:rPr lang="en-US" sz="1500" b="true">
                <a:solidFill>
                  <a:srgbClr val="F7F2EA"/>
                </a:solidFill>
                <a:latin typeface="Nunito Bold"/>
                <a:ea typeface="Nunito Bold"/>
                <a:cs typeface="Nunito Bold"/>
                <a:sym typeface="Nunito Bold"/>
              </a:rPr>
              <a:t>Contexts</a:t>
            </a:r>
          </a:p>
        </p:txBody>
      </p:sp>
      <p:sp>
        <p:nvSpPr>
          <p:cNvPr id="39" name="Rounded Rectangle 38"/>
          <p:cNvSpPr/>
          <p:nvPr/>
        </p:nvSpPr>
        <p:spPr>
          <a:xfrm>
            <a:off x="9441180" y="7067042"/>
            <a:ext cx="7818120" cy="2241550"/>
          </a:xfrm>
          <a:prstGeom prst="roundRect">
            <a:avLst>
              <a:gd name="adj" fmla="val 10198"/>
            </a:avLst>
          </a:prstGeom>
          <a:solidFill>
            <a:srgbClr val="4472C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40" name="Equation"/>
              <p:cNvSpPr txBox="1"/>
              <p:nvPr/>
            </p:nvSpPr>
            <p:spPr>
              <a:xfrm>
                <a:off x="9715500" y="7112762"/>
                <a:ext cx="1828800" cy="1120775"/>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2200" i="1">
                          <a:solidFill>
                            <a:srgbClr val="FFFFFF"/>
                          </a:solidFill>
                          <a:latin typeface="Cambria Math" panose="02040503050406030204" pitchFamily="18" charset="0"/>
                        </a:rPr>
                        <m:t xml:space="preserve">v</m:t>
                      </m:r>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S</m:t>
                      </m:r>
                      <m:r>
                        <m:rPr>
                          <m:sty m:val="p"/>
                        </m:rPr>
                        <a:rPr lang="en-US" sz="2200">
                          <a:solidFill>
                            <a:srgbClr val="FFFFFF"/>
                          </a:solidFill>
                          <a:latin typeface="Cambria Math" panose="02040503050406030204" pitchFamily="18" charset="0"/>
                        </a:rPr>
                        <m:t xml:space="preserve">)</m:t>
                      </m:r>
                    </m:oMath>
                  </m:oMathPara>
                </a14:m>
                <a:endParaRPr lang="en-US" sz="2200"/>
              </a:p>
            </p:txBody>
          </p:sp>
        </mc:Choice>
        <mc:Fallback>
          <p:sp>
            <p:nvSpPr>
              <p:cNvPr id="40" name="Equation"/>
              <p:cNvSpPr txBox="1"/>
              <p:nvPr/>
            </p:nvSpPr>
            <p:spPr>
              <a:xfrm>
                <a:off x="9715500" y="7112762"/>
                <a:ext cx="1828800" cy="1120775"/>
              </a:xfrm>
              <a:prstGeom prst="rect">
                <a:avLst/>
              </a:prstGeom>
              <a:blipFill>
                <a:blip r:embed="rId7"/>
                <a:stretch>
                  <a:fillRect/>
                </a:stretch>
              </a:blipFill>
            </p:spPr>
            <p:txBody>
              <a:bodyPr/>
              <a:lstStyle/>
              <a:p>
                <a:endParaRPr lang="en-US"/>
              </a:p>
            </p:txBody>
          </p:sp>
        </mc:Fallback>
      </mc:AlternateContent>
      <p:sp>
        <p:nvSpPr>
          <p:cNvPr id="41" name="TextBox 40"/>
          <p:cNvSpPr txBox="1"/>
          <p:nvPr/>
        </p:nvSpPr>
        <p:spPr>
          <a:xfrm>
            <a:off x="11635740" y="7112762"/>
            <a:ext cx="5349240" cy="1120775"/>
          </a:xfrm>
          <a:prstGeom prst="rect">
            <a:avLst/>
          </a:prstGeom>
          <a:noFill/>
        </p:spPr>
        <p:txBody>
          <a:bodyPr anchor="ctr" rtlCol="false" lIns="0" tIns="0" rIns="0" bIns="0" wrap="square"/>
          <a:lstStyle/>
          <a:p>
            <a:pPr algn="l">
              <a:lnSpc>
                <a:spcPts val="2100"/>
              </a:lnSpc>
              <a:spcBef>
                <a:spcPts val="0"/>
              </a:spcBef>
              <a:buNone/>
            </a:pPr>
            <a:r>
              <a:rPr lang="en-US" sz="1700" b="true">
                <a:solidFill>
                  <a:srgbClr val="FFFFFF"/>
                </a:solidFill>
                <a:latin typeface="Nunito Bold"/>
                <a:ea typeface="Nunito Bold"/>
                <a:cs typeface="Nunito Bold"/>
                <a:sym typeface="Nunito Bold"/>
              </a:rPr>
              <a:t>quality of the recommendation that coalition S can achieve</a:t>
            </a:r>
          </a:p>
        </p:txBody>
      </p:sp>
      <mc:AlternateContent xmlns:mc="http://schemas.openxmlformats.org/markup-compatibility/2006">
        <mc:Choice xmlns:a14="http://schemas.microsoft.com/office/drawing/2010/main" Requires="a14">
          <p:sp>
            <p:nvSpPr>
              <p:cNvPr id="42" name="Equation"/>
              <p:cNvSpPr txBox="1"/>
              <p:nvPr/>
            </p:nvSpPr>
            <p:spPr>
              <a:xfrm>
                <a:off x="9715500" y="8142097"/>
                <a:ext cx="1828800" cy="1120775"/>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200" i="1">
                              <a:solidFill>
                                <a:srgbClr val="ECC665"/>
                              </a:solidFill>
                              <a:latin typeface="Cambria Math" panose="02040503050406030204" pitchFamily="18" charset="0"/>
                            </a:rPr>
                          </m:ctrlPr>
                        </m:sSubPr>
                        <m:e>
                          <m:acc>
                            <m:accPr>
                              <m:chr m:val="̂"/>
                              <m:ctrlPr>
                                <a:rPr lang="en-US" sz="2200" i="1">
                                  <a:solidFill>
                                    <a:srgbClr val="ECC665"/>
                                  </a:solidFill>
                                  <a:latin typeface="Cambria Math" panose="02040503050406030204" pitchFamily="18" charset="0"/>
                                </a:rPr>
                              </m:ctrlPr>
                            </m:accPr>
                            <m:e>
                              <m:r>
                                <a:rPr lang="en-US" sz="2200" i="1">
                                  <a:solidFill>
                                    <a:srgbClr val="ECC665"/>
                                  </a:solidFill>
                                  <a:latin typeface="Cambria Math" panose="02040503050406030204" pitchFamily="18" charset="0"/>
                                </a:rPr>
                                <m:t xml:space="preserve">φ</m:t>
                              </m:r>
                            </m:e>
                          </m:acc>
                        </m:e>
                        <m:sub>
                          <m:r>
                            <a:rPr lang="en-US" sz="2200" i="1">
                              <a:solidFill>
                                <a:srgbClr val="ECC665"/>
                              </a:solidFill>
                              <a:latin typeface="Cambria Math" panose="02040503050406030204" pitchFamily="18" charset="0"/>
                            </a:rPr>
                            <m:t xml:space="preserve">j</m:t>
                          </m:r>
                        </m:sub>
                      </m:sSub>
                      <m:r>
                        <m:rPr>
                          <m:sty m:val="p"/>
                        </m:rPr>
                        <a:rPr lang="en-US" sz="2200">
                          <a:solidFill>
                            <a:srgbClr val="ECC665"/>
                          </a:solidFill>
                          <a:latin typeface="Cambria Math" panose="02040503050406030204" pitchFamily="18" charset="0"/>
                        </a:rPr>
                        <m:t xml:space="preserve"> → </m:t>
                      </m:r>
                      <m:sSub>
                        <m:sSubPr>
                          <m:ctrlPr>
                            <a:rPr lang="en-US" sz="2200" i="1">
                              <a:solidFill>
                                <a:srgbClr val="ECC665"/>
                              </a:solidFill>
                              <a:latin typeface="Cambria Math" panose="02040503050406030204" pitchFamily="18" charset="0"/>
                            </a:rPr>
                          </m:ctrlPr>
                        </m:sSubPr>
                        <m:e>
                          <m:r>
                            <a:rPr lang="en-US" sz="2200" i="1">
                              <a:solidFill>
                                <a:srgbClr val="ECC665"/>
                              </a:solidFill>
                              <a:latin typeface="Cambria Math" panose="02040503050406030204" pitchFamily="18" charset="0"/>
                            </a:rPr>
                            <m:t xml:space="preserve">w</m:t>
                          </m:r>
                        </m:e>
                        <m:sub>
                          <m:r>
                            <a:rPr lang="en-US" sz="2200" i="1">
                              <a:solidFill>
                                <a:srgbClr val="ECC665"/>
                              </a:solidFill>
                              <a:latin typeface="Cambria Math" panose="02040503050406030204" pitchFamily="18" charset="0"/>
                            </a:rPr>
                            <m:t xml:space="preserve">jk</m:t>
                          </m:r>
                        </m:sub>
                      </m:sSub>
                    </m:oMath>
                  </m:oMathPara>
                </a14:m>
                <a:endParaRPr lang="en-US" sz="2200"/>
              </a:p>
            </p:txBody>
          </p:sp>
        </mc:Choice>
        <mc:Fallback>
          <p:sp>
            <p:nvSpPr>
              <p:cNvPr id="42" name="Equation"/>
              <p:cNvSpPr txBox="1"/>
              <p:nvPr/>
            </p:nvSpPr>
            <p:spPr>
              <a:xfrm>
                <a:off x="9715500" y="8142097"/>
                <a:ext cx="1828800" cy="1120775"/>
              </a:xfrm>
              <a:prstGeom prst="rect">
                <a:avLst/>
              </a:prstGeom>
              <a:blipFill>
                <a:blip r:embed="rId8"/>
                <a:stretch>
                  <a:fillRect/>
                </a:stretch>
              </a:blipFill>
            </p:spPr>
            <p:txBody>
              <a:bodyPr/>
              <a:lstStyle/>
              <a:p>
                <a:endParaRPr lang="en-US"/>
              </a:p>
            </p:txBody>
          </p:sp>
        </mc:Fallback>
      </mc:AlternateContent>
      <p:sp>
        <p:nvSpPr>
          <p:cNvPr id="43" name="TextBox 42"/>
          <p:cNvSpPr txBox="1"/>
          <p:nvPr/>
        </p:nvSpPr>
        <p:spPr>
          <a:xfrm>
            <a:off x="11635740" y="8142097"/>
            <a:ext cx="5349240" cy="1120775"/>
          </a:xfrm>
          <a:prstGeom prst="rect">
            <a:avLst/>
          </a:prstGeom>
          <a:noFill/>
        </p:spPr>
        <p:txBody>
          <a:bodyPr anchor="ctr" rtlCol="false" lIns="0" tIns="0" rIns="0" bIns="0" wrap="square"/>
          <a:lstStyle/>
          <a:p>
            <a:pPr algn="l">
              <a:lnSpc>
                <a:spcPts val="2100"/>
              </a:lnSpc>
              <a:spcBef>
                <a:spcPts val="0"/>
              </a:spcBef>
              <a:buNone/>
            </a:pPr>
            <a:r>
              <a:rPr lang="en-US" sz="1700" b="true">
                <a:solidFill>
                  <a:srgbClr val="ECC665"/>
                </a:solidFill>
                <a:latin typeface="Nunito Bold"/>
                <a:ea typeface="Nunito Bold"/>
                <a:cs typeface="Nunito Bold"/>
                <a:sym typeface="Nunito Bold"/>
              </a:rPr>
              <a:t>marginal contribution of player j </a:t>
            </a:r>
            <a:r>
              <a:rPr lang="en-US" sz="1700" b="true">
                <a:solidFill>
                  <a:srgbClr val="ECC665"/>
                </a:solidFill>
                <a:latin typeface="Calibri"/>
                <a:ea typeface="Calibri"/>
                <a:cs typeface="Calibri"/>
                <a:sym typeface="Calibri"/>
              </a:rPr>
              <a:t>→ </a:t>
            </a:r>
            <a:r>
              <a:rPr lang="en-US" sz="1700" b="true">
                <a:solidFill>
                  <a:srgbClr val="ECC665"/>
                </a:solidFill>
                <a:latin typeface="Nunito Bold"/>
                <a:ea typeface="Nunito Bold"/>
                <a:cs typeface="Nunito Bold"/>
                <a:sym typeface="Nunito Bold"/>
              </a:rPr>
              <a:t>dynamic hyperedge weight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Preference-Aware Monte Carlo Shapley</a:t>
            </a:r>
          </a:p>
        </p:txBody>
      </p:sp>
      <p:pic>
        <p:nvPicPr>
          <p:cNvPr id="23" name="Picture 22" descr="image.png"/>
          <p:cNvPicPr>
            <a:picLocks noChangeAspect="1"/>
          </p:cNvPicPr>
          <p:nvPr/>
        </p:nvPicPr>
        <p:blipFill>
          <a:blip r:embed="rId3"/>
          <a:stretch>
            <a:fillRect/>
          </a:stretch>
        </p:blipFill>
        <p:spPr>
          <a:xfrm>
            <a:off x="11509517"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8595360" cy="41148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Exact Shapley is </a:t>
            </a:r>
            <a:r>
              <a:rPr lang="en-US" sz="2100" b="true">
                <a:solidFill>
                  <a:srgbClr val="111111"/>
                </a:solidFill>
                <a:latin typeface="Nunito Bold"/>
                <a:ea typeface="Nunito Bold"/>
                <a:cs typeface="Nunito Bold"/>
                <a:sym typeface="Nunito Bold"/>
              </a:rPr>
              <a:t>combinatorial and not feasible</a:t>
            </a:r>
            <a:r>
              <a:rPr lang="en-US" sz="2100" b="true">
                <a:solidFill>
                  <a:srgbClr val="111111"/>
                </a:solidFill>
                <a:latin typeface="Nunito Semi-Bold"/>
                <a:ea typeface="Nunito Semi-Bold"/>
                <a:cs typeface="Nunito Semi-Bold"/>
                <a:sym typeface="Nunito Semi-Bold"/>
              </a:rPr>
              <a:t> for real systems.</a:t>
            </a:r>
          </a:p>
        </p:txBody>
      </p:sp>
      <p:sp>
        <p:nvSpPr>
          <p:cNvPr id="29" name="Rounded Rectangle 28"/>
          <p:cNvSpPr/>
          <p:nvPr/>
        </p:nvSpPr>
        <p:spPr>
          <a:xfrm>
            <a:off x="1028700" y="3866642"/>
            <a:ext cx="8595360" cy="2834640"/>
          </a:xfrm>
          <a:prstGeom prst="roundRect">
            <a:avLst>
              <a:gd name="adj" fmla="val 6451"/>
            </a:avLst>
          </a:prstGeom>
          <a:solidFill>
            <a:srgbClr val="D9E2F3"/>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0" name="Equation"/>
              <p:cNvSpPr txBox="1"/>
              <p:nvPr/>
            </p:nvSpPr>
            <p:spPr>
              <a:xfrm>
                <a:off x="1211580" y="3958082"/>
                <a:ext cx="8229600" cy="132588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350" i="1">
                              <a:solidFill>
                                <a:srgbClr val="4472C4"/>
                              </a:solidFill>
                              <a:latin typeface="Cambria Math" panose="02040503050406030204" pitchFamily="18" charset="0"/>
                            </a:rPr>
                          </m:ctrlPr>
                        </m:sSubPr>
                        <m:e>
                          <m:acc>
                            <m:accPr>
                              <m:chr m:val="̂"/>
                              <m:ctrlPr>
                                <a:rPr lang="en-US" sz="2350" i="1">
                                  <a:solidFill>
                                    <a:srgbClr val="4472C4"/>
                                  </a:solidFill>
                                  <a:latin typeface="Cambria Math" panose="02040503050406030204" pitchFamily="18" charset="0"/>
                                </a:rPr>
                              </m:ctrlPr>
                            </m:accPr>
                            <m:e>
                              <m:r>
                                <a:rPr lang="en-US" sz="2350" i="1">
                                  <a:solidFill>
                                    <a:srgbClr val="4472C4"/>
                                  </a:solidFill>
                                  <a:latin typeface="Cambria Math" panose="02040503050406030204" pitchFamily="18" charset="0"/>
                                </a:rPr>
                                <m:t xml:space="preserve">φ</m:t>
                              </m:r>
                            </m:e>
                          </m:acc>
                        </m:e>
                        <m:sub>
                          <m:r>
                            <a:rPr lang="en-US" sz="2350" i="1">
                              <a:solidFill>
                                <a:srgbClr val="4472C4"/>
                              </a:solidFill>
                              <a:latin typeface="Cambria Math" panose="02040503050406030204" pitchFamily="18" charset="0"/>
                            </a:rPr>
                            <m:t xml:space="preserve">j</m:t>
                          </m:r>
                        </m:sub>
                      </m:sSub>
                      <m:r>
                        <m:rPr>
                          <m:sty m:val="p"/>
                        </m:rPr>
                        <a:rPr lang="en-US" sz="2350">
                          <a:solidFill>
                            <a:srgbClr val="4472C4"/>
                          </a:solidFill>
                          <a:latin typeface="Cambria Math" panose="02040503050406030204" pitchFamily="18" charset="0"/>
                        </a:rPr>
                        <m:t xml:space="preserve">=</m:t>
                      </m:r>
                      <m:f>
                        <m:fPr>
                          <m:ctrlPr>
                            <a:rPr lang="en-US" sz="2350" i="1">
                              <a:solidFill>
                                <a:srgbClr val="4472C4"/>
                              </a:solidFill>
                              <a:latin typeface="Cambria Math" panose="02040503050406030204" pitchFamily="18" charset="0"/>
                            </a:rPr>
                          </m:ctrlPr>
                        </m:fPr>
                        <m:num>
                          <m:r>
                            <m:rPr>
                              <m:sty m:val="p"/>
                            </m:rPr>
                            <a:rPr lang="en-US" sz="2350">
                              <a:solidFill>
                                <a:srgbClr val="4472C4"/>
                              </a:solidFill>
                              <a:latin typeface="Cambria Math" panose="02040503050406030204" pitchFamily="18" charset="0"/>
                            </a:rPr>
                            <m:t xml:space="preserve">1</m:t>
                          </m:r>
                        </m:num>
                        <m:den>
                          <m:r>
                            <a:rPr lang="en-US" sz="2350" i="1">
                              <a:solidFill>
                                <a:srgbClr val="4472C4"/>
                              </a:solidFill>
                              <a:latin typeface="Cambria Math" panose="02040503050406030204" pitchFamily="18" charset="0"/>
                            </a:rPr>
                            <m:t xml:space="preserve">M</m:t>
                          </m:r>
                        </m:den>
                      </m:f>
                      <m:nary>
                        <m:naryPr>
                          <m:chr m:val="∑"/>
                          <m:limLoc m:val="undOvr"/>
                          <m:ctrlPr>
                            <a:rPr lang="en-US" sz="2350" i="1">
                              <a:solidFill>
                                <a:srgbClr val="4472C4"/>
                              </a:solidFill>
                              <a:latin typeface="Cambria Math" panose="02040503050406030204" pitchFamily="18" charset="0"/>
                            </a:rPr>
                          </m:ctrlPr>
                        </m:naryPr>
                        <m:sub>
                          <m:r>
                            <a:rPr lang="en-US" sz="2350" i="1">
                              <a:solidFill>
                                <a:srgbClr val="4472C4"/>
                              </a:solidFill>
                              <a:latin typeface="Cambria Math" panose="02040503050406030204" pitchFamily="18" charset="0"/>
                            </a:rPr>
                            <m:t xml:space="preserve">m</m:t>
                          </m:r>
                          <m:r>
                            <m:rPr>
                              <m:sty m:val="p"/>
                            </m:rPr>
                            <a:rPr lang="en-US" sz="2350">
                              <a:solidFill>
                                <a:srgbClr val="4472C4"/>
                              </a:solidFill>
                              <a:latin typeface="Cambria Math" panose="02040503050406030204" pitchFamily="18" charset="0"/>
                            </a:rPr>
                            <m:t xml:space="preserve">=1</m:t>
                          </m:r>
                        </m:sub>
                        <m:sup>
                          <m:r>
                            <a:rPr lang="en-US" sz="2350" i="1">
                              <a:solidFill>
                                <a:srgbClr val="4472C4"/>
                              </a:solidFill>
                              <a:latin typeface="Cambria Math" panose="02040503050406030204" pitchFamily="18" charset="0"/>
                            </a:rPr>
                            <m:t xml:space="preserve">M</m:t>
                          </m:r>
                        </m:sup>
                        <m:e>
                          <m:d>
                            <m:dPr>
                              <m:begChr m:val="["/>
                              <m:endChr m:val="]"/>
                              <m:ctrlPr>
                                <a:rPr lang="en-US" sz="2350" i="1">
                                  <a:solidFill>
                                    <a:srgbClr val="4472C4"/>
                                  </a:solidFill>
                                  <a:latin typeface="Cambria Math" panose="02040503050406030204" pitchFamily="18" charset="0"/>
                                </a:rPr>
                              </m:ctrlPr>
                            </m:dPr>
                            <m:e>
                              <m:r>
                                <m:rPr>
                                  <m:sty m:val="p"/>
                                </m:rPr>
                                <a:rPr lang="en-US" sz="2350">
                                  <a:solidFill>
                                    <a:srgbClr val="4472C4"/>
                                  </a:solidFill>
                                  <a:latin typeface="Cambria Math" panose="02040503050406030204" pitchFamily="18" charset="0"/>
                                </a:rPr>
                                <m:t xml:space="preserve"> </m:t>
                              </m:r>
                              <m:r>
                                <a:rPr lang="en-US" sz="2350" i="1">
                                  <a:solidFill>
                                    <a:srgbClr val="4472C4"/>
                                  </a:solidFill>
                                  <a:latin typeface="Cambria Math" panose="02040503050406030204" pitchFamily="18" charset="0"/>
                                </a:rPr>
                                <m:t xml:space="preserve">v</m:t>
                              </m:r>
                              <m:r>
                                <m:rPr>
                                  <m:sty m:val="p"/>
                                </m:rPr>
                                <a:rPr lang="en-US" sz="2350">
                                  <a:solidFill>
                                    <a:srgbClr val="4472C4"/>
                                  </a:solidFill>
                                  <a:latin typeface="Cambria Math" panose="02040503050406030204" pitchFamily="18" charset="0"/>
                                </a:rPr>
                                <m:t xml:space="preserve">(</m:t>
                              </m:r>
                              <m:sSub>
                                <m:sSubPr>
                                  <m:ctrlPr>
                                    <a:rPr lang="en-US" sz="2350" i="1">
                                      <a:solidFill>
                                        <a:srgbClr val="4472C4"/>
                                      </a:solidFill>
                                      <a:latin typeface="Cambria Math" panose="02040503050406030204" pitchFamily="18" charset="0"/>
                                    </a:rPr>
                                  </m:ctrlPr>
                                </m:sSubPr>
                                <m:e>
                                  <m:r>
                                    <a:rPr lang="en-US" sz="2350" i="1">
                                      <a:solidFill>
                                        <a:srgbClr val="4472C4"/>
                                      </a:solidFill>
                                      <a:latin typeface="Cambria Math" panose="02040503050406030204" pitchFamily="18" charset="0"/>
                                    </a:rPr>
                                    <m:t xml:space="preserve">S</m:t>
                                  </m:r>
                                </m:e>
                                <m:sub>
                                  <m:r>
                                    <a:rPr lang="en-US" sz="2350" i="1">
                                      <a:solidFill>
                                        <a:srgbClr val="4472C4"/>
                                      </a:solidFill>
                                      <a:latin typeface="Cambria Math" panose="02040503050406030204" pitchFamily="18" charset="0"/>
                                    </a:rPr>
                                    <m:t xml:space="preserve">m</m:t>
                                  </m:r>
                                </m:sub>
                              </m:sSub>
                              <m:r>
                                <m:rPr>
                                  <m:sty m:val="p"/>
                                </m:rPr>
                                <a:rPr lang="en-US" sz="2350">
                                  <a:solidFill>
                                    <a:srgbClr val="4472C4"/>
                                  </a:solidFill>
                                  <a:latin typeface="Cambria Math" panose="02040503050406030204" pitchFamily="18" charset="0"/>
                                </a:rPr>
                                <m:t xml:space="preserve">∪{</m:t>
                              </m:r>
                              <m:r>
                                <a:rPr lang="en-US" sz="2350" i="1">
                                  <a:solidFill>
                                    <a:srgbClr val="4472C4"/>
                                  </a:solidFill>
                                  <a:latin typeface="Cambria Math" panose="02040503050406030204" pitchFamily="18" charset="0"/>
                                </a:rPr>
                                <m:t xml:space="preserve">j</m:t>
                              </m:r>
                              <m:r>
                                <m:rPr>
                                  <m:sty m:val="p"/>
                                </m:rPr>
                                <a:rPr lang="en-US" sz="2350">
                                  <a:solidFill>
                                    <a:srgbClr val="4472C4"/>
                                  </a:solidFill>
                                  <a:latin typeface="Cambria Math" panose="02040503050406030204" pitchFamily="18" charset="0"/>
                                </a:rPr>
                                <m:t xml:space="preserve">})−</m:t>
                              </m:r>
                              <m:r>
                                <a:rPr lang="en-US" sz="2350" i="1">
                                  <a:solidFill>
                                    <a:srgbClr val="4472C4"/>
                                  </a:solidFill>
                                  <a:latin typeface="Cambria Math" panose="02040503050406030204" pitchFamily="18" charset="0"/>
                                </a:rPr>
                                <m:t xml:space="preserve">v</m:t>
                              </m:r>
                              <m:r>
                                <m:rPr>
                                  <m:sty m:val="p"/>
                                </m:rPr>
                                <a:rPr lang="en-US" sz="2350">
                                  <a:solidFill>
                                    <a:srgbClr val="4472C4"/>
                                  </a:solidFill>
                                  <a:latin typeface="Cambria Math" panose="02040503050406030204" pitchFamily="18" charset="0"/>
                                </a:rPr>
                                <m:t xml:space="preserve">(</m:t>
                              </m:r>
                              <m:sSub>
                                <m:sSubPr>
                                  <m:ctrlPr>
                                    <a:rPr lang="en-US" sz="2350" i="1">
                                      <a:solidFill>
                                        <a:srgbClr val="4472C4"/>
                                      </a:solidFill>
                                      <a:latin typeface="Cambria Math" panose="02040503050406030204" pitchFamily="18" charset="0"/>
                                    </a:rPr>
                                  </m:ctrlPr>
                                </m:sSubPr>
                                <m:e>
                                  <m:r>
                                    <a:rPr lang="en-US" sz="2350" i="1">
                                      <a:solidFill>
                                        <a:srgbClr val="4472C4"/>
                                      </a:solidFill>
                                      <a:latin typeface="Cambria Math" panose="02040503050406030204" pitchFamily="18" charset="0"/>
                                    </a:rPr>
                                    <m:t xml:space="preserve">S</m:t>
                                  </m:r>
                                </m:e>
                                <m:sub>
                                  <m:r>
                                    <a:rPr lang="en-US" sz="2350" i="1">
                                      <a:solidFill>
                                        <a:srgbClr val="4472C4"/>
                                      </a:solidFill>
                                      <a:latin typeface="Cambria Math" panose="02040503050406030204" pitchFamily="18" charset="0"/>
                                    </a:rPr>
                                    <m:t xml:space="preserve">m</m:t>
                                  </m:r>
                                </m:sub>
                              </m:sSub>
                              <m:r>
                                <m:rPr>
                                  <m:sty m:val="p"/>
                                </m:rPr>
                                <a:rPr lang="en-US" sz="2350">
                                  <a:solidFill>
                                    <a:srgbClr val="4472C4"/>
                                  </a:solidFill>
                                  <a:latin typeface="Cambria Math" panose="02040503050406030204" pitchFamily="18" charset="0"/>
                                </a:rPr>
                                <m:t xml:space="preserve">) </m:t>
                              </m:r>
                            </m:e>
                          </m:d>
                        </m:e>
                      </m:nary>
                    </m:oMath>
                  </m:oMathPara>
                </a14:m>
                <a:endParaRPr lang="en-US" sz="2350"/>
              </a:p>
            </p:txBody>
          </p:sp>
        </mc:Choice>
        <mc:Fallback>
          <p:sp>
            <p:nvSpPr>
              <p:cNvPr id="30" name="Equation"/>
              <p:cNvSpPr txBox="1"/>
              <p:nvPr/>
            </p:nvSpPr>
            <p:spPr>
              <a:xfrm>
                <a:off x="1211580" y="3958082"/>
                <a:ext cx="8229600" cy="1325880"/>
              </a:xfrm>
              <a:prstGeom prst="rect">
                <a:avLst/>
              </a:prstGeom>
              <a:blipFill>
                <a:blip r:embed="rId5"/>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31" name="Equation"/>
              <p:cNvSpPr txBox="1"/>
              <p:nvPr/>
            </p:nvSpPr>
            <p:spPr>
              <a:xfrm>
                <a:off x="1211580" y="5283962"/>
                <a:ext cx="8229600" cy="132588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350" i="1">
                              <a:solidFill>
                                <a:srgbClr val="1F7A8C"/>
                              </a:solidFill>
                              <a:latin typeface="Cambria Math" panose="02040503050406030204" pitchFamily="18" charset="0"/>
                            </a:rPr>
                          </m:ctrlPr>
                        </m:sSubSupPr>
                        <m:e>
                          <m:acc>
                            <m:accPr>
                              <m:chr m:val="̂"/>
                              <m:ctrlPr>
                                <a:rPr lang="en-US" sz="2350" i="1">
                                  <a:solidFill>
                                    <a:srgbClr val="1F7A8C"/>
                                  </a:solidFill>
                                  <a:latin typeface="Cambria Math" panose="02040503050406030204" pitchFamily="18" charset="0"/>
                                </a:rPr>
                              </m:ctrlPr>
                            </m:accPr>
                            <m:e>
                              <m:r>
                                <a:rPr lang="en-US" sz="2350" i="1">
                                  <a:solidFill>
                                    <a:srgbClr val="1F7A8C"/>
                                  </a:solidFill>
                                  <a:latin typeface="Cambria Math" panose="02040503050406030204" pitchFamily="18" charset="0"/>
                                </a:rPr>
                                <m:t xml:space="preserve">φ</m:t>
                              </m:r>
                            </m:e>
                          </m:acc>
                        </m:e>
                        <m:sub>
                          <m:r>
                            <a:rPr lang="en-US" sz="2350" i="1">
                              <a:solidFill>
                                <a:srgbClr val="1F7A8C"/>
                              </a:solidFill>
                              <a:latin typeface="Cambria Math" panose="02040503050406030204" pitchFamily="18" charset="0"/>
                            </a:rPr>
                            <m:t xml:space="preserve">j</m:t>
                          </m:r>
                        </m:sub>
                        <m:sup>
                          <m:r>
                            <m:rPr>
                              <m:sty m:val="p"/>
                            </m:rPr>
                            <a:rPr lang="en-US" sz="2350">
                              <a:solidFill>
                                <a:srgbClr val="1F7A8C"/>
                              </a:solidFill>
                              <a:latin typeface="Cambria Math" panose="02040503050406030204" pitchFamily="18" charset="0"/>
                            </a:rPr>
                            <m:t xml:space="preserve"> pref</m:t>
                          </m:r>
                        </m:sup>
                      </m:sSubSup>
                      <m:r>
                        <m:rPr>
                          <m:sty m:val="p"/>
                        </m:rPr>
                        <a:rPr lang="en-US" sz="2350">
                          <a:solidFill>
                            <a:srgbClr val="1F7A8C"/>
                          </a:solidFill>
                          <a:latin typeface="Cambria Math" panose="02040503050406030204" pitchFamily="18" charset="0"/>
                        </a:rPr>
                        <m:t xml:space="preserve">=</m:t>
                      </m:r>
                      <m:f>
                        <m:fPr>
                          <m:ctrlPr>
                            <a:rPr lang="en-US" sz="2350" i="1">
                              <a:solidFill>
                                <a:srgbClr val="1F7A8C"/>
                              </a:solidFill>
                              <a:latin typeface="Cambria Math" panose="02040503050406030204" pitchFamily="18" charset="0"/>
                            </a:rPr>
                          </m:ctrlPr>
                        </m:fPr>
                        <m:num>
                          <m:r>
                            <m:rPr>
                              <m:sty m:val="p"/>
                            </m:rPr>
                            <a:rPr lang="en-US" sz="2350">
                              <a:solidFill>
                                <a:srgbClr val="1F7A8C"/>
                              </a:solidFill>
                              <a:latin typeface="Cambria Math" panose="02040503050406030204" pitchFamily="18" charset="0"/>
                            </a:rPr>
                            <m:t xml:space="preserve">1</m:t>
                          </m:r>
                        </m:num>
                        <m:den>
                          <m:r>
                            <a:rPr lang="en-US" sz="2350" i="1">
                              <a:solidFill>
                                <a:srgbClr val="1F7A8C"/>
                              </a:solidFill>
                              <a:latin typeface="Cambria Math" panose="02040503050406030204" pitchFamily="18" charset="0"/>
                            </a:rPr>
                            <m:t xml:space="preserve">M</m:t>
                          </m:r>
                        </m:den>
                      </m:f>
                      <m:nary>
                        <m:naryPr>
                          <m:chr m:val="∑"/>
                          <m:limLoc m:val="undOvr"/>
                          <m:ctrlPr>
                            <a:rPr lang="en-US" sz="2350" i="1">
                              <a:solidFill>
                                <a:srgbClr val="1F7A8C"/>
                              </a:solidFill>
                              <a:latin typeface="Cambria Math" panose="02040503050406030204" pitchFamily="18" charset="0"/>
                            </a:rPr>
                          </m:ctrlPr>
                        </m:naryPr>
                        <m:sub>
                          <m:r>
                            <a:rPr lang="en-US" sz="2350" i="1">
                              <a:solidFill>
                                <a:srgbClr val="1F7A8C"/>
                              </a:solidFill>
                              <a:latin typeface="Cambria Math" panose="02040503050406030204" pitchFamily="18" charset="0"/>
                            </a:rPr>
                            <m:t xml:space="preserve">m</m:t>
                          </m:r>
                          <m:r>
                            <m:rPr>
                              <m:sty m:val="p"/>
                            </m:rPr>
                            <a:rPr lang="en-US" sz="2350">
                              <a:solidFill>
                                <a:srgbClr val="1F7A8C"/>
                              </a:solidFill>
                              <a:latin typeface="Cambria Math" panose="02040503050406030204" pitchFamily="18" charset="0"/>
                            </a:rPr>
                            <m:t xml:space="preserve">=1</m:t>
                          </m:r>
                        </m:sub>
                        <m:sup>
                          <m:r>
                            <a:rPr lang="en-US" sz="2350" i="1">
                              <a:solidFill>
                                <a:srgbClr val="1F7A8C"/>
                              </a:solidFill>
                              <a:latin typeface="Cambria Math" panose="02040503050406030204" pitchFamily="18" charset="0"/>
                            </a:rPr>
                            <m:t xml:space="preserve">M</m:t>
                          </m:r>
                        </m:sup>
                        <m:e>
                          <m:d>
                            <m:dPr>
                              <m:begChr m:val="["/>
                              <m:endChr m:val="]"/>
                              <m:ctrlPr>
                                <a:rPr lang="en-US" sz="2350" i="1">
                                  <a:solidFill>
                                    <a:srgbClr val="1F7A8C"/>
                                  </a:solidFill>
                                  <a:latin typeface="Cambria Math" panose="02040503050406030204" pitchFamily="18" charset="0"/>
                                </a:rPr>
                              </m:ctrlPr>
                            </m:dPr>
                            <m:e>
                              <m:r>
                                <m:rPr>
                                  <m:sty m:val="p"/>
                                </m:rPr>
                                <a:rPr lang="en-US" sz="2350">
                                  <a:solidFill>
                                    <a:srgbClr val="1F7A8C"/>
                                  </a:solidFill>
                                  <a:latin typeface="Cambria Math" panose="02040503050406030204" pitchFamily="18" charset="0"/>
                                </a:rPr>
                                <m:t xml:space="preserve"> </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v</m:t>
                                  </m:r>
                                </m:e>
                                <m:sub>
                                  <m:r>
                                    <m:rPr>
                                      <m:sty m:val="p"/>
                                    </m:rPr>
                                    <a:rPr lang="en-US" sz="2350">
                                      <a:solidFill>
                                        <a:srgbClr val="1F7A8C"/>
                                      </a:solidFill>
                                      <a:latin typeface="Cambria Math" panose="02040503050406030204" pitchFamily="18" charset="0"/>
                                    </a:rPr>
                                    <m:t xml:space="preserve">pref</m:t>
                                  </m:r>
                                </m:sub>
                              </m:sSub>
                              <m:r>
                                <m:rPr>
                                  <m:sty m:val="p"/>
                                </m:rPr>
                                <a:rPr lang="en-US" sz="2350">
                                  <a:solidFill>
                                    <a:srgbClr val="1F7A8C"/>
                                  </a:solidFill>
                                  <a:latin typeface="Cambria Math" panose="02040503050406030204" pitchFamily="18" charset="0"/>
                                </a:rPr>
                                <m:t xml:space="preserve">(</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S</m:t>
                                  </m:r>
                                </m:e>
                                <m:sub>
                                  <m:r>
                                    <a:rPr lang="en-US" sz="2350" i="1">
                                      <a:solidFill>
                                        <a:srgbClr val="1F7A8C"/>
                                      </a:solidFill>
                                      <a:latin typeface="Cambria Math" panose="02040503050406030204" pitchFamily="18" charset="0"/>
                                    </a:rPr>
                                    <m:t xml:space="preserve">m</m:t>
                                  </m:r>
                                </m:sub>
                              </m:sSub>
                              <m:r>
                                <m:rPr>
                                  <m:sty m:val="p"/>
                                </m:rPr>
                                <a:rPr lang="en-US" sz="2350">
                                  <a:solidFill>
                                    <a:srgbClr val="1F7A8C"/>
                                  </a:solidFill>
                                  <a:latin typeface="Cambria Math" panose="02040503050406030204" pitchFamily="18" charset="0"/>
                                </a:rPr>
                                <m:t xml:space="preserve">∪{</m:t>
                              </m:r>
                              <m:r>
                                <a:rPr lang="en-US" sz="2350" i="1">
                                  <a:solidFill>
                                    <a:srgbClr val="1F7A8C"/>
                                  </a:solidFill>
                                  <a:latin typeface="Cambria Math" panose="02040503050406030204" pitchFamily="18" charset="0"/>
                                </a:rPr>
                                <m:t xml:space="preserve">j</m:t>
                              </m:r>
                              <m:r>
                                <m:rPr>
                                  <m:sty m:val="p"/>
                                </m:rPr>
                                <a:rPr lang="en-US" sz="2350">
                                  <a:solidFill>
                                    <a:srgbClr val="1F7A8C"/>
                                  </a:solidFill>
                                  <a:latin typeface="Cambria Math" panose="02040503050406030204" pitchFamily="18" charset="0"/>
                                </a:rPr>
                                <m:t xml:space="preserve">})−</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v</m:t>
                                  </m:r>
                                </m:e>
                                <m:sub>
                                  <m:r>
                                    <m:rPr>
                                      <m:sty m:val="p"/>
                                    </m:rPr>
                                    <a:rPr lang="en-US" sz="2350">
                                      <a:solidFill>
                                        <a:srgbClr val="1F7A8C"/>
                                      </a:solidFill>
                                      <a:latin typeface="Cambria Math" panose="02040503050406030204" pitchFamily="18" charset="0"/>
                                    </a:rPr>
                                    <m:t xml:space="preserve">pref</m:t>
                                  </m:r>
                                </m:sub>
                              </m:sSub>
                              <m:r>
                                <m:rPr>
                                  <m:sty m:val="p"/>
                                </m:rPr>
                                <a:rPr lang="en-US" sz="2350">
                                  <a:solidFill>
                                    <a:srgbClr val="1F7A8C"/>
                                  </a:solidFill>
                                  <a:latin typeface="Cambria Math" panose="02040503050406030204" pitchFamily="18" charset="0"/>
                                </a:rPr>
                                <m:t xml:space="preserve">(</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S</m:t>
                                  </m:r>
                                </m:e>
                                <m:sub>
                                  <m:r>
                                    <a:rPr lang="en-US" sz="2350" i="1">
                                      <a:solidFill>
                                        <a:srgbClr val="1F7A8C"/>
                                      </a:solidFill>
                                      <a:latin typeface="Cambria Math" panose="02040503050406030204" pitchFamily="18" charset="0"/>
                                    </a:rPr>
                                    <m:t xml:space="preserve">m</m:t>
                                  </m:r>
                                </m:sub>
                              </m:sSub>
                              <m:r>
                                <m:rPr>
                                  <m:sty m:val="p"/>
                                </m:rPr>
                                <a:rPr lang="en-US" sz="2350">
                                  <a:solidFill>
                                    <a:srgbClr val="1F7A8C"/>
                                  </a:solidFill>
                                  <a:latin typeface="Cambria Math" panose="02040503050406030204" pitchFamily="18" charset="0"/>
                                </a:rPr>
                                <m:t xml:space="preserve">) </m:t>
                              </m:r>
                            </m:e>
                          </m:d>
                        </m:e>
                      </m:nary>
                    </m:oMath>
                  </m:oMathPara>
                </a14:m>
                <a:endParaRPr lang="en-US" sz="2350"/>
              </a:p>
            </p:txBody>
          </p:sp>
        </mc:Choice>
        <mc:Fallback>
          <p:sp>
            <p:nvSpPr>
              <p:cNvPr id="31" name="Equation"/>
              <p:cNvSpPr txBox="1"/>
              <p:nvPr/>
            </p:nvSpPr>
            <p:spPr>
              <a:xfrm>
                <a:off x="1211580" y="5283962"/>
                <a:ext cx="8229600" cy="1325880"/>
              </a:xfrm>
              <a:prstGeom prst="rect">
                <a:avLst/>
              </a:prstGeom>
              <a:blipFill>
                <a:blip r:embed="rId6"/>
                <a:stretch>
                  <a:fillRect/>
                </a:stretch>
              </a:blipFill>
            </p:spPr>
            <p:txBody>
              <a:bodyPr/>
              <a:lstStyle/>
              <a:p>
                <a:endParaRPr lang="en-US"/>
              </a:p>
            </p:txBody>
          </p:sp>
        </mc:Fallback>
      </mc:AlternateContent>
      <p:sp>
        <p:nvSpPr>
          <p:cNvPr id="32" name="TextBox 31"/>
          <p:cNvSpPr txBox="1"/>
          <p:nvPr/>
        </p:nvSpPr>
        <p:spPr>
          <a:xfrm>
            <a:off x="1028700" y="6838442"/>
            <a:ext cx="8595360" cy="247015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Unbiased estimator:</a:t>
            </a:r>
            <a:r>
              <a:rPr lang="en-US" sz="1900" b="true">
                <a:solidFill>
                  <a:srgbClr val="111111"/>
                </a:solidFill>
                <a:latin typeface="Nunito Semi-Bold"/>
                <a:ea typeface="Nunito Semi-Bold"/>
                <a:cs typeface="Nunito Semi-Bold"/>
                <a:sym typeface="Nunito Semi-Bold"/>
              </a:rPr>
              <a:t> variance </a:t>
            </a:r>
            <a:r>
              <a:rPr lang="en-US" sz="1900" b="true">
                <a:solidFill>
                  <a:srgbClr val="111111"/>
                </a:solidFill>
                <a:latin typeface="Calibri"/>
                <a:ea typeface="Calibri"/>
                <a:cs typeface="Calibri"/>
                <a:sym typeface="Calibri"/>
              </a:rPr>
              <a:t>σ</a:t>
            </a:r>
            <a:r>
              <a:rPr lang="en-US" sz="1900" b="true">
                <a:solidFill>
                  <a:srgbClr val="111111"/>
                </a:solidFill>
                <a:latin typeface="Nunito Semi-Bold"/>
                <a:ea typeface="Nunito Semi-Bold"/>
                <a:cs typeface="Nunito Semi-Bold"/>
                <a:sym typeface="Nunito Semi-Bold"/>
              </a:rPr>
              <a:t>²/M, so the error shrinks as the number of permutations M grows.</a:t>
            </a:r>
          </a:p>
          <a:p>
            <a:pPr algn="l" marL="274320" indent="-274320">
              <a:lnSpc>
                <a:spcPts val="2812"/>
              </a:lnSpc>
              <a:spcBef>
                <a:spcPts val="80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M = 50 selected:</a:t>
            </a:r>
            <a:r>
              <a:rPr lang="en-US" sz="1900" b="true">
                <a:solidFill>
                  <a:srgbClr val="111111"/>
                </a:solidFill>
                <a:latin typeface="Nunito Semi-Bold"/>
                <a:ea typeface="Nunito Semi-Bold"/>
                <a:cs typeface="Nunito Semi-Bold"/>
                <a:sym typeface="Nunito Semi-Bold"/>
              </a:rPr>
              <a:t> MSE ≈ 1.4×10</a:t>
            </a:r>
            <a:r>
              <a:rPr lang="en-US" sz="1900" b="true" baseline="30000">
                <a:solidFill>
                  <a:srgbClr val="111111"/>
                </a:solidFill>
                <a:latin typeface="Nunito Semi-Bold"/>
                <a:ea typeface="Nunito Semi-Bold"/>
                <a:cs typeface="Nunito Semi-Bold"/>
                <a:sym typeface="Nunito Semi-Bold"/>
              </a:rPr>
              <a:t>−5</a:t>
            </a:r>
            <a:r>
              <a:rPr lang="en-US" sz="1900" b="true">
                <a:solidFill>
                  <a:srgbClr val="111111"/>
                </a:solidFill>
                <a:latin typeface="Nunito Semi-Bold"/>
                <a:ea typeface="Nunito Semi-Bold"/>
                <a:cs typeface="Nunito Semi-Bold"/>
                <a:sym typeface="Nunito Semi-Bold"/>
              </a:rPr>
              <a:t>, ≈ 99 % accuracy on MovieLens-1M; M = 100 </a:t>
            </a:r>
            <a:r>
              <a:rPr lang="en-US" sz="1900" b="true">
                <a:solidFill>
                  <a:srgbClr val="111111"/>
                </a:solidFill>
                <a:latin typeface="Calibri"/>
                <a:ea typeface="Calibri"/>
                <a:cs typeface="Calibri"/>
                <a:sym typeface="Calibri"/>
              </a:rPr>
              <a:t>→ </a:t>
            </a:r>
            <a:r>
              <a:rPr lang="en-US" sz="1900" b="true">
                <a:solidFill>
                  <a:srgbClr val="111111"/>
                </a:solidFill>
                <a:latin typeface="Nunito Semi-Bold"/>
                <a:ea typeface="Nunito Semi-Bold"/>
                <a:cs typeface="Nunito Semi-Bold"/>
                <a:sym typeface="Nunito Semi-Bold"/>
              </a:rPr>
              <a:t>MSE 3.5×10</a:t>
            </a:r>
            <a:r>
              <a:rPr lang="en-US" sz="1900" b="true" baseline="30000">
                <a:solidFill>
                  <a:srgbClr val="111111"/>
                </a:solidFill>
                <a:latin typeface="Nunito Semi-Bold"/>
                <a:ea typeface="Nunito Semi-Bold"/>
                <a:cs typeface="Nunito Semi-Bold"/>
                <a:sym typeface="Nunito Semi-Bold"/>
              </a:rPr>
              <a:t>−6</a:t>
            </a:r>
            <a:r>
              <a:rPr lang="en-US" sz="1900" b="true">
                <a:solidFill>
                  <a:srgbClr val="111111"/>
                </a:solidFill>
                <a:latin typeface="Nunito Semi-Bold"/>
                <a:ea typeface="Nunito Semi-Bold"/>
                <a:cs typeface="Nunito Semi-Bold"/>
                <a:sym typeface="Nunito Semi-Bold"/>
              </a:rPr>
              <a:t> (diminishing returns).</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Refreshed </a:t>
            </a:r>
            <a:r>
              <a:rPr lang="en-US" sz="1900" b="true">
                <a:solidFill>
                  <a:srgbClr val="111111"/>
                </a:solidFill>
                <a:latin typeface="Nunito Bold"/>
                <a:ea typeface="Nunito Bold"/>
                <a:cs typeface="Nunito Bold"/>
                <a:sym typeface="Nunito Bold"/>
              </a:rPr>
              <a:t>every 10 batches</a:t>
            </a:r>
            <a:r>
              <a:rPr lang="en-US" sz="1900" b="true">
                <a:solidFill>
                  <a:srgbClr val="111111"/>
                </a:solidFill>
                <a:latin typeface="Nunito Semi-Bold"/>
                <a:ea typeface="Nunito Semi-Bold"/>
                <a:cs typeface="Nunito Semi-Bold"/>
                <a:sym typeface="Nunito Semi-Bold"/>
              </a:rPr>
              <a:t> (≈ 49 updates / epoch), smoothed by an </a:t>
            </a:r>
            <a:r>
              <a:rPr lang="en-US" sz="1900" b="true">
                <a:solidFill>
                  <a:srgbClr val="111111"/>
                </a:solidFill>
                <a:latin typeface="Nunito Bold"/>
                <a:ea typeface="Nunito Bold"/>
                <a:cs typeface="Nunito Bold"/>
                <a:sym typeface="Nunito Bold"/>
              </a:rPr>
              <a:t>exponential moving average</a:t>
            </a:r>
            <a:r>
              <a:rPr lang="en-US" sz="1900" b="true">
                <a:solidFill>
                  <a:srgbClr val="111111"/>
                </a:solidFill>
                <a:latin typeface="Nunito Semi-Bold"/>
                <a:ea typeface="Nunito Semi-Bold"/>
                <a:cs typeface="Nunito Semi-Bold"/>
                <a:sym typeface="Nunito Semi-Bold"/>
              </a:rPr>
              <a:t>.</a:t>
            </a:r>
          </a:p>
        </p:txBody>
      </p:sp>
      <p:graphicFrame>
        <p:nvGraphicFramePr>
          <p:cNvPr id="33" name="Table 32"/>
          <p:cNvGraphicFramePr>
            <a:graphicFrameLocks noGrp="1"/>
          </p:cNvGraphicFramePr>
          <p:nvPr/>
        </p:nvGraphicFramePr>
        <p:xfrm>
          <a:off x="10172700" y="3363722"/>
          <a:ext cx="7086598" cy="2267712"/>
        </p:xfrm>
        <a:graphic>
          <a:graphicData uri="http://schemas.openxmlformats.org/drawingml/2006/table">
            <a:tbl>
              <a:tblPr firstRow="0" bandRow="0" firstCol="0" lastRow="0" lastCol="0" bandCol="0">
                <a:tableStyleId>{2D5ABB26-0587-4C30-8999-92F81FD0307C}</a:tableStyleId>
              </a:tblPr>
              <a:tblGrid>
                <a:gridCol w="1635369"/>
                <a:gridCol w="2998176"/>
                <a:gridCol w="2453053"/>
              </a:tblGrid>
              <a:tr h="566928">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M</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MSE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Accuracy</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5.6×10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⁵</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98 %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50 </a:t>
                      </a:r>
                      <a:r>
                        <a:rPr lang="en-US" sz="1800" b="true">
                          <a:solidFill>
                            <a:srgbClr val="111111"/>
                          </a:solidFill>
                          <a:latin typeface="Cambria Math"/>
                          <a:ea typeface="Cambria Math"/>
                          <a:cs typeface="Cambria Math"/>
                          <a:sym typeface="Cambria Math"/>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1.4×10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⁵</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99 %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3.5×10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⁶</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99.5 %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4" name="TextBox 33"/>
          <p:cNvSpPr txBox="1"/>
          <p:nvPr/>
        </p:nvSpPr>
        <p:spPr>
          <a:xfrm>
            <a:off x="10172700" y="5704586"/>
            <a:ext cx="7086600" cy="36576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Semi-Bold"/>
                <a:ea typeface="Nunito Semi-Bold"/>
                <a:cs typeface="Nunito Semi-Bold"/>
                <a:sym typeface="Nunito Semi-Bold"/>
              </a:rPr>
              <a:t>Accuracy vs a high-sample reference: M = 25 already reaches ≈ 98 %, rows 25/100 show the O(1/M) trend.</a:t>
            </a:r>
          </a:p>
        </p:txBody>
      </p:sp>
      <p:sp>
        <p:nvSpPr>
          <p:cNvPr id="35" name="Rounded Rectangle 34"/>
          <p:cNvSpPr/>
          <p:nvPr/>
        </p:nvSpPr>
        <p:spPr>
          <a:xfrm>
            <a:off x="10172700" y="6362954"/>
            <a:ext cx="7086600" cy="2945638"/>
          </a:xfrm>
          <a:prstGeom prst="roundRect">
            <a:avLst>
              <a:gd name="adj" fmla="val 10554"/>
            </a:avLst>
          </a:prstGeom>
          <a:solidFill>
            <a:srgbClr val="4472C4"/>
          </a:solidFill>
          <a:ln>
            <a:noFill/>
          </a:ln>
        </p:spPr>
        <p:txBody>
          <a:bodyPr anchor="ctr" rtlCol="false" lIns="0" tIns="0" rIns="0" bIns="0" wrap="square"/>
          <a:lstStyle/>
          <a:p>
            <a:endParaRPr lang="en-US" sz="1800"/>
          </a:p>
        </p:txBody>
      </p:sp>
      <p:sp>
        <p:nvSpPr>
          <p:cNvPr id="36" name="Rounded Rectangle 35"/>
          <p:cNvSpPr/>
          <p:nvPr/>
        </p:nvSpPr>
        <p:spPr>
          <a:xfrm>
            <a:off x="10629900" y="6125210"/>
            <a:ext cx="321070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In the training loop</a:t>
            </a:r>
          </a:p>
        </p:txBody>
      </p:sp>
      <p:sp>
        <p:nvSpPr>
          <p:cNvPr id="37" name="TextBox 36"/>
          <p:cNvSpPr txBox="1"/>
          <p:nvPr/>
        </p:nvSpPr>
        <p:spPr>
          <a:xfrm>
            <a:off x="10629900" y="6957314"/>
            <a:ext cx="6217920" cy="2076958"/>
          </a:xfrm>
          <a:prstGeom prst="rect">
            <a:avLst/>
          </a:prstGeom>
          <a:noFill/>
        </p:spPr>
        <p:txBody>
          <a:bodyPr anchor="t" rtlCol="false" lIns="0" tIns="0" rIns="0" bIns="0" wrap="square"/>
          <a:lstStyle/>
          <a:p>
            <a:pPr algn="l" marL="274320" indent="-274320">
              <a:lnSpc>
                <a:spcPts val="2520"/>
              </a:lnSpc>
              <a:spcBef>
                <a:spcPts val="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Sample M permutations per refresh </a:t>
            </a:r>
            <a:r>
              <a:rPr lang="en-US" sz="1800" b="true">
                <a:solidFill>
                  <a:srgbClr val="FFFFFF"/>
                </a:solidFill>
                <a:latin typeface="Calibri"/>
                <a:ea typeface="Calibri"/>
                <a:cs typeface="Calibri"/>
                <a:sym typeface="Calibri"/>
              </a:rPr>
              <a:t>→ </a:t>
            </a:r>
            <a:r>
              <a:rPr lang="en-US" sz="1800" b="true">
                <a:solidFill>
                  <a:srgbClr val="FFFFFF"/>
                </a:solidFill>
                <a:latin typeface="Nunito Semi-Bold"/>
                <a:ea typeface="Nunito Semi-Bold"/>
                <a:cs typeface="Nunito Semi-Bold"/>
                <a:sym typeface="Nunito Semi-Bold"/>
              </a:rPr>
              <a:t>estimate </a:t>
            </a:r>
            <a:r>
              <a:rPr lang="en-US" sz="1800" b="true">
                <a:solidFill>
                  <a:srgbClr val="FFFFFF"/>
                </a:solidFill>
                <a:latin typeface="Cambria Math"/>
                <a:ea typeface="Cambria Math"/>
                <a:cs typeface="Cambria Math"/>
                <a:sym typeface="Cambria Math"/>
              </a:rPr>
              <a:t>φ̂ </a:t>
            </a:r>
            <a:r>
              <a:rPr lang="en-US" sz="1800" b="true">
                <a:solidFill>
                  <a:srgbClr val="FFFFFF"/>
                </a:solidFill>
                <a:latin typeface="Nunito Semi-Bold"/>
                <a:ea typeface="Nunito Semi-Bold"/>
                <a:cs typeface="Nunito Semi-Bold"/>
                <a:sym typeface="Nunito Semi-Bold"/>
              </a:rPr>
              <a:t>for the players in the episode.</a:t>
            </a:r>
          </a:p>
          <a:p>
            <a:pPr algn="l" marL="274320" indent="-274320">
              <a:lnSpc>
                <a:spcPts val="2520"/>
              </a:lnSpc>
              <a:spcBef>
                <a:spcPts val="70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Clip, EMA-smooth, normalise </a:t>
            </a:r>
            <a:r>
              <a:rPr lang="en-US" sz="1800" b="true">
                <a:solidFill>
                  <a:srgbClr val="FFFFFF"/>
                </a:solidFill>
                <a:latin typeface="Calibri"/>
                <a:ea typeface="Calibri"/>
                <a:cs typeface="Calibri"/>
                <a:sym typeface="Calibri"/>
              </a:rPr>
              <a:t>→ </a:t>
            </a:r>
            <a:r>
              <a:rPr lang="en-US" sz="1800" b="true">
                <a:solidFill>
                  <a:srgbClr val="FFFFFF"/>
                </a:solidFill>
                <a:latin typeface="Nunito Bold"/>
                <a:ea typeface="Nunito Bold"/>
                <a:cs typeface="Nunito Bold"/>
                <a:sym typeface="Nunito Bold"/>
              </a:rPr>
              <a:t>hypergraph edge weights</a:t>
            </a:r>
            <a:r>
              <a:rPr lang="en-US" sz="1800" b="true">
                <a:solidFill>
                  <a:srgbClr val="FFFFFF"/>
                </a:solidFill>
                <a:latin typeface="Nunito Semi-Bold"/>
                <a:ea typeface="Nunito Semi-Bold"/>
                <a:cs typeface="Nunito Semi-Bold"/>
                <a:sym typeface="Nunito Semi-Bold"/>
              </a:rPr>
              <a:t>.</a:t>
            </a:r>
          </a:p>
          <a:p>
            <a:pPr algn="l" marL="274320" indent="-274320">
              <a:lnSpc>
                <a:spcPts val="2520"/>
              </a:lnSpc>
              <a:spcBef>
                <a:spcPts val="70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Cost per epoch: </a:t>
            </a:r>
            <a:r>
              <a:rPr lang="en-US" sz="1800" b="true">
                <a:solidFill>
                  <a:srgbClr val="FFFFFF"/>
                </a:solidFill>
                <a:latin typeface="Nunito Bold"/>
                <a:ea typeface="Nunito Bold"/>
                <a:cs typeface="Nunito Bold"/>
                <a:sym typeface="Nunito Bold"/>
              </a:rPr>
              <a:t>O((L+1)·m·d) + O((M/f)·m)</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Shapley-Weighted Hypergraph Message Passing</a:t>
            </a:r>
          </a:p>
        </p:txBody>
      </p:sp>
      <p:pic>
        <p:nvPicPr>
          <p:cNvPr id="23" name="Picture 22" descr="image.png"/>
          <p:cNvPicPr>
            <a:picLocks noChangeAspect="1"/>
          </p:cNvPicPr>
          <p:nvPr/>
        </p:nvPicPr>
        <p:blipFill>
          <a:blip r:embed="rId3"/>
          <a:stretch>
            <a:fillRect/>
          </a:stretch>
        </p:blipFill>
        <p:spPr>
          <a:xfrm>
            <a:off x="13838915"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363722"/>
            <a:ext cx="16230600" cy="3291840"/>
          </a:xfrm>
          <a:prstGeom prst="roundRect">
            <a:avLst>
              <a:gd name="adj" fmla="val 6944"/>
            </a:avLst>
          </a:prstGeom>
          <a:solidFill>
            <a:srgbClr val="FFFFFF"/>
          </a:solidFill>
          <a:ln w="15875">
            <a:solidFill>
              <a:srgbClr val="E3D6C4"/>
            </a:solidFill>
          </a:ln>
        </p:spPr>
        <p:txBody>
          <a:bodyPr anchor="ctr" rtlCol="false" lIns="0" tIns="0" rIns="0" bIns="0" wrap="square"/>
          <a:lstStyle/>
          <a:p>
            <a:endParaRPr lang="en-US" sz="1800"/>
          </a:p>
        </p:txBody>
      </p:sp>
      <p:pic>
        <p:nvPicPr>
          <p:cNvPr id="29" name="Picture 28" descr="dyhucog_arch.png"/>
          <p:cNvPicPr>
            <a:picLocks noChangeAspect="1"/>
          </p:cNvPicPr>
          <p:nvPr/>
        </p:nvPicPr>
        <p:blipFill>
          <a:blip r:embed="rId5"/>
          <a:stretch>
            <a:fillRect/>
          </a:stretch>
        </p:blipFill>
        <p:spPr>
          <a:xfrm>
            <a:off x="2886858" y="3500882"/>
            <a:ext cx="12514283" cy="3017520"/>
          </a:xfrm>
          <a:prstGeom prst="rect">
            <a:avLst/>
          </a:prstGeom>
        </p:spPr>
      </p:pic>
      <p:sp>
        <p:nvSpPr>
          <p:cNvPr id="30" name="TextBox 29"/>
          <p:cNvSpPr txBox="1"/>
          <p:nvPr/>
        </p:nvSpPr>
        <p:spPr>
          <a:xfrm>
            <a:off x="1211580" y="6271514"/>
            <a:ext cx="15864840" cy="411480"/>
          </a:xfrm>
          <a:prstGeom prst="rect">
            <a:avLst/>
          </a:prstGeom>
          <a:noFill/>
        </p:spPr>
        <p:txBody>
          <a:bodyPr anchor="t" rtlCol="false" lIns="0" tIns="0" rIns="0" bIns="0" wrap="square"/>
          <a:lstStyle/>
          <a:p>
            <a:pPr algn="r">
              <a:lnSpc>
                <a:spcPts val="1800"/>
              </a:lnSpc>
              <a:spcBef>
                <a:spcPts val="0"/>
              </a:spcBef>
              <a:buNone/>
            </a:pPr>
            <a:r>
              <a:rPr lang="en-US" sz="1400" b="true">
                <a:solidFill>
                  <a:srgbClr val="8A8378"/>
                </a:solidFill>
                <a:latin typeface="Nunito Semi-Bold"/>
                <a:ea typeface="Nunito Semi-Bold"/>
                <a:cs typeface="Nunito Semi-Bold"/>
                <a:sym typeface="Nunito Semi-Bold"/>
              </a:rPr>
              <a:t>Fig. 7.1 (thesis): workflow of the DyHuCoG architecture</a:t>
            </a:r>
          </a:p>
        </p:txBody>
      </p:sp>
      <p:sp>
        <p:nvSpPr>
          <p:cNvPr id="31" name="Rounded Rectangle 30"/>
          <p:cNvSpPr/>
          <p:nvPr/>
        </p:nvSpPr>
        <p:spPr>
          <a:xfrm>
            <a:off x="1028700" y="6884162"/>
            <a:ext cx="16230600" cy="777663"/>
          </a:xfrm>
          <a:prstGeom prst="roundRect">
            <a:avLst>
              <a:gd name="adj" fmla="val 18813"/>
            </a:avLst>
          </a:prstGeom>
          <a:solidFill>
            <a:srgbClr val="E7EAF3"/>
          </a:solidFill>
          <a:ln>
            <a:noFill/>
          </a:ln>
        </p:spPr>
        <p:txBody>
          <a:bodyPr anchor="ctr" rtlCol="false" lIns="0" tIns="0" rIns="0" bIns="0" wrap="square"/>
          <a:lstStyle/>
          <a:p>
            <a:endParaRPr lang="en-US" sz="1800"/>
          </a:p>
        </p:txBody>
      </p:sp>
      <p:sp>
        <p:nvSpPr>
          <p:cNvPr id="32" name="TextBox 31"/>
          <p:cNvSpPr txBox="1"/>
          <p:nvPr/>
        </p:nvSpPr>
        <p:spPr>
          <a:xfrm>
            <a:off x="1348740" y="6884162"/>
            <a:ext cx="3291840" cy="777663"/>
          </a:xfrm>
          <a:prstGeom prst="rect">
            <a:avLst/>
          </a:prstGeom>
          <a:noFill/>
        </p:spPr>
        <p:txBody>
          <a:bodyPr anchor="ctr" rtlCol="false" lIns="0" tIns="0" rIns="0" bIns="0" wrap="square"/>
          <a:lstStyle/>
          <a:p>
            <a:pPr algn="l">
              <a:lnSpc>
                <a:spcPts val="2300"/>
              </a:lnSpc>
              <a:spcBef>
                <a:spcPts val="0"/>
              </a:spcBef>
              <a:buNone/>
            </a:pPr>
            <a:r>
              <a:rPr lang="en-US" sz="1900" b="true">
                <a:solidFill>
                  <a:srgbClr val="4472C4"/>
                </a:solidFill>
                <a:latin typeface="Nunito Ultra-Bold"/>
                <a:ea typeface="Nunito Ultra-Bold"/>
                <a:cs typeface="Nunito Ultra-Bold"/>
                <a:sym typeface="Nunito Ultra-Bold"/>
              </a:rPr>
              <a:t>Shapley-weighted</a:t>
            </a:r>
          </a:p>
        </p:txBody>
      </p:sp>
      <mc:AlternateContent xmlns:mc="http://schemas.openxmlformats.org/markup-compatibility/2006">
        <mc:Choice xmlns:a14="http://schemas.microsoft.com/office/drawing/2010/main" Requires="a14">
          <p:sp>
            <p:nvSpPr>
              <p:cNvPr id="33" name="Equation"/>
              <p:cNvSpPr txBox="1"/>
              <p:nvPr/>
            </p:nvSpPr>
            <p:spPr>
              <a:xfrm>
                <a:off x="4686300" y="6884162"/>
                <a:ext cx="9372600" cy="777663"/>
              </a:xfrm>
              <a:prstGeom prst="rect">
                <a:avLst/>
              </a:prstGeom>
              <a:noFill/>
            </p:spPr>
            <p:txBody>
              <a:bodyPr wrap="none" rtlCol="0" anchor="ctr" lIns="0" tIns="0" rIns="0" bIns="0"/>
              <a:lstStyle/>
              <a:p>
                <a:pPr algn="l"/>
                <a14:m xmlns:m="http://schemas.openxmlformats.org/officeDocument/2006/math">
                  <m:oMathPara>
                    <m:oMathParaPr>
                      <m:jc m:val="left"/>
                    </m:oMathParaPr>
                    <m:oMath>
                      <m:sSubSup>
                        <m:sSubSupPr>
                          <m:ctrlPr>
                            <a:rPr lang="en-US" sz="2200" i="1">
                              <a:solidFill>
                                <a:srgbClr val="111111"/>
                              </a:solidFill>
                              <a:latin typeface="Cambria Math" panose="02040503050406030204" pitchFamily="18" charset="0"/>
                            </a:rPr>
                          </m:ctrlPr>
                        </m:sSubSup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j</m:t>
                          </m:r>
                        </m:sub>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+1)</m:t>
                          </m:r>
                        </m:sup>
                      </m:sSub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σ</m:t>
                      </m:r>
                      <m:d>
                        <m:dPr>
                          <m:ctrlPr>
                            <a:rPr lang="en-US" sz="2200" i="1">
                              <a:solidFill>
                                <a:srgbClr val="111111"/>
                              </a:solidFill>
                              <a:latin typeface="Cambria Math" panose="02040503050406030204" pitchFamily="18" charset="0"/>
                            </a:rPr>
                          </m:ctrlPr>
                        </m:dPr>
                        <m:e>
                          <m:sSup>
                            <m:sSupPr>
                              <m:ctrlPr>
                                <a:rPr lang="en-US" sz="2200" i="1">
                                  <a:solidFill>
                                    <a:srgbClr val="111111"/>
                                  </a:solidFill>
                                  <a:latin typeface="Cambria Math" panose="02040503050406030204" pitchFamily="18" charset="0"/>
                                </a:rPr>
                              </m:ctrlPr>
                            </m:sSupPr>
                            <m:e>
                              <m:r>
                                <a:rPr lang="en-US" sz="2200" i="1">
                                  <a:solidFill>
                                    <a:srgbClr val="111111"/>
                                  </a:solidFill>
                                  <a:latin typeface="Cambria Math" panose="02040503050406030204" pitchFamily="18" charset="0"/>
                                </a:rPr>
                                <m:t xml:space="preserve">W</m:t>
                              </m:r>
                            </m:e>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m:t>
                              </m:r>
                            </m:sup>
                          </m:sSup>
                          <m:sSubSup>
                            <m:sSubSupPr>
                              <m:ctrlPr>
                                <a:rPr lang="en-US" sz="2200" i="1">
                                  <a:solidFill>
                                    <a:srgbClr val="111111"/>
                                  </a:solidFill>
                                  <a:latin typeface="Cambria Math" panose="02040503050406030204" pitchFamily="18" charset="0"/>
                                </a:rPr>
                              </m:ctrlPr>
                            </m:sSubSup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j</m:t>
                              </m:r>
                            </m:sub>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m:t>
                              </m:r>
                            </m:sup>
                          </m:sSubSup>
                          <m:r>
                            <m:rPr>
                              <m:sty m:val="p"/>
                            </m:rPr>
                            <a:rPr lang="en-US" sz="2200">
                              <a:solidFill>
                                <a:srgbClr val="111111"/>
                              </a:solidFill>
                              <a:latin typeface="Cambria Math" panose="02040503050406030204" pitchFamily="18" charset="0"/>
                            </a:rPr>
                            <m:t xml:space="preserve">+</m:t>
                          </m:r>
                          <m:nary>
                            <m:naryPr>
                              <m:chr m:val="∑"/>
                              <m:limLoc m:val="subSup"/>
                              <m:supHide m:val="1"/>
                              <m:ctrlPr>
                                <a:rPr lang="en-US" sz="2200" i="1">
                                  <a:solidFill>
                                    <a:srgbClr val="111111"/>
                                  </a:solidFill>
                                  <a:latin typeface="Cambria Math" panose="02040503050406030204" pitchFamily="18" charset="0"/>
                                </a:rPr>
                              </m:ctrlPr>
                            </m:naryPr>
                            <m:sub>
                              <m:r>
                                <a:rPr lang="en-US" sz="2200" i="1">
                                  <a:solidFill>
                                    <a:srgbClr val="111111"/>
                                  </a:solidFill>
                                  <a:latin typeface="Cambria Math" panose="02040503050406030204" pitchFamily="18" charset="0"/>
                                </a:rPr>
                                <m:t xml:space="preserve">k</m:t>
                              </m:r>
                              <m:r>
                                <m:rPr>
                                  <m:sty m:val="p"/>
                                </m:rPr>
                                <a:rPr lang="en-US" sz="2200">
                                  <a:solidFill>
                                    <a:srgbClr val="111111"/>
                                  </a:solidFill>
                                  <a:latin typeface="Cambria Math" panose="02040503050406030204" pitchFamily="18" charset="0"/>
                                </a:rPr>
                                <m:t xml:space="preserve">∈</m:t>
                              </m:r>
                              <m:r>
                                <m:rPr>
                                  <m:scr m:val="script"/>
                                  <m:sty m:val="p"/>
                                </m:rPr>
                                <a:rPr lang="en-US" sz="2200">
                                  <a:solidFill>
                                    <a:srgbClr val="111111"/>
                                  </a:solidFill>
                                  <a:latin typeface="Cambria Math" panose="02040503050406030204" pitchFamily="18" charset="0"/>
                                </a:rPr>
                                <m:t xml:space="preserve">N</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j</m:t>
                              </m:r>
                              <m:r>
                                <m:rPr>
                                  <m:sty m:val="p"/>
                                </m:rPr>
                                <a:rPr lang="en-US" sz="2200">
                                  <a:solidFill>
                                    <a:srgbClr val="111111"/>
                                  </a:solidFill>
                                  <a:latin typeface="Cambria Math" panose="02040503050406030204" pitchFamily="18" charset="0"/>
                                </a:rPr>
                                <m:t xml:space="preserve">)</m:t>
                              </m:r>
                            </m:sub>
                            <m:sup/>
                            <m:e>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w</m:t>
                                  </m:r>
                                </m:e>
                                <m:sub>
                                  <m:r>
                                    <a:rPr lang="en-US" sz="2200" i="1">
                                      <a:solidFill>
                                        <a:srgbClr val="111111"/>
                                      </a:solidFill>
                                      <a:latin typeface="Cambria Math" panose="02040503050406030204" pitchFamily="18" charset="0"/>
                                    </a:rPr>
                                    <m:t xml:space="preserve">jk</m:t>
                                  </m:r>
                                </m:sub>
                              </m:sSub>
                            </m:e>
                          </m:nary>
                          <m:r>
                            <m:rPr>
                              <m:sty m:val="p"/>
                            </m:rPr>
                            <a:rPr lang="en-US" sz="2200">
                              <a:solidFill>
                                <a:srgbClr val="111111"/>
                              </a:solidFill>
                              <a:latin typeface="Cambria Math" panose="02040503050406030204" pitchFamily="18" charset="0"/>
                            </a:rPr>
                            <m:t xml:space="preserve"> </m:t>
                          </m:r>
                          <m:sSubSup>
                            <m:sSubSupPr>
                              <m:ctrlPr>
                                <a:rPr lang="en-US" sz="2200" i="1">
                                  <a:solidFill>
                                    <a:srgbClr val="111111"/>
                                  </a:solidFill>
                                  <a:latin typeface="Cambria Math" panose="02040503050406030204" pitchFamily="18" charset="0"/>
                                </a:rPr>
                              </m:ctrlPr>
                            </m:sSubSup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k</m:t>
                              </m:r>
                            </m:sub>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m:t>
                              </m:r>
                            </m:sup>
                          </m:sSubSup>
                        </m:e>
                      </m:d>
                    </m:oMath>
                  </m:oMathPara>
                </a14:m>
                <a:endParaRPr lang="en-US" sz="2200"/>
              </a:p>
            </p:txBody>
          </p:sp>
        </mc:Choice>
        <mc:Fallback>
          <p:sp>
            <p:nvSpPr>
              <p:cNvPr id="33" name="Equation"/>
              <p:cNvSpPr txBox="1"/>
              <p:nvPr/>
            </p:nvSpPr>
            <p:spPr>
              <a:xfrm>
                <a:off x="4686300" y="6884162"/>
                <a:ext cx="9372600" cy="777663"/>
              </a:xfrm>
              <a:prstGeom prst="rect">
                <a:avLst/>
              </a:prstGeom>
              <a:blipFill>
                <a:blip r:embed="rId6"/>
                <a:stretch>
                  <a:fillRect/>
                </a:stretch>
              </a:blipFill>
            </p:spPr>
            <p:txBody>
              <a:bodyPr/>
              <a:lstStyle/>
              <a:p>
                <a:endParaRPr lang="en-US"/>
              </a:p>
            </p:txBody>
          </p:sp>
        </mc:Fallback>
      </mc:AlternateContent>
      <p:sp>
        <p:nvSpPr>
          <p:cNvPr id="34" name="TextBox 33"/>
          <p:cNvSpPr txBox="1"/>
          <p:nvPr/>
        </p:nvSpPr>
        <p:spPr>
          <a:xfrm>
            <a:off x="14241780" y="6884162"/>
            <a:ext cx="2743200" cy="777663"/>
          </a:xfrm>
          <a:prstGeom prst="rect">
            <a:avLst/>
          </a:prstGeom>
          <a:noFill/>
        </p:spPr>
        <p:txBody>
          <a:bodyPr anchor="ctr" rtlCol="false" lIns="0" tIns="0" rIns="0" bIns="0" wrap="square"/>
          <a:lstStyle/>
          <a:p>
            <a:pPr algn="r">
              <a:lnSpc>
                <a:spcPts val="1900"/>
              </a:lnSpc>
              <a:spcBef>
                <a:spcPts val="0"/>
              </a:spcBef>
              <a:buNone/>
            </a:pPr>
            <a:r>
              <a:rPr lang="en-US" sz="1600" b="true">
                <a:solidFill>
                  <a:srgbClr val="8A8378"/>
                </a:solidFill>
                <a:latin typeface="Nunito Semi-Bold"/>
                <a:ea typeface="Nunito Semi-Bold"/>
                <a:cs typeface="Nunito Semi-Bold"/>
                <a:sym typeface="Nunito Semi-Bold"/>
              </a:rPr>
              <a:t>w from normalised, clipped, EMA-smoothed MC Shapley</a:t>
            </a:r>
          </a:p>
        </p:txBody>
      </p:sp>
      <p:sp>
        <p:nvSpPr>
          <p:cNvPr id="35" name="Rounded Rectangle 34"/>
          <p:cNvSpPr/>
          <p:nvPr/>
        </p:nvSpPr>
        <p:spPr>
          <a:xfrm>
            <a:off x="1028700" y="7753265"/>
            <a:ext cx="16230600" cy="777663"/>
          </a:xfrm>
          <a:prstGeom prst="roundRect">
            <a:avLst>
              <a:gd name="adj" fmla="val 18813"/>
            </a:avLst>
          </a:prstGeom>
          <a:solidFill>
            <a:srgbClr val="FBF4EB"/>
          </a:solidFill>
          <a:ln>
            <a:noFill/>
          </a:ln>
        </p:spPr>
        <p:txBody>
          <a:bodyPr anchor="ctr" rtlCol="false" lIns="0" tIns="0" rIns="0" bIns="0" wrap="square"/>
          <a:lstStyle/>
          <a:p>
            <a:endParaRPr lang="en-US" sz="1800"/>
          </a:p>
        </p:txBody>
      </p:sp>
      <p:sp>
        <p:nvSpPr>
          <p:cNvPr id="36" name="TextBox 35"/>
          <p:cNvSpPr txBox="1"/>
          <p:nvPr/>
        </p:nvSpPr>
        <p:spPr>
          <a:xfrm>
            <a:off x="1348740" y="7753265"/>
            <a:ext cx="3291840" cy="777663"/>
          </a:xfrm>
          <a:prstGeom prst="rect">
            <a:avLst/>
          </a:prstGeom>
          <a:noFill/>
        </p:spPr>
        <p:txBody>
          <a:bodyPr anchor="ctr" rtlCol="false" lIns="0" tIns="0" rIns="0" bIns="0" wrap="square"/>
          <a:lstStyle/>
          <a:p>
            <a:pPr algn="l">
              <a:lnSpc>
                <a:spcPts val="2300"/>
              </a:lnSpc>
              <a:spcBef>
                <a:spcPts val="0"/>
              </a:spcBef>
              <a:buNone/>
            </a:pPr>
            <a:r>
              <a:rPr lang="en-US" sz="1900" b="true">
                <a:solidFill>
                  <a:srgbClr val="4472C4"/>
                </a:solidFill>
                <a:latin typeface="Nunito Ultra-Bold"/>
                <a:ea typeface="Nunito Ultra-Bold"/>
                <a:cs typeface="Nunito Ultra-Bold"/>
                <a:sym typeface="Nunito Ultra-Bold"/>
              </a:rPr>
              <a:t>Attention gate</a:t>
            </a:r>
          </a:p>
        </p:txBody>
      </p:sp>
      <mc:AlternateContent xmlns:mc="http://schemas.openxmlformats.org/markup-compatibility/2006">
        <mc:Choice xmlns:a14="http://schemas.microsoft.com/office/drawing/2010/main" Requires="a14">
          <p:sp>
            <p:nvSpPr>
              <p:cNvPr id="37" name="Equation"/>
              <p:cNvSpPr txBox="1"/>
              <p:nvPr/>
            </p:nvSpPr>
            <p:spPr>
              <a:xfrm>
                <a:off x="4686300" y="7753265"/>
                <a:ext cx="12298680" cy="777663"/>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a</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m:t>
                      </m:r>
                      <m:r>
                        <a:rPr lang="en-US" sz="2400" i="1">
                          <a:solidFill>
                            <a:srgbClr val="111111"/>
                          </a:solidFill>
                          <a:latin typeface="Cambria Math" panose="02040503050406030204" pitchFamily="18" charset="0"/>
                        </a:rPr>
                        <m:t xml:space="preserve">σ</m:t>
                      </m:r>
                      <m:d>
                        <m:dPr>
                          <m:ctrlPr>
                            <a:rPr lang="en-US" sz="2400" i="1">
                              <a:solidFill>
                                <a:srgbClr val="111111"/>
                              </a:solidFill>
                              <a:latin typeface="Cambria Math" panose="02040503050406030204" pitchFamily="18" charset="0"/>
                            </a:rPr>
                          </m:ctrlPr>
                        </m:dPr>
                        <m:e>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W</m:t>
                              </m:r>
                            </m:e>
                            <m:sub>
                              <m:r>
                                <a:rPr lang="en-US" sz="2400" i="1">
                                  <a:solidFill>
                                    <a:srgbClr val="111111"/>
                                  </a:solidFill>
                                  <a:latin typeface="Cambria Math" panose="02040503050406030204" pitchFamily="18" charset="0"/>
                                </a:rPr>
                                <m:t xml:space="preserve">a</m:t>
                              </m:r>
                            </m:sub>
                          </m:sSub>
                          <m:r>
                            <m:rPr>
                              <m:sty m:val="p"/>
                            </m:rPr>
                            <a:rPr lang="en-US" sz="2400">
                              <a:solidFill>
                                <a:srgbClr val="111111"/>
                              </a:solidFill>
                              <a:latin typeface="Cambria Math" panose="02040503050406030204" pitchFamily="18" charset="0"/>
                            </a:rPr>
                            <m:t xml:space="preserve"> [ </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r>
                                <a:rPr lang="en-US" sz="2400" i="1">
                                  <a:solidFill>
                                    <a:srgbClr val="111111"/>
                                  </a:solidFill>
                                  <a:latin typeface="Cambria Math" panose="02040503050406030204" pitchFamily="18" charset="0"/>
                                </a:rPr>
                                <m:t xml:space="preserve">u</m:t>
                              </m:r>
                            </m:sub>
                          </m:sSub>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r>
                                <a:rPr lang="en-US" sz="2400" i="1">
                                  <a:solidFill>
                                    <a:srgbClr val="111111"/>
                                  </a:solidFill>
                                  <a:latin typeface="Cambria Math" panose="02040503050406030204" pitchFamily="18" charset="0"/>
                                </a:rPr>
                                <m:t xml:space="preserve">i</m:t>
                              </m:r>
                            </m:sub>
                          </m:sSub>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l</m:t>
                              </m:r>
                            </m:e>
                            <m:sub>
                              <m:r>
                                <a:rPr lang="en-US" sz="2400" i="1">
                                  <a:solidFill>
                                    <a:srgbClr val="111111"/>
                                  </a:solidFill>
                                  <a:latin typeface="Cambria Math" panose="02040503050406030204" pitchFamily="18" charset="0"/>
                                </a:rPr>
                                <m:t xml:space="preserve">i</m:t>
                              </m:r>
                            </m:sub>
                          </m:sSub>
                          <m:r>
                            <m:rPr>
                              <m:sty m:val="p"/>
                            </m:rPr>
                            <a:rPr lang="en-US" sz="2400">
                              <a:solidFill>
                                <a:srgbClr val="111111"/>
                              </a:solidFill>
                              <a:latin typeface="Cambria Math" panose="02040503050406030204" pitchFamily="18" charset="0"/>
                            </a:rPr>
                            <m:t xml:space="preserve"> ]</m:t>
                          </m:r>
                        </m:e>
                      </m:d>
                      <m:r>
                        <m:rPr>
                          <m:sty m:val="p"/>
                        </m:rPr>
                        <a:rPr lang="en-US" sz="2400">
                          <a:solidFill>
                            <a:srgbClr val="111111"/>
                          </a:solidFill>
                          <a:latin typeface="Cambria Math" panose="02040503050406030204" pitchFamily="18" charset="0"/>
                        </a:rPr>
                        <m:t xml:space="preserve">,  </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y</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=(1+</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a</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 ⟨</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r>
                            <a:rPr lang="en-US" sz="2400" i="1">
                              <a:solidFill>
                                <a:srgbClr val="111111"/>
                              </a:solidFill>
                              <a:latin typeface="Cambria Math" panose="02040503050406030204" pitchFamily="18" charset="0"/>
                            </a:rPr>
                            <m:t xml:space="preserve">u</m:t>
                          </m:r>
                        </m:sub>
                      </m:sSub>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r>
                            <a:rPr lang="en-US" sz="2400" i="1">
                              <a:solidFill>
                                <a:srgbClr val="111111"/>
                              </a:solidFill>
                              <a:latin typeface="Cambria Math" panose="02040503050406030204" pitchFamily="18" charset="0"/>
                            </a:rPr>
                            <m:t xml:space="preserve">i</m:t>
                          </m:r>
                        </m:sub>
                      </m:sSub>
                      <m:r>
                        <m:rPr>
                          <m:sty m:val="p"/>
                        </m:rPr>
                        <a:rPr lang="en-US" sz="2400">
                          <a:solidFill>
                            <a:srgbClr val="111111"/>
                          </a:solidFill>
                          <a:latin typeface="Cambria Math" panose="02040503050406030204" pitchFamily="18" charset="0"/>
                        </a:rPr>
                        <m:t xml:space="preserve">⟩</m:t>
                      </m:r>
                    </m:oMath>
                  </m:oMathPara>
                </a14:m>
                <a:endParaRPr lang="en-US" sz="2400"/>
              </a:p>
            </p:txBody>
          </p:sp>
        </mc:Choice>
        <mc:Fallback>
          <p:sp>
            <p:nvSpPr>
              <p:cNvPr id="37" name="Equation"/>
              <p:cNvSpPr txBox="1"/>
              <p:nvPr/>
            </p:nvSpPr>
            <p:spPr>
              <a:xfrm>
                <a:off x="4686300" y="7753265"/>
                <a:ext cx="12298680" cy="777663"/>
              </a:xfrm>
              <a:prstGeom prst="rect">
                <a:avLst/>
              </a:prstGeom>
              <a:blipFill>
                <a:blip r:embed="rId7"/>
                <a:stretch>
                  <a:fillRect/>
                </a:stretch>
              </a:blipFill>
            </p:spPr>
            <p:txBody>
              <a:bodyPr/>
              <a:lstStyle/>
              <a:p>
                <a:endParaRPr lang="en-US"/>
              </a:p>
            </p:txBody>
          </p:sp>
        </mc:Fallback>
      </mc:AlternateContent>
      <p:sp>
        <p:nvSpPr>
          <p:cNvPr id="38" name="Rounded Rectangle 37"/>
          <p:cNvSpPr/>
          <p:nvPr/>
        </p:nvSpPr>
        <p:spPr>
          <a:xfrm>
            <a:off x="1028700" y="8622368"/>
            <a:ext cx="16230600" cy="777663"/>
          </a:xfrm>
          <a:prstGeom prst="roundRect">
            <a:avLst>
              <a:gd name="adj" fmla="val 18813"/>
            </a:avLst>
          </a:prstGeom>
          <a:solidFill>
            <a:srgbClr val="E7EAF3"/>
          </a:solidFill>
          <a:ln>
            <a:noFill/>
          </a:ln>
        </p:spPr>
        <p:txBody>
          <a:bodyPr anchor="ctr" rtlCol="false" lIns="0" tIns="0" rIns="0" bIns="0" wrap="square"/>
          <a:lstStyle/>
          <a:p>
            <a:endParaRPr lang="en-US" sz="1800"/>
          </a:p>
        </p:txBody>
      </p:sp>
      <p:sp>
        <p:nvSpPr>
          <p:cNvPr id="39" name="TextBox 38"/>
          <p:cNvSpPr txBox="1"/>
          <p:nvPr/>
        </p:nvSpPr>
        <p:spPr>
          <a:xfrm>
            <a:off x="1348740" y="8622368"/>
            <a:ext cx="3291840" cy="777663"/>
          </a:xfrm>
          <a:prstGeom prst="rect">
            <a:avLst/>
          </a:prstGeom>
          <a:noFill/>
        </p:spPr>
        <p:txBody>
          <a:bodyPr anchor="ctr" rtlCol="false" lIns="0" tIns="0" rIns="0" bIns="0" wrap="square"/>
          <a:lstStyle/>
          <a:p>
            <a:pPr algn="l">
              <a:lnSpc>
                <a:spcPts val="2300"/>
              </a:lnSpc>
              <a:spcBef>
                <a:spcPts val="0"/>
              </a:spcBef>
              <a:buNone/>
            </a:pPr>
            <a:r>
              <a:rPr lang="en-US" sz="1900" b="true">
                <a:solidFill>
                  <a:srgbClr val="4472C4"/>
                </a:solidFill>
                <a:latin typeface="Nunito Ultra-Bold"/>
                <a:ea typeface="Nunito Ultra-Bold"/>
                <a:cs typeface="Nunito Ultra-Bold"/>
                <a:sym typeface="Nunito Ultra-Bold"/>
              </a:rPr>
              <a:t>Context-aware score</a:t>
            </a:r>
          </a:p>
        </p:txBody>
      </p:sp>
      <mc:AlternateContent xmlns:mc="http://schemas.openxmlformats.org/markup-compatibility/2006">
        <mc:Choice xmlns:a14="http://schemas.microsoft.com/office/drawing/2010/main" Requires="a14">
          <p:sp>
            <p:nvSpPr>
              <p:cNvPr id="40" name="Equation"/>
              <p:cNvSpPr txBox="1"/>
              <p:nvPr/>
            </p:nvSpPr>
            <p:spPr>
              <a:xfrm>
                <a:off x="4686300" y="8622368"/>
                <a:ext cx="9372600" cy="777663"/>
              </a:xfrm>
              <a:prstGeom prst="rect">
                <a:avLst/>
              </a:prstGeom>
              <a:noFill/>
            </p:spPr>
            <p:txBody>
              <a:bodyPr wrap="none" rtlCol="0" anchor="ctr" lIns="0" tIns="0" rIns="0" bIns="0"/>
              <a:lstStyle/>
              <a:p>
                <a:pPr algn="l"/>
                <a14:m xmlns:m="http://schemas.openxmlformats.org/officeDocument/2006/math">
                  <m:oMathPara>
                    <m:oMathParaPr>
                      <m:jc m:val="left"/>
                    </m:oMathParaPr>
                    <m:oMath>
                      <m:r>
                        <a:rPr lang="en-US" sz="2400" i="1">
                          <a:solidFill>
                            <a:srgbClr val="111111"/>
                          </a:solidFill>
                          <a:latin typeface="Cambria Math" panose="02040503050406030204" pitchFamily="18" charset="0"/>
                        </a:rPr>
                        <m:t xml:space="preserve">f</m:t>
                      </m:r>
                      <m:r>
                        <m:rPr>
                          <m:sty m:val="p"/>
                        </m:rPr>
                        <a:rPr lang="en-US" sz="2400">
                          <a:solidFill>
                            <a:srgbClr val="111111"/>
                          </a:solidFill>
                          <a:latin typeface="Cambria Math" panose="02040503050406030204" pitchFamily="18" charset="0"/>
                        </a:rPr>
                        <m:t xml:space="preserve">(</m:t>
                      </m:r>
                      <m:r>
                        <a:rPr lang="en-US" sz="2400" i="1">
                          <a:solidFill>
                            <a:srgbClr val="111111"/>
                          </a:solidFill>
                          <a:latin typeface="Cambria Math" panose="02040503050406030204" pitchFamily="18" charset="0"/>
                        </a:rPr>
                        <m:t xml:space="preserve">u</m:t>
                      </m:r>
                      <m:r>
                        <m:rPr>
                          <m:sty m:val="p"/>
                        </m:rPr>
                        <a:rPr lang="en-US" sz="2400">
                          <a:solidFill>
                            <a:srgbClr val="111111"/>
                          </a:solidFill>
                          <a:latin typeface="Cambria Math" panose="02040503050406030204" pitchFamily="18" charset="0"/>
                        </a:rPr>
                        <m:t xml:space="preserve">,</m:t>
                      </m:r>
                      <m:r>
                        <a:rPr lang="en-US" sz="2400" i="1">
                          <a:solidFill>
                            <a:srgbClr val="111111"/>
                          </a:solidFill>
                          <a:latin typeface="Cambria Math" panose="02040503050406030204" pitchFamily="18" charset="0"/>
                        </a:rPr>
                        <m:t xml:space="preserve">i</m:t>
                      </m:r>
                      <m:r>
                        <m:rPr>
                          <m:sty m:val="p"/>
                        </m:rPr>
                        <a:rPr lang="en-US" sz="2400">
                          <a:solidFill>
                            <a:srgbClr val="111111"/>
                          </a:solidFill>
                          <a:latin typeface="Cambria Math" panose="02040503050406030204" pitchFamily="18" charset="0"/>
                        </a:rPr>
                        <m:t xml:space="preserve">,</m:t>
                      </m:r>
                      <m:r>
                        <a:rPr lang="en-US" sz="2400" i="1">
                          <a:solidFill>
                            <a:srgbClr val="111111"/>
                          </a:solidFill>
                          <a:latin typeface="Cambria Math" panose="02040503050406030204" pitchFamily="18" charset="0"/>
                        </a:rPr>
                        <m:t xml:space="preserve">c</m:t>
                      </m:r>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y</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λ</m:t>
                          </m:r>
                        </m:e>
                        <m:sub>
                          <m:r>
                            <a:rPr lang="en-US" sz="2400" i="1">
                              <a:solidFill>
                                <a:srgbClr val="111111"/>
                              </a:solidFill>
                              <a:latin typeface="Cambria Math" panose="02040503050406030204" pitchFamily="18" charset="0"/>
                            </a:rPr>
                            <m:t xml:space="preserve">c</m:t>
                          </m:r>
                        </m:sub>
                      </m:sSub>
                      <m:r>
                        <m:rPr>
                          <m:sty m:val="p"/>
                        </m:rPr>
                        <a:rPr lang="en-US" sz="2400">
                          <a:solidFill>
                            <a:srgbClr val="111111"/>
                          </a:solidFill>
                          <a:latin typeface="Cambria Math" panose="02040503050406030204" pitchFamily="18" charset="0"/>
                        </a:rPr>
                        <m:t xml:space="preserve"> ⟨ </m:t>
                      </m:r>
                      <m:r>
                        <a:rPr lang="en-US" sz="2400" i="1">
                          <a:solidFill>
                            <a:srgbClr val="111111"/>
                          </a:solidFill>
                          <a:latin typeface="Cambria Math" panose="02040503050406030204" pitchFamily="18" charset="0"/>
                        </a:rPr>
                        <m:t xml:space="preserve">g</m:t>
                      </m:r>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c</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 </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c</m:t>
                              </m:r>
                            </m:e>
                            <m:sub>
                              <m:r>
                                <a:rPr lang="en-US" sz="2400" i="1">
                                  <a:solidFill>
                                    <a:srgbClr val="111111"/>
                                  </a:solidFill>
                                  <a:latin typeface="Cambria Math" panose="02040503050406030204" pitchFamily="18" charset="0"/>
                                </a:rPr>
                                <m:t xml:space="preserve">ui</m:t>
                              </m:r>
                            </m:sub>
                          </m:sSub>
                        </m:sub>
                      </m:sSub>
                      <m:r>
                        <m:rPr>
                          <m:sty m:val="p"/>
                        </m:rPr>
                        <a:rPr lang="en-US" sz="2400">
                          <a:solidFill>
                            <a:srgbClr val="111111"/>
                          </a:solidFill>
                          <a:latin typeface="Cambria Math" panose="02040503050406030204" pitchFamily="18" charset="0"/>
                        </a:rPr>
                        <m:t xml:space="preserve">⟩</m:t>
                      </m:r>
                    </m:oMath>
                  </m:oMathPara>
                </a14:m>
                <a:endParaRPr lang="en-US" sz="2400"/>
              </a:p>
            </p:txBody>
          </p:sp>
        </mc:Choice>
        <mc:Fallback>
          <p:sp>
            <p:nvSpPr>
              <p:cNvPr id="40" name="Equation"/>
              <p:cNvSpPr txBox="1"/>
              <p:nvPr/>
            </p:nvSpPr>
            <p:spPr>
              <a:xfrm>
                <a:off x="4686300" y="8622368"/>
                <a:ext cx="9372600" cy="777663"/>
              </a:xfrm>
              <a:prstGeom prst="rect">
                <a:avLst/>
              </a:prstGeom>
              <a:blipFill>
                <a:blip r:embed="rId8"/>
                <a:stretch>
                  <a:fillRect/>
                </a:stretch>
              </a:blipFill>
            </p:spPr>
            <p:txBody>
              <a:bodyPr/>
              <a:lstStyle/>
              <a:p>
                <a:endParaRPr lang="en-US"/>
              </a:p>
            </p:txBody>
          </p:sp>
        </mc:Fallback>
      </mc:AlternateContent>
      <p:sp>
        <p:nvSpPr>
          <p:cNvPr id="41" name="TextBox 40"/>
          <p:cNvSpPr txBox="1"/>
          <p:nvPr/>
        </p:nvSpPr>
        <p:spPr>
          <a:xfrm>
            <a:off x="14241780" y="8622368"/>
            <a:ext cx="2743200" cy="777663"/>
          </a:xfrm>
          <a:prstGeom prst="rect">
            <a:avLst/>
          </a:prstGeom>
          <a:noFill/>
        </p:spPr>
        <p:txBody>
          <a:bodyPr anchor="ctr" rtlCol="false" lIns="0" tIns="0" rIns="0" bIns="0" wrap="square"/>
          <a:lstStyle/>
          <a:p>
            <a:pPr algn="r">
              <a:lnSpc>
                <a:spcPts val="1900"/>
              </a:lnSpc>
              <a:spcBef>
                <a:spcPts val="0"/>
              </a:spcBef>
              <a:buNone/>
            </a:pPr>
            <a:r>
              <a:rPr lang="en-US" sz="1600" b="true">
                <a:solidFill>
                  <a:srgbClr val="8A8378"/>
                </a:solidFill>
                <a:latin typeface="Nunito Semi-Bold"/>
                <a:ea typeface="Nunito Semi-Bold"/>
                <a:cs typeface="Nunito Semi-Bold"/>
                <a:sym typeface="Nunito Semi-Bold"/>
              </a:rPr>
              <a:t>loss = BPR + diversity + context + L2</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56</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pic>
        <p:nvPicPr>
          <p:cNvPr id="25" name="Picture 24" descr="image.png"/>
          <p:cNvPicPr>
            <a:picLocks noChangeAspect="1"/>
          </p:cNvPicPr>
          <p:nvPr/>
        </p:nvPicPr>
        <p:blipFill>
          <a:blip r:embed="rId3"/>
          <a:stretch>
            <a:fillRect/>
          </a:stretch>
        </p:blipFill>
        <p:spPr>
          <a:xfrm>
            <a:off x="6376338" y="1673352"/>
            <a:ext cx="457200" cy="250983"/>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graphicFrame>
        <p:nvGraphicFramePr>
          <p:cNvPr id="30" name="Table 29"/>
          <p:cNvGraphicFramePr>
            <a:graphicFrameLocks noGrp="1"/>
          </p:cNvGraphicFramePr>
          <p:nvPr/>
        </p:nvGraphicFramePr>
        <p:xfrm>
          <a:off x="1028700" y="3363722"/>
          <a:ext cx="9966960" cy="5073396"/>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MovieLens-1M (dense, 0.0447) and Amazon-Book (sparse, 0.0006); Yelp2018 as a check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Split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User-level, time-ordered 70 / 10 / 20; leave-one-out target per user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Baselines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MF, NCF, LightGCN, RecDCL, HCCF, HPCF (strongest reference)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Metrics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NDCG@20 (main), Recall@20, Catalogue Coverage, Intra-List Diversity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Repeats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Five seeds {42 … 46}; mean ± standard deviation reported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Statistics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Paired t-test and Wilcoxon on per-user NDCG@20; Holm–Bonferroni; Cohen's d</a:t>
                      </a:r>
                      <a:r>
                        <a:rPr lang="en-US" sz="1700" b="true" baseline="-25000">
                          <a:solidFill>
                            <a:srgbClr val="111111"/>
                          </a:solidFill>
                          <a:latin typeface="Nunito Semi-Bold"/>
                          <a:ea typeface="Nunito Semi-Bold"/>
                          <a:cs typeface="Nunito Semi-Bold"/>
                          <a:sym typeface="Nunito Semi-Bold"/>
                        </a:rPr>
                        <a:t>z</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Ablation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Remove one component at a time: Shapley, hypergraph, attention, context, diversity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1" name="Rounded Rectangle 30"/>
          <p:cNvSpPr/>
          <p:nvPr/>
        </p:nvSpPr>
        <p:spPr>
          <a:xfrm>
            <a:off x="11452860" y="3453129"/>
            <a:ext cx="5806440" cy="5670550"/>
          </a:xfrm>
          <a:prstGeom prst="roundRect">
            <a:avLst>
              <a:gd name="adj" fmla="val 5482"/>
            </a:avLst>
          </a:prstGeom>
          <a:solidFill>
            <a:srgbClr val="4472C4"/>
          </a:solidFill>
          <a:ln>
            <a:noFill/>
          </a:ln>
        </p:spPr>
        <p:txBody>
          <a:bodyPr anchor="ctr" rtlCol="false" lIns="0" tIns="0" rIns="0" bIns="0" wrap="square"/>
          <a:lstStyle/>
          <a:p>
            <a:endParaRPr lang="en-US" sz="1800"/>
          </a:p>
        </p:txBody>
      </p:sp>
      <p:sp>
        <p:nvSpPr>
          <p:cNvPr id="32" name="Rounded Rectangle 31"/>
          <p:cNvSpPr/>
          <p:nvPr/>
        </p:nvSpPr>
        <p:spPr>
          <a:xfrm>
            <a:off x="11910060" y="3215385"/>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What counts as success</a:t>
            </a:r>
          </a:p>
        </p:txBody>
      </p:sp>
      <p:sp>
        <p:nvSpPr>
          <p:cNvPr id="33" name="TextBox 32"/>
          <p:cNvSpPr txBox="1"/>
          <p:nvPr/>
        </p:nvSpPr>
        <p:spPr>
          <a:xfrm>
            <a:off x="11910060" y="4093209"/>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Beat HPCF on both datasets</a:t>
            </a:r>
            <a:r>
              <a:rPr lang="en-US" sz="1900" b="true">
                <a:solidFill>
                  <a:srgbClr val="FFFFFF"/>
                </a:solidFill>
                <a:latin typeface="Nunito Semi-Bold"/>
                <a:ea typeface="Nunito Semi-Bold"/>
                <a:cs typeface="Nunito Semi-Bold"/>
                <a:sym typeface="Nunito Semi-Bold"/>
              </a:rPr>
              <a:t> in NDCG@20 and Recall@20; significance tabulated on MovieLens-1M (Table 7.6).</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Coverage and ILD go up at the same time</a:t>
            </a:r>
            <a:r>
              <a:rPr lang="en-US" sz="1900" b="true">
                <a:solidFill>
                  <a:srgbClr val="FFFFFF"/>
                </a:solidFill>
                <a:latin typeface="Nunito Semi-Bold"/>
                <a:ea typeface="Nunito Semi-Bold"/>
                <a:cs typeface="Nunito Semi-Bold"/>
                <a:sym typeface="Nunito Semi-Bold"/>
              </a:rPr>
              <a:t>: no accuracy-for-diversity trade.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Every component matters</a:t>
            </a:r>
            <a:r>
              <a:rPr lang="en-US" sz="1900" b="true">
                <a:solidFill>
                  <a:srgbClr val="FFFFFF"/>
                </a:solidFill>
                <a:latin typeface="Nunito Semi-Bold"/>
                <a:ea typeface="Nunito Semi-Bold"/>
                <a:cs typeface="Nunito Semi-Bold"/>
                <a:sym typeface="Nunito Semi-Bold"/>
              </a:rPr>
              <a:t>: removing any one of them lowers NDCG@20.</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Overhead stays bounded</a:t>
            </a:r>
            <a:r>
              <a:rPr lang="en-US" sz="1900" b="true">
                <a:solidFill>
                  <a:srgbClr val="FFFFFF"/>
                </a:solidFill>
                <a:latin typeface="Nunito Semi-Bold"/>
                <a:ea typeface="Nunito Semi-Bold"/>
                <a:cs typeface="Nunito Semi-Bold"/>
                <a:sym typeface="Nunito Semi-Bold"/>
              </a:rPr>
              <a:t>: training time within about 2× HPCF; real-time inference.</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   [27] Holm, S. A Simple Sequentially Rejective Multiple Test Procedure. Scand. J. Statist. 6(2), 65–70 (1979).  ·  Cohen, J. Statistical Power Analysis for the Behavioral Sciences (1988).</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57</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Main Results on MovieLens-1M</a:t>
            </a:r>
          </a:p>
        </p:txBody>
      </p:sp>
      <p:pic>
        <p:nvPicPr>
          <p:cNvPr id="25" name="Picture 24" descr="image.png"/>
          <p:cNvPicPr>
            <a:picLocks noChangeAspect="1"/>
          </p:cNvPicPr>
          <p:nvPr/>
        </p:nvPicPr>
        <p:blipFill>
          <a:blip r:embed="rId3"/>
          <a:stretch>
            <a:fillRect/>
          </a:stretch>
        </p:blipFill>
        <p:spPr>
          <a:xfrm>
            <a:off x="9149156" y="1673352"/>
            <a:ext cx="457200" cy="415247"/>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6035040" cy="457327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DyHuCoG is best on all four metrics</a:t>
            </a:r>
            <a:r>
              <a:rPr lang="en-US" sz="1900" b="true">
                <a:solidFill>
                  <a:srgbClr val="111111"/>
                </a:solidFill>
                <a:latin typeface="Nunito Semi-Bold"/>
                <a:ea typeface="Nunito Semi-Bold"/>
                <a:cs typeface="Nunito Semi-Bold"/>
                <a:sym typeface="Nunito Semi-Bold"/>
              </a:rPr>
              <a:t> against six baselines from four model families.</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NDCG@20 </a:t>
            </a:r>
            <a:r>
              <a:rPr lang="en-US" sz="1900" b="true">
                <a:solidFill>
                  <a:srgbClr val="111111"/>
                </a:solidFill>
                <a:latin typeface="Nunito Bold"/>
                <a:ea typeface="Nunito Bold"/>
                <a:cs typeface="Nunito Bold"/>
                <a:sym typeface="Nunito Bold"/>
              </a:rPr>
              <a:t>0.2775 vs 0.2528</a:t>
            </a:r>
            <a:r>
              <a:rPr lang="en-US" sz="1900" b="true">
                <a:solidFill>
                  <a:srgbClr val="111111"/>
                </a:solidFill>
                <a:latin typeface="Nunito Semi-Bold"/>
                <a:ea typeface="Nunito Semi-Bold"/>
                <a:cs typeface="Nunito Semi-Bold"/>
                <a:sym typeface="Nunito Semi-Bold"/>
              </a:rPr>
              <a:t> for HPCF (+9.8 %); Recall@20 </a:t>
            </a:r>
            <a:r>
              <a:rPr lang="en-US" sz="1900" b="true">
                <a:solidFill>
                  <a:srgbClr val="111111"/>
                </a:solidFill>
                <a:latin typeface="Nunito Bold"/>
                <a:ea typeface="Nunito Bold"/>
                <a:cs typeface="Nunito Bold"/>
                <a:sym typeface="Nunito Bold"/>
              </a:rPr>
              <a:t>0.2362 vs 0.2098</a:t>
            </a:r>
            <a:r>
              <a:rPr lang="en-US" sz="1900" b="true">
                <a:solidFill>
                  <a:srgbClr val="111111"/>
                </a:solidFill>
                <a:latin typeface="Nunito Semi-Bold"/>
                <a:ea typeface="Nunito Semi-Bold"/>
                <a:cs typeface="Nunito Semi-Bold"/>
                <a:sym typeface="Nunito Semi-Bold"/>
              </a:rPr>
              <a:t> (+12.6 %).</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Coverage </a:t>
            </a:r>
            <a:r>
              <a:rPr lang="en-US" sz="1900" b="true">
                <a:solidFill>
                  <a:srgbClr val="111111"/>
                </a:solidFill>
                <a:latin typeface="Nunito Bold"/>
                <a:ea typeface="Nunito Bold"/>
                <a:cs typeface="Nunito Bold"/>
                <a:sym typeface="Nunito Bold"/>
              </a:rPr>
              <a:t>0.397 vs 0.342</a:t>
            </a:r>
            <a:r>
              <a:rPr lang="en-US" sz="1900" b="true">
                <a:solidFill>
                  <a:srgbClr val="111111"/>
                </a:solidFill>
                <a:latin typeface="Nunito Semi-Bold"/>
                <a:ea typeface="Nunito Semi-Bold"/>
                <a:cs typeface="Nunito Semi-Bold"/>
                <a:sym typeface="Nunito Semi-Bold"/>
              </a:rPr>
              <a:t> (+16.1 %) and ILD </a:t>
            </a:r>
            <a:r>
              <a:rPr lang="en-US" sz="1900" b="true">
                <a:solidFill>
                  <a:srgbClr val="111111"/>
                </a:solidFill>
                <a:latin typeface="Nunito Bold"/>
                <a:ea typeface="Nunito Bold"/>
                <a:cs typeface="Nunito Bold"/>
                <a:sym typeface="Nunito Bold"/>
              </a:rPr>
              <a:t>0.516 vs 0.461</a:t>
            </a:r>
            <a:r>
              <a:rPr lang="en-US" sz="1900" b="true">
                <a:solidFill>
                  <a:srgbClr val="111111"/>
                </a:solidFill>
                <a:latin typeface="Nunito Semi-Bold"/>
                <a:ea typeface="Nunito Semi-Bold"/>
                <a:cs typeface="Nunito Semi-Bold"/>
                <a:sym typeface="Nunito Semi-Bold"/>
              </a:rPr>
              <a:t> (+11.9 %): more of the catalogue reaches users.</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The gap widens from classical (MF) to graph (LightGCN) to hypergraph (HCCF, HPCF) models, and DyHuCoG adds another step on top of the strongest.</a:t>
            </a:r>
          </a:p>
        </p:txBody>
      </p:sp>
      <p:sp>
        <p:nvSpPr>
          <p:cNvPr id="31" name="Rounded Rectangle 30"/>
          <p:cNvSpPr/>
          <p:nvPr/>
        </p:nvSpPr>
        <p:spPr>
          <a:xfrm>
            <a:off x="1028700" y="8119872"/>
            <a:ext cx="6035040" cy="1097280"/>
          </a:xfrm>
          <a:prstGeom prst="roundRect">
            <a:avLst>
              <a:gd name="adj" fmla="val 25000"/>
            </a:avLst>
          </a:prstGeom>
          <a:solidFill>
            <a:srgbClr val="4472C4"/>
          </a:solidFill>
          <a:ln>
            <a:noFill/>
          </a:ln>
        </p:spPr>
        <p:txBody>
          <a:bodyPr anchor="ctr" rtlCol="false" lIns="137160" tIns="91440" rIns="137160" bIns="91440" wrap="square"/>
          <a:lstStyle/>
          <a:p>
            <a:pPr algn="ctr">
              <a:lnSpc>
                <a:spcPts val="3300"/>
              </a:lnSpc>
              <a:spcBef>
                <a:spcPts val="0"/>
              </a:spcBef>
              <a:buNone/>
            </a:pPr>
            <a:r>
              <a:rPr lang="en-US" sz="3000" b="true">
                <a:solidFill>
                  <a:srgbClr val="ECC665"/>
                </a:solidFill>
                <a:latin typeface="Nunito Ultra-Bold"/>
                <a:ea typeface="Nunito Ultra-Bold"/>
                <a:cs typeface="Nunito Ultra-Bold"/>
                <a:sym typeface="Nunito Ultra-Bold"/>
              </a:rPr>
              <a:t>+9.8 %  ·  +12.6 %</a:t>
            </a:r>
          </a:p>
          <a:p>
            <a:pPr algn="ctr">
              <a:lnSpc>
                <a:spcPts val="1875"/>
              </a:lnSpc>
              <a:spcBef>
                <a:spcPts val="400"/>
              </a:spcBef>
              <a:buNone/>
            </a:pPr>
            <a:r>
              <a:rPr lang="en-US" sz="1500" b="true">
                <a:solidFill>
                  <a:srgbClr val="FFFFFF"/>
                </a:solidFill>
                <a:latin typeface="Nunito Semi-Bold"/>
                <a:ea typeface="Nunito Semi-Bold"/>
                <a:cs typeface="Nunito Semi-Bold"/>
                <a:sym typeface="Nunito Semi-Bold"/>
              </a:rPr>
              <a:t>NDCG@20 · Recall@20 over HPCF</a:t>
            </a:r>
          </a:p>
        </p:txBody>
      </p:sp>
      <p:graphicFrame>
        <p:nvGraphicFramePr>
          <p:cNvPr id="32" name="Table 31"/>
          <p:cNvGraphicFramePr>
            <a:graphicFrameLocks noGrp="1"/>
          </p:cNvGraphicFramePr>
          <p:nvPr/>
        </p:nvGraphicFramePr>
        <p:xfrm>
          <a:off x="7520940" y="3363722"/>
          <a:ext cx="9738358" cy="4828032"/>
        </p:xfrm>
        <a:graphic>
          <a:graphicData uri="http://schemas.openxmlformats.org/drawingml/2006/table">
            <a:tbl>
              <a:tblPr firstRow="0" bandRow="0" firstCol="0" lastRow="0" lastCol="0" bandCol="0">
                <a:tableStyleId>{2D5ABB26-0587-4C30-8999-92F81FD0307C}</a:tableStyleId>
              </a:tblPr>
              <a:tblGrid>
                <a:gridCol w="2217646"/>
                <a:gridCol w="1928388"/>
                <a:gridCol w="1928388"/>
                <a:gridCol w="1831968"/>
                <a:gridCol w="1831968"/>
              </a:tblGrid>
              <a:tr h="60350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Model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Recall@20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Coverage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ILD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0.1200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0.0880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0.239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0.367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0.1100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0.398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LightGCN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0.2130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0.1790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0.308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0.423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RecDCL</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0.2296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0.1918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0.324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0.445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HCCF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0.2050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0.327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0.448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HPCF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0.2528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0.2098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0.461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0.2775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0.2362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0.397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0.516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33" name="TextBox 32"/>
          <p:cNvSpPr txBox="1"/>
          <p:nvPr/>
        </p:nvSpPr>
        <p:spPr>
          <a:xfrm>
            <a:off x="7520940" y="8301482"/>
            <a:ext cx="9738360" cy="54864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Semi-Bold"/>
                <a:ea typeface="Nunito Semi-Bold"/>
                <a:cs typeface="Nunito Semi-Bold"/>
                <a:sym typeface="Nunito Semi-Bold"/>
              </a:rPr>
              <a:t>Table 7.1 (thesis): mean over five seeds; ± standard deviation in the backup slides. Best value per column in the bold row.</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58</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Main Results on Amazon-Book</a:t>
            </a:r>
          </a:p>
        </p:txBody>
      </p:sp>
      <p:pic>
        <p:nvPicPr>
          <p:cNvPr id="25" name="Picture 24" descr="image.png"/>
          <p:cNvPicPr>
            <a:picLocks noChangeAspect="1"/>
          </p:cNvPicPr>
          <p:nvPr/>
        </p:nvPicPr>
        <p:blipFill>
          <a:blip r:embed="rId3"/>
          <a:stretch>
            <a:fillRect/>
          </a:stretch>
        </p:blipFill>
        <p:spPr>
          <a:xfrm>
            <a:off x="9187392" y="1673352"/>
            <a:ext cx="457200" cy="452148"/>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6035040" cy="457327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Same picture on the </a:t>
            </a:r>
            <a:r>
              <a:rPr lang="en-US" sz="1900" b="true">
                <a:solidFill>
                  <a:srgbClr val="111111"/>
                </a:solidFill>
                <a:latin typeface="Nunito Bold"/>
                <a:ea typeface="Nunito Bold"/>
                <a:cs typeface="Nunito Bold"/>
                <a:sym typeface="Nunito Bold"/>
              </a:rPr>
              <a:t>sparse</a:t>
            </a:r>
            <a:r>
              <a:rPr lang="en-US" sz="1900" b="true">
                <a:solidFill>
                  <a:srgbClr val="111111"/>
                </a:solidFill>
                <a:latin typeface="Nunito Semi-Bold"/>
                <a:ea typeface="Nunito Semi-Bold"/>
                <a:cs typeface="Nunito Semi-Bold"/>
                <a:sym typeface="Nunito Semi-Bold"/>
              </a:rPr>
              <a:t> dataset (density 0.0006), with </a:t>
            </a:r>
            <a:r>
              <a:rPr lang="en-US" sz="1900" b="true">
                <a:solidFill>
                  <a:srgbClr val="111111"/>
                </a:solidFill>
                <a:latin typeface="Nunito Bold"/>
                <a:ea typeface="Nunito Bold"/>
                <a:cs typeface="Nunito Bold"/>
                <a:sym typeface="Nunito Bold"/>
              </a:rPr>
              <a:t>larger relative gains</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NDCG@20 </a:t>
            </a:r>
            <a:r>
              <a:rPr lang="en-US" sz="1900" b="true">
                <a:solidFill>
                  <a:srgbClr val="111111"/>
                </a:solidFill>
                <a:latin typeface="Nunito Bold"/>
                <a:ea typeface="Nunito Bold"/>
                <a:cs typeface="Nunito Bold"/>
                <a:sym typeface="Nunito Bold"/>
              </a:rPr>
              <a:t>0.0306 vs 0.0270</a:t>
            </a:r>
            <a:r>
              <a:rPr lang="en-US" sz="1900" b="true">
                <a:solidFill>
                  <a:srgbClr val="111111"/>
                </a:solidFill>
                <a:latin typeface="Nunito Semi-Bold"/>
                <a:ea typeface="Nunito Semi-Bold"/>
                <a:cs typeface="Nunito Semi-Bold"/>
                <a:sym typeface="Nunito Semi-Bold"/>
              </a:rPr>
              <a:t> for HPCF (+13.3 %); Recall@20 </a:t>
            </a:r>
            <a:r>
              <a:rPr lang="en-US" sz="1900" b="true">
                <a:solidFill>
                  <a:srgbClr val="111111"/>
                </a:solidFill>
                <a:latin typeface="Nunito Bold"/>
                <a:ea typeface="Nunito Bold"/>
                <a:cs typeface="Nunito Bold"/>
                <a:sym typeface="Nunito Bold"/>
              </a:rPr>
              <a:t>0.0417 vs 0.0359</a:t>
            </a:r>
            <a:r>
              <a:rPr lang="en-US" sz="1900" b="true">
                <a:solidFill>
                  <a:srgbClr val="111111"/>
                </a:solidFill>
                <a:latin typeface="Nunito Semi-Bold"/>
                <a:ea typeface="Nunito Semi-Bold"/>
                <a:cs typeface="Nunito Semi-Bold"/>
                <a:sym typeface="Nunito Semi-Bold"/>
              </a:rPr>
              <a:t> (+16.2 %).</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Coverage </a:t>
            </a:r>
            <a:r>
              <a:rPr lang="en-US" sz="1900" b="true">
                <a:solidFill>
                  <a:srgbClr val="111111"/>
                </a:solidFill>
                <a:latin typeface="Nunito Bold"/>
                <a:ea typeface="Nunito Bold"/>
                <a:cs typeface="Nunito Bold"/>
                <a:sym typeface="Nunito Bold"/>
              </a:rPr>
              <a:t>0.336 vs 0.259</a:t>
            </a:r>
            <a:r>
              <a:rPr lang="en-US" sz="1900" b="true">
                <a:solidFill>
                  <a:srgbClr val="111111"/>
                </a:solidFill>
                <a:latin typeface="Nunito Semi-Bold"/>
                <a:ea typeface="Nunito Semi-Bold"/>
                <a:cs typeface="Nunito Semi-Bold"/>
                <a:sym typeface="Nunito Semi-Bold"/>
              </a:rPr>
              <a:t> (+29.7 %) and ILD </a:t>
            </a:r>
            <a:r>
              <a:rPr lang="en-US" sz="1900" b="true">
                <a:solidFill>
                  <a:srgbClr val="111111"/>
                </a:solidFill>
                <a:latin typeface="Nunito Bold"/>
                <a:ea typeface="Nunito Bold"/>
                <a:cs typeface="Nunito Bold"/>
                <a:sym typeface="Nunito Bold"/>
              </a:rPr>
              <a:t>0.602 vs 0.535</a:t>
            </a:r>
            <a:r>
              <a:rPr lang="en-US" sz="1900" b="true">
                <a:solidFill>
                  <a:srgbClr val="111111"/>
                </a:solidFill>
                <a:latin typeface="Nunito Semi-Bold"/>
                <a:ea typeface="Nunito Semi-Bold"/>
                <a:cs typeface="Nunito Semi-Bold"/>
                <a:sym typeface="Nunito Semi-Bold"/>
              </a:rPr>
              <a:t> (+12.5 %).</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Absolute values are low for every model because the matrix is almost empty; what matters is the </a:t>
            </a:r>
            <a:r>
              <a:rPr lang="en-US" sz="1900" b="true">
                <a:solidFill>
                  <a:srgbClr val="111111"/>
                </a:solidFill>
                <a:latin typeface="Nunito Bold"/>
                <a:ea typeface="Nunito Bold"/>
                <a:cs typeface="Nunito Bold"/>
                <a:sym typeface="Nunito Bold"/>
              </a:rPr>
              <a:t>consistent ordering and the widening gap</a:t>
            </a:r>
            <a:r>
              <a:rPr lang="en-US" sz="1900" b="true">
                <a:solidFill>
                  <a:srgbClr val="111111"/>
                </a:solidFill>
                <a:latin typeface="Nunito Semi-Bold"/>
                <a:ea typeface="Nunito Semi-Bold"/>
                <a:cs typeface="Nunito Semi-Bold"/>
                <a:sym typeface="Nunito Semi-Bold"/>
              </a:rPr>
              <a:t> where data are weakest.</a:t>
            </a:r>
          </a:p>
        </p:txBody>
      </p:sp>
      <p:sp>
        <p:nvSpPr>
          <p:cNvPr id="31" name="Rounded Rectangle 30"/>
          <p:cNvSpPr/>
          <p:nvPr/>
        </p:nvSpPr>
        <p:spPr>
          <a:xfrm>
            <a:off x="1028700" y="8119872"/>
            <a:ext cx="6035040" cy="1097280"/>
          </a:xfrm>
          <a:prstGeom prst="roundRect">
            <a:avLst>
              <a:gd name="adj" fmla="val 25000"/>
            </a:avLst>
          </a:prstGeom>
          <a:solidFill>
            <a:srgbClr val="4472C4"/>
          </a:solidFill>
          <a:ln>
            <a:noFill/>
          </a:ln>
        </p:spPr>
        <p:txBody>
          <a:bodyPr anchor="ctr" rtlCol="false" lIns="137160" tIns="91440" rIns="137160" bIns="91440" wrap="square"/>
          <a:lstStyle/>
          <a:p>
            <a:pPr algn="ctr">
              <a:lnSpc>
                <a:spcPts val="3300"/>
              </a:lnSpc>
              <a:spcBef>
                <a:spcPts val="0"/>
              </a:spcBef>
              <a:buNone/>
            </a:pPr>
            <a:r>
              <a:rPr lang="en-US" sz="3000" b="true">
                <a:solidFill>
                  <a:srgbClr val="ECC665"/>
                </a:solidFill>
                <a:latin typeface="Nunito Ultra-Bold"/>
                <a:ea typeface="Nunito Ultra-Bold"/>
                <a:cs typeface="Nunito Ultra-Bold"/>
                <a:sym typeface="Nunito Ultra-Bold"/>
              </a:rPr>
              <a:t>+13.3 %  ·  +16.2 %</a:t>
            </a:r>
          </a:p>
          <a:p>
            <a:pPr algn="ctr">
              <a:lnSpc>
                <a:spcPts val="1875"/>
              </a:lnSpc>
              <a:spcBef>
                <a:spcPts val="400"/>
              </a:spcBef>
              <a:buNone/>
            </a:pPr>
            <a:r>
              <a:rPr lang="en-US" sz="1500" b="true">
                <a:solidFill>
                  <a:srgbClr val="FFFFFF"/>
                </a:solidFill>
                <a:latin typeface="Nunito Semi-Bold"/>
                <a:ea typeface="Nunito Semi-Bold"/>
                <a:cs typeface="Nunito Semi-Bold"/>
                <a:sym typeface="Nunito Semi-Bold"/>
              </a:rPr>
              <a:t>NDCG@20 · Recall@20 over HPCF</a:t>
            </a:r>
          </a:p>
        </p:txBody>
      </p:sp>
      <p:graphicFrame>
        <p:nvGraphicFramePr>
          <p:cNvPr id="32" name="Table 31"/>
          <p:cNvGraphicFramePr>
            <a:graphicFrameLocks noGrp="1"/>
          </p:cNvGraphicFramePr>
          <p:nvPr/>
        </p:nvGraphicFramePr>
        <p:xfrm>
          <a:off x="7520940" y="3363722"/>
          <a:ext cx="9738358" cy="4828032"/>
        </p:xfrm>
        <a:graphic>
          <a:graphicData uri="http://schemas.openxmlformats.org/drawingml/2006/table">
            <a:tbl>
              <a:tblPr firstRow="0" bandRow="0" firstCol="0" lastRow="0" lastCol="0" bandCol="0">
                <a:tableStyleId>{2D5ABB26-0587-4C30-8999-92F81FD0307C}</a:tableStyleId>
              </a:tblPr>
              <a:tblGrid>
                <a:gridCol w="2217646"/>
                <a:gridCol w="1928388"/>
                <a:gridCol w="1928388"/>
                <a:gridCol w="1831968"/>
                <a:gridCol w="1831968"/>
              </a:tblGrid>
              <a:tr h="60350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Model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Recall@20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Coverage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ILD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0.0049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0.0093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0.168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0.0085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0.193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0.458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LightGCN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0.0236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0.0320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0.226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0.491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RecDCL</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0.0346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0.512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HCCF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0.0344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0.520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HPCF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0.0359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0.535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0.0306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0.0417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0.336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0.602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33" name="TextBox 32"/>
          <p:cNvSpPr txBox="1"/>
          <p:nvPr/>
        </p:nvSpPr>
        <p:spPr>
          <a:xfrm>
            <a:off x="7520940" y="8301482"/>
            <a:ext cx="9738360" cy="54864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Semi-Bold"/>
                <a:ea typeface="Nunito Semi-Bold"/>
                <a:cs typeface="Nunito Semi-Bold"/>
                <a:sym typeface="Nunito Semi-Bold"/>
              </a:rPr>
              <a:t>Table 7.1 (thesis): mean over five seeds; ± standard deviation in the backup slides. Best value per column in the bold row.</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59</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Ablation: Every Component Contributes</a:t>
            </a:r>
          </a:p>
        </p:txBody>
      </p:sp>
      <p:pic>
        <p:nvPicPr>
          <p:cNvPr id="25" name="Picture 24" descr="image.png"/>
          <p:cNvPicPr>
            <a:picLocks noChangeAspect="1"/>
          </p:cNvPicPr>
          <p:nvPr/>
        </p:nvPicPr>
        <p:blipFill>
          <a:blip r:embed="rId3"/>
          <a:stretch>
            <a:fillRect/>
          </a:stretch>
        </p:blipFill>
        <p:spPr>
          <a:xfrm>
            <a:off x="11596440" y="1673352"/>
            <a:ext cx="457200" cy="617115"/>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18002"/>
            <a:ext cx="788670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TABLE 7.2  ·  MOVIELENS-1M</a:t>
            </a:r>
          </a:p>
        </p:txBody>
      </p:sp>
      <p:graphicFrame>
        <p:nvGraphicFramePr>
          <p:cNvPr id="31" name="Table 30"/>
          <p:cNvGraphicFramePr>
            <a:graphicFrameLocks noGrp="1"/>
          </p:cNvGraphicFramePr>
          <p:nvPr/>
        </p:nvGraphicFramePr>
        <p:xfrm>
          <a:off x="1028700" y="3683762"/>
          <a:ext cx="7886698" cy="3214116"/>
        </p:xfrm>
        <a:graphic>
          <a:graphicData uri="http://schemas.openxmlformats.org/drawingml/2006/table">
            <a:tbl>
              <a:tblPr firstRow="0" bandRow="0" firstCol="0" lastRow="0" lastCol="0" bandCol="0">
                <a:tableStyleId>{2D5ABB26-0587-4C30-8999-92F81FD0307C}</a:tableStyleId>
              </a:tblPr>
              <a:tblGrid>
                <a:gridCol w="3836772"/>
                <a:gridCol w="2131540"/>
                <a:gridCol w="1918386"/>
              </a:tblGrid>
              <a:tr h="457200">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Variant</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Drop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9486">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Full 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0.2775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Shapley value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0.2647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−4.6 %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Hypergraph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0.2586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Attention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0.2678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−3.5 %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1">
                          <a:solidFill>
                            <a:srgbClr val="1F7A8C"/>
                          </a:solidFill>
                          <a:latin typeface="Nunito Bold"/>
                          <a:ea typeface="Nunito Bold"/>
                          <a:cs typeface="Nunito Bold"/>
                          <a:sym typeface="Nunito Bold"/>
                        </a:rPr>
                        <a:t>w/o Context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0.2547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−8.2 %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Diversity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0.2614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−5.8 %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2" name="TextBox 31"/>
          <p:cNvSpPr txBox="1"/>
          <p:nvPr/>
        </p:nvSpPr>
        <p:spPr>
          <a:xfrm>
            <a:off x="9372600" y="3318002"/>
            <a:ext cx="788670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AMAZON-BOOK</a:t>
            </a:r>
          </a:p>
        </p:txBody>
      </p:sp>
      <p:graphicFrame>
        <p:nvGraphicFramePr>
          <p:cNvPr id="33" name="Table 32"/>
          <p:cNvGraphicFramePr>
            <a:graphicFrameLocks noGrp="1"/>
          </p:cNvGraphicFramePr>
          <p:nvPr/>
        </p:nvGraphicFramePr>
        <p:xfrm>
          <a:off x="9372600" y="3683762"/>
          <a:ext cx="7886698" cy="3214116"/>
        </p:xfrm>
        <a:graphic>
          <a:graphicData uri="http://schemas.openxmlformats.org/drawingml/2006/table">
            <a:tbl>
              <a:tblPr firstRow="0" bandRow="0" firstCol="0" lastRow="0" lastCol="0" bandCol="0">
                <a:tableStyleId>{2D5ABB26-0587-4C30-8999-92F81FD0307C}</a:tableStyleId>
              </a:tblPr>
              <a:tblGrid>
                <a:gridCol w="3836772"/>
                <a:gridCol w="2131540"/>
                <a:gridCol w="1918386"/>
              </a:tblGrid>
              <a:tr h="457200">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Variant</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Drop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9486">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Full 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0.0306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Shapley value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0.0287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−6.1 %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Hypergraph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0.0279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−8.9 %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Attention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0.0295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−3.5 %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1">
                          <a:solidFill>
                            <a:srgbClr val="1F7A8C"/>
                          </a:solidFill>
                          <a:latin typeface="Nunito Bold"/>
                          <a:ea typeface="Nunito Bold"/>
                          <a:cs typeface="Nunito Bold"/>
                          <a:sym typeface="Nunito Bold"/>
                        </a:rPr>
                        <a:t>w/o Context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0.0272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−11.0 %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Diversity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0.0288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−5.8 %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4" name="Rounded Rectangle 33"/>
          <p:cNvSpPr/>
          <p:nvPr/>
        </p:nvSpPr>
        <p:spPr>
          <a:xfrm>
            <a:off x="1028700" y="7537958"/>
            <a:ext cx="16230600" cy="1724914"/>
          </a:xfrm>
          <a:prstGeom prst="roundRect">
            <a:avLst>
              <a:gd name="adj" fmla="val 18023"/>
            </a:avLst>
          </a:prstGeom>
          <a:solidFill>
            <a:srgbClr val="E7EAF3"/>
          </a:solidFill>
          <a:ln>
            <a:noFill/>
          </a:ln>
        </p:spPr>
        <p:txBody>
          <a:bodyPr anchor="ctr" rtlCol="false" lIns="0" tIns="0" rIns="0" bIns="0" wrap="square"/>
          <a:lstStyle/>
          <a:p>
            <a:endParaRPr lang="en-US" sz="1800"/>
          </a:p>
        </p:txBody>
      </p:sp>
      <p:sp>
        <p:nvSpPr>
          <p:cNvPr id="35" name="Rounded Rectangle 34"/>
          <p:cNvSpPr/>
          <p:nvPr/>
        </p:nvSpPr>
        <p:spPr>
          <a:xfrm>
            <a:off x="1485900" y="7300214"/>
            <a:ext cx="1757407"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Reading</a:t>
            </a:r>
          </a:p>
        </p:txBody>
      </p:sp>
      <p:sp>
        <p:nvSpPr>
          <p:cNvPr id="36" name="TextBox 35"/>
          <p:cNvSpPr txBox="1"/>
          <p:nvPr/>
        </p:nvSpPr>
        <p:spPr>
          <a:xfrm>
            <a:off x="1531620" y="8086598"/>
            <a:ext cx="15270480" cy="993394"/>
          </a:xfrm>
          <a:prstGeom prst="rect">
            <a:avLst/>
          </a:prstGeom>
          <a:noFill/>
        </p:spPr>
        <p:txBody>
          <a:bodyPr anchor="t" rtlCol="false" lIns="0" tIns="0" rIns="0" bIns="0" wrap="square"/>
          <a:lstStyle/>
          <a:p>
            <a:pPr algn="l" marL="274320" indent="-274320">
              <a:lnSpc>
                <a:spcPts val="2142"/>
              </a:lnSpc>
              <a:spcBef>
                <a:spcPts val="0"/>
              </a:spcBef>
              <a:buClr>
                <a:srgbClr val="1F7A8C"/>
              </a:buClr>
              <a:buSzPct val="100000"/>
              <a:buFont typeface="Arial"/>
              <a:buChar char="•"/>
            </a:pPr>
            <a:r>
              <a:rPr lang="en-US" sz="1530" b="true">
                <a:solidFill>
                  <a:srgbClr val="111111"/>
                </a:solidFill>
                <a:latin typeface="Nunito Bold"/>
                <a:ea typeface="Nunito Bold"/>
                <a:cs typeface="Nunito Bold"/>
                <a:sym typeface="Nunito Bold"/>
              </a:rPr>
              <a:t>Context</a:t>
            </a:r>
            <a:r>
              <a:rPr lang="en-US" sz="1530" b="true">
                <a:solidFill>
                  <a:srgbClr val="111111"/>
                </a:solidFill>
                <a:latin typeface="Nunito Semi-Bold"/>
                <a:ea typeface="Nunito Semi-Bold"/>
                <a:cs typeface="Nunito Semi-Bold"/>
                <a:sym typeface="Nunito Semi-Bold"/>
              </a:rPr>
              <a:t> is the most important component (−8.2 % / −11.0 %), then the </a:t>
            </a:r>
            <a:r>
              <a:rPr lang="en-US" sz="1530" b="true">
                <a:solidFill>
                  <a:srgbClr val="111111"/>
                </a:solidFill>
                <a:latin typeface="Nunito Bold"/>
                <a:ea typeface="Nunito Bold"/>
                <a:cs typeface="Nunito Bold"/>
                <a:sym typeface="Nunito Bold"/>
              </a:rPr>
              <a:t>hypergraph</a:t>
            </a:r>
            <a:r>
              <a:rPr lang="en-US" sz="1530" b="true">
                <a:solidFill>
                  <a:srgbClr val="111111"/>
                </a:solidFill>
                <a:latin typeface="Nunito Semi-Bold"/>
                <a:ea typeface="Nunito Semi-Bold"/>
                <a:cs typeface="Nunito Semi-Bold"/>
                <a:sym typeface="Nunito Semi-Bold"/>
              </a:rPr>
              <a:t> structure (−6.8 % / −8.9 %).</a:t>
            </a:r>
          </a:p>
          <a:p>
            <a:pPr algn="l" marL="274320" indent="-274320">
              <a:lnSpc>
                <a:spcPts val="2142"/>
              </a:lnSpc>
              <a:spcBef>
                <a:spcPts val="510"/>
              </a:spcBef>
              <a:buClr>
                <a:srgbClr val="1F7A8C"/>
              </a:buClr>
              <a:buSzPct val="100000"/>
              <a:buFont typeface="Arial"/>
              <a:buChar char="•"/>
            </a:pPr>
            <a:r>
              <a:rPr lang="en-US" sz="1530" b="true">
                <a:solidFill>
                  <a:srgbClr val="111111"/>
                </a:solidFill>
                <a:latin typeface="Nunito Semi-Bold"/>
                <a:ea typeface="Nunito Semi-Bold"/>
                <a:cs typeface="Nunito Semi-Bold"/>
                <a:sym typeface="Nunito Semi-Bold"/>
              </a:rPr>
              <a:t>Removing </a:t>
            </a:r>
            <a:r>
              <a:rPr lang="en-US" sz="1530" b="true">
                <a:solidFill>
                  <a:srgbClr val="111111"/>
                </a:solidFill>
                <a:latin typeface="Nunito Bold"/>
                <a:ea typeface="Nunito Bold"/>
                <a:cs typeface="Nunito Bold"/>
                <a:sym typeface="Nunito Bold"/>
              </a:rPr>
              <a:t>Shapley</a:t>
            </a:r>
            <a:r>
              <a:rPr lang="en-US" sz="1530" b="true">
                <a:solidFill>
                  <a:srgbClr val="111111"/>
                </a:solidFill>
                <a:latin typeface="Nunito Semi-Bold"/>
                <a:ea typeface="Nunito Semi-Bold"/>
                <a:cs typeface="Nunito Semi-Bold"/>
                <a:sym typeface="Nunito Semi-Bold"/>
              </a:rPr>
              <a:t> weighting costs 4.6 % / 6.1 %: more on the sparser dataset, where fair credit for weak signals matters most.</a:t>
            </a:r>
          </a:p>
          <a:p>
            <a:pPr algn="l" marL="274320" indent="-274320">
              <a:lnSpc>
                <a:spcPts val="2142"/>
              </a:lnSpc>
              <a:spcBef>
                <a:spcPts val="510"/>
              </a:spcBef>
              <a:buClr>
                <a:srgbClr val="1F7A8C"/>
              </a:buClr>
              <a:buSzPct val="100000"/>
              <a:buFont typeface="Arial"/>
              <a:buChar char="•"/>
            </a:pPr>
            <a:r>
              <a:rPr lang="en-US" sz="1530" b="true">
                <a:solidFill>
                  <a:srgbClr val="111111"/>
                </a:solidFill>
                <a:latin typeface="Nunito Semi-Bold"/>
                <a:ea typeface="Nunito Semi-Bold"/>
                <a:cs typeface="Nunito Semi-Bold"/>
                <a:sym typeface="Nunito Semi-Bold"/>
              </a:rPr>
              <a:t>The ablation removes one component at a time; it does not test combinations.</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60</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Efficiency and Shapley Convergence</a:t>
            </a:r>
          </a:p>
        </p:txBody>
      </p:sp>
      <p:pic>
        <p:nvPicPr>
          <p:cNvPr id="25" name="Picture 24" descr="image.png"/>
          <p:cNvPicPr>
            <a:picLocks noChangeAspect="1"/>
          </p:cNvPicPr>
          <p:nvPr/>
        </p:nvPicPr>
        <p:blipFill>
          <a:blip r:embed="rId3"/>
          <a:stretch>
            <a:fillRect/>
          </a:stretch>
        </p:blipFill>
        <p:spPr>
          <a:xfrm>
            <a:off x="10646093" y="1673352"/>
            <a:ext cx="457200" cy="250983"/>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Rounded Rectangle 29"/>
          <p:cNvSpPr/>
          <p:nvPr/>
        </p:nvSpPr>
        <p:spPr>
          <a:xfrm>
            <a:off x="1028700" y="3455162"/>
            <a:ext cx="3851910" cy="2103120"/>
          </a:xfrm>
          <a:prstGeom prst="roundRect">
            <a:avLst>
              <a:gd name="adj" fmla="val 13043"/>
            </a:avLst>
          </a:prstGeom>
          <a:solidFill>
            <a:srgbClr val="4472C4"/>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1.78×</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training time vs HPCF </a:t>
            </a:r>
            <a:r>
              <a:rPr lang="en-US" sz="1700" b="true">
                <a:solidFill>
                  <a:srgbClr val="FFFFFF"/>
                </a:solidFill>
                <a:latin typeface="Nunito Bold"/>
                <a:ea typeface="Nunito Bold"/>
                <a:cs typeface="Nunito Bold"/>
                <a:sym typeface="Nunito Bold"/>
              </a:rPr>
              <a:t>(≈ 2000 s vs 1125 s, ML-1M)</a:t>
            </a:r>
          </a:p>
        </p:txBody>
      </p:sp>
      <p:sp>
        <p:nvSpPr>
          <p:cNvPr id="31" name="Rounded Rectangle 30"/>
          <p:cNvSpPr/>
          <p:nvPr/>
        </p:nvSpPr>
        <p:spPr>
          <a:xfrm>
            <a:off x="5154930" y="3455162"/>
            <a:ext cx="3851910" cy="2103120"/>
          </a:xfrm>
          <a:prstGeom prst="roundRect">
            <a:avLst>
              <a:gd name="adj" fmla="val 13043"/>
            </a:avLst>
          </a:prstGeom>
          <a:solidFill>
            <a:srgbClr val="2F5597"/>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1.84 ms</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inference / query on ML-1M </a:t>
            </a:r>
            <a:r>
              <a:rPr lang="en-US" sz="1700" b="true">
                <a:solidFill>
                  <a:srgbClr val="FFFFFF"/>
                </a:solidFill>
                <a:latin typeface="Nunito Bold"/>
                <a:ea typeface="Nunito Bold"/>
                <a:cs typeface="Nunito Bold"/>
                <a:sym typeface="Nunito Bold"/>
              </a:rPr>
              <a:t>(8.52 ms Amazon)</a:t>
            </a:r>
          </a:p>
        </p:txBody>
      </p:sp>
      <p:sp>
        <p:nvSpPr>
          <p:cNvPr id="32" name="Rounded Rectangle 31"/>
          <p:cNvSpPr/>
          <p:nvPr/>
        </p:nvSpPr>
        <p:spPr>
          <a:xfrm>
            <a:off x="9281160" y="3455162"/>
            <a:ext cx="3851910" cy="2103120"/>
          </a:xfrm>
          <a:prstGeom prst="roundRect">
            <a:avLst>
              <a:gd name="adj" fmla="val 13043"/>
            </a:avLst>
          </a:prstGeom>
          <a:solidFill>
            <a:srgbClr val="1F7A8C"/>
          </a:solidFill>
          <a:ln>
            <a:noFill/>
          </a:ln>
        </p:spPr>
        <p:txBody>
          <a:bodyPr anchor="ctr" rtlCol="false" lIns="137160" tIns="91440" rIns="137160" bIns="91440" wrap="square"/>
          <a:lstStyle/>
          <a:p>
            <a:pPr algn="ctr">
              <a:lnSpc>
                <a:spcPts val="3960"/>
              </a:lnSpc>
              <a:spcBef>
                <a:spcPts val="0"/>
              </a:spcBef>
              <a:buNone/>
            </a:pPr>
            <a:r>
              <a:rPr lang="en-US" sz="3600" b="true">
                <a:solidFill>
                  <a:srgbClr val="FFFFFF"/>
                </a:solidFill>
                <a:latin typeface="Nunito Ultra-Bold"/>
                <a:ea typeface="Nunito Ultra-Bold"/>
                <a:cs typeface="Nunito Ultra-Bold"/>
                <a:sym typeface="Nunito Ultra-Bold"/>
              </a:rPr>
              <a:t>4.4 GB</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memory ML-1M vs 4.1 GB </a:t>
            </a:r>
            <a:r>
              <a:rPr lang="en-US" sz="1700" b="true">
                <a:solidFill>
                  <a:srgbClr val="FFFFFF"/>
                </a:solidFill>
                <a:latin typeface="Nunito Bold"/>
                <a:ea typeface="Nunito Bold"/>
                <a:cs typeface="Nunito Bold"/>
                <a:sym typeface="Nunito Bold"/>
              </a:rPr>
              <a:t>(17.9 vs 16.8 GB Amazon)</a:t>
            </a:r>
          </a:p>
        </p:txBody>
      </p:sp>
      <p:sp>
        <p:nvSpPr>
          <p:cNvPr id="33" name="Rounded Rectangle 32"/>
          <p:cNvSpPr/>
          <p:nvPr/>
        </p:nvSpPr>
        <p:spPr>
          <a:xfrm>
            <a:off x="13407390" y="3455162"/>
            <a:ext cx="3851910" cy="2103120"/>
          </a:xfrm>
          <a:prstGeom prst="roundRect">
            <a:avLst>
              <a:gd name="adj" fmla="val 13043"/>
            </a:avLst>
          </a:prstGeom>
          <a:solidFill>
            <a:srgbClr val="111111"/>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M = 50</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MSE 1.4×10</a:t>
            </a:r>
            <a:r>
              <a:rPr lang="en-US" sz="1700" b="true" baseline="30000">
                <a:solidFill>
                  <a:srgbClr val="FFFFFF"/>
                </a:solidFill>
                <a:latin typeface="Nunito Semi-Bold"/>
                <a:ea typeface="Nunito Semi-Bold"/>
                <a:cs typeface="Nunito Semi-Bold"/>
                <a:sym typeface="Nunito Semi-Bold"/>
              </a:rPr>
              <a:t>−5</a:t>
            </a:r>
            <a:r>
              <a:rPr lang="en-US" sz="1700" b="true">
                <a:solidFill>
                  <a:srgbClr val="FFFFFF"/>
                </a:solidFill>
                <a:latin typeface="Nunito Semi-Bold"/>
                <a:ea typeface="Nunito Semi-Bold"/>
                <a:cs typeface="Nunito Semi-Bold"/>
                <a:sym typeface="Nunito Semi-Bold"/>
              </a:rPr>
              <a:t> · </a:t>
            </a:r>
            <a:r>
              <a:rPr lang="en-US" sz="1700" b="true">
                <a:solidFill>
                  <a:srgbClr val="FFFFFF"/>
                </a:solidFill>
                <a:latin typeface="Nunito Bold"/>
                <a:ea typeface="Nunito Bold"/>
                <a:cs typeface="Nunito Bold"/>
                <a:sym typeface="Nunito Bold"/>
              </a:rPr>
              <a:t>≈ 99 % accuracy</a:t>
            </a:r>
          </a:p>
        </p:txBody>
      </p:sp>
      <p:sp>
        <p:nvSpPr>
          <p:cNvPr id="34" name="TextBox 33"/>
          <p:cNvSpPr txBox="1"/>
          <p:nvPr/>
        </p:nvSpPr>
        <p:spPr>
          <a:xfrm>
            <a:off x="1028700" y="5604002"/>
            <a:ext cx="16230600" cy="411480"/>
          </a:xfrm>
          <a:prstGeom prst="rect">
            <a:avLst/>
          </a:prstGeom>
          <a:noFill/>
        </p:spPr>
        <p:txBody>
          <a:bodyPr anchor="t" rtlCol="false" lIns="0" tIns="0" rIns="0" bIns="0" wrap="square"/>
          <a:lstStyle/>
          <a:p>
            <a:pPr algn="l">
              <a:lnSpc>
                <a:spcPts val="1800"/>
              </a:lnSpc>
              <a:spcBef>
                <a:spcPts val="0"/>
              </a:spcBef>
              <a:buNone/>
            </a:pPr>
            <a:r>
              <a:rPr lang="en-US" sz="1400" b="true">
                <a:solidFill>
                  <a:srgbClr val="8A8378"/>
                </a:solidFill>
                <a:latin typeface="Nunito Semi-Bold"/>
                <a:ea typeface="Nunito Semi-Bold"/>
                <a:cs typeface="Nunito Semi-Bold"/>
                <a:sym typeface="Nunito Semi-Bold"/>
              </a:rPr>
              <a:t>Table 7.3 (thesis): runtime and scalability  ·  Table 7.4 (thesis): Monte Carlo convergence and runtime trade-offs. Full tables in the backup slides.</a:t>
            </a:r>
          </a:p>
        </p:txBody>
      </p:sp>
      <p:sp>
        <p:nvSpPr>
          <p:cNvPr id="35" name="Rounded Rectangle 34"/>
          <p:cNvSpPr/>
          <p:nvPr/>
        </p:nvSpPr>
        <p:spPr>
          <a:xfrm>
            <a:off x="1028700" y="6042914"/>
            <a:ext cx="7932420" cy="3080765"/>
          </a:xfrm>
          <a:prstGeom prst="roundRect">
            <a:avLst>
              <a:gd name="adj" fmla="val 9995"/>
            </a:avLst>
          </a:prstGeom>
          <a:solidFill>
            <a:srgbClr val="E7EAF3"/>
          </a:solidFill>
          <a:ln>
            <a:noFill/>
          </a:ln>
        </p:spPr>
        <p:txBody>
          <a:bodyPr anchor="ctr" rtlCol="false" lIns="0" tIns="0" rIns="0" bIns="0" wrap="square"/>
          <a:lstStyle/>
          <a:p>
            <a:endParaRPr lang="en-US" sz="1800"/>
          </a:p>
        </p:txBody>
      </p:sp>
      <p:sp>
        <p:nvSpPr>
          <p:cNvPr id="36" name="Rounded Rectangle 35"/>
          <p:cNvSpPr/>
          <p:nvPr/>
        </p:nvSpPr>
        <p:spPr>
          <a:xfrm>
            <a:off x="1485900" y="6006338"/>
            <a:ext cx="2185051"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Complexity</a:t>
            </a:r>
          </a:p>
        </p:txBody>
      </p:sp>
      <p:sp>
        <p:nvSpPr>
          <p:cNvPr id="37" name="TextBox 36"/>
          <p:cNvSpPr txBox="1"/>
          <p:nvPr/>
        </p:nvSpPr>
        <p:spPr>
          <a:xfrm>
            <a:off x="1531620" y="6682994"/>
            <a:ext cx="6972300" cy="2195830"/>
          </a:xfrm>
          <a:prstGeom prst="rect">
            <a:avLst/>
          </a:prstGeom>
          <a:noFill/>
        </p:spPr>
        <p:txBody>
          <a:bodyPr anchor="t" rtlCol="false" lIns="0" tIns="0" rIns="0" bIns="0" wrap="square"/>
          <a:lstStyle/>
          <a:p>
            <a:pPr algn="l" marL="274320" indent="-274320">
              <a:lnSpc>
                <a:spcPts val="2800"/>
              </a:lnSpc>
              <a:spcBef>
                <a:spcPts val="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Per-epoch cost </a:t>
            </a:r>
            <a:r>
              <a:rPr lang="en-US" sz="2000" b="true">
                <a:solidFill>
                  <a:srgbClr val="111111"/>
                </a:solidFill>
                <a:latin typeface="Nunito Bold"/>
                <a:ea typeface="Nunito Bold"/>
                <a:cs typeface="Nunito Bold"/>
                <a:sym typeface="Nunito Bold"/>
              </a:rPr>
              <a:t>O((L+1)·m·d) + O((M/f)·m)</a:t>
            </a:r>
            <a:r>
              <a:rPr lang="en-US" sz="2000" b="true">
                <a:solidFill>
                  <a:srgbClr val="111111"/>
                </a:solidFill>
                <a:latin typeface="Nunito Semi-Bold"/>
                <a:ea typeface="Nunito Semi-Bold"/>
                <a:cs typeface="Nunito Semi-Bold"/>
                <a:sym typeface="Nunito Semi-Bold"/>
              </a:rPr>
              <a:t>: propagation plus periodic Shapley refresh.</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A refresh every f = 10 batches keeps the overhead bounded.</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Inference latency is </a:t>
            </a:r>
            <a:r>
              <a:rPr lang="en-US" sz="2000" b="true">
                <a:solidFill>
                  <a:srgbClr val="111111"/>
                </a:solidFill>
                <a:latin typeface="Nunito Bold"/>
                <a:ea typeface="Nunito Bold"/>
                <a:cs typeface="Nunito Bold"/>
                <a:sym typeface="Nunito Bold"/>
              </a:rPr>
              <a:t>suitable for real-time use</a:t>
            </a:r>
            <a:r>
              <a:rPr lang="en-US" sz="2000" b="true">
                <a:solidFill>
                  <a:srgbClr val="111111"/>
                </a:solidFill>
                <a:latin typeface="Nunito Semi-Bold"/>
                <a:ea typeface="Nunito Semi-Bold"/>
                <a:cs typeface="Nunito Semi-Bold"/>
                <a:sym typeface="Nunito Semi-Bold"/>
              </a:rPr>
              <a:t>.</a:t>
            </a:r>
          </a:p>
        </p:txBody>
      </p:sp>
      <p:sp>
        <p:nvSpPr>
          <p:cNvPr id="38" name="Rounded Rectangle 37"/>
          <p:cNvSpPr/>
          <p:nvPr/>
        </p:nvSpPr>
        <p:spPr>
          <a:xfrm>
            <a:off x="9326880" y="6042914"/>
            <a:ext cx="7932420" cy="3080765"/>
          </a:xfrm>
          <a:prstGeom prst="roundRect">
            <a:avLst>
              <a:gd name="adj" fmla="val 9995"/>
            </a:avLst>
          </a:prstGeom>
          <a:solidFill>
            <a:srgbClr val="4472C4"/>
          </a:solidFill>
          <a:ln>
            <a:noFill/>
          </a:ln>
        </p:spPr>
        <p:txBody>
          <a:bodyPr anchor="ctr" rtlCol="false" lIns="0" tIns="0" rIns="0" bIns="0" wrap="square"/>
          <a:lstStyle/>
          <a:p>
            <a:endParaRPr lang="en-US" sz="1800"/>
          </a:p>
        </p:txBody>
      </p:sp>
      <p:sp>
        <p:nvSpPr>
          <p:cNvPr id="39" name="Rounded Rectangle 38"/>
          <p:cNvSpPr/>
          <p:nvPr/>
        </p:nvSpPr>
        <p:spPr>
          <a:xfrm>
            <a:off x="9784080" y="6006338"/>
            <a:ext cx="2398585"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Convergence</a:t>
            </a:r>
          </a:p>
        </p:txBody>
      </p:sp>
      <p:sp>
        <p:nvSpPr>
          <p:cNvPr id="40" name="TextBox 39"/>
          <p:cNvSpPr txBox="1"/>
          <p:nvPr/>
        </p:nvSpPr>
        <p:spPr>
          <a:xfrm>
            <a:off x="9829800" y="6682994"/>
            <a:ext cx="6972300" cy="2195830"/>
          </a:xfrm>
          <a:prstGeom prst="rect">
            <a:avLst/>
          </a:prstGeom>
          <a:noFill/>
        </p:spPr>
        <p:txBody>
          <a:bodyPr anchor="t" rtlCol="false" lIns="0" tIns="0" rIns="0" bIns="0" wrap="square"/>
          <a:lstStyle/>
          <a:p>
            <a:pPr algn="l" marL="274320" indent="-274320">
              <a:lnSpc>
                <a:spcPts val="2960"/>
              </a:lnSpc>
              <a:spcBef>
                <a:spcPts val="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 = 50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MSE 1.4×10</a:t>
            </a:r>
            <a:r>
              <a:rPr lang="en-US" sz="2000" b="true" baseline="30000">
                <a:solidFill>
                  <a:srgbClr val="FFFFFF"/>
                </a:solidFill>
                <a:latin typeface="Nunito Semi-Bold"/>
                <a:ea typeface="Nunito Semi-Bold"/>
                <a:cs typeface="Nunito Semi-Bold"/>
                <a:sym typeface="Nunito Semi-Bold"/>
              </a:rPr>
              <a:t>−5</a:t>
            </a:r>
            <a:r>
              <a:rPr lang="en-US" sz="2000" b="true">
                <a:solidFill>
                  <a:srgbClr val="FFFFFF"/>
                </a:solidFill>
                <a:latin typeface="Nunito Semi-Bold"/>
                <a:ea typeface="Nunito Semi-Bold"/>
                <a:cs typeface="Nunito Semi-Bold"/>
                <a:sym typeface="Nunito Semi-Bold"/>
              </a:rPr>
              <a:t>, ≈ 99 % accuracy.</a:t>
            </a:r>
          </a:p>
          <a:p>
            <a:pPr algn="l" marL="274320" indent="-274320">
              <a:lnSpc>
                <a:spcPts val="296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 = 100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MSE 3.5×10</a:t>
            </a:r>
            <a:r>
              <a:rPr lang="en-US" sz="2000" b="true" baseline="30000">
                <a:solidFill>
                  <a:srgbClr val="FFFFFF"/>
                </a:solidFill>
                <a:latin typeface="Nunito Semi-Bold"/>
                <a:ea typeface="Nunito Semi-Bold"/>
                <a:cs typeface="Nunito Semi-Bold"/>
                <a:sym typeface="Nunito Semi-Bold"/>
              </a:rPr>
              <a:t>−6</a:t>
            </a:r>
            <a:r>
              <a:rPr lang="en-US" sz="2000" b="true">
                <a:solidFill>
                  <a:srgbClr val="FFFFFF"/>
                </a:solidFill>
                <a:latin typeface="Nunito Semi-Bold"/>
                <a:ea typeface="Nunito Semi-Bold"/>
                <a:cs typeface="Nunito Semi-Bold"/>
                <a:sym typeface="Nunito Semi-Bold"/>
              </a:rPr>
              <a:t>: </a:t>
            </a:r>
            <a:r>
              <a:rPr lang="en-US" sz="2000" b="true">
                <a:solidFill>
                  <a:srgbClr val="FFFFFF"/>
                </a:solidFill>
                <a:latin typeface="Nunito Bold"/>
                <a:ea typeface="Nunito Bold"/>
                <a:cs typeface="Nunito Bold"/>
                <a:sym typeface="Nunito Bold"/>
              </a:rPr>
              <a:t>diminishing returns</a:t>
            </a:r>
            <a:r>
              <a:rPr lang="en-US" sz="2000" b="true">
                <a:solidFill>
                  <a:srgbClr val="FFFFFF"/>
                </a:solidFill>
                <a:latin typeface="Nunito Semi-Bold"/>
                <a:ea typeface="Nunito Semi-Bold"/>
                <a:cs typeface="Nunito Semi-Bold"/>
                <a:sym typeface="Nunito Semi-Bold"/>
              </a:rPr>
              <a:t>.</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The overhead is the price of an in-training attribution signal: measurable, but modest.</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   [8] Castro, J., Gómez, D. &amp; Tejada, J. Polynomial Calculation of the Shapley Value Based on Sampling. Computers &amp; Operations Research 36(5), 1726–1730 (2009).</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61</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Statistical Significance</a:t>
            </a:r>
          </a:p>
        </p:txBody>
      </p:sp>
      <p:pic>
        <p:nvPicPr>
          <p:cNvPr id="25" name="Picture 24" descr="image.png"/>
          <p:cNvPicPr>
            <a:picLocks noChangeAspect="1"/>
          </p:cNvPicPr>
          <p:nvPr/>
        </p:nvPicPr>
        <p:blipFill>
          <a:blip r:embed="rId3"/>
          <a:stretch>
            <a:fillRect/>
          </a:stretch>
        </p:blipFill>
        <p:spPr>
          <a:xfrm>
            <a:off x="7141903" y="1673352"/>
            <a:ext cx="457200" cy="539881"/>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Rounded Rectangle 29"/>
          <p:cNvSpPr/>
          <p:nvPr/>
        </p:nvSpPr>
        <p:spPr>
          <a:xfrm>
            <a:off x="1028700" y="3455162"/>
            <a:ext cx="5196840" cy="2194560"/>
          </a:xfrm>
          <a:prstGeom prst="roundRect">
            <a:avLst>
              <a:gd name="adj" fmla="val 12500"/>
            </a:avLst>
          </a:prstGeom>
          <a:solidFill>
            <a:srgbClr val="4472C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1" name="Equation"/>
              <p:cNvSpPr txBox="1"/>
              <p:nvPr/>
            </p:nvSpPr>
            <p:spPr>
              <a:xfrm>
                <a:off x="121158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3800" i="1">
                          <a:solidFill>
                            <a:srgbClr val="ECC665"/>
                          </a:solidFill>
                          <a:latin typeface="Cambria Math" panose="02040503050406030204" pitchFamily="18" charset="0"/>
                        </a:rPr>
                        <m:t xml:space="preserve">t</m:t>
                      </m:r>
                      <m:r>
                        <m:rPr>
                          <m:sty m:val="p"/>
                        </m:rPr>
                        <a:rPr lang="en-US" sz="3800">
                          <a:solidFill>
                            <a:srgbClr val="ECC665"/>
                          </a:solidFill>
                          <a:latin typeface="Cambria Math" panose="02040503050406030204" pitchFamily="18" charset="0"/>
                        </a:rPr>
                        <m:t xml:space="preserve">=46.38</m:t>
                      </m:r>
                    </m:oMath>
                  </m:oMathPara>
                </a14:m>
                <a:endParaRPr lang="en-US" sz="3800"/>
              </a:p>
            </p:txBody>
          </p:sp>
        </mc:Choice>
        <mc:Fallback>
          <p:sp>
            <p:nvSpPr>
              <p:cNvPr id="31" name="Equation"/>
              <p:cNvSpPr txBox="1"/>
              <p:nvPr/>
            </p:nvSpPr>
            <p:spPr>
              <a:xfrm>
                <a:off x="1211580" y="3729482"/>
                <a:ext cx="4831080" cy="1051560"/>
              </a:xfrm>
              <a:prstGeom prst="rect">
                <a:avLst/>
              </a:prstGeom>
              <a:blipFill>
                <a:blip r:embed="rId5"/>
                <a:stretch>
                  <a:fillRect/>
                </a:stretch>
              </a:blipFill>
            </p:spPr>
            <p:txBody>
              <a:bodyPr/>
              <a:lstStyle/>
              <a:p>
                <a:endParaRPr lang="en-US"/>
              </a:p>
            </p:txBody>
          </p:sp>
        </mc:Fallback>
      </mc:AlternateContent>
      <p:sp>
        <p:nvSpPr>
          <p:cNvPr id="32" name="TextBox 31"/>
          <p:cNvSpPr txBox="1"/>
          <p:nvPr/>
        </p:nvSpPr>
        <p:spPr>
          <a:xfrm>
            <a:off x="130302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Semi-Bold"/>
                <a:ea typeface="Nunito Semi-Bold"/>
                <a:cs typeface="Nunito Semi-Bold"/>
                <a:sym typeface="Nunito Semi-Bold"/>
              </a:rPr>
              <a:t>paired t-test vs HPCF · </a:t>
            </a:r>
            <a:r>
              <a:rPr lang="en-US" sz="1700" b="true">
                <a:solidFill>
                  <a:srgbClr val="FFFFFF"/>
                </a:solidFill>
                <a:latin typeface="Nunito Bold"/>
                <a:ea typeface="Nunito Bold"/>
                <a:cs typeface="Nunito Bold"/>
                <a:sym typeface="Nunito Bold"/>
              </a:rPr>
              <a:t>df = 6,039</a:t>
            </a:r>
          </a:p>
        </p:txBody>
      </p:sp>
      <p:sp>
        <p:nvSpPr>
          <p:cNvPr id="33" name="Rounded Rectangle 32"/>
          <p:cNvSpPr/>
          <p:nvPr/>
        </p:nvSpPr>
        <p:spPr>
          <a:xfrm>
            <a:off x="6545580" y="3455162"/>
            <a:ext cx="5196840" cy="2194560"/>
          </a:xfrm>
          <a:prstGeom prst="roundRect">
            <a:avLst>
              <a:gd name="adj" fmla="val 12500"/>
            </a:avLst>
          </a:prstGeom>
          <a:solidFill>
            <a:srgbClr val="2F5597"/>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4" name="Equation"/>
              <p:cNvSpPr txBox="1"/>
              <p:nvPr/>
            </p:nvSpPr>
            <p:spPr>
              <a:xfrm>
                <a:off x="672846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3800" i="1">
                              <a:solidFill>
                                <a:srgbClr val="ECC665"/>
                              </a:solidFill>
                              <a:latin typeface="Cambria Math" panose="02040503050406030204" pitchFamily="18" charset="0"/>
                            </a:rPr>
                          </m:ctrlPr>
                        </m:sSubPr>
                        <m:e>
                          <m:r>
                            <a:rPr lang="en-US" sz="3800" i="1">
                              <a:solidFill>
                                <a:srgbClr val="ECC665"/>
                              </a:solidFill>
                              <a:latin typeface="Cambria Math" panose="02040503050406030204" pitchFamily="18" charset="0"/>
                            </a:rPr>
                            <m:t xml:space="preserve">d</m:t>
                          </m:r>
                        </m:e>
                        <m:sub>
                          <m:r>
                            <a:rPr lang="en-US" sz="3800" i="1">
                              <a:solidFill>
                                <a:srgbClr val="ECC665"/>
                              </a:solidFill>
                              <a:latin typeface="Cambria Math" panose="02040503050406030204" pitchFamily="18" charset="0"/>
                            </a:rPr>
                            <m:t xml:space="preserve">z</m:t>
                          </m:r>
                        </m:sub>
                      </m:sSub>
                      <m:r>
                        <m:rPr>
                          <m:sty m:val="p"/>
                        </m:rPr>
                        <a:rPr lang="en-US" sz="3800">
                          <a:solidFill>
                            <a:srgbClr val="ECC665"/>
                          </a:solidFill>
                          <a:latin typeface="Cambria Math" panose="02040503050406030204" pitchFamily="18" charset="0"/>
                        </a:rPr>
                        <m:t xml:space="preserve">=1.33</m:t>
                      </m:r>
                    </m:oMath>
                  </m:oMathPara>
                </a14:m>
                <a:endParaRPr lang="en-US" sz="3800"/>
              </a:p>
            </p:txBody>
          </p:sp>
        </mc:Choice>
        <mc:Fallback>
          <p:sp>
            <p:nvSpPr>
              <p:cNvPr id="34" name="Equation"/>
              <p:cNvSpPr txBox="1"/>
              <p:nvPr/>
            </p:nvSpPr>
            <p:spPr>
              <a:xfrm>
                <a:off x="6728460" y="3729482"/>
                <a:ext cx="4831080" cy="1051560"/>
              </a:xfrm>
              <a:prstGeom prst="rect">
                <a:avLst/>
              </a:prstGeom>
              <a:blipFill>
                <a:blip r:embed="rId6"/>
                <a:stretch>
                  <a:fillRect/>
                </a:stretch>
              </a:blipFill>
            </p:spPr>
            <p:txBody>
              <a:bodyPr/>
              <a:lstStyle/>
              <a:p>
                <a:endParaRPr lang="en-US"/>
              </a:p>
            </p:txBody>
          </p:sp>
        </mc:Fallback>
      </mc:AlternateContent>
      <p:sp>
        <p:nvSpPr>
          <p:cNvPr id="35" name="TextBox 34"/>
          <p:cNvSpPr txBox="1"/>
          <p:nvPr/>
        </p:nvSpPr>
        <p:spPr>
          <a:xfrm>
            <a:off x="681990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Bold"/>
                <a:ea typeface="Nunito Bold"/>
                <a:cs typeface="Nunito Bold"/>
                <a:sym typeface="Nunito Bold"/>
              </a:rPr>
              <a:t>Cohen's d</a:t>
            </a:r>
            <a:r>
              <a:rPr lang="en-US" sz="1700" b="true" baseline="-25000">
                <a:solidFill>
                  <a:srgbClr val="FFFFFF"/>
                </a:solidFill>
                <a:latin typeface="Nunito Bold"/>
                <a:ea typeface="Nunito Bold"/>
                <a:cs typeface="Nunito Bold"/>
                <a:sym typeface="Nunito Bold"/>
              </a:rPr>
              <a:t>z</a:t>
            </a:r>
            <a:r>
              <a:rPr lang="en-US" sz="1700" b="true">
                <a:solidFill>
                  <a:srgbClr val="FFFFFF"/>
                </a:solidFill>
                <a:latin typeface="Nunito Semi-Bold"/>
                <a:ea typeface="Nunito Semi-Bold"/>
                <a:cs typeface="Nunito Semi-Bold"/>
                <a:sym typeface="Nunito Semi-Bold"/>
              </a:rPr>
              <a:t> · a large effect size</a:t>
            </a:r>
          </a:p>
        </p:txBody>
      </p:sp>
      <p:sp>
        <p:nvSpPr>
          <p:cNvPr id="36" name="Rounded Rectangle 35"/>
          <p:cNvSpPr/>
          <p:nvPr/>
        </p:nvSpPr>
        <p:spPr>
          <a:xfrm>
            <a:off x="12062460" y="3455162"/>
            <a:ext cx="5196840" cy="2194560"/>
          </a:xfrm>
          <a:prstGeom prst="roundRect">
            <a:avLst>
              <a:gd name="adj" fmla="val 12500"/>
            </a:avLst>
          </a:prstGeom>
          <a:solidFill>
            <a:srgbClr val="1F7A8C"/>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7" name="Equation"/>
              <p:cNvSpPr txBox="1"/>
              <p:nvPr/>
            </p:nvSpPr>
            <p:spPr>
              <a:xfrm>
                <a:off x="1224534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3800" i="1">
                          <a:solidFill>
                            <a:srgbClr val="FFFFFF"/>
                          </a:solidFill>
                          <a:latin typeface="Cambria Math" panose="02040503050406030204" pitchFamily="18" charset="0"/>
                        </a:rPr>
                        <m:t xml:space="preserve">p</m:t>
                      </m:r>
                      <m:r>
                        <m:rPr>
                          <m:sty m:val="p"/>
                        </m:rPr>
                        <a:rPr lang="en-US" sz="3800">
                          <a:solidFill>
                            <a:srgbClr val="FFFFFF"/>
                          </a:solidFill>
                          <a:latin typeface="Cambria Math" panose="02040503050406030204" pitchFamily="18" charset="0"/>
                        </a:rPr>
                        <m:t xml:space="preserve">=1.8×</m:t>
                      </m:r>
                      <m:sSup>
                        <m:sSupPr>
                          <m:ctrlPr>
                            <a:rPr lang="en-US" sz="3800" i="1">
                              <a:solidFill>
                                <a:srgbClr val="FFFFFF"/>
                              </a:solidFill>
                              <a:latin typeface="Cambria Math" panose="02040503050406030204" pitchFamily="18" charset="0"/>
                            </a:rPr>
                          </m:ctrlPr>
                        </m:sSupPr>
                        <m:e>
                          <m:r>
                            <m:rPr>
                              <m:sty m:val="p"/>
                            </m:rPr>
                            <a:rPr lang="en-US" sz="3800">
                              <a:solidFill>
                                <a:srgbClr val="FFFFFF"/>
                              </a:solidFill>
                              <a:latin typeface="Cambria Math" panose="02040503050406030204" pitchFamily="18" charset="0"/>
                            </a:rPr>
                            <m:t xml:space="preserve">10</m:t>
                          </m:r>
                        </m:e>
                        <m:sup>
                          <m:r>
                            <m:rPr>
                              <m:sty m:val="p"/>
                            </m:rPr>
                            <a:rPr lang="en-US" sz="3800">
                              <a:solidFill>
                                <a:srgbClr val="FFFFFF"/>
                              </a:solidFill>
                              <a:latin typeface="Cambria Math" panose="02040503050406030204" pitchFamily="18" charset="0"/>
                            </a:rPr>
                            <m:t xml:space="preserve">−270</m:t>
                          </m:r>
                        </m:sup>
                      </m:sSup>
                    </m:oMath>
                  </m:oMathPara>
                </a14:m>
                <a:endParaRPr lang="en-US" sz="3800"/>
              </a:p>
            </p:txBody>
          </p:sp>
        </mc:Choice>
        <mc:Fallback>
          <p:sp>
            <p:nvSpPr>
              <p:cNvPr id="37" name="Equation"/>
              <p:cNvSpPr txBox="1"/>
              <p:nvPr/>
            </p:nvSpPr>
            <p:spPr>
              <a:xfrm>
                <a:off x="12245340" y="3729482"/>
                <a:ext cx="4831080" cy="1051560"/>
              </a:xfrm>
              <a:prstGeom prst="rect">
                <a:avLst/>
              </a:prstGeom>
              <a:blipFill>
                <a:blip r:embed="rId7"/>
                <a:stretch>
                  <a:fillRect/>
                </a:stretch>
              </a:blipFill>
            </p:spPr>
            <p:txBody>
              <a:bodyPr/>
              <a:lstStyle/>
              <a:p>
                <a:endParaRPr lang="en-US"/>
              </a:p>
            </p:txBody>
          </p:sp>
        </mc:Fallback>
      </mc:AlternateContent>
      <p:sp>
        <p:nvSpPr>
          <p:cNvPr id="38" name="TextBox 37"/>
          <p:cNvSpPr txBox="1"/>
          <p:nvPr/>
        </p:nvSpPr>
        <p:spPr>
          <a:xfrm>
            <a:off x="1233678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Semi-Bold"/>
                <a:ea typeface="Nunito Semi-Bold"/>
                <a:cs typeface="Nunito Semi-Bold"/>
                <a:sym typeface="Nunito Semi-Bold"/>
              </a:rPr>
              <a:t>after </a:t>
            </a:r>
            <a:r>
              <a:rPr lang="en-US" sz="1700" b="true">
                <a:solidFill>
                  <a:srgbClr val="FFFFFF"/>
                </a:solidFill>
                <a:latin typeface="Nunito Bold"/>
                <a:ea typeface="Nunito Bold"/>
                <a:cs typeface="Nunito Bold"/>
                <a:sym typeface="Nunito Bold"/>
              </a:rPr>
              <a:t>Holm–Bonferroni</a:t>
            </a:r>
            <a:r>
              <a:rPr lang="en-US" sz="1700" b="true">
                <a:solidFill>
                  <a:srgbClr val="FFFFFF"/>
                </a:solidFill>
                <a:latin typeface="Nunito Semi-Bold"/>
                <a:ea typeface="Nunito Semi-Bold"/>
                <a:cs typeface="Nunito Semi-Bold"/>
                <a:sym typeface="Nunito Semi-Bold"/>
              </a:rPr>
              <a:t> correction</a:t>
            </a:r>
          </a:p>
        </p:txBody>
      </p:sp>
      <p:sp>
        <p:nvSpPr>
          <p:cNvPr id="39" name="TextBox 38"/>
          <p:cNvSpPr txBox="1"/>
          <p:nvPr/>
        </p:nvSpPr>
        <p:spPr>
          <a:xfrm>
            <a:off x="1028700" y="5695442"/>
            <a:ext cx="16230600" cy="411480"/>
          </a:xfrm>
          <a:prstGeom prst="rect">
            <a:avLst/>
          </a:prstGeom>
          <a:noFill/>
        </p:spPr>
        <p:txBody>
          <a:bodyPr anchor="t" rtlCol="false" lIns="0" tIns="0" rIns="0" bIns="0" wrap="square"/>
          <a:lstStyle/>
          <a:p>
            <a:pPr algn="l">
              <a:lnSpc>
                <a:spcPts val="1800"/>
              </a:lnSpc>
              <a:spcBef>
                <a:spcPts val="0"/>
              </a:spcBef>
              <a:buNone/>
            </a:pPr>
            <a:r>
              <a:rPr lang="en-US" sz="1400" b="true">
                <a:solidFill>
                  <a:srgbClr val="8A8378"/>
                </a:solidFill>
                <a:latin typeface="Nunito Semi-Bold"/>
                <a:ea typeface="Nunito Semi-Bold"/>
                <a:cs typeface="Nunito Semi-Bold"/>
                <a:sym typeface="Nunito Semi-Bold"/>
              </a:rPr>
              <a:t>Table 7.6 (thesis): paired tests on per-user NDCG@20, DyHuCoG vs HPCF (all six comparisons in the backup slides).</a:t>
            </a:r>
          </a:p>
        </p:txBody>
      </p:sp>
      <p:sp>
        <p:nvSpPr>
          <p:cNvPr id="40" name="Rounded Rectangle 39"/>
          <p:cNvSpPr/>
          <p:nvPr/>
        </p:nvSpPr>
        <p:spPr>
          <a:xfrm>
            <a:off x="1028700" y="6335522"/>
            <a:ext cx="16230600" cy="2973070"/>
          </a:xfrm>
          <a:prstGeom prst="roundRect">
            <a:avLst>
              <a:gd name="adj" fmla="val 10457"/>
            </a:avLst>
          </a:prstGeom>
          <a:solidFill>
            <a:srgbClr val="E7EAF3"/>
          </a:solidFill>
          <a:ln>
            <a:noFill/>
          </a:ln>
        </p:spPr>
        <p:txBody>
          <a:bodyPr anchor="ctr" rtlCol="false" lIns="0" tIns="0" rIns="0" bIns="0" wrap="square"/>
          <a:lstStyle/>
          <a:p>
            <a:endParaRPr lang="en-US" sz="1800"/>
          </a:p>
        </p:txBody>
      </p:sp>
      <p:sp>
        <p:nvSpPr>
          <p:cNvPr id="41" name="Rounded Rectangle 40"/>
          <p:cNvSpPr/>
          <p:nvPr/>
        </p:nvSpPr>
        <p:spPr>
          <a:xfrm>
            <a:off x="1485900" y="6097778"/>
            <a:ext cx="1794243"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Protocol</a:t>
            </a:r>
          </a:p>
        </p:txBody>
      </p:sp>
      <p:sp>
        <p:nvSpPr>
          <p:cNvPr id="42" name="TextBox 41"/>
          <p:cNvSpPr txBox="1"/>
          <p:nvPr/>
        </p:nvSpPr>
        <p:spPr>
          <a:xfrm>
            <a:off x="1531620" y="6975602"/>
            <a:ext cx="15270480" cy="205867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Paired t-tests on </a:t>
            </a:r>
            <a:r>
              <a:rPr lang="en-US" sz="2100" b="true">
                <a:solidFill>
                  <a:srgbClr val="111111"/>
                </a:solidFill>
                <a:latin typeface="Nunito Bold"/>
                <a:ea typeface="Nunito Bold"/>
                <a:cs typeface="Nunito Bold"/>
                <a:sym typeface="Nunito Bold"/>
              </a:rPr>
              <a:t>per-user NDCG@20</a:t>
            </a:r>
            <a:r>
              <a:rPr lang="en-US" sz="2100" b="true">
                <a:solidFill>
                  <a:srgbClr val="111111"/>
                </a:solidFill>
                <a:latin typeface="Nunito Semi-Bold"/>
                <a:ea typeface="Nunito Semi-Bold"/>
                <a:cs typeface="Nunito Semi-Bold"/>
                <a:sym typeface="Nunito Semi-Bold"/>
              </a:rPr>
              <a:t> (n = 6,040 users, MovieLens-1M).</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DyHuCoG beats </a:t>
            </a:r>
            <a:r>
              <a:rPr lang="en-US" sz="2100" b="true">
                <a:solidFill>
                  <a:srgbClr val="111111"/>
                </a:solidFill>
                <a:latin typeface="Nunito Bold"/>
                <a:ea typeface="Nunito Bold"/>
                <a:cs typeface="Nunito Bold"/>
                <a:sym typeface="Nunito Bold"/>
              </a:rPr>
              <a:t>every baseline</a:t>
            </a:r>
            <a:r>
              <a:rPr lang="en-US" sz="2100" b="true">
                <a:solidFill>
                  <a:srgbClr val="111111"/>
                </a:solidFill>
                <a:latin typeface="Nunito Semi-Bold"/>
                <a:ea typeface="Nunito Semi-Bold"/>
                <a:cs typeface="Nunito Semi-Bold"/>
                <a:sym typeface="Nunito Semi-Bold"/>
              </a:rPr>
              <a:t> with very small p-values after Holm–Bonferroni correction.</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Wilcoxon signed-rank test</a:t>
            </a:r>
            <a:r>
              <a:rPr lang="en-US" sz="2100" b="true">
                <a:solidFill>
                  <a:srgbClr val="111111"/>
                </a:solidFill>
                <a:latin typeface="Nunito Semi-Bold"/>
                <a:ea typeface="Nunito Semi-Bold"/>
                <a:cs typeface="Nunito Semi-Bold"/>
                <a:sym typeface="Nunito Semi-Bold"/>
              </a:rPr>
              <a:t> also significant (p &lt; 0.001): the result does not depend on normality.</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Effect sizes are large</a:t>
            </a:r>
            <a:r>
              <a:rPr lang="en-US" sz="2100" b="true">
                <a:solidFill>
                  <a:srgbClr val="111111"/>
                </a:solidFill>
                <a:latin typeface="Nunito Semi-Bold"/>
                <a:ea typeface="Nunito Semi-Bold"/>
                <a:cs typeface="Nunito Semi-Bold"/>
                <a:sym typeface="Nunito Semi-Bold"/>
              </a:rPr>
              <a:t>: the improvements really matter, they are not only statistically visible.</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[27] Holm, S. A Simple Sequentially Rejective Multiple Test Procedure. Scand. J. Statist. 6(2), 65–70 (1979).  ·  Cohen, J. Statistical Power Analysis for the Behavioral Sciences (1988).</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Answers to RQ3 and RQ4</a:t>
            </a:r>
          </a:p>
        </p:txBody>
      </p:sp>
      <p:pic>
        <p:nvPicPr>
          <p:cNvPr id="23" name="Picture 22" descr="image.png"/>
          <p:cNvPicPr>
            <a:picLocks noChangeAspect="1"/>
          </p:cNvPicPr>
          <p:nvPr/>
        </p:nvPicPr>
        <p:blipFill>
          <a:blip r:embed="rId3"/>
          <a:stretch>
            <a:fillRect/>
          </a:stretch>
        </p:blipFill>
        <p:spPr>
          <a:xfrm>
            <a:off x="7806261" y="1673352"/>
            <a:ext cx="457200" cy="373212"/>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546602"/>
            <a:ext cx="7932420" cy="1600200"/>
          </a:xfrm>
          <a:prstGeom prst="roundRect">
            <a:avLst>
              <a:gd name="adj" fmla="val 12571"/>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RQ3</a:t>
            </a:r>
          </a:p>
        </p:txBody>
      </p:sp>
      <p:sp>
        <p:nvSpPr>
          <p:cNvPr id="30" name="TextBox 29"/>
          <p:cNvSpPr txBox="1"/>
          <p:nvPr/>
        </p:nvSpPr>
        <p:spPr>
          <a:xfrm>
            <a:off x="1394460" y="3820922"/>
            <a:ext cx="7200900" cy="118872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Bold"/>
                <a:ea typeface="Nunito Bold"/>
                <a:cs typeface="Nunito Bold"/>
                <a:sym typeface="Nunito Bold"/>
              </a:rPr>
              <a:t>Yes.</a:t>
            </a:r>
            <a:r>
              <a:rPr lang="en-US" sz="1900" b="true">
                <a:solidFill>
                  <a:srgbClr val="111111"/>
                </a:solidFill>
                <a:latin typeface="Nunito Semi-Bold"/>
                <a:ea typeface="Nunito Semi-Bold"/>
                <a:cs typeface="Nunito Semi-Bold"/>
                <a:sym typeface="Nunito Semi-Bold"/>
              </a:rPr>
              <a:t> Attribution becomes an </a:t>
            </a:r>
            <a:r>
              <a:rPr lang="en-US" sz="1900" b="true">
                <a:solidFill>
                  <a:srgbClr val="111111"/>
                </a:solidFill>
                <a:latin typeface="Nunito Bold"/>
                <a:ea typeface="Nunito Bold"/>
                <a:cs typeface="Nunito Bold"/>
                <a:sym typeface="Nunito Bold"/>
              </a:rPr>
              <a:t>in-training signal</a:t>
            </a:r>
            <a:r>
              <a:rPr lang="en-US" sz="1900" b="true">
                <a:solidFill>
                  <a:srgbClr val="111111"/>
                </a:solidFill>
                <a:latin typeface="Nunito Semi-Bold"/>
                <a:ea typeface="Nunito Semi-Bold"/>
                <a:cs typeface="Nunito Semi-Bold"/>
                <a:sym typeface="Nunito Semi-Bold"/>
              </a:rPr>
              <a:t>: Shapley estimates set the hyperedge weights while the model learns, instead of describing it afterwards.</a:t>
            </a:r>
          </a:p>
        </p:txBody>
      </p:sp>
      <p:sp>
        <p:nvSpPr>
          <p:cNvPr id="31" name="Rounded Rectangle 30"/>
          <p:cNvSpPr/>
          <p:nvPr/>
        </p:nvSpPr>
        <p:spPr>
          <a:xfrm>
            <a:off x="9326880" y="3546602"/>
            <a:ext cx="7932420" cy="1600200"/>
          </a:xfrm>
          <a:prstGeom prst="roundRect">
            <a:avLst>
              <a:gd name="adj" fmla="val 12571"/>
            </a:avLst>
          </a:prstGeom>
          <a:solidFill>
            <a:srgbClr val="E7EAF3"/>
          </a:solidFill>
          <a:ln w="25400">
            <a:solidFill>
              <a:srgbClr val="4472C4"/>
            </a:solidFill>
          </a:ln>
        </p:spPr>
        <p:txBody>
          <a:bodyPr anchor="ctr" rtlCol="false" lIns="0" tIns="0" rIns="0" bIns="0" wrap="square"/>
          <a:lstStyle/>
          <a:p>
            <a:endParaRPr lang="en-US" sz="1800"/>
          </a:p>
        </p:txBody>
      </p:sp>
      <p:sp>
        <p:nvSpPr>
          <p:cNvPr id="32" name="Rounded Rectangle 31"/>
          <p:cNvSpPr/>
          <p:nvPr/>
        </p:nvSpPr>
        <p:spPr>
          <a:xfrm>
            <a:off x="964692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RQ4</a:t>
            </a:r>
          </a:p>
        </p:txBody>
      </p:sp>
      <p:sp>
        <p:nvSpPr>
          <p:cNvPr id="33" name="TextBox 32"/>
          <p:cNvSpPr txBox="1"/>
          <p:nvPr/>
        </p:nvSpPr>
        <p:spPr>
          <a:xfrm>
            <a:off x="9692640" y="3820922"/>
            <a:ext cx="7200900" cy="118872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Bold"/>
                <a:ea typeface="Nunito Bold"/>
                <a:cs typeface="Nunito Bold"/>
                <a:sym typeface="Nunito Bold"/>
              </a:rPr>
              <a:t>Yes.</a:t>
            </a:r>
            <a:r>
              <a:rPr lang="en-US" sz="1900" b="true">
                <a:solidFill>
                  <a:srgbClr val="111111"/>
                </a:solidFill>
                <a:latin typeface="Nunito Semi-Bold"/>
                <a:ea typeface="Nunito Semi-Bold"/>
                <a:cs typeface="Nunito Semi-Bold"/>
                <a:sym typeface="Nunito Semi-Bold"/>
              </a:rPr>
              <a:t> Ranking, coverage and diversity </a:t>
            </a:r>
            <a:r>
              <a:rPr lang="en-US" sz="1900" b="true">
                <a:solidFill>
                  <a:srgbClr val="111111"/>
                </a:solidFill>
                <a:latin typeface="Nunito Bold"/>
                <a:ea typeface="Nunito Bold"/>
                <a:cs typeface="Nunito Bold"/>
                <a:sym typeface="Nunito Bold"/>
              </a:rPr>
              <a:t>improve together</a:t>
            </a:r>
            <a:r>
              <a:rPr lang="en-US" sz="1900" b="true">
                <a:solidFill>
                  <a:srgbClr val="111111"/>
                </a:solidFill>
                <a:latin typeface="Nunito Semi-Bold"/>
                <a:ea typeface="Nunito Semi-Bold"/>
                <a:cs typeface="Nunito Semi-Bold"/>
                <a:sym typeface="Nunito Semi-Bold"/>
              </a:rPr>
              <a:t> on both datasets, with the largest gains where data are sparsest.</a:t>
            </a:r>
          </a:p>
        </p:txBody>
      </p:sp>
      <p:graphicFrame>
        <p:nvGraphicFramePr>
          <p:cNvPr id="34" name="Table 33"/>
          <p:cNvGraphicFramePr>
            <a:graphicFrameLocks noGrp="1"/>
          </p:cNvGraphicFramePr>
          <p:nvPr/>
        </p:nvGraphicFramePr>
        <p:xfrm>
          <a:off x="1028700" y="5558282"/>
          <a:ext cx="16230599" cy="3061716"/>
        </p:xfrm>
        <a:graphic>
          <a:graphicData uri="http://schemas.openxmlformats.org/drawingml/2006/table">
            <a:tbl>
              <a:tblPr firstRow="0" bandRow="0" firstCol="0" lastRow="0" lastCol="0" bandCol="0">
                <a:tableStyleId>{2D5ABB26-0587-4C30-8999-92F81FD0307C}</a:tableStyleId>
              </a:tblPr>
              <a:tblGrid>
                <a:gridCol w="5826369"/>
                <a:gridCol w="1352550"/>
                <a:gridCol w="9051680"/>
              </a:tblGrid>
              <a:tr h="73152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O1  ·  Recommendation as a cooperative game over users, items and contexts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Player set U </a:t>
                      </a:r>
                      <a:r>
                        <a:rPr lang="en-US" sz="1700" b="true">
                          <a:solidFill>
                            <a:srgbClr val="111111"/>
                          </a:solidFill>
                          <a:latin typeface="Cambria Math"/>
                          <a:ea typeface="Cambria Math"/>
                          <a:cs typeface="Cambria Math"/>
                          <a:sym typeface="Cambria Math"/>
                        </a:rPr>
                        <a:t>∪ </a:t>
                      </a:r>
                      <a:r>
                        <a:rPr lang="en-US" sz="1700" b="true">
                          <a:solidFill>
                            <a:srgbClr val="111111"/>
                          </a:solidFill>
                          <a:latin typeface="Nunito Semi-Bold"/>
                          <a:ea typeface="Nunito Semi-Bold"/>
                          <a:cs typeface="Nunito Semi-Bold"/>
                          <a:sym typeface="Nunito Semi-Bold"/>
                        </a:rPr>
                        <a:t>I </a:t>
                      </a:r>
                      <a:r>
                        <a:rPr lang="en-US" sz="1700" b="true">
                          <a:solidFill>
                            <a:srgbClr val="111111"/>
                          </a:solidFill>
                          <a:latin typeface="Cambria Math"/>
                          <a:ea typeface="Cambria Math"/>
                          <a:cs typeface="Cambria Math"/>
                          <a:sym typeface="Cambria Math"/>
                        </a:rPr>
                        <a:t>∪ </a:t>
                      </a:r>
                      <a:r>
                        <a:rPr lang="en-US" sz="1700" b="true">
                          <a:solidFill>
                            <a:srgbClr val="111111"/>
                          </a:solidFill>
                          <a:latin typeface="Nunito Semi-Bold"/>
                          <a:ea typeface="Nunito Semi-Bold"/>
                          <a:cs typeface="Nunito Semi-Bold"/>
                          <a:sym typeface="Nunito Semi-Bold"/>
                        </a:rPr>
                        <a:t>C; coalition utility </a:t>
                      </a:r>
                      <a:r>
                        <a:rPr lang="en-US" sz="1700" b="true">
                          <a:solidFill>
                            <a:srgbClr val="111111"/>
                          </a:solidFill>
                          <a:latin typeface="Calibri"/>
                          <a:ea typeface="Calibri"/>
                          <a:cs typeface="Calibri"/>
                          <a:sym typeface="Calibri"/>
                        </a:rPr>
                        <a:t>α</a:t>
                      </a:r>
                      <a:r>
                        <a:rPr lang="en-US" sz="1700" b="true">
                          <a:solidFill>
                            <a:srgbClr val="111111"/>
                          </a:solidFill>
                          <a:latin typeface="Nunito Semi-Bold"/>
                          <a:ea typeface="Nunito Semi-Bold"/>
                          <a:cs typeface="Nunito Semi-Bold"/>
                          <a:sym typeface="Nunito Semi-Bold"/>
                        </a:rPr>
                        <a:t>·accuracy + </a:t>
                      </a:r>
                      <a:r>
                        <a:rPr lang="en-US" sz="1700" b="true">
                          <a:solidFill>
                            <a:srgbClr val="111111"/>
                          </a:solidFill>
                          <a:latin typeface="Calibri"/>
                          <a:ea typeface="Calibri"/>
                          <a:cs typeface="Calibri"/>
                          <a:sym typeface="Calibri"/>
                        </a:rPr>
                        <a:t>β</a:t>
                      </a:r>
                      <a:r>
                        <a:rPr lang="en-US" sz="1700" b="true">
                          <a:solidFill>
                            <a:srgbClr val="111111"/>
                          </a:solidFill>
                          <a:latin typeface="Nunito Semi-Bold"/>
                          <a:ea typeface="Nunito Semi-Bold"/>
                          <a:cs typeface="Nunito Semi-Bold"/>
                          <a:sym typeface="Nunito Semi-Bold"/>
                        </a:rPr>
                        <a:t>·diversity + </a:t>
                      </a:r>
                      <a:r>
                        <a:rPr lang="en-US" sz="1700" b="true">
                          <a:solidFill>
                            <a:srgbClr val="111111"/>
                          </a:solidFill>
                          <a:latin typeface="Calibri"/>
                          <a:ea typeface="Calibri"/>
                          <a:cs typeface="Calibri"/>
                          <a:sym typeface="Calibri"/>
                        </a:rPr>
                        <a:t>γ</a:t>
                      </a:r>
                      <a:r>
                        <a:rPr lang="en-US" sz="1700" b="true">
                          <a:solidFill>
                            <a:srgbClr val="111111"/>
                          </a:solidFill>
                          <a:latin typeface="Nunito Semi-Bold"/>
                          <a:ea typeface="Nunito Semi-Bold"/>
                          <a:cs typeface="Nunito Semi-Bold"/>
                          <a:sym typeface="Nunito Semi-Bold"/>
                        </a:rPr>
                        <a:t>·context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O2  ·  Preference-aware Monte Carlo Shapley inside message passing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 = 50 permutations, ≈ 99 % accuracy, refreshed every 10 batches; ablation −4.6 % / −6.1 % without it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O3  ·  Ranking, coverage and diversity together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+9.8 % / +13.3 % NDCG@20, +16.1 % / +29.7 % Coverage, +11.9 % / +12.5 % ILD over HPCF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63</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pic>
        <p:nvPicPr>
          <p:cNvPr id="25" name="Picture 24" descr="image.png"/>
          <p:cNvPicPr>
            <a:picLocks noChangeAspect="1"/>
          </p:cNvPicPr>
          <p:nvPr/>
        </p:nvPicPr>
        <p:blipFill>
          <a:blip r:embed="rId3"/>
          <a:stretch>
            <a:fillRect/>
          </a:stretch>
        </p:blipFill>
        <p:spPr>
          <a:xfrm>
            <a:off x="4641445" y="1673352"/>
            <a:ext cx="457200" cy="427074"/>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30" name="Rounded Rectangle 29"/>
          <p:cNvSpPr/>
          <p:nvPr/>
        </p:nvSpPr>
        <p:spPr>
          <a:xfrm>
            <a:off x="1028700" y="3363722"/>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1" name="Oval 30"/>
          <p:cNvSpPr/>
          <p:nvPr/>
        </p:nvSpPr>
        <p:spPr>
          <a:xfrm>
            <a:off x="1303020" y="3750214"/>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32" name="TextBox 31"/>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accuracy / diversity / context trade-off is not fixed by nature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When importance comes from a cooperative-game utility, NDCG, Recall, Coverage and ILD all move up together.</a:t>
            </a:r>
          </a:p>
        </p:txBody>
      </p:sp>
      <p:sp>
        <p:nvSpPr>
          <p:cNvPr id="33" name="Rounded Rectangle 32"/>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4" name="Oval 33"/>
          <p:cNvSpPr/>
          <p:nvPr/>
        </p:nvSpPr>
        <p:spPr>
          <a:xfrm>
            <a:off x="1303020" y="5254720"/>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5" name="TextBox 34"/>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Gains are largest where data are weakest</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+13.3 % NDCG@20 on Amazon-Book vs +9.8 % on MovieLens-1M; +10.9 % / +9.6 % for cold users and cold items.</a:t>
            </a:r>
          </a:p>
        </p:txBody>
      </p:sp>
      <p:sp>
        <p:nvSpPr>
          <p:cNvPr id="36" name="Rounded Rectangle 35"/>
          <p:cNvSpPr/>
          <p:nvPr/>
        </p:nvSpPr>
        <p:spPr>
          <a:xfrm>
            <a:off x="1028700" y="6372733"/>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7" name="Oval 36"/>
          <p:cNvSpPr/>
          <p:nvPr/>
        </p:nvSpPr>
        <p:spPr>
          <a:xfrm>
            <a:off x="1303020" y="6759225"/>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8" name="TextBox 37"/>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Context and structure carry the most weight</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Removing context (−8.2 % / −11.0 %) or the hypergraph (−6.8 % / −8.9 %) hurts most; Shapley weighting adds a further 4.6 % / 6.1 %.</a:t>
            </a:r>
          </a:p>
        </p:txBody>
      </p:sp>
      <p:sp>
        <p:nvSpPr>
          <p:cNvPr id="39" name="Rounded Rectangle 38"/>
          <p:cNvSpPr/>
          <p:nvPr/>
        </p:nvSpPr>
        <p:spPr>
          <a:xfrm>
            <a:off x="1028700" y="7877238"/>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40" name="Oval 39"/>
          <p:cNvSpPr/>
          <p:nvPr/>
        </p:nvSpPr>
        <p:spPr>
          <a:xfrm>
            <a:off x="1303020" y="8263731"/>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41" name="TextBox 40"/>
          <p:cNvSpPr txBox="1"/>
          <p:nvPr/>
        </p:nvSpPr>
        <p:spPr>
          <a:xfrm>
            <a:off x="2171700" y="7986966"/>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improvement is statistically solid and affordable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t = 46.38, d</a:t>
            </a:r>
            <a:r>
              <a:rPr lang="en-US" sz="1900" b="true" baseline="-25000">
                <a:solidFill>
                  <a:srgbClr val="111111"/>
                </a:solidFill>
                <a:latin typeface="Nunito Semi-Bold"/>
                <a:ea typeface="Nunito Semi-Bold"/>
                <a:cs typeface="Nunito Semi-Bold"/>
                <a:sym typeface="Nunito Semi-Bold"/>
              </a:rPr>
              <a:t>z</a:t>
            </a:r>
            <a:r>
              <a:rPr lang="en-US" sz="1900" b="true">
                <a:solidFill>
                  <a:srgbClr val="111111"/>
                </a:solidFill>
                <a:latin typeface="Nunito Semi-Bold"/>
                <a:ea typeface="Nunito Semi-Bold"/>
                <a:cs typeface="Nunito Semi-Bold"/>
                <a:sym typeface="Nunito Semi-Bold"/>
              </a:rPr>
              <a:t> = 1.33, p &lt; 10</a:t>
            </a:r>
            <a:r>
              <a:rPr lang="en-US" sz="1900" b="true" baseline="30000">
                <a:solidFill>
                  <a:srgbClr val="111111"/>
                </a:solidFill>
                <a:latin typeface="Nunito Semi-Bold"/>
                <a:ea typeface="Nunito Semi-Bold"/>
                <a:cs typeface="Nunito Semi-Bold"/>
                <a:sym typeface="Nunito Semi-Bold"/>
              </a:rPr>
              <a:t>−200</a:t>
            </a:r>
            <a:r>
              <a:rPr lang="en-US" sz="1900" b="true">
                <a:solidFill>
                  <a:srgbClr val="111111"/>
                </a:solidFill>
                <a:latin typeface="Nunito Semi-Bold"/>
                <a:ea typeface="Nunito Semi-Bold"/>
                <a:cs typeface="Nunito Semi-Bold"/>
                <a:sym typeface="Nunito Semi-Bold"/>
              </a:rPr>
              <a:t> vs HPCF; training ≈ 1.78× HPCF, inference 1.84 ms per query.</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pic>
        <p:nvPicPr>
          <p:cNvPr id="23" name="Picture 22" descr="image.png"/>
          <p:cNvPicPr>
            <a:picLocks noChangeAspect="1"/>
          </p:cNvPicPr>
          <p:nvPr/>
        </p:nvPicPr>
        <p:blipFill>
          <a:blip r:embed="rId3"/>
          <a:stretch>
            <a:fillRect/>
          </a:stretch>
        </p:blipFill>
        <p:spPr>
          <a:xfrm>
            <a:off x="4251252" y="1673352"/>
            <a:ext cx="457200" cy="39900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COMPUTE OVERHEAD</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Roughly </a:t>
            </a:r>
            <a:r>
              <a:rPr lang="en-US" sz="1900" b="true">
                <a:solidFill>
                  <a:srgbClr val="FFFFFF"/>
                </a:solidFill>
                <a:latin typeface="Nunito Bold"/>
                <a:ea typeface="Nunito Bold"/>
                <a:cs typeface="Nunito Bold"/>
                <a:sym typeface="Nunito Bold"/>
              </a:rPr>
              <a:t>1.78× the training time</a:t>
            </a:r>
            <a:r>
              <a:rPr lang="en-US" sz="1900" b="true">
                <a:solidFill>
                  <a:srgbClr val="FFFFFF"/>
                </a:solidFill>
                <a:latin typeface="Nunito Semi-Bold"/>
                <a:ea typeface="Nunito Semi-Bold"/>
                <a:cs typeface="Nunito Semi-Bold"/>
                <a:sym typeface="Nunito Semi-Bold"/>
              </a:rPr>
              <a:t> of HPCF on MovieLens-1M (≈ 3.4× MF); acceptable, but not free.</a:t>
            </a:r>
          </a:p>
        </p:txBody>
      </p:sp>
      <p:sp>
        <p:nvSpPr>
          <p:cNvPr id="30" name="Rounded Rectangle 29"/>
          <p:cNvSpPr/>
          <p:nvPr/>
        </p:nvSpPr>
        <p:spPr>
          <a:xfrm>
            <a:off x="9304020" y="3363722"/>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NEEDS MEANINGFUL CONTEXT</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largest single component is </a:t>
            </a:r>
            <a:r>
              <a:rPr lang="en-US" sz="1900" b="true">
                <a:solidFill>
                  <a:srgbClr val="FFFFFF"/>
                </a:solidFill>
                <a:latin typeface="Nunito Bold"/>
                <a:ea typeface="Nunito Bold"/>
                <a:cs typeface="Nunito Bold"/>
                <a:sym typeface="Nunito Bold"/>
              </a:rPr>
              <a:t>context</a:t>
            </a:r>
            <a:r>
              <a:rPr lang="en-US" sz="1900" b="true">
                <a:solidFill>
                  <a:srgbClr val="FFFFFF"/>
                </a:solidFill>
                <a:latin typeface="Nunito Semi-Bold"/>
                <a:ea typeface="Nunito Semi-Bold"/>
                <a:cs typeface="Nunito Semi-Bold"/>
                <a:sym typeface="Nunito Semi-Bold"/>
              </a:rPr>
              <a:t>; on data without usable context the gain shrinks.</a:t>
            </a:r>
          </a:p>
        </p:txBody>
      </p:sp>
      <p:sp>
        <p:nvSpPr>
          <p:cNvPr id="32" name="Rounded Rectangle 31"/>
          <p:cNvSpPr/>
          <p:nvPr/>
        </p:nvSpPr>
        <p:spPr>
          <a:xfrm>
            <a:off x="1028700" y="5810377"/>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3" name="TextBox 32"/>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MONTE CARLO VARIANCE</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M = 50 gives ≈ 99 % accuracy; </a:t>
            </a:r>
            <a:r>
              <a:rPr lang="en-US" sz="1900" b="true">
                <a:solidFill>
                  <a:srgbClr val="FFFFFF"/>
                </a:solidFill>
                <a:latin typeface="Nunito Bold"/>
                <a:ea typeface="Nunito Bold"/>
                <a:cs typeface="Nunito Bold"/>
                <a:sym typeface="Nunito Bold"/>
              </a:rPr>
              <a:t>variance reduction</a:t>
            </a:r>
            <a:r>
              <a:rPr lang="en-US" sz="1900" b="true">
                <a:solidFill>
                  <a:srgbClr val="FFFFFF"/>
                </a:solidFill>
                <a:latin typeface="Nunito Semi-Bold"/>
                <a:ea typeface="Nunito Semi-Bold"/>
                <a:cs typeface="Nunito Semi-Bold"/>
                <a:sym typeface="Nunito Semi-Bold"/>
              </a:rPr>
              <a:t> could cut the refresh cost further.</a:t>
            </a:r>
          </a:p>
        </p:txBody>
      </p:sp>
      <p:sp>
        <p:nvSpPr>
          <p:cNvPr id="34" name="Rounded Rectangle 33"/>
          <p:cNvSpPr/>
          <p:nvPr/>
        </p:nvSpPr>
        <p:spPr>
          <a:xfrm>
            <a:off x="9304020" y="5810377"/>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35" name="TextBox 34"/>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SCOPE OF THE CLAIM</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Component-wise ablation only; baselines fixed in early 2026, so superiority is claimed </a:t>
            </a:r>
            <a:r>
              <a:rPr lang="en-US" sz="1900" b="true">
                <a:solidFill>
                  <a:srgbClr val="FFFFFF"/>
                </a:solidFill>
                <a:latin typeface="Nunito Bold"/>
                <a:ea typeface="Nunito Bold"/>
                <a:cs typeface="Nunito Bold"/>
                <a:sym typeface="Nunito Bold"/>
              </a:rPr>
              <a:t>only against the tested baselines</a:t>
            </a:r>
            <a:r>
              <a:rPr lang="en-US" sz="1900" b="true">
                <a:solidFill>
                  <a:srgbClr val="FFFFFF"/>
                </a:solidFill>
                <a:latin typeface="Nunito Semi-Bold"/>
                <a:ea typeface="Nunito Semi-Bold"/>
                <a:cs typeface="Nunito Semi-Bold"/>
                <a:sym typeface="Nunito Semi-Bold"/>
              </a:rPr>
              <a:t>.</a:t>
            </a:r>
          </a:p>
        </p:txBody>
      </p:sp>
      <p:sp>
        <p:nvSpPr>
          <p:cNvPr id="36" name="Rounded Rectangle 35"/>
          <p:cNvSpPr/>
          <p:nvPr/>
        </p:nvSpPr>
        <p:spPr>
          <a:xfrm>
            <a:off x="1028700" y="8348472"/>
            <a:ext cx="16230600" cy="960120"/>
          </a:xfrm>
          <a:prstGeom prst="roundRect">
            <a:avLst>
              <a:gd name="adj" fmla="val 23809"/>
            </a:avLst>
          </a:prstGeom>
          <a:noFill/>
          <a:ln w="31750">
            <a:solidFill>
              <a:srgbClr val="1F7A8C"/>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None of these change the main message: attribution can </a:t>
            </a:r>
            <a:r>
              <a:rPr lang="en-US" sz="2000" b="true">
                <a:solidFill>
                  <a:srgbClr val="111111"/>
                </a:solidFill>
                <a:latin typeface="Nunito Bold"/>
                <a:ea typeface="Nunito Bold"/>
                <a:cs typeface="Nunito Bold"/>
                <a:sym typeface="Nunito Bold"/>
              </a:rPr>
              <a:t>guide learning</a:t>
            </a:r>
            <a:r>
              <a:rPr lang="en-US" sz="2000" b="true">
                <a:solidFill>
                  <a:srgbClr val="111111"/>
                </a:solidFill>
                <a:latin typeface="Nunito Semi-Bold"/>
                <a:ea typeface="Nunito Semi-Bold"/>
                <a:cs typeface="Nunito Semi-Bold"/>
                <a:sym typeface="Nunito Semi-Bold"/>
              </a:rPr>
              <a:t>, not only describe it.</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III</a:t>
            </a:r>
          </a:p>
        </p:txBody>
      </p:sp>
      <p:pic>
        <p:nvPicPr>
          <p:cNvPr id="23" name="Picture 22" descr="image.png"/>
          <p:cNvPicPr>
            <a:picLocks noChangeAspect="1"/>
          </p:cNvPicPr>
          <p:nvPr/>
        </p:nvPicPr>
        <p:blipFill>
          <a:blip r:embed="rId3"/>
          <a:stretch>
            <a:fillRect/>
          </a:stretch>
        </p:blipFill>
        <p:spPr>
          <a:xfrm>
            <a:off x="8179226"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5196840" cy="2651760"/>
          </a:xfrm>
          <a:prstGeom prst="roundRect">
            <a:avLst>
              <a:gd name="adj" fmla="val 10344"/>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First-class</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Shapley estimates shape the hyperedge weights during training.</a:t>
            </a:r>
          </a:p>
        </p:txBody>
      </p:sp>
      <p:sp>
        <p:nvSpPr>
          <p:cNvPr id="30" name="Rounded Rectangle 29"/>
          <p:cNvSpPr/>
          <p:nvPr/>
        </p:nvSpPr>
        <p:spPr>
          <a:xfrm>
            <a:off x="6545580" y="3363722"/>
            <a:ext cx="5196840" cy="2651760"/>
          </a:xfrm>
          <a:prstGeom prst="roundRect">
            <a:avLst>
              <a:gd name="adj" fmla="val 10344"/>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Read-out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waterfall shows the same terms the loss optimises: ranking, diversity, context, preference.</a:t>
            </a:r>
          </a:p>
        </p:txBody>
      </p:sp>
      <p:sp>
        <p:nvSpPr>
          <p:cNvPr id="32" name="Rounded Rectangle 31"/>
          <p:cNvSpPr/>
          <p:nvPr/>
        </p:nvSpPr>
        <p:spPr>
          <a:xfrm>
            <a:off x="12062460" y="3363722"/>
            <a:ext cx="5196840" cy="2651760"/>
          </a:xfrm>
          <a:prstGeom prst="roundRect">
            <a:avLst>
              <a:gd name="adj" fmla="val 10344"/>
            </a:avLst>
          </a:prstGeom>
          <a:solidFill>
            <a:srgbClr val="1F7A8C"/>
          </a:solidFill>
          <a:ln>
            <a:noFill/>
          </a:ln>
        </p:spPr>
        <p:txBody>
          <a:bodyPr anchor="ctr" rtlCol="false" lIns="0" tIns="0" rIns="0" bIns="0" wrap="square"/>
          <a:lstStyle/>
          <a:p>
            <a:endParaRPr lang="en-US" sz="1800"/>
          </a:p>
        </p:txBody>
      </p:sp>
      <p:sp>
        <p:nvSpPr>
          <p:cNvPr id="33" name="TextBox 32"/>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Axiomatic</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Built on the four Shapley axioms, in line with trustworthy-AI expectations.</a:t>
            </a:r>
          </a:p>
        </p:txBody>
      </p:sp>
      <p:sp>
        <p:nvSpPr>
          <p:cNvPr id="34" name="Rounded Rectangle 33"/>
          <p:cNvSpPr/>
          <p:nvPr/>
        </p:nvSpPr>
        <p:spPr>
          <a:xfrm>
            <a:off x="1028700" y="647268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5" name="Rounded Rectangle 34"/>
          <p:cNvSpPr/>
          <p:nvPr/>
        </p:nvSpPr>
        <p:spPr>
          <a:xfrm>
            <a:off x="1348740" y="6280658"/>
            <a:ext cx="347127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III</a:t>
            </a:r>
          </a:p>
        </p:txBody>
      </p:sp>
      <p:sp>
        <p:nvSpPr>
          <p:cNvPr id="36" name="TextBox 35"/>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Attribution becomes a </a:t>
            </a:r>
            <a:r>
              <a:rPr lang="en-US" sz="2300" b="true">
                <a:solidFill>
                  <a:srgbClr val="111111"/>
                </a:solidFill>
                <a:latin typeface="Nunito Bold"/>
                <a:ea typeface="Nunito Bold"/>
                <a:cs typeface="Nunito Bold"/>
                <a:sym typeface="Nunito Bold"/>
              </a:rPr>
              <a:t>first-class part of the learning objective</a:t>
            </a:r>
            <a:r>
              <a:rPr lang="en-US" sz="2300" b="true">
                <a:solidFill>
                  <a:srgbClr val="111111"/>
                </a:solidFill>
                <a:latin typeface="Nunito Semi-Bold"/>
                <a:ea typeface="Nunito Semi-Bold"/>
                <a:cs typeface="Nunito Semi-Bold"/>
                <a:sym typeface="Nunito Semi-Bold"/>
              </a:rPr>
              <a:t>: the explanation is a direct read-out of what the model optimises, so it is </a:t>
            </a:r>
            <a:r>
              <a:rPr lang="en-US" sz="2300" b="true">
                <a:solidFill>
                  <a:srgbClr val="111111"/>
                </a:solidFill>
                <a:latin typeface="Nunito Bold"/>
                <a:ea typeface="Nunito Bold"/>
                <a:cs typeface="Nunito Bold"/>
                <a:sym typeface="Nunito Bold"/>
              </a:rPr>
              <a:t>faithful by design</a:t>
            </a:r>
            <a:r>
              <a:rPr lang="en-US" sz="2300" b="true">
                <a:solidFill>
                  <a:srgbClr val="111111"/>
                </a:solidFill>
                <a:latin typeface="Nunito Semi-Bold"/>
                <a:ea typeface="Nunito Semi-Bold"/>
                <a:cs typeface="Nunito Semi-Bold"/>
                <a:sym typeface="Nunito Semi-Bold"/>
              </a:rPr>
              <a:t>, not an outside approximation.</a:t>
            </a:r>
          </a:p>
        </p:txBody>
      </p:sp>
      <p:sp>
        <p:nvSpPr>
          <p:cNvPr id="37" name="Rounded Rectangle 36"/>
          <p:cNvSpPr/>
          <p:nvPr/>
        </p:nvSpPr>
        <p:spPr>
          <a:xfrm>
            <a:off x="1028700" y="8392922"/>
            <a:ext cx="16230600" cy="961390"/>
          </a:xfrm>
          <a:prstGeom prst="roundRect">
            <a:avLst>
              <a:gd name="adj" fmla="val 23778"/>
            </a:avLst>
          </a:prstGeom>
          <a:solidFill>
            <a:srgbClr val="4472C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Semi-Bold"/>
                <a:ea typeface="Nunito Semi-Bold"/>
                <a:cs typeface="Nunito Semi-Bold"/>
                <a:sym typeface="Nunito Semi-Bold"/>
              </a:rPr>
              <a:t>From </a:t>
            </a:r>
            <a:r>
              <a:rPr lang="en-US" sz="2000" b="true">
                <a:solidFill>
                  <a:srgbClr val="FFFFFF"/>
                </a:solidFill>
                <a:latin typeface="Nunito Bold"/>
                <a:ea typeface="Nunito Bold"/>
                <a:cs typeface="Nunito Bold"/>
                <a:sym typeface="Nunito Bold"/>
              </a:rPr>
              <a:t>post-hoc description</a:t>
            </a:r>
            <a:r>
              <a:rPr lang="en-US" sz="2000" b="true">
                <a:solidFill>
                  <a:srgbClr val="FFFFFF"/>
                </a:solidFill>
                <a:latin typeface="Nunito Semi-Bold"/>
                <a:ea typeface="Nunito Semi-Bold"/>
                <a:cs typeface="Nunito Semi-Bold"/>
                <a:sym typeface="Nunito Semi-Bold"/>
              </a:rPr>
              <a:t> (C1, C2) to </a:t>
            </a:r>
            <a:r>
              <a:rPr lang="en-US" sz="2000" b="true">
                <a:solidFill>
                  <a:srgbClr val="FFFFFF"/>
                </a:solidFill>
                <a:latin typeface="Nunito Bold"/>
                <a:ea typeface="Nunito Bold"/>
                <a:cs typeface="Nunito Bold"/>
                <a:sym typeface="Nunito Bold"/>
              </a:rPr>
              <a:t>in-training guidance</a:t>
            </a:r>
            <a:r>
              <a:rPr lang="en-US" sz="2000" b="true">
                <a:solidFill>
                  <a:srgbClr val="FFFFFF"/>
                </a:solidFill>
                <a:latin typeface="Nunito Semi-Bold"/>
                <a:ea typeface="Nunito Semi-Bold"/>
                <a:cs typeface="Nunito Semi-Bold"/>
                <a:sym typeface="Nunito Semi-Bold"/>
              </a:rPr>
              <a:t> (C3): the strongest claim of the thesis.</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67</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Conclusion</a:t>
            </a:r>
          </a:p>
        </p:txBody>
      </p:sp>
      <p:sp>
        <p:nvSpPr>
          <p:cNvPr id="8" name="Oval 7"/>
          <p:cNvSpPr/>
          <p:nvPr/>
        </p:nvSpPr>
        <p:spPr>
          <a:xfrm>
            <a:off x="10873987"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0873987"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07</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Synthesis, publications, limitations and perspectives</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Synthesis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Three contributions, one cooperative-game thread: faithful explanation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consistency across levels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in-training attribution.</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Limitations</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Approximation everywhere; surrogate fidelity; tabular and offline settings; no user study of actionability yet.</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Perspectives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Scalable attribution, online / streaming recommendation, user-centred and trustworthy-AI evaluation.</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67</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Synthesis of the Three Contributions</a:t>
            </a:r>
          </a:p>
        </p:txBody>
      </p:sp>
      <p:pic>
        <p:nvPicPr>
          <p:cNvPr id="25" name="Picture 24" descr="image.png"/>
          <p:cNvPicPr>
            <a:picLocks noChangeAspect="1"/>
          </p:cNvPicPr>
          <p:nvPr/>
        </p:nvPicPr>
        <p:blipFill>
          <a:blip r:embed="rId3"/>
          <a:stretch>
            <a:fillRect/>
          </a:stretch>
        </p:blipFill>
        <p:spPr>
          <a:xfrm>
            <a:off x="10723663" y="1673352"/>
            <a:ext cx="457200" cy="452148"/>
          </a:xfrm>
          <a:prstGeom prst="rect">
            <a:avLst/>
          </a:prstGeom>
        </p:spPr>
      </p:pic>
      <p:sp>
        <p:nvSpPr>
          <p:cNvPr id="26" name="Rounded Rectangle 25"/>
          <p:cNvSpPr/>
          <p:nvPr/>
        </p:nvSpPr>
        <p:spPr>
          <a:xfrm>
            <a:off x="1028700" y="2559050"/>
            <a:ext cx="160443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Synthesis</a:t>
            </a:r>
          </a:p>
        </p:txBody>
      </p:sp>
      <p:sp>
        <p:nvSpPr>
          <p:cNvPr id="27" name="Rounded Rectangle 26"/>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8" name="Rounded Rectangle 27"/>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9" name="Rounded Rectangle 28"/>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30" name="Rounded Rectangle 29"/>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graphicFrame>
        <p:nvGraphicFramePr>
          <p:cNvPr id="31" name="Table 30"/>
          <p:cNvGraphicFramePr>
            <a:graphicFrameLocks noGrp="1"/>
          </p:cNvGraphicFramePr>
          <p:nvPr/>
        </p:nvGraphicFramePr>
        <p:xfrm>
          <a:off x="1028700" y="3363722"/>
          <a:ext cx="16230598" cy="2584704"/>
        </p:xfrm>
        <a:graphic>
          <a:graphicData uri="http://schemas.openxmlformats.org/drawingml/2006/table">
            <a:tbl>
              <a:tblPr firstRow="0" bandRow="0" firstCol="0" lastRow="0" lastCol="0" bandCol="0">
                <a:tableStyleId>{2D5ABB26-0587-4C30-8999-92F81FD0307C}</a:tableStyleId>
              </a:tblPr>
              <a:tblGrid>
                <a:gridCol w="1159328"/>
                <a:gridCol w="4379685"/>
                <a:gridCol w="4637314"/>
                <a:gridCol w="6054271"/>
              </a:tblGrid>
              <a:tr h="566928">
                <a:tc>
                  <a:txBody>
                    <a:bodyPr anchor="ctr" rtlCol="false" lIns="0" tIns="0" rIns="0" bIns="0" wrap="square"/>
                    <a:lstStyle/>
                    <a:p>
                      <a:pPr algn="ctr">
                        <a:lnSpc>
                          <a:spcPts val="2080"/>
                        </a:lnSpc>
                        <a:spcBef>
                          <a:spcPts val="0"/>
                        </a:spcBef>
                        <a:buNone/>
                      </a:pPr>
                      <a:endParaRPr lang="en-US" sz="2200"/>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Main idea</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Achievement</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Key finding</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C1</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Explain black-box clustering via Shapley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PCA–K-Means–LightGBM–TreeSHAP pipeline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Faithful, chemistry-consistent cluster attribution (wine)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25424">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C2</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2F5597"/>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Multi-level, large-scale clustering XAI</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Cross-level SHAP aggregation + Proposition 6.1</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Consistent across levels; explains the differences between them</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25424">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1F7A8C"/>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DyHuCoG hypergraph cooperative game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Preference-aware Shapley as an in-training signal</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Accuracy + coverage + diversity improve together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2" name="Rounded Rectangle 31"/>
          <p:cNvSpPr/>
          <p:nvPr/>
        </p:nvSpPr>
        <p:spPr>
          <a:xfrm>
            <a:off x="1028700" y="6314186"/>
            <a:ext cx="4023360" cy="822960"/>
          </a:xfrm>
          <a:prstGeom prst="roundRect">
            <a:avLst>
              <a:gd name="adj" fmla="val 27777"/>
            </a:avLst>
          </a:prstGeom>
          <a:solidFill>
            <a:srgbClr val="4472C4"/>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Explain</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post-hoc, single level</a:t>
            </a:r>
          </a:p>
        </p:txBody>
      </p:sp>
      <p:cxnSp>
        <p:nvCxnSpPr>
          <p:cNvPr id="33" name="Connector 32"/>
          <p:cNvCxnSpPr/>
          <p:nvPr/>
        </p:nvCxnSpPr>
        <p:spPr>
          <a:xfrm>
            <a:off x="5143500" y="6725666"/>
            <a:ext cx="1897380" cy="0"/>
          </a:xfrm>
          <a:prstGeom prst="line">
            <a:avLst/>
          </a:prstGeom>
          <a:ln w="38100">
            <a:solidFill>
              <a:srgbClr val="4472C4"/>
            </a:solidFill>
            <a:tailEnd type="triangle" w="med" len="med"/>
          </a:ln>
        </p:spPr>
      </p:cxnSp>
      <p:sp>
        <p:nvSpPr>
          <p:cNvPr id="34" name="Rounded Rectangle 33"/>
          <p:cNvSpPr/>
          <p:nvPr/>
        </p:nvSpPr>
        <p:spPr>
          <a:xfrm>
            <a:off x="7132320" y="6314186"/>
            <a:ext cx="4023360" cy="822960"/>
          </a:xfrm>
          <a:prstGeom prst="roundRect">
            <a:avLst>
              <a:gd name="adj" fmla="val 27777"/>
            </a:avLst>
          </a:prstGeom>
          <a:solidFill>
            <a:srgbClr val="2F5597"/>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Scale</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post-hoc, hierarchical</a:t>
            </a:r>
          </a:p>
        </p:txBody>
      </p:sp>
      <p:cxnSp>
        <p:nvCxnSpPr>
          <p:cNvPr id="35" name="Connector 34"/>
          <p:cNvCxnSpPr/>
          <p:nvPr/>
        </p:nvCxnSpPr>
        <p:spPr>
          <a:xfrm>
            <a:off x="11247120" y="6725666"/>
            <a:ext cx="1897380" cy="0"/>
          </a:xfrm>
          <a:prstGeom prst="line">
            <a:avLst/>
          </a:prstGeom>
          <a:ln w="38100">
            <a:solidFill>
              <a:srgbClr val="4472C4"/>
            </a:solidFill>
            <a:tailEnd type="triangle" w="med" len="med"/>
          </a:ln>
        </p:spPr>
      </p:cxnSp>
      <p:sp>
        <p:nvSpPr>
          <p:cNvPr id="36" name="Rounded Rectangle 35"/>
          <p:cNvSpPr/>
          <p:nvPr/>
        </p:nvSpPr>
        <p:spPr>
          <a:xfrm>
            <a:off x="13235940" y="6314186"/>
            <a:ext cx="4023360" cy="822960"/>
          </a:xfrm>
          <a:prstGeom prst="roundRect">
            <a:avLst>
              <a:gd name="adj" fmla="val 27777"/>
            </a:avLst>
          </a:prstGeom>
          <a:solidFill>
            <a:srgbClr val="1F7A8C"/>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Guide</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in-training signal</a:t>
            </a:r>
          </a:p>
        </p:txBody>
      </p:sp>
      <p:sp>
        <p:nvSpPr>
          <p:cNvPr id="37" name="Rounded Rectangle 36"/>
          <p:cNvSpPr/>
          <p:nvPr/>
        </p:nvSpPr>
        <p:spPr>
          <a:xfrm>
            <a:off x="1028700" y="7356601"/>
            <a:ext cx="16230600" cy="1551178"/>
          </a:xfrm>
          <a:prstGeom prst="roundRect">
            <a:avLst>
              <a:gd name="adj" fmla="val 12755"/>
            </a:avLst>
          </a:prstGeom>
          <a:solidFill>
            <a:srgbClr val="E7EAF3"/>
          </a:solidFill>
          <a:ln w="25400">
            <a:solidFill>
              <a:srgbClr val="1F7A8C"/>
            </a:solidFill>
          </a:ln>
        </p:spPr>
        <p:txBody>
          <a:bodyPr anchor="ctr" rtlCol="false" lIns="0" tIns="0" rIns="0" bIns="0" wrap="square"/>
          <a:lstStyle/>
          <a:p>
            <a:endParaRPr lang="en-US" sz="1800"/>
          </a:p>
        </p:txBody>
      </p:sp>
      <p:sp>
        <p:nvSpPr>
          <p:cNvPr id="38" name="Rounded Rectangle 37"/>
          <p:cNvSpPr/>
          <p:nvPr/>
        </p:nvSpPr>
        <p:spPr>
          <a:xfrm>
            <a:off x="1348740" y="7164578"/>
            <a:ext cx="2510554"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THESIS</a:t>
            </a:r>
          </a:p>
        </p:txBody>
      </p:sp>
      <p:sp>
        <p:nvSpPr>
          <p:cNvPr id="39" name="TextBox 38"/>
          <p:cNvSpPr txBox="1"/>
          <p:nvPr/>
        </p:nvSpPr>
        <p:spPr>
          <a:xfrm>
            <a:off x="1394460" y="7742174"/>
            <a:ext cx="15499080" cy="1165606"/>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One cooperative-game definition, three value functions: the same Shapley logic </a:t>
            </a:r>
            <a:r>
              <a:rPr lang="en-US" sz="2000" b="true">
                <a:solidFill>
                  <a:srgbClr val="111111"/>
                </a:solidFill>
                <a:latin typeface="Nunito Bold"/>
                <a:ea typeface="Nunito Bold"/>
                <a:cs typeface="Nunito Bold"/>
                <a:sym typeface="Nunito Bold"/>
              </a:rPr>
              <a:t>explains</a:t>
            </a:r>
            <a:r>
              <a:rPr lang="en-US" sz="2000" b="true">
                <a:solidFill>
                  <a:srgbClr val="111111"/>
                </a:solidFill>
                <a:latin typeface="Nunito Semi-Bold"/>
                <a:ea typeface="Nunito Semi-Bold"/>
                <a:cs typeface="Nunito Semi-Bold"/>
                <a:sym typeface="Nunito Semi-Bold"/>
              </a:rPr>
              <a:t> a partition, </a:t>
            </a:r>
            <a:r>
              <a:rPr lang="en-US" sz="2000" b="true">
                <a:solidFill>
                  <a:srgbClr val="111111"/>
                </a:solidFill>
                <a:latin typeface="Nunito Bold"/>
                <a:ea typeface="Nunito Bold"/>
                <a:cs typeface="Nunito Bold"/>
                <a:sym typeface="Nunito Bold"/>
              </a:rPr>
              <a:t>stays consistent</a:t>
            </a:r>
            <a:r>
              <a:rPr lang="en-US" sz="2000" b="true">
                <a:solidFill>
                  <a:srgbClr val="111111"/>
                </a:solidFill>
                <a:latin typeface="Nunito Semi-Bold"/>
                <a:ea typeface="Nunito Semi-Bold"/>
                <a:cs typeface="Nunito Semi-Bold"/>
                <a:sym typeface="Nunito Semi-Bold"/>
              </a:rPr>
              <a:t> across levels, and finally </a:t>
            </a:r>
            <a:r>
              <a:rPr lang="en-US" sz="2000" b="true">
                <a:solidFill>
                  <a:srgbClr val="111111"/>
                </a:solidFill>
                <a:latin typeface="Nunito Bold"/>
                <a:ea typeface="Nunito Bold"/>
                <a:cs typeface="Nunito Bold"/>
                <a:sym typeface="Nunito Bold"/>
              </a:rPr>
              <a:t>guides</a:t>
            </a:r>
            <a:r>
              <a:rPr lang="en-US" sz="2000" b="true">
                <a:solidFill>
                  <a:srgbClr val="111111"/>
                </a:solidFill>
                <a:latin typeface="Nunito Semi-Bold"/>
                <a:ea typeface="Nunito Semi-Bold"/>
                <a:cs typeface="Nunito Semi-Bold"/>
                <a:sym typeface="Nunito Semi-Bold"/>
              </a:rPr>
              <a:t> what a recommender learns.</a:t>
            </a:r>
          </a:p>
        </p:txBody>
      </p:sp>
      <p:sp>
        <p:nvSpPr>
          <p:cNvPr id="5" name="Rounded Rectangle 4"/>
          <p:cNvSpPr/>
          <p:nvPr/>
        </p:nvSpPr>
        <p:spPr>
          <a:xfrm>
            <a:off x="1024128" y="8898636"/>
            <a:ext cx="16239744" cy="7757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8935212"/>
            <a:ext cx="16239744" cy="7025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   [2] Louhichi, M., Nesmaoui, R. &amp; Lazaar, M. Game Theory Meets Explainable AI: An Enhanced Approach to Understanding Black Box Models Through Shapley Values. IJACSA 16(7), 716–725 (2025).   [3] Louhichi, M., Nesmaoui, R. &amp; Lazaar, M. DyHuCoG: A Dynamic Hypergraph Cooperative Game for Preference-aware Recommendation. IJIES 19(2), 887–902 (2026).</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Publications Supporting the Thesis</a:t>
            </a:r>
          </a:p>
        </p:txBody>
      </p:sp>
      <p:pic>
        <p:nvPicPr>
          <p:cNvPr id="23" name="Picture 22" descr="image.png"/>
          <p:cNvPicPr>
            <a:picLocks noChangeAspect="1"/>
          </p:cNvPicPr>
          <p:nvPr/>
        </p:nvPicPr>
        <p:blipFill>
          <a:blip r:embed="rId3"/>
          <a:stretch>
            <a:fillRect/>
          </a:stretch>
        </p:blipFill>
        <p:spPr>
          <a:xfrm>
            <a:off x="10279040" y="1673352"/>
            <a:ext cx="457200" cy="415247"/>
          </a:xfrm>
          <a:prstGeom prst="rect">
            <a:avLst/>
          </a:prstGeom>
        </p:spPr>
      </p:pic>
      <p:sp>
        <p:nvSpPr>
          <p:cNvPr id="24" name="Rounded Rectangle 23"/>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graphicFrame>
        <p:nvGraphicFramePr>
          <p:cNvPr id="29" name="Table 28"/>
          <p:cNvGraphicFramePr>
            <a:graphicFrameLocks noGrp="1"/>
          </p:cNvGraphicFramePr>
          <p:nvPr/>
        </p:nvGraphicFramePr>
        <p:xfrm>
          <a:off x="1028700" y="3363722"/>
          <a:ext cx="16230594" cy="3291840"/>
        </p:xfrm>
        <a:graphic>
          <a:graphicData uri="http://schemas.openxmlformats.org/drawingml/2006/table">
            <a:tbl>
              <a:tblPr firstRow="0" bandRow="0" firstCol="0" lastRow="0" lastCol="0" bandCol="0">
                <a:tableStyleId>{2D5ABB26-0587-4C30-8999-92F81FD0307C}</a:tableStyleId>
              </a:tblPr>
              <a:tblGrid>
                <a:gridCol w="656729"/>
                <a:gridCol w="2814554"/>
                <a:gridCol w="5253835"/>
                <a:gridCol w="3189828"/>
                <a:gridCol w="750547"/>
                <a:gridCol w="2439280"/>
                <a:gridCol w="1125821"/>
              </a:tblGrid>
              <a:tr h="822960">
                <a:tc>
                  <a:txBody>
                    <a:bodyPr anchor="ctr" rtlCol="false" lIns="0" tIns="0" rIns="0" bIns="0" wrap="square"/>
                    <a:lstStyle/>
                    <a:p>
                      <a:pPr algn="ctr">
                        <a:lnSpc>
                          <a:spcPts val="1820"/>
                        </a:lnSpc>
                        <a:spcBef>
                          <a:spcPts val="0"/>
                        </a:spcBef>
                        <a:buNone/>
                      </a:pPr>
                      <a:endParaRPr lang="en-US" sz="2200"/>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Authors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Title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Journal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Year</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DOI</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Status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Mbarek,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Shapley Values for Explaining the Black Box Nature of Machine Learning Model Clustering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Procedia Computer Science 220, 806–811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10.1016/j.procs.2023.03.107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1">
                          <a:solidFill>
                            <a:srgbClr val="4472C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2F5597"/>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Game Theory Meets Explainable AI: An Enhanced Approach to Understanding Black Box Models Through Shapley Values</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IJACSA 16(7), 716–725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10.14569/IJACSA.2025.0160780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1">
                          <a:solidFill>
                            <a:srgbClr val="4472C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III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1F7A8C"/>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DyHuCoG: A Dynamic Hypergraph Cooperative Game for Preference-aware Recommendation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IJIES 19(2), 887–902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10.22266/ijies2026.0228.54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1">
                          <a:solidFill>
                            <a:srgbClr val="4472C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30" name="Rounded Rectangle 29"/>
          <p:cNvSpPr/>
          <p:nvPr/>
        </p:nvSpPr>
        <p:spPr>
          <a:xfrm>
            <a:off x="1028700" y="7341362"/>
            <a:ext cx="7932420" cy="1921510"/>
          </a:xfrm>
          <a:prstGeom prst="roundRect">
            <a:avLst>
              <a:gd name="adj" fmla="val 16179"/>
            </a:avLst>
          </a:prstGeom>
          <a:solidFill>
            <a:srgbClr val="E7EAF3"/>
          </a:solidFill>
          <a:ln>
            <a:noFill/>
          </a:ln>
        </p:spPr>
        <p:txBody>
          <a:bodyPr anchor="ctr" rtlCol="false" lIns="0" tIns="0" rIns="0" bIns="0" wrap="square"/>
          <a:lstStyle/>
          <a:p>
            <a:endParaRPr lang="en-US" sz="1800"/>
          </a:p>
        </p:txBody>
      </p:sp>
      <p:sp>
        <p:nvSpPr>
          <p:cNvPr id="31" name="Rounded Rectangle 30"/>
          <p:cNvSpPr/>
          <p:nvPr/>
        </p:nvSpPr>
        <p:spPr>
          <a:xfrm>
            <a:off x="1485900" y="7103618"/>
            <a:ext cx="3560649"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Mapping to the thesis</a:t>
            </a:r>
          </a:p>
        </p:txBody>
      </p:sp>
      <p:sp>
        <p:nvSpPr>
          <p:cNvPr id="32" name="TextBox 31"/>
          <p:cNvSpPr txBox="1"/>
          <p:nvPr/>
        </p:nvSpPr>
        <p:spPr>
          <a:xfrm>
            <a:off x="1485900" y="7890002"/>
            <a:ext cx="7063740" cy="1189990"/>
          </a:xfrm>
          <a:prstGeom prst="rect">
            <a:avLst/>
          </a:prstGeom>
          <a:noFill/>
        </p:spPr>
        <p:txBody>
          <a:bodyPr anchor="t" rtlCol="false" lIns="0" tIns="0" rIns="0" bIns="0" wrap="square"/>
          <a:lstStyle/>
          <a:p>
            <a:pPr algn="l" marL="274320" indent="-274320">
              <a:lnSpc>
                <a:spcPts val="2094"/>
              </a:lnSpc>
              <a:spcBef>
                <a:spcPts val="0"/>
              </a:spcBef>
              <a:buClr>
                <a:srgbClr val="1F7A8C"/>
              </a:buClr>
              <a:buSzPct val="100000"/>
              <a:buFont typeface="Arial"/>
              <a:buChar char="•"/>
            </a:pPr>
            <a:r>
              <a:rPr lang="en-US" sz="1496" b="true">
                <a:solidFill>
                  <a:srgbClr val="111111"/>
                </a:solidFill>
                <a:latin typeface="Nunito Bold"/>
                <a:ea typeface="Nunito Bold"/>
                <a:cs typeface="Nunito Bold"/>
                <a:sym typeface="Nunito Bold"/>
              </a:rPr>
              <a:t>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 (Chapter 5)  ·  </a:t>
            </a:r>
            <a:r>
              <a:rPr lang="en-US" sz="1496" b="true">
                <a:solidFill>
                  <a:srgbClr val="111111"/>
                </a:solidFill>
                <a:latin typeface="Nunito Bold"/>
                <a:ea typeface="Nunito Bold"/>
                <a:cs typeface="Nunito Bold"/>
                <a:sym typeface="Nunito Bold"/>
              </a:rPr>
              <a:t>II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II (Chapter 6)  ·  </a:t>
            </a:r>
            <a:r>
              <a:rPr lang="en-US" sz="1496" b="true">
                <a:solidFill>
                  <a:srgbClr val="111111"/>
                </a:solidFill>
                <a:latin typeface="Nunito Bold"/>
                <a:ea typeface="Nunito Bold"/>
                <a:cs typeface="Nunito Bold"/>
                <a:sym typeface="Nunito Bold"/>
              </a:rPr>
              <a:t>III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III (Chapter 7).</a:t>
            </a:r>
          </a:p>
          <a:p>
            <a:pPr algn="l" marL="274320" indent="-274320">
              <a:lnSpc>
                <a:spcPts val="2094"/>
              </a:lnSpc>
              <a:spcBef>
                <a:spcPts val="352"/>
              </a:spcBef>
              <a:buClr>
                <a:srgbClr val="1F7A8C"/>
              </a:buClr>
              <a:buSzPct val="100000"/>
              <a:buFont typeface="Arial"/>
              <a:buChar char="•"/>
            </a:pPr>
            <a:r>
              <a:rPr lang="en-US" sz="1496" b="true">
                <a:solidFill>
                  <a:srgbClr val="111111"/>
                </a:solidFill>
                <a:latin typeface="Nunito Semi-Bold"/>
                <a:ea typeface="Nunito Semi-Bold"/>
                <a:cs typeface="Nunito Semi-Bold"/>
                <a:sym typeface="Nunito Semi-Bold"/>
              </a:rPr>
              <a:t>Three journal articles, candidate as </a:t>
            </a:r>
            <a:r>
              <a:rPr lang="en-US" sz="1496" b="true">
                <a:solidFill>
                  <a:srgbClr val="111111"/>
                </a:solidFill>
                <a:latin typeface="Nunito Bold"/>
                <a:ea typeface="Nunito Bold"/>
                <a:cs typeface="Nunito Bold"/>
                <a:sym typeface="Nunito Bold"/>
              </a:rPr>
              <a:t>first author</a:t>
            </a:r>
            <a:r>
              <a:rPr lang="en-US" sz="1496" b="true">
                <a:solidFill>
                  <a:srgbClr val="111111"/>
                </a:solidFill>
                <a:latin typeface="Nunito Semi-Bold"/>
                <a:ea typeface="Nunito Semi-Bold"/>
                <a:cs typeface="Nunito Semi-Bold"/>
                <a:sym typeface="Nunito Semi-Bold"/>
              </a:rPr>
              <a:t>; IJACSA and IJIES are Scopus-indexed.</a:t>
            </a:r>
          </a:p>
        </p:txBody>
      </p:sp>
      <p:sp>
        <p:nvSpPr>
          <p:cNvPr id="33" name="Rounded Rectangle 32"/>
          <p:cNvSpPr/>
          <p:nvPr/>
        </p:nvSpPr>
        <p:spPr>
          <a:xfrm>
            <a:off x="9326880" y="7341362"/>
            <a:ext cx="7932420" cy="1921510"/>
          </a:xfrm>
          <a:prstGeom prst="roundRect">
            <a:avLst>
              <a:gd name="adj" fmla="val 16179"/>
            </a:avLst>
          </a:prstGeom>
          <a:solidFill>
            <a:srgbClr val="4472C4"/>
          </a:solidFill>
          <a:ln>
            <a:noFill/>
          </a:ln>
        </p:spPr>
        <p:txBody>
          <a:bodyPr anchor="ctr" rtlCol="false" lIns="0" tIns="0" rIns="0" bIns="0" wrap="square"/>
          <a:lstStyle/>
          <a:p>
            <a:endParaRPr lang="en-US" sz="1800"/>
          </a:p>
        </p:txBody>
      </p:sp>
      <p:sp>
        <p:nvSpPr>
          <p:cNvPr id="34" name="Rounded Rectangle 33"/>
          <p:cNvSpPr/>
          <p:nvPr/>
        </p:nvSpPr>
        <p:spPr>
          <a:xfrm>
            <a:off x="9784080" y="7103618"/>
            <a:ext cx="439924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Related work with the team</a:t>
            </a:r>
          </a:p>
        </p:txBody>
      </p:sp>
      <p:sp>
        <p:nvSpPr>
          <p:cNvPr id="35" name="TextBox 34"/>
          <p:cNvSpPr txBox="1"/>
          <p:nvPr/>
        </p:nvSpPr>
        <p:spPr>
          <a:xfrm>
            <a:off x="9784080" y="7890002"/>
            <a:ext cx="7063740" cy="1189990"/>
          </a:xfrm>
          <a:prstGeom prst="rect">
            <a:avLst/>
          </a:prstGeom>
          <a:noFill/>
        </p:spPr>
        <p:txBody>
          <a:bodyPr anchor="t" rtlCol="false" lIns="0" tIns="0" rIns="0" bIns="0" wrap="square"/>
          <a:lstStyle/>
          <a:p>
            <a:pPr algn="l" marL="274320" indent="-274320">
              <a:lnSpc>
                <a:spcPts val="2173"/>
              </a:lnSpc>
              <a:spcBef>
                <a:spcPts val="0"/>
              </a:spcBef>
              <a:buClr>
                <a:srgbClr val="ECC665"/>
              </a:buClr>
              <a:buSzPct val="100000"/>
              <a:buFont typeface="Arial"/>
              <a:buChar char="•"/>
            </a:pPr>
            <a:r>
              <a:rPr lang="en-US" sz="1552" b="true">
                <a:solidFill>
                  <a:srgbClr val="FFFFFF"/>
                </a:solidFill>
                <a:latin typeface="Nunito Semi-Bold"/>
                <a:ea typeface="Nunito Semi-Bold"/>
                <a:cs typeface="Nunito Semi-Bold"/>
                <a:sym typeface="Nunito Semi-Bold"/>
              </a:rPr>
              <a:t>Nesmaoui, R., </a:t>
            </a:r>
            <a:r>
              <a:rPr lang="en-US" sz="1552" b="true">
                <a:solidFill>
                  <a:srgbClr val="FFFFFF"/>
                </a:solidFill>
                <a:latin typeface="Nunito Bold"/>
                <a:ea typeface="Nunito Bold"/>
                <a:cs typeface="Nunito Bold"/>
                <a:sym typeface="Nunito Bold"/>
              </a:rPr>
              <a:t>Louhichi, M.</a:t>
            </a:r>
            <a:r>
              <a:rPr lang="en-US" sz="1552" b="true">
                <a:solidFill>
                  <a:srgbClr val="FFFFFF"/>
                </a:solidFill>
                <a:latin typeface="Nunito Semi-Bold"/>
                <a:ea typeface="Nunito Semi-Bold"/>
                <a:cs typeface="Nunito Semi-Bold"/>
                <a:sym typeface="Nunito Semi-Bold"/>
              </a:rPr>
              <a:t> &amp; Lazaar, M. Dynamic Recommender Systems with Real-time Shapley Value-based Contribution Adjustment. IJIES 18, 241–257 (2025): the same cooperative-game view, applied to real-time contribution adjustment.</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 Stated Honestly</a:t>
            </a:r>
          </a:p>
        </p:txBody>
      </p:sp>
      <p:pic>
        <p:nvPicPr>
          <p:cNvPr id="23" name="Picture 22" descr="image.png"/>
          <p:cNvPicPr>
            <a:picLocks noChangeAspect="1"/>
          </p:cNvPicPr>
          <p:nvPr/>
        </p:nvPicPr>
        <p:blipFill>
          <a:blip r:embed="rId3"/>
          <a:stretch>
            <a:fillRect/>
          </a:stretch>
        </p:blipFill>
        <p:spPr>
          <a:xfrm>
            <a:off x="8586542" y="1673352"/>
            <a:ext cx="457200" cy="250983"/>
          </a:xfrm>
          <a:prstGeom prst="rect">
            <a:avLst/>
          </a:prstGeom>
        </p:spPr>
      </p:pic>
      <p:sp>
        <p:nvSpPr>
          <p:cNvPr id="24" name="Rounded Rectangle 23"/>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sp>
        <p:nvSpPr>
          <p:cNvPr id="29" name="Rounded Rectangle 28"/>
          <p:cNvSpPr/>
          <p:nvPr/>
        </p:nvSpPr>
        <p:spPr>
          <a:xfrm>
            <a:off x="1028700" y="3455162"/>
            <a:ext cx="7978140" cy="2789555"/>
          </a:xfrm>
          <a:prstGeom prst="roundRect">
            <a:avLst>
              <a:gd name="adj" fmla="val 9833"/>
            </a:avLst>
          </a:prstGeom>
          <a:solidFill>
            <a:srgbClr val="4472C4"/>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Computational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Exact Shapley is not feasible; every contribution relies on approximation, surrogates or limited reporting.</a:t>
            </a:r>
          </a:p>
        </p:txBody>
      </p:sp>
      <p:sp>
        <p:nvSpPr>
          <p:cNvPr id="30" name="Rounded Rectangle 29"/>
          <p:cNvSpPr/>
          <p:nvPr/>
        </p:nvSpPr>
        <p:spPr>
          <a:xfrm>
            <a:off x="9281160" y="3455162"/>
            <a:ext cx="7978140" cy="2789555"/>
          </a:xfrm>
          <a:prstGeom prst="roundRect">
            <a:avLst>
              <a:gd name="adj" fmla="val 9833"/>
            </a:avLst>
          </a:prstGeom>
          <a:solidFill>
            <a:srgbClr val="2F5597"/>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Methodological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Clustering depends on surrogate fidelity; recommendation depends on stable approximate contributions and useful context.</a:t>
            </a:r>
          </a:p>
        </p:txBody>
      </p:sp>
      <p:sp>
        <p:nvSpPr>
          <p:cNvPr id="31" name="Rounded Rectangle 30"/>
          <p:cNvSpPr/>
          <p:nvPr/>
        </p:nvSpPr>
        <p:spPr>
          <a:xfrm>
            <a:off x="1028700" y="6519037"/>
            <a:ext cx="7978140" cy="2789555"/>
          </a:xfrm>
          <a:prstGeom prst="roundRect">
            <a:avLst>
              <a:gd name="adj" fmla="val 9833"/>
            </a:avLst>
          </a:prstGeom>
          <a:solidFill>
            <a:srgbClr val="1F7A8C"/>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FFFFFF"/>
                </a:solidFill>
                <a:latin typeface="Roca Two Bold"/>
                <a:ea typeface="Roca Two Bold"/>
                <a:cs typeface="Roca Two Bold"/>
                <a:sym typeface="Roca Two Bold"/>
              </a:rPr>
              <a:t>Empirical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Tabular clustering + benchmark recommendation; no multimodal, sequential or online setting; no dedicated user study of actionability.</a:t>
            </a:r>
          </a:p>
        </p:txBody>
      </p:sp>
      <p:sp>
        <p:nvSpPr>
          <p:cNvPr id="32" name="Rounded Rectangle 31"/>
          <p:cNvSpPr/>
          <p:nvPr/>
        </p:nvSpPr>
        <p:spPr>
          <a:xfrm>
            <a:off x="9281160" y="6519037"/>
            <a:ext cx="7978140" cy="2789555"/>
          </a:xfrm>
          <a:prstGeom prst="roundRect">
            <a:avLst>
              <a:gd name="adj" fmla="val 9833"/>
            </a:avLst>
          </a:prstGeom>
          <a:solidFill>
            <a:srgbClr val="111111"/>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Claim scope</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A consistent and productive shared view, not one fully unified framework that removes all tension.</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Perspectives: Turning Limitations into an Agenda</a:t>
            </a:r>
          </a:p>
        </p:txBody>
      </p:sp>
      <p:pic>
        <p:nvPicPr>
          <p:cNvPr id="23" name="Picture 22" descr="image.png"/>
          <p:cNvPicPr>
            <a:picLocks noChangeAspect="1"/>
          </p:cNvPicPr>
          <p:nvPr/>
        </p:nvPicPr>
        <p:blipFill>
          <a:blip r:embed="rId3"/>
          <a:stretch>
            <a:fillRect/>
          </a:stretch>
        </p:blipFill>
        <p:spPr>
          <a:xfrm>
            <a:off x="13921521" y="1673352"/>
            <a:ext cx="457200" cy="415247"/>
          </a:xfrm>
          <a:prstGeom prst="rect">
            <a:avLst/>
          </a:prstGeom>
        </p:spPr>
      </p:pic>
      <p:sp>
        <p:nvSpPr>
          <p:cNvPr id="24" name="Rounded Rectangle 23"/>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sp>
        <p:nvSpPr>
          <p:cNvPr id="29" name="Rounded Rectangle 28"/>
          <p:cNvSpPr/>
          <p:nvPr/>
        </p:nvSpPr>
        <p:spPr>
          <a:xfrm>
            <a:off x="1028700" y="3455162"/>
            <a:ext cx="7978140" cy="2789555"/>
          </a:xfrm>
          <a:prstGeom prst="roundRect">
            <a:avLst>
              <a:gd name="adj" fmla="val 9833"/>
            </a:avLst>
          </a:prstGeom>
          <a:solidFill>
            <a:srgbClr val="4472C4"/>
          </a:solidFill>
          <a:ln>
            <a:noFill/>
          </a:ln>
        </p:spPr>
        <p:txBody>
          <a:bodyPr anchor="ctr" rtlCol="false" lIns="0" tIns="0" rIns="0" bIns="0" wrap="square"/>
          <a:lstStyle/>
          <a:p>
            <a:endParaRPr lang="en-US" sz="1800"/>
          </a:p>
        </p:txBody>
      </p:sp>
      <p:sp>
        <p:nvSpPr>
          <p:cNvPr id="30" name="Oval 29"/>
          <p:cNvSpPr/>
          <p:nvPr/>
        </p:nvSpPr>
        <p:spPr>
          <a:xfrm>
            <a:off x="1394460" y="3820922"/>
            <a:ext cx="731520" cy="731520"/>
          </a:xfrm>
          <a:prstGeom prst="ellipse">
            <a:avLst/>
          </a:prstGeom>
          <a:solidFill>
            <a:srgbClr val="ECC665"/>
          </a:solidFill>
          <a:ln>
            <a:noFill/>
          </a:ln>
        </p:spPr>
        <p:txBody>
          <a:bodyPr anchor="ctr" rtlCol="false" lIns="0" tIns="0" rIns="0" bIns="0" wrap="square"/>
          <a:lstStyle/>
          <a:p>
            <a:pPr algn="ctr">
              <a:lnSpc>
                <a:spcPts val="2200"/>
              </a:lnSpc>
              <a:spcBef>
                <a:spcPts val="0"/>
              </a:spcBef>
              <a:buNone/>
            </a:pPr>
            <a:r>
              <a:rPr lang="en-US" sz="2000" b="true">
                <a:solidFill>
                  <a:srgbClr val="111111"/>
                </a:solidFill>
                <a:latin typeface="Nunito Ultra-Bold"/>
                <a:ea typeface="Nunito Ultra-Bold"/>
                <a:cs typeface="Nunito Ultra-Bold"/>
                <a:sym typeface="Nunito Ultra-Bold"/>
              </a:rPr>
              <a:t>01</a:t>
            </a:r>
          </a:p>
        </p:txBody>
      </p:sp>
      <p:sp>
        <p:nvSpPr>
          <p:cNvPr id="31" name="TextBox 30"/>
          <p:cNvSpPr txBox="1"/>
          <p:nvPr/>
        </p:nvSpPr>
        <p:spPr>
          <a:xfrm>
            <a:off x="2354580" y="3775202"/>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Scalable cooperative attribution</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Lower-variance Shapley estimators, learned proposal distributions, adaptive refresh rules.</a:t>
            </a:r>
          </a:p>
        </p:txBody>
      </p:sp>
      <p:sp>
        <p:nvSpPr>
          <p:cNvPr id="32" name="Rounded Rectangle 31"/>
          <p:cNvSpPr/>
          <p:nvPr/>
        </p:nvSpPr>
        <p:spPr>
          <a:xfrm>
            <a:off x="9281160" y="3455162"/>
            <a:ext cx="7978140" cy="2789555"/>
          </a:xfrm>
          <a:prstGeom prst="roundRect">
            <a:avLst>
              <a:gd name="adj" fmla="val 9833"/>
            </a:avLst>
          </a:prstGeom>
          <a:solidFill>
            <a:srgbClr val="E7EAF3"/>
          </a:solidFill>
          <a:ln>
            <a:noFill/>
          </a:ln>
        </p:spPr>
        <p:txBody>
          <a:bodyPr anchor="ctr" rtlCol="false" lIns="0" tIns="0" rIns="0" bIns="0" wrap="square"/>
          <a:lstStyle/>
          <a:p>
            <a:endParaRPr lang="en-US" sz="1800"/>
          </a:p>
        </p:txBody>
      </p:sp>
      <p:sp>
        <p:nvSpPr>
          <p:cNvPr id="33" name="Oval 32"/>
          <p:cNvSpPr/>
          <p:nvPr/>
        </p:nvSpPr>
        <p:spPr>
          <a:xfrm>
            <a:off x="9646920" y="3820922"/>
            <a:ext cx="731520" cy="731520"/>
          </a:xfrm>
          <a:prstGeom prst="ellipse">
            <a:avLst/>
          </a:prstGeom>
          <a:solidFill>
            <a:srgbClr val="1F7A8C"/>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02</a:t>
            </a:r>
          </a:p>
        </p:txBody>
      </p:sp>
      <p:sp>
        <p:nvSpPr>
          <p:cNvPr id="34" name="TextBox 33"/>
          <p:cNvSpPr txBox="1"/>
          <p:nvPr/>
        </p:nvSpPr>
        <p:spPr>
          <a:xfrm>
            <a:off x="10607040" y="3775202"/>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111111"/>
                </a:solidFill>
                <a:latin typeface="Nunito Ultra-Bold"/>
                <a:ea typeface="Nunito Ultra-Bold"/>
                <a:cs typeface="Nunito Ultra-Bold"/>
                <a:sym typeface="Nunito Ultra-Bold"/>
              </a:rPr>
              <a:t>Online / streaming recommendation</a:t>
            </a:r>
          </a:p>
          <a:p>
            <a:pPr algn="l">
              <a:lnSpc>
                <a:spcPts val="2660"/>
              </a:lnSpc>
              <a:spcBef>
                <a:spcPts val="800"/>
              </a:spcBef>
              <a:buNone/>
            </a:pPr>
            <a:r>
              <a:rPr lang="en-US" sz="1900" b="true">
                <a:solidFill>
                  <a:srgbClr val="111111"/>
                </a:solidFill>
                <a:latin typeface="Nunito Semi-Bold"/>
                <a:ea typeface="Nunito Semi-Bold"/>
                <a:cs typeface="Nunito Semi-Bold"/>
                <a:sym typeface="Nunito Semi-Bold"/>
              </a:rPr>
              <a:t>Truly incremental settings with changing graphs and delayed feedback; this also addresses the static-graph limitation.</a:t>
            </a:r>
          </a:p>
        </p:txBody>
      </p:sp>
      <p:sp>
        <p:nvSpPr>
          <p:cNvPr id="35" name="Rounded Rectangle 34"/>
          <p:cNvSpPr/>
          <p:nvPr/>
        </p:nvSpPr>
        <p:spPr>
          <a:xfrm>
            <a:off x="1028700" y="6519037"/>
            <a:ext cx="7978140" cy="2789555"/>
          </a:xfrm>
          <a:prstGeom prst="roundRect">
            <a:avLst>
              <a:gd name="adj" fmla="val 9833"/>
            </a:avLst>
          </a:prstGeom>
          <a:solidFill>
            <a:srgbClr val="E7EAF3"/>
          </a:solidFill>
          <a:ln>
            <a:noFill/>
          </a:ln>
        </p:spPr>
        <p:txBody>
          <a:bodyPr anchor="ctr" rtlCol="false" lIns="0" tIns="0" rIns="0" bIns="0" wrap="square"/>
          <a:lstStyle/>
          <a:p>
            <a:endParaRPr lang="en-US" sz="1800"/>
          </a:p>
        </p:txBody>
      </p:sp>
      <p:sp>
        <p:nvSpPr>
          <p:cNvPr id="36" name="Oval 35"/>
          <p:cNvSpPr/>
          <p:nvPr/>
        </p:nvSpPr>
        <p:spPr>
          <a:xfrm>
            <a:off x="1394460" y="6884797"/>
            <a:ext cx="731520" cy="731520"/>
          </a:xfrm>
          <a:prstGeom prst="ellipse">
            <a:avLst/>
          </a:prstGeom>
          <a:solidFill>
            <a:srgbClr val="1F7A8C"/>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03</a:t>
            </a:r>
          </a:p>
        </p:txBody>
      </p:sp>
      <p:sp>
        <p:nvSpPr>
          <p:cNvPr id="37" name="TextBox 36"/>
          <p:cNvSpPr txBox="1"/>
          <p:nvPr/>
        </p:nvSpPr>
        <p:spPr>
          <a:xfrm>
            <a:off x="2354580" y="6839077"/>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111111"/>
                </a:solidFill>
                <a:latin typeface="Nunito Ultra-Bold"/>
                <a:ea typeface="Nunito Ultra-Bold"/>
                <a:cs typeface="Nunito Ultra-Bold"/>
                <a:sym typeface="Nunito Ultra-Bold"/>
              </a:rPr>
              <a:t>Richer user-centred evaluation</a:t>
            </a:r>
          </a:p>
          <a:p>
            <a:pPr algn="l">
              <a:lnSpc>
                <a:spcPts val="2660"/>
              </a:lnSpc>
              <a:spcBef>
                <a:spcPts val="800"/>
              </a:spcBef>
              <a:buNone/>
            </a:pPr>
            <a:r>
              <a:rPr lang="en-US" sz="1900" b="true">
                <a:solidFill>
                  <a:srgbClr val="111111"/>
                </a:solidFill>
                <a:latin typeface="Nunito Semi-Bold"/>
                <a:ea typeface="Nunito Semi-Bold"/>
                <a:cs typeface="Nunito Semi-Bold"/>
                <a:sym typeface="Nunito Semi-Bold"/>
              </a:rPr>
              <a:t>Do explanations measurably improve analyst judgement, user trust, quality of action or perceived fairness?</a:t>
            </a:r>
          </a:p>
        </p:txBody>
      </p:sp>
      <p:sp>
        <p:nvSpPr>
          <p:cNvPr id="38" name="Rounded Rectangle 37"/>
          <p:cNvSpPr/>
          <p:nvPr/>
        </p:nvSpPr>
        <p:spPr>
          <a:xfrm>
            <a:off x="9281160" y="6519037"/>
            <a:ext cx="7978140" cy="2789555"/>
          </a:xfrm>
          <a:prstGeom prst="roundRect">
            <a:avLst>
              <a:gd name="adj" fmla="val 9833"/>
            </a:avLst>
          </a:prstGeom>
          <a:solidFill>
            <a:srgbClr val="4472C4"/>
          </a:solidFill>
          <a:ln>
            <a:noFill/>
          </a:ln>
        </p:spPr>
        <p:txBody>
          <a:bodyPr anchor="ctr" rtlCol="false" lIns="0" tIns="0" rIns="0" bIns="0" wrap="square"/>
          <a:lstStyle/>
          <a:p>
            <a:endParaRPr lang="en-US" sz="1800"/>
          </a:p>
        </p:txBody>
      </p:sp>
      <p:sp>
        <p:nvSpPr>
          <p:cNvPr id="39" name="Oval 38"/>
          <p:cNvSpPr/>
          <p:nvPr/>
        </p:nvSpPr>
        <p:spPr>
          <a:xfrm>
            <a:off x="9646920" y="6884797"/>
            <a:ext cx="731520" cy="731520"/>
          </a:xfrm>
          <a:prstGeom prst="ellipse">
            <a:avLst/>
          </a:prstGeom>
          <a:solidFill>
            <a:srgbClr val="ECC665"/>
          </a:solidFill>
          <a:ln>
            <a:noFill/>
          </a:ln>
        </p:spPr>
        <p:txBody>
          <a:bodyPr anchor="ctr" rtlCol="false" lIns="0" tIns="0" rIns="0" bIns="0" wrap="square"/>
          <a:lstStyle/>
          <a:p>
            <a:pPr algn="ctr">
              <a:lnSpc>
                <a:spcPts val="2200"/>
              </a:lnSpc>
              <a:spcBef>
                <a:spcPts val="0"/>
              </a:spcBef>
              <a:buNone/>
            </a:pPr>
            <a:r>
              <a:rPr lang="en-US" sz="2000" b="true">
                <a:solidFill>
                  <a:srgbClr val="111111"/>
                </a:solidFill>
                <a:latin typeface="Nunito Ultra-Bold"/>
                <a:ea typeface="Nunito Ultra-Bold"/>
                <a:cs typeface="Nunito Ultra-Bold"/>
                <a:sym typeface="Nunito Ultra-Bold"/>
              </a:rPr>
              <a:t>04</a:t>
            </a:r>
          </a:p>
        </p:txBody>
      </p:sp>
      <p:sp>
        <p:nvSpPr>
          <p:cNvPr id="40" name="TextBox 39"/>
          <p:cNvSpPr txBox="1"/>
          <p:nvPr/>
        </p:nvSpPr>
        <p:spPr>
          <a:xfrm>
            <a:off x="10607040" y="6839077"/>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Broader trustworthy-AI evaluation</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Exposure fairness, transparency requirements, auditing for governance.</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71</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Conclusion</a:t>
            </a:r>
          </a:p>
        </p:txBody>
      </p:sp>
      <p:pic>
        <p:nvPicPr>
          <p:cNvPr id="25" name="Picture 24" descr="image.png"/>
          <p:cNvPicPr>
            <a:picLocks noChangeAspect="1"/>
          </p:cNvPicPr>
          <p:nvPr/>
        </p:nvPicPr>
        <p:blipFill>
          <a:blip r:embed="rId3"/>
          <a:stretch>
            <a:fillRect/>
          </a:stretch>
        </p:blipFill>
        <p:spPr>
          <a:xfrm>
            <a:off x="4224502" y="1673352"/>
            <a:ext cx="457200" cy="452148"/>
          </a:xfrm>
          <a:prstGeom prst="rect">
            <a:avLst/>
          </a:prstGeom>
        </p:spPr>
      </p:pic>
      <p:sp>
        <p:nvSpPr>
          <p:cNvPr id="26" name="Rounded Rectangle 25"/>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7" name="Rounded Rectangle 26"/>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8" name="Rounded Rectangle 27"/>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9" name="Rounded Rectangle 28"/>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30" name="Rounded Rectangle 29"/>
          <p:cNvSpPr/>
          <p:nvPr/>
        </p:nvSpPr>
        <p:spPr>
          <a:xfrm>
            <a:off x="8738333" y="2559050"/>
            <a:ext cx="17530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Conclusion</a:t>
            </a:r>
          </a:p>
        </p:txBody>
      </p:sp>
      <p:sp>
        <p:nvSpPr>
          <p:cNvPr id="31" name="Rounded Rectangle 30"/>
          <p:cNvSpPr/>
          <p:nvPr/>
        </p:nvSpPr>
        <p:spPr>
          <a:xfrm>
            <a:off x="1028700" y="3546602"/>
            <a:ext cx="16230600" cy="1554480"/>
          </a:xfrm>
          <a:prstGeom prst="roundRect">
            <a:avLst>
              <a:gd name="adj" fmla="val 12941"/>
            </a:avLst>
          </a:prstGeom>
          <a:solidFill>
            <a:srgbClr val="E7EAF3"/>
          </a:solidFill>
          <a:ln w="25400">
            <a:solidFill>
              <a:srgbClr val="4472C4"/>
            </a:solidFill>
          </a:ln>
        </p:spPr>
        <p:txBody>
          <a:bodyPr anchor="ctr" rtlCol="false" lIns="0" tIns="0" rIns="0" bIns="0" wrap="square"/>
          <a:lstStyle/>
          <a:p>
            <a:endParaRPr lang="en-US" sz="1800"/>
          </a:p>
        </p:txBody>
      </p:sp>
      <p:sp>
        <p:nvSpPr>
          <p:cNvPr id="32" name="Rounded Rectangle 31"/>
          <p:cNvSpPr/>
          <p:nvPr/>
        </p:nvSpPr>
        <p:spPr>
          <a:xfrm>
            <a:off x="1348740" y="3354578"/>
            <a:ext cx="207323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THESIS ANSWER</a:t>
            </a:r>
          </a:p>
        </p:txBody>
      </p:sp>
      <p:sp>
        <p:nvSpPr>
          <p:cNvPr id="33" name="TextBox 32"/>
          <p:cNvSpPr txBox="1"/>
          <p:nvPr/>
        </p:nvSpPr>
        <p:spPr>
          <a:xfrm>
            <a:off x="1394460" y="3820922"/>
            <a:ext cx="15499080" cy="1143000"/>
          </a:xfrm>
          <a:prstGeom prst="rect">
            <a:avLst/>
          </a:prstGeom>
          <a:noFill/>
        </p:spPr>
        <p:txBody>
          <a:bodyPr anchor="ctr" rtlCol="false" lIns="0" tIns="0" rIns="0" bIns="0" wrap="square"/>
          <a:lstStyle/>
          <a:p>
            <a:pPr algn="l">
              <a:lnSpc>
                <a:spcPts val="3123"/>
              </a:lnSpc>
              <a:spcBef>
                <a:spcPts val="0"/>
              </a:spcBef>
              <a:buNone/>
            </a:pPr>
            <a:r>
              <a:rPr lang="en-US" sz="2231" b="true">
                <a:solidFill>
                  <a:srgbClr val="111111"/>
                </a:solidFill>
                <a:latin typeface="Nunito Semi-Bold"/>
                <a:ea typeface="Nunito Semi-Bold"/>
                <a:cs typeface="Nunito Semi-Bold"/>
                <a:sym typeface="Nunito Semi-Bold"/>
              </a:rPr>
              <a:t>Cooperative game theory can serve as a </a:t>
            </a:r>
            <a:r>
              <a:rPr lang="en-US" sz="2231" b="true">
                <a:solidFill>
                  <a:srgbClr val="111111"/>
                </a:solidFill>
                <a:latin typeface="Nunito Bold"/>
                <a:ea typeface="Nunito Bold"/>
                <a:cs typeface="Nunito Bold"/>
                <a:sym typeface="Nunito Bold"/>
              </a:rPr>
              <a:t>shared methodological view for actionable explanation</a:t>
            </a:r>
            <a:r>
              <a:rPr lang="en-US" sz="2231" b="true">
                <a:solidFill>
                  <a:srgbClr val="111111"/>
                </a:solidFill>
                <a:latin typeface="Nunito Semi-Bold"/>
                <a:ea typeface="Nunito Semi-Bold"/>
                <a:cs typeface="Nunito Semi-Bold"/>
                <a:sym typeface="Nunito Semi-Bold"/>
              </a:rPr>
              <a:t> across clustering and recommendation: the same Shapley logic explains, stays consistent across levels, and guides learning.</a:t>
            </a:r>
          </a:p>
        </p:txBody>
      </p:sp>
      <p:sp>
        <p:nvSpPr>
          <p:cNvPr id="34" name="TextBox 33"/>
          <p:cNvSpPr txBox="1"/>
          <p:nvPr/>
        </p:nvSpPr>
        <p:spPr>
          <a:xfrm>
            <a:off x="1028700" y="5421122"/>
            <a:ext cx="16230600" cy="320040"/>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1F7A8C"/>
                </a:solidFill>
                <a:latin typeface="Nunito Ultra-Bold"/>
                <a:ea typeface="Nunito Ultra-Bold"/>
                <a:cs typeface="Nunito Ultra-Bold"/>
                <a:sym typeface="Nunito Ultra-Bold"/>
              </a:rPr>
              <a:t>KEY OUTCOMES</a:t>
            </a:r>
          </a:p>
        </p:txBody>
      </p:sp>
      <p:sp>
        <p:nvSpPr>
          <p:cNvPr id="35" name="Rounded Rectangle 34"/>
          <p:cNvSpPr/>
          <p:nvPr/>
        </p:nvSpPr>
        <p:spPr>
          <a:xfrm>
            <a:off x="1028700" y="5768594"/>
            <a:ext cx="3851910" cy="3355085"/>
          </a:xfrm>
          <a:prstGeom prst="roundRect">
            <a:avLst>
              <a:gd name="adj" fmla="val 8105"/>
            </a:avLst>
          </a:prstGeom>
          <a:solidFill>
            <a:srgbClr val="E7EAF3"/>
          </a:solidFill>
          <a:ln>
            <a:noFill/>
          </a:ln>
        </p:spPr>
        <p:txBody>
          <a:bodyPr anchor="ctr" rtlCol="false" lIns="0" tIns="0" rIns="0" bIns="0" wrap="square"/>
          <a:lstStyle/>
          <a:p>
            <a:endParaRPr lang="en-US" sz="1800"/>
          </a:p>
        </p:txBody>
      </p:sp>
      <p:sp>
        <p:nvSpPr>
          <p:cNvPr id="36" name="Oval 35"/>
          <p:cNvSpPr/>
          <p:nvPr/>
        </p:nvSpPr>
        <p:spPr>
          <a:xfrm>
            <a:off x="1348740" y="6042914"/>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1</a:t>
            </a:r>
          </a:p>
        </p:txBody>
      </p:sp>
      <p:sp>
        <p:nvSpPr>
          <p:cNvPr id="37" name="TextBox 36"/>
          <p:cNvSpPr txBox="1"/>
          <p:nvPr/>
        </p:nvSpPr>
        <p:spPr>
          <a:xfrm>
            <a:off x="1348740" y="6682994"/>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Common language</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Shapley attribution as a common formal language for assigning importance to features, interactions and contexts.</a:t>
            </a:r>
          </a:p>
        </p:txBody>
      </p:sp>
      <p:sp>
        <p:nvSpPr>
          <p:cNvPr id="38" name="Rounded Rectangle 37"/>
          <p:cNvSpPr/>
          <p:nvPr/>
        </p:nvSpPr>
        <p:spPr>
          <a:xfrm>
            <a:off x="5154930" y="5768594"/>
            <a:ext cx="3851910" cy="3355085"/>
          </a:xfrm>
          <a:prstGeom prst="roundRect">
            <a:avLst>
              <a:gd name="adj" fmla="val 8105"/>
            </a:avLst>
          </a:prstGeom>
          <a:solidFill>
            <a:srgbClr val="FBF4EB"/>
          </a:solidFill>
          <a:ln>
            <a:noFill/>
          </a:ln>
        </p:spPr>
        <p:txBody>
          <a:bodyPr anchor="ctr" rtlCol="false" lIns="0" tIns="0" rIns="0" bIns="0" wrap="square"/>
          <a:lstStyle/>
          <a:p>
            <a:endParaRPr lang="en-US" sz="1800"/>
          </a:p>
        </p:txBody>
      </p:sp>
      <p:sp>
        <p:nvSpPr>
          <p:cNvPr id="39" name="Oval 38"/>
          <p:cNvSpPr/>
          <p:nvPr/>
        </p:nvSpPr>
        <p:spPr>
          <a:xfrm>
            <a:off x="5474970" y="6042914"/>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2</a:t>
            </a:r>
          </a:p>
        </p:txBody>
      </p:sp>
      <p:sp>
        <p:nvSpPr>
          <p:cNvPr id="40" name="TextBox 39"/>
          <p:cNvSpPr txBox="1"/>
          <p:nvPr/>
        </p:nvSpPr>
        <p:spPr>
          <a:xfrm>
            <a:off x="5474970" y="6682994"/>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Three achievements</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Faithful clustering explanation, consistent multi-level explanation, contribution-aware recommendation learning.</a:t>
            </a:r>
          </a:p>
        </p:txBody>
      </p:sp>
      <p:sp>
        <p:nvSpPr>
          <p:cNvPr id="41" name="Rounded Rectangle 40"/>
          <p:cNvSpPr/>
          <p:nvPr/>
        </p:nvSpPr>
        <p:spPr>
          <a:xfrm>
            <a:off x="9281160" y="5768594"/>
            <a:ext cx="3851910" cy="3355085"/>
          </a:xfrm>
          <a:prstGeom prst="roundRect">
            <a:avLst>
              <a:gd name="adj" fmla="val 8105"/>
            </a:avLst>
          </a:prstGeom>
          <a:solidFill>
            <a:srgbClr val="E7EAF3"/>
          </a:solidFill>
          <a:ln>
            <a:noFill/>
          </a:ln>
        </p:spPr>
        <p:txBody>
          <a:bodyPr anchor="ctr" rtlCol="false" lIns="0" tIns="0" rIns="0" bIns="0" wrap="square"/>
          <a:lstStyle/>
          <a:p>
            <a:endParaRPr lang="en-US" sz="1800"/>
          </a:p>
        </p:txBody>
      </p:sp>
      <p:sp>
        <p:nvSpPr>
          <p:cNvPr id="42" name="Oval 41"/>
          <p:cNvSpPr/>
          <p:nvPr/>
        </p:nvSpPr>
        <p:spPr>
          <a:xfrm>
            <a:off x="9601200" y="6042914"/>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3</a:t>
            </a:r>
          </a:p>
        </p:txBody>
      </p:sp>
      <p:sp>
        <p:nvSpPr>
          <p:cNvPr id="43" name="TextBox 42"/>
          <p:cNvSpPr txBox="1"/>
          <p:nvPr/>
        </p:nvSpPr>
        <p:spPr>
          <a:xfrm>
            <a:off x="9601200" y="6682994"/>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Explanation as method</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Not a comment added later: from post-hoc description to in-training guidance.</a:t>
            </a:r>
          </a:p>
        </p:txBody>
      </p:sp>
      <p:sp>
        <p:nvSpPr>
          <p:cNvPr id="44" name="Rounded Rectangle 43"/>
          <p:cNvSpPr/>
          <p:nvPr/>
        </p:nvSpPr>
        <p:spPr>
          <a:xfrm>
            <a:off x="13407390" y="5768594"/>
            <a:ext cx="3851910" cy="3355085"/>
          </a:xfrm>
          <a:prstGeom prst="roundRect">
            <a:avLst>
              <a:gd name="adj" fmla="val 8105"/>
            </a:avLst>
          </a:prstGeom>
          <a:solidFill>
            <a:srgbClr val="FBF4EB"/>
          </a:solidFill>
          <a:ln>
            <a:noFill/>
          </a:ln>
        </p:spPr>
        <p:txBody>
          <a:bodyPr anchor="ctr" rtlCol="false" lIns="0" tIns="0" rIns="0" bIns="0" wrap="square"/>
          <a:lstStyle/>
          <a:p>
            <a:endParaRPr lang="en-US" sz="1800"/>
          </a:p>
        </p:txBody>
      </p:sp>
      <p:sp>
        <p:nvSpPr>
          <p:cNvPr id="45" name="Oval 44"/>
          <p:cNvSpPr/>
          <p:nvPr/>
        </p:nvSpPr>
        <p:spPr>
          <a:xfrm>
            <a:off x="13727430" y="6042914"/>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4</a:t>
            </a:r>
          </a:p>
        </p:txBody>
      </p:sp>
      <p:sp>
        <p:nvSpPr>
          <p:cNvPr id="46" name="TextBox 45"/>
          <p:cNvSpPr txBox="1"/>
          <p:nvPr/>
        </p:nvSpPr>
        <p:spPr>
          <a:xfrm>
            <a:off x="13727430" y="6682994"/>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Trustworthy AI</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Aligned with EU AI Act, OECD principles and GDPR expectations.</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[24] Arrieta, A. B. et al. Explainable Artificial Intelligence (XAI): Concepts, Taxonomies, Opportunities and Challenges. Information Fusion 58, 82–115 (2020).   [26] European Union. Regulation (EU) 2024/1689 (AI Act), Art. 13 (2024).  ·  Regulation (EU) 2016/679 (GDPR), Art. 22 (2016).  ·  OECD. Recommendation of the Council on Artificial Intelligence (2019).</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References (1 / 2)</a:t>
            </a:r>
          </a:p>
        </p:txBody>
      </p:sp>
      <p:pic>
        <p:nvPicPr>
          <p:cNvPr id="23" name="Picture 22" descr="image.png"/>
          <p:cNvPicPr>
            <a:picLocks noChangeAspect="1"/>
          </p:cNvPicPr>
          <p:nvPr/>
        </p:nvPicPr>
        <p:blipFill>
          <a:blip r:embed="rId3"/>
          <a:stretch>
            <a:fillRect/>
          </a:stretch>
        </p:blipFill>
        <p:spPr>
          <a:xfrm>
            <a:off x="5569149" y="1673352"/>
            <a:ext cx="457200" cy="617115"/>
          </a:xfrm>
          <a:prstGeom prst="rect">
            <a:avLst/>
          </a:prstGeom>
        </p:spPr>
      </p:pic>
      <p:sp>
        <p:nvSpPr>
          <p:cNvPr id="24" name="Rounded Rectangle 23"/>
          <p:cNvSpPr/>
          <p:nvPr/>
        </p:nvSpPr>
        <p:spPr>
          <a:xfrm>
            <a:off x="1028700" y="271449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25" name="Rounded Rectangle 24"/>
          <p:cNvSpPr/>
          <p:nvPr/>
        </p:nvSpPr>
        <p:spPr>
          <a:xfrm>
            <a:off x="1138428" y="2769362"/>
            <a:ext cx="640080" cy="323396"/>
          </a:xfrm>
          <a:prstGeom prst="roundRect">
            <a:avLst>
              <a:gd name="adj" fmla="val 22619"/>
            </a:avLst>
          </a:prstGeom>
          <a:solidFill>
            <a:srgbClr val="4472C4"/>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a:t>
            </a:r>
          </a:p>
        </p:txBody>
      </p:sp>
      <p:sp>
        <p:nvSpPr>
          <p:cNvPr id="26" name="TextBox 25"/>
          <p:cNvSpPr txBox="1"/>
          <p:nvPr/>
        </p:nvSpPr>
        <p:spPr>
          <a:xfrm>
            <a:off x="1943100" y="2714498"/>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Louhichi, M., Nesmaoui, R., Mbarek, M. &amp; Lazaar, M. Shapley Values for Explaining the Black Box Nature of Machine Learning Model Clustering. Procedia Computer Science 220, 806–811 (2023).</a:t>
            </a:r>
          </a:p>
        </p:txBody>
      </p:sp>
      <p:sp>
        <p:nvSpPr>
          <p:cNvPr id="27" name="Rounded Rectangle 26"/>
          <p:cNvSpPr/>
          <p:nvPr/>
        </p:nvSpPr>
        <p:spPr>
          <a:xfrm>
            <a:off x="1028700" y="3202486"/>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28" name="Rounded Rectangle 27"/>
          <p:cNvSpPr/>
          <p:nvPr/>
        </p:nvSpPr>
        <p:spPr>
          <a:xfrm>
            <a:off x="1138428" y="3257350"/>
            <a:ext cx="640080" cy="323396"/>
          </a:xfrm>
          <a:prstGeom prst="roundRect">
            <a:avLst>
              <a:gd name="adj" fmla="val 22619"/>
            </a:avLst>
          </a:prstGeom>
          <a:solidFill>
            <a:srgbClr val="4472C4"/>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a:t>
            </a:r>
          </a:p>
        </p:txBody>
      </p:sp>
      <p:sp>
        <p:nvSpPr>
          <p:cNvPr id="29" name="TextBox 28"/>
          <p:cNvSpPr txBox="1"/>
          <p:nvPr/>
        </p:nvSpPr>
        <p:spPr>
          <a:xfrm>
            <a:off x="1943100" y="3202486"/>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Louhichi, M., Nesmaoui, R. &amp; Lazaar, M. Game Theory Meets Explainable AI: An Enhanced Approach to Understanding Black Box Models Through Shapley Values. IJACSA 16(7), 716–725 (2025).</a:t>
            </a:r>
          </a:p>
        </p:txBody>
      </p:sp>
      <p:sp>
        <p:nvSpPr>
          <p:cNvPr id="30" name="Rounded Rectangle 29"/>
          <p:cNvSpPr/>
          <p:nvPr/>
        </p:nvSpPr>
        <p:spPr>
          <a:xfrm>
            <a:off x="1028700" y="3690474"/>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31" name="Rounded Rectangle 30"/>
          <p:cNvSpPr/>
          <p:nvPr/>
        </p:nvSpPr>
        <p:spPr>
          <a:xfrm>
            <a:off x="1138428" y="3745338"/>
            <a:ext cx="640080" cy="323396"/>
          </a:xfrm>
          <a:prstGeom prst="roundRect">
            <a:avLst>
              <a:gd name="adj" fmla="val 22619"/>
            </a:avLst>
          </a:prstGeom>
          <a:solidFill>
            <a:srgbClr val="4472C4"/>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[3]</a:t>
            </a:r>
          </a:p>
        </p:txBody>
      </p:sp>
      <p:sp>
        <p:nvSpPr>
          <p:cNvPr id="32" name="TextBox 31"/>
          <p:cNvSpPr txBox="1"/>
          <p:nvPr/>
        </p:nvSpPr>
        <p:spPr>
          <a:xfrm>
            <a:off x="1943100" y="3690474"/>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Louhichi, M., Nesmaoui, R. &amp; Lazaar, M. DyHuCoG: A Dynamic Hypergraph Cooperative Game for Preference-aware Recommendation. IJIES 19(2), 887–902 (2026).</a:t>
            </a:r>
          </a:p>
        </p:txBody>
      </p:sp>
      <p:sp>
        <p:nvSpPr>
          <p:cNvPr id="33" name="Rounded Rectangle 32"/>
          <p:cNvSpPr/>
          <p:nvPr/>
        </p:nvSpPr>
        <p:spPr>
          <a:xfrm>
            <a:off x="1028700" y="417846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34" name="Rounded Rectangle 33"/>
          <p:cNvSpPr/>
          <p:nvPr/>
        </p:nvSpPr>
        <p:spPr>
          <a:xfrm>
            <a:off x="1138428" y="423332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[4]</a:t>
            </a:r>
          </a:p>
        </p:txBody>
      </p:sp>
      <p:sp>
        <p:nvSpPr>
          <p:cNvPr id="35" name="TextBox 34"/>
          <p:cNvSpPr txBox="1"/>
          <p:nvPr/>
        </p:nvSpPr>
        <p:spPr>
          <a:xfrm>
            <a:off x="1943100" y="4178463"/>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Shapley, L. S. A Value for n-Person Games. Contributions to the Theory of Games II, 307–317, Princeton University Press (1953).</a:t>
            </a:r>
          </a:p>
        </p:txBody>
      </p:sp>
      <p:sp>
        <p:nvSpPr>
          <p:cNvPr id="36" name="Rounded Rectangle 35"/>
          <p:cNvSpPr/>
          <p:nvPr/>
        </p:nvSpPr>
        <p:spPr>
          <a:xfrm>
            <a:off x="1028700" y="4666451"/>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37" name="Rounded Rectangle 36"/>
          <p:cNvSpPr/>
          <p:nvPr/>
        </p:nvSpPr>
        <p:spPr>
          <a:xfrm>
            <a:off x="1138428" y="4721315"/>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[5]</a:t>
            </a:r>
          </a:p>
        </p:txBody>
      </p:sp>
      <p:sp>
        <p:nvSpPr>
          <p:cNvPr id="38" name="TextBox 37"/>
          <p:cNvSpPr txBox="1"/>
          <p:nvPr/>
        </p:nvSpPr>
        <p:spPr>
          <a:xfrm>
            <a:off x="1943100" y="4666451"/>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Lundberg, S. M. &amp; Lee, S.-I. A Unified Approach to Interpreting Model Predictions (SHAP). NeurIPS 30, 4765–4774 (2017).</a:t>
            </a:r>
          </a:p>
        </p:txBody>
      </p:sp>
      <p:sp>
        <p:nvSpPr>
          <p:cNvPr id="39" name="Rounded Rectangle 38"/>
          <p:cNvSpPr/>
          <p:nvPr/>
        </p:nvSpPr>
        <p:spPr>
          <a:xfrm>
            <a:off x="1028700" y="515444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0" name="Rounded Rectangle 39"/>
          <p:cNvSpPr/>
          <p:nvPr/>
        </p:nvSpPr>
        <p:spPr>
          <a:xfrm>
            <a:off x="1138428" y="520930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[6]</a:t>
            </a:r>
          </a:p>
        </p:txBody>
      </p:sp>
      <p:sp>
        <p:nvSpPr>
          <p:cNvPr id="41" name="TextBox 40"/>
          <p:cNvSpPr txBox="1"/>
          <p:nvPr/>
        </p:nvSpPr>
        <p:spPr>
          <a:xfrm>
            <a:off x="1943100" y="5154440"/>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Lundberg, S. M. et al. From Local Explanations to Global Understanding with Explainable AI for Trees (TreeSHAP). Nature Machine Intelligence 2, 56–67 (2020).</a:t>
            </a:r>
          </a:p>
        </p:txBody>
      </p:sp>
      <p:sp>
        <p:nvSpPr>
          <p:cNvPr id="42" name="Rounded Rectangle 41"/>
          <p:cNvSpPr/>
          <p:nvPr/>
        </p:nvSpPr>
        <p:spPr>
          <a:xfrm>
            <a:off x="1028700" y="564242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3" name="Rounded Rectangle 42"/>
          <p:cNvSpPr/>
          <p:nvPr/>
        </p:nvSpPr>
        <p:spPr>
          <a:xfrm>
            <a:off x="1138428" y="5697292"/>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[7]</a:t>
            </a:r>
          </a:p>
        </p:txBody>
      </p:sp>
      <p:sp>
        <p:nvSpPr>
          <p:cNvPr id="44" name="TextBox 43"/>
          <p:cNvSpPr txBox="1"/>
          <p:nvPr/>
        </p:nvSpPr>
        <p:spPr>
          <a:xfrm>
            <a:off x="1943100" y="5642428"/>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Ribeiro, M. T., Singh, S. &amp; Guestrin, C. "Why Should I Trust You?": Explaining the Predictions of Any Classifier (LIME). KDD, 1135–1144 (2016).</a:t>
            </a:r>
          </a:p>
        </p:txBody>
      </p:sp>
      <p:sp>
        <p:nvSpPr>
          <p:cNvPr id="45" name="Rounded Rectangle 44"/>
          <p:cNvSpPr/>
          <p:nvPr/>
        </p:nvSpPr>
        <p:spPr>
          <a:xfrm>
            <a:off x="1028700" y="613041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6" name="Rounded Rectangle 45"/>
          <p:cNvSpPr/>
          <p:nvPr/>
        </p:nvSpPr>
        <p:spPr>
          <a:xfrm>
            <a:off x="1138428" y="618528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[8]</a:t>
            </a:r>
          </a:p>
        </p:txBody>
      </p:sp>
      <p:sp>
        <p:nvSpPr>
          <p:cNvPr id="47" name="TextBox 46"/>
          <p:cNvSpPr txBox="1"/>
          <p:nvPr/>
        </p:nvSpPr>
        <p:spPr>
          <a:xfrm>
            <a:off x="1943100" y="6130417"/>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Castro, J., Gómez, D. &amp; Tejada, J. Polynomial Calculation of the Shapley Value Based on Sampling. Computers &amp; Operations Research 36(5), 1726–1730 (2009).</a:t>
            </a:r>
          </a:p>
        </p:txBody>
      </p:sp>
      <p:sp>
        <p:nvSpPr>
          <p:cNvPr id="48" name="Rounded Rectangle 47"/>
          <p:cNvSpPr/>
          <p:nvPr/>
        </p:nvSpPr>
        <p:spPr>
          <a:xfrm>
            <a:off x="1028700" y="6618405"/>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9" name="Rounded Rectangle 48"/>
          <p:cNvSpPr/>
          <p:nvPr/>
        </p:nvSpPr>
        <p:spPr>
          <a:xfrm>
            <a:off x="1138428" y="6673269"/>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[9]</a:t>
            </a:r>
          </a:p>
        </p:txBody>
      </p:sp>
      <p:sp>
        <p:nvSpPr>
          <p:cNvPr id="50" name="TextBox 49"/>
          <p:cNvSpPr txBox="1"/>
          <p:nvPr/>
        </p:nvSpPr>
        <p:spPr>
          <a:xfrm>
            <a:off x="1943100" y="6618405"/>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Štrumbelj, E. &amp; Kononenko, I. An Efficient Explanation of Individual Classifications Using Game Theory. JMLR 11, 1–18 (2010).</a:t>
            </a:r>
          </a:p>
        </p:txBody>
      </p:sp>
      <p:sp>
        <p:nvSpPr>
          <p:cNvPr id="51" name="Rounded Rectangle 50"/>
          <p:cNvSpPr/>
          <p:nvPr/>
        </p:nvSpPr>
        <p:spPr>
          <a:xfrm>
            <a:off x="1028700" y="710639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2" name="Rounded Rectangle 51"/>
          <p:cNvSpPr/>
          <p:nvPr/>
        </p:nvSpPr>
        <p:spPr>
          <a:xfrm>
            <a:off x="1138428" y="716125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[10]</a:t>
            </a:r>
          </a:p>
        </p:txBody>
      </p:sp>
      <p:sp>
        <p:nvSpPr>
          <p:cNvPr id="53" name="TextBox 52"/>
          <p:cNvSpPr txBox="1"/>
          <p:nvPr/>
        </p:nvSpPr>
        <p:spPr>
          <a:xfrm>
            <a:off x="1943100" y="7106393"/>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Koren, Y., Bell, R. &amp; Volinsky, C. Matrix Factorization Techniques for Recommender Systems. Computer 42(8), 30–37 (2009).</a:t>
            </a:r>
          </a:p>
        </p:txBody>
      </p:sp>
      <p:sp>
        <p:nvSpPr>
          <p:cNvPr id="54" name="Rounded Rectangle 53"/>
          <p:cNvSpPr/>
          <p:nvPr/>
        </p:nvSpPr>
        <p:spPr>
          <a:xfrm>
            <a:off x="1028700" y="7594382"/>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55" name="Rounded Rectangle 54"/>
          <p:cNvSpPr/>
          <p:nvPr/>
        </p:nvSpPr>
        <p:spPr>
          <a:xfrm>
            <a:off x="1138428" y="7649246"/>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[11]</a:t>
            </a:r>
          </a:p>
        </p:txBody>
      </p:sp>
      <p:sp>
        <p:nvSpPr>
          <p:cNvPr id="56" name="TextBox 55"/>
          <p:cNvSpPr txBox="1"/>
          <p:nvPr/>
        </p:nvSpPr>
        <p:spPr>
          <a:xfrm>
            <a:off x="1943100" y="7594382"/>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He, X. et al. Neural Collaborative Filtering. WWW, 173–182 (2017).</a:t>
            </a:r>
          </a:p>
        </p:txBody>
      </p:sp>
      <p:sp>
        <p:nvSpPr>
          <p:cNvPr id="57" name="Rounded Rectangle 56"/>
          <p:cNvSpPr/>
          <p:nvPr/>
        </p:nvSpPr>
        <p:spPr>
          <a:xfrm>
            <a:off x="1028700" y="808237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8" name="Rounded Rectangle 57"/>
          <p:cNvSpPr/>
          <p:nvPr/>
        </p:nvSpPr>
        <p:spPr>
          <a:xfrm>
            <a:off x="1138428" y="813723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[12]</a:t>
            </a:r>
          </a:p>
        </p:txBody>
      </p:sp>
      <p:sp>
        <p:nvSpPr>
          <p:cNvPr id="59" name="TextBox 58"/>
          <p:cNvSpPr txBox="1"/>
          <p:nvPr/>
        </p:nvSpPr>
        <p:spPr>
          <a:xfrm>
            <a:off x="1943100" y="8082370"/>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He, X. et al. LightGCN: Simplifying and Powering Graph Convolution Network for Recommendation. SIGIR, 639–648 (2020).</a:t>
            </a:r>
          </a:p>
        </p:txBody>
      </p:sp>
      <p:sp>
        <p:nvSpPr>
          <p:cNvPr id="60" name="Rounded Rectangle 59"/>
          <p:cNvSpPr/>
          <p:nvPr/>
        </p:nvSpPr>
        <p:spPr>
          <a:xfrm>
            <a:off x="1028700" y="8570359"/>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61" name="Rounded Rectangle 60"/>
          <p:cNvSpPr/>
          <p:nvPr/>
        </p:nvSpPr>
        <p:spPr>
          <a:xfrm>
            <a:off x="1138428" y="8625223"/>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[13]</a:t>
            </a:r>
          </a:p>
        </p:txBody>
      </p:sp>
      <p:sp>
        <p:nvSpPr>
          <p:cNvPr id="62" name="TextBox 61"/>
          <p:cNvSpPr txBox="1"/>
          <p:nvPr/>
        </p:nvSpPr>
        <p:spPr>
          <a:xfrm>
            <a:off x="1943100" y="8570359"/>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Xia, L. et al. Hypergraph Contrastive Collaborative Filtering (HCCF). SIGIR, 70–79 (2022).</a:t>
            </a:r>
          </a:p>
        </p:txBody>
      </p:sp>
      <p:sp>
        <p:nvSpPr>
          <p:cNvPr id="63" name="Rounded Rectangle 62"/>
          <p:cNvSpPr/>
          <p:nvPr/>
        </p:nvSpPr>
        <p:spPr>
          <a:xfrm>
            <a:off x="1028700" y="905834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64" name="Rounded Rectangle 63"/>
          <p:cNvSpPr/>
          <p:nvPr/>
        </p:nvSpPr>
        <p:spPr>
          <a:xfrm>
            <a:off x="1138428" y="911321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[14]</a:t>
            </a:r>
          </a:p>
        </p:txBody>
      </p:sp>
      <p:sp>
        <p:nvSpPr>
          <p:cNvPr id="65" name="TextBox 64"/>
          <p:cNvSpPr txBox="1"/>
          <p:nvPr/>
        </p:nvSpPr>
        <p:spPr>
          <a:xfrm>
            <a:off x="1943100" y="9058347"/>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Xiangyi, Y. et al. Hypergraph Projection Enhanced Collaborative Filtering (HPCF). Int. J. Data Science and Analytics 19(2), 269–281 (2025).</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References (2 / 2)</a:t>
            </a:r>
          </a:p>
        </p:txBody>
      </p:sp>
      <p:pic>
        <p:nvPicPr>
          <p:cNvPr id="23" name="Picture 22" descr="image.png"/>
          <p:cNvPicPr>
            <a:picLocks noChangeAspect="1"/>
          </p:cNvPicPr>
          <p:nvPr/>
        </p:nvPicPr>
        <p:blipFill>
          <a:blip r:embed="rId3"/>
          <a:stretch>
            <a:fillRect/>
          </a:stretch>
        </p:blipFill>
        <p:spPr>
          <a:xfrm>
            <a:off x="5713563" y="1673352"/>
            <a:ext cx="457200" cy="250983"/>
          </a:xfrm>
          <a:prstGeom prst="rect">
            <a:avLst/>
          </a:prstGeom>
        </p:spPr>
      </p:pic>
      <p:sp>
        <p:nvSpPr>
          <p:cNvPr id="24" name="Rounded Rectangle 23"/>
          <p:cNvSpPr/>
          <p:nvPr/>
        </p:nvSpPr>
        <p:spPr>
          <a:xfrm>
            <a:off x="1028700" y="271449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25" name="Rounded Rectangle 24"/>
          <p:cNvSpPr/>
          <p:nvPr/>
        </p:nvSpPr>
        <p:spPr>
          <a:xfrm>
            <a:off x="1138428" y="2769362"/>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[15]</a:t>
            </a:r>
          </a:p>
        </p:txBody>
      </p:sp>
      <p:sp>
        <p:nvSpPr>
          <p:cNvPr id="26" name="TextBox 25"/>
          <p:cNvSpPr txBox="1"/>
          <p:nvPr/>
        </p:nvSpPr>
        <p:spPr>
          <a:xfrm>
            <a:off x="1943100" y="2714498"/>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Zhang, D. et al. RecDCL: Dual Contrastive Learning for Recommendation. The Web Conference, 3655–3666 (2024).</a:t>
            </a:r>
          </a:p>
        </p:txBody>
      </p:sp>
      <p:sp>
        <p:nvSpPr>
          <p:cNvPr id="27" name="Rounded Rectangle 26"/>
          <p:cNvSpPr/>
          <p:nvPr/>
        </p:nvSpPr>
        <p:spPr>
          <a:xfrm>
            <a:off x="1028700" y="3202486"/>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28" name="Rounded Rectangle 27"/>
          <p:cNvSpPr/>
          <p:nvPr/>
        </p:nvSpPr>
        <p:spPr>
          <a:xfrm>
            <a:off x="1138428" y="3257350"/>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[16]</a:t>
            </a:r>
          </a:p>
        </p:txBody>
      </p:sp>
      <p:sp>
        <p:nvSpPr>
          <p:cNvPr id="29" name="TextBox 28"/>
          <p:cNvSpPr txBox="1"/>
          <p:nvPr/>
        </p:nvSpPr>
        <p:spPr>
          <a:xfrm>
            <a:off x="1943100" y="3202486"/>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Feng, Y. et al. Hypergraph Neural Networks. AAAI 33, 3558–3565 (2019).</a:t>
            </a:r>
          </a:p>
        </p:txBody>
      </p:sp>
      <p:sp>
        <p:nvSpPr>
          <p:cNvPr id="30" name="Rounded Rectangle 29"/>
          <p:cNvSpPr/>
          <p:nvPr/>
        </p:nvSpPr>
        <p:spPr>
          <a:xfrm>
            <a:off x="1028700" y="3690474"/>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31" name="Rounded Rectangle 30"/>
          <p:cNvSpPr/>
          <p:nvPr/>
        </p:nvSpPr>
        <p:spPr>
          <a:xfrm>
            <a:off x="1138428" y="3745338"/>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[17]</a:t>
            </a:r>
          </a:p>
        </p:txBody>
      </p:sp>
      <p:sp>
        <p:nvSpPr>
          <p:cNvPr id="32" name="TextBox 31"/>
          <p:cNvSpPr txBox="1"/>
          <p:nvPr/>
        </p:nvSpPr>
        <p:spPr>
          <a:xfrm>
            <a:off x="1943100" y="3690474"/>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Rousseeuw, P. J. Silhouettes: A Graphical Aid to the Interpretation and Validation of Cluster Analysis. J. Comput. Appl. Math. 20, 53–65 (1987).</a:t>
            </a:r>
          </a:p>
        </p:txBody>
      </p:sp>
      <p:sp>
        <p:nvSpPr>
          <p:cNvPr id="33" name="Rounded Rectangle 32"/>
          <p:cNvSpPr/>
          <p:nvPr/>
        </p:nvSpPr>
        <p:spPr>
          <a:xfrm>
            <a:off x="1028700" y="417846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34" name="Rounded Rectangle 33"/>
          <p:cNvSpPr/>
          <p:nvPr/>
        </p:nvSpPr>
        <p:spPr>
          <a:xfrm>
            <a:off x="1138428" y="423332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[18]</a:t>
            </a:r>
          </a:p>
        </p:txBody>
      </p:sp>
      <p:sp>
        <p:nvSpPr>
          <p:cNvPr id="35" name="TextBox 34"/>
          <p:cNvSpPr txBox="1"/>
          <p:nvPr/>
        </p:nvSpPr>
        <p:spPr>
          <a:xfrm>
            <a:off x="1943100" y="4178463"/>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Gramegna, A. &amp; Giudici, P. SHAP and LIME: An Evaluation of Discriminative Power in Credit Risk. Frontiers in AI 4, 752558 (2021).</a:t>
            </a:r>
          </a:p>
        </p:txBody>
      </p:sp>
      <p:sp>
        <p:nvSpPr>
          <p:cNvPr id="36" name="Rounded Rectangle 35"/>
          <p:cNvSpPr/>
          <p:nvPr/>
        </p:nvSpPr>
        <p:spPr>
          <a:xfrm>
            <a:off x="1028700" y="4666451"/>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37" name="Rounded Rectangle 36"/>
          <p:cNvSpPr/>
          <p:nvPr/>
        </p:nvSpPr>
        <p:spPr>
          <a:xfrm>
            <a:off x="1138428" y="4721315"/>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[19]</a:t>
            </a:r>
          </a:p>
        </p:txBody>
      </p:sp>
      <p:sp>
        <p:nvSpPr>
          <p:cNvPr id="38" name="TextBox 37"/>
          <p:cNvSpPr txBox="1"/>
          <p:nvPr/>
        </p:nvSpPr>
        <p:spPr>
          <a:xfrm>
            <a:off x="1943100" y="4666451"/>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Cortez, P. et al. Wine Quality. UCI Machine Learning Repository (2009).  ·  Zhang, S. et al. Beijing Multi-Site Air Quality Data Set. UCI Machine Learning Repository (2017).</a:t>
            </a:r>
          </a:p>
        </p:txBody>
      </p:sp>
      <p:sp>
        <p:nvSpPr>
          <p:cNvPr id="39" name="Rounded Rectangle 38"/>
          <p:cNvSpPr/>
          <p:nvPr/>
        </p:nvSpPr>
        <p:spPr>
          <a:xfrm>
            <a:off x="1028700" y="515444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0" name="Rounded Rectangle 39"/>
          <p:cNvSpPr/>
          <p:nvPr/>
        </p:nvSpPr>
        <p:spPr>
          <a:xfrm>
            <a:off x="1138428" y="520930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[20]</a:t>
            </a:r>
          </a:p>
        </p:txBody>
      </p:sp>
      <p:sp>
        <p:nvSpPr>
          <p:cNvPr id="41" name="TextBox 40"/>
          <p:cNvSpPr txBox="1"/>
          <p:nvPr/>
        </p:nvSpPr>
        <p:spPr>
          <a:xfrm>
            <a:off x="1943100" y="5154440"/>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Harper, F. M. &amp; Konstan, J. A. The MovieLens Datasets: History and Context. ACM TiiS 5(4), 19 (2015).  ·  McAuley, J. et al. Amazon Review Data (Amazon-Book). UCSD (2018).</a:t>
            </a:r>
          </a:p>
        </p:txBody>
      </p:sp>
      <p:sp>
        <p:nvSpPr>
          <p:cNvPr id="42" name="Rounded Rectangle 41"/>
          <p:cNvSpPr/>
          <p:nvPr/>
        </p:nvSpPr>
        <p:spPr>
          <a:xfrm>
            <a:off x="1028700" y="564242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3" name="Rounded Rectangle 42"/>
          <p:cNvSpPr/>
          <p:nvPr/>
        </p:nvSpPr>
        <p:spPr>
          <a:xfrm>
            <a:off x="1138428" y="5697292"/>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[21]</a:t>
            </a:r>
          </a:p>
        </p:txBody>
      </p:sp>
      <p:sp>
        <p:nvSpPr>
          <p:cNvPr id="44" name="TextBox 43"/>
          <p:cNvSpPr txBox="1"/>
          <p:nvPr/>
        </p:nvSpPr>
        <p:spPr>
          <a:xfrm>
            <a:off x="1943100" y="5642428"/>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Zhang, Y. &amp; Chen, X. Explainable Recommendation: A Survey and New Perspectives. Foundations and Trends in IR 14(1), 1–101 (2020).</a:t>
            </a:r>
          </a:p>
        </p:txBody>
      </p:sp>
      <p:sp>
        <p:nvSpPr>
          <p:cNvPr id="45" name="Rounded Rectangle 44"/>
          <p:cNvSpPr/>
          <p:nvPr/>
        </p:nvSpPr>
        <p:spPr>
          <a:xfrm>
            <a:off x="1028700" y="613041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6" name="Rounded Rectangle 45"/>
          <p:cNvSpPr/>
          <p:nvPr/>
        </p:nvSpPr>
        <p:spPr>
          <a:xfrm>
            <a:off x="1138428" y="618528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[22]</a:t>
            </a:r>
          </a:p>
        </p:txBody>
      </p:sp>
      <p:sp>
        <p:nvSpPr>
          <p:cNvPr id="47" name="TextBox 46"/>
          <p:cNvSpPr txBox="1"/>
          <p:nvPr/>
        </p:nvSpPr>
        <p:spPr>
          <a:xfrm>
            <a:off x="1943100" y="6130417"/>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Adomavicius, G. &amp; Tuzhilin, A. Toward the Next Generation of Recommender Systems. IEEE TKDE 17(6), 734–749 (2005).  ·  Burke, R. Hybrid Recommender Systems. UMUAI 12(4), 331–370 (2002).</a:t>
            </a:r>
          </a:p>
        </p:txBody>
      </p:sp>
      <p:sp>
        <p:nvSpPr>
          <p:cNvPr id="48" name="Rounded Rectangle 47"/>
          <p:cNvSpPr/>
          <p:nvPr/>
        </p:nvSpPr>
        <p:spPr>
          <a:xfrm>
            <a:off x="1028700" y="6618405"/>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9" name="Rounded Rectangle 48"/>
          <p:cNvSpPr/>
          <p:nvPr/>
        </p:nvSpPr>
        <p:spPr>
          <a:xfrm>
            <a:off x="1138428" y="6673269"/>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[23]</a:t>
            </a:r>
          </a:p>
        </p:txBody>
      </p:sp>
      <p:sp>
        <p:nvSpPr>
          <p:cNvPr id="50" name="TextBox 49"/>
          <p:cNvSpPr txBox="1"/>
          <p:nvPr/>
        </p:nvSpPr>
        <p:spPr>
          <a:xfrm>
            <a:off x="1943100" y="6618405"/>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Zhu, Z. et al. Popularity Bias in Dynamic Recommendation. KDD, 2439–2449 (2021).  ·  Hurley, N. &amp; Zhang, M. Novelty and Diversity in Top-N Recommendation. ACM TOIT 10(4) (2011).</a:t>
            </a:r>
          </a:p>
        </p:txBody>
      </p:sp>
      <p:sp>
        <p:nvSpPr>
          <p:cNvPr id="51" name="Rounded Rectangle 50"/>
          <p:cNvSpPr/>
          <p:nvPr/>
        </p:nvSpPr>
        <p:spPr>
          <a:xfrm>
            <a:off x="1028700" y="710639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2" name="Rounded Rectangle 51"/>
          <p:cNvSpPr/>
          <p:nvPr/>
        </p:nvSpPr>
        <p:spPr>
          <a:xfrm>
            <a:off x="1138428" y="716125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[24]</a:t>
            </a:r>
          </a:p>
        </p:txBody>
      </p:sp>
      <p:sp>
        <p:nvSpPr>
          <p:cNvPr id="53" name="TextBox 52"/>
          <p:cNvSpPr txBox="1"/>
          <p:nvPr/>
        </p:nvSpPr>
        <p:spPr>
          <a:xfrm>
            <a:off x="1943100" y="7106393"/>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Arrieta, A. B. et al. Explainable Artificial Intelligence (XAI): Concepts, Taxonomies, Opportunities and Challenges. Information Fusion 58, 82–115 (2020).</a:t>
            </a:r>
          </a:p>
        </p:txBody>
      </p:sp>
      <p:sp>
        <p:nvSpPr>
          <p:cNvPr id="54" name="Rounded Rectangle 53"/>
          <p:cNvSpPr/>
          <p:nvPr/>
        </p:nvSpPr>
        <p:spPr>
          <a:xfrm>
            <a:off x="1028700" y="7594382"/>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55" name="Rounded Rectangle 54"/>
          <p:cNvSpPr/>
          <p:nvPr/>
        </p:nvSpPr>
        <p:spPr>
          <a:xfrm>
            <a:off x="1138428" y="7649246"/>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[25]</a:t>
            </a:r>
          </a:p>
        </p:txBody>
      </p:sp>
      <p:sp>
        <p:nvSpPr>
          <p:cNvPr id="56" name="TextBox 55"/>
          <p:cNvSpPr txBox="1"/>
          <p:nvPr/>
        </p:nvSpPr>
        <p:spPr>
          <a:xfrm>
            <a:off x="1943100" y="7594382"/>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Doshi-Velez, F. &amp; Kim, B. Towards a Rigorous Science of Interpretable Machine Learning. arXiv:1702.08608 (2017).  ·  Rudin, C. et al. Interpretable ML: Fundamental Principles and 10 Grand Challenges. Statistics Surveys 16 (2022).</a:t>
            </a:r>
          </a:p>
        </p:txBody>
      </p:sp>
      <p:sp>
        <p:nvSpPr>
          <p:cNvPr id="57" name="Rounded Rectangle 56"/>
          <p:cNvSpPr/>
          <p:nvPr/>
        </p:nvSpPr>
        <p:spPr>
          <a:xfrm>
            <a:off x="1028700" y="808237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8" name="Rounded Rectangle 57"/>
          <p:cNvSpPr/>
          <p:nvPr/>
        </p:nvSpPr>
        <p:spPr>
          <a:xfrm>
            <a:off x="1138428" y="813723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[26]</a:t>
            </a:r>
          </a:p>
        </p:txBody>
      </p:sp>
      <p:sp>
        <p:nvSpPr>
          <p:cNvPr id="59" name="TextBox 58"/>
          <p:cNvSpPr txBox="1"/>
          <p:nvPr/>
        </p:nvSpPr>
        <p:spPr>
          <a:xfrm>
            <a:off x="1943100" y="8082370"/>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European Union. Regulation (EU) 2024/1689 (AI Act), Art. 13 (2024).  ·  Regulation (EU) 2016/679 (GDPR), Art. 22 (2016).  ·  OECD. Recommendation of the Council on Artificial Intelligence (2019).</a:t>
            </a:r>
          </a:p>
        </p:txBody>
      </p:sp>
      <p:sp>
        <p:nvSpPr>
          <p:cNvPr id="60" name="Rounded Rectangle 59"/>
          <p:cNvSpPr/>
          <p:nvPr/>
        </p:nvSpPr>
        <p:spPr>
          <a:xfrm>
            <a:off x="1028700" y="8570359"/>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61" name="Rounded Rectangle 60"/>
          <p:cNvSpPr/>
          <p:nvPr/>
        </p:nvSpPr>
        <p:spPr>
          <a:xfrm>
            <a:off x="1138428" y="8625223"/>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[27]</a:t>
            </a:r>
          </a:p>
        </p:txBody>
      </p:sp>
      <p:sp>
        <p:nvSpPr>
          <p:cNvPr id="62" name="TextBox 61"/>
          <p:cNvSpPr txBox="1"/>
          <p:nvPr/>
        </p:nvSpPr>
        <p:spPr>
          <a:xfrm>
            <a:off x="1943100" y="8570359"/>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Holm, S. A Simple Sequentially Rejective Multiple Test Procedure. Scand. J. Statist. 6(2), 65–70 (1979).  ·  Cohen, J. Statistical Power Analysis for the Behavioral Sciences (1988).</a:t>
            </a:r>
          </a:p>
        </p:txBody>
      </p:sp>
      <p:sp>
        <p:nvSpPr>
          <p:cNvPr id="63" name="Rounded Rectangle 62"/>
          <p:cNvSpPr/>
          <p:nvPr/>
        </p:nvSpPr>
        <p:spPr>
          <a:xfrm>
            <a:off x="1028700" y="905834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64" name="Rounded Rectangle 63"/>
          <p:cNvSpPr/>
          <p:nvPr/>
        </p:nvSpPr>
        <p:spPr>
          <a:xfrm>
            <a:off x="1138428" y="911321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[28]</a:t>
            </a:r>
          </a:p>
        </p:txBody>
      </p:sp>
      <p:sp>
        <p:nvSpPr>
          <p:cNvPr id="65" name="TextBox 64"/>
          <p:cNvSpPr txBox="1"/>
          <p:nvPr/>
        </p:nvSpPr>
        <p:spPr>
          <a:xfrm>
            <a:off x="1943100" y="9058347"/>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Nesmaoui, R., Louhichi, M. &amp; Lazaar, M. Dynamic Recommender Systems with Real-time Shapley Value-based Contribution Adjustment. IJIES 18(9), 241–257 (2025).</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143000" y="0"/>
            <a:ext cx="10287000" cy="10287000"/>
          </a:xfrm>
          <a:prstGeom prst="rect">
            <a:avLst/>
          </a:prstGeom>
        </p:spPr>
      </p:pic>
      <p:pic>
        <p:nvPicPr>
          <p:cNvPr id="3" name="Picture 2" descr="image.png"/>
          <p:cNvPicPr>
            <a:picLocks noChangeAspect="1"/>
          </p:cNvPicPr>
          <p:nvPr/>
        </p:nvPicPr>
        <p:blipFill>
          <a:blip r:embed="rId2"/>
          <a:stretch>
            <a:fillRect/>
          </a:stretch>
        </p:blipFill>
        <p:spPr>
          <a:xfrm>
            <a:off x="9144000" y="0"/>
            <a:ext cx="10287000" cy="10287000"/>
          </a:xfrm>
          <a:prstGeom prst="rect">
            <a:avLst/>
          </a:prstGeom>
        </p:spPr>
      </p:pic>
      <p:sp>
        <p:nvSpPr>
          <p:cNvPr id="4" name="TextBox 3"/>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5" name="TextBox 4"/>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6" name="Picture 5" descr="ensias_logo.jpg"/>
          <p:cNvPicPr>
            <a:picLocks noChangeAspect="1"/>
          </p:cNvPicPr>
          <p:nvPr/>
        </p:nvPicPr>
        <p:blipFill>
          <a:blip r:embed="rId3"/>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74</a:t>
            </a:r>
          </a:p>
        </p:txBody>
      </p:sp>
      <p:sp>
        <p:nvSpPr>
          <p:cNvPr id="9" name="TextBox 8"/>
          <p:cNvSpPr txBox="1"/>
          <p:nvPr/>
        </p:nvSpPr>
        <p:spPr>
          <a:xfrm>
            <a:off x="1028700" y="2514600"/>
            <a:ext cx="16230600" cy="3291840"/>
          </a:xfrm>
          <a:prstGeom prst="rect">
            <a:avLst/>
          </a:prstGeom>
          <a:noFill/>
        </p:spPr>
        <p:txBody>
          <a:bodyPr anchor="t" rtlCol="false" lIns="0" tIns="0" rIns="0" bIns="0" wrap="square"/>
          <a:lstStyle/>
          <a:p>
            <a:pPr algn="ctr">
              <a:lnSpc>
                <a:spcPts val="15000"/>
              </a:lnSpc>
              <a:spcBef>
                <a:spcPts val="0"/>
              </a:spcBef>
              <a:buNone/>
            </a:pPr>
            <a:r>
              <a:rPr lang="en-US" sz="15000" b="true" spc="-800">
                <a:solidFill>
                  <a:srgbClr val="111111"/>
                </a:solidFill>
                <a:latin typeface="Roca Two Bold"/>
                <a:ea typeface="Roca Two Bold"/>
                <a:cs typeface="Roca Two Bold"/>
                <a:sym typeface="Roca Two Bold"/>
              </a:rPr>
              <a:t>Thank You</a:t>
            </a:r>
          </a:p>
          <a:p>
            <a:pPr algn="ctr">
              <a:lnSpc>
                <a:spcPts val="8400"/>
              </a:lnSpc>
              <a:spcBef>
                <a:spcPts val="400"/>
              </a:spcBef>
              <a:buNone/>
            </a:pPr>
            <a:r>
              <a:rPr lang="en-US" sz="7200" b="true" spc="-350">
                <a:solidFill>
                  <a:srgbClr val="111111"/>
                </a:solidFill>
                <a:latin typeface="Roca Two Bold"/>
                <a:ea typeface="Roca Two Bold"/>
                <a:cs typeface="Roca Two Bold"/>
                <a:sym typeface="Roca Two Bold"/>
              </a:rPr>
              <a:t>for your attention</a:t>
            </a:r>
          </a:p>
        </p:txBody>
      </p:sp>
      <p:pic>
        <p:nvPicPr>
          <p:cNvPr id="10" name="Picture 9" descr="image.png"/>
          <p:cNvPicPr>
            <a:picLocks noChangeAspect="1"/>
          </p:cNvPicPr>
          <p:nvPr/>
        </p:nvPicPr>
        <p:blipFill>
          <a:blip r:embed="rId4"/>
          <a:stretch>
            <a:fillRect/>
          </a:stretch>
        </p:blipFill>
        <p:spPr>
          <a:xfrm>
            <a:off x="13350240" y="2468880"/>
            <a:ext cx="822960" cy="747445"/>
          </a:xfrm>
          <a:prstGeom prst="rect">
            <a:avLst/>
          </a:prstGeom>
        </p:spPr>
      </p:pic>
      <p:pic>
        <p:nvPicPr>
          <p:cNvPr id="11" name="Picture 10" descr="image.png"/>
          <p:cNvPicPr>
            <a:picLocks noChangeAspect="1"/>
          </p:cNvPicPr>
          <p:nvPr/>
        </p:nvPicPr>
        <p:blipFill>
          <a:blip r:embed="rId5"/>
          <a:stretch>
            <a:fillRect/>
          </a:stretch>
        </p:blipFill>
        <p:spPr>
          <a:xfrm rot="20700000">
            <a:off x="3291840" y="4846320"/>
            <a:ext cx="685800" cy="925673"/>
          </a:xfrm>
          <a:prstGeom prst="rect">
            <a:avLst/>
          </a:prstGeom>
        </p:spPr>
      </p:pic>
      <p:sp>
        <p:nvSpPr>
          <p:cNvPr id="12" name="Oval 11"/>
          <p:cNvSpPr/>
          <p:nvPr/>
        </p:nvSpPr>
        <p:spPr>
          <a:xfrm>
            <a:off x="15613380" y="5760720"/>
            <a:ext cx="1005840" cy="1005840"/>
          </a:xfrm>
          <a:prstGeom prst="ellipse">
            <a:avLst/>
          </a:prstGeom>
          <a:solidFill>
            <a:srgbClr val="4472C4"/>
          </a:solidFill>
          <a:ln>
            <a:noFill/>
          </a:ln>
        </p:spPr>
        <p:txBody>
          <a:bodyPr anchor="ctr" rtlCol="false" lIns="0" tIns="0" rIns="0" bIns="0" wrap="square"/>
          <a:lstStyle/>
          <a:p>
            <a:pPr algn="ctr">
              <a:lnSpc>
                <a:spcPts val="4400"/>
              </a:lnSpc>
              <a:spcBef>
                <a:spcPts val="0"/>
              </a:spcBef>
              <a:buNone/>
            </a:pPr>
            <a:r>
              <a:rPr lang="en-US" sz="4000" b="true" spc="-200">
                <a:solidFill>
                  <a:srgbClr val="FFFFFF"/>
                </a:solidFill>
                <a:latin typeface="Roca Two Bold"/>
                <a:ea typeface="Roca Two Bold"/>
                <a:cs typeface="Roca Two Bold"/>
                <a:sym typeface="Roca Two Bold"/>
              </a:rPr>
              <a:t>?</a:t>
            </a:r>
          </a:p>
        </p:txBody>
      </p:sp>
      <p:sp>
        <p:nvSpPr>
          <p:cNvPr id="13" name="TextBox 12"/>
          <p:cNvSpPr txBox="1"/>
          <p:nvPr/>
        </p:nvSpPr>
        <p:spPr>
          <a:xfrm>
            <a:off x="1028700" y="6583680"/>
            <a:ext cx="16230600" cy="640080"/>
          </a:xfrm>
          <a:prstGeom prst="rect">
            <a:avLst/>
          </a:prstGeom>
          <a:noFill/>
        </p:spPr>
        <p:txBody>
          <a:bodyPr anchor="t" rtlCol="false" lIns="0" tIns="0" rIns="0" bIns="0" wrap="square"/>
          <a:lstStyle/>
          <a:p>
            <a:pPr algn="ctr">
              <a:lnSpc>
                <a:spcPts val="3400"/>
              </a:lnSpc>
              <a:spcBef>
                <a:spcPts val="0"/>
              </a:spcBef>
              <a:buNone/>
            </a:pPr>
            <a:r>
              <a:rPr lang="en-US" sz="2800" b="true">
                <a:solidFill>
                  <a:srgbClr val="4472C4"/>
                </a:solidFill>
                <a:latin typeface="Nunito Bold"/>
                <a:ea typeface="Nunito Bold"/>
                <a:cs typeface="Nunito Bold"/>
                <a:sym typeface="Nunito Bold"/>
              </a:rPr>
              <a:t>Questions &amp; Discussion  ·  I welcome your questions and comments.</a:t>
            </a:r>
          </a:p>
        </p:txBody>
      </p:sp>
      <p:sp>
        <p:nvSpPr>
          <p:cNvPr id="14" name="Rounded Rectangle 13"/>
          <p:cNvSpPr/>
          <p:nvPr/>
        </p:nvSpPr>
        <p:spPr>
          <a:xfrm>
            <a:off x="102870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400" b="true" spc="150">
                <a:solidFill>
                  <a:srgbClr val="1F7A8C"/>
                </a:solidFill>
                <a:latin typeface="Nunito Ultra-Bold"/>
                <a:ea typeface="Nunito Ultra-Bold"/>
                <a:cs typeface="Nunito Ultra-Bold"/>
                <a:sym typeface="Nunito Ultra-Bold"/>
              </a:rPr>
              <a:t>CANDIDATE</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Mouad LOUHICHI</a:t>
            </a:r>
          </a:p>
        </p:txBody>
      </p:sp>
      <p:sp>
        <p:nvSpPr>
          <p:cNvPr id="15" name="Rounded Rectangle 14"/>
          <p:cNvSpPr/>
          <p:nvPr/>
        </p:nvSpPr>
        <p:spPr>
          <a:xfrm>
            <a:off x="515493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400" b="true" spc="150">
                <a:solidFill>
                  <a:srgbClr val="1F7A8C"/>
                </a:solidFill>
                <a:latin typeface="Nunito Ultra-Bold"/>
                <a:ea typeface="Nunito Ultra-Bold"/>
                <a:cs typeface="Nunito Ultra-Bold"/>
                <a:sym typeface="Nunito Ultra-Bold"/>
              </a:rPr>
              <a:t>SUPERVISOR</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Pr. Mohamed LAZAAR</a:t>
            </a:r>
          </a:p>
        </p:txBody>
      </p:sp>
      <p:sp>
        <p:nvSpPr>
          <p:cNvPr id="16" name="Rounded Rectangle 15"/>
          <p:cNvSpPr/>
          <p:nvPr/>
        </p:nvSpPr>
        <p:spPr>
          <a:xfrm>
            <a:off x="928116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400" b="true" spc="150">
                <a:solidFill>
                  <a:srgbClr val="1F7A8C"/>
                </a:solidFill>
                <a:latin typeface="Nunito Ultra-Bold"/>
                <a:ea typeface="Nunito Ultra-Bold"/>
                <a:cs typeface="Nunito Ultra-Bold"/>
                <a:sym typeface="Nunito Ultra-Bold"/>
              </a:rPr>
              <a:t>LABORATORY</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ENSIAS · UM5 Rabat</a:t>
            </a:r>
          </a:p>
        </p:txBody>
      </p:sp>
      <p:sp>
        <p:nvSpPr>
          <p:cNvPr id="17" name="Rounded Rectangle 16"/>
          <p:cNvSpPr/>
          <p:nvPr/>
        </p:nvSpPr>
        <p:spPr>
          <a:xfrm>
            <a:off x="1340739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400" b="true" spc="150">
                <a:solidFill>
                  <a:srgbClr val="1F7A8C"/>
                </a:solidFill>
                <a:latin typeface="Nunito Ultra-Bold"/>
                <a:ea typeface="Nunito Ultra-Bold"/>
                <a:cs typeface="Nunito Ultra-Bold"/>
                <a:sym typeface="Nunito Ultra-Bold"/>
              </a:rPr>
              <a:t>DEFENCE</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Rabat · 2026</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um5_logo.png"/>
          <p:cNvPicPr>
            <a:picLocks noChangeAspect="1"/>
          </p:cNvPicPr>
          <p:nvPr/>
        </p:nvPicPr>
        <p:blipFill>
          <a:blip r:embed="rId2"/>
          <a:stretch>
            <a:fillRect/>
          </a:stretch>
        </p:blipFill>
        <p:spPr>
          <a:xfrm>
            <a:off x="1737415" y="228600"/>
            <a:ext cx="1782969" cy="1298448"/>
          </a:xfrm>
          <a:prstGeom prst="rect">
            <a:avLst/>
          </a:prstGeom>
        </p:spPr>
      </p:pic>
      <p:pic>
        <p:nvPicPr>
          <p:cNvPr id="3" name="Picture 2" descr="ministry_logo.png"/>
          <p:cNvPicPr>
            <a:picLocks noChangeAspect="1"/>
          </p:cNvPicPr>
          <p:nvPr/>
        </p:nvPicPr>
        <p:blipFill>
          <a:blip r:embed="rId3"/>
          <a:stretch>
            <a:fillRect/>
          </a:stretch>
        </p:blipFill>
        <p:spPr>
          <a:xfrm>
            <a:off x="7913027" y="228600"/>
            <a:ext cx="2461944" cy="1298448"/>
          </a:xfrm>
          <a:prstGeom prst="rect">
            <a:avLst/>
          </a:prstGeom>
        </p:spPr>
      </p:pic>
      <p:pic>
        <p:nvPicPr>
          <p:cNvPr id="4" name="Picture 3" descr="ensias_logo.jpg"/>
          <p:cNvPicPr>
            <a:picLocks noChangeAspect="1"/>
          </p:cNvPicPr>
          <p:nvPr/>
        </p:nvPicPr>
        <p:blipFill>
          <a:blip r:embed="rId4"/>
          <a:stretch>
            <a:fillRect/>
          </a:stretch>
        </p:blipFill>
        <p:spPr>
          <a:xfrm>
            <a:off x="14741231" y="228600"/>
            <a:ext cx="1835736" cy="1298448"/>
          </a:xfrm>
          <a:prstGeom prst="rect">
            <a:avLst/>
          </a:prstGeom>
        </p:spPr>
      </p:pic>
      <p:sp>
        <p:nvSpPr>
          <p:cNvPr id="5" name="TextBox 4"/>
          <p:cNvSpPr txBox="1"/>
          <p:nvPr/>
        </p:nvSpPr>
        <p:spPr>
          <a:xfrm>
            <a:off x="1028700" y="1536192"/>
            <a:ext cx="16230600" cy="365760"/>
          </a:xfrm>
          <a:prstGeom prst="rect">
            <a:avLst/>
          </a:prstGeom>
          <a:noFill/>
        </p:spPr>
        <p:txBody>
          <a:bodyPr anchor="t" rtlCol="false" lIns="0" tIns="0" rIns="0" bIns="0" wrap="square"/>
          <a:lstStyle/>
          <a:p>
            <a:pPr algn="ctr">
              <a:lnSpc>
                <a:spcPts val="1900"/>
              </a:lnSpc>
              <a:spcBef>
                <a:spcPts val="0"/>
              </a:spcBef>
              <a:buNone/>
            </a:pPr>
            <a:r>
              <a:rPr lang="en-US" sz="1500" b="true">
                <a:solidFill>
                  <a:srgbClr val="8A8378"/>
                </a:solidFill>
                <a:latin typeface="Nunito Bold"/>
                <a:ea typeface="Nunito Bold"/>
                <a:cs typeface="Nunito Bold"/>
                <a:sym typeface="Nunito Bold"/>
              </a:rPr>
              <a:t>Doctoral Studies Center in Information and Engineering Sciences and Technologies (ST2I)</a:t>
            </a:r>
          </a:p>
        </p:txBody>
      </p:sp>
      <p:sp>
        <p:nvSpPr>
          <p:cNvPr id="6" name="TextBox 5"/>
          <p:cNvSpPr txBox="1"/>
          <p:nvPr/>
        </p:nvSpPr>
        <p:spPr>
          <a:xfrm>
            <a:off x="1028700" y="1938528"/>
            <a:ext cx="16230600" cy="365760"/>
          </a:xfrm>
          <a:prstGeom prst="rect">
            <a:avLst/>
          </a:prstGeom>
          <a:noFill/>
        </p:spPr>
        <p:txBody>
          <a:bodyPr anchor="t" rtlCol="false" lIns="0" tIns="0" rIns="0" bIns="0" wrap="square"/>
          <a:lstStyle/>
          <a:p>
            <a:pPr algn="ctr">
              <a:lnSpc>
                <a:spcPts val="1900"/>
              </a:lnSpc>
              <a:spcBef>
                <a:spcPts val="0"/>
              </a:spcBef>
              <a:buNone/>
            </a:pPr>
            <a:r>
              <a:rPr lang="en-US" sz="1400" b="true" spc="200">
                <a:solidFill>
                  <a:srgbClr val="1F7A8C"/>
                </a:solidFill>
                <a:latin typeface="Nunito Ultra-Bold"/>
                <a:ea typeface="Nunito Ultra-Bold"/>
                <a:cs typeface="Nunito Ultra-Bold"/>
                <a:sym typeface="Nunito Ultra-Bold"/>
              </a:rPr>
              <a:t>QUESTIONS &amp; DISCUSSION  ·  THANK YOU</a:t>
            </a:r>
          </a:p>
        </p:txBody>
      </p:sp>
      <p:sp>
        <p:nvSpPr>
          <p:cNvPr id="7" name="TextBox 6"/>
          <p:cNvSpPr txBox="1"/>
          <p:nvPr/>
        </p:nvSpPr>
        <p:spPr>
          <a:xfrm>
            <a:off x="1028700" y="2286000"/>
            <a:ext cx="16230600" cy="1828800"/>
          </a:xfrm>
          <a:prstGeom prst="rect">
            <a:avLst/>
          </a:prstGeom>
          <a:noFill/>
        </p:spPr>
        <p:txBody>
          <a:bodyPr anchor="t" rtlCol="false" lIns="0" tIns="0" rIns="0" bIns="0" wrap="square"/>
          <a:lstStyle/>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Cooperative Game Theory for Explainable</a:t>
            </a:r>
          </a:p>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Artificial Intelligence in Recommendation Systems</a:t>
            </a:r>
          </a:p>
        </p:txBody>
      </p:sp>
      <p:sp>
        <p:nvSpPr>
          <p:cNvPr id="8" name="TextBox 7"/>
          <p:cNvSpPr txBox="1"/>
          <p:nvPr/>
        </p:nvSpPr>
        <p:spPr>
          <a:xfrm>
            <a:off x="1028700" y="3913632"/>
            <a:ext cx="16230600" cy="457200"/>
          </a:xfrm>
          <a:prstGeom prst="rect">
            <a:avLst/>
          </a:prstGeom>
          <a:noFill/>
        </p:spPr>
        <p:txBody>
          <a:bodyPr anchor="t" rtlCol="false" lIns="0" tIns="0" rIns="0" bIns="0" wrap="square"/>
          <a:lstStyle/>
          <a:p>
            <a:pPr algn="ctr">
              <a:lnSpc>
                <a:spcPts val="3000"/>
              </a:lnSpc>
              <a:spcBef>
                <a:spcPts val="0"/>
              </a:spcBef>
              <a:buNone/>
            </a:pPr>
            <a:r>
              <a:rPr lang="en-US" sz="2500" b="true" spc="-100">
                <a:solidFill>
                  <a:srgbClr val="4472C4"/>
                </a:solidFill>
                <a:latin typeface="Nunito Bold"/>
                <a:ea typeface="Nunito Bold"/>
                <a:cs typeface="Nunito Bold"/>
                <a:sym typeface="Nunito Bold"/>
              </a:rPr>
              <a:t>75</a:t>
            </a:r>
          </a:p>
        </p:txBody>
      </p:sp>
      <p:sp>
        <p:nvSpPr>
          <p:cNvPr id="9" name="Rounded Rectangle 8"/>
          <p:cNvSpPr/>
          <p:nvPr/>
        </p:nvSpPr>
        <p:spPr>
          <a:xfrm>
            <a:off x="2926080" y="4526280"/>
            <a:ext cx="6035040" cy="786384"/>
          </a:xfrm>
          <a:prstGeom prst="roundRect">
            <a:avLst>
              <a:gd name="adj" fmla="val 27906"/>
            </a:avLst>
          </a:prstGeom>
          <a:solidFill>
            <a:srgbClr val="4472C4"/>
          </a:solidFill>
          <a:ln>
            <a:noFill/>
          </a:ln>
        </p:spPr>
        <p:txBody>
          <a:bodyPr anchor="ctr" rtlCol="false" lIns="91440" tIns="45720" rIns="91440" bIns="45720" wrap="square"/>
          <a:lstStyle/>
          <a:p>
            <a:pPr algn="ctr">
              <a:lnSpc>
                <a:spcPts val="1400"/>
              </a:lnSpc>
              <a:spcBef>
                <a:spcPts val="0"/>
              </a:spcBef>
              <a:buNone/>
            </a:pPr>
            <a:r>
              <a:rPr lang="en-US" sz="1400" b="true" spc="150">
                <a:solidFill>
                  <a:srgbClr val="ECC665"/>
                </a:solidFill>
                <a:latin typeface="Nunito Ultra-Bold"/>
                <a:ea typeface="Nunito Ultra-Bold"/>
                <a:cs typeface="Nunito Ultra-Bold"/>
                <a:sym typeface="Nunito Ultra-Bold"/>
              </a:rPr>
              <a:t>PHD VIVA PRESENTED BY</a:t>
            </a:r>
          </a:p>
          <a:p>
            <a:pPr algn="ctr">
              <a:lnSpc>
                <a:spcPts val="2600"/>
              </a:lnSpc>
              <a:spcBef>
                <a:spcPts val="200"/>
              </a:spcBef>
              <a:buNone/>
            </a:pPr>
            <a:r>
              <a:rPr lang="en-US" sz="2200" b="true">
                <a:solidFill>
                  <a:srgbClr val="FFFFFF"/>
                </a:solidFill>
                <a:latin typeface="Nunito Ultra-Bold"/>
                <a:ea typeface="Nunito Ultra-Bold"/>
                <a:cs typeface="Nunito Ultra-Bold"/>
                <a:sym typeface="Nunito Ultra-Bold"/>
              </a:rPr>
              <a:t>Mouad LOUHICHI</a:t>
            </a:r>
          </a:p>
        </p:txBody>
      </p:sp>
      <p:sp>
        <p:nvSpPr>
          <p:cNvPr id="10" name="Rounded Rectangle 9"/>
          <p:cNvSpPr/>
          <p:nvPr/>
        </p:nvSpPr>
        <p:spPr>
          <a:xfrm>
            <a:off x="9326880" y="4526280"/>
            <a:ext cx="6035040" cy="786384"/>
          </a:xfrm>
          <a:prstGeom prst="roundRect">
            <a:avLst>
              <a:gd name="adj" fmla="val 27906"/>
            </a:avLst>
          </a:prstGeom>
          <a:solidFill>
            <a:srgbClr val="E7EAF3"/>
          </a:solidFill>
          <a:ln>
            <a:noFill/>
          </a:ln>
        </p:spPr>
        <p:txBody>
          <a:bodyPr anchor="ctr" rtlCol="false" lIns="91440" tIns="45720" rIns="91440" bIns="45720" wrap="square"/>
          <a:lstStyle/>
          <a:p>
            <a:pPr algn="ctr">
              <a:lnSpc>
                <a:spcPts val="1400"/>
              </a:lnSpc>
              <a:spcBef>
                <a:spcPts val="0"/>
              </a:spcBef>
              <a:buNone/>
            </a:pPr>
            <a:r>
              <a:rPr lang="en-US" sz="1400" b="true" spc="150">
                <a:solidFill>
                  <a:srgbClr val="1F7A8C"/>
                </a:solidFill>
                <a:latin typeface="Nunito Ultra-Bold"/>
                <a:ea typeface="Nunito Ultra-Bold"/>
                <a:cs typeface="Nunito Ultra-Bold"/>
                <a:sym typeface="Nunito Ultra-Bold"/>
              </a:rPr>
              <a:t>SUPERVISED BY</a:t>
            </a:r>
          </a:p>
          <a:p>
            <a:pPr algn="ctr">
              <a:lnSpc>
                <a:spcPts val="2400"/>
              </a:lnSpc>
              <a:spcBef>
                <a:spcPts val="200"/>
              </a:spcBef>
              <a:buNone/>
            </a:pPr>
            <a:r>
              <a:rPr lang="en-US" sz="2000" b="true">
                <a:solidFill>
                  <a:srgbClr val="111111"/>
                </a:solidFill>
                <a:latin typeface="Nunito Ultra-Bold"/>
                <a:ea typeface="Nunito Ultra-Bold"/>
                <a:cs typeface="Nunito Ultra-Bold"/>
                <a:sym typeface="Nunito Ultra-Bold"/>
              </a:rPr>
              <a:t>Pr. Mohamed LAZAAR  ·  PES, ENSIAS</a:t>
            </a:r>
          </a:p>
        </p:txBody>
      </p:sp>
      <p:sp>
        <p:nvSpPr>
          <p:cNvPr id="11" name="TextBox 10"/>
          <p:cNvSpPr txBox="1"/>
          <p:nvPr/>
        </p:nvSpPr>
        <p:spPr>
          <a:xfrm>
            <a:off x="1028700" y="5504688"/>
            <a:ext cx="16230600" cy="274320"/>
          </a:xfrm>
          <a:prstGeom prst="rect">
            <a:avLst/>
          </a:prstGeom>
          <a:noFill/>
        </p:spPr>
        <p:txBody>
          <a:bodyPr anchor="t" rtlCol="false" lIns="0" tIns="0" rIns="0" bIns="0" wrap="square"/>
          <a:lstStyle/>
          <a:p>
            <a:pPr algn="l">
              <a:lnSpc>
                <a:spcPts val="1500"/>
              </a:lnSpc>
              <a:spcBef>
                <a:spcPts val="0"/>
              </a:spcBef>
              <a:buNone/>
            </a:pPr>
            <a:r>
              <a:rPr lang="en-US" sz="1400" b="true" spc="200">
                <a:solidFill>
                  <a:srgbClr val="8A8378"/>
                </a:solidFill>
                <a:latin typeface="Nunito Ultra-Bold"/>
                <a:ea typeface="Nunito Ultra-Bold"/>
                <a:cs typeface="Nunito Ultra-Bold"/>
                <a:sym typeface="Nunito Ultra-Bold"/>
              </a:rPr>
              <a:t>JURY MEMBERS</a:t>
            </a:r>
          </a:p>
        </p:txBody>
      </p:sp>
      <p:graphicFrame>
        <p:nvGraphicFramePr>
          <p:cNvPr id="12" name="Table 11"/>
          <p:cNvGraphicFramePr>
            <a:graphicFrameLocks noGrp="1"/>
          </p:cNvGraphicFramePr>
          <p:nvPr/>
        </p:nvGraphicFramePr>
        <p:xfrm>
          <a:off x="1028700" y="5797296"/>
          <a:ext cx="16230599" cy="3733800"/>
        </p:xfrm>
        <a:graphic>
          <a:graphicData uri="http://schemas.openxmlformats.org/drawingml/2006/table">
            <a:tbl>
              <a:tblPr firstRow="0" bandRow="0" firstCol="0" lastRow="0" lastCol="0" bandCol="0">
                <a:tableStyleId>{2D5ABB26-0587-4C30-8999-92F81FD0307C}</a:tableStyleId>
              </a:tblPr>
              <a:tblGrid>
                <a:gridCol w="1971942"/>
                <a:gridCol w="5005699"/>
                <a:gridCol w="1365190"/>
                <a:gridCol w="7887768"/>
              </a:tblGrid>
              <a:tr h="373380">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Role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Name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Grade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Institution</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President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Abdellatif EL AFIA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Supervisor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Mohamed LAZAAR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M'hamed AIT KBIR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FST, Abdelmalek Essaâdi University, Tangier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Oussama MAHBOUB</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ENSA, Abdelmalek Essaâdi University, Tetouan</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Noureddine KERZAZI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Hicham OMARA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FP Taza, Sidi Mohamed Ben Abdellah University, Fez</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Fatima OUZAYD</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Yasser EL MADANI EL ALAMI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Guest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Yassine AFOUDI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Faculty of Sciences, Cadi Ayyad University, Marrakech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13" name="TextBox 12"/>
          <p:cNvSpPr txBox="1"/>
          <p:nvPr/>
        </p:nvSpPr>
        <p:spPr>
          <a:xfrm>
            <a:off x="1028700" y="9695688"/>
            <a:ext cx="16230600" cy="274320"/>
          </a:xfrm>
          <a:prstGeom prst="rect">
            <a:avLst/>
          </a:prstGeom>
          <a:noFill/>
        </p:spPr>
        <p:txBody>
          <a:bodyPr anchor="t" rtlCol="false" lIns="0" tIns="0" rIns="0" bIns="0" wrap="square"/>
          <a:lstStyle/>
          <a:p>
            <a:pPr algn="ctr">
              <a:lnSpc>
                <a:spcPts val="1700"/>
              </a:lnSpc>
              <a:spcBef>
                <a:spcPts val="0"/>
              </a:spcBef>
              <a:buNone/>
            </a:pPr>
            <a:r>
              <a:rPr lang="en-US" sz="1400" b="true">
                <a:solidFill>
                  <a:srgbClr val="8A8378"/>
                </a:solidFill>
                <a:latin typeface="Nunito Bold"/>
                <a:ea typeface="Nunito Bold"/>
                <a:cs typeface="Nunito Bold"/>
                <a:sym typeface="Nunito Bold"/>
              </a:rPr>
              <a:t>Rabat, Morocco  ·  2026</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76</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BACKUP</a:t>
            </a:r>
          </a:p>
        </p:txBody>
      </p:sp>
      <p:sp>
        <p:nvSpPr>
          <p:cNvPr id="10" name="TextBox 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 7.1, Full Results (mean </a:t>
            </a:r>
            <a:r>
              <a:rPr lang="en-US" sz="4600" b="true" spc="-230">
                <a:solidFill>
                  <a:srgbClr val="111111"/>
                </a:solidFill>
                <a:latin typeface="Cambria Math"/>
                <a:ea typeface="Cambria Math"/>
                <a:cs typeface="Cambria Math"/>
                <a:sym typeface="Cambria Math"/>
              </a:rPr>
              <a:t>± </a:t>
            </a:r>
            <a:r>
              <a:rPr lang="en-US" sz="4600" b="true" spc="-230">
                <a:solidFill>
                  <a:srgbClr val="111111"/>
                </a:solidFill>
                <a:latin typeface="Roca Two Bold"/>
                <a:ea typeface="Roca Two Bold"/>
                <a:cs typeface="Roca Two Bold"/>
                <a:sym typeface="Roca Two Bold"/>
              </a:rPr>
              <a:t>std, 5 seeds)</a:t>
            </a:r>
          </a:p>
        </p:txBody>
      </p:sp>
      <p:pic>
        <p:nvPicPr>
          <p:cNvPr id="11" name="Picture 10" descr="image.png"/>
          <p:cNvPicPr>
            <a:picLocks noChangeAspect="1"/>
          </p:cNvPicPr>
          <p:nvPr/>
        </p:nvPicPr>
        <p:blipFill>
          <a:blip r:embed="rId3"/>
          <a:stretch>
            <a:fillRect/>
          </a:stretch>
        </p:blipFill>
        <p:spPr>
          <a:xfrm>
            <a:off x="14357876" y="1673352"/>
            <a:ext cx="457200" cy="539881"/>
          </a:xfrm>
          <a:prstGeom prst="rect">
            <a:avLst/>
          </a:prstGeom>
        </p:spPr>
      </p:pic>
      <p:sp>
        <p:nvSpPr>
          <p:cNvPr id="12" name="TextBox 11"/>
          <p:cNvSpPr txBox="1"/>
          <p:nvPr/>
        </p:nvSpPr>
        <p:spPr>
          <a:xfrm>
            <a:off x="1028700" y="2897378"/>
            <a:ext cx="788670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MOVIELENS-1M</a:t>
            </a:r>
          </a:p>
        </p:txBody>
      </p:sp>
      <p:graphicFrame>
        <p:nvGraphicFramePr>
          <p:cNvPr id="13" name="Table 12"/>
          <p:cNvGraphicFramePr>
            <a:graphicFrameLocks noGrp="1"/>
          </p:cNvGraphicFramePr>
          <p:nvPr/>
        </p:nvGraphicFramePr>
        <p:xfrm>
          <a:off x="1028700" y="3263138"/>
          <a:ext cx="7886699" cy="3803904"/>
        </p:xfrm>
        <a:graphic>
          <a:graphicData uri="http://schemas.openxmlformats.org/drawingml/2006/table">
            <a:tbl>
              <a:tblPr firstRow="0" bandRow="0" firstCol="0" lastRow="0" lastCol="0" bandCol="0">
                <a:tableStyleId>{2D5ABB26-0587-4C30-8999-92F81FD0307C}</a:tableStyleId>
              </a:tblPr>
              <a:tblGrid>
                <a:gridCol w="1354281"/>
                <a:gridCol w="1752600"/>
                <a:gridCol w="1752600"/>
                <a:gridCol w="1513609"/>
                <a:gridCol w="1513609"/>
              </a:tblGrid>
              <a:tr h="475488">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NDCG@20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Recall@20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Coverage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ILD</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0.1200 ± 0.0025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0.0880 ± 0.0020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0.239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0.367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0.1300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0.1100 ± 0.0022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0.269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0.398 ± 0.008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0.2130 ± 0.0030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0.1790 ± 0.0027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0.308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0.423 ± 0.007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0.2296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0.1918 ± 0.0029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0.324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0.445 ± 0.007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0.2470 ± 0.0035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0.2050 ± 0.0031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0.327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0.448 ± 0.006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0.2528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0.2098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0.342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0.461 ± 0.006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0.2775 ± 0.0039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0.2362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0.397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0.516 ± 0.005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14" name="TextBox 13"/>
          <p:cNvSpPr txBox="1"/>
          <p:nvPr/>
        </p:nvSpPr>
        <p:spPr>
          <a:xfrm>
            <a:off x="9372600" y="2897378"/>
            <a:ext cx="788670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AMAZON-BOOK</a:t>
            </a:r>
          </a:p>
        </p:txBody>
      </p:sp>
      <p:graphicFrame>
        <p:nvGraphicFramePr>
          <p:cNvPr id="15" name="Table 14"/>
          <p:cNvGraphicFramePr>
            <a:graphicFrameLocks noGrp="1"/>
          </p:cNvGraphicFramePr>
          <p:nvPr/>
        </p:nvGraphicFramePr>
        <p:xfrm>
          <a:off x="9372600" y="3263138"/>
          <a:ext cx="7886699" cy="3803904"/>
        </p:xfrm>
        <a:graphic>
          <a:graphicData uri="http://schemas.openxmlformats.org/drawingml/2006/table">
            <a:tbl>
              <a:tblPr firstRow="0" bandRow="0" firstCol="0" lastRow="0" lastCol="0" bandCol="0">
                <a:tableStyleId>{2D5ABB26-0587-4C30-8999-92F81FD0307C}</a:tableStyleId>
              </a:tblPr>
              <a:tblGrid>
                <a:gridCol w="1354281"/>
                <a:gridCol w="1752600"/>
                <a:gridCol w="1752600"/>
                <a:gridCol w="1513609"/>
                <a:gridCol w="1513609"/>
              </a:tblGrid>
              <a:tr h="475488">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NDCG@20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Recall@20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Coverage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ILD</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0.0049 ± 0.0005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0.0093 ± 0.0009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0.168 ± 0.013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0.425 ± 0.014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0.0085 ± 0.0008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0.0142 ± 0.0014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0.193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0.458 ± 0.013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0.0236 ± 0.0024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0.0320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0.226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0.491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0.0255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0.0346 ± 0.0035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0.242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0.512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0.0258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0.0344 ± 0.0034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0.248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0.520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0.0270 ± 0.0027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0.0359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0.259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0.535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0.0306 ± 0.0031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0.0417 ± 0.0042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0.336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0.602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16" name="Rounded Rectangle 15"/>
          <p:cNvSpPr/>
          <p:nvPr/>
        </p:nvSpPr>
        <p:spPr>
          <a:xfrm>
            <a:off x="1028700" y="7387082"/>
            <a:ext cx="16230600" cy="822960"/>
          </a:xfrm>
          <a:prstGeom prst="roundRect">
            <a:avLst>
              <a:gd name="adj" fmla="val 24444"/>
            </a:avLst>
          </a:prstGeom>
          <a:solidFill>
            <a:srgbClr val="E7EAF3"/>
          </a:solidFill>
          <a:ln>
            <a:noFill/>
          </a:ln>
        </p:spPr>
        <p:txBody>
          <a:bodyPr anchor="ctr" rtlCol="false" lIns="365760" tIns="45720" rIns="365760" bIns="45720" wrap="square"/>
          <a:lstStyle/>
          <a:p>
            <a:pPr algn="ctr">
              <a:lnSpc>
                <a:spcPts val="2200"/>
              </a:lnSpc>
              <a:spcBef>
                <a:spcPts val="0"/>
              </a:spcBef>
              <a:buNone/>
            </a:pPr>
            <a:r>
              <a:rPr lang="en-US" sz="1700" b="true">
                <a:solidFill>
                  <a:srgbClr val="111111"/>
                </a:solidFill>
                <a:latin typeface="Nunito Semi-Bold"/>
                <a:ea typeface="Nunito Semi-Bold"/>
                <a:cs typeface="Nunito Semi-Bold"/>
                <a:sym typeface="Nunito Semi-Bold"/>
              </a:rPr>
              <a:t>The </a:t>
            </a:r>
            <a:r>
              <a:rPr lang="en-US" sz="1700" b="true">
                <a:solidFill>
                  <a:srgbClr val="111111"/>
                </a:solidFill>
                <a:latin typeface="Nunito Bold"/>
                <a:ea typeface="Nunito Bold"/>
                <a:cs typeface="Nunito Bold"/>
                <a:sym typeface="Nunito Bold"/>
              </a:rPr>
              <a:t>±1σ bands</a:t>
            </a:r>
            <a:r>
              <a:rPr lang="en-US" sz="1700" b="true">
                <a:solidFill>
                  <a:srgbClr val="111111"/>
                </a:solidFill>
                <a:latin typeface="Nunito Semi-Bold"/>
                <a:ea typeface="Nunito Semi-Bold"/>
                <a:cs typeface="Nunito Semi-Bold"/>
                <a:sym typeface="Nunito Semi-Bold"/>
              </a:rPr>
              <a:t> never overlap between DyHuCoG and HPCF on MovieLens-1M; on Amazon-Book the standard deviations are close to the gap for NDCG@20 and Recall@20, so those gains are reported as descriptive.</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77</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BACKUP</a:t>
            </a:r>
          </a:p>
        </p:txBody>
      </p:sp>
      <p:sp>
        <p:nvSpPr>
          <p:cNvPr id="10" name="TextBox 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 7.6, Paired Tests vs Every Baseline</a:t>
            </a:r>
          </a:p>
        </p:txBody>
      </p:sp>
      <p:pic>
        <p:nvPicPr>
          <p:cNvPr id="11" name="Picture 10" descr="image.png"/>
          <p:cNvPicPr>
            <a:picLocks noChangeAspect="1"/>
          </p:cNvPicPr>
          <p:nvPr/>
        </p:nvPicPr>
        <p:blipFill>
          <a:blip r:embed="rId3"/>
          <a:stretch>
            <a:fillRect/>
          </a:stretch>
        </p:blipFill>
        <p:spPr>
          <a:xfrm>
            <a:off x="13676893" y="1673352"/>
            <a:ext cx="457200" cy="373212"/>
          </a:xfrm>
          <a:prstGeom prst="rect">
            <a:avLst/>
          </a:prstGeom>
        </p:spPr>
      </p:pic>
      <p:graphicFrame>
        <p:nvGraphicFramePr>
          <p:cNvPr id="12" name="Table 11"/>
          <p:cNvGraphicFramePr>
            <a:graphicFrameLocks noGrp="1"/>
          </p:cNvGraphicFramePr>
          <p:nvPr/>
        </p:nvGraphicFramePr>
        <p:xfrm>
          <a:off x="1028700" y="2943098"/>
          <a:ext cx="16230597" cy="3968496"/>
        </p:xfrm>
        <a:graphic>
          <a:graphicData uri="http://schemas.openxmlformats.org/drawingml/2006/table">
            <a:tbl>
              <a:tblPr firstRow="0" bandRow="0" firstCol="0" lastRow="0" lastCol="0" bandCol="0">
                <a:tableStyleId>{2D5ABB26-0587-4C30-8999-92F81FD0307C}</a:tableStyleId>
              </a:tblPr>
              <a:tblGrid>
                <a:gridCol w="4725364"/>
                <a:gridCol w="2054506"/>
                <a:gridCol w="2670858"/>
                <a:gridCol w="2054506"/>
                <a:gridCol w="2465407"/>
                <a:gridCol w="2259956"/>
              </a:tblGrid>
              <a:tr h="566928">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Comparison (per-user NDCG@20, ML-1M)</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t statistic</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p-value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Cohen's d</a:t>
                      </a:r>
                      <a:r>
                        <a:rPr lang="en-US" sz="1600" b="true" baseline="-25000">
                          <a:solidFill>
                            <a:srgbClr val="FFFFFF"/>
                          </a:solidFill>
                          <a:latin typeface="Nunito Bold"/>
                          <a:ea typeface="Nunito Bold"/>
                          <a:cs typeface="Nunito Bold"/>
                          <a:sym typeface="Nunito Bold"/>
                        </a:rPr>
                        <a:t>z</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Holm threshold </a:t>
                      </a:r>
                      <a:r>
                        <a:rPr lang="en-US" sz="1600" b="true">
                          <a:solidFill>
                            <a:srgbClr val="FFFFFF"/>
                          </a:solidFill>
                          <a:latin typeface="Calibri"/>
                          <a:ea typeface="Calibri"/>
                          <a:cs typeface="Calibri"/>
                          <a:sym typeface="Calibri"/>
                        </a:rPr>
                        <a:t>α</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Result</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HPCF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46.38</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1.81 × 10</a:t>
                      </a:r>
                      <a:r>
                        <a:rPr lang="en-US" sz="1700" b="true" baseline="30000">
                          <a:solidFill>
                            <a:srgbClr val="111111"/>
                          </a:solidFill>
                          <a:latin typeface="Nunito Semi-Bold"/>
                          <a:ea typeface="Nunito Semi-Bold"/>
                          <a:cs typeface="Nunito Semi-Bold"/>
                          <a:sym typeface="Nunito Semi-Bold"/>
                        </a:rPr>
                        <a:t>−270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1.33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0.0500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RecDCL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92.72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2.67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0.0083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HCCF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61.21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1.76</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LightGCN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132.19</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3.80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NCF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311.13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8.95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0.0167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MF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341.76</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9.83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13" name="Rounded Rectangle 12"/>
          <p:cNvSpPr/>
          <p:nvPr/>
        </p:nvSpPr>
        <p:spPr>
          <a:xfrm>
            <a:off x="1028700" y="7551674"/>
            <a:ext cx="7932420" cy="1665478"/>
          </a:xfrm>
          <a:prstGeom prst="roundRect">
            <a:avLst>
              <a:gd name="adj" fmla="val 18667"/>
            </a:avLst>
          </a:prstGeom>
          <a:solidFill>
            <a:srgbClr val="E7EAF3"/>
          </a:solidFill>
          <a:ln>
            <a:noFill/>
          </a:ln>
        </p:spPr>
        <p:txBody>
          <a:bodyPr anchor="ctr" rtlCol="false" lIns="0" tIns="0" rIns="0" bIns="0" wrap="square"/>
          <a:lstStyle/>
          <a:p>
            <a:endParaRPr lang="en-US" sz="1800"/>
          </a:p>
        </p:txBody>
      </p:sp>
      <p:sp>
        <p:nvSpPr>
          <p:cNvPr id="14" name="Rounded Rectangle 13"/>
          <p:cNvSpPr/>
          <p:nvPr/>
        </p:nvSpPr>
        <p:spPr>
          <a:xfrm>
            <a:off x="1485900" y="7313930"/>
            <a:ext cx="2585068"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How to read it</a:t>
            </a:r>
          </a:p>
        </p:txBody>
      </p:sp>
      <p:sp>
        <p:nvSpPr>
          <p:cNvPr id="15" name="TextBox 14"/>
          <p:cNvSpPr txBox="1"/>
          <p:nvPr/>
        </p:nvSpPr>
        <p:spPr>
          <a:xfrm>
            <a:off x="1485900" y="8100314"/>
            <a:ext cx="7063740" cy="933958"/>
          </a:xfrm>
          <a:prstGeom prst="rect">
            <a:avLst/>
          </a:prstGeom>
          <a:noFill/>
        </p:spPr>
        <p:txBody>
          <a:bodyPr anchor="t" rtlCol="false" lIns="0" tIns="0" rIns="0" bIns="0" wrap="square"/>
          <a:lstStyle/>
          <a:p>
            <a:pPr algn="l" marL="274320" indent="-274320">
              <a:lnSpc>
                <a:spcPts val="2173"/>
              </a:lnSpc>
              <a:spcBef>
                <a:spcPts val="0"/>
              </a:spcBef>
              <a:buClr>
                <a:srgbClr val="1F7A8C"/>
              </a:buClr>
              <a:buSzPct val="100000"/>
              <a:buFont typeface="Arial"/>
              <a:buChar char="•"/>
            </a:pPr>
            <a:r>
              <a:rPr lang="en-US" sz="1552" b="true">
                <a:solidFill>
                  <a:srgbClr val="111111"/>
                </a:solidFill>
                <a:latin typeface="Nunito Semi-Bold"/>
                <a:ea typeface="Nunito Semi-Bold"/>
                <a:cs typeface="Nunito Semi-Bold"/>
                <a:sym typeface="Nunito Semi-Bold"/>
              </a:rPr>
              <a:t>Paired t-test over </a:t>
            </a:r>
            <a:r>
              <a:rPr lang="en-US" sz="1552" b="true">
                <a:solidFill>
                  <a:srgbClr val="111111"/>
                </a:solidFill>
                <a:latin typeface="Nunito Bold"/>
                <a:ea typeface="Nunito Bold"/>
                <a:cs typeface="Nunito Bold"/>
                <a:sym typeface="Nunito Bold"/>
              </a:rPr>
              <a:t>6,040 users</a:t>
            </a:r>
            <a:r>
              <a:rPr lang="en-US" sz="1552" b="true">
                <a:solidFill>
                  <a:srgbClr val="111111"/>
                </a:solidFill>
                <a:latin typeface="Nunito Semi-Bold"/>
                <a:ea typeface="Nunito Semi-Bold"/>
                <a:cs typeface="Nunito Semi-Bold"/>
                <a:sym typeface="Nunito Semi-Bold"/>
              </a:rPr>
              <a:t> (df = 6,039); Holm–Bonferroni gives each of the six p-values its own threshold.</a:t>
            </a:r>
          </a:p>
          <a:p>
            <a:pPr algn="l" marL="274320" indent="-274320">
              <a:lnSpc>
                <a:spcPts val="2173"/>
              </a:lnSpc>
              <a:spcBef>
                <a:spcPts val="388"/>
              </a:spcBef>
              <a:buClr>
                <a:srgbClr val="1F7A8C"/>
              </a:buClr>
              <a:buSzPct val="100000"/>
              <a:buFont typeface="Arial"/>
              <a:buChar char="•"/>
            </a:pPr>
            <a:r>
              <a:rPr lang="en-US" sz="1552" b="true">
                <a:solidFill>
                  <a:srgbClr val="111111"/>
                </a:solidFill>
                <a:latin typeface="Nunito Semi-Bold"/>
                <a:ea typeface="Nunito Semi-Bold"/>
                <a:cs typeface="Nunito Semi-Bold"/>
                <a:sym typeface="Nunito Semi-Bold"/>
              </a:rPr>
              <a:t>Every p-value is far below its threshold; </a:t>
            </a:r>
            <a:r>
              <a:rPr lang="en-US" sz="1552" b="true">
                <a:solidFill>
                  <a:srgbClr val="111111"/>
                </a:solidFill>
                <a:latin typeface="Nunito Bold"/>
                <a:ea typeface="Nunito Bold"/>
                <a:cs typeface="Nunito Bold"/>
                <a:sym typeface="Nunito Bold"/>
              </a:rPr>
              <a:t>Wilcoxon</a:t>
            </a:r>
            <a:r>
              <a:rPr lang="en-US" sz="1552" b="true">
                <a:solidFill>
                  <a:srgbClr val="111111"/>
                </a:solidFill>
                <a:latin typeface="Nunito Semi-Bold"/>
                <a:ea typeface="Nunito Semi-Bold"/>
                <a:cs typeface="Nunito Semi-Bold"/>
                <a:sym typeface="Nunito Semi-Bold"/>
              </a:rPr>
              <a:t> agrees (p &lt; 0.001).</a:t>
            </a:r>
          </a:p>
        </p:txBody>
      </p:sp>
      <p:sp>
        <p:nvSpPr>
          <p:cNvPr id="16" name="Rounded Rectangle 15"/>
          <p:cNvSpPr/>
          <p:nvPr/>
        </p:nvSpPr>
        <p:spPr>
          <a:xfrm>
            <a:off x="9326880" y="7551674"/>
            <a:ext cx="7932420" cy="1665478"/>
          </a:xfrm>
          <a:prstGeom prst="roundRect">
            <a:avLst>
              <a:gd name="adj" fmla="val 18667"/>
            </a:avLst>
          </a:prstGeom>
          <a:solidFill>
            <a:srgbClr val="4472C4"/>
          </a:solidFill>
          <a:ln>
            <a:noFill/>
          </a:ln>
        </p:spPr>
        <p:txBody>
          <a:bodyPr anchor="ctr" rtlCol="false" lIns="0" tIns="0" rIns="0" bIns="0" wrap="square"/>
          <a:lstStyle/>
          <a:p>
            <a:endParaRPr lang="en-US" sz="1800"/>
          </a:p>
        </p:txBody>
      </p:sp>
      <p:sp>
        <p:nvSpPr>
          <p:cNvPr id="17" name="Rounded Rectangle 16"/>
          <p:cNvSpPr/>
          <p:nvPr/>
        </p:nvSpPr>
        <p:spPr>
          <a:xfrm>
            <a:off x="9784080" y="7313930"/>
            <a:ext cx="2026195"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Effect size</a:t>
            </a:r>
          </a:p>
        </p:txBody>
      </p:sp>
      <p:sp>
        <p:nvSpPr>
          <p:cNvPr id="18" name="TextBox 17"/>
          <p:cNvSpPr txBox="1"/>
          <p:nvPr/>
        </p:nvSpPr>
        <p:spPr>
          <a:xfrm>
            <a:off x="9784080" y="8100314"/>
            <a:ext cx="7063740" cy="933958"/>
          </a:xfrm>
          <a:prstGeom prst="rect">
            <a:avLst/>
          </a:prstGeom>
          <a:noFill/>
        </p:spPr>
        <p:txBody>
          <a:bodyPr anchor="t" rtlCol="false" lIns="0" tIns="0" rIns="0" bIns="0" wrap="square"/>
          <a:lstStyle/>
          <a:p>
            <a:pPr algn="l" marL="274320" indent="-274320">
              <a:lnSpc>
                <a:spcPts val="2226"/>
              </a:lnSpc>
              <a:spcBef>
                <a:spcPts val="0"/>
              </a:spcBef>
              <a:buClr>
                <a:srgbClr val="ECC665"/>
              </a:buClr>
              <a:buSzPct val="100000"/>
              <a:buFont typeface="Arial"/>
              <a:buChar char="•"/>
            </a:pPr>
            <a:r>
              <a:rPr lang="en-US" sz="1504" b="true">
                <a:solidFill>
                  <a:srgbClr val="FFFFFF"/>
                </a:solidFill>
                <a:latin typeface="Nunito Semi-Bold"/>
                <a:ea typeface="Nunito Semi-Bold"/>
                <a:cs typeface="Nunito Semi-Bold"/>
                <a:sym typeface="Nunito Semi-Bold"/>
              </a:rPr>
              <a:t>Cohen's d</a:t>
            </a:r>
            <a:r>
              <a:rPr lang="en-US" sz="1504" b="true" baseline="-25000">
                <a:solidFill>
                  <a:srgbClr val="FFFFFF"/>
                </a:solidFill>
                <a:latin typeface="Nunito Semi-Bold"/>
                <a:ea typeface="Nunito Semi-Bold"/>
                <a:cs typeface="Nunito Semi-Bold"/>
                <a:sym typeface="Nunito Semi-Bold"/>
              </a:rPr>
              <a:t>z</a:t>
            </a:r>
            <a:r>
              <a:rPr lang="en-US" sz="1504" b="true">
                <a:solidFill>
                  <a:srgbClr val="FFFFFF"/>
                </a:solidFill>
                <a:latin typeface="Nunito Semi-Bold"/>
                <a:ea typeface="Nunito Semi-Bold"/>
                <a:cs typeface="Nunito Semi-Bold"/>
                <a:sym typeface="Nunito Semi-Bold"/>
              </a:rPr>
              <a:t> ≥ 1.33 everywhere: </a:t>
            </a:r>
            <a:r>
              <a:rPr lang="en-US" sz="1504" b="true">
                <a:solidFill>
                  <a:srgbClr val="FFFFFF"/>
                </a:solidFill>
                <a:latin typeface="Nunito Bold"/>
                <a:ea typeface="Nunito Bold"/>
                <a:cs typeface="Nunito Bold"/>
                <a:sym typeface="Nunito Bold"/>
              </a:rPr>
              <a:t>large</a:t>
            </a:r>
            <a:r>
              <a:rPr lang="en-US" sz="1504" b="true">
                <a:solidFill>
                  <a:srgbClr val="FFFFFF"/>
                </a:solidFill>
                <a:latin typeface="Nunito Semi-Bold"/>
                <a:ea typeface="Nunito Semi-Bold"/>
                <a:cs typeface="Nunito Semi-Bold"/>
                <a:sym typeface="Nunito Semi-Bold"/>
              </a:rPr>
              <a:t> (0.8) is exceeded even against the strongest baseline.</a:t>
            </a:r>
          </a:p>
          <a:p>
            <a:pPr algn="l" marL="274320" indent="-274320">
              <a:lnSpc>
                <a:spcPts val="2106"/>
              </a:lnSpc>
              <a:spcBef>
                <a:spcPts val="376"/>
              </a:spcBef>
              <a:buClr>
                <a:srgbClr val="ECC665"/>
              </a:buClr>
              <a:buSzPct val="100000"/>
              <a:buFont typeface="Arial"/>
              <a:buChar char="•"/>
            </a:pPr>
            <a:r>
              <a:rPr lang="en-US" sz="1504" b="true">
                <a:solidFill>
                  <a:srgbClr val="FFFFFF"/>
                </a:solidFill>
                <a:latin typeface="Nunito Semi-Bold"/>
                <a:ea typeface="Nunito Semi-Bold"/>
                <a:cs typeface="Nunito Semi-Bold"/>
                <a:sym typeface="Nunito Semi-Bold"/>
              </a:rPr>
              <a:t>The improvement is practically meaningful, not only statistically visible.</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[27] Holm, S. A Simple Sequentially Rejective Multiple Test Procedure. Scand. J. Statist. 6(2), 65–70 (1979).  ·  Cohen, J. Statistical Power Analysis for the Behavioral Sciences (1988).</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78</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BACKUP</a:t>
            </a:r>
          </a:p>
        </p:txBody>
      </p:sp>
      <p:sp>
        <p:nvSpPr>
          <p:cNvPr id="10" name="TextBox 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Tables 7.3 and 7.4, Cost and Convergence</a:t>
            </a:r>
          </a:p>
        </p:txBody>
      </p:sp>
      <p:pic>
        <p:nvPicPr>
          <p:cNvPr id="11" name="Picture 10" descr="image.png"/>
          <p:cNvPicPr>
            <a:picLocks noChangeAspect="1"/>
          </p:cNvPicPr>
          <p:nvPr/>
        </p:nvPicPr>
        <p:blipFill>
          <a:blip r:embed="rId3"/>
          <a:stretch>
            <a:fillRect/>
          </a:stretch>
        </p:blipFill>
        <p:spPr>
          <a:xfrm>
            <a:off x="13929945" y="1673352"/>
            <a:ext cx="457200" cy="427074"/>
          </a:xfrm>
          <a:prstGeom prst="rect">
            <a:avLst/>
          </a:prstGeom>
        </p:spPr>
      </p:pic>
      <p:sp>
        <p:nvSpPr>
          <p:cNvPr id="12" name="TextBox 11"/>
          <p:cNvSpPr txBox="1"/>
          <p:nvPr/>
        </p:nvSpPr>
        <p:spPr>
          <a:xfrm>
            <a:off x="1028700" y="2897378"/>
            <a:ext cx="1024128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TABLE 7.3  ·  RUNTIME AND MEMORY</a:t>
            </a:r>
          </a:p>
        </p:txBody>
      </p:sp>
      <p:graphicFrame>
        <p:nvGraphicFramePr>
          <p:cNvPr id="13" name="Table 12"/>
          <p:cNvGraphicFramePr>
            <a:graphicFrameLocks noGrp="1"/>
          </p:cNvGraphicFramePr>
          <p:nvPr/>
        </p:nvGraphicFramePr>
        <p:xfrm>
          <a:off x="1028700" y="3263138"/>
          <a:ext cx="10241276" cy="3823208"/>
        </p:xfrm>
        <a:graphic>
          <a:graphicData uri="http://schemas.openxmlformats.org/drawingml/2006/table">
            <a:tbl>
              <a:tblPr firstRow="0" bandRow="0" firstCol="0" lastRow="0" lastCol="0" bandCol="0">
                <a:tableStyleId>{2D5ABB26-0587-4C30-8999-92F81FD0307C}</a:tableStyleId>
              </a:tblPr>
              <a:tblGrid>
                <a:gridCol w="1503307"/>
                <a:gridCol w="1597263"/>
                <a:gridCol w="1127480"/>
                <a:gridCol w="1127480"/>
                <a:gridCol w="1691220"/>
                <a:gridCol w="1127480"/>
                <a:gridCol w="1127480"/>
                <a:gridCol w="939566"/>
              </a:tblGrid>
              <a:tr h="622808">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Train (s) ML-1M</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Infer (ms)</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Mem (GB)</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Train (s) Amazon</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Infer (ms)</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Mem (GB)</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 MF (ML-1M)</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485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2,202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2.46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8.5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675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0.76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3,073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3.42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786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0.88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3,645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12.8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968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4,527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5.04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15.6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1.89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952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4,419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4.92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15.3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1.96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5,234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5.48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2.19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2,000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1.84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4.4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9,279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8.52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17.9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3.41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14" name="TextBox 13"/>
          <p:cNvSpPr txBox="1"/>
          <p:nvPr/>
        </p:nvSpPr>
        <p:spPr>
          <a:xfrm>
            <a:off x="11727180" y="2897378"/>
            <a:ext cx="553212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TABLE 7.4  ·  MONTE CARLO SHAPLEY</a:t>
            </a:r>
          </a:p>
        </p:txBody>
      </p:sp>
      <p:graphicFrame>
        <p:nvGraphicFramePr>
          <p:cNvPr id="15" name="Table 14"/>
          <p:cNvGraphicFramePr>
            <a:graphicFrameLocks noGrp="1"/>
          </p:cNvGraphicFramePr>
          <p:nvPr/>
        </p:nvGraphicFramePr>
        <p:xfrm>
          <a:off x="11727180" y="3263138"/>
          <a:ext cx="5532120" cy="2286000"/>
        </p:xfrm>
        <a:graphic>
          <a:graphicData uri="http://schemas.openxmlformats.org/drawingml/2006/table">
            <a:tbl>
              <a:tblPr firstRow="0" bandRow="0" firstCol="0" lastRow="0" lastCol="0" bandCol="0">
                <a:tableStyleId>{2D5ABB26-0587-4C30-8999-92F81FD0307C}</a:tableStyleId>
              </a:tblPr>
              <a:tblGrid>
                <a:gridCol w="737616"/>
                <a:gridCol w="1475232"/>
                <a:gridCol w="1198626"/>
                <a:gridCol w="1198626"/>
                <a:gridCol w="922020"/>
              </a:tblGrid>
              <a:tr h="457200">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M</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MSE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Accuracy</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Train (s)</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 base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1.4 × 10</a:t>
                      </a:r>
                      <a:r>
                        <a:rPr lang="en-US" sz="1400" b="true" baseline="30000">
                          <a:solidFill>
                            <a:srgbClr val="111111"/>
                          </a:solidFill>
                          <a:latin typeface="Nunito Semi-Bold"/>
                          <a:ea typeface="Nunito Semi-Bold"/>
                          <a:cs typeface="Nunito Semi-Bold"/>
                          <a:sym typeface="Nunito Semi-Bold"/>
                        </a:rPr>
                        <a:t>−4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95 %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1,460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5.6 × 10</a:t>
                      </a:r>
                      <a:r>
                        <a:rPr lang="en-US" sz="1400" b="true" baseline="30000">
                          <a:solidFill>
                            <a:srgbClr val="111111"/>
                          </a:solidFill>
                          <a:latin typeface="Nunito Semi-Bold"/>
                          <a:ea typeface="Nunito Semi-Bold"/>
                          <a:cs typeface="Nunito Semi-Bold"/>
                          <a:sym typeface="Nunito Semi-Bold"/>
                        </a:rPr>
                        <a:t>−5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98 %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1,800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ctr">
                        <a:lnSpc>
                          <a:spcPts val="1820"/>
                        </a:lnSpc>
                        <a:spcBef>
                          <a:spcPts val="0"/>
                        </a:spcBef>
                        <a:buNone/>
                      </a:pPr>
                      <a:r>
                        <a:rPr lang="en-US" sz="1400" b="1">
                          <a:solidFill>
                            <a:srgbClr val="111111"/>
                          </a:solidFill>
                          <a:latin typeface="Nunito Bold"/>
                          <a:ea typeface="Nunito Bold"/>
                          <a:cs typeface="Nunito Bold"/>
                          <a:sym typeface="Nunito Bold"/>
                        </a:rPr>
                        <a:t>50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1.4 × 10</a:t>
                      </a:r>
                      <a:r>
                        <a:rPr lang="en-US" sz="1400" b="1" baseline="30000">
                          <a:solidFill>
                            <a:srgbClr val="111111"/>
                          </a:solidFill>
                          <a:latin typeface="Nunito Semi-Bold"/>
                          <a:ea typeface="Nunito Semi-Bold"/>
                          <a:cs typeface="Nunito Semi-Bold"/>
                          <a:sym typeface="Nunito Semi-Bold"/>
                        </a:rPr>
                        <a:t>−5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99 %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2,001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1.78×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100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3.5 × 10</a:t>
                      </a:r>
                      <a:r>
                        <a:rPr lang="en-US" sz="1400" b="true" baseline="30000">
                          <a:solidFill>
                            <a:srgbClr val="111111"/>
                          </a:solidFill>
                          <a:latin typeface="Nunito Semi-Bold"/>
                          <a:ea typeface="Nunito Semi-Bold"/>
                          <a:cs typeface="Nunito Semi-Bold"/>
                          <a:sym typeface="Nunito Semi-Bold"/>
                        </a:rPr>
                        <a:t>−6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99.5 %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2,810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16" name="Rounded Rectangle 15"/>
          <p:cNvSpPr/>
          <p:nvPr/>
        </p:nvSpPr>
        <p:spPr>
          <a:xfrm>
            <a:off x="1028700" y="7452106"/>
            <a:ext cx="16230600" cy="1005840"/>
          </a:xfrm>
          <a:prstGeom prst="roundRect">
            <a:avLst>
              <a:gd name="adj" fmla="val 20000"/>
            </a:avLst>
          </a:prstGeom>
          <a:solidFill>
            <a:srgbClr val="E7EAF3"/>
          </a:solidFill>
          <a:ln>
            <a:noFill/>
          </a:ln>
        </p:spPr>
        <p:txBody>
          <a:bodyPr anchor="ctr" rtlCol="false" lIns="365760" tIns="45720" rIns="365760" bIns="45720" wrap="square"/>
          <a:lstStyle/>
          <a:p>
            <a:pPr algn="ctr">
              <a:lnSpc>
                <a:spcPts val="2200"/>
              </a:lnSpc>
              <a:spcBef>
                <a:spcPts val="0"/>
              </a:spcBef>
              <a:buNone/>
            </a:pPr>
            <a:r>
              <a:rPr lang="en-US" sz="1700" b="true">
                <a:solidFill>
                  <a:srgbClr val="111111"/>
                </a:solidFill>
                <a:latin typeface="Nunito Semi-Bold"/>
                <a:ea typeface="Nunito Semi-Bold"/>
                <a:cs typeface="Nunito Semi-Bold"/>
                <a:sym typeface="Nunito Semi-Bold"/>
              </a:rPr>
              <a:t>DyHuCoG costs about </a:t>
            </a:r>
            <a:r>
              <a:rPr lang="en-US" sz="1700" b="true">
                <a:solidFill>
                  <a:srgbClr val="111111"/>
                </a:solidFill>
                <a:latin typeface="Nunito Bold"/>
                <a:ea typeface="Nunito Bold"/>
                <a:cs typeface="Nunito Bold"/>
                <a:sym typeface="Nunito Bold"/>
              </a:rPr>
              <a:t>1.78× HPCF</a:t>
            </a:r>
            <a:r>
              <a:rPr lang="en-US" sz="1700" b="true">
                <a:solidFill>
                  <a:srgbClr val="111111"/>
                </a:solidFill>
                <a:latin typeface="Nunito Semi-Bold"/>
                <a:ea typeface="Nunito Semi-Bold"/>
                <a:cs typeface="Nunito Semi-Bold"/>
                <a:sym typeface="Nunito Semi-Bold"/>
              </a:rPr>
              <a:t> in training time and stays under </a:t>
            </a:r>
            <a:r>
              <a:rPr lang="en-US" sz="1700" b="true">
                <a:solidFill>
                  <a:srgbClr val="111111"/>
                </a:solidFill>
                <a:latin typeface="Nunito Bold"/>
                <a:ea typeface="Nunito Bold"/>
                <a:cs typeface="Nunito Bold"/>
                <a:sym typeface="Nunito Bold"/>
              </a:rPr>
              <a:t>2 ms per query</a:t>
            </a:r>
            <a:r>
              <a:rPr lang="en-US" sz="1700" b="true">
                <a:solidFill>
                  <a:srgbClr val="111111"/>
                </a:solidFill>
                <a:latin typeface="Nunito Semi-Bold"/>
                <a:ea typeface="Nunito Semi-Bold"/>
                <a:cs typeface="Nunito Semi-Bold"/>
                <a:sym typeface="Nunito Semi-Bold"/>
              </a:rPr>
              <a:t> on MovieLens-1M; M = 50 permutations is the knee of the accuracy / cost curve, which is why it is the default.</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   [8] Castro, J., Gómez, D. &amp; Tejada, J. Polynomial Calculation of the Shapley Value Based on Sampling. Computers &amp; Operations Research 36(5), 1726–1730 (2009).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DAHURed54lA</dc:identifier>
  <dcterms:modified xsi:type="dcterms:W3CDTF">2011-08-01T06:04:30Z</dcterms:modified>
  <cp:revision>1</cp:revision>
  <dc:title>Beige Green Modern Illustrative Playful Thesis Defense Presentation</dc:title>
</cp:coreProperties>
</file>