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 are giving me today. My name is Mouad Louhichi, and the thesis I am defending, supervised by Professor Mohamed Lazaar, is titled Cooperative Game Theory for Explainable AI in Recommendation Systems. It rests on a single idea, which I would like you to keep in mind throughout: Shapley attribution is not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seven parts: the introduction, the context and the problematic, the shared experimental protocol, then my three contributions, and finally the conclusion and the perspectives. Each contribution follows exactly the same structure, so you always know where we are: research gap, objectives, methodology, evaluation protocol, results, and findings. The seven small squares at the top right of every slide mark the part we are in, and I have placed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begin, then, with the introduction, and with two questions in particular: why explainability is a core requirement for recommender systems, and what I actually mean by an actionable insight. Time check: minute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these systems shape what billions of people see, buy and watch every single day. Then the black box: even the strongest recommenders and clustering pipelines are hard to question, because we see the output but not the reason behind it. Trust is the one I care about most, and it asks whether transparency can be built into the model rather than bolted on afterwards. So rather than trading accuracy against interpretability, I treat them as two goals to be met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I call an explanation actionable when it points to a factor you can actually change, when changing it clearly moves the output, and when that factor is stated in the domain's own terms. A chemical variable, a pollution indicator, a preference signal. Never a hidden latent code. In other words, a good explanation should support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place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we gained power and lost transparency, just as the EU AI Act and the GDPR began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not exotic systems, either. Here are four that most of us use every day, and in each one the reasoning is hidden from the very person it serves. Everywhere, and hidden: that is precisely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problem itself. I will go fairly quickly over the four main families of recommender, then their limitations, the research questions, and the three contributions. Time check: about minute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take one slide per family, because their limits are what motivate the thesis. Let us start with content-based filtering. The system builds a profile from the features of what you liked, and recommends items whose features match. What matters is that it is explainable by construction: the reason is a named feature you recognise. Its limit is that it needs good metadata and it tends to recommend more of the same. Still, that level of explanation, domain factors, is exactly the level I want to preserve.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altogether and uses the behaviour of other users, on the assumption that people who agreed in the past will agree in the future. As you can see, user one and user two share two items, so user two's interest in item three passes across. This is the base of matrix factorisation and of graph recommenders, and its weakness is familiar: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 is accurate, it scales, and it is still the standard baseline of the field. The factors, though, are hidden: nobody can tell you what factor seven means. That is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most importantly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 are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structuring problems. Complex models are hard to explain in a way that is both faithful and actionable. Local explanations do not carry over to multi-level structure or to large data. Explanations also stay post-hoc, so they never shape how the model learns. The literature is therefore missing one framework that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The thesis claim is therefore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though, let me set out the shared experimental setup, so that you can be confident the comparisons are fair: the datasets, the splitting, the baselines, the metrics and the hardware. Time check: about minute seven.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 is large, it is noisy, it is seasonal, and that is precisely why it is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 is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Amazon-Book: fifty-two thousand users, three million interactions, and a density of six in ten thousand. This is the sparse end of the range, and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standard alternative to SHAP. For recommendation there are six baselines from four families, with HPCF from 2025 as the strongest. I want to be careful here: I claim superiority only against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 is worth noting that ILD is built into the DyHuCoG utility, not merely reported afterwards. For clustering, the Silhouette, which as we will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 will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turn, then, to Contribution I, which is about explaining black-box clustering with Shapley values, and which answers RQ1.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Because the model creates its own structure, so the meaning of a cluster has to be worked out after the fact, and that makes it the hardest possible test bed for attribution. The gap is this: existing methods give a local or a global explanation, rarely both, and local surrogates such as LIME carry no guarantee that the credit they assign is fair or stable. There is, in short,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 is what makes it actionable. And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method, though,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Averaged over the six orders that gives ninety, seventy and forty, which sums exactly to two hundred. The four axioms on the right, efficiency, symmetry, null player and additivity, are why this is the right rule: Shapley proved it is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can set clustering up as a cooperative game. The features are the players, and the value of a coalition is the Silhouette of K-Means run on that subset of features. There is a problem, though: with eleven features that is two to the power eleven coalitions, so we need a bridge. Here is the reasoning. TreeSHAP explains trees, not centroids, and explaining the PCA space would move attribution away from the variables we actually care about. Instead, K-Means gives the labels, a LightGBM classifier learns to predict them from the original features, and TreeSHAP explains that surrogate exactly. The validity condition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an honest point I want to make here, because a member of the jury may well notice it. I select three clusters on purpose, even though the geometry prefers two: the Silhouette is 0.214 at k equals two against 0.144 at k equals three. Why choose the worse geometry? Because three clusters support three distinct, chemically meaningful wine stories, and that is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then, is what comes out. The global ranking is led by density, then pH, fixed acidity, the sulfur dioxide variables and alcohol, which is exactly what a wine expert would name for structure, preservation and balance. The strip underneath is Figure 5.2, the per-cluster signatures, and you can see that each cluster has its own balance of the same small set of variables. A cluster is not just a label; it is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RQ1, then, is yes. Shapley values do explain a black-box partition faithfully, provided the surrogate has high fidelity, and consistently at cluster level. On the third objective: SHAP satisfies the four axioms and gives local and global readings that compare across clusters, whereas LIME fits a local surrogate with no such guarantee. There is one caveat I want to state clearly, which is that efficiency holds with respect to the surrogate output, not directly to the Silhouette game, and that is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Contribution I, then: the partition is explained at cluster and instance level, in the original variables, with a chemically meaningful ranking and an axiomatic basis that LIME simply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 would rather state them than have them found. The explanation depends on surrogate fidelity, not on the K-Means geometry directly. It is limited to tabular data. Above all it is single-level: it cannot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from Contribution I, then,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is exactly where Contribution II begins: taking the same explanation to scale and across levels, and answering RQ2. Time check: about minute eighteen.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gap here? Once clustering becomes multi-level, feature importance has to stay readable within a cluster, across sub-clusters, and across the levels themselves. Three hundred and eighty-three thousand records cannot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And validation on data that is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method. The workflow is recursive: a coarse clustering on the full data, and then each cluster split again where that makes sense. Each level gets its own surrogate and its own SHAP values, always in the same original space. The aggregation is deliberately not a naive average;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vanishes under perfect fidelity. The proof is just the law of total expectation. I want to be precise about what it does not say: it does not claim explanations are identical across levels. It says their differences can be interpreted, rather than dismissed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global ranking, which is the first genuinely surprising result. It is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entirely.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main payoff of the whole contribution. At the coarse level, temperature and dew point dominate, because they separate the broad regimes. The force plots then resolve three of them: a warm, sunlight-driven summer regime where ozone stands out; a winter smog regime with carbon monoxide, sulfur dioxide and particulate matter under low wind; and a comparatively clean regime. Inside single clusters, though, the informative variables shift. That is not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RQ2 is yes, within bounds. Consistency is kept at scale and across levels, provided the hierarchy is modelled explicitly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Again, the limitations. The clustering stays static, even though the Beijing data are temporal. Surrogate-based SHAP with representative instances smooths out variation. Most important of all, the attribution is still post-hoc: it never influences learning. That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from Contribution II, then, is that Shapley attribution stays consistent across levels of detail once the hierarchy is explicit, which means explanations become interpretable against scale, not just against one flat partition. It still explains a partition that was already computed, though. The question becomes: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us to Contribution III, DyHuCoG, where attribution moves inside the training loop. Time check: about minute twenty-five.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here is subtle but important. Every hypergraph recommender treats its messages as equally important, and where attribution exists at all, it is computed after training. The explanation therefore describes a model it did not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then, is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 will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architecture, which is really the decisive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therefore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headline result on MovieLens-1M, with DyHuCoG in bold, best on all four metrics. HPCF reaches an NDCG of 0.2528; DyHuCoG gives 0.2775, which is plus 9.8 percent, and recall rises from 0.2098 to 0.2362. Notice that coverage and diversity rise at the same time, which is not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table on much sparser data, where the relative gains are larger still: plus 13.3 percent NDCG, plus 16 percent recall, and coverage up nearly thirty percent. The absolute values look low for every model, and that is simply because the matrix is almost empty. What matters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every component earn its place? This is the ablation, per dataset. Context matters most, at minus 8.2 and minus 11 percent. The hypergraph structure is second. Removing the Shapley weighting costs 4.6 and 6.1 percent, and more on the sparser data. Every component contributes,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report the cost openly, because it is not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improvement real, though,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stated honestly. There is a compute overhead. There is a dependence on meaningful context, so on data without usable context the gain shrinks. The Monte Carlo estimator could still use variance reduction. The ablation removes one component at a time, so it does not test combinations. The baselines were fixed in early 2026, so again, I claim superiority only against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here is really the conceptual shift of the whole thesis. Attribution becomes a first-class part of the learning objective rather than a post-hoc check, which means the explanation is a direct read-out of what the model optimises. In other words, it is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everything together: the synthesis, the publications, the limitations, and the perspectives. Time check: about minute thirty-two.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C3 carries the same logic inside the learning of a recommender. One definition,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limitations of the thesis as a whole. On computation, exact Shapley is not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 is no user study of actionability yet. On the claim itself: this is not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turns naturally into future work. Lower-variance estimators and adaptive refresh rules. Online and streaming recommendation, with graphs that keep changing. A user-centred evaluation, asking whether these explanations actually improve judgement and trust.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then. Cooperative game theory can serve as a shared methodological view for actionable explanation across clustering and recommendation. There are four outcomes I would like to leave you with: Shapley attribution as a common formal language; three concrete achievements; explanation treated as method rather than as a comment added later; and a position that is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will not read them out; they are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procedures,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would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leave this slide up during the discussion, since it repeats the title and the jury. Thank you again, and I am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 not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conventionally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is therefore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61097" y="3546602"/>
            <a:ext cx="5406684"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9385446" y="7808595"/>
            <a:ext cx="6557986"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8997082" y="3546602"/>
            <a:ext cx="7517595"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5604473" y="3500882"/>
            <a:ext cx="7079053"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