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Mister President. Good morning, Professors, and thank you for the time you're giving me today. My name is Mouad Louhichi, and the thesis I'm defending, supervised by Professor Mohamed Lazaar, is titled Cooperative Game Theory for Explainable AI in Recommendation Systems. It rests on a single idea, and I'd like you to keep it in mind throughout: Shapley attribution isn't only a way of explaining a model afterwards. It can explain black-box clustering, it can stay consistent across levels of detail, and it can finally guide what a recommender actually learns.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how I've set out the next forty minutes. I'll walk you through seven parts: the introduction, the context and the problematic, the shared experimental protocol, then my three contributions, and finally the conclusion and the perspectives. Each contribution follows exactly the same structure, so you'll always know where we are: research gap, objectives, methodology, evaluation protocol, results, and findings. The seven small squares at the top right of every slide mark the part we're in, and I've put the backup tables after the end, in case a question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begin with the introduction, and with two questions in particular: why explainability is a core requirement for recommender systems, and what I actually mean by an actionable insight. Time check: minute two.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sit behind all my work. The first is how big these systems are. They shape what billions of people see, buy and watch. The second is that they're black boxes. Even our best recommenders and clustering pipelines are hard to question. We can see what comes out, but not why. And the third is the one I care about most, which is trust. Can we build transparency into the model from the start, instead of adding it on later? Because that's what keeps happening. The stronger these models get, the less transparent they become. So I've treated accuracy and interpretability as two goals to reach at once, not as a choice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definition the whole thesis turns on. What do I mean by an actionable explanation? Three things. It has to point to a factor you can actually change. Changing it has to clearly move the output. And it has to be written in the language of the field, not the model. A wine maker can act on density and pH. But nobody can act on a hidden latent code. A good explanation, then, should help someone make a real decision, not just describe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put this in context, because the history of the field is really the history of the problem. We moved from similarity models to matrix factorisation, which gave us latent factors with no readable meaning. Graph neural networks then replaced that hidden code with a hidden message-passing mechanism, and hypergraph models added user-item-context relations but assume every message counts the same. At each step, then, we gained power and lost transparency, just as the EU AI Act and the GDPR started asking for meaningful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these aren't exotic systems, either. Here are four that most of us use every day, and in each one the reasoning is hidden from the very person it serves. Everywhere, and hidden. That's exactly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to the problem itself. I'll go fairly quickly over the four main families of recommender, then their limitations, the research questions, and the three contributions. Time check: about minute five.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taking one slide per family, because their limits are what motivate the thesis. So let's start with content-based filtering. The system builds a profile from the features of what you liked, and recommends items whose features match. What matters here is that it's explainable by construction: the reason is a named feature you recognise. Its limit is that it needs good metadata, and it tends to recommend more of the same. Still, that level of explanation, domain factors, is exactly the level I want to keep.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collaborative filtering. Here the system ignores content completely and uses the behaviour of other users, because people who agreed in the past will probably agree in the future. As you can see, user one and user two share two items, so user two's interest in item three passes across. This is the base of matrix factorisation and of graph recommenders, and its weakness is a familiar one: new users and new items have no history, and sparse matrices give very little signal.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hybrids and matrix factorisation. A hybrid mixes the two signals, which does reduce cold-start. Matrix factorisation itself splits the interaction matrix into low-rank user and item factors. It's accurate, it scales, and it's still the standard baseline of the field. The factors, though, are hidden: nobody can tell you what factor seven means. That's really the moment the field gained accuracy and lost the named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and above all for this thesis, graph and hypergraph recommenders, which are the state of the art. Users and items become nodes, interactions become edges, and message passing, as in LightGCN, HCCF or HPCF, moves information over several hops. A hyperedge can even join a user, an item and a context at once, which is why these models do best on sparse benchmarks. But look at the orange box: they're costly, and they treat every message as equally important. That assumption is exactly what Contribution III challenges.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goes wrong? There are four classical limitations: sparsity, cold-start, popularity bias, and the one this thesis targets, which is the lack of interpretability. For clustering the problem is harder still, because existing methods give either a local or a global explanation, rarely both, and they almost never stay consistent across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me to three problems that shape this work. Complex models are hard to explain in a way that's both faithful and actionable. Local explanations don't carry over to multi-level structure or to large data. And explanations stay post-hoc, so they never shape how the model learns. In short, no one framework does all three at once, and my claim is that Shapley attribution can be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that gap come five research questions. RQ1 asks whether Shapley values can explain black-box clustering faithfully. RQ2 asks whether that extends to large-scale, multi-level clustering while staying feasible and consistent. RQ3 asks the bolder question: can attribution become part of how a recommender learns? RQ4 asks whether it can improve accuracy, context and diversity at the same time. RQ5, finally, is the thesis-level question, which is what we gain by reading both tasks as one shared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those questions give us three contributions on a single thread. C1 explains black-box clustering, on wine quality. C2 scales the same logic to multi-level Beijing air-quality data. C3, which is the strongest claim, turns attribution into an in-training signal inside a hypergraph recommender. Put simply, the thesis claim is this: cooperative game theory works as one shared attribution view, moving from explanation, to optimisation, to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we get to the contributions, let me set out the shared experimental setup, so that you can be confident the comparisons are fair: the datasets, the splitting, the baselines, the metrics and the hardware. Time check: about minute ten.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take the four datasets in turn. First, Portuguese white wines: four thousand eight hundred and ninety-eight samples with eleven laboratory measurements. I chose it because every column has a physical meaning, so when the explanation says density and pH, a wine maker knows exactly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Beijing air quality: three hundred and eighty-three thousand hourly records, with six pollutants and five weather variables. It's large, it's noisy, it's seasonal, and that's exactly why it's the stress test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MovieLens-1M: about one million ratings from six thousand users over three thousand seven hundred movies. I use it because it's the standard benchmark, so the numbers stay comparable with LightGCN, HCCF and HPCF.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fourth, Amazon-Book: fifty-two thousand users, three million interactions, and a density of six in ten thousand. This is the sparse end of the range, so it tests whether Shapley weighting helps most exactly where the signal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splitting, the design is built against leakage. For clustering I use five-fold cross-validation. For recommendation, a user-level, time-ordered split with a leave-one-out target and popularity-aware negatives. Five seeds throughout, with early stopping on validation NDCG.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baselines, the clustering comparison is a LIME-based surrogate, which is the usual rival to SHAP. For recommendation there are six baselines from four families, with HPCF from 2025 as the strongest. I want to be careful here: I only claim to be better than the models I actually tested.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metrics, NDCG at twenty is the headline. Then two beyond-accuracy measures: coverage, which is the fraction of the catalogue ever recommended, and intra-list diversity, the average dissimilarity inside a single list. It's worth noting that ILD is built into the DyHuCoG utility, not merely reported afterwards. For clustering, the Silhouette, which as we'll see is also the value function of the clustering game.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hardware, which I mention only because it explains the runtime figures you'll see later: an Intel Core i9 for the clustering work, and one RTX 4090 for DyHuCoG. Standard academic hardware, nothing exotic.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on to Contribution I, which is about explaining black-box clustering with Shapley values, and which answers RQ1. Time check: about minute thirteen.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why start with clustering? Because the model creates its own structure, so the meaning of a cluster has to be worked out after the fact, and that makes it the hardest possible test bed for attribution. So here's the gap: existing methods give a local or a global explanation, rarely both, and local surrogates such as LIME carry no guarantee that the credit they assign is fair or stable. In short, there's no axiomatic way to explain a black-box partition in the original feature space.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for RQ1. A cluster-level explanation that still keeps feature-level attribution. Attribution in the original feature space, because that's what makes it actionable. Finally, a real argument for why Shapley is the right allocation rule, rather than an ad-hoc surrogate.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the method, I need one slide on the mathematics the whole thesis rests on, because everything after this uses it. A cooperative game has three ingredients: a set of players, coalitions, which are simply any subset of them, and a characteristic function v that tells you the value each coalition creates on its own. The question is one of fairness: the grand coalition earns v of N, so how should that be shared? Let's take a three-piece band. Alone they earn sixty, forty and twenty. Guitar and Voice together earn one hundred and forty, which is more than their sum, and all three together earn two hundred. That synergy is the whole point, because a fair split has to credit what a player adds to the others, not only what they earn alone. Shapley's answer, from 1953, is to let the players arrive one at a time in a random order and pay each what they add on arrival. Average that over the six orders and you get ninety, seventy and forty, which sums exactly to two hundred. The four axioms on the right, efficiency, symmetry, null player and additivity, are why this is the right rule: Shapley proved it's the only rule that satisfies all four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we can set clustering up as a cooperative game. The features are the players, and the value of a coalition is the Silhouette of K-Means run on that subset of features. There's a problem, though: with eleven features that's two to the power eleven coalitions, so we need a bridge. Here's the reasoning. TreeSHAP explains trees, not centroids, and explaining the PCA space would move attribution away from the variables we actually care about. Instead, then, K-Means gives the labels, a LightGBM classifier learns to predict them from the original features, and TreeSHAP explains that surrogate exactly. What makes this valid is surrogate fidelity, with a macro-F1 of about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protocol that follows from it. K-Means plus-plus with k scanned from two to ten, chosen by elbow, Silhouette, Davies-Bouldin and an interpretability check. A LightGBM surrogate with five-fold cross-validation, exact TreeSHAP in the original space, and a LIME surrogate on the same partition as the comparison. Success means three things: the fidelity floor is met, the ranking is chemically meaningful, and the clusters have distinct signatures.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there's an honest point I want to make here, because a member of the jury may well notice it. I select three clusters on purpose, even though the geometry prefers two: the Silhouette is 0.214 at k equals two against 0.144 at k equals three. So why choose the worse geometry? Because three clusters support three distinct, chemically meaningful wine stories, and that's far more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what comes out. The global ranking is led by density, then pH, fixed acidity, the sulfur dioxide variables and alcohol, which is exactly what a wine expert would name for structure, for keeping the wine sound, and for balance. The strip underneath is Figure 5.2, the per-cluster signatures, where you can see that each cluster has its own balance of the same small set of variables. A cluster, in other words, isn't just a label. It's a distinct combination of drivers.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RQ1 is yes. Shapley values do explain a black-box partition faithfully, as long as the surrogate has high fidelity, and consistently at cluster level. On the third objective: SHAP satisfies the four axioms and gives local and global readings that compare across clusters, whereas LIME fits a local surrogate with no such guarantee. There's one caveat I want to state clearly, which is that efficiency holds with respect to the surrogate output, not directly to the Silhouette game, and that's exactly why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summarise Contribution I: the partition is explained at cluster and instance level, in the original variables, with a chemically meaningful ranking and an axiomatic basis that LIME simply doesn't have.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there are limits, and I'd rather state them than have them found. The explanation depends on surrogate fidelity, not on the K-Means geometry directly. It's limited to tabular data. And above all it's single-level: it can't yet tell you how importance changes between a partition and its sub-partitions. That last point is what starts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 is that Shapley attribution is a well-founded lens for an unsupervised partition, and keeping it in the original feature space is what makes it actionable. Real data, of course, are rarely single-level.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that's exactly where Contribution II begins: taking the same explanation to scale and across levels, and answering RQ2. Time check: about minute twenty-one.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gap here? Once clustering becomes multi-level, feature importance has to stay readable within a cluster, across sub-clusters, and across the levels themselves. Three hundred and eighty-three thousand records can't be explained coalition by coalition. On top of that, the hierarchical clustering literature gives no formal link between a parent's explanation and its children's.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again. A truly multi-level workflow with level-specific surrogates. A formal cross-level consistency argument, which is Proposition 6.1. Finally, validation on data that's very far from wine.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method. The workflow is recursive: a coarse clustering on the full data, and then each cluster split again where that makes sense. Each level gets its own surrogate and its own SHAP values, always in the same original space. The aggregation is not a simple average, and that is on purpose: a parent's attribution is a size-weighted expectation over its children. One point of method I want to flag: the hierarchy is an analysis tool here, not a claim that the data have a true natural hierarchy.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this is the mathematical heart of the contribution, so let me take it slowly. Proposition 6.1 says that, for a strict nested hierarchy on a consistent feature space, the parent's importance equals the size-weighted sum of its children's importance, plus a residual that comes from surrogate mismatch and goes to zero under perfect fidelity. The proof itself is just the law of total expectation. I want to be precise about what it doesn't say: it doesn't claim explanations are identical across levels. It says their differences can be interpreted, rather than written off as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protocol is the same template, applied to Beijing. Level one is K-Means plus-plus on the full data. Level two splits each coarse cluster again, so three regimes become nine sub-clusters. One surrogate and exact TreeSHAP per level, aggregation by Proposition 6.1, and a sensitivity analysis over k, projection dimension and surrogate depth.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look at the data. On Beijing the selection criteria agree strongly: three clusters, a Silhouette of about 0.63, and a Davies-Bouldin of about 0.55, which means the clusters rarely overlap. The two-component PCA view is there for inspection only. The conclusions turn out to be robust to small changes in k, in projection dimension and in surrogate depth. Only the low-ranked variables move.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global ranking, which is the first really surprising result. It's led by temperature, dew point and pressure, and only then by carbon monoxide, nitrogen dioxide and the particulates. The weather variables, not the pollutants, dominate. That makes physical sense, because temperature, dew point and pressure control dispersion, trapping and sunlight-driven chemistry, so they set the conditions under which pollution builds up. A naive ranking of concentrations would have missed it completely.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slide is the main payoff of the whole contribution. At the coarse level, temperature and dew point dominate, because they separate the broad regimes. The force plots then separate out three of them: a warm, sunlight-driven summer regime where ozone stands out, then a winter smog regime with carbon monoxide, sulfur dioxide and particulate matter under low wind, and a fairly clean regime. Inside single clusters, though, the variables that matter shift. That isn't a contradiction. The parent-level story is regime selection, the cluster-level story is variation within a regime, and Proposition 6.1 is what lets us read the shift as structure rather than as noise.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RQ2 is yes, within bounds. Consistency is kept at scale and across levels, provided the hierarchy is modelled openly and the approximation is transparent. The bound I want to be honest about is that this is still an explanation of a partition that was already computed.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other words, the explanation scales because the hierarchy is explicit, Proposition 6.1 makes cross-level differences interpretable, and the logic transfers from four thousand eight hundred and ninety-eight wines to three hundred and eighty-three thousand air-quality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again, the limitations. The clustering stays static, even though the Beijing data are temporal. Surrogate-based SHAP with representative instances smooths out variation. Most important of all, the attribution is still post-hoc: it never changes how the model learns. That's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II is that Shapley attribution stays consistent across levels of detail once the hierarchy is explicit, which means explanations become interpretable against scale, not just against one flat partition. It still explains a partition that was already computed, though. Which leaves the question: can cooperative attribution move beyond explanation and become part of how a recommender learns?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 brings us to Contribution III, DyHuCoG, where attribution moves inside the training loop. Time check: about minute twenty-seven.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gap here is subtle but important. Every hypergraph recommender treats its messages as equally important, and where attribution exists at all, it's computed after training. The explanation therefore describes a model it didn't help to build. The question I ask is whether attribution can be part of the learning instead.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two research questions and three objectives. RQ3 asks whether attribution can become part of the learning. RQ4 asks whether ranking, context and diversity can improve together. The objectives are: recommendation as a cooperative game over users, items and contexts, then preference-aware Monte Carlo Shapley inside message passing, and those three metrics improving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game. The players are users, items and contexts, joined by hyperedges whose weights come from Shapley estimates. A coalition is the set of entities taking part in one recommendation episode, and its value is the quality of what they achieve together. That value is explicit on the screen: accuracy, diversity and context, weighted sixty, twenty-five and fifteen, plus a preference term. The trade-off the recommender has to satisfy is therefore exactly the one attribution is computed from, which means the game and the objective are aligned by design. You'll notice this mirrors the clustering game on purpose: same logic, different value function.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exact Shapley is of course combinatorial, so we estimate it by Monte Carlo: over M sampled coalitions, we average the value with the player minus the value without. The estimator is unbiased, and its error falls as one over root M. We chose M equal to fifty, which gives about ninety-nine percent accuracy, refreshed every ten batches and smoothed by an exponential moving average.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architecture, which is really the key move. Base propagation is standard hypergraph message passing. The Shapley-weighted version multiplies each message by a normalised Shapley coefficient. An attention gate then blends that with the standard score as a stabiliser, and a context term is added. Look at the last row, which is the training loss: BPR, plus diversity, plus context, plus regularisation. The model, in other words, optimises exactly the same balance that the attribution is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here is heavier, so let me be brief. Two datasets, six baselines, four metrics, five seeds. Paired t-tests and Wilcoxon on per-user NDCG, with Holm-Bonferroni correction and Cohen's d. An ablation removes one component at a time. Success means beating HPCF on both datasets with corrected p below 0.05, coverage and diversity rising together, and overhead within about two times HPCF.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headline result on MovieLens-1M, with DyHuCoG in bold, best on all four metrics. HPCF reaches an NDCG of 0.2528. DyHuCoG gives 0.2775, which is plus 9.8 percent, and recall rises from 0.2098 to 0.2362. Notice that coverage and diversity rise at the same time, which isn't a coincidence: diversity is part of the coalition utility, not a re-ranking step. The gap widens from classical to graph to hypergraph, and DyHuCoG adds one more step.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same table on much sparser data, where the relative gains are larger still: plus 13.3 percent NDCG, plus 16 percent recall, and coverage up nearly thirty percent. The absolute values look low for every model, and that's simply because the matrix is almost empty. What matters, then, is the consistent ordering, and the fact that the gap is wider where the data are weakest.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does every component earn its place? This is the ablation, per dataset. Context matters most, at minus 8.2 and minus 11 percent. The hypergraph structure is second. Removing the Shapley weighting costs 4.6 and 6.1 percent, and more on the sparser data. Every component contributes, then, and no single one explains the whole gain.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report the cost openly, because it isn't free. DyHuCoG trains in about two thousand seconds against eleven hundred for HPCF, so roughly 1.78 times. Inference is 1.84 milliseconds per query on MovieLens, which is well within real time. On convergence, M equal to fifty gives ninety-nine percent accuracy, so fifty is the right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is the improvement real, or is it just a large sample? These are paired t-tests over six thousand and forty users, Holm-Bonferroni corrected. Against HPCF the t-statistic is 46.38 and Cohen's d is 1.33, and Wilcoxon agrees. The effect size is what matters here, because with six thousand users even a tiny difference can look significant. Beyond accuracy, cold users gain about ten percent and cold items 9.6, and the gain holds on Yelp2018. These tests cover MovieLens-1M. Amazon-Book stays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answers. For RQ3, yes: the Shapley estimates set the hyperedge weights while the model is learning. For RQ4, yes as well: ranking, coverage and diversity improve together on both datasets, with the largest gains where the data are sparsest. All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then: attribution becomes part of how the recommender learns, the accuracy-diversity trade-off moves, and the improvement is statistically large.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limitations, stated honestly. There's a compute overhead. It depends on meaningful context, so on data without usable context the gain shrinks. The Monte Carlo estimator could still use variance reduction. The ablation removes one component at a time, so it doesn't test combinations. The baselines, finally, were fixed in early 2026, so again, I only claim to be better than the models I tested.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here is really the shift in thinking behind the whole thesis. Attribution becomes a first-class part of the learning objective rather than a post-hoc check, which means the explanation is a direct read-out of what the model optimises. In other words, it's faithful by design.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bring everything together: the synthesis, the publications, the limitations, and the perspectives. Time check: about minute thirty-five.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contributions on one thread: explain, scale, guide. C1 explains a black-box partition in the chemistry. C2 keeps that explanation consistent across levels, with Proposition 6.1 as the formal argument. And C3 carries the same logic inside the learning of a recommender. One definition, then, three value functions.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publications, there are three journal articles, all with me as first author: Procedia Computer Science in 2023, IJACSA in 2025, and IJIES in 2026 for DyHuCoG. IJACSA and IJIES are both Scopus-indexed.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the limitations of the thesis as a whole. On computation, exact Shapley isn't feasible, so every contribution relies on approximation or surrogates. On method, the clustering chapters depend on surrogate fidelity, and the recommendation results on meaningful context. On experiments, the clustering work is tabular and the recommendation work is offline, and there's no user study of actionability yet. On the claim itself: this isn't one unified framework that removes all tension, but a shared, well-founded view that works across both tasks.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straight into future work. Lower-variance estimators and adaptive refresh rules. Online and streaming recommendation, with graphs that keep changing. A user-centred evaluation, asking whether these explanations actually improve judgement and trust. Finally, a broader trustworthy-AI evaluation, including fairness.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conclude. Cooperative game theory can serve as a shared methodological view for actionable explanation across clustering and recommendation. There are four outcomes I'd like to leave you with. First, Shapley attribution as a common formal language. Second, three concrete achievements. Third, explanation treated as method rather than as a comment added later. And fourth, a position that's aligned with the EU AI Act and the OECD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in footnote order. I won't read them out. They're here so that every footnote number can be found.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half of the reference list, including the datasets, the statistical tests,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thank you very much for your attention. I'd be very happy to take your questions, and to go deeper into any part of the method, the mathematics or the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leave this slide up during the discussion, since it repeats the title and the jury. Thank you again, and I'm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Table 7.1: every baseline, both datasets, with mean and standard deviation over five seeds. Two points, if useful. The standard deviations are about one tenth of the gap between DyHuCoG and HPCF on every metric, so the ordering doesn't depend on the seed. The improvement is also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Table 7.6: paired t-tests of DyHuCoG against every baseline on per-user NDCG, on MovieLens-1M, over six thousand and forty users. Holm-Bonferroni gives each of the six p-values its own threshold, and every p-value is many orders of magnitude below it. Cohen's d is 1.33 against HPCF and larger against the weaker baselines, and above 0.8 is normally counted as large. Wilcoxon agrees.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the cost figures. Table 7.3 gives training time, inference latency and memory for every model on both datasets: DyHuCoG trains in about two thousand seconds against eleven hundred for HPCF, and inference stays under two milliseconds per query. Table 7.4 is the Monte Carlo convergence study, where ten permutations give about ninety-five percent accuracy and fifty give ninety-nine. Fifty, then, is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11.xml"/><Relationship Id="rId5"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24.xml"/><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29.xml"/><Relationship Id="rId5" Type="http://schemas.openxmlformats.org/officeDocument/2006/relationships/image" Target="../media/image64.png"/><Relationship Id="rId6" Type="http://schemas.openxmlformats.org/officeDocument/2006/relationships/image" Target="../media/image6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33.xml"/><Relationship Id="rId5" Type="http://schemas.openxmlformats.org/officeDocument/2006/relationships/image" Target="../media/image66.png"/><Relationship Id="rId6" Type="http://schemas.openxmlformats.org/officeDocument/2006/relationships/image" Target="../media/image6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41.xml"/><Relationship Id="rId5" Type="http://schemas.openxmlformats.org/officeDocument/2006/relationships/image" Target="../media/image68.png"/><Relationship Id="rId6" Type="http://schemas.openxmlformats.org/officeDocument/2006/relationships/image" Target="../media/image6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42.xm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45.xml"/><Relationship Id="rId5"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46.xml"/><Relationship Id="rId5"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54.xml"/><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55.xml"/><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56.xm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61.xml"/><Relationship Id="rId5" Type="http://schemas.openxmlformats.org/officeDocument/2006/relationships/image" Target="../media/image9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62.xml"/><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79.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7" name="TextBox 6"/>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8" name="Picture 7" descr="image.png"/>
          <p:cNvPicPr>
            <a:picLocks noChangeAspect="1"/>
          </p:cNvPicPr>
          <p:nvPr/>
        </p:nvPicPr>
        <p:blipFill>
          <a:blip r:embed="rId3"/>
          <a:stretch>
            <a:fillRect/>
          </a:stretch>
        </p:blipFill>
        <p:spPr>
          <a:xfrm>
            <a:off x="11612880" y="1554480"/>
            <a:ext cx="548640" cy="301180"/>
          </a:xfrm>
          <a:prstGeom prst="rect">
            <a:avLst/>
          </a:prstGeom>
        </p:spPr>
      </p:pic>
      <p:pic>
        <p:nvPicPr>
          <p:cNvPr id="9" name="Picture 8"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10" name="TextBox 9"/>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1" name="Rounded Rectangle 10"/>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2" name="Rounded Rectangle 11"/>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3" name="Rounded Rectangle 12"/>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Four datasets · Baselines · Metrics · Hardware</a:t>
            </a:r>
          </a:p>
        </p:txBody>
      </p:sp>
      <p:sp>
        <p:nvSpPr>
          <p:cNvPr id="14" name="Rounded Rectangle 13"/>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5" name="Rounded Rectangle 14"/>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6" name="Rounded Rectangle 15"/>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7" name="Rounded Rectangle 16"/>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Publications · Perspectives · References</a:t>
            </a:r>
          </a:p>
        </p:txBody>
      </p:sp>
      <p:sp>
        <p:nvSpPr>
          <p:cNvPr id="18" name="Rounded Rectangle 17"/>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8" name="Oval 7"/>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core requirement for recommender systems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23" name="Picture 22" descr="image.png"/>
          <p:cNvPicPr>
            <a:picLocks noChangeAspect="1"/>
          </p:cNvPicPr>
          <p:nvPr/>
        </p:nvPicPr>
        <p:blipFill>
          <a:blip r:embed="rId3"/>
          <a:stretch>
            <a:fillRect/>
          </a:stretch>
        </p:blipFill>
        <p:spPr>
          <a:xfrm>
            <a:off x="8592285" y="1673352"/>
            <a:ext cx="457200" cy="250983"/>
          </a:xfrm>
          <a:prstGeom prst="rect">
            <a:avLst/>
          </a:prstGeom>
        </p:spPr>
      </p:pic>
      <p:sp>
        <p:nvSpPr>
          <p:cNvPr id="24" name="Rounded Rectangle 23"/>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Rounded Rectangle 26"/>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Everywhere</a:t>
            </a:r>
          </a:p>
        </p:txBody>
      </p:sp>
      <p:sp>
        <p:nvSpPr>
          <p:cNvPr id="29" name="TextBox 28"/>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market &gt; $15B by 2029.</a:t>
            </a:r>
          </a:p>
        </p:txBody>
      </p:sp>
      <p:sp>
        <p:nvSpPr>
          <p:cNvPr id="30" name="Rounded Rectangle 29"/>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32" name="TextBox 31"/>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hidden logic, hard to audit.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33" name="Rounded Rectangle 32"/>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35" name="TextBox 34"/>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Insight that is accountable, auditable and actionable, not just accurate.</a:t>
            </a:r>
          </a:p>
        </p:txBody>
      </p:sp>
      <p:sp>
        <p:nvSpPr>
          <p:cNvPr id="36" name="Rounded Rectangle 35"/>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pic>
        <p:nvPicPr>
          <p:cNvPr id="23" name="Picture 22" descr="image.png"/>
          <p:cNvPicPr>
            <a:picLocks noChangeAspect="1"/>
          </p:cNvPicPr>
          <p:nvPr/>
        </p:nvPicPr>
        <p:blipFill>
          <a:blip r:embed="rId3"/>
          <a:stretch>
            <a:fillRect/>
          </a:stretch>
        </p:blipFill>
        <p:spPr>
          <a:xfrm>
            <a:off x="9706798" y="1673352"/>
            <a:ext cx="457200" cy="415247"/>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TextBox 26"/>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28" name="TextBox 27"/>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29" name="Rounded Rectangle 28"/>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30" name="Connector 29"/>
          <p:cNvCxnSpPr/>
          <p:nvPr/>
        </p:nvCxnSpPr>
        <p:spPr>
          <a:xfrm>
            <a:off x="11087100" y="5352542"/>
            <a:ext cx="381000" cy="0"/>
          </a:xfrm>
          <a:prstGeom prst="line">
            <a:avLst/>
          </a:prstGeom>
          <a:ln w="28575">
            <a:solidFill>
              <a:srgbClr val="124944"/>
            </a:solidFill>
            <a:tailEnd type="triangle" w="med" len="med"/>
          </a:ln>
        </p:spPr>
      </p:cxnSp>
      <p:sp>
        <p:nvSpPr>
          <p:cNvPr id="31" name="Rounded Rectangle 30"/>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32" name="Connector 31"/>
          <p:cNvCxnSpPr/>
          <p:nvPr/>
        </p:nvCxnSpPr>
        <p:spPr>
          <a:xfrm>
            <a:off x="13159740" y="5352542"/>
            <a:ext cx="381000" cy="0"/>
          </a:xfrm>
          <a:prstGeom prst="line">
            <a:avLst/>
          </a:prstGeom>
          <a:ln w="28575">
            <a:solidFill>
              <a:srgbClr val="124944"/>
            </a:solidFill>
            <a:tailEnd type="triangle" w="med" len="med"/>
          </a:ln>
        </p:spPr>
      </p:cxnSp>
      <p:sp>
        <p:nvSpPr>
          <p:cNvPr id="33" name="Rounded Rectangle 32"/>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34" name="Connector 33"/>
          <p:cNvCxnSpPr/>
          <p:nvPr/>
        </p:nvCxnSpPr>
        <p:spPr>
          <a:xfrm>
            <a:off x="15232380" y="5352542"/>
            <a:ext cx="381000" cy="0"/>
          </a:xfrm>
          <a:prstGeom prst="line">
            <a:avLst/>
          </a:prstGeom>
          <a:ln w="28575">
            <a:solidFill>
              <a:srgbClr val="124944"/>
            </a:solidFill>
            <a:tailEnd type="triangle" w="med" len="med"/>
          </a:ln>
        </p:spPr>
      </p:cxnSp>
      <p:sp>
        <p:nvSpPr>
          <p:cNvPr id="35" name="Rounded Rectangle 34"/>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36" name="Connector 35"/>
          <p:cNvCxnSpPr/>
          <p:nvPr/>
        </p:nvCxnSpPr>
        <p:spPr>
          <a:xfrm>
            <a:off x="10241280" y="6106922"/>
            <a:ext cx="0" cy="365760"/>
          </a:xfrm>
          <a:prstGeom prst="line">
            <a:avLst/>
          </a:prstGeom>
          <a:ln w="28575">
            <a:solidFill>
              <a:srgbClr val="DF8330"/>
            </a:solidFill>
          </a:ln>
        </p:spPr>
      </p:cxnSp>
      <p:cxnSp>
        <p:nvCxnSpPr>
          <p:cNvPr id="37" name="Connector 36"/>
          <p:cNvCxnSpPr/>
          <p:nvPr/>
        </p:nvCxnSpPr>
        <p:spPr>
          <a:xfrm>
            <a:off x="10241280" y="6472682"/>
            <a:ext cx="6217920" cy="0"/>
          </a:xfrm>
          <a:prstGeom prst="line">
            <a:avLst/>
          </a:prstGeom>
          <a:ln w="28575">
            <a:solidFill>
              <a:srgbClr val="DF8330"/>
            </a:solidFill>
            <a:prstDash val="dash"/>
          </a:ln>
        </p:spPr>
      </p:cxnSp>
      <p:cxnSp>
        <p:nvCxnSpPr>
          <p:cNvPr id="38" name="Connector 37"/>
          <p:cNvCxnSpPr/>
          <p:nvPr/>
        </p:nvCxnSpPr>
        <p:spPr>
          <a:xfrm>
            <a:off x="16459200" y="6106922"/>
            <a:ext cx="0" cy="365760"/>
          </a:xfrm>
          <a:prstGeom prst="line">
            <a:avLst/>
          </a:prstGeom>
          <a:ln w="28575">
            <a:solidFill>
              <a:srgbClr val="DF8330"/>
            </a:solidFill>
          </a:ln>
        </p:spPr>
      </p:cxnSp>
      <p:sp>
        <p:nvSpPr>
          <p:cNvPr id="39" name="TextBox 38"/>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40" name="Rounded Rectangle 39"/>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41" name="Rounded Rectangle 40"/>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42" name="Rounded Rectangle 41"/>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23" name="Picture 22" descr="image.png"/>
          <p:cNvPicPr>
            <a:picLocks noChangeAspect="1"/>
          </p:cNvPicPr>
          <p:nvPr/>
        </p:nvPicPr>
        <p:blipFill>
          <a:blip r:embed="rId3"/>
          <a:stretch>
            <a:fillRect/>
          </a:stretch>
        </p:blipFill>
        <p:spPr>
          <a:xfrm>
            <a:off x="5880294" y="1673352"/>
            <a:ext cx="457200" cy="452148"/>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TextBox 26"/>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28" name="Rounded Rectangle 27"/>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29" name="Connector 28"/>
          <p:cNvCxnSpPr/>
          <p:nvPr/>
        </p:nvCxnSpPr>
        <p:spPr>
          <a:xfrm>
            <a:off x="3415284" y="4438142"/>
            <a:ext cx="1033272" cy="0"/>
          </a:xfrm>
          <a:prstGeom prst="line">
            <a:avLst/>
          </a:prstGeom>
          <a:ln w="28575">
            <a:solidFill>
              <a:srgbClr val="124944"/>
            </a:solidFill>
            <a:tailEnd type="triangle" w="med" len="med"/>
          </a:ln>
        </p:spPr>
      </p:cxnSp>
      <p:sp>
        <p:nvSpPr>
          <p:cNvPr id="30" name="Rounded Rectangle 29"/>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31" name="Connector 30"/>
          <p:cNvCxnSpPr/>
          <p:nvPr/>
        </p:nvCxnSpPr>
        <p:spPr>
          <a:xfrm>
            <a:off x="6890004" y="4438142"/>
            <a:ext cx="1033272" cy="0"/>
          </a:xfrm>
          <a:prstGeom prst="line">
            <a:avLst/>
          </a:prstGeom>
          <a:ln w="28575">
            <a:solidFill>
              <a:srgbClr val="124944"/>
            </a:solidFill>
            <a:tailEnd type="triangle" w="med" len="med"/>
          </a:ln>
        </p:spPr>
      </p:cxnSp>
      <p:sp>
        <p:nvSpPr>
          <p:cNvPr id="32" name="Rounded Rectangle 31"/>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33" name="Connector 32"/>
          <p:cNvCxnSpPr/>
          <p:nvPr/>
        </p:nvCxnSpPr>
        <p:spPr>
          <a:xfrm>
            <a:off x="10364724" y="4438142"/>
            <a:ext cx="1033272" cy="0"/>
          </a:xfrm>
          <a:prstGeom prst="line">
            <a:avLst/>
          </a:prstGeom>
          <a:ln w="28575">
            <a:solidFill>
              <a:srgbClr val="124944"/>
            </a:solidFill>
            <a:tailEnd type="triangle" w="med" len="med"/>
          </a:ln>
        </p:spPr>
      </p:cxnSp>
      <p:sp>
        <p:nvSpPr>
          <p:cNvPr id="34" name="Rounded Rectangle 33"/>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35" name="Connector 34"/>
          <p:cNvCxnSpPr/>
          <p:nvPr/>
        </p:nvCxnSpPr>
        <p:spPr>
          <a:xfrm>
            <a:off x="13839444" y="4438142"/>
            <a:ext cx="1033272" cy="0"/>
          </a:xfrm>
          <a:prstGeom prst="line">
            <a:avLst/>
          </a:prstGeom>
          <a:ln w="28575">
            <a:solidFill>
              <a:srgbClr val="124944"/>
            </a:solidFill>
            <a:tailEnd type="triangle" w="med" len="med"/>
          </a:ln>
        </p:spPr>
      </p:cxnSp>
      <p:sp>
        <p:nvSpPr>
          <p:cNvPr id="36" name="Rounded Rectangle 35"/>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37" name="Connector 36"/>
          <p:cNvCxnSpPr/>
          <p:nvPr/>
        </p:nvCxnSpPr>
        <p:spPr>
          <a:xfrm>
            <a:off x="1028700" y="5283962"/>
            <a:ext cx="16230600" cy="0"/>
          </a:xfrm>
          <a:prstGeom prst="line">
            <a:avLst/>
          </a:prstGeom>
          <a:ln w="50800">
            <a:solidFill>
              <a:srgbClr val="DF8330"/>
            </a:solidFill>
            <a:tailEnd type="triangle" w="med" len="med"/>
          </a:ln>
        </p:spPr>
      </p:cxnSp>
      <p:sp>
        <p:nvSpPr>
          <p:cNvPr id="38" name="TextBox 37"/>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The interpretability gap grows:</a:t>
            </a:r>
            <a:r>
              <a:rPr lang="en-US" sz="1800" b="true">
                <a:solidFill>
                  <a:srgbClr val="DF8330"/>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39" name="Rounded Rectangle 38"/>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gap matters</a:t>
            </a:r>
          </a:p>
        </p:txBody>
      </p:sp>
      <p:sp>
        <p:nvSpPr>
          <p:cNvPr id="41" name="TextBox 40"/>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42" name="Rounded Rectangle 41"/>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44" name="TextBox 43"/>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23" name="Picture 22" descr="image.png"/>
          <p:cNvPicPr>
            <a:picLocks noChangeAspect="1"/>
          </p:cNvPicPr>
          <p:nvPr/>
        </p:nvPicPr>
        <p:blipFill>
          <a:blip r:embed="rId3"/>
          <a:stretch>
            <a:fillRect/>
          </a:stretch>
        </p:blipFill>
        <p:spPr>
          <a:xfrm>
            <a:off x="12921990" y="1673352"/>
            <a:ext cx="457200" cy="617115"/>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Rounded Rectangle 26"/>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8" name="Rounded Rectangle 27"/>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9" name="TextBox 28"/>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30" name="TextBox 29"/>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31" name="Rounded Rectangle 30"/>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2" name="Rounded Rectangle 31"/>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3" name="TextBox 32"/>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4" name="TextBox 33"/>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5" name="Rounded Rectangle 34"/>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6" name="Rounded Rectangle 35"/>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7" name="TextBox 36"/>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8" name="TextBox 37"/>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9" name="Rounded Rectangle 38"/>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40" name="Rounded Rectangle 39"/>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41" name="TextBox 40"/>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42" name="TextBox 41"/>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3" name="Rounded Rectangle 42"/>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8" name="Oval 7"/>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The main approaches, their limitations and the five research questions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pic>
        <p:nvPicPr>
          <p:cNvPr id="23" name="Picture 22" descr="image.png"/>
          <p:cNvPicPr>
            <a:picLocks noChangeAspect="1"/>
          </p:cNvPicPr>
          <p:nvPr/>
        </p:nvPicPr>
        <p:blipFill>
          <a:blip r:embed="rId3"/>
          <a:stretch>
            <a:fillRect/>
          </a:stretch>
        </p:blipFill>
        <p:spPr>
          <a:xfrm>
            <a:off x="7401574" y="1673352"/>
            <a:ext cx="457200" cy="250983"/>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a:t>
            </a:r>
          </a:p>
        </p:txBody>
      </p:sp>
      <p:sp>
        <p:nvSpPr>
          <p:cNvPr id="32" name="Rounded Rectangle 31"/>
          <p:cNvSpPr/>
          <p:nvPr/>
        </p:nvSpPr>
        <p:spPr>
          <a:xfrm>
            <a:off x="925830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33" name="Connector 32"/>
          <p:cNvCxnSpPr/>
          <p:nvPr/>
        </p:nvCxnSpPr>
        <p:spPr>
          <a:xfrm>
            <a:off x="10876788" y="4552442"/>
            <a:ext cx="478536" cy="0"/>
          </a:xfrm>
          <a:prstGeom prst="line">
            <a:avLst/>
          </a:prstGeom>
          <a:ln w="28575">
            <a:solidFill>
              <a:srgbClr val="124944"/>
            </a:solidFill>
            <a:tailEnd type="triangle" w="med" len="med"/>
          </a:ln>
        </p:spPr>
      </p:cxnSp>
      <p:sp>
        <p:nvSpPr>
          <p:cNvPr id="34" name="Rounded Rectangle 33"/>
          <p:cNvSpPr/>
          <p:nvPr/>
        </p:nvSpPr>
        <p:spPr>
          <a:xfrm>
            <a:off x="1140104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35" name="Connector 34"/>
          <p:cNvCxnSpPr/>
          <p:nvPr/>
        </p:nvCxnSpPr>
        <p:spPr>
          <a:xfrm>
            <a:off x="13019532" y="4552442"/>
            <a:ext cx="478536" cy="0"/>
          </a:xfrm>
          <a:prstGeom prst="line">
            <a:avLst/>
          </a:prstGeom>
          <a:ln w="28575">
            <a:solidFill>
              <a:srgbClr val="124944"/>
            </a:solidFill>
            <a:tailEnd type="triangle" w="med" len="med"/>
          </a:ln>
        </p:spPr>
      </p:cxnSp>
      <p:sp>
        <p:nvSpPr>
          <p:cNvPr id="36" name="Rounded Rectangle 35"/>
          <p:cNvSpPr/>
          <p:nvPr/>
        </p:nvSpPr>
        <p:spPr>
          <a:xfrm>
            <a:off x="1354378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37" name="Connector 36"/>
          <p:cNvCxnSpPr/>
          <p:nvPr/>
        </p:nvCxnSpPr>
        <p:spPr>
          <a:xfrm>
            <a:off x="15162276" y="4552442"/>
            <a:ext cx="478536" cy="0"/>
          </a:xfrm>
          <a:prstGeom prst="line">
            <a:avLst/>
          </a:prstGeom>
          <a:ln w="28575">
            <a:solidFill>
              <a:srgbClr val="124944"/>
            </a:solidFill>
            <a:tailEnd type="triangle" w="med" len="med"/>
          </a:ln>
        </p:spPr>
      </p:cxnSp>
      <p:sp>
        <p:nvSpPr>
          <p:cNvPr id="38" name="Rounded Rectangle 37"/>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39" name="TextBox 38"/>
          <p:cNvSpPr txBox="1"/>
          <p:nvPr/>
        </p:nvSpPr>
        <p:spPr>
          <a:xfrm>
            <a:off x="9258300" y="5512562"/>
            <a:ext cx="800100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suggest films with a similar genre, cast or keywords</a:t>
            </a:r>
          </a:p>
        </p:txBody>
      </p:sp>
      <p:sp>
        <p:nvSpPr>
          <p:cNvPr id="40" name="Rounded Rectangle 39"/>
          <p:cNvSpPr/>
          <p:nvPr/>
        </p:nvSpPr>
        <p:spPr>
          <a:xfrm>
            <a:off x="925830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1" name="Rounded Rectangle 40"/>
          <p:cNvSpPr/>
          <p:nvPr/>
        </p:nvSpPr>
        <p:spPr>
          <a:xfrm>
            <a:off x="971550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42" name="TextBox 41"/>
          <p:cNvSpPr txBox="1"/>
          <p:nvPr/>
        </p:nvSpPr>
        <p:spPr>
          <a:xfrm>
            <a:off x="953262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43" name="Rounded Rectangle 42"/>
          <p:cNvSpPr/>
          <p:nvPr/>
        </p:nvSpPr>
        <p:spPr>
          <a:xfrm>
            <a:off x="1339596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45" name="TextBox 44"/>
          <p:cNvSpPr txBox="1"/>
          <p:nvPr/>
        </p:nvSpPr>
        <p:spPr>
          <a:xfrm>
            <a:off x="1367028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a:t>
            </a:r>
            <a:r>
              <a:rPr lang="en-US" sz="1500" b="true" baseline="-25000">
                <a:solidFill>
                  <a:srgbClr val="111111"/>
                </a:solidFill>
                <a:latin typeface="Nunito Bold"/>
                <a:ea typeface="Nunito Bold"/>
                <a:cs typeface="Nunito Bold"/>
                <a:sym typeface="Nunito Bold"/>
              </a:rPr>
              <a:t>user</a:t>
            </a:r>
            <a:r>
              <a:rPr lang="en-US" sz="1500" b="true">
                <a:solidFill>
                  <a:srgbClr val="111111"/>
                </a:solidFill>
                <a:latin typeface="Nunito Bold"/>
                <a:ea typeface="Nunito Bold"/>
                <a:cs typeface="Nunito Bold"/>
                <a:sym typeface="Nunito Bold"/>
              </a:rPr>
              <a:t>, f</a:t>
            </a:r>
            <a:r>
              <a:rPr lang="en-US" sz="1500" b="true" baseline="-25000">
                <a:solidFill>
                  <a:srgbClr val="111111"/>
                </a:solidFill>
                <a:latin typeface="Nunito Bold"/>
                <a:ea typeface="Nunito Bold"/>
                <a:cs typeface="Nunito Bold"/>
                <a:sym typeface="Nunito Bold"/>
              </a:rPr>
              <a:t>item</a:t>
            </a:r>
            <a:r>
              <a:rPr lang="en-US" sz="1500" b="true">
                <a:solidFill>
                  <a:srgbClr val="111111"/>
                </a:solidFill>
                <a:latin typeface="Nunito Bold"/>
                <a:ea typeface="Nunito Bold"/>
                <a:cs typeface="Nunito Bold"/>
                <a:sym typeface="Nunito Bold"/>
              </a:rPr>
              <a:t>)</a:t>
            </a:r>
          </a:p>
        </p:txBody>
      </p:sp>
      <p:sp>
        <p:nvSpPr>
          <p:cNvPr id="46" name="Rounded Rectangle 45"/>
          <p:cNvSpPr/>
          <p:nvPr/>
        </p:nvSpPr>
        <p:spPr>
          <a:xfrm>
            <a:off x="9258300" y="8210042"/>
            <a:ext cx="8001000" cy="1007110"/>
          </a:xfrm>
          <a:prstGeom prst="roundRect">
            <a:avLst>
              <a:gd name="adj" fmla="val 22698"/>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Explainable because the factors are </a:t>
            </a:r>
            <a:r>
              <a:rPr lang="en-US" sz="1600" b="true">
                <a:solidFill>
                  <a:srgbClr val="FFFFFF"/>
                </a:solidFill>
                <a:latin typeface="Nunito Bold"/>
                <a:ea typeface="Nunito Bold"/>
                <a:cs typeface="Nunito Bold"/>
                <a:sym typeface="Nunito Bold"/>
              </a:rPr>
              <a:t>domain-level and can be changed</a:t>
            </a:r>
            <a:r>
              <a:rPr lang="en-US" sz="1600" b="true">
                <a:solidFill>
                  <a:srgbClr val="FFFFFF"/>
                </a:solidFill>
                <a:latin typeface="Nunito Semi-Bold"/>
                <a:ea typeface="Nunito Semi-Bold"/>
                <a:cs typeface="Nunito Semi-Bold"/>
                <a:sym typeface="Nunito Semi-Bold"/>
              </a:rPr>
              <a:t>: exactly what is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pic>
        <p:nvPicPr>
          <p:cNvPr id="23" name="Picture 22" descr="image.png"/>
          <p:cNvPicPr>
            <a:picLocks noChangeAspect="1"/>
          </p:cNvPicPr>
          <p:nvPr/>
        </p:nvPicPr>
        <p:blipFill>
          <a:blip r:embed="rId3"/>
          <a:stretch>
            <a:fillRect/>
          </a:stretch>
        </p:blipFill>
        <p:spPr>
          <a:xfrm>
            <a:off x="7040539" y="1673352"/>
            <a:ext cx="457200" cy="539881"/>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USER-BASED  ·  ITEM-BASED</a:t>
            </a:r>
          </a:p>
        </p:txBody>
      </p:sp>
      <p:sp>
        <p:nvSpPr>
          <p:cNvPr id="32" name="Oval 31"/>
          <p:cNvSpPr/>
          <p:nvPr/>
        </p:nvSpPr>
        <p:spPr>
          <a:xfrm>
            <a:off x="10081260" y="427812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u1</a:t>
            </a:r>
          </a:p>
        </p:txBody>
      </p:sp>
      <p:sp>
        <p:nvSpPr>
          <p:cNvPr id="33" name="Oval 32"/>
          <p:cNvSpPr/>
          <p:nvPr/>
        </p:nvSpPr>
        <p:spPr>
          <a:xfrm>
            <a:off x="10081260" y="532968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u2</a:t>
            </a:r>
          </a:p>
        </p:txBody>
      </p:sp>
      <p:sp>
        <p:nvSpPr>
          <p:cNvPr id="34" name="Oval 33"/>
          <p:cNvSpPr/>
          <p:nvPr/>
        </p:nvSpPr>
        <p:spPr>
          <a:xfrm>
            <a:off x="10081260" y="638124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u3</a:t>
            </a:r>
          </a:p>
        </p:txBody>
      </p:sp>
      <p:sp>
        <p:nvSpPr>
          <p:cNvPr id="35" name="Rounded Rectangle 34"/>
          <p:cNvSpPr/>
          <p:nvPr/>
        </p:nvSpPr>
        <p:spPr>
          <a:xfrm>
            <a:off x="16162020" y="400380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6162020" y="400380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i1</a:t>
            </a:r>
          </a:p>
        </p:txBody>
      </p:sp>
      <p:sp>
        <p:nvSpPr>
          <p:cNvPr id="37" name="Rounded Rectangle 36"/>
          <p:cNvSpPr/>
          <p:nvPr/>
        </p:nvSpPr>
        <p:spPr>
          <a:xfrm>
            <a:off x="16162020" y="482676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16162020" y="482676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i2</a:t>
            </a:r>
          </a:p>
        </p:txBody>
      </p:sp>
      <p:sp>
        <p:nvSpPr>
          <p:cNvPr id="39" name="Rounded Rectangle 38"/>
          <p:cNvSpPr/>
          <p:nvPr/>
        </p:nvSpPr>
        <p:spPr>
          <a:xfrm>
            <a:off x="16162020" y="564972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0" name="TextBox 39"/>
          <p:cNvSpPr txBox="1"/>
          <p:nvPr/>
        </p:nvSpPr>
        <p:spPr>
          <a:xfrm>
            <a:off x="16162020" y="564972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i3</a:t>
            </a:r>
          </a:p>
        </p:txBody>
      </p:sp>
      <p:sp>
        <p:nvSpPr>
          <p:cNvPr id="41" name="Rounded Rectangle 40"/>
          <p:cNvSpPr/>
          <p:nvPr/>
        </p:nvSpPr>
        <p:spPr>
          <a:xfrm>
            <a:off x="16162020" y="647268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2" name="TextBox 41"/>
          <p:cNvSpPr txBox="1"/>
          <p:nvPr/>
        </p:nvSpPr>
        <p:spPr>
          <a:xfrm>
            <a:off x="16162020" y="647268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i4</a:t>
            </a:r>
          </a:p>
        </p:txBody>
      </p:sp>
      <p:cxnSp>
        <p:nvCxnSpPr>
          <p:cNvPr id="43" name="Connector 42"/>
          <p:cNvCxnSpPr/>
          <p:nvPr/>
        </p:nvCxnSpPr>
        <p:spPr>
          <a:xfrm flipV="1">
            <a:off x="10767060" y="4323842"/>
            <a:ext cx="5394960" cy="297180"/>
          </a:xfrm>
          <a:prstGeom prst="line">
            <a:avLst/>
          </a:prstGeom>
          <a:ln w="22225">
            <a:solidFill>
              <a:srgbClr val="124944"/>
            </a:solidFill>
          </a:ln>
        </p:spPr>
      </p:cxnSp>
      <p:cxnSp>
        <p:nvCxnSpPr>
          <p:cNvPr id="44" name="Connector 43"/>
          <p:cNvCxnSpPr/>
          <p:nvPr/>
        </p:nvCxnSpPr>
        <p:spPr>
          <a:xfrm>
            <a:off x="10767060" y="4621022"/>
            <a:ext cx="5394960" cy="525780"/>
          </a:xfrm>
          <a:prstGeom prst="line">
            <a:avLst/>
          </a:prstGeom>
          <a:ln w="22225">
            <a:solidFill>
              <a:srgbClr val="124944"/>
            </a:solidFill>
          </a:ln>
        </p:spPr>
      </p:cxnSp>
      <p:cxnSp>
        <p:nvCxnSpPr>
          <p:cNvPr id="45" name="Connector 44"/>
          <p:cNvCxnSpPr/>
          <p:nvPr/>
        </p:nvCxnSpPr>
        <p:spPr>
          <a:xfrm flipV="1">
            <a:off x="10767060" y="4323842"/>
            <a:ext cx="5394960" cy="1348740"/>
          </a:xfrm>
          <a:prstGeom prst="line">
            <a:avLst/>
          </a:prstGeom>
          <a:ln w="22225">
            <a:solidFill>
              <a:srgbClr val="124944"/>
            </a:solidFill>
          </a:ln>
        </p:spPr>
      </p:cxnSp>
      <p:cxnSp>
        <p:nvCxnSpPr>
          <p:cNvPr id="46" name="Connector 45"/>
          <p:cNvCxnSpPr/>
          <p:nvPr/>
        </p:nvCxnSpPr>
        <p:spPr>
          <a:xfrm flipV="1">
            <a:off x="10767060" y="5146802"/>
            <a:ext cx="5394960" cy="525780"/>
          </a:xfrm>
          <a:prstGeom prst="line">
            <a:avLst/>
          </a:prstGeom>
          <a:ln w="22225">
            <a:solidFill>
              <a:srgbClr val="124944"/>
            </a:solidFill>
          </a:ln>
        </p:spPr>
      </p:cxnSp>
      <p:cxnSp>
        <p:nvCxnSpPr>
          <p:cNvPr id="47" name="Connector 46"/>
          <p:cNvCxnSpPr/>
          <p:nvPr/>
        </p:nvCxnSpPr>
        <p:spPr>
          <a:xfrm>
            <a:off x="10767060" y="5672582"/>
            <a:ext cx="5394960" cy="297180"/>
          </a:xfrm>
          <a:prstGeom prst="line">
            <a:avLst/>
          </a:prstGeom>
          <a:ln w="22225">
            <a:solidFill>
              <a:srgbClr val="124944"/>
            </a:solidFill>
          </a:ln>
        </p:spPr>
      </p:cxnSp>
      <p:cxnSp>
        <p:nvCxnSpPr>
          <p:cNvPr id="48" name="Connector 47"/>
          <p:cNvCxnSpPr/>
          <p:nvPr/>
        </p:nvCxnSpPr>
        <p:spPr>
          <a:xfrm flipV="1">
            <a:off x="10767060" y="5969762"/>
            <a:ext cx="5394960" cy="754380"/>
          </a:xfrm>
          <a:prstGeom prst="line">
            <a:avLst/>
          </a:prstGeom>
          <a:ln w="22225">
            <a:solidFill>
              <a:srgbClr val="124944"/>
            </a:solidFill>
          </a:ln>
        </p:spPr>
      </p:cxnSp>
      <p:cxnSp>
        <p:nvCxnSpPr>
          <p:cNvPr id="49" name="Connector 48"/>
          <p:cNvCxnSpPr/>
          <p:nvPr/>
        </p:nvCxnSpPr>
        <p:spPr>
          <a:xfrm>
            <a:off x="10767060" y="6724142"/>
            <a:ext cx="5394960" cy="68580"/>
          </a:xfrm>
          <a:prstGeom prst="line">
            <a:avLst/>
          </a:prstGeom>
          <a:ln w="22225">
            <a:solidFill>
              <a:srgbClr val="124944"/>
            </a:solidFill>
          </a:ln>
        </p:spPr>
      </p:cxnSp>
      <p:cxnSp>
        <p:nvCxnSpPr>
          <p:cNvPr id="50" name="Connector 49"/>
          <p:cNvCxnSpPr/>
          <p:nvPr/>
        </p:nvCxnSpPr>
        <p:spPr>
          <a:xfrm>
            <a:off x="10767060" y="4621022"/>
            <a:ext cx="5394960" cy="1348740"/>
          </a:xfrm>
          <a:prstGeom prst="line">
            <a:avLst/>
          </a:prstGeom>
          <a:ln w="31750">
            <a:solidFill>
              <a:srgbClr val="DF8330"/>
            </a:solidFill>
            <a:prstDash val="dash"/>
          </a:ln>
        </p:spPr>
      </p:cxnSp>
      <p:sp>
        <p:nvSpPr>
          <p:cNvPr id="51" name="TextBox 50"/>
          <p:cNvSpPr txBox="1"/>
          <p:nvPr/>
        </p:nvSpPr>
        <p:spPr>
          <a:xfrm>
            <a:off x="9258300" y="7432802"/>
            <a:ext cx="8001000" cy="41148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Semi-Bold"/>
                <a:ea typeface="Nunito Semi-Bold"/>
                <a:cs typeface="Nunito Semi-Bold"/>
                <a:sym typeface="Nunito Semi-Bold"/>
              </a:rPr>
              <a:t>u1 behaves like u2  </a:t>
            </a:r>
            <a:r>
              <a:rPr lang="en-US" sz="1600" b="true">
                <a:solidFill>
                  <a:srgbClr val="111111"/>
                </a:solidFill>
                <a:latin typeface="Calibri"/>
                <a:ea typeface="Calibri"/>
                <a:cs typeface="Calibri"/>
                <a:sym typeface="Calibri"/>
              </a:rPr>
              <a:t>→  </a:t>
            </a:r>
            <a:r>
              <a:rPr lang="en-US" sz="1600" b="true">
                <a:solidFill>
                  <a:srgbClr val="111111"/>
                </a:solidFill>
                <a:latin typeface="Nunito Bold"/>
                <a:ea typeface="Nunito Bold"/>
                <a:cs typeface="Nunito Bold"/>
                <a:sym typeface="Nunito Bold"/>
              </a:rPr>
              <a:t>recommend i3 to u1</a:t>
            </a:r>
            <a:r>
              <a:rPr lang="en-US" sz="1600" b="true">
                <a:solidFill>
                  <a:srgbClr val="111111"/>
                </a:solidFill>
                <a:latin typeface="Nunito Semi-Bold"/>
                <a:ea typeface="Nunito Semi-Bold"/>
                <a:cs typeface="Nunito Semi-Bold"/>
                <a:sym typeface="Nunito Semi-Bold"/>
              </a:rPr>
              <a:t> (dashed)</a:t>
            </a:r>
          </a:p>
        </p:txBody>
      </p:sp>
      <p:sp>
        <p:nvSpPr>
          <p:cNvPr id="52" name="Rounded Rectangle 51"/>
          <p:cNvSpPr/>
          <p:nvPr/>
        </p:nvSpPr>
        <p:spPr>
          <a:xfrm>
            <a:off x="925830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3" name="Rounded Rectangle 52"/>
          <p:cNvSpPr/>
          <p:nvPr/>
        </p:nvSpPr>
        <p:spPr>
          <a:xfrm>
            <a:off x="9715500" y="7926578"/>
            <a:ext cx="164198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User-based</a:t>
            </a:r>
          </a:p>
        </p:txBody>
      </p:sp>
      <p:sp>
        <p:nvSpPr>
          <p:cNvPr id="54" name="TextBox 53"/>
          <p:cNvSpPr txBox="1"/>
          <p:nvPr/>
        </p:nvSpPr>
        <p:spPr>
          <a:xfrm>
            <a:off x="948690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similar users </a:t>
            </a:r>
            <a:r>
              <a:rPr lang="en-US" sz="1400" b="true">
                <a:solidFill>
                  <a:srgbClr val="111111"/>
                </a:solidFill>
                <a:latin typeface="Calibri"/>
                <a:ea typeface="Calibri"/>
                <a:cs typeface="Calibri"/>
                <a:sym typeface="Calibri"/>
              </a:rPr>
              <a:t>→ </a:t>
            </a:r>
            <a:r>
              <a:rPr lang="en-US" sz="1400" b="true">
                <a:solidFill>
                  <a:srgbClr val="111111"/>
                </a:solidFill>
                <a:latin typeface="Nunito Semi-Bold"/>
                <a:ea typeface="Nunito Semi-Bold"/>
                <a:cs typeface="Nunito Semi-Bold"/>
                <a:sym typeface="Nunito Semi-Bold"/>
              </a:rPr>
              <a:t>their liked items</a:t>
            </a:r>
          </a:p>
        </p:txBody>
      </p:sp>
      <p:sp>
        <p:nvSpPr>
          <p:cNvPr id="55" name="Rounded Rectangle 54"/>
          <p:cNvSpPr/>
          <p:nvPr/>
        </p:nvSpPr>
        <p:spPr>
          <a:xfrm>
            <a:off x="1339596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6" name="Rounded Rectangle 55"/>
          <p:cNvSpPr/>
          <p:nvPr/>
        </p:nvSpPr>
        <p:spPr>
          <a:xfrm>
            <a:off x="13853160" y="7926578"/>
            <a:ext cx="162824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Item-based</a:t>
            </a:r>
          </a:p>
        </p:txBody>
      </p:sp>
      <p:sp>
        <p:nvSpPr>
          <p:cNvPr id="57" name="TextBox 56"/>
          <p:cNvSpPr txBox="1"/>
          <p:nvPr/>
        </p:nvSpPr>
        <p:spPr>
          <a:xfrm>
            <a:off x="1362456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items co-liked with the user's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pic>
        <p:nvPicPr>
          <p:cNvPr id="23" name="Picture 22" descr="image.png"/>
          <p:cNvPicPr>
            <a:picLocks noChangeAspect="1"/>
          </p:cNvPicPr>
          <p:nvPr/>
        </p:nvPicPr>
        <p:blipFill>
          <a:blip r:embed="rId3"/>
          <a:stretch>
            <a:fillRect/>
          </a:stretch>
        </p:blipFill>
        <p:spPr>
          <a:xfrm>
            <a:off x="12801265" y="1673352"/>
            <a:ext cx="457200" cy="373212"/>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HYBRID  ·  MATRIX FACTORISATION</a:t>
            </a:r>
          </a:p>
        </p:txBody>
      </p:sp>
      <p:sp>
        <p:nvSpPr>
          <p:cNvPr id="32" name="Rounded Rectangle 31"/>
          <p:cNvSpPr/>
          <p:nvPr/>
        </p:nvSpPr>
        <p:spPr>
          <a:xfrm>
            <a:off x="9258300" y="3958082"/>
            <a:ext cx="3863340" cy="914400"/>
          </a:xfrm>
          <a:prstGeom prst="roundRect">
            <a:avLst>
              <a:gd name="adj" fmla="val 22000"/>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Content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features · metadata</a:t>
            </a:r>
          </a:p>
        </p:txBody>
      </p:sp>
      <p:sp>
        <p:nvSpPr>
          <p:cNvPr id="33" name="Rounded Rectangle 32"/>
          <p:cNvSpPr/>
          <p:nvPr/>
        </p:nvSpPr>
        <p:spPr>
          <a:xfrm>
            <a:off x="13395960" y="3958082"/>
            <a:ext cx="3863340" cy="914400"/>
          </a:xfrm>
          <a:prstGeom prst="roundRect">
            <a:avLst>
              <a:gd name="adj" fmla="val 22000"/>
            </a:avLst>
          </a:prstGeom>
          <a:solidFill>
            <a:srgbClr val="1E5F58"/>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Collaborative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ratings · clicks</a:t>
            </a:r>
          </a:p>
        </p:txBody>
      </p:sp>
      <p:cxnSp>
        <p:nvCxnSpPr>
          <p:cNvPr id="34" name="Connector 33"/>
          <p:cNvCxnSpPr/>
          <p:nvPr/>
        </p:nvCxnSpPr>
        <p:spPr>
          <a:xfrm>
            <a:off x="11189970" y="4872482"/>
            <a:ext cx="1794510" cy="411480"/>
          </a:xfrm>
          <a:prstGeom prst="line">
            <a:avLst/>
          </a:prstGeom>
          <a:ln w="31750">
            <a:solidFill>
              <a:srgbClr val="124944"/>
            </a:solidFill>
            <a:tailEnd type="triangle" w="med" len="med"/>
          </a:ln>
        </p:spPr>
      </p:cxnSp>
      <p:cxnSp>
        <p:nvCxnSpPr>
          <p:cNvPr id="35" name="Connector 34"/>
          <p:cNvCxnSpPr/>
          <p:nvPr/>
        </p:nvCxnSpPr>
        <p:spPr>
          <a:xfrm flipH="1">
            <a:off x="13533120" y="4872482"/>
            <a:ext cx="1794510" cy="411480"/>
          </a:xfrm>
          <a:prstGeom prst="line">
            <a:avLst/>
          </a:prstGeom>
          <a:ln w="31750">
            <a:solidFill>
              <a:srgbClr val="124944"/>
            </a:solidFill>
            <a:tailEnd type="triangle" w="med" len="med"/>
          </a:ln>
        </p:spPr>
      </p:cxnSp>
      <p:sp>
        <p:nvSpPr>
          <p:cNvPr id="36" name="Rounded Rectangle 35"/>
          <p:cNvSpPr/>
          <p:nvPr/>
        </p:nvSpPr>
        <p:spPr>
          <a:xfrm>
            <a:off x="11430000" y="5283962"/>
            <a:ext cx="3657600" cy="868680"/>
          </a:xfrm>
          <a:prstGeom prst="roundRect">
            <a:avLst>
              <a:gd name="adj" fmla="val 23157"/>
            </a:avLst>
          </a:prstGeom>
          <a:solidFill>
            <a:srgbClr val="DF8330"/>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Hybrid recommender</a:t>
            </a:r>
          </a:p>
        </p:txBody>
      </p:sp>
      <p:sp>
        <p:nvSpPr>
          <p:cNvPr id="37" name="TextBox 36"/>
          <p:cNvSpPr txBox="1"/>
          <p:nvPr/>
        </p:nvSpPr>
        <p:spPr>
          <a:xfrm>
            <a:off x="9258300" y="6609842"/>
            <a:ext cx="8001000" cy="365760"/>
          </a:xfrm>
          <a:prstGeom prst="rect">
            <a:avLst/>
          </a:prstGeom>
          <a:noFill/>
        </p:spPr>
        <p:txBody>
          <a:bodyPr anchor="t" rtlCol="false" lIns="0" tIns="0" rIns="0" bIns="0" wrap="square"/>
          <a:lstStyle/>
          <a:p>
            <a:pPr algn="ctr">
              <a:lnSpc>
                <a:spcPts val="1600"/>
              </a:lnSpc>
              <a:spcBef>
                <a:spcPts val="0"/>
              </a:spcBef>
              <a:buNone/>
            </a:pPr>
            <a:r>
              <a:rPr lang="en-US" sz="1300" b="true" spc="140">
                <a:solidFill>
                  <a:srgbClr val="124944"/>
                </a:solidFill>
                <a:latin typeface="Nunito Ultra-Bold"/>
                <a:ea typeface="Nunito Ultra-Bold"/>
                <a:cs typeface="Nunito Ultra-Bold"/>
                <a:sym typeface="Nunito Ultra-Bold"/>
              </a:rPr>
              <a:t>MATRIX FACTORISATION</a:t>
            </a:r>
          </a:p>
        </p:txBody>
      </p:sp>
      <mc:AlternateContent xmlns:mc="http://schemas.openxmlformats.org/markup-compatibility/2006">
        <mc:Choice xmlns:a14="http://schemas.microsoft.com/office/drawing/2010/main" Requires="a14">
          <p:sp>
            <p:nvSpPr>
              <p:cNvPr id="38" name="Equation"/>
              <p:cNvSpPr txBox="1"/>
              <p:nvPr/>
            </p:nvSpPr>
            <p:spPr>
              <a:xfrm>
                <a:off x="9258300" y="6975602"/>
                <a:ext cx="8001000" cy="8229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R</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n</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Sub>
                      <m:r>
                        <m:rPr>
                          <m:sty m:val="p"/>
                        </m:rPr>
                        <a:rPr lang="en-US" sz="2200">
                          <a:solidFill>
                            <a:srgbClr val="111111"/>
                          </a:solidFill>
                          <a:latin typeface="Cambria Math" panose="02040503050406030204" pitchFamily="18" charset="0"/>
                        </a:rPr>
                        <m:t xml:space="preserve"> </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n</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up>
                          <m:r>
                            <m:rPr>
                              <m:sty m:val="p"/>
                            </m:rPr>
                            <a:rPr lang="en-US" sz="2200">
                              <a:solidFill>
                                <a:srgbClr val="111111"/>
                              </a:solidFill>
                              <a:latin typeface="Cambria Math" panose="02040503050406030204" pitchFamily="18" charset="0"/>
                            </a:rPr>
                            <m:t xml:space="preserve">⊤</m:t>
                          </m:r>
                        </m:sup>
                      </m:sSubSup>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r</m:t>
                              </m:r>
                            </m:e>
                          </m:acc>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u</m:t>
                          </m:r>
                        </m:sub>
                        <m:sup>
                          <m:r>
                            <m:rPr>
                              <m:sty m:val="p"/>
                            </m:rPr>
                            <a:rPr lang="en-US" sz="2200">
                              <a:solidFill>
                                <a:srgbClr val="111111"/>
                              </a:solidFill>
                              <a:latin typeface="Cambria Math" panose="02040503050406030204" pitchFamily="18" charset="0"/>
                            </a:rPr>
                            <m:t xml:space="preserve">⊤</m:t>
                          </m:r>
                        </m:sup>
                      </m:sSubSup>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i</m:t>
                          </m:r>
                        </m:sub>
                      </m:sSub>
                    </m:oMath>
                  </m:oMathPara>
                </a14:m>
                <a:endParaRPr lang="en-US" sz="2200"/>
              </a:p>
            </p:txBody>
          </p:sp>
        </mc:Choice>
        <mc:Fallback>
          <p:sp>
            <p:nvSpPr>
              <p:cNvPr id="38" name="Equation"/>
              <p:cNvSpPr txBox="1"/>
              <p:nvPr/>
            </p:nvSpPr>
            <p:spPr>
              <a:xfrm>
                <a:off x="9258300" y="6975602"/>
                <a:ext cx="8001000" cy="822960"/>
              </a:xfrm>
              <a:prstGeom prst="rect">
                <a:avLst/>
              </a:prstGeom>
              <a:blipFill>
                <a:blip r:embed="rId5"/>
                <a:stretch>
                  <a:fillRect/>
                </a:stretch>
              </a:blipFill>
            </p:spPr>
            <p:txBody>
              <a:bodyPr/>
              <a:lstStyle/>
              <a:p>
                <a:endParaRPr lang="en-US"/>
              </a:p>
            </p:txBody>
          </p:sp>
        </mc:Fallback>
      </mc:AlternateContent>
      <p:sp>
        <p:nvSpPr>
          <p:cNvPr id="39" name="Rounded Rectangle 38"/>
          <p:cNvSpPr/>
          <p:nvPr/>
        </p:nvSpPr>
        <p:spPr>
          <a:xfrm>
            <a:off x="9258300" y="7935722"/>
            <a:ext cx="8001000" cy="1281430"/>
          </a:xfrm>
          <a:prstGeom prst="roundRect">
            <a:avLst>
              <a:gd name="adj" fmla="val 17839"/>
            </a:avLst>
          </a:prstGeom>
          <a:solidFill>
            <a:srgbClr val="F6ECDF"/>
          </a:solidFill>
          <a:ln>
            <a:noFill/>
          </a:ln>
        </p:spPr>
        <p:txBody>
          <a:bodyPr anchor="ctr" rtlCol="false" lIns="320040" tIns="91440" rIns="320040" bIns="91440" wrap="square"/>
          <a:lstStyle/>
          <a:p>
            <a:pPr algn="ctr">
              <a:lnSpc>
                <a:spcPts val="2100"/>
              </a:lnSpc>
              <a:spcBef>
                <a:spcPts val="0"/>
              </a:spcBef>
              <a:buNone/>
            </a:pPr>
            <a:r>
              <a:rPr lang="en-US" sz="1600" b="true">
                <a:solidFill>
                  <a:srgbClr val="111111"/>
                </a:solidFill>
                <a:latin typeface="Nunito Semi-Bold"/>
                <a:ea typeface="Nunito Semi-Bold"/>
                <a:cs typeface="Nunito Semi-Bold"/>
                <a:sym typeface="Nunito Semi-Bold"/>
              </a:rPr>
              <a:t>Compact and effective, but the </a:t>
            </a:r>
            <a:r>
              <a:rPr lang="en-US" sz="1600" b="true">
                <a:solidFill>
                  <a:srgbClr val="111111"/>
                </a:solidFill>
                <a:latin typeface="Nunito Bold"/>
                <a:ea typeface="Nunito Bold"/>
                <a:cs typeface="Nunito Bold"/>
                <a:sym typeface="Nunito Bold"/>
              </a:rPr>
              <a:t>k latent factors have no readable meaning</a:t>
            </a:r>
            <a:r>
              <a:rPr lang="en-US" sz="1600" b="true">
                <a:solidFill>
                  <a:srgbClr val="111111"/>
                </a:solidFill>
                <a:latin typeface="Nunito Semi-Bold"/>
                <a:ea typeface="Nunito Semi-Bold"/>
                <a:cs typeface="Nunito Semi-Bold"/>
                <a:sym typeface="Nunito Semi-Bold"/>
              </a:rPr>
              <a:t>: this is where the interpretability gap starts.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pic>
        <p:nvPicPr>
          <p:cNvPr id="23" name="Picture 22" descr="image.png"/>
          <p:cNvPicPr>
            <a:picLocks noChangeAspect="1"/>
          </p:cNvPicPr>
          <p:nvPr/>
        </p:nvPicPr>
        <p:blipFill>
          <a:blip r:embed="rId3"/>
          <a:stretch>
            <a:fillRect/>
          </a:stretch>
        </p:blipFill>
        <p:spPr>
          <a:xfrm>
            <a:off x="13302882" y="1673352"/>
            <a:ext cx="457200" cy="427074"/>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GRAPH  ·  HYPERGRAPH</a:t>
            </a:r>
          </a:p>
        </p:txBody>
      </p:sp>
      <p:sp>
        <p:nvSpPr>
          <p:cNvPr id="32" name="Rounded Rectangle 31"/>
          <p:cNvSpPr/>
          <p:nvPr/>
        </p:nvSpPr>
        <p:spPr>
          <a:xfrm>
            <a:off x="925830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15500" y="3903218"/>
            <a:ext cx="2690762"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Graph: pairwise edges</a:t>
            </a:r>
          </a:p>
        </p:txBody>
      </p:sp>
      <p:cxnSp>
        <p:nvCxnSpPr>
          <p:cNvPr id="34" name="Connector 33"/>
          <p:cNvCxnSpPr/>
          <p:nvPr/>
        </p:nvCxnSpPr>
        <p:spPr>
          <a:xfrm flipV="1">
            <a:off x="10367010" y="4735322"/>
            <a:ext cx="1645920" cy="274320"/>
          </a:xfrm>
          <a:prstGeom prst="line">
            <a:avLst/>
          </a:prstGeom>
          <a:ln w="22225">
            <a:solidFill>
              <a:srgbClr val="124944"/>
            </a:solidFill>
          </a:ln>
        </p:spPr>
      </p:cxnSp>
      <p:cxnSp>
        <p:nvCxnSpPr>
          <p:cNvPr id="35" name="Connector 34"/>
          <p:cNvCxnSpPr/>
          <p:nvPr/>
        </p:nvCxnSpPr>
        <p:spPr>
          <a:xfrm>
            <a:off x="10367010" y="5009642"/>
            <a:ext cx="1645920" cy="822960"/>
          </a:xfrm>
          <a:prstGeom prst="line">
            <a:avLst/>
          </a:prstGeom>
          <a:ln w="22225">
            <a:solidFill>
              <a:srgbClr val="124944"/>
            </a:solidFill>
          </a:ln>
        </p:spPr>
      </p:cxnSp>
      <p:cxnSp>
        <p:nvCxnSpPr>
          <p:cNvPr id="36" name="Connector 35"/>
          <p:cNvCxnSpPr/>
          <p:nvPr/>
        </p:nvCxnSpPr>
        <p:spPr>
          <a:xfrm flipV="1">
            <a:off x="10367010" y="5832602"/>
            <a:ext cx="1645920" cy="548640"/>
          </a:xfrm>
          <a:prstGeom prst="line">
            <a:avLst/>
          </a:prstGeom>
          <a:ln w="22225">
            <a:solidFill>
              <a:srgbClr val="124944"/>
            </a:solidFill>
          </a:ln>
        </p:spPr>
      </p:cxnSp>
      <p:cxnSp>
        <p:nvCxnSpPr>
          <p:cNvPr id="37" name="Connector 36"/>
          <p:cNvCxnSpPr/>
          <p:nvPr/>
        </p:nvCxnSpPr>
        <p:spPr>
          <a:xfrm>
            <a:off x="10367010" y="6381242"/>
            <a:ext cx="1645920" cy="548640"/>
          </a:xfrm>
          <a:prstGeom prst="line">
            <a:avLst/>
          </a:prstGeom>
          <a:ln w="22225">
            <a:solidFill>
              <a:srgbClr val="124944"/>
            </a:solidFill>
          </a:ln>
        </p:spPr>
      </p:cxnSp>
      <p:sp>
        <p:nvSpPr>
          <p:cNvPr id="38" name="Oval 37"/>
          <p:cNvSpPr/>
          <p:nvPr/>
        </p:nvSpPr>
        <p:spPr>
          <a:xfrm>
            <a:off x="10110978" y="47536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39" name="Oval 38"/>
          <p:cNvSpPr/>
          <p:nvPr/>
        </p:nvSpPr>
        <p:spPr>
          <a:xfrm>
            <a:off x="11756898" y="447929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i1</a:t>
            </a:r>
          </a:p>
        </p:txBody>
      </p:sp>
      <p:sp>
        <p:nvSpPr>
          <p:cNvPr id="40" name="Oval 39"/>
          <p:cNvSpPr/>
          <p:nvPr/>
        </p:nvSpPr>
        <p:spPr>
          <a:xfrm>
            <a:off x="11756898" y="557657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i2</a:t>
            </a:r>
          </a:p>
        </p:txBody>
      </p:sp>
      <p:sp>
        <p:nvSpPr>
          <p:cNvPr id="41" name="Oval 40"/>
          <p:cNvSpPr/>
          <p:nvPr/>
        </p:nvSpPr>
        <p:spPr>
          <a:xfrm>
            <a:off x="10110978" y="61252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u2</a:t>
            </a:r>
          </a:p>
        </p:txBody>
      </p:sp>
      <p:sp>
        <p:nvSpPr>
          <p:cNvPr id="42" name="Oval 41"/>
          <p:cNvSpPr/>
          <p:nvPr/>
        </p:nvSpPr>
        <p:spPr>
          <a:xfrm>
            <a:off x="11756898" y="667385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i3</a:t>
            </a:r>
          </a:p>
        </p:txBody>
      </p:sp>
      <p:sp>
        <p:nvSpPr>
          <p:cNvPr id="43" name="Rounded Rectangle 42"/>
          <p:cNvSpPr/>
          <p:nvPr/>
        </p:nvSpPr>
        <p:spPr>
          <a:xfrm>
            <a:off x="1339596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3903218"/>
            <a:ext cx="388767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Hypergraph: one edge, many nodes</a:t>
            </a:r>
          </a:p>
        </p:txBody>
      </p:sp>
      <p:sp>
        <p:nvSpPr>
          <p:cNvPr id="45" name="Oval 44"/>
          <p:cNvSpPr/>
          <p:nvPr/>
        </p:nvSpPr>
        <p:spPr>
          <a:xfrm>
            <a:off x="13910310" y="4689602"/>
            <a:ext cx="2834640" cy="1737360"/>
          </a:xfrm>
          <a:prstGeom prst="ellipse">
            <a:avLst/>
          </a:prstGeom>
          <a:solidFill>
            <a:srgbClr val="E6EEEA"/>
          </a:solidFill>
          <a:ln w="28575">
            <a:solidFill>
              <a:srgbClr val="124944"/>
            </a:solidFill>
          </a:ln>
        </p:spPr>
        <p:txBody>
          <a:bodyPr anchor="ctr" rtlCol="false" lIns="0" tIns="0" rIns="0" bIns="0" wrap="square"/>
          <a:lstStyle/>
          <a:p>
            <a:endParaRPr lang="en-US" sz="1800"/>
          </a:p>
        </p:txBody>
      </p:sp>
      <p:sp>
        <p:nvSpPr>
          <p:cNvPr id="46" name="Oval 45"/>
          <p:cNvSpPr/>
          <p:nvPr/>
        </p:nvSpPr>
        <p:spPr>
          <a:xfrm>
            <a:off x="14248638" y="502793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47" name="Oval 46"/>
          <p:cNvSpPr/>
          <p:nvPr/>
        </p:nvSpPr>
        <p:spPr>
          <a:xfrm>
            <a:off x="15163038" y="479933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a:t>
            </a:r>
          </a:p>
        </p:txBody>
      </p:sp>
      <p:sp>
        <p:nvSpPr>
          <p:cNvPr id="48" name="Oval 47"/>
          <p:cNvSpPr/>
          <p:nvPr/>
        </p:nvSpPr>
        <p:spPr>
          <a:xfrm>
            <a:off x="15894558" y="5485130"/>
            <a:ext cx="512064" cy="512064"/>
          </a:xfrm>
          <a:prstGeom prst="ellipse">
            <a:avLst/>
          </a:prstGeom>
          <a:solidFill>
            <a:srgbClr val="111111"/>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c</a:t>
            </a:r>
          </a:p>
        </p:txBody>
      </p:sp>
      <p:sp>
        <p:nvSpPr>
          <p:cNvPr id="49" name="TextBox 48"/>
          <p:cNvSpPr txBox="1"/>
          <p:nvPr/>
        </p:nvSpPr>
        <p:spPr>
          <a:xfrm>
            <a:off x="13578840" y="6609842"/>
            <a:ext cx="3497580" cy="9144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111111"/>
                </a:solidFill>
                <a:latin typeface="Nunito Semi-Bold"/>
                <a:ea typeface="Nunito Semi-Bold"/>
                <a:cs typeface="Nunito Semi-Bold"/>
                <a:sym typeface="Nunito Semi-Bold"/>
              </a:rPr>
              <a:t>e = {user, item, context}
</a:t>
            </a:r>
            <a:r>
              <a:rPr lang="en-US" sz="1400" b="true">
                <a:solidFill>
                  <a:srgbClr val="111111"/>
                </a:solidFill>
                <a:latin typeface="Nunito Bold"/>
                <a:ea typeface="Nunito Bold"/>
                <a:cs typeface="Nunito Bold"/>
                <a:sym typeface="Nunito Bold"/>
              </a:rPr>
              <a:t>uniform weight</a:t>
            </a:r>
            <a:r>
              <a:rPr lang="en-US" sz="1400" b="true">
                <a:solidFill>
                  <a:srgbClr val="111111"/>
                </a:solidFill>
                <a:latin typeface="Nunito Semi-Bold"/>
                <a:ea typeface="Nunito Semi-Bold"/>
                <a:cs typeface="Nunito Semi-Bold"/>
                <a:sym typeface="Nunito Semi-Bold"/>
              </a:rPr>
              <a:t> in standard models</a:t>
            </a:r>
          </a:p>
        </p:txBody>
      </p:sp>
      <p:sp>
        <p:nvSpPr>
          <p:cNvPr id="50" name="Rounded Rectangle 49"/>
          <p:cNvSpPr/>
          <p:nvPr/>
        </p:nvSpPr>
        <p:spPr>
          <a:xfrm>
            <a:off x="9258300" y="7981442"/>
            <a:ext cx="8001000" cy="1235710"/>
          </a:xfrm>
          <a:prstGeom prst="roundRect">
            <a:avLst>
              <a:gd name="adj" fmla="val 18499"/>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Multi-hop and higher-order relations improve ranking, but </a:t>
            </a:r>
            <a:r>
              <a:rPr lang="en-US" sz="1600" b="true">
                <a:solidFill>
                  <a:srgbClr val="FFFFFF"/>
                </a:solidFill>
                <a:latin typeface="Nunito Bold"/>
                <a:ea typeface="Nunito Bold"/>
                <a:cs typeface="Nunito Bold"/>
                <a:sym typeface="Nunito Bold"/>
              </a:rPr>
              <a:t>message importance stays implicit or uniform</a:t>
            </a:r>
            <a:r>
              <a:rPr lang="en-US" sz="1600" b="true">
                <a:solidFill>
                  <a:srgbClr val="FFFFFF"/>
                </a:solidFill>
                <a:latin typeface="Nunito Semi-Bold"/>
                <a:ea typeface="Nunito Semi-Bold"/>
                <a:cs typeface="Nunito Semi-Bold"/>
                <a:sym typeface="Nunito Semi-Bold"/>
              </a:rPr>
              <a:t>: the assumption DyHuCoG challenges.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23" name="Picture 22" descr="image.png"/>
          <p:cNvPicPr>
            <a:picLocks noChangeAspect="1"/>
          </p:cNvPicPr>
          <p:nvPr/>
        </p:nvPicPr>
        <p:blipFill>
          <a:blip r:embed="rId3"/>
          <a:stretch>
            <a:fillRect/>
          </a:stretch>
        </p:blipFill>
        <p:spPr>
          <a:xfrm>
            <a:off x="16315229" y="1673352"/>
            <a:ext cx="457200" cy="399005"/>
          </a:xfrm>
          <a:prstGeom prst="rect">
            <a:avLst/>
          </a:prstGeom>
        </p:spPr>
      </p:pic>
      <p:sp>
        <p:nvSpPr>
          <p:cNvPr id="24" name="Rounded Rectangle 23"/>
          <p:cNvSpPr/>
          <p:nvPr/>
        </p:nvSpPr>
        <p:spPr>
          <a:xfrm>
            <a:off x="1028700" y="24955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8" name="Rounded Rectangle 27"/>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9" name="Rounded Rectangle 28"/>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30" name="Rounded Rectangle 29"/>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31" name="Rounded Rectangle 30"/>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3" name="TextBox 32"/>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pic>
        <p:nvPicPr>
          <p:cNvPr id="23" name="Picture 22" descr="image.png"/>
          <p:cNvPicPr>
            <a:picLocks noChangeAspect="1"/>
          </p:cNvPicPr>
          <p:nvPr/>
        </p:nvPicPr>
        <p:blipFill>
          <a:blip r:embed="rId3"/>
          <a:stretch>
            <a:fillRect/>
          </a:stretch>
        </p:blipFill>
        <p:spPr>
          <a:xfrm>
            <a:off x="12569927" y="1673352"/>
            <a:ext cx="457200" cy="446713"/>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28" name="Oval 27"/>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9" name="TextBox 28"/>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30" name="Rounded Rectangle 29"/>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1" name="Oval 30"/>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32" name="TextBox 31"/>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3" name="Rounded Rectangle 32"/>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4" name="Oval 33"/>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5" name="TextBox 34"/>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6" name="Rounded Rectangle 35"/>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37" name="TextBox 36"/>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23" name="Picture 22" descr="image.png"/>
          <p:cNvPicPr>
            <a:picLocks noChangeAspect="1"/>
          </p:cNvPicPr>
          <p:nvPr/>
        </p:nvPicPr>
        <p:blipFill>
          <a:blip r:embed="rId3"/>
          <a:stretch>
            <a:fillRect/>
          </a:stretch>
        </p:blipFill>
        <p:spPr>
          <a:xfrm>
            <a:off x="13647239" y="1673352"/>
            <a:ext cx="457200" cy="452148"/>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8" name="Rounded Rectangle 27"/>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30" name="TextBox 29"/>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31" name="Rounded Rectangle 30"/>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32" name="Rounded Rectangle 31"/>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3" name="Rounded Rectangle 32"/>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4" name="TextBox 33"/>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5" name="Rounded Rectangle 34"/>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6" name="Rounded Rectangle 35"/>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8" name="TextBox 37"/>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9" name="Rounded Rectangle 38"/>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0" name="Rounded Rectangle 39"/>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41" name="Rounded Rectangle 40"/>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42" name="TextBox 41"/>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3" name="Rounded Rectangle 42"/>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4" name="Rounded Rectangle 43"/>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5" name="Rounded Rectangle 44"/>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6" name="TextBox 45"/>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7" name="Rounded Rectangle 46"/>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23" name="Picture 22" descr="image.png"/>
          <p:cNvPicPr>
            <a:picLocks noChangeAspect="1"/>
          </p:cNvPicPr>
          <p:nvPr/>
        </p:nvPicPr>
        <p:blipFill>
          <a:blip r:embed="rId3"/>
          <a:stretch>
            <a:fillRect/>
          </a:stretch>
        </p:blipFill>
        <p:spPr>
          <a:xfrm>
            <a:off x="7638654" y="1673352"/>
            <a:ext cx="457200" cy="415247"/>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7" name="Rounded Rectangle 26"/>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9" name="Rounded Rectangle 28"/>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30" name="TextBox 29"/>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31" name="Rounded Rectangle 30"/>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32" name="TextBox 31"/>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3" name="Rounded Rectangle 32"/>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34" name="TextBox 33"/>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5" name="Rounded Rectangle 34"/>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7" name="Rounded Rectangle 36"/>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38" name="TextBox 37"/>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9" name="Rounded Rectangle 38"/>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8" name="Oval 7"/>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pic>
        <p:nvPicPr>
          <p:cNvPr id="23" name="Picture 22" descr="image.png"/>
          <p:cNvPicPr>
            <a:picLocks noChangeAspect="1"/>
          </p:cNvPicPr>
          <p:nvPr/>
        </p:nvPicPr>
        <p:blipFill>
          <a:blip r:embed="rId3"/>
          <a:stretch>
            <a:fillRect/>
          </a:stretch>
        </p:blipFill>
        <p:spPr>
          <a:xfrm>
            <a:off x="11227909"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public file</a:t>
            </a:r>
          </a:p>
        </p:txBody>
      </p:sp>
      <p:graphicFrame>
        <p:nvGraphicFramePr>
          <p:cNvPr id="30" name="Table 29"/>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pic>
        <p:nvPicPr>
          <p:cNvPr id="23" name="Picture 22" descr="image.png"/>
          <p:cNvPicPr>
            <a:picLocks noChangeAspect="1"/>
          </p:cNvPicPr>
          <p:nvPr/>
        </p:nvPicPr>
        <p:blipFill>
          <a:blip r:embed="rId3"/>
          <a:stretch>
            <a:fillRect/>
          </a:stretch>
        </p:blipFill>
        <p:spPr>
          <a:xfrm>
            <a:off x="8588295" y="1673352"/>
            <a:ext cx="457200" cy="415247"/>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Aotizhongxin station file</a:t>
            </a:r>
          </a:p>
        </p:txBody>
      </p:sp>
      <p:graphicFrame>
        <p:nvGraphicFramePr>
          <p:cNvPr id="30" name="Table 29"/>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pic>
        <p:nvPicPr>
          <p:cNvPr id="23" name="Picture 22" descr="image.png"/>
          <p:cNvPicPr>
            <a:picLocks noChangeAspect="1"/>
          </p:cNvPicPr>
          <p:nvPr/>
        </p:nvPicPr>
        <p:blipFill>
          <a:blip r:embed="rId3"/>
          <a:stretch>
            <a:fillRect/>
          </a:stretch>
        </p:blipFill>
        <p:spPr>
          <a:xfrm>
            <a:off x="4963971" y="1673352"/>
            <a:ext cx="457200" cy="452148"/>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ratings.dat joined with movies.dat</a:t>
            </a:r>
          </a:p>
        </p:txBody>
      </p:sp>
      <p:graphicFrame>
        <p:nvGraphicFramePr>
          <p:cNvPr id="30" name="Table 29"/>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pic>
        <p:nvPicPr>
          <p:cNvPr id="23" name="Picture 22" descr="image.png"/>
          <p:cNvPicPr>
            <a:picLocks noChangeAspect="1"/>
          </p:cNvPicPr>
          <p:nvPr/>
        </p:nvPicPr>
        <p:blipFill>
          <a:blip r:embed="rId3"/>
          <a:stretch>
            <a:fillRect/>
          </a:stretch>
        </p:blipFill>
        <p:spPr>
          <a:xfrm>
            <a:off x="5002206" y="1673352"/>
            <a:ext cx="457200" cy="617115"/>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illustrative rows in the format of the public file</a:t>
            </a:r>
          </a:p>
        </p:txBody>
      </p:sp>
      <p:graphicFrame>
        <p:nvGraphicFramePr>
          <p:cNvPr id="30" name="Table 29"/>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23" name="Picture 22" descr="image.png"/>
          <p:cNvPicPr>
            <a:picLocks noChangeAspect="1"/>
          </p:cNvPicPr>
          <p:nvPr/>
        </p:nvPicPr>
        <p:blipFill>
          <a:blip r:embed="rId3"/>
          <a:stretch>
            <a:fillRect/>
          </a:stretch>
        </p:blipFill>
        <p:spPr>
          <a:xfrm>
            <a:off x="9239964"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ounded Rectangle 26"/>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29" name="TextBox 28"/>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30" name="Rounded Rectangle 29"/>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32" name="TextBox 31"/>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pic>
        <p:nvPicPr>
          <p:cNvPr id="23" name="Picture 22" descr="image.png"/>
          <p:cNvPicPr>
            <a:picLocks noChangeAspect="1"/>
          </p:cNvPicPr>
          <p:nvPr/>
        </p:nvPicPr>
        <p:blipFill>
          <a:blip r:embed="rId3"/>
          <a:stretch>
            <a:fillRect/>
          </a:stretch>
        </p:blipFill>
        <p:spPr>
          <a:xfrm>
            <a:off x="3729007" y="1673352"/>
            <a:ext cx="457200" cy="539881"/>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Rounded Rectangle 27"/>
          <p:cNvSpPr/>
          <p:nvPr/>
        </p:nvSpPr>
        <p:spPr>
          <a:xfrm>
            <a:off x="1028700" y="8155178"/>
            <a:ext cx="16230600" cy="1016254"/>
          </a:xfrm>
          <a:prstGeom prst="roundRect">
            <a:avLst>
              <a:gd name="adj" fmla="val 19795"/>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7963154"/>
            <a:ext cx="1867571"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30" name="TextBox 29"/>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pic>
        <p:nvPicPr>
          <p:cNvPr id="23" name="Picture 22" descr="image.png"/>
          <p:cNvPicPr>
            <a:picLocks noChangeAspect="1"/>
          </p:cNvPicPr>
          <p:nvPr/>
        </p:nvPicPr>
        <p:blipFill>
          <a:blip r:embed="rId3"/>
          <a:stretch>
            <a:fillRect/>
          </a:stretch>
        </p:blipFill>
        <p:spPr>
          <a:xfrm>
            <a:off x="6134170" y="1673352"/>
            <a:ext cx="457200" cy="373212"/>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ectangle 26"/>
          <p:cNvSpPr/>
          <p:nvPr/>
        </p:nvSpPr>
        <p:spPr>
          <a:xfrm>
            <a:off x="1028700" y="3363722"/>
            <a:ext cx="16230600" cy="384048"/>
          </a:xfrm>
          <a:prstGeom prst="rect">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9" name="TextBox 28"/>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30" name="TextBox 29"/>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31" name="Rectangle 30"/>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2" name="TextBox 31"/>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3"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3" name="Equation"/>
              <p:cNvSpPr txBox="1"/>
              <p:nvPr/>
            </p:nvSpPr>
            <p:spPr>
              <a:xfrm>
                <a:off x="3771900" y="3775202"/>
                <a:ext cx="6309360" cy="684675"/>
              </a:xfrm>
              <a:prstGeom prst="rect">
                <a:avLst/>
              </a:prstGeom>
              <a:blipFill>
                <a:blip r:embed="rId5"/>
                <a:stretch>
                  <a:fillRect/>
                </a:stretch>
              </a:blipFill>
            </p:spPr>
            <p:txBody>
              <a:bodyPr/>
              <a:lstStyle/>
              <a:p>
                <a:endParaRPr lang="en-US"/>
              </a:p>
            </p:txBody>
          </p:sp>
        </mc:Fallback>
      </mc:AlternateContent>
      <p:sp>
        <p:nvSpPr>
          <p:cNvPr id="34" name="TextBox 33"/>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5" name="Connector 34"/>
          <p:cNvCxnSpPr/>
          <p:nvPr/>
        </p:nvCxnSpPr>
        <p:spPr>
          <a:xfrm>
            <a:off x="1028700" y="4487309"/>
            <a:ext cx="16230600" cy="0"/>
          </a:xfrm>
          <a:prstGeom prst="line">
            <a:avLst/>
          </a:prstGeom>
          <a:ln w="12700">
            <a:solidFill>
              <a:srgbClr val="E3D6C4"/>
            </a:solidFill>
          </a:ln>
        </p:spPr>
      </p:cxnSp>
      <p:sp>
        <p:nvSpPr>
          <p:cNvPr id="36" name="Rectangle 35"/>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7" name="TextBox 36"/>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8"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8" name="Equation"/>
              <p:cNvSpPr txBox="1"/>
              <p:nvPr/>
            </p:nvSpPr>
            <p:spPr>
              <a:xfrm>
                <a:off x="3771900" y="4514741"/>
                <a:ext cx="6309360" cy="684675"/>
              </a:xfrm>
              <a:prstGeom prst="rect">
                <a:avLst/>
              </a:prstGeom>
              <a:blipFill>
                <a:blip r:embed="rId6"/>
                <a:stretch>
                  <a:fillRect/>
                </a:stretch>
              </a:blipFill>
            </p:spPr>
            <p:txBody>
              <a:bodyPr/>
              <a:lstStyle/>
              <a:p>
                <a:endParaRPr lang="en-US"/>
              </a:p>
            </p:txBody>
          </p:sp>
        </mc:Fallback>
      </mc:AlternateContent>
      <p:sp>
        <p:nvSpPr>
          <p:cNvPr id="39" name="TextBox 38"/>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40" name="Connector 39"/>
          <p:cNvCxnSpPr/>
          <p:nvPr/>
        </p:nvCxnSpPr>
        <p:spPr>
          <a:xfrm>
            <a:off x="1028700" y="5226848"/>
            <a:ext cx="16230600" cy="0"/>
          </a:xfrm>
          <a:prstGeom prst="line">
            <a:avLst/>
          </a:prstGeom>
          <a:ln w="12700">
            <a:solidFill>
              <a:srgbClr val="E3D6C4"/>
            </a:solidFill>
          </a:ln>
        </p:spPr>
      </p:cxnSp>
      <p:sp>
        <p:nvSpPr>
          <p:cNvPr id="41" name="Rectangle 40"/>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2" name="TextBox 41"/>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3"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3" name="Equation"/>
              <p:cNvSpPr txBox="1"/>
              <p:nvPr/>
            </p:nvSpPr>
            <p:spPr>
              <a:xfrm>
                <a:off x="3771900" y="5254280"/>
                <a:ext cx="6309360" cy="684675"/>
              </a:xfrm>
              <a:prstGeom prst="rect">
                <a:avLst/>
              </a:prstGeom>
              <a:blipFill>
                <a:blip r:embed="rId7"/>
                <a:stretch>
                  <a:fillRect/>
                </a:stretch>
              </a:blipFill>
            </p:spPr>
            <p:txBody>
              <a:bodyPr/>
              <a:lstStyle/>
              <a:p>
                <a:endParaRPr lang="en-US"/>
              </a:p>
            </p:txBody>
          </p:sp>
        </mc:Fallback>
      </mc:AlternateContent>
      <p:sp>
        <p:nvSpPr>
          <p:cNvPr id="44" name="TextBox 43"/>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5" name="Connector 44"/>
          <p:cNvCxnSpPr/>
          <p:nvPr/>
        </p:nvCxnSpPr>
        <p:spPr>
          <a:xfrm>
            <a:off x="1028700" y="5966387"/>
            <a:ext cx="16230600" cy="0"/>
          </a:xfrm>
          <a:prstGeom prst="line">
            <a:avLst/>
          </a:prstGeom>
          <a:ln w="12700">
            <a:solidFill>
              <a:srgbClr val="E3D6C4"/>
            </a:solidFill>
          </a:ln>
        </p:spPr>
      </p:cxnSp>
      <p:sp>
        <p:nvSpPr>
          <p:cNvPr id="46" name="Rectangle 45"/>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7" name="TextBox 46"/>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8"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8" name="Equation"/>
              <p:cNvSpPr txBox="1"/>
              <p:nvPr/>
            </p:nvSpPr>
            <p:spPr>
              <a:xfrm>
                <a:off x="3771900" y="5993819"/>
                <a:ext cx="6309360" cy="684675"/>
              </a:xfrm>
              <a:prstGeom prst="rect">
                <a:avLst/>
              </a:prstGeom>
              <a:blipFill>
                <a:blip r:embed="rId8"/>
                <a:stretch>
                  <a:fillRect/>
                </a:stretch>
              </a:blipFill>
            </p:spPr>
            <p:txBody>
              <a:bodyPr/>
              <a:lstStyle/>
              <a:p>
                <a:endParaRPr lang="en-US"/>
              </a:p>
            </p:txBody>
          </p:sp>
        </mc:Fallback>
      </mc:AlternateContent>
      <p:sp>
        <p:nvSpPr>
          <p:cNvPr id="49" name="TextBox 48"/>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50" name="Connector 49"/>
          <p:cNvCxnSpPr/>
          <p:nvPr/>
        </p:nvCxnSpPr>
        <p:spPr>
          <a:xfrm>
            <a:off x="1028700" y="6705926"/>
            <a:ext cx="16230600" cy="0"/>
          </a:xfrm>
          <a:prstGeom prst="line">
            <a:avLst/>
          </a:prstGeom>
          <a:ln w="12700">
            <a:solidFill>
              <a:srgbClr val="E3D6C4"/>
            </a:solidFill>
          </a:ln>
        </p:spPr>
      </p:cxnSp>
      <p:sp>
        <p:nvSpPr>
          <p:cNvPr id="51" name="Rectangle 50"/>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2" name="TextBox 51"/>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3"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3" name="Equation"/>
              <p:cNvSpPr txBox="1"/>
              <p:nvPr/>
            </p:nvSpPr>
            <p:spPr>
              <a:xfrm>
                <a:off x="3771900" y="6733358"/>
                <a:ext cx="6309360" cy="684675"/>
              </a:xfrm>
              <a:prstGeom prst="rect">
                <a:avLst/>
              </a:prstGeom>
              <a:blipFill>
                <a:blip r:embed="rId9"/>
                <a:stretch>
                  <a:fillRect/>
                </a:stretch>
              </a:blipFill>
            </p:spPr>
            <p:txBody>
              <a:bodyPr/>
              <a:lstStyle/>
              <a:p>
                <a:endParaRPr lang="en-US"/>
              </a:p>
            </p:txBody>
          </p:sp>
        </mc:Fallback>
      </mc:AlternateContent>
      <p:sp>
        <p:nvSpPr>
          <p:cNvPr id="54" name="TextBox 53"/>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5" name="Connector 54"/>
          <p:cNvCxnSpPr/>
          <p:nvPr/>
        </p:nvCxnSpPr>
        <p:spPr>
          <a:xfrm>
            <a:off x="1028700" y="7445465"/>
            <a:ext cx="16230600" cy="0"/>
          </a:xfrm>
          <a:prstGeom prst="line">
            <a:avLst/>
          </a:prstGeom>
          <a:ln w="12700">
            <a:solidFill>
              <a:srgbClr val="E3D6C4"/>
            </a:solidFill>
          </a:ln>
        </p:spPr>
      </p:cxnSp>
      <p:sp>
        <p:nvSpPr>
          <p:cNvPr id="56" name="Rectangle 55"/>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7" name="TextBox 56"/>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8"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8" name="Equation"/>
              <p:cNvSpPr txBox="1"/>
              <p:nvPr/>
            </p:nvSpPr>
            <p:spPr>
              <a:xfrm>
                <a:off x="3771900" y="7472897"/>
                <a:ext cx="6309360" cy="684675"/>
              </a:xfrm>
              <a:prstGeom prst="rect">
                <a:avLst/>
              </a:prstGeom>
              <a:blipFill>
                <a:blip r:embed="rId10"/>
                <a:stretch>
                  <a:fillRect/>
                </a:stretch>
              </a:blipFill>
            </p:spPr>
            <p:txBody>
              <a:bodyPr/>
              <a:lstStyle/>
              <a:p>
                <a:endParaRPr lang="en-US"/>
              </a:p>
            </p:txBody>
          </p:sp>
        </mc:Fallback>
      </mc:AlternateContent>
      <p:sp>
        <p:nvSpPr>
          <p:cNvPr id="59" name="TextBox 58"/>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60" name="Connector 59"/>
          <p:cNvCxnSpPr/>
          <p:nvPr/>
        </p:nvCxnSpPr>
        <p:spPr>
          <a:xfrm>
            <a:off x="1028700" y="8185004"/>
            <a:ext cx="16230600" cy="0"/>
          </a:xfrm>
          <a:prstGeom prst="line">
            <a:avLst/>
          </a:prstGeom>
          <a:ln w="12700">
            <a:solidFill>
              <a:srgbClr val="E3D6C4"/>
            </a:solidFill>
          </a:ln>
        </p:spPr>
      </p:cxnSp>
      <p:sp>
        <p:nvSpPr>
          <p:cNvPr id="61" name="Rectangle 60"/>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62" name="TextBox 61"/>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3"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3" name="Equation"/>
              <p:cNvSpPr txBox="1"/>
              <p:nvPr/>
            </p:nvSpPr>
            <p:spPr>
              <a:xfrm>
                <a:off x="3771900" y="8212436"/>
                <a:ext cx="6309360" cy="684675"/>
              </a:xfrm>
              <a:prstGeom prst="rect">
                <a:avLst/>
              </a:prstGeom>
              <a:blipFill>
                <a:blip r:embed="rId11"/>
                <a:stretch>
                  <a:fillRect/>
                </a:stretch>
              </a:blipFill>
            </p:spPr>
            <p:txBody>
              <a:bodyPr/>
              <a:lstStyle/>
              <a:p>
                <a:endParaRPr lang="en-US"/>
              </a:p>
            </p:txBody>
          </p:sp>
        </mc:Fallback>
      </mc:AlternateContent>
      <p:sp>
        <p:nvSpPr>
          <p:cNvPr id="64" name="TextBox 63"/>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5" name="Connector 64"/>
          <p:cNvCxnSpPr/>
          <p:nvPr/>
        </p:nvCxnSpPr>
        <p:spPr>
          <a:xfrm>
            <a:off x="1028700" y="8924544"/>
            <a:ext cx="16230600" cy="0"/>
          </a:xfrm>
          <a:prstGeom prst="line">
            <a:avLst/>
          </a:prstGeom>
          <a:ln w="12700">
            <a:solidFill>
              <a:srgbClr val="E3D6C4"/>
            </a:solidFill>
          </a:ln>
        </p:spPr>
      </p:cxnSp>
      <p:sp>
        <p:nvSpPr>
          <p:cNvPr id="66" name="TextBox 65"/>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23" name="Picture 22" descr="image.png"/>
          <p:cNvPicPr>
            <a:picLocks noChangeAspect="1"/>
          </p:cNvPicPr>
          <p:nvPr/>
        </p:nvPicPr>
        <p:blipFill>
          <a:blip r:embed="rId3"/>
          <a:stretch>
            <a:fillRect/>
          </a:stretch>
        </p:blipFill>
        <p:spPr>
          <a:xfrm>
            <a:off x="7035228" y="1673352"/>
            <a:ext cx="457200" cy="427074"/>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TextBox 27"/>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9" name="Rounded Rectangle 28"/>
          <p:cNvSpPr/>
          <p:nvPr/>
        </p:nvSpPr>
        <p:spPr>
          <a:xfrm>
            <a:off x="1028700" y="7249922"/>
            <a:ext cx="7932420" cy="1967230"/>
          </a:xfrm>
          <a:prstGeom prst="roundRect">
            <a:avLst>
              <a:gd name="adj" fmla="val 15803"/>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31" name="TextBox 30"/>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32" name="Rounded Rectangle 31"/>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84080" y="7012178"/>
            <a:ext cx="147020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4" name="TextBox 33"/>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DF8330"/>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DF8330"/>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8" name="Oval 7"/>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pic>
        <p:nvPicPr>
          <p:cNvPr id="23" name="Picture 22" descr="image.png"/>
          <p:cNvPicPr>
            <a:picLocks noChangeAspect="1"/>
          </p:cNvPicPr>
          <p:nvPr/>
        </p:nvPicPr>
        <p:blipFill>
          <a:blip r:embed="rId3"/>
          <a:stretch>
            <a:fillRect/>
          </a:stretch>
        </p:blipFill>
        <p:spPr>
          <a:xfrm>
            <a:off x="6193139"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Cooperative Game and the Shapley Value</a:t>
            </a:r>
          </a:p>
        </p:txBody>
      </p:sp>
      <p:pic>
        <p:nvPicPr>
          <p:cNvPr id="23" name="Picture 22" descr="image.png"/>
          <p:cNvPicPr>
            <a:picLocks noChangeAspect="1"/>
          </p:cNvPicPr>
          <p:nvPr/>
        </p:nvPicPr>
        <p:blipFill>
          <a:blip r:embed="rId3"/>
          <a:stretch>
            <a:fillRect/>
          </a:stretch>
        </p:blipFill>
        <p:spPr>
          <a:xfrm>
            <a:off x="12978774"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2286000"/>
          </a:xfrm>
          <a:prstGeom prst="rect">
            <a:avLst/>
          </a:prstGeom>
          <a:noFill/>
        </p:spPr>
        <p:txBody>
          <a:bodyPr anchor="t" rtlCol="false" lIns="0" tIns="0" rIns="0" bIns="0" wrap="square"/>
          <a:lstStyle/>
          <a:p>
            <a:pPr algn="l">
              <a:lnSpc>
                <a:spcPts val="2231"/>
              </a:lnSpc>
              <a:spcBef>
                <a:spcPts val="0"/>
              </a:spcBef>
              <a:buNone/>
            </a:pPr>
            <a:r>
              <a:rPr lang="en-US" sz="1785" b="true">
                <a:solidFill>
                  <a:srgbClr val="124944"/>
                </a:solidFill>
                <a:latin typeface="Nunito Ultra-Bold"/>
                <a:ea typeface="Nunito Ultra-Bold"/>
                <a:cs typeface="Nunito Ultra-Bold"/>
                <a:sym typeface="Nunito Ultra-Bold"/>
              </a:rPr>
              <a:t>Three ingredients</a:t>
            </a:r>
          </a:p>
          <a:p>
            <a:pPr algn="l" marL="274320" indent="-274320">
              <a:lnSpc>
                <a:spcPts val="2390"/>
              </a:lnSpc>
              <a:spcBef>
                <a:spcPts val="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Players</a:t>
            </a:r>
            <a:r>
              <a:rPr lang="en-US" sz="1615" b="true">
                <a:solidFill>
                  <a:srgbClr val="111111"/>
                </a:solidFill>
                <a:latin typeface="Nunito Semi-Bold"/>
                <a:ea typeface="Nunito Semi-Bold"/>
                <a:cs typeface="Nunito Semi-Bold"/>
                <a:sym typeface="Nunito Semi-Bold"/>
              </a:rPr>
              <a:t> N = {1, …, n}, and a </a:t>
            </a:r>
            <a:r>
              <a:rPr lang="en-US" sz="1615" b="true">
                <a:solidFill>
                  <a:srgbClr val="111111"/>
                </a:solidFill>
                <a:latin typeface="Nunito Bold"/>
                <a:ea typeface="Nunito Bold"/>
                <a:cs typeface="Nunito Bold"/>
                <a:sym typeface="Nunito Bold"/>
              </a:rPr>
              <a:t>coalition</a:t>
            </a:r>
            <a:r>
              <a:rPr lang="en-US" sz="1615" b="true">
                <a:solidFill>
                  <a:srgbClr val="111111"/>
                </a:solidFill>
                <a:latin typeface="Nunito Semi-Bold"/>
                <a:ea typeface="Nunito Semi-Bold"/>
                <a:cs typeface="Nunito Semi-Bold"/>
                <a:sym typeface="Nunito Semi-Bold"/>
              </a:rPr>
              <a:t> S </a:t>
            </a:r>
            <a:r>
              <a:rPr lang="en-US" sz="1615" b="true">
                <a:solidFill>
                  <a:srgbClr val="111111"/>
                </a:solidFill>
                <a:latin typeface="Cambria Math"/>
                <a:ea typeface="Cambria Math"/>
                <a:cs typeface="Cambria Math"/>
                <a:sym typeface="Cambria Math"/>
              </a:rPr>
              <a:t>⊆ </a:t>
            </a:r>
            <a:r>
              <a:rPr lang="en-US" sz="1615" b="true">
                <a:solidFill>
                  <a:srgbClr val="111111"/>
                </a:solidFill>
                <a:latin typeface="Nunito Semi-Bold"/>
                <a:ea typeface="Nunito Semi-Bold"/>
                <a:cs typeface="Nunito Semi-Bold"/>
                <a:sym typeface="Nunito Semi-Bold"/>
              </a:rPr>
              <a:t>N: any group of them; there are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Nunito Semi-Bold"/>
                <a:ea typeface="Nunito Semi-Bold"/>
                <a:cs typeface="Nunito Semi-Bold"/>
                <a:sym typeface="Nunito Semi-Bold"/>
              </a:rPr>
              <a:t>.</a:t>
            </a:r>
          </a:p>
          <a:p>
            <a:pPr algn="l" marL="274320" indent="-274320">
              <a:lnSpc>
                <a:spcPts val="2390"/>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Characteristic function</a:t>
            </a:r>
            <a:r>
              <a:rPr lang="en-US" sz="1615" b="true">
                <a:solidFill>
                  <a:srgbClr val="111111"/>
                </a:solidFill>
                <a:latin typeface="Nunito Semi-Bold"/>
                <a:ea typeface="Nunito Semi-Bold"/>
                <a:cs typeface="Nunito Semi-Bold"/>
                <a:sym typeface="Nunito Semi-Bold"/>
              </a:rPr>
              <a:t> v: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Calibri"/>
                <a:ea typeface="Calibri"/>
                <a:cs typeface="Calibri"/>
                <a:sym typeface="Calibri"/>
              </a:rPr>
              <a:t> → </a:t>
            </a:r>
            <a:r>
              <a:rPr lang="en-US" sz="1615" b="true">
                <a:solidFill>
                  <a:srgbClr val="111111"/>
                </a:solidFill>
                <a:latin typeface="Cambria Math"/>
                <a:ea typeface="Cambria Math"/>
                <a:cs typeface="Cambria Math"/>
                <a:sym typeface="Cambria Math"/>
              </a:rPr>
              <a:t>ℝ </a:t>
            </a:r>
            <a:r>
              <a:rPr lang="en-US" sz="1615" b="true">
                <a:solidFill>
                  <a:srgbClr val="111111"/>
                </a:solidFill>
                <a:latin typeface="Nunito Semi-Bold"/>
                <a:ea typeface="Nunito Semi-Bold"/>
                <a:cs typeface="Nunito Semi-Bold"/>
                <a:sym typeface="Nunito Semi-Bold"/>
              </a:rPr>
              <a:t>with v(∅) = 0: the value a coalition creates </a:t>
            </a:r>
            <a:r>
              <a:rPr lang="en-US" sz="1615" b="true">
                <a:solidFill>
                  <a:srgbClr val="111111"/>
                </a:solidFill>
                <a:latin typeface="Nunito Bold"/>
                <a:ea typeface="Nunito Bold"/>
                <a:cs typeface="Nunito Bold"/>
                <a:sym typeface="Nunito Bold"/>
              </a:rPr>
              <a:t>on its own</a:t>
            </a:r>
            <a:r>
              <a:rPr lang="en-US" sz="1615" b="true">
                <a:solidFill>
                  <a:srgbClr val="111111"/>
                </a:solidFill>
                <a:latin typeface="Nunito Semi-Bold"/>
                <a:ea typeface="Nunito Semi-Bold"/>
                <a:cs typeface="Nunito Semi-Bold"/>
                <a:sym typeface="Nunito Semi-Bold"/>
              </a:rPr>
              <a:t>.</a:t>
            </a:r>
          </a:p>
          <a:p>
            <a:pPr algn="l" marL="274320" indent="-274320">
              <a:lnSpc>
                <a:spcPts val="2261"/>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The question:</a:t>
            </a:r>
            <a:r>
              <a:rPr lang="en-US" sz="1615" b="true">
                <a:solidFill>
                  <a:srgbClr val="111111"/>
                </a:solidFill>
                <a:latin typeface="Nunito Semi-Bold"/>
                <a:ea typeface="Nunito Semi-Bold"/>
                <a:cs typeface="Nunito Semi-Bold"/>
                <a:sym typeface="Nunito Semi-Bold"/>
              </a:rPr>
              <a:t> the grand coalition earns v(N), so </a:t>
            </a:r>
            <a:r>
              <a:rPr lang="en-US" sz="1615" b="true">
                <a:solidFill>
                  <a:srgbClr val="111111"/>
                </a:solidFill>
                <a:latin typeface="Nunito Bold"/>
                <a:ea typeface="Nunito Bold"/>
                <a:cs typeface="Nunito Bold"/>
                <a:sym typeface="Nunito Bold"/>
              </a:rPr>
              <a:t>how should it be shared fairly</a:t>
            </a:r>
            <a:r>
              <a:rPr lang="en-US" sz="1615" b="true">
                <a:solidFill>
                  <a:srgbClr val="111111"/>
                </a:solidFill>
                <a:latin typeface="Nunito Semi-Bold"/>
                <a:ea typeface="Nunito Semi-Bold"/>
                <a:cs typeface="Nunito Semi-Bold"/>
                <a:sym typeface="Nunito Semi-Bold"/>
              </a:rPr>
              <a:t>?</a:t>
            </a:r>
          </a:p>
        </p:txBody>
      </p:sp>
      <p:sp>
        <p:nvSpPr>
          <p:cNvPr id="29" name="Rounded Rectangle 28"/>
          <p:cNvSpPr/>
          <p:nvPr/>
        </p:nvSpPr>
        <p:spPr>
          <a:xfrm>
            <a:off x="1028700" y="5741162"/>
            <a:ext cx="7680960" cy="868680"/>
          </a:xfrm>
          <a:prstGeom prst="roundRect">
            <a:avLst>
              <a:gd name="adj" fmla="val 23157"/>
            </a:avLst>
          </a:prstGeom>
          <a:solidFill>
            <a:srgbClr val="124944"/>
          </a:solidFill>
          <a:ln>
            <a:noFill/>
          </a:ln>
        </p:spPr>
        <p:txBody>
          <a:bodyPr anchor="ctr" rtlCol="false" lIns="0" tIns="0" rIns="0" bIns="0" wrap="square"/>
          <a:lstStyle/>
          <a:p>
            <a:endParaRPr lang="en-US" sz="1800"/>
          </a:p>
        </p:txBody>
      </p:sp>
      <p:sp>
        <p:nvSpPr>
          <p:cNvPr id="30" name="TextBox 29"/>
          <p:cNvSpPr txBox="1"/>
          <p:nvPr/>
        </p:nvSpPr>
        <p:spPr>
          <a:xfrm>
            <a:off x="1028700" y="5805170"/>
            <a:ext cx="7680960" cy="237744"/>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31" name="Equation"/>
              <p:cNvSpPr txBox="1"/>
              <p:nvPr/>
            </p:nvSpPr>
            <p:spPr>
              <a:xfrm>
                <a:off x="1211580" y="6015482"/>
                <a:ext cx="73152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N</m:t>
                      </m:r>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m:t>
                      </m:r>
                      <m:sSup>
                        <m:sSupPr>
                          <m:ctrlPr>
                            <a:rPr lang="en-US" sz="1900" i="1">
                              <a:solidFill>
                                <a:srgbClr val="FFFFFF"/>
                              </a:solidFill>
                              <a:latin typeface="Cambria Math" panose="02040503050406030204" pitchFamily="18" charset="0"/>
                            </a:rPr>
                          </m:ctrlPr>
                        </m:sSupPr>
                        <m:e>
                          <m:r>
                            <m:rPr>
                              <m:sty m:val="p"/>
                            </m:rPr>
                            <a:rPr lang="en-US" sz="1900">
                              <a:solidFill>
                                <a:srgbClr val="FFFFFF"/>
                              </a:solidFill>
                              <a:latin typeface="Cambria Math" panose="02040503050406030204" pitchFamily="18" charset="0"/>
                            </a:rPr>
                            <m:t xml:space="preserve">2</m:t>
                          </m:r>
                        </m:e>
                        <m:sup>
                          <m:r>
                            <a:rPr lang="en-US" sz="1900" i="1">
                              <a:solidFill>
                                <a:srgbClr val="FFFFFF"/>
                              </a:solidFill>
                              <a:latin typeface="Cambria Math" panose="02040503050406030204" pitchFamily="18" charset="0"/>
                            </a:rPr>
                            <m:t xml:space="preserve">N</m:t>
                          </m:r>
                        </m:sup>
                      </m:sSup>
                      <m:r>
                        <m:rPr>
                          <m:sty m:val="p"/>
                        </m:rPr>
                        <a:rPr lang="en-US" sz="1900">
                          <a:solidFill>
                            <a:srgbClr val="FFFFFF"/>
                          </a:solidFill>
                          <a:latin typeface="Cambria Math" panose="02040503050406030204" pitchFamily="18" charset="0"/>
                        </a:rPr>
                        <m:t xml:space="preserve">→</m:t>
                      </m:r>
                      <m:r>
                        <m:rPr>
                          <m:scr m:val="double-struck"/>
                          <m:sty m:val="p"/>
                        </m:rPr>
                        <a:rPr lang="en-US" sz="1900">
                          <a:solidFill>
                            <a:srgbClr val="FFFFFF"/>
                          </a:solidFill>
                          <a:latin typeface="Cambria Math" panose="02040503050406030204" pitchFamily="18" charset="0"/>
                        </a:rPr>
                        <m:t xml:space="preserve">R</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(∅)=0</m:t>
                      </m:r>
                    </m:oMath>
                  </m:oMathPara>
                </a14:m>
                <a:endParaRPr lang="en-US" sz="1900"/>
              </a:p>
            </p:txBody>
          </p:sp>
        </mc:Choice>
        <mc:Fallback>
          <p:sp>
            <p:nvSpPr>
              <p:cNvPr id="31" name="Equation"/>
              <p:cNvSpPr txBox="1"/>
              <p:nvPr/>
            </p:nvSpPr>
            <p:spPr>
              <a:xfrm>
                <a:off x="1211580" y="6015482"/>
                <a:ext cx="7315200" cy="548640"/>
              </a:xfrm>
              <a:prstGeom prst="rect">
                <a:avLst/>
              </a:prstGeom>
              <a:blipFill>
                <a:blip r:embed="rId5"/>
                <a:stretch>
                  <a:fillRect/>
                </a:stretch>
              </a:blipFill>
            </p:spPr>
            <p:txBody>
              <a:bodyPr/>
              <a:lstStyle/>
              <a:p>
                <a:endParaRPr lang="en-US"/>
              </a:p>
            </p:txBody>
          </p:sp>
        </mc:Fallback>
      </mc:AlternateContent>
      <p:sp>
        <p:nvSpPr>
          <p:cNvPr id="32" name="Rounded Rectangle 31"/>
          <p:cNvSpPr/>
          <p:nvPr/>
        </p:nvSpPr>
        <p:spPr>
          <a:xfrm>
            <a:off x="1028700" y="6792722"/>
            <a:ext cx="7680960" cy="1371600"/>
          </a:xfrm>
          <a:prstGeom prst="roundRect">
            <a:avLst>
              <a:gd name="adj" fmla="val 14666"/>
            </a:avLst>
          </a:prstGeom>
          <a:solidFill>
            <a:srgbClr val="F6ECDF"/>
          </a:solidFill>
          <a:ln w="25400">
            <a:solidFill>
              <a:srgbClr val="DF8330"/>
            </a:solidFill>
          </a:ln>
        </p:spPr>
        <p:txBody>
          <a:bodyPr anchor="ctr" rtlCol="false" lIns="0" tIns="0" rIns="0" bIns="0" wrap="square"/>
          <a:lstStyle/>
          <a:p>
            <a:endParaRPr lang="en-US" sz="1800"/>
          </a:p>
        </p:txBody>
      </p:sp>
      <p:sp>
        <p:nvSpPr>
          <p:cNvPr id="33" name="Rounded Rectangle 32"/>
          <p:cNvSpPr/>
          <p:nvPr/>
        </p:nvSpPr>
        <p:spPr>
          <a:xfrm>
            <a:off x="1348740" y="6600698"/>
            <a:ext cx="38908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4" name="TextBox 33"/>
          <p:cNvSpPr txBox="1"/>
          <p:nvPr/>
        </p:nvSpPr>
        <p:spPr>
          <a:xfrm>
            <a:off x="1394460" y="7067042"/>
            <a:ext cx="6949440" cy="960120"/>
          </a:xfrm>
          <a:prstGeom prst="rect">
            <a:avLst/>
          </a:prstGeom>
          <a:noFill/>
        </p:spPr>
        <p:txBody>
          <a:bodyPr anchor="ctr" rtlCol="false" lIns="0" tIns="0" rIns="0" bIns="0" wrap="square"/>
          <a:lstStyle/>
          <a:p>
            <a:pPr algn="l">
              <a:lnSpc>
                <a:spcPts val="2309"/>
              </a:lnSpc>
              <a:spcBef>
                <a:spcPts val="0"/>
              </a:spcBef>
              <a:buNone/>
            </a:pPr>
            <a:r>
              <a:rPr lang="en-US" sz="1649" b="true">
                <a:solidFill>
                  <a:srgbClr val="111111"/>
                </a:solidFill>
                <a:latin typeface="Nunito Semi-Bold"/>
                <a:ea typeface="Nunito Semi-Bold"/>
                <a:cs typeface="Nunito Semi-Bold"/>
                <a:sym typeface="Nunito Semi-Bold"/>
              </a:rPr>
              <a:t>Guitar, Voice and Drums are paid for a gig. Alone they earn </a:t>
            </a:r>
            <a:r>
              <a:rPr lang="en-US" sz="1649" b="true">
                <a:solidFill>
                  <a:srgbClr val="111111"/>
                </a:solidFill>
                <a:latin typeface="Nunito Bold"/>
                <a:ea typeface="Nunito Bold"/>
                <a:cs typeface="Nunito Bold"/>
                <a:sym typeface="Nunito Bold"/>
              </a:rPr>
              <a:t>60, 40 and 20</a:t>
            </a:r>
            <a:r>
              <a:rPr lang="en-US" sz="1649" b="true">
                <a:solidFill>
                  <a:srgbClr val="111111"/>
                </a:solidFill>
                <a:latin typeface="Nunito Semi-Bold"/>
                <a:ea typeface="Nunito Semi-Bold"/>
                <a:cs typeface="Nunito Semi-Bold"/>
                <a:sym typeface="Nunito Semi-Bold"/>
              </a:rPr>
              <a:t>; Guitar and Voice together earn </a:t>
            </a:r>
            <a:r>
              <a:rPr lang="en-US" sz="1649" b="true">
                <a:solidFill>
                  <a:srgbClr val="111111"/>
                </a:solidFill>
                <a:latin typeface="Nunito Bold"/>
                <a:ea typeface="Nunito Bold"/>
                <a:cs typeface="Nunito Bold"/>
                <a:sym typeface="Nunito Bold"/>
              </a:rPr>
              <a:t>140</a:t>
            </a:r>
            <a:r>
              <a:rPr lang="en-US" sz="1649" b="true">
                <a:solidFill>
                  <a:srgbClr val="111111"/>
                </a:solidFill>
                <a:latin typeface="Nunito Semi-Bold"/>
                <a:ea typeface="Nunito Semi-Bold"/>
                <a:cs typeface="Nunito Semi-Bold"/>
                <a:sym typeface="Nunito Semi-Bold"/>
              </a:rPr>
              <a:t>, more than their sum; all three earn </a:t>
            </a:r>
            <a:r>
              <a:rPr lang="en-US" sz="1649" b="true">
                <a:solidFill>
                  <a:srgbClr val="111111"/>
                </a:solidFill>
                <a:latin typeface="Nunito Bold"/>
                <a:ea typeface="Nunito Bold"/>
                <a:cs typeface="Nunito Bold"/>
                <a:sym typeface="Nunito Bold"/>
              </a:rPr>
              <a:t>200</a:t>
            </a:r>
            <a:r>
              <a:rPr lang="en-US" sz="1649" b="true">
                <a:solidFill>
                  <a:srgbClr val="111111"/>
                </a:solidFill>
                <a:latin typeface="Nunito Semi-Bold"/>
                <a:ea typeface="Nunito Semi-Bold"/>
                <a:cs typeface="Nunito Semi-Bold"/>
                <a:sym typeface="Nunito Semi-Bold"/>
              </a:rPr>
              <a:t>. A fair split must credit what a player </a:t>
            </a:r>
            <a:r>
              <a:rPr lang="en-US" sz="1649" b="true">
                <a:solidFill>
                  <a:srgbClr val="111111"/>
                </a:solidFill>
                <a:latin typeface="Nunito Bold"/>
                <a:ea typeface="Nunito Bold"/>
                <a:cs typeface="Nunito Bold"/>
                <a:sym typeface="Nunito Bold"/>
              </a:rPr>
              <a:t>adds to the others</a:t>
            </a:r>
            <a:r>
              <a:rPr lang="en-US" sz="1649" b="true">
                <a:solidFill>
                  <a:srgbClr val="111111"/>
                </a:solidFill>
                <a:latin typeface="Nunito Semi-Bold"/>
                <a:ea typeface="Nunito Semi-Bold"/>
                <a:cs typeface="Nunito Semi-Bold"/>
                <a:sym typeface="Nunito Semi-Bold"/>
              </a:rPr>
              <a:t>.</a:t>
            </a:r>
          </a:p>
        </p:txBody>
      </p:sp>
      <p:sp>
        <p:nvSpPr>
          <p:cNvPr id="35" name="Rounded Rectangle 34"/>
          <p:cNvSpPr/>
          <p:nvPr/>
        </p:nvSpPr>
        <p:spPr>
          <a:xfrm>
            <a:off x="1028700" y="8347202"/>
            <a:ext cx="7680960" cy="1965960"/>
          </a:xfrm>
          <a:prstGeom prst="roundRect">
            <a:avLst>
              <a:gd name="adj" fmla="val 13023"/>
            </a:avLst>
          </a:prstGeom>
          <a:solidFill>
            <a:srgbClr val="111111"/>
          </a:solidFill>
          <a:ln>
            <a:noFill/>
          </a:ln>
        </p:spPr>
        <p:txBody>
          <a:bodyPr anchor="ctr" rtlCol="false" lIns="0" tIns="0" rIns="0" bIns="0" wrap="square"/>
          <a:lstStyle/>
          <a:p>
            <a:endParaRPr lang="en-US" sz="1800"/>
          </a:p>
        </p:txBody>
      </p:sp>
      <p:sp>
        <p:nvSpPr>
          <p:cNvPr id="36" name="TextBox 35"/>
          <p:cNvSpPr txBox="1"/>
          <p:nvPr/>
        </p:nvSpPr>
        <p:spPr>
          <a:xfrm>
            <a:off x="1028700" y="8475218"/>
            <a:ext cx="7680960" cy="256032"/>
          </a:xfrm>
          <a:prstGeom prst="rect">
            <a:avLst/>
          </a:prstGeom>
          <a:noFill/>
        </p:spPr>
        <p:txBody>
          <a:bodyPr anchor="t" rtlCol="false" lIns="0" tIns="0" rIns="0" bIns="0" wrap="square"/>
          <a:lstStyle/>
          <a:p>
            <a:pPr algn="ctr">
              <a:lnSpc>
                <a:spcPts val="1500"/>
              </a:lnSpc>
              <a:spcBef>
                <a:spcPts val="0"/>
              </a:spcBef>
              <a:buNone/>
            </a:pPr>
            <a:r>
              <a:rPr lang="en-US" sz="1200" b="true" spc="160">
                <a:solidFill>
                  <a:srgbClr val="ECC665"/>
                </a:solidFill>
                <a:latin typeface="Nunito Ultra-Bold"/>
                <a:ea typeface="Nunito Ultra-Bold"/>
                <a:cs typeface="Nunito Ultra-Bold"/>
                <a:sym typeface="Nunito Ultra-Bold"/>
              </a:rPr>
              <a:t>SHAPLEY VALUE OF PLAYER j  ·  SHAPLEY, 1953</a:t>
            </a:r>
          </a:p>
        </p:txBody>
      </p:sp>
      <mc:AlternateContent xmlns:mc="http://schemas.openxmlformats.org/markup-compatibility/2006">
        <mc:Choice xmlns:a14="http://schemas.microsoft.com/office/drawing/2010/main" Requires="a14">
          <p:sp>
            <p:nvSpPr>
              <p:cNvPr id="37" name="Equation"/>
              <p:cNvSpPr txBox="1"/>
              <p:nvPr/>
            </p:nvSpPr>
            <p:spPr>
              <a:xfrm>
                <a:off x="1211580" y="8749538"/>
                <a:ext cx="7315200" cy="10972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800" i="1">
                              <a:solidFill>
                                <a:srgbClr val="FFFFFF"/>
                              </a:solidFill>
                              <a:latin typeface="Cambria Math" panose="02040503050406030204" pitchFamily="18" charset="0"/>
                            </a:rPr>
                          </m:ctrlPr>
                        </m:sSubPr>
                        <m:e>
                          <m:r>
                            <a:rPr lang="en-US" sz="1800" i="1">
                              <a:solidFill>
                                <a:srgbClr val="FFFFFF"/>
                              </a:solidFill>
                              <a:latin typeface="Cambria Math" panose="02040503050406030204" pitchFamily="18" charset="0"/>
                            </a:rPr>
                            <m:t xml:space="preserve">φ</m:t>
                          </m:r>
                        </m:e>
                        <m:sub>
                          <m:r>
                            <a:rPr lang="en-US" sz="1800" i="1">
                              <a:solidFill>
                                <a:srgbClr val="FFFFFF"/>
                              </a:solidFill>
                              <a:latin typeface="Cambria Math" panose="02040503050406030204" pitchFamily="18" charset="0"/>
                            </a:rPr>
                            <m:t xml:space="preserve">j</m:t>
                          </m:r>
                        </m:sub>
                      </m:sSub>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nary>
                        <m:naryPr>
                          <m:chr m:val="∑"/>
                          <m:limLoc m:val="undOvr"/>
                          <m:supHide m:val="1"/>
                          <m:ctrlPr>
                            <a:rPr lang="en-US" sz="1800" i="1">
                              <a:solidFill>
                                <a:srgbClr val="FFFFFF"/>
                              </a:solidFill>
                              <a:latin typeface="Cambria Math" panose="02040503050406030204" pitchFamily="18" charset="0"/>
                            </a:rPr>
                          </m:ctrlPr>
                        </m:naryPr>
                        <m:sub>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sub>
                        <m:sup/>
                        <m:e>
                          <m:f>
                            <m:fPr>
                              <m:ctrlPr>
                                <a:rPr lang="en-US" sz="1800" i="1">
                                  <a:solidFill>
                                    <a:srgbClr val="FFFFFF"/>
                                  </a:solidFill>
                                  <a:latin typeface="Cambria Math" panose="02040503050406030204" pitchFamily="18" charset="0"/>
                                </a:rPr>
                              </m:ctrlPr>
                            </m:fPr>
                            <m:num>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|−1)!</m:t>
                              </m:r>
                            </m:num>
                            <m:den>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den>
                          </m:f>
                        </m:e>
                      </m:nary>
                      <m:r>
                        <m:rPr>
                          <m:sty m:val="p"/>
                        </m:rPr>
                        <a:rPr lang="en-US" sz="1800">
                          <a:solidFill>
                            <a:srgbClr val="FFFFFF"/>
                          </a:solidFill>
                          <a:latin typeface="Cambria Math" panose="02040503050406030204" pitchFamily="18" charset="0"/>
                        </a:rPr>
                        <m:t xml:space="preserve"> </m:t>
                      </m:r>
                      <m:d>
                        <m:dPr>
                          <m:begChr m:val="["/>
                          <m:endChr m:val="]"/>
                          <m:ctrlPr>
                            <a:rPr lang="en-US" sz="1800" i="1">
                              <a:solidFill>
                                <a:srgbClr val="FFFFFF"/>
                              </a:solidFill>
                              <a:latin typeface="Cambria Math" panose="02040503050406030204" pitchFamily="18" charset="0"/>
                            </a:rPr>
                          </m:ctrlPr>
                        </m:dPr>
                        <m:e>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e>
                      </m:d>
                    </m:oMath>
                  </m:oMathPara>
                </a14:m>
                <a:endParaRPr lang="en-US" sz="1800"/>
              </a:p>
            </p:txBody>
          </p:sp>
        </mc:Choice>
        <mc:Fallback>
          <p:sp>
            <p:nvSpPr>
              <p:cNvPr id="37" name="Equation"/>
              <p:cNvSpPr txBox="1"/>
              <p:nvPr/>
            </p:nvSpPr>
            <p:spPr>
              <a:xfrm>
                <a:off x="1211580" y="8749538"/>
                <a:ext cx="7315200" cy="1097280"/>
              </a:xfrm>
              <a:prstGeom prst="rect">
                <a:avLst/>
              </a:prstGeom>
              <a:blipFill>
                <a:blip r:embed="rId6"/>
                <a:stretch>
                  <a:fillRect/>
                </a:stretch>
              </a:blipFill>
            </p:spPr>
            <p:txBody>
              <a:bodyPr/>
              <a:lstStyle/>
              <a:p>
                <a:endParaRPr lang="en-US"/>
              </a:p>
            </p:txBody>
          </p:sp>
        </mc:Fallback>
      </mc:AlternateContent>
      <p:sp>
        <p:nvSpPr>
          <p:cNvPr id="38" name="TextBox 37"/>
          <p:cNvSpPr txBox="1"/>
          <p:nvPr/>
        </p:nvSpPr>
        <p:spPr>
          <a:xfrm>
            <a:off x="1028700" y="9883394"/>
            <a:ext cx="7680960" cy="310896"/>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CE7E3"/>
                </a:solidFill>
                <a:latin typeface="Nunito Semi-Bold"/>
                <a:ea typeface="Nunito Semi-Bold"/>
                <a:cs typeface="Nunito Semi-Bold"/>
                <a:sym typeface="Nunito Semi-Bold"/>
              </a:rPr>
              <a:t>average marginal contribution over every arrival order</a:t>
            </a:r>
          </a:p>
        </p:txBody>
      </p:sp>
      <p:sp>
        <p:nvSpPr>
          <p:cNvPr id="39" name="TextBox 38"/>
          <p:cNvSpPr txBox="1"/>
          <p:nvPr/>
        </p:nvSpPr>
        <p:spPr>
          <a:xfrm>
            <a:off x="9166860" y="3318002"/>
            <a:ext cx="8092440" cy="292608"/>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CHARACTERISTIC FUNCTION v(S) OF THE BAND</a:t>
            </a:r>
          </a:p>
        </p:txBody>
      </p:sp>
      <p:graphicFrame>
        <p:nvGraphicFramePr>
          <p:cNvPr id="40" name="Table 39"/>
          <p:cNvGraphicFramePr>
            <a:graphicFrameLocks noGrp="1"/>
          </p:cNvGraphicFramePr>
          <p:nvPr/>
        </p:nvGraphicFramePr>
        <p:xfrm>
          <a:off x="9166860" y="3656330"/>
          <a:ext cx="8092439" cy="4150868"/>
        </p:xfrm>
        <a:graphic>
          <a:graphicData uri="http://schemas.openxmlformats.org/drawingml/2006/table">
            <a:tbl>
              <a:tblPr firstRow="0" bandRow="0" firstCol="0" lastRow="0" lastCol="0" bandCol="0">
                <a:tableStyleId>{2D5ABB26-0587-4C30-8999-92F81FD0307C}</a:tableStyleId>
              </a:tblPr>
              <a:tblGrid>
                <a:gridCol w="2427732"/>
                <a:gridCol w="3884371"/>
                <a:gridCol w="1780336"/>
              </a:tblGrid>
              <a:tr h="446532">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41" name="Rounded Rectangle 40"/>
          <p:cNvSpPr/>
          <p:nvPr/>
        </p:nvSpPr>
        <p:spPr>
          <a:xfrm>
            <a:off x="9166860" y="8008366"/>
            <a:ext cx="8092440" cy="1143000"/>
          </a:xfrm>
          <a:prstGeom prst="roundRect">
            <a:avLst>
              <a:gd name="adj" fmla="val 16000"/>
            </a:avLst>
          </a:prstGeom>
          <a:solidFill>
            <a:srgbClr val="F6ECDF"/>
          </a:solidFill>
          <a:ln>
            <a:noFill/>
          </a:ln>
        </p:spPr>
        <p:txBody>
          <a:bodyPr anchor="ctr" rtlCol="false" lIns="274320" tIns="73152" rIns="274320" bIns="73152" wrap="square"/>
          <a:lstStyle/>
          <a:p>
            <a:pPr algn="l">
              <a:lnSpc>
                <a:spcPts val="1900"/>
              </a:lnSpc>
              <a:spcBef>
                <a:spcPts val="0"/>
              </a:spcBef>
              <a:buNone/>
            </a:pPr>
            <a:r>
              <a:rPr lang="en-US" sz="1500" b="true">
                <a:solidFill>
                  <a:srgbClr val="111111"/>
                </a:solidFill>
                <a:latin typeface="Nunito Semi-Bold"/>
                <a:ea typeface="Nunito Semi-Bold"/>
                <a:cs typeface="Nunito Semi-Bold"/>
                <a:sym typeface="Nunito Semi-Bold"/>
              </a:rPr>
              <a:t>One arrival order, V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D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G: Voice adds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Drums takes 40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80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Guitar completes the band, 80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200 (</a:t>
            </a:r>
            <a:r>
              <a:rPr lang="en-US" sz="1500" b="true">
                <a:solidFill>
                  <a:srgbClr val="111111"/>
                </a:solidFill>
                <a:latin typeface="Nunito Bold"/>
                <a:ea typeface="Nunito Bold"/>
                <a:cs typeface="Nunito Bold"/>
                <a:sym typeface="Nunito Bold"/>
              </a:rPr>
              <a:t>+120</a:t>
            </a:r>
            <a:r>
              <a:rPr lang="en-US" sz="1500" b="true">
                <a:solidFill>
                  <a:srgbClr val="111111"/>
                </a:solidFill>
                <a:latin typeface="Nunito Semi-Bold"/>
                <a:ea typeface="Nunito Semi-Bold"/>
                <a:cs typeface="Nunito Semi-Bold"/>
                <a:sym typeface="Nunito Semi-Bold"/>
              </a:rPr>
              <a:t>). Averaged over all six orders: </a:t>
            </a:r>
            <a:r>
              <a:rPr lang="en-US" sz="1500" b="true">
                <a:solidFill>
                  <a:srgbClr val="111111"/>
                </a:solidFill>
                <a:latin typeface="Nunito Bold"/>
                <a:ea typeface="Nunito Bold"/>
                <a:cs typeface="Nunito Bold"/>
                <a:sym typeface="Nunito Bold"/>
              </a:rPr>
              <a:t>90 / 70 / 40</a:t>
            </a:r>
            <a:r>
              <a:rPr lang="en-US" sz="1500" b="true">
                <a:solidFill>
                  <a:srgbClr val="111111"/>
                </a:solidFill>
                <a:latin typeface="Nunito Semi-Bold"/>
                <a:ea typeface="Nunito Semi-Bold"/>
                <a:cs typeface="Nunito Semi-Bold"/>
                <a:sym typeface="Nunito Semi-Bold"/>
              </a:rPr>
              <a:t>, which sums to 200.</a:t>
            </a:r>
          </a:p>
        </p:txBody>
      </p:sp>
      <p:sp>
        <p:nvSpPr>
          <p:cNvPr id="42" name="Rounded Rectangle 41"/>
          <p:cNvSpPr/>
          <p:nvPr/>
        </p:nvSpPr>
        <p:spPr>
          <a:xfrm>
            <a:off x="9166860"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Efficiency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the shares add up to v(N)</a:t>
            </a:r>
          </a:p>
        </p:txBody>
      </p:sp>
      <p:sp>
        <p:nvSpPr>
          <p:cNvPr id="43" name="Rounded Rectangle 42"/>
          <p:cNvSpPr/>
          <p:nvPr/>
        </p:nvSpPr>
        <p:spPr>
          <a:xfrm>
            <a:off x="13313664"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Symmetry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equal contributors, equal credit</a:t>
            </a:r>
          </a:p>
        </p:txBody>
      </p:sp>
      <p:sp>
        <p:nvSpPr>
          <p:cNvPr id="44" name="Rounded Rectangle 43"/>
          <p:cNvSpPr/>
          <p:nvPr/>
        </p:nvSpPr>
        <p:spPr>
          <a:xfrm>
            <a:off x="9166860"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Null player</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adds nothing </a:t>
            </a:r>
            <a:r>
              <a:rPr lang="en-US" sz="1200" b="true">
                <a:solidFill>
                  <a:srgbClr val="8A8378"/>
                </a:solidFill>
                <a:latin typeface="Calibri"/>
                <a:ea typeface="Calibri"/>
                <a:cs typeface="Calibri"/>
                <a:sym typeface="Calibri"/>
              </a:rPr>
              <a:t>→ </a:t>
            </a:r>
            <a:r>
              <a:rPr lang="en-US" sz="1200" b="true">
                <a:solidFill>
                  <a:srgbClr val="8A8378"/>
                </a:solidFill>
                <a:latin typeface="Nunito Semi-Bold"/>
                <a:ea typeface="Nunito Semi-Bold"/>
                <a:cs typeface="Nunito Semi-Bold"/>
                <a:sym typeface="Nunito Semi-Bold"/>
              </a:rPr>
              <a:t>gets nothing</a:t>
            </a:r>
          </a:p>
        </p:txBody>
      </p:sp>
      <p:sp>
        <p:nvSpPr>
          <p:cNvPr id="45" name="Rounded Rectangle 44"/>
          <p:cNvSpPr/>
          <p:nvPr/>
        </p:nvSpPr>
        <p:spPr>
          <a:xfrm>
            <a:off x="13313664"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Additivity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linear across games</a:t>
            </a:r>
          </a:p>
        </p:txBody>
      </p:sp>
      <p:sp>
        <p:nvSpPr>
          <p:cNvPr id="46" name="Rounded Rectangle 45"/>
          <p:cNvSpPr/>
          <p:nvPr/>
        </p:nvSpPr>
        <p:spPr>
          <a:xfrm>
            <a:off x="9166860" y="10934446"/>
            <a:ext cx="8092440" cy="-1671574"/>
          </a:xfrm>
          <a:prstGeom prst="roundRect">
            <a:avLst>
              <a:gd name="adj" fmla="val 0"/>
            </a:avLst>
          </a:prstGeom>
          <a:solidFill>
            <a:srgbClr val="DF8330"/>
          </a:solidFill>
          <a:ln>
            <a:noFill/>
          </a:ln>
        </p:spPr>
        <p:txBody>
          <a:bodyPr anchor="ctr" rtlCol="false" lIns="274320" tIns="73152" rIns="274320" bIns="73152" wrap="square"/>
          <a:lstStyle/>
          <a:p>
            <a:pPr algn="ctr">
              <a:lnSpc>
                <a:spcPts val="2000"/>
              </a:lnSpc>
              <a:spcBef>
                <a:spcPts val="0"/>
              </a:spcBef>
              <a:buNone/>
            </a:pPr>
            <a:r>
              <a:rPr lang="en-US" sz="1600" b="true">
                <a:solidFill>
                  <a:srgbClr val="FFFFFF"/>
                </a:solidFill>
                <a:latin typeface="Nunito Bold"/>
                <a:ea typeface="Nunito Bold"/>
                <a:cs typeface="Nunito Bold"/>
                <a:sym typeface="Nunito Bold"/>
              </a:rPr>
              <a:t>Why this rule:</a:t>
            </a:r>
            <a:r>
              <a:rPr lang="en-US" sz="1600" b="true">
                <a:solidFill>
                  <a:srgbClr val="FFFFFF"/>
                </a:solidFill>
                <a:latin typeface="Nunito Semi-Bold"/>
                <a:ea typeface="Nunito Semi-Bold"/>
                <a:cs typeface="Nunito Semi-Bold"/>
                <a:sym typeface="Nunito Semi-Bold"/>
              </a:rPr>
              <a:t> Shapley proved it is the </a:t>
            </a:r>
            <a:r>
              <a:rPr lang="en-US" sz="1600" b="true">
                <a:solidFill>
                  <a:srgbClr val="FFFFFF"/>
                </a:solidFill>
                <a:latin typeface="Nunito Bold"/>
                <a:ea typeface="Nunito Bold"/>
                <a:cs typeface="Nunito Bold"/>
                <a:sym typeface="Nunito Bold"/>
              </a:rPr>
              <a:t>only</a:t>
            </a:r>
            <a:r>
              <a:rPr lang="en-US" sz="1600" b="true">
                <a:solidFill>
                  <a:srgbClr val="FFFFFF"/>
                </a:solidFill>
                <a:latin typeface="Nunito Semi-Bold"/>
                <a:ea typeface="Nunito Semi-Bold"/>
                <a:cs typeface="Nunito Semi-Bold"/>
                <a:sym typeface="Nunito Semi-Bold"/>
              </a:rPr>
              <a:t> allocation satisfying all four axioms at once.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23" name="Picture 22" descr="image.png"/>
          <p:cNvPicPr>
            <a:picLocks noChangeAspect="1"/>
          </p:cNvPicPr>
          <p:nvPr/>
        </p:nvPicPr>
        <p:blipFill>
          <a:blip r:embed="rId3"/>
          <a:stretch>
            <a:fillRect/>
          </a:stretch>
        </p:blipFill>
        <p:spPr>
          <a:xfrm>
            <a:off x="12801592"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9" name="Connector 28"/>
          <p:cNvCxnSpPr/>
          <p:nvPr/>
        </p:nvCxnSpPr>
        <p:spPr>
          <a:xfrm>
            <a:off x="4027932" y="4049522"/>
            <a:ext cx="1362456" cy="0"/>
          </a:xfrm>
          <a:prstGeom prst="line">
            <a:avLst/>
          </a:prstGeom>
          <a:ln w="31750">
            <a:solidFill>
              <a:srgbClr val="124944"/>
            </a:solidFill>
            <a:tailEnd type="triangle" w="med" len="med"/>
          </a:ln>
        </p:spPr>
      </p:cxnSp>
      <p:sp>
        <p:nvSpPr>
          <p:cNvPr id="30" name="Rounded Rectangle 29"/>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31" name="Connector 30"/>
          <p:cNvCxnSpPr/>
          <p:nvPr/>
        </p:nvCxnSpPr>
        <p:spPr>
          <a:xfrm>
            <a:off x="8462772" y="4049522"/>
            <a:ext cx="1362456" cy="0"/>
          </a:xfrm>
          <a:prstGeom prst="line">
            <a:avLst/>
          </a:prstGeom>
          <a:ln w="31750">
            <a:solidFill>
              <a:srgbClr val="124944"/>
            </a:solidFill>
            <a:tailEnd type="triangle" w="med" len="med"/>
          </a:ln>
        </p:spPr>
      </p:cxnSp>
      <p:sp>
        <p:nvSpPr>
          <p:cNvPr id="32" name="Rounded Rectangle 31"/>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3" name="Connector 32"/>
          <p:cNvCxnSpPr/>
          <p:nvPr/>
        </p:nvCxnSpPr>
        <p:spPr>
          <a:xfrm>
            <a:off x="12897612" y="4049522"/>
            <a:ext cx="1362456" cy="0"/>
          </a:xfrm>
          <a:prstGeom prst="line">
            <a:avLst/>
          </a:prstGeom>
          <a:ln w="31750">
            <a:solidFill>
              <a:srgbClr val="124944"/>
            </a:solidFill>
            <a:tailEnd type="triangle" w="med" len="med"/>
          </a:ln>
        </p:spPr>
      </p:cxnSp>
      <p:sp>
        <p:nvSpPr>
          <p:cNvPr id="34" name="Rounded Rectangle 33"/>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5" name="Rounded Rectangle 34"/>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37" name="TextBox 36"/>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40" name="TextBox 39"/>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pic>
        <p:nvPicPr>
          <p:cNvPr id="23" name="Picture 22" descr="image.png"/>
          <p:cNvPicPr>
            <a:picLocks noChangeAspect="1"/>
          </p:cNvPicPr>
          <p:nvPr/>
        </p:nvPicPr>
        <p:blipFill>
          <a:blip r:embed="rId3"/>
          <a:stretch>
            <a:fillRect/>
          </a:stretch>
        </p:blipFill>
        <p:spPr>
          <a:xfrm>
            <a:off x="1233191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9" name="Table 28"/>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Rounded Rectangle 29"/>
          <p:cNvSpPr/>
          <p:nvPr/>
        </p:nvSpPr>
        <p:spPr>
          <a:xfrm>
            <a:off x="9441180" y="6014466"/>
            <a:ext cx="3771900" cy="3294126"/>
          </a:xfrm>
          <a:prstGeom prst="roundRect">
            <a:avLst>
              <a:gd name="adj" fmla="val 8327"/>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31" name="Rounded Rectangle 30"/>
          <p:cNvSpPr/>
          <p:nvPr/>
        </p:nvSpPr>
        <p:spPr>
          <a:xfrm>
            <a:off x="13487400" y="6014466"/>
            <a:ext cx="3771900" cy="3294126"/>
          </a:xfrm>
          <a:prstGeom prst="roundRect">
            <a:avLst>
              <a:gd name="adj" fmla="val 8327"/>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pic>
        <p:nvPicPr>
          <p:cNvPr id="23" name="Picture 22" descr="image.png"/>
          <p:cNvPicPr>
            <a:picLocks noChangeAspect="1"/>
          </p:cNvPicPr>
          <p:nvPr/>
        </p:nvPicPr>
        <p:blipFill>
          <a:blip r:embed="rId3"/>
          <a:stretch>
            <a:fillRect/>
          </a:stretch>
        </p:blipFill>
        <p:spPr>
          <a:xfrm>
            <a:off x="1054954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9" name="Rounded Rectangle 28"/>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1_wine_global.png"/>
          <p:cNvPicPr>
            <a:picLocks noChangeAspect="1"/>
          </p:cNvPicPr>
          <p:nvPr/>
        </p:nvPicPr>
        <p:blipFill>
          <a:blip r:embed="rId5"/>
          <a:stretch>
            <a:fillRect/>
          </a:stretch>
        </p:blipFill>
        <p:spPr>
          <a:xfrm>
            <a:off x="9984489" y="3546602"/>
            <a:ext cx="5359901" cy="3320160"/>
          </a:xfrm>
          <a:prstGeom prst="rect">
            <a:avLst/>
          </a:prstGeom>
        </p:spPr>
      </p:pic>
      <p:sp>
        <p:nvSpPr>
          <p:cNvPr id="31" name="TextBox 30"/>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32" name="Rounded Rectangle 31"/>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3" name="Picture 32" descr="fig5_2_wine_clusters.png"/>
          <p:cNvPicPr>
            <a:picLocks noChangeAspect="1"/>
          </p:cNvPicPr>
          <p:nvPr/>
        </p:nvPicPr>
        <p:blipFill>
          <a:blip r:embed="rId6"/>
          <a:stretch>
            <a:fillRect/>
          </a:stretch>
        </p:blipFill>
        <p:spPr>
          <a:xfrm>
            <a:off x="10379599" y="7808595"/>
            <a:ext cx="4569680" cy="814197"/>
          </a:xfrm>
          <a:prstGeom prst="rect">
            <a:avLst/>
          </a:prstGeom>
        </p:spPr>
      </p:pic>
      <p:sp>
        <p:nvSpPr>
          <p:cNvPr id="34" name="TextBox 33"/>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pic>
        <p:nvPicPr>
          <p:cNvPr id="23" name="Picture 22" descr="image.png"/>
          <p:cNvPicPr>
            <a:picLocks noChangeAspect="1"/>
          </p:cNvPicPr>
          <p:nvPr/>
        </p:nvPicPr>
        <p:blipFill>
          <a:blip r:embed="rId3"/>
          <a:stretch>
            <a:fillRect/>
          </a:stretch>
        </p:blipFill>
        <p:spPr>
          <a:xfrm>
            <a:off x="5060521"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31" name="Table 30"/>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pic>
        <p:nvPicPr>
          <p:cNvPr id="23" name="Picture 22" descr="image.png"/>
          <p:cNvPicPr>
            <a:picLocks noChangeAspect="1"/>
          </p:cNvPicPr>
          <p:nvPr/>
        </p:nvPicPr>
        <p:blipFill>
          <a:blip r:embed="rId3"/>
          <a:stretch>
            <a:fillRect/>
          </a:stretch>
        </p:blipFill>
        <p:spPr>
          <a:xfrm>
            <a:off x="7838100"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367987"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8" name="Oval 7"/>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pic>
        <p:nvPicPr>
          <p:cNvPr id="23" name="Picture 22" descr="image.png"/>
          <p:cNvPicPr>
            <a:picLocks noChangeAspect="1"/>
          </p:cNvPicPr>
          <p:nvPr/>
        </p:nvPicPr>
        <p:blipFill>
          <a:blip r:embed="rId3"/>
          <a:stretch>
            <a:fillRect/>
          </a:stretch>
        </p:blipFill>
        <p:spPr>
          <a:xfrm>
            <a:off x="6337553"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23" name="Picture 22" descr="image.png"/>
          <p:cNvPicPr>
            <a:picLocks noChangeAspect="1"/>
          </p:cNvPicPr>
          <p:nvPr/>
        </p:nvPicPr>
        <p:blipFill>
          <a:blip r:embed="rId3"/>
          <a:stretch>
            <a:fillRect/>
          </a:stretch>
        </p:blipFill>
        <p:spPr>
          <a:xfrm>
            <a:off x="14669741"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9" name="Rounded Rectangle 28"/>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30" name="Rounded Rectangle 29"/>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31" name="Connector 30"/>
          <p:cNvCxnSpPr/>
          <p:nvPr/>
        </p:nvCxnSpPr>
        <p:spPr>
          <a:xfrm flipH="1">
            <a:off x="10515600" y="4278122"/>
            <a:ext cx="2743200" cy="502920"/>
          </a:xfrm>
          <a:prstGeom prst="line">
            <a:avLst/>
          </a:prstGeom>
          <a:ln w="25400">
            <a:solidFill>
              <a:srgbClr val="124944"/>
            </a:solidFill>
            <a:tailEnd type="triangle" w="med" len="med"/>
          </a:ln>
        </p:spPr>
      </p:cxnSp>
      <p:sp>
        <p:nvSpPr>
          <p:cNvPr id="32" name="Rounded Rectangle 31"/>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3" name="Connector 32"/>
          <p:cNvCxnSpPr/>
          <p:nvPr/>
        </p:nvCxnSpPr>
        <p:spPr>
          <a:xfrm flipH="1">
            <a:off x="9859518" y="6088634"/>
            <a:ext cx="656082" cy="393192"/>
          </a:xfrm>
          <a:prstGeom prst="line">
            <a:avLst/>
          </a:prstGeom>
          <a:ln w="19050">
            <a:solidFill>
              <a:srgbClr val="124944"/>
            </a:solidFill>
            <a:tailEnd type="triangle" w="med" len="med"/>
          </a:ln>
        </p:spPr>
      </p:cxnSp>
      <p:sp>
        <p:nvSpPr>
          <p:cNvPr id="34" name="Rounded Rectangle 33"/>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5" name="Connector 34"/>
          <p:cNvCxnSpPr/>
          <p:nvPr/>
        </p:nvCxnSpPr>
        <p:spPr>
          <a:xfrm>
            <a:off x="10515600" y="6088634"/>
            <a:ext cx="656082" cy="393192"/>
          </a:xfrm>
          <a:prstGeom prst="line">
            <a:avLst/>
          </a:prstGeom>
          <a:ln w="19050">
            <a:solidFill>
              <a:srgbClr val="124944"/>
            </a:solidFill>
            <a:tailEnd type="triangle" w="med" len="med"/>
          </a:ln>
        </p:spPr>
      </p:cxnSp>
      <p:sp>
        <p:nvSpPr>
          <p:cNvPr id="36" name="Rounded Rectangle 35"/>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7" name="Connector 36"/>
          <p:cNvCxnSpPr/>
          <p:nvPr/>
        </p:nvCxnSpPr>
        <p:spPr>
          <a:xfrm>
            <a:off x="13258800" y="4278122"/>
            <a:ext cx="0" cy="502920"/>
          </a:xfrm>
          <a:prstGeom prst="line">
            <a:avLst/>
          </a:prstGeom>
          <a:ln w="25400">
            <a:solidFill>
              <a:srgbClr val="124944"/>
            </a:solidFill>
            <a:tailEnd type="triangle" w="med" len="med"/>
          </a:ln>
        </p:spPr>
      </p:cxnSp>
      <p:sp>
        <p:nvSpPr>
          <p:cNvPr id="38" name="Rounded Rectangle 37"/>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9" name="Connector 38"/>
          <p:cNvCxnSpPr/>
          <p:nvPr/>
        </p:nvCxnSpPr>
        <p:spPr>
          <a:xfrm flipH="1">
            <a:off x="12602718" y="6088634"/>
            <a:ext cx="656082" cy="393192"/>
          </a:xfrm>
          <a:prstGeom prst="line">
            <a:avLst/>
          </a:prstGeom>
          <a:ln w="19050">
            <a:solidFill>
              <a:srgbClr val="124944"/>
            </a:solidFill>
            <a:tailEnd type="triangle" w="med" len="med"/>
          </a:ln>
        </p:spPr>
      </p:cxnSp>
      <p:sp>
        <p:nvSpPr>
          <p:cNvPr id="40" name="Rounded Rectangle 39"/>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1" name="Connector 40"/>
          <p:cNvCxnSpPr/>
          <p:nvPr/>
        </p:nvCxnSpPr>
        <p:spPr>
          <a:xfrm>
            <a:off x="13258800" y="6088634"/>
            <a:ext cx="656082" cy="393192"/>
          </a:xfrm>
          <a:prstGeom prst="line">
            <a:avLst/>
          </a:prstGeom>
          <a:ln w="19050">
            <a:solidFill>
              <a:srgbClr val="124944"/>
            </a:solidFill>
            <a:tailEnd type="triangle" w="med" len="med"/>
          </a:ln>
        </p:spPr>
      </p:cxnSp>
      <p:sp>
        <p:nvSpPr>
          <p:cNvPr id="42" name="Rounded Rectangle 41"/>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3" name="Connector 42"/>
          <p:cNvCxnSpPr/>
          <p:nvPr/>
        </p:nvCxnSpPr>
        <p:spPr>
          <a:xfrm>
            <a:off x="13258800" y="4278122"/>
            <a:ext cx="2743200" cy="502920"/>
          </a:xfrm>
          <a:prstGeom prst="line">
            <a:avLst/>
          </a:prstGeom>
          <a:ln w="25400">
            <a:solidFill>
              <a:srgbClr val="124944"/>
            </a:solidFill>
            <a:tailEnd type="triangle" w="med" len="med"/>
          </a:ln>
        </p:spPr>
      </p:cxnSp>
      <p:sp>
        <p:nvSpPr>
          <p:cNvPr id="44" name="Rounded Rectangle 43"/>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5" name="Connector 44"/>
          <p:cNvCxnSpPr/>
          <p:nvPr/>
        </p:nvCxnSpPr>
        <p:spPr>
          <a:xfrm flipH="1">
            <a:off x="15345918" y="6088634"/>
            <a:ext cx="656082" cy="393192"/>
          </a:xfrm>
          <a:prstGeom prst="line">
            <a:avLst/>
          </a:prstGeom>
          <a:ln w="19050">
            <a:solidFill>
              <a:srgbClr val="124944"/>
            </a:solidFill>
            <a:tailEnd type="triangle" w="med" len="med"/>
          </a:ln>
        </p:spPr>
      </p:cxnSp>
      <p:sp>
        <p:nvSpPr>
          <p:cNvPr id="46" name="Rounded Rectangle 45"/>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7" name="Connector 46"/>
          <p:cNvCxnSpPr/>
          <p:nvPr/>
        </p:nvCxnSpPr>
        <p:spPr>
          <a:xfrm>
            <a:off x="16002000" y="6088634"/>
            <a:ext cx="656082" cy="393192"/>
          </a:xfrm>
          <a:prstGeom prst="line">
            <a:avLst/>
          </a:prstGeom>
          <a:ln w="19050">
            <a:solidFill>
              <a:srgbClr val="124944"/>
            </a:solidFill>
            <a:tailEnd type="triangle" w="med" len="med"/>
          </a:ln>
        </p:spPr>
      </p:cxnSp>
      <p:sp>
        <p:nvSpPr>
          <p:cNvPr id="48" name="Rounded Rectangle 47"/>
          <p:cNvSpPr/>
          <p:nvPr/>
        </p:nvSpPr>
        <p:spPr>
          <a:xfrm>
            <a:off x="9258300" y="7341362"/>
            <a:ext cx="8001000" cy="1967230"/>
          </a:xfrm>
          <a:prstGeom prst="roundRect">
            <a:avLst>
              <a:gd name="adj" fmla="val 11620"/>
            </a:avLst>
          </a:prstGeom>
          <a:solidFill>
            <a:srgbClr val="124944"/>
          </a:solidFill>
          <a:ln>
            <a:noFill/>
          </a:ln>
        </p:spPr>
        <p:txBody>
          <a:bodyPr anchor="ctr" rtlCol="false" lIns="0" tIns="0" rIns="0" bIns="0" wrap="square"/>
          <a:lstStyle/>
          <a:p>
            <a:endParaRPr lang="en-US" sz="1800"/>
          </a:p>
        </p:txBody>
      </p:sp>
      <p:sp>
        <p:nvSpPr>
          <p:cNvPr id="49" name="TextBox 48"/>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50"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50" name="Equation"/>
              <p:cNvSpPr txBox="1"/>
              <p:nvPr/>
            </p:nvSpPr>
            <p:spPr>
              <a:xfrm>
                <a:off x="9441180" y="7761986"/>
                <a:ext cx="7635240" cy="96012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51"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w</m:t>
                          </m:r>
                        </m:e>
                        <m:sub>
                          <m:r>
                            <a:rPr lang="en-US" sz="1400" i="1">
                              <a:solidFill>
                                <a:srgbClr val="DCE7E3"/>
                              </a:solidFill>
                              <a:latin typeface="Cambria Math" panose="02040503050406030204" pitchFamily="18" charset="0"/>
                            </a:rPr>
                            <m:t xml:space="preserve">c′</m:t>
                          </m:r>
                        </m:sub>
                      </m:sSub>
                      <m:r>
                        <m:rPr>
                          <m:sty m:val="p"/>
                        </m:rPr>
                        <a:rPr lang="en-US" sz="1400">
                          <a:solidFill>
                            <a:srgbClr val="DCE7E3"/>
                          </a:solidFill>
                          <a:latin typeface="Cambria Math" panose="02040503050406030204" pitchFamily="18" charset="0"/>
                        </a:rPr>
                        <m:t xml:space="preserve">=|</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 |</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m:t>
                      </m:r>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ε</m:t>
                          </m:r>
                        </m:e>
                        <m:sub>
                          <m:r>
                            <a:rPr lang="en-US" sz="1400" i="1">
                              <a:solidFill>
                                <a:srgbClr val="DCE7E3"/>
                              </a:solidFill>
                              <a:latin typeface="Cambria Math" panose="02040503050406030204" pitchFamily="18" charset="0"/>
                            </a:rPr>
                            <m:t xml:space="preserve">j</m:t>
                          </m:r>
                        </m:sub>
                      </m:sSub>
                      <m:r>
                        <m:rPr>
                          <m:sty m:val="p"/>
                        </m:rPr>
                        <a:rPr lang="en-US" sz="1400">
                          <a:solidFill>
                            <a:srgbClr val="DCE7E3"/>
                          </a:solidFill>
                          <a:latin typeface="Cambria Math" panose="02040503050406030204" pitchFamily="18" charset="0"/>
                        </a:rPr>
                        <m:t xml:space="preserve">→0</m:t>
                      </m:r>
                      <m:r>
                        <m:rPr>
                          <m:nor/>
                        </m:rPr>
                        <a:rPr lang="en-US" sz="1400">
                          <a:solidFill>
                            <a:srgbClr val="DCE7E3"/>
                          </a:solidFill>
                          <a:latin typeface="Cambria Math" panose="02040503050406030204" pitchFamily="18" charset="0"/>
                        </a:rPr>
                        <m:t xml:space="preserve">  under perfect surrogate fidelity</m:t>
                      </m:r>
                    </m:oMath>
                  </m:oMathPara>
                </a14:m>
                <a:endParaRPr lang="en-US" sz="1400"/>
              </a:p>
            </p:txBody>
          </p:sp>
        </mc:Choice>
        <mc:Fallback>
          <p:sp>
            <p:nvSpPr>
              <p:cNvPr id="51" name="Equation"/>
              <p:cNvSpPr txBox="1"/>
              <p:nvPr/>
            </p:nvSpPr>
            <p:spPr>
              <a:xfrm>
                <a:off x="9441180" y="8712962"/>
                <a:ext cx="7635240" cy="457200"/>
              </a:xfrm>
              <a:prstGeom prst="rect">
                <a:avLst/>
              </a:prstGeom>
              <a:blipFill>
                <a:blip r:embed="rId6"/>
                <a:stretch>
                  <a:fillRect/>
                </a:stretch>
              </a:blipFill>
            </p:spPr>
            <p:txBody>
              <a:bodyPr/>
              <a:lstStyle/>
              <a:p>
                <a:endParaRPr lang="en-US"/>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pic>
        <p:nvPicPr>
          <p:cNvPr id="23" name="Picture 22" descr="image.png"/>
          <p:cNvPicPr>
            <a:picLocks noChangeAspect="1"/>
          </p:cNvPicPr>
          <p:nvPr/>
        </p:nvPicPr>
        <p:blipFill>
          <a:blip r:embed="rId3"/>
          <a:stretch>
            <a:fillRect/>
          </a:stretch>
        </p:blipFill>
        <p:spPr>
          <a:xfrm>
            <a:off x="11568381"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Oval 27"/>
          <p:cNvSpPr/>
          <p:nvPr/>
        </p:nvSpPr>
        <p:spPr>
          <a:xfrm>
            <a:off x="1028700" y="355574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sSub>
                        <m:sSubPr>
                          <m:ctrlPr>
                            <a:rPr lang="en-US" sz="1800" i="1">
                              <a:solidFill>
                                <a:srgbClr val="124944"/>
                              </a:solidFill>
                              <a:latin typeface="Cambria Math" panose="02040503050406030204" pitchFamily="18" charset="0"/>
                            </a:rPr>
                          </m:ctrlPr>
                        </m:sSubPr>
                        <m:e>
                          <m:r>
                            <m:rPr>
                              <m:scr m:val="double-struck"/>
                              <m:sty m:val="p"/>
                            </m:rPr>
                            <a:rPr lang="en-US" sz="1800">
                              <a:solidFill>
                                <a:srgbClr val="124944"/>
                              </a:solidFill>
                              <a:latin typeface="Cambria Math" panose="02040503050406030204" pitchFamily="18" charset="0"/>
                            </a:rPr>
                            <m:t xml:space="preserve">E</m:t>
                          </m:r>
                        </m:e>
                        <m:sub>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sub>
                      </m:sSub>
                      <m:d>
                        <m:dPr>
                          <m:begChr m:val="["/>
                          <m:endChr m:val="]"/>
                          <m:ctrlPr>
                            <a:rPr lang="en-US" sz="1800" i="1">
                              <a:solidFill>
                                <a:srgbClr val="124944"/>
                              </a:solidFill>
                              <a:latin typeface="Cambria Math" panose="02040503050406030204" pitchFamily="18" charset="0"/>
                            </a:rPr>
                          </m:ctrlPr>
                        </m:dPr>
                        <m:e>
                          <m:r>
                            <m:rPr>
                              <m:sty m:val="p"/>
                            </m:rPr>
                            <a:rPr lang="en-US" sz="1800">
                              <a:solidFill>
                                <a:srgbClr val="124944"/>
                              </a:solidFill>
                              <a:latin typeface="Cambria Math" panose="02040503050406030204" pitchFamily="18" charset="0"/>
                            </a:rPr>
                            <m:t xml:space="preserve"> </m:t>
                          </m:r>
                          <m:d>
                            <m:dPr>
                              <m:begChr m:val="|"/>
                              <m:endChr m:val="|"/>
                              <m:ctrlPr>
                                <a:rPr lang="en-US" sz="1800" i="1">
                                  <a:solidFill>
                                    <a:srgbClr val="124944"/>
                                  </a:solidFill>
                                  <a:latin typeface="Cambria Math" panose="02040503050406030204" pitchFamily="18" charset="0"/>
                                </a:rPr>
                              </m:ctrlPr>
                            </m:dPr>
                            <m:e>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e>
                          </m:d>
                          <m:r>
                            <m:rPr>
                              <m:sty m:val="p"/>
                            </m:rPr>
                            <a:rPr lang="en-US" sz="1800">
                              <a:solidFill>
                                <a:srgbClr val="124944"/>
                              </a:solidFill>
                              <a:latin typeface="Cambria Math" panose="02040503050406030204" pitchFamily="18" charset="0"/>
                            </a:rPr>
                            <m:t xml:space="preserve"> </m:t>
                          </m:r>
                        </m:e>
                      </m:d>
                    </m:oMath>
                  </m:oMathPara>
                </a14:m>
                <a:endParaRPr lang="en-US" sz="1800"/>
              </a:p>
            </p:txBody>
          </p:sp>
        </mc:Choice>
        <mc:Fallback>
          <p:sp>
            <p:nvSpPr>
              <p:cNvPr id="29" name="Equation"/>
              <p:cNvSpPr txBox="1"/>
              <p:nvPr/>
            </p:nvSpPr>
            <p:spPr>
              <a:xfrm>
                <a:off x="1440180" y="336372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31" name="Oval 30"/>
          <p:cNvSpPr/>
          <p:nvPr/>
        </p:nvSpPr>
        <p:spPr>
          <a:xfrm>
            <a:off x="1028700" y="428726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32"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124944"/>
                              </a:solidFill>
                              <a:latin typeface="Cambria Math" panose="02040503050406030204" pitchFamily="18" charset="0"/>
                            </a:rPr>
                          </m:ctrlPr>
                        </m:sSubPr>
                        <m:e>
                          <m:r>
                            <a:rPr lang="en-US" sz="2100" i="1">
                              <a:solidFill>
                                <a:srgbClr val="124944"/>
                              </a:solidFill>
                              <a:latin typeface="Cambria Math" panose="02040503050406030204" pitchFamily="18" charset="0"/>
                            </a:rPr>
                            <m:t xml:space="preserve">w</m:t>
                          </m:r>
                        </m:e>
                        <m:sub>
                          <m:r>
                            <a:rPr lang="en-US" sz="2100" i="1">
                              <a:solidFill>
                                <a:srgbClr val="124944"/>
                              </a:solidFill>
                              <a:latin typeface="Cambria Math" panose="02040503050406030204" pitchFamily="18" charset="0"/>
                            </a:rPr>
                            <m:t xml:space="preserve">c′</m:t>
                          </m:r>
                        </m:sub>
                      </m:sSub>
                      <m:r>
                        <m:rPr>
                          <m:sty m:val="p"/>
                        </m:rPr>
                        <a:rPr lang="en-US" sz="2100">
                          <a:solidFill>
                            <a:srgbClr val="124944"/>
                          </a:solidFill>
                          <a:latin typeface="Cambria Math" panose="02040503050406030204" pitchFamily="18" charset="0"/>
                        </a:rPr>
                        <m:t xml:space="preserve">=|</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 / |</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m:t>
                      </m:r>
                    </m:oMath>
                  </m:oMathPara>
                </a14:m>
                <a:endParaRPr lang="en-US" sz="2100"/>
              </a:p>
            </p:txBody>
          </p:sp>
        </mc:Choice>
        <mc:Fallback>
          <p:sp>
            <p:nvSpPr>
              <p:cNvPr id="32" name="Equation"/>
              <p:cNvSpPr txBox="1"/>
              <p:nvPr/>
            </p:nvSpPr>
            <p:spPr>
              <a:xfrm>
                <a:off x="1440180" y="4095242"/>
                <a:ext cx="3840480" cy="658368"/>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4" name="TextBox 33"/>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5" name="Rounded Rectangle 34"/>
          <p:cNvSpPr/>
          <p:nvPr/>
        </p:nvSpPr>
        <p:spPr>
          <a:xfrm>
            <a:off x="1028700" y="5393690"/>
            <a:ext cx="8229600" cy="1508760"/>
          </a:xfrm>
          <a:prstGeom prst="roundRect">
            <a:avLst>
              <a:gd name="adj" fmla="val 1212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6"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nary>
                        <m:naryPr>
                          <m:chr m:val="∑"/>
                          <m:limLoc m:val="undOvr"/>
                          <m:supHide m:val="1"/>
                          <m:ctrlPr>
                            <a:rPr lang="en-US" sz="2550" i="1">
                              <a:solidFill>
                                <a:srgbClr val="124944"/>
                              </a:solidFill>
                              <a:latin typeface="Cambria Math" panose="02040503050406030204" pitchFamily="18" charset="0"/>
                            </a:rPr>
                          </m:ctrlPr>
                        </m:naryPr>
                        <m:sub>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∈child(</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b>
                        <m:sup/>
                        <m:e>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w</m:t>
                              </m:r>
                            </m:e>
                            <m:sub>
                              <m:r>
                                <a:rPr lang="en-US" sz="2550" i="1">
                                  <a:solidFill>
                                    <a:srgbClr val="124944"/>
                                  </a:solidFill>
                                  <a:latin typeface="Cambria Math" panose="02040503050406030204" pitchFamily="18" charset="0"/>
                                </a:rPr>
                                <m:t xml:space="preserve">c′</m:t>
                              </m:r>
                            </m:sub>
                          </m:sSub>
                        </m:e>
                      </m:nary>
                      <m:r>
                        <m:rPr>
                          <m:sty m:val="p"/>
                        </m:rPr>
                        <a:rPr lang="en-US" sz="2550">
                          <a:solidFill>
                            <a:srgbClr val="124944"/>
                          </a:solidFill>
                          <a:latin typeface="Cambria Math" panose="02040503050406030204" pitchFamily="18" charset="0"/>
                        </a:rPr>
                        <m:t xml:space="preserve"> </m:t>
                      </m:r>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+1, </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ε</m:t>
                          </m:r>
                        </m:e>
                        <m:sub>
                          <m:r>
                            <a:rPr lang="en-US" sz="2550" i="1">
                              <a:solidFill>
                                <a:srgbClr val="124944"/>
                              </a:solidFill>
                              <a:latin typeface="Cambria Math" panose="02040503050406030204" pitchFamily="18" charset="0"/>
                            </a:rPr>
                            <m:t xml:space="preserve">j</m:t>
                          </m:r>
                        </m:sub>
                      </m:sSub>
                    </m:oMath>
                  </m:oMathPara>
                </a14:m>
                <a:endParaRPr lang="en-US" sz="2550"/>
              </a:p>
            </p:txBody>
          </p:sp>
        </mc:Choice>
        <mc:Fallback>
          <p:sp>
            <p:nvSpPr>
              <p:cNvPr id="36" name="Equation"/>
              <p:cNvSpPr txBox="1"/>
              <p:nvPr/>
            </p:nvSpPr>
            <p:spPr>
              <a:xfrm>
                <a:off x="1211580" y="5393690"/>
                <a:ext cx="7863840" cy="1508760"/>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DF8330"/>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8" name="Rounded Rectangle 37"/>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39" name="Rounded Rectangle 38"/>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40" name="TextBox 39"/>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41" name="Rounded Rectangle 40"/>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42" name="Rounded Rectangle 41"/>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pic>
        <p:nvPicPr>
          <p:cNvPr id="23" name="Picture 22" descr="image.png"/>
          <p:cNvPicPr>
            <a:picLocks noChangeAspect="1"/>
          </p:cNvPicPr>
          <p:nvPr/>
        </p:nvPicPr>
        <p:blipFill>
          <a:blip r:embed="rId3"/>
          <a:stretch>
            <a:fillRect/>
          </a:stretch>
        </p:blipFill>
        <p:spPr>
          <a:xfrm>
            <a:off x="123414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9" name="Rounded Rectangle 28"/>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30" name="Rounded Rectangle 29"/>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31" name="TextBox 30"/>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32" name="Rounded Rectangle 31"/>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600633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4" name="TextBox 33"/>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5" name="Rounded Rectangle 34"/>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37" name="TextBox 36"/>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pic>
        <p:nvPicPr>
          <p:cNvPr id="23" name="Picture 22" descr="image.png"/>
          <p:cNvPicPr>
            <a:picLocks noChangeAspect="1"/>
          </p:cNvPicPr>
          <p:nvPr/>
        </p:nvPicPr>
        <p:blipFill>
          <a:blip r:embed="rId3"/>
          <a:stretch>
            <a:fillRect/>
          </a:stretch>
        </p:blipFill>
        <p:spPr>
          <a:xfrm>
            <a:off x="15043687"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9" name="Rounded Rectangle 28"/>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6_1_beijing_global.png"/>
          <p:cNvPicPr>
            <a:picLocks noChangeAspect="1"/>
          </p:cNvPicPr>
          <p:nvPr/>
        </p:nvPicPr>
        <p:blipFill>
          <a:blip r:embed="rId5"/>
          <a:stretch>
            <a:fillRect/>
          </a:stretch>
        </p:blipFill>
        <p:spPr>
          <a:xfrm>
            <a:off x="9013665" y="3546602"/>
            <a:ext cx="7484428" cy="5076190"/>
          </a:xfrm>
          <a:prstGeom prst="rect">
            <a:avLst/>
          </a:prstGeom>
        </p:spPr>
      </p:pic>
      <p:sp>
        <p:nvSpPr>
          <p:cNvPr id="31" name="TextBox 30"/>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pic>
        <p:nvPicPr>
          <p:cNvPr id="23" name="Picture 22" descr="image.png"/>
          <p:cNvPicPr>
            <a:picLocks noChangeAspect="1"/>
          </p:cNvPicPr>
          <p:nvPr/>
        </p:nvPicPr>
        <p:blipFill>
          <a:blip r:embed="rId3"/>
          <a:stretch>
            <a:fillRect/>
          </a:stretch>
        </p:blipFill>
        <p:spPr>
          <a:xfrm>
            <a:off x="1165934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fig6_3_beijing_multilevel.png"/>
          <p:cNvPicPr>
            <a:picLocks noChangeAspect="1"/>
          </p:cNvPicPr>
          <p:nvPr/>
        </p:nvPicPr>
        <p:blipFill>
          <a:blip r:embed="rId5"/>
          <a:stretch>
            <a:fillRect/>
          </a:stretch>
        </p:blipFill>
        <p:spPr>
          <a:xfrm>
            <a:off x="6273209" y="3500882"/>
            <a:ext cx="5741581" cy="1645920"/>
          </a:xfrm>
          <a:prstGeom prst="rect">
            <a:avLst/>
          </a:prstGeom>
        </p:spPr>
      </p:pic>
      <p:sp>
        <p:nvSpPr>
          <p:cNvPr id="30" name="TextBox 29"/>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31" name="Rounded Rectangle 30"/>
          <p:cNvSpPr/>
          <p:nvPr/>
        </p:nvSpPr>
        <p:spPr>
          <a:xfrm>
            <a:off x="1028700" y="6198362"/>
            <a:ext cx="7932420" cy="2148840"/>
          </a:xfrm>
          <a:prstGeom prst="roundRect">
            <a:avLst>
              <a:gd name="adj" fmla="val 14468"/>
            </a:avLst>
          </a:prstGeom>
          <a:solidFill>
            <a:srgbClr val="124944"/>
          </a:solidFill>
          <a:ln>
            <a:noFill/>
          </a:ln>
        </p:spPr>
        <p:txBody>
          <a:bodyPr anchor="ctr" rtlCol="false" lIns="0" tIns="0" rIns="0" bIns="0" wrap="square"/>
          <a:lstStyle/>
          <a:p>
            <a:endParaRPr lang="en-US" sz="1800"/>
          </a:p>
        </p:txBody>
      </p:sp>
      <p:sp>
        <p:nvSpPr>
          <p:cNvPr id="32" name="Rounded Rectangle 31"/>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33" name="TextBox 32"/>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4" name="Rounded Rectangle 33"/>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5" name="Rounded Rectangle 34"/>
          <p:cNvSpPr/>
          <p:nvPr/>
        </p:nvSpPr>
        <p:spPr>
          <a:xfrm>
            <a:off x="9784080" y="5960618"/>
            <a:ext cx="620306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6" name="TextBox 35"/>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DF8330"/>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7" name="Rounded Rectangle 36"/>
          <p:cNvSpPr/>
          <p:nvPr/>
        </p:nvSpPr>
        <p:spPr>
          <a:xfrm>
            <a:off x="1028700" y="8621522"/>
            <a:ext cx="16230600" cy="595630"/>
          </a:xfrm>
          <a:prstGeom prst="roundRect">
            <a:avLst>
              <a:gd name="adj" fmla="val 46055"/>
            </a:avLst>
          </a:prstGeom>
          <a:noFill/>
          <a:ln w="31750">
            <a:solidFill>
              <a:srgbClr val="DF8330"/>
            </a:solidFill>
          </a:ln>
        </p:spPr>
        <p:txBody>
          <a:bodyPr anchor="ctr" rtlCol="false" lIns="0" tIns="0" rIns="0" bIns="0" wrap="square"/>
          <a:lstStyle/>
          <a:p>
            <a:endParaRPr lang="en-US" sz="1800"/>
          </a:p>
        </p:txBody>
      </p:sp>
      <p:sp>
        <p:nvSpPr>
          <p:cNvPr id="38" name="TextBox 37"/>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pic>
        <p:nvPicPr>
          <p:cNvPr id="23" name="Picture 22" descr="image.png"/>
          <p:cNvPicPr>
            <a:picLocks noChangeAspect="1"/>
          </p:cNvPicPr>
          <p:nvPr/>
        </p:nvPicPr>
        <p:blipFill>
          <a:blip r:embed="rId3"/>
          <a:stretch>
            <a:fillRect/>
          </a:stretch>
        </p:blipFill>
        <p:spPr>
          <a:xfrm>
            <a:off x="5204935"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31" name="Table 30"/>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pic>
        <p:nvPicPr>
          <p:cNvPr id="23" name="Picture 22" descr="image.png"/>
          <p:cNvPicPr>
            <a:picLocks noChangeAspect="1"/>
          </p:cNvPicPr>
          <p:nvPr/>
        </p:nvPicPr>
        <p:blipFill>
          <a:blip r:embed="rId3"/>
          <a:stretch>
            <a:fillRect/>
          </a:stretch>
        </p:blipFill>
        <p:spPr>
          <a:xfrm>
            <a:off x="8008663"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1963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8" name="Oval 7"/>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a Dynamic Hypergraph Cooperative Game for recommendation  ·  answers RQ3 &amp; RQ4</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pic>
        <p:nvPicPr>
          <p:cNvPr id="23" name="Picture 22" descr="image.png"/>
          <p:cNvPicPr>
            <a:picLocks noChangeAspect="1"/>
          </p:cNvPicPr>
          <p:nvPr/>
        </p:nvPicPr>
        <p:blipFill>
          <a:blip r:embed="rId3"/>
          <a:stretch>
            <a:fillRect/>
          </a:stretch>
        </p:blipFill>
        <p:spPr>
          <a:xfrm>
            <a:off x="771447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30" name="TextBox 29"/>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31" name="Rounded Rectangle 30"/>
          <p:cNvSpPr/>
          <p:nvPr/>
        </p:nvSpPr>
        <p:spPr>
          <a:xfrm>
            <a:off x="932688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3" name="TextBox 32"/>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4" name="Table 33"/>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23" name="Picture 22" descr="image.png"/>
          <p:cNvPicPr>
            <a:picLocks noChangeAspect="1"/>
          </p:cNvPicPr>
          <p:nvPr/>
        </p:nvPicPr>
        <p:blipFill>
          <a:blip r:embed="rId3"/>
          <a:stretch>
            <a:fillRect/>
          </a:stretch>
        </p:blipFill>
        <p:spPr>
          <a:xfrm>
            <a:off x="11933734"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DF8330"/>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9" name="Rounded Rectangle 28"/>
          <p:cNvSpPr/>
          <p:nvPr/>
        </p:nvSpPr>
        <p:spPr>
          <a:xfrm>
            <a:off x="1028700" y="5649722"/>
            <a:ext cx="7863840" cy="1417320"/>
          </a:xfrm>
          <a:prstGeom prst="roundRect">
            <a:avLst>
              <a:gd name="adj" fmla="val 16129"/>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30" name="Equation"/>
              <p:cNvSpPr txBox="1"/>
              <p:nvPr/>
            </p:nvSpPr>
            <p:spPr>
              <a:xfrm>
                <a:off x="1257300" y="5759450"/>
                <a:ext cx="7406640" cy="658368"/>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31" name="Equation"/>
              <p:cNvSpPr txBox="1"/>
              <p:nvPr/>
            </p:nvSpPr>
            <p:spPr>
              <a:xfrm>
                <a:off x="1257300" y="6426962"/>
                <a:ext cx="7406640" cy="548640"/>
              </a:xfrm>
              <a:prstGeom prst="rect">
                <a:avLst/>
              </a:prstGeom>
              <a:blipFill>
                <a:blip r:embed="rId6"/>
                <a:stretch>
                  <a:fillRect/>
                </a:stretch>
              </a:blipFill>
            </p:spPr>
            <p:txBody>
              <a:bodyPr/>
              <a:lstStyle/>
              <a:p>
                <a:endParaRPr lang="en-US"/>
              </a:p>
            </p:txBody>
          </p:sp>
        </mc:Fallback>
      </mc:AlternateContent>
      <p:sp>
        <p:nvSpPr>
          <p:cNvPr id="32" name="TextBox 31"/>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3" name="TextBox 3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34" name="Rounded Rectangle 33"/>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6" name="Oval 35"/>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7" name="Oval 36"/>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8" name="Oval 37"/>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9" name="Rounded Rectangle 38"/>
          <p:cNvSpPr/>
          <p:nvPr/>
        </p:nvSpPr>
        <p:spPr>
          <a:xfrm>
            <a:off x="9441180" y="7067042"/>
            <a:ext cx="7818120" cy="2241550"/>
          </a:xfrm>
          <a:prstGeom prst="roundRect">
            <a:avLst>
              <a:gd name="adj" fmla="val 10198"/>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40"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9715500" y="7112762"/>
                <a:ext cx="1828800" cy="1120775"/>
              </a:xfrm>
              <a:prstGeom prst="rect">
                <a:avLst/>
              </a:prstGeom>
              <a:blipFill>
                <a:blip r:embed="rId7"/>
                <a:stretch>
                  <a:fillRect/>
                </a:stretch>
              </a:blipFill>
            </p:spPr>
            <p:txBody>
              <a:bodyPr/>
              <a:lstStyle/>
              <a:p>
                <a:endParaRPr lang="en-US"/>
              </a:p>
            </p:txBody>
          </p:sp>
        </mc:Fallback>
      </mc:AlternateContent>
      <p:sp>
        <p:nvSpPr>
          <p:cNvPr id="41" name="TextBox 40"/>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42"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42" name="Equation"/>
              <p:cNvSpPr txBox="1"/>
              <p:nvPr/>
            </p:nvSpPr>
            <p:spPr>
              <a:xfrm>
                <a:off x="9715500" y="8142097"/>
                <a:ext cx="1828800" cy="1120775"/>
              </a:xfrm>
              <a:prstGeom prst="rect">
                <a:avLst/>
              </a:prstGeom>
              <a:blipFill>
                <a:blip r:embed="rId8"/>
                <a:stretch>
                  <a:fillRect/>
                </a:stretch>
              </a:blipFill>
            </p:spPr>
            <p:txBody>
              <a:bodyPr/>
              <a:lstStyle/>
              <a:p>
                <a:endParaRPr lang="en-US"/>
              </a:p>
            </p:txBody>
          </p:sp>
        </mc:Fallback>
      </mc:AlternateContent>
      <p:sp>
        <p:nvSpPr>
          <p:cNvPr id="43" name="TextBox 42"/>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23" name="Picture 22" descr="image.png"/>
          <p:cNvPicPr>
            <a:picLocks noChangeAspect="1"/>
          </p:cNvPicPr>
          <p:nvPr/>
        </p:nvPicPr>
        <p:blipFill>
          <a:blip r:embed="rId3"/>
          <a:stretch>
            <a:fillRect/>
          </a:stretch>
        </p:blipFill>
        <p:spPr>
          <a:xfrm>
            <a:off x="1150951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9" name="Rounded Rectangle 28"/>
          <p:cNvSpPr/>
          <p:nvPr/>
        </p:nvSpPr>
        <p:spPr>
          <a:xfrm>
            <a:off x="1028700" y="3866642"/>
            <a:ext cx="8595360" cy="2834640"/>
          </a:xfrm>
          <a:prstGeom prst="roundRect">
            <a:avLst>
              <a:gd name="adj" fmla="val 645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124944"/>
                              </a:solidFill>
                              <a:latin typeface="Cambria Math" panose="02040503050406030204" pitchFamily="18" charset="0"/>
                            </a:rPr>
                          </m:ctrlPr>
                        </m:sSubPr>
                        <m:e>
                          <m:acc>
                            <m:accPr>
                              <m:chr m:val="̂"/>
                              <m:ctrlPr>
                                <a:rPr lang="en-US" sz="2350" i="1">
                                  <a:solidFill>
                                    <a:srgbClr val="124944"/>
                                  </a:solidFill>
                                  <a:latin typeface="Cambria Math" panose="02040503050406030204" pitchFamily="18" charset="0"/>
                                </a:rPr>
                              </m:ctrlPr>
                            </m:accPr>
                            <m:e>
                              <m:r>
                                <a:rPr lang="en-US" sz="2350" i="1">
                                  <a:solidFill>
                                    <a:srgbClr val="124944"/>
                                  </a:solidFill>
                                  <a:latin typeface="Cambria Math" panose="02040503050406030204" pitchFamily="18" charset="0"/>
                                </a:rPr>
                                <m:t xml:space="preserve">φ</m:t>
                              </m:r>
                            </m:e>
                          </m:acc>
                        </m:e>
                        <m:sub>
                          <m:r>
                            <a:rPr lang="en-US" sz="2350" i="1">
                              <a:solidFill>
                                <a:srgbClr val="124944"/>
                              </a:solidFill>
                              <a:latin typeface="Cambria Math" panose="02040503050406030204" pitchFamily="18" charset="0"/>
                            </a:rPr>
                            <m:t xml:space="preserve">j</m:t>
                          </m:r>
                        </m:sub>
                      </m:sSub>
                      <m:r>
                        <m:rPr>
                          <m:sty m:val="p"/>
                        </m:rPr>
                        <a:rPr lang="en-US" sz="2350">
                          <a:solidFill>
                            <a:srgbClr val="124944"/>
                          </a:solidFill>
                          <a:latin typeface="Cambria Math" panose="02040503050406030204" pitchFamily="18" charset="0"/>
                        </a:rPr>
                        <m:t xml:space="preserve">=</m:t>
                      </m:r>
                      <m:f>
                        <m:fPr>
                          <m:ctrlPr>
                            <a:rPr lang="en-US" sz="2350" i="1">
                              <a:solidFill>
                                <a:srgbClr val="124944"/>
                              </a:solidFill>
                              <a:latin typeface="Cambria Math" panose="02040503050406030204" pitchFamily="18" charset="0"/>
                            </a:rPr>
                          </m:ctrlPr>
                        </m:fPr>
                        <m:num>
                          <m:r>
                            <m:rPr>
                              <m:sty m:val="p"/>
                            </m:rPr>
                            <a:rPr lang="en-US" sz="2350">
                              <a:solidFill>
                                <a:srgbClr val="124944"/>
                              </a:solidFill>
                              <a:latin typeface="Cambria Math" panose="02040503050406030204" pitchFamily="18" charset="0"/>
                            </a:rPr>
                            <m:t xml:space="preserve">1</m:t>
                          </m:r>
                        </m:num>
                        <m:den>
                          <m:r>
                            <a:rPr lang="en-US" sz="2350" i="1">
                              <a:solidFill>
                                <a:srgbClr val="124944"/>
                              </a:solidFill>
                              <a:latin typeface="Cambria Math" panose="02040503050406030204" pitchFamily="18" charset="0"/>
                            </a:rPr>
                            <m:t xml:space="preserve">M</m:t>
                          </m:r>
                        </m:den>
                      </m:f>
                      <m:nary>
                        <m:naryPr>
                          <m:chr m:val="∑"/>
                          <m:limLoc m:val="undOvr"/>
                          <m:ctrlPr>
                            <a:rPr lang="en-US" sz="2350" i="1">
                              <a:solidFill>
                                <a:srgbClr val="124944"/>
                              </a:solidFill>
                              <a:latin typeface="Cambria Math" panose="02040503050406030204" pitchFamily="18" charset="0"/>
                            </a:rPr>
                          </m:ctrlPr>
                        </m:naryPr>
                        <m:sub>
                          <m:r>
                            <a:rPr lang="en-US" sz="2350" i="1">
                              <a:solidFill>
                                <a:srgbClr val="124944"/>
                              </a:solidFill>
                              <a:latin typeface="Cambria Math" panose="02040503050406030204" pitchFamily="18" charset="0"/>
                            </a:rPr>
                            <m:t xml:space="preserve">m</m:t>
                          </m:r>
                          <m:r>
                            <m:rPr>
                              <m:sty m:val="p"/>
                            </m:rPr>
                            <a:rPr lang="en-US" sz="2350">
                              <a:solidFill>
                                <a:srgbClr val="124944"/>
                              </a:solidFill>
                              <a:latin typeface="Cambria Math" panose="02040503050406030204" pitchFamily="18" charset="0"/>
                            </a:rPr>
                            <m:t xml:space="preserve">=1</m:t>
                          </m:r>
                        </m:sub>
                        <m:sup>
                          <m:r>
                            <a:rPr lang="en-US" sz="2350" i="1">
                              <a:solidFill>
                                <a:srgbClr val="124944"/>
                              </a:solidFill>
                              <a:latin typeface="Cambria Math" panose="02040503050406030204" pitchFamily="18" charset="0"/>
                            </a:rPr>
                            <m:t xml:space="preserve">M</m:t>
                          </m:r>
                        </m:sup>
                        <m:e>
                          <m:d>
                            <m:dPr>
                              <m:begChr m:val="["/>
                              <m:endChr m:val="]"/>
                              <m:ctrlPr>
                                <a:rPr lang="en-US" sz="2350" i="1">
                                  <a:solidFill>
                                    <a:srgbClr val="124944"/>
                                  </a:solidFill>
                                  <a:latin typeface="Cambria Math" panose="02040503050406030204" pitchFamily="18" charset="0"/>
                                </a:rPr>
                              </m:ctrlPr>
                            </m:dPr>
                            <m:e>
                              <m:r>
                                <m:rPr>
                                  <m:sty m:val="p"/>
                                </m:rPr>
                                <a:rPr lang="en-US" sz="2350">
                                  <a:solidFill>
                                    <a:srgbClr val="124944"/>
                                  </a:solidFill>
                                  <a:latin typeface="Cambria Math" panose="02040503050406030204" pitchFamily="18" charset="0"/>
                                </a:rPr>
                                <m:t xml:space="preserve"> </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j</m:t>
                              </m:r>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 </m:t>
                              </m:r>
                            </m:e>
                          </m:d>
                        </m:e>
                      </m:nary>
                    </m:oMath>
                  </m:oMathPara>
                </a14:m>
                <a:endParaRPr lang="en-US" sz="2350"/>
              </a:p>
            </p:txBody>
          </p:sp>
        </mc:Choice>
        <mc:Fallback>
          <p:sp>
            <p:nvSpPr>
              <p:cNvPr id="30" name="Equation"/>
              <p:cNvSpPr txBox="1"/>
              <p:nvPr/>
            </p:nvSpPr>
            <p:spPr>
              <a:xfrm>
                <a:off x="1211580" y="395808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DF8330"/>
                              </a:solidFill>
                              <a:latin typeface="Cambria Math" panose="02040503050406030204" pitchFamily="18" charset="0"/>
                            </a:rPr>
                          </m:ctrlPr>
                        </m:sSubSupPr>
                        <m:e>
                          <m:acc>
                            <m:accPr>
                              <m:chr m:val="̂"/>
                              <m:ctrlPr>
                                <a:rPr lang="en-US" sz="2350" i="1">
                                  <a:solidFill>
                                    <a:srgbClr val="DF8330"/>
                                  </a:solidFill>
                                  <a:latin typeface="Cambria Math" panose="02040503050406030204" pitchFamily="18" charset="0"/>
                                </a:rPr>
                              </m:ctrlPr>
                            </m:accPr>
                            <m:e>
                              <m:r>
                                <a:rPr lang="en-US" sz="2350" i="1">
                                  <a:solidFill>
                                    <a:srgbClr val="DF8330"/>
                                  </a:solidFill>
                                  <a:latin typeface="Cambria Math" panose="02040503050406030204" pitchFamily="18" charset="0"/>
                                </a:rPr>
                                <m:t xml:space="preserve">φ</m:t>
                              </m:r>
                            </m:e>
                          </m:acc>
                        </m:e>
                        <m:sub>
                          <m:r>
                            <a:rPr lang="en-US" sz="2350" i="1">
                              <a:solidFill>
                                <a:srgbClr val="DF8330"/>
                              </a:solidFill>
                              <a:latin typeface="Cambria Math" panose="02040503050406030204" pitchFamily="18" charset="0"/>
                            </a:rPr>
                            <m:t xml:space="preserve">j</m:t>
                          </m:r>
                        </m:sub>
                        <m:sup>
                          <m:r>
                            <m:rPr>
                              <m:sty m:val="p"/>
                            </m:rPr>
                            <a:rPr lang="en-US" sz="2350">
                              <a:solidFill>
                                <a:srgbClr val="DF8330"/>
                              </a:solidFill>
                              <a:latin typeface="Cambria Math" panose="02040503050406030204" pitchFamily="18" charset="0"/>
                            </a:rPr>
                            <m:t xml:space="preserve"> pref</m:t>
                          </m:r>
                        </m:sup>
                      </m:sSubSup>
                      <m:r>
                        <m:rPr>
                          <m:sty m:val="p"/>
                        </m:rPr>
                        <a:rPr lang="en-US" sz="2350">
                          <a:solidFill>
                            <a:srgbClr val="DF8330"/>
                          </a:solidFill>
                          <a:latin typeface="Cambria Math" panose="02040503050406030204" pitchFamily="18" charset="0"/>
                        </a:rPr>
                        <m:t xml:space="preserve">=</m:t>
                      </m:r>
                      <m:f>
                        <m:fPr>
                          <m:ctrlPr>
                            <a:rPr lang="en-US" sz="2350" i="1">
                              <a:solidFill>
                                <a:srgbClr val="DF8330"/>
                              </a:solidFill>
                              <a:latin typeface="Cambria Math" panose="02040503050406030204" pitchFamily="18" charset="0"/>
                            </a:rPr>
                          </m:ctrlPr>
                        </m:fPr>
                        <m:num>
                          <m:r>
                            <m:rPr>
                              <m:sty m:val="p"/>
                            </m:rPr>
                            <a:rPr lang="en-US" sz="2350">
                              <a:solidFill>
                                <a:srgbClr val="DF8330"/>
                              </a:solidFill>
                              <a:latin typeface="Cambria Math" panose="02040503050406030204" pitchFamily="18" charset="0"/>
                            </a:rPr>
                            <m:t xml:space="preserve">1</m:t>
                          </m:r>
                        </m:num>
                        <m:den>
                          <m:r>
                            <a:rPr lang="en-US" sz="2350" i="1">
                              <a:solidFill>
                                <a:srgbClr val="DF8330"/>
                              </a:solidFill>
                              <a:latin typeface="Cambria Math" panose="02040503050406030204" pitchFamily="18" charset="0"/>
                            </a:rPr>
                            <m:t xml:space="preserve">M</m:t>
                          </m:r>
                        </m:den>
                      </m:f>
                      <m:nary>
                        <m:naryPr>
                          <m:chr m:val="∑"/>
                          <m:limLoc m:val="undOvr"/>
                          <m:ctrlPr>
                            <a:rPr lang="en-US" sz="2350" i="1">
                              <a:solidFill>
                                <a:srgbClr val="DF8330"/>
                              </a:solidFill>
                              <a:latin typeface="Cambria Math" panose="02040503050406030204" pitchFamily="18" charset="0"/>
                            </a:rPr>
                          </m:ctrlPr>
                        </m:naryPr>
                        <m:sub>
                          <m:r>
                            <a:rPr lang="en-US" sz="2350" i="1">
                              <a:solidFill>
                                <a:srgbClr val="DF8330"/>
                              </a:solidFill>
                              <a:latin typeface="Cambria Math" panose="02040503050406030204" pitchFamily="18" charset="0"/>
                            </a:rPr>
                            <m:t xml:space="preserve">m</m:t>
                          </m:r>
                          <m:r>
                            <m:rPr>
                              <m:sty m:val="p"/>
                            </m:rPr>
                            <a:rPr lang="en-US" sz="2350">
                              <a:solidFill>
                                <a:srgbClr val="DF8330"/>
                              </a:solidFill>
                              <a:latin typeface="Cambria Math" panose="02040503050406030204" pitchFamily="18" charset="0"/>
                            </a:rPr>
                            <m:t xml:space="preserve">=1</m:t>
                          </m:r>
                        </m:sub>
                        <m:sup>
                          <m:r>
                            <a:rPr lang="en-US" sz="2350" i="1">
                              <a:solidFill>
                                <a:srgbClr val="DF8330"/>
                              </a:solidFill>
                              <a:latin typeface="Cambria Math" panose="02040503050406030204" pitchFamily="18" charset="0"/>
                            </a:rPr>
                            <m:t xml:space="preserve">M</m:t>
                          </m:r>
                        </m:sup>
                        <m:e>
                          <m:d>
                            <m:dPr>
                              <m:begChr m:val="["/>
                              <m:endChr m:val="]"/>
                              <m:ctrlPr>
                                <a:rPr lang="en-US" sz="2350" i="1">
                                  <a:solidFill>
                                    <a:srgbClr val="DF8330"/>
                                  </a:solidFill>
                                  <a:latin typeface="Cambria Math" panose="02040503050406030204" pitchFamily="18" charset="0"/>
                                </a:rPr>
                              </m:ctrlPr>
                            </m:dPr>
                            <m:e>
                              <m:r>
                                <m:rPr>
                                  <m:sty m:val="p"/>
                                </m:rPr>
                                <a:rPr lang="en-US" sz="2350">
                                  <a:solidFill>
                                    <a:srgbClr val="DF8330"/>
                                  </a:solidFill>
                                  <a:latin typeface="Cambria Math" panose="02040503050406030204" pitchFamily="18" charset="0"/>
                                </a:rPr>
                                <m:t xml:space="preserve"> </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m:t>
                              </m:r>
                              <m:r>
                                <a:rPr lang="en-US" sz="2350" i="1">
                                  <a:solidFill>
                                    <a:srgbClr val="DF8330"/>
                                  </a:solidFill>
                                  <a:latin typeface="Cambria Math" panose="02040503050406030204" pitchFamily="18" charset="0"/>
                                </a:rPr>
                                <m:t xml:space="preserve">j</m:t>
                              </m:r>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 </m:t>
                              </m:r>
                            </m:e>
                          </m:d>
                        </m:e>
                      </m:nary>
                    </m:oMath>
                  </m:oMathPara>
                </a14:m>
                <a:endParaRPr lang="en-US" sz="2350"/>
              </a:p>
            </p:txBody>
          </p:sp>
        </mc:Choice>
        <mc:Fallback>
          <p:sp>
            <p:nvSpPr>
              <p:cNvPr id="31" name="Equation"/>
              <p:cNvSpPr txBox="1"/>
              <p:nvPr/>
            </p:nvSpPr>
            <p:spPr>
              <a:xfrm>
                <a:off x="1211580" y="5283962"/>
                <a:ext cx="8229600" cy="1325880"/>
              </a:xfrm>
              <a:prstGeom prst="rect">
                <a:avLst/>
              </a:prstGeom>
              <a:blipFill>
                <a:blip r:embed="rId6"/>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2"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32" name="Equation"/>
              <p:cNvSpPr txBox="1"/>
              <p:nvPr/>
            </p:nvSpPr>
            <p:spPr>
              <a:xfrm>
                <a:off x="1211580" y="6838442"/>
                <a:ext cx="8229600" cy="548640"/>
              </a:xfrm>
              <a:prstGeom prst="rect">
                <a:avLst/>
              </a:prstGeom>
              <a:blipFill>
                <a:blip r:embed="rId7"/>
                <a:stretch>
                  <a:fillRect/>
                </a:stretch>
              </a:blipFill>
            </p:spPr>
            <p:txBody>
              <a:bodyPr/>
              <a:lstStyle/>
              <a:p>
                <a:endParaRPr lang="en-US"/>
              </a:p>
            </p:txBody>
          </p:sp>
        </mc:Fallback>
      </mc:AlternateContent>
      <p:sp>
        <p:nvSpPr>
          <p:cNvPr id="33" name="TextBox 32"/>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DF8330"/>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DF8330"/>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DF8330"/>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4" name="Table 33"/>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5" name="TextBox 34"/>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6" name="Rounded Rectangle 35"/>
          <p:cNvSpPr/>
          <p:nvPr/>
        </p:nvSpPr>
        <p:spPr>
          <a:xfrm>
            <a:off x="10172700" y="6362954"/>
            <a:ext cx="7086600" cy="2945638"/>
          </a:xfrm>
          <a:prstGeom prst="roundRect">
            <a:avLst>
              <a:gd name="adj" fmla="val 10554"/>
            </a:avLst>
          </a:prstGeom>
          <a:solidFill>
            <a:srgbClr val="124944"/>
          </a:solidFill>
          <a:ln>
            <a:noFill/>
          </a:ln>
        </p:spPr>
        <p:txBody>
          <a:bodyPr anchor="ctr" rtlCol="false" lIns="0" tIns="0" rIns="0" bIns="0" wrap="square"/>
          <a:lstStyle/>
          <a:p>
            <a:endParaRPr lang="en-US" sz="1800"/>
          </a:p>
        </p:txBody>
      </p:sp>
      <p:sp>
        <p:nvSpPr>
          <p:cNvPr id="37" name="Rounded Rectangle 36"/>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38" name="TextBox 37"/>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9"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9" name="Equation"/>
              <p:cNvSpPr txBox="1"/>
              <p:nvPr/>
            </p:nvSpPr>
            <p:spPr>
              <a:xfrm>
                <a:off x="10629900" y="8531352"/>
                <a:ext cx="6172200" cy="594360"/>
              </a:xfrm>
              <a:prstGeom prst="rect">
                <a:avLst/>
              </a:prstGeom>
              <a:blipFill>
                <a:blip r:embed="rId8"/>
                <a:stretch>
                  <a:fillRect/>
                </a:stretch>
              </a:blipFill>
            </p:spPr>
            <p:txBody>
              <a:bodyPr/>
              <a:lstStyle/>
              <a:p>
                <a:endParaRPr lang="en-US"/>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23" name="Picture 22" descr="image.png"/>
          <p:cNvPicPr>
            <a:picLocks noChangeAspect="1"/>
          </p:cNvPicPr>
          <p:nvPr/>
        </p:nvPicPr>
        <p:blipFill>
          <a:blip r:embed="rId3"/>
          <a:stretch>
            <a:fillRect/>
          </a:stretch>
        </p:blipFill>
        <p:spPr>
          <a:xfrm>
            <a:off x="13838915"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dyhucog_arch.png"/>
          <p:cNvPicPr>
            <a:picLocks noChangeAspect="1"/>
          </p:cNvPicPr>
          <p:nvPr/>
        </p:nvPicPr>
        <p:blipFill>
          <a:blip r:embed="rId5"/>
          <a:stretch>
            <a:fillRect/>
          </a:stretch>
        </p:blipFill>
        <p:spPr>
          <a:xfrm>
            <a:off x="6205039" y="3500882"/>
            <a:ext cx="5877921" cy="1417320"/>
          </a:xfrm>
          <a:prstGeom prst="rect">
            <a:avLst/>
          </a:prstGeom>
        </p:spPr>
      </p:pic>
      <p:sp>
        <p:nvSpPr>
          <p:cNvPr id="30" name="TextBox 29"/>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31" name="Rounded Rectangle 30"/>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3"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3" name="Equation"/>
              <p:cNvSpPr txBox="1"/>
              <p:nvPr/>
            </p:nvSpPr>
            <p:spPr>
              <a:xfrm>
                <a:off x="4686300" y="5283962"/>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5" name="TextBox 34"/>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6"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6" name="Equation"/>
              <p:cNvSpPr txBox="1"/>
              <p:nvPr/>
            </p:nvSpPr>
            <p:spPr>
              <a:xfrm>
                <a:off x="4686300" y="5985213"/>
                <a:ext cx="12298680" cy="609811"/>
              </a:xfrm>
              <a:prstGeom prst="rect">
                <a:avLst/>
              </a:prstGeom>
              <a:blipFill>
                <a:blip r:embed="rId7"/>
                <a:stretch>
                  <a:fillRect/>
                </a:stretch>
              </a:blipFill>
            </p:spPr>
            <p:txBody>
              <a:bodyPr/>
              <a:lstStyle/>
              <a:p>
                <a:endParaRPr lang="en-US"/>
              </a:p>
            </p:txBody>
          </p:sp>
        </mc:Fallback>
      </mc:AlternateContent>
      <p:sp>
        <p:nvSpPr>
          <p:cNvPr id="37" name="Rounded Rectangle 36"/>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8" name="TextBox 37"/>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9"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9" name="Equation"/>
              <p:cNvSpPr txBox="1"/>
              <p:nvPr/>
            </p:nvSpPr>
            <p:spPr>
              <a:xfrm>
                <a:off x="4686300" y="6686465"/>
                <a:ext cx="9372600" cy="609811"/>
              </a:xfrm>
              <a:prstGeom prst="rect">
                <a:avLst/>
              </a:prstGeom>
              <a:blipFill>
                <a:blip r:embed="rId8"/>
                <a:stretch>
                  <a:fillRect/>
                </a:stretch>
              </a:blipFill>
            </p:spPr>
            <p:txBody>
              <a:bodyPr/>
              <a:lstStyle/>
              <a:p>
                <a:endParaRPr lang="en-US"/>
              </a:p>
            </p:txBody>
          </p:sp>
        </mc:Fallback>
      </mc:AlternateContent>
      <p:sp>
        <p:nvSpPr>
          <p:cNvPr id="40" name="TextBox 39"/>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41" name="Rounded Rectangle 40"/>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2" name="TextBox 41"/>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3"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7387717"/>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5" name="TextBox 44"/>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6"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6" name="Equation"/>
              <p:cNvSpPr txBox="1"/>
              <p:nvPr/>
            </p:nvSpPr>
            <p:spPr>
              <a:xfrm>
                <a:off x="4686300" y="8088968"/>
                <a:ext cx="12298680" cy="609811"/>
              </a:xfrm>
              <a:prstGeom prst="rect">
                <a:avLst/>
              </a:prstGeom>
              <a:blipFill>
                <a:blip r:embed="rId10"/>
                <a:stretch>
                  <a:fillRect/>
                </a:stretch>
              </a:blipFill>
            </p:spPr>
            <p:txBody>
              <a:bodyPr/>
              <a:lstStyle/>
              <a:p>
                <a:endParaRPr lang="en-US"/>
              </a:p>
            </p:txBody>
          </p:sp>
        </mc:Fallback>
      </mc:AlternateContent>
      <p:sp>
        <p:nvSpPr>
          <p:cNvPr id="47" name="Rounded Rectangle 46"/>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8" name="TextBox 47"/>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9"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9" name="Equation"/>
              <p:cNvSpPr txBox="1"/>
              <p:nvPr/>
            </p:nvSpPr>
            <p:spPr>
              <a:xfrm>
                <a:off x="4686300" y="8790220"/>
                <a:ext cx="9372600" cy="609811"/>
              </a:xfrm>
              <a:prstGeom prst="rect">
                <a:avLst/>
              </a:prstGeom>
              <a:blipFill>
                <a:blip r:embed="rId11"/>
                <a:stretch>
                  <a:fillRect/>
                </a:stretch>
              </a:blipFill>
            </p:spPr>
            <p:txBody>
              <a:bodyPr/>
              <a:lstStyle/>
              <a:p>
                <a:endParaRPr lang="en-US"/>
              </a:p>
            </p:txBody>
          </p:sp>
        </mc:Fallback>
      </mc:AlternateContent>
      <p:sp>
        <p:nvSpPr>
          <p:cNvPr id="50" name="TextBox 49"/>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pic>
        <p:nvPicPr>
          <p:cNvPr id="23" name="Picture 22" descr="image.png"/>
          <p:cNvPicPr>
            <a:picLocks noChangeAspect="1"/>
          </p:cNvPicPr>
          <p:nvPr/>
        </p:nvPicPr>
        <p:blipFill>
          <a:blip r:embed="rId3"/>
          <a:stretch>
            <a:fillRect/>
          </a:stretch>
        </p:blipFill>
        <p:spPr>
          <a:xfrm>
            <a:off x="9149156"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pic>
        <p:nvPicPr>
          <p:cNvPr id="23" name="Picture 22" descr="image.png"/>
          <p:cNvPicPr>
            <a:picLocks noChangeAspect="1"/>
          </p:cNvPicPr>
          <p:nvPr/>
        </p:nvPicPr>
        <p:blipFill>
          <a:blip r:embed="rId3"/>
          <a:stretch>
            <a:fillRect/>
          </a:stretch>
        </p:blipFill>
        <p:spPr>
          <a:xfrm>
            <a:off x="918739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pic>
        <p:nvPicPr>
          <p:cNvPr id="23" name="Picture 22" descr="image.png"/>
          <p:cNvPicPr>
            <a:picLocks noChangeAspect="1"/>
          </p:cNvPicPr>
          <p:nvPr/>
        </p:nvPicPr>
        <p:blipFill>
          <a:blip r:embed="rId3"/>
          <a:stretch>
            <a:fillRect/>
          </a:stretch>
        </p:blipFill>
        <p:spPr>
          <a:xfrm>
            <a:off x="11596440"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7.2  ·  MOVIELENS-1M</a:t>
            </a:r>
          </a:p>
        </p:txBody>
      </p:sp>
      <p:graphicFrame>
        <p:nvGraphicFramePr>
          <p:cNvPr id="29" name="Table 28"/>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TextBox 29"/>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31" name="Table 30"/>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2" name="Rounded Rectangle 31"/>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7300214"/>
            <a:ext cx="1757407"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4" name="TextBox 33"/>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DF8330"/>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23" name="Picture 22" descr="image.png"/>
          <p:cNvPicPr>
            <a:picLocks noChangeAspect="1"/>
          </p:cNvPicPr>
          <p:nvPr/>
        </p:nvPicPr>
        <p:blipFill>
          <a:blip r:embed="rId3"/>
          <a:stretch>
            <a:fillRect/>
          </a:stretch>
        </p:blipFill>
        <p:spPr>
          <a:xfrm>
            <a:off x="106460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9" name="Rounded Rectangle 28"/>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30" name="Rounded Rectangle 29"/>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31" name="Rounded Rectangle 30"/>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32" name="TextBox 31"/>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3" name="Rounded Rectangle 32"/>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485900" y="600633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5" name="TextBox 34"/>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6"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L</m:t>
                          </m:r>
                          <m:r>
                            <m:rPr>
                              <m:sty m:val="p"/>
                            </m:rPr>
                            <a:rPr lang="en-US" sz="2000">
                              <a:solidFill>
                                <a:srgbClr val="124944"/>
                              </a:solidFill>
                              <a:latin typeface="Cambria Math" panose="02040503050406030204" pitchFamily="18" charset="0"/>
                            </a:rPr>
                            <m:t xml:space="preserve">+1) </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d</m:t>
                          </m:r>
                        </m:e>
                      </m:d>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f</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m</m:t>
                          </m:r>
                        </m:e>
                      </m:d>
                    </m:oMath>
                  </m:oMathPara>
                </a14:m>
                <a:endParaRPr lang="en-US" sz="2000"/>
              </a:p>
            </p:txBody>
          </p:sp>
        </mc:Choice>
        <mc:Fallback>
          <p:sp>
            <p:nvSpPr>
              <p:cNvPr id="36" name="Equation"/>
              <p:cNvSpPr txBox="1"/>
              <p:nvPr/>
            </p:nvSpPr>
            <p:spPr>
              <a:xfrm>
                <a:off x="1531620" y="8485632"/>
                <a:ext cx="6926580" cy="640080"/>
              </a:xfrm>
              <a:prstGeom prst="rect">
                <a:avLst/>
              </a:prstGeom>
              <a:blipFill>
                <a:blip r:embed="rId5"/>
                <a:stretch>
                  <a:fillRect/>
                </a:stretch>
              </a:blipFill>
            </p:spPr>
            <p:txBody>
              <a:bodyPr/>
              <a:lstStyle/>
              <a:p>
                <a:endParaRPr lang="en-US"/>
              </a:p>
            </p:txBody>
          </p:sp>
        </mc:Fallback>
      </mc:AlternateContent>
      <p:sp>
        <p:nvSpPr>
          <p:cNvPr id="37" name="Rounded Rectangle 36"/>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8" name="Rounded Rectangle 37"/>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39" name="TextBox 38"/>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23" name="Picture 22" descr="image.png"/>
          <p:cNvPicPr>
            <a:picLocks noChangeAspect="1"/>
          </p:cNvPicPr>
          <p:nvPr/>
        </p:nvPicPr>
        <p:blipFill>
          <a:blip r:embed="rId3"/>
          <a:stretch>
            <a:fillRect/>
          </a:stretch>
        </p:blipFill>
        <p:spPr>
          <a:xfrm>
            <a:off x="7141903"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94560"/>
          </a:xfrm>
          <a:prstGeom prst="roundRect">
            <a:avLst>
              <a:gd name="adj" fmla="val 12500"/>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9" name="Equation"/>
              <p:cNvSpPr txBox="1"/>
              <p:nvPr/>
            </p:nvSpPr>
            <p:spPr>
              <a:xfrm>
                <a:off x="121158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31" name="Rounded Rectangle 30"/>
          <p:cNvSpPr/>
          <p:nvPr/>
        </p:nvSpPr>
        <p:spPr>
          <a:xfrm>
            <a:off x="6545580" y="3455162"/>
            <a:ext cx="5196840" cy="2194560"/>
          </a:xfrm>
          <a:prstGeom prst="roundRect">
            <a:avLst>
              <a:gd name="adj" fmla="val 12500"/>
            </a:avLst>
          </a:prstGeom>
          <a:solidFill>
            <a:srgbClr val="1E5F58"/>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32" name="Equation"/>
              <p:cNvSpPr txBox="1"/>
              <p:nvPr/>
            </p:nvSpPr>
            <p:spPr>
              <a:xfrm>
                <a:off x="672846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4" name="Rounded Rectangle 33"/>
          <p:cNvSpPr/>
          <p:nvPr/>
        </p:nvSpPr>
        <p:spPr>
          <a:xfrm>
            <a:off x="12062460" y="3455162"/>
            <a:ext cx="5196840" cy="2194560"/>
          </a:xfrm>
          <a:prstGeom prst="roundRect">
            <a:avLst>
              <a:gd name="adj" fmla="val 12500"/>
            </a:avLst>
          </a:prstGeom>
          <a:solidFill>
            <a:srgbClr val="DF8330"/>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5"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5" name="Equation"/>
              <p:cNvSpPr txBox="1"/>
              <p:nvPr/>
            </p:nvSpPr>
            <p:spPr>
              <a:xfrm>
                <a:off x="12245340" y="3729482"/>
                <a:ext cx="4831080" cy="1051560"/>
              </a:xfrm>
              <a:prstGeom prst="rect">
                <a:avLst/>
              </a:prstGeom>
              <a:blipFill>
                <a:blip r:embed="rId7"/>
                <a:stretch>
                  <a:fillRect/>
                </a:stretch>
              </a:blipFill>
            </p:spPr>
            <p:txBody>
              <a:bodyPr/>
              <a:lstStyle/>
              <a:p>
                <a:endParaRPr lang="en-US"/>
              </a:p>
            </p:txBody>
          </p:sp>
        </mc:Fallback>
      </mc:AlternateContent>
      <p:sp>
        <p:nvSpPr>
          <p:cNvPr id="36" name="TextBox 35"/>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7" name="TextBox 36"/>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8" name="Rounded Rectangle 37"/>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1485900" y="609777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40" name="TextBox 39"/>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pic>
        <p:nvPicPr>
          <p:cNvPr id="23" name="Picture 22" descr="image.png"/>
          <p:cNvPicPr>
            <a:picLocks noChangeAspect="1"/>
          </p:cNvPicPr>
          <p:nvPr/>
        </p:nvPicPr>
        <p:blipFill>
          <a:blip r:embed="rId3"/>
          <a:stretch>
            <a:fillRect/>
          </a:stretch>
        </p:blipFill>
        <p:spPr>
          <a:xfrm>
            <a:off x="7806261"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30" name="TextBox 29"/>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31" name="Rounded Rectangle 30"/>
          <p:cNvSpPr/>
          <p:nvPr/>
        </p:nvSpPr>
        <p:spPr>
          <a:xfrm>
            <a:off x="932688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3" name="TextBox 32"/>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4" name="Table 33"/>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pic>
        <p:nvPicPr>
          <p:cNvPr id="23" name="Picture 22" descr="image.png"/>
          <p:cNvPicPr>
            <a:picLocks noChangeAspect="1"/>
          </p:cNvPicPr>
          <p:nvPr/>
        </p:nvPicPr>
        <p:blipFill>
          <a:blip r:embed="rId3"/>
          <a:stretch>
            <a:fillRect/>
          </a:stretch>
        </p:blipFill>
        <p:spPr>
          <a:xfrm>
            <a:off x="8179226"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7127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8" name="Oval 7"/>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23" name="Picture 22" descr="image.png"/>
          <p:cNvPicPr>
            <a:picLocks noChangeAspect="1"/>
          </p:cNvPicPr>
          <p:nvPr/>
        </p:nvPicPr>
        <p:blipFill>
          <a:blip r:embed="rId3"/>
          <a:stretch>
            <a:fillRect/>
          </a:stretch>
        </p:blipFill>
        <p:spPr>
          <a:xfrm>
            <a:off x="10723663"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0" name="Rounded Rectangle 29"/>
          <p:cNvSpPr/>
          <p:nvPr/>
        </p:nvSpPr>
        <p:spPr>
          <a:xfrm>
            <a:off x="1028700" y="6314186"/>
            <a:ext cx="4023360" cy="822960"/>
          </a:xfrm>
          <a:prstGeom prst="roundRect">
            <a:avLst>
              <a:gd name="adj" fmla="val 27777"/>
            </a:avLst>
          </a:prstGeom>
          <a:solidFill>
            <a:srgbClr val="12494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31" name="Connector 30"/>
          <p:cNvCxnSpPr/>
          <p:nvPr/>
        </p:nvCxnSpPr>
        <p:spPr>
          <a:xfrm>
            <a:off x="5143500" y="6725666"/>
            <a:ext cx="1897380" cy="0"/>
          </a:xfrm>
          <a:prstGeom prst="line">
            <a:avLst/>
          </a:prstGeom>
          <a:ln w="38100">
            <a:solidFill>
              <a:srgbClr val="124944"/>
            </a:solidFill>
            <a:tailEnd type="triangle" w="med" len="med"/>
          </a:ln>
        </p:spPr>
      </p:cxnSp>
      <p:sp>
        <p:nvSpPr>
          <p:cNvPr id="32" name="Rounded Rectangle 31"/>
          <p:cNvSpPr/>
          <p:nvPr/>
        </p:nvSpPr>
        <p:spPr>
          <a:xfrm>
            <a:off x="7132320" y="6314186"/>
            <a:ext cx="4023360" cy="822960"/>
          </a:xfrm>
          <a:prstGeom prst="roundRect">
            <a:avLst>
              <a:gd name="adj" fmla="val 27777"/>
            </a:avLst>
          </a:prstGeom>
          <a:solidFill>
            <a:srgbClr val="1E5F58"/>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3" name="Connector 32"/>
          <p:cNvCxnSpPr/>
          <p:nvPr/>
        </p:nvCxnSpPr>
        <p:spPr>
          <a:xfrm>
            <a:off x="11247120" y="6725666"/>
            <a:ext cx="1897380" cy="0"/>
          </a:xfrm>
          <a:prstGeom prst="line">
            <a:avLst/>
          </a:prstGeom>
          <a:ln w="38100">
            <a:solidFill>
              <a:srgbClr val="124944"/>
            </a:solidFill>
            <a:tailEnd type="triangle" w="med" len="med"/>
          </a:ln>
        </p:spPr>
      </p:cxnSp>
      <p:sp>
        <p:nvSpPr>
          <p:cNvPr id="34" name="Rounded Rectangle 33"/>
          <p:cNvSpPr/>
          <p:nvPr/>
        </p:nvSpPr>
        <p:spPr>
          <a:xfrm>
            <a:off x="13235940" y="6314186"/>
            <a:ext cx="4023360" cy="822960"/>
          </a:xfrm>
          <a:prstGeom prst="roundRect">
            <a:avLst>
              <a:gd name="adj" fmla="val 27777"/>
            </a:avLst>
          </a:prstGeom>
          <a:solidFill>
            <a:srgbClr val="DF8330"/>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5" name="Rounded Rectangle 34"/>
          <p:cNvSpPr/>
          <p:nvPr/>
        </p:nvSpPr>
        <p:spPr>
          <a:xfrm>
            <a:off x="1028700" y="7640066"/>
            <a:ext cx="16230600" cy="1577086"/>
          </a:xfrm>
          <a:prstGeom prst="roundRect">
            <a:avLst>
              <a:gd name="adj" fmla="val 12755"/>
            </a:avLst>
          </a:prstGeom>
          <a:solidFill>
            <a:srgbClr val="F6ECDF"/>
          </a:solidFill>
          <a:ln w="25400">
            <a:solidFill>
              <a:srgbClr val="DF8330"/>
            </a:solidFill>
          </a:ln>
        </p:spPr>
        <p:txBody>
          <a:bodyPr anchor="ctr" rtlCol="false" lIns="0" tIns="0" rIns="0" bIns="0" wrap="square"/>
          <a:lstStyle/>
          <a:p>
            <a:endParaRPr lang="en-US" sz="1800"/>
          </a:p>
        </p:txBody>
      </p:sp>
      <p:sp>
        <p:nvSpPr>
          <p:cNvPr id="36" name="Rounded Rectangle 35"/>
          <p:cNvSpPr/>
          <p:nvPr/>
        </p:nvSpPr>
        <p:spPr>
          <a:xfrm>
            <a:off x="1348740" y="7448042"/>
            <a:ext cx="2510554"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7" name="TextBox 36"/>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23" name="Picture 22" descr="image.png"/>
          <p:cNvPicPr>
            <a:picLocks noChangeAspect="1"/>
          </p:cNvPicPr>
          <p:nvPr/>
        </p:nvPicPr>
        <p:blipFill>
          <a:blip r:embed="rId3"/>
          <a:stretch>
            <a:fillRect/>
          </a:stretch>
        </p:blipFill>
        <p:spPr>
          <a:xfrm>
            <a:off x="10279040"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0" name="Rounded Rectangle 29"/>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7103618"/>
            <a:ext cx="356064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32" name="TextBox 31"/>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DF8330"/>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DF8330"/>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3" name="Rounded Rectangle 32"/>
          <p:cNvSpPr/>
          <p:nvPr/>
        </p:nvSpPr>
        <p:spPr>
          <a:xfrm>
            <a:off x="9326880" y="7341362"/>
            <a:ext cx="7932420" cy="1921510"/>
          </a:xfrm>
          <a:prstGeom prst="roundRect">
            <a:avLst>
              <a:gd name="adj" fmla="val 16179"/>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Related work with the team</a:t>
            </a:r>
          </a:p>
        </p:txBody>
      </p:sp>
      <p:sp>
        <p:nvSpPr>
          <p:cNvPr id="35" name="TextBox 34"/>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pic>
        <p:nvPicPr>
          <p:cNvPr id="23" name="Picture 22" descr="image.png"/>
          <p:cNvPicPr>
            <a:picLocks noChangeAspect="1"/>
          </p:cNvPicPr>
          <p:nvPr/>
        </p:nvPicPr>
        <p:blipFill>
          <a:blip r:embed="rId3"/>
          <a:stretch>
            <a:fillRect/>
          </a:stretch>
        </p:blipFill>
        <p:spPr>
          <a:xfrm>
            <a:off x="8586542" y="1673352"/>
            <a:ext cx="457200" cy="250983"/>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30" name="Rounded Rectangle 29"/>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31" name="Rounded Rectangle 30"/>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32" name="Rounded Rectangle 31"/>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pic>
        <p:nvPicPr>
          <p:cNvPr id="23" name="Picture 22" descr="image.png"/>
          <p:cNvPicPr>
            <a:picLocks noChangeAspect="1"/>
          </p:cNvPicPr>
          <p:nvPr/>
        </p:nvPicPr>
        <p:blipFill>
          <a:blip r:embed="rId3"/>
          <a:stretch>
            <a:fillRect/>
          </a:stretch>
        </p:blipFill>
        <p:spPr>
          <a:xfrm>
            <a:off x="13921521"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0" name="Oval 29"/>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31" name="TextBox 30"/>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32" name="Rounded Rectangle 31"/>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4" name="TextBox 33"/>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5" name="Rounded Rectangle 34"/>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6" name="Oval 35"/>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7" name="TextBox 36"/>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8" name="Rounded Rectangle 37"/>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9" name="Oval 38"/>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40" name="TextBox 39"/>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23" name="Picture 22" descr="image.png"/>
          <p:cNvPicPr>
            <a:picLocks noChangeAspect="1"/>
          </p:cNvPicPr>
          <p:nvPr/>
        </p:nvPicPr>
        <p:blipFill>
          <a:blip r:embed="rId3"/>
          <a:stretch>
            <a:fillRect/>
          </a:stretch>
        </p:blipFill>
        <p:spPr>
          <a:xfrm>
            <a:off x="4224502"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9" name="Rounded Rectangle 28"/>
          <p:cNvSpPr/>
          <p:nvPr/>
        </p:nvSpPr>
        <p:spPr>
          <a:xfrm>
            <a:off x="1028700" y="3546602"/>
            <a:ext cx="16230600" cy="1554480"/>
          </a:xfrm>
          <a:prstGeom prst="roundRect">
            <a:avLst>
              <a:gd name="adj" fmla="val 12941"/>
            </a:avLst>
          </a:prstGeom>
          <a:solidFill>
            <a:srgbClr val="F6ECDF"/>
          </a:solidFill>
          <a:ln w="25400">
            <a:solidFill>
              <a:srgbClr val="124944"/>
            </a:solidFill>
          </a:ln>
        </p:spPr>
        <p:txBody>
          <a:bodyPr anchor="ctr" rtlCol="false" lIns="0" tIns="0" rIns="0" bIns="0" wrap="square"/>
          <a:lstStyle/>
          <a:p>
            <a:endParaRPr lang="en-US" sz="1800"/>
          </a:p>
        </p:txBody>
      </p:sp>
      <p:sp>
        <p:nvSpPr>
          <p:cNvPr id="30" name="Rounded Rectangle 29"/>
          <p:cNvSpPr/>
          <p:nvPr/>
        </p:nvSpPr>
        <p:spPr>
          <a:xfrm>
            <a:off x="1348740" y="3354578"/>
            <a:ext cx="207323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31" name="TextBox 30"/>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32" name="TextBox 31"/>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KEY OUTCOMES</a:t>
            </a:r>
          </a:p>
        </p:txBody>
      </p:sp>
      <p:sp>
        <p:nvSpPr>
          <p:cNvPr id="33" name="Rounded Rectangle 32"/>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4" name="Oval 33"/>
          <p:cNvSpPr/>
          <p:nvPr/>
        </p:nvSpPr>
        <p:spPr>
          <a:xfrm>
            <a:off x="134874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5" name="TextBox 34"/>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6" name="Rounded Rectangle 35"/>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7" name="Oval 36"/>
          <p:cNvSpPr/>
          <p:nvPr/>
        </p:nvSpPr>
        <p:spPr>
          <a:xfrm>
            <a:off x="547497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8" name="TextBox 37"/>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9" name="Rounded Rectangle 38"/>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40" name="Oval 39"/>
          <p:cNvSpPr/>
          <p:nvPr/>
        </p:nvSpPr>
        <p:spPr>
          <a:xfrm>
            <a:off x="960120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41" name="TextBox 40"/>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42" name="Rounded Rectangle 41"/>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3" name="Oval 42"/>
          <p:cNvSpPr/>
          <p:nvPr/>
        </p:nvSpPr>
        <p:spPr>
          <a:xfrm>
            <a:off x="1372743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4" name="TextBox 43"/>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pic>
        <p:nvPicPr>
          <p:cNvPr id="23" name="Picture 22" descr="image.png"/>
          <p:cNvPicPr>
            <a:picLocks noChangeAspect="1"/>
          </p:cNvPicPr>
          <p:nvPr/>
        </p:nvPicPr>
        <p:blipFill>
          <a:blip r:embed="rId3"/>
          <a:stretch>
            <a:fillRect/>
          </a:stretch>
        </p:blipFill>
        <p:spPr>
          <a:xfrm>
            <a:off x="5569149" y="1673352"/>
            <a:ext cx="457200" cy="617115"/>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pic>
        <p:nvPicPr>
          <p:cNvPr id="23" name="Picture 22" descr="image.png"/>
          <p:cNvPicPr>
            <a:picLocks noChangeAspect="1"/>
          </p:cNvPicPr>
          <p:nvPr/>
        </p:nvPicPr>
        <p:blipFill>
          <a:blip r:embed="rId3"/>
          <a:stretch>
            <a:fillRect/>
          </a:stretch>
        </p:blipFill>
        <p:spPr>
          <a:xfrm>
            <a:off x="5713563" y="1673352"/>
            <a:ext cx="457200" cy="250983"/>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6" name="Picture 5" descr="ensias_logo.jpg"/>
          <p:cNvPicPr>
            <a:picLocks noChangeAspect="1"/>
          </p:cNvPicPr>
          <p:nvPr/>
        </p:nvPicPr>
        <p:blipFill>
          <a:blip r:embed="rId3"/>
          <a:stretch>
            <a:fillRect/>
          </a:stretch>
        </p:blipFill>
        <p:spPr>
          <a:xfrm>
            <a:off x="1028700" y="9674352"/>
            <a:ext cx="542964" cy="384048"/>
          </a:xfrm>
          <a:prstGeom prst="rect">
            <a:avLst/>
          </a:prstGeom>
        </p:spPr>
      </p:pic>
      <p:sp>
        <p:nvSpPr>
          <p:cNvPr id="7" name="TextBox 6"/>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8" name="TextBox 7"/>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9" name="TextBox 8"/>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10" name="Picture 9" descr="image.png"/>
          <p:cNvPicPr>
            <a:picLocks noChangeAspect="1"/>
          </p:cNvPicPr>
          <p:nvPr/>
        </p:nvPicPr>
        <p:blipFill>
          <a:blip r:embed="rId4"/>
          <a:stretch>
            <a:fillRect/>
          </a:stretch>
        </p:blipFill>
        <p:spPr>
          <a:xfrm>
            <a:off x="13350240" y="2468880"/>
            <a:ext cx="822960" cy="747445"/>
          </a:xfrm>
          <a:prstGeom prst="rect">
            <a:avLst/>
          </a:prstGeom>
        </p:spPr>
      </p:pic>
      <p:pic>
        <p:nvPicPr>
          <p:cNvPr id="11" name="Picture 10"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2" name="Oval 11"/>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3" name="TextBox 12"/>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4" name="Rounded Rectangle 13"/>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5" name="Rounded Rectangle 14"/>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6" name="Rounded Rectangle 15"/>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7" name="Rounded Rectangle 16"/>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pic>
        <p:nvPicPr>
          <p:cNvPr id="9" name="Picture 8" descr="image.png"/>
          <p:cNvPicPr>
            <a:picLocks noChangeAspect="1"/>
          </p:cNvPicPr>
          <p:nvPr/>
        </p:nvPicPr>
        <p:blipFill>
          <a:blip r:embed="rId3"/>
          <a:stretch>
            <a:fillRect/>
          </a:stretch>
        </p:blipFill>
        <p:spPr>
          <a:xfrm>
            <a:off x="14357876" y="1673352"/>
            <a:ext cx="457200" cy="539881"/>
          </a:xfrm>
          <a:prstGeom prst="rect">
            <a:avLst/>
          </a:prstGeom>
        </p:spPr>
      </p:pic>
      <p:sp>
        <p:nvSpPr>
          <p:cNvPr id="10" name="TextBox 9"/>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MOVIELENS-1M</a:t>
            </a:r>
          </a:p>
        </p:txBody>
      </p:sp>
      <p:graphicFrame>
        <p:nvGraphicFramePr>
          <p:cNvPr id="11" name="Table 10"/>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13" name="Table 12"/>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Rounded Rectangle 13"/>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pic>
        <p:nvPicPr>
          <p:cNvPr id="9" name="Picture 8" descr="image.png"/>
          <p:cNvPicPr>
            <a:picLocks noChangeAspect="1"/>
          </p:cNvPicPr>
          <p:nvPr/>
        </p:nvPicPr>
        <p:blipFill>
          <a:blip r:embed="rId3"/>
          <a:stretch>
            <a:fillRect/>
          </a:stretch>
        </p:blipFill>
        <p:spPr>
          <a:xfrm>
            <a:off x="13676893" y="1673352"/>
            <a:ext cx="457200" cy="373212"/>
          </a:xfrm>
          <a:prstGeom prst="rect">
            <a:avLst/>
          </a:prstGeom>
        </p:spPr>
      </p:pic>
      <p:graphicFrame>
        <p:nvGraphicFramePr>
          <p:cNvPr id="10" name="Table 9"/>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12" name="Rounded Rectangle 11"/>
          <p:cNvSpPr/>
          <p:nvPr/>
        </p:nvSpPr>
        <p:spPr>
          <a:xfrm>
            <a:off x="1485900" y="7313930"/>
            <a:ext cx="2585068"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3" name="TextBox 12"/>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4" name="Rounded Rectangle 13"/>
          <p:cNvSpPr/>
          <p:nvPr/>
        </p:nvSpPr>
        <p:spPr>
          <a:xfrm>
            <a:off x="9326880" y="7551674"/>
            <a:ext cx="7932420" cy="1665478"/>
          </a:xfrm>
          <a:prstGeom prst="roundRect">
            <a:avLst>
              <a:gd name="adj" fmla="val 1866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Effect size</a:t>
            </a:r>
          </a:p>
        </p:txBody>
      </p:sp>
      <p:sp>
        <p:nvSpPr>
          <p:cNvPr id="16" name="TextBox 15"/>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pic>
        <p:nvPicPr>
          <p:cNvPr id="9" name="Picture 8" descr="image.png"/>
          <p:cNvPicPr>
            <a:picLocks noChangeAspect="1"/>
          </p:cNvPicPr>
          <p:nvPr/>
        </p:nvPicPr>
        <p:blipFill>
          <a:blip r:embed="rId3"/>
          <a:stretch>
            <a:fillRect/>
          </a:stretch>
        </p:blipFill>
        <p:spPr>
          <a:xfrm>
            <a:off x="13929945" y="1673352"/>
            <a:ext cx="457200" cy="427074"/>
          </a:xfrm>
          <a:prstGeom prst="rect">
            <a:avLst/>
          </a:prstGeom>
        </p:spPr>
      </p:pic>
      <p:sp>
        <p:nvSpPr>
          <p:cNvPr id="10" name="TextBox 9"/>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7.3  ·  RUNTIME AND MEMORY</a:t>
            </a:r>
          </a:p>
        </p:txBody>
      </p:sp>
      <p:graphicFrame>
        <p:nvGraphicFramePr>
          <p:cNvPr id="11" name="Table 10"/>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7.4  ·  MONTE CARLO SHAPLEY</a:t>
            </a:r>
          </a:p>
        </p:txBody>
      </p:sp>
      <p:graphicFrame>
        <p:nvGraphicFramePr>
          <p:cNvPr id="13" name="Table 12"/>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