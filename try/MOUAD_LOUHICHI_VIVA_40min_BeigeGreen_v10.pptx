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and thank you for the time you're giving me today. My name is Mouad Louhichi, and the thesis I'm defending, supervised by Professor Mohamed Lazaar, is titled Cooperative Game Theory for Explainable AI in Recommendation Systems. It rests on a single idea, and I'd like you to keep it in mind throughout: Shapley attribution isn't only a way of explaining a model afterwards. It can explain black-box clustering, it can stay consistent across levels of detail, and it can finally guide what a recommender actually learns.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how the next forty minutes are organised. I'll walk you through seven parts: the introduction, the context and the problematic, the shared experimental protocol, then my three contributions, and finally the conclusion and the perspectives. Each contribution follows exactly the same structure, so you'll always know where we are: research gap, objectives, methodology, evaluation protocol, results, and findings. The seven small squares at the top right of every slide mark the part we're in, and I've put the backup tables after the end, in case a question calls for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begin with the introduction, and with two questions in particular: why explainability is a core requirement for recommender systems, and what I actually mean by an actionable insight. 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whole work. First, ubiquity: these systems shape what billions of people see, buy and watch every single day. Then the black box: even the strongest recommenders and clustering pipelines are hard to question, because we see the output but not the reason behind it. Trust is the one I care about most, and it asks whether transparency can be built into the model rather than bolted on afterwards. Rather than trading accuracy against interpretability, then, I treat them as two goals we have to meet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I call an explanation actionable when it points to a factor you can actually change, when changing it clearly moves the output, and when that factor is stated in the domain's own terms. A chemical variable, a pollution indicator, a preference signal. Never a hidden latent code. In other words, a good explanation has to support a real decision, not just describe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because the history of the field is really the history of the problem. We moved from similarity models to matrix factorisation, which gave us latent factors with no readable meaning. Graph neural networks then replaced that hidden code with a hidden message-passing mechanism, and hypergraph models added user-item-context relations but assume every message counts the same. At each step, then, we gained power and lost transparency, just as the EU AI Act and the GDPR started asking for meaningful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these aren't exotic systems, either. Here are four that most of us use every day, and in each one the reasoning is hidden from the very person it serves. Everywhere, and hidden. That's precisely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move to the problem itself. I'll go fairly quickly over the four main families of recommender, then their limitations, the research questions, and the three contributions. Time check: about minute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taking one slide per family, because their limits are what motivate the thesis. So let's start with content-based filtering. The system builds a profile from the features of what you liked, and recommends items whose features match. What matters here is that it's explainable by construction: the reason is a named feature you recognise. Its limit is that it needs good metadata, and it tends to recommend more of the same. Still, that level of explanation, domain factors, is exactly the level I want to preserve.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collaborative filtering. Here the system ignores content altogether and uses the behaviour of other users, on the assumption that people who agreed in the past will agree in the future. As you can see, user one and user two share two items, so user two's interest in item three passes across. This is the base of matrix factorisation and of graph recommenders, and its weakness is a familiar one: new users and new items have no history, and sparse matrices give very little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hybrids and matrix factorisation. A hybrid mixes the two signals, which does reduce cold-start. Matrix factorisation itself splits the interaction matrix into low-rank user and item factors. It's accurate, it scales, and it's still the standard baseline of the field. The factors, though, are hidden: nobody can tell you what factor seven means. That's really the moment the field gained accuracy and lost the named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and most importantly for this thesis, graph and hypergraph recommenders, which are the state of the art. Users and items become nodes, interactions become edges, and message passing, as in LightGCN, HCCF or HPCF, moves information over several hops. A hyperedge can even join a user, an item and a context at once, which is why these models do best on sparse benchmarks. But look at the orange box: they're costly, and they treat every message as equally important. That assumption is exactly what Contribution III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goes wrong? There are four classical limitations: sparsity, cold-start, popularity bias, and the one this thesis targets, which is the lack of interpretability. For clustering the problem is harder still, because existing methods give either a local or a global explanation, rarely both, and they almost never stay consistent across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leads me to three structuring problems. Complex models are hard to explain in a way that's both faithful and actionable. Local explanations don't carry over to multi-level structure or to large data. And explanations stay post-hoc, so they never shape how the model learns. In short, the literature is missing one framework that does all three at once, and my claim is that Shapley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that gap come five research questions. RQ1 asks whether Shapley values can explain black-box clustering faithfully. RQ2 asks whether that extends to large-scale, multi-level clustering while staying feasible and consistent. RQ3 asks the bolder question: can attribution become part of how a recommender learns? RQ4 asks whether it can improve accuracy, context and diversity at the same time. RQ5, finally, is the thesis-level question, which is what we gain by reading both tasks as one shared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those questions give us three contributions on a single thread. C1 explains black-box clustering, on wine quality. C2 scales the same logic to multi-level Beijing air-quality data. C3, which is the strongest claim, turns attribution into an in-training signal inside a hypergraph recommender. Put simply, the thesis claim is this: cooperative game theory works as one shared attribution view, moving from explanation, to optimisation,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before we get to the contributions, let me set out the shared experimental setup, so that you can be confident the comparisons are fair: the datasets, the splitting, the baselines, the metrics and the hardware. Time check: about minute seven.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take the four datasets in turn. First, Portuguese white wines: four thousand eight hundred and ninety-eight samples with eleven laboratory measurements. I chose it because every column has a physical meaning, so when the explanation says density and pH, a wine maker knows exactly what to 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Beijing air quality: three hundred and eighty-three thousand hourly records, with six pollutants and five weather variables. It's large, it's noisy, it's seasonal, and that's precisely why it's the stress test for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MovieLens-1M: about one million ratings from six thousand users over three thousand seven hundred movies. I use it because it's the standard benchmark, so the numbers stay comparable with LightGCN, HCCF and HPCF.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fourth, Amazon-Book: fifty-two thousand users, three million interactions, and a density of six in ten thousand. This is the sparse end of the range, so it tests whether Shapley weighting helps most exactly where the signal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splitting, the design is built against leakage. For clustering I use five-fold cross-validation. For recommendation, a user-level, time-ordered split with a leave-one-out target and popularity-aware negatives. Five seeds throughout, with early stopping on validation NDCG.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baselines, the clustering comparison is a LIME-based surrogate, which is the standard alternative to SHAP. For recommendation there are six baselines from four families, with HPCF from 2025 as the strongest. I want to be careful here: I claim superiority only against the models I actually tested.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metrics, NDCG at twenty is the headline. Then two beyond-accuracy measures: coverage, which is the fraction of the catalogue ever recommended, and intra-list diversity, the average dissimilarity inside a single list. It's worth noting that ILD is built into the DyHuCoG utility, not merely reported afterwards. For clustering, the Silhouette, which as we'll see is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hardware, which I mention only because it explains the runtime figures you'll see later: an Intel Core i9 for the clustering work, and one RTX 4090 for DyHuCoG. Standard academic hardware, nothing exotic.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move on to Contribution I, which is about explaining black-box clustering with Shapley values, and which answers RQ1. 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why start with clustering? Because the model creates its own structure, so the meaning of a cluster has to be worked out after the fact, and that makes it the hardest possible test bed for attribution. So here's the gap: existing methods give a local or a global explanation, rarely both, and local surrogates such as LIME carry no guarantee that the credit they assign is fair or stable. In short, there's no axiomatic way to explain a black-box partition in the original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gives us three objectives for RQ1. A cluster-level explanation that still keeps feature-level attribution. Attribution in the original feature space, because that's what makes it actionable. Finally, a real argument for why Shapley is the right allocation rule, rather than an ad-hoc surrogate.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before the method, I need one slide on the mathematics the whole thesis rests on, because everything after this uses it. A cooperative game has three ingredients: a set of players, coalitions, which are simply any subset of them, and a characteristic function v that tells you the value each coalition creates on its own. The question is one of fairness: the grand coalition earns v of N, so how should that be shared? Let's take a three-piece band. Alone they earn sixty, forty and twenty. Guitar and Voice together earn one hundred and forty, which is more than their sum, and all three together earn two hundred. That synergy is the whole point, because a fair split has to credit what a player adds to the others, not only what they earn alone. Shapley's answer, from 1953, is to let the players arrive one at a time in a random order and pay each what they add on arrival. Average that over the six orders and you get ninety, seventy and forty, which sums exactly to two hundred. The four axioms on the right, efficiency, symmetry, null player and additivity, are why this is the right rule: Shapley proved it's the only rule that satisfies all four at once.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now we can set clustering up as a cooperative game. The features are the players, and the value of a coalition is the Silhouette of K-Means run on that subset of features. There's a problem, though: with eleven features that's two to the power eleven coalitions, so we need a bridge. Here's the reasoning. TreeSHAP explains trees, not centroids, and explaining the PCA space would move attribution away from the variables we actually care about. Instead, then, K-Means gives the labels, a LightGBM classifier learns to predict them from the original features, and TreeSHAP explains that surrogate exactly. The validity condition is surrogate fidelity, with a macro-F1 of about 0.82 as the floor.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protocol that follows from it. K-Means plus-plus with k scanned from two to ten, chosen by elbow, Silhouette, Davies-Bouldin and an interpretability check. A LightGBM surrogate with five-fold cross-validation, exact TreeSHAP in the original space, and a LIME surrogate on the same partition as the comparison. Success means three things: the fidelity floor is met, the ranking is chemically meaningful, and the clusters have distinct signatures.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there's an honest point I want to make here, because a member of the jury may well notice it. I select three clusters on purpose, even though the geometry prefers two: the Silhouette is 0.214 at k equals two against 0.144 at k equals three. So why choose the worse geometry? Because three clusters support three distinct, chemically meaningful wine stories, and that's far more actionable.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what comes out. The global ranking is led by density, then pH, fixed acidity, the sulfur dioxide variables and alcohol, which is exactly what a wine expert would name for structure, preservation and balance. The strip underneath is Figure 5.2, the per-cluster signatures, where you can see that each cluster has its own balance of the same small set of variables. A cluster, in other words, isn't just a label; it's a distinct combination of drivers.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answer to RQ1 is yes. Shapley values do explain a black-box partition faithfully, provided the surrogate has high fidelity, and consistently at cluster level. On the third objective: SHAP satisfies the four axioms and gives local and global readings that compare across clusters, whereas LIME fits a local surrogate with no such guarantee. There's one caveat I want to state clearly, which is that efficiency holds with respect to the surrogate output, not directly to the Silhouette game, and that's exactly why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summarise Contribution I: the partition is explained at cluster and instance level, in the original variables, with a chemically meaningful ranking and an axiomatic basis that LIME simply doesn't have.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there are limits, and I'd rather state them than have them found. The explanation depends on surrogate fidelity, not on the K-Means geometry directly. It's limited to tabular data. And above all it's single-level: it can't yet tell you how importance changes between a partition and its sub-partitions. That last point is what starts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takeaway from Contribution I is that Shapley attribution is a well-founded lens for an unsupervised partition, and keeping it in the original feature space is what makes it actionable. Real data, of course, are rarely single-level.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that's exactly where Contribution II begins: taking the same explanation to scale and across levels, and answering RQ2. Time check: about minute eighteen.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gap here? Once clustering becomes multi-level, feature importance has to stay readable within a cluster, across sub-clusters, and across the levels themselves. Three hundred and eighty-three thousand records can't be explained coalition by coalition. On top of that, the hierarchical clustering literature gives no formal link between a parent's explanation and its children's.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gives us three objectives again. A truly multi-level workflow with level-specific surrogates. A formal cross-level consistency argument, which is Proposition 6.1. Finally, validation on data that's very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method. The workflow is recursive: a coarse clustering on the full data, and then each cluster split again where that makes sense. Each level gets its own surrogate and its own SHAP values, always in the same original space. The aggregation, importantly, is deliberately not a naive average; a parent's attribution is a size-weighted expectation over its children. One point of method I want to flag: the hierarchy is an analysis tool here, not a claim that the data have a true natural hierarchy.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this is the mathematical heart of the contribution, so let me take it slowly. Proposition 6.1 says that, for a strict nested hierarchy on a consistent feature space, the parent's importance equals the size-weighted sum of its children's importance, plus a residual that comes from surrogate mismatch and vanishes under perfect fidelity. The proof, incidentally, is just the law of total expectation. I want to be precise about what it doesn't say: it doesn't claim explanations are identical across levels. It says their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protocol is the same template, applied to Beijing. Level one is K-Means plus-plus on the full data. Level two splits each coarse cluster again, so three regimes become nine sub-clusters. One surrogate and exact TreeSHAP per level, aggregation by Proposition 6.1, and a sensitivity analysis over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look at the data. On Beijing the selection criteria agree strongly: three clusters, a Silhouette of about 0.63, and a Davies-Bouldin of about 0.55, which means the clusters rarely overlap. The two-component PCA view is there for inspection only. The conclusions turn out to be robust to small changes in k, in projection dimension and in surrogate depth; only the low-ranked variables move.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global ranking, which is the first genuinely surprising result. It's led by temperature, dew point and pressure, and only then by carbon monoxide, nitrogen dioxide and the particulates. The weather variables, not the pollutants, dominate. That makes physical sense, because temperature, dew point and pressure control dispersion, trapping and sunlight-driven chemistry, so they set the conditions under which pollution builds up. A naive ranking of concentrations would have missed it entirely.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slide is the main payoff of the whole contribution. At the coarse level, temperature and dew point dominate, because they separate the broad regimes. The force plots then resolve three of them: a warm, sunlight-driven summer regime where ozone stands out; a winter smog regime with carbon monoxide, sulfur dioxide and particulate matter under low wind; and a comparatively clean regime. Inside single clusters, though, the informative variables shift. That isn't a contradiction. The parent-level story is regime selection, the cluster-level story is variation within a regime, and Proposition 6.1 is what lets us read the shift as structure rather than as noise.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answer to RQ2 is yes, within bounds. Consistency is kept at scale and across levels, provided the hierarchy is modelled explicitly and the approximation is transparent. The bound I want to be honest about is that this is still an explanation of a partition that was already computed.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other words, the explanation scales because the hierarchy is explicit, Proposition 6.1 makes cross-level differences interpretable, and the logic transfers from four thousand eight hundred and ninety-eight wines to three hundred and eighty-three thousand air-quality records.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again, the limitations. The clustering stays static, even though the Beijing data are temporal. Surrogate-based SHAP with representative instances smooths out variation. Most important of all, the attribution is still post-hoc: it never influences learning. That's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takeaway from Contribution II is that Shapley attribution stays consistent across levels of detail once the hierarchy is explicit, which means explanations become interpretable against scale, not just against one flat partition. It still explains a partition that was already computed, though. Which leaves the question: can cooperative attribution move beyond explanation and become part of how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 brings us to Contribution III, DyHuCoG, where attribution moves inside the training loop. Time check: about minute twenty-five.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gap here is subtle but important. Every hypergraph recommender treats its messages as equally important, and where attribution exists at all, it's computed after training. The explanation therefore describes a model it didn't help to build. The question I ask is whether attribution can be part of the learning instead.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gives us two research questions and three objectives. RQ3 asks whether attribution can become part of the learning. RQ4 asks whether ranking, context and diversity can improve together. The objectives are: recommendation as a cooperative game over users, items and contexts; preference-aware Monte Carlo Shapley inside message passing; and those three metrics improving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game. The players are users, items and contexts, joined by hyperedges whose weights come from Shapley estimates. A coalition is the set of entities taking part in one recommendation episode, and its value is the quality of what they achieve together. That value is explicit on the screen: accuracy, diversity and context, weighted sixty, twenty-five and fifteen, plus a preference term. The trade-off the recommender has to satisfy is therefore exactly the one attribution is computed from, which means the game and the objective are aligned by design. You'll notice this mirrors the clustering game on purpose: same logic, different value function.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exact Shapley is of course combinatorial, so we estimate it by Monte Carlo: over M sampled coalitions, we average the value with the player minus the value without. The estimator is unbiased, and its error falls as one over root M. We chose M equal to fifty, which gives about ninety-nine percent accuracy, refreshed every ten batches and smoothed by an exponential moving average.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architecture, which is really the decisive move. Base propagation is standard hypergraph message passing; the Shapley-weighted version multiplies each message by a normalised Shapley coefficient. An attention gate then blends that with the standard score as a stabiliser, and a context term is added. Look at the last row, which is the training loss: BPR, plus diversity, plus context, plus regularisation. The model, in other words, optimises exactly the same balance that the attribution is computed from.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here is heavier, so let me be brief. Two datasets, six baselines, four metrics, five seeds. Paired t-tests and Wilcoxon on per-user NDCG, with Holm-Bonferroni correction and Cohen's d. An ablation removes one component at a time. Success means beating HPCF on both datasets with corrected p below 0.05, coverage and diversity rising together, and overhead within about two times HPCF.</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headline result on MovieLens-1M, with DyHuCoG in bold, best on all four metrics. HPCF reaches an NDCG of 0.2528; DyHuCoG gives 0.2775, which is plus 9.8 percent, and recall rises from 0.2098 to 0.2362. Notice that coverage and diversity rise at the same time, which isn't a coincidence: diversity is part of the coalition utility, not a re-ranking step. The gap widens from classical to graph to hypergraph, and DyHuCoG adds one more step.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same table on much sparser data, where the relative gains are larger still: plus 13.3 percent NDCG, plus 16 percent recall, and coverage up nearly thirty percent. The absolute values look low for every model, and that's simply because the matrix is almost empty. What matters, then, is the consistent ordering, and the fact that the gap is wider where the data are weakest.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every component earn its place? This is the ablation, per dataset. Context matters most, at minus 8.2 and minus 11 percent. The hypergraph structure is second. Removing the Shapley weighting costs 4.6 and 6.1 percent, and more on the sparser data. Every component contributes, then, and no single one explains the whole gain.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report the cost openly, because it isn't free. DyHuCoG trains in about two thousand seconds against eleven hundred for HPCF, so roughly 1.78 times. Inference is 1.84 milliseconds per query on MovieLens, which is well within real time. On convergence, M equal to fifty gives ninety-nine percent accuracy, so fifty is the right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is the improvement real, or is it just a large sample? These are paired t-tests over six thousand and forty users, Holm-Bonferroni corrected. Against HPCF the t-statistic is 46.38 and Cohen's d is 1.33, and Wilcoxon agrees. The effect size is what matters here, because with six thousand users even a tiny difference can look significant. Beyond accuracy, cold users gain about ten percent and cold items 9.6, and the gain holds on Yelp2018. These tests cover MovieLens-1M; Amazon-Book stays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answers. For RQ3, yes: the Shapley estimates set the hyperedge weights while the model is learning. For RQ4, yes as well: ranking, coverage and diversity improve together on both datasets, with the largest gains where the data are sparsest. All three objectives are met.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then: attribution becomes part of how the recommender learns, the accuracy-diversity trade-off moves, and the improvement is statistically large.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limitations, stated honestly. There's a compute overhead. There's a dependence on meaningful context, so on data without usable context the gain shrinks. The Monte Carlo estimator could still use variance reduction. The ablation removes one component at a time, so it doesn't test combinations. The baselines, finally, were fixed in early 2026, so again, I claim superiority only against the models I tested.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takeaway here is really the conceptual shift of the whole thesis. Attribution becomes a first-class part of the learning objective rather than a post-hoc check, which means the explanation is a direct read-out of what the model optimises. In other words, it's faithful by design.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bring everything together: the synthesis, the publications, the limitations, and the perspectives. Time check: about minute thirty-two.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contributions on one thread: explain, scale, guide. C1 explains a black-box partition in the chemistry. C2 keeps that explanation consistent across levels, with Proposition 6.1 as the formal argument. And C3 carries the same logic inside the learning of a recommender. One definition, then, three value functions.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publications, there are three journal articles, all with me as first author: Procedia Computer Science in 2023, IJACSA in 2025, and IJIES in 2026 for DyHuCoG. IJACSA and IJIES are both Scopus-indexed.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now the limitations of the thesis as a whole. On computation, exact Shapley isn't feasible, so every contribution relies on approximation or surrogates. On method, the clustering chapters depend on surrogate fidelity, and the recommendation results on meaningful context. On experiments, the clustering work is tabular and the recommendation work is offline, and there's no user study of actionability yet. On the claim itself: this isn't one unified framework that removes all tension, but a shared, well-founded view that works across both tasks.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turns naturally into future work. Lower-variance estimators and adaptive refresh rules. Online and streaming recommendation, with graphs that keep changing. A user-centred evaluation, asking whether these explanations actually improve judgement and trust. Finally, a broader trustworthy-AI evaluation, including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conclude. Cooperative game theory can serve as a shared methodological view for actionable explanation across clustering and recommendation. There are four outcomes I'd like to leave you with: Shapley attribution as a common formal language; three concrete achievements; explanation treated as method rather than as a comment added later; and a position that's aligned with the EU AI Act and the OECD principles.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references, in footnote order. I won't read them out; they're here so that every footnote number can be found.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half of the reference list, including the datasets, the statistical procedures,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thank you very much for your attention. I'd be very happy to take your questions, and to go deeper into any part of the method, the mathematics or the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leave this slide up during the discussion, since it repeats the title and the jury. Thank you again, and I'm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conventionally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 Id="rId5" Type="http://schemas.openxmlformats.org/officeDocument/2006/relationships/image" Target="../media/image64.png"/><Relationship Id="rId6"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 Id="rId5" Type="http://schemas.openxmlformats.org/officeDocument/2006/relationships/image" Target="../media/image66.png"/><Relationship Id="rId6"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1.xml"/><Relationship Id="rId5" Type="http://schemas.openxmlformats.org/officeDocument/2006/relationships/image" Target="../media/image68.png"/><Relationship Id="rId6"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2.xml"/><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 Id="rId5"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 Id="rId5"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4.xml"/><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1.xml"/><Relationship Id="rId5" Type="http://schemas.openxmlformats.org/officeDocument/2006/relationships/image" Target="../media/image9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hidden logic, hard to audit.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8" name="TextBox 27"/>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9" name="Rounded Rectangle 28"/>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30" name="Connector 29"/>
          <p:cNvCxnSpPr/>
          <p:nvPr/>
        </p:nvCxnSpPr>
        <p:spPr>
          <a:xfrm>
            <a:off x="11087100" y="5352542"/>
            <a:ext cx="381000" cy="0"/>
          </a:xfrm>
          <a:prstGeom prst="line">
            <a:avLst/>
          </a:prstGeom>
          <a:ln w="28575">
            <a:solidFill>
              <a:srgbClr val="124944"/>
            </a:solidFill>
            <a:tailEnd type="triangle" w="med" len="med"/>
          </a:ln>
        </p:spPr>
      </p:cxnSp>
      <p:sp>
        <p:nvSpPr>
          <p:cNvPr id="31" name="Rounded Rectangle 30"/>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2" name="Connector 31"/>
          <p:cNvCxnSpPr/>
          <p:nvPr/>
        </p:nvCxnSpPr>
        <p:spPr>
          <a:xfrm>
            <a:off x="13159740" y="5352542"/>
            <a:ext cx="381000" cy="0"/>
          </a:xfrm>
          <a:prstGeom prst="line">
            <a:avLst/>
          </a:prstGeom>
          <a:ln w="28575">
            <a:solidFill>
              <a:srgbClr val="124944"/>
            </a:solidFill>
            <a:tailEnd type="triangle" w="med" len="med"/>
          </a:ln>
        </p:spPr>
      </p:cxnSp>
      <p:sp>
        <p:nvSpPr>
          <p:cNvPr id="33" name="Rounded Rectangle 32"/>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4" name="Connector 33"/>
          <p:cNvCxnSpPr/>
          <p:nvPr/>
        </p:nvCxnSpPr>
        <p:spPr>
          <a:xfrm>
            <a:off x="15232380" y="5352542"/>
            <a:ext cx="381000" cy="0"/>
          </a:xfrm>
          <a:prstGeom prst="line">
            <a:avLst/>
          </a:prstGeom>
          <a:ln w="28575">
            <a:solidFill>
              <a:srgbClr val="124944"/>
            </a:solidFill>
            <a:tailEnd type="triangle" w="med" len="med"/>
          </a:ln>
        </p:spPr>
      </p:cxnSp>
      <p:sp>
        <p:nvSpPr>
          <p:cNvPr id="35" name="Rounded Rectangle 34"/>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6" name="Connector 35"/>
          <p:cNvCxnSpPr/>
          <p:nvPr/>
        </p:nvCxnSpPr>
        <p:spPr>
          <a:xfrm>
            <a:off x="10241280" y="6106922"/>
            <a:ext cx="0" cy="365760"/>
          </a:xfrm>
          <a:prstGeom prst="line">
            <a:avLst/>
          </a:prstGeom>
          <a:ln w="28575">
            <a:solidFill>
              <a:srgbClr val="DF8330"/>
            </a:solidFill>
          </a:ln>
        </p:spPr>
      </p:cxnSp>
      <p:cxnSp>
        <p:nvCxnSpPr>
          <p:cNvPr id="37" name="Connector 36"/>
          <p:cNvCxnSpPr/>
          <p:nvPr/>
        </p:nvCxnSpPr>
        <p:spPr>
          <a:xfrm>
            <a:off x="10241280" y="6472682"/>
            <a:ext cx="6217920" cy="0"/>
          </a:xfrm>
          <a:prstGeom prst="line">
            <a:avLst/>
          </a:prstGeom>
          <a:ln w="28575">
            <a:solidFill>
              <a:srgbClr val="DF8330"/>
            </a:solidFill>
            <a:prstDash val="dash"/>
          </a:ln>
        </p:spPr>
      </p:cxnSp>
      <p:cxnSp>
        <p:nvCxnSpPr>
          <p:cNvPr id="38" name="Connector 37"/>
          <p:cNvCxnSpPr/>
          <p:nvPr/>
        </p:nvCxnSpPr>
        <p:spPr>
          <a:xfrm>
            <a:off x="16459200" y="6106922"/>
            <a:ext cx="0" cy="365760"/>
          </a:xfrm>
          <a:prstGeom prst="line">
            <a:avLst/>
          </a:prstGeom>
          <a:ln w="28575">
            <a:solidFill>
              <a:srgbClr val="DF8330"/>
            </a:solidFill>
          </a:ln>
        </p:spPr>
      </p:cxnSp>
      <p:sp>
        <p:nvSpPr>
          <p:cNvPr id="39" name="TextBox 38"/>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40" name="Rounded Rectangle 39"/>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41" name="Rounded Rectangle 40"/>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2" name="Rounded Rectangle 41"/>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12494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12494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12494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12494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DF8330"/>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8" name="Rounded Rectangle 27"/>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2" name="Rounded Rectangle 31"/>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6" name="Rounded Rectangle 35"/>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40" name="Rounded Rectangle 39"/>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2" name="Rounded Rectangle 31"/>
          <p:cNvSpPr/>
          <p:nvPr/>
        </p:nvSpPr>
        <p:spPr>
          <a:xfrm>
            <a:off x="925830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3" name="Connector 32"/>
          <p:cNvCxnSpPr/>
          <p:nvPr/>
        </p:nvCxnSpPr>
        <p:spPr>
          <a:xfrm>
            <a:off x="10876788" y="4552442"/>
            <a:ext cx="478536" cy="0"/>
          </a:xfrm>
          <a:prstGeom prst="line">
            <a:avLst/>
          </a:prstGeom>
          <a:ln w="28575">
            <a:solidFill>
              <a:srgbClr val="124944"/>
            </a:solidFill>
            <a:tailEnd type="triangle" w="med" len="med"/>
          </a:ln>
        </p:spPr>
      </p:cxnSp>
      <p:sp>
        <p:nvSpPr>
          <p:cNvPr id="34" name="Rounded Rectangle 33"/>
          <p:cNvSpPr/>
          <p:nvPr/>
        </p:nvSpPr>
        <p:spPr>
          <a:xfrm>
            <a:off x="1140104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5" name="Connector 34"/>
          <p:cNvCxnSpPr/>
          <p:nvPr/>
        </p:nvCxnSpPr>
        <p:spPr>
          <a:xfrm>
            <a:off x="13019532" y="4552442"/>
            <a:ext cx="478536" cy="0"/>
          </a:xfrm>
          <a:prstGeom prst="line">
            <a:avLst/>
          </a:prstGeom>
          <a:ln w="28575">
            <a:solidFill>
              <a:srgbClr val="124944"/>
            </a:solidFill>
            <a:tailEnd type="triangle" w="med" len="med"/>
          </a:ln>
        </p:spPr>
      </p:cxnSp>
      <p:sp>
        <p:nvSpPr>
          <p:cNvPr id="36" name="Rounded Rectangle 35"/>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7" name="Connector 36"/>
          <p:cNvCxnSpPr/>
          <p:nvPr/>
        </p:nvCxnSpPr>
        <p:spPr>
          <a:xfrm>
            <a:off x="15162276" y="4552442"/>
            <a:ext cx="478536" cy="0"/>
          </a:xfrm>
          <a:prstGeom prst="line">
            <a:avLst/>
          </a:prstGeom>
          <a:ln w="28575">
            <a:solidFill>
              <a:srgbClr val="124944"/>
            </a:solidFill>
            <a:tailEnd type="triangle" w="med" len="med"/>
          </a:ln>
        </p:spPr>
      </p:cxnSp>
      <p:sp>
        <p:nvSpPr>
          <p:cNvPr id="38" name="Rounded Rectangle 37"/>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9" name="TextBox 38"/>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40" name="Rounded Rectangle 39"/>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1550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2" name="TextBox 41"/>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3" name="Rounded Rectangle 42"/>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5" name="TextBox 44"/>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6" name="Rounded Rectangle 45"/>
          <p:cNvSpPr/>
          <p:nvPr/>
        </p:nvSpPr>
        <p:spPr>
          <a:xfrm>
            <a:off x="9258300" y="8210042"/>
            <a:ext cx="8001000" cy="1007110"/>
          </a:xfrm>
          <a:prstGeom prst="roundRect">
            <a:avLst>
              <a:gd name="adj" fmla="val 22698"/>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2" name="Oval 31"/>
          <p:cNvSpPr/>
          <p:nvPr/>
        </p:nvSpPr>
        <p:spPr>
          <a:xfrm>
            <a:off x="10081260" y="427812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3" name="Oval 32"/>
          <p:cNvSpPr/>
          <p:nvPr/>
        </p:nvSpPr>
        <p:spPr>
          <a:xfrm>
            <a:off x="10081260" y="532968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4" name="Oval 33"/>
          <p:cNvSpPr/>
          <p:nvPr/>
        </p:nvSpPr>
        <p:spPr>
          <a:xfrm>
            <a:off x="10081260" y="638124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5" name="Rounded Rectangle 34"/>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7" name="Rounded Rectangle 36"/>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9" name="Rounded Rectangle 38"/>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2" name="TextBox 41"/>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3" name="Connector 42"/>
          <p:cNvCxnSpPr/>
          <p:nvPr/>
        </p:nvCxnSpPr>
        <p:spPr>
          <a:xfrm flipV="1">
            <a:off x="10767060" y="4323842"/>
            <a:ext cx="5394960" cy="297180"/>
          </a:xfrm>
          <a:prstGeom prst="line">
            <a:avLst/>
          </a:prstGeom>
          <a:ln w="22225">
            <a:solidFill>
              <a:srgbClr val="124944"/>
            </a:solidFill>
          </a:ln>
        </p:spPr>
      </p:cxnSp>
      <p:cxnSp>
        <p:nvCxnSpPr>
          <p:cNvPr id="44" name="Connector 43"/>
          <p:cNvCxnSpPr/>
          <p:nvPr/>
        </p:nvCxnSpPr>
        <p:spPr>
          <a:xfrm>
            <a:off x="10767060" y="4621022"/>
            <a:ext cx="5394960" cy="525780"/>
          </a:xfrm>
          <a:prstGeom prst="line">
            <a:avLst/>
          </a:prstGeom>
          <a:ln w="22225">
            <a:solidFill>
              <a:srgbClr val="124944"/>
            </a:solidFill>
          </a:ln>
        </p:spPr>
      </p:cxnSp>
      <p:cxnSp>
        <p:nvCxnSpPr>
          <p:cNvPr id="45" name="Connector 44"/>
          <p:cNvCxnSpPr/>
          <p:nvPr/>
        </p:nvCxnSpPr>
        <p:spPr>
          <a:xfrm flipV="1">
            <a:off x="10767060" y="4323842"/>
            <a:ext cx="5394960" cy="1348740"/>
          </a:xfrm>
          <a:prstGeom prst="line">
            <a:avLst/>
          </a:prstGeom>
          <a:ln w="22225">
            <a:solidFill>
              <a:srgbClr val="124944"/>
            </a:solidFill>
          </a:ln>
        </p:spPr>
      </p:cxnSp>
      <p:cxnSp>
        <p:nvCxnSpPr>
          <p:cNvPr id="46" name="Connector 45"/>
          <p:cNvCxnSpPr/>
          <p:nvPr/>
        </p:nvCxnSpPr>
        <p:spPr>
          <a:xfrm flipV="1">
            <a:off x="10767060" y="5146802"/>
            <a:ext cx="5394960" cy="525780"/>
          </a:xfrm>
          <a:prstGeom prst="line">
            <a:avLst/>
          </a:prstGeom>
          <a:ln w="22225">
            <a:solidFill>
              <a:srgbClr val="124944"/>
            </a:solidFill>
          </a:ln>
        </p:spPr>
      </p:cxnSp>
      <p:cxnSp>
        <p:nvCxnSpPr>
          <p:cNvPr id="47" name="Connector 46"/>
          <p:cNvCxnSpPr/>
          <p:nvPr/>
        </p:nvCxnSpPr>
        <p:spPr>
          <a:xfrm>
            <a:off x="10767060" y="5672582"/>
            <a:ext cx="5394960" cy="297180"/>
          </a:xfrm>
          <a:prstGeom prst="line">
            <a:avLst/>
          </a:prstGeom>
          <a:ln w="22225">
            <a:solidFill>
              <a:srgbClr val="124944"/>
            </a:solidFill>
          </a:ln>
        </p:spPr>
      </p:cxnSp>
      <p:cxnSp>
        <p:nvCxnSpPr>
          <p:cNvPr id="48" name="Connector 47"/>
          <p:cNvCxnSpPr/>
          <p:nvPr/>
        </p:nvCxnSpPr>
        <p:spPr>
          <a:xfrm flipV="1">
            <a:off x="10767060" y="5969762"/>
            <a:ext cx="5394960" cy="754380"/>
          </a:xfrm>
          <a:prstGeom prst="line">
            <a:avLst/>
          </a:prstGeom>
          <a:ln w="22225">
            <a:solidFill>
              <a:srgbClr val="124944"/>
            </a:solidFill>
          </a:ln>
        </p:spPr>
      </p:cxnSp>
      <p:cxnSp>
        <p:nvCxnSpPr>
          <p:cNvPr id="49" name="Connector 48"/>
          <p:cNvCxnSpPr/>
          <p:nvPr/>
        </p:nvCxnSpPr>
        <p:spPr>
          <a:xfrm>
            <a:off x="10767060" y="6724142"/>
            <a:ext cx="5394960" cy="68580"/>
          </a:xfrm>
          <a:prstGeom prst="line">
            <a:avLst/>
          </a:prstGeom>
          <a:ln w="22225">
            <a:solidFill>
              <a:srgbClr val="124944"/>
            </a:solidFill>
          </a:ln>
        </p:spPr>
      </p:cxnSp>
      <p:cxnSp>
        <p:nvCxnSpPr>
          <p:cNvPr id="50" name="Connector 49"/>
          <p:cNvCxnSpPr/>
          <p:nvPr/>
        </p:nvCxnSpPr>
        <p:spPr>
          <a:xfrm>
            <a:off x="10767060" y="4621022"/>
            <a:ext cx="5394960" cy="1348740"/>
          </a:xfrm>
          <a:prstGeom prst="line">
            <a:avLst/>
          </a:prstGeom>
          <a:ln w="31750">
            <a:solidFill>
              <a:srgbClr val="DF8330"/>
            </a:solidFill>
            <a:prstDash val="dash"/>
          </a:ln>
        </p:spPr>
      </p:cxnSp>
      <p:sp>
        <p:nvSpPr>
          <p:cNvPr id="51" name="TextBox 50"/>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2" name="Rounded Rectangle 51"/>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9715500" y="7926578"/>
            <a:ext cx="164198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4" name="TextBox 53"/>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5" name="Rounded Rectangle 54"/>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6" name="Rounded Rectangle 55"/>
          <p:cNvSpPr/>
          <p:nvPr/>
        </p:nvSpPr>
        <p:spPr>
          <a:xfrm>
            <a:off x="13853160" y="7926578"/>
            <a:ext cx="162824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7" name="TextBox 56"/>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2" name="Rounded Rectangle 31"/>
          <p:cNvSpPr/>
          <p:nvPr/>
        </p:nvSpPr>
        <p:spPr>
          <a:xfrm>
            <a:off x="9258300" y="3958082"/>
            <a:ext cx="3863340" cy="914400"/>
          </a:xfrm>
          <a:prstGeom prst="roundRect">
            <a:avLst>
              <a:gd name="adj" fmla="val 22000"/>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3" name="Rounded Rectangle 32"/>
          <p:cNvSpPr/>
          <p:nvPr/>
        </p:nvSpPr>
        <p:spPr>
          <a:xfrm>
            <a:off x="13395960" y="3958082"/>
            <a:ext cx="3863340" cy="914400"/>
          </a:xfrm>
          <a:prstGeom prst="roundRect">
            <a:avLst>
              <a:gd name="adj" fmla="val 22000"/>
            </a:avLst>
          </a:prstGeom>
          <a:solidFill>
            <a:srgbClr val="1E5F58"/>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4" name="Connector 33"/>
          <p:cNvCxnSpPr/>
          <p:nvPr/>
        </p:nvCxnSpPr>
        <p:spPr>
          <a:xfrm>
            <a:off x="11189970" y="4872482"/>
            <a:ext cx="1794510" cy="411480"/>
          </a:xfrm>
          <a:prstGeom prst="line">
            <a:avLst/>
          </a:prstGeom>
          <a:ln w="31750">
            <a:solidFill>
              <a:srgbClr val="124944"/>
            </a:solidFill>
            <a:tailEnd type="triangle" w="med" len="med"/>
          </a:ln>
        </p:spPr>
      </p:cxnSp>
      <p:cxnSp>
        <p:nvCxnSpPr>
          <p:cNvPr id="35" name="Connector 34"/>
          <p:cNvCxnSpPr/>
          <p:nvPr/>
        </p:nvCxnSpPr>
        <p:spPr>
          <a:xfrm flipH="1">
            <a:off x="13533120" y="4872482"/>
            <a:ext cx="1794510" cy="411480"/>
          </a:xfrm>
          <a:prstGeom prst="line">
            <a:avLst/>
          </a:prstGeom>
          <a:ln w="31750">
            <a:solidFill>
              <a:srgbClr val="124944"/>
            </a:solidFill>
            <a:tailEnd type="triangle" w="med" len="med"/>
          </a:ln>
        </p:spPr>
      </p:cxnSp>
      <p:sp>
        <p:nvSpPr>
          <p:cNvPr id="36" name="Rounded Rectangle 35"/>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7" name="TextBox 36"/>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12494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8"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8"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9" name="Rounded Rectangle 38"/>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2" name="Rounded Rectangle 31"/>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15500" y="3903218"/>
            <a:ext cx="2690762"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4" name="Connector 33"/>
          <p:cNvCxnSpPr/>
          <p:nvPr/>
        </p:nvCxnSpPr>
        <p:spPr>
          <a:xfrm flipV="1">
            <a:off x="10367010" y="4735322"/>
            <a:ext cx="1645920" cy="274320"/>
          </a:xfrm>
          <a:prstGeom prst="line">
            <a:avLst/>
          </a:prstGeom>
          <a:ln w="22225">
            <a:solidFill>
              <a:srgbClr val="124944"/>
            </a:solidFill>
          </a:ln>
        </p:spPr>
      </p:cxnSp>
      <p:cxnSp>
        <p:nvCxnSpPr>
          <p:cNvPr id="35" name="Connector 34"/>
          <p:cNvCxnSpPr/>
          <p:nvPr/>
        </p:nvCxnSpPr>
        <p:spPr>
          <a:xfrm>
            <a:off x="10367010" y="5009642"/>
            <a:ext cx="1645920" cy="822960"/>
          </a:xfrm>
          <a:prstGeom prst="line">
            <a:avLst/>
          </a:prstGeom>
          <a:ln w="22225">
            <a:solidFill>
              <a:srgbClr val="124944"/>
            </a:solidFill>
          </a:ln>
        </p:spPr>
      </p:cxnSp>
      <p:cxnSp>
        <p:nvCxnSpPr>
          <p:cNvPr id="36" name="Connector 35"/>
          <p:cNvCxnSpPr/>
          <p:nvPr/>
        </p:nvCxnSpPr>
        <p:spPr>
          <a:xfrm flipV="1">
            <a:off x="10367010" y="5832602"/>
            <a:ext cx="1645920" cy="548640"/>
          </a:xfrm>
          <a:prstGeom prst="line">
            <a:avLst/>
          </a:prstGeom>
          <a:ln w="22225">
            <a:solidFill>
              <a:srgbClr val="124944"/>
            </a:solidFill>
          </a:ln>
        </p:spPr>
      </p:cxnSp>
      <p:cxnSp>
        <p:nvCxnSpPr>
          <p:cNvPr id="37" name="Connector 36"/>
          <p:cNvCxnSpPr/>
          <p:nvPr/>
        </p:nvCxnSpPr>
        <p:spPr>
          <a:xfrm>
            <a:off x="10367010" y="6381242"/>
            <a:ext cx="1645920" cy="548640"/>
          </a:xfrm>
          <a:prstGeom prst="line">
            <a:avLst/>
          </a:prstGeom>
          <a:ln w="22225">
            <a:solidFill>
              <a:srgbClr val="124944"/>
            </a:solidFill>
          </a:ln>
        </p:spPr>
      </p:cxnSp>
      <p:sp>
        <p:nvSpPr>
          <p:cNvPr id="38" name="Oval 37"/>
          <p:cNvSpPr/>
          <p:nvPr/>
        </p:nvSpPr>
        <p:spPr>
          <a:xfrm>
            <a:off x="10110978" y="47536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9" name="Oval 38"/>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40" name="Oval 39"/>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41" name="Oval 40"/>
          <p:cNvSpPr/>
          <p:nvPr/>
        </p:nvSpPr>
        <p:spPr>
          <a:xfrm>
            <a:off x="10110978" y="61252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2" name="Oval 41"/>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3" name="Rounded Rectangle 42"/>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3903218"/>
            <a:ext cx="388767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5" name="Oval 44"/>
          <p:cNvSpPr/>
          <p:nvPr/>
        </p:nvSpPr>
        <p:spPr>
          <a:xfrm>
            <a:off x="13910310" y="4689602"/>
            <a:ext cx="2834640" cy="1737360"/>
          </a:xfrm>
          <a:prstGeom prst="ellipse">
            <a:avLst/>
          </a:prstGeom>
          <a:solidFill>
            <a:srgbClr val="E6EEEA"/>
          </a:solidFill>
          <a:ln w="28575">
            <a:solidFill>
              <a:srgbClr val="124944"/>
            </a:solidFill>
          </a:ln>
        </p:spPr>
        <p:txBody>
          <a:bodyPr anchor="ctr" rtlCol="false" lIns="0" tIns="0" rIns="0" bIns="0" wrap="square"/>
          <a:lstStyle/>
          <a:p>
            <a:endParaRPr lang="en-US" sz="1800"/>
          </a:p>
        </p:txBody>
      </p:sp>
      <p:sp>
        <p:nvSpPr>
          <p:cNvPr id="46" name="Oval 45"/>
          <p:cNvSpPr/>
          <p:nvPr/>
        </p:nvSpPr>
        <p:spPr>
          <a:xfrm>
            <a:off x="14248638" y="502793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7" name="Oval 46"/>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8" name="Oval 47"/>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9" name="TextBox 48"/>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50" name="Rounded Rectangle 49"/>
          <p:cNvSpPr/>
          <p:nvPr/>
        </p:nvSpPr>
        <p:spPr>
          <a:xfrm>
            <a:off x="9258300" y="7981442"/>
            <a:ext cx="8001000" cy="1235710"/>
          </a:xfrm>
          <a:prstGeom prst="roundRect">
            <a:avLst>
              <a:gd name="adj" fmla="val 18499"/>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DF8330"/>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DF8330"/>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12494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12494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5"/>
                <a:stretch>
                  <a:fillRect/>
                </a:stretch>
              </a:blipFill>
            </p:spPr>
            <p:txBody>
              <a:bodyPr/>
              <a:lstStyle/>
              <a:p>
                <a:endParaRPr lang="en-US"/>
              </a:p>
            </p:txBody>
          </p:sp>
        </mc:Fallback>
      </mc:AlternateContent>
      <p:sp>
        <p:nvSpPr>
          <p:cNvPr id="32" name="Rounded Rectangle 31"/>
          <p:cNvSpPr/>
          <p:nvPr/>
        </p:nvSpPr>
        <p:spPr>
          <a:xfrm>
            <a:off x="1028700" y="6792722"/>
            <a:ext cx="7680960" cy="1371600"/>
          </a:xfrm>
          <a:prstGeom prst="roundRect">
            <a:avLst>
              <a:gd name="adj" fmla="val 14666"/>
            </a:avLst>
          </a:prstGeom>
          <a:solidFill>
            <a:srgbClr val="F6ECDF"/>
          </a:solidFill>
          <a:ln w="25400">
            <a:solidFill>
              <a:srgbClr val="DF8330"/>
            </a:solidFill>
          </a:ln>
        </p:spPr>
        <p:txBody>
          <a:bodyPr anchor="ctr" rtlCol="false" lIns="0" tIns="0" rIns="0" bIns="0" wrap="square"/>
          <a:lstStyle/>
          <a:p>
            <a:endParaRPr lang="en-US" sz="1800"/>
          </a:p>
        </p:txBody>
      </p:sp>
      <p:sp>
        <p:nvSpPr>
          <p:cNvPr id="33" name="Rounded Rectangle 32"/>
          <p:cNvSpPr/>
          <p:nvPr/>
        </p:nvSpPr>
        <p:spPr>
          <a:xfrm>
            <a:off x="1348740" y="660069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4" name="TextBox 33"/>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5" name="Rounded Rectangle 34"/>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6" name="TextBox 35"/>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7"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7" name="Equation"/>
              <p:cNvSpPr txBox="1"/>
              <p:nvPr/>
            </p:nvSpPr>
            <p:spPr>
              <a:xfrm>
                <a:off x="1211580" y="8749538"/>
                <a:ext cx="7315200" cy="1097280"/>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average marginal contribution over every arrival order</a:t>
            </a:r>
          </a:p>
        </p:txBody>
      </p:sp>
      <p:sp>
        <p:nvSpPr>
          <p:cNvPr id="39" name="TextBox 38"/>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40" name="Table 39"/>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41" name="Rounded Rectangle 40"/>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2" name="Rounded Rectangle 41"/>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3" name="Rounded Rectangle 42"/>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4" name="Rounded Rectangle 43"/>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5" name="Rounded Rectangle 44"/>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6" name="Rounded Rectangle 45"/>
          <p:cNvSpPr/>
          <p:nvPr/>
        </p:nvSpPr>
        <p:spPr>
          <a:xfrm>
            <a:off x="9166860" y="10934446"/>
            <a:ext cx="8092440" cy="-1671574"/>
          </a:xfrm>
          <a:prstGeom prst="roundRect">
            <a:avLst>
              <a:gd name="adj" fmla="val 0"/>
            </a:avLst>
          </a:prstGeom>
          <a:solidFill>
            <a:srgbClr val="DF8330"/>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12494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12494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12494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84489" y="3546602"/>
            <a:ext cx="5359901"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10379599" y="7808595"/>
            <a:ext cx="4569680"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12494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12494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12494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12494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12494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12494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12494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12494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12494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9013665" y="3546602"/>
            <a:ext cx="7484428"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6273209" y="3500882"/>
            <a:ext cx="5741581"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DF8330"/>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2"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2"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4" name="Table 33"/>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5" name="TextBox 34"/>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6" name="Rounded Rectangle 35"/>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38" name="TextBox 37"/>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9"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9"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6205039" y="3500882"/>
            <a:ext cx="5877921" cy="1417320"/>
          </a:xfrm>
          <a:prstGeom prst="rect">
            <a:avLst/>
          </a:prstGeom>
        </p:spPr>
      </p:pic>
      <p:sp>
        <p:nvSpPr>
          <p:cNvPr id="30" name="TextBox 29"/>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3"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3" name="Equation"/>
              <p:cNvSpPr txBox="1"/>
              <p:nvPr/>
            </p:nvSpPr>
            <p:spPr>
              <a:xfrm>
                <a:off x="4686300" y="5283962"/>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5" name="TextBox 34"/>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6"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6" name="Equation"/>
              <p:cNvSpPr txBox="1"/>
              <p:nvPr/>
            </p:nvSpPr>
            <p:spPr>
              <a:xfrm>
                <a:off x="4686300" y="5985213"/>
                <a:ext cx="12298680" cy="609811"/>
              </a:xfrm>
              <a:prstGeom prst="rect">
                <a:avLst/>
              </a:prstGeom>
              <a:blipFill>
                <a:blip r:embed="rId7"/>
                <a:stretch>
                  <a:fillRect/>
                </a:stretch>
              </a:blipFill>
            </p:spPr>
            <p:txBody>
              <a:bodyPr/>
              <a:lstStyle/>
              <a:p>
                <a:endParaRPr lang="en-US"/>
              </a:p>
            </p:txBody>
          </p:sp>
        </mc:Fallback>
      </mc:AlternateContent>
      <p:sp>
        <p:nvSpPr>
          <p:cNvPr id="37" name="Rounded Rectangle 36"/>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8" name="TextBox 37"/>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9"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9" name="Equation"/>
              <p:cNvSpPr txBox="1"/>
              <p:nvPr/>
            </p:nvSpPr>
            <p:spPr>
              <a:xfrm>
                <a:off x="4686300" y="6686465"/>
                <a:ext cx="9372600" cy="609811"/>
              </a:xfrm>
              <a:prstGeom prst="rect">
                <a:avLst/>
              </a:prstGeom>
              <a:blipFill>
                <a:blip r:embed="rId8"/>
                <a:stretch>
                  <a:fillRect/>
                </a:stretch>
              </a:blipFill>
            </p:spPr>
            <p:txBody>
              <a:bodyPr/>
              <a:lstStyle/>
              <a:p>
                <a:endParaRPr lang="en-US"/>
              </a:p>
            </p:txBody>
          </p:sp>
        </mc:Fallback>
      </mc:AlternateContent>
      <p:sp>
        <p:nvSpPr>
          <p:cNvPr id="40" name="TextBox 39"/>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41" name="Rounded Rectangle 40"/>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2" name="TextBox 41"/>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3"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7387717"/>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5" name="TextBox 44"/>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6"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6" name="Equation"/>
              <p:cNvSpPr txBox="1"/>
              <p:nvPr/>
            </p:nvSpPr>
            <p:spPr>
              <a:xfrm>
                <a:off x="4686300" y="8088968"/>
                <a:ext cx="12298680" cy="609811"/>
              </a:xfrm>
              <a:prstGeom prst="rect">
                <a:avLst/>
              </a:prstGeom>
              <a:blipFill>
                <a:blip r:embed="rId10"/>
                <a:stretch>
                  <a:fillRect/>
                </a:stretch>
              </a:blipFill>
            </p:spPr>
            <p:txBody>
              <a:bodyPr/>
              <a:lstStyle/>
              <a:p>
                <a:endParaRPr lang="en-US"/>
              </a:p>
            </p:txBody>
          </p:sp>
        </mc:Fallback>
      </mc:AlternateContent>
      <p:sp>
        <p:nvSpPr>
          <p:cNvPr id="47" name="Rounded Rectangle 46"/>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8" name="TextBox 47"/>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9"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9" name="Equation"/>
              <p:cNvSpPr txBox="1"/>
              <p:nvPr/>
            </p:nvSpPr>
            <p:spPr>
              <a:xfrm>
                <a:off x="4686300" y="8790220"/>
                <a:ext cx="9372600" cy="609811"/>
              </a:xfrm>
              <a:prstGeom prst="rect">
                <a:avLst/>
              </a:prstGeom>
              <a:blipFill>
                <a:blip r:embed="rId11"/>
                <a:stretch>
                  <a:fillRect/>
                </a:stretch>
              </a:blipFill>
            </p:spPr>
            <p:txBody>
              <a:bodyPr/>
              <a:lstStyle/>
              <a:p>
                <a:endParaRPr lang="en-US"/>
              </a:p>
            </p:txBody>
          </p:sp>
        </mc:Fallback>
      </mc:AlternateContent>
      <p:sp>
        <p:nvSpPr>
          <p:cNvPr id="50" name="TextBox 49"/>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6"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36"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7" name="Rounded Rectangle 36"/>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8" name="Rounded Rectangle 37"/>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39" name="TextBox 38"/>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12494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12494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1E5F58"/>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12494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F6ECDF"/>
          </a:solidFill>
          <a:ln w="25400">
            <a:solidFill>
              <a:srgbClr val="12494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