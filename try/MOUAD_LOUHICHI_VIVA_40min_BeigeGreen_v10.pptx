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71" r:id="rId25"/>
    <p:sldId id="272" r:id="rId27"/>
    <p:sldId id="273" r:id="rId28"/>
    <p:sldId id="274" r:id="rId29"/>
    <p:sldId id="275" r:id="rId30"/>
    <p:sldId id="276" r:id="rId31"/>
    <p:sldId id="277" r:id="rId32"/>
    <p:sldId id="278" r:id="rId33"/>
    <p:sldId id="279" r:id="rId34"/>
    <p:sldId id="280" r:id="rId35"/>
    <p:sldId id="281" r:id="rId36"/>
    <p:sldId id="282" r:id="rId37"/>
    <p:sldId id="283" r:id="rId38"/>
    <p:sldId id="284" r:id="rId39"/>
    <p:sldId id="285" r:id="rId40"/>
    <p:sldId id="286" r:id="rId41"/>
    <p:sldId id="287" r:id="rId42"/>
    <p:sldId id="288" r:id="rId43"/>
    <p:sldId id="289" r:id="rId44"/>
    <p:sldId id="290" r:id="rId45"/>
    <p:sldId id="291" r:id="rId46"/>
    <p:sldId id="292" r:id="rId47"/>
    <p:sldId id="293" r:id="rId48"/>
    <p:sldId id="294" r:id="rId49"/>
    <p:sldId id="295" r:id="rId50"/>
    <p:sldId id="296" r:id="rId51"/>
    <p:sldId id="297" r:id="rId52"/>
    <p:sldId id="298" r:id="rId53"/>
    <p:sldId id="299" r:id="rId54"/>
    <p:sldId id="300" r:id="rId55"/>
    <p:sldId id="301" r:id="rId56"/>
    <p:sldId id="302" r:id="rId57"/>
    <p:sldId id="303" r:id="rId58"/>
    <p:sldId id="304" r:id="rId59"/>
    <p:sldId id="305" r:id="rId60"/>
    <p:sldId id="306" r:id="rId61"/>
    <p:sldId id="307" r:id="rId62"/>
    <p:sldId id="308" r:id="rId63"/>
    <p:sldId id="309" r:id="rId64"/>
    <p:sldId id="310" r:id="rId65"/>
    <p:sldId id="311" r:id="rId66"/>
    <p:sldId id="312" r:id="rId67"/>
    <p:sldId id="313" r:id="rId68"/>
    <p:sldId id="314" r:id="rId69"/>
    <p:sldId id="315" r:id="rId70"/>
    <p:sldId id="316" r:id="rId71"/>
    <p:sldId id="317" r:id="rId72"/>
    <p:sldId id="318" r:id="rId73"/>
    <p:sldId id="319" r:id="rId74"/>
    <p:sldId id="320" r:id="rId75"/>
    <p:sldId id="321" r:id="rId76"/>
    <p:sldId id="322" r:id="rId77"/>
    <p:sldId id="323" r:id="rId78"/>
    <p:sldId id="324" r:id="rId79"/>
    <p:sldId id="325" r:id="rId80"/>
    <p:sldId id="326" r:id="rId81"/>
    <p:sldId id="327" r:id="rId82"/>
    <p:sldId id="328" r:id="rId83"/>
    <p:sldId id="329" r:id="rId84"/>
    <p:sldId id="330" r:id="rId85"/>
    <p:sldId id="331" r:id="rId86"/>
    <p:sldId id="332" r:id="rId87"/>
    <p:sldId id="333" r:id="rId88"/>
    <p:sldId id="334" r:id="rId89"/>
    <p:sldId id="335" r:id="rId90"/>
    <p:sldId id="336" r:id="rId91"/>
    <p:sldId id="337" r:id="rId92"/>
    <p:sldId id="338" r:id="rId93"/>
    <p:sldId id="339" r:id="rId94"/>
    <p:sldId id="340" r:id="rId95"/>
    <p:sldId id="341" r:id="rId96"/>
    <p:sldId id="342" r:id="rId97"/>
    <p:sldId id="343" r:id="rId98"/>
    <p:sldId id="344" r:id="rId99"/>
    <p:sldId id="345" r:id="rId100"/>
    <p:sldId id="346" r:id="rId101"/>
    <p:sldId id="347" r:id="rId102"/>
    <p:sldId id="348" r:id="rId103"/>
    <p:sldId id="349" r:id="rId104"/>
    <p:sldId id="350" r:id="rId105"/>
  </p:sldIdLst>
  <p:sldSz cx="18288000" cy="10287000"/>
  <p:notesSz cx="6858000" cy="9144000"/>
  <p:embeddedFontLst>
    <p:embeddedFont>
      <p:font typeface="Roca Two Bold" charset="1" panose="00000800000000000000"/>
      <p:regular r:id="rId21"/>
    </p:embeddedFont>
    <p:embeddedFont>
      <p:font typeface="Nunito Semi-Bold" charset="1" panose="00000000000000000000"/>
      <p:regular r:id="rId22"/>
    </p:embeddedFont>
    <p:embeddedFont>
      <p:font typeface="Nunito Bold" charset="1" panose="00000000000000000000"/>
      <p:regular r:id="rId23"/>
    </p:embeddedFont>
    <p:embeddedFont>
      <p:font typeface="Nunito Ultra-Bold" charset="1" panose="00000000000000000000"/>
      <p:regular r:id="rId24"/>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21" Type="http://schemas.openxmlformats.org/officeDocument/2006/relationships/font" Target="fonts/font21.fntdata"/><Relationship Id="rId22" Type="http://schemas.openxmlformats.org/officeDocument/2006/relationships/font" Target="fonts/font22.fntdata"/><Relationship Id="rId23" Type="http://schemas.openxmlformats.org/officeDocument/2006/relationships/font" Target="fonts/font23.fntdata"/><Relationship Id="rId24" Type="http://schemas.openxmlformats.org/officeDocument/2006/relationships/font" Target="fonts/font24.fntdata"/><Relationship Id="rId25" Type="http://schemas.openxmlformats.org/officeDocument/2006/relationships/slide" Target="slides/slide16.xml"/><Relationship Id="rId26" Type="http://schemas.openxmlformats.org/officeDocument/2006/relationships/notesMaster" Target="notesMasters/notesMaster1.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31.xml"/><Relationship Id="rId42" Type="http://schemas.openxmlformats.org/officeDocument/2006/relationships/slide" Target="slides/slide32.xml"/><Relationship Id="rId43" Type="http://schemas.openxmlformats.org/officeDocument/2006/relationships/slide" Target="slides/slide33.xml"/><Relationship Id="rId44" Type="http://schemas.openxmlformats.org/officeDocument/2006/relationships/slide" Target="slides/slide34.xml"/><Relationship Id="rId45" Type="http://schemas.openxmlformats.org/officeDocument/2006/relationships/slide" Target="slides/slide35.xml"/><Relationship Id="rId46" Type="http://schemas.openxmlformats.org/officeDocument/2006/relationships/slide" Target="slides/slide36.xml"/><Relationship Id="rId47" Type="http://schemas.openxmlformats.org/officeDocument/2006/relationships/slide" Target="slides/slide37.xml"/><Relationship Id="rId48" Type="http://schemas.openxmlformats.org/officeDocument/2006/relationships/slide" Target="slides/slide38.xml"/><Relationship Id="rId49" Type="http://schemas.openxmlformats.org/officeDocument/2006/relationships/slide" Target="slides/slide39.xml"/><Relationship Id="rId50" Type="http://schemas.openxmlformats.org/officeDocument/2006/relationships/slide" Target="slides/slide40.xml"/><Relationship Id="rId51" Type="http://schemas.openxmlformats.org/officeDocument/2006/relationships/slide" Target="slides/slide41.xml"/><Relationship Id="rId52" Type="http://schemas.openxmlformats.org/officeDocument/2006/relationships/slide" Target="slides/slide42.xml"/><Relationship Id="rId53" Type="http://schemas.openxmlformats.org/officeDocument/2006/relationships/slide" Target="slides/slide43.xml"/><Relationship Id="rId54" Type="http://schemas.openxmlformats.org/officeDocument/2006/relationships/slide" Target="slides/slide44.xml"/><Relationship Id="rId55" Type="http://schemas.openxmlformats.org/officeDocument/2006/relationships/slide" Target="slides/slide45.xml"/><Relationship Id="rId56" Type="http://schemas.openxmlformats.org/officeDocument/2006/relationships/slide" Target="slides/slide46.xml"/><Relationship Id="rId57" Type="http://schemas.openxmlformats.org/officeDocument/2006/relationships/slide" Target="slides/slide47.xml"/><Relationship Id="rId58" Type="http://schemas.openxmlformats.org/officeDocument/2006/relationships/slide" Target="slides/slide48.xml"/><Relationship Id="rId59" Type="http://schemas.openxmlformats.org/officeDocument/2006/relationships/slide" Target="slides/slide49.xml"/><Relationship Id="rId60" Type="http://schemas.openxmlformats.org/officeDocument/2006/relationships/slide" Target="slides/slide50.xml"/><Relationship Id="rId61" Type="http://schemas.openxmlformats.org/officeDocument/2006/relationships/slide" Target="slides/slide51.xml"/><Relationship Id="rId62" Type="http://schemas.openxmlformats.org/officeDocument/2006/relationships/slide" Target="slides/slide52.xml"/><Relationship Id="rId63" Type="http://schemas.openxmlformats.org/officeDocument/2006/relationships/slide" Target="slides/slide53.xml"/><Relationship Id="rId64" Type="http://schemas.openxmlformats.org/officeDocument/2006/relationships/slide" Target="slides/slide54.xml"/><Relationship Id="rId65" Type="http://schemas.openxmlformats.org/officeDocument/2006/relationships/slide" Target="slides/slide55.xml"/><Relationship Id="rId66" Type="http://schemas.openxmlformats.org/officeDocument/2006/relationships/slide" Target="slides/slide56.xml"/><Relationship Id="rId67" Type="http://schemas.openxmlformats.org/officeDocument/2006/relationships/slide" Target="slides/slide57.xml"/><Relationship Id="rId68" Type="http://schemas.openxmlformats.org/officeDocument/2006/relationships/slide" Target="slides/slide58.xml"/><Relationship Id="rId69" Type="http://schemas.openxmlformats.org/officeDocument/2006/relationships/slide" Target="slides/slide59.xml"/><Relationship Id="rId70" Type="http://schemas.openxmlformats.org/officeDocument/2006/relationships/slide" Target="slides/slide60.xml"/><Relationship Id="rId71" Type="http://schemas.openxmlformats.org/officeDocument/2006/relationships/slide" Target="slides/slide61.xml"/><Relationship Id="rId72" Type="http://schemas.openxmlformats.org/officeDocument/2006/relationships/slide" Target="slides/slide62.xml"/><Relationship Id="rId73" Type="http://schemas.openxmlformats.org/officeDocument/2006/relationships/slide" Target="slides/slide63.xml"/><Relationship Id="rId74" Type="http://schemas.openxmlformats.org/officeDocument/2006/relationships/slide" Target="slides/slide64.xml"/><Relationship Id="rId75" Type="http://schemas.openxmlformats.org/officeDocument/2006/relationships/slide" Target="slides/slide65.xml"/><Relationship Id="rId76" Type="http://schemas.openxmlformats.org/officeDocument/2006/relationships/slide" Target="slides/slide66.xml"/><Relationship Id="rId77" Type="http://schemas.openxmlformats.org/officeDocument/2006/relationships/slide" Target="slides/slide67.xml"/><Relationship Id="rId78" Type="http://schemas.openxmlformats.org/officeDocument/2006/relationships/slide" Target="slides/slide68.xml"/><Relationship Id="rId79" Type="http://schemas.openxmlformats.org/officeDocument/2006/relationships/slide" Target="slides/slide69.xml"/><Relationship Id="rId80" Type="http://schemas.openxmlformats.org/officeDocument/2006/relationships/slide" Target="slides/slide70.xml"/><Relationship Id="rId81" Type="http://schemas.openxmlformats.org/officeDocument/2006/relationships/slide" Target="slides/slide71.xml"/><Relationship Id="rId82" Type="http://schemas.openxmlformats.org/officeDocument/2006/relationships/slide" Target="slides/slide72.xml"/><Relationship Id="rId83" Type="http://schemas.openxmlformats.org/officeDocument/2006/relationships/slide" Target="slides/slide73.xml"/><Relationship Id="rId84" Type="http://schemas.openxmlformats.org/officeDocument/2006/relationships/slide" Target="slides/slide74.xml"/><Relationship Id="rId85" Type="http://schemas.openxmlformats.org/officeDocument/2006/relationships/slide" Target="slides/slide75.xml"/><Relationship Id="rId86" Type="http://schemas.openxmlformats.org/officeDocument/2006/relationships/slide" Target="slides/slide76.xml"/><Relationship Id="rId87" Type="http://schemas.openxmlformats.org/officeDocument/2006/relationships/slide" Target="slides/slide77.xml"/><Relationship Id="rId88" Type="http://schemas.openxmlformats.org/officeDocument/2006/relationships/slide" Target="slides/slide78.xml"/><Relationship Id="rId89" Type="http://schemas.openxmlformats.org/officeDocument/2006/relationships/slide" Target="slides/slide79.xml"/><Relationship Id="rId90" Type="http://schemas.openxmlformats.org/officeDocument/2006/relationships/slide" Target="slides/slide80.xml"/><Relationship Id="rId91" Type="http://schemas.openxmlformats.org/officeDocument/2006/relationships/slide" Target="slides/slide81.xml"/><Relationship Id="rId92" Type="http://schemas.openxmlformats.org/officeDocument/2006/relationships/slide" Target="slides/slide82.xml"/><Relationship Id="rId93" Type="http://schemas.openxmlformats.org/officeDocument/2006/relationships/slide" Target="slides/slide83.xml"/><Relationship Id="rId94" Type="http://schemas.openxmlformats.org/officeDocument/2006/relationships/slide" Target="slides/slide84.xml"/><Relationship Id="rId95" Type="http://schemas.openxmlformats.org/officeDocument/2006/relationships/slide" Target="slides/slide85.xml"/><Relationship Id="rId96" Type="http://schemas.openxmlformats.org/officeDocument/2006/relationships/slide" Target="slides/slide86.xml"/><Relationship Id="rId97" Type="http://schemas.openxmlformats.org/officeDocument/2006/relationships/slide" Target="slides/slide87.xml"/><Relationship Id="rId98" Type="http://schemas.openxmlformats.org/officeDocument/2006/relationships/slide" Target="slides/slide88.xml"/><Relationship Id="rId99" Type="http://schemas.openxmlformats.org/officeDocument/2006/relationships/slide" Target="slides/slide89.xml"/><Relationship Id="rId100" Type="http://schemas.openxmlformats.org/officeDocument/2006/relationships/slide" Target="slides/slide90.xml"/><Relationship Id="rId101" Type="http://schemas.openxmlformats.org/officeDocument/2006/relationships/slide" Target="slides/slide91.xml"/><Relationship Id="rId102" Type="http://schemas.openxmlformats.org/officeDocument/2006/relationships/slide" Target="slides/slide92.xml"/><Relationship Id="rId103" Type="http://schemas.openxmlformats.org/officeDocument/2006/relationships/slide" Target="slides/slide93.xml"/><Relationship Id="rId104" Type="http://schemas.openxmlformats.org/officeDocument/2006/relationships/slide" Target="slides/slide94.xml"/><Relationship Id="rId105" Type="http://schemas.openxmlformats.org/officeDocument/2006/relationships/slide" Target="slides/slide9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Thank you, Mister President and members of the jury. My name is Mouad Louhichi, and my thesis, supervised by Professor Mohamed Lazaar, is Cooperative Game Theory for Explainable AI in Recommendation Systems. It defends one idea: Shapley attribution is not only a post-hoc explanation. It can explain black-box clustering, stay consistent across levels, and finally guide what a recommender learns.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Seven parts. Each contribution follows the same order: gap, objectives, method, protocol, results, findings. Backup tables sit after the end, for questions.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start with the introduction. Time check: minute 1.</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questions frame the work. Everywhere: these systems shape what billions of people see, buy and watch. The black box: we see the output, not the reason. Trust: transparency should be built into the model, not added afterwards. So I treat accuracy and interpretability as two goals to meet together.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whole thesis turns on this definition. An explanation is actionable when it names a factor you can change, when that change moves the output, and when the factor is stated in the domain's own terms. A chemical variable, a pollution indicator, a preference signal. Never a hidden latent code.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context is the move from similarity models to hypergraphs. Matrix factorisation gave latent factors with no readable meaning. Graph models replaced the hidden code with a hidden message-passing mechanism. Hypergraphs added user-item-context relations but assume every message counts the same. Each step added power and removed transparency, while the EU AI Act and the GDPR ask for meaningful explanation.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familiar systems, and in each one the reasoning is hidden from the person it serves. Everywhere, and hidden: that is the gap this thesis targets.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problem itself: the four approaches, their limits, the research questions. Time check: about minute 3.</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families, one slide each, because their limits motivate the thesis. Content-based filtering builds a profile from item features and recommends a match. It is explainable by construction: the reason is a named feature. Its limit is sameness, and it needs good metadata. That level of explanation, domain factors, is what I want to preserve.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Collaborative filtering ignores content and uses other users' behaviour. It is the base of matrix factorisation and of graph recommenders. Its weakness: new users and items have no history, and sparse matrices give little signal.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Hybrids mix the two signals and reduce cold-start. Matrix factorisation splits the interaction matrix into low-rank user and item factors. Accurate, scalable, still the standard baseline. But the factors are hidden: nobody can say what factor seven means. The field gained accuracy and lost the named explanation.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Graph and hypergraph models are the state of the art. Message passing moves information over several hops, and a hyperedge can join a user, an item and a context at once. The limit, in the orange box: they are costly, and they treat all messages as equally important. Contribution III challenges exactly that.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classical limitations: sparsity, cold-start, popularity bias, and the one this thesis targets, the lack of interpretability. For clustering it is harder still: methods give a local or a global explanation, not both, and they rarely stay consistent across levels of detail.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three problems: models are hard to explain faithfully, local explanations do not scale to multi-level structure, and explanations never shape learning. The literature lacks one framework that does all three. My claim is that Shapley attribution can be that framework.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research questions. RQ1: can Shapley values explain black-box clustering faithfully? RQ2: does that extend to large-scale, multi-level clustering? RQ3: can attribution become part of how a recommender learns? RQ4: can it improve accuracy, context and diversity together? And RQ5, the thesis-level question: what do we gain by reading both tasks as one view?</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contributions, one thread. C1 explains black-box clustering on wine quality. C2 scales the same logic to multi-level Beijing air-quality data. C3, the strongest claim, turns attribution into an in-training signal inside a hypergraph recommender. Cooperative game theory as one shared attribution view: explanation, then optimisation, then action.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contributions, the shared experimental setup. Time check: about minute 7.</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Portuguese white wines: four thousand eight hundred and ninety-eight samples, eleven laboratory measurements. Every column has a physical meaning, so when the explanation says density and pH, a wine maker knows what to do.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Beijing air quality: three hundred and eighty-three thousand hourly records, six pollutants and five weather variables. Large, noisy, seasonal: the stress test for Contribution II.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MovieLens-1M: about one million ratings, six thousand users, three thousand seven hundred movies. The standard benchmark, so the numbers stay comparable with LightGCN, HCCF and HPCF.</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Amazon-Book: fifty-two thousand users, three million interactions, a density of six in ten thousand. It tests whether Shapley weighting helps most when the signal is weakest.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Splitting is designed against leakage. Clustering uses five-fold cross-validation. Recommendation uses a user-level, time-ordered split with a leave-one-out target and popularity-aware negatives. Five seeds, early stopping on validation NDCG.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clustering, a LIME-based surrogate, the standard alternative to SHAP. For recommendation, six baselines from four families, with HPCF from 2025 as the strongest. I claim superiority only against the models tested here.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metrics. NDCG at twenty is the headline. Coverage is the fraction of the catalogue ever recommended; intra-list diversity is the average dissimilarity inside one list, and it is built into the DyHuCoG utility, not only reported. For clustering, the Silhouette, which is also the value function of the clustering game.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Hardware, because it explains the runtime figures later: an Intel Core i9 for clustering, one RTX 4090 for DyHuCoG. Standard academic hardware.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Contribution I: explaining black-box clustering, answering RQ1. Time check: about minute 10.</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start with clustering? The model creates its own structure, so the meaning of a cluster has to be worked out after the fact: the hardest test bed for attribution. The gap: methods give a local or a global explanation, rarely both, and local surrogates such as LIME carry no guarantee that the credit is fair or stable. There is no axiomatic way to explain a black-box partition in the original feature space.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RQ1 breaks into three objectives. A cluster-level explanation that keeps feature-level attribution; attribution in the original feature space, because that is what makes it actionable; and an argument for why Shapley is the right allocation rule rather than an ad-hoc surrogate.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slides for the one mathematical object the thesis rests on. A cooperative game has players, coalitions, and a characteristic function v giving each coalition the value it creates alone. Take a three-piece band: alone they earn sixty, forty and twenty; Guitar and Voice together earn one hundred and forty, more than the sum; the whole band earns two hundred. Because of that synergy, a fair split must credit what a player adds to the others.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Shapley's answer: let the players arrive one at a time in a random order, and pay each what they add on arrival. Averaging over the six orders gives ninety, seventy and forty, which sums exactly to two hundred. The four axioms, efficiency, symmetry, null player and additivity, are why this is the right rule: Shapley proved it is the only rule satisfying all four.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clustering as a cooperative game: the features are the players, and the value of a coalition is the Silhouette of K-Means run on that feature subset. But there are two to the power eleven coalitions, so we need a bridge. TreeSHAP explains trees, not centroids, and explaining the PCA space would move attribution away from the variables we care about. So K-Means gives labels, a LightGBM classifier learns to predict them from the original features, and TreeSHAP explains that surrogate exactly. The validity condition is surrogate fidelity: macro-F1 of about 0.82 is the floor.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protocol. K-Means plus-plus with k from two to ten, chosen by elbow, Silhouette, Davies-Bouldin and an interpretability check. A LightGBM surrogate with five-fold cross-validation, exact TreeSHAP in the original space, and a LIME surrogate on the same partition as the comparison. Success means the fidelity floor is met, the ranking is chemically meaningful, and the clusters have distinct signatures.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honest point. I select three clusters on purpose, although the geometry prefers two: Silhouette 0.214 at k equals two against 0.144 at k equals three. I choose three because three clusters support three distinct, chemically meaningful wine stories, which is far more actionable.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global ranking is led by density, then pH, fixed acidity, the sulfur dioxide variables and alcohol: exactly what a wine expert would name for structure, preservation and balance. The strip below is Figure 5.2, the per-cluster signatures. Each cluster has its own balance of the same small set of variables, so a cluster is not just a label, it is a distinct combination of drivers.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answer to RQ1 is yes. Shapley values explain a black-box partition faithfully, provided the surrogate has high fidelity, and consistently at cluster level. On O3: SHAP satisfies the four axioms and gives local and global readings that compare across clusters; LIME fits a local surrogate with no such guarantee. One caveat: efficiency holds with respect to the surrogate output, not directly to the Silhouette game, which is why fidelity matters.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partition is explained at cluster and instance level, in the original variables, with a chemically meaningful ranking and an axiomatic basis that LIME lacks.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limits. The explanation depends on surrogate fidelity, not on the K-Means geometry directly. It is limited to tabular data. And it is single-level: it cannot yet say how importance changes between a partition and its sub-partitions. That last point starts Contribution II.</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takeaway: Shapley attribution is a well-founded lens for an unsupervised partition, and keeping it in the original feature space is what makes it actionable. But real data are rarely single-level.</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Contribution II: scaling the explanation to multi-level, large-scale clustering. It answers RQ2, and the concern is not only scale but several levels of detail. Time check: about minute 20.</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gap. Once clustering is multi-level, feature importance must stay readable within a cluster, across sub-clusters and across levels. Three hundred and eighty-three thousand records cannot be explained coalition by coalition. A flat explanation may be true yet incomplete. And hierarchical clustering work gives no formal link between a parent's explanation and its children's.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RQ2 asks how the Shapley explanation extends to large-scale, multi-level clustering while staying feasible and consistent. Three objectives. O1: a truly multi-level workflow with level-specific surrogates. O2: a formal cross-level consistency argument, Proposition 6.1. O3: validation at scale on data far from wine, the Beijing air-quality records.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workflow is recursive: a coarse clustering on the full data, then each cluster split again. Each level gets its own surrogate and its own SHAP values in the same original space. The aggregation is not a naive average: a parent's attribution is a size-weighted expectation over its children. One point of method: the hierarchy is an analysis tool, not a claim that the data have a true natural hierarchy.</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Contribution II: the same explanation at scale and across levels, answering RQ2. Time check: about minute 18.</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template on Beijing. Level one: K-Means plus-plus on the full data. Level two: each coarse cluster split again, three regimes into nine sub-clusters. One surrogate and exact TreeSHAP per level, aggregation by Proposition 6.1, and a sensitivity analysis over k, projection dimension and surrogate depth.</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Beijing the selection criteria agree strongly: three clusters, Silhouette about 0.63, Davies-Bouldin about 0.55, so the clusters rarely overlap. The two-component PCA view is for inspection only. The conclusions are robust to small changes in k, in projection dimension and in surrogate depth; only low-ranked variables shift.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RQ2 asks how the explanation extends to large-scale, multi-level clustering while staying feasible and consistent. Three objectives: a truly multi-level workflow with level-specific surrogates; a formal cross-level consistency argument, Proposition 6.1; and validation on data far from wine.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main payoff. At the coarse level, temperature and dew point dominate, because they separate the broad regimes. The force plots resolve three of them: a warm, sunlight-driven summer regime with ozone; a winter smog regime with carbon monoxide, sulfur dioxide and particulate matter under low wind; and a comparatively clean regime. Inside single clusters the informative variables shift. That is not a contradiction: the parent-level story is regime selection, the cluster-level story is variation within a regime, and Proposition 6.1 lets us read the shift as structure rather than noise.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answer to RQ2 is yes, within bounds. Consistency is kept at scale and across levels, provided the hierarchy is modelled explicitly and the approximation is transparent. The bound is that this is still an explanation of a pre-computed partition.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explanation scales because the hierarchy is explicit, Proposition 6.1 makes cross-level differences interpretable, and the logic transfers from four thousand eight hundred and ninety-eight wines to three hundred and eighty-three thousand air-quality records.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limitations. The clustering stays static although the Beijing data are temporal. Surrogate-based SHAP with representative instances smooths out variation. And most important, the attribution is still post-hoc: it never influences learning. That is the bridge to Contribution III.</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takeaway: Shapley attribution stays consistent across levels of detail once the hierarchy is explicit, so explanations become interpretable at scale. But it still explains a partition that was already computed. Can cooperative attribution move beyond explanation and become part of how a recommender learns? That is Contribution III.</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and main contribution: DyHuCoG, a Dynamic Hypergraph Cooperative Game, where Shapley attribution becomes an in-training signal inside a hypergraph recommender. It answers RQ3 and RQ4. Time check: about minute 27.</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gap. Graph and hypergraph recommenders treat message importance as uniform or attention-weighted, with no principled account of how much each user, item or context adds. Diversity is handled by re-ranking after training. Interpretability is added after prediction. And my first two contributions were still post-hoc. So the gap is a recommender that uses a cooperative-game utility, during training, to decide how much each player counts.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gap. Every hypergraph recommender treats its messages as equally important, and attribution, when it exists at all, is computed after training. So the explanation describes a model it did not help build. The question is whether attribution can be part of the learning instead.</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game. Players are users, items and contexts, joined by hyperedges whose weights come from Shapley estimates. A coalition is the set of entities in one recommendation episode, and its value is the quality of what they achieve together. That value is explicit on screen: accuracy, diversity and context, weighted sixty, twenty-five and fifteen, plus a preference term. The trade-off the recommender must satisfy is the one attribution is computed from, so game and objective are aligned by design.</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Exact Shapley is combinatorial, so we estimate it by Monte Carlo: over M sampled coalitions, average the value with the player minus the value without. The estimator is unbiased and its error falls as one over root M. We chose M equal to fifty, about ninety-nine percent accuracy, refreshed every ten batches and smoothed by an exponential moving average.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architecture is the decisive move. Base propagation is standard hypergraph message passing; the Shapley-weighted version multiplies each message by a normalised Shapley coefficient. An attention gate blends that with the standard score as a stabiliser, and a context term is added. The last row is the training loss: BPR, plus diversity, plus context, plus regularisation. So the model optimises the same balance the attribution is computed from.</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protocol. MovieLens-1M, dense, and Amazon-Book, sparse, with Yelp2018 as an extra check. Six baselines with HPCF as the strongest, four metrics, five seeds. Paired t-tests and Wilcoxon on per-user NDCG with Holm-Bonferroni correction and Cohen's d. An ablation removes one component at a time. Success means beating HPCF on both datasets with corrected p below 0.05, coverage and diversity rising together, and overhead within about two times HPCF.</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headline result on MovieLens-1M, DyHuCoG in bold, best on all four metrics. HPCF reaches an NDCG of 0.2528; DyHuCoG gives 0.2775, plus 9.8 percent, and recall rises from 0.2098 to 0.2362. Coverage and diversity rise at the same time, because diversity is part of the coalition utility, not a re-ranking step. The gap widens from classical to graph to hypergraph, and DyHuCoG adds one more step. Standard deviations, in the backup, are about a tenth of the gap.</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table, sparser data. Larger relative gains: plus 13.3 percent NDCG, plus 16 percent recall, coverage up nearly thirty percent. Absolute values are low for every model because the matrix is almost empty; what matters is the consistent ordering and the wider gap where data are weakest.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ablation, per dataset. Context matters most: minus 8.2 and minus 11 percent. The hypergraph structure is second. Removing the Shapley weighting costs 4.6 and 6.1 percent, more on the sparser data. Every component contributes, and no single one explains the whole gain.</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cost, reported openly. DyHuCoG trains in about two thousand seconds against eleven hundred for HPCF, roughly 1.78 times. Inference is 1.84 milliseconds per query on MovieLens, well within real time. On convergence, M equal to fifty gives ninety-nine percent accuracy, so fifty is the right operating point.</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Significance. Paired t-tests over six thousand and forty users, Holm-Bonferroni corrected. Against HPCF the t-statistic is 46.38 and Cohen's d is 1.33; Wilcoxon agrees. The effect size matters, because with six thousand users a tiny difference can look significant. Beyond accuracy, cold users gain about ten percent and cold items 9.6, and the gain holds on Yelp2018. These tests cover MovieLens-1M; Amazon-Book stays descriptive.</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answers. RQ3: yes, the Shapley estimates set the hyperedge weights while the model learns. RQ4: yes, ranking, coverage and diversity improve together on both datasets, with the largest gains where data are sparsest. All three objectives are met.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Attribution becomes part of how the recommender learns, the accuracy-diversity trade-off moves, and the improvement is statistically large.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limitations, stated honestly. A compute overhead. A dependence on meaningful context, so on data without usable context the gain shrinks. A Monte Carlo estimator that could use variance reduction. An ablation that removes one component at a time. And baselines fixed in early 2026, so I claim superiority only against the tested models.</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takeaway is the conceptual shift of the thesis. Attribution is a first-class part of the learning objective, not a post-hoc check, so the explanation is a direct read-out of what the model optimises. That makes it faithful by design.</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bring it together. Time check: about minute 32.</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contributions, one thread: explain, scale, guide. C1 explains a black-box partition in the chemistry. C2 keeps that explanation consistent across levels, with Proposition 6.1 as the formal argument. C3 carries the same logic inside the learning of a recommender. One definition, three value functions.</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journal articles, all as first author: Procedia Computer Science in 2023, IJACSA in 2025, and IJIES in 2026 for DyHuCoG. IJACSA and IJIES are Scopus-indexed.</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limitations. On computation, exact Shapley is not feasible, so every contribution relies on approximation or surrogates. On method, the clustering chapters depend on surrogate fidelity and the recommendation results on meaningful context. On experiments, the clustering work is tabular and the recommendation work is offline, with no user study of actionability yet. And on the claim: not one unified framework that removes all tension, but a shared, well-founded view across both tasks.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Future work turns these limits into an agenda: lower-variance estimators and adaptive refresh rules; online and streaming recommendation with graphs that keep changing; user-centred evaluation of whether these explanations actually improve judgement and trust; and a broader trustworthy-AI evaluation including fairness.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conclude. Cooperative game theory can serve as a shared methodological view for actionable explanation across clustering and recommendation. Four outcomes: Shapley attribution as a common formal language; three concrete achievements; explanation treated as method rather than as a comment added later; and a position aligned with the EU AI Act and the OECD principles.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references, in footnote order. I will not read them; they are here so every footnote number can be found.</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half of the reference list, including the datasets, the statistical procedures and the related article with the team.</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very much for your attention. I am happy to take your questions, and to go deeper into any part of the method, the mathematics or the experiments.</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leave this slide up during the discussion. It repeats the title and the jury. Thank you again; I am ready for your questions.</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complete Table 7.1: every baseline, both datasets, mean and standard deviation over five seeds. Two points if asked. The standard deviations are about one tenth of the gap between DyHuCoG and HPCF on every metric, so the ordering does not depend on the seed. And the improvement is consistent across all four metrics, not concentrated on one.</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full Table 7.6: paired t-tests of DyHuCoG against every baseline on per-user NDCG at twenty, MovieLens-1M, six thousand and forty users. Holm-Bonferroni gives each of the six p-values its own threshold, from 0.0083 to 0.05, and every p-value is many orders of magnitude below it. Cohen's d is 1.33 against HPCF and larger against the weaker baselines; above 0.8 is conventionally large. Wilcoxon agrees with p below 0.001.</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cost figures. Table 7.3: training time, inference latency and memory for every model on both datasets. DyHuCoG trains in about two thousand seconds on MovieLens-1M against eleven hundred for HPCF, roughly 1.78 times; inference stays under two milliseconds per query on MovieLens and around eight and a half on Amazon. Table 7.4 is the Monte Carlo convergence study: ten permutations give about ninety-five percent accuracy, fifty give ninety-nine, one hundred adds half a point at a much higher cost. Fifty is the knee of the curve.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image" Target="../media/image54.png"/><Relationship Id="rId4" Type="http://schemas.openxmlformats.org/officeDocument/2006/relationships/image" Target="../media/image55.jpg"/><Relationship Id="rId5" Type="http://schemas.openxmlformats.org/officeDocument/2006/relationships/image" Target="../media/image26.png"/><Relationship Id="rId6" Type="http://schemas.openxmlformats.org/officeDocument/2006/relationships/image" Target="../media/image11.png"/><Relationship Id="rId7" Type="http://schemas.openxmlformats.org/officeDocument/2006/relationships/notesSlide" Target="../notesSlides/notesSlide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9.png"/><Relationship Id="rId4" Type="http://schemas.openxmlformats.org/officeDocument/2006/relationships/image" Target="../media/image11.png"/><Relationship Id="rId5" Type="http://schemas.openxmlformats.org/officeDocument/2006/relationships/notesSlide" Target="../notesSlides/notesSlide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1.png"/><Relationship Id="rId4" Type="http://schemas.openxmlformats.org/officeDocument/2006/relationships/notesSlide" Target="../notesSlides/notesSlide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6.png"/><Relationship Id="rId4" Type="http://schemas.openxmlformats.org/officeDocument/2006/relationships/notesSlide" Target="../notesSlides/notesSlide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40.png"/><Relationship Id="rId4" Type="http://schemas.openxmlformats.org/officeDocument/2006/relationships/notesSlide" Target="../notesSlides/notesSlide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3.png"/><Relationship Id="rId4" Type="http://schemas.openxmlformats.org/officeDocument/2006/relationships/notesSlide" Target="../notesSlides/notesSlide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9.png"/><Relationship Id="rId4" Type="http://schemas.openxmlformats.org/officeDocument/2006/relationships/notesSlide" Target="../notesSlides/notesSlide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3.png"/><Relationship Id="rId4" Type="http://schemas.openxmlformats.org/officeDocument/2006/relationships/notesSlide" Target="../notesSlides/notesSlide1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8.png"/><Relationship Id="rId4" Type="http://schemas.openxmlformats.org/officeDocument/2006/relationships/notesSlide" Target="../notesSlides/notesSlide11.xml"/><Relationship Id="rId5" Type="http://schemas.openxmlformats.org/officeDocument/2006/relationships/image" Target="../media/image5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8.png"/><Relationship Id="rId4" Type="http://schemas.openxmlformats.org/officeDocument/2006/relationships/notesSlide" Target="../notesSlides/notesSlide1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8.png"/><Relationship Id="rId4" Type="http://schemas.openxmlformats.org/officeDocument/2006/relationships/notesSlide" Target="../notesSlides/notesSlide1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4.png"/><Relationship Id="rId4" Type="http://schemas.openxmlformats.org/officeDocument/2006/relationships/notesSlide" Target="../notesSlides/notesSlide1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6.png"/><Relationship Id="rId4" Type="http://schemas.openxmlformats.org/officeDocument/2006/relationships/notesSlide" Target="../notesSlides/notesSlide1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5.png"/><Relationship Id="rId4" Type="http://schemas.openxmlformats.org/officeDocument/2006/relationships/notesSlide" Target="../notesSlides/notesSlide1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1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1.png"/><Relationship Id="rId4" Type="http://schemas.openxmlformats.org/officeDocument/2006/relationships/notesSlide" Target="../notesSlides/notesSlide1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6.png"/><Relationship Id="rId4" Type="http://schemas.openxmlformats.org/officeDocument/2006/relationships/notesSlide" Target="../notesSlides/notesSlide1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40.png"/><Relationship Id="rId4" Type="http://schemas.openxmlformats.org/officeDocument/2006/relationships/notesSlide" Target="../notesSlides/notesSlide2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3.png"/><Relationship Id="rId4" Type="http://schemas.openxmlformats.org/officeDocument/2006/relationships/notesSlide" Target="../notesSlides/notesSlide2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9.png"/><Relationship Id="rId4" Type="http://schemas.openxmlformats.org/officeDocument/2006/relationships/notesSlide" Target="../notesSlides/notesSlide2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3.png"/><Relationship Id="rId4" Type="http://schemas.openxmlformats.org/officeDocument/2006/relationships/notesSlide" Target="../notesSlides/notesSlide2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8.png"/><Relationship Id="rId4" Type="http://schemas.openxmlformats.org/officeDocument/2006/relationships/notesSlide" Target="../notesSlides/notesSlide24.xml"/><Relationship Id="rId5" Type="http://schemas.openxmlformats.org/officeDocument/2006/relationships/image" Target="../media/image57.png"/><Relationship Id="rId6" Type="http://schemas.openxmlformats.org/officeDocument/2006/relationships/image" Target="../media/image58.png"/><Relationship Id="rId7" Type="http://schemas.openxmlformats.org/officeDocument/2006/relationships/image" Target="../media/image59.png"/><Relationship Id="rId8" Type="http://schemas.openxmlformats.org/officeDocument/2006/relationships/image" Target="../media/image60.png"/><Relationship Id="rId9" Type="http://schemas.openxmlformats.org/officeDocument/2006/relationships/image" Target="../media/image61.png"/><Relationship Id="rId10" Type="http://schemas.openxmlformats.org/officeDocument/2006/relationships/image" Target="../media/image62.png"/><Relationship Id="rId11" Type="http://schemas.openxmlformats.org/officeDocument/2006/relationships/image" Target="../media/image63.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8.png"/><Relationship Id="rId4" Type="http://schemas.openxmlformats.org/officeDocument/2006/relationships/notesSlide" Target="../notesSlides/notesSlide2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2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8.png"/><Relationship Id="rId4" Type="http://schemas.openxmlformats.org/officeDocument/2006/relationships/notesSlide" Target="../notesSlides/notesSlide2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4.png"/><Relationship Id="rId4" Type="http://schemas.openxmlformats.org/officeDocument/2006/relationships/notesSlide" Target="../notesSlides/notesSlide2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6.png"/><Relationship Id="rId4" Type="http://schemas.openxmlformats.org/officeDocument/2006/relationships/notesSlide" Target="../notesSlides/notesSlide29.xml"/><Relationship Id="rId5" Type="http://schemas.openxmlformats.org/officeDocument/2006/relationships/image" Target="../media/image6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5.png"/><Relationship Id="rId4" Type="http://schemas.openxmlformats.org/officeDocument/2006/relationships/notesSlide" Target="../notesSlides/notesSlide30.xml"/><Relationship Id="rId5" Type="http://schemas.openxmlformats.org/officeDocument/2006/relationships/image" Target="../media/image65.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1.png"/><Relationship Id="rId4" Type="http://schemas.openxmlformats.org/officeDocument/2006/relationships/notesSlide" Target="../notesSlides/notesSlide3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6.png"/><Relationship Id="rId4" Type="http://schemas.openxmlformats.org/officeDocument/2006/relationships/notesSlide" Target="../notesSlides/notesSlide3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40.png"/><Relationship Id="rId4" Type="http://schemas.openxmlformats.org/officeDocument/2006/relationships/notesSlide" Target="../notesSlides/notesSlide3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3.png"/><Relationship Id="rId4" Type="http://schemas.openxmlformats.org/officeDocument/2006/relationships/notesSlide" Target="../notesSlides/notesSlide34.xml"/><Relationship Id="rId5" Type="http://schemas.openxmlformats.org/officeDocument/2006/relationships/image" Target="../media/image66.png"/><Relationship Id="rId6" Type="http://schemas.openxmlformats.org/officeDocument/2006/relationships/image" Target="../media/image6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9.png"/><Relationship Id="rId4" Type="http://schemas.openxmlformats.org/officeDocument/2006/relationships/notesSlide" Target="../notesSlides/notesSlide3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3.png"/><Relationship Id="rId4" Type="http://schemas.openxmlformats.org/officeDocument/2006/relationships/notesSlide" Target="../notesSlides/notesSlide3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8.png"/><Relationship Id="rId4" Type="http://schemas.openxmlformats.org/officeDocument/2006/relationships/notesSlide" Target="../notesSlides/notesSlide3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8.png"/><Relationship Id="rId4" Type="http://schemas.openxmlformats.org/officeDocument/2006/relationships/notesSlide" Target="../notesSlides/notesSlide3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3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8.png"/><Relationship Id="rId4" Type="http://schemas.openxmlformats.org/officeDocument/2006/relationships/notesSlide" Target="../notesSlides/notesSlide40.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4.png"/><Relationship Id="rId4" Type="http://schemas.openxmlformats.org/officeDocument/2006/relationships/notesSlide" Target="../notesSlides/notesSlide4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6.png"/><Relationship Id="rId4" Type="http://schemas.openxmlformats.org/officeDocument/2006/relationships/notesSlide" Target="../notesSlides/notesSlide42.xml"/><Relationship Id="rId5" Type="http://schemas.openxmlformats.org/officeDocument/2006/relationships/image" Target="../media/image68.png"/><Relationship Id="rId6" Type="http://schemas.openxmlformats.org/officeDocument/2006/relationships/image" Target="../media/image69.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5.png"/><Relationship Id="rId4" Type="http://schemas.openxmlformats.org/officeDocument/2006/relationships/notesSlide" Target="../notesSlides/notesSlide43.xml"/><Relationship Id="rId5" Type="http://schemas.openxmlformats.org/officeDocument/2006/relationships/image" Target="../media/image70.png"/><Relationship Id="rId6" Type="http://schemas.openxmlformats.org/officeDocument/2006/relationships/image" Target="../media/image71.png"/><Relationship Id="rId7" Type="http://schemas.openxmlformats.org/officeDocument/2006/relationships/image" Target="../media/image7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1.png"/><Relationship Id="rId4" Type="http://schemas.openxmlformats.org/officeDocument/2006/relationships/notesSlide" Target="../notesSlides/notesSlide4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6.png"/><Relationship Id="rId4" Type="http://schemas.openxmlformats.org/officeDocument/2006/relationships/notesSlide" Target="../notesSlides/notesSlide45.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40.png"/><Relationship Id="rId4" Type="http://schemas.openxmlformats.org/officeDocument/2006/relationships/notesSlide" Target="../notesSlides/notesSlide46.xml"/><Relationship Id="rId5" Type="http://schemas.openxmlformats.org/officeDocument/2006/relationships/image" Target="../media/image73.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3.png"/><Relationship Id="rId4" Type="http://schemas.openxmlformats.org/officeDocument/2006/relationships/notesSlide" Target="../notesSlides/notesSlide47.xml"/><Relationship Id="rId5" Type="http://schemas.openxmlformats.org/officeDocument/2006/relationships/image" Target="../media/image74.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9.png"/><Relationship Id="rId4" Type="http://schemas.openxmlformats.org/officeDocument/2006/relationships/notesSlide" Target="../notesSlides/notesSlide48.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3.png"/><Relationship Id="rId4" Type="http://schemas.openxmlformats.org/officeDocument/2006/relationships/notesSlide" Target="../notesSlides/notesSlide49.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8.png"/><Relationship Id="rId4" Type="http://schemas.openxmlformats.org/officeDocument/2006/relationships/notesSlide" Target="../notesSlides/notesSlide5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8.png"/><Relationship Id="rId4" Type="http://schemas.openxmlformats.org/officeDocument/2006/relationships/notesSlide" Target="../notesSlides/notesSlide5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5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8.png"/><Relationship Id="rId4" Type="http://schemas.openxmlformats.org/officeDocument/2006/relationships/notesSlide" Target="../notesSlides/notesSlide5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4.png"/><Relationship Id="rId4" Type="http://schemas.openxmlformats.org/officeDocument/2006/relationships/notesSlide" Target="../notesSlides/notesSlide54.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6.png"/><Relationship Id="rId4" Type="http://schemas.openxmlformats.org/officeDocument/2006/relationships/notesSlide" Target="../notesSlides/notesSlide55.xml"/><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5.png"/><Relationship Id="rId4" Type="http://schemas.openxmlformats.org/officeDocument/2006/relationships/notesSlide" Target="../notesSlides/notesSlide56.xml"/><Relationship Id="rId5" Type="http://schemas.openxmlformats.org/officeDocument/2006/relationships/image" Target="../media/image79.png"/><Relationship Id="rId6" Type="http://schemas.openxmlformats.org/officeDocument/2006/relationships/image" Target="../media/image80.png"/><Relationship Id="rId7" Type="http://schemas.openxmlformats.org/officeDocument/2006/relationships/image" Target="../media/image81.png"/><Relationship Id="rId8" Type="http://schemas.openxmlformats.org/officeDocument/2006/relationships/image" Target="../media/image82.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1.png"/><Relationship Id="rId4" Type="http://schemas.openxmlformats.org/officeDocument/2006/relationships/notesSlide" Target="../notesSlides/notesSlide57.xml"/><Relationship Id="rId5" Type="http://schemas.openxmlformats.org/officeDocument/2006/relationships/image" Target="../media/image83.png"/><Relationship Id="rId6" Type="http://schemas.openxmlformats.org/officeDocument/2006/relationships/image" Target="../media/image84.png"/><Relationship Id="rId7" Type="http://schemas.openxmlformats.org/officeDocument/2006/relationships/image" Target="../media/image85.png"/><Relationship Id="rId8" Type="http://schemas.openxmlformats.org/officeDocument/2006/relationships/image" Target="../media/image86.png"/><Relationship Id="rId9" Type="http://schemas.openxmlformats.org/officeDocument/2006/relationships/image" Target="../media/image87.png"/><Relationship Id="rId10" Type="http://schemas.openxmlformats.org/officeDocument/2006/relationships/image" Target="../media/image88.png"/><Relationship Id="rId11" Type="http://schemas.openxmlformats.org/officeDocument/2006/relationships/image" Target="../media/image89.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6.png"/><Relationship Id="rId4" Type="http://schemas.openxmlformats.org/officeDocument/2006/relationships/notesSlide" Target="../notesSlides/notesSlide58.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40.png"/><Relationship Id="rId4" Type="http://schemas.openxmlformats.org/officeDocument/2006/relationships/notesSlide" Target="../notesSlides/notesSlide59.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3.png"/><Relationship Id="rId4" Type="http://schemas.openxmlformats.org/officeDocument/2006/relationships/notesSlide" Target="../notesSlides/notesSlide60.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9.png"/><Relationship Id="rId4" Type="http://schemas.openxmlformats.org/officeDocument/2006/relationships/notesSlide" Target="../notesSlides/notesSlide6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3.png"/><Relationship Id="rId4" Type="http://schemas.openxmlformats.org/officeDocument/2006/relationships/notesSlide" Target="../notesSlides/notesSlide62.xml"/><Relationship Id="rId5" Type="http://schemas.openxmlformats.org/officeDocument/2006/relationships/image" Target="../media/image90.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8.png"/><Relationship Id="rId4" Type="http://schemas.openxmlformats.org/officeDocument/2006/relationships/notesSlide" Target="../notesSlides/notesSlide63.xml"/><Relationship Id="rId5" Type="http://schemas.openxmlformats.org/officeDocument/2006/relationships/image" Target="../media/image91.png"/><Relationship Id="rId6" Type="http://schemas.openxmlformats.org/officeDocument/2006/relationships/image" Target="../media/image92.png"/><Relationship Id="rId7" Type="http://schemas.openxmlformats.org/officeDocument/2006/relationships/image" Target="../media/image93.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8.png"/><Relationship Id="rId4" Type="http://schemas.openxmlformats.org/officeDocument/2006/relationships/notesSlide" Target="../notesSlides/notesSlide6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8.png"/><Relationship Id="rId4" Type="http://schemas.openxmlformats.org/officeDocument/2006/relationships/notesSlide" Target="../notesSlides/notesSlide65.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4.png"/><Relationship Id="rId4" Type="http://schemas.openxmlformats.org/officeDocument/2006/relationships/notesSlide" Target="../notesSlides/notesSlide66.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6.png"/><Relationship Id="rId4" Type="http://schemas.openxmlformats.org/officeDocument/2006/relationships/notesSlide" Target="../notesSlides/notesSlide6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notesSlide" Target="../notesSlides/notesSlide68.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5.png"/><Relationship Id="rId4" Type="http://schemas.openxmlformats.org/officeDocument/2006/relationships/notesSlide" Target="../notesSlides/notesSlide69.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1.png"/><Relationship Id="rId4" Type="http://schemas.openxmlformats.org/officeDocument/2006/relationships/notesSlide" Target="../notesSlides/notesSlide70.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6.png"/><Relationship Id="rId4" Type="http://schemas.openxmlformats.org/officeDocument/2006/relationships/notesSlide" Target="../notesSlides/notesSlide7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40.png"/><Relationship Id="rId4" Type="http://schemas.openxmlformats.org/officeDocument/2006/relationships/notesSlide" Target="../notesSlides/notesSlide7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3.png"/><Relationship Id="rId4" Type="http://schemas.openxmlformats.org/officeDocument/2006/relationships/notesSlide" Target="../notesSlides/notesSlide73.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9.png"/><Relationship Id="rId4" Type="http://schemas.openxmlformats.org/officeDocument/2006/relationships/notesSlide" Target="../notesSlides/notesSlide74.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3.png"/><Relationship Id="rId4" Type="http://schemas.openxmlformats.org/officeDocument/2006/relationships/notesSlide" Target="../notesSlides/notesSlide75.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55.jpg"/><Relationship Id="rId4" Type="http://schemas.openxmlformats.org/officeDocument/2006/relationships/image" Target="../media/image26.png"/><Relationship Id="rId5" Type="http://schemas.openxmlformats.org/officeDocument/2006/relationships/image" Target="../media/image33.png"/><Relationship Id="rId6" Type="http://schemas.openxmlformats.org/officeDocument/2006/relationships/notesSlide" Target="../notesSlides/notesSlide76.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image" Target="../media/image54.png"/><Relationship Id="rId4" Type="http://schemas.openxmlformats.org/officeDocument/2006/relationships/image" Target="../media/image55.jpg"/><Relationship Id="rId5" Type="http://schemas.openxmlformats.org/officeDocument/2006/relationships/image" Target="../media/image26.png"/><Relationship Id="rId6" Type="http://schemas.openxmlformats.org/officeDocument/2006/relationships/image" Target="../media/image11.png"/><Relationship Id="rId7" Type="http://schemas.openxmlformats.org/officeDocument/2006/relationships/notesSlide" Target="../notesSlides/notesSlide7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38.png"/><Relationship Id="rId4" Type="http://schemas.openxmlformats.org/officeDocument/2006/relationships/notesSlide" Target="../notesSlides/notesSlide78.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28.png"/><Relationship Id="rId4" Type="http://schemas.openxmlformats.org/officeDocument/2006/relationships/notesSlide" Target="../notesSlides/notesSlide79.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18.png"/><Relationship Id="rId4" Type="http://schemas.openxmlformats.org/officeDocument/2006/relationships/notesSlide" Target="../notesSlides/notesSlide80.xml"/></Relationships>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pic>
        <p:nvPicPr>
          <p:cNvPr id="2" name="Picture 1" descr="um5_logo.png"/>
          <p:cNvPicPr>
            <a:picLocks noChangeAspect="1"/>
          </p:cNvPicPr>
          <p:nvPr/>
        </p:nvPicPr>
        <p:blipFill>
          <a:blip r:embed="rId2"/>
          <a:stretch>
            <a:fillRect/>
          </a:stretch>
        </p:blipFill>
        <p:spPr>
          <a:xfrm>
            <a:off x="1028700" y="457200"/>
            <a:ext cx="1255612" cy="914400"/>
          </a:xfrm>
          <a:prstGeom prst="rect">
            <a:avLst/>
          </a:prstGeom>
        </p:spPr>
      </p:pic>
      <p:pic>
        <p:nvPicPr>
          <p:cNvPr id="3" name="Picture 2" descr="ministry_logo.png"/>
          <p:cNvPicPr>
            <a:picLocks noChangeAspect="1"/>
          </p:cNvPicPr>
          <p:nvPr/>
        </p:nvPicPr>
        <p:blipFill>
          <a:blip r:embed="rId3"/>
          <a:stretch>
            <a:fillRect/>
          </a:stretch>
        </p:blipFill>
        <p:spPr>
          <a:xfrm>
            <a:off x="8001000" y="365760"/>
            <a:ext cx="2167205" cy="1143000"/>
          </a:xfrm>
          <a:prstGeom prst="rect">
            <a:avLst/>
          </a:prstGeom>
        </p:spPr>
      </p:pic>
      <p:pic>
        <p:nvPicPr>
          <p:cNvPr id="4" name="Picture 3" descr="ensias_logo.jpg"/>
          <p:cNvPicPr>
            <a:picLocks noChangeAspect="1"/>
          </p:cNvPicPr>
          <p:nvPr/>
        </p:nvPicPr>
        <p:blipFill>
          <a:blip r:embed="rId4"/>
          <a:stretch>
            <a:fillRect/>
          </a:stretch>
        </p:blipFill>
        <p:spPr>
          <a:xfrm>
            <a:off x="15796260" y="411480"/>
            <a:ext cx="1422050" cy="1005840"/>
          </a:xfrm>
          <a:prstGeom prst="rect">
            <a:avLst/>
          </a:prstGeom>
        </p:spPr>
      </p:pic>
      <p:sp>
        <p:nvSpPr>
          <p:cNvPr id="5" name="TextBox 4"/>
          <p:cNvSpPr txBox="1"/>
          <p:nvPr/>
        </p:nvSpPr>
        <p:spPr>
          <a:xfrm>
            <a:off x="1028700" y="1536192"/>
            <a:ext cx="16230600" cy="365760"/>
          </a:xfrm>
          <a:prstGeom prst="rect">
            <a:avLst/>
          </a:prstGeom>
          <a:noFill/>
        </p:spPr>
        <p:txBody>
          <a:bodyPr anchor="t" rtlCol="false" lIns="0" tIns="0" rIns="0" bIns="0" wrap="square"/>
          <a:lstStyle/>
          <a:p>
            <a:pPr algn="ctr">
              <a:lnSpc>
                <a:spcPts val="1900"/>
              </a:lnSpc>
              <a:spcBef>
                <a:spcPts val="0"/>
              </a:spcBef>
              <a:buNone/>
            </a:pPr>
            <a:r>
              <a:rPr lang="en-US" sz="1500" b="true">
                <a:solidFill>
                  <a:srgbClr val="8A8378"/>
                </a:solidFill>
                <a:latin typeface="Nunito Bold"/>
                <a:ea typeface="Nunito Bold"/>
                <a:cs typeface="Nunito Bold"/>
                <a:sym typeface="Nunito Bold"/>
              </a:rPr>
              <a:t>Doctoral Studies Center in Information and Engineering Sciences and Technologies (ST2I)</a:t>
            </a:r>
          </a:p>
        </p:txBody>
      </p:sp>
      <p:sp>
        <p:nvSpPr>
          <p:cNvPr id="6" name="TextBox 5"/>
          <p:cNvSpPr txBox="1"/>
          <p:nvPr/>
        </p:nvSpPr>
        <p:spPr>
          <a:xfrm>
            <a:off x="1028700" y="1938528"/>
            <a:ext cx="16230600" cy="365760"/>
          </a:xfrm>
          <a:prstGeom prst="rect">
            <a:avLst/>
          </a:prstGeom>
          <a:noFill/>
        </p:spPr>
        <p:txBody>
          <a:bodyPr anchor="t" rtlCol="false" lIns="0" tIns="0" rIns="0" bIns="0" wrap="square"/>
          <a:lstStyle/>
          <a:p>
            <a:pPr algn="ctr">
              <a:lnSpc>
                <a:spcPts val="1900"/>
              </a:lnSpc>
              <a:spcBef>
                <a:spcPts val="0"/>
              </a:spcBef>
              <a:buNone/>
            </a:pPr>
            <a:r>
              <a:rPr lang="en-US" sz="1400" b="true" spc="200">
                <a:solidFill>
                  <a:srgbClr val="DF8330"/>
                </a:solidFill>
                <a:latin typeface="Nunito Ultra-Bold"/>
                <a:ea typeface="Nunito Ultra-Bold"/>
                <a:cs typeface="Nunito Ultra-Bold"/>
                <a:sym typeface="Nunito Ultra-Bold"/>
              </a:rPr>
              <a:t>PHD THESIS DEFENCE  ·  COMPUTER SCIENCE</a:t>
            </a:r>
          </a:p>
        </p:txBody>
      </p:sp>
      <p:sp>
        <p:nvSpPr>
          <p:cNvPr id="7" name="TextBox 6"/>
          <p:cNvSpPr txBox="1"/>
          <p:nvPr/>
        </p:nvSpPr>
        <p:spPr>
          <a:xfrm>
            <a:off x="1028700" y="2286000"/>
            <a:ext cx="16230600" cy="1828800"/>
          </a:xfrm>
          <a:prstGeom prst="rect">
            <a:avLst/>
          </a:prstGeom>
          <a:noFill/>
        </p:spPr>
        <p:txBody>
          <a:bodyPr anchor="t" rtlCol="false" lIns="0" tIns="0" rIns="0" bIns="0" wrap="square"/>
          <a:lstStyle/>
          <a:p>
            <a:pPr algn="ctr">
              <a:lnSpc>
                <a:spcPts val="5400"/>
              </a:lnSpc>
              <a:spcBef>
                <a:spcPts val="0"/>
              </a:spcBef>
              <a:buNone/>
            </a:pPr>
            <a:r>
              <a:rPr lang="en-US" sz="5000" b="true" spc="-300">
                <a:solidFill>
                  <a:srgbClr val="111111"/>
                </a:solidFill>
                <a:latin typeface="Roca Two Bold"/>
                <a:ea typeface="Roca Two Bold"/>
                <a:cs typeface="Roca Two Bold"/>
                <a:sym typeface="Roca Two Bold"/>
              </a:rPr>
              <a:t>Cooperative Game Theory for</a:t>
            </a:r>
          </a:p>
          <a:p>
            <a:pPr algn="ctr">
              <a:lnSpc>
                <a:spcPts val="5400"/>
              </a:lnSpc>
              <a:spcBef>
                <a:spcPts val="0"/>
              </a:spcBef>
              <a:buNone/>
            </a:pPr>
            <a:r>
              <a:rPr lang="en-US" sz="5000" b="true" spc="-300">
                <a:solidFill>
                  <a:srgbClr val="111111"/>
                </a:solidFill>
                <a:latin typeface="Roca Two Bold"/>
                <a:ea typeface="Roca Two Bold"/>
                <a:cs typeface="Roca Two Bold"/>
                <a:sym typeface="Roca Two Bold"/>
              </a:rPr>
              <a:t>Explainable AI in Recommendation Systems</a:t>
            </a:r>
          </a:p>
        </p:txBody>
      </p:sp>
      <p:sp>
        <p:nvSpPr>
          <p:cNvPr id="8" name="TextBox 7"/>
          <p:cNvSpPr txBox="1"/>
          <p:nvPr/>
        </p:nvSpPr>
        <p:spPr>
          <a:xfrm>
            <a:off x="1028700" y="3913632"/>
            <a:ext cx="16230600" cy="457200"/>
          </a:xfrm>
          <a:prstGeom prst="rect">
            <a:avLst/>
          </a:prstGeom>
          <a:noFill/>
        </p:spPr>
        <p:txBody>
          <a:bodyPr anchor="t" rtlCol="false" lIns="0" tIns="0" rIns="0" bIns="0" wrap="square"/>
          <a:lstStyle/>
          <a:p>
            <a:pPr algn="ctr">
              <a:lnSpc>
                <a:spcPts val="3000"/>
              </a:lnSpc>
              <a:spcBef>
                <a:spcPts val="0"/>
              </a:spcBef>
              <a:buNone/>
            </a:pPr>
            <a:r>
              <a:rPr lang="en-US" sz="2500" b="true" spc="-100">
                <a:solidFill>
                  <a:srgbClr val="124944"/>
                </a:solidFill>
                <a:latin typeface="Nunito Bold"/>
                <a:ea typeface="Nunito Bold"/>
                <a:cs typeface="Nunito Bold"/>
                <a:sym typeface="Nunito Bold"/>
              </a:rPr>
              <a:t>A Shapley Framework for Actionable Insight</a:t>
            </a:r>
          </a:p>
        </p:txBody>
      </p:sp>
      <p:pic>
        <p:nvPicPr>
          <p:cNvPr id="9" name="Picture 8" descr="image.png"/>
          <p:cNvPicPr>
            <a:picLocks noChangeAspect="1"/>
          </p:cNvPicPr>
          <p:nvPr/>
        </p:nvPicPr>
        <p:blipFill>
          <a:blip r:embed="rId5"/>
          <a:stretch>
            <a:fillRect/>
          </a:stretch>
        </p:blipFill>
        <p:spPr>
          <a:xfrm>
            <a:off x="15979140" y="2194560"/>
            <a:ext cx="502920" cy="456772"/>
          </a:xfrm>
          <a:prstGeom prst="rect">
            <a:avLst/>
          </a:prstGeom>
        </p:spPr>
      </p:pic>
      <p:pic>
        <p:nvPicPr>
          <p:cNvPr id="10" name="Picture 9" descr="image.png"/>
          <p:cNvPicPr>
            <a:picLocks noChangeAspect="1"/>
          </p:cNvPicPr>
          <p:nvPr/>
        </p:nvPicPr>
        <p:blipFill>
          <a:blip r:embed="rId6"/>
          <a:stretch>
            <a:fillRect/>
          </a:stretch>
        </p:blipFill>
        <p:spPr>
          <a:xfrm rot="1200000">
            <a:off x="1120140" y="3703320"/>
            <a:ext cx="411480" cy="225885"/>
          </a:xfrm>
          <a:prstGeom prst="rect">
            <a:avLst/>
          </a:prstGeom>
        </p:spPr>
      </p:pic>
      <p:sp>
        <p:nvSpPr>
          <p:cNvPr id="11" name="Rounded Rectangle 10"/>
          <p:cNvSpPr/>
          <p:nvPr/>
        </p:nvSpPr>
        <p:spPr>
          <a:xfrm>
            <a:off x="2926080" y="4526280"/>
            <a:ext cx="6035040" cy="786384"/>
          </a:xfrm>
          <a:prstGeom prst="roundRect">
            <a:avLst>
              <a:gd name="adj" fmla="val 27906"/>
            </a:avLst>
          </a:prstGeom>
          <a:solidFill>
            <a:srgbClr val="124944"/>
          </a:solidFill>
          <a:ln>
            <a:noFill/>
          </a:ln>
        </p:spPr>
        <p:txBody>
          <a:bodyPr anchor="ctr" rtlCol="false" lIns="91440" tIns="45720" rIns="91440" bIns="45720" wrap="square"/>
          <a:lstStyle/>
          <a:p>
            <a:pPr algn="ctr">
              <a:lnSpc>
                <a:spcPts val="1400"/>
              </a:lnSpc>
              <a:spcBef>
                <a:spcPts val="0"/>
              </a:spcBef>
              <a:buNone/>
            </a:pPr>
            <a:r>
              <a:rPr lang="en-US" sz="1100" b="true" spc="150">
                <a:solidFill>
                  <a:srgbClr val="ECC665"/>
                </a:solidFill>
                <a:latin typeface="Nunito Ultra-Bold"/>
                <a:ea typeface="Nunito Ultra-Bold"/>
                <a:cs typeface="Nunito Ultra-Bold"/>
                <a:sym typeface="Nunito Ultra-Bold"/>
              </a:rPr>
              <a:t>PHD VIVA PRESENTED BY</a:t>
            </a:r>
          </a:p>
          <a:p>
            <a:pPr algn="ctr">
              <a:lnSpc>
                <a:spcPts val="2600"/>
              </a:lnSpc>
              <a:spcBef>
                <a:spcPts val="200"/>
              </a:spcBef>
              <a:buNone/>
            </a:pPr>
            <a:r>
              <a:rPr lang="en-US" sz="2200" b="true">
                <a:solidFill>
                  <a:srgbClr val="FFFFFF"/>
                </a:solidFill>
                <a:latin typeface="Nunito Ultra-Bold"/>
                <a:ea typeface="Nunito Ultra-Bold"/>
                <a:cs typeface="Nunito Ultra-Bold"/>
                <a:sym typeface="Nunito Ultra-Bold"/>
              </a:rPr>
              <a:t>Mouad LOUHICHI</a:t>
            </a:r>
          </a:p>
        </p:txBody>
      </p:sp>
      <p:sp>
        <p:nvSpPr>
          <p:cNvPr id="12" name="Rounded Rectangle 11"/>
          <p:cNvSpPr/>
          <p:nvPr/>
        </p:nvSpPr>
        <p:spPr>
          <a:xfrm>
            <a:off x="9326880" y="4526280"/>
            <a:ext cx="6035040" cy="786384"/>
          </a:xfrm>
          <a:prstGeom prst="roundRect">
            <a:avLst>
              <a:gd name="adj" fmla="val 27906"/>
            </a:avLst>
          </a:prstGeom>
          <a:solidFill>
            <a:srgbClr val="F6ECDF"/>
          </a:solidFill>
          <a:ln>
            <a:noFill/>
          </a:ln>
        </p:spPr>
        <p:txBody>
          <a:bodyPr anchor="ctr" rtlCol="false" lIns="91440" tIns="45720" rIns="91440" bIns="45720" wrap="square"/>
          <a:lstStyle/>
          <a:p>
            <a:pPr algn="ctr">
              <a:lnSpc>
                <a:spcPts val="1400"/>
              </a:lnSpc>
              <a:spcBef>
                <a:spcPts val="0"/>
              </a:spcBef>
              <a:buNone/>
            </a:pPr>
            <a:r>
              <a:rPr lang="en-US" sz="1100" b="true" spc="150">
                <a:solidFill>
                  <a:srgbClr val="DF8330"/>
                </a:solidFill>
                <a:latin typeface="Nunito Ultra-Bold"/>
                <a:ea typeface="Nunito Ultra-Bold"/>
                <a:cs typeface="Nunito Ultra-Bold"/>
                <a:sym typeface="Nunito Ultra-Bold"/>
              </a:rPr>
              <a:t>SUPERVISED BY</a:t>
            </a:r>
          </a:p>
          <a:p>
            <a:pPr algn="ctr">
              <a:lnSpc>
                <a:spcPts val="2400"/>
              </a:lnSpc>
              <a:spcBef>
                <a:spcPts val="200"/>
              </a:spcBef>
              <a:buNone/>
            </a:pPr>
            <a:r>
              <a:rPr lang="en-US" sz="2000" b="true">
                <a:solidFill>
                  <a:srgbClr val="111111"/>
                </a:solidFill>
                <a:latin typeface="Nunito Ultra-Bold"/>
                <a:ea typeface="Nunito Ultra-Bold"/>
                <a:cs typeface="Nunito Ultra-Bold"/>
                <a:sym typeface="Nunito Ultra-Bold"/>
              </a:rPr>
              <a:t>Pr. Mohamed LAZAAR  ·  PES, ENSIAS</a:t>
            </a:r>
          </a:p>
        </p:txBody>
      </p:sp>
      <p:sp>
        <p:nvSpPr>
          <p:cNvPr id="13" name="TextBox 12"/>
          <p:cNvSpPr txBox="1"/>
          <p:nvPr/>
        </p:nvSpPr>
        <p:spPr>
          <a:xfrm>
            <a:off x="1028700" y="5504688"/>
            <a:ext cx="16230600" cy="274320"/>
          </a:xfrm>
          <a:prstGeom prst="rect">
            <a:avLst/>
          </a:prstGeom>
          <a:noFill/>
        </p:spPr>
        <p:txBody>
          <a:bodyPr anchor="t" rtlCol="false" lIns="0" tIns="0" rIns="0" bIns="0" wrap="square"/>
          <a:lstStyle/>
          <a:p>
            <a:pPr algn="l">
              <a:lnSpc>
                <a:spcPts val="1500"/>
              </a:lnSpc>
              <a:spcBef>
                <a:spcPts val="0"/>
              </a:spcBef>
              <a:buNone/>
            </a:pPr>
            <a:r>
              <a:rPr lang="en-US" sz="1200" b="true" spc="200">
                <a:solidFill>
                  <a:srgbClr val="8A8378"/>
                </a:solidFill>
                <a:latin typeface="Nunito Ultra-Bold"/>
                <a:ea typeface="Nunito Ultra-Bold"/>
                <a:cs typeface="Nunito Ultra-Bold"/>
                <a:sym typeface="Nunito Ultra-Bold"/>
              </a:rPr>
              <a:t>JURY MEMBERS</a:t>
            </a:r>
          </a:p>
        </p:txBody>
      </p:sp>
      <p:graphicFrame>
        <p:nvGraphicFramePr>
          <p:cNvPr id="14" name="Table 13"/>
          <p:cNvGraphicFramePr>
            <a:graphicFrameLocks noGrp="1"/>
          </p:cNvGraphicFramePr>
          <p:nvPr/>
        </p:nvGraphicFramePr>
        <p:xfrm>
          <a:off x="1028700" y="5797296"/>
          <a:ext cx="16230599" cy="3552190"/>
        </p:xfrm>
        <a:graphic>
          <a:graphicData uri="http://schemas.openxmlformats.org/drawingml/2006/table">
            <a:tbl>
              <a:tblPr firstRow="0" bandRow="0" firstCol="0" lastRow="0" lastCol="0" bandCol="0">
                <a:tableStyleId>{2D5ABB26-0587-4C30-8999-92F81FD0307C}</a:tableStyleId>
              </a:tblPr>
              <a:tblGrid>
                <a:gridCol w="1971942"/>
                <a:gridCol w="5005699"/>
                <a:gridCol w="1365190"/>
                <a:gridCol w="7887768"/>
              </a:tblGrid>
              <a:tr h="340360">
                <a:tc>
                  <a:txBody>
                    <a:bodyPr anchor="ctr" rtlCol="false" lIns="0" tIns="0" rIns="0" bIns="0" wrap="square"/>
                    <a:lstStyle/>
                    <a:p>
                      <a:pPr algn="l">
                        <a:lnSpc>
                          <a:spcPts val="1560"/>
                        </a:lnSpc>
                        <a:spcBef>
                          <a:spcPts val="0"/>
                        </a:spcBef>
                        <a:buNone/>
                      </a:pPr>
                      <a:r>
                        <a:rPr lang="en-US" sz="1200" b="true">
                          <a:solidFill>
                            <a:srgbClr val="FFFFFF"/>
                          </a:solidFill>
                          <a:latin typeface="Nunito Bold"/>
                          <a:ea typeface="Nunito Bold"/>
                          <a:cs typeface="Nunito Bold"/>
                          <a:sym typeface="Nunito Bold"/>
                        </a:rPr>
                        <a:t>Role</a:t>
                      </a:r>
                    </a:p>
                  </a:txBody>
                  <a:tcPr marL="45720" marR="45720"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1560"/>
                        </a:lnSpc>
                        <a:spcBef>
                          <a:spcPts val="0"/>
                        </a:spcBef>
                        <a:buNone/>
                      </a:pPr>
                      <a:r>
                        <a:rPr lang="en-US" sz="1200" b="true">
                          <a:solidFill>
                            <a:srgbClr val="FFFFFF"/>
                          </a:solidFill>
                          <a:latin typeface="Nunito Bold"/>
                          <a:ea typeface="Nunito Bold"/>
                          <a:cs typeface="Nunito Bold"/>
                          <a:sym typeface="Nunito Bold"/>
                        </a:rPr>
                        <a:t>Name</a:t>
                      </a:r>
                    </a:p>
                  </a:txBody>
                  <a:tcPr marL="45720" marR="45720"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560"/>
                        </a:lnSpc>
                        <a:spcBef>
                          <a:spcPts val="0"/>
                        </a:spcBef>
                        <a:buNone/>
                      </a:pPr>
                      <a:r>
                        <a:rPr lang="en-US" sz="1200" b="true">
                          <a:solidFill>
                            <a:srgbClr val="FFFFFF"/>
                          </a:solidFill>
                          <a:latin typeface="Nunito Bold"/>
                          <a:ea typeface="Nunito Bold"/>
                          <a:cs typeface="Nunito Bold"/>
                          <a:sym typeface="Nunito Bold"/>
                        </a:rPr>
                        <a:t>Grade</a:t>
                      </a:r>
                    </a:p>
                  </a:txBody>
                  <a:tcPr marL="45720" marR="45720"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1560"/>
                        </a:lnSpc>
                        <a:spcBef>
                          <a:spcPts val="0"/>
                        </a:spcBef>
                        <a:buNone/>
                      </a:pPr>
                      <a:r>
                        <a:rPr lang="en-US" sz="1200" b="true">
                          <a:solidFill>
                            <a:srgbClr val="FFFFFF"/>
                          </a:solidFill>
                          <a:latin typeface="Nunito Bold"/>
                          <a:ea typeface="Nunito Bold"/>
                          <a:cs typeface="Nunito Bold"/>
                          <a:sym typeface="Nunito Bold"/>
                        </a:rPr>
                        <a:t>Institution</a:t>
                      </a:r>
                    </a:p>
                  </a:txBody>
                  <a:tcPr marL="45720" marR="45720"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President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Abdellatif EL AFIA</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Supervisor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Mohamed LAZAAR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Reviewer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M'hamed AIT KBIR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FST, Abdelmalek Essaâdi University, Tangier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Reviewer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Oussama MAHBOUB</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ENSA, Abdelmalek Essaâdi University, Tetouan</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Reviewer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Noureddine KERZAZI</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MCH</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Examiner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Hicham OMARA</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MCH</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FP Taza, Sidi Mohamed Ben Abdellah University, Fez</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Examiner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Fatima OUZAYD</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Examiner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Yasser EL MADANI EL ALAMI</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MCH</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Guest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Yassine AFOUDI</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MC</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Faculty of Sciences, Cadi Ayyad University, Marrakech</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15" name="TextBox 14"/>
          <p:cNvSpPr txBox="1"/>
          <p:nvPr/>
        </p:nvSpPr>
        <p:spPr>
          <a:xfrm>
            <a:off x="1028700" y="9514078"/>
            <a:ext cx="16230600" cy="274320"/>
          </a:xfrm>
          <a:prstGeom prst="rect">
            <a:avLst/>
          </a:prstGeom>
          <a:noFill/>
        </p:spPr>
        <p:txBody>
          <a:bodyPr anchor="t" rtlCol="false" lIns="0" tIns="0" rIns="0" bIns="0" wrap="square"/>
          <a:lstStyle/>
          <a:p>
            <a:pPr algn="ctr">
              <a:lnSpc>
                <a:spcPts val="1700"/>
              </a:lnSpc>
              <a:spcBef>
                <a:spcPts val="0"/>
              </a:spcBef>
              <a:buNone/>
            </a:pPr>
            <a:r>
              <a:rPr lang="en-US" sz="1400" b="true">
                <a:solidFill>
                  <a:srgbClr val="8A8378"/>
                </a:solidFill>
                <a:latin typeface="Nunito Bold"/>
                <a:ea typeface="Nunito Bold"/>
                <a:cs typeface="Nunito Bold"/>
                <a:sym typeface="Nunito Bold"/>
              </a:rPr>
              <a:t>Rabat, Morocco  ·  2026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02</a:t>
            </a:r>
          </a:p>
        </p:txBody>
      </p:sp>
      <p:sp>
        <p:nvSpPr>
          <p:cNvPr id="7" name="TextBox 6"/>
          <p:cNvSpPr txBox="1"/>
          <p:nvPr/>
        </p:nvSpPr>
        <p:spPr>
          <a:xfrm>
            <a:off x="1028700" y="1737360"/>
            <a:ext cx="16230600" cy="1463040"/>
          </a:xfrm>
          <a:prstGeom prst="rect">
            <a:avLst/>
          </a:prstGeom>
          <a:noFill/>
        </p:spPr>
        <p:txBody>
          <a:bodyPr anchor="t" rtlCol="false" lIns="0" tIns="0" rIns="0" bIns="0" wrap="square"/>
          <a:lstStyle/>
          <a:p>
            <a:pPr algn="ctr">
              <a:lnSpc>
                <a:spcPts val="9600"/>
              </a:lnSpc>
              <a:spcBef>
                <a:spcPts val="0"/>
              </a:spcBef>
              <a:buNone/>
            </a:pPr>
            <a:r>
              <a:rPr lang="en-US" sz="9200" b="true" spc="-500">
                <a:solidFill>
                  <a:srgbClr val="111111"/>
                </a:solidFill>
                <a:latin typeface="Roca Two Bold"/>
                <a:ea typeface="Roca Two Bold"/>
                <a:cs typeface="Roca Two Bold"/>
                <a:sym typeface="Roca Two Bold"/>
              </a:rPr>
              <a:t>Outline</a:t>
            </a:r>
          </a:p>
        </p:txBody>
      </p:sp>
      <p:pic>
        <p:nvPicPr>
          <p:cNvPr id="8" name="Picture 7" descr="image.png"/>
          <p:cNvPicPr>
            <a:picLocks noChangeAspect="1"/>
          </p:cNvPicPr>
          <p:nvPr/>
        </p:nvPicPr>
        <p:blipFill>
          <a:blip r:embed="rId3"/>
          <a:stretch>
            <a:fillRect/>
          </a:stretch>
        </p:blipFill>
        <p:spPr>
          <a:xfrm>
            <a:off x="11612880" y="1554480"/>
            <a:ext cx="548640" cy="301180"/>
          </a:xfrm>
          <a:prstGeom prst="rect">
            <a:avLst/>
          </a:prstGeom>
        </p:spPr>
      </p:pic>
      <p:pic>
        <p:nvPicPr>
          <p:cNvPr id="9" name="Picture 8" descr="image.png"/>
          <p:cNvPicPr>
            <a:picLocks noChangeAspect="1"/>
          </p:cNvPicPr>
          <p:nvPr/>
        </p:nvPicPr>
        <p:blipFill>
          <a:blip r:embed="rId4"/>
          <a:stretch>
            <a:fillRect/>
          </a:stretch>
        </p:blipFill>
        <p:spPr>
          <a:xfrm rot="10800000">
            <a:off x="5943600" y="2651760"/>
            <a:ext cx="502920" cy="276082"/>
          </a:xfrm>
          <a:prstGeom prst="rect">
            <a:avLst/>
          </a:prstGeom>
        </p:spPr>
      </p:pic>
      <p:sp>
        <p:nvSpPr>
          <p:cNvPr id="10" name="TextBox 9"/>
          <p:cNvSpPr txBox="1"/>
          <p:nvPr/>
        </p:nvSpPr>
        <p:spPr>
          <a:xfrm>
            <a:off x="1028700" y="3246120"/>
            <a:ext cx="16230600" cy="457200"/>
          </a:xfrm>
          <a:prstGeom prst="rect">
            <a:avLst/>
          </a:prstGeom>
          <a:noFill/>
        </p:spPr>
        <p:txBody>
          <a:bodyPr anchor="t" rtlCol="false" lIns="0" tIns="0" rIns="0" bIns="0" wrap="square"/>
          <a:lstStyle/>
          <a:p>
            <a:pPr algn="ctr">
              <a:lnSpc>
                <a:spcPts val="2600"/>
              </a:lnSpc>
              <a:spcBef>
                <a:spcPts val="0"/>
              </a:spcBef>
              <a:buNone/>
            </a:pPr>
            <a:r>
              <a:rPr lang="en-US" sz="2100" b="true">
                <a:solidFill>
                  <a:srgbClr val="8A8378"/>
                </a:solidFill>
                <a:latin typeface="Nunito Semi-Bold"/>
                <a:ea typeface="Nunito Semi-Bold"/>
                <a:cs typeface="Nunito Semi-Bold"/>
                <a:sym typeface="Nunito Semi-Bold"/>
              </a:rPr>
              <a:t>Seven parts  ·  each contribution follows the same structure: research gap </a:t>
            </a:r>
            <a:r>
              <a:rPr lang="en-US" sz="2100" b="true">
                <a:solidFill>
                  <a:srgbClr val="8A8378"/>
                </a:solidFill>
                <a:latin typeface="Calibri"/>
                <a:ea typeface="Calibri"/>
                <a:cs typeface="Calibri"/>
                <a:sym typeface="Calibri"/>
              </a:rPr>
              <a:t>→ </a:t>
            </a:r>
            <a:r>
              <a:rPr lang="en-US" sz="2100" b="true">
                <a:solidFill>
                  <a:srgbClr val="8A8378"/>
                </a:solidFill>
                <a:latin typeface="Nunito Semi-Bold"/>
                <a:ea typeface="Nunito Semi-Bold"/>
                <a:cs typeface="Nunito Semi-Bold"/>
                <a:sym typeface="Nunito Semi-Bold"/>
              </a:rPr>
              <a:t>objectives </a:t>
            </a:r>
            <a:r>
              <a:rPr lang="en-US" sz="2100" b="true">
                <a:solidFill>
                  <a:srgbClr val="8A8378"/>
                </a:solidFill>
                <a:latin typeface="Calibri"/>
                <a:ea typeface="Calibri"/>
                <a:cs typeface="Calibri"/>
                <a:sym typeface="Calibri"/>
              </a:rPr>
              <a:t>→ </a:t>
            </a:r>
            <a:r>
              <a:rPr lang="en-US" sz="2100" b="true">
                <a:solidFill>
                  <a:srgbClr val="8A8378"/>
                </a:solidFill>
                <a:latin typeface="Nunito Semi-Bold"/>
                <a:ea typeface="Nunito Semi-Bold"/>
                <a:cs typeface="Nunito Semi-Bold"/>
                <a:sym typeface="Nunito Semi-Bold"/>
              </a:rPr>
              <a:t>methodology </a:t>
            </a:r>
            <a:r>
              <a:rPr lang="en-US" sz="2100" b="true">
                <a:solidFill>
                  <a:srgbClr val="8A8378"/>
                </a:solidFill>
                <a:latin typeface="Calibri"/>
                <a:ea typeface="Calibri"/>
                <a:cs typeface="Calibri"/>
                <a:sym typeface="Calibri"/>
              </a:rPr>
              <a:t>→ </a:t>
            </a:r>
            <a:r>
              <a:rPr lang="en-US" sz="2100" b="true">
                <a:solidFill>
                  <a:srgbClr val="8A8378"/>
                </a:solidFill>
                <a:latin typeface="Nunito Semi-Bold"/>
                <a:ea typeface="Nunito Semi-Bold"/>
                <a:cs typeface="Nunito Semi-Bold"/>
                <a:sym typeface="Nunito Semi-Bold"/>
              </a:rPr>
              <a:t>protocol </a:t>
            </a:r>
            <a:r>
              <a:rPr lang="en-US" sz="2100" b="true">
                <a:solidFill>
                  <a:srgbClr val="8A8378"/>
                </a:solidFill>
                <a:latin typeface="Calibri"/>
                <a:ea typeface="Calibri"/>
                <a:cs typeface="Calibri"/>
                <a:sym typeface="Calibri"/>
              </a:rPr>
              <a:t>→ </a:t>
            </a:r>
            <a:r>
              <a:rPr lang="en-US" sz="2100" b="true">
                <a:solidFill>
                  <a:srgbClr val="8A8378"/>
                </a:solidFill>
                <a:latin typeface="Nunito Semi-Bold"/>
                <a:ea typeface="Nunito Semi-Bold"/>
                <a:cs typeface="Nunito Semi-Bold"/>
                <a:sym typeface="Nunito Semi-Bold"/>
              </a:rPr>
              <a:t>results </a:t>
            </a:r>
            <a:r>
              <a:rPr lang="en-US" sz="2100" b="true">
                <a:solidFill>
                  <a:srgbClr val="8A8378"/>
                </a:solidFill>
                <a:latin typeface="Calibri"/>
                <a:ea typeface="Calibri"/>
                <a:cs typeface="Calibri"/>
                <a:sym typeface="Calibri"/>
              </a:rPr>
              <a:t>→ </a:t>
            </a:r>
            <a:r>
              <a:rPr lang="en-US" sz="2100" b="true">
                <a:solidFill>
                  <a:srgbClr val="8A8378"/>
                </a:solidFill>
                <a:latin typeface="Nunito Semi-Bold"/>
                <a:ea typeface="Nunito Semi-Bold"/>
                <a:cs typeface="Nunito Semi-Bold"/>
                <a:sym typeface="Nunito Semi-Bold"/>
              </a:rPr>
              <a:t>findings</a:t>
            </a:r>
          </a:p>
        </p:txBody>
      </p:sp>
      <p:sp>
        <p:nvSpPr>
          <p:cNvPr id="11" name="Rounded Rectangle 10"/>
          <p:cNvSpPr/>
          <p:nvPr/>
        </p:nvSpPr>
        <p:spPr>
          <a:xfrm>
            <a:off x="1028700" y="4069080"/>
            <a:ext cx="3851910" cy="2331720"/>
          </a:xfrm>
          <a:prstGeom prst="roundRect">
            <a:avLst>
              <a:gd name="adj" fmla="val 15686"/>
            </a:avLst>
          </a:prstGeom>
          <a:solidFill>
            <a:srgbClr val="124944"/>
          </a:solidFill>
          <a:ln>
            <a:noFill/>
          </a:ln>
        </p:spPr>
        <p:txBody>
          <a:bodyPr anchor="t" rtlCol="false" lIns="365760" tIns="365760" rIns="320040" bIns="274320" wrap="square"/>
          <a:lstStyle/>
          <a:p>
            <a:pPr algn="l">
              <a:lnSpc>
                <a:spcPts val="3400"/>
              </a:lnSpc>
              <a:spcBef>
                <a:spcPts val="0"/>
              </a:spcBef>
              <a:buNone/>
            </a:pPr>
            <a:r>
              <a:rPr lang="en-US" sz="3000" b="true">
                <a:solidFill>
                  <a:srgbClr val="ECC665"/>
                </a:solidFill>
                <a:latin typeface="Nunito Ultra-Bold"/>
                <a:ea typeface="Nunito Ultra-Bold"/>
                <a:cs typeface="Nunito Ultra-Bold"/>
                <a:sym typeface="Nunito Ultra-Bold"/>
              </a:rPr>
              <a:t>01</a:t>
            </a:r>
          </a:p>
          <a:p>
            <a:pPr algn="l">
              <a:lnSpc>
                <a:spcPts val="2900"/>
              </a:lnSpc>
              <a:spcBef>
                <a:spcPts val="600"/>
              </a:spcBef>
              <a:buNone/>
            </a:pPr>
            <a:r>
              <a:rPr lang="en-US" sz="2500" b="true">
                <a:solidFill>
                  <a:srgbClr val="FFFFFF"/>
                </a:solidFill>
                <a:latin typeface="Nunito Ultra-Bold"/>
                <a:ea typeface="Nunito Ultra-Bold"/>
                <a:cs typeface="Nunito Ultra-Bold"/>
                <a:sym typeface="Nunito Ultra-Bold"/>
              </a:rPr>
              <a:t>Introduction</a:t>
            </a:r>
          </a:p>
          <a:p>
            <a:pPr algn="l">
              <a:lnSpc>
                <a:spcPts val="2100"/>
              </a:lnSpc>
              <a:spcBef>
                <a:spcPts val="600"/>
              </a:spcBef>
              <a:buNone/>
            </a:pPr>
            <a:r>
              <a:rPr lang="en-US" sz="1700" b="true">
                <a:solidFill>
                  <a:srgbClr val="DCE7E3"/>
                </a:solidFill>
                <a:latin typeface="Nunito Semi-Bold"/>
                <a:ea typeface="Nunito Semi-Bold"/>
                <a:cs typeface="Nunito Semi-Bold"/>
                <a:sym typeface="Nunito Semi-Bold"/>
              </a:rPr>
              <a:t>Motivation · Actionable insight · Why XAI matters</a:t>
            </a:r>
          </a:p>
        </p:txBody>
      </p:sp>
      <p:sp>
        <p:nvSpPr>
          <p:cNvPr id="12" name="Rounded Rectangle 11"/>
          <p:cNvSpPr/>
          <p:nvPr/>
        </p:nvSpPr>
        <p:spPr>
          <a:xfrm>
            <a:off x="5154930" y="4069080"/>
            <a:ext cx="3851910" cy="2331720"/>
          </a:xfrm>
          <a:prstGeom prst="roundRect">
            <a:avLst>
              <a:gd name="adj" fmla="val 15686"/>
            </a:avLst>
          </a:prstGeom>
          <a:noFill/>
          <a:ln w="28575">
            <a:solidFill>
              <a:srgbClr val="124944"/>
            </a:solidFill>
          </a:ln>
        </p:spPr>
        <p:txBody>
          <a:bodyPr anchor="t" rtlCol="false" lIns="365760" tIns="365760" rIns="320040" bIns="274320" wrap="square"/>
          <a:lstStyle/>
          <a:p>
            <a:pPr algn="l">
              <a:lnSpc>
                <a:spcPts val="3400"/>
              </a:lnSpc>
              <a:spcBef>
                <a:spcPts val="0"/>
              </a:spcBef>
              <a:buNone/>
            </a:pPr>
            <a:r>
              <a:rPr lang="en-US" sz="3000" b="true">
                <a:solidFill>
                  <a:srgbClr val="DF8330"/>
                </a:solidFill>
                <a:latin typeface="Nunito Ultra-Bold"/>
                <a:ea typeface="Nunito Ultra-Bold"/>
                <a:cs typeface="Nunito Ultra-Bold"/>
                <a:sym typeface="Nunito Ultra-Bold"/>
              </a:rPr>
              <a:t>02</a:t>
            </a:r>
          </a:p>
          <a:p>
            <a:pPr algn="l">
              <a:lnSpc>
                <a:spcPts val="2900"/>
              </a:lnSpc>
              <a:spcBef>
                <a:spcPts val="600"/>
              </a:spcBef>
              <a:buNone/>
            </a:pPr>
            <a:r>
              <a:rPr lang="en-US" sz="2500" b="true">
                <a:solidFill>
                  <a:srgbClr val="111111"/>
                </a:solidFill>
                <a:latin typeface="Nunito Ultra-Bold"/>
                <a:ea typeface="Nunito Ultra-Bold"/>
                <a:cs typeface="Nunito Ultra-Bold"/>
                <a:sym typeface="Nunito Ultra-Bold"/>
              </a:rPr>
              <a:t>Context &amp; Problematic</a:t>
            </a:r>
          </a:p>
          <a:p>
            <a:pPr algn="l">
              <a:lnSpc>
                <a:spcPts val="2100"/>
              </a:lnSpc>
              <a:spcBef>
                <a:spcPts val="600"/>
              </a:spcBef>
              <a:buNone/>
            </a:pPr>
            <a:r>
              <a:rPr lang="en-US" sz="1700" b="true">
                <a:solidFill>
                  <a:srgbClr val="8A8378"/>
                </a:solidFill>
                <a:latin typeface="Nunito Semi-Bold"/>
                <a:ea typeface="Nunito Semi-Bold"/>
                <a:cs typeface="Nunito Semi-Bold"/>
                <a:sym typeface="Nunito Semi-Bold"/>
              </a:rPr>
              <a:t>Four approaches · Limitations · Research questions</a:t>
            </a:r>
          </a:p>
        </p:txBody>
      </p:sp>
      <p:sp>
        <p:nvSpPr>
          <p:cNvPr id="13" name="Rounded Rectangle 12"/>
          <p:cNvSpPr/>
          <p:nvPr/>
        </p:nvSpPr>
        <p:spPr>
          <a:xfrm>
            <a:off x="9281160" y="4069080"/>
            <a:ext cx="3851910" cy="2331720"/>
          </a:xfrm>
          <a:prstGeom prst="roundRect">
            <a:avLst>
              <a:gd name="adj" fmla="val 15686"/>
            </a:avLst>
          </a:prstGeom>
          <a:solidFill>
            <a:srgbClr val="124944"/>
          </a:solidFill>
          <a:ln>
            <a:noFill/>
          </a:ln>
        </p:spPr>
        <p:txBody>
          <a:bodyPr anchor="t" rtlCol="false" lIns="365760" tIns="365760" rIns="320040" bIns="274320" wrap="square"/>
          <a:lstStyle/>
          <a:p>
            <a:pPr algn="l">
              <a:lnSpc>
                <a:spcPts val="3400"/>
              </a:lnSpc>
              <a:spcBef>
                <a:spcPts val="0"/>
              </a:spcBef>
              <a:buNone/>
            </a:pPr>
            <a:r>
              <a:rPr lang="en-US" sz="3000" b="true">
                <a:solidFill>
                  <a:srgbClr val="ECC665"/>
                </a:solidFill>
                <a:latin typeface="Nunito Ultra-Bold"/>
                <a:ea typeface="Nunito Ultra-Bold"/>
                <a:cs typeface="Nunito Ultra-Bold"/>
                <a:sym typeface="Nunito Ultra-Bold"/>
              </a:rPr>
              <a:t>03</a:t>
            </a:r>
          </a:p>
          <a:p>
            <a:pPr algn="l">
              <a:lnSpc>
                <a:spcPts val="2900"/>
              </a:lnSpc>
              <a:spcBef>
                <a:spcPts val="600"/>
              </a:spcBef>
              <a:buNone/>
            </a:pPr>
            <a:r>
              <a:rPr lang="en-US" sz="2500" b="true">
                <a:solidFill>
                  <a:srgbClr val="FFFFFF"/>
                </a:solidFill>
                <a:latin typeface="Nunito Ultra-Bold"/>
                <a:ea typeface="Nunito Ultra-Bold"/>
                <a:cs typeface="Nunito Ultra-Bold"/>
                <a:sym typeface="Nunito Ultra-Bold"/>
              </a:rPr>
              <a:t>Experimental Protocol</a:t>
            </a:r>
          </a:p>
          <a:p>
            <a:pPr algn="l">
              <a:lnSpc>
                <a:spcPts val="2100"/>
              </a:lnSpc>
              <a:spcBef>
                <a:spcPts val="600"/>
              </a:spcBef>
              <a:buNone/>
            </a:pPr>
            <a:r>
              <a:rPr lang="en-US" sz="1700" b="true">
                <a:solidFill>
                  <a:srgbClr val="DCE7E3"/>
                </a:solidFill>
                <a:latin typeface="Nunito Semi-Bold"/>
                <a:ea typeface="Nunito Semi-Bold"/>
                <a:cs typeface="Nunito Semi-Bold"/>
                <a:sym typeface="Nunito Semi-Bold"/>
              </a:rPr>
              <a:t>Four datasets · Baselines · Metrics · Hardware</a:t>
            </a:r>
          </a:p>
        </p:txBody>
      </p:sp>
      <p:sp>
        <p:nvSpPr>
          <p:cNvPr id="14" name="Rounded Rectangle 13"/>
          <p:cNvSpPr/>
          <p:nvPr/>
        </p:nvSpPr>
        <p:spPr>
          <a:xfrm>
            <a:off x="13407390" y="4069080"/>
            <a:ext cx="3851910" cy="2331720"/>
          </a:xfrm>
          <a:prstGeom prst="roundRect">
            <a:avLst>
              <a:gd name="adj" fmla="val 15686"/>
            </a:avLst>
          </a:prstGeom>
          <a:noFill/>
          <a:ln w="28575">
            <a:solidFill>
              <a:srgbClr val="124944"/>
            </a:solidFill>
          </a:ln>
        </p:spPr>
        <p:txBody>
          <a:bodyPr anchor="t" rtlCol="false" lIns="365760" tIns="365760" rIns="320040" bIns="274320" wrap="square"/>
          <a:lstStyle/>
          <a:p>
            <a:pPr algn="l">
              <a:lnSpc>
                <a:spcPts val="3400"/>
              </a:lnSpc>
              <a:spcBef>
                <a:spcPts val="0"/>
              </a:spcBef>
              <a:buNone/>
            </a:pPr>
            <a:r>
              <a:rPr lang="en-US" sz="3000" b="true">
                <a:solidFill>
                  <a:srgbClr val="DF8330"/>
                </a:solidFill>
                <a:latin typeface="Nunito Ultra-Bold"/>
                <a:ea typeface="Nunito Ultra-Bold"/>
                <a:cs typeface="Nunito Ultra-Bold"/>
                <a:sym typeface="Nunito Ultra-Bold"/>
              </a:rPr>
              <a:t>04</a:t>
            </a:r>
          </a:p>
          <a:p>
            <a:pPr algn="l">
              <a:lnSpc>
                <a:spcPts val="2900"/>
              </a:lnSpc>
              <a:spcBef>
                <a:spcPts val="600"/>
              </a:spcBef>
              <a:buNone/>
            </a:pPr>
            <a:r>
              <a:rPr lang="en-US" sz="2500" b="true">
                <a:solidFill>
                  <a:srgbClr val="111111"/>
                </a:solidFill>
                <a:latin typeface="Nunito Ultra-Bold"/>
                <a:ea typeface="Nunito Ultra-Bold"/>
                <a:cs typeface="Nunito Ultra-Bold"/>
                <a:sym typeface="Nunito Ultra-Bold"/>
              </a:rPr>
              <a:t>Contribution I</a:t>
            </a:r>
          </a:p>
          <a:p>
            <a:pPr algn="l">
              <a:lnSpc>
                <a:spcPts val="2100"/>
              </a:lnSpc>
              <a:spcBef>
                <a:spcPts val="600"/>
              </a:spcBef>
              <a:buNone/>
            </a:pPr>
            <a:r>
              <a:rPr lang="en-US" sz="1700" b="true">
                <a:solidFill>
                  <a:srgbClr val="8A8378"/>
                </a:solidFill>
                <a:latin typeface="Nunito Semi-Bold"/>
                <a:ea typeface="Nunito Semi-Bold"/>
                <a:cs typeface="Nunito Semi-Bold"/>
                <a:sym typeface="Nunito Semi-Bold"/>
              </a:rPr>
              <a:t>Deep dive: cooperative games · Explainable clustering (Wine)</a:t>
            </a:r>
          </a:p>
        </p:txBody>
      </p:sp>
      <p:sp>
        <p:nvSpPr>
          <p:cNvPr id="15" name="Rounded Rectangle 14"/>
          <p:cNvSpPr/>
          <p:nvPr/>
        </p:nvSpPr>
        <p:spPr>
          <a:xfrm>
            <a:off x="1028700" y="6675120"/>
            <a:ext cx="3851910" cy="2331720"/>
          </a:xfrm>
          <a:prstGeom prst="roundRect">
            <a:avLst>
              <a:gd name="adj" fmla="val 15686"/>
            </a:avLst>
          </a:prstGeom>
          <a:solidFill>
            <a:srgbClr val="124944"/>
          </a:solidFill>
          <a:ln>
            <a:noFill/>
          </a:ln>
        </p:spPr>
        <p:txBody>
          <a:bodyPr anchor="t" rtlCol="false" lIns="365760" tIns="365760" rIns="320040" bIns="274320" wrap="square"/>
          <a:lstStyle/>
          <a:p>
            <a:pPr algn="l">
              <a:lnSpc>
                <a:spcPts val="3400"/>
              </a:lnSpc>
              <a:spcBef>
                <a:spcPts val="0"/>
              </a:spcBef>
              <a:buNone/>
            </a:pPr>
            <a:r>
              <a:rPr lang="en-US" sz="3000" b="true">
                <a:solidFill>
                  <a:srgbClr val="ECC665"/>
                </a:solidFill>
                <a:latin typeface="Nunito Ultra-Bold"/>
                <a:ea typeface="Nunito Ultra-Bold"/>
                <a:cs typeface="Nunito Ultra-Bold"/>
                <a:sym typeface="Nunito Ultra-Bold"/>
              </a:rPr>
              <a:t>05</a:t>
            </a:r>
          </a:p>
          <a:p>
            <a:pPr algn="l">
              <a:lnSpc>
                <a:spcPts val="2900"/>
              </a:lnSpc>
              <a:spcBef>
                <a:spcPts val="600"/>
              </a:spcBef>
              <a:buNone/>
            </a:pPr>
            <a:r>
              <a:rPr lang="en-US" sz="2500" b="true">
                <a:solidFill>
                  <a:srgbClr val="FFFFFF"/>
                </a:solidFill>
                <a:latin typeface="Nunito Ultra-Bold"/>
                <a:ea typeface="Nunito Ultra-Bold"/>
                <a:cs typeface="Nunito Ultra-Bold"/>
                <a:sym typeface="Nunito Ultra-Bold"/>
              </a:rPr>
              <a:t>Contribution II</a:t>
            </a:r>
          </a:p>
          <a:p>
            <a:pPr algn="l">
              <a:lnSpc>
                <a:spcPts val="2100"/>
              </a:lnSpc>
              <a:spcBef>
                <a:spcPts val="600"/>
              </a:spcBef>
              <a:buNone/>
            </a:pPr>
            <a:r>
              <a:rPr lang="en-US" sz="1700" b="true">
                <a:solidFill>
                  <a:srgbClr val="DCE7E3"/>
                </a:solidFill>
                <a:latin typeface="Nunito Semi-Bold"/>
                <a:ea typeface="Nunito Semi-Bold"/>
                <a:cs typeface="Nunito Semi-Bold"/>
                <a:sym typeface="Nunito Semi-Bold"/>
              </a:rPr>
              <a:t>Multi-level XAI for large-scale clustering (Beijing)</a:t>
            </a:r>
          </a:p>
        </p:txBody>
      </p:sp>
      <p:sp>
        <p:nvSpPr>
          <p:cNvPr id="16" name="Rounded Rectangle 15"/>
          <p:cNvSpPr/>
          <p:nvPr/>
        </p:nvSpPr>
        <p:spPr>
          <a:xfrm>
            <a:off x="5154930" y="6675120"/>
            <a:ext cx="3851910" cy="2331720"/>
          </a:xfrm>
          <a:prstGeom prst="roundRect">
            <a:avLst>
              <a:gd name="adj" fmla="val 15686"/>
            </a:avLst>
          </a:prstGeom>
          <a:noFill/>
          <a:ln w="28575">
            <a:solidFill>
              <a:srgbClr val="124944"/>
            </a:solidFill>
          </a:ln>
        </p:spPr>
        <p:txBody>
          <a:bodyPr anchor="t" rtlCol="false" lIns="365760" tIns="365760" rIns="320040" bIns="274320" wrap="square"/>
          <a:lstStyle/>
          <a:p>
            <a:pPr algn="l">
              <a:lnSpc>
                <a:spcPts val="3400"/>
              </a:lnSpc>
              <a:spcBef>
                <a:spcPts val="0"/>
              </a:spcBef>
              <a:buNone/>
            </a:pPr>
            <a:r>
              <a:rPr lang="en-US" sz="3000" b="true">
                <a:solidFill>
                  <a:srgbClr val="DF8330"/>
                </a:solidFill>
                <a:latin typeface="Nunito Ultra-Bold"/>
                <a:ea typeface="Nunito Ultra-Bold"/>
                <a:cs typeface="Nunito Ultra-Bold"/>
                <a:sym typeface="Nunito Ultra-Bold"/>
              </a:rPr>
              <a:t>06</a:t>
            </a:r>
          </a:p>
          <a:p>
            <a:pPr algn="l">
              <a:lnSpc>
                <a:spcPts val="2900"/>
              </a:lnSpc>
              <a:spcBef>
                <a:spcPts val="600"/>
              </a:spcBef>
              <a:buNone/>
            </a:pPr>
            <a:r>
              <a:rPr lang="en-US" sz="2500" b="true">
                <a:solidFill>
                  <a:srgbClr val="111111"/>
                </a:solidFill>
                <a:latin typeface="Nunito Ultra-Bold"/>
                <a:ea typeface="Nunito Ultra-Bold"/>
                <a:cs typeface="Nunito Ultra-Bold"/>
                <a:sym typeface="Nunito Ultra-Bold"/>
              </a:rPr>
              <a:t>Contribution III</a:t>
            </a:r>
          </a:p>
          <a:p>
            <a:pPr algn="l">
              <a:lnSpc>
                <a:spcPts val="2100"/>
              </a:lnSpc>
              <a:spcBef>
                <a:spcPts val="600"/>
              </a:spcBef>
              <a:buNone/>
            </a:pPr>
            <a:r>
              <a:rPr lang="en-US" sz="1700" b="true">
                <a:solidFill>
                  <a:srgbClr val="8A8378"/>
                </a:solidFill>
                <a:latin typeface="Nunito Semi-Bold"/>
                <a:ea typeface="Nunito Semi-Bold"/>
                <a:cs typeface="Nunito Semi-Bold"/>
                <a:sym typeface="Nunito Semi-Bold"/>
              </a:rPr>
              <a:t>DyHuCoG: a cooperative game on hypergraphs</a:t>
            </a:r>
          </a:p>
        </p:txBody>
      </p:sp>
      <p:sp>
        <p:nvSpPr>
          <p:cNvPr id="17" name="Rounded Rectangle 16"/>
          <p:cNvSpPr/>
          <p:nvPr/>
        </p:nvSpPr>
        <p:spPr>
          <a:xfrm>
            <a:off x="9281160" y="6675120"/>
            <a:ext cx="3851910" cy="2331720"/>
          </a:xfrm>
          <a:prstGeom prst="roundRect">
            <a:avLst>
              <a:gd name="adj" fmla="val 15686"/>
            </a:avLst>
          </a:prstGeom>
          <a:solidFill>
            <a:srgbClr val="124944"/>
          </a:solidFill>
          <a:ln>
            <a:noFill/>
          </a:ln>
        </p:spPr>
        <p:txBody>
          <a:bodyPr anchor="t" rtlCol="false" lIns="365760" tIns="365760" rIns="320040" bIns="274320" wrap="square"/>
          <a:lstStyle/>
          <a:p>
            <a:pPr algn="l">
              <a:lnSpc>
                <a:spcPts val="3400"/>
              </a:lnSpc>
              <a:spcBef>
                <a:spcPts val="0"/>
              </a:spcBef>
              <a:buNone/>
            </a:pPr>
            <a:r>
              <a:rPr lang="en-US" sz="3000" b="true">
                <a:solidFill>
                  <a:srgbClr val="ECC665"/>
                </a:solidFill>
                <a:latin typeface="Nunito Ultra-Bold"/>
                <a:ea typeface="Nunito Ultra-Bold"/>
                <a:cs typeface="Nunito Ultra-Bold"/>
                <a:sym typeface="Nunito Ultra-Bold"/>
              </a:rPr>
              <a:t>07</a:t>
            </a:r>
          </a:p>
          <a:p>
            <a:pPr algn="l">
              <a:lnSpc>
                <a:spcPts val="2900"/>
              </a:lnSpc>
              <a:spcBef>
                <a:spcPts val="600"/>
              </a:spcBef>
              <a:buNone/>
            </a:pPr>
            <a:r>
              <a:rPr lang="en-US" sz="2500" b="true">
                <a:solidFill>
                  <a:srgbClr val="FFFFFF"/>
                </a:solidFill>
                <a:latin typeface="Nunito Ultra-Bold"/>
                <a:ea typeface="Nunito Ultra-Bold"/>
                <a:cs typeface="Nunito Ultra-Bold"/>
                <a:sym typeface="Nunito Ultra-Bold"/>
              </a:rPr>
              <a:t>Conclusion &amp; Perspectives</a:t>
            </a:r>
          </a:p>
          <a:p>
            <a:pPr algn="l">
              <a:lnSpc>
                <a:spcPts val="2100"/>
              </a:lnSpc>
              <a:spcBef>
                <a:spcPts val="600"/>
              </a:spcBef>
              <a:buNone/>
            </a:pPr>
            <a:r>
              <a:rPr lang="en-US" sz="1700" b="true">
                <a:solidFill>
                  <a:srgbClr val="DCE7E3"/>
                </a:solidFill>
                <a:latin typeface="Nunito Semi-Bold"/>
                <a:ea typeface="Nunito Semi-Bold"/>
                <a:cs typeface="Nunito Semi-Bold"/>
                <a:sym typeface="Nunito Semi-Bold"/>
              </a:rPr>
              <a:t>Synthesis · Publications · Perspectives · References</a:t>
            </a:r>
          </a:p>
        </p:txBody>
      </p:sp>
      <p:sp>
        <p:nvSpPr>
          <p:cNvPr id="18" name="Rounded Rectangle 17"/>
          <p:cNvSpPr/>
          <p:nvPr/>
        </p:nvSpPr>
        <p:spPr>
          <a:xfrm>
            <a:off x="13407390" y="6675120"/>
            <a:ext cx="3851910" cy="2331720"/>
          </a:xfrm>
          <a:prstGeom prst="roundRect">
            <a:avLst>
              <a:gd name="adj" fmla="val 15686"/>
            </a:avLst>
          </a:prstGeom>
          <a:solidFill>
            <a:srgbClr val="ECC665"/>
          </a:solidFill>
          <a:ln>
            <a:noFill/>
          </a:ln>
        </p:spPr>
        <p:txBody>
          <a:bodyPr anchor="ctr" rtlCol="false" lIns="91440" tIns="45720" rIns="91440" bIns="45720" wrap="square"/>
          <a:lstStyle/>
          <a:p>
            <a:pPr algn="ctr">
              <a:lnSpc>
                <a:spcPts val="4800"/>
              </a:lnSpc>
              <a:spcBef>
                <a:spcPts val="0"/>
              </a:spcBef>
              <a:buNone/>
            </a:pPr>
            <a:r>
              <a:rPr lang="en-US" sz="4400" b="true" spc="-200">
                <a:solidFill>
                  <a:srgbClr val="111111"/>
                </a:solidFill>
                <a:latin typeface="Roca Two Bold"/>
                <a:ea typeface="Roca Two Bold"/>
                <a:cs typeface="Roca Two Bold"/>
                <a:sym typeface="Roca Two Bold"/>
              </a:rPr>
              <a:t>Q &amp; A</a:t>
            </a:r>
          </a:p>
          <a:p>
            <a:pPr algn="ctr">
              <a:lnSpc>
                <a:spcPts val="2100"/>
              </a:lnSpc>
              <a:spcBef>
                <a:spcPts val="600"/>
              </a:spcBef>
              <a:buNone/>
            </a:pPr>
            <a:r>
              <a:rPr lang="en-US" sz="1700" b="true">
                <a:solidFill>
                  <a:srgbClr val="111111"/>
                </a:solidFill>
                <a:latin typeface="Nunito Bold"/>
                <a:ea typeface="Nunito Bold"/>
                <a:cs typeface="Nunito Bold"/>
                <a:sym typeface="Nunito Bold"/>
              </a:rPr>
              <a:t>Discussion with the jury  ·  backup tables at the end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03</a:t>
            </a:r>
          </a:p>
        </p:txBody>
      </p:sp>
      <p:sp>
        <p:nvSpPr>
          <p:cNvPr id="7" name="TextBox 6"/>
          <p:cNvSpPr txBox="1"/>
          <p:nvPr/>
        </p:nvSpPr>
        <p:spPr>
          <a:xfrm>
            <a:off x="1028700" y="2331720"/>
            <a:ext cx="14859000" cy="2286000"/>
          </a:xfrm>
          <a:prstGeom prst="rect">
            <a:avLst/>
          </a:prstGeom>
          <a:noFill/>
        </p:spPr>
        <p:txBody>
          <a:bodyPr anchor="t" rtlCol="false" lIns="0" tIns="0" rIns="0" bIns="0" wrap="square"/>
          <a:lstStyle/>
          <a:p>
            <a:pPr algn="l">
              <a:lnSpc>
                <a:spcPts val="15300"/>
              </a:lnSpc>
              <a:spcBef>
                <a:spcPts val="0"/>
              </a:spcBef>
              <a:buNone/>
            </a:pPr>
            <a:r>
              <a:rPr lang="en-US" sz="15000" b="true" spc="-870">
                <a:solidFill>
                  <a:srgbClr val="111111"/>
                </a:solidFill>
                <a:latin typeface="Roca Two Bold"/>
                <a:ea typeface="Roca Two Bold"/>
                <a:cs typeface="Roca Two Bold"/>
                <a:sym typeface="Roca Two Bold"/>
              </a:rPr>
              <a:t>Introduction</a:t>
            </a:r>
          </a:p>
        </p:txBody>
      </p:sp>
      <p:sp>
        <p:nvSpPr>
          <p:cNvPr id="8" name="Oval 7"/>
          <p:cNvSpPr/>
          <p:nvPr/>
        </p:nvSpPr>
        <p:spPr>
          <a:xfrm>
            <a:off x="11961761" y="2918460"/>
            <a:ext cx="1005840" cy="1005840"/>
          </a:xfrm>
          <a:prstGeom prst="ellipse">
            <a:avLst/>
          </a:prstGeom>
          <a:solidFill>
            <a:srgbClr val="ECC665"/>
          </a:solidFill>
          <a:ln>
            <a:noFill/>
          </a:ln>
        </p:spPr>
        <p:txBody>
          <a:bodyPr anchor="ctr" rtlCol="false" lIns="0" tIns="0" rIns="0" bIns="0" wrap="square"/>
          <a:lstStyle/>
          <a:p>
            <a:endParaRPr lang="en-US" sz="1800"/>
          </a:p>
        </p:txBody>
      </p:sp>
      <p:sp>
        <p:nvSpPr>
          <p:cNvPr id="9" name="TextBox 8"/>
          <p:cNvSpPr txBox="1"/>
          <p:nvPr/>
        </p:nvSpPr>
        <p:spPr>
          <a:xfrm>
            <a:off x="11961761" y="2918460"/>
            <a:ext cx="1005840" cy="1005840"/>
          </a:xfrm>
          <a:prstGeom prst="rect">
            <a:avLst/>
          </a:prstGeom>
          <a:noFill/>
        </p:spPr>
        <p:txBody>
          <a:bodyPr anchor="ctr" rtlCol="false" lIns="0" tIns="0" rIns="0" bIns="0" wrap="square"/>
          <a:lstStyle/>
          <a:p>
            <a:pPr algn="ctr">
              <a:lnSpc>
                <a:spcPts val="3400"/>
              </a:lnSpc>
              <a:spcBef>
                <a:spcPts val="0"/>
              </a:spcBef>
              <a:buNone/>
            </a:pPr>
            <a:r>
              <a:rPr lang="en-US" sz="3000" b="true">
                <a:solidFill>
                  <a:srgbClr val="111111"/>
                </a:solidFill>
                <a:latin typeface="Nunito Ultra-Bold"/>
                <a:ea typeface="Nunito Ultra-Bold"/>
                <a:cs typeface="Nunito Ultra-Bold"/>
                <a:sym typeface="Nunito Ultra-Bold"/>
              </a:rPr>
              <a:t>01</a:t>
            </a:r>
          </a:p>
        </p:txBody>
      </p:sp>
      <p:sp>
        <p:nvSpPr>
          <p:cNvPr id="10" name="TextBox 9"/>
          <p:cNvSpPr txBox="1"/>
          <p:nvPr/>
        </p:nvSpPr>
        <p:spPr>
          <a:xfrm>
            <a:off x="1028700" y="4465320"/>
            <a:ext cx="16230600" cy="640080"/>
          </a:xfrm>
          <a:prstGeom prst="rect">
            <a:avLst/>
          </a:prstGeom>
          <a:noFill/>
        </p:spPr>
        <p:txBody>
          <a:bodyPr anchor="t" rtlCol="false" lIns="0" tIns="0" rIns="0" bIns="0" wrap="square"/>
          <a:lstStyle/>
          <a:p>
            <a:pPr algn="l">
              <a:lnSpc>
                <a:spcPts val="3800"/>
              </a:lnSpc>
              <a:spcBef>
                <a:spcPts val="0"/>
              </a:spcBef>
              <a:buNone/>
            </a:pPr>
            <a:r>
              <a:rPr lang="en-US" sz="3000" b="true" spc="-150">
                <a:solidFill>
                  <a:srgbClr val="124944"/>
                </a:solidFill>
                <a:latin typeface="Nunito Bold"/>
                <a:ea typeface="Nunito Bold"/>
                <a:cs typeface="Nunito Bold"/>
                <a:sym typeface="Nunito Bold"/>
              </a:rPr>
              <a:t>Why explainability is a core requirement for recommender systems</a:t>
            </a:r>
          </a:p>
        </p:txBody>
      </p:sp>
      <p:sp>
        <p:nvSpPr>
          <p:cNvPr id="11" name="Rectangle 10"/>
          <p:cNvSpPr/>
          <p:nvPr/>
        </p:nvSpPr>
        <p:spPr>
          <a:xfrm>
            <a:off x="0" y="5440680"/>
            <a:ext cx="18288000" cy="4846320"/>
          </a:xfrm>
          <a:prstGeom prst="rect">
            <a:avLst/>
          </a:prstGeom>
          <a:solidFill>
            <a:srgbClr val="124944"/>
          </a:solidFill>
          <a:ln>
            <a:noFill/>
          </a:ln>
        </p:spPr>
        <p:txBody>
          <a:bodyPr anchor="ctr" rtlCol="false" lIns="0" tIns="0" rIns="0" bIns="0" wrap="square"/>
          <a:lstStyle/>
          <a:p>
            <a:endParaRPr lang="en-US" sz="1800"/>
          </a:p>
        </p:txBody>
      </p:sp>
      <p:sp>
        <p:nvSpPr>
          <p:cNvPr id="12" name="TextBox 11"/>
          <p:cNvSpPr txBox="1"/>
          <p:nvPr/>
        </p:nvSpPr>
        <p:spPr>
          <a:xfrm>
            <a:off x="102870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Motivation</a:t>
            </a:r>
          </a:p>
        </p:txBody>
      </p:sp>
      <p:cxnSp>
        <p:nvCxnSpPr>
          <p:cNvPr id="13" name="Connector 12"/>
          <p:cNvCxnSpPr/>
          <p:nvPr/>
        </p:nvCxnSpPr>
        <p:spPr>
          <a:xfrm>
            <a:off x="1028700" y="6464808"/>
            <a:ext cx="640080" cy="0"/>
          </a:xfrm>
          <a:prstGeom prst="line">
            <a:avLst/>
          </a:prstGeom>
          <a:ln w="31750">
            <a:solidFill>
              <a:srgbClr val="ECC665"/>
            </a:solidFill>
          </a:ln>
        </p:spPr>
      </p:cxnSp>
      <p:sp>
        <p:nvSpPr>
          <p:cNvPr id="14" name="TextBox 13"/>
          <p:cNvSpPr txBox="1"/>
          <p:nvPr/>
        </p:nvSpPr>
        <p:spPr>
          <a:xfrm>
            <a:off x="102870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Black-box AI systems shape what billions of people see, buy and watch every day: accurate, but not transparent.</a:t>
            </a:r>
          </a:p>
        </p:txBody>
      </p:sp>
      <p:sp>
        <p:nvSpPr>
          <p:cNvPr id="15" name="TextBox 14"/>
          <p:cNvSpPr txBox="1"/>
          <p:nvPr/>
        </p:nvSpPr>
        <p:spPr>
          <a:xfrm>
            <a:off x="657606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Actionable insight</a:t>
            </a:r>
          </a:p>
        </p:txBody>
      </p:sp>
      <p:cxnSp>
        <p:nvCxnSpPr>
          <p:cNvPr id="16" name="Connector 15"/>
          <p:cNvCxnSpPr/>
          <p:nvPr/>
        </p:nvCxnSpPr>
        <p:spPr>
          <a:xfrm>
            <a:off x="6576060" y="6464808"/>
            <a:ext cx="640080" cy="0"/>
          </a:xfrm>
          <a:prstGeom prst="line">
            <a:avLst/>
          </a:prstGeom>
          <a:ln w="31750">
            <a:solidFill>
              <a:srgbClr val="ECC665"/>
            </a:solidFill>
          </a:ln>
        </p:spPr>
      </p:cxnSp>
      <p:sp>
        <p:nvSpPr>
          <p:cNvPr id="17" name="TextBox 16"/>
          <p:cNvSpPr txBox="1"/>
          <p:nvPr/>
        </p:nvSpPr>
        <p:spPr>
          <a:xfrm>
            <a:off x="657606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An explanation is useful when it names a factor, in the domain's own words, that a designer can change.</a:t>
            </a:r>
          </a:p>
        </p:txBody>
      </p:sp>
      <p:sp>
        <p:nvSpPr>
          <p:cNvPr id="18" name="TextBox 17"/>
          <p:cNvSpPr txBox="1"/>
          <p:nvPr/>
        </p:nvSpPr>
        <p:spPr>
          <a:xfrm>
            <a:off x="1212342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Research context</a:t>
            </a:r>
          </a:p>
        </p:txBody>
      </p:sp>
      <p:cxnSp>
        <p:nvCxnSpPr>
          <p:cNvPr id="19" name="Connector 18"/>
          <p:cNvCxnSpPr/>
          <p:nvPr/>
        </p:nvCxnSpPr>
        <p:spPr>
          <a:xfrm>
            <a:off x="12123420" y="6464808"/>
            <a:ext cx="640080" cy="0"/>
          </a:xfrm>
          <a:prstGeom prst="line">
            <a:avLst/>
          </a:prstGeom>
          <a:ln w="31750">
            <a:solidFill>
              <a:srgbClr val="ECC665"/>
            </a:solidFill>
          </a:ln>
        </p:spPr>
      </p:cxnSp>
      <p:sp>
        <p:nvSpPr>
          <p:cNvPr id="20" name="TextBox 19"/>
          <p:cNvSpPr txBox="1"/>
          <p:nvPr/>
        </p:nvSpPr>
        <p:spPr>
          <a:xfrm>
            <a:off x="1212342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From matrix factorisation to hypergraph recommenders: each step added modelling power and removed transparency.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[21] Zhang, Y. &amp; Chen, X. Explainable Recommendation: A Survey and New Perspectives. Foundations and Trends in IR 14(1), 1–101 (2020).   [24] Arrieta, A. B. et al. Explainable Artificial Intelligence (XAI): Concepts, Taxonomies, Opportunities and Challenges. Information Fusion 58, 82–115 (2020).   [26] European Union. Regulation (EU) 2024/1689 (AI Act), Art. 13 (2024).  ·  Regulation (EU) 2016/679 (GDPR), Art. 22 (2016).  ·  OECD. Recommendation of the Council on Artificial Intelligence (2019).</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04</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INTRODUCTION</a:t>
            </a:r>
          </a:p>
        </p:txBody>
      </p:sp>
      <p:sp>
        <p:nvSpPr>
          <p:cNvPr id="8" name="Rounded Rectangle 7"/>
          <p:cNvSpPr/>
          <p:nvPr/>
        </p:nvSpPr>
        <p:spPr>
          <a:xfrm>
            <a:off x="1451610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Motivation: Three Questions</a:t>
            </a:r>
          </a:p>
        </p:txBody>
      </p:sp>
      <p:pic>
        <p:nvPicPr>
          <p:cNvPr id="23" name="Picture 22" descr="image.png"/>
          <p:cNvPicPr>
            <a:picLocks noChangeAspect="1"/>
          </p:cNvPicPr>
          <p:nvPr/>
        </p:nvPicPr>
        <p:blipFill>
          <a:blip r:embed="rId3"/>
          <a:stretch>
            <a:fillRect/>
          </a:stretch>
        </p:blipFill>
        <p:spPr>
          <a:xfrm>
            <a:off x="8592285" y="1673352"/>
            <a:ext cx="457200" cy="250983"/>
          </a:xfrm>
          <a:prstGeom prst="rect">
            <a:avLst/>
          </a:prstGeom>
        </p:spPr>
      </p:pic>
      <p:sp>
        <p:nvSpPr>
          <p:cNvPr id="24" name="Rounded Rectangle 23"/>
          <p:cNvSpPr/>
          <p:nvPr/>
        </p:nvSpPr>
        <p:spPr>
          <a:xfrm>
            <a:off x="1028700" y="2559050"/>
            <a:ext cx="1715805"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Motivation</a:t>
            </a:r>
          </a:p>
        </p:txBody>
      </p:sp>
      <p:sp>
        <p:nvSpPr>
          <p:cNvPr id="25" name="Rounded Rectangle 24"/>
          <p:cNvSpPr/>
          <p:nvPr/>
        </p:nvSpPr>
        <p:spPr>
          <a:xfrm>
            <a:off x="2872521" y="2559050"/>
            <a:ext cx="254485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Actionable Insight</a:t>
            </a:r>
          </a:p>
        </p:txBody>
      </p:sp>
      <p:sp>
        <p:nvSpPr>
          <p:cNvPr id="26" name="Rounded Rectangle 25"/>
          <p:cNvSpPr/>
          <p:nvPr/>
        </p:nvSpPr>
        <p:spPr>
          <a:xfrm>
            <a:off x="5545389" y="2559050"/>
            <a:ext cx="2484575"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Research Context</a:t>
            </a:r>
          </a:p>
        </p:txBody>
      </p:sp>
      <p:sp>
        <p:nvSpPr>
          <p:cNvPr id="27" name="Rounded Rectangle 26"/>
          <p:cNvSpPr/>
          <p:nvPr/>
        </p:nvSpPr>
        <p:spPr>
          <a:xfrm>
            <a:off x="1028700" y="3592322"/>
            <a:ext cx="5196840" cy="4206240"/>
          </a:xfrm>
          <a:prstGeom prst="roundRect">
            <a:avLst>
              <a:gd name="adj" fmla="val 7391"/>
            </a:avLst>
          </a:prstGeom>
          <a:solidFill>
            <a:srgbClr val="124944"/>
          </a:solidFill>
          <a:ln>
            <a:noFill/>
          </a:ln>
        </p:spPr>
        <p:txBody>
          <a:bodyPr anchor="ctr" rtlCol="false" lIns="0" tIns="0" rIns="0" bIns="0" wrap="square"/>
          <a:lstStyle/>
          <a:p>
            <a:endParaRPr lang="en-US" sz="1800"/>
          </a:p>
        </p:txBody>
      </p:sp>
      <p:sp>
        <p:nvSpPr>
          <p:cNvPr id="28" name="Rounded Rectangle 27"/>
          <p:cNvSpPr/>
          <p:nvPr/>
        </p:nvSpPr>
        <p:spPr>
          <a:xfrm>
            <a:off x="1485900" y="3354578"/>
            <a:ext cx="2168674"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520"/>
              </a:lnSpc>
              <a:spcBef>
                <a:spcPts val="0"/>
              </a:spcBef>
              <a:buNone/>
            </a:pPr>
            <a:r>
              <a:rPr lang="en-US" sz="2100" b="true">
                <a:solidFill>
                  <a:srgbClr val="124944"/>
                </a:solidFill>
                <a:latin typeface="Nunito Bold"/>
                <a:ea typeface="Nunito Bold"/>
                <a:cs typeface="Nunito Bold"/>
                <a:sym typeface="Nunito Bold"/>
              </a:rPr>
              <a:t>Everywhere</a:t>
            </a:r>
          </a:p>
        </p:txBody>
      </p:sp>
      <p:sp>
        <p:nvSpPr>
          <p:cNvPr id="29" name="TextBox 28"/>
          <p:cNvSpPr txBox="1"/>
          <p:nvPr/>
        </p:nvSpPr>
        <p:spPr>
          <a:xfrm>
            <a:off x="1485900" y="4278122"/>
            <a:ext cx="4282440" cy="3154680"/>
          </a:xfrm>
          <a:prstGeom prst="rect">
            <a:avLst/>
          </a:prstGeom>
          <a:noFill/>
        </p:spPr>
        <p:txBody>
          <a:bodyPr anchor="t" rtlCol="false" lIns="0" tIns="0" rIns="0" bIns="0" wrap="square"/>
          <a:lstStyle/>
          <a:p>
            <a:pPr algn="l">
              <a:lnSpc>
                <a:spcPts val="3220"/>
              </a:lnSpc>
              <a:spcBef>
                <a:spcPts val="0"/>
              </a:spcBef>
              <a:buNone/>
            </a:pPr>
            <a:r>
              <a:rPr lang="en-US" sz="2300" b="true">
                <a:solidFill>
                  <a:srgbClr val="FFFFFF"/>
                </a:solidFill>
                <a:latin typeface="Nunito Bold"/>
                <a:ea typeface="Nunito Bold"/>
                <a:cs typeface="Nunito Bold"/>
                <a:sym typeface="Nunito Bold"/>
              </a:rPr>
              <a:t>How do black-box AI systems shape what billions of users see, buy and watch every day?</a:t>
            </a:r>
          </a:p>
          <a:p>
            <a:pPr algn="l">
              <a:lnSpc>
                <a:spcPts val="2300"/>
              </a:lnSpc>
              <a:spcBef>
                <a:spcPts val="1400"/>
              </a:spcBef>
              <a:buNone/>
            </a:pPr>
            <a:r>
              <a:rPr lang="en-US" sz="1800" b="true">
                <a:solidFill>
                  <a:srgbClr val="CFDAD6"/>
                </a:solidFill>
                <a:latin typeface="Nunito Semi-Bold"/>
                <a:ea typeface="Nunito Semi-Bold"/>
                <a:cs typeface="Nunito Semi-Bold"/>
                <a:sym typeface="Nunito Semi-Bold"/>
              </a:rPr>
              <a:t>Recommenders shape news, study, health and credit decisions; market &gt; $15B by 2029.</a:t>
            </a:r>
          </a:p>
        </p:txBody>
      </p:sp>
      <p:sp>
        <p:nvSpPr>
          <p:cNvPr id="30" name="Rounded Rectangle 29"/>
          <p:cNvSpPr/>
          <p:nvPr/>
        </p:nvSpPr>
        <p:spPr>
          <a:xfrm>
            <a:off x="6545580" y="3592322"/>
            <a:ext cx="5196840" cy="4206240"/>
          </a:xfrm>
          <a:prstGeom prst="roundRect">
            <a:avLst>
              <a:gd name="adj" fmla="val 7391"/>
            </a:avLst>
          </a:prstGeom>
          <a:solidFill>
            <a:srgbClr val="124944"/>
          </a:solidFill>
          <a:ln>
            <a:noFill/>
          </a:ln>
        </p:spPr>
        <p:txBody>
          <a:bodyPr anchor="ctr" rtlCol="false" lIns="0" tIns="0" rIns="0" bIns="0" wrap="square"/>
          <a:lstStyle/>
          <a:p>
            <a:endParaRPr lang="en-US" sz="1800"/>
          </a:p>
        </p:txBody>
      </p:sp>
      <p:sp>
        <p:nvSpPr>
          <p:cNvPr id="31" name="Rounded Rectangle 30"/>
          <p:cNvSpPr/>
          <p:nvPr/>
        </p:nvSpPr>
        <p:spPr>
          <a:xfrm>
            <a:off x="7002780" y="3354578"/>
            <a:ext cx="2488426"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520"/>
              </a:lnSpc>
              <a:spcBef>
                <a:spcPts val="0"/>
              </a:spcBef>
              <a:buNone/>
            </a:pPr>
            <a:r>
              <a:rPr lang="en-US" sz="2100" b="true">
                <a:solidFill>
                  <a:srgbClr val="124944"/>
                </a:solidFill>
                <a:latin typeface="Nunito Bold"/>
                <a:ea typeface="Nunito Bold"/>
                <a:cs typeface="Nunito Bold"/>
                <a:sym typeface="Nunito Bold"/>
              </a:rPr>
              <a:t>The Black Box</a:t>
            </a:r>
          </a:p>
        </p:txBody>
      </p:sp>
      <p:sp>
        <p:nvSpPr>
          <p:cNvPr id="32" name="TextBox 31"/>
          <p:cNvSpPr txBox="1"/>
          <p:nvPr/>
        </p:nvSpPr>
        <p:spPr>
          <a:xfrm>
            <a:off x="7002780" y="4278122"/>
            <a:ext cx="4282440" cy="3154680"/>
          </a:xfrm>
          <a:prstGeom prst="rect">
            <a:avLst/>
          </a:prstGeom>
          <a:noFill/>
        </p:spPr>
        <p:txBody>
          <a:bodyPr anchor="t" rtlCol="false" lIns="0" tIns="0" rIns="0" bIns="0" wrap="square"/>
          <a:lstStyle/>
          <a:p>
            <a:pPr algn="l">
              <a:lnSpc>
                <a:spcPts val="3220"/>
              </a:lnSpc>
              <a:spcBef>
                <a:spcPts val="0"/>
              </a:spcBef>
              <a:buNone/>
            </a:pPr>
            <a:r>
              <a:rPr lang="en-US" sz="2300" b="true">
                <a:solidFill>
                  <a:srgbClr val="FFFFFF"/>
                </a:solidFill>
                <a:latin typeface="Nunito Bold"/>
                <a:ea typeface="Nunito Bold"/>
                <a:cs typeface="Nunito Bold"/>
                <a:sym typeface="Nunito Bold"/>
              </a:rPr>
              <a:t>Why do state-of-the-art recommenders and clustering pipelines stay black boxes for users and designers?</a:t>
            </a:r>
          </a:p>
          <a:p>
            <a:pPr algn="l">
              <a:lnSpc>
                <a:spcPts val="2300"/>
              </a:lnSpc>
              <a:spcBef>
                <a:spcPts val="1400"/>
              </a:spcBef>
              <a:buNone/>
            </a:pPr>
            <a:r>
              <a:rPr lang="en-US" sz="1800" b="true">
                <a:solidFill>
                  <a:srgbClr val="CFDAD6"/>
                </a:solidFill>
                <a:latin typeface="Nunito Semi-Bold"/>
                <a:ea typeface="Nunito Semi-Bold"/>
                <a:cs typeface="Nunito Semi-Bold"/>
                <a:sym typeface="Nunito Semi-Bold"/>
              </a:rPr>
              <a:t>Deep &amp; graph models: hidden logic, hard to audit. EU AI Act: high-risk </a:t>
            </a:r>
            <a:r>
              <a:rPr lang="en-US" sz="1800" b="true">
                <a:solidFill>
                  <a:srgbClr val="CFDAD6"/>
                </a:solidFill>
                <a:latin typeface="Calibri"/>
                <a:ea typeface="Calibri"/>
                <a:cs typeface="Calibri"/>
                <a:sym typeface="Calibri"/>
              </a:rPr>
              <a:t>→ </a:t>
            </a:r>
            <a:r>
              <a:rPr lang="en-US" sz="1800" b="true">
                <a:solidFill>
                  <a:srgbClr val="CFDAD6"/>
                </a:solidFill>
                <a:latin typeface="Nunito Semi-Bold"/>
                <a:ea typeface="Nunito Semi-Bold"/>
                <a:cs typeface="Nunito Semi-Bold"/>
                <a:sym typeface="Nunito Semi-Bold"/>
              </a:rPr>
              <a:t>must explain.</a:t>
            </a:r>
          </a:p>
        </p:txBody>
      </p:sp>
      <p:sp>
        <p:nvSpPr>
          <p:cNvPr id="33" name="Rounded Rectangle 32"/>
          <p:cNvSpPr/>
          <p:nvPr/>
        </p:nvSpPr>
        <p:spPr>
          <a:xfrm>
            <a:off x="12062460" y="3592322"/>
            <a:ext cx="5196840" cy="4206240"/>
          </a:xfrm>
          <a:prstGeom prst="roundRect">
            <a:avLst>
              <a:gd name="adj" fmla="val 7391"/>
            </a:avLst>
          </a:prstGeom>
          <a:solidFill>
            <a:srgbClr val="124944"/>
          </a:solidFill>
          <a:ln>
            <a:noFill/>
          </a:ln>
        </p:spPr>
        <p:txBody>
          <a:bodyPr anchor="ctr" rtlCol="false" lIns="0" tIns="0" rIns="0" bIns="0" wrap="square"/>
          <a:lstStyle/>
          <a:p>
            <a:endParaRPr lang="en-US" sz="1800"/>
          </a:p>
        </p:txBody>
      </p:sp>
      <p:sp>
        <p:nvSpPr>
          <p:cNvPr id="34" name="Rounded Rectangle 33"/>
          <p:cNvSpPr/>
          <p:nvPr/>
        </p:nvSpPr>
        <p:spPr>
          <a:xfrm>
            <a:off x="12519660" y="3354578"/>
            <a:ext cx="2395577"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520"/>
              </a:lnSpc>
              <a:spcBef>
                <a:spcPts val="0"/>
              </a:spcBef>
              <a:buNone/>
            </a:pPr>
            <a:r>
              <a:rPr lang="en-US" sz="2100" b="true">
                <a:solidFill>
                  <a:srgbClr val="124944"/>
                </a:solidFill>
                <a:latin typeface="Nunito Bold"/>
                <a:ea typeface="Nunito Bold"/>
                <a:cs typeface="Nunito Bold"/>
                <a:sym typeface="Nunito Bold"/>
              </a:rPr>
              <a:t>Toward Trust</a:t>
            </a:r>
          </a:p>
        </p:txBody>
      </p:sp>
      <p:sp>
        <p:nvSpPr>
          <p:cNvPr id="35" name="TextBox 34"/>
          <p:cNvSpPr txBox="1"/>
          <p:nvPr/>
        </p:nvSpPr>
        <p:spPr>
          <a:xfrm>
            <a:off x="12519660" y="4278122"/>
            <a:ext cx="4282440" cy="3154680"/>
          </a:xfrm>
          <a:prstGeom prst="rect">
            <a:avLst/>
          </a:prstGeom>
          <a:noFill/>
        </p:spPr>
        <p:txBody>
          <a:bodyPr anchor="t" rtlCol="false" lIns="0" tIns="0" rIns="0" bIns="0" wrap="square"/>
          <a:lstStyle/>
          <a:p>
            <a:pPr algn="l">
              <a:lnSpc>
                <a:spcPts val="3220"/>
              </a:lnSpc>
              <a:spcBef>
                <a:spcPts val="0"/>
              </a:spcBef>
              <a:buNone/>
            </a:pPr>
            <a:r>
              <a:rPr lang="en-US" sz="2300" b="true">
                <a:solidFill>
                  <a:srgbClr val="FFFFFF"/>
                </a:solidFill>
                <a:latin typeface="Nunito Bold"/>
                <a:ea typeface="Nunito Bold"/>
                <a:cs typeface="Nunito Bold"/>
                <a:sym typeface="Nunito Bold"/>
              </a:rPr>
              <a:t>How can transparency be built into the model, instead of being added afterwards?</a:t>
            </a:r>
          </a:p>
          <a:p>
            <a:pPr algn="l">
              <a:lnSpc>
                <a:spcPts val="2300"/>
              </a:lnSpc>
              <a:spcBef>
                <a:spcPts val="1400"/>
              </a:spcBef>
              <a:buNone/>
            </a:pPr>
            <a:r>
              <a:rPr lang="en-US" sz="1800" b="true">
                <a:solidFill>
                  <a:srgbClr val="CFDAD6"/>
                </a:solidFill>
                <a:latin typeface="Nunito Semi-Bold"/>
                <a:ea typeface="Nunito Semi-Bold"/>
                <a:cs typeface="Nunito Semi-Bold"/>
                <a:sym typeface="Nunito Semi-Bold"/>
              </a:rPr>
              <a:t>Insight that is accountable, auditable and actionable, not just accurate.</a:t>
            </a:r>
          </a:p>
        </p:txBody>
      </p:sp>
      <p:sp>
        <p:nvSpPr>
          <p:cNvPr id="36" name="Rounded Rectangle 35"/>
          <p:cNvSpPr/>
          <p:nvPr/>
        </p:nvSpPr>
        <p:spPr>
          <a:xfrm>
            <a:off x="1028700" y="8118602"/>
            <a:ext cx="16230600" cy="868680"/>
          </a:xfrm>
          <a:prstGeom prst="roundRect">
            <a:avLst>
              <a:gd name="adj" fmla="val 26315"/>
            </a:avLst>
          </a:prstGeom>
          <a:solidFill>
            <a:srgbClr val="F6ECDF"/>
          </a:solidFill>
          <a:ln>
            <a:noFill/>
          </a:ln>
        </p:spPr>
        <p:txBody>
          <a:bodyPr anchor="ctr" rtlCol="false" lIns="365760" tIns="91440" rIns="365760" bIns="91440" wrap="square"/>
          <a:lstStyle/>
          <a:p>
            <a:pPr algn="ctr">
              <a:lnSpc>
                <a:spcPts val="2600"/>
              </a:lnSpc>
              <a:spcBef>
                <a:spcPts val="0"/>
              </a:spcBef>
              <a:buNone/>
            </a:pPr>
            <a:r>
              <a:rPr lang="en-US" sz="2000" b="true">
                <a:solidFill>
                  <a:srgbClr val="111111"/>
                </a:solidFill>
                <a:latin typeface="Nunito Bold"/>
                <a:ea typeface="Nunito Bold"/>
                <a:cs typeface="Nunito Bold"/>
                <a:sym typeface="Nunito Bold"/>
              </a:rPr>
              <a:t>The core tension:</a:t>
            </a:r>
            <a:r>
              <a:rPr lang="en-US" sz="2000" b="true">
                <a:solidFill>
                  <a:srgbClr val="111111"/>
                </a:solidFill>
                <a:latin typeface="Nunito Semi-Bold"/>
                <a:ea typeface="Nunito Semi-Bold"/>
                <a:cs typeface="Nunito Semi-Bold"/>
                <a:sym typeface="Nunito Semi-Bold"/>
              </a:rPr>
              <a:t> as models gain power, they lose the transparency needed for trustworthy use. This thesis treats </a:t>
            </a:r>
            <a:r>
              <a:rPr lang="en-US" sz="2000" b="true">
                <a:solidFill>
                  <a:srgbClr val="111111"/>
                </a:solidFill>
                <a:latin typeface="Nunito Bold"/>
                <a:ea typeface="Nunito Bold"/>
                <a:cs typeface="Nunito Bold"/>
                <a:sym typeface="Nunito Bold"/>
              </a:rPr>
              <a:t>accuracy and interpretability as goals to be met together</a:t>
            </a:r>
            <a:r>
              <a:rPr lang="en-US" sz="2000" b="true">
                <a:solidFill>
                  <a:srgbClr val="111111"/>
                </a:solidFill>
                <a:latin typeface="Nunito Semi-Bold"/>
                <a:ea typeface="Nunito Semi-Bold"/>
                <a:cs typeface="Nunito Semi-Bold"/>
                <a:sym typeface="Nunito Semi-Bold"/>
              </a:rPr>
              <a:t>, not traded against each other.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[25] Doshi-Velez, F. &amp; Kim, B. Towards a Rigorous Science of Interpretable Machine Learning. arXiv:1702.08608 (2017).  ·  Rudin, C. et al. Interpretable ML: Fundamental Principles and 10 Grand Challenges. Statistics Surveys 16 (2022).</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05</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INTRODUCTION</a:t>
            </a:r>
          </a:p>
        </p:txBody>
      </p:sp>
      <p:sp>
        <p:nvSpPr>
          <p:cNvPr id="8" name="Rounded Rectangle 7"/>
          <p:cNvSpPr/>
          <p:nvPr/>
        </p:nvSpPr>
        <p:spPr>
          <a:xfrm>
            <a:off x="1451610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Actionable Insight: the Definition</a:t>
            </a:r>
          </a:p>
        </p:txBody>
      </p:sp>
      <p:pic>
        <p:nvPicPr>
          <p:cNvPr id="23" name="Picture 22" descr="image.png"/>
          <p:cNvPicPr>
            <a:picLocks noChangeAspect="1"/>
          </p:cNvPicPr>
          <p:nvPr/>
        </p:nvPicPr>
        <p:blipFill>
          <a:blip r:embed="rId3"/>
          <a:stretch>
            <a:fillRect/>
          </a:stretch>
        </p:blipFill>
        <p:spPr>
          <a:xfrm>
            <a:off x="9706798" y="1673352"/>
            <a:ext cx="457200" cy="415247"/>
          </a:xfrm>
          <a:prstGeom prst="rect">
            <a:avLst/>
          </a:prstGeom>
        </p:spPr>
      </p:pic>
      <p:sp>
        <p:nvSpPr>
          <p:cNvPr id="24" name="Rounded Rectangle 23"/>
          <p:cNvSpPr/>
          <p:nvPr/>
        </p:nvSpPr>
        <p:spPr>
          <a:xfrm>
            <a:off x="1028700" y="2559050"/>
            <a:ext cx="1715805"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Motivation</a:t>
            </a:r>
          </a:p>
        </p:txBody>
      </p:sp>
      <p:sp>
        <p:nvSpPr>
          <p:cNvPr id="25" name="Rounded Rectangle 24"/>
          <p:cNvSpPr/>
          <p:nvPr/>
        </p:nvSpPr>
        <p:spPr>
          <a:xfrm>
            <a:off x="2872521" y="2559050"/>
            <a:ext cx="2544852"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Actionable Insight</a:t>
            </a:r>
          </a:p>
        </p:txBody>
      </p:sp>
      <p:sp>
        <p:nvSpPr>
          <p:cNvPr id="26" name="Rounded Rectangle 25"/>
          <p:cNvSpPr/>
          <p:nvPr/>
        </p:nvSpPr>
        <p:spPr>
          <a:xfrm>
            <a:off x="5545389" y="2559050"/>
            <a:ext cx="2484575"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Research Context</a:t>
            </a:r>
          </a:p>
        </p:txBody>
      </p:sp>
      <p:sp>
        <p:nvSpPr>
          <p:cNvPr id="27" name="TextBox 26"/>
          <p:cNvSpPr txBox="1"/>
          <p:nvPr/>
        </p:nvSpPr>
        <p:spPr>
          <a:xfrm>
            <a:off x="1028700" y="3363722"/>
            <a:ext cx="7863840" cy="5944870"/>
          </a:xfrm>
          <a:prstGeom prst="rect">
            <a:avLst/>
          </a:prstGeom>
          <a:noFill/>
        </p:spPr>
        <p:txBody>
          <a:bodyPr anchor="t" rtlCol="false" lIns="0" tIns="0" rIns="0" bIns="0" wrap="square"/>
          <a:lstStyle/>
          <a:p>
            <a:pPr algn="l">
              <a:lnSpc>
                <a:spcPts val="3125"/>
              </a:lnSpc>
              <a:spcBef>
                <a:spcPts val="0"/>
              </a:spcBef>
              <a:buNone/>
            </a:pPr>
            <a:r>
              <a:rPr lang="en-US" sz="2500" b="true">
                <a:solidFill>
                  <a:srgbClr val="124944"/>
                </a:solidFill>
                <a:latin typeface="Nunito Ultra-Bold"/>
                <a:ea typeface="Nunito Ultra-Bold"/>
                <a:cs typeface="Nunito Ultra-Bold"/>
                <a:sym typeface="Nunito Ultra-Bold"/>
              </a:rPr>
              <a:t>Definition 1.1 (Actionable insight)</a:t>
            </a:r>
          </a:p>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An explanation is actionable when it points to </a:t>
            </a:r>
            <a:r>
              <a:rPr lang="en-US" sz="2100" b="true">
                <a:solidFill>
                  <a:srgbClr val="111111"/>
                </a:solidFill>
                <a:latin typeface="Nunito Bold"/>
                <a:ea typeface="Nunito Bold"/>
                <a:cs typeface="Nunito Bold"/>
                <a:sym typeface="Nunito Bold"/>
              </a:rPr>
              <a:t>at least one factor that can be changed</a:t>
            </a:r>
            <a:r>
              <a:rPr lang="en-US" sz="2100" b="true">
                <a:solidFill>
                  <a:srgbClr val="111111"/>
                </a:solidFill>
                <a:latin typeface="Nunito Semi-Bold"/>
                <a:ea typeface="Nunito Semi-Bold"/>
                <a:cs typeface="Nunito Semi-Bold"/>
                <a:sym typeface="Nunito Semi-Bold"/>
              </a:rPr>
              <a:t>, and that change leads to a </a:t>
            </a:r>
            <a:r>
              <a:rPr lang="en-US" sz="2100" b="true">
                <a:solidFill>
                  <a:srgbClr val="111111"/>
                </a:solidFill>
                <a:latin typeface="Nunito Bold"/>
                <a:ea typeface="Nunito Bold"/>
                <a:cs typeface="Nunito Bold"/>
                <a:sym typeface="Nunito Bold"/>
              </a:rPr>
              <a:t>clear change in the model output</a:t>
            </a:r>
            <a:r>
              <a:rPr lang="en-US" sz="2100" b="true">
                <a:solidFill>
                  <a:srgbClr val="111111"/>
                </a:solidFill>
                <a:latin typeface="Nunito Semi-Bold"/>
                <a:ea typeface="Nunito Semi-Bold"/>
                <a:cs typeface="Nunito Semi-Bold"/>
                <a:sym typeface="Nunito Semi-Bold"/>
              </a:rPr>
              <a:t>…</a:t>
            </a:r>
          </a:p>
          <a:p>
            <a:pPr algn="l" marL="274320" indent="-274320">
              <a:lnSpc>
                <a:spcPts val="2940"/>
              </a:lnSpc>
              <a:spcBef>
                <a:spcPts val="9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 and that factor is </a:t>
            </a:r>
            <a:r>
              <a:rPr lang="en-US" sz="2100" b="true">
                <a:solidFill>
                  <a:srgbClr val="111111"/>
                </a:solidFill>
                <a:latin typeface="Nunito Bold"/>
                <a:ea typeface="Nunito Bold"/>
                <a:cs typeface="Nunito Bold"/>
                <a:sym typeface="Nunito Bold"/>
              </a:rPr>
              <a:t>stated in the domain's own terms</a:t>
            </a:r>
            <a:r>
              <a:rPr lang="en-US" sz="2100" b="true">
                <a:solidFill>
                  <a:srgbClr val="111111"/>
                </a:solidFill>
                <a:latin typeface="Nunito Semi-Bold"/>
                <a:ea typeface="Nunito Semi-Bold"/>
                <a:cs typeface="Nunito Semi-Bold"/>
                <a:sym typeface="Nunito Semi-Bold"/>
              </a:rPr>
              <a:t>.</a:t>
            </a:r>
          </a:p>
          <a:p>
            <a:pPr algn="l" marL="274320" indent="-274320">
              <a:lnSpc>
                <a:spcPts val="2940"/>
              </a:lnSpc>
              <a:spcBef>
                <a:spcPts val="9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The domain's own terms: a chemical variable (wine), a pollution indicator (air quality), a preference signal (recommendation), </a:t>
            </a:r>
            <a:r>
              <a:rPr lang="en-US" sz="2100" b="true">
                <a:solidFill>
                  <a:srgbClr val="111111"/>
                </a:solidFill>
                <a:latin typeface="Nunito Bold"/>
                <a:ea typeface="Nunito Bold"/>
                <a:cs typeface="Nunito Bold"/>
                <a:sym typeface="Nunito Bold"/>
              </a:rPr>
              <a:t>not a hidden latent code</a:t>
            </a:r>
            <a:r>
              <a:rPr lang="en-US" sz="2100" b="true">
                <a:solidFill>
                  <a:srgbClr val="111111"/>
                </a:solidFill>
                <a:latin typeface="Nunito Semi-Bold"/>
                <a:ea typeface="Nunito Semi-Bold"/>
                <a:cs typeface="Nunito Semi-Bold"/>
                <a:sym typeface="Nunito Semi-Bold"/>
              </a:rPr>
              <a:t>.</a:t>
            </a:r>
          </a:p>
          <a:p>
            <a:pPr algn="l" marL="274320" indent="-274320">
              <a:lnSpc>
                <a:spcPts val="2940"/>
              </a:lnSpc>
              <a:spcBef>
                <a:spcPts val="90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Why it matters:</a:t>
            </a:r>
            <a:r>
              <a:rPr lang="en-US" sz="2100" b="true">
                <a:solidFill>
                  <a:srgbClr val="111111"/>
                </a:solidFill>
                <a:latin typeface="Nunito Semi-Bold"/>
                <a:ea typeface="Nunito Semi-Bold"/>
                <a:cs typeface="Nunito Semi-Bold"/>
                <a:sym typeface="Nunito Semi-Bold"/>
              </a:rPr>
              <a:t> an explanation that names a changeable driver supports </a:t>
            </a:r>
            <a:r>
              <a:rPr lang="en-US" sz="2100" b="true">
                <a:solidFill>
                  <a:srgbClr val="111111"/>
                </a:solidFill>
                <a:latin typeface="Nunito Bold"/>
                <a:ea typeface="Nunito Bold"/>
                <a:cs typeface="Nunito Bold"/>
                <a:sym typeface="Nunito Bold"/>
              </a:rPr>
              <a:t>action</a:t>
            </a:r>
            <a:r>
              <a:rPr lang="en-US" sz="2100" b="true">
                <a:solidFill>
                  <a:srgbClr val="111111"/>
                </a:solidFill>
                <a:latin typeface="Nunito Semi-Bold"/>
                <a:ea typeface="Nunito Semi-Bold"/>
                <a:cs typeface="Nunito Semi-Bold"/>
                <a:sym typeface="Nunito Semi-Bold"/>
              </a:rPr>
              <a:t>, not only description.</a:t>
            </a:r>
          </a:p>
        </p:txBody>
      </p:sp>
      <p:sp>
        <p:nvSpPr>
          <p:cNvPr id="28" name="TextBox 27"/>
          <p:cNvSpPr txBox="1"/>
          <p:nvPr/>
        </p:nvSpPr>
        <p:spPr>
          <a:xfrm>
            <a:off x="9441180" y="3363722"/>
            <a:ext cx="7818120" cy="365760"/>
          </a:xfrm>
          <a:prstGeom prst="rect">
            <a:avLst/>
          </a:prstGeom>
          <a:noFill/>
        </p:spPr>
        <p:txBody>
          <a:bodyPr anchor="t" rtlCol="false" lIns="0" tIns="0" rIns="0" bIns="0" wrap="square"/>
          <a:lstStyle/>
          <a:p>
            <a:pPr algn="ctr">
              <a:lnSpc>
                <a:spcPts val="1800"/>
              </a:lnSpc>
              <a:spcBef>
                <a:spcPts val="0"/>
              </a:spcBef>
              <a:buNone/>
            </a:pPr>
            <a:r>
              <a:rPr lang="en-US" sz="1400" b="true" spc="160">
                <a:solidFill>
                  <a:srgbClr val="DF8330"/>
                </a:solidFill>
                <a:latin typeface="Nunito Ultra-Bold"/>
                <a:ea typeface="Nunito Ultra-Bold"/>
                <a:cs typeface="Nunito Ultra-Bold"/>
                <a:sym typeface="Nunito Ultra-Bold"/>
              </a:rPr>
              <a:t>FROM EXPLANATION TO ACTION</a:t>
            </a:r>
          </a:p>
        </p:txBody>
      </p:sp>
      <p:sp>
        <p:nvSpPr>
          <p:cNvPr id="29" name="Rounded Rectangle 28"/>
          <p:cNvSpPr/>
          <p:nvPr/>
        </p:nvSpPr>
        <p:spPr>
          <a:xfrm>
            <a:off x="9441180" y="4643882"/>
            <a:ext cx="1600200" cy="1417320"/>
          </a:xfrm>
          <a:prstGeom prst="roundRect">
            <a:avLst>
              <a:gd name="adj" fmla="val 12903"/>
            </a:avLst>
          </a:prstGeom>
          <a:solidFill>
            <a:srgbClr val="124944"/>
          </a:solidFill>
          <a:ln>
            <a:noFill/>
          </a:ln>
        </p:spPr>
        <p:txBody>
          <a:bodyPr anchor="ctr" rtlCol="false" lIns="91440" tIns="45720" rIns="91440" bIns="45720" wrap="square"/>
          <a:lstStyle/>
          <a:p>
            <a:pPr algn="ctr">
              <a:lnSpc>
                <a:spcPts val="1955"/>
              </a:lnSpc>
              <a:spcBef>
                <a:spcPts val="0"/>
              </a:spcBef>
              <a:buNone/>
            </a:pPr>
            <a:r>
              <a:rPr lang="en-US" sz="1700" b="true">
                <a:solidFill>
                  <a:srgbClr val="FFFFFF"/>
                </a:solidFill>
                <a:latin typeface="Nunito Bold"/>
                <a:ea typeface="Nunito Bold"/>
                <a:cs typeface="Nunito Bold"/>
                <a:sym typeface="Nunito Bold"/>
              </a:rPr>
              <a:t>Modifiable factor</a:t>
            </a:r>
          </a:p>
        </p:txBody>
      </p:sp>
      <p:cxnSp>
        <p:nvCxnSpPr>
          <p:cNvPr id="30" name="Connector 29"/>
          <p:cNvCxnSpPr/>
          <p:nvPr/>
        </p:nvCxnSpPr>
        <p:spPr>
          <a:xfrm>
            <a:off x="11087100" y="5352542"/>
            <a:ext cx="381000" cy="0"/>
          </a:xfrm>
          <a:prstGeom prst="line">
            <a:avLst/>
          </a:prstGeom>
          <a:ln w="28575">
            <a:solidFill>
              <a:srgbClr val="124944"/>
            </a:solidFill>
            <a:tailEnd type="triangle" w="med" len="med"/>
          </a:ln>
        </p:spPr>
      </p:cxnSp>
      <p:sp>
        <p:nvSpPr>
          <p:cNvPr id="31" name="Rounded Rectangle 30"/>
          <p:cNvSpPr/>
          <p:nvPr/>
        </p:nvSpPr>
        <p:spPr>
          <a:xfrm>
            <a:off x="11513820" y="4643882"/>
            <a:ext cx="1600200" cy="1417320"/>
          </a:xfrm>
          <a:prstGeom prst="roundRect">
            <a:avLst>
              <a:gd name="adj" fmla="val 12903"/>
            </a:avLst>
          </a:prstGeom>
          <a:solidFill>
            <a:srgbClr val="124944"/>
          </a:solidFill>
          <a:ln>
            <a:noFill/>
          </a:ln>
        </p:spPr>
        <p:txBody>
          <a:bodyPr anchor="ctr" rtlCol="false" lIns="91440" tIns="45720" rIns="91440" bIns="45720" wrap="square"/>
          <a:lstStyle/>
          <a:p>
            <a:pPr algn="ctr">
              <a:lnSpc>
                <a:spcPts val="1955"/>
              </a:lnSpc>
              <a:spcBef>
                <a:spcPts val="0"/>
              </a:spcBef>
              <a:buNone/>
            </a:pPr>
            <a:r>
              <a:rPr lang="en-US" sz="1700" b="true">
                <a:solidFill>
                  <a:srgbClr val="FFFFFF"/>
                </a:solidFill>
                <a:latin typeface="Nunito Bold"/>
                <a:ea typeface="Nunito Bold"/>
                <a:cs typeface="Nunito Bold"/>
                <a:sym typeface="Nunito Bold"/>
              </a:rPr>
              <a:t>Change in model output</a:t>
            </a:r>
          </a:p>
        </p:txBody>
      </p:sp>
      <p:cxnSp>
        <p:nvCxnSpPr>
          <p:cNvPr id="32" name="Connector 31"/>
          <p:cNvCxnSpPr/>
          <p:nvPr/>
        </p:nvCxnSpPr>
        <p:spPr>
          <a:xfrm>
            <a:off x="13159740" y="5352542"/>
            <a:ext cx="381000" cy="0"/>
          </a:xfrm>
          <a:prstGeom prst="line">
            <a:avLst/>
          </a:prstGeom>
          <a:ln w="28575">
            <a:solidFill>
              <a:srgbClr val="124944"/>
            </a:solidFill>
            <a:tailEnd type="triangle" w="med" len="med"/>
          </a:ln>
        </p:spPr>
      </p:cxnSp>
      <p:sp>
        <p:nvSpPr>
          <p:cNvPr id="33" name="Rounded Rectangle 32"/>
          <p:cNvSpPr/>
          <p:nvPr/>
        </p:nvSpPr>
        <p:spPr>
          <a:xfrm>
            <a:off x="13586460" y="4643882"/>
            <a:ext cx="1600200" cy="1417320"/>
          </a:xfrm>
          <a:prstGeom prst="roundRect">
            <a:avLst>
              <a:gd name="adj" fmla="val 12903"/>
            </a:avLst>
          </a:prstGeom>
          <a:solidFill>
            <a:srgbClr val="111111"/>
          </a:solidFill>
          <a:ln>
            <a:noFill/>
          </a:ln>
        </p:spPr>
        <p:txBody>
          <a:bodyPr anchor="ctr" rtlCol="false" lIns="91440" tIns="45720" rIns="91440" bIns="45720" wrap="square"/>
          <a:lstStyle/>
          <a:p>
            <a:pPr algn="ctr">
              <a:lnSpc>
                <a:spcPts val="1955"/>
              </a:lnSpc>
              <a:spcBef>
                <a:spcPts val="0"/>
              </a:spcBef>
              <a:buNone/>
            </a:pPr>
            <a:r>
              <a:rPr lang="en-US" sz="1700" b="true">
                <a:solidFill>
                  <a:srgbClr val="FFFFFF"/>
                </a:solidFill>
                <a:latin typeface="Nunito Bold"/>
                <a:ea typeface="Nunito Bold"/>
                <a:cs typeface="Nunito Bold"/>
                <a:sym typeface="Nunito Bold"/>
              </a:rPr>
              <a:t>Is it actionable?</a:t>
            </a:r>
          </a:p>
        </p:txBody>
      </p:sp>
      <p:cxnSp>
        <p:nvCxnSpPr>
          <p:cNvPr id="34" name="Connector 33"/>
          <p:cNvCxnSpPr/>
          <p:nvPr/>
        </p:nvCxnSpPr>
        <p:spPr>
          <a:xfrm>
            <a:off x="15232380" y="5352542"/>
            <a:ext cx="381000" cy="0"/>
          </a:xfrm>
          <a:prstGeom prst="line">
            <a:avLst/>
          </a:prstGeom>
          <a:ln w="28575">
            <a:solidFill>
              <a:srgbClr val="124944"/>
            </a:solidFill>
            <a:tailEnd type="triangle" w="med" len="med"/>
          </a:ln>
        </p:spPr>
      </p:cxnSp>
      <p:sp>
        <p:nvSpPr>
          <p:cNvPr id="35" name="Rounded Rectangle 34"/>
          <p:cNvSpPr/>
          <p:nvPr/>
        </p:nvSpPr>
        <p:spPr>
          <a:xfrm>
            <a:off x="15659100" y="4643882"/>
            <a:ext cx="1600200" cy="1417320"/>
          </a:xfrm>
          <a:prstGeom prst="roundRect">
            <a:avLst>
              <a:gd name="adj" fmla="val 12903"/>
            </a:avLst>
          </a:prstGeom>
          <a:solidFill>
            <a:srgbClr val="DF8330"/>
          </a:solidFill>
          <a:ln>
            <a:noFill/>
          </a:ln>
        </p:spPr>
        <p:txBody>
          <a:bodyPr anchor="ctr" rtlCol="false" lIns="91440" tIns="45720" rIns="91440" bIns="45720" wrap="square"/>
          <a:lstStyle/>
          <a:p>
            <a:pPr algn="ctr">
              <a:lnSpc>
                <a:spcPts val="1955"/>
              </a:lnSpc>
              <a:spcBef>
                <a:spcPts val="0"/>
              </a:spcBef>
              <a:buNone/>
            </a:pPr>
            <a:r>
              <a:rPr lang="en-US" sz="1700" b="true">
                <a:solidFill>
                  <a:srgbClr val="FFFFFF"/>
                </a:solidFill>
                <a:latin typeface="Nunito Bold"/>
                <a:ea typeface="Nunito Bold"/>
                <a:cs typeface="Nunito Bold"/>
                <a:sym typeface="Nunito Bold"/>
              </a:rPr>
              <a:t>Action lever</a:t>
            </a:r>
          </a:p>
        </p:txBody>
      </p:sp>
      <p:cxnSp>
        <p:nvCxnSpPr>
          <p:cNvPr id="36" name="Connector 35"/>
          <p:cNvCxnSpPr/>
          <p:nvPr/>
        </p:nvCxnSpPr>
        <p:spPr>
          <a:xfrm>
            <a:off x="10241280" y="6106922"/>
            <a:ext cx="0" cy="365760"/>
          </a:xfrm>
          <a:prstGeom prst="line">
            <a:avLst/>
          </a:prstGeom>
          <a:ln w="28575">
            <a:solidFill>
              <a:srgbClr val="DF8330"/>
            </a:solidFill>
          </a:ln>
        </p:spPr>
      </p:cxnSp>
      <p:cxnSp>
        <p:nvCxnSpPr>
          <p:cNvPr id="37" name="Connector 36"/>
          <p:cNvCxnSpPr/>
          <p:nvPr/>
        </p:nvCxnSpPr>
        <p:spPr>
          <a:xfrm>
            <a:off x="10241280" y="6472682"/>
            <a:ext cx="6217920" cy="0"/>
          </a:xfrm>
          <a:prstGeom prst="line">
            <a:avLst/>
          </a:prstGeom>
          <a:ln w="28575">
            <a:solidFill>
              <a:srgbClr val="DF8330"/>
            </a:solidFill>
            <a:prstDash val="dash"/>
          </a:ln>
        </p:spPr>
      </p:cxnSp>
      <p:cxnSp>
        <p:nvCxnSpPr>
          <p:cNvPr id="38" name="Connector 37"/>
          <p:cNvCxnSpPr/>
          <p:nvPr/>
        </p:nvCxnSpPr>
        <p:spPr>
          <a:xfrm>
            <a:off x="16459200" y="6106922"/>
            <a:ext cx="0" cy="365760"/>
          </a:xfrm>
          <a:prstGeom prst="line">
            <a:avLst/>
          </a:prstGeom>
          <a:ln w="28575">
            <a:solidFill>
              <a:srgbClr val="DF8330"/>
            </a:solidFill>
          </a:ln>
        </p:spPr>
      </p:cxnSp>
      <p:sp>
        <p:nvSpPr>
          <p:cNvPr id="39" name="TextBox 38"/>
          <p:cNvSpPr txBox="1"/>
          <p:nvPr/>
        </p:nvSpPr>
        <p:spPr>
          <a:xfrm>
            <a:off x="9441180" y="6655562"/>
            <a:ext cx="7818120" cy="731520"/>
          </a:xfrm>
          <a:prstGeom prst="rect">
            <a:avLst/>
          </a:prstGeom>
          <a:noFill/>
        </p:spPr>
        <p:txBody>
          <a:bodyPr anchor="t" rtlCol="false" lIns="0" tIns="0" rIns="0" bIns="0" wrap="square"/>
          <a:lstStyle/>
          <a:p>
            <a:pPr algn="ctr">
              <a:lnSpc>
                <a:spcPts val="2300"/>
              </a:lnSpc>
              <a:spcBef>
                <a:spcPts val="0"/>
              </a:spcBef>
              <a:buNone/>
            </a:pPr>
            <a:r>
              <a:rPr lang="en-US" sz="1800" b="true">
                <a:solidFill>
                  <a:srgbClr val="DF8330"/>
                </a:solidFill>
                <a:latin typeface="Nunito Bold"/>
                <a:ea typeface="Nunito Bold"/>
                <a:cs typeface="Nunito Bold"/>
                <a:sym typeface="Nunito Bold"/>
              </a:rPr>
              <a:t>Actionable</a:t>
            </a:r>
            <a:r>
              <a:rPr lang="en-US" sz="1800" b="true">
                <a:solidFill>
                  <a:srgbClr val="DF8330"/>
                </a:solidFill>
                <a:latin typeface="Nunito Semi-Bold"/>
                <a:ea typeface="Nunito Semi-Bold"/>
                <a:cs typeface="Nunito Semi-Bold"/>
                <a:sym typeface="Nunito Semi-Bold"/>
              </a:rPr>
              <a:t> = a real-world lever you can pull to change the outcome</a:t>
            </a:r>
          </a:p>
        </p:txBody>
      </p:sp>
      <p:sp>
        <p:nvSpPr>
          <p:cNvPr id="40" name="Rounded Rectangle 39"/>
          <p:cNvSpPr/>
          <p:nvPr/>
        </p:nvSpPr>
        <p:spPr>
          <a:xfrm>
            <a:off x="9441180" y="7615682"/>
            <a:ext cx="2484120" cy="1234440"/>
          </a:xfrm>
          <a:prstGeom prst="roundRect">
            <a:avLst>
              <a:gd name="adj" fmla="val 14814"/>
            </a:avLst>
          </a:prstGeom>
          <a:solidFill>
            <a:srgbClr val="F6ECDF"/>
          </a:solidFill>
          <a:ln>
            <a:noFill/>
          </a:ln>
        </p:spPr>
        <p:txBody>
          <a:bodyPr anchor="ctr" rtlCol="false" lIns="91440" tIns="45720" rIns="91440" bIns="45720" wrap="square"/>
          <a:lstStyle/>
          <a:p>
            <a:pPr algn="ctr">
              <a:lnSpc>
                <a:spcPts val="2070"/>
              </a:lnSpc>
              <a:spcBef>
                <a:spcPts val="0"/>
              </a:spcBef>
              <a:buNone/>
            </a:pPr>
            <a:r>
              <a:rPr lang="en-US" sz="1800" b="true">
                <a:solidFill>
                  <a:srgbClr val="111111"/>
                </a:solidFill>
                <a:latin typeface="Nunito Bold"/>
                <a:ea typeface="Nunito Bold"/>
                <a:cs typeface="Nunito Bold"/>
                <a:sym typeface="Nunito Bold"/>
              </a:rPr>
              <a:t>Wine</a:t>
            </a:r>
          </a:p>
          <a:p>
            <a:pPr algn="ctr">
              <a:lnSpc>
                <a:spcPts val="1680"/>
              </a:lnSpc>
              <a:spcBef>
                <a:spcPts val="300"/>
              </a:spcBef>
              <a:buNone/>
            </a:pPr>
            <a:r>
              <a:rPr lang="en-US" sz="1400" b="true">
                <a:solidFill>
                  <a:srgbClr val="8A8378"/>
                </a:solidFill>
                <a:latin typeface="Nunito Semi-Bold"/>
                <a:ea typeface="Nunito Semi-Bold"/>
                <a:cs typeface="Nunito Semi-Bold"/>
                <a:sym typeface="Nunito Semi-Bold"/>
              </a:rPr>
              <a:t>density · pH · acidity</a:t>
            </a:r>
          </a:p>
        </p:txBody>
      </p:sp>
      <p:sp>
        <p:nvSpPr>
          <p:cNvPr id="41" name="Rounded Rectangle 40"/>
          <p:cNvSpPr/>
          <p:nvPr/>
        </p:nvSpPr>
        <p:spPr>
          <a:xfrm>
            <a:off x="12108180" y="7615682"/>
            <a:ext cx="2484120" cy="1234440"/>
          </a:xfrm>
          <a:prstGeom prst="roundRect">
            <a:avLst>
              <a:gd name="adj" fmla="val 14814"/>
            </a:avLst>
          </a:prstGeom>
          <a:solidFill>
            <a:srgbClr val="F6ECDF"/>
          </a:solidFill>
          <a:ln>
            <a:noFill/>
          </a:ln>
        </p:spPr>
        <p:txBody>
          <a:bodyPr anchor="ctr" rtlCol="false" lIns="91440" tIns="45720" rIns="91440" bIns="45720" wrap="square"/>
          <a:lstStyle/>
          <a:p>
            <a:pPr algn="ctr">
              <a:lnSpc>
                <a:spcPts val="2070"/>
              </a:lnSpc>
              <a:spcBef>
                <a:spcPts val="0"/>
              </a:spcBef>
              <a:buNone/>
            </a:pPr>
            <a:r>
              <a:rPr lang="en-US" sz="1800" b="true">
                <a:solidFill>
                  <a:srgbClr val="111111"/>
                </a:solidFill>
                <a:latin typeface="Nunito Bold"/>
                <a:ea typeface="Nunito Bold"/>
                <a:cs typeface="Nunito Bold"/>
                <a:sym typeface="Nunito Bold"/>
              </a:rPr>
              <a:t>Air quality</a:t>
            </a:r>
          </a:p>
          <a:p>
            <a:pPr algn="ctr">
              <a:lnSpc>
                <a:spcPts val="1680"/>
              </a:lnSpc>
              <a:spcBef>
                <a:spcPts val="300"/>
              </a:spcBef>
              <a:buNone/>
            </a:pPr>
            <a:r>
              <a:rPr lang="en-US" sz="1400" b="true">
                <a:solidFill>
                  <a:srgbClr val="8A8378"/>
                </a:solidFill>
                <a:latin typeface="Nunito Semi-Bold"/>
                <a:ea typeface="Nunito Semi-Bold"/>
                <a:cs typeface="Nunito Semi-Bold"/>
                <a:sym typeface="Nunito Semi-Bold"/>
              </a:rPr>
              <a:t>PM2.5 · CO · temperature</a:t>
            </a:r>
          </a:p>
        </p:txBody>
      </p:sp>
      <p:sp>
        <p:nvSpPr>
          <p:cNvPr id="42" name="Rounded Rectangle 41"/>
          <p:cNvSpPr/>
          <p:nvPr/>
        </p:nvSpPr>
        <p:spPr>
          <a:xfrm>
            <a:off x="14775180" y="7615682"/>
            <a:ext cx="2484120" cy="1234440"/>
          </a:xfrm>
          <a:prstGeom prst="roundRect">
            <a:avLst>
              <a:gd name="adj" fmla="val 14814"/>
            </a:avLst>
          </a:prstGeom>
          <a:solidFill>
            <a:srgbClr val="F6ECDF"/>
          </a:solidFill>
          <a:ln>
            <a:noFill/>
          </a:ln>
        </p:spPr>
        <p:txBody>
          <a:bodyPr anchor="ctr" rtlCol="false" lIns="91440" tIns="45720" rIns="91440" bIns="45720" wrap="square"/>
          <a:lstStyle/>
          <a:p>
            <a:pPr algn="ctr">
              <a:lnSpc>
                <a:spcPts val="2070"/>
              </a:lnSpc>
              <a:spcBef>
                <a:spcPts val="0"/>
              </a:spcBef>
              <a:buNone/>
            </a:pPr>
            <a:r>
              <a:rPr lang="en-US" sz="1800" b="true">
                <a:solidFill>
                  <a:srgbClr val="111111"/>
                </a:solidFill>
                <a:latin typeface="Nunito Bold"/>
                <a:ea typeface="Nunito Bold"/>
                <a:cs typeface="Nunito Bold"/>
                <a:sym typeface="Nunito Bold"/>
              </a:rPr>
              <a:t>Recommendation</a:t>
            </a:r>
          </a:p>
          <a:p>
            <a:pPr algn="ctr">
              <a:lnSpc>
                <a:spcPts val="1680"/>
              </a:lnSpc>
              <a:spcBef>
                <a:spcPts val="300"/>
              </a:spcBef>
              <a:buNone/>
            </a:pPr>
            <a:r>
              <a:rPr lang="en-US" sz="1400" b="true">
                <a:solidFill>
                  <a:srgbClr val="8A8378"/>
                </a:solidFill>
                <a:latin typeface="Nunito Semi-Bold"/>
                <a:ea typeface="Nunito Semi-Bold"/>
                <a:cs typeface="Nunito Semi-Bold"/>
                <a:sym typeface="Nunito Semi-Bold"/>
              </a:rPr>
              <a:t>preference · context · diversity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[10] Koren, Y., Bell, R. &amp; Volinsky, C. Matrix Factorization Techniques for Recommender Systems. Computer 42(8), 30–37 (2009).   [12] He, X. et al. LightGCN: Simplifying and Powering Graph Convolution Network for Recommendation. SIGIR, 639–648 (2020).   [16] Feng, Y. et al. Hypergraph Neural Networks. AAAI 33, 3558–3565 (2019).   [26] European Union. Regulation (EU) 2024/1689 (AI Act), Art. 13 (2024).  ·  Regulation (EU) 2016/679 (GDPR), Art. 22 (2016).  ·  OECD. Recommendation of the Council on Artificial Intelligence (2019).</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06</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INTRODUCTION</a:t>
            </a:r>
          </a:p>
        </p:txBody>
      </p:sp>
      <p:sp>
        <p:nvSpPr>
          <p:cNvPr id="8" name="Rounded Rectangle 7"/>
          <p:cNvSpPr/>
          <p:nvPr/>
        </p:nvSpPr>
        <p:spPr>
          <a:xfrm>
            <a:off x="1451610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Research Context</a:t>
            </a:r>
          </a:p>
        </p:txBody>
      </p:sp>
      <p:pic>
        <p:nvPicPr>
          <p:cNvPr id="23" name="Picture 22" descr="image.png"/>
          <p:cNvPicPr>
            <a:picLocks noChangeAspect="1"/>
          </p:cNvPicPr>
          <p:nvPr/>
        </p:nvPicPr>
        <p:blipFill>
          <a:blip r:embed="rId3"/>
          <a:stretch>
            <a:fillRect/>
          </a:stretch>
        </p:blipFill>
        <p:spPr>
          <a:xfrm>
            <a:off x="5880294" y="1673352"/>
            <a:ext cx="457200" cy="452148"/>
          </a:xfrm>
          <a:prstGeom prst="rect">
            <a:avLst/>
          </a:prstGeom>
        </p:spPr>
      </p:pic>
      <p:sp>
        <p:nvSpPr>
          <p:cNvPr id="24" name="Rounded Rectangle 23"/>
          <p:cNvSpPr/>
          <p:nvPr/>
        </p:nvSpPr>
        <p:spPr>
          <a:xfrm>
            <a:off x="1028700" y="2559050"/>
            <a:ext cx="1715805"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Motivation</a:t>
            </a:r>
          </a:p>
        </p:txBody>
      </p:sp>
      <p:sp>
        <p:nvSpPr>
          <p:cNvPr id="25" name="Rounded Rectangle 24"/>
          <p:cNvSpPr/>
          <p:nvPr/>
        </p:nvSpPr>
        <p:spPr>
          <a:xfrm>
            <a:off x="2872521" y="2559050"/>
            <a:ext cx="254485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Actionable Insight</a:t>
            </a:r>
          </a:p>
        </p:txBody>
      </p:sp>
      <p:sp>
        <p:nvSpPr>
          <p:cNvPr id="26" name="Rounded Rectangle 25"/>
          <p:cNvSpPr/>
          <p:nvPr/>
        </p:nvSpPr>
        <p:spPr>
          <a:xfrm>
            <a:off x="5545389" y="2559050"/>
            <a:ext cx="2484575"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Research Context</a:t>
            </a:r>
          </a:p>
        </p:txBody>
      </p:sp>
      <p:sp>
        <p:nvSpPr>
          <p:cNvPr id="27" name="TextBox 26"/>
          <p:cNvSpPr txBox="1"/>
          <p:nvPr/>
        </p:nvSpPr>
        <p:spPr>
          <a:xfrm>
            <a:off x="1028700" y="3363722"/>
            <a:ext cx="16230600" cy="365760"/>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DF8330"/>
                </a:solidFill>
                <a:latin typeface="Nunito Ultra-Bold"/>
                <a:ea typeface="Nunito Ultra-Bold"/>
                <a:cs typeface="Nunito Ultra-Bold"/>
                <a:sym typeface="Nunito Ultra-Bold"/>
              </a:rPr>
              <a:t>EVOLUTION OF RECOMMENDER SYSTEMS</a:t>
            </a:r>
          </a:p>
        </p:txBody>
      </p:sp>
      <p:sp>
        <p:nvSpPr>
          <p:cNvPr id="28" name="Rounded Rectangle 27"/>
          <p:cNvSpPr/>
          <p:nvPr/>
        </p:nvSpPr>
        <p:spPr>
          <a:xfrm>
            <a:off x="1028700" y="3866642"/>
            <a:ext cx="2331720" cy="1143000"/>
          </a:xfrm>
          <a:prstGeom prst="roundRect">
            <a:avLst>
              <a:gd name="adj" fmla="val 16000"/>
            </a:avLst>
          </a:prstGeom>
          <a:solidFill>
            <a:srgbClr val="124944"/>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Similarity models</a:t>
            </a:r>
          </a:p>
          <a:p>
            <a:pPr algn="ctr">
              <a:lnSpc>
                <a:spcPts val="1680"/>
              </a:lnSpc>
              <a:spcBef>
                <a:spcPts val="300"/>
              </a:spcBef>
              <a:buNone/>
            </a:pPr>
            <a:r>
              <a:rPr lang="en-US" sz="1400" b="true">
                <a:solidFill>
                  <a:srgbClr val="FFFFFF"/>
                </a:solidFill>
                <a:latin typeface="Nunito Semi-Bold"/>
                <a:ea typeface="Nunito Semi-Bold"/>
                <a:cs typeface="Nunito Semi-Bold"/>
                <a:sym typeface="Nunito Semi-Bold"/>
              </a:rPr>
              <a:t>2003–09</a:t>
            </a:r>
          </a:p>
        </p:txBody>
      </p:sp>
      <p:cxnSp>
        <p:nvCxnSpPr>
          <p:cNvPr id="29" name="Connector 28"/>
          <p:cNvCxnSpPr/>
          <p:nvPr/>
        </p:nvCxnSpPr>
        <p:spPr>
          <a:xfrm>
            <a:off x="3415284" y="4438142"/>
            <a:ext cx="1033272" cy="0"/>
          </a:xfrm>
          <a:prstGeom prst="line">
            <a:avLst/>
          </a:prstGeom>
          <a:ln w="28575">
            <a:solidFill>
              <a:srgbClr val="124944"/>
            </a:solidFill>
            <a:tailEnd type="triangle" w="med" len="med"/>
          </a:ln>
        </p:spPr>
      </p:cxnSp>
      <p:sp>
        <p:nvSpPr>
          <p:cNvPr id="30" name="Rounded Rectangle 29"/>
          <p:cNvSpPr/>
          <p:nvPr/>
        </p:nvSpPr>
        <p:spPr>
          <a:xfrm>
            <a:off x="4503420" y="3866642"/>
            <a:ext cx="2331720" cy="1143000"/>
          </a:xfrm>
          <a:prstGeom prst="roundRect">
            <a:avLst>
              <a:gd name="adj" fmla="val 16000"/>
            </a:avLst>
          </a:prstGeom>
          <a:solidFill>
            <a:srgbClr val="124944"/>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Matrix factorisation</a:t>
            </a:r>
          </a:p>
          <a:p>
            <a:pPr algn="ctr">
              <a:lnSpc>
                <a:spcPts val="1680"/>
              </a:lnSpc>
              <a:spcBef>
                <a:spcPts val="300"/>
              </a:spcBef>
              <a:buNone/>
            </a:pPr>
            <a:r>
              <a:rPr lang="en-US" sz="1400" b="true">
                <a:solidFill>
                  <a:srgbClr val="FFFFFF"/>
                </a:solidFill>
                <a:latin typeface="Nunito Semi-Bold"/>
                <a:ea typeface="Nunito Semi-Bold"/>
                <a:cs typeface="Nunito Semi-Bold"/>
                <a:sym typeface="Nunito Semi-Bold"/>
              </a:rPr>
              <a:t>2009–13</a:t>
            </a:r>
          </a:p>
        </p:txBody>
      </p:sp>
      <p:cxnSp>
        <p:nvCxnSpPr>
          <p:cNvPr id="31" name="Connector 30"/>
          <p:cNvCxnSpPr/>
          <p:nvPr/>
        </p:nvCxnSpPr>
        <p:spPr>
          <a:xfrm>
            <a:off x="6890004" y="4438142"/>
            <a:ext cx="1033272" cy="0"/>
          </a:xfrm>
          <a:prstGeom prst="line">
            <a:avLst/>
          </a:prstGeom>
          <a:ln w="28575">
            <a:solidFill>
              <a:srgbClr val="124944"/>
            </a:solidFill>
            <a:tailEnd type="triangle" w="med" len="med"/>
          </a:ln>
        </p:spPr>
      </p:cxnSp>
      <p:sp>
        <p:nvSpPr>
          <p:cNvPr id="32" name="Rounded Rectangle 31"/>
          <p:cNvSpPr/>
          <p:nvPr/>
        </p:nvSpPr>
        <p:spPr>
          <a:xfrm>
            <a:off x="7978140" y="3866642"/>
            <a:ext cx="2331720" cy="1143000"/>
          </a:xfrm>
          <a:prstGeom prst="roundRect">
            <a:avLst>
              <a:gd name="adj" fmla="val 16000"/>
            </a:avLst>
          </a:prstGeom>
          <a:solidFill>
            <a:srgbClr val="124944"/>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Neural CF</a:t>
            </a:r>
          </a:p>
          <a:p>
            <a:pPr algn="ctr">
              <a:lnSpc>
                <a:spcPts val="1680"/>
              </a:lnSpc>
              <a:spcBef>
                <a:spcPts val="300"/>
              </a:spcBef>
              <a:buNone/>
            </a:pPr>
            <a:r>
              <a:rPr lang="en-US" sz="1400" b="true">
                <a:solidFill>
                  <a:srgbClr val="FFFFFF"/>
                </a:solidFill>
                <a:latin typeface="Nunito Semi-Bold"/>
                <a:ea typeface="Nunito Semi-Bold"/>
                <a:cs typeface="Nunito Semi-Bold"/>
                <a:sym typeface="Nunito Semi-Bold"/>
              </a:rPr>
              <a:t>2016–19</a:t>
            </a:r>
          </a:p>
        </p:txBody>
      </p:sp>
      <p:cxnSp>
        <p:nvCxnSpPr>
          <p:cNvPr id="33" name="Connector 32"/>
          <p:cNvCxnSpPr/>
          <p:nvPr/>
        </p:nvCxnSpPr>
        <p:spPr>
          <a:xfrm>
            <a:off x="10364724" y="4438142"/>
            <a:ext cx="1033272" cy="0"/>
          </a:xfrm>
          <a:prstGeom prst="line">
            <a:avLst/>
          </a:prstGeom>
          <a:ln w="28575">
            <a:solidFill>
              <a:srgbClr val="124944"/>
            </a:solidFill>
            <a:tailEnd type="triangle" w="med" len="med"/>
          </a:ln>
        </p:spPr>
      </p:cxnSp>
      <p:sp>
        <p:nvSpPr>
          <p:cNvPr id="34" name="Rounded Rectangle 33"/>
          <p:cNvSpPr/>
          <p:nvPr/>
        </p:nvSpPr>
        <p:spPr>
          <a:xfrm>
            <a:off x="11452860" y="3866642"/>
            <a:ext cx="2331720" cy="1143000"/>
          </a:xfrm>
          <a:prstGeom prst="roundRect">
            <a:avLst>
              <a:gd name="adj" fmla="val 16000"/>
            </a:avLst>
          </a:prstGeom>
          <a:solidFill>
            <a:srgbClr val="124944"/>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Graph CNN</a:t>
            </a:r>
          </a:p>
          <a:p>
            <a:pPr algn="ctr">
              <a:lnSpc>
                <a:spcPts val="1680"/>
              </a:lnSpc>
              <a:spcBef>
                <a:spcPts val="300"/>
              </a:spcBef>
              <a:buNone/>
            </a:pPr>
            <a:r>
              <a:rPr lang="en-US" sz="1400" b="true">
                <a:solidFill>
                  <a:srgbClr val="FFFFFF"/>
                </a:solidFill>
                <a:latin typeface="Nunito Semi-Bold"/>
                <a:ea typeface="Nunito Semi-Bold"/>
                <a:cs typeface="Nunito Semi-Bold"/>
                <a:sym typeface="Nunito Semi-Bold"/>
              </a:rPr>
              <a:t>2018–22</a:t>
            </a:r>
          </a:p>
        </p:txBody>
      </p:sp>
      <p:cxnSp>
        <p:nvCxnSpPr>
          <p:cNvPr id="35" name="Connector 34"/>
          <p:cNvCxnSpPr/>
          <p:nvPr/>
        </p:nvCxnSpPr>
        <p:spPr>
          <a:xfrm>
            <a:off x="13839444" y="4438142"/>
            <a:ext cx="1033272" cy="0"/>
          </a:xfrm>
          <a:prstGeom prst="line">
            <a:avLst/>
          </a:prstGeom>
          <a:ln w="28575">
            <a:solidFill>
              <a:srgbClr val="124944"/>
            </a:solidFill>
            <a:tailEnd type="triangle" w="med" len="med"/>
          </a:ln>
        </p:spPr>
      </p:cxnSp>
      <p:sp>
        <p:nvSpPr>
          <p:cNvPr id="36" name="Rounded Rectangle 35"/>
          <p:cNvSpPr/>
          <p:nvPr/>
        </p:nvSpPr>
        <p:spPr>
          <a:xfrm>
            <a:off x="14927580" y="3866642"/>
            <a:ext cx="2331720" cy="1143000"/>
          </a:xfrm>
          <a:prstGeom prst="roundRect">
            <a:avLst>
              <a:gd name="adj" fmla="val 16000"/>
            </a:avLst>
          </a:prstGeom>
          <a:solidFill>
            <a:srgbClr val="DF8330"/>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Hypergraph</a:t>
            </a:r>
          </a:p>
          <a:p>
            <a:pPr algn="ctr">
              <a:lnSpc>
                <a:spcPts val="1680"/>
              </a:lnSpc>
              <a:spcBef>
                <a:spcPts val="300"/>
              </a:spcBef>
              <a:buNone/>
            </a:pPr>
            <a:r>
              <a:rPr lang="en-US" sz="1400" b="true">
                <a:solidFill>
                  <a:srgbClr val="FFFFFF"/>
                </a:solidFill>
                <a:latin typeface="Nunito Semi-Bold"/>
                <a:ea typeface="Nunito Semi-Bold"/>
                <a:cs typeface="Nunito Semi-Bold"/>
                <a:sym typeface="Nunito Semi-Bold"/>
              </a:rPr>
              <a:t>2022+</a:t>
            </a:r>
          </a:p>
        </p:txBody>
      </p:sp>
      <p:cxnSp>
        <p:nvCxnSpPr>
          <p:cNvPr id="37" name="Connector 36"/>
          <p:cNvCxnSpPr/>
          <p:nvPr/>
        </p:nvCxnSpPr>
        <p:spPr>
          <a:xfrm>
            <a:off x="1028700" y="5283962"/>
            <a:ext cx="16230600" cy="0"/>
          </a:xfrm>
          <a:prstGeom prst="line">
            <a:avLst/>
          </a:prstGeom>
          <a:ln w="50800">
            <a:solidFill>
              <a:srgbClr val="DF8330"/>
            </a:solidFill>
            <a:tailEnd type="triangle" w="med" len="med"/>
          </a:ln>
        </p:spPr>
      </p:cxnSp>
      <p:sp>
        <p:nvSpPr>
          <p:cNvPr id="38" name="TextBox 37"/>
          <p:cNvSpPr txBox="1"/>
          <p:nvPr/>
        </p:nvSpPr>
        <p:spPr>
          <a:xfrm>
            <a:off x="1028700" y="5375402"/>
            <a:ext cx="16230600" cy="365760"/>
          </a:xfrm>
          <a:prstGeom prst="rect">
            <a:avLst/>
          </a:prstGeom>
          <a:noFill/>
        </p:spPr>
        <p:txBody>
          <a:bodyPr anchor="t" rtlCol="false" lIns="0" tIns="0" rIns="0" bIns="0" wrap="square"/>
          <a:lstStyle/>
          <a:p>
            <a:pPr algn="ctr">
              <a:lnSpc>
                <a:spcPts val="2300"/>
              </a:lnSpc>
              <a:spcBef>
                <a:spcPts val="0"/>
              </a:spcBef>
              <a:buNone/>
            </a:pPr>
            <a:r>
              <a:rPr lang="en-US" sz="1800" b="true">
                <a:solidFill>
                  <a:srgbClr val="DF8330"/>
                </a:solidFill>
                <a:latin typeface="Nunito Bold"/>
                <a:ea typeface="Nunito Bold"/>
                <a:cs typeface="Nunito Bold"/>
                <a:sym typeface="Nunito Bold"/>
              </a:rPr>
              <a:t>The interpretability gap grows:</a:t>
            </a:r>
            <a:r>
              <a:rPr lang="en-US" sz="1800" b="true">
                <a:solidFill>
                  <a:srgbClr val="DF8330"/>
                </a:solidFill>
                <a:latin typeface="Nunito Semi-Bold"/>
                <a:ea typeface="Nunito Semi-Bold"/>
                <a:cs typeface="Nunito Semi-Bold"/>
                <a:sym typeface="Nunito Semi-Bold"/>
              </a:rPr>
              <a:t> each step improved ranking, but replaced a hidden latent code with a hidden message-passing mechanism. Neither can be acted on.</a:t>
            </a:r>
          </a:p>
        </p:txBody>
      </p:sp>
      <p:sp>
        <p:nvSpPr>
          <p:cNvPr id="39" name="Rounded Rectangle 38"/>
          <p:cNvSpPr/>
          <p:nvPr/>
        </p:nvSpPr>
        <p:spPr>
          <a:xfrm>
            <a:off x="1028700" y="6289802"/>
            <a:ext cx="7932420" cy="3110230"/>
          </a:xfrm>
          <a:prstGeom prst="roundRect">
            <a:avLst>
              <a:gd name="adj" fmla="val 9995"/>
            </a:avLst>
          </a:prstGeom>
          <a:solidFill>
            <a:srgbClr val="124944"/>
          </a:solidFill>
          <a:ln>
            <a:noFill/>
          </a:ln>
        </p:spPr>
        <p:txBody>
          <a:bodyPr anchor="ctr" rtlCol="false" lIns="0" tIns="0" rIns="0" bIns="0" wrap="square"/>
          <a:lstStyle/>
          <a:p>
            <a:endParaRPr lang="en-US" sz="1800"/>
          </a:p>
        </p:txBody>
      </p:sp>
      <p:sp>
        <p:nvSpPr>
          <p:cNvPr id="40" name="Rounded Rectangle 39"/>
          <p:cNvSpPr/>
          <p:nvPr/>
        </p:nvSpPr>
        <p:spPr>
          <a:xfrm>
            <a:off x="1485900" y="6052058"/>
            <a:ext cx="3511150"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Why the gap matters</a:t>
            </a:r>
          </a:p>
        </p:txBody>
      </p:sp>
      <p:sp>
        <p:nvSpPr>
          <p:cNvPr id="41" name="TextBox 40"/>
          <p:cNvSpPr txBox="1"/>
          <p:nvPr/>
        </p:nvSpPr>
        <p:spPr>
          <a:xfrm>
            <a:off x="1485900" y="6884162"/>
            <a:ext cx="7063740" cy="2241550"/>
          </a:xfrm>
          <a:prstGeom prst="rect">
            <a:avLst/>
          </a:prstGeom>
          <a:noFill/>
        </p:spPr>
        <p:txBody>
          <a:bodyPr anchor="t" rtlCol="false" lIns="0" tIns="0" rIns="0" bIns="0" wrap="square"/>
          <a:lstStyle/>
          <a:p>
            <a:pPr algn="l" marL="274320" indent="-274320">
              <a:lnSpc>
                <a:spcPts val="2580"/>
              </a:lnSpc>
              <a:spcBef>
                <a:spcPts val="0"/>
              </a:spcBef>
              <a:buClr>
                <a:srgbClr val="ECC665"/>
              </a:buClr>
              <a:buSzPct val="100000"/>
              <a:buFont typeface="Arial"/>
              <a:buChar char="•"/>
            </a:pPr>
            <a:r>
              <a:rPr lang="en-US" sz="1843" b="true">
                <a:solidFill>
                  <a:srgbClr val="FFFFFF"/>
                </a:solidFill>
                <a:latin typeface="Nunito Bold"/>
                <a:ea typeface="Nunito Bold"/>
                <a:cs typeface="Nunito Bold"/>
                <a:sym typeface="Nunito Bold"/>
              </a:rPr>
              <a:t>Weakens user trust:</a:t>
            </a:r>
            <a:r>
              <a:rPr lang="en-US" sz="1843" b="true">
                <a:solidFill>
                  <a:srgbClr val="FFFFFF"/>
                </a:solidFill>
                <a:latin typeface="Nunito Semi-Bold"/>
                <a:ea typeface="Nunito Semi-Bold"/>
                <a:cs typeface="Nunito Semi-Bold"/>
                <a:sym typeface="Nunito Semi-Bold"/>
              </a:rPr>
              <a:t> users see outputs without knowing why.</a:t>
            </a:r>
          </a:p>
          <a:p>
            <a:pPr algn="l" marL="274320" indent="-274320">
              <a:lnSpc>
                <a:spcPts val="2580"/>
              </a:lnSpc>
              <a:spcBef>
                <a:spcPts val="582"/>
              </a:spcBef>
              <a:buClr>
                <a:srgbClr val="ECC665"/>
              </a:buClr>
              <a:buSzPct val="100000"/>
              <a:buFont typeface="Arial"/>
              <a:buChar char="•"/>
            </a:pPr>
            <a:r>
              <a:rPr lang="en-US" sz="1843" b="true">
                <a:solidFill>
                  <a:srgbClr val="FFFFFF"/>
                </a:solidFill>
                <a:latin typeface="Nunito Bold"/>
                <a:ea typeface="Nunito Bold"/>
                <a:cs typeface="Nunito Bold"/>
                <a:sym typeface="Nunito Bold"/>
              </a:rPr>
              <a:t>Limits debugging</a:t>
            </a:r>
            <a:r>
              <a:rPr lang="en-US" sz="1843" b="true">
                <a:solidFill>
                  <a:srgbClr val="FFFFFF"/>
                </a:solidFill>
                <a:latin typeface="Nunito Semi-Bold"/>
                <a:ea typeface="Nunito Semi-Bold"/>
                <a:cs typeface="Nunito Semi-Bold"/>
                <a:sym typeface="Nunito Semi-Bold"/>
              </a:rPr>
              <a:t> and scientific learning.</a:t>
            </a:r>
          </a:p>
          <a:p>
            <a:pPr algn="l" marL="274320" indent="-274320">
              <a:lnSpc>
                <a:spcPts val="2580"/>
              </a:lnSpc>
              <a:spcBef>
                <a:spcPts val="582"/>
              </a:spcBef>
              <a:buClr>
                <a:srgbClr val="ECC665"/>
              </a:buClr>
              <a:buSzPct val="100000"/>
              <a:buFont typeface="Arial"/>
              <a:buChar char="•"/>
            </a:pPr>
            <a:r>
              <a:rPr lang="en-US" sz="1843" b="true">
                <a:solidFill>
                  <a:srgbClr val="FFFFFF"/>
                </a:solidFill>
                <a:latin typeface="Nunito Bold"/>
                <a:ea typeface="Nunito Bold"/>
                <a:cs typeface="Nunito Bold"/>
                <a:sym typeface="Nunito Bold"/>
              </a:rPr>
              <a:t>Conflicts with regulation:</a:t>
            </a:r>
            <a:r>
              <a:rPr lang="en-US" sz="1843" b="true">
                <a:solidFill>
                  <a:srgbClr val="FFFFFF"/>
                </a:solidFill>
                <a:latin typeface="Nunito Semi-Bold"/>
                <a:ea typeface="Nunito Semi-Bold"/>
                <a:cs typeface="Nunito Semi-Bold"/>
                <a:sym typeface="Nunito Semi-Bold"/>
              </a:rPr>
              <a:t> EU AI Act, OECD principles, GDPR.</a:t>
            </a:r>
          </a:p>
          <a:p>
            <a:pPr algn="l" marL="274320" indent="-274320">
              <a:lnSpc>
                <a:spcPts val="2580"/>
              </a:lnSpc>
              <a:spcBef>
                <a:spcPts val="582"/>
              </a:spcBef>
              <a:buClr>
                <a:srgbClr val="ECC665"/>
              </a:buClr>
              <a:buSzPct val="100000"/>
              <a:buFont typeface="Arial"/>
              <a:buChar char="•"/>
            </a:pPr>
            <a:r>
              <a:rPr lang="en-US" sz="1843" b="true">
                <a:solidFill>
                  <a:srgbClr val="FFFFFF"/>
                </a:solidFill>
                <a:latin typeface="Nunito Semi-Bold"/>
                <a:ea typeface="Nunito Semi-Bold"/>
                <a:cs typeface="Nunito Semi-Bold"/>
                <a:sym typeface="Nunito Semi-Bold"/>
              </a:rPr>
              <a:t>EU AI Act (Art. 13): high-risk systems must provide explanations </a:t>
            </a:r>
            <a:r>
              <a:rPr lang="en-US" sz="1843" b="true">
                <a:solidFill>
                  <a:srgbClr val="FFFFFF"/>
                </a:solidFill>
                <a:latin typeface="Nunito Bold"/>
                <a:ea typeface="Nunito Bold"/>
                <a:cs typeface="Nunito Bold"/>
                <a:sym typeface="Nunito Bold"/>
              </a:rPr>
              <a:t>in human-understandable terms</a:t>
            </a:r>
            <a:r>
              <a:rPr lang="en-US" sz="1843" b="true">
                <a:solidFill>
                  <a:srgbClr val="FFFFFF"/>
                </a:solidFill>
                <a:latin typeface="Nunito Semi-Bold"/>
                <a:ea typeface="Nunito Semi-Bold"/>
                <a:cs typeface="Nunito Semi-Bold"/>
                <a:sym typeface="Nunito Semi-Bold"/>
              </a:rPr>
              <a:t>.</a:t>
            </a:r>
          </a:p>
        </p:txBody>
      </p:sp>
      <p:sp>
        <p:nvSpPr>
          <p:cNvPr id="42" name="Rounded Rectangle 41"/>
          <p:cNvSpPr/>
          <p:nvPr/>
        </p:nvSpPr>
        <p:spPr>
          <a:xfrm>
            <a:off x="9326880" y="6289802"/>
            <a:ext cx="7932420" cy="3110230"/>
          </a:xfrm>
          <a:prstGeom prst="roundRect">
            <a:avLst>
              <a:gd name="adj" fmla="val 9995"/>
            </a:avLst>
          </a:prstGeom>
          <a:solidFill>
            <a:srgbClr val="F6ECDF"/>
          </a:solidFill>
          <a:ln>
            <a:noFill/>
          </a:ln>
        </p:spPr>
        <p:txBody>
          <a:bodyPr anchor="ctr" rtlCol="false" lIns="0" tIns="0" rIns="0" bIns="0" wrap="square"/>
          <a:lstStyle/>
          <a:p>
            <a:endParaRPr lang="en-US" sz="1800"/>
          </a:p>
        </p:txBody>
      </p:sp>
      <p:sp>
        <p:nvSpPr>
          <p:cNvPr id="43" name="Rounded Rectangle 42"/>
          <p:cNvSpPr/>
          <p:nvPr/>
        </p:nvSpPr>
        <p:spPr>
          <a:xfrm>
            <a:off x="9784080" y="6052058"/>
            <a:ext cx="3837783"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What this thesis argues</a:t>
            </a:r>
          </a:p>
        </p:txBody>
      </p:sp>
      <p:sp>
        <p:nvSpPr>
          <p:cNvPr id="44" name="TextBox 43"/>
          <p:cNvSpPr txBox="1"/>
          <p:nvPr/>
        </p:nvSpPr>
        <p:spPr>
          <a:xfrm>
            <a:off x="9784080" y="6884162"/>
            <a:ext cx="7063740" cy="2241550"/>
          </a:xfrm>
          <a:prstGeom prst="rect">
            <a:avLst/>
          </a:prstGeom>
          <a:noFill/>
        </p:spPr>
        <p:txBody>
          <a:bodyPr anchor="t" rtlCol="false" lIns="0" tIns="0" rIns="0" bIns="0" wrap="square"/>
          <a:lstStyle/>
          <a:p>
            <a:pPr algn="l" marL="274320" indent="-274320">
              <a:lnSpc>
                <a:spcPts val="2500"/>
              </a:lnSpc>
              <a:spcBef>
                <a:spcPts val="0"/>
              </a:spcBef>
              <a:buClr>
                <a:srgbClr val="DF8330"/>
              </a:buClr>
              <a:buSzPct val="100000"/>
              <a:buFont typeface="Arial"/>
              <a:buChar char="•"/>
            </a:pPr>
            <a:r>
              <a:rPr lang="en-US" sz="1786" b="true">
                <a:solidFill>
                  <a:srgbClr val="111111"/>
                </a:solidFill>
                <a:latin typeface="Nunito Semi-Bold"/>
                <a:ea typeface="Nunito Semi-Bold"/>
                <a:cs typeface="Nunito Semi-Bold"/>
                <a:sym typeface="Nunito Semi-Bold"/>
              </a:rPr>
              <a:t>Recommenders moved from similarity filters to </a:t>
            </a:r>
            <a:r>
              <a:rPr lang="en-US" sz="1786" b="true">
                <a:solidFill>
                  <a:srgbClr val="111111"/>
                </a:solidFill>
                <a:latin typeface="Nunito Bold"/>
                <a:ea typeface="Nunito Bold"/>
                <a:cs typeface="Nunito Bold"/>
                <a:sym typeface="Nunito Bold"/>
              </a:rPr>
              <a:t>representation learning on sparse, high-dimensional, changing data</a:t>
            </a:r>
            <a:r>
              <a:rPr lang="en-US" sz="1786" b="true">
                <a:solidFill>
                  <a:srgbClr val="111111"/>
                </a:solidFill>
                <a:latin typeface="Nunito Semi-Bold"/>
                <a:ea typeface="Nunito Semi-Bold"/>
                <a:cs typeface="Nunito Semi-Bold"/>
                <a:sym typeface="Nunito Semi-Bold"/>
              </a:rPr>
              <a:t>.</a:t>
            </a:r>
          </a:p>
          <a:p>
            <a:pPr algn="l" marL="274320" indent="-274320">
              <a:lnSpc>
                <a:spcPts val="2500"/>
              </a:lnSpc>
              <a:spcBef>
                <a:spcPts val="564"/>
              </a:spcBef>
              <a:buClr>
                <a:srgbClr val="DF8330"/>
              </a:buClr>
              <a:buSzPct val="100000"/>
              <a:buFont typeface="Arial"/>
              <a:buChar char="•"/>
            </a:pPr>
            <a:r>
              <a:rPr lang="en-US" sz="1786" b="true">
                <a:solidFill>
                  <a:srgbClr val="111111"/>
                </a:solidFill>
                <a:latin typeface="Nunito Semi-Bold"/>
                <a:ea typeface="Nunito Semi-Bold"/>
                <a:cs typeface="Nunito Semi-Bold"/>
                <a:sym typeface="Nunito Semi-Bold"/>
              </a:rPr>
              <a:t>Hypergraph models add higher-order user-item-context relations but assume </a:t>
            </a:r>
            <a:r>
              <a:rPr lang="en-US" sz="1786" b="true">
                <a:solidFill>
                  <a:srgbClr val="111111"/>
                </a:solidFill>
                <a:latin typeface="Nunito Bold"/>
                <a:ea typeface="Nunito Bold"/>
                <a:cs typeface="Nunito Bold"/>
                <a:sym typeface="Nunito Bold"/>
              </a:rPr>
              <a:t>every message matters equally</a:t>
            </a:r>
            <a:r>
              <a:rPr lang="en-US" sz="1786" b="true">
                <a:solidFill>
                  <a:srgbClr val="111111"/>
                </a:solidFill>
                <a:latin typeface="Nunito Semi-Bold"/>
                <a:ea typeface="Nunito Semi-Bold"/>
                <a:cs typeface="Nunito Semi-Bold"/>
                <a:sym typeface="Nunito Semi-Bold"/>
              </a:rPr>
              <a:t>.</a:t>
            </a:r>
          </a:p>
          <a:p>
            <a:pPr algn="l" marL="274320" indent="-274320">
              <a:lnSpc>
                <a:spcPts val="2500"/>
              </a:lnSpc>
              <a:spcBef>
                <a:spcPts val="564"/>
              </a:spcBef>
              <a:buClr>
                <a:srgbClr val="DF8330"/>
              </a:buClr>
              <a:buSzPct val="100000"/>
              <a:buFont typeface="Arial"/>
              <a:buChar char="•"/>
            </a:pPr>
            <a:r>
              <a:rPr lang="en-US" sz="1786" b="true">
                <a:solidFill>
                  <a:srgbClr val="111111"/>
                </a:solidFill>
                <a:latin typeface="Nunito Semi-Bold"/>
                <a:ea typeface="Nunito Semi-Bold"/>
                <a:cs typeface="Nunito Semi-Bold"/>
                <a:sym typeface="Nunito Semi-Bold"/>
              </a:rPr>
              <a:t>A well-founded attribution method is needed, and it should be </a:t>
            </a:r>
            <a:r>
              <a:rPr lang="en-US" sz="1786" b="true">
                <a:solidFill>
                  <a:srgbClr val="111111"/>
                </a:solidFill>
                <a:latin typeface="Nunito Bold"/>
                <a:ea typeface="Nunito Bold"/>
                <a:cs typeface="Nunito Bold"/>
                <a:sym typeface="Nunito Bold"/>
              </a:rPr>
              <a:t>part of the model itself</a:t>
            </a:r>
            <a:r>
              <a:rPr lang="en-US" sz="1786" b="true">
                <a:solidFill>
                  <a:srgbClr val="111111"/>
                </a:solidFill>
                <a:latin typeface="Nunito Semi-Bold"/>
                <a:ea typeface="Nunito Semi-Bold"/>
                <a:cs typeface="Nunito Semi-Bold"/>
                <a:sym typeface="Nunito Semi-Bold"/>
              </a:rPr>
              <a:t>, not an add-on.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[21] Zhang, Y. &amp; Chen, X. Explainable Recommendation: A Survey and New Perspectives. Foundations and Trends in IR 14(1), 1–101 (2020).   [22] Adomavicius, G. &amp; Tuzhilin, A. Toward the Next Generation of Recommender Systems. IEEE TKDE 17(6), 734–749 (2005).  ·  Burke, R. Hybrid Recommender Systems. UMUAI 12(4), 331–370 (2002).</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07</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INTRODUCTION</a:t>
            </a:r>
          </a:p>
        </p:txBody>
      </p:sp>
      <p:sp>
        <p:nvSpPr>
          <p:cNvPr id="8" name="Rounded Rectangle 7"/>
          <p:cNvSpPr/>
          <p:nvPr/>
        </p:nvSpPr>
        <p:spPr>
          <a:xfrm>
            <a:off x="1451610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AI-Powered Recommendation Is Everywhere</a:t>
            </a:r>
          </a:p>
        </p:txBody>
      </p:sp>
      <p:pic>
        <p:nvPicPr>
          <p:cNvPr id="23" name="Picture 22" descr="image.png"/>
          <p:cNvPicPr>
            <a:picLocks noChangeAspect="1"/>
          </p:cNvPicPr>
          <p:nvPr/>
        </p:nvPicPr>
        <p:blipFill>
          <a:blip r:embed="rId3"/>
          <a:stretch>
            <a:fillRect/>
          </a:stretch>
        </p:blipFill>
        <p:spPr>
          <a:xfrm>
            <a:off x="12921990" y="1673352"/>
            <a:ext cx="457200" cy="617115"/>
          </a:xfrm>
          <a:prstGeom prst="rect">
            <a:avLst/>
          </a:prstGeom>
        </p:spPr>
      </p:pic>
      <p:sp>
        <p:nvSpPr>
          <p:cNvPr id="24" name="Rounded Rectangle 23"/>
          <p:cNvSpPr/>
          <p:nvPr/>
        </p:nvSpPr>
        <p:spPr>
          <a:xfrm>
            <a:off x="1028700" y="2559050"/>
            <a:ext cx="1715805"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Motivation</a:t>
            </a:r>
          </a:p>
        </p:txBody>
      </p:sp>
      <p:sp>
        <p:nvSpPr>
          <p:cNvPr id="25" name="Rounded Rectangle 24"/>
          <p:cNvSpPr/>
          <p:nvPr/>
        </p:nvSpPr>
        <p:spPr>
          <a:xfrm>
            <a:off x="2872521" y="2559050"/>
            <a:ext cx="254485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Actionable Insight</a:t>
            </a:r>
          </a:p>
        </p:txBody>
      </p:sp>
      <p:sp>
        <p:nvSpPr>
          <p:cNvPr id="26" name="Rounded Rectangle 25"/>
          <p:cNvSpPr/>
          <p:nvPr/>
        </p:nvSpPr>
        <p:spPr>
          <a:xfrm>
            <a:off x="5545389" y="2559050"/>
            <a:ext cx="2484575"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Research Context</a:t>
            </a:r>
          </a:p>
        </p:txBody>
      </p:sp>
      <p:sp>
        <p:nvSpPr>
          <p:cNvPr id="27" name="Rounded Rectangle 26"/>
          <p:cNvSpPr/>
          <p:nvPr/>
        </p:nvSpPr>
        <p:spPr>
          <a:xfrm>
            <a:off x="1028700" y="3455162"/>
            <a:ext cx="3817620" cy="4480560"/>
          </a:xfrm>
          <a:prstGeom prst="roundRect">
            <a:avLst>
              <a:gd name="adj" fmla="val 7185"/>
            </a:avLst>
          </a:prstGeom>
          <a:solidFill>
            <a:srgbClr val="FFFFFF"/>
          </a:solidFill>
          <a:ln w="15875">
            <a:solidFill>
              <a:srgbClr val="E3D6C4"/>
            </a:solidFill>
          </a:ln>
        </p:spPr>
        <p:txBody>
          <a:bodyPr anchor="ctr" rtlCol="false" lIns="0" tIns="0" rIns="0" bIns="0" wrap="square"/>
          <a:lstStyle/>
          <a:p>
            <a:endParaRPr lang="en-US" sz="1800"/>
          </a:p>
        </p:txBody>
      </p:sp>
      <p:sp>
        <p:nvSpPr>
          <p:cNvPr id="28" name="Rounded Rectangle 27"/>
          <p:cNvSpPr/>
          <p:nvPr/>
        </p:nvSpPr>
        <p:spPr>
          <a:xfrm>
            <a:off x="1485900" y="3866642"/>
            <a:ext cx="2903220" cy="1828800"/>
          </a:xfrm>
          <a:prstGeom prst="roundRect">
            <a:avLst>
              <a:gd name="adj" fmla="val 11000"/>
            </a:avLst>
          </a:prstGeom>
          <a:solidFill>
            <a:srgbClr val="F6ECDF"/>
          </a:solidFill>
          <a:ln>
            <a:noFill/>
          </a:ln>
        </p:spPr>
        <p:txBody>
          <a:bodyPr anchor="ctr" rtlCol="false" lIns="91440" tIns="45720" rIns="91440" bIns="45720" wrap="square"/>
          <a:lstStyle/>
          <a:p>
            <a:pPr algn="ctr">
              <a:lnSpc>
                <a:spcPts val="3450"/>
              </a:lnSpc>
              <a:spcBef>
                <a:spcPts val="0"/>
              </a:spcBef>
              <a:buNone/>
            </a:pPr>
            <a:r>
              <a:rPr lang="en-US" sz="3000" b="true">
                <a:solidFill>
                  <a:srgbClr val="111111"/>
                </a:solidFill>
                <a:latin typeface="Nunito Bold"/>
                <a:ea typeface="Nunito Bold"/>
                <a:cs typeface="Nunito Bold"/>
                <a:sym typeface="Nunito Bold"/>
              </a:rPr>
              <a:t>Netflix</a:t>
            </a:r>
          </a:p>
        </p:txBody>
      </p:sp>
      <p:sp>
        <p:nvSpPr>
          <p:cNvPr id="29" name="TextBox 28"/>
          <p:cNvSpPr txBox="1"/>
          <p:nvPr/>
        </p:nvSpPr>
        <p:spPr>
          <a:xfrm>
            <a:off x="1303020" y="5969762"/>
            <a:ext cx="3268980" cy="457200"/>
          </a:xfrm>
          <a:prstGeom prst="rect">
            <a:avLst/>
          </a:prstGeom>
          <a:noFill/>
        </p:spPr>
        <p:txBody>
          <a:bodyPr anchor="t" rtlCol="false" lIns="0" tIns="0" rIns="0" bIns="0" wrap="square"/>
          <a:lstStyle/>
          <a:p>
            <a:pPr algn="ctr">
              <a:lnSpc>
                <a:spcPts val="2800"/>
              </a:lnSpc>
              <a:spcBef>
                <a:spcPts val="0"/>
              </a:spcBef>
              <a:buNone/>
            </a:pPr>
            <a:r>
              <a:rPr lang="en-US" sz="2400" b="true">
                <a:solidFill>
                  <a:srgbClr val="111111"/>
                </a:solidFill>
                <a:latin typeface="Nunito Ultra-Bold"/>
                <a:ea typeface="Nunito Ultra-Bold"/>
                <a:cs typeface="Nunito Ultra-Bold"/>
                <a:sym typeface="Nunito Ultra-Bold"/>
              </a:rPr>
              <a:t>Netflix</a:t>
            </a:r>
          </a:p>
        </p:txBody>
      </p:sp>
      <p:sp>
        <p:nvSpPr>
          <p:cNvPr id="30" name="TextBox 29"/>
          <p:cNvSpPr txBox="1"/>
          <p:nvPr/>
        </p:nvSpPr>
        <p:spPr>
          <a:xfrm>
            <a:off x="1303020" y="6472682"/>
            <a:ext cx="3268980" cy="1280160"/>
          </a:xfrm>
          <a:prstGeom prst="rect">
            <a:avLst/>
          </a:prstGeom>
          <a:noFill/>
        </p:spPr>
        <p:txBody>
          <a:bodyPr anchor="t" rtlCol="false" lIns="0" tIns="0" rIns="0" bIns="0" wrap="square"/>
          <a:lstStyle/>
          <a:p>
            <a:pPr algn="ctr">
              <a:lnSpc>
                <a:spcPts val="2200"/>
              </a:lnSpc>
              <a:spcBef>
                <a:spcPts val="0"/>
              </a:spcBef>
              <a:buNone/>
            </a:pPr>
            <a:r>
              <a:rPr lang="en-US" sz="1700" b="true">
                <a:solidFill>
                  <a:srgbClr val="8A8378"/>
                </a:solidFill>
                <a:latin typeface="Nunito Semi-Bold"/>
                <a:ea typeface="Nunito Semi-Bold"/>
                <a:cs typeface="Nunito Semi-Bold"/>
                <a:sym typeface="Nunito Semi-Bold"/>
              </a:rPr>
              <a:t>Movie and TV recommendation platform</a:t>
            </a:r>
          </a:p>
        </p:txBody>
      </p:sp>
      <p:sp>
        <p:nvSpPr>
          <p:cNvPr id="31" name="Rounded Rectangle 30"/>
          <p:cNvSpPr/>
          <p:nvPr/>
        </p:nvSpPr>
        <p:spPr>
          <a:xfrm>
            <a:off x="5166360" y="3455162"/>
            <a:ext cx="3817620" cy="4480560"/>
          </a:xfrm>
          <a:prstGeom prst="roundRect">
            <a:avLst>
              <a:gd name="adj" fmla="val 7185"/>
            </a:avLst>
          </a:prstGeom>
          <a:solidFill>
            <a:srgbClr val="FFFFFF"/>
          </a:solidFill>
          <a:ln w="15875">
            <a:solidFill>
              <a:srgbClr val="E3D6C4"/>
            </a:solidFill>
          </a:ln>
        </p:spPr>
        <p:txBody>
          <a:bodyPr anchor="ctr" rtlCol="false" lIns="0" tIns="0" rIns="0" bIns="0" wrap="square"/>
          <a:lstStyle/>
          <a:p>
            <a:endParaRPr lang="en-US" sz="1800"/>
          </a:p>
        </p:txBody>
      </p:sp>
      <p:sp>
        <p:nvSpPr>
          <p:cNvPr id="32" name="Rounded Rectangle 31"/>
          <p:cNvSpPr/>
          <p:nvPr/>
        </p:nvSpPr>
        <p:spPr>
          <a:xfrm>
            <a:off x="5623560" y="3866642"/>
            <a:ext cx="2903220" cy="1828800"/>
          </a:xfrm>
          <a:prstGeom prst="roundRect">
            <a:avLst>
              <a:gd name="adj" fmla="val 11000"/>
            </a:avLst>
          </a:prstGeom>
          <a:solidFill>
            <a:srgbClr val="F6ECDF"/>
          </a:solidFill>
          <a:ln>
            <a:noFill/>
          </a:ln>
        </p:spPr>
        <p:txBody>
          <a:bodyPr anchor="ctr" rtlCol="false" lIns="91440" tIns="45720" rIns="91440" bIns="45720" wrap="square"/>
          <a:lstStyle/>
          <a:p>
            <a:pPr algn="ctr">
              <a:lnSpc>
                <a:spcPts val="3450"/>
              </a:lnSpc>
              <a:spcBef>
                <a:spcPts val="0"/>
              </a:spcBef>
              <a:buNone/>
            </a:pPr>
            <a:r>
              <a:rPr lang="en-US" sz="3000" b="true">
                <a:solidFill>
                  <a:srgbClr val="111111"/>
                </a:solidFill>
                <a:latin typeface="Nunito Bold"/>
                <a:ea typeface="Nunito Bold"/>
                <a:cs typeface="Nunito Bold"/>
                <a:sym typeface="Nunito Bold"/>
              </a:rPr>
              <a:t>Spotify</a:t>
            </a:r>
          </a:p>
        </p:txBody>
      </p:sp>
      <p:sp>
        <p:nvSpPr>
          <p:cNvPr id="33" name="TextBox 32"/>
          <p:cNvSpPr txBox="1"/>
          <p:nvPr/>
        </p:nvSpPr>
        <p:spPr>
          <a:xfrm>
            <a:off x="5440680" y="5969762"/>
            <a:ext cx="3268980" cy="457200"/>
          </a:xfrm>
          <a:prstGeom prst="rect">
            <a:avLst/>
          </a:prstGeom>
          <a:noFill/>
        </p:spPr>
        <p:txBody>
          <a:bodyPr anchor="t" rtlCol="false" lIns="0" tIns="0" rIns="0" bIns="0" wrap="square"/>
          <a:lstStyle/>
          <a:p>
            <a:pPr algn="ctr">
              <a:lnSpc>
                <a:spcPts val="2800"/>
              </a:lnSpc>
              <a:spcBef>
                <a:spcPts val="0"/>
              </a:spcBef>
              <a:buNone/>
            </a:pPr>
            <a:r>
              <a:rPr lang="en-US" sz="2400" b="true">
                <a:solidFill>
                  <a:srgbClr val="111111"/>
                </a:solidFill>
                <a:latin typeface="Nunito Ultra-Bold"/>
                <a:ea typeface="Nunito Ultra-Bold"/>
                <a:cs typeface="Nunito Ultra-Bold"/>
                <a:sym typeface="Nunito Ultra-Bold"/>
              </a:rPr>
              <a:t>Spotify</a:t>
            </a:r>
          </a:p>
        </p:txBody>
      </p:sp>
      <p:sp>
        <p:nvSpPr>
          <p:cNvPr id="34" name="TextBox 33"/>
          <p:cNvSpPr txBox="1"/>
          <p:nvPr/>
        </p:nvSpPr>
        <p:spPr>
          <a:xfrm>
            <a:off x="5440680" y="6472682"/>
            <a:ext cx="3268980" cy="1280160"/>
          </a:xfrm>
          <a:prstGeom prst="rect">
            <a:avLst/>
          </a:prstGeom>
          <a:noFill/>
        </p:spPr>
        <p:txBody>
          <a:bodyPr anchor="t" rtlCol="false" lIns="0" tIns="0" rIns="0" bIns="0" wrap="square"/>
          <a:lstStyle/>
          <a:p>
            <a:pPr algn="ctr">
              <a:lnSpc>
                <a:spcPts val="2200"/>
              </a:lnSpc>
              <a:spcBef>
                <a:spcPts val="0"/>
              </a:spcBef>
              <a:buNone/>
            </a:pPr>
            <a:r>
              <a:rPr lang="en-US" sz="1700" b="true">
                <a:solidFill>
                  <a:srgbClr val="8A8378"/>
                </a:solidFill>
                <a:latin typeface="Nunito Semi-Bold"/>
                <a:ea typeface="Nunito Semi-Bold"/>
                <a:cs typeface="Nunito Semi-Bold"/>
                <a:sym typeface="Nunito Semi-Bold"/>
              </a:rPr>
              <a:t>Music recommendation and streaming service</a:t>
            </a:r>
          </a:p>
        </p:txBody>
      </p:sp>
      <p:sp>
        <p:nvSpPr>
          <p:cNvPr id="35" name="Rounded Rectangle 34"/>
          <p:cNvSpPr/>
          <p:nvPr/>
        </p:nvSpPr>
        <p:spPr>
          <a:xfrm>
            <a:off x="9304020" y="3455162"/>
            <a:ext cx="3817620" cy="4480560"/>
          </a:xfrm>
          <a:prstGeom prst="roundRect">
            <a:avLst>
              <a:gd name="adj" fmla="val 7185"/>
            </a:avLst>
          </a:prstGeom>
          <a:solidFill>
            <a:srgbClr val="FFFFFF"/>
          </a:solidFill>
          <a:ln w="15875">
            <a:solidFill>
              <a:srgbClr val="E3D6C4"/>
            </a:solidFill>
          </a:ln>
        </p:spPr>
        <p:txBody>
          <a:bodyPr anchor="ctr" rtlCol="false" lIns="0" tIns="0" rIns="0" bIns="0" wrap="square"/>
          <a:lstStyle/>
          <a:p>
            <a:endParaRPr lang="en-US" sz="1800"/>
          </a:p>
        </p:txBody>
      </p:sp>
      <p:sp>
        <p:nvSpPr>
          <p:cNvPr id="36" name="Rounded Rectangle 35"/>
          <p:cNvSpPr/>
          <p:nvPr/>
        </p:nvSpPr>
        <p:spPr>
          <a:xfrm>
            <a:off x="9761220" y="3866642"/>
            <a:ext cx="2903220" cy="1828800"/>
          </a:xfrm>
          <a:prstGeom prst="roundRect">
            <a:avLst>
              <a:gd name="adj" fmla="val 11000"/>
            </a:avLst>
          </a:prstGeom>
          <a:solidFill>
            <a:srgbClr val="F6ECDF"/>
          </a:solidFill>
          <a:ln>
            <a:noFill/>
          </a:ln>
        </p:spPr>
        <p:txBody>
          <a:bodyPr anchor="ctr" rtlCol="false" lIns="91440" tIns="45720" rIns="91440" bIns="45720" wrap="square"/>
          <a:lstStyle/>
          <a:p>
            <a:pPr algn="ctr">
              <a:lnSpc>
                <a:spcPts val="3450"/>
              </a:lnSpc>
              <a:spcBef>
                <a:spcPts val="0"/>
              </a:spcBef>
              <a:buNone/>
            </a:pPr>
            <a:r>
              <a:rPr lang="en-US" sz="3000" b="true">
                <a:solidFill>
                  <a:srgbClr val="111111"/>
                </a:solidFill>
                <a:latin typeface="Nunito Bold"/>
                <a:ea typeface="Nunito Bold"/>
                <a:cs typeface="Nunito Bold"/>
                <a:sym typeface="Nunito Bold"/>
              </a:rPr>
              <a:t>Yelp</a:t>
            </a:r>
          </a:p>
        </p:txBody>
      </p:sp>
      <p:sp>
        <p:nvSpPr>
          <p:cNvPr id="37" name="TextBox 36"/>
          <p:cNvSpPr txBox="1"/>
          <p:nvPr/>
        </p:nvSpPr>
        <p:spPr>
          <a:xfrm>
            <a:off x="9578340" y="5969762"/>
            <a:ext cx="3268980" cy="457200"/>
          </a:xfrm>
          <a:prstGeom prst="rect">
            <a:avLst/>
          </a:prstGeom>
          <a:noFill/>
        </p:spPr>
        <p:txBody>
          <a:bodyPr anchor="t" rtlCol="false" lIns="0" tIns="0" rIns="0" bIns="0" wrap="square"/>
          <a:lstStyle/>
          <a:p>
            <a:pPr algn="ctr">
              <a:lnSpc>
                <a:spcPts val="2800"/>
              </a:lnSpc>
              <a:spcBef>
                <a:spcPts val="0"/>
              </a:spcBef>
              <a:buNone/>
            </a:pPr>
            <a:r>
              <a:rPr lang="en-US" sz="2400" b="true">
                <a:solidFill>
                  <a:srgbClr val="111111"/>
                </a:solidFill>
                <a:latin typeface="Nunito Ultra-Bold"/>
                <a:ea typeface="Nunito Ultra-Bold"/>
                <a:cs typeface="Nunito Ultra-Bold"/>
                <a:sym typeface="Nunito Ultra-Bold"/>
              </a:rPr>
              <a:t>Yelp</a:t>
            </a:r>
          </a:p>
        </p:txBody>
      </p:sp>
      <p:sp>
        <p:nvSpPr>
          <p:cNvPr id="38" name="TextBox 37"/>
          <p:cNvSpPr txBox="1"/>
          <p:nvPr/>
        </p:nvSpPr>
        <p:spPr>
          <a:xfrm>
            <a:off x="9578340" y="6472682"/>
            <a:ext cx="3268980" cy="1280160"/>
          </a:xfrm>
          <a:prstGeom prst="rect">
            <a:avLst/>
          </a:prstGeom>
          <a:noFill/>
        </p:spPr>
        <p:txBody>
          <a:bodyPr anchor="t" rtlCol="false" lIns="0" tIns="0" rIns="0" bIns="0" wrap="square"/>
          <a:lstStyle/>
          <a:p>
            <a:pPr algn="ctr">
              <a:lnSpc>
                <a:spcPts val="2200"/>
              </a:lnSpc>
              <a:spcBef>
                <a:spcPts val="0"/>
              </a:spcBef>
              <a:buNone/>
            </a:pPr>
            <a:r>
              <a:rPr lang="en-US" sz="1700" b="true">
                <a:solidFill>
                  <a:srgbClr val="8A8378"/>
                </a:solidFill>
                <a:latin typeface="Nunito Semi-Bold"/>
                <a:ea typeface="Nunito Semi-Bold"/>
                <a:cs typeface="Nunito Semi-Bold"/>
                <a:sym typeface="Nunito Semi-Bold"/>
              </a:rPr>
              <a:t>Local business and restaurant recommendation</a:t>
            </a:r>
          </a:p>
        </p:txBody>
      </p:sp>
      <p:sp>
        <p:nvSpPr>
          <p:cNvPr id="39" name="Rounded Rectangle 38"/>
          <p:cNvSpPr/>
          <p:nvPr/>
        </p:nvSpPr>
        <p:spPr>
          <a:xfrm>
            <a:off x="13441680" y="3455162"/>
            <a:ext cx="3817620" cy="4480560"/>
          </a:xfrm>
          <a:prstGeom prst="roundRect">
            <a:avLst>
              <a:gd name="adj" fmla="val 7185"/>
            </a:avLst>
          </a:prstGeom>
          <a:solidFill>
            <a:srgbClr val="FFFFFF"/>
          </a:solidFill>
          <a:ln w="15875">
            <a:solidFill>
              <a:srgbClr val="E3D6C4"/>
            </a:solidFill>
          </a:ln>
        </p:spPr>
        <p:txBody>
          <a:bodyPr anchor="ctr" rtlCol="false" lIns="0" tIns="0" rIns="0" bIns="0" wrap="square"/>
          <a:lstStyle/>
          <a:p>
            <a:endParaRPr lang="en-US" sz="1800"/>
          </a:p>
        </p:txBody>
      </p:sp>
      <p:sp>
        <p:nvSpPr>
          <p:cNvPr id="40" name="Rounded Rectangle 39"/>
          <p:cNvSpPr/>
          <p:nvPr/>
        </p:nvSpPr>
        <p:spPr>
          <a:xfrm>
            <a:off x="13898880" y="3866642"/>
            <a:ext cx="2903220" cy="1828800"/>
          </a:xfrm>
          <a:prstGeom prst="roundRect">
            <a:avLst>
              <a:gd name="adj" fmla="val 11000"/>
            </a:avLst>
          </a:prstGeom>
          <a:solidFill>
            <a:srgbClr val="F6ECDF"/>
          </a:solidFill>
          <a:ln>
            <a:noFill/>
          </a:ln>
        </p:spPr>
        <p:txBody>
          <a:bodyPr anchor="ctr" rtlCol="false" lIns="91440" tIns="45720" rIns="91440" bIns="45720" wrap="square"/>
          <a:lstStyle/>
          <a:p>
            <a:pPr algn="ctr">
              <a:lnSpc>
                <a:spcPts val="3450"/>
              </a:lnSpc>
              <a:spcBef>
                <a:spcPts val="0"/>
              </a:spcBef>
              <a:buNone/>
            </a:pPr>
            <a:r>
              <a:rPr lang="en-US" sz="3000" b="true">
                <a:solidFill>
                  <a:srgbClr val="111111"/>
                </a:solidFill>
                <a:latin typeface="Nunito Bold"/>
                <a:ea typeface="Nunito Bold"/>
                <a:cs typeface="Nunito Bold"/>
                <a:sym typeface="Nunito Bold"/>
              </a:rPr>
              <a:t>Amazon</a:t>
            </a:r>
          </a:p>
        </p:txBody>
      </p:sp>
      <p:sp>
        <p:nvSpPr>
          <p:cNvPr id="41" name="TextBox 40"/>
          <p:cNvSpPr txBox="1"/>
          <p:nvPr/>
        </p:nvSpPr>
        <p:spPr>
          <a:xfrm>
            <a:off x="13716000" y="5969762"/>
            <a:ext cx="3268980" cy="457200"/>
          </a:xfrm>
          <a:prstGeom prst="rect">
            <a:avLst/>
          </a:prstGeom>
          <a:noFill/>
        </p:spPr>
        <p:txBody>
          <a:bodyPr anchor="t" rtlCol="false" lIns="0" tIns="0" rIns="0" bIns="0" wrap="square"/>
          <a:lstStyle/>
          <a:p>
            <a:pPr algn="ctr">
              <a:lnSpc>
                <a:spcPts val="2800"/>
              </a:lnSpc>
              <a:spcBef>
                <a:spcPts val="0"/>
              </a:spcBef>
              <a:buNone/>
            </a:pPr>
            <a:r>
              <a:rPr lang="en-US" sz="2400" b="true">
                <a:solidFill>
                  <a:srgbClr val="111111"/>
                </a:solidFill>
                <a:latin typeface="Nunito Ultra-Bold"/>
                <a:ea typeface="Nunito Ultra-Bold"/>
                <a:cs typeface="Nunito Ultra-Bold"/>
                <a:sym typeface="Nunito Ultra-Bold"/>
              </a:rPr>
              <a:t>Amazon</a:t>
            </a:r>
          </a:p>
        </p:txBody>
      </p:sp>
      <p:sp>
        <p:nvSpPr>
          <p:cNvPr id="42" name="TextBox 41"/>
          <p:cNvSpPr txBox="1"/>
          <p:nvPr/>
        </p:nvSpPr>
        <p:spPr>
          <a:xfrm>
            <a:off x="13716000" y="6472682"/>
            <a:ext cx="3268980" cy="1280160"/>
          </a:xfrm>
          <a:prstGeom prst="rect">
            <a:avLst/>
          </a:prstGeom>
          <a:noFill/>
        </p:spPr>
        <p:txBody>
          <a:bodyPr anchor="t" rtlCol="false" lIns="0" tIns="0" rIns="0" bIns="0" wrap="square"/>
          <a:lstStyle/>
          <a:p>
            <a:pPr algn="ctr">
              <a:lnSpc>
                <a:spcPts val="2200"/>
              </a:lnSpc>
              <a:spcBef>
                <a:spcPts val="0"/>
              </a:spcBef>
              <a:buNone/>
            </a:pPr>
            <a:r>
              <a:rPr lang="en-US" sz="1700" b="true">
                <a:solidFill>
                  <a:srgbClr val="8A8378"/>
                </a:solidFill>
                <a:latin typeface="Nunito Semi-Bold"/>
                <a:ea typeface="Nunito Semi-Bold"/>
                <a:cs typeface="Nunito Semi-Bold"/>
                <a:sym typeface="Nunito Semi-Bold"/>
              </a:rPr>
              <a:t>E-commerce platform with personalised product recommendations</a:t>
            </a:r>
          </a:p>
        </p:txBody>
      </p:sp>
      <p:sp>
        <p:nvSpPr>
          <p:cNvPr id="43" name="Rounded Rectangle 42"/>
          <p:cNvSpPr/>
          <p:nvPr/>
        </p:nvSpPr>
        <p:spPr>
          <a:xfrm>
            <a:off x="1028700" y="8301482"/>
            <a:ext cx="16230600" cy="869950"/>
          </a:xfrm>
          <a:prstGeom prst="roundRect">
            <a:avLst>
              <a:gd name="adj" fmla="val 31532"/>
            </a:avLst>
          </a:prstGeom>
          <a:solidFill>
            <a:srgbClr val="F6ECDF"/>
          </a:solidFill>
          <a:ln>
            <a:noFill/>
          </a:ln>
        </p:spPr>
        <p:txBody>
          <a:bodyPr anchor="ctr" rtlCol="false" lIns="548640" tIns="91440" rIns="548640" bIns="91440" wrap="square"/>
          <a:lstStyle/>
          <a:p>
            <a:pPr algn="ctr">
              <a:lnSpc>
                <a:spcPts val="2700"/>
              </a:lnSpc>
              <a:spcBef>
                <a:spcPts val="0"/>
              </a:spcBef>
              <a:buNone/>
            </a:pPr>
            <a:r>
              <a:rPr lang="en-US" sz="2100" b="true">
                <a:solidFill>
                  <a:srgbClr val="111111"/>
                </a:solidFill>
                <a:latin typeface="Nunito Semi-Bold"/>
                <a:ea typeface="Nunito Semi-Bold"/>
                <a:cs typeface="Nunito Semi-Bold"/>
                <a:sym typeface="Nunito Semi-Bold"/>
              </a:rPr>
              <a:t>AI recommendation shapes what </a:t>
            </a:r>
            <a:r>
              <a:rPr lang="en-US" sz="2100" b="true">
                <a:solidFill>
                  <a:srgbClr val="111111"/>
                </a:solidFill>
                <a:latin typeface="Nunito Bold"/>
                <a:ea typeface="Nunito Bold"/>
                <a:cs typeface="Nunito Bold"/>
                <a:sym typeface="Nunito Bold"/>
              </a:rPr>
              <a:t>billions</a:t>
            </a:r>
            <a:r>
              <a:rPr lang="en-US" sz="2100" b="true">
                <a:solidFill>
                  <a:srgbClr val="111111"/>
                </a:solidFill>
                <a:latin typeface="Nunito Semi-Bold"/>
                <a:ea typeface="Nunito Semi-Bold"/>
                <a:cs typeface="Nunito Semi-Bold"/>
                <a:sym typeface="Nunito Semi-Bold"/>
              </a:rPr>
              <a:t> see, buy and listen to every day. Each system is very </a:t>
            </a:r>
            <a:r>
              <a:rPr lang="en-US" sz="2100" b="true">
                <a:solidFill>
                  <a:srgbClr val="111111"/>
                </a:solidFill>
                <a:latin typeface="Nunito Bold"/>
                <a:ea typeface="Nunito Bold"/>
                <a:cs typeface="Nunito Bold"/>
                <a:sym typeface="Nunito Bold"/>
              </a:rPr>
              <a:t>accurate, yet a black box</a:t>
            </a:r>
            <a:r>
              <a:rPr lang="en-US" sz="2100" b="true">
                <a:solidFill>
                  <a:srgbClr val="111111"/>
                </a:solidFill>
                <a:latin typeface="Nunito Semi-Bold"/>
                <a:ea typeface="Nunito Semi-Bold"/>
                <a:cs typeface="Nunito Semi-Bold"/>
                <a:sym typeface="Nunito Semi-Bold"/>
              </a:rPr>
              <a:t>: its reasoning is hidden from the user. Everywhere, and hidden: that is </a:t>
            </a:r>
            <a:r>
              <a:rPr lang="en-US" sz="2100" b="true">
                <a:solidFill>
                  <a:srgbClr val="111111"/>
                </a:solidFill>
                <a:latin typeface="Nunito Bold"/>
                <a:ea typeface="Nunito Bold"/>
                <a:cs typeface="Nunito Bold"/>
                <a:sym typeface="Nunito Bold"/>
              </a:rPr>
              <a:t>exactly the gap this thesis targets</a:t>
            </a:r>
            <a:r>
              <a:rPr lang="en-US" sz="2100" b="true">
                <a:solidFill>
                  <a:srgbClr val="111111"/>
                </a:solidFill>
                <a:latin typeface="Nunito Semi-Bold"/>
                <a:ea typeface="Nunito Semi-Bold"/>
                <a:cs typeface="Nunito Semi-Bold"/>
                <a:sym typeface="Nunito Semi-Bold"/>
              </a:rPr>
              <a: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08</a:t>
            </a:r>
          </a:p>
        </p:txBody>
      </p:sp>
      <p:sp>
        <p:nvSpPr>
          <p:cNvPr id="7" name="TextBox 6"/>
          <p:cNvSpPr txBox="1"/>
          <p:nvPr/>
        </p:nvSpPr>
        <p:spPr>
          <a:xfrm>
            <a:off x="1028700" y="2331720"/>
            <a:ext cx="14859000" cy="1737360"/>
          </a:xfrm>
          <a:prstGeom prst="rect">
            <a:avLst/>
          </a:prstGeom>
          <a:noFill/>
        </p:spPr>
        <p:txBody>
          <a:bodyPr anchor="t" rtlCol="false" lIns="0" tIns="0" rIns="0" bIns="0" wrap="square"/>
          <a:lstStyle/>
          <a:p>
            <a:pPr algn="l">
              <a:lnSpc>
                <a:spcPts val="11628"/>
              </a:lnSpc>
              <a:spcBef>
                <a:spcPts val="0"/>
              </a:spcBef>
              <a:buNone/>
            </a:pPr>
            <a:r>
              <a:rPr lang="en-US" sz="11400" b="true" spc="-661">
                <a:solidFill>
                  <a:srgbClr val="111111"/>
                </a:solidFill>
                <a:latin typeface="Roca Two Bold"/>
                <a:ea typeface="Roca Two Bold"/>
                <a:cs typeface="Roca Two Bold"/>
                <a:sym typeface="Roca Two Bold"/>
              </a:rPr>
              <a:t>Context &amp; Problematic</a:t>
            </a:r>
          </a:p>
        </p:txBody>
      </p:sp>
      <p:sp>
        <p:nvSpPr>
          <p:cNvPr id="8" name="Oval 7"/>
          <p:cNvSpPr/>
          <p:nvPr/>
        </p:nvSpPr>
        <p:spPr>
          <a:xfrm>
            <a:off x="15944631" y="2689860"/>
            <a:ext cx="1005840" cy="1005840"/>
          </a:xfrm>
          <a:prstGeom prst="ellipse">
            <a:avLst/>
          </a:prstGeom>
          <a:solidFill>
            <a:srgbClr val="ECC665"/>
          </a:solidFill>
          <a:ln>
            <a:noFill/>
          </a:ln>
        </p:spPr>
        <p:txBody>
          <a:bodyPr anchor="ctr" rtlCol="false" lIns="0" tIns="0" rIns="0" bIns="0" wrap="square"/>
          <a:lstStyle/>
          <a:p>
            <a:endParaRPr lang="en-US" sz="1800"/>
          </a:p>
        </p:txBody>
      </p:sp>
      <p:sp>
        <p:nvSpPr>
          <p:cNvPr id="9" name="TextBox 8"/>
          <p:cNvSpPr txBox="1"/>
          <p:nvPr/>
        </p:nvSpPr>
        <p:spPr>
          <a:xfrm>
            <a:off x="15944631" y="2689860"/>
            <a:ext cx="1005840" cy="1005840"/>
          </a:xfrm>
          <a:prstGeom prst="rect">
            <a:avLst/>
          </a:prstGeom>
          <a:noFill/>
        </p:spPr>
        <p:txBody>
          <a:bodyPr anchor="ctr" rtlCol="false" lIns="0" tIns="0" rIns="0" bIns="0" wrap="square"/>
          <a:lstStyle/>
          <a:p>
            <a:pPr algn="ctr">
              <a:lnSpc>
                <a:spcPts val="3400"/>
              </a:lnSpc>
              <a:spcBef>
                <a:spcPts val="0"/>
              </a:spcBef>
              <a:buNone/>
            </a:pPr>
            <a:r>
              <a:rPr lang="en-US" sz="3000" b="true">
                <a:solidFill>
                  <a:srgbClr val="111111"/>
                </a:solidFill>
                <a:latin typeface="Nunito Ultra-Bold"/>
                <a:ea typeface="Nunito Ultra-Bold"/>
                <a:cs typeface="Nunito Ultra-Bold"/>
                <a:sym typeface="Nunito Ultra-Bold"/>
              </a:rPr>
              <a:t>02</a:t>
            </a:r>
          </a:p>
        </p:txBody>
      </p:sp>
      <p:sp>
        <p:nvSpPr>
          <p:cNvPr id="10" name="TextBox 9"/>
          <p:cNvSpPr txBox="1"/>
          <p:nvPr/>
        </p:nvSpPr>
        <p:spPr>
          <a:xfrm>
            <a:off x="1028700" y="3953256"/>
            <a:ext cx="16230600" cy="640080"/>
          </a:xfrm>
          <a:prstGeom prst="rect">
            <a:avLst/>
          </a:prstGeom>
          <a:noFill/>
        </p:spPr>
        <p:txBody>
          <a:bodyPr anchor="t" rtlCol="false" lIns="0" tIns="0" rIns="0" bIns="0" wrap="square"/>
          <a:lstStyle/>
          <a:p>
            <a:pPr algn="l">
              <a:lnSpc>
                <a:spcPts val="3800"/>
              </a:lnSpc>
              <a:spcBef>
                <a:spcPts val="0"/>
              </a:spcBef>
              <a:buNone/>
            </a:pPr>
            <a:r>
              <a:rPr lang="en-US" sz="3000" b="true" spc="-150">
                <a:solidFill>
                  <a:srgbClr val="124944"/>
                </a:solidFill>
                <a:latin typeface="Nunito Bold"/>
                <a:ea typeface="Nunito Bold"/>
                <a:cs typeface="Nunito Bold"/>
                <a:sym typeface="Nunito Bold"/>
              </a:rPr>
              <a:t>The main approaches, their limitations and the five research questions</a:t>
            </a:r>
          </a:p>
        </p:txBody>
      </p:sp>
      <p:sp>
        <p:nvSpPr>
          <p:cNvPr id="11" name="Rectangle 10"/>
          <p:cNvSpPr/>
          <p:nvPr/>
        </p:nvSpPr>
        <p:spPr>
          <a:xfrm>
            <a:off x="0" y="5440680"/>
            <a:ext cx="18288000" cy="4846320"/>
          </a:xfrm>
          <a:prstGeom prst="rect">
            <a:avLst/>
          </a:prstGeom>
          <a:solidFill>
            <a:srgbClr val="124944"/>
          </a:solidFill>
          <a:ln>
            <a:noFill/>
          </a:ln>
        </p:spPr>
        <p:txBody>
          <a:bodyPr anchor="ctr" rtlCol="false" lIns="0" tIns="0" rIns="0" bIns="0" wrap="square"/>
          <a:lstStyle/>
          <a:p>
            <a:endParaRPr lang="en-US" sz="1800"/>
          </a:p>
        </p:txBody>
      </p:sp>
      <p:sp>
        <p:nvSpPr>
          <p:cNvPr id="12" name="TextBox 11"/>
          <p:cNvSpPr txBox="1"/>
          <p:nvPr/>
        </p:nvSpPr>
        <p:spPr>
          <a:xfrm>
            <a:off x="102870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Approaches</a:t>
            </a:r>
          </a:p>
        </p:txBody>
      </p:sp>
      <p:cxnSp>
        <p:nvCxnSpPr>
          <p:cNvPr id="13" name="Connector 12"/>
          <p:cNvCxnSpPr/>
          <p:nvPr/>
        </p:nvCxnSpPr>
        <p:spPr>
          <a:xfrm>
            <a:off x="1028700" y="6464808"/>
            <a:ext cx="640080" cy="0"/>
          </a:xfrm>
          <a:prstGeom prst="line">
            <a:avLst/>
          </a:prstGeom>
          <a:ln w="31750">
            <a:solidFill>
              <a:srgbClr val="ECC665"/>
            </a:solidFill>
          </a:ln>
        </p:spPr>
      </p:cxnSp>
      <p:sp>
        <p:nvSpPr>
          <p:cNvPr id="14" name="TextBox 13"/>
          <p:cNvSpPr txBox="1"/>
          <p:nvPr/>
        </p:nvSpPr>
        <p:spPr>
          <a:xfrm>
            <a:off x="102870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Collaborative, content-based, hybrid, matrix factorisation and graph/hypergraph recommenders: each one stronger, each one less transparent.</a:t>
            </a:r>
          </a:p>
        </p:txBody>
      </p:sp>
      <p:sp>
        <p:nvSpPr>
          <p:cNvPr id="15" name="TextBox 14"/>
          <p:cNvSpPr txBox="1"/>
          <p:nvPr/>
        </p:nvSpPr>
        <p:spPr>
          <a:xfrm>
            <a:off x="657606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Problematic</a:t>
            </a:r>
          </a:p>
        </p:txBody>
      </p:sp>
      <p:cxnSp>
        <p:nvCxnSpPr>
          <p:cNvPr id="16" name="Connector 15"/>
          <p:cNvCxnSpPr/>
          <p:nvPr/>
        </p:nvCxnSpPr>
        <p:spPr>
          <a:xfrm>
            <a:off x="6576060" y="6464808"/>
            <a:ext cx="640080" cy="0"/>
          </a:xfrm>
          <a:prstGeom prst="line">
            <a:avLst/>
          </a:prstGeom>
          <a:ln w="31750">
            <a:solidFill>
              <a:srgbClr val="ECC665"/>
            </a:solidFill>
          </a:ln>
        </p:spPr>
      </p:cxnSp>
      <p:sp>
        <p:nvSpPr>
          <p:cNvPr id="17" name="TextBox 16"/>
          <p:cNvSpPr txBox="1"/>
          <p:nvPr/>
        </p:nvSpPr>
        <p:spPr>
          <a:xfrm>
            <a:off x="657606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Three main limitations: lack of explainability, difficulty of scaling, weak link between explanation and learning.</a:t>
            </a:r>
          </a:p>
        </p:txBody>
      </p:sp>
      <p:sp>
        <p:nvSpPr>
          <p:cNvPr id="18" name="TextBox 17"/>
          <p:cNvSpPr txBox="1"/>
          <p:nvPr/>
        </p:nvSpPr>
        <p:spPr>
          <a:xfrm>
            <a:off x="1212342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Contributions</a:t>
            </a:r>
          </a:p>
        </p:txBody>
      </p:sp>
      <p:cxnSp>
        <p:nvCxnSpPr>
          <p:cNvPr id="19" name="Connector 18"/>
          <p:cNvCxnSpPr/>
          <p:nvPr/>
        </p:nvCxnSpPr>
        <p:spPr>
          <a:xfrm>
            <a:off x="12123420" y="6464808"/>
            <a:ext cx="640080" cy="0"/>
          </a:xfrm>
          <a:prstGeom prst="line">
            <a:avLst/>
          </a:prstGeom>
          <a:ln w="31750">
            <a:solidFill>
              <a:srgbClr val="ECC665"/>
            </a:solidFill>
          </a:ln>
        </p:spPr>
      </p:cxnSp>
      <p:sp>
        <p:nvSpPr>
          <p:cNvPr id="20" name="TextBox 19"/>
          <p:cNvSpPr txBox="1"/>
          <p:nvPr/>
        </p:nvSpPr>
        <p:spPr>
          <a:xfrm>
            <a:off x="1212342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Five research questions answered by three contributions that build on each other, under one cooperative-game view.</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[22] Adomavicius, G. &amp; Tuzhilin, A. Toward the Next Generation of Recommender Systems. IEEE TKDE 17(6), 734–749 (2005).  ·  Burke, R. Hybrid Recommender Systems. UMUAI 12(4), 331–370 (2002).</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09</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CONTEXT &amp; PROBLEMATIC</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Content-Based Filtering</a:t>
            </a:r>
          </a:p>
        </p:txBody>
      </p:sp>
      <p:pic>
        <p:nvPicPr>
          <p:cNvPr id="23" name="Picture 22" descr="image.png"/>
          <p:cNvPicPr>
            <a:picLocks noChangeAspect="1"/>
          </p:cNvPicPr>
          <p:nvPr/>
        </p:nvPicPr>
        <p:blipFill>
          <a:blip r:embed="rId3"/>
          <a:stretch>
            <a:fillRect/>
          </a:stretch>
        </p:blipFill>
        <p:spPr>
          <a:xfrm>
            <a:off x="7401574" y="1673352"/>
            <a:ext cx="457200" cy="250983"/>
          </a:xfrm>
          <a:prstGeom prst="rect">
            <a:avLst/>
          </a:prstGeom>
        </p:spPr>
      </p:pic>
      <p:sp>
        <p:nvSpPr>
          <p:cNvPr id="24" name="Rounded Rectangle 23"/>
          <p:cNvSpPr/>
          <p:nvPr/>
        </p:nvSpPr>
        <p:spPr>
          <a:xfrm>
            <a:off x="1028700" y="2559050"/>
            <a:ext cx="1854490"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Approaches</a:t>
            </a:r>
          </a:p>
        </p:txBody>
      </p:sp>
      <p:sp>
        <p:nvSpPr>
          <p:cNvPr id="25" name="Rounded Rectangle 24"/>
          <p:cNvSpPr/>
          <p:nvPr/>
        </p:nvSpPr>
        <p:spPr>
          <a:xfrm>
            <a:off x="3011206" y="2559050"/>
            <a:ext cx="187097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Problematic</a:t>
            </a:r>
          </a:p>
        </p:txBody>
      </p:sp>
      <p:sp>
        <p:nvSpPr>
          <p:cNvPr id="26" name="Rounded Rectangle 25"/>
          <p:cNvSpPr/>
          <p:nvPr/>
        </p:nvSpPr>
        <p:spPr>
          <a:xfrm>
            <a:off x="5010194" y="2559050"/>
            <a:ext cx="2041208"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Contributions</a:t>
            </a:r>
          </a:p>
        </p:txBody>
      </p:sp>
      <p:sp>
        <p:nvSpPr>
          <p:cNvPr id="27" name="TextBox 26"/>
          <p:cNvSpPr txBox="1"/>
          <p:nvPr/>
        </p:nvSpPr>
        <p:spPr>
          <a:xfrm>
            <a:off x="1028700" y="3363722"/>
            <a:ext cx="7680960" cy="439039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Recommends items </a:t>
            </a:r>
            <a:r>
              <a:rPr lang="en-US" sz="2100" b="true">
                <a:solidFill>
                  <a:srgbClr val="111111"/>
                </a:solidFill>
                <a:latin typeface="Nunito Bold"/>
                <a:ea typeface="Nunito Bold"/>
                <a:cs typeface="Nunito Bold"/>
                <a:sym typeface="Nunito Bold"/>
              </a:rPr>
              <a:t>based on their features</a:t>
            </a:r>
            <a:r>
              <a:rPr lang="en-US" sz="2100" b="true">
                <a:solidFill>
                  <a:srgbClr val="111111"/>
                </a:solidFill>
                <a:latin typeface="Nunito Semi-Bold"/>
                <a:ea typeface="Nunito Semi-Bold"/>
                <a:cs typeface="Nunito Semi-Bold"/>
                <a:sym typeface="Nunito Semi-Bold"/>
              </a:rPr>
              <a:t> and the user's past preferences.</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Builds a </a:t>
            </a:r>
            <a:r>
              <a:rPr lang="en-US" sz="2100" b="true">
                <a:solidFill>
                  <a:srgbClr val="111111"/>
                </a:solidFill>
                <a:latin typeface="Nunito Bold"/>
                <a:ea typeface="Nunito Bold"/>
                <a:cs typeface="Nunito Bold"/>
                <a:sym typeface="Nunito Bold"/>
              </a:rPr>
              <a:t>user profile</a:t>
            </a:r>
            <a:r>
              <a:rPr lang="en-US" sz="2100" b="true">
                <a:solidFill>
                  <a:srgbClr val="111111"/>
                </a:solidFill>
                <a:latin typeface="Nunito Semi-Bold"/>
                <a:ea typeface="Nunito Semi-Bold"/>
                <a:cs typeface="Nunito Semi-Bold"/>
                <a:sym typeface="Nunito Semi-Bold"/>
              </a:rPr>
              <a:t> from previously liked, viewed or selected items.</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Suggests new items with </a:t>
            </a:r>
            <a:r>
              <a:rPr lang="en-US" sz="2100" b="true">
                <a:solidFill>
                  <a:srgbClr val="111111"/>
                </a:solidFill>
                <a:latin typeface="Nunito Bold"/>
                <a:ea typeface="Nunito Bold"/>
                <a:cs typeface="Nunito Bold"/>
                <a:sym typeface="Nunito Bold"/>
              </a:rPr>
              <a:t>similar characteristics</a:t>
            </a:r>
            <a:r>
              <a:rPr lang="en-US" sz="2100" b="true">
                <a:solidFill>
                  <a:srgbClr val="111111"/>
                </a:solidFill>
                <a:latin typeface="Nunito Semi-Bold"/>
                <a:ea typeface="Nunito Semi-Bold"/>
                <a:cs typeface="Nunito Semi-Bold"/>
                <a:sym typeface="Nunito Semi-Bold"/>
              </a:rPr>
              <a:t> (genre, cast, keywords, brand).</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Explainable by construction: the reason is a </a:t>
            </a:r>
            <a:r>
              <a:rPr lang="en-US" sz="2100" b="true">
                <a:solidFill>
                  <a:srgbClr val="111111"/>
                </a:solidFill>
                <a:latin typeface="Nunito Bold"/>
                <a:ea typeface="Nunito Bold"/>
                <a:cs typeface="Nunito Bold"/>
                <a:sym typeface="Nunito Bold"/>
              </a:rPr>
              <a:t>named feature</a:t>
            </a:r>
            <a:r>
              <a:rPr lang="en-US" sz="2100" b="true">
                <a:solidFill>
                  <a:srgbClr val="111111"/>
                </a:solidFill>
                <a:latin typeface="Nunito Semi-Bold"/>
                <a:ea typeface="Nunito Semi-Bold"/>
                <a:cs typeface="Nunito Semi-Bold"/>
                <a:sym typeface="Nunito Semi-Bold"/>
              </a:rPr>
              <a:t> the user recognises.</a:t>
            </a:r>
          </a:p>
        </p:txBody>
      </p:sp>
      <p:sp>
        <p:nvSpPr>
          <p:cNvPr id="28" name="Rounded Rectangle 27"/>
          <p:cNvSpPr/>
          <p:nvPr/>
        </p:nvSpPr>
        <p:spPr>
          <a:xfrm>
            <a:off x="1028700" y="8028432"/>
            <a:ext cx="7680960" cy="1097280"/>
          </a:xfrm>
          <a:prstGeom prst="roundRect">
            <a:avLst>
              <a:gd name="adj" fmla="val 18333"/>
            </a:avLst>
          </a:prstGeom>
          <a:solidFill>
            <a:srgbClr val="F6ECDF"/>
          </a:solidFill>
          <a:ln w="25400">
            <a:solidFill>
              <a:srgbClr val="DF8330"/>
            </a:solidFill>
          </a:ln>
        </p:spPr>
        <p:txBody>
          <a:bodyPr anchor="ctr" rtlCol="false" lIns="0" tIns="0" rIns="0" bIns="0" wrap="square"/>
          <a:lstStyle/>
          <a:p>
            <a:endParaRPr lang="en-US" sz="1800"/>
          </a:p>
        </p:txBody>
      </p:sp>
      <p:sp>
        <p:nvSpPr>
          <p:cNvPr id="29" name="Rounded Rectangle 28"/>
          <p:cNvSpPr/>
          <p:nvPr/>
        </p:nvSpPr>
        <p:spPr>
          <a:xfrm>
            <a:off x="1348740" y="7836408"/>
            <a:ext cx="1609901"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LIMITATION</a:t>
            </a:r>
          </a:p>
        </p:txBody>
      </p:sp>
      <p:sp>
        <p:nvSpPr>
          <p:cNvPr id="30" name="TextBox 29"/>
          <p:cNvSpPr txBox="1"/>
          <p:nvPr/>
        </p:nvSpPr>
        <p:spPr>
          <a:xfrm>
            <a:off x="1394460" y="8302752"/>
            <a:ext cx="6949440" cy="685800"/>
          </a:xfrm>
          <a:prstGeom prst="rect">
            <a:avLst/>
          </a:prstGeom>
          <a:noFill/>
        </p:spPr>
        <p:txBody>
          <a:bodyPr anchor="ctr" rtlCol="false" lIns="0" tIns="0" rIns="0" bIns="0" wrap="square"/>
          <a:lstStyle/>
          <a:p>
            <a:pPr algn="l">
              <a:lnSpc>
                <a:spcPts val="2380"/>
              </a:lnSpc>
              <a:spcBef>
                <a:spcPts val="0"/>
              </a:spcBef>
              <a:buNone/>
            </a:pPr>
            <a:r>
              <a:rPr lang="en-US" sz="1700" b="true">
                <a:solidFill>
                  <a:srgbClr val="111111"/>
                </a:solidFill>
                <a:latin typeface="Nunito Semi-Bold"/>
                <a:ea typeface="Nunito Semi-Bold"/>
                <a:cs typeface="Nunito Semi-Bold"/>
                <a:sym typeface="Nunito Semi-Bold"/>
              </a:rPr>
              <a:t>Recommendations may become too similar and lack diversity; it needs good item metadata.</a:t>
            </a:r>
          </a:p>
        </p:txBody>
      </p:sp>
      <p:sp>
        <p:nvSpPr>
          <p:cNvPr id="31" name="TextBox 30"/>
          <p:cNvSpPr txBox="1"/>
          <p:nvPr/>
        </p:nvSpPr>
        <p:spPr>
          <a:xfrm>
            <a:off x="9258300" y="3363722"/>
            <a:ext cx="8001000" cy="365760"/>
          </a:xfrm>
          <a:prstGeom prst="rect">
            <a:avLst/>
          </a:prstGeom>
          <a:noFill/>
        </p:spPr>
        <p:txBody>
          <a:bodyPr anchor="t" rtlCol="false" lIns="0" tIns="0" rIns="0" bIns="0" wrap="square"/>
          <a:lstStyle/>
          <a:p>
            <a:pPr algn="ctr">
              <a:lnSpc>
                <a:spcPts val="1800"/>
              </a:lnSpc>
              <a:spcBef>
                <a:spcPts val="0"/>
              </a:spcBef>
              <a:buNone/>
            </a:pPr>
            <a:r>
              <a:rPr lang="en-US" sz="1400" b="true" spc="140">
                <a:solidFill>
                  <a:srgbClr val="DF8330"/>
                </a:solidFill>
                <a:latin typeface="Nunito Ultra-Bold"/>
                <a:ea typeface="Nunito Ultra-Bold"/>
                <a:cs typeface="Nunito Ultra-Bold"/>
                <a:sym typeface="Nunito Ultra-Bold"/>
              </a:rPr>
              <a:t>CONTENT-BASED FILTERING</a:t>
            </a:r>
          </a:p>
        </p:txBody>
      </p:sp>
      <p:sp>
        <p:nvSpPr>
          <p:cNvPr id="32" name="Rounded Rectangle 31"/>
          <p:cNvSpPr/>
          <p:nvPr/>
        </p:nvSpPr>
        <p:spPr>
          <a:xfrm>
            <a:off x="9258300" y="3958082"/>
            <a:ext cx="1572768" cy="1188720"/>
          </a:xfrm>
          <a:prstGeom prst="roundRect">
            <a:avLst>
              <a:gd name="adj" fmla="val 15384"/>
            </a:avLst>
          </a:prstGeom>
          <a:solidFill>
            <a:srgbClr val="124944"/>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Nunito Bold"/>
                <a:ea typeface="Nunito Bold"/>
                <a:cs typeface="Nunito Bold"/>
                <a:sym typeface="Nunito Bold"/>
              </a:rPr>
              <a:t>User taste profile</a:t>
            </a:r>
          </a:p>
        </p:txBody>
      </p:sp>
      <p:cxnSp>
        <p:nvCxnSpPr>
          <p:cNvPr id="33" name="Connector 32"/>
          <p:cNvCxnSpPr/>
          <p:nvPr/>
        </p:nvCxnSpPr>
        <p:spPr>
          <a:xfrm>
            <a:off x="10876788" y="4552442"/>
            <a:ext cx="478536" cy="0"/>
          </a:xfrm>
          <a:prstGeom prst="line">
            <a:avLst/>
          </a:prstGeom>
          <a:ln w="28575">
            <a:solidFill>
              <a:srgbClr val="124944"/>
            </a:solidFill>
            <a:tailEnd type="triangle" w="med" len="med"/>
          </a:ln>
        </p:spPr>
      </p:cxnSp>
      <p:sp>
        <p:nvSpPr>
          <p:cNvPr id="34" name="Rounded Rectangle 33"/>
          <p:cNvSpPr/>
          <p:nvPr/>
        </p:nvSpPr>
        <p:spPr>
          <a:xfrm>
            <a:off x="11401044" y="3958082"/>
            <a:ext cx="1572768" cy="1188720"/>
          </a:xfrm>
          <a:prstGeom prst="roundRect">
            <a:avLst>
              <a:gd name="adj" fmla="val 15384"/>
            </a:avLst>
          </a:prstGeom>
          <a:solidFill>
            <a:srgbClr val="124944"/>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Nunito Bold"/>
                <a:ea typeface="Nunito Bold"/>
                <a:cs typeface="Nunito Bold"/>
                <a:sym typeface="Nunito Bold"/>
              </a:rPr>
              <a:t>Item feature vectors</a:t>
            </a:r>
          </a:p>
        </p:txBody>
      </p:sp>
      <p:cxnSp>
        <p:nvCxnSpPr>
          <p:cNvPr id="35" name="Connector 34"/>
          <p:cNvCxnSpPr/>
          <p:nvPr/>
        </p:nvCxnSpPr>
        <p:spPr>
          <a:xfrm>
            <a:off x="13019532" y="4552442"/>
            <a:ext cx="478536" cy="0"/>
          </a:xfrm>
          <a:prstGeom prst="line">
            <a:avLst/>
          </a:prstGeom>
          <a:ln w="28575">
            <a:solidFill>
              <a:srgbClr val="124944"/>
            </a:solidFill>
            <a:tailEnd type="triangle" w="med" len="med"/>
          </a:ln>
        </p:spPr>
      </p:cxnSp>
      <p:sp>
        <p:nvSpPr>
          <p:cNvPr id="36" name="Rounded Rectangle 35"/>
          <p:cNvSpPr/>
          <p:nvPr/>
        </p:nvSpPr>
        <p:spPr>
          <a:xfrm>
            <a:off x="13543788" y="3958082"/>
            <a:ext cx="1572768" cy="1188720"/>
          </a:xfrm>
          <a:prstGeom prst="roundRect">
            <a:avLst>
              <a:gd name="adj" fmla="val 15384"/>
            </a:avLst>
          </a:prstGeom>
          <a:solidFill>
            <a:srgbClr val="111111"/>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Nunito Bold"/>
                <a:ea typeface="Nunito Bold"/>
                <a:cs typeface="Nunito Bold"/>
                <a:sym typeface="Nunito Bold"/>
              </a:rPr>
              <a:t>Similarity score</a:t>
            </a:r>
          </a:p>
        </p:txBody>
      </p:sp>
      <p:cxnSp>
        <p:nvCxnSpPr>
          <p:cNvPr id="37" name="Connector 36"/>
          <p:cNvCxnSpPr/>
          <p:nvPr/>
        </p:nvCxnSpPr>
        <p:spPr>
          <a:xfrm>
            <a:off x="15162276" y="4552442"/>
            <a:ext cx="478536" cy="0"/>
          </a:xfrm>
          <a:prstGeom prst="line">
            <a:avLst/>
          </a:prstGeom>
          <a:ln w="28575">
            <a:solidFill>
              <a:srgbClr val="124944"/>
            </a:solidFill>
            <a:tailEnd type="triangle" w="med" len="med"/>
          </a:ln>
        </p:spPr>
      </p:cxnSp>
      <p:sp>
        <p:nvSpPr>
          <p:cNvPr id="38" name="Rounded Rectangle 37"/>
          <p:cNvSpPr/>
          <p:nvPr/>
        </p:nvSpPr>
        <p:spPr>
          <a:xfrm>
            <a:off x="15686532" y="3958082"/>
            <a:ext cx="1572768" cy="1188720"/>
          </a:xfrm>
          <a:prstGeom prst="roundRect">
            <a:avLst>
              <a:gd name="adj" fmla="val 15384"/>
            </a:avLst>
          </a:prstGeom>
          <a:solidFill>
            <a:srgbClr val="DF8330"/>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Nunito Bold"/>
                <a:ea typeface="Nunito Bold"/>
                <a:cs typeface="Nunito Bold"/>
                <a:sym typeface="Nunito Bold"/>
              </a:rPr>
              <a:t>Top-N recommend</a:t>
            </a:r>
          </a:p>
        </p:txBody>
      </p:sp>
      <p:sp>
        <p:nvSpPr>
          <p:cNvPr id="39" name="TextBox 38"/>
          <p:cNvSpPr txBox="1"/>
          <p:nvPr/>
        </p:nvSpPr>
        <p:spPr>
          <a:xfrm>
            <a:off x="9258300" y="5512562"/>
            <a:ext cx="8001000" cy="457200"/>
          </a:xfrm>
          <a:prstGeom prst="rect">
            <a:avLst/>
          </a:prstGeom>
          <a:noFill/>
        </p:spPr>
        <p:txBody>
          <a:bodyPr anchor="t" rtlCol="false" lIns="0" tIns="0" rIns="0" bIns="0" wrap="square"/>
          <a:lstStyle/>
          <a:p>
            <a:pPr algn="ctr">
              <a:lnSpc>
                <a:spcPts val="2200"/>
              </a:lnSpc>
              <a:spcBef>
                <a:spcPts val="0"/>
              </a:spcBef>
              <a:buNone/>
            </a:pPr>
            <a:r>
              <a:rPr lang="en-US" sz="1700" b="true">
                <a:solidFill>
                  <a:srgbClr val="111111"/>
                </a:solidFill>
                <a:latin typeface="Nunito Bold"/>
                <a:ea typeface="Nunito Bold"/>
                <a:cs typeface="Nunito Bold"/>
                <a:sym typeface="Nunito Bold"/>
              </a:rPr>
              <a:t>Example:</a:t>
            </a:r>
            <a:r>
              <a:rPr lang="en-US" sz="1700" b="true">
                <a:solidFill>
                  <a:srgbClr val="111111"/>
                </a:solidFill>
                <a:latin typeface="Nunito Semi-Bold"/>
                <a:ea typeface="Nunito Semi-Bold"/>
                <a:cs typeface="Nunito Semi-Bold"/>
                <a:sym typeface="Nunito Semi-Bold"/>
              </a:rPr>
              <a:t> liked sci-fi + Nolan  </a:t>
            </a:r>
            <a:r>
              <a:rPr lang="en-US" sz="1700" b="true">
                <a:solidFill>
                  <a:srgbClr val="111111"/>
                </a:solidFill>
                <a:latin typeface="Calibri"/>
                <a:ea typeface="Calibri"/>
                <a:cs typeface="Calibri"/>
                <a:sym typeface="Calibri"/>
              </a:rPr>
              <a:t>→  </a:t>
            </a:r>
            <a:r>
              <a:rPr lang="en-US" sz="1700" b="true">
                <a:solidFill>
                  <a:srgbClr val="111111"/>
                </a:solidFill>
                <a:latin typeface="Nunito Semi-Bold"/>
                <a:ea typeface="Nunito Semi-Bold"/>
                <a:cs typeface="Nunito Semi-Bold"/>
                <a:sym typeface="Nunito Semi-Bold"/>
              </a:rPr>
              <a:t>suggest films with a similar genre, cast or keywords</a:t>
            </a:r>
          </a:p>
        </p:txBody>
      </p:sp>
      <p:sp>
        <p:nvSpPr>
          <p:cNvPr id="40" name="Rounded Rectangle 39"/>
          <p:cNvSpPr/>
          <p:nvPr/>
        </p:nvSpPr>
        <p:spPr>
          <a:xfrm>
            <a:off x="9258300" y="6198362"/>
            <a:ext cx="3863340" cy="1737360"/>
          </a:xfrm>
          <a:prstGeom prst="roundRect">
            <a:avLst>
              <a:gd name="adj" fmla="val 17894"/>
            </a:avLst>
          </a:prstGeom>
          <a:solidFill>
            <a:srgbClr val="F6ECDF"/>
          </a:solidFill>
          <a:ln>
            <a:noFill/>
          </a:ln>
        </p:spPr>
        <p:txBody>
          <a:bodyPr anchor="ctr" rtlCol="false" lIns="0" tIns="0" rIns="0" bIns="0" wrap="square"/>
          <a:lstStyle/>
          <a:p>
            <a:endParaRPr lang="en-US" sz="1800"/>
          </a:p>
        </p:txBody>
      </p:sp>
      <p:sp>
        <p:nvSpPr>
          <p:cNvPr id="41" name="Rounded Rectangle 40"/>
          <p:cNvSpPr/>
          <p:nvPr/>
        </p:nvSpPr>
        <p:spPr>
          <a:xfrm>
            <a:off x="9715500" y="5960618"/>
            <a:ext cx="2851659"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800"/>
              </a:lnSpc>
              <a:spcBef>
                <a:spcPts val="0"/>
              </a:spcBef>
              <a:buNone/>
            </a:pPr>
            <a:r>
              <a:rPr lang="en-US" sz="1500" b="true">
                <a:solidFill>
                  <a:srgbClr val="FFFFFF"/>
                </a:solidFill>
                <a:latin typeface="Nunito Bold"/>
                <a:ea typeface="Nunito Bold"/>
                <a:cs typeface="Nunito Bold"/>
                <a:sym typeface="Nunito Bold"/>
              </a:rPr>
              <a:t>Candidate item features</a:t>
            </a:r>
          </a:p>
        </p:txBody>
      </p:sp>
      <p:sp>
        <p:nvSpPr>
          <p:cNvPr id="42" name="TextBox 41"/>
          <p:cNvSpPr txBox="1"/>
          <p:nvPr/>
        </p:nvSpPr>
        <p:spPr>
          <a:xfrm>
            <a:off x="9532620" y="6701282"/>
            <a:ext cx="3314700" cy="1051560"/>
          </a:xfrm>
          <a:prstGeom prst="rect">
            <a:avLst/>
          </a:prstGeom>
          <a:noFill/>
        </p:spPr>
        <p:txBody>
          <a:bodyPr anchor="t" rtlCol="false" lIns="0" tIns="0" rIns="0" bIns="0" wrap="square"/>
          <a:lstStyle/>
          <a:p>
            <a:pPr algn="l">
              <a:lnSpc>
                <a:spcPts val="2100"/>
              </a:lnSpc>
              <a:spcBef>
                <a:spcPts val="0"/>
              </a:spcBef>
              <a:buNone/>
            </a:pPr>
            <a:r>
              <a:rPr lang="en-US" sz="1500" b="true">
                <a:solidFill>
                  <a:srgbClr val="111111"/>
                </a:solidFill>
                <a:latin typeface="Nunito Semi-Bold"/>
                <a:ea typeface="Nunito Semi-Bold"/>
                <a:cs typeface="Nunito Semi-Bold"/>
                <a:sym typeface="Nunito Semi-Bold"/>
              </a:rPr>
              <a:t>genre = Sci-Fi · director = Nolan
cast = … · year = 2010 · rating = 8.6</a:t>
            </a:r>
          </a:p>
        </p:txBody>
      </p:sp>
      <p:sp>
        <p:nvSpPr>
          <p:cNvPr id="43" name="Rounded Rectangle 42"/>
          <p:cNvSpPr/>
          <p:nvPr/>
        </p:nvSpPr>
        <p:spPr>
          <a:xfrm>
            <a:off x="13395960" y="6198362"/>
            <a:ext cx="3863340" cy="1737360"/>
          </a:xfrm>
          <a:prstGeom prst="roundRect">
            <a:avLst>
              <a:gd name="adj" fmla="val 17894"/>
            </a:avLst>
          </a:prstGeom>
          <a:solidFill>
            <a:srgbClr val="F6ECDF"/>
          </a:solidFill>
          <a:ln>
            <a:noFill/>
          </a:ln>
        </p:spPr>
        <p:txBody>
          <a:bodyPr anchor="ctr" rtlCol="false" lIns="0" tIns="0" rIns="0" bIns="0" wrap="square"/>
          <a:lstStyle/>
          <a:p>
            <a:endParaRPr lang="en-US" sz="1800"/>
          </a:p>
        </p:txBody>
      </p:sp>
      <p:sp>
        <p:nvSpPr>
          <p:cNvPr id="44" name="Rounded Rectangle 43"/>
          <p:cNvSpPr/>
          <p:nvPr/>
        </p:nvSpPr>
        <p:spPr>
          <a:xfrm>
            <a:off x="13853160" y="5960618"/>
            <a:ext cx="2443924"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800"/>
              </a:lnSpc>
              <a:spcBef>
                <a:spcPts val="0"/>
              </a:spcBef>
              <a:buNone/>
            </a:pPr>
            <a:r>
              <a:rPr lang="en-US" sz="1500" b="true">
                <a:solidFill>
                  <a:srgbClr val="FFFFFF"/>
                </a:solidFill>
                <a:latin typeface="Nunito Bold"/>
                <a:ea typeface="Nunito Bold"/>
                <a:cs typeface="Nunito Bold"/>
                <a:sym typeface="Nunito Bold"/>
              </a:rPr>
              <a:t>Why recommended</a:t>
            </a:r>
          </a:p>
        </p:txBody>
      </p:sp>
      <p:sp>
        <p:nvSpPr>
          <p:cNvPr id="45" name="TextBox 44"/>
          <p:cNvSpPr txBox="1"/>
          <p:nvPr/>
        </p:nvSpPr>
        <p:spPr>
          <a:xfrm>
            <a:off x="13670280" y="6701282"/>
            <a:ext cx="3314700" cy="1051560"/>
          </a:xfrm>
          <a:prstGeom prst="rect">
            <a:avLst/>
          </a:prstGeom>
          <a:noFill/>
        </p:spPr>
        <p:txBody>
          <a:bodyPr anchor="t" rtlCol="false" lIns="0" tIns="0" rIns="0" bIns="0" wrap="square"/>
          <a:lstStyle/>
          <a:p>
            <a:pPr algn="l">
              <a:lnSpc>
                <a:spcPts val="2100"/>
              </a:lnSpc>
              <a:spcBef>
                <a:spcPts val="0"/>
              </a:spcBef>
              <a:buNone/>
            </a:pPr>
            <a:r>
              <a:rPr lang="en-US" sz="1500" b="true">
                <a:solidFill>
                  <a:srgbClr val="111111"/>
                </a:solidFill>
                <a:latin typeface="Nunito Semi-Bold"/>
                <a:ea typeface="Nunito Semi-Bold"/>
                <a:cs typeface="Nunito Semi-Bold"/>
                <a:sym typeface="Nunito Semi-Bold"/>
              </a:rPr>
              <a:t>high cosine similarity to your profile
</a:t>
            </a:r>
            <a:r>
              <a:rPr lang="en-US" sz="1500" b="true">
                <a:solidFill>
                  <a:srgbClr val="111111"/>
                </a:solidFill>
                <a:latin typeface="Nunito Bold"/>
                <a:ea typeface="Nunito Bold"/>
                <a:cs typeface="Nunito Bold"/>
                <a:sym typeface="Nunito Bold"/>
              </a:rPr>
              <a:t>sim = cos(f</a:t>
            </a:r>
            <a:r>
              <a:rPr lang="en-US" sz="1500" b="true" baseline="-25000">
                <a:solidFill>
                  <a:srgbClr val="111111"/>
                </a:solidFill>
                <a:latin typeface="Nunito Bold"/>
                <a:ea typeface="Nunito Bold"/>
                <a:cs typeface="Nunito Bold"/>
                <a:sym typeface="Nunito Bold"/>
              </a:rPr>
              <a:t>user</a:t>
            </a:r>
            <a:r>
              <a:rPr lang="en-US" sz="1500" b="true">
                <a:solidFill>
                  <a:srgbClr val="111111"/>
                </a:solidFill>
                <a:latin typeface="Nunito Bold"/>
                <a:ea typeface="Nunito Bold"/>
                <a:cs typeface="Nunito Bold"/>
                <a:sym typeface="Nunito Bold"/>
              </a:rPr>
              <a:t>, f</a:t>
            </a:r>
            <a:r>
              <a:rPr lang="en-US" sz="1500" b="true" baseline="-25000">
                <a:solidFill>
                  <a:srgbClr val="111111"/>
                </a:solidFill>
                <a:latin typeface="Nunito Bold"/>
                <a:ea typeface="Nunito Bold"/>
                <a:cs typeface="Nunito Bold"/>
                <a:sym typeface="Nunito Bold"/>
              </a:rPr>
              <a:t>item</a:t>
            </a:r>
            <a:r>
              <a:rPr lang="en-US" sz="1500" b="true">
                <a:solidFill>
                  <a:srgbClr val="111111"/>
                </a:solidFill>
                <a:latin typeface="Nunito Bold"/>
                <a:ea typeface="Nunito Bold"/>
                <a:cs typeface="Nunito Bold"/>
                <a:sym typeface="Nunito Bold"/>
              </a:rPr>
              <a:t>)</a:t>
            </a:r>
          </a:p>
        </p:txBody>
      </p:sp>
      <p:sp>
        <p:nvSpPr>
          <p:cNvPr id="46" name="Rounded Rectangle 45"/>
          <p:cNvSpPr/>
          <p:nvPr/>
        </p:nvSpPr>
        <p:spPr>
          <a:xfrm>
            <a:off x="9258300" y="8210042"/>
            <a:ext cx="8001000" cy="1007110"/>
          </a:xfrm>
          <a:prstGeom prst="roundRect">
            <a:avLst>
              <a:gd name="adj" fmla="val 22698"/>
            </a:avLst>
          </a:prstGeom>
          <a:solidFill>
            <a:srgbClr val="124944"/>
          </a:solidFill>
          <a:ln>
            <a:noFill/>
          </a:ln>
        </p:spPr>
        <p:txBody>
          <a:bodyPr anchor="ctr" rtlCol="false" lIns="320040" tIns="91440" rIns="320040" bIns="91440" wrap="square"/>
          <a:lstStyle/>
          <a:p>
            <a:pPr algn="ctr">
              <a:lnSpc>
                <a:spcPts val="2100"/>
              </a:lnSpc>
              <a:spcBef>
                <a:spcPts val="0"/>
              </a:spcBef>
              <a:buNone/>
            </a:pPr>
            <a:r>
              <a:rPr lang="en-US" sz="1600" b="true">
                <a:solidFill>
                  <a:srgbClr val="FFFFFF"/>
                </a:solidFill>
                <a:latin typeface="Nunito Semi-Bold"/>
                <a:ea typeface="Nunito Semi-Bold"/>
                <a:cs typeface="Nunito Semi-Bold"/>
                <a:sym typeface="Nunito Semi-Bold"/>
              </a:rPr>
              <a:t>Explainable because the factors are </a:t>
            </a:r>
            <a:r>
              <a:rPr lang="en-US" sz="1600" b="true">
                <a:solidFill>
                  <a:srgbClr val="FFFFFF"/>
                </a:solidFill>
                <a:latin typeface="Nunito Bold"/>
                <a:ea typeface="Nunito Bold"/>
                <a:cs typeface="Nunito Bold"/>
                <a:sym typeface="Nunito Bold"/>
              </a:rPr>
              <a:t>domain-level and can be changed</a:t>
            </a:r>
            <a:r>
              <a:rPr lang="en-US" sz="1600" b="true">
                <a:solidFill>
                  <a:srgbClr val="FFFFFF"/>
                </a:solidFill>
                <a:latin typeface="Nunito Semi-Bold"/>
                <a:ea typeface="Nunito Semi-Bold"/>
                <a:cs typeface="Nunito Semi-Bold"/>
                <a:sym typeface="Nunito Semi-Bold"/>
              </a:rPr>
              <a:t>: exactly what is lost when latent factors and message passing take over.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[22] Adomavicius, G. &amp; Tuzhilin, A. Toward the Next Generation of Recommender Systems. IEEE TKDE 17(6), 734–749 (2005).  ·  Burke, R. Hybrid Recommender Systems. UMUAI 12(4), 331–370 (2002).</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10</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CONTEXT &amp; PROBLEMATIC</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Collaborative Filtering</a:t>
            </a:r>
          </a:p>
        </p:txBody>
      </p:sp>
      <p:pic>
        <p:nvPicPr>
          <p:cNvPr id="23" name="Picture 22" descr="image.png"/>
          <p:cNvPicPr>
            <a:picLocks noChangeAspect="1"/>
          </p:cNvPicPr>
          <p:nvPr/>
        </p:nvPicPr>
        <p:blipFill>
          <a:blip r:embed="rId3"/>
          <a:stretch>
            <a:fillRect/>
          </a:stretch>
        </p:blipFill>
        <p:spPr>
          <a:xfrm>
            <a:off x="7040539" y="1673352"/>
            <a:ext cx="457200" cy="539881"/>
          </a:xfrm>
          <a:prstGeom prst="rect">
            <a:avLst/>
          </a:prstGeom>
        </p:spPr>
      </p:pic>
      <p:sp>
        <p:nvSpPr>
          <p:cNvPr id="24" name="Rounded Rectangle 23"/>
          <p:cNvSpPr/>
          <p:nvPr/>
        </p:nvSpPr>
        <p:spPr>
          <a:xfrm>
            <a:off x="1028700" y="2559050"/>
            <a:ext cx="1854490"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Approaches</a:t>
            </a:r>
          </a:p>
        </p:txBody>
      </p:sp>
      <p:sp>
        <p:nvSpPr>
          <p:cNvPr id="25" name="Rounded Rectangle 24"/>
          <p:cNvSpPr/>
          <p:nvPr/>
        </p:nvSpPr>
        <p:spPr>
          <a:xfrm>
            <a:off x="3011206" y="2559050"/>
            <a:ext cx="187097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Problematic</a:t>
            </a:r>
          </a:p>
        </p:txBody>
      </p:sp>
      <p:sp>
        <p:nvSpPr>
          <p:cNvPr id="26" name="Rounded Rectangle 25"/>
          <p:cNvSpPr/>
          <p:nvPr/>
        </p:nvSpPr>
        <p:spPr>
          <a:xfrm>
            <a:off x="5010194" y="2559050"/>
            <a:ext cx="2041208"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Contributions</a:t>
            </a:r>
          </a:p>
        </p:txBody>
      </p:sp>
      <p:sp>
        <p:nvSpPr>
          <p:cNvPr id="27" name="TextBox 26"/>
          <p:cNvSpPr txBox="1"/>
          <p:nvPr/>
        </p:nvSpPr>
        <p:spPr>
          <a:xfrm>
            <a:off x="1028700" y="3363722"/>
            <a:ext cx="7680960" cy="439039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Recommends items using the </a:t>
            </a:r>
            <a:r>
              <a:rPr lang="en-US" sz="2100" b="true">
                <a:solidFill>
                  <a:srgbClr val="111111"/>
                </a:solidFill>
                <a:latin typeface="Nunito Bold"/>
                <a:ea typeface="Nunito Bold"/>
                <a:cs typeface="Nunito Bold"/>
                <a:sym typeface="Nunito Bold"/>
              </a:rPr>
              <a:t>preferences and behaviour of similar users</a:t>
            </a:r>
            <a:r>
              <a:rPr lang="en-US" sz="2100" b="true">
                <a:solidFill>
                  <a:srgbClr val="111111"/>
                </a:solidFill>
                <a:latin typeface="Nunito Semi-Bold"/>
                <a:ea typeface="Nunito Semi-Bold"/>
                <a:cs typeface="Nunito Semi-Bold"/>
                <a:sym typeface="Nunito Semi-Bold"/>
              </a:rPr>
              <a:t>.</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Finds patterns in </a:t>
            </a:r>
            <a:r>
              <a:rPr lang="en-US" sz="2100" b="true">
                <a:solidFill>
                  <a:srgbClr val="111111"/>
                </a:solidFill>
                <a:latin typeface="Nunito Bold"/>
                <a:ea typeface="Nunito Bold"/>
                <a:cs typeface="Nunito Bold"/>
                <a:sym typeface="Nunito Bold"/>
              </a:rPr>
              <a:t>user-item interactions</a:t>
            </a:r>
            <a:r>
              <a:rPr lang="en-US" sz="2100" b="true">
                <a:solidFill>
                  <a:srgbClr val="111111"/>
                </a:solidFill>
                <a:latin typeface="Nunito Semi-Bold"/>
                <a:ea typeface="Nunito Semi-Bold"/>
                <a:cs typeface="Nunito Semi-Bold"/>
                <a:sym typeface="Nunito Semi-Bold"/>
              </a:rPr>
              <a:t>: ratings, clicks, purchases.</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Can be </a:t>
            </a:r>
            <a:r>
              <a:rPr lang="en-US" sz="2100" b="true">
                <a:solidFill>
                  <a:srgbClr val="111111"/>
                </a:solidFill>
                <a:latin typeface="Nunito Bold"/>
                <a:ea typeface="Nunito Bold"/>
                <a:cs typeface="Nunito Bold"/>
                <a:sym typeface="Nunito Bold"/>
              </a:rPr>
              <a:t>user-based</a:t>
            </a:r>
            <a:r>
              <a:rPr lang="en-US" sz="2100" b="true">
                <a:solidFill>
                  <a:srgbClr val="111111"/>
                </a:solidFill>
                <a:latin typeface="Nunito Semi-Bold"/>
                <a:ea typeface="Nunito Semi-Bold"/>
                <a:cs typeface="Nunito Semi-Bold"/>
                <a:sym typeface="Nunito Semi-Bold"/>
              </a:rPr>
              <a:t> or </a:t>
            </a:r>
            <a:r>
              <a:rPr lang="en-US" sz="2100" b="true">
                <a:solidFill>
                  <a:srgbClr val="111111"/>
                </a:solidFill>
                <a:latin typeface="Nunito Bold"/>
                <a:ea typeface="Nunito Bold"/>
                <a:cs typeface="Nunito Bold"/>
                <a:sym typeface="Nunito Bold"/>
              </a:rPr>
              <a:t>item-based</a:t>
            </a:r>
            <a:r>
              <a:rPr lang="en-US" sz="2100" b="true">
                <a:solidFill>
                  <a:srgbClr val="111111"/>
                </a:solidFill>
                <a:latin typeface="Nunito Semi-Bold"/>
                <a:ea typeface="Nunito Semi-Bold"/>
                <a:cs typeface="Nunito Semi-Bold"/>
                <a:sym typeface="Nunito Semi-Bold"/>
              </a:rPr>
              <a:t>; needs no item content at all.</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The base idea behind matrix factorisation and graph recommenders.</a:t>
            </a:r>
          </a:p>
        </p:txBody>
      </p:sp>
      <p:sp>
        <p:nvSpPr>
          <p:cNvPr id="28" name="Rounded Rectangle 27"/>
          <p:cNvSpPr/>
          <p:nvPr/>
        </p:nvSpPr>
        <p:spPr>
          <a:xfrm>
            <a:off x="1028700" y="8028432"/>
            <a:ext cx="7680960" cy="1097280"/>
          </a:xfrm>
          <a:prstGeom prst="roundRect">
            <a:avLst>
              <a:gd name="adj" fmla="val 18333"/>
            </a:avLst>
          </a:prstGeom>
          <a:solidFill>
            <a:srgbClr val="F6ECDF"/>
          </a:solidFill>
          <a:ln w="25400">
            <a:solidFill>
              <a:srgbClr val="DF8330"/>
            </a:solidFill>
          </a:ln>
        </p:spPr>
        <p:txBody>
          <a:bodyPr anchor="ctr" rtlCol="false" lIns="0" tIns="0" rIns="0" bIns="0" wrap="square"/>
          <a:lstStyle/>
          <a:p>
            <a:endParaRPr lang="en-US" sz="1800"/>
          </a:p>
        </p:txBody>
      </p:sp>
      <p:sp>
        <p:nvSpPr>
          <p:cNvPr id="29" name="Rounded Rectangle 28"/>
          <p:cNvSpPr/>
          <p:nvPr/>
        </p:nvSpPr>
        <p:spPr>
          <a:xfrm>
            <a:off x="1348740" y="7836408"/>
            <a:ext cx="1609901"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LIMITATION</a:t>
            </a:r>
          </a:p>
        </p:txBody>
      </p:sp>
      <p:sp>
        <p:nvSpPr>
          <p:cNvPr id="30" name="TextBox 29"/>
          <p:cNvSpPr txBox="1"/>
          <p:nvPr/>
        </p:nvSpPr>
        <p:spPr>
          <a:xfrm>
            <a:off x="1394460" y="8302752"/>
            <a:ext cx="6949440" cy="685800"/>
          </a:xfrm>
          <a:prstGeom prst="rect">
            <a:avLst/>
          </a:prstGeom>
          <a:noFill/>
        </p:spPr>
        <p:txBody>
          <a:bodyPr anchor="ctr" rtlCol="false" lIns="0" tIns="0" rIns="0" bIns="0" wrap="square"/>
          <a:lstStyle/>
          <a:p>
            <a:pPr algn="l">
              <a:lnSpc>
                <a:spcPts val="2380"/>
              </a:lnSpc>
              <a:spcBef>
                <a:spcPts val="0"/>
              </a:spcBef>
              <a:buNone/>
            </a:pPr>
            <a:r>
              <a:rPr lang="en-US" sz="1700" b="true">
                <a:solidFill>
                  <a:srgbClr val="111111"/>
                </a:solidFill>
                <a:latin typeface="Nunito Semi-Bold"/>
                <a:ea typeface="Nunito Semi-Bold"/>
                <a:cs typeface="Nunito Semi-Bold"/>
                <a:sym typeface="Nunito Semi-Bold"/>
              </a:rPr>
              <a:t>It struggles with new users or new items because of limited interaction data (cold start).</a:t>
            </a:r>
          </a:p>
        </p:txBody>
      </p:sp>
      <p:sp>
        <p:nvSpPr>
          <p:cNvPr id="31" name="TextBox 30"/>
          <p:cNvSpPr txBox="1"/>
          <p:nvPr/>
        </p:nvSpPr>
        <p:spPr>
          <a:xfrm>
            <a:off x="9258300" y="3363722"/>
            <a:ext cx="8001000" cy="365760"/>
          </a:xfrm>
          <a:prstGeom prst="rect">
            <a:avLst/>
          </a:prstGeom>
          <a:noFill/>
        </p:spPr>
        <p:txBody>
          <a:bodyPr anchor="t" rtlCol="false" lIns="0" tIns="0" rIns="0" bIns="0" wrap="square"/>
          <a:lstStyle/>
          <a:p>
            <a:pPr algn="ctr">
              <a:lnSpc>
                <a:spcPts val="1800"/>
              </a:lnSpc>
              <a:spcBef>
                <a:spcPts val="0"/>
              </a:spcBef>
              <a:buNone/>
            </a:pPr>
            <a:r>
              <a:rPr lang="en-US" sz="1400" b="true" spc="140">
                <a:solidFill>
                  <a:srgbClr val="DF8330"/>
                </a:solidFill>
                <a:latin typeface="Nunito Ultra-Bold"/>
                <a:ea typeface="Nunito Ultra-Bold"/>
                <a:cs typeface="Nunito Ultra-Bold"/>
                <a:sym typeface="Nunito Ultra-Bold"/>
              </a:rPr>
              <a:t>USER-BASED  ·  ITEM-BASED</a:t>
            </a:r>
          </a:p>
        </p:txBody>
      </p:sp>
      <p:sp>
        <p:nvSpPr>
          <p:cNvPr id="32" name="Oval 31"/>
          <p:cNvSpPr/>
          <p:nvPr/>
        </p:nvSpPr>
        <p:spPr>
          <a:xfrm>
            <a:off x="10081260" y="4278122"/>
            <a:ext cx="685800" cy="685800"/>
          </a:xfrm>
          <a:prstGeom prst="ellipse">
            <a:avLst/>
          </a:prstGeom>
          <a:solidFill>
            <a:srgbClr val="124944"/>
          </a:solidFill>
          <a:ln>
            <a:noFill/>
          </a:ln>
        </p:spPr>
        <p:txBody>
          <a:bodyPr anchor="ctr" rtlCol="false" lIns="0" tIns="0" rIns="0" bIns="0" wrap="square"/>
          <a:lstStyle/>
          <a:p>
            <a:pPr algn="ctr">
              <a:lnSpc>
                <a:spcPts val="1760"/>
              </a:lnSpc>
              <a:spcBef>
                <a:spcPts val="0"/>
              </a:spcBef>
              <a:buNone/>
            </a:pPr>
            <a:r>
              <a:rPr lang="en-US" sz="1600" b="true">
                <a:solidFill>
                  <a:srgbClr val="FFFFFF"/>
                </a:solidFill>
                <a:latin typeface="Nunito Ultra-Bold"/>
                <a:ea typeface="Nunito Ultra-Bold"/>
                <a:cs typeface="Nunito Ultra-Bold"/>
                <a:sym typeface="Nunito Ultra-Bold"/>
              </a:rPr>
              <a:t>u1</a:t>
            </a:r>
          </a:p>
        </p:txBody>
      </p:sp>
      <p:sp>
        <p:nvSpPr>
          <p:cNvPr id="33" name="Oval 32"/>
          <p:cNvSpPr/>
          <p:nvPr/>
        </p:nvSpPr>
        <p:spPr>
          <a:xfrm>
            <a:off x="10081260" y="5329682"/>
            <a:ext cx="685800" cy="685800"/>
          </a:xfrm>
          <a:prstGeom prst="ellipse">
            <a:avLst/>
          </a:prstGeom>
          <a:solidFill>
            <a:srgbClr val="124944"/>
          </a:solidFill>
          <a:ln>
            <a:noFill/>
          </a:ln>
        </p:spPr>
        <p:txBody>
          <a:bodyPr anchor="ctr" rtlCol="false" lIns="0" tIns="0" rIns="0" bIns="0" wrap="square"/>
          <a:lstStyle/>
          <a:p>
            <a:pPr algn="ctr">
              <a:lnSpc>
                <a:spcPts val="1760"/>
              </a:lnSpc>
              <a:spcBef>
                <a:spcPts val="0"/>
              </a:spcBef>
              <a:buNone/>
            </a:pPr>
            <a:r>
              <a:rPr lang="en-US" sz="1600" b="true">
                <a:solidFill>
                  <a:srgbClr val="FFFFFF"/>
                </a:solidFill>
                <a:latin typeface="Nunito Ultra-Bold"/>
                <a:ea typeface="Nunito Ultra-Bold"/>
                <a:cs typeface="Nunito Ultra-Bold"/>
                <a:sym typeface="Nunito Ultra-Bold"/>
              </a:rPr>
              <a:t>u2</a:t>
            </a:r>
          </a:p>
        </p:txBody>
      </p:sp>
      <p:sp>
        <p:nvSpPr>
          <p:cNvPr id="34" name="Oval 33"/>
          <p:cNvSpPr/>
          <p:nvPr/>
        </p:nvSpPr>
        <p:spPr>
          <a:xfrm>
            <a:off x="10081260" y="6381242"/>
            <a:ext cx="685800" cy="685800"/>
          </a:xfrm>
          <a:prstGeom prst="ellipse">
            <a:avLst/>
          </a:prstGeom>
          <a:solidFill>
            <a:srgbClr val="124944"/>
          </a:solidFill>
          <a:ln>
            <a:noFill/>
          </a:ln>
        </p:spPr>
        <p:txBody>
          <a:bodyPr anchor="ctr" rtlCol="false" lIns="0" tIns="0" rIns="0" bIns="0" wrap="square"/>
          <a:lstStyle/>
          <a:p>
            <a:pPr algn="ctr">
              <a:lnSpc>
                <a:spcPts val="1760"/>
              </a:lnSpc>
              <a:spcBef>
                <a:spcPts val="0"/>
              </a:spcBef>
              <a:buNone/>
            </a:pPr>
            <a:r>
              <a:rPr lang="en-US" sz="1600" b="true">
                <a:solidFill>
                  <a:srgbClr val="FFFFFF"/>
                </a:solidFill>
                <a:latin typeface="Nunito Ultra-Bold"/>
                <a:ea typeface="Nunito Ultra-Bold"/>
                <a:cs typeface="Nunito Ultra-Bold"/>
                <a:sym typeface="Nunito Ultra-Bold"/>
              </a:rPr>
              <a:t>u3</a:t>
            </a:r>
          </a:p>
        </p:txBody>
      </p:sp>
      <p:sp>
        <p:nvSpPr>
          <p:cNvPr id="35" name="Rounded Rectangle 34"/>
          <p:cNvSpPr/>
          <p:nvPr/>
        </p:nvSpPr>
        <p:spPr>
          <a:xfrm>
            <a:off x="16162020" y="4003802"/>
            <a:ext cx="685800" cy="640080"/>
          </a:xfrm>
          <a:prstGeom prst="roundRect">
            <a:avLst>
              <a:gd name="adj" fmla="val 17142"/>
            </a:avLst>
          </a:prstGeom>
          <a:solidFill>
            <a:srgbClr val="DF8330"/>
          </a:solidFill>
          <a:ln>
            <a:noFill/>
          </a:ln>
        </p:spPr>
        <p:txBody>
          <a:bodyPr anchor="ctr" rtlCol="false" lIns="0" tIns="0" rIns="0" bIns="0" wrap="square"/>
          <a:lstStyle/>
          <a:p>
            <a:endParaRPr lang="en-US" sz="1800"/>
          </a:p>
        </p:txBody>
      </p:sp>
      <p:sp>
        <p:nvSpPr>
          <p:cNvPr id="36" name="TextBox 35"/>
          <p:cNvSpPr txBox="1"/>
          <p:nvPr/>
        </p:nvSpPr>
        <p:spPr>
          <a:xfrm>
            <a:off x="16162020" y="4003802"/>
            <a:ext cx="685800" cy="640080"/>
          </a:xfrm>
          <a:prstGeom prst="rect">
            <a:avLst/>
          </a:prstGeom>
          <a:noFill/>
        </p:spPr>
        <p:txBody>
          <a:bodyPr anchor="ctr" rtlCol="false" lIns="0" tIns="0" rIns="0" bIns="0" wrap="square"/>
          <a:lstStyle/>
          <a:p>
            <a:pPr algn="ctr">
              <a:lnSpc>
                <a:spcPts val="1800"/>
              </a:lnSpc>
              <a:spcBef>
                <a:spcPts val="0"/>
              </a:spcBef>
              <a:buNone/>
            </a:pPr>
            <a:r>
              <a:rPr lang="en-US" sz="1500" b="true">
                <a:solidFill>
                  <a:srgbClr val="FFFFFF"/>
                </a:solidFill>
                <a:latin typeface="Nunito Ultra-Bold"/>
                <a:ea typeface="Nunito Ultra-Bold"/>
                <a:cs typeface="Nunito Ultra-Bold"/>
                <a:sym typeface="Nunito Ultra-Bold"/>
              </a:rPr>
              <a:t>i1</a:t>
            </a:r>
          </a:p>
        </p:txBody>
      </p:sp>
      <p:sp>
        <p:nvSpPr>
          <p:cNvPr id="37" name="Rounded Rectangle 36"/>
          <p:cNvSpPr/>
          <p:nvPr/>
        </p:nvSpPr>
        <p:spPr>
          <a:xfrm>
            <a:off x="16162020" y="4826762"/>
            <a:ext cx="685800" cy="640080"/>
          </a:xfrm>
          <a:prstGeom prst="roundRect">
            <a:avLst>
              <a:gd name="adj" fmla="val 17142"/>
            </a:avLst>
          </a:prstGeom>
          <a:solidFill>
            <a:srgbClr val="DF8330"/>
          </a:solidFill>
          <a:ln>
            <a:noFill/>
          </a:ln>
        </p:spPr>
        <p:txBody>
          <a:bodyPr anchor="ctr" rtlCol="false" lIns="0" tIns="0" rIns="0" bIns="0" wrap="square"/>
          <a:lstStyle/>
          <a:p>
            <a:endParaRPr lang="en-US" sz="1800"/>
          </a:p>
        </p:txBody>
      </p:sp>
      <p:sp>
        <p:nvSpPr>
          <p:cNvPr id="38" name="TextBox 37"/>
          <p:cNvSpPr txBox="1"/>
          <p:nvPr/>
        </p:nvSpPr>
        <p:spPr>
          <a:xfrm>
            <a:off x="16162020" y="4826762"/>
            <a:ext cx="685800" cy="640080"/>
          </a:xfrm>
          <a:prstGeom prst="rect">
            <a:avLst/>
          </a:prstGeom>
          <a:noFill/>
        </p:spPr>
        <p:txBody>
          <a:bodyPr anchor="ctr" rtlCol="false" lIns="0" tIns="0" rIns="0" bIns="0" wrap="square"/>
          <a:lstStyle/>
          <a:p>
            <a:pPr algn="ctr">
              <a:lnSpc>
                <a:spcPts val="1800"/>
              </a:lnSpc>
              <a:spcBef>
                <a:spcPts val="0"/>
              </a:spcBef>
              <a:buNone/>
            </a:pPr>
            <a:r>
              <a:rPr lang="en-US" sz="1500" b="true">
                <a:solidFill>
                  <a:srgbClr val="FFFFFF"/>
                </a:solidFill>
                <a:latin typeface="Nunito Ultra-Bold"/>
                <a:ea typeface="Nunito Ultra-Bold"/>
                <a:cs typeface="Nunito Ultra-Bold"/>
                <a:sym typeface="Nunito Ultra-Bold"/>
              </a:rPr>
              <a:t>i2</a:t>
            </a:r>
          </a:p>
        </p:txBody>
      </p:sp>
      <p:sp>
        <p:nvSpPr>
          <p:cNvPr id="39" name="Rounded Rectangle 38"/>
          <p:cNvSpPr/>
          <p:nvPr/>
        </p:nvSpPr>
        <p:spPr>
          <a:xfrm>
            <a:off x="16162020" y="5649722"/>
            <a:ext cx="685800" cy="640080"/>
          </a:xfrm>
          <a:prstGeom prst="roundRect">
            <a:avLst>
              <a:gd name="adj" fmla="val 17142"/>
            </a:avLst>
          </a:prstGeom>
          <a:solidFill>
            <a:srgbClr val="DF8330"/>
          </a:solidFill>
          <a:ln>
            <a:noFill/>
          </a:ln>
        </p:spPr>
        <p:txBody>
          <a:bodyPr anchor="ctr" rtlCol="false" lIns="0" tIns="0" rIns="0" bIns="0" wrap="square"/>
          <a:lstStyle/>
          <a:p>
            <a:endParaRPr lang="en-US" sz="1800"/>
          </a:p>
        </p:txBody>
      </p:sp>
      <p:sp>
        <p:nvSpPr>
          <p:cNvPr id="40" name="TextBox 39"/>
          <p:cNvSpPr txBox="1"/>
          <p:nvPr/>
        </p:nvSpPr>
        <p:spPr>
          <a:xfrm>
            <a:off x="16162020" y="5649722"/>
            <a:ext cx="685800" cy="640080"/>
          </a:xfrm>
          <a:prstGeom prst="rect">
            <a:avLst/>
          </a:prstGeom>
          <a:noFill/>
        </p:spPr>
        <p:txBody>
          <a:bodyPr anchor="ctr" rtlCol="false" lIns="0" tIns="0" rIns="0" bIns="0" wrap="square"/>
          <a:lstStyle/>
          <a:p>
            <a:pPr algn="ctr">
              <a:lnSpc>
                <a:spcPts val="1800"/>
              </a:lnSpc>
              <a:spcBef>
                <a:spcPts val="0"/>
              </a:spcBef>
              <a:buNone/>
            </a:pPr>
            <a:r>
              <a:rPr lang="en-US" sz="1500" b="true">
                <a:solidFill>
                  <a:srgbClr val="FFFFFF"/>
                </a:solidFill>
                <a:latin typeface="Nunito Ultra-Bold"/>
                <a:ea typeface="Nunito Ultra-Bold"/>
                <a:cs typeface="Nunito Ultra-Bold"/>
                <a:sym typeface="Nunito Ultra-Bold"/>
              </a:rPr>
              <a:t>i3</a:t>
            </a:r>
          </a:p>
        </p:txBody>
      </p:sp>
      <p:sp>
        <p:nvSpPr>
          <p:cNvPr id="41" name="Rounded Rectangle 40"/>
          <p:cNvSpPr/>
          <p:nvPr/>
        </p:nvSpPr>
        <p:spPr>
          <a:xfrm>
            <a:off x="16162020" y="6472682"/>
            <a:ext cx="685800" cy="640080"/>
          </a:xfrm>
          <a:prstGeom prst="roundRect">
            <a:avLst>
              <a:gd name="adj" fmla="val 17142"/>
            </a:avLst>
          </a:prstGeom>
          <a:solidFill>
            <a:srgbClr val="DF8330"/>
          </a:solidFill>
          <a:ln>
            <a:noFill/>
          </a:ln>
        </p:spPr>
        <p:txBody>
          <a:bodyPr anchor="ctr" rtlCol="false" lIns="0" tIns="0" rIns="0" bIns="0" wrap="square"/>
          <a:lstStyle/>
          <a:p>
            <a:endParaRPr lang="en-US" sz="1800"/>
          </a:p>
        </p:txBody>
      </p:sp>
      <p:sp>
        <p:nvSpPr>
          <p:cNvPr id="42" name="TextBox 41"/>
          <p:cNvSpPr txBox="1"/>
          <p:nvPr/>
        </p:nvSpPr>
        <p:spPr>
          <a:xfrm>
            <a:off x="16162020" y="6472682"/>
            <a:ext cx="685800" cy="640080"/>
          </a:xfrm>
          <a:prstGeom prst="rect">
            <a:avLst/>
          </a:prstGeom>
          <a:noFill/>
        </p:spPr>
        <p:txBody>
          <a:bodyPr anchor="ctr" rtlCol="false" lIns="0" tIns="0" rIns="0" bIns="0" wrap="square"/>
          <a:lstStyle/>
          <a:p>
            <a:pPr algn="ctr">
              <a:lnSpc>
                <a:spcPts val="1800"/>
              </a:lnSpc>
              <a:spcBef>
                <a:spcPts val="0"/>
              </a:spcBef>
              <a:buNone/>
            </a:pPr>
            <a:r>
              <a:rPr lang="en-US" sz="1500" b="true">
                <a:solidFill>
                  <a:srgbClr val="FFFFFF"/>
                </a:solidFill>
                <a:latin typeface="Nunito Ultra-Bold"/>
                <a:ea typeface="Nunito Ultra-Bold"/>
                <a:cs typeface="Nunito Ultra-Bold"/>
                <a:sym typeface="Nunito Ultra-Bold"/>
              </a:rPr>
              <a:t>i4</a:t>
            </a:r>
          </a:p>
        </p:txBody>
      </p:sp>
      <p:cxnSp>
        <p:nvCxnSpPr>
          <p:cNvPr id="43" name="Connector 42"/>
          <p:cNvCxnSpPr/>
          <p:nvPr/>
        </p:nvCxnSpPr>
        <p:spPr>
          <a:xfrm flipV="1">
            <a:off x="10767060" y="4323842"/>
            <a:ext cx="5394960" cy="297180"/>
          </a:xfrm>
          <a:prstGeom prst="line">
            <a:avLst/>
          </a:prstGeom>
          <a:ln w="22225">
            <a:solidFill>
              <a:srgbClr val="124944"/>
            </a:solidFill>
          </a:ln>
        </p:spPr>
      </p:cxnSp>
      <p:cxnSp>
        <p:nvCxnSpPr>
          <p:cNvPr id="44" name="Connector 43"/>
          <p:cNvCxnSpPr/>
          <p:nvPr/>
        </p:nvCxnSpPr>
        <p:spPr>
          <a:xfrm>
            <a:off x="10767060" y="4621022"/>
            <a:ext cx="5394960" cy="525780"/>
          </a:xfrm>
          <a:prstGeom prst="line">
            <a:avLst/>
          </a:prstGeom>
          <a:ln w="22225">
            <a:solidFill>
              <a:srgbClr val="124944"/>
            </a:solidFill>
          </a:ln>
        </p:spPr>
      </p:cxnSp>
      <p:cxnSp>
        <p:nvCxnSpPr>
          <p:cNvPr id="45" name="Connector 44"/>
          <p:cNvCxnSpPr/>
          <p:nvPr/>
        </p:nvCxnSpPr>
        <p:spPr>
          <a:xfrm flipV="1">
            <a:off x="10767060" y="4323842"/>
            <a:ext cx="5394960" cy="1348740"/>
          </a:xfrm>
          <a:prstGeom prst="line">
            <a:avLst/>
          </a:prstGeom>
          <a:ln w="22225">
            <a:solidFill>
              <a:srgbClr val="124944"/>
            </a:solidFill>
          </a:ln>
        </p:spPr>
      </p:cxnSp>
      <p:cxnSp>
        <p:nvCxnSpPr>
          <p:cNvPr id="46" name="Connector 45"/>
          <p:cNvCxnSpPr/>
          <p:nvPr/>
        </p:nvCxnSpPr>
        <p:spPr>
          <a:xfrm flipV="1">
            <a:off x="10767060" y="5146802"/>
            <a:ext cx="5394960" cy="525780"/>
          </a:xfrm>
          <a:prstGeom prst="line">
            <a:avLst/>
          </a:prstGeom>
          <a:ln w="22225">
            <a:solidFill>
              <a:srgbClr val="124944"/>
            </a:solidFill>
          </a:ln>
        </p:spPr>
      </p:cxnSp>
      <p:cxnSp>
        <p:nvCxnSpPr>
          <p:cNvPr id="47" name="Connector 46"/>
          <p:cNvCxnSpPr/>
          <p:nvPr/>
        </p:nvCxnSpPr>
        <p:spPr>
          <a:xfrm>
            <a:off x="10767060" y="5672582"/>
            <a:ext cx="5394960" cy="297180"/>
          </a:xfrm>
          <a:prstGeom prst="line">
            <a:avLst/>
          </a:prstGeom>
          <a:ln w="22225">
            <a:solidFill>
              <a:srgbClr val="124944"/>
            </a:solidFill>
          </a:ln>
        </p:spPr>
      </p:cxnSp>
      <p:cxnSp>
        <p:nvCxnSpPr>
          <p:cNvPr id="48" name="Connector 47"/>
          <p:cNvCxnSpPr/>
          <p:nvPr/>
        </p:nvCxnSpPr>
        <p:spPr>
          <a:xfrm flipV="1">
            <a:off x="10767060" y="5969762"/>
            <a:ext cx="5394960" cy="754380"/>
          </a:xfrm>
          <a:prstGeom prst="line">
            <a:avLst/>
          </a:prstGeom>
          <a:ln w="22225">
            <a:solidFill>
              <a:srgbClr val="124944"/>
            </a:solidFill>
          </a:ln>
        </p:spPr>
      </p:cxnSp>
      <p:cxnSp>
        <p:nvCxnSpPr>
          <p:cNvPr id="49" name="Connector 48"/>
          <p:cNvCxnSpPr/>
          <p:nvPr/>
        </p:nvCxnSpPr>
        <p:spPr>
          <a:xfrm>
            <a:off x="10767060" y="6724142"/>
            <a:ext cx="5394960" cy="68580"/>
          </a:xfrm>
          <a:prstGeom prst="line">
            <a:avLst/>
          </a:prstGeom>
          <a:ln w="22225">
            <a:solidFill>
              <a:srgbClr val="124944"/>
            </a:solidFill>
          </a:ln>
        </p:spPr>
      </p:cxnSp>
      <p:cxnSp>
        <p:nvCxnSpPr>
          <p:cNvPr id="50" name="Connector 49"/>
          <p:cNvCxnSpPr/>
          <p:nvPr/>
        </p:nvCxnSpPr>
        <p:spPr>
          <a:xfrm>
            <a:off x="10767060" y="4621022"/>
            <a:ext cx="5394960" cy="1348740"/>
          </a:xfrm>
          <a:prstGeom prst="line">
            <a:avLst/>
          </a:prstGeom>
          <a:ln w="31750">
            <a:solidFill>
              <a:srgbClr val="DF8330"/>
            </a:solidFill>
            <a:prstDash val="dash"/>
          </a:ln>
        </p:spPr>
      </p:cxnSp>
      <p:sp>
        <p:nvSpPr>
          <p:cNvPr id="51" name="TextBox 50"/>
          <p:cNvSpPr txBox="1"/>
          <p:nvPr/>
        </p:nvSpPr>
        <p:spPr>
          <a:xfrm>
            <a:off x="9258300" y="7432802"/>
            <a:ext cx="8001000" cy="411480"/>
          </a:xfrm>
          <a:prstGeom prst="rect">
            <a:avLst/>
          </a:prstGeom>
          <a:noFill/>
        </p:spPr>
        <p:txBody>
          <a:bodyPr anchor="t" rtlCol="false" lIns="0" tIns="0" rIns="0" bIns="0" wrap="square"/>
          <a:lstStyle/>
          <a:p>
            <a:pPr algn="ctr">
              <a:lnSpc>
                <a:spcPts val="2000"/>
              </a:lnSpc>
              <a:spcBef>
                <a:spcPts val="0"/>
              </a:spcBef>
              <a:buNone/>
            </a:pPr>
            <a:r>
              <a:rPr lang="en-US" sz="1600" b="true">
                <a:solidFill>
                  <a:srgbClr val="111111"/>
                </a:solidFill>
                <a:latin typeface="Nunito Semi-Bold"/>
                <a:ea typeface="Nunito Semi-Bold"/>
                <a:cs typeface="Nunito Semi-Bold"/>
                <a:sym typeface="Nunito Semi-Bold"/>
              </a:rPr>
              <a:t>u1 behaves like u2  </a:t>
            </a:r>
            <a:r>
              <a:rPr lang="en-US" sz="1600" b="true">
                <a:solidFill>
                  <a:srgbClr val="111111"/>
                </a:solidFill>
                <a:latin typeface="Calibri"/>
                <a:ea typeface="Calibri"/>
                <a:cs typeface="Calibri"/>
                <a:sym typeface="Calibri"/>
              </a:rPr>
              <a:t>→  </a:t>
            </a:r>
            <a:r>
              <a:rPr lang="en-US" sz="1600" b="true">
                <a:solidFill>
                  <a:srgbClr val="111111"/>
                </a:solidFill>
                <a:latin typeface="Nunito Bold"/>
                <a:ea typeface="Nunito Bold"/>
                <a:cs typeface="Nunito Bold"/>
                <a:sym typeface="Nunito Bold"/>
              </a:rPr>
              <a:t>recommend i3 to u1</a:t>
            </a:r>
            <a:r>
              <a:rPr lang="en-US" sz="1600" b="true">
                <a:solidFill>
                  <a:srgbClr val="111111"/>
                </a:solidFill>
                <a:latin typeface="Nunito Semi-Bold"/>
                <a:ea typeface="Nunito Semi-Bold"/>
                <a:cs typeface="Nunito Semi-Bold"/>
                <a:sym typeface="Nunito Semi-Bold"/>
              </a:rPr>
              <a:t> (dashed)</a:t>
            </a:r>
          </a:p>
        </p:txBody>
      </p:sp>
      <p:sp>
        <p:nvSpPr>
          <p:cNvPr id="52" name="Rounded Rectangle 51"/>
          <p:cNvSpPr/>
          <p:nvPr/>
        </p:nvSpPr>
        <p:spPr>
          <a:xfrm>
            <a:off x="9258300" y="8164322"/>
            <a:ext cx="3863340" cy="1052830"/>
          </a:xfrm>
          <a:prstGeom prst="roundRect">
            <a:avLst>
              <a:gd name="adj" fmla="val 29529"/>
            </a:avLst>
          </a:prstGeom>
          <a:solidFill>
            <a:srgbClr val="F6ECDF"/>
          </a:solidFill>
          <a:ln>
            <a:noFill/>
          </a:ln>
        </p:spPr>
        <p:txBody>
          <a:bodyPr anchor="ctr" rtlCol="false" lIns="0" tIns="0" rIns="0" bIns="0" wrap="square"/>
          <a:lstStyle/>
          <a:p>
            <a:endParaRPr lang="en-US" sz="1800"/>
          </a:p>
        </p:txBody>
      </p:sp>
      <p:sp>
        <p:nvSpPr>
          <p:cNvPr id="53" name="Rounded Rectangle 52"/>
          <p:cNvSpPr/>
          <p:nvPr/>
        </p:nvSpPr>
        <p:spPr>
          <a:xfrm>
            <a:off x="9715500" y="7926578"/>
            <a:ext cx="1641980"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User-based</a:t>
            </a:r>
          </a:p>
        </p:txBody>
      </p:sp>
      <p:sp>
        <p:nvSpPr>
          <p:cNvPr id="54" name="TextBox 53"/>
          <p:cNvSpPr txBox="1"/>
          <p:nvPr/>
        </p:nvSpPr>
        <p:spPr>
          <a:xfrm>
            <a:off x="9486900" y="8621522"/>
            <a:ext cx="3406140" cy="458470"/>
          </a:xfrm>
          <a:prstGeom prst="rect">
            <a:avLst/>
          </a:prstGeom>
          <a:noFill/>
        </p:spPr>
        <p:txBody>
          <a:bodyPr anchor="t" rtlCol="false" lIns="0" tIns="0" rIns="0" bIns="0" wrap="square"/>
          <a:lstStyle/>
          <a:p>
            <a:pPr algn="l">
              <a:lnSpc>
                <a:spcPts val="1960"/>
              </a:lnSpc>
              <a:spcBef>
                <a:spcPts val="0"/>
              </a:spcBef>
              <a:buNone/>
            </a:pPr>
            <a:r>
              <a:rPr lang="en-US" sz="1400" b="true">
                <a:solidFill>
                  <a:srgbClr val="111111"/>
                </a:solidFill>
                <a:latin typeface="Nunito Semi-Bold"/>
                <a:ea typeface="Nunito Semi-Bold"/>
                <a:cs typeface="Nunito Semi-Bold"/>
                <a:sym typeface="Nunito Semi-Bold"/>
              </a:rPr>
              <a:t>similar users </a:t>
            </a:r>
            <a:r>
              <a:rPr lang="en-US" sz="1400" b="true">
                <a:solidFill>
                  <a:srgbClr val="111111"/>
                </a:solidFill>
                <a:latin typeface="Calibri"/>
                <a:ea typeface="Calibri"/>
                <a:cs typeface="Calibri"/>
                <a:sym typeface="Calibri"/>
              </a:rPr>
              <a:t>→ </a:t>
            </a:r>
            <a:r>
              <a:rPr lang="en-US" sz="1400" b="true">
                <a:solidFill>
                  <a:srgbClr val="111111"/>
                </a:solidFill>
                <a:latin typeface="Nunito Semi-Bold"/>
                <a:ea typeface="Nunito Semi-Bold"/>
                <a:cs typeface="Nunito Semi-Bold"/>
                <a:sym typeface="Nunito Semi-Bold"/>
              </a:rPr>
              <a:t>their liked items</a:t>
            </a:r>
          </a:p>
        </p:txBody>
      </p:sp>
      <p:sp>
        <p:nvSpPr>
          <p:cNvPr id="55" name="Rounded Rectangle 54"/>
          <p:cNvSpPr/>
          <p:nvPr/>
        </p:nvSpPr>
        <p:spPr>
          <a:xfrm>
            <a:off x="13395960" y="8164322"/>
            <a:ext cx="3863340" cy="1052830"/>
          </a:xfrm>
          <a:prstGeom prst="roundRect">
            <a:avLst>
              <a:gd name="adj" fmla="val 29529"/>
            </a:avLst>
          </a:prstGeom>
          <a:solidFill>
            <a:srgbClr val="F6ECDF"/>
          </a:solidFill>
          <a:ln>
            <a:noFill/>
          </a:ln>
        </p:spPr>
        <p:txBody>
          <a:bodyPr anchor="ctr" rtlCol="false" lIns="0" tIns="0" rIns="0" bIns="0" wrap="square"/>
          <a:lstStyle/>
          <a:p>
            <a:endParaRPr lang="en-US" sz="1800"/>
          </a:p>
        </p:txBody>
      </p:sp>
      <p:sp>
        <p:nvSpPr>
          <p:cNvPr id="56" name="Rounded Rectangle 55"/>
          <p:cNvSpPr/>
          <p:nvPr/>
        </p:nvSpPr>
        <p:spPr>
          <a:xfrm>
            <a:off x="13853160" y="7926578"/>
            <a:ext cx="1628245"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Item-based</a:t>
            </a:r>
          </a:p>
        </p:txBody>
      </p:sp>
      <p:sp>
        <p:nvSpPr>
          <p:cNvPr id="57" name="TextBox 56"/>
          <p:cNvSpPr txBox="1"/>
          <p:nvPr/>
        </p:nvSpPr>
        <p:spPr>
          <a:xfrm>
            <a:off x="13624560" y="8621522"/>
            <a:ext cx="3406140" cy="458470"/>
          </a:xfrm>
          <a:prstGeom prst="rect">
            <a:avLst/>
          </a:prstGeom>
          <a:noFill/>
        </p:spPr>
        <p:txBody>
          <a:bodyPr anchor="t" rtlCol="false" lIns="0" tIns="0" rIns="0" bIns="0" wrap="square"/>
          <a:lstStyle/>
          <a:p>
            <a:pPr algn="l">
              <a:lnSpc>
                <a:spcPts val="1960"/>
              </a:lnSpc>
              <a:spcBef>
                <a:spcPts val="0"/>
              </a:spcBef>
              <a:buNone/>
            </a:pPr>
            <a:r>
              <a:rPr lang="en-US" sz="1400" b="true">
                <a:solidFill>
                  <a:srgbClr val="111111"/>
                </a:solidFill>
                <a:latin typeface="Nunito Semi-Bold"/>
                <a:ea typeface="Nunito Semi-Bold"/>
                <a:cs typeface="Nunito Semi-Bold"/>
                <a:sym typeface="Nunito Semi-Bold"/>
              </a:rPr>
              <a:t>items co-liked with the user's items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[10] Koren, Y., Bell, R. &amp; Volinsky, C. Matrix Factorization Techniques for Recommender Systems. Computer 42(8), 30–37 (2009).   [22] Adomavicius, G. &amp; Tuzhilin, A. Toward the Next Generation of Recommender Systems. IEEE TKDE 17(6), 734–749 (2005).  ·  Burke, R. Hybrid Recommender Systems. UMUAI 12(4), 331–370 (2002).</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11</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CONTEXT &amp; PROBLEMATIC</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Hybrid Approaches and Matrix Factorisation</a:t>
            </a:r>
          </a:p>
        </p:txBody>
      </p:sp>
      <p:pic>
        <p:nvPicPr>
          <p:cNvPr id="23" name="Picture 22" descr="image.png"/>
          <p:cNvPicPr>
            <a:picLocks noChangeAspect="1"/>
          </p:cNvPicPr>
          <p:nvPr/>
        </p:nvPicPr>
        <p:blipFill>
          <a:blip r:embed="rId3"/>
          <a:stretch>
            <a:fillRect/>
          </a:stretch>
        </p:blipFill>
        <p:spPr>
          <a:xfrm>
            <a:off x="12801265" y="1673352"/>
            <a:ext cx="457200" cy="373212"/>
          </a:xfrm>
          <a:prstGeom prst="rect">
            <a:avLst/>
          </a:prstGeom>
        </p:spPr>
      </p:pic>
      <p:sp>
        <p:nvSpPr>
          <p:cNvPr id="24" name="Rounded Rectangle 23"/>
          <p:cNvSpPr/>
          <p:nvPr/>
        </p:nvSpPr>
        <p:spPr>
          <a:xfrm>
            <a:off x="1028700" y="2559050"/>
            <a:ext cx="1854490"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Approaches</a:t>
            </a:r>
          </a:p>
        </p:txBody>
      </p:sp>
      <p:sp>
        <p:nvSpPr>
          <p:cNvPr id="25" name="Rounded Rectangle 24"/>
          <p:cNvSpPr/>
          <p:nvPr/>
        </p:nvSpPr>
        <p:spPr>
          <a:xfrm>
            <a:off x="3011206" y="2559050"/>
            <a:ext cx="187097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Problematic</a:t>
            </a:r>
          </a:p>
        </p:txBody>
      </p:sp>
      <p:sp>
        <p:nvSpPr>
          <p:cNvPr id="26" name="Rounded Rectangle 25"/>
          <p:cNvSpPr/>
          <p:nvPr/>
        </p:nvSpPr>
        <p:spPr>
          <a:xfrm>
            <a:off x="5010194" y="2559050"/>
            <a:ext cx="2041208"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Contributions</a:t>
            </a:r>
          </a:p>
        </p:txBody>
      </p:sp>
      <p:sp>
        <p:nvSpPr>
          <p:cNvPr id="27" name="TextBox 26"/>
          <p:cNvSpPr txBox="1"/>
          <p:nvPr/>
        </p:nvSpPr>
        <p:spPr>
          <a:xfrm>
            <a:off x="1028700" y="3363722"/>
            <a:ext cx="7680960" cy="439039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Hybrid:</a:t>
            </a:r>
            <a:r>
              <a:rPr lang="en-US" sz="2100" b="true">
                <a:solidFill>
                  <a:srgbClr val="111111"/>
                </a:solidFill>
                <a:latin typeface="Nunito Semi-Bold"/>
                <a:ea typeface="Nunito Semi-Bold"/>
                <a:cs typeface="Nunito Semi-Bold"/>
                <a:sym typeface="Nunito Semi-Bold"/>
              </a:rPr>
              <a:t> combines content-based and collaborative methods to reduce the weaknesses of each.</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Handles limited data, over-specialisation and part of the cold-start problem.</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Matrix factorisation (MF):</a:t>
            </a:r>
            <a:r>
              <a:rPr lang="en-US" sz="2100" b="true">
                <a:solidFill>
                  <a:srgbClr val="111111"/>
                </a:solidFill>
                <a:latin typeface="Nunito Semi-Bold"/>
                <a:ea typeface="Nunito Semi-Bold"/>
                <a:cs typeface="Nunito Semi-Bold"/>
                <a:sym typeface="Nunito Semi-Bold"/>
              </a:rPr>
              <a:t> the interaction matrix R is split into user and item factors P and Q.</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MF made recommendation accurate and scalable; it is the standard baseline of the field.</a:t>
            </a:r>
          </a:p>
        </p:txBody>
      </p:sp>
      <p:sp>
        <p:nvSpPr>
          <p:cNvPr id="28" name="Rounded Rectangle 27"/>
          <p:cNvSpPr/>
          <p:nvPr/>
        </p:nvSpPr>
        <p:spPr>
          <a:xfrm>
            <a:off x="1028700" y="8028432"/>
            <a:ext cx="7680960" cy="1097280"/>
          </a:xfrm>
          <a:prstGeom prst="roundRect">
            <a:avLst>
              <a:gd name="adj" fmla="val 18333"/>
            </a:avLst>
          </a:prstGeom>
          <a:solidFill>
            <a:srgbClr val="F6ECDF"/>
          </a:solidFill>
          <a:ln w="25400">
            <a:solidFill>
              <a:srgbClr val="DF8330"/>
            </a:solidFill>
          </a:ln>
        </p:spPr>
        <p:txBody>
          <a:bodyPr anchor="ctr" rtlCol="false" lIns="0" tIns="0" rIns="0" bIns="0" wrap="square"/>
          <a:lstStyle/>
          <a:p>
            <a:endParaRPr lang="en-US" sz="1800"/>
          </a:p>
        </p:txBody>
      </p:sp>
      <p:sp>
        <p:nvSpPr>
          <p:cNvPr id="29" name="Rounded Rectangle 28"/>
          <p:cNvSpPr/>
          <p:nvPr/>
        </p:nvSpPr>
        <p:spPr>
          <a:xfrm>
            <a:off x="1348740" y="7836408"/>
            <a:ext cx="1609901"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LIMITATION</a:t>
            </a:r>
          </a:p>
        </p:txBody>
      </p:sp>
      <p:sp>
        <p:nvSpPr>
          <p:cNvPr id="30" name="TextBox 29"/>
          <p:cNvSpPr txBox="1"/>
          <p:nvPr/>
        </p:nvSpPr>
        <p:spPr>
          <a:xfrm>
            <a:off x="1394460" y="8302752"/>
            <a:ext cx="6949440" cy="685800"/>
          </a:xfrm>
          <a:prstGeom prst="rect">
            <a:avLst/>
          </a:prstGeom>
          <a:noFill/>
        </p:spPr>
        <p:txBody>
          <a:bodyPr anchor="ctr" rtlCol="false" lIns="0" tIns="0" rIns="0" bIns="0" wrap="square"/>
          <a:lstStyle/>
          <a:p>
            <a:pPr algn="l">
              <a:lnSpc>
                <a:spcPts val="2380"/>
              </a:lnSpc>
              <a:spcBef>
                <a:spcPts val="0"/>
              </a:spcBef>
              <a:buNone/>
            </a:pPr>
            <a:r>
              <a:rPr lang="en-US" sz="1700" b="true">
                <a:solidFill>
                  <a:srgbClr val="111111"/>
                </a:solidFill>
                <a:latin typeface="Nunito Semi-Bold"/>
                <a:ea typeface="Nunito Semi-Bold"/>
                <a:cs typeface="Nunito Semi-Bold"/>
                <a:sym typeface="Nunito Semi-Bold"/>
              </a:rPr>
              <a:t>The latent factors are compact but hidden: a good score cannot be traced back to a factor a person understands.</a:t>
            </a:r>
          </a:p>
        </p:txBody>
      </p:sp>
      <p:sp>
        <p:nvSpPr>
          <p:cNvPr id="31" name="TextBox 30"/>
          <p:cNvSpPr txBox="1"/>
          <p:nvPr/>
        </p:nvSpPr>
        <p:spPr>
          <a:xfrm>
            <a:off x="9258300" y="3363722"/>
            <a:ext cx="8001000" cy="365760"/>
          </a:xfrm>
          <a:prstGeom prst="rect">
            <a:avLst/>
          </a:prstGeom>
          <a:noFill/>
        </p:spPr>
        <p:txBody>
          <a:bodyPr anchor="t" rtlCol="false" lIns="0" tIns="0" rIns="0" bIns="0" wrap="square"/>
          <a:lstStyle/>
          <a:p>
            <a:pPr algn="ctr">
              <a:lnSpc>
                <a:spcPts val="1800"/>
              </a:lnSpc>
              <a:spcBef>
                <a:spcPts val="0"/>
              </a:spcBef>
              <a:buNone/>
            </a:pPr>
            <a:r>
              <a:rPr lang="en-US" sz="1400" b="true" spc="140">
                <a:solidFill>
                  <a:srgbClr val="DF8330"/>
                </a:solidFill>
                <a:latin typeface="Nunito Ultra-Bold"/>
                <a:ea typeface="Nunito Ultra-Bold"/>
                <a:cs typeface="Nunito Ultra-Bold"/>
                <a:sym typeface="Nunito Ultra-Bold"/>
              </a:rPr>
              <a:t>HYBRID  ·  MATRIX FACTORISATION</a:t>
            </a:r>
          </a:p>
        </p:txBody>
      </p:sp>
      <p:sp>
        <p:nvSpPr>
          <p:cNvPr id="32" name="Rounded Rectangle 31"/>
          <p:cNvSpPr/>
          <p:nvPr/>
        </p:nvSpPr>
        <p:spPr>
          <a:xfrm>
            <a:off x="9258300" y="3958082"/>
            <a:ext cx="3863340" cy="914400"/>
          </a:xfrm>
          <a:prstGeom prst="roundRect">
            <a:avLst>
              <a:gd name="adj" fmla="val 22000"/>
            </a:avLst>
          </a:prstGeom>
          <a:solidFill>
            <a:srgbClr val="124944"/>
          </a:solidFill>
          <a:ln>
            <a:noFill/>
          </a:ln>
        </p:spPr>
        <p:txBody>
          <a:bodyPr anchor="ctr" rtlCol="false" lIns="91440" tIns="45720" rIns="91440" bIns="45720" wrap="square"/>
          <a:lstStyle/>
          <a:p>
            <a:pPr algn="ctr">
              <a:lnSpc>
                <a:spcPts val="1955"/>
              </a:lnSpc>
              <a:spcBef>
                <a:spcPts val="0"/>
              </a:spcBef>
              <a:buNone/>
            </a:pPr>
            <a:r>
              <a:rPr lang="en-US" sz="1700" b="true">
                <a:solidFill>
                  <a:srgbClr val="FFFFFF"/>
                </a:solidFill>
                <a:latin typeface="Nunito Bold"/>
                <a:ea typeface="Nunito Bold"/>
                <a:cs typeface="Nunito Bold"/>
                <a:sym typeface="Nunito Bold"/>
              </a:rPr>
              <a:t>Content signals</a:t>
            </a:r>
          </a:p>
          <a:p>
            <a:pPr algn="ctr">
              <a:lnSpc>
                <a:spcPts val="1560"/>
              </a:lnSpc>
              <a:spcBef>
                <a:spcPts val="300"/>
              </a:spcBef>
              <a:buNone/>
            </a:pPr>
            <a:r>
              <a:rPr lang="en-US" sz="1300" b="true">
                <a:solidFill>
                  <a:srgbClr val="FFFFFF"/>
                </a:solidFill>
                <a:latin typeface="Nunito Semi-Bold"/>
                <a:ea typeface="Nunito Semi-Bold"/>
                <a:cs typeface="Nunito Semi-Bold"/>
                <a:sym typeface="Nunito Semi-Bold"/>
              </a:rPr>
              <a:t>features · metadata</a:t>
            </a:r>
          </a:p>
        </p:txBody>
      </p:sp>
      <p:sp>
        <p:nvSpPr>
          <p:cNvPr id="33" name="Rounded Rectangle 32"/>
          <p:cNvSpPr/>
          <p:nvPr/>
        </p:nvSpPr>
        <p:spPr>
          <a:xfrm>
            <a:off x="13395960" y="3958082"/>
            <a:ext cx="3863340" cy="914400"/>
          </a:xfrm>
          <a:prstGeom prst="roundRect">
            <a:avLst>
              <a:gd name="adj" fmla="val 22000"/>
            </a:avLst>
          </a:prstGeom>
          <a:solidFill>
            <a:srgbClr val="1E5F58"/>
          </a:solidFill>
          <a:ln>
            <a:noFill/>
          </a:ln>
        </p:spPr>
        <p:txBody>
          <a:bodyPr anchor="ctr" rtlCol="false" lIns="91440" tIns="45720" rIns="91440" bIns="45720" wrap="square"/>
          <a:lstStyle/>
          <a:p>
            <a:pPr algn="ctr">
              <a:lnSpc>
                <a:spcPts val="1955"/>
              </a:lnSpc>
              <a:spcBef>
                <a:spcPts val="0"/>
              </a:spcBef>
              <a:buNone/>
            </a:pPr>
            <a:r>
              <a:rPr lang="en-US" sz="1700" b="true">
                <a:solidFill>
                  <a:srgbClr val="FFFFFF"/>
                </a:solidFill>
                <a:latin typeface="Nunito Bold"/>
                <a:ea typeface="Nunito Bold"/>
                <a:cs typeface="Nunito Bold"/>
                <a:sym typeface="Nunito Bold"/>
              </a:rPr>
              <a:t>Collaborative signals</a:t>
            </a:r>
          </a:p>
          <a:p>
            <a:pPr algn="ctr">
              <a:lnSpc>
                <a:spcPts val="1560"/>
              </a:lnSpc>
              <a:spcBef>
                <a:spcPts val="300"/>
              </a:spcBef>
              <a:buNone/>
            </a:pPr>
            <a:r>
              <a:rPr lang="en-US" sz="1300" b="true">
                <a:solidFill>
                  <a:srgbClr val="FFFFFF"/>
                </a:solidFill>
                <a:latin typeface="Nunito Semi-Bold"/>
                <a:ea typeface="Nunito Semi-Bold"/>
                <a:cs typeface="Nunito Semi-Bold"/>
                <a:sym typeface="Nunito Semi-Bold"/>
              </a:rPr>
              <a:t>ratings · clicks</a:t>
            </a:r>
          </a:p>
        </p:txBody>
      </p:sp>
      <p:cxnSp>
        <p:nvCxnSpPr>
          <p:cNvPr id="34" name="Connector 33"/>
          <p:cNvCxnSpPr/>
          <p:nvPr/>
        </p:nvCxnSpPr>
        <p:spPr>
          <a:xfrm>
            <a:off x="11189970" y="4872482"/>
            <a:ext cx="1794510" cy="411480"/>
          </a:xfrm>
          <a:prstGeom prst="line">
            <a:avLst/>
          </a:prstGeom>
          <a:ln w="31750">
            <a:solidFill>
              <a:srgbClr val="124944"/>
            </a:solidFill>
            <a:tailEnd type="triangle" w="med" len="med"/>
          </a:ln>
        </p:spPr>
      </p:cxnSp>
      <p:cxnSp>
        <p:nvCxnSpPr>
          <p:cNvPr id="35" name="Connector 34"/>
          <p:cNvCxnSpPr/>
          <p:nvPr/>
        </p:nvCxnSpPr>
        <p:spPr>
          <a:xfrm flipH="1">
            <a:off x="13533120" y="4872482"/>
            <a:ext cx="1794510" cy="411480"/>
          </a:xfrm>
          <a:prstGeom prst="line">
            <a:avLst/>
          </a:prstGeom>
          <a:ln w="31750">
            <a:solidFill>
              <a:srgbClr val="124944"/>
            </a:solidFill>
            <a:tailEnd type="triangle" w="med" len="med"/>
          </a:ln>
        </p:spPr>
      </p:cxnSp>
      <p:sp>
        <p:nvSpPr>
          <p:cNvPr id="36" name="Rounded Rectangle 35"/>
          <p:cNvSpPr/>
          <p:nvPr/>
        </p:nvSpPr>
        <p:spPr>
          <a:xfrm>
            <a:off x="11430000" y="5283962"/>
            <a:ext cx="3657600" cy="868680"/>
          </a:xfrm>
          <a:prstGeom prst="roundRect">
            <a:avLst>
              <a:gd name="adj" fmla="val 23157"/>
            </a:avLst>
          </a:prstGeom>
          <a:solidFill>
            <a:srgbClr val="DF8330"/>
          </a:solidFill>
          <a:ln>
            <a:noFill/>
          </a:ln>
        </p:spPr>
        <p:txBody>
          <a:bodyPr anchor="ctr" rtlCol="false" lIns="91440" tIns="45720" rIns="91440" bIns="45720" wrap="square"/>
          <a:lstStyle/>
          <a:p>
            <a:pPr algn="ctr">
              <a:lnSpc>
                <a:spcPts val="2070"/>
              </a:lnSpc>
              <a:spcBef>
                <a:spcPts val="0"/>
              </a:spcBef>
              <a:buNone/>
            </a:pPr>
            <a:r>
              <a:rPr lang="en-US" sz="1800" b="true">
                <a:solidFill>
                  <a:srgbClr val="FFFFFF"/>
                </a:solidFill>
                <a:latin typeface="Nunito Bold"/>
                <a:ea typeface="Nunito Bold"/>
                <a:cs typeface="Nunito Bold"/>
                <a:sym typeface="Nunito Bold"/>
              </a:rPr>
              <a:t>Hybrid recommender</a:t>
            </a:r>
          </a:p>
        </p:txBody>
      </p:sp>
      <p:sp>
        <p:nvSpPr>
          <p:cNvPr id="37" name="TextBox 36"/>
          <p:cNvSpPr txBox="1"/>
          <p:nvPr/>
        </p:nvSpPr>
        <p:spPr>
          <a:xfrm>
            <a:off x="9258300" y="6609842"/>
            <a:ext cx="8001000" cy="365760"/>
          </a:xfrm>
          <a:prstGeom prst="rect">
            <a:avLst/>
          </a:prstGeom>
          <a:noFill/>
        </p:spPr>
        <p:txBody>
          <a:bodyPr anchor="t" rtlCol="false" lIns="0" tIns="0" rIns="0" bIns="0" wrap="square"/>
          <a:lstStyle/>
          <a:p>
            <a:pPr algn="ctr">
              <a:lnSpc>
                <a:spcPts val="1600"/>
              </a:lnSpc>
              <a:spcBef>
                <a:spcPts val="0"/>
              </a:spcBef>
              <a:buNone/>
            </a:pPr>
            <a:r>
              <a:rPr lang="en-US" sz="1300" b="true" spc="140">
                <a:solidFill>
                  <a:srgbClr val="124944"/>
                </a:solidFill>
                <a:latin typeface="Nunito Ultra-Bold"/>
                <a:ea typeface="Nunito Ultra-Bold"/>
                <a:cs typeface="Nunito Ultra-Bold"/>
                <a:sym typeface="Nunito Ultra-Bold"/>
              </a:rPr>
              <a:t>MATRIX FACTORISATION</a:t>
            </a:r>
          </a:p>
        </p:txBody>
      </p:sp>
      <mc:AlternateContent xmlns:mc="http://schemas.openxmlformats.org/markup-compatibility/2006">
        <mc:Choice xmlns:a14="http://schemas.microsoft.com/office/drawing/2010/main" Requires="a14">
          <p:sp>
            <p:nvSpPr>
              <p:cNvPr id="38" name="Equation"/>
              <p:cNvSpPr txBox="1"/>
              <p:nvPr/>
            </p:nvSpPr>
            <p:spPr>
              <a:xfrm>
                <a:off x="9258300" y="6975602"/>
                <a:ext cx="8001000" cy="822960"/>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R</m:t>
                          </m:r>
                        </m:e>
                        <m:sub>
                          <m:r>
                            <a:rPr lang="en-US" sz="2200" i="1">
                              <a:solidFill>
                                <a:srgbClr val="111111"/>
                              </a:solidFill>
                              <a:latin typeface="Cambria Math" panose="02040503050406030204" pitchFamily="18" charset="0"/>
                            </a:rPr>
                            <m:t xml:space="preserve">m</m:t>
                          </m:r>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n</m:t>
                          </m:r>
                        </m:sub>
                      </m:sSub>
                      <m:r>
                        <m:rPr>
                          <m:sty m:val="p"/>
                        </m:rPr>
                        <a:rPr lang="en-US" sz="2200">
                          <a:solidFill>
                            <a:srgbClr val="111111"/>
                          </a:solidFill>
                          <a:latin typeface="Cambria Math" panose="02040503050406030204" pitchFamily="18" charset="0"/>
                        </a:rPr>
                        <m:t xml:space="preserve"> ≈ </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P</m:t>
                          </m:r>
                        </m:e>
                        <m:sub>
                          <m:r>
                            <a:rPr lang="en-US" sz="2200" i="1">
                              <a:solidFill>
                                <a:srgbClr val="111111"/>
                              </a:solidFill>
                              <a:latin typeface="Cambria Math" panose="02040503050406030204" pitchFamily="18" charset="0"/>
                            </a:rPr>
                            <m:t xml:space="preserve">m</m:t>
                          </m:r>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k</m:t>
                          </m:r>
                        </m:sub>
                      </m:sSub>
                      <m:r>
                        <m:rPr>
                          <m:sty m:val="p"/>
                        </m:rPr>
                        <a:rPr lang="en-US" sz="2200">
                          <a:solidFill>
                            <a:srgbClr val="111111"/>
                          </a:solidFill>
                          <a:latin typeface="Cambria Math" panose="02040503050406030204" pitchFamily="18" charset="0"/>
                        </a:rPr>
                        <m:t xml:space="preserve"> </m:t>
                      </m:r>
                      <m:sSubSup>
                        <m:sSubSupPr>
                          <m:ctrlPr>
                            <a:rPr lang="en-US" sz="2200" i="1">
                              <a:solidFill>
                                <a:srgbClr val="111111"/>
                              </a:solidFill>
                              <a:latin typeface="Cambria Math" panose="02040503050406030204" pitchFamily="18" charset="0"/>
                            </a:rPr>
                          </m:ctrlPr>
                        </m:sSubSupPr>
                        <m:e>
                          <m:r>
                            <a:rPr lang="en-US" sz="2200" i="1">
                              <a:solidFill>
                                <a:srgbClr val="111111"/>
                              </a:solidFill>
                              <a:latin typeface="Cambria Math" panose="02040503050406030204" pitchFamily="18" charset="0"/>
                            </a:rPr>
                            <m:t xml:space="preserve">Q</m:t>
                          </m:r>
                        </m:e>
                        <m:sub>
                          <m:r>
                            <a:rPr lang="en-US" sz="2200" i="1">
                              <a:solidFill>
                                <a:srgbClr val="111111"/>
                              </a:solidFill>
                              <a:latin typeface="Cambria Math" panose="02040503050406030204" pitchFamily="18" charset="0"/>
                            </a:rPr>
                            <m:t xml:space="preserve">n</m:t>
                          </m:r>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k</m:t>
                          </m:r>
                        </m:sub>
                        <m:sup>
                          <m:r>
                            <m:rPr>
                              <m:sty m:val="p"/>
                            </m:rPr>
                            <a:rPr lang="en-US" sz="2200">
                              <a:solidFill>
                                <a:srgbClr val="111111"/>
                              </a:solidFill>
                              <a:latin typeface="Cambria Math" panose="02040503050406030204" pitchFamily="18" charset="0"/>
                            </a:rPr>
                            <m:t xml:space="preserve">⊤</m:t>
                          </m:r>
                        </m:sup>
                      </m:sSubSup>
                      <m:r>
                        <m:rPr>
                          <m:sty m:val="p"/>
                        </m:rPr>
                        <a:rPr lang="en-US" sz="2200">
                          <a:solidFill>
                            <a:srgbClr val="111111"/>
                          </a:solidFill>
                          <a:latin typeface="Cambria Math" panose="02040503050406030204" pitchFamily="18" charset="0"/>
                        </a:rPr>
                        <m:t xml:space="preserve">,  </m:t>
                      </m:r>
                      <m:sSub>
                        <m:sSubPr>
                          <m:ctrlPr>
                            <a:rPr lang="en-US" sz="2200" i="1">
                              <a:solidFill>
                                <a:srgbClr val="111111"/>
                              </a:solidFill>
                              <a:latin typeface="Cambria Math" panose="02040503050406030204" pitchFamily="18" charset="0"/>
                            </a:rPr>
                          </m:ctrlPr>
                        </m:sSubPr>
                        <m:e>
                          <m:acc>
                            <m:accPr>
                              <m:chr m:val="̂"/>
                              <m:ctrlPr>
                                <a:rPr lang="en-US" sz="2200" i="1">
                                  <a:solidFill>
                                    <a:srgbClr val="111111"/>
                                  </a:solidFill>
                                  <a:latin typeface="Cambria Math" panose="02040503050406030204" pitchFamily="18" charset="0"/>
                                </a:rPr>
                              </m:ctrlPr>
                            </m:accPr>
                            <m:e>
                              <m:r>
                                <a:rPr lang="en-US" sz="2200" i="1">
                                  <a:solidFill>
                                    <a:srgbClr val="111111"/>
                                  </a:solidFill>
                                  <a:latin typeface="Cambria Math" panose="02040503050406030204" pitchFamily="18" charset="0"/>
                                </a:rPr>
                                <m:t xml:space="preserve">r</m:t>
                              </m:r>
                            </m:e>
                          </m:acc>
                        </m:e>
                        <m:sub>
                          <m:r>
                            <a:rPr lang="en-US" sz="2200" i="1">
                              <a:solidFill>
                                <a:srgbClr val="111111"/>
                              </a:solidFill>
                              <a:latin typeface="Cambria Math" panose="02040503050406030204" pitchFamily="18" charset="0"/>
                            </a:rPr>
                            <m:t xml:space="preserve">ui</m:t>
                          </m:r>
                        </m:sub>
                      </m:sSub>
                      <m:r>
                        <m:rPr>
                          <m:sty m:val="p"/>
                        </m:rPr>
                        <a:rPr lang="en-US" sz="2200">
                          <a:solidFill>
                            <a:srgbClr val="111111"/>
                          </a:solidFill>
                          <a:latin typeface="Cambria Math" panose="02040503050406030204" pitchFamily="18" charset="0"/>
                        </a:rPr>
                        <m:t xml:space="preserve">=</m:t>
                      </m:r>
                      <m:sSubSup>
                        <m:sSubSupPr>
                          <m:ctrlPr>
                            <a:rPr lang="en-US" sz="2200" i="1">
                              <a:solidFill>
                                <a:srgbClr val="111111"/>
                              </a:solidFill>
                              <a:latin typeface="Cambria Math" panose="02040503050406030204" pitchFamily="18" charset="0"/>
                            </a:rPr>
                          </m:ctrlPr>
                        </m:sSubSupPr>
                        <m:e>
                          <m:r>
                            <a:rPr lang="en-US" sz="2200" i="1">
                              <a:solidFill>
                                <a:srgbClr val="111111"/>
                              </a:solidFill>
                              <a:latin typeface="Cambria Math" panose="02040503050406030204" pitchFamily="18" charset="0"/>
                            </a:rPr>
                            <m:t xml:space="preserve">p</m:t>
                          </m:r>
                        </m:e>
                        <m:sub>
                          <m:r>
                            <a:rPr lang="en-US" sz="2200" i="1">
                              <a:solidFill>
                                <a:srgbClr val="111111"/>
                              </a:solidFill>
                              <a:latin typeface="Cambria Math" panose="02040503050406030204" pitchFamily="18" charset="0"/>
                            </a:rPr>
                            <m:t xml:space="preserve">u</m:t>
                          </m:r>
                        </m:sub>
                        <m:sup>
                          <m:r>
                            <m:rPr>
                              <m:sty m:val="p"/>
                            </m:rPr>
                            <a:rPr lang="en-US" sz="2200">
                              <a:solidFill>
                                <a:srgbClr val="111111"/>
                              </a:solidFill>
                              <a:latin typeface="Cambria Math" panose="02040503050406030204" pitchFamily="18" charset="0"/>
                            </a:rPr>
                            <m:t xml:space="preserve">⊤</m:t>
                          </m:r>
                        </m:sup>
                      </m:sSubSup>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q</m:t>
                          </m:r>
                        </m:e>
                        <m:sub>
                          <m:r>
                            <a:rPr lang="en-US" sz="2200" i="1">
                              <a:solidFill>
                                <a:srgbClr val="111111"/>
                              </a:solidFill>
                              <a:latin typeface="Cambria Math" panose="02040503050406030204" pitchFamily="18" charset="0"/>
                            </a:rPr>
                            <m:t xml:space="preserve">i</m:t>
                          </m:r>
                        </m:sub>
                      </m:sSub>
                    </m:oMath>
                  </m:oMathPara>
                </a14:m>
                <a:endParaRPr lang="en-US" sz="2200"/>
              </a:p>
            </p:txBody>
          </p:sp>
        </mc:Choice>
        <mc:Fallback>
          <p:sp>
            <p:nvSpPr>
              <p:cNvPr id="38" name="Equation"/>
              <p:cNvSpPr txBox="1"/>
              <p:nvPr/>
            </p:nvSpPr>
            <p:spPr>
              <a:xfrm>
                <a:off x="9258300" y="6975602"/>
                <a:ext cx="8001000" cy="822960"/>
              </a:xfrm>
              <a:prstGeom prst="rect">
                <a:avLst/>
              </a:prstGeom>
              <a:blipFill>
                <a:blip r:embed="rId5"/>
                <a:stretch>
                  <a:fillRect/>
                </a:stretch>
              </a:blipFill>
            </p:spPr>
            <p:txBody>
              <a:bodyPr/>
              <a:lstStyle/>
              <a:p>
                <a:endParaRPr lang="en-US"/>
              </a:p>
            </p:txBody>
          </p:sp>
        </mc:Fallback>
      </mc:AlternateContent>
      <p:sp>
        <p:nvSpPr>
          <p:cNvPr id="39" name="Rounded Rectangle 38"/>
          <p:cNvSpPr/>
          <p:nvPr/>
        </p:nvSpPr>
        <p:spPr>
          <a:xfrm>
            <a:off x="9258300" y="7935722"/>
            <a:ext cx="8001000" cy="1281430"/>
          </a:xfrm>
          <a:prstGeom prst="roundRect">
            <a:avLst>
              <a:gd name="adj" fmla="val 17839"/>
            </a:avLst>
          </a:prstGeom>
          <a:solidFill>
            <a:srgbClr val="F6ECDF"/>
          </a:solidFill>
          <a:ln>
            <a:noFill/>
          </a:ln>
        </p:spPr>
        <p:txBody>
          <a:bodyPr anchor="ctr" rtlCol="false" lIns="320040" tIns="91440" rIns="320040" bIns="91440" wrap="square"/>
          <a:lstStyle/>
          <a:p>
            <a:pPr algn="ctr">
              <a:lnSpc>
                <a:spcPts val="2100"/>
              </a:lnSpc>
              <a:spcBef>
                <a:spcPts val="0"/>
              </a:spcBef>
              <a:buNone/>
            </a:pPr>
            <a:r>
              <a:rPr lang="en-US" sz="1600" b="true">
                <a:solidFill>
                  <a:srgbClr val="111111"/>
                </a:solidFill>
                <a:latin typeface="Nunito Semi-Bold"/>
                <a:ea typeface="Nunito Semi-Bold"/>
                <a:cs typeface="Nunito Semi-Bold"/>
                <a:sym typeface="Nunito Semi-Bold"/>
              </a:rPr>
              <a:t>Compact and effective, but the </a:t>
            </a:r>
            <a:r>
              <a:rPr lang="en-US" sz="1600" b="true">
                <a:solidFill>
                  <a:srgbClr val="111111"/>
                </a:solidFill>
                <a:latin typeface="Nunito Bold"/>
                <a:ea typeface="Nunito Bold"/>
                <a:cs typeface="Nunito Bold"/>
                <a:sym typeface="Nunito Bold"/>
              </a:rPr>
              <a:t>k latent factors have no readable meaning</a:t>
            </a:r>
            <a:r>
              <a:rPr lang="en-US" sz="1600" b="true">
                <a:solidFill>
                  <a:srgbClr val="111111"/>
                </a:solidFill>
                <a:latin typeface="Nunito Semi-Bold"/>
                <a:ea typeface="Nunito Semi-Bold"/>
                <a:cs typeface="Nunito Semi-Bold"/>
                <a:sym typeface="Nunito Semi-Bold"/>
              </a:rPr>
              <a:t>: this is where the interpretability gap starts.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[12] He, X. et al. LightGCN: Simplifying and Powering Graph Convolution Network for Recommendation. SIGIR, 639–648 (2020).   [13] Xia, L. et al. Hypergraph Contrastive Collaborative Filtering (HCCF). SIGIR, 70–79 (2022).   [14] Xiangyi, Y. et al. Hypergraph Projection Enhanced Collaborative Filtering (HPCF). Int. J. Data Science and Analytics 19(2), 269–281 (2025).   [16] Feng, Y. et al. Hypergraph Neural Networks. AAAI 33, 3558–3565 (2019).</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12</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CONTEXT &amp; PROBLEMATIC</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Graph-Based and Hypergraph Recommenders</a:t>
            </a:r>
          </a:p>
        </p:txBody>
      </p:sp>
      <p:pic>
        <p:nvPicPr>
          <p:cNvPr id="23" name="Picture 22" descr="image.png"/>
          <p:cNvPicPr>
            <a:picLocks noChangeAspect="1"/>
          </p:cNvPicPr>
          <p:nvPr/>
        </p:nvPicPr>
        <p:blipFill>
          <a:blip r:embed="rId3"/>
          <a:stretch>
            <a:fillRect/>
          </a:stretch>
        </p:blipFill>
        <p:spPr>
          <a:xfrm>
            <a:off x="13302882" y="1673352"/>
            <a:ext cx="457200" cy="427074"/>
          </a:xfrm>
          <a:prstGeom prst="rect">
            <a:avLst/>
          </a:prstGeom>
        </p:spPr>
      </p:pic>
      <p:sp>
        <p:nvSpPr>
          <p:cNvPr id="24" name="Rounded Rectangle 23"/>
          <p:cNvSpPr/>
          <p:nvPr/>
        </p:nvSpPr>
        <p:spPr>
          <a:xfrm>
            <a:off x="1028700" y="2559050"/>
            <a:ext cx="1854490"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Approaches</a:t>
            </a:r>
          </a:p>
        </p:txBody>
      </p:sp>
      <p:sp>
        <p:nvSpPr>
          <p:cNvPr id="25" name="Rounded Rectangle 24"/>
          <p:cNvSpPr/>
          <p:nvPr/>
        </p:nvSpPr>
        <p:spPr>
          <a:xfrm>
            <a:off x="3011206" y="2559050"/>
            <a:ext cx="187097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Problematic</a:t>
            </a:r>
          </a:p>
        </p:txBody>
      </p:sp>
      <p:sp>
        <p:nvSpPr>
          <p:cNvPr id="26" name="Rounded Rectangle 25"/>
          <p:cNvSpPr/>
          <p:nvPr/>
        </p:nvSpPr>
        <p:spPr>
          <a:xfrm>
            <a:off x="5010194" y="2559050"/>
            <a:ext cx="2041208"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Contributions</a:t>
            </a:r>
          </a:p>
        </p:txBody>
      </p:sp>
      <p:sp>
        <p:nvSpPr>
          <p:cNvPr id="27" name="TextBox 26"/>
          <p:cNvSpPr txBox="1"/>
          <p:nvPr/>
        </p:nvSpPr>
        <p:spPr>
          <a:xfrm>
            <a:off x="1028700" y="3363722"/>
            <a:ext cx="7680960" cy="439039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Represent users, items and their interactions as </a:t>
            </a:r>
            <a:r>
              <a:rPr lang="en-US" sz="2100" b="true">
                <a:solidFill>
                  <a:srgbClr val="111111"/>
                </a:solidFill>
                <a:latin typeface="Nunito Bold"/>
                <a:ea typeface="Nunito Bold"/>
                <a:cs typeface="Nunito Bold"/>
                <a:sym typeface="Nunito Bold"/>
              </a:rPr>
              <a:t>nodes and edges</a:t>
            </a:r>
            <a:r>
              <a:rPr lang="en-US" sz="2100" b="true">
                <a:solidFill>
                  <a:srgbClr val="111111"/>
                </a:solidFill>
                <a:latin typeface="Nunito Semi-Bold"/>
                <a:ea typeface="Nunito Semi-Bold"/>
                <a:cs typeface="Nunito Semi-Bold"/>
                <a:sym typeface="Nunito Semi-Bold"/>
              </a:rPr>
              <a:t> in a graph.</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Use </a:t>
            </a:r>
            <a:r>
              <a:rPr lang="en-US" sz="2100" b="true">
                <a:solidFill>
                  <a:srgbClr val="111111"/>
                </a:solidFill>
                <a:latin typeface="Nunito Bold"/>
                <a:ea typeface="Nunito Bold"/>
                <a:cs typeface="Nunito Bold"/>
                <a:sym typeface="Nunito Bold"/>
              </a:rPr>
              <a:t>message passing</a:t>
            </a:r>
            <a:r>
              <a:rPr lang="en-US" sz="2100" b="true">
                <a:solidFill>
                  <a:srgbClr val="111111"/>
                </a:solidFill>
                <a:latin typeface="Nunito Semi-Bold"/>
                <a:ea typeface="Nunito Semi-Bold"/>
                <a:cs typeface="Nunito Semi-Bold"/>
                <a:sym typeface="Nunito Semi-Bold"/>
              </a:rPr>
              <a:t> (LightGCN, HCCF, HPCF) to reach multi-hop neighbours.</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Hypergraphs</a:t>
            </a:r>
            <a:r>
              <a:rPr lang="en-US" sz="2100" b="true">
                <a:solidFill>
                  <a:srgbClr val="111111"/>
                </a:solidFill>
                <a:latin typeface="Nunito Semi-Bold"/>
                <a:ea typeface="Nunito Semi-Bold"/>
                <a:cs typeface="Nunito Semi-Bold"/>
                <a:sym typeface="Nunito Semi-Bold"/>
              </a:rPr>
              <a:t> connect more than two nodes at once: user, item and context in one hyperedge.</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State of the art in accuracy on sparse benchmarks such as MovieLens-1M and Amazon-Book.</a:t>
            </a:r>
          </a:p>
        </p:txBody>
      </p:sp>
      <p:sp>
        <p:nvSpPr>
          <p:cNvPr id="28" name="Rounded Rectangle 27"/>
          <p:cNvSpPr/>
          <p:nvPr/>
        </p:nvSpPr>
        <p:spPr>
          <a:xfrm>
            <a:off x="1028700" y="8028432"/>
            <a:ext cx="7680960" cy="1097280"/>
          </a:xfrm>
          <a:prstGeom prst="roundRect">
            <a:avLst>
              <a:gd name="adj" fmla="val 18333"/>
            </a:avLst>
          </a:prstGeom>
          <a:solidFill>
            <a:srgbClr val="F6ECDF"/>
          </a:solidFill>
          <a:ln w="25400">
            <a:solidFill>
              <a:srgbClr val="DF8330"/>
            </a:solidFill>
          </a:ln>
        </p:spPr>
        <p:txBody>
          <a:bodyPr anchor="ctr" rtlCol="false" lIns="0" tIns="0" rIns="0" bIns="0" wrap="square"/>
          <a:lstStyle/>
          <a:p>
            <a:endParaRPr lang="en-US" sz="1800"/>
          </a:p>
        </p:txBody>
      </p:sp>
      <p:sp>
        <p:nvSpPr>
          <p:cNvPr id="29" name="Rounded Rectangle 28"/>
          <p:cNvSpPr/>
          <p:nvPr/>
        </p:nvSpPr>
        <p:spPr>
          <a:xfrm>
            <a:off x="1348740" y="7836408"/>
            <a:ext cx="1609901"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LIMITATION</a:t>
            </a:r>
          </a:p>
        </p:txBody>
      </p:sp>
      <p:sp>
        <p:nvSpPr>
          <p:cNvPr id="30" name="TextBox 29"/>
          <p:cNvSpPr txBox="1"/>
          <p:nvPr/>
        </p:nvSpPr>
        <p:spPr>
          <a:xfrm>
            <a:off x="1394460" y="8302752"/>
            <a:ext cx="6949440" cy="685800"/>
          </a:xfrm>
          <a:prstGeom prst="rect">
            <a:avLst/>
          </a:prstGeom>
          <a:noFill/>
        </p:spPr>
        <p:txBody>
          <a:bodyPr anchor="ctr" rtlCol="false" lIns="0" tIns="0" rIns="0" bIns="0" wrap="square"/>
          <a:lstStyle/>
          <a:p>
            <a:pPr algn="l">
              <a:lnSpc>
                <a:spcPts val="2380"/>
              </a:lnSpc>
              <a:spcBef>
                <a:spcPts val="0"/>
              </a:spcBef>
              <a:buNone/>
            </a:pPr>
            <a:r>
              <a:rPr lang="en-US" sz="1700" b="true">
                <a:solidFill>
                  <a:srgbClr val="111111"/>
                </a:solidFill>
                <a:latin typeface="Nunito Semi-Bold"/>
                <a:ea typeface="Nunito Semi-Bold"/>
                <a:cs typeface="Nunito Semi-Bold"/>
                <a:sym typeface="Nunito Semi-Bold"/>
              </a:rPr>
              <a:t>Large graphs cost compute and memory, and all messages are treated as equally important and unexplained.</a:t>
            </a:r>
          </a:p>
        </p:txBody>
      </p:sp>
      <p:sp>
        <p:nvSpPr>
          <p:cNvPr id="31" name="TextBox 30"/>
          <p:cNvSpPr txBox="1"/>
          <p:nvPr/>
        </p:nvSpPr>
        <p:spPr>
          <a:xfrm>
            <a:off x="9258300" y="3363722"/>
            <a:ext cx="8001000" cy="365760"/>
          </a:xfrm>
          <a:prstGeom prst="rect">
            <a:avLst/>
          </a:prstGeom>
          <a:noFill/>
        </p:spPr>
        <p:txBody>
          <a:bodyPr anchor="t" rtlCol="false" lIns="0" tIns="0" rIns="0" bIns="0" wrap="square"/>
          <a:lstStyle/>
          <a:p>
            <a:pPr algn="ctr">
              <a:lnSpc>
                <a:spcPts val="1800"/>
              </a:lnSpc>
              <a:spcBef>
                <a:spcPts val="0"/>
              </a:spcBef>
              <a:buNone/>
            </a:pPr>
            <a:r>
              <a:rPr lang="en-US" sz="1400" b="true" spc="140">
                <a:solidFill>
                  <a:srgbClr val="DF8330"/>
                </a:solidFill>
                <a:latin typeface="Nunito Ultra-Bold"/>
                <a:ea typeface="Nunito Ultra-Bold"/>
                <a:cs typeface="Nunito Ultra-Bold"/>
                <a:sym typeface="Nunito Ultra-Bold"/>
              </a:rPr>
              <a:t>GRAPH  ·  HYPERGRAPH</a:t>
            </a:r>
          </a:p>
        </p:txBody>
      </p:sp>
      <p:sp>
        <p:nvSpPr>
          <p:cNvPr id="32" name="Rounded Rectangle 31"/>
          <p:cNvSpPr/>
          <p:nvPr/>
        </p:nvSpPr>
        <p:spPr>
          <a:xfrm>
            <a:off x="9258300" y="4140962"/>
            <a:ext cx="3863340" cy="3566160"/>
          </a:xfrm>
          <a:prstGeom prst="roundRect">
            <a:avLst>
              <a:gd name="adj" fmla="val 8717"/>
            </a:avLst>
          </a:prstGeom>
          <a:solidFill>
            <a:srgbClr val="F6ECDF"/>
          </a:solidFill>
          <a:ln>
            <a:noFill/>
          </a:ln>
        </p:spPr>
        <p:txBody>
          <a:bodyPr anchor="ctr" rtlCol="false" lIns="0" tIns="0" rIns="0" bIns="0" wrap="square"/>
          <a:lstStyle/>
          <a:p>
            <a:endParaRPr lang="en-US" sz="1800"/>
          </a:p>
        </p:txBody>
      </p:sp>
      <p:sp>
        <p:nvSpPr>
          <p:cNvPr id="33" name="Rounded Rectangle 32"/>
          <p:cNvSpPr/>
          <p:nvPr/>
        </p:nvSpPr>
        <p:spPr>
          <a:xfrm>
            <a:off x="9715500" y="3903218"/>
            <a:ext cx="2690762"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800"/>
              </a:lnSpc>
              <a:spcBef>
                <a:spcPts val="0"/>
              </a:spcBef>
              <a:buNone/>
            </a:pPr>
            <a:r>
              <a:rPr lang="en-US" sz="1500" b="true">
                <a:solidFill>
                  <a:srgbClr val="FFFFFF"/>
                </a:solidFill>
                <a:latin typeface="Nunito Bold"/>
                <a:ea typeface="Nunito Bold"/>
                <a:cs typeface="Nunito Bold"/>
                <a:sym typeface="Nunito Bold"/>
              </a:rPr>
              <a:t>Graph: pairwise edges</a:t>
            </a:r>
          </a:p>
        </p:txBody>
      </p:sp>
      <p:cxnSp>
        <p:nvCxnSpPr>
          <p:cNvPr id="34" name="Connector 33"/>
          <p:cNvCxnSpPr/>
          <p:nvPr/>
        </p:nvCxnSpPr>
        <p:spPr>
          <a:xfrm flipV="1">
            <a:off x="10367010" y="4735322"/>
            <a:ext cx="1645920" cy="274320"/>
          </a:xfrm>
          <a:prstGeom prst="line">
            <a:avLst/>
          </a:prstGeom>
          <a:ln w="22225">
            <a:solidFill>
              <a:srgbClr val="124944"/>
            </a:solidFill>
          </a:ln>
        </p:spPr>
      </p:cxnSp>
      <p:cxnSp>
        <p:nvCxnSpPr>
          <p:cNvPr id="35" name="Connector 34"/>
          <p:cNvCxnSpPr/>
          <p:nvPr/>
        </p:nvCxnSpPr>
        <p:spPr>
          <a:xfrm>
            <a:off x="10367010" y="5009642"/>
            <a:ext cx="1645920" cy="822960"/>
          </a:xfrm>
          <a:prstGeom prst="line">
            <a:avLst/>
          </a:prstGeom>
          <a:ln w="22225">
            <a:solidFill>
              <a:srgbClr val="124944"/>
            </a:solidFill>
          </a:ln>
        </p:spPr>
      </p:cxnSp>
      <p:cxnSp>
        <p:nvCxnSpPr>
          <p:cNvPr id="36" name="Connector 35"/>
          <p:cNvCxnSpPr/>
          <p:nvPr/>
        </p:nvCxnSpPr>
        <p:spPr>
          <a:xfrm flipV="1">
            <a:off x="10367010" y="5832602"/>
            <a:ext cx="1645920" cy="548640"/>
          </a:xfrm>
          <a:prstGeom prst="line">
            <a:avLst/>
          </a:prstGeom>
          <a:ln w="22225">
            <a:solidFill>
              <a:srgbClr val="124944"/>
            </a:solidFill>
          </a:ln>
        </p:spPr>
      </p:cxnSp>
      <p:cxnSp>
        <p:nvCxnSpPr>
          <p:cNvPr id="37" name="Connector 36"/>
          <p:cNvCxnSpPr/>
          <p:nvPr/>
        </p:nvCxnSpPr>
        <p:spPr>
          <a:xfrm>
            <a:off x="10367010" y="6381242"/>
            <a:ext cx="1645920" cy="548640"/>
          </a:xfrm>
          <a:prstGeom prst="line">
            <a:avLst/>
          </a:prstGeom>
          <a:ln w="22225">
            <a:solidFill>
              <a:srgbClr val="124944"/>
            </a:solidFill>
          </a:ln>
        </p:spPr>
      </p:cxnSp>
      <p:sp>
        <p:nvSpPr>
          <p:cNvPr id="38" name="Oval 37"/>
          <p:cNvSpPr/>
          <p:nvPr/>
        </p:nvSpPr>
        <p:spPr>
          <a:xfrm>
            <a:off x="10110978" y="4753610"/>
            <a:ext cx="512064" cy="512064"/>
          </a:xfrm>
          <a:prstGeom prst="ellipse">
            <a:avLst/>
          </a:prstGeom>
          <a:solidFill>
            <a:srgbClr val="124944"/>
          </a:solidFill>
          <a:ln>
            <a:noFill/>
          </a:ln>
        </p:spPr>
        <p:txBody>
          <a:bodyPr anchor="ctr" rtlCol="false" lIns="0" tIns="0" rIns="0" bIns="0" wrap="square"/>
          <a:lstStyle/>
          <a:p>
            <a:pPr algn="ctr">
              <a:lnSpc>
                <a:spcPts val="1320"/>
              </a:lnSpc>
              <a:spcBef>
                <a:spcPts val="0"/>
              </a:spcBef>
              <a:buNone/>
            </a:pPr>
            <a:r>
              <a:rPr lang="en-US" sz="1200" b="true">
                <a:solidFill>
                  <a:srgbClr val="FFFFFF"/>
                </a:solidFill>
                <a:latin typeface="Nunito Ultra-Bold"/>
                <a:ea typeface="Nunito Ultra-Bold"/>
                <a:cs typeface="Nunito Ultra-Bold"/>
                <a:sym typeface="Nunito Ultra-Bold"/>
              </a:rPr>
              <a:t>u</a:t>
            </a:r>
          </a:p>
        </p:txBody>
      </p:sp>
      <p:sp>
        <p:nvSpPr>
          <p:cNvPr id="39" name="Oval 38"/>
          <p:cNvSpPr/>
          <p:nvPr/>
        </p:nvSpPr>
        <p:spPr>
          <a:xfrm>
            <a:off x="11756898" y="4479290"/>
            <a:ext cx="512064" cy="512064"/>
          </a:xfrm>
          <a:prstGeom prst="ellipse">
            <a:avLst/>
          </a:prstGeom>
          <a:solidFill>
            <a:srgbClr val="DF8330"/>
          </a:solidFill>
          <a:ln>
            <a:noFill/>
          </a:ln>
        </p:spPr>
        <p:txBody>
          <a:bodyPr anchor="ctr" rtlCol="false" lIns="0" tIns="0" rIns="0" bIns="0" wrap="square"/>
          <a:lstStyle/>
          <a:p>
            <a:pPr algn="ctr">
              <a:lnSpc>
                <a:spcPts val="1320"/>
              </a:lnSpc>
              <a:spcBef>
                <a:spcPts val="0"/>
              </a:spcBef>
              <a:buNone/>
            </a:pPr>
            <a:r>
              <a:rPr lang="en-US" sz="1200" b="true">
                <a:solidFill>
                  <a:srgbClr val="FFFFFF"/>
                </a:solidFill>
                <a:latin typeface="Nunito Ultra-Bold"/>
                <a:ea typeface="Nunito Ultra-Bold"/>
                <a:cs typeface="Nunito Ultra-Bold"/>
                <a:sym typeface="Nunito Ultra-Bold"/>
              </a:rPr>
              <a:t>i1</a:t>
            </a:r>
          </a:p>
        </p:txBody>
      </p:sp>
      <p:sp>
        <p:nvSpPr>
          <p:cNvPr id="40" name="Oval 39"/>
          <p:cNvSpPr/>
          <p:nvPr/>
        </p:nvSpPr>
        <p:spPr>
          <a:xfrm>
            <a:off x="11756898" y="5576570"/>
            <a:ext cx="512064" cy="512064"/>
          </a:xfrm>
          <a:prstGeom prst="ellipse">
            <a:avLst/>
          </a:prstGeom>
          <a:solidFill>
            <a:srgbClr val="DF8330"/>
          </a:solidFill>
          <a:ln>
            <a:noFill/>
          </a:ln>
        </p:spPr>
        <p:txBody>
          <a:bodyPr anchor="ctr" rtlCol="false" lIns="0" tIns="0" rIns="0" bIns="0" wrap="square"/>
          <a:lstStyle/>
          <a:p>
            <a:pPr algn="ctr">
              <a:lnSpc>
                <a:spcPts val="1320"/>
              </a:lnSpc>
              <a:spcBef>
                <a:spcPts val="0"/>
              </a:spcBef>
              <a:buNone/>
            </a:pPr>
            <a:r>
              <a:rPr lang="en-US" sz="1200" b="true">
                <a:solidFill>
                  <a:srgbClr val="FFFFFF"/>
                </a:solidFill>
                <a:latin typeface="Nunito Ultra-Bold"/>
                <a:ea typeface="Nunito Ultra-Bold"/>
                <a:cs typeface="Nunito Ultra-Bold"/>
                <a:sym typeface="Nunito Ultra-Bold"/>
              </a:rPr>
              <a:t>i2</a:t>
            </a:r>
          </a:p>
        </p:txBody>
      </p:sp>
      <p:sp>
        <p:nvSpPr>
          <p:cNvPr id="41" name="Oval 40"/>
          <p:cNvSpPr/>
          <p:nvPr/>
        </p:nvSpPr>
        <p:spPr>
          <a:xfrm>
            <a:off x="10110978" y="6125210"/>
            <a:ext cx="512064" cy="512064"/>
          </a:xfrm>
          <a:prstGeom prst="ellipse">
            <a:avLst/>
          </a:prstGeom>
          <a:solidFill>
            <a:srgbClr val="124944"/>
          </a:solidFill>
          <a:ln>
            <a:noFill/>
          </a:ln>
        </p:spPr>
        <p:txBody>
          <a:bodyPr anchor="ctr" rtlCol="false" lIns="0" tIns="0" rIns="0" bIns="0" wrap="square"/>
          <a:lstStyle/>
          <a:p>
            <a:pPr algn="ctr">
              <a:lnSpc>
                <a:spcPts val="1320"/>
              </a:lnSpc>
              <a:spcBef>
                <a:spcPts val="0"/>
              </a:spcBef>
              <a:buNone/>
            </a:pPr>
            <a:r>
              <a:rPr lang="en-US" sz="1200" b="true">
                <a:solidFill>
                  <a:srgbClr val="FFFFFF"/>
                </a:solidFill>
                <a:latin typeface="Nunito Ultra-Bold"/>
                <a:ea typeface="Nunito Ultra-Bold"/>
                <a:cs typeface="Nunito Ultra-Bold"/>
                <a:sym typeface="Nunito Ultra-Bold"/>
              </a:rPr>
              <a:t>u2</a:t>
            </a:r>
          </a:p>
        </p:txBody>
      </p:sp>
      <p:sp>
        <p:nvSpPr>
          <p:cNvPr id="42" name="Oval 41"/>
          <p:cNvSpPr/>
          <p:nvPr/>
        </p:nvSpPr>
        <p:spPr>
          <a:xfrm>
            <a:off x="11756898" y="6673850"/>
            <a:ext cx="512064" cy="512064"/>
          </a:xfrm>
          <a:prstGeom prst="ellipse">
            <a:avLst/>
          </a:prstGeom>
          <a:solidFill>
            <a:srgbClr val="DF8330"/>
          </a:solidFill>
          <a:ln>
            <a:noFill/>
          </a:ln>
        </p:spPr>
        <p:txBody>
          <a:bodyPr anchor="ctr" rtlCol="false" lIns="0" tIns="0" rIns="0" bIns="0" wrap="square"/>
          <a:lstStyle/>
          <a:p>
            <a:pPr algn="ctr">
              <a:lnSpc>
                <a:spcPts val="1320"/>
              </a:lnSpc>
              <a:spcBef>
                <a:spcPts val="0"/>
              </a:spcBef>
              <a:buNone/>
            </a:pPr>
            <a:r>
              <a:rPr lang="en-US" sz="1200" b="true">
                <a:solidFill>
                  <a:srgbClr val="FFFFFF"/>
                </a:solidFill>
                <a:latin typeface="Nunito Ultra-Bold"/>
                <a:ea typeface="Nunito Ultra-Bold"/>
                <a:cs typeface="Nunito Ultra-Bold"/>
                <a:sym typeface="Nunito Ultra-Bold"/>
              </a:rPr>
              <a:t>i3</a:t>
            </a:r>
          </a:p>
        </p:txBody>
      </p:sp>
      <p:sp>
        <p:nvSpPr>
          <p:cNvPr id="43" name="Rounded Rectangle 42"/>
          <p:cNvSpPr/>
          <p:nvPr/>
        </p:nvSpPr>
        <p:spPr>
          <a:xfrm>
            <a:off x="13395960" y="4140962"/>
            <a:ext cx="3863340" cy="3566160"/>
          </a:xfrm>
          <a:prstGeom prst="roundRect">
            <a:avLst>
              <a:gd name="adj" fmla="val 8717"/>
            </a:avLst>
          </a:prstGeom>
          <a:solidFill>
            <a:srgbClr val="F6ECDF"/>
          </a:solidFill>
          <a:ln>
            <a:noFill/>
          </a:ln>
        </p:spPr>
        <p:txBody>
          <a:bodyPr anchor="ctr" rtlCol="false" lIns="0" tIns="0" rIns="0" bIns="0" wrap="square"/>
          <a:lstStyle/>
          <a:p>
            <a:endParaRPr lang="en-US" sz="1800"/>
          </a:p>
        </p:txBody>
      </p:sp>
      <p:sp>
        <p:nvSpPr>
          <p:cNvPr id="44" name="Rounded Rectangle 43"/>
          <p:cNvSpPr/>
          <p:nvPr/>
        </p:nvSpPr>
        <p:spPr>
          <a:xfrm>
            <a:off x="13853160" y="3903218"/>
            <a:ext cx="3887674"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800"/>
              </a:lnSpc>
              <a:spcBef>
                <a:spcPts val="0"/>
              </a:spcBef>
              <a:buNone/>
            </a:pPr>
            <a:r>
              <a:rPr lang="en-US" sz="1500" b="true">
                <a:solidFill>
                  <a:srgbClr val="FFFFFF"/>
                </a:solidFill>
                <a:latin typeface="Nunito Bold"/>
                <a:ea typeface="Nunito Bold"/>
                <a:cs typeface="Nunito Bold"/>
                <a:sym typeface="Nunito Bold"/>
              </a:rPr>
              <a:t>Hypergraph: one edge, many nodes</a:t>
            </a:r>
          </a:p>
        </p:txBody>
      </p:sp>
      <p:sp>
        <p:nvSpPr>
          <p:cNvPr id="45" name="Oval 44"/>
          <p:cNvSpPr/>
          <p:nvPr/>
        </p:nvSpPr>
        <p:spPr>
          <a:xfrm>
            <a:off x="13910310" y="4689602"/>
            <a:ext cx="2834640" cy="1737360"/>
          </a:xfrm>
          <a:prstGeom prst="ellipse">
            <a:avLst/>
          </a:prstGeom>
          <a:solidFill>
            <a:srgbClr val="E6EEEA"/>
          </a:solidFill>
          <a:ln w="28575">
            <a:solidFill>
              <a:srgbClr val="124944"/>
            </a:solidFill>
          </a:ln>
        </p:spPr>
        <p:txBody>
          <a:bodyPr anchor="ctr" rtlCol="false" lIns="0" tIns="0" rIns="0" bIns="0" wrap="square"/>
          <a:lstStyle/>
          <a:p>
            <a:endParaRPr lang="en-US" sz="1800"/>
          </a:p>
        </p:txBody>
      </p:sp>
      <p:sp>
        <p:nvSpPr>
          <p:cNvPr id="46" name="Oval 45"/>
          <p:cNvSpPr/>
          <p:nvPr/>
        </p:nvSpPr>
        <p:spPr>
          <a:xfrm>
            <a:off x="14248638" y="5027930"/>
            <a:ext cx="512064" cy="512064"/>
          </a:xfrm>
          <a:prstGeom prst="ellipse">
            <a:avLst/>
          </a:prstGeom>
          <a:solidFill>
            <a:srgbClr val="124944"/>
          </a:solidFill>
          <a:ln>
            <a:noFill/>
          </a:ln>
        </p:spPr>
        <p:txBody>
          <a:bodyPr anchor="ctr" rtlCol="false" lIns="0" tIns="0" rIns="0" bIns="0" wrap="square"/>
          <a:lstStyle/>
          <a:p>
            <a:pPr algn="ctr">
              <a:lnSpc>
                <a:spcPts val="1320"/>
              </a:lnSpc>
              <a:spcBef>
                <a:spcPts val="0"/>
              </a:spcBef>
              <a:buNone/>
            </a:pPr>
            <a:r>
              <a:rPr lang="en-US" sz="1200" b="true">
                <a:solidFill>
                  <a:srgbClr val="FFFFFF"/>
                </a:solidFill>
                <a:latin typeface="Nunito Ultra-Bold"/>
                <a:ea typeface="Nunito Ultra-Bold"/>
                <a:cs typeface="Nunito Ultra-Bold"/>
                <a:sym typeface="Nunito Ultra-Bold"/>
              </a:rPr>
              <a:t>u</a:t>
            </a:r>
          </a:p>
        </p:txBody>
      </p:sp>
      <p:sp>
        <p:nvSpPr>
          <p:cNvPr id="47" name="Oval 46"/>
          <p:cNvSpPr/>
          <p:nvPr/>
        </p:nvSpPr>
        <p:spPr>
          <a:xfrm>
            <a:off x="15163038" y="4799330"/>
            <a:ext cx="512064" cy="512064"/>
          </a:xfrm>
          <a:prstGeom prst="ellipse">
            <a:avLst/>
          </a:prstGeom>
          <a:solidFill>
            <a:srgbClr val="DF8330"/>
          </a:solidFill>
          <a:ln>
            <a:noFill/>
          </a:ln>
        </p:spPr>
        <p:txBody>
          <a:bodyPr anchor="ctr" rtlCol="false" lIns="0" tIns="0" rIns="0" bIns="0" wrap="square"/>
          <a:lstStyle/>
          <a:p>
            <a:pPr algn="ctr">
              <a:lnSpc>
                <a:spcPts val="1320"/>
              </a:lnSpc>
              <a:spcBef>
                <a:spcPts val="0"/>
              </a:spcBef>
              <a:buNone/>
            </a:pPr>
            <a:r>
              <a:rPr lang="en-US" sz="1200" b="true">
                <a:solidFill>
                  <a:srgbClr val="FFFFFF"/>
                </a:solidFill>
                <a:latin typeface="Nunito Ultra-Bold"/>
                <a:ea typeface="Nunito Ultra-Bold"/>
                <a:cs typeface="Nunito Ultra-Bold"/>
                <a:sym typeface="Nunito Ultra-Bold"/>
              </a:rPr>
              <a:t>i</a:t>
            </a:r>
          </a:p>
        </p:txBody>
      </p:sp>
      <p:sp>
        <p:nvSpPr>
          <p:cNvPr id="48" name="Oval 47"/>
          <p:cNvSpPr/>
          <p:nvPr/>
        </p:nvSpPr>
        <p:spPr>
          <a:xfrm>
            <a:off x="15894558" y="5485130"/>
            <a:ext cx="512064" cy="512064"/>
          </a:xfrm>
          <a:prstGeom prst="ellipse">
            <a:avLst/>
          </a:prstGeom>
          <a:solidFill>
            <a:srgbClr val="111111"/>
          </a:solidFill>
          <a:ln>
            <a:noFill/>
          </a:ln>
        </p:spPr>
        <p:txBody>
          <a:bodyPr anchor="ctr" rtlCol="false" lIns="0" tIns="0" rIns="0" bIns="0" wrap="square"/>
          <a:lstStyle/>
          <a:p>
            <a:pPr algn="ctr">
              <a:lnSpc>
                <a:spcPts val="1320"/>
              </a:lnSpc>
              <a:spcBef>
                <a:spcPts val="0"/>
              </a:spcBef>
              <a:buNone/>
            </a:pPr>
            <a:r>
              <a:rPr lang="en-US" sz="1200" b="true">
                <a:solidFill>
                  <a:srgbClr val="FFFFFF"/>
                </a:solidFill>
                <a:latin typeface="Nunito Ultra-Bold"/>
                <a:ea typeface="Nunito Ultra-Bold"/>
                <a:cs typeface="Nunito Ultra-Bold"/>
                <a:sym typeface="Nunito Ultra-Bold"/>
              </a:rPr>
              <a:t>c</a:t>
            </a:r>
          </a:p>
        </p:txBody>
      </p:sp>
      <p:sp>
        <p:nvSpPr>
          <p:cNvPr id="49" name="TextBox 48"/>
          <p:cNvSpPr txBox="1"/>
          <p:nvPr/>
        </p:nvSpPr>
        <p:spPr>
          <a:xfrm>
            <a:off x="13578840" y="6609842"/>
            <a:ext cx="3497580" cy="914400"/>
          </a:xfrm>
          <a:prstGeom prst="rect">
            <a:avLst/>
          </a:prstGeom>
          <a:noFill/>
        </p:spPr>
        <p:txBody>
          <a:bodyPr anchor="t" rtlCol="false" lIns="0" tIns="0" rIns="0" bIns="0" wrap="square"/>
          <a:lstStyle/>
          <a:p>
            <a:pPr algn="ctr">
              <a:lnSpc>
                <a:spcPts val="1800"/>
              </a:lnSpc>
              <a:spcBef>
                <a:spcPts val="0"/>
              </a:spcBef>
              <a:buNone/>
            </a:pPr>
            <a:r>
              <a:rPr lang="en-US" sz="1400" b="true">
                <a:solidFill>
                  <a:srgbClr val="111111"/>
                </a:solidFill>
                <a:latin typeface="Nunito Semi-Bold"/>
                <a:ea typeface="Nunito Semi-Bold"/>
                <a:cs typeface="Nunito Semi-Bold"/>
                <a:sym typeface="Nunito Semi-Bold"/>
              </a:rPr>
              <a:t>e = {user, item, context}
</a:t>
            </a:r>
            <a:r>
              <a:rPr lang="en-US" sz="1400" b="true">
                <a:solidFill>
                  <a:srgbClr val="111111"/>
                </a:solidFill>
                <a:latin typeface="Nunito Bold"/>
                <a:ea typeface="Nunito Bold"/>
                <a:cs typeface="Nunito Bold"/>
                <a:sym typeface="Nunito Bold"/>
              </a:rPr>
              <a:t>uniform weight</a:t>
            </a:r>
            <a:r>
              <a:rPr lang="en-US" sz="1400" b="true">
                <a:solidFill>
                  <a:srgbClr val="111111"/>
                </a:solidFill>
                <a:latin typeface="Nunito Semi-Bold"/>
                <a:ea typeface="Nunito Semi-Bold"/>
                <a:cs typeface="Nunito Semi-Bold"/>
                <a:sym typeface="Nunito Semi-Bold"/>
              </a:rPr>
              <a:t> in standard models</a:t>
            </a:r>
          </a:p>
        </p:txBody>
      </p:sp>
      <p:sp>
        <p:nvSpPr>
          <p:cNvPr id="50" name="Rounded Rectangle 49"/>
          <p:cNvSpPr/>
          <p:nvPr/>
        </p:nvSpPr>
        <p:spPr>
          <a:xfrm>
            <a:off x="9258300" y="7981442"/>
            <a:ext cx="8001000" cy="1235710"/>
          </a:xfrm>
          <a:prstGeom prst="roundRect">
            <a:avLst>
              <a:gd name="adj" fmla="val 18499"/>
            </a:avLst>
          </a:prstGeom>
          <a:solidFill>
            <a:srgbClr val="124944"/>
          </a:solidFill>
          <a:ln>
            <a:noFill/>
          </a:ln>
        </p:spPr>
        <p:txBody>
          <a:bodyPr anchor="ctr" rtlCol="false" lIns="320040" tIns="91440" rIns="320040" bIns="91440" wrap="square"/>
          <a:lstStyle/>
          <a:p>
            <a:pPr algn="ctr">
              <a:lnSpc>
                <a:spcPts val="2100"/>
              </a:lnSpc>
              <a:spcBef>
                <a:spcPts val="0"/>
              </a:spcBef>
              <a:buNone/>
            </a:pPr>
            <a:r>
              <a:rPr lang="en-US" sz="1600" b="true">
                <a:solidFill>
                  <a:srgbClr val="FFFFFF"/>
                </a:solidFill>
                <a:latin typeface="Nunito Semi-Bold"/>
                <a:ea typeface="Nunito Semi-Bold"/>
                <a:cs typeface="Nunito Semi-Bold"/>
                <a:sym typeface="Nunito Semi-Bold"/>
              </a:rPr>
              <a:t>Multi-hop and higher-order relations improve ranking, but </a:t>
            </a:r>
            <a:r>
              <a:rPr lang="en-US" sz="1600" b="true">
                <a:solidFill>
                  <a:srgbClr val="FFFFFF"/>
                </a:solidFill>
                <a:latin typeface="Nunito Bold"/>
                <a:ea typeface="Nunito Bold"/>
                <a:cs typeface="Nunito Bold"/>
                <a:sym typeface="Nunito Bold"/>
              </a:rPr>
              <a:t>message importance stays implicit or uniform</a:t>
            </a:r>
            <a:r>
              <a:rPr lang="en-US" sz="1600" b="true">
                <a:solidFill>
                  <a:srgbClr val="FFFFFF"/>
                </a:solidFill>
                <a:latin typeface="Nunito Semi-Bold"/>
                <a:ea typeface="Nunito Semi-Bold"/>
                <a:cs typeface="Nunito Semi-Bold"/>
                <a:sym typeface="Nunito Semi-Bold"/>
              </a:rPr>
              <a:t>: the assumption DyHuCoG challenges.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[23] Zhu, Z. et al. Popularity Bias in Dynamic Recommendation. KDD, 2439–2449 (2021).  ·  Hurley, N. &amp; Zhang, M. Novelty and Diversity in Top-N Recommendation. ACM TOIT 10(4) (2011).   [21] Zhang, Y. &amp; Chen, X. Explainable Recommendation: A Survey and New Perspectives. Foundations and Trends in IR 14(1), 1–101 (2020).</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13</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CONTEXT &amp; PROBLEMATIC</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666750"/>
          </a:xfrm>
          <a:prstGeom prst="rect">
            <a:avLst/>
          </a:prstGeom>
          <a:noFill/>
        </p:spPr>
        <p:txBody>
          <a:bodyPr anchor="t" rtlCol="false" lIns="0" tIns="0" rIns="0" bIns="0" wrap="square"/>
          <a:lstStyle/>
          <a:p>
            <a:pPr algn="l">
              <a:lnSpc>
                <a:spcPts val="4620"/>
              </a:lnSpc>
              <a:spcBef>
                <a:spcPts val="0"/>
              </a:spcBef>
              <a:buNone/>
            </a:pPr>
            <a:r>
              <a:rPr lang="en-US" sz="4200" b="true" spc="-210">
                <a:solidFill>
                  <a:srgbClr val="111111"/>
                </a:solidFill>
                <a:latin typeface="Roca Two Bold"/>
                <a:ea typeface="Roca Two Bold"/>
                <a:cs typeface="Roca Two Bold"/>
                <a:sym typeface="Roca Two Bold"/>
              </a:rPr>
              <a:t>Limitations of Classical Recommenders &amp; Unsupervised Models</a:t>
            </a:r>
          </a:p>
        </p:txBody>
      </p:sp>
      <p:pic>
        <p:nvPicPr>
          <p:cNvPr id="23" name="Picture 22" descr="image.png"/>
          <p:cNvPicPr>
            <a:picLocks noChangeAspect="1"/>
          </p:cNvPicPr>
          <p:nvPr/>
        </p:nvPicPr>
        <p:blipFill>
          <a:blip r:embed="rId3"/>
          <a:stretch>
            <a:fillRect/>
          </a:stretch>
        </p:blipFill>
        <p:spPr>
          <a:xfrm>
            <a:off x="16315229" y="1673352"/>
            <a:ext cx="457200" cy="399005"/>
          </a:xfrm>
          <a:prstGeom prst="rect">
            <a:avLst/>
          </a:prstGeom>
        </p:spPr>
      </p:pic>
      <p:sp>
        <p:nvSpPr>
          <p:cNvPr id="24" name="Rounded Rectangle 23"/>
          <p:cNvSpPr/>
          <p:nvPr/>
        </p:nvSpPr>
        <p:spPr>
          <a:xfrm>
            <a:off x="1028700" y="2495550"/>
            <a:ext cx="1854490"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Approaches</a:t>
            </a:r>
          </a:p>
        </p:txBody>
      </p:sp>
      <p:sp>
        <p:nvSpPr>
          <p:cNvPr id="25" name="Rounded Rectangle 24"/>
          <p:cNvSpPr/>
          <p:nvPr/>
        </p:nvSpPr>
        <p:spPr>
          <a:xfrm>
            <a:off x="3011206" y="2495550"/>
            <a:ext cx="1870972"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Problematic</a:t>
            </a:r>
          </a:p>
        </p:txBody>
      </p:sp>
      <p:sp>
        <p:nvSpPr>
          <p:cNvPr id="26" name="Rounded Rectangle 25"/>
          <p:cNvSpPr/>
          <p:nvPr/>
        </p:nvSpPr>
        <p:spPr>
          <a:xfrm>
            <a:off x="5010194" y="2495550"/>
            <a:ext cx="2041208"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Contributions</a:t>
            </a:r>
          </a:p>
        </p:txBody>
      </p:sp>
      <p:sp>
        <p:nvSpPr>
          <p:cNvPr id="27" name="Rounded Rectangle 26"/>
          <p:cNvSpPr/>
          <p:nvPr/>
        </p:nvSpPr>
        <p:spPr>
          <a:xfrm>
            <a:off x="1028700" y="3391662"/>
            <a:ext cx="3851910" cy="3017520"/>
          </a:xfrm>
          <a:prstGeom prst="roundRect">
            <a:avLst>
              <a:gd name="adj" fmla="val 9090"/>
            </a:avLst>
          </a:prstGeom>
          <a:solidFill>
            <a:srgbClr val="124944"/>
          </a:solidFill>
          <a:ln>
            <a:noFill/>
          </a:ln>
        </p:spPr>
        <p:txBody>
          <a:bodyPr anchor="t" rtlCol="false" lIns="320040" tIns="320040" rIns="274320" bIns="228600" wrap="square"/>
          <a:lstStyle/>
          <a:p>
            <a:pPr algn="l">
              <a:lnSpc>
                <a:spcPts val="3000"/>
              </a:lnSpc>
              <a:spcBef>
                <a:spcPts val="0"/>
              </a:spcBef>
              <a:buNone/>
            </a:pPr>
            <a:r>
              <a:rPr lang="en-US" sz="2600" b="true">
                <a:solidFill>
                  <a:srgbClr val="ECC665"/>
                </a:solidFill>
                <a:latin typeface="Nunito Ultra-Bold"/>
                <a:ea typeface="Nunito Ultra-Bold"/>
                <a:cs typeface="Nunito Ultra-Bold"/>
                <a:sym typeface="Nunito Ultra-Bold"/>
              </a:rPr>
              <a:t>01</a:t>
            </a:r>
          </a:p>
          <a:p>
            <a:pPr algn="l">
              <a:lnSpc>
                <a:spcPts val="2500"/>
              </a:lnSpc>
              <a:spcBef>
                <a:spcPts val="600"/>
              </a:spcBef>
              <a:buNone/>
            </a:pPr>
            <a:r>
              <a:rPr lang="en-US" sz="2100" b="true">
                <a:solidFill>
                  <a:srgbClr val="FFFFFF"/>
                </a:solidFill>
                <a:latin typeface="Nunito Ultra-Bold"/>
                <a:ea typeface="Nunito Ultra-Bold"/>
                <a:cs typeface="Nunito Ultra-Bold"/>
                <a:sym typeface="Nunito Ultra-Bold"/>
              </a:rPr>
              <a:t>Data sparsity &amp; scalability</a:t>
            </a:r>
          </a:p>
          <a:p>
            <a:pPr algn="l">
              <a:lnSpc>
                <a:spcPts val="2100"/>
              </a:lnSpc>
              <a:spcBef>
                <a:spcPts val="800"/>
              </a:spcBef>
              <a:buNone/>
            </a:pPr>
            <a:r>
              <a:rPr lang="en-US" sz="1700" b="true">
                <a:solidFill>
                  <a:srgbClr val="F1EDE6"/>
                </a:solidFill>
                <a:latin typeface="Nunito Semi-Bold"/>
                <a:ea typeface="Nunito Semi-Bold"/>
                <a:cs typeface="Nunito Semi-Bold"/>
                <a:sym typeface="Nunito Semi-Bold"/>
              </a:rPr>
              <a:t>The user-item matrix is almost empty, so there is very little signal to learn from.</a:t>
            </a:r>
          </a:p>
        </p:txBody>
      </p:sp>
      <p:sp>
        <p:nvSpPr>
          <p:cNvPr id="28" name="Rounded Rectangle 27"/>
          <p:cNvSpPr/>
          <p:nvPr/>
        </p:nvSpPr>
        <p:spPr>
          <a:xfrm>
            <a:off x="5154930" y="3391662"/>
            <a:ext cx="3851910" cy="3017520"/>
          </a:xfrm>
          <a:prstGeom prst="roundRect">
            <a:avLst>
              <a:gd name="adj" fmla="val 9090"/>
            </a:avLst>
          </a:prstGeom>
          <a:solidFill>
            <a:srgbClr val="124944"/>
          </a:solidFill>
          <a:ln>
            <a:noFill/>
          </a:ln>
        </p:spPr>
        <p:txBody>
          <a:bodyPr anchor="t" rtlCol="false" lIns="320040" tIns="320040" rIns="274320" bIns="228600" wrap="square"/>
          <a:lstStyle/>
          <a:p>
            <a:pPr algn="l">
              <a:lnSpc>
                <a:spcPts val="3000"/>
              </a:lnSpc>
              <a:spcBef>
                <a:spcPts val="0"/>
              </a:spcBef>
              <a:buNone/>
            </a:pPr>
            <a:r>
              <a:rPr lang="en-US" sz="2600" b="true">
                <a:solidFill>
                  <a:srgbClr val="ECC665"/>
                </a:solidFill>
                <a:latin typeface="Nunito Ultra-Bold"/>
                <a:ea typeface="Nunito Ultra-Bold"/>
                <a:cs typeface="Nunito Ultra-Bold"/>
                <a:sym typeface="Nunito Ultra-Bold"/>
              </a:rPr>
              <a:t>02</a:t>
            </a:r>
          </a:p>
          <a:p>
            <a:pPr algn="l">
              <a:lnSpc>
                <a:spcPts val="2500"/>
              </a:lnSpc>
              <a:spcBef>
                <a:spcPts val="600"/>
              </a:spcBef>
              <a:buNone/>
            </a:pPr>
            <a:r>
              <a:rPr lang="en-US" sz="2100" b="true">
                <a:solidFill>
                  <a:srgbClr val="FFFFFF"/>
                </a:solidFill>
                <a:latin typeface="Nunito Ultra-Bold"/>
                <a:ea typeface="Nunito Ultra-Bold"/>
                <a:cs typeface="Nunito Ultra-Bold"/>
                <a:sym typeface="Nunito Ultra-Bold"/>
              </a:rPr>
              <a:t>Cold-start</a:t>
            </a:r>
          </a:p>
          <a:p>
            <a:pPr algn="l">
              <a:lnSpc>
                <a:spcPts val="2100"/>
              </a:lnSpc>
              <a:spcBef>
                <a:spcPts val="800"/>
              </a:spcBef>
              <a:buNone/>
            </a:pPr>
            <a:r>
              <a:rPr lang="en-US" sz="1700" b="true">
                <a:solidFill>
                  <a:srgbClr val="F1EDE6"/>
                </a:solidFill>
                <a:latin typeface="Nunito Semi-Bold"/>
                <a:ea typeface="Nunito Semi-Bold"/>
                <a:cs typeface="Nunito Semi-Bold"/>
                <a:sym typeface="Nunito Semi-Bold"/>
              </a:rPr>
              <a:t>New users and items are at a disadvantage: no history to learn from.</a:t>
            </a:r>
          </a:p>
        </p:txBody>
      </p:sp>
      <p:sp>
        <p:nvSpPr>
          <p:cNvPr id="29" name="Rounded Rectangle 28"/>
          <p:cNvSpPr/>
          <p:nvPr/>
        </p:nvSpPr>
        <p:spPr>
          <a:xfrm>
            <a:off x="9281160" y="3391662"/>
            <a:ext cx="3851910" cy="3017520"/>
          </a:xfrm>
          <a:prstGeom prst="roundRect">
            <a:avLst>
              <a:gd name="adj" fmla="val 9090"/>
            </a:avLst>
          </a:prstGeom>
          <a:solidFill>
            <a:srgbClr val="124944"/>
          </a:solidFill>
          <a:ln>
            <a:noFill/>
          </a:ln>
        </p:spPr>
        <p:txBody>
          <a:bodyPr anchor="t" rtlCol="false" lIns="320040" tIns="320040" rIns="274320" bIns="228600" wrap="square"/>
          <a:lstStyle/>
          <a:p>
            <a:pPr algn="l">
              <a:lnSpc>
                <a:spcPts val="3000"/>
              </a:lnSpc>
              <a:spcBef>
                <a:spcPts val="0"/>
              </a:spcBef>
              <a:buNone/>
            </a:pPr>
            <a:r>
              <a:rPr lang="en-US" sz="2600" b="true">
                <a:solidFill>
                  <a:srgbClr val="ECC665"/>
                </a:solidFill>
                <a:latin typeface="Nunito Ultra-Bold"/>
                <a:ea typeface="Nunito Ultra-Bold"/>
                <a:cs typeface="Nunito Ultra-Bold"/>
                <a:sym typeface="Nunito Ultra-Bold"/>
              </a:rPr>
              <a:t>03</a:t>
            </a:r>
          </a:p>
          <a:p>
            <a:pPr algn="l">
              <a:lnSpc>
                <a:spcPts val="2500"/>
              </a:lnSpc>
              <a:spcBef>
                <a:spcPts val="600"/>
              </a:spcBef>
              <a:buNone/>
            </a:pPr>
            <a:r>
              <a:rPr lang="en-US" sz="2100" b="true">
                <a:solidFill>
                  <a:srgbClr val="FFFFFF"/>
                </a:solidFill>
                <a:latin typeface="Nunito Ultra-Bold"/>
                <a:ea typeface="Nunito Ultra-Bold"/>
                <a:cs typeface="Nunito Ultra-Bold"/>
                <a:sym typeface="Nunito Ultra-Bold"/>
              </a:rPr>
              <a:t>Popularity bias &amp; lack of diversity</a:t>
            </a:r>
          </a:p>
          <a:p>
            <a:pPr algn="l">
              <a:lnSpc>
                <a:spcPts val="2100"/>
              </a:lnSpc>
              <a:spcBef>
                <a:spcPts val="800"/>
              </a:spcBef>
              <a:buNone/>
            </a:pPr>
            <a:r>
              <a:rPr lang="en-US" sz="1700" b="true">
                <a:solidFill>
                  <a:srgbClr val="F1EDE6"/>
                </a:solidFill>
                <a:latin typeface="Nunito Semi-Bold"/>
                <a:ea typeface="Nunito Semi-Bold"/>
                <a:cs typeface="Nunito Semi-Bold"/>
                <a:sym typeface="Nunito Semi-Bold"/>
              </a:rPr>
              <a:t>Exposure leads to interaction, which leads to more exposure: a filter-bubble loop.</a:t>
            </a:r>
          </a:p>
        </p:txBody>
      </p:sp>
      <p:sp>
        <p:nvSpPr>
          <p:cNvPr id="30" name="Rounded Rectangle 29"/>
          <p:cNvSpPr/>
          <p:nvPr/>
        </p:nvSpPr>
        <p:spPr>
          <a:xfrm>
            <a:off x="13407390" y="3391662"/>
            <a:ext cx="3851910" cy="3017520"/>
          </a:xfrm>
          <a:prstGeom prst="roundRect">
            <a:avLst>
              <a:gd name="adj" fmla="val 9090"/>
            </a:avLst>
          </a:prstGeom>
          <a:solidFill>
            <a:srgbClr val="DF8330"/>
          </a:solidFill>
          <a:ln>
            <a:noFill/>
          </a:ln>
        </p:spPr>
        <p:txBody>
          <a:bodyPr anchor="t" rtlCol="false" lIns="320040" tIns="320040" rIns="274320" bIns="228600" wrap="square"/>
          <a:lstStyle/>
          <a:p>
            <a:pPr algn="l">
              <a:lnSpc>
                <a:spcPts val="3000"/>
              </a:lnSpc>
              <a:spcBef>
                <a:spcPts val="0"/>
              </a:spcBef>
              <a:buNone/>
            </a:pPr>
            <a:r>
              <a:rPr lang="en-US" sz="2600" b="true">
                <a:solidFill>
                  <a:srgbClr val="FFFFFF"/>
                </a:solidFill>
                <a:latin typeface="Nunito Ultra-Bold"/>
                <a:ea typeface="Nunito Ultra-Bold"/>
                <a:cs typeface="Nunito Ultra-Bold"/>
                <a:sym typeface="Nunito Ultra-Bold"/>
              </a:rPr>
              <a:t>04</a:t>
            </a:r>
          </a:p>
          <a:p>
            <a:pPr algn="l">
              <a:lnSpc>
                <a:spcPts val="2500"/>
              </a:lnSpc>
              <a:spcBef>
                <a:spcPts val="600"/>
              </a:spcBef>
              <a:buNone/>
            </a:pPr>
            <a:r>
              <a:rPr lang="en-US" sz="2100" b="true">
                <a:solidFill>
                  <a:srgbClr val="FFFFFF"/>
                </a:solidFill>
                <a:latin typeface="Nunito Ultra-Bold"/>
                <a:ea typeface="Nunito Ultra-Bold"/>
                <a:cs typeface="Nunito Ultra-Bold"/>
                <a:sym typeface="Nunito Ultra-Bold"/>
              </a:rPr>
              <a:t>Absence of interpretability</a:t>
            </a:r>
          </a:p>
          <a:p>
            <a:pPr algn="l">
              <a:lnSpc>
                <a:spcPts val="2100"/>
              </a:lnSpc>
              <a:spcBef>
                <a:spcPts val="800"/>
              </a:spcBef>
              <a:buNone/>
            </a:pPr>
            <a:r>
              <a:rPr lang="en-US" sz="1700" b="true">
                <a:solidFill>
                  <a:srgbClr val="F1EDE6"/>
                </a:solidFill>
                <a:latin typeface="Nunito Semi-Bold"/>
                <a:ea typeface="Nunito Semi-Bold"/>
                <a:cs typeface="Nunito Semi-Bold"/>
                <a:sym typeface="Nunito Semi-Bold"/>
              </a:rPr>
              <a:t>The most basic limit, and the one this thesis targets.</a:t>
            </a:r>
          </a:p>
        </p:txBody>
      </p:sp>
      <p:sp>
        <p:nvSpPr>
          <p:cNvPr id="31" name="Rounded Rectangle 30"/>
          <p:cNvSpPr/>
          <p:nvPr/>
        </p:nvSpPr>
        <p:spPr>
          <a:xfrm>
            <a:off x="1028700" y="7049262"/>
            <a:ext cx="16230600" cy="2259330"/>
          </a:xfrm>
          <a:prstGeom prst="roundRect">
            <a:avLst>
              <a:gd name="adj" fmla="val 13760"/>
            </a:avLst>
          </a:prstGeom>
          <a:solidFill>
            <a:srgbClr val="F6ECDF"/>
          </a:solidFill>
          <a:ln>
            <a:noFill/>
          </a:ln>
        </p:spPr>
        <p:txBody>
          <a:bodyPr anchor="ctr" rtlCol="false" lIns="0" tIns="0" rIns="0" bIns="0" wrap="square"/>
          <a:lstStyle/>
          <a:p>
            <a:endParaRPr lang="en-US" sz="1800"/>
          </a:p>
        </p:txBody>
      </p:sp>
      <p:sp>
        <p:nvSpPr>
          <p:cNvPr id="32" name="Rounded Rectangle 31"/>
          <p:cNvSpPr/>
          <p:nvPr/>
        </p:nvSpPr>
        <p:spPr>
          <a:xfrm>
            <a:off x="1485900" y="6811518"/>
            <a:ext cx="7857234"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For clustering specifically, the situation is even harder</a:t>
            </a:r>
          </a:p>
        </p:txBody>
      </p:sp>
      <p:sp>
        <p:nvSpPr>
          <p:cNvPr id="33" name="TextBox 32"/>
          <p:cNvSpPr txBox="1"/>
          <p:nvPr/>
        </p:nvSpPr>
        <p:spPr>
          <a:xfrm>
            <a:off x="1531620" y="7689342"/>
            <a:ext cx="15270480" cy="1344930"/>
          </a:xfrm>
          <a:prstGeom prst="rect">
            <a:avLst/>
          </a:prstGeom>
          <a:noFill/>
        </p:spPr>
        <p:txBody>
          <a:bodyPr anchor="t" rtlCol="false" lIns="0" tIns="0" rIns="0" bIns="0" wrap="square"/>
          <a:lstStyle/>
          <a:p>
            <a:pPr algn="l" marL="274320" indent="-274320">
              <a:lnSpc>
                <a:spcPts val="2587"/>
              </a:lnSpc>
              <a:spcBef>
                <a:spcPts val="0"/>
              </a:spcBef>
              <a:buClr>
                <a:srgbClr val="DF8330"/>
              </a:buClr>
              <a:buSzPct val="100000"/>
              <a:buFont typeface="Arial"/>
              <a:buChar char="•"/>
            </a:pPr>
            <a:r>
              <a:rPr lang="en-US" sz="1848" b="true">
                <a:solidFill>
                  <a:srgbClr val="111111"/>
                </a:solidFill>
                <a:latin typeface="Nunito Semi-Bold"/>
                <a:ea typeface="Nunito Semi-Bold"/>
                <a:cs typeface="Nunito Semi-Bold"/>
                <a:sym typeface="Nunito Semi-Bold"/>
              </a:rPr>
              <a:t>Methods give a </a:t>
            </a:r>
            <a:r>
              <a:rPr lang="en-US" sz="1848" b="true">
                <a:solidFill>
                  <a:srgbClr val="111111"/>
                </a:solidFill>
                <a:latin typeface="Nunito Bold"/>
                <a:ea typeface="Nunito Bold"/>
                <a:cs typeface="Nunito Bold"/>
                <a:sym typeface="Nunito Bold"/>
              </a:rPr>
              <a:t>local OR a global</a:t>
            </a:r>
            <a:r>
              <a:rPr lang="en-US" sz="1848" b="true">
                <a:solidFill>
                  <a:srgbClr val="111111"/>
                </a:solidFill>
                <a:latin typeface="Nunito Semi-Bold"/>
                <a:ea typeface="Nunito Semi-Bold"/>
                <a:cs typeface="Nunito Semi-Bold"/>
                <a:sym typeface="Nunito Semi-Bold"/>
              </a:rPr>
              <a:t> explanation, not both.</a:t>
            </a:r>
          </a:p>
          <a:p>
            <a:pPr algn="l" marL="274320" indent="-274320">
              <a:lnSpc>
                <a:spcPts val="2587"/>
              </a:lnSpc>
              <a:spcBef>
                <a:spcPts val="704"/>
              </a:spcBef>
              <a:buClr>
                <a:srgbClr val="DF8330"/>
              </a:buClr>
              <a:buSzPct val="100000"/>
              <a:buFont typeface="Arial"/>
              <a:buChar char="•"/>
            </a:pPr>
            <a:r>
              <a:rPr lang="en-US" sz="1848" b="true">
                <a:solidFill>
                  <a:srgbClr val="111111"/>
                </a:solidFill>
                <a:latin typeface="Nunito Semi-Bold"/>
                <a:ea typeface="Nunito Semi-Bold"/>
                <a:cs typeface="Nunito Semi-Bold"/>
                <a:sym typeface="Nunito Semi-Bold"/>
              </a:rPr>
              <a:t>They </a:t>
            </a:r>
            <a:r>
              <a:rPr lang="en-US" sz="1848" b="true">
                <a:solidFill>
                  <a:srgbClr val="111111"/>
                </a:solidFill>
                <a:latin typeface="Nunito Bold"/>
                <a:ea typeface="Nunito Bold"/>
                <a:cs typeface="Nunito Bold"/>
                <a:sym typeface="Nunito Bold"/>
              </a:rPr>
              <a:t>struggle to scale</a:t>
            </a:r>
            <a:r>
              <a:rPr lang="en-US" sz="1848" b="true">
                <a:solidFill>
                  <a:srgbClr val="111111"/>
                </a:solidFill>
                <a:latin typeface="Nunito Semi-Bold"/>
                <a:ea typeface="Nunito Semi-Bold"/>
                <a:cs typeface="Nunito Semi-Bold"/>
                <a:sym typeface="Nunito Semi-Bold"/>
              </a:rPr>
              <a:t>, and explanations rarely stay </a:t>
            </a:r>
            <a:r>
              <a:rPr lang="en-US" sz="1848" b="true">
                <a:solidFill>
                  <a:srgbClr val="111111"/>
                </a:solidFill>
                <a:latin typeface="Nunito Bold"/>
                <a:ea typeface="Nunito Bold"/>
                <a:cs typeface="Nunito Bold"/>
                <a:sym typeface="Nunito Bold"/>
              </a:rPr>
              <a:t>consistent across levels of detail</a:t>
            </a:r>
            <a:r>
              <a:rPr lang="en-US" sz="1848" b="true">
                <a:solidFill>
                  <a:srgbClr val="111111"/>
                </a:solidFill>
                <a:latin typeface="Nunito Semi-Bold"/>
                <a:ea typeface="Nunito Semi-Bold"/>
                <a:cs typeface="Nunito Semi-Bold"/>
                <a:sym typeface="Nunito Semi-Bold"/>
              </a:rPr>
              <a:t>.</a:t>
            </a:r>
          </a:p>
          <a:p>
            <a:pPr algn="l" marL="274320" indent="-274320">
              <a:lnSpc>
                <a:spcPts val="2587"/>
              </a:lnSpc>
              <a:spcBef>
                <a:spcPts val="704"/>
              </a:spcBef>
              <a:buClr>
                <a:srgbClr val="DF8330"/>
              </a:buClr>
              <a:buSzPct val="100000"/>
              <a:buFont typeface="Arial"/>
              <a:buChar char="•"/>
            </a:pPr>
            <a:r>
              <a:rPr lang="en-US" sz="1848" b="true">
                <a:solidFill>
                  <a:srgbClr val="111111"/>
                </a:solidFill>
                <a:latin typeface="Nunito Bold"/>
                <a:ea typeface="Nunito Bold"/>
                <a:cs typeface="Nunito Bold"/>
                <a:sym typeface="Nunito Bold"/>
              </a:rPr>
              <a:t>The gap:</a:t>
            </a:r>
            <a:r>
              <a:rPr lang="en-US" sz="1848" b="true">
                <a:solidFill>
                  <a:srgbClr val="111111"/>
                </a:solidFill>
                <a:latin typeface="Nunito Semi-Bold"/>
                <a:ea typeface="Nunito Semi-Bold"/>
                <a:cs typeface="Nunito Semi-Bold"/>
                <a:sym typeface="Nunito Semi-Bold"/>
              </a:rPr>
              <a:t> no faithful local + global explanation, poor scaling, and no consistency across levels. This is exactly what this thesis works 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[21] Zhang, Y. &amp; Chen, X. Explainable Recommendation: A Survey and New Perspectives. Foundations and Trends in IR 14(1), 1–101 (2020).   [24] Arrieta, A. B. et al. Explainable Artificial Intelligence (XAI): Concepts, Taxonomies, Opportunities and Challenges. Information Fusion 58, 82–115 (2020).</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14</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CONTEXT &amp; PROBLEMATIC</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Three Main Limitations: Problem Statement</a:t>
            </a:r>
          </a:p>
        </p:txBody>
      </p:sp>
      <p:pic>
        <p:nvPicPr>
          <p:cNvPr id="23" name="Picture 22" descr="image.png"/>
          <p:cNvPicPr>
            <a:picLocks noChangeAspect="1"/>
          </p:cNvPicPr>
          <p:nvPr/>
        </p:nvPicPr>
        <p:blipFill>
          <a:blip r:embed="rId3"/>
          <a:stretch>
            <a:fillRect/>
          </a:stretch>
        </p:blipFill>
        <p:spPr>
          <a:xfrm>
            <a:off x="12569927" y="1673352"/>
            <a:ext cx="457200" cy="446713"/>
          </a:xfrm>
          <a:prstGeom prst="rect">
            <a:avLst/>
          </a:prstGeom>
        </p:spPr>
      </p:pic>
      <p:sp>
        <p:nvSpPr>
          <p:cNvPr id="24" name="Rounded Rectangle 23"/>
          <p:cNvSpPr/>
          <p:nvPr/>
        </p:nvSpPr>
        <p:spPr>
          <a:xfrm>
            <a:off x="1028700" y="2559050"/>
            <a:ext cx="1854490"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Approaches</a:t>
            </a:r>
          </a:p>
        </p:txBody>
      </p:sp>
      <p:sp>
        <p:nvSpPr>
          <p:cNvPr id="25" name="Rounded Rectangle 24"/>
          <p:cNvSpPr/>
          <p:nvPr/>
        </p:nvSpPr>
        <p:spPr>
          <a:xfrm>
            <a:off x="3011206" y="2559050"/>
            <a:ext cx="1870972"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Problematic</a:t>
            </a:r>
          </a:p>
        </p:txBody>
      </p:sp>
      <p:sp>
        <p:nvSpPr>
          <p:cNvPr id="26" name="Rounded Rectangle 25"/>
          <p:cNvSpPr/>
          <p:nvPr/>
        </p:nvSpPr>
        <p:spPr>
          <a:xfrm>
            <a:off x="5010194" y="2559050"/>
            <a:ext cx="2041208"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Contributions</a:t>
            </a:r>
          </a:p>
        </p:txBody>
      </p:sp>
      <p:sp>
        <p:nvSpPr>
          <p:cNvPr id="27" name="Rounded Rectangle 26"/>
          <p:cNvSpPr/>
          <p:nvPr/>
        </p:nvSpPr>
        <p:spPr>
          <a:xfrm>
            <a:off x="1028700" y="3455162"/>
            <a:ext cx="5196840" cy="3566160"/>
          </a:xfrm>
          <a:prstGeom prst="roundRect">
            <a:avLst>
              <a:gd name="adj" fmla="val 8205"/>
            </a:avLst>
          </a:prstGeom>
          <a:solidFill>
            <a:srgbClr val="124944"/>
          </a:solidFill>
          <a:ln>
            <a:noFill/>
          </a:ln>
        </p:spPr>
        <p:txBody>
          <a:bodyPr anchor="ctr" rtlCol="false" lIns="0" tIns="0" rIns="0" bIns="0" wrap="square"/>
          <a:lstStyle/>
          <a:p>
            <a:endParaRPr lang="en-US" sz="1800"/>
          </a:p>
        </p:txBody>
      </p:sp>
      <p:sp>
        <p:nvSpPr>
          <p:cNvPr id="28" name="Oval 27"/>
          <p:cNvSpPr/>
          <p:nvPr/>
        </p:nvSpPr>
        <p:spPr>
          <a:xfrm>
            <a:off x="1348740" y="3775202"/>
            <a:ext cx="685800" cy="685800"/>
          </a:xfrm>
          <a:prstGeom prst="ellipse">
            <a:avLst/>
          </a:prstGeom>
          <a:solidFill>
            <a:srgbClr val="ECC665"/>
          </a:solidFill>
          <a:ln>
            <a:noFill/>
          </a:ln>
        </p:spPr>
        <p:txBody>
          <a:bodyPr anchor="ctr" rtlCol="false" lIns="0" tIns="0" rIns="0" bIns="0" wrap="square"/>
          <a:lstStyle/>
          <a:p>
            <a:pPr algn="ctr">
              <a:lnSpc>
                <a:spcPts val="2640"/>
              </a:lnSpc>
              <a:spcBef>
                <a:spcPts val="0"/>
              </a:spcBef>
              <a:buNone/>
            </a:pPr>
            <a:r>
              <a:rPr lang="en-US" sz="2400" b="true">
                <a:solidFill>
                  <a:srgbClr val="111111"/>
                </a:solidFill>
                <a:latin typeface="Nunito Ultra-Bold"/>
                <a:ea typeface="Nunito Ultra-Bold"/>
                <a:cs typeface="Nunito Ultra-Bold"/>
                <a:sym typeface="Nunito Ultra-Bold"/>
              </a:rPr>
              <a:t>1</a:t>
            </a:r>
          </a:p>
        </p:txBody>
      </p:sp>
      <p:sp>
        <p:nvSpPr>
          <p:cNvPr id="29" name="TextBox 28"/>
          <p:cNvSpPr txBox="1"/>
          <p:nvPr/>
        </p:nvSpPr>
        <p:spPr>
          <a:xfrm>
            <a:off x="1348740" y="4643882"/>
            <a:ext cx="4556760" cy="2194560"/>
          </a:xfrm>
          <a:prstGeom prst="rect">
            <a:avLst/>
          </a:prstGeom>
          <a:noFill/>
        </p:spPr>
        <p:txBody>
          <a:bodyPr anchor="t" rtlCol="false" lIns="0" tIns="0" rIns="0" bIns="0" wrap="square"/>
          <a:lstStyle/>
          <a:p>
            <a:pPr algn="l">
              <a:lnSpc>
                <a:spcPts val="3000"/>
              </a:lnSpc>
              <a:spcBef>
                <a:spcPts val="0"/>
              </a:spcBef>
              <a:buNone/>
            </a:pPr>
            <a:r>
              <a:rPr lang="en-US" sz="2400" b="true">
                <a:solidFill>
                  <a:srgbClr val="FFFFFF"/>
                </a:solidFill>
                <a:latin typeface="Nunito Ultra-Bold"/>
                <a:ea typeface="Nunito Ultra-Bold"/>
                <a:cs typeface="Nunito Ultra-Bold"/>
                <a:sym typeface="Nunito Ultra-Bold"/>
              </a:rPr>
              <a:t>Lack of explainability</a:t>
            </a:r>
          </a:p>
          <a:p>
            <a:pPr algn="l">
              <a:lnSpc>
                <a:spcPts val="2660"/>
              </a:lnSpc>
              <a:spcBef>
                <a:spcPts val="800"/>
              </a:spcBef>
              <a:buNone/>
            </a:pPr>
            <a:r>
              <a:rPr lang="en-US" sz="1900" b="true">
                <a:solidFill>
                  <a:srgbClr val="F1EDE6"/>
                </a:solidFill>
                <a:latin typeface="Nunito Semi-Bold"/>
                <a:ea typeface="Nunito Semi-Bold"/>
                <a:cs typeface="Nunito Semi-Bold"/>
                <a:sym typeface="Nunito Semi-Bold"/>
              </a:rPr>
              <a:t>Complex models are still hard to explain in a way that is </a:t>
            </a:r>
            <a:r>
              <a:rPr lang="en-US" sz="1900" b="true">
                <a:solidFill>
                  <a:srgbClr val="F1EDE6"/>
                </a:solidFill>
                <a:latin typeface="Nunito Bold"/>
                <a:ea typeface="Nunito Bold"/>
                <a:cs typeface="Nunito Bold"/>
                <a:sym typeface="Nunito Bold"/>
              </a:rPr>
              <a:t>faithful and actionable</a:t>
            </a:r>
            <a:r>
              <a:rPr lang="en-US" sz="1900" b="true">
                <a:solidFill>
                  <a:srgbClr val="F1EDE6"/>
                </a:solidFill>
                <a:latin typeface="Nunito Semi-Bold"/>
                <a:ea typeface="Nunito Semi-Bold"/>
                <a:cs typeface="Nunito Semi-Bold"/>
                <a:sym typeface="Nunito Semi-Bold"/>
              </a:rPr>
              <a:t>.</a:t>
            </a:r>
          </a:p>
        </p:txBody>
      </p:sp>
      <p:sp>
        <p:nvSpPr>
          <p:cNvPr id="30" name="Rounded Rectangle 29"/>
          <p:cNvSpPr/>
          <p:nvPr/>
        </p:nvSpPr>
        <p:spPr>
          <a:xfrm>
            <a:off x="6545580" y="3455162"/>
            <a:ext cx="5196840" cy="3566160"/>
          </a:xfrm>
          <a:prstGeom prst="roundRect">
            <a:avLst>
              <a:gd name="adj" fmla="val 8205"/>
            </a:avLst>
          </a:prstGeom>
          <a:solidFill>
            <a:srgbClr val="124944"/>
          </a:solidFill>
          <a:ln>
            <a:noFill/>
          </a:ln>
        </p:spPr>
        <p:txBody>
          <a:bodyPr anchor="ctr" rtlCol="false" lIns="0" tIns="0" rIns="0" bIns="0" wrap="square"/>
          <a:lstStyle/>
          <a:p>
            <a:endParaRPr lang="en-US" sz="1800"/>
          </a:p>
        </p:txBody>
      </p:sp>
      <p:sp>
        <p:nvSpPr>
          <p:cNvPr id="31" name="Oval 30"/>
          <p:cNvSpPr/>
          <p:nvPr/>
        </p:nvSpPr>
        <p:spPr>
          <a:xfrm>
            <a:off x="6865620" y="3775202"/>
            <a:ext cx="685800" cy="685800"/>
          </a:xfrm>
          <a:prstGeom prst="ellipse">
            <a:avLst/>
          </a:prstGeom>
          <a:solidFill>
            <a:srgbClr val="ECC665"/>
          </a:solidFill>
          <a:ln>
            <a:noFill/>
          </a:ln>
        </p:spPr>
        <p:txBody>
          <a:bodyPr anchor="ctr" rtlCol="false" lIns="0" tIns="0" rIns="0" bIns="0" wrap="square"/>
          <a:lstStyle/>
          <a:p>
            <a:pPr algn="ctr">
              <a:lnSpc>
                <a:spcPts val="2640"/>
              </a:lnSpc>
              <a:spcBef>
                <a:spcPts val="0"/>
              </a:spcBef>
              <a:buNone/>
            </a:pPr>
            <a:r>
              <a:rPr lang="en-US" sz="2400" b="true">
                <a:solidFill>
                  <a:srgbClr val="111111"/>
                </a:solidFill>
                <a:latin typeface="Nunito Ultra-Bold"/>
                <a:ea typeface="Nunito Ultra-Bold"/>
                <a:cs typeface="Nunito Ultra-Bold"/>
                <a:sym typeface="Nunito Ultra-Bold"/>
              </a:rPr>
              <a:t>2</a:t>
            </a:r>
          </a:p>
        </p:txBody>
      </p:sp>
      <p:sp>
        <p:nvSpPr>
          <p:cNvPr id="32" name="TextBox 31"/>
          <p:cNvSpPr txBox="1"/>
          <p:nvPr/>
        </p:nvSpPr>
        <p:spPr>
          <a:xfrm>
            <a:off x="6865620" y="4643882"/>
            <a:ext cx="4556760" cy="2194560"/>
          </a:xfrm>
          <a:prstGeom prst="rect">
            <a:avLst/>
          </a:prstGeom>
          <a:noFill/>
        </p:spPr>
        <p:txBody>
          <a:bodyPr anchor="t" rtlCol="false" lIns="0" tIns="0" rIns="0" bIns="0" wrap="square"/>
          <a:lstStyle/>
          <a:p>
            <a:pPr algn="l">
              <a:lnSpc>
                <a:spcPts val="2820"/>
              </a:lnSpc>
              <a:spcBef>
                <a:spcPts val="0"/>
              </a:spcBef>
              <a:buNone/>
            </a:pPr>
            <a:r>
              <a:rPr lang="en-US" sz="2256" b="true">
                <a:solidFill>
                  <a:srgbClr val="FFFFFF"/>
                </a:solidFill>
                <a:latin typeface="Nunito Ultra-Bold"/>
                <a:ea typeface="Nunito Ultra-Bold"/>
                <a:cs typeface="Nunito Ultra-Bold"/>
                <a:sym typeface="Nunito Ultra-Bold"/>
              </a:rPr>
              <a:t>Difficulty of scaling</a:t>
            </a:r>
          </a:p>
          <a:p>
            <a:pPr algn="l">
              <a:lnSpc>
                <a:spcPts val="2500"/>
              </a:lnSpc>
              <a:spcBef>
                <a:spcPts val="752"/>
              </a:spcBef>
              <a:buNone/>
            </a:pPr>
            <a:r>
              <a:rPr lang="en-US" sz="1786" b="true">
                <a:solidFill>
                  <a:srgbClr val="F1EDE6"/>
                </a:solidFill>
                <a:latin typeface="Nunito Semi-Bold"/>
                <a:ea typeface="Nunito Semi-Bold"/>
                <a:cs typeface="Nunito Semi-Bold"/>
                <a:sym typeface="Nunito Semi-Bold"/>
              </a:rPr>
              <a:t>Local explanations do not carry over to </a:t>
            </a:r>
            <a:r>
              <a:rPr lang="en-US" sz="1786" b="true">
                <a:solidFill>
                  <a:srgbClr val="F1EDE6"/>
                </a:solidFill>
                <a:latin typeface="Nunito Bold"/>
                <a:ea typeface="Nunito Bold"/>
                <a:cs typeface="Nunito Bold"/>
                <a:sym typeface="Nunito Bold"/>
              </a:rPr>
              <a:t>multi-level structures or large datasets</a:t>
            </a:r>
            <a:r>
              <a:rPr lang="en-US" sz="1786" b="true">
                <a:solidFill>
                  <a:srgbClr val="F1EDE6"/>
                </a:solidFill>
                <a:latin typeface="Nunito Semi-Bold"/>
                <a:ea typeface="Nunito Semi-Bold"/>
                <a:cs typeface="Nunito Semi-Bold"/>
                <a:sym typeface="Nunito Semi-Bold"/>
              </a:rPr>
              <a:t>: a method that works on a toy partition may break on hundreds of thousands of nested records.</a:t>
            </a:r>
          </a:p>
        </p:txBody>
      </p:sp>
      <p:sp>
        <p:nvSpPr>
          <p:cNvPr id="33" name="Rounded Rectangle 32"/>
          <p:cNvSpPr/>
          <p:nvPr/>
        </p:nvSpPr>
        <p:spPr>
          <a:xfrm>
            <a:off x="12062460" y="3455162"/>
            <a:ext cx="5196840" cy="3566160"/>
          </a:xfrm>
          <a:prstGeom prst="roundRect">
            <a:avLst>
              <a:gd name="adj" fmla="val 8205"/>
            </a:avLst>
          </a:prstGeom>
          <a:solidFill>
            <a:srgbClr val="124944"/>
          </a:solidFill>
          <a:ln>
            <a:noFill/>
          </a:ln>
        </p:spPr>
        <p:txBody>
          <a:bodyPr anchor="ctr" rtlCol="false" lIns="0" tIns="0" rIns="0" bIns="0" wrap="square"/>
          <a:lstStyle/>
          <a:p>
            <a:endParaRPr lang="en-US" sz="1800"/>
          </a:p>
        </p:txBody>
      </p:sp>
      <p:sp>
        <p:nvSpPr>
          <p:cNvPr id="34" name="Oval 33"/>
          <p:cNvSpPr/>
          <p:nvPr/>
        </p:nvSpPr>
        <p:spPr>
          <a:xfrm>
            <a:off x="12382500" y="3775202"/>
            <a:ext cx="685800" cy="685800"/>
          </a:xfrm>
          <a:prstGeom prst="ellipse">
            <a:avLst/>
          </a:prstGeom>
          <a:solidFill>
            <a:srgbClr val="ECC665"/>
          </a:solidFill>
          <a:ln>
            <a:noFill/>
          </a:ln>
        </p:spPr>
        <p:txBody>
          <a:bodyPr anchor="ctr" rtlCol="false" lIns="0" tIns="0" rIns="0" bIns="0" wrap="square"/>
          <a:lstStyle/>
          <a:p>
            <a:pPr algn="ctr">
              <a:lnSpc>
                <a:spcPts val="2640"/>
              </a:lnSpc>
              <a:spcBef>
                <a:spcPts val="0"/>
              </a:spcBef>
              <a:buNone/>
            </a:pPr>
            <a:r>
              <a:rPr lang="en-US" sz="2400" b="true">
                <a:solidFill>
                  <a:srgbClr val="111111"/>
                </a:solidFill>
                <a:latin typeface="Nunito Ultra-Bold"/>
                <a:ea typeface="Nunito Ultra-Bold"/>
                <a:cs typeface="Nunito Ultra-Bold"/>
                <a:sym typeface="Nunito Ultra-Bold"/>
              </a:rPr>
              <a:t>3</a:t>
            </a:r>
          </a:p>
        </p:txBody>
      </p:sp>
      <p:sp>
        <p:nvSpPr>
          <p:cNvPr id="35" name="TextBox 34"/>
          <p:cNvSpPr txBox="1"/>
          <p:nvPr/>
        </p:nvSpPr>
        <p:spPr>
          <a:xfrm>
            <a:off x="12382500" y="4643882"/>
            <a:ext cx="4556760" cy="2194560"/>
          </a:xfrm>
          <a:prstGeom prst="rect">
            <a:avLst/>
          </a:prstGeom>
          <a:noFill/>
        </p:spPr>
        <p:txBody>
          <a:bodyPr anchor="t" rtlCol="false" lIns="0" tIns="0" rIns="0" bIns="0" wrap="square"/>
          <a:lstStyle/>
          <a:p>
            <a:pPr algn="l">
              <a:lnSpc>
                <a:spcPts val="2910"/>
              </a:lnSpc>
              <a:spcBef>
                <a:spcPts val="0"/>
              </a:spcBef>
              <a:buNone/>
            </a:pPr>
            <a:r>
              <a:rPr lang="en-US" sz="2328" b="true">
                <a:solidFill>
                  <a:srgbClr val="FFFFFF"/>
                </a:solidFill>
                <a:latin typeface="Nunito Ultra-Bold"/>
                <a:ea typeface="Nunito Ultra-Bold"/>
                <a:cs typeface="Nunito Ultra-Bold"/>
                <a:sym typeface="Nunito Ultra-Bold"/>
              </a:rPr>
              <a:t>Weak integration into learning</a:t>
            </a:r>
          </a:p>
          <a:p>
            <a:pPr algn="l">
              <a:lnSpc>
                <a:spcPts val="2580"/>
              </a:lnSpc>
              <a:spcBef>
                <a:spcPts val="776"/>
              </a:spcBef>
              <a:buNone/>
            </a:pPr>
            <a:r>
              <a:rPr lang="en-US" sz="1843" b="true">
                <a:solidFill>
                  <a:srgbClr val="F1EDE6"/>
                </a:solidFill>
                <a:latin typeface="Nunito Semi-Bold"/>
                <a:ea typeface="Nunito Semi-Bold"/>
                <a:cs typeface="Nunito Semi-Bold"/>
                <a:sym typeface="Nunito Semi-Bold"/>
              </a:rPr>
              <a:t>Most explanations stay </a:t>
            </a:r>
            <a:r>
              <a:rPr lang="en-US" sz="1843" b="true">
                <a:solidFill>
                  <a:srgbClr val="F1EDE6"/>
                </a:solidFill>
                <a:latin typeface="Nunito Bold"/>
                <a:ea typeface="Nunito Bold"/>
                <a:cs typeface="Nunito Bold"/>
                <a:sym typeface="Nunito Bold"/>
              </a:rPr>
              <a:t>post-hoc</a:t>
            </a:r>
            <a:r>
              <a:rPr lang="en-US" sz="1843" b="true">
                <a:solidFill>
                  <a:srgbClr val="F1EDE6"/>
                </a:solidFill>
                <a:latin typeface="Nunito Semi-Bold"/>
                <a:ea typeface="Nunito Semi-Bold"/>
                <a:cs typeface="Nunito Semi-Bold"/>
                <a:sym typeface="Nunito Semi-Bold"/>
              </a:rPr>
              <a:t>: they do not shape how the model learns, nor the </a:t>
            </a:r>
            <a:r>
              <a:rPr lang="en-US" sz="1843" b="true">
                <a:solidFill>
                  <a:srgbClr val="F1EDE6"/>
                </a:solidFill>
                <a:latin typeface="Nunito Bold"/>
                <a:ea typeface="Nunito Bold"/>
                <a:cs typeface="Nunito Bold"/>
                <a:sym typeface="Nunito Bold"/>
              </a:rPr>
              <a:t>accuracy / diversity / context trade-off</a:t>
            </a:r>
            <a:r>
              <a:rPr lang="en-US" sz="1843" b="true">
                <a:solidFill>
                  <a:srgbClr val="F1EDE6"/>
                </a:solidFill>
                <a:latin typeface="Nunito Semi-Bold"/>
                <a:ea typeface="Nunito Semi-Bold"/>
                <a:cs typeface="Nunito Semi-Bold"/>
                <a:sym typeface="Nunito Semi-Bold"/>
              </a:rPr>
              <a:t>.</a:t>
            </a:r>
          </a:p>
        </p:txBody>
      </p:sp>
      <p:sp>
        <p:nvSpPr>
          <p:cNvPr id="36" name="Rounded Rectangle 35"/>
          <p:cNvSpPr/>
          <p:nvPr/>
        </p:nvSpPr>
        <p:spPr>
          <a:xfrm>
            <a:off x="1028700" y="7387082"/>
            <a:ext cx="16230600" cy="1967230"/>
          </a:xfrm>
          <a:prstGeom prst="roundRect">
            <a:avLst>
              <a:gd name="adj" fmla="val 13944"/>
            </a:avLst>
          </a:prstGeom>
          <a:noFill/>
          <a:ln w="31750">
            <a:solidFill>
              <a:srgbClr val="DF8330"/>
            </a:solidFill>
          </a:ln>
        </p:spPr>
        <p:txBody>
          <a:bodyPr anchor="ctr" rtlCol="false" lIns="0" tIns="0" rIns="0" bIns="0" wrap="square"/>
          <a:lstStyle/>
          <a:p>
            <a:endParaRPr lang="en-US" sz="1800"/>
          </a:p>
        </p:txBody>
      </p:sp>
      <p:sp>
        <p:nvSpPr>
          <p:cNvPr id="37" name="TextBox 36"/>
          <p:cNvSpPr txBox="1"/>
          <p:nvPr/>
        </p:nvSpPr>
        <p:spPr>
          <a:xfrm>
            <a:off x="1485900" y="7615682"/>
            <a:ext cx="15316200" cy="1510030"/>
          </a:xfrm>
          <a:prstGeom prst="rect">
            <a:avLst/>
          </a:prstGeom>
          <a:noFill/>
        </p:spPr>
        <p:txBody>
          <a:bodyPr anchor="ctr" rtlCol="false" lIns="0" tIns="0" rIns="0" bIns="0" wrap="square"/>
          <a:lstStyle/>
          <a:p>
            <a:pPr algn="l">
              <a:lnSpc>
                <a:spcPts val="1800"/>
              </a:lnSpc>
              <a:spcBef>
                <a:spcPts val="0"/>
              </a:spcBef>
              <a:buNone/>
            </a:pPr>
            <a:r>
              <a:rPr lang="en-US" sz="1400" b="true" spc="180">
                <a:solidFill>
                  <a:srgbClr val="DF8330"/>
                </a:solidFill>
                <a:latin typeface="Nunito Ultra-Bold"/>
                <a:ea typeface="Nunito Ultra-Bold"/>
                <a:cs typeface="Nunito Ultra-Bold"/>
                <a:sym typeface="Nunito Ultra-Bold"/>
              </a:rPr>
              <a:t>THESIS GAP</a:t>
            </a:r>
          </a:p>
          <a:p>
            <a:pPr algn="l">
              <a:lnSpc>
                <a:spcPts val="2940"/>
              </a:lnSpc>
              <a:spcBef>
                <a:spcPts val="600"/>
              </a:spcBef>
              <a:buNone/>
            </a:pPr>
            <a:r>
              <a:rPr lang="en-US" sz="2100" b="true">
                <a:solidFill>
                  <a:srgbClr val="111111"/>
                </a:solidFill>
                <a:latin typeface="Nunito Semi-Bold"/>
                <a:ea typeface="Nunito Semi-Bold"/>
                <a:cs typeface="Nunito Semi-Bold"/>
                <a:sym typeface="Nunito Semi-Bold"/>
              </a:rPr>
              <a:t>The literature still lacks </a:t>
            </a:r>
            <a:r>
              <a:rPr lang="en-US" sz="2100" b="true">
                <a:solidFill>
                  <a:srgbClr val="111111"/>
                </a:solidFill>
                <a:latin typeface="Nunito Bold"/>
                <a:ea typeface="Nunito Bold"/>
                <a:cs typeface="Nunito Bold"/>
                <a:sym typeface="Nunito Bold"/>
              </a:rPr>
              <a:t>one cooperative-attribution framework</a:t>
            </a:r>
            <a:r>
              <a:rPr lang="en-US" sz="2100" b="true">
                <a:solidFill>
                  <a:srgbClr val="111111"/>
                </a:solidFill>
                <a:latin typeface="Nunito Semi-Bold"/>
                <a:ea typeface="Nunito Semi-Bold"/>
                <a:cs typeface="Nunito Semi-Bold"/>
                <a:sym typeface="Nunito Semi-Bold"/>
              </a:rPr>
              <a:t> that explains clustering faithfully, stays consistent across levels, and then works as an </a:t>
            </a:r>
            <a:r>
              <a:rPr lang="en-US" sz="2100" b="true">
                <a:solidFill>
                  <a:srgbClr val="111111"/>
                </a:solidFill>
                <a:latin typeface="Nunito Bold"/>
                <a:ea typeface="Nunito Bold"/>
                <a:cs typeface="Nunito Bold"/>
                <a:sym typeface="Nunito Bold"/>
              </a:rPr>
              <a:t>in-training signal</a:t>
            </a:r>
            <a:r>
              <a:rPr lang="en-US" sz="2100" b="true">
                <a:solidFill>
                  <a:srgbClr val="111111"/>
                </a:solidFill>
                <a:latin typeface="Nunito Semi-Bold"/>
                <a:ea typeface="Nunito Semi-Bold"/>
                <a:cs typeface="Nunito Semi-Bold"/>
                <a:sym typeface="Nunito Semi-Bold"/>
              </a:rPr>
              <a:t> in recommendation. </a:t>
            </a:r>
            <a:r>
              <a:rPr lang="en-US" sz="2100" b="true">
                <a:solidFill>
                  <a:srgbClr val="111111"/>
                </a:solidFill>
                <a:latin typeface="Nunito Bold"/>
                <a:ea typeface="Nunito Bold"/>
                <a:cs typeface="Nunito Bold"/>
                <a:sym typeface="Nunito Bold"/>
              </a:rPr>
              <a:t>Claim:</a:t>
            </a:r>
            <a:r>
              <a:rPr lang="en-US" sz="2100" b="true">
                <a:solidFill>
                  <a:srgbClr val="111111"/>
                </a:solidFill>
                <a:latin typeface="Nunito Semi-Bold"/>
                <a:ea typeface="Nunito Semi-Bold"/>
                <a:cs typeface="Nunito Semi-Bold"/>
                <a:sym typeface="Nunito Semi-Bold"/>
              </a:rPr>
              <a:t> Shapley-value attribution can be that framework.</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15</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CONTEXT &amp; PROBLEMATIC</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Research Questions (RQ1–RQ5) and Overall Aim</a:t>
            </a:r>
          </a:p>
        </p:txBody>
      </p:sp>
      <p:pic>
        <p:nvPicPr>
          <p:cNvPr id="23" name="Picture 22" descr="image.png"/>
          <p:cNvPicPr>
            <a:picLocks noChangeAspect="1"/>
          </p:cNvPicPr>
          <p:nvPr/>
        </p:nvPicPr>
        <p:blipFill>
          <a:blip r:embed="rId3"/>
          <a:stretch>
            <a:fillRect/>
          </a:stretch>
        </p:blipFill>
        <p:spPr>
          <a:xfrm>
            <a:off x="13647239" y="1673352"/>
            <a:ext cx="457200" cy="452148"/>
          </a:xfrm>
          <a:prstGeom prst="rect">
            <a:avLst/>
          </a:prstGeom>
        </p:spPr>
      </p:pic>
      <p:sp>
        <p:nvSpPr>
          <p:cNvPr id="24" name="Rounded Rectangle 23"/>
          <p:cNvSpPr/>
          <p:nvPr/>
        </p:nvSpPr>
        <p:spPr>
          <a:xfrm>
            <a:off x="1028700" y="2559050"/>
            <a:ext cx="1854490"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Approaches</a:t>
            </a:r>
          </a:p>
        </p:txBody>
      </p:sp>
      <p:sp>
        <p:nvSpPr>
          <p:cNvPr id="25" name="Rounded Rectangle 24"/>
          <p:cNvSpPr/>
          <p:nvPr/>
        </p:nvSpPr>
        <p:spPr>
          <a:xfrm>
            <a:off x="3011206" y="2559050"/>
            <a:ext cx="1870972"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Problematic</a:t>
            </a:r>
          </a:p>
        </p:txBody>
      </p:sp>
      <p:sp>
        <p:nvSpPr>
          <p:cNvPr id="26" name="Rounded Rectangle 25"/>
          <p:cNvSpPr/>
          <p:nvPr/>
        </p:nvSpPr>
        <p:spPr>
          <a:xfrm>
            <a:off x="5010194" y="2559050"/>
            <a:ext cx="2041208"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Contributions</a:t>
            </a:r>
          </a:p>
        </p:txBody>
      </p:sp>
      <p:sp>
        <p:nvSpPr>
          <p:cNvPr id="27" name="Rounded Rectangle 26"/>
          <p:cNvSpPr/>
          <p:nvPr/>
        </p:nvSpPr>
        <p:spPr>
          <a:xfrm>
            <a:off x="1028700" y="3363722"/>
            <a:ext cx="16230600" cy="868680"/>
          </a:xfrm>
          <a:prstGeom prst="roundRect">
            <a:avLst>
              <a:gd name="adj" fmla="val 26315"/>
            </a:avLst>
          </a:prstGeom>
          <a:solidFill>
            <a:srgbClr val="124944"/>
          </a:solidFill>
          <a:ln>
            <a:noFill/>
          </a:ln>
        </p:spPr>
        <p:txBody>
          <a:bodyPr anchor="ctr" rtlCol="false" lIns="457200" tIns="91440" rIns="457200" bIns="91440" wrap="square"/>
          <a:lstStyle/>
          <a:p>
            <a:pPr algn="ctr">
              <a:lnSpc>
                <a:spcPts val="2600"/>
              </a:lnSpc>
              <a:spcBef>
                <a:spcPts val="0"/>
              </a:spcBef>
              <a:buNone/>
            </a:pPr>
            <a:r>
              <a:rPr lang="en-US" sz="2000" b="true">
                <a:solidFill>
                  <a:srgbClr val="FFFFFF"/>
                </a:solidFill>
                <a:latin typeface="Nunito Bold"/>
                <a:ea typeface="Nunito Bold"/>
                <a:cs typeface="Nunito Bold"/>
                <a:sym typeface="Nunito Bold"/>
              </a:rPr>
              <a:t>Aim:</a:t>
            </a:r>
            <a:r>
              <a:rPr lang="en-US" sz="2000" b="true">
                <a:solidFill>
                  <a:srgbClr val="FFFFFF"/>
                </a:solidFill>
                <a:latin typeface="Nunito Semi-Bold"/>
                <a:ea typeface="Nunito Semi-Bold"/>
                <a:cs typeface="Nunito Semi-Bold"/>
                <a:sym typeface="Nunito Semi-Bold"/>
              </a:rPr>
              <a:t> develop, justify and evaluate a cooperative-game view of XAI for clustering and recommendation, using Shapley attribution both as an </a:t>
            </a:r>
            <a:r>
              <a:rPr lang="en-US" sz="2000" b="true">
                <a:solidFill>
                  <a:srgbClr val="FFFFFF"/>
                </a:solidFill>
                <a:latin typeface="Nunito Bold"/>
                <a:ea typeface="Nunito Bold"/>
                <a:cs typeface="Nunito Bold"/>
                <a:sym typeface="Nunito Bold"/>
              </a:rPr>
              <a:t>explanation method</a:t>
            </a:r>
            <a:r>
              <a:rPr lang="en-US" sz="2000" b="true">
                <a:solidFill>
                  <a:srgbClr val="FFFFFF"/>
                </a:solidFill>
                <a:latin typeface="Nunito Semi-Bold"/>
                <a:ea typeface="Nunito Semi-Bold"/>
                <a:cs typeface="Nunito Semi-Bold"/>
                <a:sym typeface="Nunito Semi-Bold"/>
              </a:rPr>
              <a:t> and as an </a:t>
            </a:r>
            <a:r>
              <a:rPr lang="en-US" sz="2000" b="true">
                <a:solidFill>
                  <a:srgbClr val="FFFFFF"/>
                </a:solidFill>
                <a:latin typeface="Nunito Bold"/>
                <a:ea typeface="Nunito Bold"/>
                <a:cs typeface="Nunito Bold"/>
                <a:sym typeface="Nunito Bold"/>
              </a:rPr>
              <a:t>in-training signal</a:t>
            </a:r>
            <a:r>
              <a:rPr lang="en-US" sz="2000" b="true">
                <a:solidFill>
                  <a:srgbClr val="FFFFFF"/>
                </a:solidFill>
                <a:latin typeface="Nunito Semi-Bold"/>
                <a:ea typeface="Nunito Semi-Bold"/>
                <a:cs typeface="Nunito Semi-Bold"/>
                <a:sym typeface="Nunito Semi-Bold"/>
              </a:rPr>
              <a:t>.</a:t>
            </a:r>
          </a:p>
        </p:txBody>
      </p:sp>
      <p:sp>
        <p:nvSpPr>
          <p:cNvPr id="28" name="Rounded Rectangle 27"/>
          <p:cNvSpPr/>
          <p:nvPr/>
        </p:nvSpPr>
        <p:spPr>
          <a:xfrm>
            <a:off x="1028700" y="4461002"/>
            <a:ext cx="16230600" cy="876249"/>
          </a:xfrm>
          <a:prstGeom prst="roundRect">
            <a:avLst>
              <a:gd name="adj" fmla="val 20870"/>
            </a:avLst>
          </a:prstGeom>
          <a:solidFill>
            <a:srgbClr val="F6ECDF"/>
          </a:solidFill>
          <a:ln>
            <a:noFill/>
          </a:ln>
        </p:spPr>
        <p:txBody>
          <a:bodyPr anchor="ctr" rtlCol="false" lIns="0" tIns="0" rIns="0" bIns="0" wrap="square"/>
          <a:lstStyle/>
          <a:p>
            <a:endParaRPr lang="en-US" sz="1800"/>
          </a:p>
        </p:txBody>
      </p:sp>
      <p:sp>
        <p:nvSpPr>
          <p:cNvPr id="29" name="Rounded Rectangle 28"/>
          <p:cNvSpPr/>
          <p:nvPr/>
        </p:nvSpPr>
        <p:spPr>
          <a:xfrm>
            <a:off x="1211580" y="4589018"/>
            <a:ext cx="1143000" cy="620217"/>
          </a:xfrm>
          <a:prstGeom prst="roundRect">
            <a:avLst>
              <a:gd name="adj" fmla="val 22114"/>
            </a:avLst>
          </a:prstGeom>
          <a:solidFill>
            <a:srgbClr val="DF8330"/>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RQ1</a:t>
            </a:r>
          </a:p>
        </p:txBody>
      </p:sp>
      <p:sp>
        <p:nvSpPr>
          <p:cNvPr id="30" name="TextBox 29"/>
          <p:cNvSpPr txBox="1"/>
          <p:nvPr/>
        </p:nvSpPr>
        <p:spPr>
          <a:xfrm>
            <a:off x="2583180" y="4461002"/>
            <a:ext cx="12573000" cy="876249"/>
          </a:xfrm>
          <a:prstGeom prst="rect">
            <a:avLst/>
          </a:prstGeom>
          <a:noFill/>
        </p:spPr>
        <p:txBody>
          <a:bodyPr anchor="ctr" rtlCol="false" lIns="0" tIns="0" rIns="0" bIns="0" wrap="square"/>
          <a:lstStyle/>
          <a:p>
            <a:pPr algn="l">
              <a:lnSpc>
                <a:spcPts val="2800"/>
              </a:lnSpc>
              <a:spcBef>
                <a:spcPts val="0"/>
              </a:spcBef>
              <a:buNone/>
            </a:pPr>
            <a:r>
              <a:rPr lang="en-US" sz="2000" b="true">
                <a:solidFill>
                  <a:srgbClr val="111111"/>
                </a:solidFill>
                <a:latin typeface="Nunito Semi-Bold"/>
                <a:ea typeface="Nunito Semi-Bold"/>
                <a:cs typeface="Nunito Semi-Bold"/>
                <a:sym typeface="Nunito Semi-Bold"/>
              </a:rPr>
              <a:t>How can Shapley values explain black-box clustering </a:t>
            </a:r>
            <a:r>
              <a:rPr lang="en-US" sz="2000" b="true">
                <a:solidFill>
                  <a:srgbClr val="111111"/>
                </a:solidFill>
                <a:latin typeface="Nunito Bold"/>
                <a:ea typeface="Nunito Bold"/>
                <a:cs typeface="Nunito Bold"/>
                <a:sym typeface="Nunito Bold"/>
              </a:rPr>
              <a:t>faithfully at instance and cluster level</a:t>
            </a:r>
            <a:r>
              <a:rPr lang="en-US" sz="2000" b="true">
                <a:solidFill>
                  <a:srgbClr val="111111"/>
                </a:solidFill>
                <a:latin typeface="Nunito Semi-Bold"/>
                <a:ea typeface="Nunito Semi-Bold"/>
                <a:cs typeface="Nunito Semi-Bold"/>
                <a:sym typeface="Nunito Semi-Bold"/>
              </a:rPr>
              <a:t>?</a:t>
            </a:r>
          </a:p>
        </p:txBody>
      </p:sp>
      <p:sp>
        <p:nvSpPr>
          <p:cNvPr id="31" name="Rounded Rectangle 30"/>
          <p:cNvSpPr/>
          <p:nvPr/>
        </p:nvSpPr>
        <p:spPr>
          <a:xfrm>
            <a:off x="15339060" y="4589018"/>
            <a:ext cx="1737360" cy="620217"/>
          </a:xfrm>
          <a:prstGeom prst="roundRect">
            <a:avLst>
              <a:gd name="adj" fmla="val 22114"/>
            </a:avLst>
          </a:prstGeom>
          <a:solidFill>
            <a:srgbClr val="124944"/>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Calibri"/>
                <a:ea typeface="Calibri"/>
                <a:cs typeface="Calibri"/>
                <a:sym typeface="Calibri"/>
              </a:rPr>
              <a:t>→ </a:t>
            </a:r>
            <a:r>
              <a:rPr lang="en-US" sz="1600" b="true">
                <a:solidFill>
                  <a:srgbClr val="FFFFFF"/>
                </a:solidFill>
                <a:latin typeface="Nunito Bold"/>
                <a:ea typeface="Nunito Bold"/>
                <a:cs typeface="Nunito Bold"/>
                <a:sym typeface="Nunito Bold"/>
              </a:rPr>
              <a:t>C1</a:t>
            </a:r>
          </a:p>
        </p:txBody>
      </p:sp>
      <p:sp>
        <p:nvSpPr>
          <p:cNvPr id="32" name="Rounded Rectangle 31"/>
          <p:cNvSpPr/>
          <p:nvPr/>
        </p:nvSpPr>
        <p:spPr>
          <a:xfrm>
            <a:off x="1028700" y="5465267"/>
            <a:ext cx="16230600" cy="876249"/>
          </a:xfrm>
          <a:prstGeom prst="roundRect">
            <a:avLst>
              <a:gd name="adj" fmla="val 20870"/>
            </a:avLst>
          </a:prstGeom>
          <a:solidFill>
            <a:srgbClr val="FBF4EB"/>
          </a:solidFill>
          <a:ln>
            <a:noFill/>
          </a:ln>
        </p:spPr>
        <p:txBody>
          <a:bodyPr anchor="ctr" rtlCol="false" lIns="0" tIns="0" rIns="0" bIns="0" wrap="square"/>
          <a:lstStyle/>
          <a:p>
            <a:endParaRPr lang="en-US" sz="1800"/>
          </a:p>
        </p:txBody>
      </p:sp>
      <p:sp>
        <p:nvSpPr>
          <p:cNvPr id="33" name="Rounded Rectangle 32"/>
          <p:cNvSpPr/>
          <p:nvPr/>
        </p:nvSpPr>
        <p:spPr>
          <a:xfrm>
            <a:off x="1211580" y="5593283"/>
            <a:ext cx="1143000" cy="620217"/>
          </a:xfrm>
          <a:prstGeom prst="roundRect">
            <a:avLst>
              <a:gd name="adj" fmla="val 22114"/>
            </a:avLst>
          </a:prstGeom>
          <a:solidFill>
            <a:srgbClr val="DF8330"/>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RQ2</a:t>
            </a:r>
          </a:p>
        </p:txBody>
      </p:sp>
      <p:sp>
        <p:nvSpPr>
          <p:cNvPr id="34" name="TextBox 33"/>
          <p:cNvSpPr txBox="1"/>
          <p:nvPr/>
        </p:nvSpPr>
        <p:spPr>
          <a:xfrm>
            <a:off x="2583180" y="5465267"/>
            <a:ext cx="12573000" cy="876249"/>
          </a:xfrm>
          <a:prstGeom prst="rect">
            <a:avLst/>
          </a:prstGeom>
          <a:noFill/>
        </p:spPr>
        <p:txBody>
          <a:bodyPr anchor="ctr" rtlCol="false" lIns="0" tIns="0" rIns="0" bIns="0" wrap="square"/>
          <a:lstStyle/>
          <a:p>
            <a:pPr algn="l">
              <a:lnSpc>
                <a:spcPts val="2800"/>
              </a:lnSpc>
              <a:spcBef>
                <a:spcPts val="0"/>
              </a:spcBef>
              <a:buNone/>
            </a:pPr>
            <a:r>
              <a:rPr lang="en-US" sz="2000" b="true">
                <a:solidFill>
                  <a:srgbClr val="111111"/>
                </a:solidFill>
                <a:latin typeface="Nunito Semi-Bold"/>
                <a:ea typeface="Nunito Semi-Bold"/>
                <a:cs typeface="Nunito Semi-Bold"/>
                <a:sym typeface="Nunito Semi-Bold"/>
              </a:rPr>
              <a:t>How can this extend to </a:t>
            </a:r>
            <a:r>
              <a:rPr lang="en-US" sz="2000" b="true">
                <a:solidFill>
                  <a:srgbClr val="111111"/>
                </a:solidFill>
                <a:latin typeface="Nunito Bold"/>
                <a:ea typeface="Nunito Bold"/>
                <a:cs typeface="Nunito Bold"/>
                <a:sym typeface="Nunito Bold"/>
              </a:rPr>
              <a:t>large-scale, multi-level clustering</a:t>
            </a:r>
            <a:r>
              <a:rPr lang="en-US" sz="2000" b="true">
                <a:solidFill>
                  <a:srgbClr val="111111"/>
                </a:solidFill>
                <a:latin typeface="Nunito Semi-Bold"/>
                <a:ea typeface="Nunito Semi-Bold"/>
                <a:cs typeface="Nunito Semi-Bold"/>
                <a:sym typeface="Nunito Semi-Bold"/>
              </a:rPr>
              <a:t> while staying feasible and consistent?</a:t>
            </a:r>
          </a:p>
        </p:txBody>
      </p:sp>
      <p:sp>
        <p:nvSpPr>
          <p:cNvPr id="35" name="Rounded Rectangle 34"/>
          <p:cNvSpPr/>
          <p:nvPr/>
        </p:nvSpPr>
        <p:spPr>
          <a:xfrm>
            <a:off x="15339060" y="5593283"/>
            <a:ext cx="1737360" cy="620217"/>
          </a:xfrm>
          <a:prstGeom prst="roundRect">
            <a:avLst>
              <a:gd name="adj" fmla="val 22114"/>
            </a:avLst>
          </a:prstGeom>
          <a:solidFill>
            <a:srgbClr val="124944"/>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Calibri"/>
                <a:ea typeface="Calibri"/>
                <a:cs typeface="Calibri"/>
                <a:sym typeface="Calibri"/>
              </a:rPr>
              <a:t>→ </a:t>
            </a:r>
            <a:r>
              <a:rPr lang="en-US" sz="1600" b="true">
                <a:solidFill>
                  <a:srgbClr val="FFFFFF"/>
                </a:solidFill>
                <a:latin typeface="Nunito Bold"/>
                <a:ea typeface="Nunito Bold"/>
                <a:cs typeface="Nunito Bold"/>
                <a:sym typeface="Nunito Bold"/>
              </a:rPr>
              <a:t>C2</a:t>
            </a:r>
          </a:p>
        </p:txBody>
      </p:sp>
      <p:sp>
        <p:nvSpPr>
          <p:cNvPr id="36" name="Rounded Rectangle 35"/>
          <p:cNvSpPr/>
          <p:nvPr/>
        </p:nvSpPr>
        <p:spPr>
          <a:xfrm>
            <a:off x="1028700" y="6469532"/>
            <a:ext cx="16230600" cy="876249"/>
          </a:xfrm>
          <a:prstGeom prst="roundRect">
            <a:avLst>
              <a:gd name="adj" fmla="val 20870"/>
            </a:avLst>
          </a:prstGeom>
          <a:solidFill>
            <a:srgbClr val="F6ECDF"/>
          </a:solidFill>
          <a:ln>
            <a:noFill/>
          </a:ln>
        </p:spPr>
        <p:txBody>
          <a:bodyPr anchor="ctr" rtlCol="false" lIns="0" tIns="0" rIns="0" bIns="0" wrap="square"/>
          <a:lstStyle/>
          <a:p>
            <a:endParaRPr lang="en-US" sz="1800"/>
          </a:p>
        </p:txBody>
      </p:sp>
      <p:sp>
        <p:nvSpPr>
          <p:cNvPr id="37" name="Rounded Rectangle 36"/>
          <p:cNvSpPr/>
          <p:nvPr/>
        </p:nvSpPr>
        <p:spPr>
          <a:xfrm>
            <a:off x="1211580" y="6597548"/>
            <a:ext cx="1143000" cy="620217"/>
          </a:xfrm>
          <a:prstGeom prst="roundRect">
            <a:avLst>
              <a:gd name="adj" fmla="val 22114"/>
            </a:avLst>
          </a:prstGeom>
          <a:solidFill>
            <a:srgbClr val="DF8330"/>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RQ3</a:t>
            </a:r>
          </a:p>
        </p:txBody>
      </p:sp>
      <p:sp>
        <p:nvSpPr>
          <p:cNvPr id="38" name="TextBox 37"/>
          <p:cNvSpPr txBox="1"/>
          <p:nvPr/>
        </p:nvSpPr>
        <p:spPr>
          <a:xfrm>
            <a:off x="2583180" y="6469532"/>
            <a:ext cx="12573000" cy="876249"/>
          </a:xfrm>
          <a:prstGeom prst="rect">
            <a:avLst/>
          </a:prstGeom>
          <a:noFill/>
        </p:spPr>
        <p:txBody>
          <a:bodyPr anchor="ctr" rtlCol="false" lIns="0" tIns="0" rIns="0" bIns="0" wrap="square"/>
          <a:lstStyle/>
          <a:p>
            <a:pPr algn="l">
              <a:lnSpc>
                <a:spcPts val="2800"/>
              </a:lnSpc>
              <a:spcBef>
                <a:spcPts val="0"/>
              </a:spcBef>
              <a:buNone/>
            </a:pPr>
            <a:r>
              <a:rPr lang="en-US" sz="2000" b="true">
                <a:solidFill>
                  <a:srgbClr val="111111"/>
                </a:solidFill>
                <a:latin typeface="Nunito Semi-Bold"/>
                <a:ea typeface="Nunito Semi-Bold"/>
                <a:cs typeface="Nunito Semi-Bold"/>
                <a:sym typeface="Nunito Semi-Bold"/>
              </a:rPr>
              <a:t>Can cooperative attribution move </a:t>
            </a:r>
            <a:r>
              <a:rPr lang="en-US" sz="2000" b="true">
                <a:solidFill>
                  <a:srgbClr val="111111"/>
                </a:solidFill>
                <a:latin typeface="Nunito Bold"/>
                <a:ea typeface="Nunito Bold"/>
                <a:cs typeface="Nunito Bold"/>
                <a:sym typeface="Nunito Bold"/>
              </a:rPr>
              <a:t>beyond post-hoc</a:t>
            </a:r>
            <a:r>
              <a:rPr lang="en-US" sz="2000" b="true">
                <a:solidFill>
                  <a:srgbClr val="111111"/>
                </a:solidFill>
                <a:latin typeface="Nunito Semi-Bold"/>
                <a:ea typeface="Nunito Semi-Bold"/>
                <a:cs typeface="Nunito Semi-Bold"/>
                <a:sym typeface="Nunito Semi-Bold"/>
              </a:rPr>
              <a:t> and become part of how graph recommenders learn?</a:t>
            </a:r>
          </a:p>
        </p:txBody>
      </p:sp>
      <p:sp>
        <p:nvSpPr>
          <p:cNvPr id="39" name="Rounded Rectangle 38"/>
          <p:cNvSpPr/>
          <p:nvPr/>
        </p:nvSpPr>
        <p:spPr>
          <a:xfrm>
            <a:off x="15339060" y="6597548"/>
            <a:ext cx="1737360" cy="620217"/>
          </a:xfrm>
          <a:prstGeom prst="roundRect">
            <a:avLst>
              <a:gd name="adj" fmla="val 22114"/>
            </a:avLst>
          </a:prstGeom>
          <a:solidFill>
            <a:srgbClr val="124944"/>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Calibri"/>
                <a:ea typeface="Calibri"/>
                <a:cs typeface="Calibri"/>
                <a:sym typeface="Calibri"/>
              </a:rPr>
              <a:t>→ </a:t>
            </a:r>
            <a:r>
              <a:rPr lang="en-US" sz="1600" b="true">
                <a:solidFill>
                  <a:srgbClr val="FFFFFF"/>
                </a:solidFill>
                <a:latin typeface="Nunito Bold"/>
                <a:ea typeface="Nunito Bold"/>
                <a:cs typeface="Nunito Bold"/>
                <a:sym typeface="Nunito Bold"/>
              </a:rPr>
              <a:t>C3</a:t>
            </a:r>
          </a:p>
        </p:txBody>
      </p:sp>
      <p:sp>
        <p:nvSpPr>
          <p:cNvPr id="40" name="Rounded Rectangle 39"/>
          <p:cNvSpPr/>
          <p:nvPr/>
        </p:nvSpPr>
        <p:spPr>
          <a:xfrm>
            <a:off x="1028700" y="7473797"/>
            <a:ext cx="16230600" cy="876249"/>
          </a:xfrm>
          <a:prstGeom prst="roundRect">
            <a:avLst>
              <a:gd name="adj" fmla="val 20870"/>
            </a:avLst>
          </a:prstGeom>
          <a:solidFill>
            <a:srgbClr val="FBF4EB"/>
          </a:solidFill>
          <a:ln>
            <a:noFill/>
          </a:ln>
        </p:spPr>
        <p:txBody>
          <a:bodyPr anchor="ctr" rtlCol="false" lIns="0" tIns="0" rIns="0" bIns="0" wrap="square"/>
          <a:lstStyle/>
          <a:p>
            <a:endParaRPr lang="en-US" sz="1800"/>
          </a:p>
        </p:txBody>
      </p:sp>
      <p:sp>
        <p:nvSpPr>
          <p:cNvPr id="41" name="Rounded Rectangle 40"/>
          <p:cNvSpPr/>
          <p:nvPr/>
        </p:nvSpPr>
        <p:spPr>
          <a:xfrm>
            <a:off x="1211580" y="7601813"/>
            <a:ext cx="1143000" cy="620217"/>
          </a:xfrm>
          <a:prstGeom prst="roundRect">
            <a:avLst>
              <a:gd name="adj" fmla="val 22114"/>
            </a:avLst>
          </a:prstGeom>
          <a:solidFill>
            <a:srgbClr val="DF8330"/>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RQ4</a:t>
            </a:r>
          </a:p>
        </p:txBody>
      </p:sp>
      <p:sp>
        <p:nvSpPr>
          <p:cNvPr id="42" name="TextBox 41"/>
          <p:cNvSpPr txBox="1"/>
          <p:nvPr/>
        </p:nvSpPr>
        <p:spPr>
          <a:xfrm>
            <a:off x="2583180" y="7473797"/>
            <a:ext cx="12573000" cy="876249"/>
          </a:xfrm>
          <a:prstGeom prst="rect">
            <a:avLst/>
          </a:prstGeom>
          <a:noFill/>
        </p:spPr>
        <p:txBody>
          <a:bodyPr anchor="ctr" rtlCol="false" lIns="0" tIns="0" rIns="0" bIns="0" wrap="square"/>
          <a:lstStyle/>
          <a:p>
            <a:pPr algn="l">
              <a:lnSpc>
                <a:spcPts val="2800"/>
              </a:lnSpc>
              <a:spcBef>
                <a:spcPts val="0"/>
              </a:spcBef>
              <a:buNone/>
            </a:pPr>
            <a:r>
              <a:rPr lang="en-US" sz="2000" b="true">
                <a:solidFill>
                  <a:srgbClr val="111111"/>
                </a:solidFill>
                <a:latin typeface="Nunito Semi-Bold"/>
                <a:ea typeface="Nunito Semi-Bold"/>
                <a:cs typeface="Nunito Semi-Bold"/>
                <a:sym typeface="Nunito Semi-Bold"/>
              </a:rPr>
              <a:t>Can a recommender </a:t>
            </a:r>
            <a:r>
              <a:rPr lang="en-US" sz="2000" b="true">
                <a:solidFill>
                  <a:srgbClr val="111111"/>
                </a:solidFill>
                <a:latin typeface="Nunito Bold"/>
                <a:ea typeface="Nunito Bold"/>
                <a:cs typeface="Nunito Bold"/>
                <a:sym typeface="Nunito Bold"/>
              </a:rPr>
              <a:t>improve ranking accuracy, context and diversity at the same time</a:t>
            </a:r>
            <a:r>
              <a:rPr lang="en-US" sz="2000" b="true">
                <a:solidFill>
                  <a:srgbClr val="111111"/>
                </a:solidFill>
                <a:latin typeface="Nunito Semi-Bold"/>
                <a:ea typeface="Nunito Semi-Bold"/>
                <a:cs typeface="Nunito Semi-Bold"/>
                <a:sym typeface="Nunito Semi-Bold"/>
              </a:rPr>
              <a:t> when importance comes from a cooperative-game utility?</a:t>
            </a:r>
          </a:p>
        </p:txBody>
      </p:sp>
      <p:sp>
        <p:nvSpPr>
          <p:cNvPr id="43" name="Rounded Rectangle 42"/>
          <p:cNvSpPr/>
          <p:nvPr/>
        </p:nvSpPr>
        <p:spPr>
          <a:xfrm>
            <a:off x="15339060" y="7601813"/>
            <a:ext cx="1737360" cy="620217"/>
          </a:xfrm>
          <a:prstGeom prst="roundRect">
            <a:avLst>
              <a:gd name="adj" fmla="val 22114"/>
            </a:avLst>
          </a:prstGeom>
          <a:solidFill>
            <a:srgbClr val="124944"/>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Calibri"/>
                <a:ea typeface="Calibri"/>
                <a:cs typeface="Calibri"/>
                <a:sym typeface="Calibri"/>
              </a:rPr>
              <a:t>→ </a:t>
            </a:r>
            <a:r>
              <a:rPr lang="en-US" sz="1600" b="true">
                <a:solidFill>
                  <a:srgbClr val="FFFFFF"/>
                </a:solidFill>
                <a:latin typeface="Nunito Bold"/>
                <a:ea typeface="Nunito Bold"/>
                <a:cs typeface="Nunito Bold"/>
                <a:sym typeface="Nunito Bold"/>
              </a:rPr>
              <a:t>C3</a:t>
            </a:r>
          </a:p>
        </p:txBody>
      </p:sp>
      <p:sp>
        <p:nvSpPr>
          <p:cNvPr id="44" name="Rounded Rectangle 43"/>
          <p:cNvSpPr/>
          <p:nvPr/>
        </p:nvSpPr>
        <p:spPr>
          <a:xfrm>
            <a:off x="1028700" y="8478062"/>
            <a:ext cx="16230600" cy="876249"/>
          </a:xfrm>
          <a:prstGeom prst="roundRect">
            <a:avLst>
              <a:gd name="adj" fmla="val 20870"/>
            </a:avLst>
          </a:prstGeom>
          <a:solidFill>
            <a:srgbClr val="F6ECDF"/>
          </a:solidFill>
          <a:ln>
            <a:noFill/>
          </a:ln>
        </p:spPr>
        <p:txBody>
          <a:bodyPr anchor="ctr" rtlCol="false" lIns="0" tIns="0" rIns="0" bIns="0" wrap="square"/>
          <a:lstStyle/>
          <a:p>
            <a:endParaRPr lang="en-US" sz="1800"/>
          </a:p>
        </p:txBody>
      </p:sp>
      <p:sp>
        <p:nvSpPr>
          <p:cNvPr id="45" name="Rounded Rectangle 44"/>
          <p:cNvSpPr/>
          <p:nvPr/>
        </p:nvSpPr>
        <p:spPr>
          <a:xfrm>
            <a:off x="1211580" y="8606078"/>
            <a:ext cx="1143000" cy="620217"/>
          </a:xfrm>
          <a:prstGeom prst="roundRect">
            <a:avLst>
              <a:gd name="adj" fmla="val 22114"/>
            </a:avLst>
          </a:prstGeom>
          <a:solidFill>
            <a:srgbClr val="111111"/>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RQ5</a:t>
            </a:r>
          </a:p>
        </p:txBody>
      </p:sp>
      <p:sp>
        <p:nvSpPr>
          <p:cNvPr id="46" name="TextBox 45"/>
          <p:cNvSpPr txBox="1"/>
          <p:nvPr/>
        </p:nvSpPr>
        <p:spPr>
          <a:xfrm>
            <a:off x="2583180" y="8478062"/>
            <a:ext cx="12573000" cy="876249"/>
          </a:xfrm>
          <a:prstGeom prst="rect">
            <a:avLst/>
          </a:prstGeom>
          <a:noFill/>
        </p:spPr>
        <p:txBody>
          <a:bodyPr anchor="ctr" rtlCol="false" lIns="0" tIns="0" rIns="0" bIns="0" wrap="square"/>
          <a:lstStyle/>
          <a:p>
            <a:pPr algn="l">
              <a:lnSpc>
                <a:spcPts val="2800"/>
              </a:lnSpc>
              <a:spcBef>
                <a:spcPts val="0"/>
              </a:spcBef>
              <a:buNone/>
            </a:pPr>
            <a:r>
              <a:rPr lang="en-US" sz="2000" b="true">
                <a:solidFill>
                  <a:srgbClr val="111111"/>
                </a:solidFill>
                <a:latin typeface="Nunito Semi-Bold"/>
                <a:ea typeface="Nunito Semi-Bold"/>
                <a:cs typeface="Nunito Semi-Bold"/>
                <a:sym typeface="Nunito Semi-Bold"/>
              </a:rPr>
              <a:t>What do we gain when clustering explanation and recommendation learning are </a:t>
            </a:r>
            <a:r>
              <a:rPr lang="en-US" sz="2000" b="true">
                <a:solidFill>
                  <a:srgbClr val="111111"/>
                </a:solidFill>
                <a:latin typeface="Nunito Bold"/>
                <a:ea typeface="Nunito Bold"/>
                <a:cs typeface="Nunito Bold"/>
                <a:sym typeface="Nunito Bold"/>
              </a:rPr>
              <a:t>two stages of one cooperative-game view</a:t>
            </a:r>
            <a:r>
              <a:rPr lang="en-US" sz="2000" b="true">
                <a:solidFill>
                  <a:srgbClr val="111111"/>
                </a:solidFill>
                <a:latin typeface="Nunito Semi-Bold"/>
                <a:ea typeface="Nunito Semi-Bold"/>
                <a:cs typeface="Nunito Semi-Bold"/>
                <a:sym typeface="Nunito Semi-Bold"/>
              </a:rPr>
              <a:t>?</a:t>
            </a:r>
          </a:p>
        </p:txBody>
      </p:sp>
      <p:sp>
        <p:nvSpPr>
          <p:cNvPr id="47" name="Rounded Rectangle 46"/>
          <p:cNvSpPr/>
          <p:nvPr/>
        </p:nvSpPr>
        <p:spPr>
          <a:xfrm>
            <a:off x="15339060" y="8606078"/>
            <a:ext cx="1737360" cy="620217"/>
          </a:xfrm>
          <a:prstGeom prst="roundRect">
            <a:avLst>
              <a:gd name="adj" fmla="val 22114"/>
            </a:avLst>
          </a:prstGeom>
          <a:solidFill>
            <a:srgbClr val="124944"/>
          </a:solidFill>
          <a:ln>
            <a:noFill/>
          </a:ln>
        </p:spPr>
        <p:txBody>
          <a:bodyPr anchor="ctr" rtlCol="false" lIns="91440" tIns="45720" rIns="91440" bIns="45720" wrap="square"/>
          <a:lstStyle/>
          <a:p>
            <a:pPr algn="ctr">
              <a:lnSpc>
                <a:spcPts val="1840"/>
              </a:lnSpc>
              <a:spcBef>
                <a:spcPts val="0"/>
              </a:spcBef>
              <a:buNone/>
            </a:pPr>
            <a:r>
              <a:rPr lang="en-US" sz="1600" b="true">
                <a:solidFill>
                  <a:srgbClr val="FFFFFF"/>
                </a:solidFill>
                <a:latin typeface="Calibri"/>
                <a:ea typeface="Calibri"/>
                <a:cs typeface="Calibri"/>
                <a:sym typeface="Calibri"/>
              </a:rPr>
              <a:t>→ </a:t>
            </a:r>
            <a:r>
              <a:rPr lang="en-US" sz="1600" b="true">
                <a:solidFill>
                  <a:srgbClr val="FFFFFF"/>
                </a:solidFill>
                <a:latin typeface="Nunito Bold"/>
                <a:ea typeface="Nunito Bold"/>
                <a:cs typeface="Nunito Bold"/>
                <a:sym typeface="Nunito Bold"/>
              </a:rPr>
              <a:t>Thesis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16</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CONTEXT &amp; PROBLEMATIC</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The Three Contributions</a:t>
            </a:r>
          </a:p>
        </p:txBody>
      </p:sp>
      <p:pic>
        <p:nvPicPr>
          <p:cNvPr id="23" name="Picture 22" descr="image.png"/>
          <p:cNvPicPr>
            <a:picLocks noChangeAspect="1"/>
          </p:cNvPicPr>
          <p:nvPr/>
        </p:nvPicPr>
        <p:blipFill>
          <a:blip r:embed="rId3"/>
          <a:stretch>
            <a:fillRect/>
          </a:stretch>
        </p:blipFill>
        <p:spPr>
          <a:xfrm>
            <a:off x="7638654" y="1673352"/>
            <a:ext cx="457200" cy="415247"/>
          </a:xfrm>
          <a:prstGeom prst="rect">
            <a:avLst/>
          </a:prstGeom>
        </p:spPr>
      </p:pic>
      <p:sp>
        <p:nvSpPr>
          <p:cNvPr id="24" name="Rounded Rectangle 23"/>
          <p:cNvSpPr/>
          <p:nvPr/>
        </p:nvSpPr>
        <p:spPr>
          <a:xfrm>
            <a:off x="1028700" y="2559050"/>
            <a:ext cx="1854490"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Approaches</a:t>
            </a:r>
          </a:p>
        </p:txBody>
      </p:sp>
      <p:sp>
        <p:nvSpPr>
          <p:cNvPr id="25" name="Rounded Rectangle 24"/>
          <p:cNvSpPr/>
          <p:nvPr/>
        </p:nvSpPr>
        <p:spPr>
          <a:xfrm>
            <a:off x="3011206" y="2559050"/>
            <a:ext cx="187097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Problematic</a:t>
            </a:r>
          </a:p>
        </p:txBody>
      </p:sp>
      <p:sp>
        <p:nvSpPr>
          <p:cNvPr id="26" name="Rounded Rectangle 25"/>
          <p:cNvSpPr/>
          <p:nvPr/>
        </p:nvSpPr>
        <p:spPr>
          <a:xfrm>
            <a:off x="5010194" y="2559050"/>
            <a:ext cx="2041208"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Contributions</a:t>
            </a:r>
          </a:p>
        </p:txBody>
      </p:sp>
      <p:sp>
        <p:nvSpPr>
          <p:cNvPr id="27" name="Rounded Rectangle 26"/>
          <p:cNvSpPr/>
          <p:nvPr/>
        </p:nvSpPr>
        <p:spPr>
          <a:xfrm>
            <a:off x="1028700" y="3455162"/>
            <a:ext cx="5196840" cy="4480560"/>
          </a:xfrm>
          <a:prstGeom prst="roundRect">
            <a:avLst>
              <a:gd name="adj" fmla="val 6530"/>
            </a:avLst>
          </a:prstGeom>
          <a:solidFill>
            <a:srgbClr val="124944"/>
          </a:solidFill>
          <a:ln>
            <a:noFill/>
          </a:ln>
        </p:spPr>
        <p:txBody>
          <a:bodyPr anchor="ctr" rtlCol="false" lIns="0" tIns="0" rIns="0" bIns="0" wrap="square"/>
          <a:lstStyle/>
          <a:p>
            <a:endParaRPr lang="en-US" sz="1800"/>
          </a:p>
        </p:txBody>
      </p:sp>
      <p:sp>
        <p:nvSpPr>
          <p:cNvPr id="28" name="TextBox 27"/>
          <p:cNvSpPr txBox="1"/>
          <p:nvPr/>
        </p:nvSpPr>
        <p:spPr>
          <a:xfrm>
            <a:off x="1394460" y="3729482"/>
            <a:ext cx="4465320" cy="640080"/>
          </a:xfrm>
          <a:prstGeom prst="rect">
            <a:avLst/>
          </a:prstGeom>
          <a:noFill/>
        </p:spPr>
        <p:txBody>
          <a:bodyPr anchor="t" rtlCol="false" lIns="0" tIns="0" rIns="0" bIns="0" wrap="square"/>
          <a:lstStyle/>
          <a:p>
            <a:pPr algn="l">
              <a:lnSpc>
                <a:spcPts val="4400"/>
              </a:lnSpc>
              <a:spcBef>
                <a:spcPts val="0"/>
              </a:spcBef>
              <a:buNone/>
            </a:pPr>
            <a:r>
              <a:rPr lang="en-US" sz="4000" b="true" spc="-200">
                <a:solidFill>
                  <a:srgbClr val="ECC665"/>
                </a:solidFill>
                <a:latin typeface="Roca Two Bold"/>
                <a:ea typeface="Roca Two Bold"/>
                <a:cs typeface="Roca Two Bold"/>
                <a:sym typeface="Roca Two Bold"/>
              </a:rPr>
              <a:t>C1</a:t>
            </a:r>
          </a:p>
        </p:txBody>
      </p:sp>
      <p:sp>
        <p:nvSpPr>
          <p:cNvPr id="29" name="Rounded Rectangle 28"/>
          <p:cNvSpPr/>
          <p:nvPr/>
        </p:nvSpPr>
        <p:spPr>
          <a:xfrm>
            <a:off x="4213860" y="3802634"/>
            <a:ext cx="991577" cy="384048"/>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1800"/>
              </a:lnSpc>
              <a:spcBef>
                <a:spcPts val="0"/>
              </a:spcBef>
              <a:buNone/>
            </a:pPr>
            <a:r>
              <a:rPr lang="en-US" sz="1500" b="true">
                <a:solidFill>
                  <a:srgbClr val="124944"/>
                </a:solidFill>
                <a:latin typeface="Nunito Bold"/>
                <a:ea typeface="Nunito Bold"/>
                <a:cs typeface="Nunito Bold"/>
                <a:sym typeface="Nunito Bold"/>
              </a:rPr>
              <a:t>RQ1</a:t>
            </a:r>
          </a:p>
        </p:txBody>
      </p:sp>
      <p:sp>
        <p:nvSpPr>
          <p:cNvPr id="30" name="TextBox 29"/>
          <p:cNvSpPr txBox="1"/>
          <p:nvPr/>
        </p:nvSpPr>
        <p:spPr>
          <a:xfrm>
            <a:off x="1394460" y="4506722"/>
            <a:ext cx="4465320" cy="3291840"/>
          </a:xfrm>
          <a:prstGeom prst="rect">
            <a:avLst/>
          </a:prstGeom>
          <a:noFill/>
        </p:spPr>
        <p:txBody>
          <a:bodyPr anchor="t" rtlCol="false" lIns="0" tIns="0" rIns="0" bIns="0" wrap="square"/>
          <a:lstStyle/>
          <a:p>
            <a:pPr algn="l">
              <a:lnSpc>
                <a:spcPts val="2875"/>
              </a:lnSpc>
              <a:spcBef>
                <a:spcPts val="0"/>
              </a:spcBef>
              <a:buNone/>
            </a:pPr>
            <a:r>
              <a:rPr lang="en-US" sz="2300" b="true">
                <a:solidFill>
                  <a:srgbClr val="FFFFFF"/>
                </a:solidFill>
                <a:latin typeface="Nunito Ultra-Bold"/>
                <a:ea typeface="Nunito Ultra-Bold"/>
                <a:cs typeface="Nunito Ultra-Bold"/>
                <a:sym typeface="Nunito Ultra-Bold"/>
              </a:rPr>
              <a:t>Explainable black-box clustering</a:t>
            </a:r>
          </a:p>
          <a:p>
            <a:pPr algn="l">
              <a:lnSpc>
                <a:spcPts val="2520"/>
              </a:lnSpc>
              <a:spcBef>
                <a:spcPts val="600"/>
              </a:spcBef>
              <a:buNone/>
            </a:pPr>
            <a:r>
              <a:rPr lang="en-US" sz="1800" b="true">
                <a:solidFill>
                  <a:srgbClr val="F1EDE6"/>
                </a:solidFill>
                <a:latin typeface="Nunito Semi-Bold"/>
                <a:ea typeface="Nunito Semi-Bold"/>
                <a:cs typeface="Nunito Semi-Bold"/>
                <a:sym typeface="Nunito Semi-Bold"/>
              </a:rPr>
              <a:t>PCA </a:t>
            </a:r>
            <a:r>
              <a:rPr lang="en-US" sz="1800" b="true">
                <a:solidFill>
                  <a:srgbClr val="F1EDE6"/>
                </a:solidFill>
                <a:latin typeface="Calibri"/>
                <a:ea typeface="Calibri"/>
                <a:cs typeface="Calibri"/>
                <a:sym typeface="Calibri"/>
              </a:rPr>
              <a:t>→ </a:t>
            </a:r>
            <a:r>
              <a:rPr lang="en-US" sz="1800" b="true">
                <a:solidFill>
                  <a:srgbClr val="F1EDE6"/>
                </a:solidFill>
                <a:latin typeface="Nunito Semi-Bold"/>
                <a:ea typeface="Nunito Semi-Bold"/>
                <a:cs typeface="Nunito Semi-Bold"/>
                <a:sym typeface="Nunito Semi-Bold"/>
              </a:rPr>
              <a:t>K-Means </a:t>
            </a:r>
            <a:r>
              <a:rPr lang="en-US" sz="1800" b="true">
                <a:solidFill>
                  <a:srgbClr val="F1EDE6"/>
                </a:solidFill>
                <a:latin typeface="Calibri"/>
                <a:ea typeface="Calibri"/>
                <a:cs typeface="Calibri"/>
                <a:sym typeface="Calibri"/>
              </a:rPr>
              <a:t>→ </a:t>
            </a:r>
            <a:r>
              <a:rPr lang="en-US" sz="1800" b="true">
                <a:solidFill>
                  <a:srgbClr val="F1EDE6"/>
                </a:solidFill>
                <a:latin typeface="Nunito Semi-Bold"/>
                <a:ea typeface="Nunito Semi-Bold"/>
                <a:cs typeface="Nunito Semi-Bold"/>
                <a:sym typeface="Nunito Semi-Bold"/>
              </a:rPr>
              <a:t>LightGBM </a:t>
            </a:r>
            <a:r>
              <a:rPr lang="en-US" sz="1800" b="true">
                <a:solidFill>
                  <a:srgbClr val="F1EDE6"/>
                </a:solidFill>
                <a:latin typeface="Calibri"/>
                <a:ea typeface="Calibri"/>
                <a:cs typeface="Calibri"/>
                <a:sym typeface="Calibri"/>
              </a:rPr>
              <a:t>→ </a:t>
            </a:r>
            <a:r>
              <a:rPr lang="en-US" sz="1800" b="true">
                <a:solidFill>
                  <a:srgbClr val="F1EDE6"/>
                </a:solidFill>
                <a:latin typeface="Nunito Semi-Bold"/>
                <a:ea typeface="Nunito Semi-Bold"/>
                <a:cs typeface="Nunito Semi-Bold"/>
                <a:sym typeface="Nunito Semi-Bold"/>
              </a:rPr>
              <a:t>TreeSHAP pipeline.</a:t>
            </a:r>
          </a:p>
          <a:p>
            <a:pPr algn="l">
              <a:lnSpc>
                <a:spcPts val="1700"/>
              </a:lnSpc>
              <a:spcBef>
                <a:spcPts val="1400"/>
              </a:spcBef>
              <a:buNone/>
            </a:pPr>
            <a:r>
              <a:rPr lang="en-US" sz="1300" b="true" spc="140">
                <a:solidFill>
                  <a:srgbClr val="ECC665"/>
                </a:solidFill>
                <a:latin typeface="Nunito Ultra-Bold"/>
                <a:ea typeface="Nunito Ultra-Bold"/>
                <a:cs typeface="Nunito Ultra-Bold"/>
                <a:sym typeface="Nunito Ultra-Bold"/>
              </a:rPr>
              <a:t>WINE QUALITY</a:t>
            </a:r>
          </a:p>
          <a:p>
            <a:pPr algn="l">
              <a:lnSpc>
                <a:spcPts val="2520"/>
              </a:lnSpc>
              <a:spcBef>
                <a:spcPts val="400"/>
              </a:spcBef>
              <a:buNone/>
            </a:pPr>
            <a:r>
              <a:rPr lang="en-US" sz="1800" b="true">
                <a:solidFill>
                  <a:srgbClr val="FFFFFF"/>
                </a:solidFill>
                <a:latin typeface="Nunito Semi-Bold"/>
                <a:ea typeface="Nunito Semi-Bold"/>
                <a:cs typeface="Nunito Semi-Bold"/>
                <a:sym typeface="Nunito Semi-Bold"/>
              </a:rPr>
              <a:t>Faithful instance- and cluster-level feature attribution.</a:t>
            </a:r>
          </a:p>
        </p:txBody>
      </p:sp>
      <p:sp>
        <p:nvSpPr>
          <p:cNvPr id="31" name="Rounded Rectangle 30"/>
          <p:cNvSpPr/>
          <p:nvPr/>
        </p:nvSpPr>
        <p:spPr>
          <a:xfrm>
            <a:off x="6545580" y="3455162"/>
            <a:ext cx="5196840" cy="4480560"/>
          </a:xfrm>
          <a:prstGeom prst="roundRect">
            <a:avLst>
              <a:gd name="adj" fmla="val 6530"/>
            </a:avLst>
          </a:prstGeom>
          <a:solidFill>
            <a:srgbClr val="1E5F58"/>
          </a:solidFill>
          <a:ln>
            <a:noFill/>
          </a:ln>
        </p:spPr>
        <p:txBody>
          <a:bodyPr anchor="ctr" rtlCol="false" lIns="0" tIns="0" rIns="0" bIns="0" wrap="square"/>
          <a:lstStyle/>
          <a:p>
            <a:endParaRPr lang="en-US" sz="1800"/>
          </a:p>
        </p:txBody>
      </p:sp>
      <p:sp>
        <p:nvSpPr>
          <p:cNvPr id="32" name="TextBox 31"/>
          <p:cNvSpPr txBox="1"/>
          <p:nvPr/>
        </p:nvSpPr>
        <p:spPr>
          <a:xfrm>
            <a:off x="6911340" y="3729482"/>
            <a:ext cx="4465320" cy="640080"/>
          </a:xfrm>
          <a:prstGeom prst="rect">
            <a:avLst/>
          </a:prstGeom>
          <a:noFill/>
        </p:spPr>
        <p:txBody>
          <a:bodyPr anchor="t" rtlCol="false" lIns="0" tIns="0" rIns="0" bIns="0" wrap="square"/>
          <a:lstStyle/>
          <a:p>
            <a:pPr algn="l">
              <a:lnSpc>
                <a:spcPts val="4400"/>
              </a:lnSpc>
              <a:spcBef>
                <a:spcPts val="0"/>
              </a:spcBef>
              <a:buNone/>
            </a:pPr>
            <a:r>
              <a:rPr lang="en-US" sz="4000" b="true" spc="-200">
                <a:solidFill>
                  <a:srgbClr val="ECC665"/>
                </a:solidFill>
                <a:latin typeface="Roca Two Bold"/>
                <a:ea typeface="Roca Two Bold"/>
                <a:cs typeface="Roca Two Bold"/>
                <a:sym typeface="Roca Two Bold"/>
              </a:rPr>
              <a:t>C2</a:t>
            </a:r>
          </a:p>
        </p:txBody>
      </p:sp>
      <p:sp>
        <p:nvSpPr>
          <p:cNvPr id="33" name="Rounded Rectangle 32"/>
          <p:cNvSpPr/>
          <p:nvPr/>
        </p:nvSpPr>
        <p:spPr>
          <a:xfrm>
            <a:off x="9730740" y="3802634"/>
            <a:ext cx="991577" cy="384048"/>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1800"/>
              </a:lnSpc>
              <a:spcBef>
                <a:spcPts val="0"/>
              </a:spcBef>
              <a:buNone/>
            </a:pPr>
            <a:r>
              <a:rPr lang="en-US" sz="1500" b="true">
                <a:solidFill>
                  <a:srgbClr val="1E5F58"/>
                </a:solidFill>
                <a:latin typeface="Nunito Bold"/>
                <a:ea typeface="Nunito Bold"/>
                <a:cs typeface="Nunito Bold"/>
                <a:sym typeface="Nunito Bold"/>
              </a:rPr>
              <a:t>RQ2</a:t>
            </a:r>
          </a:p>
        </p:txBody>
      </p:sp>
      <p:sp>
        <p:nvSpPr>
          <p:cNvPr id="34" name="TextBox 33"/>
          <p:cNvSpPr txBox="1"/>
          <p:nvPr/>
        </p:nvSpPr>
        <p:spPr>
          <a:xfrm>
            <a:off x="6911340" y="4506722"/>
            <a:ext cx="4465320" cy="3291840"/>
          </a:xfrm>
          <a:prstGeom prst="rect">
            <a:avLst/>
          </a:prstGeom>
          <a:noFill/>
        </p:spPr>
        <p:txBody>
          <a:bodyPr anchor="t" rtlCol="false" lIns="0" tIns="0" rIns="0" bIns="0" wrap="square"/>
          <a:lstStyle/>
          <a:p>
            <a:pPr algn="l">
              <a:lnSpc>
                <a:spcPts val="2875"/>
              </a:lnSpc>
              <a:spcBef>
                <a:spcPts val="0"/>
              </a:spcBef>
              <a:buNone/>
            </a:pPr>
            <a:r>
              <a:rPr lang="en-US" sz="2300" b="true">
                <a:solidFill>
                  <a:srgbClr val="FFFFFF"/>
                </a:solidFill>
                <a:latin typeface="Nunito Ultra-Bold"/>
                <a:ea typeface="Nunito Ultra-Bold"/>
                <a:cs typeface="Nunito Ultra-Bold"/>
                <a:sym typeface="Nunito Ultra-Bold"/>
              </a:rPr>
              <a:t>Enhanced multi-level XAI</a:t>
            </a:r>
          </a:p>
          <a:p>
            <a:pPr algn="l">
              <a:lnSpc>
                <a:spcPts val="2520"/>
              </a:lnSpc>
              <a:spcBef>
                <a:spcPts val="600"/>
              </a:spcBef>
              <a:buNone/>
            </a:pPr>
            <a:r>
              <a:rPr lang="en-US" sz="1800" b="true">
                <a:solidFill>
                  <a:srgbClr val="F1EDE6"/>
                </a:solidFill>
                <a:latin typeface="Nunito Semi-Bold"/>
                <a:ea typeface="Nunito Semi-Bold"/>
                <a:cs typeface="Nunito Semi-Bold"/>
                <a:sym typeface="Nunito Semi-Bold"/>
              </a:rPr>
              <a:t>Large-scale clustering with cross-level SHAP aggregation (Prop. 6.1).</a:t>
            </a:r>
          </a:p>
          <a:p>
            <a:pPr algn="l">
              <a:lnSpc>
                <a:spcPts val="1700"/>
              </a:lnSpc>
              <a:spcBef>
                <a:spcPts val="1400"/>
              </a:spcBef>
              <a:buNone/>
            </a:pPr>
            <a:r>
              <a:rPr lang="en-US" sz="1300" b="true" spc="140">
                <a:solidFill>
                  <a:srgbClr val="ECC665"/>
                </a:solidFill>
                <a:latin typeface="Nunito Ultra-Bold"/>
                <a:ea typeface="Nunito Ultra-Bold"/>
                <a:cs typeface="Nunito Ultra-Bold"/>
                <a:sym typeface="Nunito Ultra-Bold"/>
              </a:rPr>
              <a:t>BEIJING AIR QUALITY</a:t>
            </a:r>
          </a:p>
          <a:p>
            <a:pPr algn="l">
              <a:lnSpc>
                <a:spcPts val="2520"/>
              </a:lnSpc>
              <a:spcBef>
                <a:spcPts val="400"/>
              </a:spcBef>
              <a:buNone/>
            </a:pPr>
            <a:r>
              <a:rPr lang="en-US" sz="1800" b="true">
                <a:solidFill>
                  <a:srgbClr val="FFFFFF"/>
                </a:solidFill>
                <a:latin typeface="Nunito Semi-Bold"/>
                <a:ea typeface="Nunito Semi-Bold"/>
                <a:cs typeface="Nunito Semi-Bold"/>
                <a:sym typeface="Nunito Semi-Bold"/>
              </a:rPr>
              <a:t>Attribution stays consistent across levels and at scale.</a:t>
            </a:r>
          </a:p>
        </p:txBody>
      </p:sp>
      <p:sp>
        <p:nvSpPr>
          <p:cNvPr id="35" name="Rounded Rectangle 34"/>
          <p:cNvSpPr/>
          <p:nvPr/>
        </p:nvSpPr>
        <p:spPr>
          <a:xfrm>
            <a:off x="12062460" y="3455162"/>
            <a:ext cx="5196840" cy="4480560"/>
          </a:xfrm>
          <a:prstGeom prst="roundRect">
            <a:avLst>
              <a:gd name="adj" fmla="val 6530"/>
            </a:avLst>
          </a:prstGeom>
          <a:solidFill>
            <a:srgbClr val="DF8330"/>
          </a:solidFill>
          <a:ln>
            <a:noFill/>
          </a:ln>
        </p:spPr>
        <p:txBody>
          <a:bodyPr anchor="ctr" rtlCol="false" lIns="0" tIns="0" rIns="0" bIns="0" wrap="square"/>
          <a:lstStyle/>
          <a:p>
            <a:endParaRPr lang="en-US" sz="1800"/>
          </a:p>
        </p:txBody>
      </p:sp>
      <p:sp>
        <p:nvSpPr>
          <p:cNvPr id="36" name="TextBox 35"/>
          <p:cNvSpPr txBox="1"/>
          <p:nvPr/>
        </p:nvSpPr>
        <p:spPr>
          <a:xfrm>
            <a:off x="12428220" y="3729482"/>
            <a:ext cx="4465320" cy="640080"/>
          </a:xfrm>
          <a:prstGeom prst="rect">
            <a:avLst/>
          </a:prstGeom>
          <a:noFill/>
        </p:spPr>
        <p:txBody>
          <a:bodyPr anchor="t" rtlCol="false" lIns="0" tIns="0" rIns="0" bIns="0" wrap="square"/>
          <a:lstStyle/>
          <a:p>
            <a:pPr algn="l">
              <a:lnSpc>
                <a:spcPts val="4400"/>
              </a:lnSpc>
              <a:spcBef>
                <a:spcPts val="0"/>
              </a:spcBef>
              <a:buNone/>
            </a:pPr>
            <a:r>
              <a:rPr lang="en-US" sz="4000" b="true" spc="-200">
                <a:solidFill>
                  <a:srgbClr val="FFFFFF"/>
                </a:solidFill>
                <a:latin typeface="Roca Two Bold"/>
                <a:ea typeface="Roca Two Bold"/>
                <a:cs typeface="Roca Two Bold"/>
                <a:sym typeface="Roca Two Bold"/>
              </a:rPr>
              <a:t>C3</a:t>
            </a:r>
          </a:p>
        </p:txBody>
      </p:sp>
      <p:sp>
        <p:nvSpPr>
          <p:cNvPr id="37" name="Rounded Rectangle 36"/>
          <p:cNvSpPr/>
          <p:nvPr/>
        </p:nvSpPr>
        <p:spPr>
          <a:xfrm>
            <a:off x="15247620" y="3802634"/>
            <a:ext cx="1552948" cy="384048"/>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1800"/>
              </a:lnSpc>
              <a:spcBef>
                <a:spcPts val="0"/>
              </a:spcBef>
              <a:buNone/>
            </a:pPr>
            <a:r>
              <a:rPr lang="en-US" sz="1500" b="true">
                <a:solidFill>
                  <a:srgbClr val="DF8330"/>
                </a:solidFill>
                <a:latin typeface="Nunito Bold"/>
                <a:ea typeface="Nunito Bold"/>
                <a:cs typeface="Nunito Bold"/>
                <a:sym typeface="Nunito Bold"/>
              </a:rPr>
              <a:t>RQ3 · RQ4</a:t>
            </a:r>
          </a:p>
        </p:txBody>
      </p:sp>
      <p:sp>
        <p:nvSpPr>
          <p:cNvPr id="38" name="TextBox 37"/>
          <p:cNvSpPr txBox="1"/>
          <p:nvPr/>
        </p:nvSpPr>
        <p:spPr>
          <a:xfrm>
            <a:off x="12428220" y="4506722"/>
            <a:ext cx="4465320" cy="3291840"/>
          </a:xfrm>
          <a:prstGeom prst="rect">
            <a:avLst/>
          </a:prstGeom>
          <a:noFill/>
        </p:spPr>
        <p:txBody>
          <a:bodyPr anchor="t" rtlCol="false" lIns="0" tIns="0" rIns="0" bIns="0" wrap="square"/>
          <a:lstStyle/>
          <a:p>
            <a:pPr algn="l">
              <a:lnSpc>
                <a:spcPts val="2875"/>
              </a:lnSpc>
              <a:spcBef>
                <a:spcPts val="0"/>
              </a:spcBef>
              <a:buNone/>
            </a:pPr>
            <a:r>
              <a:rPr lang="en-US" sz="2300" b="true">
                <a:solidFill>
                  <a:srgbClr val="FFFFFF"/>
                </a:solidFill>
                <a:latin typeface="Nunito Ultra-Bold"/>
                <a:ea typeface="Nunito Ultra-Bold"/>
                <a:cs typeface="Nunito Ultra-Bold"/>
                <a:sym typeface="Nunito Ultra-Bold"/>
              </a:rPr>
              <a:t>DyHuCoG</a:t>
            </a:r>
          </a:p>
          <a:p>
            <a:pPr algn="l">
              <a:lnSpc>
                <a:spcPts val="2520"/>
              </a:lnSpc>
              <a:spcBef>
                <a:spcPts val="600"/>
              </a:spcBef>
              <a:buNone/>
            </a:pPr>
            <a:r>
              <a:rPr lang="en-US" sz="1800" b="true">
                <a:solidFill>
                  <a:srgbClr val="F1EDE6"/>
                </a:solidFill>
                <a:latin typeface="Nunito Semi-Bold"/>
                <a:ea typeface="Nunito Semi-Bold"/>
                <a:cs typeface="Nunito Semi-Bold"/>
                <a:sym typeface="Nunito Semi-Bold"/>
              </a:rPr>
              <a:t>Dynamic Hypergraph Cooperative Game for preference-aware recommendation.</a:t>
            </a:r>
          </a:p>
          <a:p>
            <a:pPr algn="l">
              <a:lnSpc>
                <a:spcPts val="1700"/>
              </a:lnSpc>
              <a:spcBef>
                <a:spcPts val="1400"/>
              </a:spcBef>
              <a:buNone/>
            </a:pPr>
            <a:r>
              <a:rPr lang="en-US" sz="1300" b="true" spc="140">
                <a:solidFill>
                  <a:srgbClr val="FFFFFF"/>
                </a:solidFill>
                <a:latin typeface="Nunito Ultra-Bold"/>
                <a:ea typeface="Nunito Ultra-Bold"/>
                <a:cs typeface="Nunito Ultra-Bold"/>
                <a:sym typeface="Nunito Ultra-Bold"/>
              </a:rPr>
              <a:t>MOVIELENS-1M · AMAZON-BOOK</a:t>
            </a:r>
          </a:p>
          <a:p>
            <a:pPr algn="l">
              <a:lnSpc>
                <a:spcPts val="2520"/>
              </a:lnSpc>
              <a:spcBef>
                <a:spcPts val="400"/>
              </a:spcBef>
              <a:buNone/>
            </a:pPr>
            <a:r>
              <a:rPr lang="en-US" sz="1800" b="true">
                <a:solidFill>
                  <a:srgbClr val="FFFFFF"/>
                </a:solidFill>
                <a:latin typeface="Nunito Semi-Bold"/>
                <a:ea typeface="Nunito Semi-Bold"/>
                <a:cs typeface="Nunito Semi-Bold"/>
                <a:sym typeface="Nunito Semi-Bold"/>
              </a:rPr>
              <a:t>Preference-aware Monte Carlo Shapley as an in-training signal.</a:t>
            </a:r>
          </a:p>
        </p:txBody>
      </p:sp>
      <p:sp>
        <p:nvSpPr>
          <p:cNvPr id="39" name="Rounded Rectangle 38"/>
          <p:cNvSpPr/>
          <p:nvPr/>
        </p:nvSpPr>
        <p:spPr>
          <a:xfrm>
            <a:off x="1028700" y="8301482"/>
            <a:ext cx="16230600" cy="1052830"/>
          </a:xfrm>
          <a:prstGeom prst="roundRect">
            <a:avLst>
              <a:gd name="adj" fmla="val 21712"/>
            </a:avLst>
          </a:prstGeom>
          <a:solidFill>
            <a:srgbClr val="F6ECDF"/>
          </a:solidFill>
          <a:ln>
            <a:noFill/>
          </a:ln>
        </p:spPr>
        <p:txBody>
          <a:bodyPr anchor="ctr" rtlCol="false" lIns="457200" tIns="91440" rIns="457200" bIns="91440" wrap="square"/>
          <a:lstStyle/>
          <a:p>
            <a:pPr algn="ctr">
              <a:lnSpc>
                <a:spcPts val="2700"/>
              </a:lnSpc>
              <a:spcBef>
                <a:spcPts val="0"/>
              </a:spcBef>
              <a:buNone/>
            </a:pPr>
            <a:r>
              <a:rPr lang="en-US" sz="2100" b="true">
                <a:solidFill>
                  <a:srgbClr val="111111"/>
                </a:solidFill>
                <a:latin typeface="Nunito Bold"/>
                <a:ea typeface="Nunito Bold"/>
                <a:cs typeface="Nunito Bold"/>
                <a:sym typeface="Nunito Bold"/>
              </a:rPr>
              <a:t>Thesis claim:</a:t>
            </a:r>
            <a:r>
              <a:rPr lang="en-US" sz="2100" b="true">
                <a:solidFill>
                  <a:srgbClr val="111111"/>
                </a:solidFill>
                <a:latin typeface="Nunito Semi-Bold"/>
                <a:ea typeface="Nunito Semi-Bold"/>
                <a:cs typeface="Nunito Semi-Bold"/>
                <a:sym typeface="Nunito Semi-Bold"/>
              </a:rPr>
              <a:t> cooperative game theory works as </a:t>
            </a:r>
            <a:r>
              <a:rPr lang="en-US" sz="2100" b="true">
                <a:solidFill>
                  <a:srgbClr val="111111"/>
                </a:solidFill>
                <a:latin typeface="Nunito Bold"/>
                <a:ea typeface="Nunito Bold"/>
                <a:cs typeface="Nunito Bold"/>
                <a:sym typeface="Nunito Bold"/>
              </a:rPr>
              <a:t>one shared attribution view</a:t>
            </a:r>
            <a:r>
              <a:rPr lang="en-US" sz="2100" b="true">
                <a:solidFill>
                  <a:srgbClr val="111111"/>
                </a:solidFill>
                <a:latin typeface="Nunito Semi-Bold"/>
                <a:ea typeface="Nunito Semi-Bold"/>
                <a:cs typeface="Nunito Semi-Bold"/>
                <a:sym typeface="Nunito Semi-Bold"/>
              </a:rPr>
              <a:t> for explanation, optimisation and action: three steps that build on each other, not three unrelated papers.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17</a:t>
            </a:r>
          </a:p>
        </p:txBody>
      </p:sp>
      <p:sp>
        <p:nvSpPr>
          <p:cNvPr id="7" name="TextBox 6"/>
          <p:cNvSpPr txBox="1"/>
          <p:nvPr/>
        </p:nvSpPr>
        <p:spPr>
          <a:xfrm>
            <a:off x="1028700" y="2331720"/>
            <a:ext cx="14859000" cy="1737360"/>
          </a:xfrm>
          <a:prstGeom prst="rect">
            <a:avLst/>
          </a:prstGeom>
          <a:noFill/>
        </p:spPr>
        <p:txBody>
          <a:bodyPr anchor="t" rtlCol="false" lIns="0" tIns="0" rIns="0" bIns="0" wrap="square"/>
          <a:lstStyle/>
          <a:p>
            <a:pPr algn="l">
              <a:lnSpc>
                <a:spcPts val="11628"/>
              </a:lnSpc>
              <a:spcBef>
                <a:spcPts val="0"/>
              </a:spcBef>
              <a:buNone/>
            </a:pPr>
            <a:r>
              <a:rPr lang="en-US" sz="11400" b="true" spc="-661">
                <a:solidFill>
                  <a:srgbClr val="111111"/>
                </a:solidFill>
                <a:latin typeface="Roca Two Bold"/>
                <a:ea typeface="Roca Two Bold"/>
                <a:cs typeface="Roca Two Bold"/>
                <a:sym typeface="Roca Two Bold"/>
              </a:rPr>
              <a:t>Experimental Protocol</a:t>
            </a:r>
          </a:p>
        </p:txBody>
      </p:sp>
      <p:sp>
        <p:nvSpPr>
          <p:cNvPr id="8" name="Oval 7"/>
          <p:cNvSpPr/>
          <p:nvPr/>
        </p:nvSpPr>
        <p:spPr>
          <a:xfrm>
            <a:off x="15673226" y="2689860"/>
            <a:ext cx="1005840" cy="1005840"/>
          </a:xfrm>
          <a:prstGeom prst="ellipse">
            <a:avLst/>
          </a:prstGeom>
          <a:solidFill>
            <a:srgbClr val="ECC665"/>
          </a:solidFill>
          <a:ln>
            <a:noFill/>
          </a:ln>
        </p:spPr>
        <p:txBody>
          <a:bodyPr anchor="ctr" rtlCol="false" lIns="0" tIns="0" rIns="0" bIns="0" wrap="square"/>
          <a:lstStyle/>
          <a:p>
            <a:endParaRPr lang="en-US" sz="1800"/>
          </a:p>
        </p:txBody>
      </p:sp>
      <p:sp>
        <p:nvSpPr>
          <p:cNvPr id="9" name="TextBox 8"/>
          <p:cNvSpPr txBox="1"/>
          <p:nvPr/>
        </p:nvSpPr>
        <p:spPr>
          <a:xfrm>
            <a:off x="15673226" y="2689860"/>
            <a:ext cx="1005840" cy="1005840"/>
          </a:xfrm>
          <a:prstGeom prst="rect">
            <a:avLst/>
          </a:prstGeom>
          <a:noFill/>
        </p:spPr>
        <p:txBody>
          <a:bodyPr anchor="ctr" rtlCol="false" lIns="0" tIns="0" rIns="0" bIns="0" wrap="square"/>
          <a:lstStyle/>
          <a:p>
            <a:pPr algn="ctr">
              <a:lnSpc>
                <a:spcPts val="3400"/>
              </a:lnSpc>
              <a:spcBef>
                <a:spcPts val="0"/>
              </a:spcBef>
              <a:buNone/>
            </a:pPr>
            <a:r>
              <a:rPr lang="en-US" sz="3000" b="true">
                <a:solidFill>
                  <a:srgbClr val="111111"/>
                </a:solidFill>
                <a:latin typeface="Nunito Ultra-Bold"/>
                <a:ea typeface="Nunito Ultra-Bold"/>
                <a:cs typeface="Nunito Ultra-Bold"/>
                <a:sym typeface="Nunito Ultra-Bold"/>
              </a:rPr>
              <a:t>03</a:t>
            </a:r>
          </a:p>
        </p:txBody>
      </p:sp>
      <p:sp>
        <p:nvSpPr>
          <p:cNvPr id="10" name="TextBox 9"/>
          <p:cNvSpPr txBox="1"/>
          <p:nvPr/>
        </p:nvSpPr>
        <p:spPr>
          <a:xfrm>
            <a:off x="1028700" y="3953256"/>
            <a:ext cx="16230600" cy="640080"/>
          </a:xfrm>
          <a:prstGeom prst="rect">
            <a:avLst/>
          </a:prstGeom>
          <a:noFill/>
        </p:spPr>
        <p:txBody>
          <a:bodyPr anchor="t" rtlCol="false" lIns="0" tIns="0" rIns="0" bIns="0" wrap="square"/>
          <a:lstStyle/>
          <a:p>
            <a:pPr algn="l">
              <a:lnSpc>
                <a:spcPts val="3800"/>
              </a:lnSpc>
              <a:spcBef>
                <a:spcPts val="0"/>
              </a:spcBef>
              <a:buNone/>
            </a:pPr>
            <a:r>
              <a:rPr lang="en-US" sz="3000" b="true" spc="-150">
                <a:solidFill>
                  <a:srgbClr val="124944"/>
                </a:solidFill>
                <a:latin typeface="Nunito Bold"/>
                <a:ea typeface="Nunito Bold"/>
                <a:cs typeface="Nunito Bold"/>
                <a:sym typeface="Nunito Bold"/>
              </a:rPr>
              <a:t>One shared protocol so that the three contributions can be read together</a:t>
            </a:r>
          </a:p>
        </p:txBody>
      </p:sp>
      <p:sp>
        <p:nvSpPr>
          <p:cNvPr id="11" name="Rectangle 10"/>
          <p:cNvSpPr/>
          <p:nvPr/>
        </p:nvSpPr>
        <p:spPr>
          <a:xfrm>
            <a:off x="0" y="5440680"/>
            <a:ext cx="18288000" cy="4846320"/>
          </a:xfrm>
          <a:prstGeom prst="rect">
            <a:avLst/>
          </a:prstGeom>
          <a:solidFill>
            <a:srgbClr val="124944"/>
          </a:solidFill>
          <a:ln>
            <a:noFill/>
          </a:ln>
        </p:spPr>
        <p:txBody>
          <a:bodyPr anchor="ctr" rtlCol="false" lIns="0" tIns="0" rIns="0" bIns="0" wrap="square"/>
          <a:lstStyle/>
          <a:p>
            <a:endParaRPr lang="en-US" sz="1800"/>
          </a:p>
        </p:txBody>
      </p:sp>
      <p:sp>
        <p:nvSpPr>
          <p:cNvPr id="12" name="TextBox 11"/>
          <p:cNvSpPr txBox="1"/>
          <p:nvPr/>
        </p:nvSpPr>
        <p:spPr>
          <a:xfrm>
            <a:off x="102870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Datasets</a:t>
            </a:r>
          </a:p>
        </p:txBody>
      </p:sp>
      <p:cxnSp>
        <p:nvCxnSpPr>
          <p:cNvPr id="13" name="Connector 12"/>
          <p:cNvCxnSpPr/>
          <p:nvPr/>
        </p:nvCxnSpPr>
        <p:spPr>
          <a:xfrm>
            <a:off x="1028700" y="6464808"/>
            <a:ext cx="640080" cy="0"/>
          </a:xfrm>
          <a:prstGeom prst="line">
            <a:avLst/>
          </a:prstGeom>
          <a:ln w="31750">
            <a:solidFill>
              <a:srgbClr val="ECC665"/>
            </a:solidFill>
          </a:ln>
        </p:spPr>
      </p:cxnSp>
      <p:sp>
        <p:nvSpPr>
          <p:cNvPr id="14" name="TextBox 13"/>
          <p:cNvSpPr txBox="1"/>
          <p:nvPr/>
        </p:nvSpPr>
        <p:spPr>
          <a:xfrm>
            <a:off x="102870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Wine Quality and Beijing Air Quality for clustering; MovieLens-1M and Amazon-Book for recommendation.</a:t>
            </a:r>
          </a:p>
        </p:txBody>
      </p:sp>
      <p:sp>
        <p:nvSpPr>
          <p:cNvPr id="15" name="TextBox 14"/>
          <p:cNvSpPr txBox="1"/>
          <p:nvPr/>
        </p:nvSpPr>
        <p:spPr>
          <a:xfrm>
            <a:off x="657606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Baselines &amp; metrics</a:t>
            </a:r>
          </a:p>
        </p:txBody>
      </p:sp>
      <p:cxnSp>
        <p:nvCxnSpPr>
          <p:cNvPr id="16" name="Connector 15"/>
          <p:cNvCxnSpPr/>
          <p:nvPr/>
        </p:nvCxnSpPr>
        <p:spPr>
          <a:xfrm>
            <a:off x="6576060" y="6464808"/>
            <a:ext cx="640080" cy="0"/>
          </a:xfrm>
          <a:prstGeom prst="line">
            <a:avLst/>
          </a:prstGeom>
          <a:ln w="31750">
            <a:solidFill>
              <a:srgbClr val="ECC665"/>
            </a:solidFill>
          </a:ln>
        </p:spPr>
      </p:cxnSp>
      <p:sp>
        <p:nvSpPr>
          <p:cNvPr id="17" name="TextBox 16"/>
          <p:cNvSpPr txBox="1"/>
          <p:nvPr/>
        </p:nvSpPr>
        <p:spPr>
          <a:xfrm>
            <a:off x="657606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LIME for clustering explanation; MF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HPCF for recommendation; NDCG@20, Recall, Coverage, ILD, Silhouette, Davies–Bouldin.</a:t>
            </a:r>
          </a:p>
        </p:txBody>
      </p:sp>
      <p:sp>
        <p:nvSpPr>
          <p:cNvPr id="18" name="TextBox 17"/>
          <p:cNvSpPr txBox="1"/>
          <p:nvPr/>
        </p:nvSpPr>
        <p:spPr>
          <a:xfrm>
            <a:off x="1212342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Reproducibility</a:t>
            </a:r>
          </a:p>
        </p:txBody>
      </p:sp>
      <p:cxnSp>
        <p:nvCxnSpPr>
          <p:cNvPr id="19" name="Connector 18"/>
          <p:cNvCxnSpPr/>
          <p:nvPr/>
        </p:nvCxnSpPr>
        <p:spPr>
          <a:xfrm>
            <a:off x="12123420" y="6464808"/>
            <a:ext cx="640080" cy="0"/>
          </a:xfrm>
          <a:prstGeom prst="line">
            <a:avLst/>
          </a:prstGeom>
          <a:ln w="31750">
            <a:solidFill>
              <a:srgbClr val="ECC665"/>
            </a:solidFill>
          </a:ln>
        </p:spPr>
      </p:cxnSp>
      <p:sp>
        <p:nvSpPr>
          <p:cNvPr id="20" name="TextBox 19"/>
          <p:cNvSpPr txBox="1"/>
          <p:nvPr/>
        </p:nvSpPr>
        <p:spPr>
          <a:xfrm>
            <a:off x="1212342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Fixed seeds, time-ordered user-level splits, early stopping, standard academic hardware (i9-14900K + RTX 4090).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[19] Cortez, P. et al. Wine Quality. UCI Machine Learning Repository (2009).  ·  Dua, D. &amp; Taniskidou, E. Beijing Multi-Site Air Quality Data. UCI Machine Learning Repository (2017).</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18</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EXPERIMENTAL PROTOCOL</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Wine Quality: Portuguese Vinho Verde</a:t>
            </a:r>
          </a:p>
        </p:txBody>
      </p:sp>
      <p:pic>
        <p:nvPicPr>
          <p:cNvPr id="23" name="Picture 22" descr="image.png"/>
          <p:cNvPicPr>
            <a:picLocks noChangeAspect="1"/>
          </p:cNvPicPr>
          <p:nvPr/>
        </p:nvPicPr>
        <p:blipFill>
          <a:blip r:embed="rId3"/>
          <a:stretch>
            <a:fillRect/>
          </a:stretch>
        </p:blipFill>
        <p:spPr>
          <a:xfrm>
            <a:off x="11227909" y="1673352"/>
            <a:ext cx="457200" cy="250983"/>
          </a:xfrm>
          <a:prstGeom prst="rect">
            <a:avLst/>
          </a:prstGeom>
        </p:spPr>
      </p:pic>
      <p:sp>
        <p:nvSpPr>
          <p:cNvPr id="24" name="Rounded Rectangle 23"/>
          <p:cNvSpPr/>
          <p:nvPr/>
        </p:nvSpPr>
        <p:spPr>
          <a:xfrm>
            <a:off x="1028700" y="2559050"/>
            <a:ext cx="1523907"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Datasets</a:t>
            </a:r>
          </a:p>
        </p:txBody>
      </p:sp>
      <p:sp>
        <p:nvSpPr>
          <p:cNvPr id="25" name="Rounded Rectangle 24"/>
          <p:cNvSpPr/>
          <p:nvPr/>
        </p:nvSpPr>
        <p:spPr>
          <a:xfrm>
            <a:off x="2680623" y="2559050"/>
            <a:ext cx="134943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Metrics</a:t>
            </a:r>
          </a:p>
        </p:txBody>
      </p:sp>
      <p:sp>
        <p:nvSpPr>
          <p:cNvPr id="26" name="Rounded Rectangle 25"/>
          <p:cNvSpPr/>
          <p:nvPr/>
        </p:nvSpPr>
        <p:spPr>
          <a:xfrm>
            <a:off x="4158071" y="2559050"/>
            <a:ext cx="164257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Hardware</a:t>
            </a:r>
          </a:p>
        </p:txBody>
      </p:sp>
      <p:sp>
        <p:nvSpPr>
          <p:cNvPr id="27" name="TextBox 26"/>
          <p:cNvSpPr txBox="1"/>
          <p:nvPr/>
        </p:nvSpPr>
        <p:spPr>
          <a:xfrm>
            <a:off x="1028700" y="3363722"/>
            <a:ext cx="6949440" cy="2743200"/>
          </a:xfrm>
          <a:prstGeom prst="rect">
            <a:avLst/>
          </a:prstGeom>
          <a:noFill/>
        </p:spPr>
        <p:txBody>
          <a:bodyPr anchor="t" rtlCol="false" lIns="0" tIns="0" rIns="0" bIns="0" wrap="square"/>
          <a:lstStyle/>
          <a:p>
            <a:pPr algn="l" marL="274320" indent="-274320">
              <a:lnSpc>
                <a:spcPts val="2500"/>
              </a:lnSpc>
              <a:spcBef>
                <a:spcPts val="0"/>
              </a:spcBef>
              <a:buClr>
                <a:srgbClr val="DF8330"/>
              </a:buClr>
              <a:buSzPct val="100000"/>
              <a:buFont typeface="Arial"/>
              <a:buChar char="•"/>
            </a:pPr>
            <a:r>
              <a:rPr lang="en-US" sz="1786" b="true">
                <a:solidFill>
                  <a:srgbClr val="111111"/>
                </a:solidFill>
                <a:latin typeface="Nunito Bold"/>
                <a:ea typeface="Nunito Bold"/>
                <a:cs typeface="Nunito Bold"/>
                <a:sym typeface="Nunito Bold"/>
              </a:rPr>
              <a:t>4,898 white-wine samples</a:t>
            </a:r>
            <a:r>
              <a:rPr lang="en-US" sz="1786" b="true">
                <a:solidFill>
                  <a:srgbClr val="111111"/>
                </a:solidFill>
                <a:latin typeface="Nunito Semi-Bold"/>
                <a:ea typeface="Nunito Semi-Bold"/>
                <a:cs typeface="Nunito Semi-Bold"/>
                <a:sym typeface="Nunito Semi-Bold"/>
              </a:rPr>
              <a:t> described by </a:t>
            </a:r>
            <a:r>
              <a:rPr lang="en-US" sz="1786" b="true">
                <a:solidFill>
                  <a:srgbClr val="111111"/>
                </a:solidFill>
                <a:latin typeface="Nunito Bold"/>
                <a:ea typeface="Nunito Bold"/>
                <a:cs typeface="Nunito Bold"/>
                <a:sym typeface="Nunito Bold"/>
              </a:rPr>
              <a:t>11 physicochemical measurements</a:t>
            </a:r>
            <a:r>
              <a:rPr lang="en-US" sz="1786" b="true">
                <a:solidFill>
                  <a:srgbClr val="111111"/>
                </a:solidFill>
                <a:latin typeface="Nunito Semi-Bold"/>
                <a:ea typeface="Nunito Semi-Bold"/>
                <a:cs typeface="Nunito Semi-Bold"/>
                <a:sym typeface="Nunito Semi-Bold"/>
              </a:rPr>
              <a:t> and a sensory quality score (UCI repository).</a:t>
            </a:r>
          </a:p>
          <a:p>
            <a:pPr algn="l" marL="274320" indent="-274320">
              <a:lnSpc>
                <a:spcPts val="2500"/>
              </a:lnSpc>
              <a:spcBef>
                <a:spcPts val="752"/>
              </a:spcBef>
              <a:buClr>
                <a:srgbClr val="DF8330"/>
              </a:buClr>
              <a:buSzPct val="100000"/>
              <a:buFont typeface="Arial"/>
              <a:buChar char="•"/>
            </a:pPr>
            <a:r>
              <a:rPr lang="en-US" sz="1786" b="true">
                <a:solidFill>
                  <a:srgbClr val="111111"/>
                </a:solidFill>
                <a:latin typeface="Nunito Semi-Bold"/>
                <a:ea typeface="Nunito Semi-Bold"/>
                <a:cs typeface="Nunito Semi-Bold"/>
                <a:sym typeface="Nunito Semi-Bold"/>
              </a:rPr>
              <a:t>Small, dense and chemically correlated: the ideal place to check that an explanation lands on </a:t>
            </a:r>
            <a:r>
              <a:rPr lang="en-US" sz="1786" b="true">
                <a:solidFill>
                  <a:srgbClr val="111111"/>
                </a:solidFill>
                <a:latin typeface="Nunito Bold"/>
                <a:ea typeface="Nunito Bold"/>
                <a:cs typeface="Nunito Bold"/>
                <a:sym typeface="Nunito Bold"/>
              </a:rPr>
              <a:t>variables a wine expert understands</a:t>
            </a:r>
            <a:r>
              <a:rPr lang="en-US" sz="1786" b="true">
                <a:solidFill>
                  <a:srgbClr val="111111"/>
                </a:solidFill>
                <a:latin typeface="Nunito Semi-Bold"/>
                <a:ea typeface="Nunito Semi-Bold"/>
                <a:cs typeface="Nunito Semi-Bold"/>
                <a:sym typeface="Nunito Semi-Bold"/>
              </a:rPr>
              <a:t>.</a:t>
            </a:r>
          </a:p>
          <a:p>
            <a:pPr algn="l" marL="274320" indent="-274320">
              <a:lnSpc>
                <a:spcPts val="2500"/>
              </a:lnSpc>
              <a:spcBef>
                <a:spcPts val="752"/>
              </a:spcBef>
              <a:buClr>
                <a:srgbClr val="DF8330"/>
              </a:buClr>
              <a:buSzPct val="100000"/>
              <a:buFont typeface="Arial"/>
              <a:buChar char="•"/>
            </a:pPr>
            <a:r>
              <a:rPr lang="en-US" sz="1786" b="true">
                <a:solidFill>
                  <a:srgbClr val="111111"/>
                </a:solidFill>
                <a:latin typeface="Nunito Semi-Bold"/>
                <a:ea typeface="Nunito Semi-Bold"/>
                <a:cs typeface="Nunito Semi-Bold"/>
                <a:sym typeface="Nunito Semi-Bold"/>
              </a:rPr>
              <a:t>Used for </a:t>
            </a:r>
            <a:r>
              <a:rPr lang="en-US" sz="1786" b="true">
                <a:solidFill>
                  <a:srgbClr val="111111"/>
                </a:solidFill>
                <a:latin typeface="Nunito Bold"/>
                <a:ea typeface="Nunito Bold"/>
                <a:cs typeface="Nunito Bold"/>
                <a:sym typeface="Nunito Bold"/>
              </a:rPr>
              <a:t>Contribution I</a:t>
            </a:r>
            <a:r>
              <a:rPr lang="en-US" sz="1786" b="true">
                <a:solidFill>
                  <a:srgbClr val="111111"/>
                </a:solidFill>
                <a:latin typeface="Nunito Semi-Bold"/>
                <a:ea typeface="Nunito Semi-Bold"/>
                <a:cs typeface="Nunito Semi-Bold"/>
                <a:sym typeface="Nunito Semi-Bold"/>
              </a:rPr>
              <a:t>: single-level clustering, then Shapley attribution back to the chemistry.</a:t>
            </a:r>
          </a:p>
        </p:txBody>
      </p:sp>
      <p:graphicFrame>
        <p:nvGraphicFramePr>
          <p:cNvPr id="28" name="Table 27"/>
          <p:cNvGraphicFramePr>
            <a:graphicFrameLocks noGrp="1"/>
          </p:cNvGraphicFramePr>
          <p:nvPr/>
        </p:nvGraphicFramePr>
        <p:xfrm>
          <a:off x="8435340" y="3363722"/>
          <a:ext cx="8823959" cy="3228848"/>
        </p:xfrm>
        <a:graphic>
          <a:graphicData uri="http://schemas.openxmlformats.org/drawingml/2006/table">
            <a:tbl>
              <a:tblPr firstRow="0" bandRow="0" firstCol="0" lastRow="0" lastCol="0" bandCol="0">
                <a:tableStyleId>{2D5ABB26-0587-4C30-8999-92F81FD0307C}</a:tableStyleId>
              </a:tblPr>
              <a:tblGrid>
                <a:gridCol w="4622074"/>
                <a:gridCol w="4201885"/>
              </a:tblGrid>
              <a:tr h="461264">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Specification</a:t>
                      </a:r>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Wine Quality</a:t>
                      </a:r>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Observations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4,898</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Features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11 numeric</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Target (not used for clustering)</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quality 3 to 9</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Missing values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none</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Scale of features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standardised</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Selected clusters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k* = 3</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29" name="TextBox 28"/>
          <p:cNvSpPr txBox="1"/>
          <p:nvPr/>
        </p:nvSpPr>
        <p:spPr>
          <a:xfrm>
            <a:off x="1028700" y="6912610"/>
            <a:ext cx="1623060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DF8330"/>
                </a:solidFill>
                <a:latin typeface="Nunito Ultra-Bold"/>
                <a:ea typeface="Nunito Ultra-Bold"/>
                <a:cs typeface="Nunito Ultra-Bold"/>
                <a:sym typeface="Nunito Ultra-Bold"/>
              </a:rPr>
              <a:t>SAMPLE RECORDS  ·  first rows of the public file</a:t>
            </a:r>
          </a:p>
        </p:txBody>
      </p:sp>
      <p:graphicFrame>
        <p:nvGraphicFramePr>
          <p:cNvPr id="30" name="Table 29"/>
          <p:cNvGraphicFramePr>
            <a:graphicFrameLocks noGrp="1"/>
          </p:cNvGraphicFramePr>
          <p:nvPr/>
        </p:nvGraphicFramePr>
        <p:xfrm>
          <a:off x="1028700" y="7260082"/>
          <a:ext cx="16230600" cy="1705864"/>
        </p:xfrm>
        <a:graphic>
          <a:graphicData uri="http://schemas.openxmlformats.org/drawingml/2006/table">
            <a:tbl>
              <a:tblPr firstRow="0" bandRow="0" firstCol="0" lastRow="0" lastCol="0" bandCol="0">
                <a:tableStyleId>{2D5ABB26-0587-4C30-8999-92F81FD0307C}</a:tableStyleId>
              </a:tblPr>
              <a:tblGrid>
                <a:gridCol w="1586992"/>
                <a:gridCol w="1731264"/>
                <a:gridCol w="1442720"/>
                <a:gridCol w="1659128"/>
                <a:gridCol w="1442720"/>
                <a:gridCol w="1298448"/>
                <a:gridCol w="1298448"/>
                <a:gridCol w="1298448"/>
                <a:gridCol w="1009904"/>
                <a:gridCol w="1298448"/>
                <a:gridCol w="1154176"/>
                <a:gridCol w="1009904"/>
              </a:tblGrid>
              <a:tr h="426466">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fixed acidity</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volatile acidity</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citric acid</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residual sugar</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chlorides</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free SO₂</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total SO₂</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density</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pH</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sulphates</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alcohol</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quality</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7.0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0.27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0.36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20.7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0.045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170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1.0010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3.00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0.45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8.8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6.3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0.30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0.34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0.049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132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0.9940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3.30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0.49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9.5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8.1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0.28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0.40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6.9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0.050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97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0.9951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3.26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0.44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10.1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[19] Cortez, P. et al. Wine Quality. UCI Machine Learning Repository (2009).  ·  Dua, D. &amp; Taniskidou, E. Beijing Multi-Site Air Quality Data. UCI Machine Learning Repository (2017).</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19</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EXPERIMENTAL PROTOCOL</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Beijing Multi-Site Air Quality</a:t>
            </a:r>
          </a:p>
        </p:txBody>
      </p:sp>
      <p:pic>
        <p:nvPicPr>
          <p:cNvPr id="23" name="Picture 22" descr="image.png"/>
          <p:cNvPicPr>
            <a:picLocks noChangeAspect="1"/>
          </p:cNvPicPr>
          <p:nvPr/>
        </p:nvPicPr>
        <p:blipFill>
          <a:blip r:embed="rId3"/>
          <a:stretch>
            <a:fillRect/>
          </a:stretch>
        </p:blipFill>
        <p:spPr>
          <a:xfrm>
            <a:off x="8588295" y="1673352"/>
            <a:ext cx="457200" cy="415247"/>
          </a:xfrm>
          <a:prstGeom prst="rect">
            <a:avLst/>
          </a:prstGeom>
        </p:spPr>
      </p:pic>
      <p:sp>
        <p:nvSpPr>
          <p:cNvPr id="24" name="Rounded Rectangle 23"/>
          <p:cNvSpPr/>
          <p:nvPr/>
        </p:nvSpPr>
        <p:spPr>
          <a:xfrm>
            <a:off x="1028700" y="2559050"/>
            <a:ext cx="1523907"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Datasets</a:t>
            </a:r>
          </a:p>
        </p:txBody>
      </p:sp>
      <p:sp>
        <p:nvSpPr>
          <p:cNvPr id="25" name="Rounded Rectangle 24"/>
          <p:cNvSpPr/>
          <p:nvPr/>
        </p:nvSpPr>
        <p:spPr>
          <a:xfrm>
            <a:off x="2680623" y="2559050"/>
            <a:ext cx="134943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Metrics</a:t>
            </a:r>
          </a:p>
        </p:txBody>
      </p:sp>
      <p:sp>
        <p:nvSpPr>
          <p:cNvPr id="26" name="Rounded Rectangle 25"/>
          <p:cNvSpPr/>
          <p:nvPr/>
        </p:nvSpPr>
        <p:spPr>
          <a:xfrm>
            <a:off x="4158071" y="2559050"/>
            <a:ext cx="164257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Hardware</a:t>
            </a:r>
          </a:p>
        </p:txBody>
      </p:sp>
      <p:sp>
        <p:nvSpPr>
          <p:cNvPr id="27" name="TextBox 26"/>
          <p:cNvSpPr txBox="1"/>
          <p:nvPr/>
        </p:nvSpPr>
        <p:spPr>
          <a:xfrm>
            <a:off x="1028700" y="3363722"/>
            <a:ext cx="6949440" cy="2743200"/>
          </a:xfrm>
          <a:prstGeom prst="rect">
            <a:avLst/>
          </a:prstGeom>
          <a:noFill/>
        </p:spPr>
        <p:txBody>
          <a:bodyPr anchor="t" rtlCol="false" lIns="0" tIns="0" rIns="0" bIns="0" wrap="square"/>
          <a:lstStyle/>
          <a:p>
            <a:pPr algn="l" marL="274320" indent="-274320">
              <a:lnSpc>
                <a:spcPts val="2660"/>
              </a:lnSpc>
              <a:spcBef>
                <a:spcPts val="0"/>
              </a:spcBef>
              <a:buClr>
                <a:srgbClr val="DF8330"/>
              </a:buClr>
              <a:buSzPct val="100000"/>
              <a:buFont typeface="Arial"/>
              <a:buChar char="•"/>
            </a:pPr>
            <a:r>
              <a:rPr lang="en-US" sz="1900" b="true">
                <a:solidFill>
                  <a:srgbClr val="111111"/>
                </a:solidFill>
                <a:latin typeface="Nunito Bold"/>
                <a:ea typeface="Nunito Bold"/>
                <a:cs typeface="Nunito Bold"/>
                <a:sym typeface="Nunito Bold"/>
              </a:rPr>
              <a:t>383,585 hourly records</a:t>
            </a:r>
            <a:r>
              <a:rPr lang="en-US" sz="1900" b="true">
                <a:solidFill>
                  <a:srgbClr val="111111"/>
                </a:solidFill>
                <a:latin typeface="Nunito Semi-Bold"/>
                <a:ea typeface="Nunito Semi-Bold"/>
                <a:cs typeface="Nunito Semi-Bold"/>
                <a:sym typeface="Nunito Semi-Bold"/>
              </a:rPr>
              <a:t> from Beijing monitoring stations, March 2013 to February 2017 (UCI repository).</a:t>
            </a:r>
          </a:p>
          <a:p>
            <a:pPr algn="l" marL="274320" indent="-274320">
              <a:lnSpc>
                <a:spcPts val="2660"/>
              </a:lnSpc>
              <a:spcBef>
                <a:spcPts val="800"/>
              </a:spcBef>
              <a:buClr>
                <a:srgbClr val="DF8330"/>
              </a:buClr>
              <a:buSzPct val="100000"/>
              <a:buFont typeface="Arial"/>
              <a:buChar char="•"/>
            </a:pPr>
            <a:r>
              <a:rPr lang="en-US" sz="1900" b="true">
                <a:solidFill>
                  <a:srgbClr val="111111"/>
                </a:solidFill>
                <a:latin typeface="Nunito Bold"/>
                <a:ea typeface="Nunito Bold"/>
                <a:cs typeface="Nunito Bold"/>
                <a:sym typeface="Nunito Bold"/>
              </a:rPr>
              <a:t>11 modelling variables:</a:t>
            </a:r>
            <a:r>
              <a:rPr lang="en-US" sz="1900" b="true">
                <a:solidFill>
                  <a:srgbClr val="111111"/>
                </a:solidFill>
                <a:latin typeface="Nunito Semi-Bold"/>
                <a:ea typeface="Nunito Semi-Bold"/>
                <a:cs typeface="Nunito Semi-Bold"/>
                <a:sym typeface="Nunito Semi-Bold"/>
              </a:rPr>
              <a:t> six pollutants (PM2.5, PM10, SO₂, NO₂, CO, O₃) and weather (temperature, pressure, dew point, rain, wind speed).</a:t>
            </a:r>
          </a:p>
          <a:p>
            <a:pPr algn="l" marL="274320" indent="-274320">
              <a:lnSpc>
                <a:spcPts val="2660"/>
              </a:lnSpc>
              <a:spcBef>
                <a:spcPts val="8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Large, noisy, varies with season and weather: the stress test for </a:t>
            </a:r>
            <a:r>
              <a:rPr lang="en-US" sz="1900" b="true">
                <a:solidFill>
                  <a:srgbClr val="111111"/>
                </a:solidFill>
                <a:latin typeface="Nunito Bold"/>
                <a:ea typeface="Nunito Bold"/>
                <a:cs typeface="Nunito Bold"/>
                <a:sym typeface="Nunito Bold"/>
              </a:rPr>
              <a:t>Contribution II</a:t>
            </a:r>
            <a:r>
              <a:rPr lang="en-US" sz="1900" b="true">
                <a:solidFill>
                  <a:srgbClr val="111111"/>
                </a:solidFill>
                <a:latin typeface="Nunito Semi-Bold"/>
                <a:ea typeface="Nunito Semi-Bold"/>
                <a:cs typeface="Nunito Semi-Bold"/>
                <a:sym typeface="Nunito Semi-Bold"/>
              </a:rPr>
              <a:t> (scale + multi-level structure).</a:t>
            </a:r>
          </a:p>
        </p:txBody>
      </p:sp>
      <p:graphicFrame>
        <p:nvGraphicFramePr>
          <p:cNvPr id="28" name="Table 27"/>
          <p:cNvGraphicFramePr>
            <a:graphicFrameLocks noGrp="1"/>
          </p:cNvGraphicFramePr>
          <p:nvPr/>
        </p:nvGraphicFramePr>
        <p:xfrm>
          <a:off x="8435340" y="3363722"/>
          <a:ext cx="8823959" cy="3228848"/>
        </p:xfrm>
        <a:graphic>
          <a:graphicData uri="http://schemas.openxmlformats.org/drawingml/2006/table">
            <a:tbl>
              <a:tblPr firstRow="0" bandRow="0" firstCol="0" lastRow="0" lastCol="0" bandCol="0">
                <a:tableStyleId>{2D5ABB26-0587-4C30-8999-92F81FD0307C}</a:tableStyleId>
              </a:tblPr>
              <a:tblGrid>
                <a:gridCol w="4622074"/>
                <a:gridCol w="4201885"/>
              </a:tblGrid>
              <a:tr h="461264">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Specification</a:t>
                      </a:r>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Beijing Multi-Site Air Quality</a:t>
                      </a:r>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Observations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383,585 hourly</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Period</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2013 to 2017</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Variables used</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11 (6 pollutants + 5 weather)</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Structure</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coarse regimes </a:t>
                      </a:r>
                      <a:r>
                        <a:rPr lang="en-US" sz="1600" b="true">
                          <a:solidFill>
                            <a:srgbClr val="111111"/>
                          </a:solidFill>
                          <a:latin typeface="Calibri"/>
                          <a:ea typeface="Calibri"/>
                          <a:cs typeface="Calibri"/>
                          <a:sym typeface="Calibri"/>
                        </a:rPr>
                        <a:t>→ </a:t>
                      </a:r>
                      <a:r>
                        <a:rPr lang="en-US" sz="1600" b="true">
                          <a:solidFill>
                            <a:srgbClr val="111111"/>
                          </a:solidFill>
                          <a:latin typeface="Nunito Semi-Bold"/>
                          <a:ea typeface="Nunito Semi-Bold"/>
                          <a:cs typeface="Nunito Semi-Bold"/>
                          <a:sym typeface="Nunito Semi-Bold"/>
                        </a:rPr>
                        <a:t>sub-clusters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Selected clusters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k = 3 </a:t>
                      </a:r>
                      <a:r>
                        <a:rPr lang="en-US" sz="1600" b="true">
                          <a:solidFill>
                            <a:srgbClr val="111111"/>
                          </a:solidFill>
                          <a:latin typeface="Calibri"/>
                          <a:ea typeface="Calibri"/>
                          <a:cs typeface="Calibri"/>
                          <a:sym typeface="Calibri"/>
                        </a:rPr>
                        <a:t>→ </a:t>
                      </a:r>
                      <a:r>
                        <a:rPr lang="en-US" sz="1600" b="true">
                          <a:solidFill>
                            <a:srgbClr val="111111"/>
                          </a:solidFill>
                          <a:latin typeface="Nunito Semi-Bold"/>
                          <a:ea typeface="Nunito Semi-Bold"/>
                          <a:cs typeface="Nunito Semi-Bold"/>
                          <a:sym typeface="Nunito Semi-Bold"/>
                        </a:rPr>
                        <a:t>9 sub-clusters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Silhouette</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 0.63</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29" name="TextBox 28"/>
          <p:cNvSpPr txBox="1"/>
          <p:nvPr/>
        </p:nvSpPr>
        <p:spPr>
          <a:xfrm>
            <a:off x="1028700" y="6912610"/>
            <a:ext cx="1623060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DF8330"/>
                </a:solidFill>
                <a:latin typeface="Nunito Ultra-Bold"/>
                <a:ea typeface="Nunito Ultra-Bold"/>
                <a:cs typeface="Nunito Ultra-Bold"/>
                <a:sym typeface="Nunito Ultra-Bold"/>
              </a:rPr>
              <a:t>SAMPLE RECORDS  ·  first rows of the Aotizhongxin station file</a:t>
            </a:r>
          </a:p>
        </p:txBody>
      </p:sp>
      <p:graphicFrame>
        <p:nvGraphicFramePr>
          <p:cNvPr id="30" name="Table 29"/>
          <p:cNvGraphicFramePr>
            <a:graphicFrameLocks noGrp="1"/>
          </p:cNvGraphicFramePr>
          <p:nvPr/>
        </p:nvGraphicFramePr>
        <p:xfrm>
          <a:off x="1028700" y="7260082"/>
          <a:ext cx="16230594" cy="1705864"/>
        </p:xfrm>
        <a:graphic>
          <a:graphicData uri="http://schemas.openxmlformats.org/drawingml/2006/table">
            <a:tbl>
              <a:tblPr firstRow="0" bandRow="0" firstCol="0" lastRow="0" lastCol="0" bandCol="0">
                <a:tableStyleId>{2D5ABB26-0587-4C30-8999-92F81FD0307C}</a:tableStyleId>
              </a:tblPr>
              <a:tblGrid>
                <a:gridCol w="2233568"/>
                <a:gridCol w="2531377"/>
                <a:gridCol w="1191236"/>
                <a:gridCol w="1191236"/>
                <a:gridCol w="1042332"/>
                <a:gridCol w="1042332"/>
                <a:gridCol w="1042332"/>
                <a:gridCol w="1042332"/>
                <a:gridCol w="1191236"/>
                <a:gridCol w="1340141"/>
                <a:gridCol w="1191236"/>
                <a:gridCol w="1191236"/>
              </a:tblGrid>
              <a:tr h="426466">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station</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date · hour</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PM2.5</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PM10</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SO₂</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NO₂</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CO</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O₃</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TEMP</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PRES</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DEWP</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WSPM</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Aotizhongxin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2013-03-01 · 00h</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300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77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-0.7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1023.0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-18.8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Aotizhongxin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2013-03-01 · 01h</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300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77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1023.2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-18.2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Aotizhongxin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2013-03-01 · 02h</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300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73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1023.5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-18.2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5.6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[20] Harper, F. M. &amp; Konstan, J. A. The MovieLens Datasets: History and Context. ACM TiiS 5(4), 19 (2015).  ·  McAuley, J. et al. Amazon Review Data (Amazon-Book). UCSD (2018).</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20</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EXPERIMENTAL PROTOCOL</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MovieLens-1M</a:t>
            </a:r>
          </a:p>
        </p:txBody>
      </p:sp>
      <p:pic>
        <p:nvPicPr>
          <p:cNvPr id="23" name="Picture 22" descr="image.png"/>
          <p:cNvPicPr>
            <a:picLocks noChangeAspect="1"/>
          </p:cNvPicPr>
          <p:nvPr/>
        </p:nvPicPr>
        <p:blipFill>
          <a:blip r:embed="rId3"/>
          <a:stretch>
            <a:fillRect/>
          </a:stretch>
        </p:blipFill>
        <p:spPr>
          <a:xfrm>
            <a:off x="4963971" y="1673352"/>
            <a:ext cx="457200" cy="452148"/>
          </a:xfrm>
          <a:prstGeom prst="rect">
            <a:avLst/>
          </a:prstGeom>
        </p:spPr>
      </p:pic>
      <p:sp>
        <p:nvSpPr>
          <p:cNvPr id="24" name="Rounded Rectangle 23"/>
          <p:cNvSpPr/>
          <p:nvPr/>
        </p:nvSpPr>
        <p:spPr>
          <a:xfrm>
            <a:off x="1028700" y="2559050"/>
            <a:ext cx="1523907"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Datasets</a:t>
            </a:r>
          </a:p>
        </p:txBody>
      </p:sp>
      <p:sp>
        <p:nvSpPr>
          <p:cNvPr id="25" name="Rounded Rectangle 24"/>
          <p:cNvSpPr/>
          <p:nvPr/>
        </p:nvSpPr>
        <p:spPr>
          <a:xfrm>
            <a:off x="2680623" y="2559050"/>
            <a:ext cx="134943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Metrics</a:t>
            </a:r>
          </a:p>
        </p:txBody>
      </p:sp>
      <p:sp>
        <p:nvSpPr>
          <p:cNvPr id="26" name="Rounded Rectangle 25"/>
          <p:cNvSpPr/>
          <p:nvPr/>
        </p:nvSpPr>
        <p:spPr>
          <a:xfrm>
            <a:off x="4158071" y="2559050"/>
            <a:ext cx="164257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Hardware</a:t>
            </a:r>
          </a:p>
        </p:txBody>
      </p:sp>
      <p:sp>
        <p:nvSpPr>
          <p:cNvPr id="27" name="TextBox 26"/>
          <p:cNvSpPr txBox="1"/>
          <p:nvPr/>
        </p:nvSpPr>
        <p:spPr>
          <a:xfrm>
            <a:off x="1028700" y="3363722"/>
            <a:ext cx="6949440" cy="2743200"/>
          </a:xfrm>
          <a:prstGeom prst="rect">
            <a:avLst/>
          </a:prstGeom>
          <a:noFill/>
        </p:spPr>
        <p:txBody>
          <a:bodyPr anchor="t" rtlCol="false" lIns="0" tIns="0" rIns="0" bIns="0" wrap="square"/>
          <a:lstStyle/>
          <a:p>
            <a:pPr algn="l" marL="274320" indent="-274320">
              <a:lnSpc>
                <a:spcPts val="2660"/>
              </a:lnSpc>
              <a:spcBef>
                <a:spcPts val="0"/>
              </a:spcBef>
              <a:buClr>
                <a:srgbClr val="DF8330"/>
              </a:buClr>
              <a:buSzPct val="100000"/>
              <a:buFont typeface="Arial"/>
              <a:buChar char="•"/>
            </a:pPr>
            <a:r>
              <a:rPr lang="en-US" sz="1900" b="true">
                <a:solidFill>
                  <a:srgbClr val="111111"/>
                </a:solidFill>
                <a:latin typeface="Nunito Bold"/>
                <a:ea typeface="Nunito Bold"/>
                <a:cs typeface="Nunito Bold"/>
                <a:sym typeface="Nunito Bold"/>
              </a:rPr>
              <a:t>About 1 million ratings</a:t>
            </a:r>
            <a:r>
              <a:rPr lang="en-US" sz="1900" b="true">
                <a:solidFill>
                  <a:srgbClr val="111111"/>
                </a:solidFill>
                <a:latin typeface="Nunito Semi-Bold"/>
                <a:ea typeface="Nunito Semi-Bold"/>
                <a:cs typeface="Nunito Semi-Bold"/>
                <a:sym typeface="Nunito Semi-Bold"/>
              </a:rPr>
              <a:t> from </a:t>
            </a:r>
            <a:r>
              <a:rPr lang="en-US" sz="1900" b="true">
                <a:solidFill>
                  <a:srgbClr val="111111"/>
                </a:solidFill>
                <a:latin typeface="Nunito Bold"/>
                <a:ea typeface="Nunito Bold"/>
                <a:cs typeface="Nunito Bold"/>
                <a:sym typeface="Nunito Bold"/>
              </a:rPr>
              <a:t>6,040 users</a:t>
            </a:r>
            <a:r>
              <a:rPr lang="en-US" sz="1900" b="true">
                <a:solidFill>
                  <a:srgbClr val="111111"/>
                </a:solidFill>
                <a:latin typeface="Nunito Semi-Bold"/>
                <a:ea typeface="Nunito Semi-Bold"/>
                <a:cs typeface="Nunito Semi-Bold"/>
                <a:sym typeface="Nunito Semi-Bold"/>
              </a:rPr>
              <a:t> on </a:t>
            </a:r>
            <a:r>
              <a:rPr lang="en-US" sz="1900" b="true">
                <a:solidFill>
                  <a:srgbClr val="111111"/>
                </a:solidFill>
                <a:latin typeface="Nunito Bold"/>
                <a:ea typeface="Nunito Bold"/>
                <a:cs typeface="Nunito Bold"/>
                <a:sym typeface="Nunito Bold"/>
              </a:rPr>
              <a:t>3,706 movies</a:t>
            </a:r>
            <a:r>
              <a:rPr lang="en-US" sz="1900" b="true">
                <a:solidFill>
                  <a:srgbClr val="111111"/>
                </a:solidFill>
                <a:latin typeface="Nunito Semi-Bold"/>
                <a:ea typeface="Nunito Semi-Bold"/>
                <a:cs typeface="Nunito Semi-Bold"/>
                <a:sym typeface="Nunito Semi-Bold"/>
              </a:rPr>
              <a:t> (GroupLens, 2000).</a:t>
            </a:r>
          </a:p>
          <a:p>
            <a:pPr algn="l" marL="274320" indent="-274320">
              <a:lnSpc>
                <a:spcPts val="2660"/>
              </a:lnSpc>
              <a:spcBef>
                <a:spcPts val="8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The standard benchmark for collaborative filtering for two decades: LightGCN, HCCF, HPCF and most graph recommenders report on it.</a:t>
            </a:r>
          </a:p>
          <a:p>
            <a:pPr algn="l" marL="274320" indent="-274320">
              <a:lnSpc>
                <a:spcPts val="2660"/>
              </a:lnSpc>
              <a:spcBef>
                <a:spcPts val="8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Comparatively </a:t>
            </a:r>
            <a:r>
              <a:rPr lang="en-US" sz="1900" b="true">
                <a:solidFill>
                  <a:srgbClr val="111111"/>
                </a:solidFill>
                <a:latin typeface="Nunito Bold"/>
                <a:ea typeface="Nunito Bold"/>
                <a:cs typeface="Nunito Bold"/>
                <a:sym typeface="Nunito Bold"/>
              </a:rPr>
              <a:t>dense</a:t>
            </a:r>
            <a:r>
              <a:rPr lang="en-US" sz="1900" b="true">
                <a:solidFill>
                  <a:srgbClr val="111111"/>
                </a:solidFill>
                <a:latin typeface="Nunito Semi-Bold"/>
                <a:ea typeface="Nunito Semi-Bold"/>
                <a:cs typeface="Nunito Semi-Bold"/>
                <a:sym typeface="Nunito Semi-Bold"/>
              </a:rPr>
              <a:t> (0.0447); ratings &gt; 3 become positive implicit feedback. Genre is the context proxy.</a:t>
            </a:r>
          </a:p>
        </p:txBody>
      </p:sp>
      <p:graphicFrame>
        <p:nvGraphicFramePr>
          <p:cNvPr id="28" name="Table 27"/>
          <p:cNvGraphicFramePr>
            <a:graphicFrameLocks noGrp="1"/>
          </p:cNvGraphicFramePr>
          <p:nvPr/>
        </p:nvGraphicFramePr>
        <p:xfrm>
          <a:off x="8435340" y="3363722"/>
          <a:ext cx="8823959" cy="3228848"/>
        </p:xfrm>
        <a:graphic>
          <a:graphicData uri="http://schemas.openxmlformats.org/drawingml/2006/table">
            <a:tbl>
              <a:tblPr firstRow="0" bandRow="0" firstCol="0" lastRow="0" lastCol="0" bandCol="0">
                <a:tableStyleId>{2D5ABB26-0587-4C30-8999-92F81FD0307C}</a:tableStyleId>
              </a:tblPr>
              <a:tblGrid>
                <a:gridCol w="4622074"/>
                <a:gridCol w="4201885"/>
              </a:tblGrid>
              <a:tr h="461264">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Specification</a:t>
                      </a:r>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MovieLens-1M</a:t>
                      </a:r>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Users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6,040</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Items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3,706 movies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Interactions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1,000,209</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Density</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 0.0447</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Rating scale</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1 to 5 stars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Min. interactions / user</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20</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29" name="TextBox 28"/>
          <p:cNvSpPr txBox="1"/>
          <p:nvPr/>
        </p:nvSpPr>
        <p:spPr>
          <a:xfrm>
            <a:off x="1028700" y="6912610"/>
            <a:ext cx="1623060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DF8330"/>
                </a:solidFill>
                <a:latin typeface="Nunito Ultra-Bold"/>
                <a:ea typeface="Nunito Ultra-Bold"/>
                <a:cs typeface="Nunito Ultra-Bold"/>
                <a:sym typeface="Nunito Ultra-Bold"/>
              </a:rPr>
              <a:t>SAMPLE RECORDS  ·  first rows of ratings.dat joined with movies.dat</a:t>
            </a:r>
          </a:p>
        </p:txBody>
      </p:sp>
      <p:graphicFrame>
        <p:nvGraphicFramePr>
          <p:cNvPr id="30" name="Table 29"/>
          <p:cNvGraphicFramePr>
            <a:graphicFrameLocks noGrp="1"/>
          </p:cNvGraphicFramePr>
          <p:nvPr/>
        </p:nvGraphicFramePr>
        <p:xfrm>
          <a:off x="1028700" y="7260082"/>
          <a:ext cx="16230597" cy="2132330"/>
        </p:xfrm>
        <a:graphic>
          <a:graphicData uri="http://schemas.openxmlformats.org/drawingml/2006/table">
            <a:tbl>
              <a:tblPr firstRow="0" bandRow="0" firstCol="0" lastRow="0" lastCol="0" bandCol="0">
                <a:tableStyleId>{2D5ABB26-0587-4C30-8999-92F81FD0307C}</a:tableStyleId>
              </a:tblPr>
              <a:tblGrid>
                <a:gridCol w="1363915"/>
                <a:gridCol w="1363915"/>
                <a:gridCol w="5728447"/>
                <a:gridCol w="4637314"/>
                <a:gridCol w="1227524"/>
                <a:gridCol w="1909482"/>
              </a:tblGrid>
              <a:tr h="426466">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UserID</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MovieID</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Title</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Genres</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Rating</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Timestamp</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1193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One Flew Over the Cuckoo's Nest (1975)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Drama</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978300760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661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James and the Giant Peach (1996)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Animation · Children's · Musical</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978302109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914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My Fair Lady (1964)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Musical · Romance</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978301968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3408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Erin Brockovich (2000)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Drama</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978300275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[20] Harper, F. M. &amp; Konstan, J. A. The MovieLens Datasets: History and Context. ACM TiiS 5(4), 19 (2015).  ·  McAuley, J. et al. Amazon Review Data (Amazon-Book). UCSD (2018).</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21</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EXPERIMENTAL PROTOCOL</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Amazon-Book</a:t>
            </a:r>
          </a:p>
        </p:txBody>
      </p:sp>
      <p:pic>
        <p:nvPicPr>
          <p:cNvPr id="23" name="Picture 22" descr="image.png"/>
          <p:cNvPicPr>
            <a:picLocks noChangeAspect="1"/>
          </p:cNvPicPr>
          <p:nvPr/>
        </p:nvPicPr>
        <p:blipFill>
          <a:blip r:embed="rId3"/>
          <a:stretch>
            <a:fillRect/>
          </a:stretch>
        </p:blipFill>
        <p:spPr>
          <a:xfrm>
            <a:off x="5002206" y="1673352"/>
            <a:ext cx="457200" cy="617115"/>
          </a:xfrm>
          <a:prstGeom prst="rect">
            <a:avLst/>
          </a:prstGeom>
        </p:spPr>
      </p:pic>
      <p:sp>
        <p:nvSpPr>
          <p:cNvPr id="24" name="Rounded Rectangle 23"/>
          <p:cNvSpPr/>
          <p:nvPr/>
        </p:nvSpPr>
        <p:spPr>
          <a:xfrm>
            <a:off x="1028700" y="2559050"/>
            <a:ext cx="1523907"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Datasets</a:t>
            </a:r>
          </a:p>
        </p:txBody>
      </p:sp>
      <p:sp>
        <p:nvSpPr>
          <p:cNvPr id="25" name="Rounded Rectangle 24"/>
          <p:cNvSpPr/>
          <p:nvPr/>
        </p:nvSpPr>
        <p:spPr>
          <a:xfrm>
            <a:off x="2680623" y="2559050"/>
            <a:ext cx="134943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Metrics</a:t>
            </a:r>
          </a:p>
        </p:txBody>
      </p:sp>
      <p:sp>
        <p:nvSpPr>
          <p:cNvPr id="26" name="Rounded Rectangle 25"/>
          <p:cNvSpPr/>
          <p:nvPr/>
        </p:nvSpPr>
        <p:spPr>
          <a:xfrm>
            <a:off x="4158071" y="2559050"/>
            <a:ext cx="164257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Hardware</a:t>
            </a:r>
          </a:p>
        </p:txBody>
      </p:sp>
      <p:sp>
        <p:nvSpPr>
          <p:cNvPr id="27" name="TextBox 26"/>
          <p:cNvSpPr txBox="1"/>
          <p:nvPr/>
        </p:nvSpPr>
        <p:spPr>
          <a:xfrm>
            <a:off x="1028700" y="3363722"/>
            <a:ext cx="6949440" cy="2743200"/>
          </a:xfrm>
          <a:prstGeom prst="rect">
            <a:avLst/>
          </a:prstGeom>
          <a:noFill/>
        </p:spPr>
        <p:txBody>
          <a:bodyPr anchor="t" rtlCol="false" lIns="0" tIns="0" rIns="0" bIns="0" wrap="square"/>
          <a:lstStyle/>
          <a:p>
            <a:pPr algn="l" marL="274320" indent="-274320">
              <a:lnSpc>
                <a:spcPts val="2660"/>
              </a:lnSpc>
              <a:spcBef>
                <a:spcPts val="0"/>
              </a:spcBef>
              <a:buClr>
                <a:srgbClr val="DF8330"/>
              </a:buClr>
              <a:buSzPct val="100000"/>
              <a:buFont typeface="Arial"/>
              <a:buChar char="•"/>
            </a:pPr>
            <a:r>
              <a:rPr lang="en-US" sz="1900" b="true">
                <a:solidFill>
                  <a:srgbClr val="111111"/>
                </a:solidFill>
                <a:latin typeface="Nunito Bold"/>
                <a:ea typeface="Nunito Bold"/>
                <a:cs typeface="Nunito Bold"/>
                <a:sym typeface="Nunito Bold"/>
              </a:rPr>
              <a:t>52,643 users</a:t>
            </a:r>
            <a:r>
              <a:rPr lang="en-US" sz="1900" b="true">
                <a:solidFill>
                  <a:srgbClr val="111111"/>
                </a:solidFill>
                <a:latin typeface="Nunito Semi-Bold"/>
                <a:ea typeface="Nunito Semi-Bold"/>
                <a:cs typeface="Nunito Semi-Bold"/>
                <a:sym typeface="Nunito Semi-Bold"/>
              </a:rPr>
              <a:t>, </a:t>
            </a:r>
            <a:r>
              <a:rPr lang="en-US" sz="1900" b="true">
                <a:solidFill>
                  <a:srgbClr val="111111"/>
                </a:solidFill>
                <a:latin typeface="Nunito Bold"/>
                <a:ea typeface="Nunito Bold"/>
                <a:cs typeface="Nunito Bold"/>
                <a:sym typeface="Nunito Bold"/>
              </a:rPr>
              <a:t>91,599 books</a:t>
            </a:r>
            <a:r>
              <a:rPr lang="en-US" sz="1900" b="true">
                <a:solidFill>
                  <a:srgbClr val="111111"/>
                </a:solidFill>
                <a:latin typeface="Nunito Semi-Bold"/>
                <a:ea typeface="Nunito Semi-Bold"/>
                <a:cs typeface="Nunito Semi-Bold"/>
                <a:sym typeface="Nunito Semi-Bold"/>
              </a:rPr>
              <a:t> and </a:t>
            </a:r>
            <a:r>
              <a:rPr lang="en-US" sz="1900" b="true">
                <a:solidFill>
                  <a:srgbClr val="111111"/>
                </a:solidFill>
                <a:latin typeface="Nunito Bold"/>
                <a:ea typeface="Nunito Bold"/>
                <a:cs typeface="Nunito Bold"/>
                <a:sym typeface="Nunito Bold"/>
              </a:rPr>
              <a:t>2,984,108 interactions</a:t>
            </a:r>
            <a:r>
              <a:rPr lang="en-US" sz="1900" b="true">
                <a:solidFill>
                  <a:srgbClr val="111111"/>
                </a:solidFill>
                <a:latin typeface="Nunito Semi-Bold"/>
                <a:ea typeface="Nunito Semi-Bold"/>
                <a:cs typeface="Nunito Semi-Bold"/>
                <a:sym typeface="Nunito Semi-Bold"/>
              </a:rPr>
              <a:t> from Amazon review data (McAuley Lab, UCSD).</a:t>
            </a:r>
          </a:p>
          <a:p>
            <a:pPr algn="l" marL="274320" indent="-274320">
              <a:lnSpc>
                <a:spcPts val="2660"/>
              </a:lnSpc>
              <a:spcBef>
                <a:spcPts val="8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Extremely </a:t>
            </a:r>
            <a:r>
              <a:rPr lang="en-US" sz="1900" b="true">
                <a:solidFill>
                  <a:srgbClr val="111111"/>
                </a:solidFill>
                <a:latin typeface="Nunito Bold"/>
                <a:ea typeface="Nunito Bold"/>
                <a:cs typeface="Nunito Bold"/>
                <a:sym typeface="Nunito Bold"/>
              </a:rPr>
              <a:t>sparse</a:t>
            </a:r>
            <a:r>
              <a:rPr lang="en-US" sz="1900" b="true">
                <a:solidFill>
                  <a:srgbClr val="111111"/>
                </a:solidFill>
                <a:latin typeface="Nunito Semi-Bold"/>
                <a:ea typeface="Nunito Semi-Bold"/>
                <a:cs typeface="Nunito Semi-Bold"/>
                <a:sym typeface="Nunito Semi-Bold"/>
              </a:rPr>
              <a:t> (density ≈ 0.0006): the user-item matrix is almost empty.</a:t>
            </a:r>
          </a:p>
          <a:p>
            <a:pPr algn="l" marL="274320" indent="-274320">
              <a:lnSpc>
                <a:spcPts val="2660"/>
              </a:lnSpc>
              <a:spcBef>
                <a:spcPts val="8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Included to test whether Shapley-guided weighting </a:t>
            </a:r>
            <a:r>
              <a:rPr lang="en-US" sz="1900" b="true">
                <a:solidFill>
                  <a:srgbClr val="111111"/>
                </a:solidFill>
                <a:latin typeface="Nunito Bold"/>
                <a:ea typeface="Nunito Bold"/>
                <a:cs typeface="Nunito Bold"/>
                <a:sym typeface="Nunito Bold"/>
              </a:rPr>
              <a:t>helps most when the signal is weakest</a:t>
            </a:r>
            <a:r>
              <a:rPr lang="en-US" sz="1900" b="true">
                <a:solidFill>
                  <a:srgbClr val="111111"/>
                </a:solidFill>
                <a:latin typeface="Nunito Semi-Bold"/>
                <a:ea typeface="Nunito Semi-Bold"/>
                <a:cs typeface="Nunito Semi-Bold"/>
                <a:sym typeface="Nunito Semi-Bold"/>
              </a:rPr>
              <a:t>; the large-scale benchmark of Contribution III.</a:t>
            </a:r>
          </a:p>
        </p:txBody>
      </p:sp>
      <p:graphicFrame>
        <p:nvGraphicFramePr>
          <p:cNvPr id="28" name="Table 27"/>
          <p:cNvGraphicFramePr>
            <a:graphicFrameLocks noGrp="1"/>
          </p:cNvGraphicFramePr>
          <p:nvPr/>
        </p:nvGraphicFramePr>
        <p:xfrm>
          <a:off x="8435340" y="3363722"/>
          <a:ext cx="8823959" cy="3228848"/>
        </p:xfrm>
        <a:graphic>
          <a:graphicData uri="http://schemas.openxmlformats.org/drawingml/2006/table">
            <a:tbl>
              <a:tblPr firstRow="0" bandRow="0" firstCol="0" lastRow="0" lastCol="0" bandCol="0">
                <a:tableStyleId>{2D5ABB26-0587-4C30-8999-92F81FD0307C}</a:tableStyleId>
              </a:tblPr>
              <a:tblGrid>
                <a:gridCol w="4622074"/>
                <a:gridCol w="4201885"/>
              </a:tblGrid>
              <a:tr h="461264">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Specification</a:t>
                      </a:r>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Amazon-Book</a:t>
                      </a:r>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Users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52,643</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Items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91,599 books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Interactions</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2,984,108</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Density</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 0.0006</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Feedback</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implicit (review = interaction)</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61264">
                <a:tc>
                  <a:txBody>
                    <a:bodyPr anchor="ctr" rtlCol="false" lIns="0" tIns="0" rIns="0" bIns="0" wrap="square"/>
                    <a:lstStyle/>
                    <a:p>
                      <a:pPr algn="l">
                        <a:lnSpc>
                          <a:spcPts val="2080"/>
                        </a:lnSpc>
                        <a:spcBef>
                          <a:spcPts val="0"/>
                        </a:spcBef>
                        <a:buNone/>
                      </a:pPr>
                      <a:r>
                        <a:rPr lang="en-US" sz="1600" b="true">
                          <a:solidFill>
                            <a:srgbClr val="111111"/>
                          </a:solidFill>
                          <a:latin typeface="Nunito Bold"/>
                          <a:ea typeface="Nunito Bold"/>
                          <a:cs typeface="Nunito Bold"/>
                          <a:sym typeface="Nunito Bold"/>
                        </a:rPr>
                        <a:t>Context proxy</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book category</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29" name="TextBox 28"/>
          <p:cNvSpPr txBox="1"/>
          <p:nvPr/>
        </p:nvSpPr>
        <p:spPr>
          <a:xfrm>
            <a:off x="1028700" y="6912610"/>
            <a:ext cx="1623060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DF8330"/>
                </a:solidFill>
                <a:latin typeface="Nunito Ultra-Bold"/>
                <a:ea typeface="Nunito Ultra-Bold"/>
                <a:cs typeface="Nunito Ultra-Bold"/>
                <a:sym typeface="Nunito Ultra-Bold"/>
              </a:rPr>
              <a:t>SAMPLE RECORDS  ·  illustrative rows in the format of the public file</a:t>
            </a:r>
          </a:p>
        </p:txBody>
      </p:sp>
      <p:graphicFrame>
        <p:nvGraphicFramePr>
          <p:cNvPr id="30" name="Table 29"/>
          <p:cNvGraphicFramePr>
            <a:graphicFrameLocks noGrp="1"/>
          </p:cNvGraphicFramePr>
          <p:nvPr/>
        </p:nvGraphicFramePr>
        <p:xfrm>
          <a:off x="1028700" y="7260082"/>
          <a:ext cx="16230598" cy="1705864"/>
        </p:xfrm>
        <a:graphic>
          <a:graphicData uri="http://schemas.openxmlformats.org/drawingml/2006/table">
            <a:tbl>
              <a:tblPr firstRow="0" bandRow="0" firstCol="0" lastRow="0" lastCol="0" bandCol="0">
                <a:tableStyleId>{2D5ABB26-0587-4C30-8999-92F81FD0307C}</a:tableStyleId>
              </a:tblPr>
              <a:tblGrid>
                <a:gridCol w="2264734"/>
                <a:gridCol w="3019646"/>
                <a:gridCol w="3774558"/>
                <a:gridCol w="1509823"/>
                <a:gridCol w="5661837"/>
              </a:tblGrid>
              <a:tr h="426466">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user_id</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item_id (ASIN)</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category</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rating</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950"/>
                        </a:lnSpc>
                        <a:spcBef>
                          <a:spcPts val="0"/>
                        </a:spcBef>
                        <a:buNone/>
                      </a:pPr>
                      <a:r>
                        <a:rPr lang="en-US" sz="1500" b="true">
                          <a:solidFill>
                            <a:srgbClr val="FFFFFF"/>
                          </a:solidFill>
                          <a:latin typeface="Nunito Bold"/>
                          <a:ea typeface="Nunito Bold"/>
                          <a:cs typeface="Nunito Bold"/>
                          <a:sym typeface="Nunito Bold"/>
                        </a:rPr>
                        <a:t>review summary</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A1B2C3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B000123XYZ</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Literature &amp; Fiction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Could not put it down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A4D5E6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B000456ABC</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Science &amp; Math</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Clear and well written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26466">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A7F8G9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B000789DEF</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History</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950"/>
                        </a:lnSpc>
                        <a:spcBef>
                          <a:spcPts val="0"/>
                        </a:spcBef>
                        <a:buNone/>
                      </a:pPr>
                      <a:r>
                        <a:rPr lang="en-US" sz="1500" b="true">
                          <a:solidFill>
                            <a:srgbClr val="111111"/>
                          </a:solidFill>
                          <a:latin typeface="Nunito Semi-Bold"/>
                          <a:ea typeface="Nunito Semi-Bold"/>
                          <a:cs typeface="Nunito Semi-Bold"/>
                          <a:sym typeface="Nunito Semi-Bold"/>
                        </a:rPr>
                        <a:t>Good but slow in the middle</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[12] He, X. et al. LightGCN: Simplifying and Powering Graph Convolution Network for Recommendation. SIGIR, 639–648 (2020).   [14] Xiangyi, Y. et al. Hypergraph Projection Enhanced Collaborative Filtering (HPCF). Int. J. Data Science and Analytics 19(2), 269–281 (2025).</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22</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EXPERIMENTAL PROTOCOL</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Data Splitting &amp; Preprocessing</a:t>
            </a:r>
          </a:p>
        </p:txBody>
      </p:sp>
      <p:pic>
        <p:nvPicPr>
          <p:cNvPr id="23" name="Picture 22" descr="image.png"/>
          <p:cNvPicPr>
            <a:picLocks noChangeAspect="1"/>
          </p:cNvPicPr>
          <p:nvPr/>
        </p:nvPicPr>
        <p:blipFill>
          <a:blip r:embed="rId3"/>
          <a:stretch>
            <a:fillRect/>
          </a:stretch>
        </p:blipFill>
        <p:spPr>
          <a:xfrm>
            <a:off x="9239964" y="1673352"/>
            <a:ext cx="457200" cy="250983"/>
          </a:xfrm>
          <a:prstGeom prst="rect">
            <a:avLst/>
          </a:prstGeom>
        </p:spPr>
      </p:pic>
      <p:sp>
        <p:nvSpPr>
          <p:cNvPr id="24" name="Rounded Rectangle 23"/>
          <p:cNvSpPr/>
          <p:nvPr/>
        </p:nvSpPr>
        <p:spPr>
          <a:xfrm>
            <a:off x="1028700" y="2559050"/>
            <a:ext cx="1523907"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Datasets</a:t>
            </a:r>
          </a:p>
        </p:txBody>
      </p:sp>
      <p:sp>
        <p:nvSpPr>
          <p:cNvPr id="25" name="Rounded Rectangle 24"/>
          <p:cNvSpPr/>
          <p:nvPr/>
        </p:nvSpPr>
        <p:spPr>
          <a:xfrm>
            <a:off x="2680623" y="2559050"/>
            <a:ext cx="134943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Metrics</a:t>
            </a:r>
          </a:p>
        </p:txBody>
      </p:sp>
      <p:sp>
        <p:nvSpPr>
          <p:cNvPr id="26" name="Rounded Rectangle 25"/>
          <p:cNvSpPr/>
          <p:nvPr/>
        </p:nvSpPr>
        <p:spPr>
          <a:xfrm>
            <a:off x="4158071" y="2559050"/>
            <a:ext cx="164257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Hardware</a:t>
            </a:r>
          </a:p>
        </p:txBody>
      </p:sp>
      <p:sp>
        <p:nvSpPr>
          <p:cNvPr id="27" name="Rounded Rectangle 26"/>
          <p:cNvSpPr/>
          <p:nvPr/>
        </p:nvSpPr>
        <p:spPr>
          <a:xfrm>
            <a:off x="1028700" y="3592322"/>
            <a:ext cx="7932420" cy="5716270"/>
          </a:xfrm>
          <a:prstGeom prst="roundRect">
            <a:avLst>
              <a:gd name="adj" fmla="val 5438"/>
            </a:avLst>
          </a:prstGeom>
          <a:solidFill>
            <a:srgbClr val="124944"/>
          </a:solidFill>
          <a:ln>
            <a:noFill/>
          </a:ln>
        </p:spPr>
        <p:txBody>
          <a:bodyPr anchor="ctr" rtlCol="false" lIns="0" tIns="0" rIns="0" bIns="0" wrap="square"/>
          <a:lstStyle/>
          <a:p>
            <a:endParaRPr lang="en-US" sz="1800"/>
          </a:p>
        </p:txBody>
      </p:sp>
      <p:sp>
        <p:nvSpPr>
          <p:cNvPr id="28" name="Rounded Rectangle 27"/>
          <p:cNvSpPr/>
          <p:nvPr/>
        </p:nvSpPr>
        <p:spPr>
          <a:xfrm>
            <a:off x="1485900" y="3354578"/>
            <a:ext cx="3217901"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Clustering (C1, C2)</a:t>
            </a:r>
          </a:p>
        </p:txBody>
      </p:sp>
      <p:sp>
        <p:nvSpPr>
          <p:cNvPr id="29" name="TextBox 28"/>
          <p:cNvSpPr txBox="1"/>
          <p:nvPr/>
        </p:nvSpPr>
        <p:spPr>
          <a:xfrm>
            <a:off x="1531620" y="4232402"/>
            <a:ext cx="6972300" cy="4801870"/>
          </a:xfrm>
          <a:prstGeom prst="rect">
            <a:avLst/>
          </a:prstGeom>
          <a:noFill/>
        </p:spPr>
        <p:txBody>
          <a:bodyPr anchor="t" rtlCol="false" lIns="0" tIns="0" rIns="0" bIns="0" wrap="square"/>
          <a:lstStyle/>
          <a:p>
            <a:pPr algn="l" marL="274320" indent="-274320">
              <a:lnSpc>
                <a:spcPts val="2800"/>
              </a:lnSpc>
              <a:spcBef>
                <a:spcPts val="0"/>
              </a:spcBef>
              <a:buClr>
                <a:srgbClr val="ECC665"/>
              </a:buClr>
              <a:buSzPct val="100000"/>
              <a:buFont typeface="Arial"/>
              <a:buChar char="•"/>
            </a:pPr>
            <a:r>
              <a:rPr lang="en-US" sz="2000" b="true">
                <a:solidFill>
                  <a:srgbClr val="FFFFFF"/>
                </a:solidFill>
                <a:latin typeface="Nunito Bold"/>
                <a:ea typeface="Nunito Bold"/>
                <a:cs typeface="Nunito Bold"/>
                <a:sym typeface="Nunito Bold"/>
              </a:rPr>
              <a:t>Five-fold cross-validation</a:t>
            </a:r>
            <a:r>
              <a:rPr lang="en-US" sz="2000" b="true">
                <a:solidFill>
                  <a:srgbClr val="FFFFFF"/>
                </a:solidFill>
                <a:latin typeface="Nunito Semi-Bold"/>
                <a:ea typeface="Nunito Semi-Bold"/>
                <a:cs typeface="Nunito Semi-Bold"/>
                <a:sym typeface="Nunito Semi-Bold"/>
              </a:rPr>
              <a:t> for surrogate / attribution stability.</a:t>
            </a:r>
          </a:p>
          <a:p>
            <a:pPr algn="l" marL="274320" indent="-274320">
              <a:lnSpc>
                <a:spcPts val="280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Feature standardisation; PCA used only as a geometric and visual check.</a:t>
            </a:r>
          </a:p>
          <a:p>
            <a:pPr algn="l" marL="274320" indent="-274320">
              <a:lnSpc>
                <a:spcPts val="280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Multi-criteria k selection: elbow, Silhouette, Davies–Bouldin.</a:t>
            </a:r>
          </a:p>
          <a:p>
            <a:pPr algn="l" marL="274320" indent="-274320">
              <a:lnSpc>
                <a:spcPts val="280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Surrogate fidelity floor: </a:t>
            </a:r>
            <a:r>
              <a:rPr lang="en-US" sz="2000" b="true">
                <a:solidFill>
                  <a:srgbClr val="FFFFFF"/>
                </a:solidFill>
                <a:latin typeface="Nunito Bold"/>
                <a:ea typeface="Nunito Bold"/>
                <a:cs typeface="Nunito Bold"/>
                <a:sym typeface="Nunito Bold"/>
              </a:rPr>
              <a:t>macro-F1 ≈ 0.82</a:t>
            </a:r>
            <a:r>
              <a:rPr lang="en-US" sz="2000" b="true">
                <a:solidFill>
                  <a:srgbClr val="FFFFFF"/>
                </a:solidFill>
                <a:latin typeface="Nunito Semi-Bold"/>
                <a:ea typeface="Nunito Semi-Bold"/>
                <a:cs typeface="Nunito Semi-Bold"/>
                <a:sym typeface="Nunito Semi-Bold"/>
              </a:rPr>
              <a:t>.</a:t>
            </a:r>
          </a:p>
        </p:txBody>
      </p:sp>
      <p:sp>
        <p:nvSpPr>
          <p:cNvPr id="30" name="Rounded Rectangle 29"/>
          <p:cNvSpPr/>
          <p:nvPr/>
        </p:nvSpPr>
        <p:spPr>
          <a:xfrm>
            <a:off x="9326880" y="3592322"/>
            <a:ext cx="7932420" cy="5716270"/>
          </a:xfrm>
          <a:prstGeom prst="roundRect">
            <a:avLst>
              <a:gd name="adj" fmla="val 5438"/>
            </a:avLst>
          </a:prstGeom>
          <a:solidFill>
            <a:srgbClr val="F6ECDF"/>
          </a:solidFill>
          <a:ln>
            <a:noFill/>
          </a:ln>
        </p:spPr>
        <p:txBody>
          <a:bodyPr anchor="ctr" rtlCol="false" lIns="0" tIns="0" rIns="0" bIns="0" wrap="square"/>
          <a:lstStyle/>
          <a:p>
            <a:endParaRPr lang="en-US" sz="1800"/>
          </a:p>
        </p:txBody>
      </p:sp>
      <p:sp>
        <p:nvSpPr>
          <p:cNvPr id="31" name="Rounded Rectangle 30"/>
          <p:cNvSpPr/>
          <p:nvPr/>
        </p:nvSpPr>
        <p:spPr>
          <a:xfrm>
            <a:off x="9784080" y="3354578"/>
            <a:ext cx="3642955"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Recommendation (C3)</a:t>
            </a:r>
          </a:p>
        </p:txBody>
      </p:sp>
      <p:sp>
        <p:nvSpPr>
          <p:cNvPr id="32" name="TextBox 31"/>
          <p:cNvSpPr txBox="1"/>
          <p:nvPr/>
        </p:nvSpPr>
        <p:spPr>
          <a:xfrm>
            <a:off x="9829800" y="4232402"/>
            <a:ext cx="6972300" cy="4801870"/>
          </a:xfrm>
          <a:prstGeom prst="rect">
            <a:avLst/>
          </a:prstGeom>
          <a:noFill/>
        </p:spPr>
        <p:txBody>
          <a:bodyPr anchor="t" rtlCol="false" lIns="0" tIns="0" rIns="0" bIns="0" wrap="square"/>
          <a:lstStyle/>
          <a:p>
            <a:pPr algn="l" marL="274320" indent="-274320">
              <a:lnSpc>
                <a:spcPts val="2800"/>
              </a:lnSpc>
              <a:spcBef>
                <a:spcPts val="0"/>
              </a:spcBef>
              <a:buClr>
                <a:srgbClr val="DF8330"/>
              </a:buClr>
              <a:buSzPct val="100000"/>
              <a:buFont typeface="Arial"/>
              <a:buChar char="•"/>
            </a:pPr>
            <a:r>
              <a:rPr lang="en-US" sz="2000" b="true">
                <a:solidFill>
                  <a:srgbClr val="111111"/>
                </a:solidFill>
                <a:latin typeface="Nunito Bold"/>
                <a:ea typeface="Nunito Bold"/>
                <a:cs typeface="Nunito Bold"/>
                <a:sym typeface="Nunito Bold"/>
              </a:rPr>
              <a:t>User-level, time-ordered split:</a:t>
            </a:r>
            <a:r>
              <a:rPr lang="en-US" sz="2000" b="true">
                <a:solidFill>
                  <a:srgbClr val="111111"/>
                </a:solidFill>
                <a:latin typeface="Nunito Semi-Bold"/>
                <a:ea typeface="Nunito Semi-Bold"/>
                <a:cs typeface="Nunito Semi-Bold"/>
                <a:sym typeface="Nunito Semi-Bold"/>
              </a:rPr>
              <a:t> 70 % train / 10 % validation / 20 % test.</a:t>
            </a:r>
          </a:p>
          <a:p>
            <a:pPr algn="l" marL="274320" indent="-274320">
              <a:lnSpc>
                <a:spcPts val="2800"/>
              </a:lnSpc>
              <a:spcBef>
                <a:spcPts val="1000"/>
              </a:spcBef>
              <a:buClr>
                <a:srgbClr val="DF8330"/>
              </a:buClr>
              <a:buSzPct val="100000"/>
              <a:buFont typeface="Arial"/>
              <a:buChar char="•"/>
            </a:pPr>
            <a:r>
              <a:rPr lang="en-US" sz="2000" b="true">
                <a:solidFill>
                  <a:srgbClr val="111111"/>
                </a:solidFill>
                <a:latin typeface="Nunito Bold"/>
                <a:ea typeface="Nunito Bold"/>
                <a:cs typeface="Nunito Bold"/>
                <a:sym typeface="Nunito Bold"/>
              </a:rPr>
              <a:t>Leave-one-out:</a:t>
            </a:r>
            <a:r>
              <a:rPr lang="en-US" sz="2000" b="true">
                <a:solidFill>
                  <a:srgbClr val="111111"/>
                </a:solidFill>
                <a:latin typeface="Nunito Semi-Bold"/>
                <a:ea typeface="Nunito Semi-Bold"/>
                <a:cs typeface="Nunito Semi-Bold"/>
                <a:sym typeface="Nunito Semi-Bold"/>
              </a:rPr>
              <a:t> the latest test positive per user is the target, ranked against negatives.</a:t>
            </a:r>
          </a:p>
          <a:p>
            <a:pPr algn="l" marL="274320" indent="-274320">
              <a:lnSpc>
                <a:spcPts val="2800"/>
              </a:lnSpc>
              <a:spcBef>
                <a:spcPts val="1000"/>
              </a:spcBef>
              <a:buClr>
                <a:srgbClr val="DF8330"/>
              </a:buClr>
              <a:buSzPct val="100000"/>
              <a:buFont typeface="Arial"/>
              <a:buChar char="•"/>
            </a:pPr>
            <a:r>
              <a:rPr lang="en-US" sz="2000" b="true">
                <a:solidFill>
                  <a:srgbClr val="111111"/>
                </a:solidFill>
                <a:latin typeface="Nunito Semi-Bold"/>
                <a:ea typeface="Nunito Semi-Bold"/>
                <a:cs typeface="Nunito Semi-Bold"/>
                <a:sym typeface="Nunito Semi-Bold"/>
              </a:rPr>
              <a:t>Implicit conversion: MovieLens-1M ratings &gt; 3 treated as positive.</a:t>
            </a:r>
          </a:p>
          <a:p>
            <a:pPr algn="l" marL="274320" indent="-274320">
              <a:lnSpc>
                <a:spcPts val="2960"/>
              </a:lnSpc>
              <a:spcBef>
                <a:spcPts val="1000"/>
              </a:spcBef>
              <a:buClr>
                <a:srgbClr val="DF8330"/>
              </a:buClr>
              <a:buSzPct val="100000"/>
              <a:buFont typeface="Arial"/>
              <a:buChar char="•"/>
            </a:pPr>
            <a:r>
              <a:rPr lang="en-US" sz="2000" b="true">
                <a:solidFill>
                  <a:srgbClr val="111111"/>
                </a:solidFill>
                <a:latin typeface="Nunito Semi-Bold"/>
                <a:ea typeface="Nunito Semi-Bold"/>
                <a:cs typeface="Nunito Semi-Bold"/>
                <a:sym typeface="Nunito Semi-Bold"/>
              </a:rPr>
              <a:t>Popularity-aware negative sampling </a:t>
            </a:r>
            <a:r>
              <a:rPr lang="en-US" sz="2000" b="true">
                <a:solidFill>
                  <a:srgbClr val="111111"/>
                </a:solidFill>
                <a:latin typeface="Nunito Bold"/>
                <a:ea typeface="Nunito Bold"/>
                <a:cs typeface="Nunito Bold"/>
                <a:sym typeface="Nunito Bold"/>
              </a:rPr>
              <a:t>q(i) </a:t>
            </a:r>
            <a:r>
              <a:rPr lang="en-US" sz="2000" b="true">
                <a:solidFill>
                  <a:srgbClr val="111111"/>
                </a:solidFill>
                <a:latin typeface="Cambria Math"/>
                <a:ea typeface="Cambria Math"/>
                <a:cs typeface="Cambria Math"/>
                <a:sym typeface="Cambria Math"/>
              </a:rPr>
              <a:t>∝ </a:t>
            </a:r>
            <a:r>
              <a:rPr lang="en-US" sz="2000" b="true">
                <a:solidFill>
                  <a:srgbClr val="111111"/>
                </a:solidFill>
                <a:latin typeface="Nunito Bold"/>
                <a:ea typeface="Nunito Bold"/>
                <a:cs typeface="Nunito Bold"/>
                <a:sym typeface="Nunito Bold"/>
              </a:rPr>
              <a:t>f</a:t>
            </a:r>
            <a:r>
              <a:rPr lang="en-US" sz="2000" b="true" baseline="-25000">
                <a:solidFill>
                  <a:srgbClr val="111111"/>
                </a:solidFill>
                <a:latin typeface="Nunito Bold"/>
                <a:ea typeface="Nunito Bold"/>
                <a:cs typeface="Nunito Bold"/>
                <a:sym typeface="Nunito Bold"/>
              </a:rPr>
              <a:t>i</a:t>
            </a:r>
            <a:r>
              <a:rPr lang="en-US" sz="2000" b="true" baseline="30000">
                <a:solidFill>
                  <a:srgbClr val="111111"/>
                </a:solidFill>
                <a:latin typeface="Calibri"/>
                <a:ea typeface="Calibri"/>
                <a:cs typeface="Calibri"/>
                <a:sym typeface="Calibri"/>
              </a:rPr>
              <a:t>η</a:t>
            </a:r>
            <a:r>
              <a:rPr lang="en-US" sz="2000" b="true">
                <a:solidFill>
                  <a:srgbClr val="111111"/>
                </a:solidFill>
                <a:latin typeface="Nunito Semi-Bold"/>
                <a:ea typeface="Nunito Semi-Bold"/>
                <a:cs typeface="Nunito Semi-Bold"/>
                <a:sym typeface="Nunito Semi-Bold"/>
              </a:rPr>
              <a:t> for harder negatives.</a:t>
            </a:r>
          </a:p>
          <a:p>
            <a:pPr algn="l" marL="274320" indent="-274320">
              <a:lnSpc>
                <a:spcPts val="2800"/>
              </a:lnSpc>
              <a:spcBef>
                <a:spcPts val="1000"/>
              </a:spcBef>
              <a:buClr>
                <a:srgbClr val="DF8330"/>
              </a:buClr>
              <a:buSzPct val="100000"/>
              <a:buFont typeface="Arial"/>
              <a:buChar char="•"/>
            </a:pPr>
            <a:r>
              <a:rPr lang="en-US" sz="2000" b="true">
                <a:solidFill>
                  <a:srgbClr val="111111"/>
                </a:solidFill>
                <a:latin typeface="Nunito Semi-Bold"/>
                <a:ea typeface="Nunito Semi-Bold"/>
                <a:cs typeface="Nunito Semi-Bold"/>
                <a:sym typeface="Nunito Semi-Bold"/>
              </a:rPr>
              <a:t>Reproducibility: seeds {42, 43, 44, 45, 46}; early-stopping patience 20.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020"/>
              </a:lnSpc>
              <a:spcBef>
                <a:spcPts val="0"/>
              </a:spcBef>
              <a:buNone/>
            </a:pPr>
            <a:r>
              <a:rPr lang="en-US" sz="850" b="true">
                <a:solidFill>
                  <a:srgbClr val="8A8378"/>
                </a:solidFill>
                <a:latin typeface="Nunito Semi-Bold"/>
                <a:ea typeface="Nunito Semi-Bold"/>
                <a:cs typeface="Nunito Semi-Bold"/>
                <a:sym typeface="Nunito Semi-Bold"/>
              </a:rPr>
              <a:t>[7] Ribeiro, M. T., Singh, S. &amp; Guestrin, C. "Why Should I Trust You?": Explaining the Predictions of Any Classifier (LIME). KDD, 1135–1144 (2016).   [10] Koren, Y., Bell, R. &amp; Volinsky, C. Matrix Factorization Techniques for Recommender Systems. Computer 42(8), 30–37 (2009).   [11] He, X. et al. Neural Collaborative Filtering. WWW, 173–182 (2017).   [12] He, X. et al. LightGCN: Simplifying and Powering Graph Convolution Network for Recommendation. SIGIR, 639–648 (2020).   [13] Xia, L. et al. Hypergraph Contrastive Collaborative Filtering (HCCF). SIGIR, 70–79 (2022).   [14] Xiangyi, Y. et al. Hypergraph Projection Enhanced Collaborative Filtering (HPCF). Int. J. Data Science and Analytics 19(2), 269–281 (2025).   [15] Zhang, D. et al. RecDCL: Dual Contrastive Learning for Recommendation. The Web Conference, 3655–3666 (2024).</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23</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EXPERIMENTAL PROTOCOL</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Baselines</a:t>
            </a:r>
          </a:p>
        </p:txBody>
      </p:sp>
      <p:pic>
        <p:nvPicPr>
          <p:cNvPr id="23" name="Picture 22" descr="image.png"/>
          <p:cNvPicPr>
            <a:picLocks noChangeAspect="1"/>
          </p:cNvPicPr>
          <p:nvPr/>
        </p:nvPicPr>
        <p:blipFill>
          <a:blip r:embed="rId3"/>
          <a:stretch>
            <a:fillRect/>
          </a:stretch>
        </p:blipFill>
        <p:spPr>
          <a:xfrm>
            <a:off x="3729007" y="1673352"/>
            <a:ext cx="457200" cy="539881"/>
          </a:xfrm>
          <a:prstGeom prst="rect">
            <a:avLst/>
          </a:prstGeom>
        </p:spPr>
      </p:pic>
      <p:sp>
        <p:nvSpPr>
          <p:cNvPr id="24" name="Rounded Rectangle 23"/>
          <p:cNvSpPr/>
          <p:nvPr/>
        </p:nvSpPr>
        <p:spPr>
          <a:xfrm>
            <a:off x="1028700" y="2559050"/>
            <a:ext cx="152390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Datasets</a:t>
            </a:r>
          </a:p>
        </p:txBody>
      </p:sp>
      <p:sp>
        <p:nvSpPr>
          <p:cNvPr id="25" name="Rounded Rectangle 24"/>
          <p:cNvSpPr/>
          <p:nvPr/>
        </p:nvSpPr>
        <p:spPr>
          <a:xfrm>
            <a:off x="2680623" y="2559050"/>
            <a:ext cx="1349432"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Metrics</a:t>
            </a:r>
          </a:p>
        </p:txBody>
      </p:sp>
      <p:sp>
        <p:nvSpPr>
          <p:cNvPr id="26" name="Rounded Rectangle 25"/>
          <p:cNvSpPr/>
          <p:nvPr/>
        </p:nvSpPr>
        <p:spPr>
          <a:xfrm>
            <a:off x="4158071" y="2559050"/>
            <a:ext cx="164257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Hardware</a:t>
            </a:r>
          </a:p>
        </p:txBody>
      </p:sp>
      <p:graphicFrame>
        <p:nvGraphicFramePr>
          <p:cNvPr id="27" name="Table 26"/>
          <p:cNvGraphicFramePr>
            <a:graphicFrameLocks noGrp="1"/>
          </p:cNvGraphicFramePr>
          <p:nvPr/>
        </p:nvGraphicFramePr>
        <p:xfrm>
          <a:off x="1028700" y="3363722"/>
          <a:ext cx="16230599" cy="4242816"/>
        </p:xfrm>
        <a:graphic>
          <a:graphicData uri="http://schemas.openxmlformats.org/drawingml/2006/table">
            <a:tbl>
              <a:tblPr firstRow="0" bandRow="0" firstCol="0" lastRow="0" lastCol="0" bandCol="0">
                <a:tableStyleId>{2D5ABB26-0587-4C30-8999-92F81FD0307C}</a:tableStyleId>
              </a:tblPr>
              <a:tblGrid>
                <a:gridCol w="2664725"/>
                <a:gridCol w="3875964"/>
                <a:gridCol w="7994176"/>
                <a:gridCol w="1695734"/>
              </a:tblGrid>
              <a:tr h="530352">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Family</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Baseline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What it represents</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210"/>
                        </a:lnSpc>
                        <a:spcBef>
                          <a:spcPts val="0"/>
                        </a:spcBef>
                        <a:buNone/>
                      </a:pPr>
                      <a:r>
                        <a:rPr lang="en-US" sz="1700" b="true">
                          <a:solidFill>
                            <a:srgbClr val="FFFFFF"/>
                          </a:solidFill>
                          <a:latin typeface="Nunito Bold"/>
                          <a:ea typeface="Nunito Bold"/>
                          <a:cs typeface="Nunito Bold"/>
                          <a:sym typeface="Nunito Bold"/>
                        </a:rPr>
                        <a:t>Used in</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53035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Explanation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LIME surrogate pipeline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Local surrogate explanation; the standard alternative to SHAP</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C1, C2</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3035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Classical</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MF (BPR)</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Matrix factorisation with pairwise ranking loss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C3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3035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Neural</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NCF</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Neural collaborative filtering (MLP on embeddings)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C3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3035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Graph</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LightGCN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Simplified graph convolution on the user-item graph</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C3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3035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Graph + contrastive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RecDCL</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Dual contrastive learning for recommendation (2024)</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C3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3035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Hypergraph</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HCCF</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Hypergraph contrastive collaborative filtering (2022)</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C3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3035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Hypergraph</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HPCF  (strongest reference)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Hypergraph projection enhanced collaborative filtering (2025)</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C3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28" name="Rounded Rectangle 27"/>
          <p:cNvSpPr/>
          <p:nvPr/>
        </p:nvSpPr>
        <p:spPr>
          <a:xfrm>
            <a:off x="1028700" y="8155178"/>
            <a:ext cx="16230600" cy="1016254"/>
          </a:xfrm>
          <a:prstGeom prst="roundRect">
            <a:avLst>
              <a:gd name="adj" fmla="val 19795"/>
            </a:avLst>
          </a:prstGeom>
          <a:solidFill>
            <a:srgbClr val="F6ECDF"/>
          </a:solidFill>
          <a:ln w="25400">
            <a:solidFill>
              <a:srgbClr val="124944"/>
            </a:solidFill>
          </a:ln>
        </p:spPr>
        <p:txBody>
          <a:bodyPr anchor="ctr" rtlCol="false" lIns="0" tIns="0" rIns="0" bIns="0" wrap="square"/>
          <a:lstStyle/>
          <a:p>
            <a:endParaRPr lang="en-US" sz="1800"/>
          </a:p>
        </p:txBody>
      </p:sp>
      <p:sp>
        <p:nvSpPr>
          <p:cNvPr id="29" name="Rounded Rectangle 28"/>
          <p:cNvSpPr/>
          <p:nvPr/>
        </p:nvSpPr>
        <p:spPr>
          <a:xfrm>
            <a:off x="1348740" y="7963154"/>
            <a:ext cx="1867571" cy="384048"/>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WHY THIS SET</a:t>
            </a:r>
          </a:p>
        </p:txBody>
      </p:sp>
      <p:sp>
        <p:nvSpPr>
          <p:cNvPr id="30" name="TextBox 29"/>
          <p:cNvSpPr txBox="1"/>
          <p:nvPr/>
        </p:nvSpPr>
        <p:spPr>
          <a:xfrm>
            <a:off x="1394460" y="8429498"/>
            <a:ext cx="15499080" cy="604774"/>
          </a:xfrm>
          <a:prstGeom prst="rect">
            <a:avLst/>
          </a:prstGeom>
          <a:noFill/>
        </p:spPr>
        <p:txBody>
          <a:bodyPr anchor="ctr" rtlCol="false" lIns="0" tIns="0" rIns="0" bIns="0" wrap="square"/>
          <a:lstStyle/>
          <a:p>
            <a:pPr algn="l">
              <a:lnSpc>
                <a:spcPts val="2261"/>
              </a:lnSpc>
              <a:spcBef>
                <a:spcPts val="0"/>
              </a:spcBef>
              <a:buNone/>
            </a:pPr>
            <a:r>
              <a:rPr lang="en-US" sz="1615" b="true">
                <a:solidFill>
                  <a:srgbClr val="111111"/>
                </a:solidFill>
                <a:latin typeface="Nunito Semi-Bold"/>
                <a:ea typeface="Nunito Semi-Bold"/>
                <a:cs typeface="Nunito Semi-Bold"/>
                <a:sym typeface="Nunito Semi-Bold"/>
              </a:rPr>
              <a:t>Classical, neural, graph and hypergraph families together, so the effect of </a:t>
            </a:r>
            <a:r>
              <a:rPr lang="en-US" sz="1615" b="true">
                <a:solidFill>
                  <a:srgbClr val="111111"/>
                </a:solidFill>
                <a:latin typeface="Nunito Bold"/>
                <a:ea typeface="Nunito Bold"/>
                <a:cs typeface="Nunito Bold"/>
                <a:sym typeface="Nunito Bold"/>
              </a:rPr>
              <a:t>cooperative attribution</a:t>
            </a:r>
            <a:r>
              <a:rPr lang="en-US" sz="1615" b="true">
                <a:solidFill>
                  <a:srgbClr val="111111"/>
                </a:solidFill>
                <a:latin typeface="Nunito Semi-Bold"/>
                <a:ea typeface="Nunito Semi-Bold"/>
                <a:cs typeface="Nunito Semi-Bold"/>
                <a:sym typeface="Nunito Semi-Bold"/>
              </a:rPr>
              <a:t> is not confused with a lucky model choice. HPCF is the strongest reference; all baselines were finalised in early 2026.</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[17] Rousseeuw, P. J. Silhouettes: A Graphical Aid to the Interpretation and Validation of Cluster Analysis. J. Comput. Appl. Math. 20, 53–65 (1987).   [23] Zhu, Z. et al. Popularity Bias in Dynamic Recommendation. KDD, 2439–2449 (2021).  ·  Hurley, N. &amp; Zhang, M. Novelty and Diversity in Top-N Recommendation. ACM TOIT 10(4) (2011).</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24</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EXPERIMENTAL PROTOCOL</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Evaluation Metrics</a:t>
            </a:r>
          </a:p>
        </p:txBody>
      </p:sp>
      <p:pic>
        <p:nvPicPr>
          <p:cNvPr id="23" name="Picture 22" descr="image.png"/>
          <p:cNvPicPr>
            <a:picLocks noChangeAspect="1"/>
          </p:cNvPicPr>
          <p:nvPr/>
        </p:nvPicPr>
        <p:blipFill>
          <a:blip r:embed="rId3"/>
          <a:stretch>
            <a:fillRect/>
          </a:stretch>
        </p:blipFill>
        <p:spPr>
          <a:xfrm>
            <a:off x="6134170" y="1673352"/>
            <a:ext cx="457200" cy="373212"/>
          </a:xfrm>
          <a:prstGeom prst="rect">
            <a:avLst/>
          </a:prstGeom>
        </p:spPr>
      </p:pic>
      <p:sp>
        <p:nvSpPr>
          <p:cNvPr id="24" name="Rounded Rectangle 23"/>
          <p:cNvSpPr/>
          <p:nvPr/>
        </p:nvSpPr>
        <p:spPr>
          <a:xfrm>
            <a:off x="1028700" y="2559050"/>
            <a:ext cx="152390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Datasets</a:t>
            </a:r>
          </a:p>
        </p:txBody>
      </p:sp>
      <p:sp>
        <p:nvSpPr>
          <p:cNvPr id="25" name="Rounded Rectangle 24"/>
          <p:cNvSpPr/>
          <p:nvPr/>
        </p:nvSpPr>
        <p:spPr>
          <a:xfrm>
            <a:off x="2680623" y="2559050"/>
            <a:ext cx="1349432"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Metrics</a:t>
            </a:r>
          </a:p>
        </p:txBody>
      </p:sp>
      <p:sp>
        <p:nvSpPr>
          <p:cNvPr id="26" name="Rounded Rectangle 25"/>
          <p:cNvSpPr/>
          <p:nvPr/>
        </p:nvSpPr>
        <p:spPr>
          <a:xfrm>
            <a:off x="4158071" y="2559050"/>
            <a:ext cx="164257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Hardware</a:t>
            </a:r>
          </a:p>
        </p:txBody>
      </p:sp>
      <p:sp>
        <p:nvSpPr>
          <p:cNvPr id="27" name="Rectangle 26"/>
          <p:cNvSpPr/>
          <p:nvPr/>
        </p:nvSpPr>
        <p:spPr>
          <a:xfrm>
            <a:off x="1028700" y="3363722"/>
            <a:ext cx="16230600" cy="384048"/>
          </a:xfrm>
          <a:prstGeom prst="rect">
            <a:avLst/>
          </a:prstGeom>
          <a:solidFill>
            <a:srgbClr val="124944"/>
          </a:solidFill>
          <a:ln>
            <a:noFill/>
          </a:ln>
        </p:spPr>
        <p:txBody>
          <a:bodyPr anchor="ctr" rtlCol="false" lIns="0" tIns="0" rIns="0" bIns="0" wrap="square"/>
          <a:lstStyle/>
          <a:p>
            <a:endParaRPr lang="en-US" sz="1800"/>
          </a:p>
        </p:txBody>
      </p:sp>
      <p:sp>
        <p:nvSpPr>
          <p:cNvPr id="28" name="TextBox 27"/>
          <p:cNvSpPr txBox="1"/>
          <p:nvPr/>
        </p:nvSpPr>
        <p:spPr>
          <a:xfrm>
            <a:off x="1165860" y="3363722"/>
            <a:ext cx="2377440" cy="384048"/>
          </a:xfrm>
          <a:prstGeom prst="rect">
            <a:avLst/>
          </a:prstGeom>
          <a:noFill/>
        </p:spPr>
        <p:txBody>
          <a:bodyPr anchor="ctr" rtlCol="false" lIns="0" tIns="0" rIns="0" bIns="0" wrap="square"/>
          <a:lstStyle/>
          <a:p>
            <a:pPr algn="l">
              <a:lnSpc>
                <a:spcPts val="1800"/>
              </a:lnSpc>
              <a:spcBef>
                <a:spcPts val="0"/>
              </a:spcBef>
              <a:buNone/>
            </a:pPr>
            <a:r>
              <a:rPr lang="en-US" sz="1500" b="true">
                <a:solidFill>
                  <a:srgbClr val="FFFFFF"/>
                </a:solidFill>
                <a:latin typeface="Nunito Bold"/>
                <a:ea typeface="Nunito Bold"/>
                <a:cs typeface="Nunito Bold"/>
                <a:sym typeface="Nunito Bold"/>
              </a:rPr>
              <a:t>Metric</a:t>
            </a:r>
          </a:p>
        </p:txBody>
      </p:sp>
      <p:sp>
        <p:nvSpPr>
          <p:cNvPr id="29" name="TextBox 28"/>
          <p:cNvSpPr txBox="1"/>
          <p:nvPr/>
        </p:nvSpPr>
        <p:spPr>
          <a:xfrm>
            <a:off x="3817620" y="3363722"/>
            <a:ext cx="6217920" cy="384048"/>
          </a:xfrm>
          <a:prstGeom prst="rect">
            <a:avLst/>
          </a:prstGeom>
          <a:noFill/>
        </p:spPr>
        <p:txBody>
          <a:bodyPr anchor="ctr" rtlCol="false" lIns="0" tIns="0" rIns="0" bIns="0" wrap="square"/>
          <a:lstStyle/>
          <a:p>
            <a:pPr algn="l">
              <a:lnSpc>
                <a:spcPts val="1800"/>
              </a:lnSpc>
              <a:spcBef>
                <a:spcPts val="0"/>
              </a:spcBef>
              <a:buNone/>
            </a:pPr>
            <a:r>
              <a:rPr lang="en-US" sz="1500" b="true">
                <a:solidFill>
                  <a:srgbClr val="FFFFFF"/>
                </a:solidFill>
                <a:latin typeface="Nunito Bold"/>
                <a:ea typeface="Nunito Bold"/>
                <a:cs typeface="Nunito Bold"/>
                <a:sym typeface="Nunito Bold"/>
              </a:rPr>
              <a:t>Formula</a:t>
            </a:r>
          </a:p>
        </p:txBody>
      </p:sp>
      <p:sp>
        <p:nvSpPr>
          <p:cNvPr id="30" name="TextBox 29"/>
          <p:cNvSpPr txBox="1"/>
          <p:nvPr/>
        </p:nvSpPr>
        <p:spPr>
          <a:xfrm>
            <a:off x="10309860" y="3363722"/>
            <a:ext cx="6812280" cy="384048"/>
          </a:xfrm>
          <a:prstGeom prst="rect">
            <a:avLst/>
          </a:prstGeom>
          <a:noFill/>
        </p:spPr>
        <p:txBody>
          <a:bodyPr anchor="ctr" rtlCol="false" lIns="0" tIns="0" rIns="0" bIns="0" wrap="square"/>
          <a:lstStyle/>
          <a:p>
            <a:pPr algn="l">
              <a:lnSpc>
                <a:spcPts val="1800"/>
              </a:lnSpc>
              <a:spcBef>
                <a:spcPts val="0"/>
              </a:spcBef>
              <a:buNone/>
            </a:pPr>
            <a:r>
              <a:rPr lang="en-US" sz="1500" b="true">
                <a:solidFill>
                  <a:srgbClr val="FFFFFF"/>
                </a:solidFill>
                <a:latin typeface="Nunito Bold"/>
                <a:ea typeface="Nunito Bold"/>
                <a:cs typeface="Nunito Bold"/>
                <a:sym typeface="Nunito Bold"/>
              </a:rPr>
              <a:t>Why it is used</a:t>
            </a:r>
          </a:p>
        </p:txBody>
      </p:sp>
      <p:sp>
        <p:nvSpPr>
          <p:cNvPr id="31" name="Rectangle 30"/>
          <p:cNvSpPr/>
          <p:nvPr/>
        </p:nvSpPr>
        <p:spPr>
          <a:xfrm>
            <a:off x="1028700" y="3747770"/>
            <a:ext cx="16230600" cy="739539"/>
          </a:xfrm>
          <a:prstGeom prst="rect">
            <a:avLst/>
          </a:prstGeom>
          <a:solidFill>
            <a:srgbClr val="FFFFFF"/>
          </a:solidFill>
          <a:ln>
            <a:noFill/>
          </a:ln>
        </p:spPr>
        <p:txBody>
          <a:bodyPr anchor="ctr" rtlCol="false" lIns="0" tIns="0" rIns="0" bIns="0" wrap="square"/>
          <a:lstStyle/>
          <a:p>
            <a:endParaRPr lang="en-US" sz="1800"/>
          </a:p>
        </p:txBody>
      </p:sp>
      <p:sp>
        <p:nvSpPr>
          <p:cNvPr id="32" name="TextBox 31"/>
          <p:cNvSpPr txBox="1"/>
          <p:nvPr/>
        </p:nvSpPr>
        <p:spPr>
          <a:xfrm>
            <a:off x="1165860" y="3747770"/>
            <a:ext cx="2377440" cy="739539"/>
          </a:xfrm>
          <a:prstGeom prst="rect">
            <a:avLst/>
          </a:prstGeom>
          <a:noFill/>
        </p:spPr>
        <p:txBody>
          <a:bodyPr anchor="ctr" rtlCol="false" lIns="0" tIns="0" rIns="0" bIns="0" wrap="square"/>
          <a:lstStyle/>
          <a:p>
            <a:pPr algn="l">
              <a:lnSpc>
                <a:spcPts val="1900"/>
              </a:lnSpc>
              <a:spcBef>
                <a:spcPts val="0"/>
              </a:spcBef>
              <a:buNone/>
            </a:pPr>
            <a:r>
              <a:rPr lang="en-US" sz="1600" b="true">
                <a:solidFill>
                  <a:srgbClr val="111111"/>
                </a:solidFill>
                <a:latin typeface="Nunito Bold"/>
                <a:ea typeface="Nunito Bold"/>
                <a:cs typeface="Nunito Bold"/>
                <a:sym typeface="Nunito Bold"/>
              </a:rPr>
              <a:t>NDCG@K  (main)</a:t>
            </a:r>
          </a:p>
        </p:txBody>
      </p:sp>
      <mc:AlternateContent xmlns:mc="http://schemas.openxmlformats.org/markup-compatibility/2006">
        <mc:Choice xmlns:a14="http://schemas.microsoft.com/office/drawing/2010/main" Requires="a14">
          <p:sp>
            <p:nvSpPr>
              <p:cNvPr id="33" name="Equation"/>
              <p:cNvSpPr txBox="1"/>
              <p:nvPr/>
            </p:nvSpPr>
            <p:spPr>
              <a:xfrm>
                <a:off x="3771900" y="3775202"/>
                <a:ext cx="6309360" cy="684675"/>
              </a:xfrm>
              <a:prstGeom prst="rect">
                <a:avLst/>
              </a:prstGeom>
              <a:noFill/>
            </p:spPr>
            <p:txBody>
              <a:bodyPr wrap="none" rtlCol="0" anchor="ctr" lIns="0" tIns="0" rIns="0" bIns="0"/>
              <a:lstStyle/>
              <a:p>
                <a:pPr algn="l"/>
                <a14:m xmlns:m="http://schemas.openxmlformats.org/officeDocument/2006/math">
                  <m:oMathPara>
                    <m:oMathParaPr>
                      <m:jc m:val="left"/>
                    </m:oMathParaPr>
                    <m:oMath>
                      <m:r>
                        <m:rPr>
                          <m:sty m:val="p"/>
                        </m:rPr>
                        <a:rPr lang="en-US" sz="1150">
                          <a:solidFill>
                            <a:srgbClr val="111111"/>
                          </a:solidFill>
                          <a:latin typeface="Cambria Math" panose="02040503050406030204" pitchFamily="18" charset="0"/>
                        </a:rPr>
                        <m:t xml:space="preserve">NDCG@</m:t>
                      </m:r>
                      <m:r>
                        <a:rPr lang="en-US" sz="1150" i="1">
                          <a:solidFill>
                            <a:srgbClr val="111111"/>
                          </a:solidFill>
                          <a:latin typeface="Cambria Math" panose="02040503050406030204" pitchFamily="18" charset="0"/>
                        </a:rPr>
                        <m:t xml:space="preserve">K</m:t>
                      </m:r>
                      <m:r>
                        <m:rPr>
                          <m:sty m:val="p"/>
                        </m:rPr>
                        <a:rPr lang="en-US" sz="1150">
                          <a:solidFill>
                            <a:srgbClr val="111111"/>
                          </a:solidFill>
                          <a:latin typeface="Cambria Math" panose="02040503050406030204" pitchFamily="18" charset="0"/>
                        </a:rPr>
                        <m:t xml:space="preserve">=</m:t>
                      </m:r>
                      <m:f>
                        <m:fPr>
                          <m:ctrlPr>
                            <a:rPr lang="en-US" sz="1150" i="1">
                              <a:solidFill>
                                <a:srgbClr val="111111"/>
                              </a:solidFill>
                              <a:latin typeface="Cambria Math" panose="02040503050406030204" pitchFamily="18" charset="0"/>
                            </a:rPr>
                          </m:ctrlPr>
                        </m:fPr>
                        <m:num>
                          <m:r>
                            <m:rPr>
                              <m:sty m:val="p"/>
                            </m:rPr>
                            <a:rPr lang="en-US" sz="1150">
                              <a:solidFill>
                                <a:srgbClr val="111111"/>
                              </a:solidFill>
                              <a:latin typeface="Cambria Math" panose="02040503050406030204" pitchFamily="18" charset="0"/>
                            </a:rPr>
                            <m:t xml:space="preserve">1</m:t>
                          </m:r>
                        </m:num>
                        <m:den>
                          <m:r>
                            <m:rPr>
                              <m:sty m:val="p"/>
                            </m:rPr>
                            <a:rPr lang="en-US" sz="1150">
                              <a:solidFill>
                                <a:srgbClr val="111111"/>
                              </a:solidFill>
                              <a:latin typeface="Cambria Math" panose="02040503050406030204" pitchFamily="18" charset="0"/>
                            </a:rPr>
                            <m:t xml:space="preserve">IDCG@</m:t>
                          </m:r>
                          <m:r>
                            <a:rPr lang="en-US" sz="1150" i="1">
                              <a:solidFill>
                                <a:srgbClr val="111111"/>
                              </a:solidFill>
                              <a:latin typeface="Cambria Math" panose="02040503050406030204" pitchFamily="18" charset="0"/>
                            </a:rPr>
                            <m:t xml:space="preserve">K</m:t>
                          </m:r>
                        </m:den>
                      </m:f>
                      <m:r>
                        <m:rPr>
                          <m:sty m:val="p"/>
                        </m:rPr>
                        <a:rPr lang="en-US" sz="1150">
                          <a:solidFill>
                            <a:srgbClr val="111111"/>
                          </a:solidFill>
                          <a:latin typeface="Cambria Math" panose="02040503050406030204" pitchFamily="18" charset="0"/>
                        </a:rPr>
                        <m:t xml:space="preserve"> </m:t>
                      </m:r>
                      <m:nary>
                        <m:naryPr>
                          <m:chr m:val="∑"/>
                          <m:limLoc m:val="subSup"/>
                          <m:ctrlPr>
                            <a:rPr lang="en-US" sz="1150" i="1">
                              <a:solidFill>
                                <a:srgbClr val="111111"/>
                              </a:solidFill>
                              <a:latin typeface="Cambria Math" panose="02040503050406030204" pitchFamily="18" charset="0"/>
                            </a:rPr>
                          </m:ctrlPr>
                        </m:naryPr>
                        <m:sub>
                          <m:r>
                            <a:rPr lang="en-US" sz="1150" i="1">
                              <a:solidFill>
                                <a:srgbClr val="111111"/>
                              </a:solidFill>
                              <a:latin typeface="Cambria Math" panose="02040503050406030204" pitchFamily="18" charset="0"/>
                            </a:rPr>
                            <m:t xml:space="preserve">i</m:t>
                          </m:r>
                          <m:r>
                            <m:rPr>
                              <m:sty m:val="p"/>
                            </m:rPr>
                            <a:rPr lang="en-US" sz="1150">
                              <a:solidFill>
                                <a:srgbClr val="111111"/>
                              </a:solidFill>
                              <a:latin typeface="Cambria Math" panose="02040503050406030204" pitchFamily="18" charset="0"/>
                            </a:rPr>
                            <m:t xml:space="preserve">=1</m:t>
                          </m:r>
                        </m:sub>
                        <m:sup>
                          <m:r>
                            <a:rPr lang="en-US" sz="1150" i="1">
                              <a:solidFill>
                                <a:srgbClr val="111111"/>
                              </a:solidFill>
                              <a:latin typeface="Cambria Math" panose="02040503050406030204" pitchFamily="18" charset="0"/>
                            </a:rPr>
                            <m:t xml:space="preserve">K</m:t>
                          </m:r>
                        </m:sup>
                        <m:e>
                          <m:f>
                            <m:fPr>
                              <m:ctrlPr>
                                <a:rPr lang="en-US" sz="1150" i="1">
                                  <a:solidFill>
                                    <a:srgbClr val="111111"/>
                                  </a:solidFill>
                                  <a:latin typeface="Cambria Math" panose="02040503050406030204" pitchFamily="18" charset="0"/>
                                </a:rPr>
                              </m:ctrlPr>
                            </m:fPr>
                            <m:num>
                              <m:sSub>
                                <m:sSubPr>
                                  <m:ctrlPr>
                                    <a:rPr lang="en-US" sz="1150" i="1">
                                      <a:solidFill>
                                        <a:srgbClr val="111111"/>
                                      </a:solidFill>
                                      <a:latin typeface="Cambria Math" panose="02040503050406030204" pitchFamily="18" charset="0"/>
                                    </a:rPr>
                                  </m:ctrlPr>
                                </m:sSubPr>
                                <m:e>
                                  <m:r>
                                    <m:rPr>
                                      <m:sty m:val="p"/>
                                    </m:rPr>
                                    <a:rPr lang="en-US" sz="1150">
                                      <a:solidFill>
                                        <a:srgbClr val="111111"/>
                                      </a:solidFill>
                                      <a:latin typeface="Cambria Math" panose="02040503050406030204" pitchFamily="18" charset="0"/>
                                    </a:rPr>
                                    <m:t xml:space="preserve">rel</m:t>
                                  </m:r>
                                </m:e>
                                <m:sub>
                                  <m:r>
                                    <a:rPr lang="en-US" sz="1150" i="1">
                                      <a:solidFill>
                                        <a:srgbClr val="111111"/>
                                      </a:solidFill>
                                      <a:latin typeface="Cambria Math" panose="02040503050406030204" pitchFamily="18" charset="0"/>
                                    </a:rPr>
                                    <m:t xml:space="preserve">i</m:t>
                                  </m:r>
                                </m:sub>
                              </m:sSub>
                            </m:num>
                            <m:den>
                              <m:sSub>
                                <m:sSubPr>
                                  <m:ctrlPr>
                                    <a:rPr lang="en-US" sz="1150" i="1">
                                      <a:solidFill>
                                        <a:srgbClr val="111111"/>
                                      </a:solidFill>
                                      <a:latin typeface="Cambria Math" panose="02040503050406030204" pitchFamily="18" charset="0"/>
                                    </a:rPr>
                                  </m:ctrlPr>
                                </m:sSubPr>
                                <m:e>
                                  <m:r>
                                    <m:rPr>
                                      <m:sty m:val="p"/>
                                    </m:rPr>
                                    <a:rPr lang="en-US" sz="1150">
                                      <a:solidFill>
                                        <a:srgbClr val="111111"/>
                                      </a:solidFill>
                                      <a:latin typeface="Cambria Math" panose="02040503050406030204" pitchFamily="18" charset="0"/>
                                    </a:rPr>
                                    <m:t xml:space="preserve">log</m:t>
                                  </m:r>
                                </m:e>
                                <m:sub>
                                  <m:r>
                                    <m:rPr>
                                      <m:sty m:val="p"/>
                                    </m:rPr>
                                    <a:rPr lang="en-US" sz="1150">
                                      <a:solidFill>
                                        <a:srgbClr val="111111"/>
                                      </a:solidFill>
                                      <a:latin typeface="Cambria Math" panose="02040503050406030204" pitchFamily="18" charset="0"/>
                                    </a:rPr>
                                    <m:t xml:space="preserve">2</m:t>
                                  </m:r>
                                </m:sub>
                              </m:sSub>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i</m:t>
                              </m:r>
                              <m:r>
                                <m:rPr>
                                  <m:sty m:val="p"/>
                                </m:rPr>
                                <a:rPr lang="en-US" sz="1150">
                                  <a:solidFill>
                                    <a:srgbClr val="111111"/>
                                  </a:solidFill>
                                  <a:latin typeface="Cambria Math" panose="02040503050406030204" pitchFamily="18" charset="0"/>
                                </a:rPr>
                                <m:t xml:space="preserve">+1)</m:t>
                              </m:r>
                            </m:den>
                          </m:f>
                        </m:e>
                      </m:nary>
                    </m:oMath>
                  </m:oMathPara>
                </a14:m>
                <a:endParaRPr lang="en-US" sz="1150"/>
              </a:p>
            </p:txBody>
          </p:sp>
        </mc:Choice>
        <mc:Fallback>
          <p:sp>
            <p:nvSpPr>
              <p:cNvPr id="33" name="Equation"/>
              <p:cNvSpPr txBox="1"/>
              <p:nvPr/>
            </p:nvSpPr>
            <p:spPr>
              <a:xfrm>
                <a:off x="3771900" y="3775202"/>
                <a:ext cx="6309360" cy="684675"/>
              </a:xfrm>
              <a:prstGeom prst="rect">
                <a:avLst/>
              </a:prstGeom>
              <a:blipFill>
                <a:blip r:embed="rId5"/>
                <a:stretch>
                  <a:fillRect/>
                </a:stretch>
              </a:blipFill>
            </p:spPr>
            <p:txBody>
              <a:bodyPr/>
              <a:lstStyle/>
              <a:p>
                <a:endParaRPr lang="en-US"/>
              </a:p>
            </p:txBody>
          </p:sp>
        </mc:Fallback>
      </mc:AlternateContent>
      <p:sp>
        <p:nvSpPr>
          <p:cNvPr id="34" name="TextBox 33"/>
          <p:cNvSpPr txBox="1"/>
          <p:nvPr/>
        </p:nvSpPr>
        <p:spPr>
          <a:xfrm>
            <a:off x="10309860" y="3747770"/>
            <a:ext cx="6812280" cy="739539"/>
          </a:xfrm>
          <a:prstGeom prst="rect">
            <a:avLst/>
          </a:prstGeom>
          <a:noFill/>
        </p:spPr>
        <p:txBody>
          <a:bodyPr anchor="ctr" rtlCol="false" lIns="0" tIns="0" rIns="0" bIns="0" wrap="square"/>
          <a:lstStyle/>
          <a:p>
            <a:pPr algn="l">
              <a:lnSpc>
                <a:spcPts val="1700"/>
              </a:lnSpc>
              <a:spcBef>
                <a:spcPts val="0"/>
              </a:spcBef>
              <a:buNone/>
            </a:pPr>
            <a:r>
              <a:rPr lang="en-US" sz="1400" b="true">
                <a:solidFill>
                  <a:srgbClr val="111111"/>
                </a:solidFill>
                <a:latin typeface="Nunito Semi-Bold"/>
                <a:ea typeface="Nunito Semi-Bold"/>
                <a:cs typeface="Nunito Semi-Bold"/>
                <a:sym typeface="Nunito Semi-Bold"/>
              </a:rPr>
              <a:t>Ranking quality; rewards relevant items placed near the top of the list.</a:t>
            </a:r>
          </a:p>
        </p:txBody>
      </p:sp>
      <p:cxnSp>
        <p:nvCxnSpPr>
          <p:cNvPr id="35" name="Connector 34"/>
          <p:cNvCxnSpPr/>
          <p:nvPr/>
        </p:nvCxnSpPr>
        <p:spPr>
          <a:xfrm>
            <a:off x="1028700" y="4487309"/>
            <a:ext cx="16230600" cy="0"/>
          </a:xfrm>
          <a:prstGeom prst="line">
            <a:avLst/>
          </a:prstGeom>
          <a:ln w="12700">
            <a:solidFill>
              <a:srgbClr val="E3D6C4"/>
            </a:solidFill>
          </a:ln>
        </p:spPr>
      </p:cxnSp>
      <p:sp>
        <p:nvSpPr>
          <p:cNvPr id="36" name="Rectangle 35"/>
          <p:cNvSpPr/>
          <p:nvPr/>
        </p:nvSpPr>
        <p:spPr>
          <a:xfrm>
            <a:off x="1028700" y="4487309"/>
            <a:ext cx="16230600" cy="739539"/>
          </a:xfrm>
          <a:prstGeom prst="rect">
            <a:avLst/>
          </a:prstGeom>
          <a:solidFill>
            <a:srgbClr val="F6ECDF"/>
          </a:solidFill>
          <a:ln>
            <a:noFill/>
          </a:ln>
        </p:spPr>
        <p:txBody>
          <a:bodyPr anchor="ctr" rtlCol="false" lIns="0" tIns="0" rIns="0" bIns="0" wrap="square"/>
          <a:lstStyle/>
          <a:p>
            <a:endParaRPr lang="en-US" sz="1800"/>
          </a:p>
        </p:txBody>
      </p:sp>
      <p:sp>
        <p:nvSpPr>
          <p:cNvPr id="37" name="TextBox 36"/>
          <p:cNvSpPr txBox="1"/>
          <p:nvPr/>
        </p:nvSpPr>
        <p:spPr>
          <a:xfrm>
            <a:off x="1165860" y="4487309"/>
            <a:ext cx="2377440" cy="739539"/>
          </a:xfrm>
          <a:prstGeom prst="rect">
            <a:avLst/>
          </a:prstGeom>
          <a:noFill/>
        </p:spPr>
        <p:txBody>
          <a:bodyPr anchor="ctr" rtlCol="false" lIns="0" tIns="0" rIns="0" bIns="0" wrap="square"/>
          <a:lstStyle/>
          <a:p>
            <a:pPr algn="l">
              <a:lnSpc>
                <a:spcPts val="1900"/>
              </a:lnSpc>
              <a:spcBef>
                <a:spcPts val="0"/>
              </a:spcBef>
              <a:buNone/>
            </a:pPr>
            <a:r>
              <a:rPr lang="en-US" sz="1600" b="true">
                <a:solidFill>
                  <a:srgbClr val="111111"/>
                </a:solidFill>
                <a:latin typeface="Nunito Bold"/>
                <a:ea typeface="Nunito Bold"/>
                <a:cs typeface="Nunito Bold"/>
                <a:sym typeface="Nunito Bold"/>
              </a:rPr>
              <a:t>Recall@K</a:t>
            </a:r>
          </a:p>
        </p:txBody>
      </p:sp>
      <mc:AlternateContent xmlns:mc="http://schemas.openxmlformats.org/markup-compatibility/2006">
        <mc:Choice xmlns:a14="http://schemas.microsoft.com/office/drawing/2010/main" Requires="a14">
          <p:sp>
            <p:nvSpPr>
              <p:cNvPr id="38" name="Equation"/>
              <p:cNvSpPr txBox="1"/>
              <p:nvPr/>
            </p:nvSpPr>
            <p:spPr>
              <a:xfrm>
                <a:off x="3771900" y="4514741"/>
                <a:ext cx="6309360" cy="684675"/>
              </a:xfrm>
              <a:prstGeom prst="rect">
                <a:avLst/>
              </a:prstGeom>
              <a:noFill/>
            </p:spPr>
            <p:txBody>
              <a:bodyPr wrap="none" rtlCol="0" anchor="ctr" lIns="0" tIns="0" rIns="0" bIns="0"/>
              <a:lstStyle/>
              <a:p>
                <a:pPr algn="l"/>
                <a14:m xmlns:m="http://schemas.openxmlformats.org/officeDocument/2006/math">
                  <m:oMathPara>
                    <m:oMathParaPr>
                      <m:jc m:val="left"/>
                    </m:oMathParaPr>
                    <m:oMath>
                      <m:r>
                        <m:rPr>
                          <m:sty m:val="p"/>
                        </m:rPr>
                        <a:rPr lang="en-US" sz="1100">
                          <a:solidFill>
                            <a:srgbClr val="111111"/>
                          </a:solidFill>
                          <a:latin typeface="Cambria Math" panose="02040503050406030204" pitchFamily="18" charset="0"/>
                        </a:rPr>
                        <m:t xml:space="preserve">Recall@</m:t>
                      </m:r>
                      <m:r>
                        <a:rPr lang="en-US" sz="1100" i="1">
                          <a:solidFill>
                            <a:srgbClr val="111111"/>
                          </a:solidFill>
                          <a:latin typeface="Cambria Math" panose="02040503050406030204" pitchFamily="18" charset="0"/>
                        </a:rPr>
                        <m:t xml:space="preserve">K</m:t>
                      </m:r>
                      <m:r>
                        <m:rPr>
                          <m:sty m:val="p"/>
                        </m:rPr>
                        <a:rPr lang="en-US" sz="1100">
                          <a:solidFill>
                            <a:srgbClr val="111111"/>
                          </a:solidFill>
                          <a:latin typeface="Cambria Math" panose="02040503050406030204" pitchFamily="18" charset="0"/>
                        </a:rPr>
                        <m:t xml:space="preserve">=</m:t>
                      </m:r>
                      <m:f>
                        <m:fPr>
                          <m:ctrlPr>
                            <a:rPr lang="en-US" sz="1100" i="1">
                              <a:solidFill>
                                <a:srgbClr val="111111"/>
                              </a:solidFill>
                              <a:latin typeface="Cambria Math" panose="02040503050406030204" pitchFamily="18" charset="0"/>
                            </a:rPr>
                          </m:ctrlPr>
                        </m:fPr>
                        <m:num>
                          <m:r>
                            <m:rPr>
                              <m:sty m:val="p"/>
                            </m:rPr>
                            <a:rPr lang="en-US" sz="1100">
                              <a:solidFill>
                                <a:srgbClr val="111111"/>
                              </a:solidFill>
                              <a:latin typeface="Cambria Math" panose="02040503050406030204" pitchFamily="18" charset="0"/>
                            </a:rPr>
                            <m:t xml:space="preserve">| </m:t>
                          </m:r>
                          <m:sSubSup>
                            <m:sSubSupPr>
                              <m:ctrlPr>
                                <a:rPr lang="en-US" sz="1100" i="1">
                                  <a:solidFill>
                                    <a:srgbClr val="111111"/>
                                  </a:solidFill>
                                  <a:latin typeface="Cambria Math" panose="02040503050406030204" pitchFamily="18" charset="0"/>
                                </a:rPr>
                              </m:ctrlPr>
                            </m:sSubSupPr>
                            <m:e>
                              <m:r>
                                <a:rPr lang="en-US" sz="1100" i="1">
                                  <a:solidFill>
                                    <a:srgbClr val="111111"/>
                                  </a:solidFill>
                                  <a:latin typeface="Cambria Math" panose="02040503050406030204" pitchFamily="18" charset="0"/>
                                </a:rPr>
                                <m:t xml:space="preserve">L</m:t>
                              </m:r>
                            </m:e>
                            <m:sub>
                              <m:r>
                                <a:rPr lang="en-US" sz="1100" i="1">
                                  <a:solidFill>
                                    <a:srgbClr val="111111"/>
                                  </a:solidFill>
                                  <a:latin typeface="Cambria Math" panose="02040503050406030204" pitchFamily="18" charset="0"/>
                                </a:rPr>
                                <m:t xml:space="preserve">u</m:t>
                              </m:r>
                            </m:sub>
                            <m:sup>
                              <m:r>
                                <a:rPr lang="en-US" sz="1100" i="1">
                                  <a:solidFill>
                                    <a:srgbClr val="111111"/>
                                  </a:solidFill>
                                  <a:latin typeface="Cambria Math" panose="02040503050406030204" pitchFamily="18" charset="0"/>
                                </a:rPr>
                                <m:t xml:space="preserve">K</m:t>
                              </m:r>
                            </m:sup>
                          </m:sSubSup>
                          <m:r>
                            <m:rPr>
                              <m:sty m:val="p"/>
                            </m:rPr>
                            <a:rPr lang="en-US" sz="1100">
                              <a:solidFill>
                                <a:srgbClr val="111111"/>
                              </a:solidFill>
                              <a:latin typeface="Cambria Math" panose="02040503050406030204" pitchFamily="18" charset="0"/>
                            </a:rPr>
                            <m:t xml:space="preserve">∩</m:t>
                          </m:r>
                          <m:sSub>
                            <m:sSubPr>
                              <m:ctrlPr>
                                <a:rPr lang="en-US" sz="1100" i="1">
                                  <a:solidFill>
                                    <a:srgbClr val="111111"/>
                                  </a:solidFill>
                                  <a:latin typeface="Cambria Math" panose="02040503050406030204" pitchFamily="18" charset="0"/>
                                </a:rPr>
                              </m:ctrlPr>
                            </m:sSubPr>
                            <m:e>
                              <m:r>
                                <m:rPr>
                                  <m:scr m:val="script"/>
                                  <m:sty m:val="p"/>
                                </m:rPr>
                                <a:rPr lang="en-US" sz="1100">
                                  <a:solidFill>
                                    <a:srgbClr val="111111"/>
                                  </a:solidFill>
                                  <a:latin typeface="Cambria Math" panose="02040503050406030204" pitchFamily="18" charset="0"/>
                                </a:rPr>
                                <m:t xml:space="preserve">R</m:t>
                              </m:r>
                            </m:e>
                            <m:sub>
                              <m:r>
                                <a:rPr lang="en-US" sz="1100" i="1">
                                  <a:solidFill>
                                    <a:srgbClr val="111111"/>
                                  </a:solidFill>
                                  <a:latin typeface="Cambria Math" panose="02040503050406030204" pitchFamily="18" charset="0"/>
                                </a:rPr>
                                <m:t xml:space="preserve">u</m:t>
                              </m:r>
                            </m:sub>
                          </m:sSub>
                          <m:r>
                            <m:rPr>
                              <m:sty m:val="p"/>
                            </m:rPr>
                            <a:rPr lang="en-US" sz="1100">
                              <a:solidFill>
                                <a:srgbClr val="111111"/>
                              </a:solidFill>
                              <a:latin typeface="Cambria Math" panose="02040503050406030204" pitchFamily="18" charset="0"/>
                            </a:rPr>
                            <m:t xml:space="preserve"> |</m:t>
                          </m:r>
                        </m:num>
                        <m:den>
                          <m:r>
                            <m:rPr>
                              <m:sty m:val="p"/>
                            </m:rPr>
                            <a:rPr lang="en-US" sz="1100">
                              <a:solidFill>
                                <a:srgbClr val="111111"/>
                              </a:solidFill>
                              <a:latin typeface="Cambria Math" panose="02040503050406030204" pitchFamily="18" charset="0"/>
                            </a:rPr>
                            <m:t xml:space="preserve">| </m:t>
                          </m:r>
                          <m:sSub>
                            <m:sSubPr>
                              <m:ctrlPr>
                                <a:rPr lang="en-US" sz="1100" i="1">
                                  <a:solidFill>
                                    <a:srgbClr val="111111"/>
                                  </a:solidFill>
                                  <a:latin typeface="Cambria Math" panose="02040503050406030204" pitchFamily="18" charset="0"/>
                                </a:rPr>
                              </m:ctrlPr>
                            </m:sSubPr>
                            <m:e>
                              <m:r>
                                <m:rPr>
                                  <m:scr m:val="script"/>
                                  <m:sty m:val="p"/>
                                </m:rPr>
                                <a:rPr lang="en-US" sz="1100">
                                  <a:solidFill>
                                    <a:srgbClr val="111111"/>
                                  </a:solidFill>
                                  <a:latin typeface="Cambria Math" panose="02040503050406030204" pitchFamily="18" charset="0"/>
                                </a:rPr>
                                <m:t xml:space="preserve">R</m:t>
                              </m:r>
                            </m:e>
                            <m:sub>
                              <m:r>
                                <a:rPr lang="en-US" sz="1100" i="1">
                                  <a:solidFill>
                                    <a:srgbClr val="111111"/>
                                  </a:solidFill>
                                  <a:latin typeface="Cambria Math" panose="02040503050406030204" pitchFamily="18" charset="0"/>
                                </a:rPr>
                                <m:t xml:space="preserve">u</m:t>
                              </m:r>
                            </m:sub>
                          </m:sSub>
                          <m:r>
                            <m:rPr>
                              <m:sty m:val="p"/>
                            </m:rPr>
                            <a:rPr lang="en-US" sz="1100">
                              <a:solidFill>
                                <a:srgbClr val="111111"/>
                              </a:solidFill>
                              <a:latin typeface="Cambria Math" panose="02040503050406030204" pitchFamily="18" charset="0"/>
                            </a:rPr>
                            <m:t xml:space="preserve"> |</m:t>
                          </m:r>
                        </m:den>
                      </m:f>
                    </m:oMath>
                  </m:oMathPara>
                </a14:m>
                <a:endParaRPr lang="en-US" sz="1100"/>
              </a:p>
            </p:txBody>
          </p:sp>
        </mc:Choice>
        <mc:Fallback>
          <p:sp>
            <p:nvSpPr>
              <p:cNvPr id="38" name="Equation"/>
              <p:cNvSpPr txBox="1"/>
              <p:nvPr/>
            </p:nvSpPr>
            <p:spPr>
              <a:xfrm>
                <a:off x="3771900" y="4514741"/>
                <a:ext cx="6309360" cy="684675"/>
              </a:xfrm>
              <a:prstGeom prst="rect">
                <a:avLst/>
              </a:prstGeom>
              <a:blipFill>
                <a:blip r:embed="rId6"/>
                <a:stretch>
                  <a:fillRect/>
                </a:stretch>
              </a:blipFill>
            </p:spPr>
            <p:txBody>
              <a:bodyPr/>
              <a:lstStyle/>
              <a:p>
                <a:endParaRPr lang="en-US"/>
              </a:p>
            </p:txBody>
          </p:sp>
        </mc:Fallback>
      </mc:AlternateContent>
      <p:sp>
        <p:nvSpPr>
          <p:cNvPr id="39" name="TextBox 38"/>
          <p:cNvSpPr txBox="1"/>
          <p:nvPr/>
        </p:nvSpPr>
        <p:spPr>
          <a:xfrm>
            <a:off x="10309860" y="4487309"/>
            <a:ext cx="6812280" cy="739539"/>
          </a:xfrm>
          <a:prstGeom prst="rect">
            <a:avLst/>
          </a:prstGeom>
          <a:noFill/>
        </p:spPr>
        <p:txBody>
          <a:bodyPr anchor="ctr" rtlCol="false" lIns="0" tIns="0" rIns="0" bIns="0" wrap="square"/>
          <a:lstStyle/>
          <a:p>
            <a:pPr algn="l">
              <a:lnSpc>
                <a:spcPts val="1700"/>
              </a:lnSpc>
              <a:spcBef>
                <a:spcPts val="0"/>
              </a:spcBef>
              <a:buNone/>
            </a:pPr>
            <a:r>
              <a:rPr lang="en-US" sz="1400" b="true">
                <a:solidFill>
                  <a:srgbClr val="111111"/>
                </a:solidFill>
                <a:latin typeface="Nunito Semi-Bold"/>
                <a:ea typeface="Nunito Semi-Bold"/>
                <a:cs typeface="Nunito Semi-Bold"/>
                <a:sym typeface="Nunito Semi-Bold"/>
              </a:rPr>
              <a:t>Share of the user's relevant items that appear in the top-K list.</a:t>
            </a:r>
          </a:p>
        </p:txBody>
      </p:sp>
      <p:cxnSp>
        <p:nvCxnSpPr>
          <p:cNvPr id="40" name="Connector 39"/>
          <p:cNvCxnSpPr/>
          <p:nvPr/>
        </p:nvCxnSpPr>
        <p:spPr>
          <a:xfrm>
            <a:off x="1028700" y="5226848"/>
            <a:ext cx="16230600" cy="0"/>
          </a:xfrm>
          <a:prstGeom prst="line">
            <a:avLst/>
          </a:prstGeom>
          <a:ln w="12700">
            <a:solidFill>
              <a:srgbClr val="E3D6C4"/>
            </a:solidFill>
          </a:ln>
        </p:spPr>
      </p:cxnSp>
      <p:sp>
        <p:nvSpPr>
          <p:cNvPr id="41" name="Rectangle 40"/>
          <p:cNvSpPr/>
          <p:nvPr/>
        </p:nvSpPr>
        <p:spPr>
          <a:xfrm>
            <a:off x="1028700" y="5226848"/>
            <a:ext cx="16230600" cy="739539"/>
          </a:xfrm>
          <a:prstGeom prst="rect">
            <a:avLst/>
          </a:prstGeom>
          <a:solidFill>
            <a:srgbClr val="FFFFFF"/>
          </a:solidFill>
          <a:ln>
            <a:noFill/>
          </a:ln>
        </p:spPr>
        <p:txBody>
          <a:bodyPr anchor="ctr" rtlCol="false" lIns="0" tIns="0" rIns="0" bIns="0" wrap="square"/>
          <a:lstStyle/>
          <a:p>
            <a:endParaRPr lang="en-US" sz="1800"/>
          </a:p>
        </p:txBody>
      </p:sp>
      <p:sp>
        <p:nvSpPr>
          <p:cNvPr id="42" name="TextBox 41"/>
          <p:cNvSpPr txBox="1"/>
          <p:nvPr/>
        </p:nvSpPr>
        <p:spPr>
          <a:xfrm>
            <a:off x="1165860" y="5226848"/>
            <a:ext cx="2377440" cy="739539"/>
          </a:xfrm>
          <a:prstGeom prst="rect">
            <a:avLst/>
          </a:prstGeom>
          <a:noFill/>
        </p:spPr>
        <p:txBody>
          <a:bodyPr anchor="ctr" rtlCol="false" lIns="0" tIns="0" rIns="0" bIns="0" wrap="square"/>
          <a:lstStyle/>
          <a:p>
            <a:pPr algn="l">
              <a:lnSpc>
                <a:spcPts val="1900"/>
              </a:lnSpc>
              <a:spcBef>
                <a:spcPts val="0"/>
              </a:spcBef>
              <a:buNone/>
            </a:pPr>
            <a:r>
              <a:rPr lang="en-US" sz="1600" b="true">
                <a:solidFill>
                  <a:srgbClr val="111111"/>
                </a:solidFill>
                <a:latin typeface="Nunito Bold"/>
                <a:ea typeface="Nunito Bold"/>
                <a:cs typeface="Nunito Bold"/>
                <a:sym typeface="Nunito Bold"/>
              </a:rPr>
              <a:t>Precision@K</a:t>
            </a:r>
          </a:p>
        </p:txBody>
      </p:sp>
      <mc:AlternateContent xmlns:mc="http://schemas.openxmlformats.org/markup-compatibility/2006">
        <mc:Choice xmlns:a14="http://schemas.microsoft.com/office/drawing/2010/main" Requires="a14">
          <p:sp>
            <p:nvSpPr>
              <p:cNvPr id="43" name="Equation"/>
              <p:cNvSpPr txBox="1"/>
              <p:nvPr/>
            </p:nvSpPr>
            <p:spPr>
              <a:xfrm>
                <a:off x="3771900" y="5254280"/>
                <a:ext cx="6309360" cy="684675"/>
              </a:xfrm>
              <a:prstGeom prst="rect">
                <a:avLst/>
              </a:prstGeom>
              <a:noFill/>
            </p:spPr>
            <p:txBody>
              <a:bodyPr wrap="none" rtlCol="0" anchor="ctr" lIns="0" tIns="0" rIns="0" bIns="0"/>
              <a:lstStyle/>
              <a:p>
                <a:pPr algn="l"/>
                <a14:m xmlns:m="http://schemas.openxmlformats.org/officeDocument/2006/math">
                  <m:oMathPara>
                    <m:oMathParaPr>
                      <m:jc m:val="left"/>
                    </m:oMathParaPr>
                    <m:oMath>
                      <m:r>
                        <m:rPr>
                          <m:sty m:val="p"/>
                        </m:rPr>
                        <a:rPr lang="en-US" sz="1250">
                          <a:solidFill>
                            <a:srgbClr val="111111"/>
                          </a:solidFill>
                          <a:latin typeface="Cambria Math" panose="02040503050406030204" pitchFamily="18" charset="0"/>
                        </a:rPr>
                        <m:t xml:space="preserve">Precision@</m:t>
                      </m:r>
                      <m:r>
                        <a:rPr lang="en-US" sz="1250" i="1">
                          <a:solidFill>
                            <a:srgbClr val="111111"/>
                          </a:solidFill>
                          <a:latin typeface="Cambria Math" panose="02040503050406030204" pitchFamily="18" charset="0"/>
                        </a:rPr>
                        <m:t xml:space="preserve">K</m:t>
                      </m:r>
                      <m:r>
                        <m:rPr>
                          <m:sty m:val="p"/>
                        </m:rPr>
                        <a:rPr lang="en-US" sz="1250">
                          <a:solidFill>
                            <a:srgbClr val="111111"/>
                          </a:solidFill>
                          <a:latin typeface="Cambria Math" panose="02040503050406030204" pitchFamily="18" charset="0"/>
                        </a:rPr>
                        <m:t xml:space="preserve">=</m:t>
                      </m:r>
                      <m:f>
                        <m:fPr>
                          <m:ctrlPr>
                            <a:rPr lang="en-US" sz="1250" i="1">
                              <a:solidFill>
                                <a:srgbClr val="111111"/>
                              </a:solidFill>
                              <a:latin typeface="Cambria Math" panose="02040503050406030204" pitchFamily="18" charset="0"/>
                            </a:rPr>
                          </m:ctrlPr>
                        </m:fPr>
                        <m:num>
                          <m:r>
                            <m:rPr>
                              <m:sty m:val="p"/>
                            </m:rPr>
                            <a:rPr lang="en-US" sz="1250">
                              <a:solidFill>
                                <a:srgbClr val="111111"/>
                              </a:solidFill>
                              <a:latin typeface="Cambria Math" panose="02040503050406030204" pitchFamily="18" charset="0"/>
                            </a:rPr>
                            <m:t xml:space="preserve">| </m:t>
                          </m:r>
                          <m:sSubSup>
                            <m:sSubSupPr>
                              <m:ctrlPr>
                                <a:rPr lang="en-US" sz="1250" i="1">
                                  <a:solidFill>
                                    <a:srgbClr val="111111"/>
                                  </a:solidFill>
                                  <a:latin typeface="Cambria Math" panose="02040503050406030204" pitchFamily="18" charset="0"/>
                                </a:rPr>
                              </m:ctrlPr>
                            </m:sSubSupPr>
                            <m:e>
                              <m:r>
                                <a:rPr lang="en-US" sz="1250" i="1">
                                  <a:solidFill>
                                    <a:srgbClr val="111111"/>
                                  </a:solidFill>
                                  <a:latin typeface="Cambria Math" panose="02040503050406030204" pitchFamily="18" charset="0"/>
                                </a:rPr>
                                <m:t xml:space="preserve">L</m:t>
                              </m:r>
                            </m:e>
                            <m:sub>
                              <m:r>
                                <a:rPr lang="en-US" sz="1250" i="1">
                                  <a:solidFill>
                                    <a:srgbClr val="111111"/>
                                  </a:solidFill>
                                  <a:latin typeface="Cambria Math" panose="02040503050406030204" pitchFamily="18" charset="0"/>
                                </a:rPr>
                                <m:t xml:space="preserve">u</m:t>
                              </m:r>
                            </m:sub>
                            <m:sup>
                              <m:r>
                                <a:rPr lang="en-US" sz="1250" i="1">
                                  <a:solidFill>
                                    <a:srgbClr val="111111"/>
                                  </a:solidFill>
                                  <a:latin typeface="Cambria Math" panose="02040503050406030204" pitchFamily="18" charset="0"/>
                                </a:rPr>
                                <m:t xml:space="preserve">K</m:t>
                              </m:r>
                            </m:sup>
                          </m:sSubSup>
                          <m:r>
                            <m:rPr>
                              <m:sty m:val="p"/>
                            </m:rPr>
                            <a:rPr lang="en-US" sz="1250">
                              <a:solidFill>
                                <a:srgbClr val="111111"/>
                              </a:solidFill>
                              <a:latin typeface="Cambria Math" panose="02040503050406030204" pitchFamily="18" charset="0"/>
                            </a:rPr>
                            <m:t xml:space="preserve">∩</m:t>
                          </m:r>
                          <m:sSub>
                            <m:sSubPr>
                              <m:ctrlPr>
                                <a:rPr lang="en-US" sz="1250" i="1">
                                  <a:solidFill>
                                    <a:srgbClr val="111111"/>
                                  </a:solidFill>
                                  <a:latin typeface="Cambria Math" panose="02040503050406030204" pitchFamily="18" charset="0"/>
                                </a:rPr>
                              </m:ctrlPr>
                            </m:sSubPr>
                            <m:e>
                              <m:r>
                                <m:rPr>
                                  <m:scr m:val="script"/>
                                  <m:sty m:val="p"/>
                                </m:rPr>
                                <a:rPr lang="en-US" sz="1250">
                                  <a:solidFill>
                                    <a:srgbClr val="111111"/>
                                  </a:solidFill>
                                  <a:latin typeface="Cambria Math" panose="02040503050406030204" pitchFamily="18" charset="0"/>
                                </a:rPr>
                                <m:t xml:space="preserve">R</m:t>
                              </m:r>
                            </m:e>
                            <m:sub>
                              <m:r>
                                <a:rPr lang="en-US" sz="1250" i="1">
                                  <a:solidFill>
                                    <a:srgbClr val="111111"/>
                                  </a:solidFill>
                                  <a:latin typeface="Cambria Math" panose="02040503050406030204" pitchFamily="18" charset="0"/>
                                </a:rPr>
                                <m:t xml:space="preserve">u</m:t>
                              </m:r>
                            </m:sub>
                          </m:sSub>
                          <m:r>
                            <m:rPr>
                              <m:sty m:val="p"/>
                            </m:rPr>
                            <a:rPr lang="en-US" sz="1250">
                              <a:solidFill>
                                <a:srgbClr val="111111"/>
                              </a:solidFill>
                              <a:latin typeface="Cambria Math" panose="02040503050406030204" pitchFamily="18" charset="0"/>
                            </a:rPr>
                            <m:t xml:space="preserve"> |</m:t>
                          </m:r>
                        </m:num>
                        <m:den>
                          <m:r>
                            <a:rPr lang="en-US" sz="1250" i="1">
                              <a:solidFill>
                                <a:srgbClr val="111111"/>
                              </a:solidFill>
                              <a:latin typeface="Cambria Math" panose="02040503050406030204" pitchFamily="18" charset="0"/>
                            </a:rPr>
                            <m:t xml:space="preserve">K</m:t>
                          </m:r>
                        </m:den>
                      </m:f>
                    </m:oMath>
                  </m:oMathPara>
                </a14:m>
                <a:endParaRPr lang="en-US" sz="1250"/>
              </a:p>
            </p:txBody>
          </p:sp>
        </mc:Choice>
        <mc:Fallback>
          <p:sp>
            <p:nvSpPr>
              <p:cNvPr id="43" name="Equation"/>
              <p:cNvSpPr txBox="1"/>
              <p:nvPr/>
            </p:nvSpPr>
            <p:spPr>
              <a:xfrm>
                <a:off x="3771900" y="5254280"/>
                <a:ext cx="6309360" cy="684675"/>
              </a:xfrm>
              <a:prstGeom prst="rect">
                <a:avLst/>
              </a:prstGeom>
              <a:blipFill>
                <a:blip r:embed="rId7"/>
                <a:stretch>
                  <a:fillRect/>
                </a:stretch>
              </a:blipFill>
            </p:spPr>
            <p:txBody>
              <a:bodyPr/>
              <a:lstStyle/>
              <a:p>
                <a:endParaRPr lang="en-US"/>
              </a:p>
            </p:txBody>
          </p:sp>
        </mc:Fallback>
      </mc:AlternateContent>
      <p:sp>
        <p:nvSpPr>
          <p:cNvPr id="44" name="TextBox 43"/>
          <p:cNvSpPr txBox="1"/>
          <p:nvPr/>
        </p:nvSpPr>
        <p:spPr>
          <a:xfrm>
            <a:off x="10309860" y="5226848"/>
            <a:ext cx="6812280" cy="739539"/>
          </a:xfrm>
          <a:prstGeom prst="rect">
            <a:avLst/>
          </a:prstGeom>
          <a:noFill/>
        </p:spPr>
        <p:txBody>
          <a:bodyPr anchor="ctr" rtlCol="false" lIns="0" tIns="0" rIns="0" bIns="0" wrap="square"/>
          <a:lstStyle/>
          <a:p>
            <a:pPr algn="l">
              <a:lnSpc>
                <a:spcPts val="1700"/>
              </a:lnSpc>
              <a:spcBef>
                <a:spcPts val="0"/>
              </a:spcBef>
              <a:buNone/>
            </a:pPr>
            <a:r>
              <a:rPr lang="en-US" sz="1400" b="true">
                <a:solidFill>
                  <a:srgbClr val="111111"/>
                </a:solidFill>
                <a:latin typeface="Nunito Semi-Bold"/>
                <a:ea typeface="Nunito Semi-Bold"/>
                <a:cs typeface="Nunito Semi-Bold"/>
                <a:sym typeface="Nunito Semi-Bold"/>
              </a:rPr>
              <a:t>Share of the top-K list that is relevant.</a:t>
            </a:r>
          </a:p>
        </p:txBody>
      </p:sp>
      <p:cxnSp>
        <p:nvCxnSpPr>
          <p:cNvPr id="45" name="Connector 44"/>
          <p:cNvCxnSpPr/>
          <p:nvPr/>
        </p:nvCxnSpPr>
        <p:spPr>
          <a:xfrm>
            <a:off x="1028700" y="5966387"/>
            <a:ext cx="16230600" cy="0"/>
          </a:xfrm>
          <a:prstGeom prst="line">
            <a:avLst/>
          </a:prstGeom>
          <a:ln w="12700">
            <a:solidFill>
              <a:srgbClr val="E3D6C4"/>
            </a:solidFill>
          </a:ln>
        </p:spPr>
      </p:cxnSp>
      <p:sp>
        <p:nvSpPr>
          <p:cNvPr id="46" name="Rectangle 45"/>
          <p:cNvSpPr/>
          <p:nvPr/>
        </p:nvSpPr>
        <p:spPr>
          <a:xfrm>
            <a:off x="1028700" y="5966387"/>
            <a:ext cx="16230600" cy="739539"/>
          </a:xfrm>
          <a:prstGeom prst="rect">
            <a:avLst/>
          </a:prstGeom>
          <a:solidFill>
            <a:srgbClr val="F6ECDF"/>
          </a:solidFill>
          <a:ln>
            <a:noFill/>
          </a:ln>
        </p:spPr>
        <p:txBody>
          <a:bodyPr anchor="ctr" rtlCol="false" lIns="0" tIns="0" rIns="0" bIns="0" wrap="square"/>
          <a:lstStyle/>
          <a:p>
            <a:endParaRPr lang="en-US" sz="1800"/>
          </a:p>
        </p:txBody>
      </p:sp>
      <p:sp>
        <p:nvSpPr>
          <p:cNvPr id="47" name="TextBox 46"/>
          <p:cNvSpPr txBox="1"/>
          <p:nvPr/>
        </p:nvSpPr>
        <p:spPr>
          <a:xfrm>
            <a:off x="1165860" y="5966387"/>
            <a:ext cx="2377440" cy="739539"/>
          </a:xfrm>
          <a:prstGeom prst="rect">
            <a:avLst/>
          </a:prstGeom>
          <a:noFill/>
        </p:spPr>
        <p:txBody>
          <a:bodyPr anchor="ctr" rtlCol="false" lIns="0" tIns="0" rIns="0" bIns="0" wrap="square"/>
          <a:lstStyle/>
          <a:p>
            <a:pPr algn="l">
              <a:lnSpc>
                <a:spcPts val="1900"/>
              </a:lnSpc>
              <a:spcBef>
                <a:spcPts val="0"/>
              </a:spcBef>
              <a:buNone/>
            </a:pPr>
            <a:r>
              <a:rPr lang="en-US" sz="1600" b="true">
                <a:solidFill>
                  <a:srgbClr val="111111"/>
                </a:solidFill>
                <a:latin typeface="Nunito Bold"/>
                <a:ea typeface="Nunito Bold"/>
                <a:cs typeface="Nunito Bold"/>
                <a:sym typeface="Nunito Bold"/>
              </a:rPr>
              <a:t>Catalogue Coverage</a:t>
            </a:r>
          </a:p>
        </p:txBody>
      </p:sp>
      <mc:AlternateContent xmlns:mc="http://schemas.openxmlformats.org/markup-compatibility/2006">
        <mc:Choice xmlns:a14="http://schemas.microsoft.com/office/drawing/2010/main" Requires="a14">
          <p:sp>
            <p:nvSpPr>
              <p:cNvPr id="48" name="Equation"/>
              <p:cNvSpPr txBox="1"/>
              <p:nvPr/>
            </p:nvSpPr>
            <p:spPr>
              <a:xfrm>
                <a:off x="3771900" y="5993819"/>
                <a:ext cx="6309360" cy="684675"/>
              </a:xfrm>
              <a:prstGeom prst="rect">
                <a:avLst/>
              </a:prstGeom>
              <a:noFill/>
            </p:spPr>
            <p:txBody>
              <a:bodyPr wrap="none" rtlCol="0" anchor="ctr" lIns="0" tIns="0" rIns="0" bIns="0"/>
              <a:lstStyle/>
              <a:p>
                <a:pPr algn="l"/>
                <a14:m xmlns:m="http://schemas.openxmlformats.org/officeDocument/2006/math">
                  <m:oMathPara>
                    <m:oMathParaPr>
                      <m:jc m:val="left"/>
                    </m:oMathParaPr>
                    <m:oMath>
                      <m:r>
                        <m:rPr>
                          <m:sty m:val="p"/>
                        </m:rPr>
                        <a:rPr lang="en-US" sz="1250">
                          <a:solidFill>
                            <a:srgbClr val="111111"/>
                          </a:solidFill>
                          <a:latin typeface="Cambria Math" panose="02040503050406030204" pitchFamily="18" charset="0"/>
                        </a:rPr>
                        <m:t xml:space="preserve">Cov=</m:t>
                      </m:r>
                      <m:f>
                        <m:fPr>
                          <m:ctrlPr>
                            <a:rPr lang="en-US" sz="1250" i="1">
                              <a:solidFill>
                                <a:srgbClr val="111111"/>
                              </a:solidFill>
                              <a:latin typeface="Cambria Math" panose="02040503050406030204" pitchFamily="18" charset="0"/>
                            </a:rPr>
                          </m:ctrlPr>
                        </m:fPr>
                        <m:num>
                          <m:d>
                            <m:dPr>
                              <m:begChr m:val="|"/>
                              <m:endChr m:val="|"/>
                              <m:ctrlPr>
                                <a:rPr lang="en-US" sz="1250" i="1">
                                  <a:solidFill>
                                    <a:srgbClr val="111111"/>
                                  </a:solidFill>
                                  <a:latin typeface="Cambria Math" panose="02040503050406030204" pitchFamily="18" charset="0"/>
                                </a:rPr>
                              </m:ctrlPr>
                            </m:dPr>
                            <m:e>
                              <m:r>
                                <m:rPr>
                                  <m:sty m:val="p"/>
                                </m:rPr>
                                <a:rPr lang="en-US" sz="1250">
                                  <a:solidFill>
                                    <a:srgbClr val="111111"/>
                                  </a:solidFill>
                                  <a:latin typeface="Cambria Math" panose="02040503050406030204" pitchFamily="18" charset="0"/>
                                </a:rPr>
                                <m:t xml:space="preserve"> </m:t>
                              </m:r>
                              <m:nary>
                                <m:naryPr>
                                  <m:chr m:val="⋃"/>
                                  <m:limLoc m:val="subSup"/>
                                  <m:supHide m:val="1"/>
                                  <m:ctrlPr>
                                    <a:rPr lang="en-US" sz="1250" i="1">
                                      <a:solidFill>
                                        <a:srgbClr val="111111"/>
                                      </a:solidFill>
                                      <a:latin typeface="Cambria Math" panose="02040503050406030204" pitchFamily="18" charset="0"/>
                                    </a:rPr>
                                  </m:ctrlPr>
                                </m:naryPr>
                                <m:sub>
                                  <m:r>
                                    <a:rPr lang="en-US" sz="1250" i="1">
                                      <a:solidFill>
                                        <a:srgbClr val="111111"/>
                                      </a:solidFill>
                                      <a:latin typeface="Cambria Math" panose="02040503050406030204" pitchFamily="18" charset="0"/>
                                    </a:rPr>
                                    <m:t xml:space="preserve">u</m:t>
                                  </m:r>
                                </m:sub>
                                <m:sup/>
                                <m:e>
                                  <m:sSubSup>
                                    <m:sSubSupPr>
                                      <m:ctrlPr>
                                        <a:rPr lang="en-US" sz="1250" i="1">
                                          <a:solidFill>
                                            <a:srgbClr val="111111"/>
                                          </a:solidFill>
                                          <a:latin typeface="Cambria Math" panose="02040503050406030204" pitchFamily="18" charset="0"/>
                                        </a:rPr>
                                      </m:ctrlPr>
                                    </m:sSubSupPr>
                                    <m:e>
                                      <m:r>
                                        <a:rPr lang="en-US" sz="1250" i="1">
                                          <a:solidFill>
                                            <a:srgbClr val="111111"/>
                                          </a:solidFill>
                                          <a:latin typeface="Cambria Math" panose="02040503050406030204" pitchFamily="18" charset="0"/>
                                        </a:rPr>
                                        <m:t xml:space="preserve">L</m:t>
                                      </m:r>
                                    </m:e>
                                    <m:sub>
                                      <m:r>
                                        <a:rPr lang="en-US" sz="1250" i="1">
                                          <a:solidFill>
                                            <a:srgbClr val="111111"/>
                                          </a:solidFill>
                                          <a:latin typeface="Cambria Math" panose="02040503050406030204" pitchFamily="18" charset="0"/>
                                        </a:rPr>
                                        <m:t xml:space="preserve">u</m:t>
                                      </m:r>
                                    </m:sub>
                                    <m:sup>
                                      <m:r>
                                        <a:rPr lang="en-US" sz="1250" i="1">
                                          <a:solidFill>
                                            <a:srgbClr val="111111"/>
                                          </a:solidFill>
                                          <a:latin typeface="Cambria Math" panose="02040503050406030204" pitchFamily="18" charset="0"/>
                                        </a:rPr>
                                        <m:t xml:space="preserve">K</m:t>
                                      </m:r>
                                    </m:sup>
                                  </m:sSubSup>
                                </m:e>
                              </m:nary>
                              <m:r>
                                <m:rPr>
                                  <m:sty m:val="p"/>
                                </m:rPr>
                                <a:rPr lang="en-US" sz="1250">
                                  <a:solidFill>
                                    <a:srgbClr val="111111"/>
                                  </a:solidFill>
                                  <a:latin typeface="Cambria Math" panose="02040503050406030204" pitchFamily="18" charset="0"/>
                                </a:rPr>
                                <m:t xml:space="preserve"> </m:t>
                              </m:r>
                            </m:e>
                          </m:d>
                        </m:num>
                        <m:den>
                          <m:d>
                            <m:dPr>
                              <m:begChr m:val="|"/>
                              <m:endChr m:val="|"/>
                              <m:ctrlPr>
                                <a:rPr lang="en-US" sz="1250" i="1">
                                  <a:solidFill>
                                    <a:srgbClr val="111111"/>
                                  </a:solidFill>
                                  <a:latin typeface="Cambria Math" panose="02040503050406030204" pitchFamily="18" charset="0"/>
                                </a:rPr>
                              </m:ctrlPr>
                            </m:dPr>
                            <m:e>
                              <m:r>
                                <m:rPr>
                                  <m:sty m:val="p"/>
                                </m:rPr>
                                <a:rPr lang="en-US" sz="1250">
                                  <a:solidFill>
                                    <a:srgbClr val="111111"/>
                                  </a:solidFill>
                                  <a:latin typeface="Cambria Math" panose="02040503050406030204" pitchFamily="18" charset="0"/>
                                </a:rPr>
                                <m:t xml:space="preserve"> </m:t>
                              </m:r>
                              <m:r>
                                <a:rPr lang="en-US" sz="1250" i="1">
                                  <a:solidFill>
                                    <a:srgbClr val="111111"/>
                                  </a:solidFill>
                                  <a:latin typeface="Cambria Math" panose="02040503050406030204" pitchFamily="18" charset="0"/>
                                </a:rPr>
                                <m:t xml:space="preserve">I</m:t>
                              </m:r>
                              <m:r>
                                <m:rPr>
                                  <m:sty m:val="p"/>
                                </m:rPr>
                                <a:rPr lang="en-US" sz="1250">
                                  <a:solidFill>
                                    <a:srgbClr val="111111"/>
                                  </a:solidFill>
                                  <a:latin typeface="Cambria Math" panose="02040503050406030204" pitchFamily="18" charset="0"/>
                                </a:rPr>
                                <m:t xml:space="preserve"> </m:t>
                              </m:r>
                            </m:e>
                          </m:d>
                        </m:den>
                      </m:f>
                    </m:oMath>
                  </m:oMathPara>
                </a14:m>
                <a:endParaRPr lang="en-US" sz="1250"/>
              </a:p>
            </p:txBody>
          </p:sp>
        </mc:Choice>
        <mc:Fallback>
          <p:sp>
            <p:nvSpPr>
              <p:cNvPr id="48" name="Equation"/>
              <p:cNvSpPr txBox="1"/>
              <p:nvPr/>
            </p:nvSpPr>
            <p:spPr>
              <a:xfrm>
                <a:off x="3771900" y="5993819"/>
                <a:ext cx="6309360" cy="684675"/>
              </a:xfrm>
              <a:prstGeom prst="rect">
                <a:avLst/>
              </a:prstGeom>
              <a:blipFill>
                <a:blip r:embed="rId8"/>
                <a:stretch>
                  <a:fillRect/>
                </a:stretch>
              </a:blipFill>
            </p:spPr>
            <p:txBody>
              <a:bodyPr/>
              <a:lstStyle/>
              <a:p>
                <a:endParaRPr lang="en-US"/>
              </a:p>
            </p:txBody>
          </p:sp>
        </mc:Fallback>
      </mc:AlternateContent>
      <p:sp>
        <p:nvSpPr>
          <p:cNvPr id="49" name="TextBox 48"/>
          <p:cNvSpPr txBox="1"/>
          <p:nvPr/>
        </p:nvSpPr>
        <p:spPr>
          <a:xfrm>
            <a:off x="10309860" y="5966387"/>
            <a:ext cx="6812280" cy="739539"/>
          </a:xfrm>
          <a:prstGeom prst="rect">
            <a:avLst/>
          </a:prstGeom>
          <a:noFill/>
        </p:spPr>
        <p:txBody>
          <a:bodyPr anchor="ctr" rtlCol="false" lIns="0" tIns="0" rIns="0" bIns="0" wrap="square"/>
          <a:lstStyle/>
          <a:p>
            <a:pPr algn="l">
              <a:lnSpc>
                <a:spcPts val="1700"/>
              </a:lnSpc>
              <a:spcBef>
                <a:spcPts val="0"/>
              </a:spcBef>
              <a:buNone/>
            </a:pPr>
            <a:r>
              <a:rPr lang="en-US" sz="1400" b="true">
                <a:solidFill>
                  <a:srgbClr val="111111"/>
                </a:solidFill>
                <a:latin typeface="Nunito Semi-Bold"/>
                <a:ea typeface="Nunito Semi-Bold"/>
                <a:cs typeface="Nunito Semi-Bold"/>
                <a:sym typeface="Nunito Semi-Bold"/>
              </a:rPr>
              <a:t>System-level diversity: how much of the catalogue is ever recommended.</a:t>
            </a:r>
          </a:p>
        </p:txBody>
      </p:sp>
      <p:cxnSp>
        <p:nvCxnSpPr>
          <p:cNvPr id="50" name="Connector 49"/>
          <p:cNvCxnSpPr/>
          <p:nvPr/>
        </p:nvCxnSpPr>
        <p:spPr>
          <a:xfrm>
            <a:off x="1028700" y="6705926"/>
            <a:ext cx="16230600" cy="0"/>
          </a:xfrm>
          <a:prstGeom prst="line">
            <a:avLst/>
          </a:prstGeom>
          <a:ln w="12700">
            <a:solidFill>
              <a:srgbClr val="E3D6C4"/>
            </a:solidFill>
          </a:ln>
        </p:spPr>
      </p:cxnSp>
      <p:sp>
        <p:nvSpPr>
          <p:cNvPr id="51" name="Rectangle 50"/>
          <p:cNvSpPr/>
          <p:nvPr/>
        </p:nvSpPr>
        <p:spPr>
          <a:xfrm>
            <a:off x="1028700" y="6705926"/>
            <a:ext cx="16230600" cy="739539"/>
          </a:xfrm>
          <a:prstGeom prst="rect">
            <a:avLst/>
          </a:prstGeom>
          <a:solidFill>
            <a:srgbClr val="FFFFFF"/>
          </a:solidFill>
          <a:ln>
            <a:noFill/>
          </a:ln>
        </p:spPr>
        <p:txBody>
          <a:bodyPr anchor="ctr" rtlCol="false" lIns="0" tIns="0" rIns="0" bIns="0" wrap="square"/>
          <a:lstStyle/>
          <a:p>
            <a:endParaRPr lang="en-US" sz="1800"/>
          </a:p>
        </p:txBody>
      </p:sp>
      <p:sp>
        <p:nvSpPr>
          <p:cNvPr id="52" name="TextBox 51"/>
          <p:cNvSpPr txBox="1"/>
          <p:nvPr/>
        </p:nvSpPr>
        <p:spPr>
          <a:xfrm>
            <a:off x="1165860" y="6705926"/>
            <a:ext cx="2377440" cy="739539"/>
          </a:xfrm>
          <a:prstGeom prst="rect">
            <a:avLst/>
          </a:prstGeom>
          <a:noFill/>
        </p:spPr>
        <p:txBody>
          <a:bodyPr anchor="ctr" rtlCol="false" lIns="0" tIns="0" rIns="0" bIns="0" wrap="square"/>
          <a:lstStyle/>
          <a:p>
            <a:pPr algn="l">
              <a:lnSpc>
                <a:spcPts val="1900"/>
              </a:lnSpc>
              <a:spcBef>
                <a:spcPts val="0"/>
              </a:spcBef>
              <a:buNone/>
            </a:pPr>
            <a:r>
              <a:rPr lang="en-US" sz="1600" b="true">
                <a:solidFill>
                  <a:srgbClr val="111111"/>
                </a:solidFill>
                <a:latin typeface="Nunito Bold"/>
                <a:ea typeface="Nunito Bold"/>
                <a:cs typeface="Nunito Bold"/>
                <a:sym typeface="Nunito Bold"/>
              </a:rPr>
              <a:t>Intra-List Diversity</a:t>
            </a:r>
          </a:p>
        </p:txBody>
      </p:sp>
      <mc:AlternateContent xmlns:mc="http://schemas.openxmlformats.org/markup-compatibility/2006">
        <mc:Choice xmlns:a14="http://schemas.microsoft.com/office/drawing/2010/main" Requires="a14">
          <p:sp>
            <p:nvSpPr>
              <p:cNvPr id="53" name="Equation"/>
              <p:cNvSpPr txBox="1"/>
              <p:nvPr/>
            </p:nvSpPr>
            <p:spPr>
              <a:xfrm>
                <a:off x="3771900" y="6733358"/>
                <a:ext cx="6309360" cy="684675"/>
              </a:xfrm>
              <a:prstGeom prst="rect">
                <a:avLst/>
              </a:prstGeom>
              <a:noFill/>
            </p:spPr>
            <p:txBody>
              <a:bodyPr wrap="none" rtlCol="0" anchor="ctr" lIns="0" tIns="0" rIns="0" bIns="0"/>
              <a:lstStyle/>
              <a:p>
                <a:pPr algn="l"/>
                <a14:m xmlns:m="http://schemas.openxmlformats.org/officeDocument/2006/math">
                  <m:oMathPara>
                    <m:oMathParaPr>
                      <m:jc m:val="left"/>
                    </m:oMathParaPr>
                    <m:oMath>
                      <m:r>
                        <m:rPr>
                          <m:sty m:val="p"/>
                        </m:rPr>
                        <a:rPr lang="en-US" sz="1150">
                          <a:solidFill>
                            <a:srgbClr val="111111"/>
                          </a:solidFill>
                          <a:latin typeface="Cambria Math" panose="02040503050406030204" pitchFamily="18" charset="0"/>
                        </a:rPr>
                        <m:t xml:space="preserve">ILD(</m:t>
                      </m:r>
                      <m:sSub>
                        <m:sSubPr>
                          <m:ctrlPr>
                            <a:rPr lang="en-US" sz="1150" i="1">
                              <a:solidFill>
                                <a:srgbClr val="111111"/>
                              </a:solidFill>
                              <a:latin typeface="Cambria Math" panose="02040503050406030204" pitchFamily="18" charset="0"/>
                            </a:rPr>
                          </m:ctrlPr>
                        </m:sSubPr>
                        <m:e>
                          <m:r>
                            <a:rPr lang="en-US" sz="1150" i="1">
                              <a:solidFill>
                                <a:srgbClr val="111111"/>
                              </a:solidFill>
                              <a:latin typeface="Cambria Math" panose="02040503050406030204" pitchFamily="18" charset="0"/>
                            </a:rPr>
                            <m:t xml:space="preserve">L</m:t>
                          </m:r>
                        </m:e>
                        <m:sub>
                          <m:r>
                            <a:rPr lang="en-US" sz="1150" i="1">
                              <a:solidFill>
                                <a:srgbClr val="111111"/>
                              </a:solidFill>
                              <a:latin typeface="Cambria Math" panose="02040503050406030204" pitchFamily="18" charset="0"/>
                            </a:rPr>
                            <m:t xml:space="preserve">u</m:t>
                          </m:r>
                        </m:sub>
                      </m:sSub>
                      <m:r>
                        <m:rPr>
                          <m:sty m:val="p"/>
                        </m:rPr>
                        <a:rPr lang="en-US" sz="1150">
                          <a:solidFill>
                            <a:srgbClr val="111111"/>
                          </a:solidFill>
                          <a:latin typeface="Cambria Math" panose="02040503050406030204" pitchFamily="18" charset="0"/>
                        </a:rPr>
                        <m:t xml:space="preserve">)=</m:t>
                      </m:r>
                      <m:f>
                        <m:fPr>
                          <m:ctrlPr>
                            <a:rPr lang="en-US" sz="1150" i="1">
                              <a:solidFill>
                                <a:srgbClr val="111111"/>
                              </a:solidFill>
                              <a:latin typeface="Cambria Math" panose="02040503050406030204" pitchFamily="18" charset="0"/>
                            </a:rPr>
                          </m:ctrlPr>
                        </m:fPr>
                        <m:num>
                          <m:r>
                            <m:rPr>
                              <m:sty m:val="p"/>
                            </m:rPr>
                            <a:rPr lang="en-US" sz="1150">
                              <a:solidFill>
                                <a:srgbClr val="111111"/>
                              </a:solidFill>
                              <a:latin typeface="Cambria Math" panose="02040503050406030204" pitchFamily="18" charset="0"/>
                            </a:rPr>
                            <m:t xml:space="preserve">2</m:t>
                          </m:r>
                        </m:num>
                        <m:den>
                          <m:r>
                            <a:rPr lang="en-US" sz="1150" i="1">
                              <a:solidFill>
                                <a:srgbClr val="111111"/>
                              </a:solidFill>
                              <a:latin typeface="Cambria Math" panose="02040503050406030204" pitchFamily="18" charset="0"/>
                            </a:rPr>
                            <m:t xml:space="preserve">K</m:t>
                          </m:r>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K</m:t>
                          </m:r>
                          <m:r>
                            <m:rPr>
                              <m:sty m:val="p"/>
                            </m:rPr>
                            <a:rPr lang="en-US" sz="1150">
                              <a:solidFill>
                                <a:srgbClr val="111111"/>
                              </a:solidFill>
                              <a:latin typeface="Cambria Math" panose="02040503050406030204" pitchFamily="18" charset="0"/>
                            </a:rPr>
                            <m:t xml:space="preserve">−1)</m:t>
                          </m:r>
                        </m:den>
                      </m:f>
                      <m:nary>
                        <m:naryPr>
                          <m:chr m:val="∑"/>
                          <m:limLoc m:val="subSup"/>
                          <m:supHide m:val="1"/>
                          <m:ctrlPr>
                            <a:rPr lang="en-US" sz="1150" i="1">
                              <a:solidFill>
                                <a:srgbClr val="111111"/>
                              </a:solidFill>
                              <a:latin typeface="Cambria Math" panose="02040503050406030204" pitchFamily="18" charset="0"/>
                            </a:rPr>
                          </m:ctrlPr>
                        </m:naryPr>
                        <m:sub>
                          <m:r>
                            <a:rPr lang="en-US" sz="1150" i="1">
                              <a:solidFill>
                                <a:srgbClr val="111111"/>
                              </a:solidFill>
                              <a:latin typeface="Cambria Math" panose="02040503050406030204" pitchFamily="18" charset="0"/>
                            </a:rPr>
                            <m:t xml:space="preserve">i</m:t>
                          </m:r>
                          <m:r>
                            <m:rPr>
                              <m:sty m:val="p"/>
                            </m:rPr>
                            <a:rPr lang="en-US" sz="1150">
                              <a:solidFill>
                                <a:srgbClr val="111111"/>
                              </a:solidFill>
                              <a:latin typeface="Cambria Math" panose="02040503050406030204" pitchFamily="18" charset="0"/>
                            </a:rPr>
                            <m:t xml:space="preserve">&lt;</m:t>
                          </m:r>
                          <m:r>
                            <a:rPr lang="en-US" sz="1150" i="1">
                              <a:solidFill>
                                <a:srgbClr val="111111"/>
                              </a:solidFill>
                              <a:latin typeface="Cambria Math" panose="02040503050406030204" pitchFamily="18" charset="0"/>
                            </a:rPr>
                            <m:t xml:space="preserve">j</m:t>
                          </m:r>
                        </m:sub>
                        <m:sup/>
                        <m:e>
                          <m:d>
                            <m:dPr>
                              <m:ctrlPr>
                                <a:rPr lang="en-US" sz="1150" i="1">
                                  <a:solidFill>
                                    <a:srgbClr val="111111"/>
                                  </a:solidFill>
                                  <a:latin typeface="Cambria Math" panose="02040503050406030204" pitchFamily="18" charset="0"/>
                                </a:rPr>
                              </m:ctrlPr>
                            </m:dPr>
                            <m:e>
                              <m:r>
                                <m:rPr>
                                  <m:sty m:val="p"/>
                                </m:rPr>
                                <a:rPr lang="en-US" sz="1150">
                                  <a:solidFill>
                                    <a:srgbClr val="111111"/>
                                  </a:solidFill>
                                  <a:latin typeface="Cambria Math" panose="02040503050406030204" pitchFamily="18" charset="0"/>
                                </a:rPr>
                                <m:t xml:space="preserve">1−sim(</m:t>
                              </m:r>
                              <m:r>
                                <a:rPr lang="en-US" sz="1150" i="1">
                                  <a:solidFill>
                                    <a:srgbClr val="111111"/>
                                  </a:solidFill>
                                  <a:latin typeface="Cambria Math" panose="02040503050406030204" pitchFamily="18" charset="0"/>
                                </a:rPr>
                                <m:t xml:space="preserve">i</m:t>
                              </m:r>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j</m:t>
                              </m:r>
                              <m:r>
                                <m:rPr>
                                  <m:sty m:val="p"/>
                                </m:rPr>
                                <a:rPr lang="en-US" sz="1150">
                                  <a:solidFill>
                                    <a:srgbClr val="111111"/>
                                  </a:solidFill>
                                  <a:latin typeface="Cambria Math" panose="02040503050406030204" pitchFamily="18" charset="0"/>
                                </a:rPr>
                                <m:t xml:space="preserve">)</m:t>
                              </m:r>
                            </m:e>
                          </m:d>
                        </m:e>
                      </m:nary>
                    </m:oMath>
                  </m:oMathPara>
                </a14:m>
                <a:endParaRPr lang="en-US" sz="1150"/>
              </a:p>
            </p:txBody>
          </p:sp>
        </mc:Choice>
        <mc:Fallback>
          <p:sp>
            <p:nvSpPr>
              <p:cNvPr id="53" name="Equation"/>
              <p:cNvSpPr txBox="1"/>
              <p:nvPr/>
            </p:nvSpPr>
            <p:spPr>
              <a:xfrm>
                <a:off x="3771900" y="6733358"/>
                <a:ext cx="6309360" cy="684675"/>
              </a:xfrm>
              <a:prstGeom prst="rect">
                <a:avLst/>
              </a:prstGeom>
              <a:blipFill>
                <a:blip r:embed="rId9"/>
                <a:stretch>
                  <a:fillRect/>
                </a:stretch>
              </a:blipFill>
            </p:spPr>
            <p:txBody>
              <a:bodyPr/>
              <a:lstStyle/>
              <a:p>
                <a:endParaRPr lang="en-US"/>
              </a:p>
            </p:txBody>
          </p:sp>
        </mc:Fallback>
      </mc:AlternateContent>
      <p:sp>
        <p:nvSpPr>
          <p:cNvPr id="54" name="TextBox 53"/>
          <p:cNvSpPr txBox="1"/>
          <p:nvPr/>
        </p:nvSpPr>
        <p:spPr>
          <a:xfrm>
            <a:off x="10309860" y="6705926"/>
            <a:ext cx="6812280" cy="739539"/>
          </a:xfrm>
          <a:prstGeom prst="rect">
            <a:avLst/>
          </a:prstGeom>
          <a:noFill/>
        </p:spPr>
        <p:txBody>
          <a:bodyPr anchor="ctr" rtlCol="false" lIns="0" tIns="0" rIns="0" bIns="0" wrap="square"/>
          <a:lstStyle/>
          <a:p>
            <a:pPr algn="l">
              <a:lnSpc>
                <a:spcPts val="1700"/>
              </a:lnSpc>
              <a:spcBef>
                <a:spcPts val="0"/>
              </a:spcBef>
              <a:buNone/>
            </a:pPr>
            <a:r>
              <a:rPr lang="en-US" sz="1400" b="true">
                <a:solidFill>
                  <a:srgbClr val="111111"/>
                </a:solidFill>
                <a:latin typeface="Nunito Semi-Bold"/>
                <a:ea typeface="Nunito Semi-Bold"/>
                <a:cs typeface="Nunito Semi-Bold"/>
                <a:sym typeface="Nunito Semi-Bold"/>
              </a:rPr>
              <a:t>List-level diversity; built into the DyHuCoG coalition utility.</a:t>
            </a:r>
          </a:p>
        </p:txBody>
      </p:sp>
      <p:cxnSp>
        <p:nvCxnSpPr>
          <p:cNvPr id="55" name="Connector 54"/>
          <p:cNvCxnSpPr/>
          <p:nvPr/>
        </p:nvCxnSpPr>
        <p:spPr>
          <a:xfrm>
            <a:off x="1028700" y="7445465"/>
            <a:ext cx="16230600" cy="0"/>
          </a:xfrm>
          <a:prstGeom prst="line">
            <a:avLst/>
          </a:prstGeom>
          <a:ln w="12700">
            <a:solidFill>
              <a:srgbClr val="E3D6C4"/>
            </a:solidFill>
          </a:ln>
        </p:spPr>
      </p:cxnSp>
      <p:sp>
        <p:nvSpPr>
          <p:cNvPr id="56" name="Rectangle 55"/>
          <p:cNvSpPr/>
          <p:nvPr/>
        </p:nvSpPr>
        <p:spPr>
          <a:xfrm>
            <a:off x="1028700" y="7445465"/>
            <a:ext cx="16230600" cy="739539"/>
          </a:xfrm>
          <a:prstGeom prst="rect">
            <a:avLst/>
          </a:prstGeom>
          <a:solidFill>
            <a:srgbClr val="F6ECDF"/>
          </a:solidFill>
          <a:ln>
            <a:noFill/>
          </a:ln>
        </p:spPr>
        <p:txBody>
          <a:bodyPr anchor="ctr" rtlCol="false" lIns="0" tIns="0" rIns="0" bIns="0" wrap="square"/>
          <a:lstStyle/>
          <a:p>
            <a:endParaRPr lang="en-US" sz="1800"/>
          </a:p>
        </p:txBody>
      </p:sp>
      <p:sp>
        <p:nvSpPr>
          <p:cNvPr id="57" name="TextBox 56"/>
          <p:cNvSpPr txBox="1"/>
          <p:nvPr/>
        </p:nvSpPr>
        <p:spPr>
          <a:xfrm>
            <a:off x="1165860" y="7445465"/>
            <a:ext cx="2377440" cy="739539"/>
          </a:xfrm>
          <a:prstGeom prst="rect">
            <a:avLst/>
          </a:prstGeom>
          <a:noFill/>
        </p:spPr>
        <p:txBody>
          <a:bodyPr anchor="ctr" rtlCol="false" lIns="0" tIns="0" rIns="0" bIns="0" wrap="square"/>
          <a:lstStyle/>
          <a:p>
            <a:pPr algn="l">
              <a:lnSpc>
                <a:spcPts val="1900"/>
              </a:lnSpc>
              <a:spcBef>
                <a:spcPts val="0"/>
              </a:spcBef>
              <a:buNone/>
            </a:pPr>
            <a:r>
              <a:rPr lang="en-US" sz="1600" b="true">
                <a:solidFill>
                  <a:srgbClr val="111111"/>
                </a:solidFill>
                <a:latin typeface="Nunito Bold"/>
                <a:ea typeface="Nunito Bold"/>
                <a:cs typeface="Nunito Bold"/>
                <a:sym typeface="Nunito Bold"/>
              </a:rPr>
              <a:t>Silhouette</a:t>
            </a:r>
          </a:p>
        </p:txBody>
      </p:sp>
      <mc:AlternateContent xmlns:mc="http://schemas.openxmlformats.org/markup-compatibility/2006">
        <mc:Choice xmlns:a14="http://schemas.microsoft.com/office/drawing/2010/main" Requires="a14">
          <p:sp>
            <p:nvSpPr>
              <p:cNvPr id="58" name="Equation"/>
              <p:cNvSpPr txBox="1"/>
              <p:nvPr/>
            </p:nvSpPr>
            <p:spPr>
              <a:xfrm>
                <a:off x="3771900" y="7472897"/>
                <a:ext cx="6309360" cy="684675"/>
              </a:xfrm>
              <a:prstGeom prst="rect">
                <a:avLst/>
              </a:prstGeom>
              <a:noFill/>
            </p:spPr>
            <p:txBody>
              <a:bodyPr wrap="none" rtlCol="0" anchor="ctr" lIns="0" tIns="0" rIns="0" bIns="0"/>
              <a:lstStyle/>
              <a:p>
                <a:pPr algn="l"/>
                <a14:m xmlns:m="http://schemas.openxmlformats.org/officeDocument/2006/math">
                  <m:oMathPara>
                    <m:oMathParaPr>
                      <m:jc m:val="left"/>
                    </m:oMathParaPr>
                    <m:oMath>
                      <m:r>
                        <a:rPr lang="en-US" sz="1150" i="1">
                          <a:solidFill>
                            <a:srgbClr val="111111"/>
                          </a:solidFill>
                          <a:latin typeface="Cambria Math" panose="02040503050406030204" pitchFamily="18" charset="0"/>
                        </a:rPr>
                        <m:t xml:space="preserve">s</m:t>
                      </m:r>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x</m:t>
                      </m:r>
                      <m:r>
                        <m:rPr>
                          <m:sty m:val="p"/>
                        </m:rPr>
                        <a:rPr lang="en-US" sz="1150">
                          <a:solidFill>
                            <a:srgbClr val="111111"/>
                          </a:solidFill>
                          <a:latin typeface="Cambria Math" panose="02040503050406030204" pitchFamily="18" charset="0"/>
                        </a:rPr>
                        <m:t xml:space="preserve">)=</m:t>
                      </m:r>
                      <m:f>
                        <m:fPr>
                          <m:ctrlPr>
                            <a:rPr lang="en-US" sz="1150" i="1">
                              <a:solidFill>
                                <a:srgbClr val="111111"/>
                              </a:solidFill>
                              <a:latin typeface="Cambria Math" panose="02040503050406030204" pitchFamily="18" charset="0"/>
                            </a:rPr>
                          </m:ctrlPr>
                        </m:fPr>
                        <m:num>
                          <m:r>
                            <a:rPr lang="en-US" sz="1150" i="1">
                              <a:solidFill>
                                <a:srgbClr val="111111"/>
                              </a:solidFill>
                              <a:latin typeface="Cambria Math" panose="02040503050406030204" pitchFamily="18" charset="0"/>
                            </a:rPr>
                            <m:t xml:space="preserve">b</m:t>
                          </m:r>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x</m:t>
                          </m:r>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a</m:t>
                          </m:r>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x</m:t>
                          </m:r>
                          <m:r>
                            <m:rPr>
                              <m:sty m:val="p"/>
                            </m:rPr>
                            <a:rPr lang="en-US" sz="1150">
                              <a:solidFill>
                                <a:srgbClr val="111111"/>
                              </a:solidFill>
                              <a:latin typeface="Cambria Math" panose="02040503050406030204" pitchFamily="18" charset="0"/>
                            </a:rPr>
                            <m:t xml:space="preserve">)</m:t>
                          </m:r>
                        </m:num>
                        <m:den>
                          <m:r>
                            <m:rPr>
                              <m:sty m:val="p"/>
                            </m:rPr>
                            <a:rPr lang="en-US" sz="1150">
                              <a:solidFill>
                                <a:srgbClr val="111111"/>
                              </a:solidFill>
                              <a:latin typeface="Cambria Math" panose="02040503050406030204" pitchFamily="18" charset="0"/>
                            </a:rPr>
                            <m:t xml:space="preserve">max{</m:t>
                          </m:r>
                          <m:r>
                            <a:rPr lang="en-US" sz="1150" i="1">
                              <a:solidFill>
                                <a:srgbClr val="111111"/>
                              </a:solidFill>
                              <a:latin typeface="Cambria Math" panose="02040503050406030204" pitchFamily="18" charset="0"/>
                            </a:rPr>
                            <m:t xml:space="preserve">a</m:t>
                          </m:r>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x</m:t>
                          </m:r>
                          <m:r>
                            <m:rPr>
                              <m:sty m:val="p"/>
                            </m:rPr>
                            <a:rPr lang="en-US" sz="1150">
                              <a:solidFill>
                                <a:srgbClr val="111111"/>
                              </a:solidFill>
                              <a:latin typeface="Cambria Math" panose="02040503050406030204" pitchFamily="18" charset="0"/>
                            </a:rPr>
                            <m:t xml:space="preserve">), </m:t>
                          </m:r>
                          <m:r>
                            <a:rPr lang="en-US" sz="1150" i="1">
                              <a:solidFill>
                                <a:srgbClr val="111111"/>
                              </a:solidFill>
                              <a:latin typeface="Cambria Math" panose="02040503050406030204" pitchFamily="18" charset="0"/>
                            </a:rPr>
                            <m:t xml:space="preserve">b</m:t>
                          </m:r>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x</m:t>
                          </m:r>
                          <m:r>
                            <m:rPr>
                              <m:sty m:val="p"/>
                            </m:rPr>
                            <a:rPr lang="en-US" sz="1150">
                              <a:solidFill>
                                <a:srgbClr val="111111"/>
                              </a:solidFill>
                              <a:latin typeface="Cambria Math" panose="02040503050406030204" pitchFamily="18" charset="0"/>
                            </a:rPr>
                            <m:t xml:space="preserve">)}</m:t>
                          </m:r>
                        </m:den>
                      </m:f>
                      <m:r>
                        <m:rPr>
                          <m:sty m:val="p"/>
                        </m:rPr>
                        <a:rPr lang="en-US" sz="1150">
                          <a:solidFill>
                            <a:srgbClr val="111111"/>
                          </a:solidFill>
                          <a:latin typeface="Cambria Math" panose="02040503050406030204" pitchFamily="18" charset="0"/>
                        </a:rPr>
                        <m:t xml:space="preserve">,  </m:t>
                      </m:r>
                      <m:r>
                        <a:rPr lang="en-US" sz="1150" i="1">
                          <a:solidFill>
                            <a:srgbClr val="111111"/>
                          </a:solidFill>
                          <a:latin typeface="Cambria Math" panose="02040503050406030204" pitchFamily="18" charset="0"/>
                        </a:rPr>
                        <m:t xml:space="preserve">s</m:t>
                      </m:r>
                      <m:r>
                        <m:rPr>
                          <m:sty m:val="p"/>
                        </m:rPr>
                        <a:rPr lang="en-US" sz="1150">
                          <a:solidFill>
                            <a:srgbClr val="111111"/>
                          </a:solidFill>
                          <a:latin typeface="Cambria Math" panose="02040503050406030204" pitchFamily="18" charset="0"/>
                        </a:rPr>
                        <m:t xml:space="preserve">∈[−1,1]</m:t>
                      </m:r>
                    </m:oMath>
                  </m:oMathPara>
                </a14:m>
                <a:endParaRPr lang="en-US" sz="1150"/>
              </a:p>
            </p:txBody>
          </p:sp>
        </mc:Choice>
        <mc:Fallback>
          <p:sp>
            <p:nvSpPr>
              <p:cNvPr id="58" name="Equation"/>
              <p:cNvSpPr txBox="1"/>
              <p:nvPr/>
            </p:nvSpPr>
            <p:spPr>
              <a:xfrm>
                <a:off x="3771900" y="7472897"/>
                <a:ext cx="6309360" cy="684675"/>
              </a:xfrm>
              <a:prstGeom prst="rect">
                <a:avLst/>
              </a:prstGeom>
              <a:blipFill>
                <a:blip r:embed="rId10"/>
                <a:stretch>
                  <a:fillRect/>
                </a:stretch>
              </a:blipFill>
            </p:spPr>
            <p:txBody>
              <a:bodyPr/>
              <a:lstStyle/>
              <a:p>
                <a:endParaRPr lang="en-US"/>
              </a:p>
            </p:txBody>
          </p:sp>
        </mc:Fallback>
      </mc:AlternateContent>
      <p:sp>
        <p:nvSpPr>
          <p:cNvPr id="59" name="TextBox 58"/>
          <p:cNvSpPr txBox="1"/>
          <p:nvPr/>
        </p:nvSpPr>
        <p:spPr>
          <a:xfrm>
            <a:off x="10309860" y="7445465"/>
            <a:ext cx="6812280" cy="739539"/>
          </a:xfrm>
          <a:prstGeom prst="rect">
            <a:avLst/>
          </a:prstGeom>
          <a:noFill/>
        </p:spPr>
        <p:txBody>
          <a:bodyPr anchor="ctr" rtlCol="false" lIns="0" tIns="0" rIns="0" bIns="0" wrap="square"/>
          <a:lstStyle/>
          <a:p>
            <a:pPr algn="l">
              <a:lnSpc>
                <a:spcPts val="1700"/>
              </a:lnSpc>
              <a:spcBef>
                <a:spcPts val="0"/>
              </a:spcBef>
              <a:buNone/>
            </a:pPr>
            <a:r>
              <a:rPr lang="en-US" sz="1400" b="true">
                <a:solidFill>
                  <a:srgbClr val="111111"/>
                </a:solidFill>
                <a:latin typeface="Nunito Semi-Bold"/>
                <a:ea typeface="Nunito Semi-Bold"/>
                <a:cs typeface="Nunito Semi-Bold"/>
                <a:sym typeface="Nunito Semi-Bold"/>
              </a:rPr>
              <a:t>Clustering quality; the value function of the clustering game (C1, C2).</a:t>
            </a:r>
          </a:p>
        </p:txBody>
      </p:sp>
      <p:cxnSp>
        <p:nvCxnSpPr>
          <p:cNvPr id="60" name="Connector 59"/>
          <p:cNvCxnSpPr/>
          <p:nvPr/>
        </p:nvCxnSpPr>
        <p:spPr>
          <a:xfrm>
            <a:off x="1028700" y="8185004"/>
            <a:ext cx="16230600" cy="0"/>
          </a:xfrm>
          <a:prstGeom prst="line">
            <a:avLst/>
          </a:prstGeom>
          <a:ln w="12700">
            <a:solidFill>
              <a:srgbClr val="E3D6C4"/>
            </a:solidFill>
          </a:ln>
        </p:spPr>
      </p:cxnSp>
      <p:sp>
        <p:nvSpPr>
          <p:cNvPr id="61" name="Rectangle 60"/>
          <p:cNvSpPr/>
          <p:nvPr/>
        </p:nvSpPr>
        <p:spPr>
          <a:xfrm>
            <a:off x="1028700" y="8185004"/>
            <a:ext cx="16230600" cy="739539"/>
          </a:xfrm>
          <a:prstGeom prst="rect">
            <a:avLst/>
          </a:prstGeom>
          <a:solidFill>
            <a:srgbClr val="FFFFFF"/>
          </a:solidFill>
          <a:ln>
            <a:noFill/>
          </a:ln>
        </p:spPr>
        <p:txBody>
          <a:bodyPr anchor="ctr" rtlCol="false" lIns="0" tIns="0" rIns="0" bIns="0" wrap="square"/>
          <a:lstStyle/>
          <a:p>
            <a:endParaRPr lang="en-US" sz="1800"/>
          </a:p>
        </p:txBody>
      </p:sp>
      <p:sp>
        <p:nvSpPr>
          <p:cNvPr id="62" name="TextBox 61"/>
          <p:cNvSpPr txBox="1"/>
          <p:nvPr/>
        </p:nvSpPr>
        <p:spPr>
          <a:xfrm>
            <a:off x="1165860" y="8185004"/>
            <a:ext cx="2377440" cy="739539"/>
          </a:xfrm>
          <a:prstGeom prst="rect">
            <a:avLst/>
          </a:prstGeom>
          <a:noFill/>
        </p:spPr>
        <p:txBody>
          <a:bodyPr anchor="ctr" rtlCol="false" lIns="0" tIns="0" rIns="0" bIns="0" wrap="square"/>
          <a:lstStyle/>
          <a:p>
            <a:pPr algn="l">
              <a:lnSpc>
                <a:spcPts val="1900"/>
              </a:lnSpc>
              <a:spcBef>
                <a:spcPts val="0"/>
              </a:spcBef>
              <a:buNone/>
            </a:pPr>
            <a:r>
              <a:rPr lang="en-US" sz="1600" b="true">
                <a:solidFill>
                  <a:srgbClr val="111111"/>
                </a:solidFill>
                <a:latin typeface="Nunito Bold"/>
                <a:ea typeface="Nunito Bold"/>
                <a:cs typeface="Nunito Bold"/>
                <a:sym typeface="Nunito Bold"/>
              </a:rPr>
              <a:t>Davies–Bouldin</a:t>
            </a:r>
          </a:p>
        </p:txBody>
      </p:sp>
      <mc:AlternateContent xmlns:mc="http://schemas.openxmlformats.org/markup-compatibility/2006">
        <mc:Choice xmlns:a14="http://schemas.microsoft.com/office/drawing/2010/main" Requires="a14">
          <p:sp>
            <p:nvSpPr>
              <p:cNvPr id="63" name="Equation"/>
              <p:cNvSpPr txBox="1"/>
              <p:nvPr/>
            </p:nvSpPr>
            <p:spPr>
              <a:xfrm>
                <a:off x="3771900" y="8212436"/>
                <a:ext cx="6309360" cy="684675"/>
              </a:xfrm>
              <a:prstGeom prst="rect">
                <a:avLst/>
              </a:prstGeom>
              <a:noFill/>
            </p:spPr>
            <p:txBody>
              <a:bodyPr wrap="none" rtlCol="0" anchor="ctr" lIns="0" tIns="0" rIns="0" bIns="0"/>
              <a:lstStyle/>
              <a:p>
                <a:pPr algn="l"/>
                <a14:m xmlns:m="http://schemas.openxmlformats.org/officeDocument/2006/math">
                  <m:oMathPara>
                    <m:oMathParaPr>
                      <m:jc m:val="left"/>
                    </m:oMathParaPr>
                    <m:oMath>
                      <m:r>
                        <m:rPr>
                          <m:sty m:val="p"/>
                        </m:rPr>
                        <a:rPr lang="en-US" sz="1150">
                          <a:solidFill>
                            <a:srgbClr val="111111"/>
                          </a:solidFill>
                          <a:latin typeface="Cambria Math" panose="02040503050406030204" pitchFamily="18" charset="0"/>
                        </a:rPr>
                        <m:t xml:space="preserve">DB=</m:t>
                      </m:r>
                      <m:f>
                        <m:fPr>
                          <m:ctrlPr>
                            <a:rPr lang="en-US" sz="1150" i="1">
                              <a:solidFill>
                                <a:srgbClr val="111111"/>
                              </a:solidFill>
                              <a:latin typeface="Cambria Math" panose="02040503050406030204" pitchFamily="18" charset="0"/>
                            </a:rPr>
                          </m:ctrlPr>
                        </m:fPr>
                        <m:num>
                          <m:r>
                            <m:rPr>
                              <m:sty m:val="p"/>
                            </m:rPr>
                            <a:rPr lang="en-US" sz="1150">
                              <a:solidFill>
                                <a:srgbClr val="111111"/>
                              </a:solidFill>
                              <a:latin typeface="Cambria Math" panose="02040503050406030204" pitchFamily="18" charset="0"/>
                            </a:rPr>
                            <m:t xml:space="preserve">1</m:t>
                          </m:r>
                        </m:num>
                        <m:den>
                          <m:r>
                            <a:rPr lang="en-US" sz="1150" i="1">
                              <a:solidFill>
                                <a:srgbClr val="111111"/>
                              </a:solidFill>
                              <a:latin typeface="Cambria Math" panose="02040503050406030204" pitchFamily="18" charset="0"/>
                            </a:rPr>
                            <m:t xml:space="preserve">k</m:t>
                          </m:r>
                        </m:den>
                      </m:f>
                      <m:nary>
                        <m:naryPr>
                          <m:chr m:val="∑"/>
                          <m:limLoc m:val="subSup"/>
                          <m:ctrlPr>
                            <a:rPr lang="en-US" sz="1150" i="1">
                              <a:solidFill>
                                <a:srgbClr val="111111"/>
                              </a:solidFill>
                              <a:latin typeface="Cambria Math" panose="02040503050406030204" pitchFamily="18" charset="0"/>
                            </a:rPr>
                          </m:ctrlPr>
                        </m:naryPr>
                        <m:sub>
                          <m:r>
                            <a:rPr lang="en-US" sz="1150" i="1">
                              <a:solidFill>
                                <a:srgbClr val="111111"/>
                              </a:solidFill>
                              <a:latin typeface="Cambria Math" panose="02040503050406030204" pitchFamily="18" charset="0"/>
                            </a:rPr>
                            <m:t xml:space="preserve">c</m:t>
                          </m:r>
                          <m:r>
                            <m:rPr>
                              <m:sty m:val="p"/>
                            </m:rPr>
                            <a:rPr lang="en-US" sz="1150">
                              <a:solidFill>
                                <a:srgbClr val="111111"/>
                              </a:solidFill>
                              <a:latin typeface="Cambria Math" panose="02040503050406030204" pitchFamily="18" charset="0"/>
                            </a:rPr>
                            <m:t xml:space="preserve">=1</m:t>
                          </m:r>
                        </m:sub>
                        <m:sup>
                          <m:r>
                            <a:rPr lang="en-US" sz="1150" i="1">
                              <a:solidFill>
                                <a:srgbClr val="111111"/>
                              </a:solidFill>
                              <a:latin typeface="Cambria Math" panose="02040503050406030204" pitchFamily="18" charset="0"/>
                            </a:rPr>
                            <m:t xml:space="preserve">k</m:t>
                          </m:r>
                        </m:sup>
                        <m:e>
                          <m:sSub>
                            <m:sSubPr>
                              <m:ctrlPr>
                                <a:rPr lang="en-US" sz="1150" i="1">
                                  <a:solidFill>
                                    <a:srgbClr val="111111"/>
                                  </a:solidFill>
                                  <a:latin typeface="Cambria Math" panose="02040503050406030204" pitchFamily="18" charset="0"/>
                                </a:rPr>
                              </m:ctrlPr>
                            </m:sSubPr>
                            <m:e>
                              <m:r>
                                <m:rPr>
                                  <m:sty m:val="p"/>
                                </m:rPr>
                                <a:rPr lang="en-US" sz="1150">
                                  <a:solidFill>
                                    <a:srgbClr val="111111"/>
                                  </a:solidFill>
                                  <a:latin typeface="Cambria Math" panose="02040503050406030204" pitchFamily="18" charset="0"/>
                                </a:rPr>
                                <m:t xml:space="preserve">max</m:t>
                              </m:r>
                            </m:e>
                            <m:sub>
                              <m:r>
                                <a:rPr lang="en-US" sz="1150" i="1">
                                  <a:solidFill>
                                    <a:srgbClr val="111111"/>
                                  </a:solidFill>
                                  <a:latin typeface="Cambria Math" panose="02040503050406030204" pitchFamily="18" charset="0"/>
                                </a:rPr>
                                <m:t xml:space="preserve">c′</m:t>
                              </m:r>
                              <m:r>
                                <m:rPr>
                                  <m:sty m:val="p"/>
                                </m:rPr>
                                <a:rPr lang="en-US" sz="1150">
                                  <a:solidFill>
                                    <a:srgbClr val="111111"/>
                                  </a:solidFill>
                                  <a:latin typeface="Cambria Math" panose="02040503050406030204" pitchFamily="18" charset="0"/>
                                </a:rPr>
                                <m:t xml:space="preserve">≠</m:t>
                              </m:r>
                              <m:r>
                                <a:rPr lang="en-US" sz="1150" i="1">
                                  <a:solidFill>
                                    <a:srgbClr val="111111"/>
                                  </a:solidFill>
                                  <a:latin typeface="Cambria Math" panose="02040503050406030204" pitchFamily="18" charset="0"/>
                                </a:rPr>
                                <m:t xml:space="preserve">c</m:t>
                              </m:r>
                            </m:sub>
                          </m:sSub>
                        </m:e>
                      </m:nary>
                      <m:f>
                        <m:fPr>
                          <m:ctrlPr>
                            <a:rPr lang="en-US" sz="1150" i="1">
                              <a:solidFill>
                                <a:srgbClr val="111111"/>
                              </a:solidFill>
                              <a:latin typeface="Cambria Math" panose="02040503050406030204" pitchFamily="18" charset="0"/>
                            </a:rPr>
                          </m:ctrlPr>
                        </m:fPr>
                        <m:num>
                          <m:sSub>
                            <m:sSubPr>
                              <m:ctrlPr>
                                <a:rPr lang="en-US" sz="1150" i="1">
                                  <a:solidFill>
                                    <a:srgbClr val="111111"/>
                                  </a:solidFill>
                                  <a:latin typeface="Cambria Math" panose="02040503050406030204" pitchFamily="18" charset="0"/>
                                </a:rPr>
                              </m:ctrlPr>
                            </m:sSubPr>
                            <m:e>
                              <m:r>
                                <a:rPr lang="en-US" sz="1150" i="1">
                                  <a:solidFill>
                                    <a:srgbClr val="111111"/>
                                  </a:solidFill>
                                  <a:latin typeface="Cambria Math" panose="02040503050406030204" pitchFamily="18" charset="0"/>
                                </a:rPr>
                                <m:t xml:space="preserve">σ</m:t>
                              </m:r>
                            </m:e>
                            <m:sub>
                              <m:r>
                                <a:rPr lang="en-US" sz="1150" i="1">
                                  <a:solidFill>
                                    <a:srgbClr val="111111"/>
                                  </a:solidFill>
                                  <a:latin typeface="Cambria Math" panose="02040503050406030204" pitchFamily="18" charset="0"/>
                                </a:rPr>
                                <m:t xml:space="preserve">c</m:t>
                              </m:r>
                            </m:sub>
                          </m:sSub>
                          <m:r>
                            <m:rPr>
                              <m:sty m:val="p"/>
                            </m:rPr>
                            <a:rPr lang="en-US" sz="1150">
                              <a:solidFill>
                                <a:srgbClr val="111111"/>
                              </a:solidFill>
                              <a:latin typeface="Cambria Math" panose="02040503050406030204" pitchFamily="18" charset="0"/>
                            </a:rPr>
                            <m:t xml:space="preserve">+</m:t>
                          </m:r>
                          <m:sSub>
                            <m:sSubPr>
                              <m:ctrlPr>
                                <a:rPr lang="en-US" sz="1150" i="1">
                                  <a:solidFill>
                                    <a:srgbClr val="111111"/>
                                  </a:solidFill>
                                  <a:latin typeface="Cambria Math" panose="02040503050406030204" pitchFamily="18" charset="0"/>
                                </a:rPr>
                              </m:ctrlPr>
                            </m:sSubPr>
                            <m:e>
                              <m:r>
                                <a:rPr lang="en-US" sz="1150" i="1">
                                  <a:solidFill>
                                    <a:srgbClr val="111111"/>
                                  </a:solidFill>
                                  <a:latin typeface="Cambria Math" panose="02040503050406030204" pitchFamily="18" charset="0"/>
                                </a:rPr>
                                <m:t xml:space="preserve">σ</m:t>
                              </m:r>
                            </m:e>
                            <m:sub>
                              <m:r>
                                <a:rPr lang="en-US" sz="1150" i="1">
                                  <a:solidFill>
                                    <a:srgbClr val="111111"/>
                                  </a:solidFill>
                                  <a:latin typeface="Cambria Math" panose="02040503050406030204" pitchFamily="18" charset="0"/>
                                </a:rPr>
                                <m:t xml:space="preserve">c′</m:t>
                              </m:r>
                            </m:sub>
                          </m:sSub>
                        </m:num>
                        <m:den>
                          <m:r>
                            <a:rPr lang="en-US" sz="1150" i="1">
                              <a:solidFill>
                                <a:srgbClr val="111111"/>
                              </a:solidFill>
                              <a:latin typeface="Cambria Math" panose="02040503050406030204" pitchFamily="18" charset="0"/>
                            </a:rPr>
                            <m:t xml:space="preserve">d</m:t>
                          </m:r>
                          <m:r>
                            <m:rPr>
                              <m:sty m:val="p"/>
                            </m:rPr>
                            <a:rPr lang="en-US" sz="1150">
                              <a:solidFill>
                                <a:srgbClr val="111111"/>
                              </a:solidFill>
                              <a:latin typeface="Cambria Math" panose="02040503050406030204" pitchFamily="18" charset="0"/>
                            </a:rPr>
                            <m:t xml:space="preserve">(</m:t>
                          </m:r>
                          <m:sSub>
                            <m:sSubPr>
                              <m:ctrlPr>
                                <a:rPr lang="en-US" sz="1150" i="1">
                                  <a:solidFill>
                                    <a:srgbClr val="111111"/>
                                  </a:solidFill>
                                  <a:latin typeface="Cambria Math" panose="02040503050406030204" pitchFamily="18" charset="0"/>
                                </a:rPr>
                              </m:ctrlPr>
                            </m:sSubPr>
                            <m:e>
                              <m:r>
                                <a:rPr lang="en-US" sz="1150" i="1">
                                  <a:solidFill>
                                    <a:srgbClr val="111111"/>
                                  </a:solidFill>
                                  <a:latin typeface="Cambria Math" panose="02040503050406030204" pitchFamily="18" charset="0"/>
                                </a:rPr>
                                <m:t xml:space="preserve">μ</m:t>
                              </m:r>
                            </m:e>
                            <m:sub>
                              <m:r>
                                <a:rPr lang="en-US" sz="1150" i="1">
                                  <a:solidFill>
                                    <a:srgbClr val="111111"/>
                                  </a:solidFill>
                                  <a:latin typeface="Cambria Math" panose="02040503050406030204" pitchFamily="18" charset="0"/>
                                </a:rPr>
                                <m:t xml:space="preserve">c</m:t>
                              </m:r>
                            </m:sub>
                          </m:sSub>
                          <m:r>
                            <m:rPr>
                              <m:sty m:val="p"/>
                            </m:rPr>
                            <a:rPr lang="en-US" sz="1150">
                              <a:solidFill>
                                <a:srgbClr val="111111"/>
                              </a:solidFill>
                              <a:latin typeface="Cambria Math" panose="02040503050406030204" pitchFamily="18" charset="0"/>
                            </a:rPr>
                            <m:t xml:space="preserve">,</m:t>
                          </m:r>
                          <m:sSub>
                            <m:sSubPr>
                              <m:ctrlPr>
                                <a:rPr lang="en-US" sz="1150" i="1">
                                  <a:solidFill>
                                    <a:srgbClr val="111111"/>
                                  </a:solidFill>
                                  <a:latin typeface="Cambria Math" panose="02040503050406030204" pitchFamily="18" charset="0"/>
                                </a:rPr>
                              </m:ctrlPr>
                            </m:sSubPr>
                            <m:e>
                              <m:r>
                                <a:rPr lang="en-US" sz="1150" i="1">
                                  <a:solidFill>
                                    <a:srgbClr val="111111"/>
                                  </a:solidFill>
                                  <a:latin typeface="Cambria Math" panose="02040503050406030204" pitchFamily="18" charset="0"/>
                                </a:rPr>
                                <m:t xml:space="preserve">μ</m:t>
                              </m:r>
                            </m:e>
                            <m:sub>
                              <m:r>
                                <a:rPr lang="en-US" sz="1150" i="1">
                                  <a:solidFill>
                                    <a:srgbClr val="111111"/>
                                  </a:solidFill>
                                  <a:latin typeface="Cambria Math" panose="02040503050406030204" pitchFamily="18" charset="0"/>
                                </a:rPr>
                                <m:t xml:space="preserve">c′</m:t>
                              </m:r>
                            </m:sub>
                          </m:sSub>
                          <m:r>
                            <m:rPr>
                              <m:sty m:val="p"/>
                            </m:rPr>
                            <a:rPr lang="en-US" sz="1150">
                              <a:solidFill>
                                <a:srgbClr val="111111"/>
                              </a:solidFill>
                              <a:latin typeface="Cambria Math" panose="02040503050406030204" pitchFamily="18" charset="0"/>
                            </a:rPr>
                            <m:t xml:space="preserve">)</m:t>
                          </m:r>
                        </m:den>
                      </m:f>
                    </m:oMath>
                  </m:oMathPara>
                </a14:m>
                <a:endParaRPr lang="en-US" sz="1150"/>
              </a:p>
            </p:txBody>
          </p:sp>
        </mc:Choice>
        <mc:Fallback>
          <p:sp>
            <p:nvSpPr>
              <p:cNvPr id="63" name="Equation"/>
              <p:cNvSpPr txBox="1"/>
              <p:nvPr/>
            </p:nvSpPr>
            <p:spPr>
              <a:xfrm>
                <a:off x="3771900" y="8212436"/>
                <a:ext cx="6309360" cy="684675"/>
              </a:xfrm>
              <a:prstGeom prst="rect">
                <a:avLst/>
              </a:prstGeom>
              <a:blipFill>
                <a:blip r:embed="rId11"/>
                <a:stretch>
                  <a:fillRect/>
                </a:stretch>
              </a:blipFill>
            </p:spPr>
            <p:txBody>
              <a:bodyPr/>
              <a:lstStyle/>
              <a:p>
                <a:endParaRPr lang="en-US"/>
              </a:p>
            </p:txBody>
          </p:sp>
        </mc:Fallback>
      </mc:AlternateContent>
      <p:sp>
        <p:nvSpPr>
          <p:cNvPr id="64" name="TextBox 63"/>
          <p:cNvSpPr txBox="1"/>
          <p:nvPr/>
        </p:nvSpPr>
        <p:spPr>
          <a:xfrm>
            <a:off x="10309860" y="8185004"/>
            <a:ext cx="6812280" cy="739539"/>
          </a:xfrm>
          <a:prstGeom prst="rect">
            <a:avLst/>
          </a:prstGeom>
          <a:noFill/>
        </p:spPr>
        <p:txBody>
          <a:bodyPr anchor="ctr" rtlCol="false" lIns="0" tIns="0" rIns="0" bIns="0" wrap="square"/>
          <a:lstStyle/>
          <a:p>
            <a:pPr algn="l">
              <a:lnSpc>
                <a:spcPts val="1700"/>
              </a:lnSpc>
              <a:spcBef>
                <a:spcPts val="0"/>
              </a:spcBef>
              <a:buNone/>
            </a:pPr>
            <a:r>
              <a:rPr lang="en-US" sz="1400" b="true">
                <a:solidFill>
                  <a:srgbClr val="111111"/>
                </a:solidFill>
                <a:latin typeface="Nunito Semi-Bold"/>
                <a:ea typeface="Nunito Semi-Bold"/>
                <a:cs typeface="Nunito Semi-Bold"/>
                <a:sym typeface="Nunito Semi-Bold"/>
              </a:rPr>
              <a:t>Cluster overlap; lower is better.</a:t>
            </a:r>
          </a:p>
        </p:txBody>
      </p:sp>
      <p:cxnSp>
        <p:nvCxnSpPr>
          <p:cNvPr id="65" name="Connector 64"/>
          <p:cNvCxnSpPr/>
          <p:nvPr/>
        </p:nvCxnSpPr>
        <p:spPr>
          <a:xfrm>
            <a:off x="1028700" y="8924544"/>
            <a:ext cx="16230600" cy="0"/>
          </a:xfrm>
          <a:prstGeom prst="line">
            <a:avLst/>
          </a:prstGeom>
          <a:ln w="12700">
            <a:solidFill>
              <a:srgbClr val="E3D6C4"/>
            </a:solidFill>
          </a:ln>
        </p:spPr>
      </p:cxnSp>
      <p:sp>
        <p:nvSpPr>
          <p:cNvPr id="66" name="TextBox 65"/>
          <p:cNvSpPr txBox="1"/>
          <p:nvPr/>
        </p:nvSpPr>
        <p:spPr>
          <a:xfrm>
            <a:off x="1028700" y="8997696"/>
            <a:ext cx="16230600" cy="54864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Notation:</a:t>
            </a:r>
            <a:r>
              <a:rPr lang="en-US" sz="1300" b="true">
                <a:solidFill>
                  <a:srgbClr val="8A8378"/>
                </a:solidFill>
                <a:latin typeface="Nunito Semi-Bold"/>
                <a:ea typeface="Nunito Semi-Bold"/>
                <a:cs typeface="Nunito Semi-Bold"/>
                <a:sym typeface="Nunito Semi-Bold"/>
              </a:rPr>
              <a:t> L</a:t>
            </a:r>
            <a:r>
              <a:rPr lang="en-US" sz="1300" b="true" baseline="-25000">
                <a:solidFill>
                  <a:srgbClr val="8A8378"/>
                </a:solidFill>
                <a:latin typeface="Nunito Semi-Bold"/>
                <a:ea typeface="Nunito Semi-Bold"/>
                <a:cs typeface="Nunito Semi-Bold"/>
                <a:sym typeface="Nunito Semi-Bold"/>
              </a:rPr>
              <a:t>u</a:t>
            </a:r>
            <a:r>
              <a:rPr lang="en-US" sz="1300" b="true" baseline="30000">
                <a:solidFill>
                  <a:srgbClr val="8A8378"/>
                </a:solidFill>
                <a:latin typeface="Nunito Semi-Bold"/>
                <a:ea typeface="Nunito Semi-Bold"/>
                <a:cs typeface="Nunito Semi-Bold"/>
                <a:sym typeface="Nunito Semi-Bold"/>
              </a:rPr>
              <a:t>K</a:t>
            </a:r>
            <a:r>
              <a:rPr lang="en-US" sz="1300" b="true">
                <a:solidFill>
                  <a:srgbClr val="8A8378"/>
                </a:solidFill>
                <a:latin typeface="Nunito Semi-Bold"/>
                <a:ea typeface="Nunito Semi-Bold"/>
                <a:cs typeface="Nunito Semi-Bold"/>
                <a:sym typeface="Nunito Semi-Bold"/>
              </a:rPr>
              <a:t> = top-K list of user u; </a:t>
            </a:r>
            <a:r>
              <a:rPr lang="en-US" sz="1300" b="true">
                <a:solidFill>
                  <a:srgbClr val="8A8378"/>
                </a:solidFill>
                <a:latin typeface="Cambria Math"/>
                <a:ea typeface="Cambria Math"/>
                <a:cs typeface="Cambria Math"/>
                <a:sym typeface="Cambria Math"/>
              </a:rPr>
              <a:t>ℛ</a:t>
            </a:r>
            <a:r>
              <a:rPr lang="en-US" sz="1300" b="true" baseline="-25000">
                <a:solidFill>
                  <a:srgbClr val="8A8378"/>
                </a:solidFill>
                <a:latin typeface="Nunito Semi-Bold"/>
                <a:ea typeface="Nunito Semi-Bold"/>
                <a:cs typeface="Nunito Semi-Bold"/>
                <a:sym typeface="Nunito Semi-Bold"/>
              </a:rPr>
              <a:t>u</a:t>
            </a:r>
            <a:r>
              <a:rPr lang="en-US" sz="1300" b="true">
                <a:solidFill>
                  <a:srgbClr val="8A8378"/>
                </a:solidFill>
                <a:latin typeface="Nunito Semi-Bold"/>
                <a:ea typeface="Nunito Semi-Bold"/>
                <a:cs typeface="Nunito Semi-Bold"/>
                <a:sym typeface="Nunito Semi-Bold"/>
              </a:rPr>
              <a:t> = relevant (held-out) items of u; rel</a:t>
            </a:r>
            <a:r>
              <a:rPr lang="en-US" sz="1300" b="true" baseline="-25000">
                <a:solidFill>
                  <a:srgbClr val="8A8378"/>
                </a:solidFill>
                <a:latin typeface="Nunito Semi-Bold"/>
                <a:ea typeface="Nunito Semi-Bold"/>
                <a:cs typeface="Nunito Semi-Bold"/>
                <a:sym typeface="Nunito Semi-Bold"/>
              </a:rPr>
              <a:t>i</a:t>
            </a:r>
            <a:r>
              <a:rPr lang="en-US" sz="1300" b="true">
                <a:solidFill>
                  <a:srgbClr val="8A8378"/>
                </a:solidFill>
                <a:latin typeface="Cambria Math"/>
                <a:ea typeface="Cambria Math"/>
                <a:cs typeface="Cambria Math"/>
                <a:sym typeface="Cambria Math"/>
              </a:rPr>
              <a:t> ∈ </a:t>
            </a:r>
            <a:r>
              <a:rPr lang="en-US" sz="1300" b="true">
                <a:solidFill>
                  <a:srgbClr val="8A8378"/>
                </a:solidFill>
                <a:latin typeface="Nunito Semi-Bold"/>
                <a:ea typeface="Nunito Semi-Bold"/>
                <a:cs typeface="Nunito Semi-Bold"/>
                <a:sym typeface="Nunito Semi-Bold"/>
              </a:rPr>
              <a:t>{0,1}; a(x), b(x) = mean intra- and nearest-cluster distance; </a:t>
            </a:r>
            <a:r>
              <a:rPr lang="en-US" sz="1300" b="true">
                <a:solidFill>
                  <a:srgbClr val="8A8378"/>
                </a:solidFill>
                <a:latin typeface="Calibri"/>
                <a:ea typeface="Calibri"/>
                <a:cs typeface="Calibri"/>
                <a:sym typeface="Calibri"/>
              </a:rPr>
              <a:t>σ</a:t>
            </a:r>
            <a:r>
              <a:rPr lang="en-US" sz="1300" b="true" baseline="-25000">
                <a:solidFill>
                  <a:srgbClr val="8A8378"/>
                </a:solidFill>
                <a:latin typeface="Nunito Semi-Bold"/>
                <a:ea typeface="Nunito Semi-Bold"/>
                <a:cs typeface="Nunito Semi-Bold"/>
                <a:sym typeface="Nunito Semi-Bold"/>
              </a:rPr>
              <a:t>c</a:t>
            </a:r>
            <a:r>
              <a:rPr lang="en-US" sz="1300" b="true">
                <a:solidFill>
                  <a:srgbClr val="8A8378"/>
                </a:solidFill>
                <a:latin typeface="Nunito Semi-Bold"/>
                <a:ea typeface="Nunito Semi-Bold"/>
                <a:cs typeface="Nunito Semi-Bold"/>
                <a:sym typeface="Nunito Semi-Bold"/>
              </a:rPr>
              <a:t>, μ</a:t>
            </a:r>
            <a:r>
              <a:rPr lang="en-US" sz="1300" b="true" baseline="-25000">
                <a:solidFill>
                  <a:srgbClr val="8A8378"/>
                </a:solidFill>
                <a:latin typeface="Nunito Semi-Bold"/>
                <a:ea typeface="Nunito Semi-Bold"/>
                <a:cs typeface="Nunito Semi-Bold"/>
                <a:sym typeface="Nunito Semi-Bold"/>
              </a:rPr>
              <a:t>c</a:t>
            </a:r>
            <a:r>
              <a:rPr lang="en-US" sz="1300" b="true">
                <a:solidFill>
                  <a:srgbClr val="8A8378"/>
                </a:solidFill>
                <a:latin typeface="Nunito Semi-Bold"/>
                <a:ea typeface="Nunito Semi-Bold"/>
                <a:cs typeface="Nunito Semi-Bold"/>
                <a:sym typeface="Nunito Semi-Bold"/>
              </a:rPr>
              <a:t> = spread and centroid of cluster c. Reported at K </a:t>
            </a:r>
            <a:r>
              <a:rPr lang="en-US" sz="1300" b="true">
                <a:solidFill>
                  <a:srgbClr val="8A8378"/>
                </a:solidFill>
                <a:latin typeface="Cambria Math"/>
                <a:ea typeface="Cambria Math"/>
                <a:cs typeface="Cambria Math"/>
                <a:sym typeface="Cambria Math"/>
              </a:rPr>
              <a:t>∈ </a:t>
            </a:r>
            <a:r>
              <a:rPr lang="en-US" sz="1300" b="true">
                <a:solidFill>
                  <a:srgbClr val="8A8378"/>
                </a:solidFill>
                <a:latin typeface="Nunito Semi-Bold"/>
                <a:ea typeface="Nunito Semi-Bold"/>
                <a:cs typeface="Nunito Semi-Bold"/>
                <a:sym typeface="Nunito Semi-Bold"/>
              </a:rPr>
              <a:t>{5, 10, 20}; NDCG@20 is the main measure.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25</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EXPERIMENTAL PROTOCOL</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Hardware &amp; Software</a:t>
            </a:r>
          </a:p>
        </p:txBody>
      </p:sp>
      <p:pic>
        <p:nvPicPr>
          <p:cNvPr id="23" name="Picture 22" descr="image.png"/>
          <p:cNvPicPr>
            <a:picLocks noChangeAspect="1"/>
          </p:cNvPicPr>
          <p:nvPr/>
        </p:nvPicPr>
        <p:blipFill>
          <a:blip r:embed="rId3"/>
          <a:stretch>
            <a:fillRect/>
          </a:stretch>
        </p:blipFill>
        <p:spPr>
          <a:xfrm>
            <a:off x="7035228" y="1673352"/>
            <a:ext cx="457200" cy="427074"/>
          </a:xfrm>
          <a:prstGeom prst="rect">
            <a:avLst/>
          </a:prstGeom>
        </p:spPr>
      </p:pic>
      <p:sp>
        <p:nvSpPr>
          <p:cNvPr id="24" name="Rounded Rectangle 23"/>
          <p:cNvSpPr/>
          <p:nvPr/>
        </p:nvSpPr>
        <p:spPr>
          <a:xfrm>
            <a:off x="1028700" y="2559050"/>
            <a:ext cx="152390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Datasets</a:t>
            </a:r>
          </a:p>
        </p:txBody>
      </p:sp>
      <p:sp>
        <p:nvSpPr>
          <p:cNvPr id="25" name="Rounded Rectangle 24"/>
          <p:cNvSpPr/>
          <p:nvPr/>
        </p:nvSpPr>
        <p:spPr>
          <a:xfrm>
            <a:off x="2680623" y="2559050"/>
            <a:ext cx="1349432"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Metrics</a:t>
            </a:r>
          </a:p>
        </p:txBody>
      </p:sp>
      <p:sp>
        <p:nvSpPr>
          <p:cNvPr id="26" name="Rounded Rectangle 25"/>
          <p:cNvSpPr/>
          <p:nvPr/>
        </p:nvSpPr>
        <p:spPr>
          <a:xfrm>
            <a:off x="4158071" y="2559050"/>
            <a:ext cx="1642577"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Hardware</a:t>
            </a:r>
          </a:p>
        </p:txBody>
      </p:sp>
      <p:graphicFrame>
        <p:nvGraphicFramePr>
          <p:cNvPr id="27" name="Table 26"/>
          <p:cNvGraphicFramePr>
            <a:graphicFrameLocks noGrp="1"/>
          </p:cNvGraphicFramePr>
          <p:nvPr/>
        </p:nvGraphicFramePr>
        <p:xfrm>
          <a:off x="1028700" y="3363722"/>
          <a:ext cx="16230599" cy="3108960"/>
        </p:xfrm>
        <a:graphic>
          <a:graphicData uri="http://schemas.openxmlformats.org/drawingml/2006/table">
            <a:tbl>
              <a:tblPr firstRow="0" bandRow="0" firstCol="0" lastRow="0" lastCol="0" bandCol="0">
                <a:tableStyleId>{2D5ABB26-0587-4C30-8999-92F81FD0307C}</a:tableStyleId>
              </a:tblPr>
              <a:tblGrid>
                <a:gridCol w="2705100"/>
                <a:gridCol w="2080846"/>
                <a:gridCol w="3537438"/>
                <a:gridCol w="2705100"/>
                <a:gridCol w="1456592"/>
                <a:gridCol w="3745523"/>
              </a:tblGrid>
              <a:tr h="77724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Contribution</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Hardware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CPU / GPU</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RAM</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Storage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Main software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7772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I  ·  Wine clustering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Workstation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Intel Core i9-14900K (24 cores)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48 GB</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2 TB SSD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scikit-learn, LightGBM, SHAP, Altair</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772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II  ·  Beijing multi-level</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Workstation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Intel Core i9-14900K (24 cores)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48 GB (full dataset in memory)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2 TB SSD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scikit-learn, LightGBM, SHAP</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7772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III  ·  DyHuCoG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Workstation + GPU</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NVIDIA GeForce RTX 4090 (24 GB)</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48 GB</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2 TB SSD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Python 3.8, PyTorch 2.0.1, NumPy / SciPy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28" name="TextBox 27"/>
          <p:cNvSpPr txBox="1"/>
          <p:nvPr/>
        </p:nvSpPr>
        <p:spPr>
          <a:xfrm>
            <a:off x="1028700" y="6545834"/>
            <a:ext cx="16230600" cy="411480"/>
          </a:xfrm>
          <a:prstGeom prst="rect">
            <a:avLst/>
          </a:prstGeom>
          <a:noFill/>
        </p:spPr>
        <p:txBody>
          <a:bodyPr anchor="t" rtlCol="false" lIns="0" tIns="0" rIns="0" bIns="0" wrap="square"/>
          <a:lstStyle/>
          <a:p>
            <a:pPr algn="l">
              <a:lnSpc>
                <a:spcPts val="1700"/>
              </a:lnSpc>
              <a:spcBef>
                <a:spcPts val="0"/>
              </a:spcBef>
              <a:buNone/>
            </a:pPr>
            <a:r>
              <a:rPr lang="en-US" sz="1300" b="true">
                <a:solidFill>
                  <a:srgbClr val="8A8378"/>
                </a:solidFill>
                <a:latin typeface="Nunito Semi-Bold"/>
                <a:ea typeface="Nunito Semi-Bold"/>
                <a:cs typeface="Nunito Semi-Bold"/>
                <a:sym typeface="Nunito Semi-Bold"/>
              </a:rPr>
              <a:t>Table 4.2 (thesis): hardware and software configuration, arranged here by contribution.</a:t>
            </a:r>
          </a:p>
        </p:txBody>
      </p:sp>
      <p:sp>
        <p:nvSpPr>
          <p:cNvPr id="29" name="Rounded Rectangle 28"/>
          <p:cNvSpPr/>
          <p:nvPr/>
        </p:nvSpPr>
        <p:spPr>
          <a:xfrm>
            <a:off x="1028700" y="7249922"/>
            <a:ext cx="7932420" cy="1967230"/>
          </a:xfrm>
          <a:prstGeom prst="roundRect">
            <a:avLst>
              <a:gd name="adj" fmla="val 15803"/>
            </a:avLst>
          </a:prstGeom>
          <a:solidFill>
            <a:srgbClr val="124944"/>
          </a:solidFill>
          <a:ln>
            <a:noFill/>
          </a:ln>
        </p:spPr>
        <p:txBody>
          <a:bodyPr anchor="ctr" rtlCol="false" lIns="0" tIns="0" rIns="0" bIns="0" wrap="square"/>
          <a:lstStyle/>
          <a:p>
            <a:endParaRPr lang="en-US" sz="1800"/>
          </a:p>
        </p:txBody>
      </p:sp>
      <p:sp>
        <p:nvSpPr>
          <p:cNvPr id="30" name="Rounded Rectangle 29"/>
          <p:cNvSpPr/>
          <p:nvPr/>
        </p:nvSpPr>
        <p:spPr>
          <a:xfrm>
            <a:off x="1485900" y="7012178"/>
            <a:ext cx="2678309"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Why it matters</a:t>
            </a:r>
          </a:p>
        </p:txBody>
      </p:sp>
      <p:sp>
        <p:nvSpPr>
          <p:cNvPr id="31" name="TextBox 30"/>
          <p:cNvSpPr txBox="1"/>
          <p:nvPr/>
        </p:nvSpPr>
        <p:spPr>
          <a:xfrm>
            <a:off x="1485900" y="7798562"/>
            <a:ext cx="7063740" cy="1235710"/>
          </a:xfrm>
          <a:prstGeom prst="rect">
            <a:avLst/>
          </a:prstGeom>
          <a:noFill/>
        </p:spPr>
        <p:txBody>
          <a:bodyPr anchor="t" rtlCol="false" lIns="0" tIns="0" rIns="0" bIns="0" wrap="square"/>
          <a:lstStyle/>
          <a:p>
            <a:pPr algn="l" marL="274320" indent="-274320">
              <a:lnSpc>
                <a:spcPts val="2166"/>
              </a:lnSpc>
              <a:spcBef>
                <a:spcPts val="0"/>
              </a:spcBef>
              <a:buClr>
                <a:srgbClr val="ECC665"/>
              </a:buClr>
              <a:buSzPct val="100000"/>
              <a:buFont typeface="Arial"/>
              <a:buChar char="•"/>
            </a:pPr>
            <a:r>
              <a:rPr lang="en-US" sz="1547" b="true">
                <a:solidFill>
                  <a:srgbClr val="FFFFFF"/>
                </a:solidFill>
                <a:latin typeface="Nunito Semi-Bold"/>
                <a:ea typeface="Nunito Semi-Bold"/>
                <a:cs typeface="Nunito Semi-Bold"/>
                <a:sym typeface="Nunito Semi-Bold"/>
              </a:rPr>
              <a:t>The hardware explains the </a:t>
            </a:r>
            <a:r>
              <a:rPr lang="en-US" sz="1547" b="true">
                <a:solidFill>
                  <a:srgbClr val="FFFFFF"/>
                </a:solidFill>
                <a:latin typeface="Nunito Bold"/>
                <a:ea typeface="Nunito Bold"/>
                <a:cs typeface="Nunito Bold"/>
                <a:sym typeface="Nunito Bold"/>
              </a:rPr>
              <a:t>runtime figures</a:t>
            </a:r>
            <a:r>
              <a:rPr lang="en-US" sz="1547" b="true">
                <a:solidFill>
                  <a:srgbClr val="FFFFFF"/>
                </a:solidFill>
                <a:latin typeface="Nunito Semi-Bold"/>
                <a:ea typeface="Nunito Semi-Bold"/>
                <a:cs typeface="Nunito Semi-Bold"/>
                <a:sym typeface="Nunito Semi-Bold"/>
              </a:rPr>
              <a:t> quoted later (DyHuCoG ≈ 1.78× HPCF training time on MovieLens-1M).</a:t>
            </a:r>
          </a:p>
          <a:p>
            <a:pPr algn="l" marL="274320" indent="-274320">
              <a:lnSpc>
                <a:spcPts val="2166"/>
              </a:lnSpc>
              <a:spcBef>
                <a:spcPts val="546"/>
              </a:spcBef>
              <a:buClr>
                <a:srgbClr val="ECC665"/>
              </a:buClr>
              <a:buSzPct val="100000"/>
              <a:buFont typeface="Arial"/>
              <a:buChar char="•"/>
            </a:pPr>
            <a:r>
              <a:rPr lang="en-US" sz="1547" b="true">
                <a:solidFill>
                  <a:srgbClr val="FFFFFF"/>
                </a:solidFill>
                <a:latin typeface="Nunito Semi-Bold"/>
                <a:ea typeface="Nunito Semi-Bold"/>
                <a:cs typeface="Nunito Semi-Bold"/>
                <a:sym typeface="Nunito Semi-Bold"/>
              </a:rPr>
              <a:t>Metrics at K </a:t>
            </a:r>
            <a:r>
              <a:rPr lang="en-US" sz="1547" b="true">
                <a:solidFill>
                  <a:srgbClr val="FFFFFF"/>
                </a:solidFill>
                <a:latin typeface="Cambria Math"/>
                <a:ea typeface="Cambria Math"/>
                <a:cs typeface="Cambria Math"/>
                <a:sym typeface="Cambria Math"/>
              </a:rPr>
              <a:t>∈ </a:t>
            </a:r>
            <a:r>
              <a:rPr lang="en-US" sz="1547" b="true">
                <a:solidFill>
                  <a:srgbClr val="FFFFFF"/>
                </a:solidFill>
                <a:latin typeface="Nunito Semi-Bold"/>
                <a:ea typeface="Nunito Semi-Bold"/>
                <a:cs typeface="Nunito Semi-Bold"/>
                <a:sym typeface="Nunito Semi-Bold"/>
              </a:rPr>
              <a:t>{5, 10, 20}; five seeds; early stopping on validation NDCG@20.</a:t>
            </a:r>
          </a:p>
        </p:txBody>
      </p:sp>
      <p:sp>
        <p:nvSpPr>
          <p:cNvPr id="32" name="Rounded Rectangle 31"/>
          <p:cNvSpPr/>
          <p:nvPr/>
        </p:nvSpPr>
        <p:spPr>
          <a:xfrm>
            <a:off x="9326880" y="7249922"/>
            <a:ext cx="7932420" cy="1967230"/>
          </a:xfrm>
          <a:prstGeom prst="roundRect">
            <a:avLst>
              <a:gd name="adj" fmla="val 15803"/>
            </a:avLst>
          </a:prstGeom>
          <a:solidFill>
            <a:srgbClr val="F6ECDF"/>
          </a:solidFill>
          <a:ln>
            <a:noFill/>
          </a:ln>
        </p:spPr>
        <p:txBody>
          <a:bodyPr anchor="ctr" rtlCol="false" lIns="0" tIns="0" rIns="0" bIns="0" wrap="square"/>
          <a:lstStyle/>
          <a:p>
            <a:endParaRPr lang="en-US" sz="1800"/>
          </a:p>
        </p:txBody>
      </p:sp>
      <p:sp>
        <p:nvSpPr>
          <p:cNvPr id="33" name="Rounded Rectangle 32"/>
          <p:cNvSpPr/>
          <p:nvPr/>
        </p:nvSpPr>
        <p:spPr>
          <a:xfrm>
            <a:off x="9784080" y="7012178"/>
            <a:ext cx="1470201"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Scope</a:t>
            </a:r>
          </a:p>
        </p:txBody>
      </p:sp>
      <p:sp>
        <p:nvSpPr>
          <p:cNvPr id="34" name="TextBox 33"/>
          <p:cNvSpPr txBox="1"/>
          <p:nvPr/>
        </p:nvSpPr>
        <p:spPr>
          <a:xfrm>
            <a:off x="9784080" y="7798562"/>
            <a:ext cx="7063740" cy="1235710"/>
          </a:xfrm>
          <a:prstGeom prst="rect">
            <a:avLst/>
          </a:prstGeom>
          <a:noFill/>
        </p:spPr>
        <p:txBody>
          <a:bodyPr anchor="t" rtlCol="false" lIns="0" tIns="0" rIns="0" bIns="0" wrap="square"/>
          <a:lstStyle/>
          <a:p>
            <a:pPr algn="l" marL="274320" indent="-274320">
              <a:lnSpc>
                <a:spcPts val="2166"/>
              </a:lnSpc>
              <a:spcBef>
                <a:spcPts val="0"/>
              </a:spcBef>
              <a:buClr>
                <a:srgbClr val="DF8330"/>
              </a:buClr>
              <a:buSzPct val="100000"/>
              <a:buFont typeface="Arial"/>
              <a:buChar char="•"/>
            </a:pPr>
            <a:r>
              <a:rPr lang="en-US" sz="1547" b="true">
                <a:solidFill>
                  <a:srgbClr val="111111"/>
                </a:solidFill>
                <a:latin typeface="Nunito Bold"/>
                <a:ea typeface="Nunito Bold"/>
                <a:cs typeface="Nunito Bold"/>
                <a:sym typeface="Nunito Bold"/>
              </a:rPr>
              <a:t>Everything runs on standard academic hardware</a:t>
            </a:r>
            <a:r>
              <a:rPr lang="en-US" sz="1547" b="true">
                <a:solidFill>
                  <a:srgbClr val="111111"/>
                </a:solidFill>
                <a:latin typeface="Nunito Semi-Bold"/>
                <a:ea typeface="Nunito Semi-Bold"/>
                <a:cs typeface="Nunito Semi-Bold"/>
                <a:sym typeface="Nunito Semi-Bold"/>
              </a:rPr>
              <a:t>; nothing needs industrial-scale compute.</a:t>
            </a:r>
          </a:p>
          <a:p>
            <a:pPr algn="l" marL="274320" indent="-274320">
              <a:lnSpc>
                <a:spcPts val="2166"/>
              </a:lnSpc>
              <a:spcBef>
                <a:spcPts val="546"/>
              </a:spcBef>
              <a:buClr>
                <a:srgbClr val="DF8330"/>
              </a:buClr>
              <a:buSzPct val="100000"/>
              <a:buFont typeface="Arial"/>
              <a:buChar char="•"/>
            </a:pPr>
            <a:r>
              <a:rPr lang="en-US" sz="1547" b="true">
                <a:solidFill>
                  <a:srgbClr val="111111"/>
                </a:solidFill>
                <a:latin typeface="Nunito Semi-Bold"/>
                <a:ea typeface="Nunito Semi-Bold"/>
                <a:cs typeface="Nunito Semi-Bold"/>
                <a:sym typeface="Nunito Semi-Bold"/>
              </a:rPr>
              <a:t>Clustering, surrogates, SHAP and DyHuCoG share the same seeds and splits.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26</a:t>
            </a:r>
          </a:p>
        </p:txBody>
      </p:sp>
      <p:sp>
        <p:nvSpPr>
          <p:cNvPr id="7" name="TextBox 6"/>
          <p:cNvSpPr txBox="1"/>
          <p:nvPr/>
        </p:nvSpPr>
        <p:spPr>
          <a:xfrm>
            <a:off x="1028700" y="2331720"/>
            <a:ext cx="14859000" cy="2286000"/>
          </a:xfrm>
          <a:prstGeom prst="rect">
            <a:avLst/>
          </a:prstGeom>
          <a:noFill/>
        </p:spPr>
        <p:txBody>
          <a:bodyPr anchor="t" rtlCol="false" lIns="0" tIns="0" rIns="0" bIns="0" wrap="square"/>
          <a:lstStyle/>
          <a:p>
            <a:pPr algn="l">
              <a:lnSpc>
                <a:spcPts val="15300"/>
              </a:lnSpc>
              <a:spcBef>
                <a:spcPts val="0"/>
              </a:spcBef>
              <a:buNone/>
            </a:pPr>
            <a:r>
              <a:rPr lang="en-US" sz="15000" b="true" spc="-870">
                <a:solidFill>
                  <a:srgbClr val="111111"/>
                </a:solidFill>
                <a:latin typeface="Roca Two Bold"/>
                <a:ea typeface="Roca Two Bold"/>
                <a:cs typeface="Roca Two Bold"/>
                <a:sym typeface="Roca Two Bold"/>
              </a:rPr>
              <a:t>Contribution I</a:t>
            </a:r>
          </a:p>
        </p:txBody>
      </p:sp>
      <p:sp>
        <p:nvSpPr>
          <p:cNvPr id="8" name="Oval 7"/>
          <p:cNvSpPr/>
          <p:nvPr/>
        </p:nvSpPr>
        <p:spPr>
          <a:xfrm>
            <a:off x="13049535" y="2918460"/>
            <a:ext cx="1005840" cy="1005840"/>
          </a:xfrm>
          <a:prstGeom prst="ellipse">
            <a:avLst/>
          </a:prstGeom>
          <a:solidFill>
            <a:srgbClr val="ECC665"/>
          </a:solidFill>
          <a:ln>
            <a:noFill/>
          </a:ln>
        </p:spPr>
        <p:txBody>
          <a:bodyPr anchor="ctr" rtlCol="false" lIns="0" tIns="0" rIns="0" bIns="0" wrap="square"/>
          <a:lstStyle/>
          <a:p>
            <a:endParaRPr lang="en-US" sz="1800"/>
          </a:p>
        </p:txBody>
      </p:sp>
      <p:sp>
        <p:nvSpPr>
          <p:cNvPr id="9" name="TextBox 8"/>
          <p:cNvSpPr txBox="1"/>
          <p:nvPr/>
        </p:nvSpPr>
        <p:spPr>
          <a:xfrm>
            <a:off x="13049535" y="2918460"/>
            <a:ext cx="1005840" cy="1005840"/>
          </a:xfrm>
          <a:prstGeom prst="rect">
            <a:avLst/>
          </a:prstGeom>
          <a:noFill/>
        </p:spPr>
        <p:txBody>
          <a:bodyPr anchor="ctr" rtlCol="false" lIns="0" tIns="0" rIns="0" bIns="0" wrap="square"/>
          <a:lstStyle/>
          <a:p>
            <a:pPr algn="ctr">
              <a:lnSpc>
                <a:spcPts val="3400"/>
              </a:lnSpc>
              <a:spcBef>
                <a:spcPts val="0"/>
              </a:spcBef>
              <a:buNone/>
            </a:pPr>
            <a:r>
              <a:rPr lang="en-US" sz="3000" b="true">
                <a:solidFill>
                  <a:srgbClr val="111111"/>
                </a:solidFill>
                <a:latin typeface="Nunito Ultra-Bold"/>
                <a:ea typeface="Nunito Ultra-Bold"/>
                <a:cs typeface="Nunito Ultra-Bold"/>
                <a:sym typeface="Nunito Ultra-Bold"/>
              </a:rPr>
              <a:t>04</a:t>
            </a:r>
          </a:p>
        </p:txBody>
      </p:sp>
      <p:sp>
        <p:nvSpPr>
          <p:cNvPr id="10" name="TextBox 9"/>
          <p:cNvSpPr txBox="1"/>
          <p:nvPr/>
        </p:nvSpPr>
        <p:spPr>
          <a:xfrm>
            <a:off x="1028700" y="4465320"/>
            <a:ext cx="16230600" cy="640080"/>
          </a:xfrm>
          <a:prstGeom prst="rect">
            <a:avLst/>
          </a:prstGeom>
          <a:noFill/>
        </p:spPr>
        <p:txBody>
          <a:bodyPr anchor="t" rtlCol="false" lIns="0" tIns="0" rIns="0" bIns="0" wrap="square"/>
          <a:lstStyle/>
          <a:p>
            <a:pPr algn="l">
              <a:lnSpc>
                <a:spcPts val="3800"/>
              </a:lnSpc>
              <a:spcBef>
                <a:spcPts val="0"/>
              </a:spcBef>
              <a:buNone/>
            </a:pPr>
            <a:r>
              <a:rPr lang="en-US" sz="3000" b="true" spc="-150">
                <a:solidFill>
                  <a:srgbClr val="124944"/>
                </a:solidFill>
                <a:latin typeface="Nunito Bold"/>
                <a:ea typeface="Nunito Bold"/>
                <a:cs typeface="Nunito Bold"/>
                <a:sym typeface="Nunito Bold"/>
              </a:rPr>
              <a:t>Explainable black-box clustering with Shapley values  ·  answers RQ1</a:t>
            </a:r>
          </a:p>
        </p:txBody>
      </p:sp>
      <p:sp>
        <p:nvSpPr>
          <p:cNvPr id="11" name="Rectangle 10"/>
          <p:cNvSpPr/>
          <p:nvPr/>
        </p:nvSpPr>
        <p:spPr>
          <a:xfrm>
            <a:off x="0" y="5440680"/>
            <a:ext cx="18288000" cy="4846320"/>
          </a:xfrm>
          <a:prstGeom prst="rect">
            <a:avLst/>
          </a:prstGeom>
          <a:solidFill>
            <a:srgbClr val="124944"/>
          </a:solidFill>
          <a:ln>
            <a:noFill/>
          </a:ln>
        </p:spPr>
        <p:txBody>
          <a:bodyPr anchor="ctr" rtlCol="false" lIns="0" tIns="0" rIns="0" bIns="0" wrap="square"/>
          <a:lstStyle/>
          <a:p>
            <a:endParaRPr lang="en-US" sz="1800"/>
          </a:p>
        </p:txBody>
      </p:sp>
      <p:sp>
        <p:nvSpPr>
          <p:cNvPr id="12" name="TextBox 11"/>
          <p:cNvSpPr txBox="1"/>
          <p:nvPr/>
        </p:nvSpPr>
        <p:spPr>
          <a:xfrm>
            <a:off x="102870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Objectives</a:t>
            </a:r>
          </a:p>
        </p:txBody>
      </p:sp>
      <p:cxnSp>
        <p:nvCxnSpPr>
          <p:cNvPr id="13" name="Connector 12"/>
          <p:cNvCxnSpPr/>
          <p:nvPr/>
        </p:nvCxnSpPr>
        <p:spPr>
          <a:xfrm>
            <a:off x="1028700" y="6464808"/>
            <a:ext cx="640080" cy="0"/>
          </a:xfrm>
          <a:prstGeom prst="line">
            <a:avLst/>
          </a:prstGeom>
          <a:ln w="31750">
            <a:solidFill>
              <a:srgbClr val="ECC665"/>
            </a:solidFill>
          </a:ln>
        </p:spPr>
      </p:cxnSp>
      <p:sp>
        <p:nvSpPr>
          <p:cNvPr id="14" name="TextBox 13"/>
          <p:cNvSpPr txBox="1"/>
          <p:nvPr/>
        </p:nvSpPr>
        <p:spPr>
          <a:xfrm>
            <a:off x="102870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Cluster-level explanation that keeps feature-level attribution in the original feature space; justify Shapley over LIME.</a:t>
            </a:r>
          </a:p>
        </p:txBody>
      </p:sp>
      <p:sp>
        <p:nvSpPr>
          <p:cNvPr id="15" name="TextBox 14"/>
          <p:cNvSpPr txBox="1"/>
          <p:nvPr/>
        </p:nvSpPr>
        <p:spPr>
          <a:xfrm>
            <a:off x="657606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Methodology</a:t>
            </a:r>
          </a:p>
        </p:txBody>
      </p:sp>
      <p:cxnSp>
        <p:nvCxnSpPr>
          <p:cNvPr id="16" name="Connector 15"/>
          <p:cNvCxnSpPr/>
          <p:nvPr/>
        </p:nvCxnSpPr>
        <p:spPr>
          <a:xfrm>
            <a:off x="6576060" y="6464808"/>
            <a:ext cx="640080" cy="0"/>
          </a:xfrm>
          <a:prstGeom prst="line">
            <a:avLst/>
          </a:prstGeom>
          <a:ln w="31750">
            <a:solidFill>
              <a:srgbClr val="ECC665"/>
            </a:solidFill>
          </a:ln>
        </p:spPr>
      </p:cxnSp>
      <p:sp>
        <p:nvSpPr>
          <p:cNvPr id="17" name="TextBox 16"/>
          <p:cNvSpPr txBox="1"/>
          <p:nvPr/>
        </p:nvSpPr>
        <p:spPr>
          <a:xfrm>
            <a:off x="657606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Features are players; Silhouette is the value function; a LightGBM surrogate bridges K-Means to exact TreeSHAP.</a:t>
            </a:r>
          </a:p>
        </p:txBody>
      </p:sp>
      <p:sp>
        <p:nvSpPr>
          <p:cNvPr id="18" name="TextBox 17"/>
          <p:cNvSpPr txBox="1"/>
          <p:nvPr/>
        </p:nvSpPr>
        <p:spPr>
          <a:xfrm>
            <a:off x="1212342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Results</a:t>
            </a:r>
          </a:p>
        </p:txBody>
      </p:sp>
      <p:cxnSp>
        <p:nvCxnSpPr>
          <p:cNvPr id="19" name="Connector 18"/>
          <p:cNvCxnSpPr/>
          <p:nvPr/>
        </p:nvCxnSpPr>
        <p:spPr>
          <a:xfrm>
            <a:off x="12123420" y="6464808"/>
            <a:ext cx="640080" cy="0"/>
          </a:xfrm>
          <a:prstGeom prst="line">
            <a:avLst/>
          </a:prstGeom>
          <a:ln w="31750">
            <a:solidFill>
              <a:srgbClr val="ECC665"/>
            </a:solidFill>
          </a:ln>
        </p:spPr>
      </p:cxnSp>
      <p:sp>
        <p:nvSpPr>
          <p:cNvPr id="20" name="TextBox 19"/>
          <p:cNvSpPr txBox="1"/>
          <p:nvPr/>
        </p:nvSpPr>
        <p:spPr>
          <a:xfrm>
            <a:off x="1212342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Wine Quality: k</a:t>
            </a:r>
            <a:r>
              <a:rPr lang="en-US" sz="2100" b="true" baseline="30000">
                <a:solidFill>
                  <a:srgbClr val="FFFFFF"/>
                </a:solidFill>
                <a:latin typeface="Nunito Semi-Bold"/>
                <a:ea typeface="Nunito Semi-Bold"/>
                <a:cs typeface="Nunito Semi-Bold"/>
                <a:sym typeface="Nunito Semi-Bold"/>
              </a:rPr>
              <a:t>*</a:t>
            </a:r>
            <a:r>
              <a:rPr lang="en-US" sz="2100" b="true">
                <a:solidFill>
                  <a:srgbClr val="FFFFFF"/>
                </a:solidFill>
                <a:latin typeface="Nunito Semi-Bold"/>
                <a:ea typeface="Nunito Semi-Bold"/>
                <a:cs typeface="Nunito Semi-Bold"/>
                <a:sym typeface="Nunito Semi-Bold"/>
              </a:rPr>
              <a:t> = 3 chosen for interpretability; density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pH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acidity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SO₂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alcohol recovered as a chemically meaningful ranking.</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[5] Lundberg, S. M. &amp; Lee, S.-I. A Unified Approach to Interpreting Model Predictions (SHAP). NeurIPS 30, 4765–4774 (2017).   [6] Lundberg, S. M. et al. From Local Explanations to Global Understanding with Explainable AI for Trees (TreeSHAP). Nature Machine Intelligence 2, 56–67 (2020).   [7] Ribeiro, M. T., Singh, S. &amp; Guestrin, C. "Why Should I Trust You?": Explaining the Predictions of Any Classifier (LIME). KDD, 1135–1144 (2016).</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27</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Research Gap</a:t>
            </a:r>
          </a:p>
        </p:txBody>
      </p:sp>
      <p:pic>
        <p:nvPicPr>
          <p:cNvPr id="23" name="Picture 22" descr="image.png"/>
          <p:cNvPicPr>
            <a:picLocks noChangeAspect="1"/>
          </p:cNvPicPr>
          <p:nvPr/>
        </p:nvPicPr>
        <p:blipFill>
          <a:blip r:embed="rId3"/>
          <a:stretch>
            <a:fillRect/>
          </a:stretch>
        </p:blipFill>
        <p:spPr>
          <a:xfrm>
            <a:off x="4883941" y="1673352"/>
            <a:ext cx="457200" cy="399005"/>
          </a:xfrm>
          <a:prstGeom prst="rect">
            <a:avLst/>
          </a:prstGeom>
        </p:spPr>
      </p:pic>
      <p:sp>
        <p:nvSpPr>
          <p:cNvPr id="24" name="Rounded Rectangle 23"/>
          <p:cNvSpPr/>
          <p:nvPr/>
        </p:nvSpPr>
        <p:spPr>
          <a:xfrm>
            <a:off x="1028700" y="2559050"/>
            <a:ext cx="1691553"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16230600" cy="384175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Shapley explanation is </a:t>
            </a:r>
            <a:r>
              <a:rPr lang="en-US" sz="2100" b="true">
                <a:solidFill>
                  <a:srgbClr val="111111"/>
                </a:solidFill>
                <a:latin typeface="Nunito Bold"/>
                <a:ea typeface="Nunito Bold"/>
                <a:cs typeface="Nunito Bold"/>
                <a:sym typeface="Nunito Bold"/>
              </a:rPr>
              <a:t>standard in supervised tasks</a:t>
            </a:r>
            <a:r>
              <a:rPr lang="en-US" sz="2100" b="true">
                <a:solidFill>
                  <a:srgbClr val="111111"/>
                </a:solidFill>
                <a:latin typeface="Nunito Semi-Bold"/>
                <a:ea typeface="Nunito Semi-Bold"/>
                <a:cs typeface="Nunito Semi-Bold"/>
                <a:sym typeface="Nunito Semi-Bold"/>
              </a:rPr>
              <a:t> [5, 6], but clustering is still much less explained.</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Existing clustering-interpretability methods favour </a:t>
            </a:r>
            <a:r>
              <a:rPr lang="en-US" sz="2100" b="true">
                <a:solidFill>
                  <a:srgbClr val="111111"/>
                </a:solidFill>
                <a:latin typeface="Nunito Bold"/>
                <a:ea typeface="Nunito Bold"/>
                <a:cs typeface="Nunito Bold"/>
                <a:sym typeface="Nunito Bold"/>
              </a:rPr>
              <a:t>local or global</a:t>
            </a:r>
            <a:r>
              <a:rPr lang="en-US" sz="2100" b="true">
                <a:solidFill>
                  <a:srgbClr val="111111"/>
                </a:solidFill>
                <a:latin typeface="Nunito Semi-Bold"/>
                <a:ea typeface="Nunito Semi-Bold"/>
                <a:cs typeface="Nunito Semi-Bold"/>
                <a:sym typeface="Nunito Semi-Bold"/>
              </a:rPr>
              <a:t> explanation, not both.</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They often fail to scale or to stay </a:t>
            </a:r>
            <a:r>
              <a:rPr lang="en-US" sz="2100" b="true">
                <a:solidFill>
                  <a:srgbClr val="111111"/>
                </a:solidFill>
                <a:latin typeface="Nunito Bold"/>
                <a:ea typeface="Nunito Bold"/>
                <a:cs typeface="Nunito Bold"/>
                <a:sym typeface="Nunito Bold"/>
              </a:rPr>
              <a:t>consistent across clusters</a:t>
            </a:r>
            <a:r>
              <a:rPr lang="en-US" sz="2100" b="true">
                <a:solidFill>
                  <a:srgbClr val="111111"/>
                </a:solidFill>
                <a:latin typeface="Nunito Semi-Bold"/>
                <a:ea typeface="Nunito Semi-Bold"/>
                <a:cs typeface="Nunito Semi-Bold"/>
                <a:sym typeface="Nunito Semi-Bold"/>
              </a:rPr>
              <a:t>.</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Clustering is the hardest test bed: the model creates its own structure, so cluster meaning must be worked out after the fact.</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Local surrogates such as LIME [7] give no guarantee that the credit assigned to a feature is fair or stable.</a:t>
            </a:r>
          </a:p>
        </p:txBody>
      </p:sp>
      <p:sp>
        <p:nvSpPr>
          <p:cNvPr id="29" name="Rounded Rectangle 28"/>
          <p:cNvSpPr/>
          <p:nvPr/>
        </p:nvSpPr>
        <p:spPr>
          <a:xfrm>
            <a:off x="1028700" y="7616952"/>
            <a:ext cx="16230600" cy="1600200"/>
          </a:xfrm>
          <a:prstGeom prst="roundRect">
            <a:avLst>
              <a:gd name="adj" fmla="val 12571"/>
            </a:avLst>
          </a:prstGeom>
          <a:solidFill>
            <a:srgbClr val="F6ECDF"/>
          </a:solidFill>
          <a:ln w="25400">
            <a:solidFill>
              <a:srgbClr val="DF8330"/>
            </a:solidFill>
          </a:ln>
        </p:spPr>
        <p:txBody>
          <a:bodyPr anchor="ctr" rtlCol="false" lIns="0" tIns="0" rIns="0" bIns="0" wrap="square"/>
          <a:lstStyle/>
          <a:p>
            <a:endParaRPr lang="en-US" sz="1800"/>
          </a:p>
        </p:txBody>
      </p:sp>
      <p:sp>
        <p:nvSpPr>
          <p:cNvPr id="30" name="Rounded Rectangle 29"/>
          <p:cNvSpPr/>
          <p:nvPr/>
        </p:nvSpPr>
        <p:spPr>
          <a:xfrm>
            <a:off x="1348740" y="7424928"/>
            <a:ext cx="1976535"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RESEARCH GAP</a:t>
            </a:r>
          </a:p>
        </p:txBody>
      </p:sp>
      <p:sp>
        <p:nvSpPr>
          <p:cNvPr id="31" name="TextBox 30"/>
          <p:cNvSpPr txBox="1"/>
          <p:nvPr/>
        </p:nvSpPr>
        <p:spPr>
          <a:xfrm>
            <a:off x="1394460" y="7891272"/>
            <a:ext cx="15499080" cy="1188720"/>
          </a:xfrm>
          <a:prstGeom prst="rect">
            <a:avLst/>
          </a:prstGeom>
          <a:noFill/>
        </p:spPr>
        <p:txBody>
          <a:bodyPr anchor="ctr" rtlCol="false" lIns="0" tIns="0" rIns="0" bIns="0" wrap="square"/>
          <a:lstStyle/>
          <a:p>
            <a:pPr algn="l">
              <a:lnSpc>
                <a:spcPts val="3080"/>
              </a:lnSpc>
              <a:spcBef>
                <a:spcPts val="0"/>
              </a:spcBef>
              <a:buNone/>
            </a:pPr>
            <a:r>
              <a:rPr lang="en-US" sz="2200" b="true">
                <a:solidFill>
                  <a:srgbClr val="111111"/>
                </a:solidFill>
                <a:latin typeface="Nunito Semi-Bold"/>
                <a:ea typeface="Nunito Semi-Bold"/>
                <a:cs typeface="Nunito Semi-Bold"/>
                <a:sym typeface="Nunito Semi-Bold"/>
              </a:rPr>
              <a:t>There is no principled, axiomatic way to explain </a:t>
            </a:r>
            <a:r>
              <a:rPr lang="en-US" sz="2200" b="true">
                <a:solidFill>
                  <a:srgbClr val="111111"/>
                </a:solidFill>
                <a:latin typeface="Nunito Bold"/>
                <a:ea typeface="Nunito Bold"/>
                <a:cs typeface="Nunito Bold"/>
                <a:sym typeface="Nunito Bold"/>
              </a:rPr>
              <a:t>why a black-box clustering put an observation in a given cluster</a:t>
            </a:r>
            <a:r>
              <a:rPr lang="en-US" sz="2200" b="true">
                <a:solidFill>
                  <a:srgbClr val="111111"/>
                </a:solidFill>
                <a:latin typeface="Nunito Semi-Bold"/>
                <a:ea typeface="Nunito Semi-Bold"/>
                <a:cs typeface="Nunito Semi-Bold"/>
                <a:sym typeface="Nunito Semi-Bold"/>
              </a:rPr>
              <a:t>, in the original feature space and consistently across clusters.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28</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RQ1 and Objectives</a:t>
            </a:r>
          </a:p>
        </p:txBody>
      </p:sp>
      <p:pic>
        <p:nvPicPr>
          <p:cNvPr id="23" name="Picture 22" descr="image.png"/>
          <p:cNvPicPr>
            <a:picLocks noChangeAspect="1"/>
          </p:cNvPicPr>
          <p:nvPr/>
        </p:nvPicPr>
        <p:blipFill>
          <a:blip r:embed="rId3"/>
          <a:stretch>
            <a:fillRect/>
          </a:stretch>
        </p:blipFill>
        <p:spPr>
          <a:xfrm>
            <a:off x="6193139" y="1673352"/>
            <a:ext cx="457200" cy="446713"/>
          </a:xfrm>
          <a:prstGeom prst="rect">
            <a:avLst/>
          </a:prstGeom>
        </p:spPr>
      </p:pic>
      <p:sp>
        <p:nvSpPr>
          <p:cNvPr id="24" name="Rounded Rectangle 23"/>
          <p:cNvSpPr/>
          <p:nvPr/>
        </p:nvSpPr>
        <p:spPr>
          <a:xfrm>
            <a:off x="1028700" y="2559050"/>
            <a:ext cx="1691553"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Rounded Rectangle 27"/>
          <p:cNvSpPr/>
          <p:nvPr/>
        </p:nvSpPr>
        <p:spPr>
          <a:xfrm>
            <a:off x="1028700" y="3546602"/>
            <a:ext cx="16230600" cy="1325880"/>
          </a:xfrm>
          <a:prstGeom prst="roundRect">
            <a:avLst>
              <a:gd name="adj" fmla="val 15172"/>
            </a:avLst>
          </a:prstGeom>
          <a:solidFill>
            <a:srgbClr val="F6ECDF"/>
          </a:solidFill>
          <a:ln w="25400">
            <a:solidFill>
              <a:srgbClr val="124944"/>
            </a:solidFill>
          </a:ln>
        </p:spPr>
        <p:txBody>
          <a:bodyPr anchor="ctr" rtlCol="false" lIns="0" tIns="0" rIns="0" bIns="0" wrap="square"/>
          <a:lstStyle/>
          <a:p>
            <a:endParaRPr lang="en-US" sz="1800"/>
          </a:p>
        </p:txBody>
      </p:sp>
      <p:sp>
        <p:nvSpPr>
          <p:cNvPr id="29" name="Rounded Rectangle 28"/>
          <p:cNvSpPr/>
          <p:nvPr/>
        </p:nvSpPr>
        <p:spPr>
          <a:xfrm>
            <a:off x="1348740" y="3354578"/>
            <a:ext cx="927910" cy="384048"/>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RQ1</a:t>
            </a:r>
          </a:p>
        </p:txBody>
      </p:sp>
      <p:sp>
        <p:nvSpPr>
          <p:cNvPr id="30" name="TextBox 29"/>
          <p:cNvSpPr txBox="1"/>
          <p:nvPr/>
        </p:nvSpPr>
        <p:spPr>
          <a:xfrm>
            <a:off x="1394460" y="3820922"/>
            <a:ext cx="15499080" cy="914400"/>
          </a:xfrm>
          <a:prstGeom prst="rect">
            <a:avLst/>
          </a:prstGeom>
          <a:noFill/>
        </p:spPr>
        <p:txBody>
          <a:bodyPr anchor="ctr" rtlCol="false" lIns="0" tIns="0" rIns="0" bIns="0" wrap="square"/>
          <a:lstStyle/>
          <a:p>
            <a:pPr algn="l">
              <a:lnSpc>
                <a:spcPts val="3080"/>
              </a:lnSpc>
              <a:spcBef>
                <a:spcPts val="0"/>
              </a:spcBef>
              <a:buNone/>
            </a:pPr>
            <a:r>
              <a:rPr lang="en-US" sz="2200" b="true">
                <a:solidFill>
                  <a:srgbClr val="111111"/>
                </a:solidFill>
                <a:latin typeface="Nunito Semi-Bold"/>
                <a:ea typeface="Nunito Semi-Bold"/>
                <a:cs typeface="Nunito Semi-Bold"/>
                <a:sym typeface="Nunito Semi-Bold"/>
              </a:rPr>
              <a:t>How can Shapley values explain black-box clustering </a:t>
            </a:r>
            <a:r>
              <a:rPr lang="en-US" sz="2200" b="true">
                <a:solidFill>
                  <a:srgbClr val="111111"/>
                </a:solidFill>
                <a:latin typeface="Nunito Bold"/>
                <a:ea typeface="Nunito Bold"/>
                <a:cs typeface="Nunito Bold"/>
                <a:sym typeface="Nunito Bold"/>
              </a:rPr>
              <a:t>faithfully</a:t>
            </a:r>
            <a:r>
              <a:rPr lang="en-US" sz="2200" b="true">
                <a:solidFill>
                  <a:srgbClr val="111111"/>
                </a:solidFill>
                <a:latin typeface="Nunito Semi-Bold"/>
                <a:ea typeface="Nunito Semi-Bold"/>
                <a:cs typeface="Nunito Semi-Bold"/>
                <a:sym typeface="Nunito Semi-Bold"/>
              </a:rPr>
              <a:t>, at both instance level and cluster level?</a:t>
            </a:r>
          </a:p>
        </p:txBody>
      </p:sp>
      <p:graphicFrame>
        <p:nvGraphicFramePr>
          <p:cNvPr id="31" name="Table 30"/>
          <p:cNvGraphicFramePr>
            <a:graphicFrameLocks noGrp="1"/>
          </p:cNvGraphicFramePr>
          <p:nvPr/>
        </p:nvGraphicFramePr>
        <p:xfrm>
          <a:off x="1028700" y="5283962"/>
          <a:ext cx="16230599" cy="3291840"/>
        </p:xfrm>
        <a:graphic>
          <a:graphicData uri="http://schemas.openxmlformats.org/drawingml/2006/table">
            <a:tbl>
              <a:tblPr firstRow="0" bandRow="0" firstCol="0" lastRow="0" lastCol="0" bandCol="0">
                <a:tableStyleId>{2D5ABB26-0587-4C30-8999-92F81FD0307C}</a:tableStyleId>
              </a:tblPr>
              <a:tblGrid>
                <a:gridCol w="4785946"/>
                <a:gridCol w="7699130"/>
                <a:gridCol w="3745523"/>
              </a:tblGrid>
              <a:tr h="82296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Objective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What it delivers</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Where it is shown</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82296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O1  ·  Cluster-level explanation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A pipeline that yields a cluster-level explanation while keeping </a:t>
                      </a:r>
                      <a:r>
                        <a:rPr lang="en-US" sz="1800" b="true">
                          <a:solidFill>
                            <a:srgbClr val="111111"/>
                          </a:solidFill>
                          <a:latin typeface="Nunito Bold"/>
                          <a:ea typeface="Nunito Bold"/>
                          <a:cs typeface="Nunito Bold"/>
                          <a:sym typeface="Nunito Bold"/>
                        </a:rPr>
                        <a:t>feature-level attribution</a:t>
                      </a:r>
                      <a:r>
                        <a:rPr lang="en-US" sz="1800" b="true">
                          <a:solidFill>
                            <a:srgbClr val="111111"/>
                          </a:solidFill>
                          <a:latin typeface="Nunito Semi-Bold"/>
                          <a:ea typeface="Nunito Semi-Bold"/>
                          <a:cs typeface="Nunito Semi-Bold"/>
                          <a:sym typeface="Nunito Semi-Bold"/>
                        </a:rPr>
                        <a: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Fig. 5.2, cluster profiles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82296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O2  ·  Original feature space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Attribution in the </a:t>
                      </a:r>
                      <a:r>
                        <a:rPr lang="en-US" sz="1800" b="true">
                          <a:solidFill>
                            <a:srgbClr val="111111"/>
                          </a:solidFill>
                          <a:latin typeface="Nunito Bold"/>
                          <a:ea typeface="Nunito Bold"/>
                          <a:cs typeface="Nunito Bold"/>
                          <a:sym typeface="Nunito Bold"/>
                        </a:rPr>
                        <a:t>original variables</a:t>
                      </a:r>
                      <a:r>
                        <a:rPr lang="en-US" sz="1800" b="true">
                          <a:solidFill>
                            <a:srgbClr val="111111"/>
                          </a:solidFill>
                          <a:latin typeface="Nunito Semi-Bold"/>
                          <a:ea typeface="Nunito Semi-Bold"/>
                          <a:cs typeface="Nunito Semi-Bold"/>
                          <a:sym typeface="Nunito Semi-Bold"/>
                        </a:rPr>
                        <a:t> (density, pH, acidity, sulfur dioxide, alcohol), not in a reduced latent space.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Fig. 5.1, global ranking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82296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O3  ·  Justify Shapley over LIME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An argument from the </a:t>
                      </a:r>
                      <a:r>
                        <a:rPr lang="en-US" sz="1800" b="true">
                          <a:solidFill>
                            <a:srgbClr val="111111"/>
                          </a:solidFill>
                          <a:latin typeface="Nunito Bold"/>
                          <a:ea typeface="Nunito Bold"/>
                          <a:cs typeface="Nunito Bold"/>
                          <a:sym typeface="Nunito Bold"/>
                        </a:rPr>
                        <a:t>four axioms</a:t>
                      </a:r>
                      <a:r>
                        <a:rPr lang="en-US" sz="1800" b="true">
                          <a:solidFill>
                            <a:srgbClr val="111111"/>
                          </a:solidFill>
                          <a:latin typeface="Nunito Semi-Bold"/>
                          <a:ea typeface="Nunito Semi-Bold"/>
                          <a:cs typeface="Nunito Semi-Bold"/>
                          <a:sym typeface="Nunito Semi-Bold"/>
                        </a:rPr>
                        <a:t> for why the cooperative concept is the right one.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SHAP vs LIME comparison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[4] Shapley, L. S. A Value for n-Person Games. Contributions to the Theory of Games II, 307–317, Princeton University Press (1953).</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29</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TECHNICAL DEEP DIVE: COOPERATIVE GAMES</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A Cooperative Game in One Picture</a:t>
            </a:r>
          </a:p>
        </p:txBody>
      </p:sp>
      <p:pic>
        <p:nvPicPr>
          <p:cNvPr id="23" name="Picture 22" descr="image.png"/>
          <p:cNvPicPr>
            <a:picLocks noChangeAspect="1"/>
          </p:cNvPicPr>
          <p:nvPr/>
        </p:nvPicPr>
        <p:blipFill>
          <a:blip r:embed="rId3"/>
          <a:stretch>
            <a:fillRect/>
          </a:stretch>
        </p:blipFill>
        <p:spPr>
          <a:xfrm>
            <a:off x="10353379" y="1673352"/>
            <a:ext cx="457200" cy="452148"/>
          </a:xfrm>
          <a:prstGeom prst="rect">
            <a:avLst/>
          </a:prstGeom>
        </p:spPr>
      </p:pic>
      <p:sp>
        <p:nvSpPr>
          <p:cNvPr id="24" name="Rounded Rectangle 23"/>
          <p:cNvSpPr/>
          <p:nvPr/>
        </p:nvSpPr>
        <p:spPr>
          <a:xfrm>
            <a:off x="1028700" y="2559050"/>
            <a:ext cx="162915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The game</a:t>
            </a:r>
          </a:p>
        </p:txBody>
      </p:sp>
      <p:sp>
        <p:nvSpPr>
          <p:cNvPr id="25" name="Rounded Rectangle 24"/>
          <p:cNvSpPr/>
          <p:nvPr/>
        </p:nvSpPr>
        <p:spPr>
          <a:xfrm>
            <a:off x="2785872" y="2559050"/>
            <a:ext cx="2087358"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Shapley value</a:t>
            </a:r>
          </a:p>
        </p:txBody>
      </p:sp>
      <p:sp>
        <p:nvSpPr>
          <p:cNvPr id="26" name="Rounded Rectangle 25"/>
          <p:cNvSpPr/>
          <p:nvPr/>
        </p:nvSpPr>
        <p:spPr>
          <a:xfrm>
            <a:off x="5001246" y="2559050"/>
            <a:ext cx="1929130"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In this thesis</a:t>
            </a:r>
          </a:p>
        </p:txBody>
      </p:sp>
      <p:sp>
        <p:nvSpPr>
          <p:cNvPr id="27" name="TextBox 26"/>
          <p:cNvSpPr txBox="1"/>
          <p:nvPr/>
        </p:nvSpPr>
        <p:spPr>
          <a:xfrm>
            <a:off x="1028700" y="3363722"/>
            <a:ext cx="8229600" cy="2743200"/>
          </a:xfrm>
          <a:prstGeom prst="rect">
            <a:avLst/>
          </a:prstGeom>
          <a:noFill/>
        </p:spPr>
        <p:txBody>
          <a:bodyPr anchor="t" rtlCol="false" lIns="0" tIns="0" rIns="0" bIns="0" wrap="square"/>
          <a:lstStyle/>
          <a:p>
            <a:pPr algn="l">
              <a:lnSpc>
                <a:spcPts val="2420"/>
              </a:lnSpc>
              <a:spcBef>
                <a:spcPts val="0"/>
              </a:spcBef>
              <a:buNone/>
            </a:pPr>
            <a:r>
              <a:rPr lang="en-US" sz="1936" b="true">
                <a:solidFill>
                  <a:srgbClr val="124944"/>
                </a:solidFill>
                <a:latin typeface="Nunito Ultra-Bold"/>
                <a:ea typeface="Nunito Ultra-Bold"/>
                <a:cs typeface="Nunito Ultra-Bold"/>
                <a:sym typeface="Nunito Ultra-Bold"/>
              </a:rPr>
              <a:t>Three ingredients</a:t>
            </a:r>
          </a:p>
          <a:p>
            <a:pPr algn="l" marL="274320" indent="-274320">
              <a:lnSpc>
                <a:spcPts val="2464"/>
              </a:lnSpc>
              <a:spcBef>
                <a:spcPts val="0"/>
              </a:spcBef>
              <a:buClr>
                <a:srgbClr val="DF8330"/>
              </a:buClr>
              <a:buSzPct val="100000"/>
              <a:buFont typeface="Arial"/>
              <a:buChar char="•"/>
            </a:pPr>
            <a:r>
              <a:rPr lang="en-US" sz="1760" b="true">
                <a:solidFill>
                  <a:srgbClr val="111111"/>
                </a:solidFill>
                <a:latin typeface="Nunito Bold"/>
                <a:ea typeface="Nunito Bold"/>
                <a:cs typeface="Nunito Bold"/>
                <a:sym typeface="Nunito Bold"/>
              </a:rPr>
              <a:t>Players</a:t>
            </a:r>
            <a:r>
              <a:rPr lang="en-US" sz="1760" b="true">
                <a:solidFill>
                  <a:srgbClr val="111111"/>
                </a:solidFill>
                <a:latin typeface="Nunito Semi-Bold"/>
                <a:ea typeface="Nunito Semi-Bold"/>
                <a:cs typeface="Nunito Semi-Bold"/>
                <a:sym typeface="Nunito Semi-Bold"/>
              </a:rPr>
              <a:t> N = {1, …, n}: the agents who can work together.</a:t>
            </a:r>
          </a:p>
          <a:p>
            <a:pPr algn="l" marL="274320" indent="-274320">
              <a:lnSpc>
                <a:spcPts val="2605"/>
              </a:lnSpc>
              <a:spcBef>
                <a:spcPts val="792"/>
              </a:spcBef>
              <a:buClr>
                <a:srgbClr val="DF8330"/>
              </a:buClr>
              <a:buSzPct val="100000"/>
              <a:buFont typeface="Arial"/>
              <a:buChar char="•"/>
            </a:pPr>
            <a:r>
              <a:rPr lang="en-US" sz="1760" b="true">
                <a:solidFill>
                  <a:srgbClr val="111111"/>
                </a:solidFill>
                <a:latin typeface="Nunito Bold"/>
                <a:ea typeface="Nunito Bold"/>
                <a:cs typeface="Nunito Bold"/>
                <a:sym typeface="Nunito Bold"/>
              </a:rPr>
              <a:t>Coalition</a:t>
            </a:r>
            <a:r>
              <a:rPr lang="en-US" sz="1760" b="true">
                <a:solidFill>
                  <a:srgbClr val="111111"/>
                </a:solidFill>
                <a:latin typeface="Nunito Semi-Bold"/>
                <a:ea typeface="Nunito Semi-Bold"/>
                <a:cs typeface="Nunito Semi-Bold"/>
                <a:sym typeface="Nunito Semi-Bold"/>
              </a:rPr>
              <a:t> S </a:t>
            </a:r>
            <a:r>
              <a:rPr lang="en-US" sz="1760" b="true">
                <a:solidFill>
                  <a:srgbClr val="111111"/>
                </a:solidFill>
                <a:latin typeface="Cambria Math"/>
                <a:ea typeface="Cambria Math"/>
                <a:cs typeface="Cambria Math"/>
                <a:sym typeface="Cambria Math"/>
              </a:rPr>
              <a:t>⊆ </a:t>
            </a:r>
            <a:r>
              <a:rPr lang="en-US" sz="1760" b="true">
                <a:solidFill>
                  <a:srgbClr val="111111"/>
                </a:solidFill>
                <a:latin typeface="Nunito Semi-Bold"/>
                <a:ea typeface="Nunito Semi-Bold"/>
                <a:cs typeface="Nunito Semi-Bold"/>
                <a:sym typeface="Nunito Semi-Bold"/>
              </a:rPr>
              <a:t>N: any group of players; there are 2</a:t>
            </a:r>
            <a:r>
              <a:rPr lang="en-US" sz="1760" b="true" baseline="30000">
                <a:solidFill>
                  <a:srgbClr val="111111"/>
                </a:solidFill>
                <a:latin typeface="Nunito Semi-Bold"/>
                <a:ea typeface="Nunito Semi-Bold"/>
                <a:cs typeface="Nunito Semi-Bold"/>
                <a:sym typeface="Nunito Semi-Bold"/>
              </a:rPr>
              <a:t>n</a:t>
            </a:r>
            <a:r>
              <a:rPr lang="en-US" sz="1760" b="true">
                <a:solidFill>
                  <a:srgbClr val="111111"/>
                </a:solidFill>
                <a:latin typeface="Nunito Semi-Bold"/>
                <a:ea typeface="Nunito Semi-Bold"/>
                <a:cs typeface="Nunito Semi-Bold"/>
                <a:sym typeface="Nunito Semi-Bold"/>
              </a:rPr>
              <a:t> of them.</a:t>
            </a:r>
          </a:p>
          <a:p>
            <a:pPr algn="l" marL="274320" indent="-274320">
              <a:lnSpc>
                <a:spcPts val="2605"/>
              </a:lnSpc>
              <a:spcBef>
                <a:spcPts val="792"/>
              </a:spcBef>
              <a:buClr>
                <a:srgbClr val="DF8330"/>
              </a:buClr>
              <a:buSzPct val="100000"/>
              <a:buFont typeface="Arial"/>
              <a:buChar char="•"/>
            </a:pPr>
            <a:r>
              <a:rPr lang="en-US" sz="1760" b="true">
                <a:solidFill>
                  <a:srgbClr val="111111"/>
                </a:solidFill>
                <a:latin typeface="Nunito Bold"/>
                <a:ea typeface="Nunito Bold"/>
                <a:cs typeface="Nunito Bold"/>
                <a:sym typeface="Nunito Bold"/>
              </a:rPr>
              <a:t>Characteristic function</a:t>
            </a:r>
            <a:r>
              <a:rPr lang="en-US" sz="1760" b="true">
                <a:solidFill>
                  <a:srgbClr val="111111"/>
                </a:solidFill>
                <a:latin typeface="Nunito Semi-Bold"/>
                <a:ea typeface="Nunito Semi-Bold"/>
                <a:cs typeface="Nunito Semi-Bold"/>
                <a:sym typeface="Nunito Semi-Bold"/>
              </a:rPr>
              <a:t> v: 2</a:t>
            </a:r>
            <a:r>
              <a:rPr lang="en-US" sz="1760" b="true" baseline="30000">
                <a:solidFill>
                  <a:srgbClr val="111111"/>
                </a:solidFill>
                <a:latin typeface="Nunito Semi-Bold"/>
                <a:ea typeface="Nunito Semi-Bold"/>
                <a:cs typeface="Nunito Semi-Bold"/>
                <a:sym typeface="Nunito Semi-Bold"/>
              </a:rPr>
              <a:t>N</a:t>
            </a:r>
            <a:r>
              <a:rPr lang="en-US" sz="1760" b="true">
                <a:solidFill>
                  <a:srgbClr val="111111"/>
                </a:solidFill>
                <a:latin typeface="Calibri"/>
                <a:ea typeface="Calibri"/>
                <a:cs typeface="Calibri"/>
                <a:sym typeface="Calibri"/>
              </a:rPr>
              <a:t> → </a:t>
            </a:r>
            <a:r>
              <a:rPr lang="en-US" sz="1760" b="true">
                <a:solidFill>
                  <a:srgbClr val="111111"/>
                </a:solidFill>
                <a:latin typeface="Cambria Math"/>
                <a:ea typeface="Cambria Math"/>
                <a:cs typeface="Cambria Math"/>
                <a:sym typeface="Cambria Math"/>
              </a:rPr>
              <a:t>ℝ </a:t>
            </a:r>
            <a:r>
              <a:rPr lang="en-US" sz="1760" b="true">
                <a:solidFill>
                  <a:srgbClr val="111111"/>
                </a:solidFill>
                <a:latin typeface="Nunito Semi-Bold"/>
                <a:ea typeface="Nunito Semi-Bold"/>
                <a:cs typeface="Nunito Semi-Bold"/>
                <a:sym typeface="Nunito Semi-Bold"/>
              </a:rPr>
              <a:t>with v(∅) = 0: the value a coalition creates </a:t>
            </a:r>
            <a:r>
              <a:rPr lang="en-US" sz="1760" b="true">
                <a:solidFill>
                  <a:srgbClr val="111111"/>
                </a:solidFill>
                <a:latin typeface="Nunito Bold"/>
                <a:ea typeface="Nunito Bold"/>
                <a:cs typeface="Nunito Bold"/>
                <a:sym typeface="Nunito Bold"/>
              </a:rPr>
              <a:t>on its own</a:t>
            </a:r>
            <a:r>
              <a:rPr lang="en-US" sz="1760" b="true">
                <a:solidFill>
                  <a:srgbClr val="111111"/>
                </a:solidFill>
                <a:latin typeface="Nunito Semi-Bold"/>
                <a:ea typeface="Nunito Semi-Bold"/>
                <a:cs typeface="Nunito Semi-Bold"/>
                <a:sym typeface="Nunito Semi-Bold"/>
              </a:rPr>
              <a:t>.</a:t>
            </a:r>
          </a:p>
          <a:p>
            <a:pPr algn="l" marL="274320" indent="-274320">
              <a:lnSpc>
                <a:spcPts val="2464"/>
              </a:lnSpc>
              <a:spcBef>
                <a:spcPts val="792"/>
              </a:spcBef>
              <a:buClr>
                <a:srgbClr val="DF8330"/>
              </a:buClr>
              <a:buSzPct val="100000"/>
              <a:buFont typeface="Arial"/>
              <a:buChar char="•"/>
            </a:pPr>
            <a:r>
              <a:rPr lang="en-US" sz="1760" b="true">
                <a:solidFill>
                  <a:srgbClr val="111111"/>
                </a:solidFill>
                <a:latin typeface="Nunito Bold"/>
                <a:ea typeface="Nunito Bold"/>
                <a:cs typeface="Nunito Bold"/>
                <a:sym typeface="Nunito Bold"/>
              </a:rPr>
              <a:t>The question:</a:t>
            </a:r>
            <a:r>
              <a:rPr lang="en-US" sz="1760" b="true">
                <a:solidFill>
                  <a:srgbClr val="111111"/>
                </a:solidFill>
                <a:latin typeface="Nunito Semi-Bold"/>
                <a:ea typeface="Nunito Semi-Bold"/>
                <a:cs typeface="Nunito Semi-Bold"/>
                <a:sym typeface="Nunito Semi-Bold"/>
              </a:rPr>
              <a:t> the grand coalition N earns v(N); </a:t>
            </a:r>
            <a:r>
              <a:rPr lang="en-US" sz="1760" b="true">
                <a:solidFill>
                  <a:srgbClr val="111111"/>
                </a:solidFill>
                <a:latin typeface="Nunito Bold"/>
                <a:ea typeface="Nunito Bold"/>
                <a:cs typeface="Nunito Bold"/>
                <a:sym typeface="Nunito Bold"/>
              </a:rPr>
              <a:t>how should it be shared fairly</a:t>
            </a:r>
            <a:r>
              <a:rPr lang="en-US" sz="1760" b="true">
                <a:solidFill>
                  <a:srgbClr val="111111"/>
                </a:solidFill>
                <a:latin typeface="Nunito Semi-Bold"/>
                <a:ea typeface="Nunito Semi-Bold"/>
                <a:cs typeface="Nunito Semi-Bold"/>
                <a:sym typeface="Nunito Semi-Bold"/>
              </a:rPr>
              <a:t> among the players?</a:t>
            </a:r>
          </a:p>
        </p:txBody>
      </p:sp>
      <p:sp>
        <p:nvSpPr>
          <p:cNvPr id="28" name="Rounded Rectangle 27"/>
          <p:cNvSpPr/>
          <p:nvPr/>
        </p:nvSpPr>
        <p:spPr>
          <a:xfrm>
            <a:off x="1028700" y="6198362"/>
            <a:ext cx="8229600" cy="914400"/>
          </a:xfrm>
          <a:prstGeom prst="roundRect">
            <a:avLst>
              <a:gd name="adj" fmla="val 22000"/>
            </a:avLst>
          </a:prstGeom>
          <a:solidFill>
            <a:srgbClr val="124944"/>
          </a:solidFill>
          <a:ln>
            <a:noFill/>
          </a:ln>
        </p:spPr>
        <p:txBody>
          <a:bodyPr anchor="ctr" rtlCol="false" lIns="0" tIns="0" rIns="0" bIns="0" wrap="square"/>
          <a:lstStyle/>
          <a:p>
            <a:endParaRPr lang="en-US" sz="1800"/>
          </a:p>
        </p:txBody>
      </p:sp>
      <p:sp>
        <p:nvSpPr>
          <p:cNvPr id="29" name="TextBox 28"/>
          <p:cNvSpPr txBox="1"/>
          <p:nvPr/>
        </p:nvSpPr>
        <p:spPr>
          <a:xfrm>
            <a:off x="1028700" y="6271514"/>
            <a:ext cx="8229600" cy="256032"/>
          </a:xfrm>
          <a:prstGeom prst="rect">
            <a:avLst/>
          </a:prstGeom>
          <a:noFill/>
        </p:spPr>
        <p:txBody>
          <a:bodyPr anchor="t" rtlCol="false" lIns="0" tIns="0" rIns="0" bIns="0" wrap="square"/>
          <a:lstStyle/>
          <a:p>
            <a:pPr algn="ctr">
              <a:lnSpc>
                <a:spcPts val="1400"/>
              </a:lnSpc>
              <a:spcBef>
                <a:spcPts val="0"/>
              </a:spcBef>
              <a:buNone/>
            </a:pPr>
            <a:r>
              <a:rPr lang="en-US" sz="1200" b="true" spc="150">
                <a:solidFill>
                  <a:srgbClr val="ECC665"/>
                </a:solidFill>
                <a:latin typeface="Nunito Ultra-Bold"/>
                <a:ea typeface="Nunito Ultra-Bold"/>
                <a:cs typeface="Nunito Ultra-Bold"/>
                <a:sym typeface="Nunito Ultra-Bold"/>
              </a:rPr>
              <a:t>A COOPERATIVE GAME IS A PAIR</a:t>
            </a:r>
          </a:p>
        </p:txBody>
      </p:sp>
      <mc:AlternateContent xmlns:mc="http://schemas.openxmlformats.org/markup-compatibility/2006">
        <mc:Choice xmlns:a14="http://schemas.microsoft.com/office/drawing/2010/main" Requires="a14">
          <p:sp>
            <p:nvSpPr>
              <p:cNvPr id="30" name="Equation"/>
              <p:cNvSpPr txBox="1"/>
              <p:nvPr/>
            </p:nvSpPr>
            <p:spPr>
              <a:xfrm>
                <a:off x="1211580" y="6490970"/>
                <a:ext cx="7863840" cy="566928"/>
              </a:xfrm>
              <a:prstGeom prst="rect">
                <a:avLst/>
              </a:prstGeom>
              <a:noFill/>
            </p:spPr>
            <p:txBody>
              <a:bodyPr wrap="none" rtlCol="0" anchor="ctr" lIns="0" tIns="0" rIns="0" bIns="0"/>
              <a:lstStyle/>
              <a:p>
                <a:pPr algn="ctr"/>
                <a14:m xmlns:m="http://schemas.openxmlformats.org/officeDocument/2006/math">
                  <m:oMathPara>
                    <m:oMathParaPr>
                      <m:jc m:val="centerGroup"/>
                    </m:oMathParaPr>
                    <m:oMath>
                      <m:r>
                        <m:rPr>
                          <m:sty m:val="p"/>
                        </m:rPr>
                        <a:rPr lang="en-US" sz="2000">
                          <a:solidFill>
                            <a:srgbClr val="FFFFFF"/>
                          </a:solidFill>
                          <a:latin typeface="Cambria Math" panose="02040503050406030204" pitchFamily="18" charset="0"/>
                        </a:rPr>
                        <m:t xml:space="preserve">(</m:t>
                      </m:r>
                      <m:r>
                        <a:rPr lang="en-US" sz="2000" i="1">
                          <a:solidFill>
                            <a:srgbClr val="FFFFFF"/>
                          </a:solidFill>
                          <a:latin typeface="Cambria Math" panose="02040503050406030204" pitchFamily="18" charset="0"/>
                        </a:rPr>
                        <m:t xml:space="preserve">N</m:t>
                      </m:r>
                      <m:r>
                        <m:rPr>
                          <m:sty m:val="p"/>
                        </m:rPr>
                        <a:rPr lang="en-US" sz="2000">
                          <a:solidFill>
                            <a:srgbClr val="FFFFFF"/>
                          </a:solidFill>
                          <a:latin typeface="Cambria Math" panose="02040503050406030204" pitchFamily="18" charset="0"/>
                        </a:rPr>
                        <m:t xml:space="preserve">,</m:t>
                      </m:r>
                      <m:r>
                        <a:rPr lang="en-US" sz="2000" i="1">
                          <a:solidFill>
                            <a:srgbClr val="FFFFFF"/>
                          </a:solidFill>
                          <a:latin typeface="Cambria Math" panose="02040503050406030204" pitchFamily="18" charset="0"/>
                        </a:rPr>
                        <m:t xml:space="preserve">v</m:t>
                      </m:r>
                      <m:r>
                        <m:rPr>
                          <m:sty m:val="p"/>
                        </m:rPr>
                        <a:rPr lang="en-US" sz="2000">
                          <a:solidFill>
                            <a:srgbClr val="FFFFFF"/>
                          </a:solidFill>
                          <a:latin typeface="Cambria Math" panose="02040503050406030204" pitchFamily="18" charset="0"/>
                        </a:rPr>
                        <m:t xml:space="preserve">),  </m:t>
                      </m:r>
                      <m:r>
                        <a:rPr lang="en-US" sz="2000" i="1">
                          <a:solidFill>
                            <a:srgbClr val="FFFFFF"/>
                          </a:solidFill>
                          <a:latin typeface="Cambria Math" panose="02040503050406030204" pitchFamily="18" charset="0"/>
                        </a:rPr>
                        <m:t xml:space="preserve">v</m:t>
                      </m:r>
                      <m:r>
                        <m:rPr>
                          <m:sty m:val="p"/>
                        </m:rPr>
                        <a:rPr lang="en-US" sz="2000">
                          <a:solidFill>
                            <a:srgbClr val="FFFFFF"/>
                          </a:solidFill>
                          <a:latin typeface="Cambria Math" panose="02040503050406030204" pitchFamily="18" charset="0"/>
                        </a:rPr>
                        <m:t xml:space="preserve">:</m:t>
                      </m:r>
                      <m:sSup>
                        <m:sSupPr>
                          <m:ctrlPr>
                            <a:rPr lang="en-US" sz="2000" i="1">
                              <a:solidFill>
                                <a:srgbClr val="FFFFFF"/>
                              </a:solidFill>
                              <a:latin typeface="Cambria Math" panose="02040503050406030204" pitchFamily="18" charset="0"/>
                            </a:rPr>
                          </m:ctrlPr>
                        </m:sSupPr>
                        <m:e>
                          <m:r>
                            <m:rPr>
                              <m:sty m:val="p"/>
                            </m:rPr>
                            <a:rPr lang="en-US" sz="2000">
                              <a:solidFill>
                                <a:srgbClr val="FFFFFF"/>
                              </a:solidFill>
                              <a:latin typeface="Cambria Math" panose="02040503050406030204" pitchFamily="18" charset="0"/>
                            </a:rPr>
                            <m:t xml:space="preserve">2</m:t>
                          </m:r>
                        </m:e>
                        <m:sup>
                          <m:r>
                            <a:rPr lang="en-US" sz="2000" i="1">
                              <a:solidFill>
                                <a:srgbClr val="FFFFFF"/>
                              </a:solidFill>
                              <a:latin typeface="Cambria Math" panose="02040503050406030204" pitchFamily="18" charset="0"/>
                            </a:rPr>
                            <m:t xml:space="preserve">N</m:t>
                          </m:r>
                        </m:sup>
                      </m:sSup>
                      <m:r>
                        <m:rPr>
                          <m:sty m:val="p"/>
                        </m:rPr>
                        <a:rPr lang="en-US" sz="2000">
                          <a:solidFill>
                            <a:srgbClr val="FFFFFF"/>
                          </a:solidFill>
                          <a:latin typeface="Cambria Math" panose="02040503050406030204" pitchFamily="18" charset="0"/>
                        </a:rPr>
                        <m:t xml:space="preserve">→</m:t>
                      </m:r>
                      <m:r>
                        <m:rPr>
                          <m:scr m:val="double-struck"/>
                          <m:sty m:val="p"/>
                        </m:rPr>
                        <a:rPr lang="en-US" sz="2000">
                          <a:solidFill>
                            <a:srgbClr val="FFFFFF"/>
                          </a:solidFill>
                          <a:latin typeface="Cambria Math" panose="02040503050406030204" pitchFamily="18" charset="0"/>
                        </a:rPr>
                        <m:t xml:space="preserve">R</m:t>
                      </m:r>
                      <m:r>
                        <m:rPr>
                          <m:sty m:val="p"/>
                        </m:rPr>
                        <a:rPr lang="en-US" sz="2000">
                          <a:solidFill>
                            <a:srgbClr val="FFFFFF"/>
                          </a:solidFill>
                          <a:latin typeface="Cambria Math" panose="02040503050406030204" pitchFamily="18" charset="0"/>
                        </a:rPr>
                        <m:t xml:space="preserve">,  </m:t>
                      </m:r>
                      <m:r>
                        <a:rPr lang="en-US" sz="2000" i="1">
                          <a:solidFill>
                            <a:srgbClr val="FFFFFF"/>
                          </a:solidFill>
                          <a:latin typeface="Cambria Math" panose="02040503050406030204" pitchFamily="18" charset="0"/>
                        </a:rPr>
                        <m:t xml:space="preserve">v</m:t>
                      </m:r>
                      <m:r>
                        <m:rPr>
                          <m:sty m:val="p"/>
                        </m:rPr>
                        <a:rPr lang="en-US" sz="2000">
                          <a:solidFill>
                            <a:srgbClr val="FFFFFF"/>
                          </a:solidFill>
                          <a:latin typeface="Cambria Math" panose="02040503050406030204" pitchFamily="18" charset="0"/>
                        </a:rPr>
                        <m:t xml:space="preserve">(∅)=0</m:t>
                      </m:r>
                    </m:oMath>
                  </m:oMathPara>
                </a14:m>
                <a:endParaRPr lang="en-US" sz="2000"/>
              </a:p>
            </p:txBody>
          </p:sp>
        </mc:Choice>
        <mc:Fallback>
          <p:sp>
            <p:nvSpPr>
              <p:cNvPr id="30" name="Equation"/>
              <p:cNvSpPr txBox="1"/>
              <p:nvPr/>
            </p:nvSpPr>
            <p:spPr>
              <a:xfrm>
                <a:off x="1211580" y="6490970"/>
                <a:ext cx="7863840" cy="566928"/>
              </a:xfrm>
              <a:prstGeom prst="rect">
                <a:avLst/>
              </a:prstGeom>
              <a:blipFill>
                <a:blip r:embed="rId5"/>
                <a:stretch>
                  <a:fillRect/>
                </a:stretch>
              </a:blipFill>
            </p:spPr>
            <p:txBody>
              <a:bodyPr/>
              <a:lstStyle/>
              <a:p>
                <a:endParaRPr lang="en-US"/>
              </a:p>
            </p:txBody>
          </p:sp>
        </mc:Fallback>
      </mc:AlternateContent>
      <p:sp>
        <p:nvSpPr>
          <p:cNvPr id="31" name="Rounded Rectangle 30"/>
          <p:cNvSpPr/>
          <p:nvPr/>
        </p:nvSpPr>
        <p:spPr>
          <a:xfrm>
            <a:off x="1028700" y="7524242"/>
            <a:ext cx="8229600" cy="1738630"/>
          </a:xfrm>
          <a:prstGeom prst="roundRect">
            <a:avLst>
              <a:gd name="adj" fmla="val 11570"/>
            </a:avLst>
          </a:prstGeom>
          <a:solidFill>
            <a:srgbClr val="F6ECDF"/>
          </a:solidFill>
          <a:ln w="25400">
            <a:solidFill>
              <a:srgbClr val="DF8330"/>
            </a:solidFill>
          </a:ln>
        </p:spPr>
        <p:txBody>
          <a:bodyPr anchor="ctr" rtlCol="false" lIns="0" tIns="0" rIns="0" bIns="0" wrap="square"/>
          <a:lstStyle/>
          <a:p>
            <a:endParaRPr lang="en-US" sz="1800"/>
          </a:p>
        </p:txBody>
      </p:sp>
      <p:sp>
        <p:nvSpPr>
          <p:cNvPr id="32" name="Rounded Rectangle 31"/>
          <p:cNvSpPr/>
          <p:nvPr/>
        </p:nvSpPr>
        <p:spPr>
          <a:xfrm>
            <a:off x="1348740" y="7332218"/>
            <a:ext cx="3890835"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TOY EXAMPLE: A THREE-PIECE BAND</a:t>
            </a:r>
          </a:p>
        </p:txBody>
      </p:sp>
      <p:sp>
        <p:nvSpPr>
          <p:cNvPr id="33" name="TextBox 32"/>
          <p:cNvSpPr txBox="1"/>
          <p:nvPr/>
        </p:nvSpPr>
        <p:spPr>
          <a:xfrm>
            <a:off x="1394460" y="7798562"/>
            <a:ext cx="7498080" cy="1327150"/>
          </a:xfrm>
          <a:prstGeom prst="rect">
            <a:avLst/>
          </a:prstGeom>
          <a:noFill/>
        </p:spPr>
        <p:txBody>
          <a:bodyPr anchor="ctr" rtlCol="false" lIns="0" tIns="0" rIns="0" bIns="0" wrap="square"/>
          <a:lstStyle/>
          <a:p>
            <a:pPr algn="l">
              <a:lnSpc>
                <a:spcPts val="2444"/>
              </a:lnSpc>
              <a:spcBef>
                <a:spcPts val="0"/>
              </a:spcBef>
              <a:buNone/>
            </a:pPr>
            <a:r>
              <a:rPr lang="en-US" sz="1746" b="true">
                <a:solidFill>
                  <a:srgbClr val="111111"/>
                </a:solidFill>
                <a:latin typeface="Nunito Semi-Bold"/>
                <a:ea typeface="Nunito Semi-Bold"/>
                <a:cs typeface="Nunito Semi-Bold"/>
                <a:sym typeface="Nunito Semi-Bold"/>
              </a:rPr>
              <a:t>Guitar, Voice and Drums are paid for a gig. Alone they earn </a:t>
            </a:r>
            <a:r>
              <a:rPr lang="en-US" sz="1746" b="true">
                <a:solidFill>
                  <a:srgbClr val="111111"/>
                </a:solidFill>
                <a:latin typeface="Nunito Bold"/>
                <a:ea typeface="Nunito Bold"/>
                <a:cs typeface="Nunito Bold"/>
                <a:sym typeface="Nunito Bold"/>
              </a:rPr>
              <a:t>60, 40 and 20</a:t>
            </a:r>
            <a:r>
              <a:rPr lang="en-US" sz="1746" b="true">
                <a:solidFill>
                  <a:srgbClr val="111111"/>
                </a:solidFill>
                <a:latin typeface="Nunito Semi-Bold"/>
                <a:ea typeface="Nunito Semi-Bold"/>
                <a:cs typeface="Nunito Semi-Bold"/>
                <a:sym typeface="Nunito Semi-Bold"/>
              </a:rPr>
              <a:t>. Guitar + Voice together earn </a:t>
            </a:r>
            <a:r>
              <a:rPr lang="en-US" sz="1746" b="true">
                <a:solidFill>
                  <a:srgbClr val="111111"/>
                </a:solidFill>
                <a:latin typeface="Nunito Bold"/>
                <a:ea typeface="Nunito Bold"/>
                <a:cs typeface="Nunito Bold"/>
                <a:sym typeface="Nunito Bold"/>
              </a:rPr>
              <a:t>140</a:t>
            </a:r>
            <a:r>
              <a:rPr lang="en-US" sz="1746" b="true">
                <a:solidFill>
                  <a:srgbClr val="111111"/>
                </a:solidFill>
                <a:latin typeface="Nunito Semi-Bold"/>
                <a:ea typeface="Nunito Semi-Bold"/>
                <a:cs typeface="Nunito Semi-Bold"/>
                <a:sym typeface="Nunito Semi-Bold"/>
              </a:rPr>
              <a:t>, more than 60 + 40: the value of a group is </a:t>
            </a:r>
            <a:r>
              <a:rPr lang="en-US" sz="1746" b="true">
                <a:solidFill>
                  <a:srgbClr val="111111"/>
                </a:solidFill>
                <a:latin typeface="Nunito Bold"/>
                <a:ea typeface="Nunito Bold"/>
                <a:cs typeface="Nunito Bold"/>
                <a:sym typeface="Nunito Bold"/>
              </a:rPr>
              <a:t>not the sum of its parts</a:t>
            </a:r>
            <a:r>
              <a:rPr lang="en-US" sz="1746" b="true">
                <a:solidFill>
                  <a:srgbClr val="111111"/>
                </a:solidFill>
                <a:latin typeface="Nunito Semi-Bold"/>
                <a:ea typeface="Nunito Semi-Bold"/>
                <a:cs typeface="Nunito Semi-Bold"/>
                <a:sym typeface="Nunito Semi-Bold"/>
              </a:rPr>
              <a:t>. All three together earn </a:t>
            </a:r>
            <a:r>
              <a:rPr lang="en-US" sz="1746" b="true">
                <a:solidFill>
                  <a:srgbClr val="111111"/>
                </a:solidFill>
                <a:latin typeface="Nunito Bold"/>
                <a:ea typeface="Nunito Bold"/>
                <a:cs typeface="Nunito Bold"/>
                <a:sym typeface="Nunito Bold"/>
              </a:rPr>
              <a:t>200</a:t>
            </a:r>
            <a:r>
              <a:rPr lang="en-US" sz="1746" b="true">
                <a:solidFill>
                  <a:srgbClr val="111111"/>
                </a:solidFill>
                <a:latin typeface="Nunito Semi-Bold"/>
                <a:ea typeface="Nunito Semi-Bold"/>
                <a:cs typeface="Nunito Semi-Bold"/>
                <a:sym typeface="Nunito Semi-Bold"/>
              </a:rPr>
              <a:t>. How should the 200 be split?</a:t>
            </a:r>
          </a:p>
        </p:txBody>
      </p:sp>
      <p:sp>
        <p:nvSpPr>
          <p:cNvPr id="34" name="TextBox 33"/>
          <p:cNvSpPr txBox="1"/>
          <p:nvPr/>
        </p:nvSpPr>
        <p:spPr>
          <a:xfrm>
            <a:off x="9761220" y="3318002"/>
            <a:ext cx="749808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DF8330"/>
                </a:solidFill>
                <a:latin typeface="Nunito Ultra-Bold"/>
                <a:ea typeface="Nunito Ultra-Bold"/>
                <a:cs typeface="Nunito Ultra-Bold"/>
                <a:sym typeface="Nunito Ultra-Bold"/>
              </a:rPr>
              <a:t>CHARACTERISTIC FUNCTION v(S) OF THE BAND</a:t>
            </a:r>
          </a:p>
        </p:txBody>
      </p:sp>
      <p:graphicFrame>
        <p:nvGraphicFramePr>
          <p:cNvPr id="35" name="Table 34"/>
          <p:cNvGraphicFramePr>
            <a:graphicFrameLocks noGrp="1"/>
          </p:cNvGraphicFramePr>
          <p:nvPr/>
        </p:nvGraphicFramePr>
        <p:xfrm>
          <a:off x="9761220" y="3683762"/>
          <a:ext cx="7498079" cy="4448048"/>
        </p:xfrm>
        <a:graphic>
          <a:graphicData uri="http://schemas.openxmlformats.org/drawingml/2006/table">
            <a:tbl>
              <a:tblPr firstRow="0" bandRow="0" firstCol="0" lastRow="0" lastCol="0" bandCol="0">
                <a:tableStyleId>{2D5ABB26-0587-4C30-8999-92F81FD0307C}</a:tableStyleId>
              </a:tblPr>
              <a:tblGrid>
                <a:gridCol w="2221653"/>
                <a:gridCol w="3610186"/>
                <a:gridCol w="1666240"/>
              </a:tblGrid>
              <a:tr h="479552">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Coalition S</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Who plays</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v(S)</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96062">
                <a:tc>
                  <a:txBody>
                    <a:bodyPr anchor="ctr" rtlCol="false" lIns="0" tIns="0" rIns="0" bIns="0" wrap="square"/>
                    <a:lstStyle/>
                    <a:p>
                      <a:pPr algn="ctr">
                        <a:lnSpc>
                          <a:spcPts val="2210"/>
                        </a:lnSpc>
                        <a:spcBef>
                          <a:spcPts val="0"/>
                        </a:spcBef>
                        <a:buNone/>
                      </a:pPr>
                      <a:r>
                        <a:rPr lang="en-US" sz="1700" b="true">
                          <a:solidFill>
                            <a:srgbClr val="111111"/>
                          </a:solidFill>
                          <a:latin typeface="Nunito Bold"/>
                          <a:ea typeface="Nunito Bold"/>
                          <a:cs typeface="Nunito Bold"/>
                          <a:sym typeface="Nunito Bold"/>
                        </a:rPr>
                        <a: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nobody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96062">
                <a:tc>
                  <a:txBody>
                    <a:bodyPr anchor="ctr" rtlCol="false" lIns="0" tIns="0" rIns="0" bIns="0" wrap="square"/>
                    <a:lstStyle/>
                    <a:p>
                      <a:pPr algn="ctr">
                        <a:lnSpc>
                          <a:spcPts val="2210"/>
                        </a:lnSpc>
                        <a:spcBef>
                          <a:spcPts val="0"/>
                        </a:spcBef>
                        <a:buNone/>
                      </a:pPr>
                      <a:r>
                        <a:rPr lang="en-US" sz="1700" b="true">
                          <a:solidFill>
                            <a:srgbClr val="111111"/>
                          </a:solidFill>
                          <a:latin typeface="Nunito Bold"/>
                          <a:ea typeface="Nunito Bold"/>
                          <a:cs typeface="Nunito Bold"/>
                          <a:sym typeface="Nunito Bold"/>
                        </a:rPr>
                        <a:t>{G}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Guitar alone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60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96062">
                <a:tc>
                  <a:txBody>
                    <a:bodyPr anchor="ctr" rtlCol="false" lIns="0" tIns="0" rIns="0" bIns="0" wrap="square"/>
                    <a:lstStyle/>
                    <a:p>
                      <a:pPr algn="ctr">
                        <a:lnSpc>
                          <a:spcPts val="2210"/>
                        </a:lnSpc>
                        <a:spcBef>
                          <a:spcPts val="0"/>
                        </a:spcBef>
                        <a:buNone/>
                      </a:pPr>
                      <a:r>
                        <a:rPr lang="en-US" sz="1700" b="true">
                          <a:solidFill>
                            <a:srgbClr val="111111"/>
                          </a:solidFill>
                          <a:latin typeface="Nunito Bold"/>
                          <a:ea typeface="Nunito Bold"/>
                          <a:cs typeface="Nunito Bold"/>
                          <a:sym typeface="Nunito Bold"/>
                        </a:rPr>
                        <a:t>{V}</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Voice alone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40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96062">
                <a:tc>
                  <a:txBody>
                    <a:bodyPr anchor="ctr" rtlCol="false" lIns="0" tIns="0" rIns="0" bIns="0" wrap="square"/>
                    <a:lstStyle/>
                    <a:p>
                      <a:pPr algn="ctr">
                        <a:lnSpc>
                          <a:spcPts val="2210"/>
                        </a:lnSpc>
                        <a:spcBef>
                          <a:spcPts val="0"/>
                        </a:spcBef>
                        <a:buNone/>
                      </a:pPr>
                      <a:r>
                        <a:rPr lang="en-US" sz="1700" b="true">
                          <a:solidFill>
                            <a:srgbClr val="111111"/>
                          </a:solidFill>
                          <a:latin typeface="Nunito Bold"/>
                          <a:ea typeface="Nunito Bold"/>
                          <a:cs typeface="Nunito Bold"/>
                          <a:sym typeface="Nunito Bold"/>
                        </a:rPr>
                        <a:t>{D}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Drums alone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20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96062">
                <a:tc>
                  <a:txBody>
                    <a:bodyPr anchor="ctr" rtlCol="false" lIns="0" tIns="0" rIns="0" bIns="0" wrap="square"/>
                    <a:lstStyle/>
                    <a:p>
                      <a:pPr algn="ctr">
                        <a:lnSpc>
                          <a:spcPts val="2210"/>
                        </a:lnSpc>
                        <a:spcBef>
                          <a:spcPts val="0"/>
                        </a:spcBef>
                        <a:buNone/>
                      </a:pPr>
                      <a:r>
                        <a:rPr lang="en-US" sz="1700" b="true">
                          <a:solidFill>
                            <a:srgbClr val="111111"/>
                          </a:solidFill>
                          <a:latin typeface="Nunito Bold"/>
                          <a:ea typeface="Nunito Bold"/>
                          <a:cs typeface="Nunito Bold"/>
                          <a:sym typeface="Nunito Bold"/>
                        </a:rPr>
                        <a:t>{G, V}</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Guitar + Voice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140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96062">
                <a:tc>
                  <a:txBody>
                    <a:bodyPr anchor="ctr" rtlCol="false" lIns="0" tIns="0" rIns="0" bIns="0" wrap="square"/>
                    <a:lstStyle/>
                    <a:p>
                      <a:pPr algn="ctr">
                        <a:lnSpc>
                          <a:spcPts val="2210"/>
                        </a:lnSpc>
                        <a:spcBef>
                          <a:spcPts val="0"/>
                        </a:spcBef>
                        <a:buNone/>
                      </a:pPr>
                      <a:r>
                        <a:rPr lang="en-US" sz="1700" b="true">
                          <a:solidFill>
                            <a:srgbClr val="111111"/>
                          </a:solidFill>
                          <a:latin typeface="Nunito Bold"/>
                          <a:ea typeface="Nunito Bold"/>
                          <a:cs typeface="Nunito Bold"/>
                          <a:sym typeface="Nunito Bold"/>
                        </a:rPr>
                        <a:t>{G, 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Guitar + Drums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100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96062">
                <a:tc>
                  <a:txBody>
                    <a:bodyPr anchor="ctr" rtlCol="false" lIns="0" tIns="0" rIns="0" bIns="0" wrap="square"/>
                    <a:lstStyle/>
                    <a:p>
                      <a:pPr algn="ctr">
                        <a:lnSpc>
                          <a:spcPts val="2210"/>
                        </a:lnSpc>
                        <a:spcBef>
                          <a:spcPts val="0"/>
                        </a:spcBef>
                        <a:buNone/>
                      </a:pPr>
                      <a:r>
                        <a:rPr lang="en-US" sz="1700" b="true">
                          <a:solidFill>
                            <a:srgbClr val="111111"/>
                          </a:solidFill>
                          <a:latin typeface="Nunito Bold"/>
                          <a:ea typeface="Nunito Bold"/>
                          <a:cs typeface="Nunito Bold"/>
                          <a:sym typeface="Nunito Bold"/>
                        </a:rPr>
                        <a:t>{V, 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Voice + Drums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80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96062">
                <a:tc>
                  <a:txBody>
                    <a:bodyPr anchor="ctr" rtlCol="false" lIns="0" tIns="0" rIns="0" bIns="0" wrap="square"/>
                    <a:lstStyle/>
                    <a:p>
                      <a:pPr algn="ctr">
                        <a:lnSpc>
                          <a:spcPts val="2210"/>
                        </a:lnSpc>
                        <a:spcBef>
                          <a:spcPts val="0"/>
                        </a:spcBef>
                        <a:buNone/>
                      </a:pPr>
                      <a:r>
                        <a:rPr lang="en-US" sz="1700" b="true">
                          <a:solidFill>
                            <a:srgbClr val="111111"/>
                          </a:solidFill>
                          <a:latin typeface="Nunito Bold"/>
                          <a:ea typeface="Nunito Bold"/>
                          <a:cs typeface="Nunito Bold"/>
                          <a:sym typeface="Nunito Bold"/>
                        </a:rPr>
                        <a:t>{G, V, 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the whole band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200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36" name="Rounded Rectangle 35"/>
          <p:cNvSpPr/>
          <p:nvPr/>
        </p:nvSpPr>
        <p:spPr>
          <a:xfrm>
            <a:off x="9761220" y="8406130"/>
            <a:ext cx="7498080" cy="811022"/>
          </a:xfrm>
          <a:prstGeom prst="roundRect">
            <a:avLst>
              <a:gd name="adj" fmla="val 24804"/>
            </a:avLst>
          </a:prstGeom>
          <a:solidFill>
            <a:srgbClr val="F6ECDF"/>
          </a:solidFill>
          <a:ln>
            <a:noFill/>
          </a:ln>
        </p:spPr>
        <p:txBody>
          <a:bodyPr anchor="ctr" rtlCol="false" lIns="274320" tIns="91440" rIns="274320" bIns="91440" wrap="square"/>
          <a:lstStyle/>
          <a:p>
            <a:pPr algn="ctr">
              <a:lnSpc>
                <a:spcPts val="2100"/>
              </a:lnSpc>
              <a:spcBef>
                <a:spcPts val="0"/>
              </a:spcBef>
              <a:buNone/>
            </a:pPr>
            <a:r>
              <a:rPr lang="en-US" sz="1600" b="true">
                <a:solidFill>
                  <a:srgbClr val="111111"/>
                </a:solidFill>
                <a:latin typeface="Nunito Semi-Bold"/>
                <a:ea typeface="Nunito Semi-Bold"/>
                <a:cs typeface="Nunito Semi-Bold"/>
                <a:sym typeface="Nunito Semi-Bold"/>
              </a:rPr>
              <a:t>Synergy: v({G, V}) = 140 &gt; v({G}) + v({V}) = 100. A fair split has to give credit for what a player </a:t>
            </a:r>
            <a:r>
              <a:rPr lang="en-US" sz="1600" b="true">
                <a:solidFill>
                  <a:srgbClr val="111111"/>
                </a:solidFill>
                <a:latin typeface="Nunito Bold"/>
                <a:ea typeface="Nunito Bold"/>
                <a:cs typeface="Nunito Bold"/>
                <a:sym typeface="Nunito Bold"/>
              </a:rPr>
              <a:t>adds to the others</a:t>
            </a:r>
            <a:r>
              <a:rPr lang="en-US" sz="1600" b="true">
                <a:solidFill>
                  <a:srgbClr val="111111"/>
                </a:solidFill>
                <a:latin typeface="Nunito Semi-Bold"/>
                <a:ea typeface="Nunito Semi-Bold"/>
                <a:cs typeface="Nunito Semi-Bold"/>
                <a:sym typeface="Nunito Semi-Bold"/>
              </a:rPr>
              <a:t>, not only for what they earn alone.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[4] Shapley, L. S. A Value for n-Person Games. Contributions to the Theory of Games II, 307–317, Princeton University Press (1953).   [5] Lundberg, S. M. &amp; Lee, S.-I. A Unified Approach to Interpreting Model Predictions (SHAP). NeurIPS 30, 4765–4774 (2017).</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30</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TECHNICAL DEEP DIVE: COOPERATIVE GAMES</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The Shapley Value: Average Marginal Contribution</a:t>
            </a:r>
          </a:p>
        </p:txBody>
      </p:sp>
      <p:pic>
        <p:nvPicPr>
          <p:cNvPr id="23" name="Picture 22" descr="image.png"/>
          <p:cNvPicPr>
            <a:picLocks noChangeAspect="1"/>
          </p:cNvPicPr>
          <p:nvPr/>
        </p:nvPicPr>
        <p:blipFill>
          <a:blip r:embed="rId3"/>
          <a:stretch>
            <a:fillRect/>
          </a:stretch>
        </p:blipFill>
        <p:spPr>
          <a:xfrm>
            <a:off x="14307829" y="1673352"/>
            <a:ext cx="457200" cy="415247"/>
          </a:xfrm>
          <a:prstGeom prst="rect">
            <a:avLst/>
          </a:prstGeom>
        </p:spPr>
      </p:pic>
      <p:sp>
        <p:nvSpPr>
          <p:cNvPr id="24" name="Rounded Rectangle 23"/>
          <p:cNvSpPr/>
          <p:nvPr/>
        </p:nvSpPr>
        <p:spPr>
          <a:xfrm>
            <a:off x="1028700" y="2559050"/>
            <a:ext cx="162915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The game</a:t>
            </a:r>
          </a:p>
        </p:txBody>
      </p:sp>
      <p:sp>
        <p:nvSpPr>
          <p:cNvPr id="25" name="Rounded Rectangle 24"/>
          <p:cNvSpPr/>
          <p:nvPr/>
        </p:nvSpPr>
        <p:spPr>
          <a:xfrm>
            <a:off x="2785872" y="2559050"/>
            <a:ext cx="2087358"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Shapley value</a:t>
            </a:r>
          </a:p>
        </p:txBody>
      </p:sp>
      <p:sp>
        <p:nvSpPr>
          <p:cNvPr id="26" name="Rounded Rectangle 25"/>
          <p:cNvSpPr/>
          <p:nvPr/>
        </p:nvSpPr>
        <p:spPr>
          <a:xfrm>
            <a:off x="5001246" y="2559050"/>
            <a:ext cx="1929130"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In this thesis</a:t>
            </a:r>
          </a:p>
        </p:txBody>
      </p:sp>
      <p:sp>
        <p:nvSpPr>
          <p:cNvPr id="27" name="TextBox 26"/>
          <p:cNvSpPr txBox="1"/>
          <p:nvPr/>
        </p:nvSpPr>
        <p:spPr>
          <a:xfrm>
            <a:off x="1028700" y="3318002"/>
            <a:ext cx="786384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DF8330"/>
                </a:solidFill>
                <a:latin typeface="Nunito Ultra-Bold"/>
                <a:ea typeface="Nunito Ultra-Bold"/>
                <a:cs typeface="Nunito Ultra-Bold"/>
                <a:sym typeface="Nunito Ultra-Bold"/>
              </a:rPr>
              <a:t>ALL 6 ARRIVAL ORDERS  ·  MARGINAL CONTRIBUTION OF EACH PLAYER</a:t>
            </a:r>
          </a:p>
        </p:txBody>
      </p:sp>
      <p:graphicFrame>
        <p:nvGraphicFramePr>
          <p:cNvPr id="28" name="Table 27"/>
          <p:cNvGraphicFramePr>
            <a:graphicFrameLocks noGrp="1"/>
          </p:cNvGraphicFramePr>
          <p:nvPr/>
        </p:nvGraphicFramePr>
        <p:xfrm>
          <a:off x="1028700" y="3683762"/>
          <a:ext cx="7863840" cy="4232656"/>
        </p:xfrm>
        <a:graphic>
          <a:graphicData uri="http://schemas.openxmlformats.org/drawingml/2006/table">
            <a:tbl>
              <a:tblPr firstRow="0" bandRow="0" firstCol="0" lastRow="0" lastCol="0" bandCol="0">
                <a:tableStyleId>{2D5ABB26-0587-4C30-8999-92F81FD0307C}</a:tableStyleId>
              </a:tblPr>
              <a:tblGrid>
                <a:gridCol w="2926080"/>
                <a:gridCol w="1645920"/>
                <a:gridCol w="1645920"/>
                <a:gridCol w="1645920"/>
              </a:tblGrid>
              <a:tr h="479552">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Arrival order</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Guitar</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Voice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Drums</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9606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G </a:t>
                      </a:r>
                      <a:r>
                        <a:rPr lang="en-US" sz="1700" b="true">
                          <a:solidFill>
                            <a:srgbClr val="111111"/>
                          </a:solidFill>
                          <a:latin typeface="Calibri"/>
                          <a:ea typeface="Calibri"/>
                          <a:cs typeface="Calibri"/>
                          <a:sym typeface="Calibri"/>
                        </a:rPr>
                        <a:t>→ </a:t>
                      </a:r>
                      <a:r>
                        <a:rPr lang="en-US" sz="1700" b="true">
                          <a:solidFill>
                            <a:srgbClr val="111111"/>
                          </a:solidFill>
                          <a:latin typeface="Nunito Bold"/>
                          <a:ea typeface="Nunito Bold"/>
                          <a:cs typeface="Nunito Bold"/>
                          <a:sym typeface="Nunito Bold"/>
                        </a:rPr>
                        <a:t>V </a:t>
                      </a:r>
                      <a:r>
                        <a:rPr lang="en-US" sz="1700" b="true">
                          <a:solidFill>
                            <a:srgbClr val="111111"/>
                          </a:solidFill>
                          <a:latin typeface="Calibri"/>
                          <a:ea typeface="Calibri"/>
                          <a:cs typeface="Calibri"/>
                          <a:sym typeface="Calibri"/>
                        </a:rPr>
                        <a:t>→ </a:t>
                      </a:r>
                      <a:r>
                        <a:rPr lang="en-US" sz="1700" b="true">
                          <a:solidFill>
                            <a:srgbClr val="111111"/>
                          </a:solidFill>
                          <a:latin typeface="Nunito Bold"/>
                          <a:ea typeface="Nunito Bold"/>
                          <a:cs typeface="Nunito Bold"/>
                          <a:sym typeface="Nunito Bold"/>
                        </a:rPr>
                        <a:t>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60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80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60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9606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G </a:t>
                      </a:r>
                      <a:r>
                        <a:rPr lang="en-US" sz="1700" b="true">
                          <a:solidFill>
                            <a:srgbClr val="111111"/>
                          </a:solidFill>
                          <a:latin typeface="Calibri"/>
                          <a:ea typeface="Calibri"/>
                          <a:cs typeface="Calibri"/>
                          <a:sym typeface="Calibri"/>
                        </a:rPr>
                        <a:t>→ </a:t>
                      </a:r>
                      <a:r>
                        <a:rPr lang="en-US" sz="1700" b="true">
                          <a:solidFill>
                            <a:srgbClr val="111111"/>
                          </a:solidFill>
                          <a:latin typeface="Nunito Bold"/>
                          <a:ea typeface="Nunito Bold"/>
                          <a:cs typeface="Nunito Bold"/>
                          <a:sym typeface="Nunito Bold"/>
                        </a:rPr>
                        <a:t>D </a:t>
                      </a:r>
                      <a:r>
                        <a:rPr lang="en-US" sz="1700" b="true">
                          <a:solidFill>
                            <a:srgbClr val="111111"/>
                          </a:solidFill>
                          <a:latin typeface="Calibri"/>
                          <a:ea typeface="Calibri"/>
                          <a:cs typeface="Calibri"/>
                          <a:sym typeface="Calibri"/>
                        </a:rPr>
                        <a:t>→ </a:t>
                      </a:r>
                      <a:r>
                        <a:rPr lang="en-US" sz="1700" b="true">
                          <a:solidFill>
                            <a:srgbClr val="111111"/>
                          </a:solidFill>
                          <a:latin typeface="Nunito Bold"/>
                          <a:ea typeface="Nunito Bold"/>
                          <a:cs typeface="Nunito Bold"/>
                          <a:sym typeface="Nunito Bold"/>
                        </a:rPr>
                        <a:t>V</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60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100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40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9606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V </a:t>
                      </a:r>
                      <a:r>
                        <a:rPr lang="en-US" sz="1700" b="true">
                          <a:solidFill>
                            <a:srgbClr val="111111"/>
                          </a:solidFill>
                          <a:latin typeface="Calibri"/>
                          <a:ea typeface="Calibri"/>
                          <a:cs typeface="Calibri"/>
                          <a:sym typeface="Calibri"/>
                        </a:rPr>
                        <a:t>→ </a:t>
                      </a:r>
                      <a:r>
                        <a:rPr lang="en-US" sz="1700" b="true">
                          <a:solidFill>
                            <a:srgbClr val="111111"/>
                          </a:solidFill>
                          <a:latin typeface="Nunito Bold"/>
                          <a:ea typeface="Nunito Bold"/>
                          <a:cs typeface="Nunito Bold"/>
                          <a:sym typeface="Nunito Bold"/>
                        </a:rPr>
                        <a:t>G </a:t>
                      </a:r>
                      <a:r>
                        <a:rPr lang="en-US" sz="1700" b="true">
                          <a:solidFill>
                            <a:srgbClr val="111111"/>
                          </a:solidFill>
                          <a:latin typeface="Calibri"/>
                          <a:ea typeface="Calibri"/>
                          <a:cs typeface="Calibri"/>
                          <a:sym typeface="Calibri"/>
                        </a:rPr>
                        <a:t>→ </a:t>
                      </a:r>
                      <a:r>
                        <a:rPr lang="en-US" sz="1700" b="true">
                          <a:solidFill>
                            <a:srgbClr val="111111"/>
                          </a:solidFill>
                          <a:latin typeface="Nunito Bold"/>
                          <a:ea typeface="Nunito Bold"/>
                          <a:cs typeface="Nunito Bold"/>
                          <a:sym typeface="Nunito Bold"/>
                        </a:rPr>
                        <a:t>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100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40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60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9606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V </a:t>
                      </a:r>
                      <a:r>
                        <a:rPr lang="en-US" sz="1700" b="true">
                          <a:solidFill>
                            <a:srgbClr val="111111"/>
                          </a:solidFill>
                          <a:latin typeface="Calibri"/>
                          <a:ea typeface="Calibri"/>
                          <a:cs typeface="Calibri"/>
                          <a:sym typeface="Calibri"/>
                        </a:rPr>
                        <a:t>→ </a:t>
                      </a:r>
                      <a:r>
                        <a:rPr lang="en-US" sz="1700" b="true">
                          <a:solidFill>
                            <a:srgbClr val="111111"/>
                          </a:solidFill>
                          <a:latin typeface="Nunito Bold"/>
                          <a:ea typeface="Nunito Bold"/>
                          <a:cs typeface="Nunito Bold"/>
                          <a:sym typeface="Nunito Bold"/>
                        </a:rPr>
                        <a:t>D </a:t>
                      </a:r>
                      <a:r>
                        <a:rPr lang="en-US" sz="1700" b="true">
                          <a:solidFill>
                            <a:srgbClr val="111111"/>
                          </a:solidFill>
                          <a:latin typeface="Calibri"/>
                          <a:ea typeface="Calibri"/>
                          <a:cs typeface="Calibri"/>
                          <a:sym typeface="Calibri"/>
                        </a:rPr>
                        <a:t>→ </a:t>
                      </a:r>
                      <a:r>
                        <a:rPr lang="en-US" sz="1700" b="true">
                          <a:solidFill>
                            <a:srgbClr val="111111"/>
                          </a:solidFill>
                          <a:latin typeface="Nunito Bold"/>
                          <a:ea typeface="Nunito Bold"/>
                          <a:cs typeface="Nunito Bold"/>
                          <a:sym typeface="Nunito Bold"/>
                        </a:rPr>
                        <a:t>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120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40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40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9606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D </a:t>
                      </a:r>
                      <a:r>
                        <a:rPr lang="en-US" sz="1700" b="true">
                          <a:solidFill>
                            <a:srgbClr val="111111"/>
                          </a:solidFill>
                          <a:latin typeface="Calibri"/>
                          <a:ea typeface="Calibri"/>
                          <a:cs typeface="Calibri"/>
                          <a:sym typeface="Calibri"/>
                        </a:rPr>
                        <a:t>→ </a:t>
                      </a:r>
                      <a:r>
                        <a:rPr lang="en-US" sz="1700" b="true">
                          <a:solidFill>
                            <a:srgbClr val="111111"/>
                          </a:solidFill>
                          <a:latin typeface="Nunito Bold"/>
                          <a:ea typeface="Nunito Bold"/>
                          <a:cs typeface="Nunito Bold"/>
                          <a:sym typeface="Nunito Bold"/>
                        </a:rPr>
                        <a:t>G </a:t>
                      </a:r>
                      <a:r>
                        <a:rPr lang="en-US" sz="1700" b="true">
                          <a:solidFill>
                            <a:srgbClr val="111111"/>
                          </a:solidFill>
                          <a:latin typeface="Calibri"/>
                          <a:ea typeface="Calibri"/>
                          <a:cs typeface="Calibri"/>
                          <a:sym typeface="Calibri"/>
                        </a:rPr>
                        <a:t>→ </a:t>
                      </a:r>
                      <a:r>
                        <a:rPr lang="en-US" sz="1700" b="true">
                          <a:solidFill>
                            <a:srgbClr val="111111"/>
                          </a:solidFill>
                          <a:latin typeface="Nunito Bold"/>
                          <a:ea typeface="Nunito Bold"/>
                          <a:cs typeface="Nunito Bold"/>
                          <a:sym typeface="Nunito Bold"/>
                        </a:rPr>
                        <a:t>V</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80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100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20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9606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D </a:t>
                      </a:r>
                      <a:r>
                        <a:rPr lang="en-US" sz="1700" b="true">
                          <a:solidFill>
                            <a:srgbClr val="111111"/>
                          </a:solidFill>
                          <a:latin typeface="Calibri"/>
                          <a:ea typeface="Calibri"/>
                          <a:cs typeface="Calibri"/>
                          <a:sym typeface="Calibri"/>
                        </a:rPr>
                        <a:t>→ </a:t>
                      </a:r>
                      <a:r>
                        <a:rPr lang="en-US" sz="1700" b="true">
                          <a:solidFill>
                            <a:srgbClr val="111111"/>
                          </a:solidFill>
                          <a:latin typeface="Nunito Bold"/>
                          <a:ea typeface="Nunito Bold"/>
                          <a:cs typeface="Nunito Bold"/>
                          <a:sym typeface="Nunito Bold"/>
                        </a:rPr>
                        <a:t>V </a:t>
                      </a:r>
                      <a:r>
                        <a:rPr lang="en-US" sz="1700" b="true">
                          <a:solidFill>
                            <a:srgbClr val="111111"/>
                          </a:solidFill>
                          <a:latin typeface="Calibri"/>
                          <a:ea typeface="Calibri"/>
                          <a:cs typeface="Calibri"/>
                          <a:sym typeface="Calibri"/>
                        </a:rPr>
                        <a:t>→ </a:t>
                      </a:r>
                      <a:r>
                        <a:rPr lang="en-US" sz="1700" b="true">
                          <a:solidFill>
                            <a:srgbClr val="111111"/>
                          </a:solidFill>
                          <a:latin typeface="Nunito Bold"/>
                          <a:ea typeface="Nunito Bold"/>
                          <a:cs typeface="Nunito Bold"/>
                          <a:sym typeface="Nunito Bold"/>
                        </a:rPr>
                        <a:t>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120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60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20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776732">
                <a:tc>
                  <a:txBody>
                    <a:bodyPr anchor="ctr" rtlCol="false" lIns="0" tIns="0" rIns="0" bIns="0" wrap="square"/>
                    <a:lstStyle/>
                    <a:p>
                      <a:pPr algn="l">
                        <a:lnSpc>
                          <a:spcPts val="2200"/>
                        </a:lnSpc>
                        <a:spcBef>
                          <a:spcPts val="0"/>
                        </a:spcBef>
                        <a:buNone/>
                      </a:pPr>
                      <a:r>
                        <a:rPr lang="en-US" sz="1700" b="true">
                          <a:solidFill>
                            <a:srgbClr val="124944"/>
                          </a:solidFill>
                          <a:latin typeface="Nunito Ultra-Bold"/>
                          <a:ea typeface="Nunito Ultra-Bold"/>
                          <a:cs typeface="Nunito Ultra-Bold"/>
                          <a:sym typeface="Nunito Ultra-Bold"/>
                        </a:rPr>
                        <a:t>Average = Shapley value </a:t>
                      </a:r>
                      <a:r>
                        <a:rPr lang="en-US" sz="1700" b="true">
                          <a:solidFill>
                            <a:srgbClr val="124944"/>
                          </a:solidFill>
                          <a:latin typeface="Calibri"/>
                          <a:ea typeface="Calibri"/>
                          <a:cs typeface="Calibri"/>
                          <a:sym typeface="Calibri"/>
                        </a:rPr>
                        <a:t>φ</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300"/>
                        </a:lnSpc>
                        <a:spcBef>
                          <a:spcPts val="0"/>
                        </a:spcBef>
                        <a:buNone/>
                      </a:pPr>
                      <a:r>
                        <a:rPr lang="en-US" sz="1900" b="true">
                          <a:solidFill>
                            <a:srgbClr val="124944"/>
                          </a:solidFill>
                          <a:latin typeface="Nunito Ultra-Bold"/>
                          <a:ea typeface="Nunito Ultra-Bold"/>
                          <a:cs typeface="Nunito Ultra-Bold"/>
                          <a:sym typeface="Nunito Ultra-Bold"/>
                        </a:rPr>
                        <a:t>90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300"/>
                        </a:lnSpc>
                        <a:spcBef>
                          <a:spcPts val="0"/>
                        </a:spcBef>
                        <a:buNone/>
                      </a:pPr>
                      <a:r>
                        <a:rPr lang="en-US" sz="1900" b="true">
                          <a:solidFill>
                            <a:srgbClr val="124944"/>
                          </a:solidFill>
                          <a:latin typeface="Nunito Ultra-Bold"/>
                          <a:ea typeface="Nunito Ultra-Bold"/>
                          <a:cs typeface="Nunito Ultra-Bold"/>
                          <a:sym typeface="Nunito Ultra-Bold"/>
                        </a:rPr>
                        <a:t>70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300"/>
                        </a:lnSpc>
                        <a:spcBef>
                          <a:spcPts val="0"/>
                        </a:spcBef>
                        <a:buNone/>
                      </a:pPr>
                      <a:r>
                        <a:rPr lang="en-US" sz="1900" b="true">
                          <a:solidFill>
                            <a:srgbClr val="124944"/>
                          </a:solidFill>
                          <a:latin typeface="Nunito Ultra-Bold"/>
                          <a:ea typeface="Nunito Ultra-Bold"/>
                          <a:cs typeface="Nunito Ultra-Bold"/>
                          <a:sym typeface="Nunito Ultra-Bold"/>
                        </a:rPr>
                        <a:t>40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29" name="Rounded Rectangle 28"/>
          <p:cNvSpPr/>
          <p:nvPr/>
        </p:nvSpPr>
        <p:spPr>
          <a:xfrm>
            <a:off x="1028700" y="8190738"/>
            <a:ext cx="7863840" cy="1026414"/>
          </a:xfrm>
          <a:prstGeom prst="roundRect">
            <a:avLst>
              <a:gd name="adj" fmla="val 19599"/>
            </a:avLst>
          </a:prstGeom>
          <a:solidFill>
            <a:srgbClr val="F6ECDF"/>
          </a:solidFill>
          <a:ln>
            <a:noFill/>
          </a:ln>
        </p:spPr>
        <p:txBody>
          <a:bodyPr anchor="ctr" rtlCol="false" lIns="320040" tIns="91440" rIns="320040" bIns="91440" wrap="square"/>
          <a:lstStyle/>
          <a:p>
            <a:pPr algn="l">
              <a:lnSpc>
                <a:spcPts val="2100"/>
              </a:lnSpc>
              <a:spcBef>
                <a:spcPts val="0"/>
              </a:spcBef>
              <a:buNone/>
            </a:pPr>
            <a:r>
              <a:rPr lang="en-US" sz="1600" b="true">
                <a:solidFill>
                  <a:srgbClr val="111111"/>
                </a:solidFill>
                <a:latin typeface="Nunito Semi-Bold"/>
                <a:ea typeface="Nunito Semi-Bold"/>
                <a:cs typeface="Nunito Semi-Bold"/>
                <a:sym typeface="Nunito Semi-Bold"/>
              </a:rPr>
              <a:t>Reading one row: in the order V </a:t>
            </a:r>
            <a:r>
              <a:rPr lang="en-US" sz="1600" b="true">
                <a:solidFill>
                  <a:srgbClr val="111111"/>
                </a:solidFill>
                <a:latin typeface="Calibri"/>
                <a:ea typeface="Calibri"/>
                <a:cs typeface="Calibri"/>
                <a:sym typeface="Calibri"/>
              </a:rPr>
              <a:t>→ </a:t>
            </a:r>
            <a:r>
              <a:rPr lang="en-US" sz="1600" b="true">
                <a:solidFill>
                  <a:srgbClr val="111111"/>
                </a:solidFill>
                <a:latin typeface="Nunito Semi-Bold"/>
                <a:ea typeface="Nunito Semi-Bold"/>
                <a:cs typeface="Nunito Semi-Bold"/>
                <a:sym typeface="Nunito Semi-Bold"/>
              </a:rPr>
              <a:t>D </a:t>
            </a:r>
            <a:r>
              <a:rPr lang="en-US" sz="1600" b="true">
                <a:solidFill>
                  <a:srgbClr val="111111"/>
                </a:solidFill>
                <a:latin typeface="Calibri"/>
                <a:ea typeface="Calibri"/>
                <a:cs typeface="Calibri"/>
                <a:sym typeface="Calibri"/>
              </a:rPr>
              <a:t>→ </a:t>
            </a:r>
            <a:r>
              <a:rPr lang="en-US" sz="1600" b="true">
                <a:solidFill>
                  <a:srgbClr val="111111"/>
                </a:solidFill>
                <a:latin typeface="Nunito Semi-Bold"/>
                <a:ea typeface="Nunito Semi-Bold"/>
                <a:cs typeface="Nunito Semi-Bold"/>
                <a:sym typeface="Nunito Semi-Bold"/>
              </a:rPr>
              <a:t>G, Voice arrives first and adds 40; Drums then raises the value from 40 to 80 (+40); Guitar completes the band, 80 </a:t>
            </a:r>
            <a:r>
              <a:rPr lang="en-US" sz="1600" b="true">
                <a:solidFill>
                  <a:srgbClr val="111111"/>
                </a:solidFill>
                <a:latin typeface="Calibri"/>
                <a:ea typeface="Calibri"/>
                <a:cs typeface="Calibri"/>
                <a:sym typeface="Calibri"/>
              </a:rPr>
              <a:t>→ </a:t>
            </a:r>
            <a:r>
              <a:rPr lang="en-US" sz="1600" b="true">
                <a:solidFill>
                  <a:srgbClr val="111111"/>
                </a:solidFill>
                <a:latin typeface="Nunito Semi-Bold"/>
                <a:ea typeface="Nunito Semi-Bold"/>
                <a:cs typeface="Nunito Semi-Bold"/>
                <a:sym typeface="Nunito Semi-Bold"/>
              </a:rPr>
              <a:t>200 (</a:t>
            </a:r>
            <a:r>
              <a:rPr lang="en-US" sz="1600" b="true">
                <a:solidFill>
                  <a:srgbClr val="111111"/>
                </a:solidFill>
                <a:latin typeface="Nunito Bold"/>
                <a:ea typeface="Nunito Bold"/>
                <a:cs typeface="Nunito Bold"/>
                <a:sym typeface="Nunito Bold"/>
              </a:rPr>
              <a:t>+120</a:t>
            </a:r>
            <a:r>
              <a:rPr lang="en-US" sz="1600" b="true">
                <a:solidFill>
                  <a:srgbClr val="111111"/>
                </a:solidFill>
                <a:latin typeface="Nunito Semi-Bold"/>
                <a:ea typeface="Nunito Semi-Bold"/>
                <a:cs typeface="Nunito Semi-Bold"/>
                <a:sym typeface="Nunito Semi-Bold"/>
              </a:rPr>
              <a:t>). The split </a:t>
            </a:r>
            <a:r>
              <a:rPr lang="en-US" sz="1600" b="true">
                <a:solidFill>
                  <a:srgbClr val="111111"/>
                </a:solidFill>
                <a:latin typeface="Nunito Bold"/>
                <a:ea typeface="Nunito Bold"/>
                <a:cs typeface="Nunito Bold"/>
                <a:sym typeface="Nunito Bold"/>
              </a:rPr>
              <a:t>90 + 70 + 40 = 200</a:t>
            </a:r>
            <a:r>
              <a:rPr lang="en-US" sz="1600" b="true">
                <a:solidFill>
                  <a:srgbClr val="111111"/>
                </a:solidFill>
                <a:latin typeface="Nunito Semi-Bold"/>
                <a:ea typeface="Nunito Semi-Bold"/>
                <a:cs typeface="Nunito Semi-Bold"/>
                <a:sym typeface="Nunito Semi-Bold"/>
              </a:rPr>
              <a:t>: nothing is lost, nothing is invented.</a:t>
            </a:r>
          </a:p>
        </p:txBody>
      </p:sp>
      <p:sp>
        <p:nvSpPr>
          <p:cNvPr id="30" name="Rounded Rectangle 29"/>
          <p:cNvSpPr/>
          <p:nvPr/>
        </p:nvSpPr>
        <p:spPr>
          <a:xfrm>
            <a:off x="9395460" y="3363722"/>
            <a:ext cx="7863840" cy="2514600"/>
          </a:xfrm>
          <a:prstGeom prst="roundRect">
            <a:avLst>
              <a:gd name="adj" fmla="val 10909"/>
            </a:avLst>
          </a:prstGeom>
          <a:solidFill>
            <a:srgbClr val="124944"/>
          </a:solidFill>
          <a:ln>
            <a:noFill/>
          </a:ln>
        </p:spPr>
        <p:txBody>
          <a:bodyPr anchor="ctr" rtlCol="false" lIns="0" tIns="0" rIns="0" bIns="0" wrap="square"/>
          <a:lstStyle/>
          <a:p>
            <a:endParaRPr lang="en-US" sz="1800"/>
          </a:p>
        </p:txBody>
      </p:sp>
      <p:sp>
        <p:nvSpPr>
          <p:cNvPr id="31" name="TextBox 30"/>
          <p:cNvSpPr txBox="1"/>
          <p:nvPr/>
        </p:nvSpPr>
        <p:spPr>
          <a:xfrm>
            <a:off x="9395460" y="3546602"/>
            <a:ext cx="7863840" cy="274320"/>
          </a:xfrm>
          <a:prstGeom prst="rect">
            <a:avLst/>
          </a:prstGeom>
          <a:noFill/>
        </p:spPr>
        <p:txBody>
          <a:bodyPr anchor="t" rtlCol="false" lIns="0" tIns="0" rIns="0" bIns="0" wrap="square"/>
          <a:lstStyle/>
          <a:p>
            <a:pPr algn="ctr">
              <a:lnSpc>
                <a:spcPts val="1700"/>
              </a:lnSpc>
              <a:spcBef>
                <a:spcPts val="0"/>
              </a:spcBef>
              <a:buNone/>
            </a:pPr>
            <a:r>
              <a:rPr lang="en-US" sz="1300" b="true" spc="160">
                <a:solidFill>
                  <a:srgbClr val="ECC665"/>
                </a:solidFill>
                <a:latin typeface="Nunito Ultra-Bold"/>
                <a:ea typeface="Nunito Ultra-Bold"/>
                <a:cs typeface="Nunito Ultra-Bold"/>
                <a:sym typeface="Nunito Ultra-Bold"/>
              </a:rPr>
              <a:t>SHAPLEY VALUE OF PLAYER j  (SHAPLEY, 1953)</a:t>
            </a:r>
          </a:p>
        </p:txBody>
      </p:sp>
      <mc:AlternateContent xmlns:mc="http://schemas.openxmlformats.org/markup-compatibility/2006">
        <mc:Choice xmlns:a14="http://schemas.microsoft.com/office/drawing/2010/main" Requires="a14">
          <p:sp>
            <p:nvSpPr>
              <p:cNvPr id="32" name="Equation"/>
              <p:cNvSpPr txBox="1"/>
              <p:nvPr/>
            </p:nvSpPr>
            <p:spPr>
              <a:xfrm>
                <a:off x="9578340" y="3820922"/>
                <a:ext cx="7498080" cy="1554480"/>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
                        <m:sSubPr>
                          <m:ctrlPr>
                            <a:rPr lang="en-US" sz="2100" i="1">
                              <a:solidFill>
                                <a:srgbClr val="FFFFFF"/>
                              </a:solidFill>
                              <a:latin typeface="Cambria Math" panose="02040503050406030204" pitchFamily="18" charset="0"/>
                            </a:rPr>
                          </m:ctrlPr>
                        </m:sSubPr>
                        <m:e>
                          <m:r>
                            <a:rPr lang="en-US" sz="2100" i="1">
                              <a:solidFill>
                                <a:srgbClr val="FFFFFF"/>
                              </a:solidFill>
                              <a:latin typeface="Cambria Math" panose="02040503050406030204" pitchFamily="18" charset="0"/>
                            </a:rPr>
                            <m:t xml:space="preserve">φ</m:t>
                          </m:r>
                        </m:e>
                        <m:sub>
                          <m:r>
                            <a:rPr lang="en-US" sz="2100" i="1">
                              <a:solidFill>
                                <a:srgbClr val="FFFFFF"/>
                              </a:solidFill>
                              <a:latin typeface="Cambria Math" panose="02040503050406030204" pitchFamily="18" charset="0"/>
                            </a:rPr>
                            <m:t xml:space="preserve">j</m:t>
                          </m:r>
                        </m:sub>
                      </m:sSub>
                      <m:r>
                        <m:rPr>
                          <m:sty m:val="p"/>
                        </m:rPr>
                        <a:rPr lang="en-US" sz="2100">
                          <a:solidFill>
                            <a:srgbClr val="FFFFFF"/>
                          </a:solidFill>
                          <a:latin typeface="Cambria Math" panose="02040503050406030204" pitchFamily="18" charset="0"/>
                        </a:rPr>
                        <m:t xml:space="preserve">(</m:t>
                      </m:r>
                      <m:r>
                        <a:rPr lang="en-US" sz="2100" i="1">
                          <a:solidFill>
                            <a:srgbClr val="FFFFFF"/>
                          </a:solidFill>
                          <a:latin typeface="Cambria Math" panose="02040503050406030204" pitchFamily="18" charset="0"/>
                        </a:rPr>
                        <m:t xml:space="preserve">v</m:t>
                      </m:r>
                      <m:r>
                        <m:rPr>
                          <m:sty m:val="p"/>
                        </m:rPr>
                        <a:rPr lang="en-US" sz="2100">
                          <a:solidFill>
                            <a:srgbClr val="FFFFFF"/>
                          </a:solidFill>
                          <a:latin typeface="Cambria Math" panose="02040503050406030204" pitchFamily="18" charset="0"/>
                        </a:rPr>
                        <m:t xml:space="preserve">)=</m:t>
                      </m:r>
                      <m:nary>
                        <m:naryPr>
                          <m:chr m:val="∑"/>
                          <m:limLoc m:val="undOvr"/>
                          <m:supHide m:val="1"/>
                          <m:ctrlPr>
                            <a:rPr lang="en-US" sz="2100" i="1">
                              <a:solidFill>
                                <a:srgbClr val="FFFFFF"/>
                              </a:solidFill>
                              <a:latin typeface="Cambria Math" panose="02040503050406030204" pitchFamily="18" charset="0"/>
                            </a:rPr>
                          </m:ctrlPr>
                        </m:naryPr>
                        <m:sub>
                          <m:r>
                            <a:rPr lang="en-US" sz="2100" i="1">
                              <a:solidFill>
                                <a:srgbClr val="FFFFFF"/>
                              </a:solidFill>
                              <a:latin typeface="Cambria Math" panose="02040503050406030204" pitchFamily="18" charset="0"/>
                            </a:rPr>
                            <m:t xml:space="preserve">S</m:t>
                          </m:r>
                          <m:r>
                            <m:rPr>
                              <m:sty m:val="p"/>
                            </m:rPr>
                            <a:rPr lang="en-US" sz="2100">
                              <a:solidFill>
                                <a:srgbClr val="FFFFFF"/>
                              </a:solidFill>
                              <a:latin typeface="Cambria Math" panose="02040503050406030204" pitchFamily="18" charset="0"/>
                            </a:rPr>
                            <m:t xml:space="preserve">⊆</m:t>
                          </m:r>
                          <m:r>
                            <a:rPr lang="en-US" sz="2100" i="1">
                              <a:solidFill>
                                <a:srgbClr val="FFFFFF"/>
                              </a:solidFill>
                              <a:latin typeface="Cambria Math" panose="02040503050406030204" pitchFamily="18" charset="0"/>
                            </a:rPr>
                            <m:t xml:space="preserve">N</m:t>
                          </m:r>
                          <m:r>
                            <m:rPr>
                              <m:sty m:val="p"/>
                            </m:rPr>
                            <a:rPr lang="en-US" sz="2100">
                              <a:solidFill>
                                <a:srgbClr val="FFFFFF"/>
                              </a:solidFill>
                              <a:latin typeface="Cambria Math" panose="02040503050406030204" pitchFamily="18" charset="0"/>
                            </a:rPr>
                            <m:t xml:space="preserve">∖{</m:t>
                          </m:r>
                          <m:r>
                            <a:rPr lang="en-US" sz="2100" i="1">
                              <a:solidFill>
                                <a:srgbClr val="FFFFFF"/>
                              </a:solidFill>
                              <a:latin typeface="Cambria Math" panose="02040503050406030204" pitchFamily="18" charset="0"/>
                            </a:rPr>
                            <m:t xml:space="preserve">j</m:t>
                          </m:r>
                          <m:r>
                            <m:rPr>
                              <m:sty m:val="p"/>
                            </m:rPr>
                            <a:rPr lang="en-US" sz="2100">
                              <a:solidFill>
                                <a:srgbClr val="FFFFFF"/>
                              </a:solidFill>
                              <a:latin typeface="Cambria Math" panose="02040503050406030204" pitchFamily="18" charset="0"/>
                            </a:rPr>
                            <m:t xml:space="preserve">}</m:t>
                          </m:r>
                        </m:sub>
                        <m:sup/>
                        <m:e>
                          <m:f>
                            <m:fPr>
                              <m:ctrlPr>
                                <a:rPr lang="en-US" sz="2100" i="1">
                                  <a:solidFill>
                                    <a:srgbClr val="FFFFFF"/>
                                  </a:solidFill>
                                  <a:latin typeface="Cambria Math" panose="02040503050406030204" pitchFamily="18" charset="0"/>
                                </a:rPr>
                              </m:ctrlPr>
                            </m:fPr>
                            <m:num>
                              <m:r>
                                <m:rPr>
                                  <m:sty m:val="p"/>
                                </m:rPr>
                                <a:rPr lang="en-US" sz="2100">
                                  <a:solidFill>
                                    <a:srgbClr val="FFFFFF"/>
                                  </a:solidFill>
                                  <a:latin typeface="Cambria Math" panose="02040503050406030204" pitchFamily="18" charset="0"/>
                                </a:rPr>
                                <m:t xml:space="preserve">|</m:t>
                              </m:r>
                              <m:r>
                                <a:rPr lang="en-US" sz="2100" i="1">
                                  <a:solidFill>
                                    <a:srgbClr val="FFFFFF"/>
                                  </a:solidFill>
                                  <a:latin typeface="Cambria Math" panose="02040503050406030204" pitchFamily="18" charset="0"/>
                                </a:rPr>
                                <m:t xml:space="preserve">S</m:t>
                              </m:r>
                              <m:r>
                                <m:rPr>
                                  <m:sty m:val="p"/>
                                </m:rPr>
                                <a:rPr lang="en-US" sz="2100">
                                  <a:solidFill>
                                    <a:srgbClr val="FFFFFF"/>
                                  </a:solidFill>
                                  <a:latin typeface="Cambria Math" panose="02040503050406030204" pitchFamily="18" charset="0"/>
                                </a:rPr>
                                <m:t xml:space="preserve">|! (</m:t>
                              </m:r>
                              <m:r>
                                <a:rPr lang="en-US" sz="2100" i="1">
                                  <a:solidFill>
                                    <a:srgbClr val="FFFFFF"/>
                                  </a:solidFill>
                                  <a:latin typeface="Cambria Math" panose="02040503050406030204" pitchFamily="18" charset="0"/>
                                </a:rPr>
                                <m:t xml:space="preserve">n</m:t>
                              </m:r>
                              <m:r>
                                <m:rPr>
                                  <m:sty m:val="p"/>
                                </m:rPr>
                                <a:rPr lang="en-US" sz="2100">
                                  <a:solidFill>
                                    <a:srgbClr val="FFFFFF"/>
                                  </a:solidFill>
                                  <a:latin typeface="Cambria Math" panose="02040503050406030204" pitchFamily="18" charset="0"/>
                                </a:rPr>
                                <m:t xml:space="preserve">−|</m:t>
                              </m:r>
                              <m:r>
                                <a:rPr lang="en-US" sz="2100" i="1">
                                  <a:solidFill>
                                    <a:srgbClr val="FFFFFF"/>
                                  </a:solidFill>
                                  <a:latin typeface="Cambria Math" panose="02040503050406030204" pitchFamily="18" charset="0"/>
                                </a:rPr>
                                <m:t xml:space="preserve">S</m:t>
                              </m:r>
                              <m:r>
                                <m:rPr>
                                  <m:sty m:val="p"/>
                                </m:rPr>
                                <a:rPr lang="en-US" sz="2100">
                                  <a:solidFill>
                                    <a:srgbClr val="FFFFFF"/>
                                  </a:solidFill>
                                  <a:latin typeface="Cambria Math" panose="02040503050406030204" pitchFamily="18" charset="0"/>
                                </a:rPr>
                                <m:t xml:space="preserve">|−1)!</m:t>
                              </m:r>
                            </m:num>
                            <m:den>
                              <m:r>
                                <a:rPr lang="en-US" sz="2100" i="1">
                                  <a:solidFill>
                                    <a:srgbClr val="FFFFFF"/>
                                  </a:solidFill>
                                  <a:latin typeface="Cambria Math" panose="02040503050406030204" pitchFamily="18" charset="0"/>
                                </a:rPr>
                                <m:t xml:space="preserve">n</m:t>
                              </m:r>
                              <m:r>
                                <m:rPr>
                                  <m:sty m:val="p"/>
                                </m:rPr>
                                <a:rPr lang="en-US" sz="2100">
                                  <a:solidFill>
                                    <a:srgbClr val="FFFFFF"/>
                                  </a:solidFill>
                                  <a:latin typeface="Cambria Math" panose="02040503050406030204" pitchFamily="18" charset="0"/>
                                </a:rPr>
                                <m:t xml:space="preserve">!</m:t>
                              </m:r>
                            </m:den>
                          </m:f>
                        </m:e>
                      </m:nary>
                      <m:r>
                        <m:rPr>
                          <m:sty m:val="p"/>
                        </m:rPr>
                        <a:rPr lang="en-US" sz="2100">
                          <a:solidFill>
                            <a:srgbClr val="FFFFFF"/>
                          </a:solidFill>
                          <a:latin typeface="Cambria Math" panose="02040503050406030204" pitchFamily="18" charset="0"/>
                        </a:rPr>
                        <m:t xml:space="preserve"> </m:t>
                      </m:r>
                      <m:d>
                        <m:dPr>
                          <m:begChr m:val="["/>
                          <m:endChr m:val="]"/>
                          <m:ctrlPr>
                            <a:rPr lang="en-US" sz="2100" i="1">
                              <a:solidFill>
                                <a:srgbClr val="FFFFFF"/>
                              </a:solidFill>
                              <a:latin typeface="Cambria Math" panose="02040503050406030204" pitchFamily="18" charset="0"/>
                            </a:rPr>
                          </m:ctrlPr>
                        </m:dPr>
                        <m:e>
                          <m:r>
                            <m:rPr>
                              <m:sty m:val="p"/>
                            </m:rPr>
                            <a:rPr lang="en-US" sz="2100">
                              <a:solidFill>
                                <a:srgbClr val="FFFFFF"/>
                              </a:solidFill>
                              <a:latin typeface="Cambria Math" panose="02040503050406030204" pitchFamily="18" charset="0"/>
                            </a:rPr>
                            <m:t xml:space="preserve"> </m:t>
                          </m:r>
                          <m:r>
                            <a:rPr lang="en-US" sz="2100" i="1">
                              <a:solidFill>
                                <a:srgbClr val="FFFFFF"/>
                              </a:solidFill>
                              <a:latin typeface="Cambria Math" panose="02040503050406030204" pitchFamily="18" charset="0"/>
                            </a:rPr>
                            <m:t xml:space="preserve">v</m:t>
                          </m:r>
                          <m:r>
                            <m:rPr>
                              <m:sty m:val="p"/>
                            </m:rPr>
                            <a:rPr lang="en-US" sz="2100">
                              <a:solidFill>
                                <a:srgbClr val="FFFFFF"/>
                              </a:solidFill>
                              <a:latin typeface="Cambria Math" panose="02040503050406030204" pitchFamily="18" charset="0"/>
                            </a:rPr>
                            <m:t xml:space="preserve">(</m:t>
                          </m:r>
                          <m:r>
                            <a:rPr lang="en-US" sz="2100" i="1">
                              <a:solidFill>
                                <a:srgbClr val="FFFFFF"/>
                              </a:solidFill>
                              <a:latin typeface="Cambria Math" panose="02040503050406030204" pitchFamily="18" charset="0"/>
                            </a:rPr>
                            <m:t xml:space="preserve">S</m:t>
                          </m:r>
                          <m:r>
                            <m:rPr>
                              <m:sty m:val="p"/>
                            </m:rPr>
                            <a:rPr lang="en-US" sz="2100">
                              <a:solidFill>
                                <a:srgbClr val="FFFFFF"/>
                              </a:solidFill>
                              <a:latin typeface="Cambria Math" panose="02040503050406030204" pitchFamily="18" charset="0"/>
                            </a:rPr>
                            <m:t xml:space="preserve">∪{</m:t>
                          </m:r>
                          <m:r>
                            <a:rPr lang="en-US" sz="2100" i="1">
                              <a:solidFill>
                                <a:srgbClr val="FFFFFF"/>
                              </a:solidFill>
                              <a:latin typeface="Cambria Math" panose="02040503050406030204" pitchFamily="18" charset="0"/>
                            </a:rPr>
                            <m:t xml:space="preserve">j</m:t>
                          </m:r>
                          <m:r>
                            <m:rPr>
                              <m:sty m:val="p"/>
                            </m:rPr>
                            <a:rPr lang="en-US" sz="2100">
                              <a:solidFill>
                                <a:srgbClr val="FFFFFF"/>
                              </a:solidFill>
                              <a:latin typeface="Cambria Math" panose="02040503050406030204" pitchFamily="18" charset="0"/>
                            </a:rPr>
                            <m:t xml:space="preserve">})−</m:t>
                          </m:r>
                          <m:r>
                            <a:rPr lang="en-US" sz="2100" i="1">
                              <a:solidFill>
                                <a:srgbClr val="FFFFFF"/>
                              </a:solidFill>
                              <a:latin typeface="Cambria Math" panose="02040503050406030204" pitchFamily="18" charset="0"/>
                            </a:rPr>
                            <m:t xml:space="preserve">v</m:t>
                          </m:r>
                          <m:r>
                            <m:rPr>
                              <m:sty m:val="p"/>
                            </m:rPr>
                            <a:rPr lang="en-US" sz="2100">
                              <a:solidFill>
                                <a:srgbClr val="FFFFFF"/>
                              </a:solidFill>
                              <a:latin typeface="Cambria Math" panose="02040503050406030204" pitchFamily="18" charset="0"/>
                            </a:rPr>
                            <m:t xml:space="preserve">(</m:t>
                          </m:r>
                          <m:r>
                            <a:rPr lang="en-US" sz="2100" i="1">
                              <a:solidFill>
                                <a:srgbClr val="FFFFFF"/>
                              </a:solidFill>
                              <a:latin typeface="Cambria Math" panose="02040503050406030204" pitchFamily="18" charset="0"/>
                            </a:rPr>
                            <m:t xml:space="preserve">S</m:t>
                          </m:r>
                          <m:r>
                            <m:rPr>
                              <m:sty m:val="p"/>
                            </m:rPr>
                            <a:rPr lang="en-US" sz="2100">
                              <a:solidFill>
                                <a:srgbClr val="FFFFFF"/>
                              </a:solidFill>
                              <a:latin typeface="Cambria Math" panose="02040503050406030204" pitchFamily="18" charset="0"/>
                            </a:rPr>
                            <m:t xml:space="preserve">) </m:t>
                          </m:r>
                        </m:e>
                      </m:d>
                    </m:oMath>
                  </m:oMathPara>
                </a14:m>
                <a:endParaRPr lang="en-US" sz="2100"/>
              </a:p>
            </p:txBody>
          </p:sp>
        </mc:Choice>
        <mc:Fallback>
          <p:sp>
            <p:nvSpPr>
              <p:cNvPr id="32" name="Equation"/>
              <p:cNvSpPr txBox="1"/>
              <p:nvPr/>
            </p:nvSpPr>
            <p:spPr>
              <a:xfrm>
                <a:off x="9578340" y="3820922"/>
                <a:ext cx="7498080" cy="1554480"/>
              </a:xfrm>
              <a:prstGeom prst="rect">
                <a:avLst/>
              </a:prstGeom>
              <a:blipFill>
                <a:blip r:embed="rId5"/>
                <a:stretch>
                  <a:fillRect/>
                </a:stretch>
              </a:blipFill>
            </p:spPr>
            <p:txBody>
              <a:bodyPr/>
              <a:lstStyle/>
              <a:p>
                <a:endParaRPr lang="en-US"/>
              </a:p>
            </p:txBody>
          </p:sp>
        </mc:Fallback>
      </mc:AlternateContent>
      <p:sp>
        <p:nvSpPr>
          <p:cNvPr id="33" name="TextBox 32"/>
          <p:cNvSpPr txBox="1"/>
          <p:nvPr/>
        </p:nvSpPr>
        <p:spPr>
          <a:xfrm>
            <a:off x="9395460" y="5421122"/>
            <a:ext cx="7863840" cy="320040"/>
          </a:xfrm>
          <a:prstGeom prst="rect">
            <a:avLst/>
          </a:prstGeom>
          <a:noFill/>
        </p:spPr>
        <p:txBody>
          <a:bodyPr anchor="t" rtlCol="false" lIns="0" tIns="0" rIns="0" bIns="0" wrap="square"/>
          <a:lstStyle/>
          <a:p>
            <a:pPr algn="ctr">
              <a:lnSpc>
                <a:spcPts val="1800"/>
              </a:lnSpc>
              <a:spcBef>
                <a:spcPts val="0"/>
              </a:spcBef>
              <a:buNone/>
            </a:pPr>
            <a:r>
              <a:rPr lang="en-US" sz="1500" b="true">
                <a:solidFill>
                  <a:srgbClr val="DCE7E3"/>
                </a:solidFill>
                <a:latin typeface="Nunito Semi-Bold"/>
                <a:ea typeface="Nunito Semi-Bold"/>
                <a:cs typeface="Nunito Semi-Bold"/>
                <a:sym typeface="Nunito Semi-Bold"/>
              </a:rPr>
              <a:t>weight = probability that exactly the players in S arrive before j</a:t>
            </a:r>
          </a:p>
        </p:txBody>
      </p:sp>
      <p:sp>
        <p:nvSpPr>
          <p:cNvPr id="34" name="Rounded Rectangle 33"/>
          <p:cNvSpPr/>
          <p:nvPr/>
        </p:nvSpPr>
        <p:spPr>
          <a:xfrm>
            <a:off x="9395460" y="6152642"/>
            <a:ext cx="3817620" cy="676656"/>
          </a:xfrm>
          <a:prstGeom prst="roundRect">
            <a:avLst>
              <a:gd name="adj" fmla="val 27027"/>
            </a:avLst>
          </a:prstGeom>
          <a:solidFill>
            <a:srgbClr val="F6ECDF"/>
          </a:solidFill>
          <a:ln>
            <a:noFill/>
          </a:ln>
        </p:spPr>
        <p:txBody>
          <a:bodyPr anchor="ctr" rtlCol="false" lIns="91440" tIns="45720" rIns="91440" bIns="45720" wrap="square"/>
          <a:lstStyle/>
          <a:p>
            <a:pPr algn="ctr">
              <a:lnSpc>
                <a:spcPts val="1955"/>
              </a:lnSpc>
              <a:spcBef>
                <a:spcPts val="0"/>
              </a:spcBef>
              <a:buNone/>
            </a:pPr>
            <a:r>
              <a:rPr lang="en-US" sz="1700" b="true">
                <a:solidFill>
                  <a:srgbClr val="111111"/>
                </a:solidFill>
                <a:latin typeface="Nunito Bold"/>
                <a:ea typeface="Nunito Bold"/>
                <a:cs typeface="Nunito Bold"/>
                <a:sym typeface="Nunito Bold"/>
              </a:rPr>
              <a:t>Efficiency</a:t>
            </a:r>
          </a:p>
          <a:p>
            <a:pPr algn="ctr">
              <a:lnSpc>
                <a:spcPts val="1560"/>
              </a:lnSpc>
              <a:spcBef>
                <a:spcPts val="300"/>
              </a:spcBef>
              <a:buNone/>
            </a:pPr>
            <a:r>
              <a:rPr lang="en-US" sz="1300" b="true">
                <a:solidFill>
                  <a:srgbClr val="8A8378"/>
                </a:solidFill>
                <a:latin typeface="Nunito Semi-Bold"/>
                <a:ea typeface="Nunito Semi-Bold"/>
                <a:cs typeface="Nunito Semi-Bold"/>
                <a:sym typeface="Nunito Semi-Bold"/>
              </a:rPr>
              <a:t>the shares add up to v(N)</a:t>
            </a:r>
          </a:p>
        </p:txBody>
      </p:sp>
      <p:sp>
        <p:nvSpPr>
          <p:cNvPr id="35" name="Rounded Rectangle 34"/>
          <p:cNvSpPr/>
          <p:nvPr/>
        </p:nvSpPr>
        <p:spPr>
          <a:xfrm>
            <a:off x="13441680" y="6152642"/>
            <a:ext cx="3817620" cy="676656"/>
          </a:xfrm>
          <a:prstGeom prst="roundRect">
            <a:avLst>
              <a:gd name="adj" fmla="val 27027"/>
            </a:avLst>
          </a:prstGeom>
          <a:solidFill>
            <a:srgbClr val="F6ECDF"/>
          </a:solidFill>
          <a:ln>
            <a:noFill/>
          </a:ln>
        </p:spPr>
        <p:txBody>
          <a:bodyPr anchor="ctr" rtlCol="false" lIns="91440" tIns="45720" rIns="91440" bIns="45720" wrap="square"/>
          <a:lstStyle/>
          <a:p>
            <a:pPr algn="ctr">
              <a:lnSpc>
                <a:spcPts val="1955"/>
              </a:lnSpc>
              <a:spcBef>
                <a:spcPts val="0"/>
              </a:spcBef>
              <a:buNone/>
            </a:pPr>
            <a:r>
              <a:rPr lang="en-US" sz="1700" b="true">
                <a:solidFill>
                  <a:srgbClr val="111111"/>
                </a:solidFill>
                <a:latin typeface="Nunito Bold"/>
                <a:ea typeface="Nunito Bold"/>
                <a:cs typeface="Nunito Bold"/>
                <a:sym typeface="Nunito Bold"/>
              </a:rPr>
              <a:t>Symmetry</a:t>
            </a:r>
          </a:p>
          <a:p>
            <a:pPr algn="ctr">
              <a:lnSpc>
                <a:spcPts val="1560"/>
              </a:lnSpc>
              <a:spcBef>
                <a:spcPts val="300"/>
              </a:spcBef>
              <a:buNone/>
            </a:pPr>
            <a:r>
              <a:rPr lang="en-US" sz="1300" b="true">
                <a:solidFill>
                  <a:srgbClr val="8A8378"/>
                </a:solidFill>
                <a:latin typeface="Nunito Semi-Bold"/>
                <a:ea typeface="Nunito Semi-Bold"/>
                <a:cs typeface="Nunito Semi-Bold"/>
                <a:sym typeface="Nunito Semi-Bold"/>
              </a:rPr>
              <a:t>equal contributors, equal credit</a:t>
            </a:r>
          </a:p>
        </p:txBody>
      </p:sp>
      <p:sp>
        <p:nvSpPr>
          <p:cNvPr id="36" name="Rounded Rectangle 35"/>
          <p:cNvSpPr/>
          <p:nvPr/>
        </p:nvSpPr>
        <p:spPr>
          <a:xfrm>
            <a:off x="9395460" y="7030466"/>
            <a:ext cx="3817620" cy="676656"/>
          </a:xfrm>
          <a:prstGeom prst="roundRect">
            <a:avLst>
              <a:gd name="adj" fmla="val 27027"/>
            </a:avLst>
          </a:prstGeom>
          <a:solidFill>
            <a:srgbClr val="F6ECDF"/>
          </a:solidFill>
          <a:ln>
            <a:noFill/>
          </a:ln>
        </p:spPr>
        <p:txBody>
          <a:bodyPr anchor="ctr" rtlCol="false" lIns="91440" tIns="45720" rIns="91440" bIns="45720" wrap="square"/>
          <a:lstStyle/>
          <a:p>
            <a:pPr algn="ctr">
              <a:lnSpc>
                <a:spcPts val="1955"/>
              </a:lnSpc>
              <a:spcBef>
                <a:spcPts val="0"/>
              </a:spcBef>
              <a:buNone/>
            </a:pPr>
            <a:r>
              <a:rPr lang="en-US" sz="1700" b="true">
                <a:solidFill>
                  <a:srgbClr val="111111"/>
                </a:solidFill>
                <a:latin typeface="Nunito Bold"/>
                <a:ea typeface="Nunito Bold"/>
                <a:cs typeface="Nunito Bold"/>
                <a:sym typeface="Nunito Bold"/>
              </a:rPr>
              <a:t>Null player</a:t>
            </a:r>
          </a:p>
          <a:p>
            <a:pPr algn="ctr">
              <a:lnSpc>
                <a:spcPts val="1560"/>
              </a:lnSpc>
              <a:spcBef>
                <a:spcPts val="300"/>
              </a:spcBef>
              <a:buNone/>
            </a:pPr>
            <a:r>
              <a:rPr lang="en-US" sz="1300" b="true">
                <a:solidFill>
                  <a:srgbClr val="8A8378"/>
                </a:solidFill>
                <a:latin typeface="Nunito Semi-Bold"/>
                <a:ea typeface="Nunito Semi-Bold"/>
                <a:cs typeface="Nunito Semi-Bold"/>
                <a:sym typeface="Nunito Semi-Bold"/>
              </a:rPr>
              <a:t>adds nothing </a:t>
            </a:r>
            <a:r>
              <a:rPr lang="en-US" sz="1300" b="true">
                <a:solidFill>
                  <a:srgbClr val="8A8378"/>
                </a:solidFill>
                <a:latin typeface="Calibri"/>
                <a:ea typeface="Calibri"/>
                <a:cs typeface="Calibri"/>
                <a:sym typeface="Calibri"/>
              </a:rPr>
              <a:t>→ </a:t>
            </a:r>
            <a:r>
              <a:rPr lang="en-US" sz="1300" b="true">
                <a:solidFill>
                  <a:srgbClr val="8A8378"/>
                </a:solidFill>
                <a:latin typeface="Nunito Semi-Bold"/>
                <a:ea typeface="Nunito Semi-Bold"/>
                <a:cs typeface="Nunito Semi-Bold"/>
                <a:sym typeface="Nunito Semi-Bold"/>
              </a:rPr>
              <a:t>gets nothing</a:t>
            </a:r>
          </a:p>
        </p:txBody>
      </p:sp>
      <p:sp>
        <p:nvSpPr>
          <p:cNvPr id="37" name="Rounded Rectangle 36"/>
          <p:cNvSpPr/>
          <p:nvPr/>
        </p:nvSpPr>
        <p:spPr>
          <a:xfrm>
            <a:off x="13441680" y="7030466"/>
            <a:ext cx="3817620" cy="676656"/>
          </a:xfrm>
          <a:prstGeom prst="roundRect">
            <a:avLst>
              <a:gd name="adj" fmla="val 27027"/>
            </a:avLst>
          </a:prstGeom>
          <a:solidFill>
            <a:srgbClr val="F6ECDF"/>
          </a:solidFill>
          <a:ln>
            <a:noFill/>
          </a:ln>
        </p:spPr>
        <p:txBody>
          <a:bodyPr anchor="ctr" rtlCol="false" lIns="91440" tIns="45720" rIns="91440" bIns="45720" wrap="square"/>
          <a:lstStyle/>
          <a:p>
            <a:pPr algn="ctr">
              <a:lnSpc>
                <a:spcPts val="1955"/>
              </a:lnSpc>
              <a:spcBef>
                <a:spcPts val="0"/>
              </a:spcBef>
              <a:buNone/>
            </a:pPr>
            <a:r>
              <a:rPr lang="en-US" sz="1700" b="true">
                <a:solidFill>
                  <a:srgbClr val="111111"/>
                </a:solidFill>
                <a:latin typeface="Nunito Bold"/>
                <a:ea typeface="Nunito Bold"/>
                <a:cs typeface="Nunito Bold"/>
                <a:sym typeface="Nunito Bold"/>
              </a:rPr>
              <a:t>Additivity</a:t>
            </a:r>
          </a:p>
          <a:p>
            <a:pPr algn="ctr">
              <a:lnSpc>
                <a:spcPts val="1560"/>
              </a:lnSpc>
              <a:spcBef>
                <a:spcPts val="300"/>
              </a:spcBef>
              <a:buNone/>
            </a:pPr>
            <a:r>
              <a:rPr lang="en-US" sz="1300" b="true">
                <a:solidFill>
                  <a:srgbClr val="8A8378"/>
                </a:solidFill>
                <a:latin typeface="Nunito Semi-Bold"/>
                <a:ea typeface="Nunito Semi-Bold"/>
                <a:cs typeface="Nunito Semi-Bold"/>
                <a:sym typeface="Nunito Semi-Bold"/>
              </a:rPr>
              <a:t>linear across games</a:t>
            </a:r>
          </a:p>
        </p:txBody>
      </p:sp>
      <p:sp>
        <p:nvSpPr>
          <p:cNvPr id="38" name="Rounded Rectangle 37"/>
          <p:cNvSpPr/>
          <p:nvPr/>
        </p:nvSpPr>
        <p:spPr>
          <a:xfrm>
            <a:off x="9395460" y="8118602"/>
            <a:ext cx="7863840" cy="1098550"/>
          </a:xfrm>
          <a:prstGeom prst="roundRect">
            <a:avLst>
              <a:gd name="adj" fmla="val 18312"/>
            </a:avLst>
          </a:prstGeom>
          <a:solidFill>
            <a:srgbClr val="F6ECDF"/>
          </a:solidFill>
          <a:ln w="25400">
            <a:solidFill>
              <a:srgbClr val="DF8330"/>
            </a:solidFill>
          </a:ln>
        </p:spPr>
        <p:txBody>
          <a:bodyPr anchor="ctr" rtlCol="false" lIns="0" tIns="0" rIns="0" bIns="0" wrap="square"/>
          <a:lstStyle/>
          <a:p>
            <a:endParaRPr lang="en-US" sz="1800"/>
          </a:p>
        </p:txBody>
      </p:sp>
      <p:sp>
        <p:nvSpPr>
          <p:cNvPr id="39" name="Rounded Rectangle 38"/>
          <p:cNvSpPr/>
          <p:nvPr/>
        </p:nvSpPr>
        <p:spPr>
          <a:xfrm>
            <a:off x="9715500" y="7926578"/>
            <a:ext cx="2992929"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WHY IT IS THE RIGHT RULE</a:t>
            </a:r>
          </a:p>
        </p:txBody>
      </p:sp>
      <p:sp>
        <p:nvSpPr>
          <p:cNvPr id="40" name="TextBox 39"/>
          <p:cNvSpPr txBox="1"/>
          <p:nvPr/>
        </p:nvSpPr>
        <p:spPr>
          <a:xfrm>
            <a:off x="9761220" y="8392922"/>
            <a:ext cx="7132320" cy="687070"/>
          </a:xfrm>
          <a:prstGeom prst="rect">
            <a:avLst/>
          </a:prstGeom>
          <a:noFill/>
        </p:spPr>
        <p:txBody>
          <a:bodyPr anchor="ctr" rtlCol="false" lIns="0" tIns="0" rIns="0" bIns="0" wrap="square"/>
          <a:lstStyle/>
          <a:p>
            <a:pPr algn="l">
              <a:lnSpc>
                <a:spcPts val="1702"/>
              </a:lnSpc>
              <a:spcBef>
                <a:spcPts val="0"/>
              </a:spcBef>
              <a:buNone/>
            </a:pPr>
            <a:r>
              <a:rPr lang="en-US" sz="1216" b="true">
                <a:solidFill>
                  <a:srgbClr val="111111"/>
                </a:solidFill>
                <a:latin typeface="Nunito Semi-Bold"/>
                <a:ea typeface="Nunito Semi-Bold"/>
                <a:cs typeface="Nunito Semi-Bold"/>
                <a:sym typeface="Nunito Semi-Bold"/>
              </a:rPr>
              <a:t>The Shapley value is the </a:t>
            </a:r>
            <a:r>
              <a:rPr lang="en-US" sz="1216" b="true">
                <a:solidFill>
                  <a:srgbClr val="111111"/>
                </a:solidFill>
                <a:latin typeface="Nunito Bold"/>
                <a:ea typeface="Nunito Bold"/>
                <a:cs typeface="Nunito Bold"/>
                <a:sym typeface="Nunito Bold"/>
              </a:rPr>
              <a:t>only</a:t>
            </a:r>
            <a:r>
              <a:rPr lang="en-US" sz="1216" b="true">
                <a:solidFill>
                  <a:srgbClr val="111111"/>
                </a:solidFill>
                <a:latin typeface="Nunito Semi-Bold"/>
                <a:ea typeface="Nunito Semi-Bold"/>
                <a:cs typeface="Nunito Semi-Bold"/>
                <a:sym typeface="Nunito Semi-Bold"/>
              </a:rPr>
              <a:t> allocation rule that satisfies all four axioms at once. Any other rule (equal shares 66.7 each, or proportional to solo pay 100 / 67 / 33) breaks at least one of them.</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31</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The Bridge: LightGBM Surrogate + TreeSHAP</a:t>
            </a:r>
          </a:p>
        </p:txBody>
      </p:sp>
      <p:pic>
        <p:nvPicPr>
          <p:cNvPr id="23" name="Picture 22" descr="image.png"/>
          <p:cNvPicPr>
            <a:picLocks noChangeAspect="1"/>
          </p:cNvPicPr>
          <p:nvPr/>
        </p:nvPicPr>
        <p:blipFill>
          <a:blip r:embed="rId3"/>
          <a:stretch>
            <a:fillRect/>
          </a:stretch>
        </p:blipFill>
        <p:spPr>
          <a:xfrm>
            <a:off x="12801592" y="1673352"/>
            <a:ext cx="457200" cy="250983"/>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Rounded Rectangle 27"/>
          <p:cNvSpPr/>
          <p:nvPr/>
        </p:nvSpPr>
        <p:spPr>
          <a:xfrm>
            <a:off x="1028700" y="3455162"/>
            <a:ext cx="2926080" cy="1188720"/>
          </a:xfrm>
          <a:prstGeom prst="roundRect">
            <a:avLst>
              <a:gd name="adj" fmla="val 16923"/>
            </a:avLst>
          </a:prstGeom>
          <a:solidFill>
            <a:srgbClr val="124944"/>
          </a:solidFill>
          <a:ln>
            <a:noFill/>
          </a:ln>
        </p:spPr>
        <p:txBody>
          <a:bodyPr anchor="ctr" rtlCol="false" lIns="91440" tIns="45720" rIns="91440" bIns="45720" wrap="square"/>
          <a:lstStyle/>
          <a:p>
            <a:pPr algn="ctr">
              <a:lnSpc>
                <a:spcPts val="2530"/>
              </a:lnSpc>
              <a:spcBef>
                <a:spcPts val="0"/>
              </a:spcBef>
              <a:buNone/>
            </a:pPr>
            <a:r>
              <a:rPr lang="en-US" sz="2200" b="true">
                <a:solidFill>
                  <a:srgbClr val="FFFFFF"/>
                </a:solidFill>
                <a:latin typeface="Nunito Bold"/>
                <a:ea typeface="Nunito Bold"/>
                <a:cs typeface="Nunito Bold"/>
                <a:sym typeface="Nunito Bold"/>
              </a:rPr>
              <a:t>K-Means</a:t>
            </a:r>
          </a:p>
          <a:p>
            <a:pPr algn="ctr">
              <a:lnSpc>
                <a:spcPts val="1920"/>
              </a:lnSpc>
              <a:spcBef>
                <a:spcPts val="300"/>
              </a:spcBef>
              <a:buNone/>
            </a:pPr>
            <a:r>
              <a:rPr lang="en-US" sz="1600" b="true">
                <a:solidFill>
                  <a:srgbClr val="FFFFFF"/>
                </a:solidFill>
                <a:latin typeface="Nunito Semi-Bold"/>
                <a:ea typeface="Nunito Semi-Bold"/>
                <a:cs typeface="Nunito Semi-Bold"/>
                <a:sym typeface="Nunito Semi-Bold"/>
              </a:rPr>
              <a:t>cluster labels</a:t>
            </a:r>
          </a:p>
        </p:txBody>
      </p:sp>
      <p:cxnSp>
        <p:nvCxnSpPr>
          <p:cNvPr id="29" name="Connector 28"/>
          <p:cNvCxnSpPr/>
          <p:nvPr/>
        </p:nvCxnSpPr>
        <p:spPr>
          <a:xfrm>
            <a:off x="4027932" y="4049522"/>
            <a:ext cx="1362456" cy="0"/>
          </a:xfrm>
          <a:prstGeom prst="line">
            <a:avLst/>
          </a:prstGeom>
          <a:ln w="31750">
            <a:solidFill>
              <a:srgbClr val="124944"/>
            </a:solidFill>
            <a:tailEnd type="triangle" w="med" len="med"/>
          </a:ln>
        </p:spPr>
      </p:cxnSp>
      <p:sp>
        <p:nvSpPr>
          <p:cNvPr id="30" name="Rounded Rectangle 29"/>
          <p:cNvSpPr/>
          <p:nvPr/>
        </p:nvSpPr>
        <p:spPr>
          <a:xfrm>
            <a:off x="5463540" y="3455162"/>
            <a:ext cx="2926080" cy="1188720"/>
          </a:xfrm>
          <a:prstGeom prst="roundRect">
            <a:avLst>
              <a:gd name="adj" fmla="val 16923"/>
            </a:avLst>
          </a:prstGeom>
          <a:solidFill>
            <a:srgbClr val="124944"/>
          </a:solidFill>
          <a:ln>
            <a:noFill/>
          </a:ln>
        </p:spPr>
        <p:txBody>
          <a:bodyPr anchor="ctr" rtlCol="false" lIns="91440" tIns="45720" rIns="91440" bIns="45720" wrap="square"/>
          <a:lstStyle/>
          <a:p>
            <a:pPr algn="ctr">
              <a:lnSpc>
                <a:spcPts val="2530"/>
              </a:lnSpc>
              <a:spcBef>
                <a:spcPts val="0"/>
              </a:spcBef>
              <a:buNone/>
            </a:pPr>
            <a:r>
              <a:rPr lang="en-US" sz="2200" b="true">
                <a:solidFill>
                  <a:srgbClr val="FFFFFF"/>
                </a:solidFill>
                <a:latin typeface="Nunito Bold"/>
                <a:ea typeface="Nunito Bold"/>
                <a:cs typeface="Nunito Bold"/>
                <a:sym typeface="Nunito Bold"/>
              </a:rPr>
              <a:t>LightGBM</a:t>
            </a:r>
          </a:p>
          <a:p>
            <a:pPr algn="ctr">
              <a:lnSpc>
                <a:spcPts val="1920"/>
              </a:lnSpc>
              <a:spcBef>
                <a:spcPts val="300"/>
              </a:spcBef>
              <a:buNone/>
            </a:pPr>
            <a:r>
              <a:rPr lang="en-US" sz="1600" b="true">
                <a:solidFill>
                  <a:srgbClr val="FFFFFF"/>
                </a:solidFill>
                <a:latin typeface="Nunito Semi-Bold"/>
                <a:ea typeface="Nunito Semi-Bold"/>
                <a:cs typeface="Nunito Semi-Bold"/>
                <a:sym typeface="Nunito Semi-Bold"/>
              </a:rPr>
              <a:t>multiclass surrogate</a:t>
            </a:r>
          </a:p>
        </p:txBody>
      </p:sp>
      <p:cxnSp>
        <p:nvCxnSpPr>
          <p:cNvPr id="31" name="Connector 30"/>
          <p:cNvCxnSpPr/>
          <p:nvPr/>
        </p:nvCxnSpPr>
        <p:spPr>
          <a:xfrm>
            <a:off x="8462772" y="4049522"/>
            <a:ext cx="1362456" cy="0"/>
          </a:xfrm>
          <a:prstGeom prst="line">
            <a:avLst/>
          </a:prstGeom>
          <a:ln w="31750">
            <a:solidFill>
              <a:srgbClr val="124944"/>
            </a:solidFill>
            <a:tailEnd type="triangle" w="med" len="med"/>
          </a:ln>
        </p:spPr>
      </p:cxnSp>
      <p:sp>
        <p:nvSpPr>
          <p:cNvPr id="32" name="Rounded Rectangle 31"/>
          <p:cNvSpPr/>
          <p:nvPr/>
        </p:nvSpPr>
        <p:spPr>
          <a:xfrm>
            <a:off x="9898380" y="3455162"/>
            <a:ext cx="2926080" cy="1188720"/>
          </a:xfrm>
          <a:prstGeom prst="roundRect">
            <a:avLst>
              <a:gd name="adj" fmla="val 16923"/>
            </a:avLst>
          </a:prstGeom>
          <a:solidFill>
            <a:srgbClr val="111111"/>
          </a:solidFill>
          <a:ln>
            <a:noFill/>
          </a:ln>
        </p:spPr>
        <p:txBody>
          <a:bodyPr anchor="ctr" rtlCol="false" lIns="91440" tIns="45720" rIns="91440" bIns="45720" wrap="square"/>
          <a:lstStyle/>
          <a:p>
            <a:pPr algn="ctr">
              <a:lnSpc>
                <a:spcPts val="2530"/>
              </a:lnSpc>
              <a:spcBef>
                <a:spcPts val="0"/>
              </a:spcBef>
              <a:buNone/>
            </a:pPr>
            <a:r>
              <a:rPr lang="en-US" sz="2200" b="true">
                <a:solidFill>
                  <a:srgbClr val="FFFFFF"/>
                </a:solidFill>
                <a:latin typeface="Nunito Bold"/>
                <a:ea typeface="Nunito Bold"/>
                <a:cs typeface="Nunito Bold"/>
                <a:sym typeface="Nunito Bold"/>
              </a:rPr>
              <a:t>TreeSHAP</a:t>
            </a:r>
          </a:p>
          <a:p>
            <a:pPr algn="ctr">
              <a:lnSpc>
                <a:spcPts val="1920"/>
              </a:lnSpc>
              <a:spcBef>
                <a:spcPts val="300"/>
              </a:spcBef>
              <a:buNone/>
            </a:pPr>
            <a:r>
              <a:rPr lang="en-US" sz="1600" b="true">
                <a:solidFill>
                  <a:srgbClr val="FFFFFF"/>
                </a:solidFill>
                <a:latin typeface="Nunito Semi-Bold"/>
                <a:ea typeface="Nunito Semi-Bold"/>
                <a:cs typeface="Nunito Semi-Bold"/>
                <a:sym typeface="Nunito Semi-Bold"/>
              </a:rPr>
              <a:t>exact attribution</a:t>
            </a:r>
          </a:p>
        </p:txBody>
      </p:sp>
      <p:cxnSp>
        <p:nvCxnSpPr>
          <p:cNvPr id="33" name="Connector 32"/>
          <p:cNvCxnSpPr/>
          <p:nvPr/>
        </p:nvCxnSpPr>
        <p:spPr>
          <a:xfrm>
            <a:off x="12897612" y="4049522"/>
            <a:ext cx="1362456" cy="0"/>
          </a:xfrm>
          <a:prstGeom prst="line">
            <a:avLst/>
          </a:prstGeom>
          <a:ln w="31750">
            <a:solidFill>
              <a:srgbClr val="124944"/>
            </a:solidFill>
            <a:tailEnd type="triangle" w="med" len="med"/>
          </a:ln>
        </p:spPr>
      </p:cxnSp>
      <p:sp>
        <p:nvSpPr>
          <p:cNvPr id="34" name="Rounded Rectangle 33"/>
          <p:cNvSpPr/>
          <p:nvPr/>
        </p:nvSpPr>
        <p:spPr>
          <a:xfrm>
            <a:off x="14333220" y="3455162"/>
            <a:ext cx="2926080" cy="1188720"/>
          </a:xfrm>
          <a:prstGeom prst="roundRect">
            <a:avLst>
              <a:gd name="adj" fmla="val 16923"/>
            </a:avLst>
          </a:prstGeom>
          <a:solidFill>
            <a:srgbClr val="DF8330"/>
          </a:solidFill>
          <a:ln>
            <a:noFill/>
          </a:ln>
        </p:spPr>
        <p:txBody>
          <a:bodyPr anchor="ctr" rtlCol="false" lIns="91440" tIns="45720" rIns="91440" bIns="45720" wrap="square"/>
          <a:lstStyle/>
          <a:p>
            <a:pPr algn="ctr">
              <a:lnSpc>
                <a:spcPts val="2530"/>
              </a:lnSpc>
              <a:spcBef>
                <a:spcPts val="0"/>
              </a:spcBef>
              <a:buNone/>
            </a:pPr>
            <a:r>
              <a:rPr lang="en-US" sz="2200" b="true">
                <a:solidFill>
                  <a:srgbClr val="FFFFFF"/>
                </a:solidFill>
                <a:latin typeface="Nunito Bold"/>
                <a:ea typeface="Nunito Bold"/>
                <a:cs typeface="Nunito Bold"/>
                <a:sym typeface="Nunito Bold"/>
              </a:rPr>
              <a:t>Explanation</a:t>
            </a:r>
          </a:p>
          <a:p>
            <a:pPr algn="ctr">
              <a:lnSpc>
                <a:spcPts val="1920"/>
              </a:lnSpc>
              <a:spcBef>
                <a:spcPts val="300"/>
              </a:spcBef>
              <a:buNone/>
            </a:pPr>
            <a:r>
              <a:rPr lang="en-US" sz="1600" b="true">
                <a:solidFill>
                  <a:srgbClr val="FFFFFF"/>
                </a:solidFill>
                <a:latin typeface="Nunito Semi-Bold"/>
                <a:ea typeface="Nunito Semi-Bold"/>
                <a:cs typeface="Nunito Semi-Bold"/>
                <a:sym typeface="Nunito Semi-Bold"/>
              </a:rPr>
              <a:t>original feature space</a:t>
            </a:r>
          </a:p>
        </p:txBody>
      </p:sp>
      <p:sp>
        <p:nvSpPr>
          <p:cNvPr id="35" name="Rounded Rectangle 34"/>
          <p:cNvSpPr/>
          <p:nvPr/>
        </p:nvSpPr>
        <p:spPr>
          <a:xfrm>
            <a:off x="1028700" y="5283962"/>
            <a:ext cx="7932420" cy="4070350"/>
          </a:xfrm>
          <a:prstGeom prst="roundRect">
            <a:avLst>
              <a:gd name="adj" fmla="val 7638"/>
            </a:avLst>
          </a:prstGeom>
          <a:solidFill>
            <a:srgbClr val="124944"/>
          </a:solidFill>
          <a:ln>
            <a:noFill/>
          </a:ln>
        </p:spPr>
        <p:txBody>
          <a:bodyPr anchor="ctr" rtlCol="false" lIns="0" tIns="0" rIns="0" bIns="0" wrap="square"/>
          <a:lstStyle/>
          <a:p>
            <a:endParaRPr lang="en-US" sz="1800"/>
          </a:p>
        </p:txBody>
      </p:sp>
      <p:sp>
        <p:nvSpPr>
          <p:cNvPr id="36" name="Rounded Rectangle 35"/>
          <p:cNvSpPr/>
          <p:nvPr/>
        </p:nvSpPr>
        <p:spPr>
          <a:xfrm>
            <a:off x="1485900" y="5046218"/>
            <a:ext cx="1292063"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How</a:t>
            </a:r>
          </a:p>
        </p:txBody>
      </p:sp>
      <p:sp>
        <p:nvSpPr>
          <p:cNvPr id="37" name="TextBox 36"/>
          <p:cNvSpPr txBox="1"/>
          <p:nvPr/>
        </p:nvSpPr>
        <p:spPr>
          <a:xfrm>
            <a:off x="1531620" y="5924042"/>
            <a:ext cx="6972300" cy="3155950"/>
          </a:xfrm>
          <a:prstGeom prst="rect">
            <a:avLst/>
          </a:prstGeom>
          <a:noFill/>
        </p:spPr>
        <p:txBody>
          <a:bodyPr anchor="t" rtlCol="false" lIns="0" tIns="0" rIns="0" bIns="0" wrap="square"/>
          <a:lstStyle/>
          <a:p>
            <a:pPr algn="l" marL="274320" indent="-274320">
              <a:lnSpc>
                <a:spcPts val="2800"/>
              </a:lnSpc>
              <a:spcBef>
                <a:spcPts val="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Once K-Means produces cluster labels, train a </a:t>
            </a:r>
            <a:r>
              <a:rPr lang="en-US" sz="2000" b="true">
                <a:solidFill>
                  <a:srgbClr val="FFFFFF"/>
                </a:solidFill>
                <a:latin typeface="Nunito Bold"/>
                <a:ea typeface="Nunito Bold"/>
                <a:cs typeface="Nunito Bold"/>
                <a:sym typeface="Nunito Bold"/>
              </a:rPr>
              <a:t>LightGBM multiclass surrogate</a:t>
            </a:r>
            <a:r>
              <a:rPr lang="en-US" sz="2000" b="true">
                <a:solidFill>
                  <a:srgbClr val="FFFFFF"/>
                </a:solidFill>
                <a:latin typeface="Nunito Semi-Bold"/>
                <a:ea typeface="Nunito Semi-Bold"/>
                <a:cs typeface="Nunito Semi-Bold"/>
                <a:sym typeface="Nunito Semi-Bold"/>
              </a:rPr>
              <a:t> to predict them from the original features.</a:t>
            </a:r>
          </a:p>
          <a:p>
            <a:pPr algn="l" marL="274320" indent="-274320">
              <a:lnSpc>
                <a:spcPts val="280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Apply </a:t>
            </a:r>
            <a:r>
              <a:rPr lang="en-US" sz="2000" b="true">
                <a:solidFill>
                  <a:srgbClr val="FFFFFF"/>
                </a:solidFill>
                <a:latin typeface="Nunito Bold"/>
                <a:ea typeface="Nunito Bold"/>
                <a:cs typeface="Nunito Bold"/>
                <a:sym typeface="Nunito Bold"/>
              </a:rPr>
              <a:t>TreeSHAP</a:t>
            </a:r>
            <a:r>
              <a:rPr lang="en-US" sz="2000" b="true">
                <a:solidFill>
                  <a:srgbClr val="FFFFFF"/>
                </a:solidFill>
                <a:latin typeface="Nunito Semi-Bold"/>
                <a:ea typeface="Nunito Semi-Bold"/>
                <a:cs typeface="Nunito Semi-Bold"/>
                <a:sym typeface="Nunito Semi-Bold"/>
              </a:rPr>
              <a:t> to the surrogate: fast, exact tree-based attribution in the original feature space.</a:t>
            </a:r>
          </a:p>
          <a:p>
            <a:pPr algn="l" marL="274320" indent="-274320">
              <a:lnSpc>
                <a:spcPts val="280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Aggregate into </a:t>
            </a:r>
            <a:r>
              <a:rPr lang="en-US" sz="2000" b="true">
                <a:solidFill>
                  <a:srgbClr val="FFFFFF"/>
                </a:solidFill>
                <a:latin typeface="Nunito Bold"/>
                <a:ea typeface="Nunito Bold"/>
                <a:cs typeface="Nunito Bold"/>
                <a:sym typeface="Nunito Bold"/>
              </a:rPr>
              <a:t>global importance</a:t>
            </a:r>
            <a:r>
              <a:rPr lang="en-US" sz="2000" b="true">
                <a:solidFill>
                  <a:srgbClr val="FFFFFF"/>
                </a:solidFill>
                <a:latin typeface="Nunito Semi-Bold"/>
                <a:ea typeface="Nunito Semi-Bold"/>
                <a:cs typeface="Nunito Semi-Bold"/>
                <a:sym typeface="Nunito Semi-Bold"/>
              </a:rPr>
              <a:t>, </a:t>
            </a:r>
            <a:r>
              <a:rPr lang="en-US" sz="2000" b="true">
                <a:solidFill>
                  <a:srgbClr val="FFFFFF"/>
                </a:solidFill>
                <a:latin typeface="Nunito Bold"/>
                <a:ea typeface="Nunito Bold"/>
                <a:cs typeface="Nunito Bold"/>
                <a:sym typeface="Nunito Bold"/>
              </a:rPr>
              <a:t>cluster-specific profiles</a:t>
            </a:r>
            <a:r>
              <a:rPr lang="en-US" sz="2000" b="true">
                <a:solidFill>
                  <a:srgbClr val="FFFFFF"/>
                </a:solidFill>
                <a:latin typeface="Nunito Semi-Bold"/>
                <a:ea typeface="Nunito Semi-Bold"/>
                <a:cs typeface="Nunito Semi-Bold"/>
                <a:sym typeface="Nunito Semi-Bold"/>
              </a:rPr>
              <a:t> and </a:t>
            </a:r>
            <a:r>
              <a:rPr lang="en-US" sz="2000" b="true">
                <a:solidFill>
                  <a:srgbClr val="FFFFFF"/>
                </a:solidFill>
                <a:latin typeface="Nunito Bold"/>
                <a:ea typeface="Nunito Bold"/>
                <a:cs typeface="Nunito Bold"/>
                <a:sym typeface="Nunito Bold"/>
              </a:rPr>
              <a:t>local force plots</a:t>
            </a:r>
            <a:r>
              <a:rPr lang="en-US" sz="2000" b="true">
                <a:solidFill>
                  <a:srgbClr val="FFFFFF"/>
                </a:solidFill>
                <a:latin typeface="Nunito Semi-Bold"/>
                <a:ea typeface="Nunito Semi-Bold"/>
                <a:cs typeface="Nunito Semi-Bold"/>
                <a:sym typeface="Nunito Semi-Bold"/>
              </a:rPr>
              <a:t>.</a:t>
            </a:r>
          </a:p>
        </p:txBody>
      </p:sp>
      <p:sp>
        <p:nvSpPr>
          <p:cNvPr id="38" name="Rounded Rectangle 37"/>
          <p:cNvSpPr/>
          <p:nvPr/>
        </p:nvSpPr>
        <p:spPr>
          <a:xfrm>
            <a:off x="9326880" y="5283962"/>
            <a:ext cx="7932420" cy="4070350"/>
          </a:xfrm>
          <a:prstGeom prst="roundRect">
            <a:avLst>
              <a:gd name="adj" fmla="val 7638"/>
            </a:avLst>
          </a:prstGeom>
          <a:solidFill>
            <a:srgbClr val="F6ECDF"/>
          </a:solidFill>
          <a:ln>
            <a:noFill/>
          </a:ln>
        </p:spPr>
        <p:txBody>
          <a:bodyPr anchor="ctr" rtlCol="false" lIns="0" tIns="0" rIns="0" bIns="0" wrap="square"/>
          <a:lstStyle/>
          <a:p>
            <a:endParaRPr lang="en-US" sz="1800"/>
          </a:p>
        </p:txBody>
      </p:sp>
      <p:sp>
        <p:nvSpPr>
          <p:cNvPr id="39" name="Rounded Rectangle 38"/>
          <p:cNvSpPr/>
          <p:nvPr/>
        </p:nvSpPr>
        <p:spPr>
          <a:xfrm>
            <a:off x="9784080" y="5046218"/>
            <a:ext cx="1298395"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Why</a:t>
            </a:r>
          </a:p>
        </p:txBody>
      </p:sp>
      <p:sp>
        <p:nvSpPr>
          <p:cNvPr id="40" name="TextBox 39"/>
          <p:cNvSpPr txBox="1"/>
          <p:nvPr/>
        </p:nvSpPr>
        <p:spPr>
          <a:xfrm>
            <a:off x="9829800" y="5924042"/>
            <a:ext cx="6972300" cy="3155950"/>
          </a:xfrm>
          <a:prstGeom prst="rect">
            <a:avLst/>
          </a:prstGeom>
          <a:noFill/>
        </p:spPr>
        <p:txBody>
          <a:bodyPr anchor="t" rtlCol="false" lIns="0" tIns="0" rIns="0" bIns="0" wrap="square"/>
          <a:lstStyle/>
          <a:p>
            <a:pPr algn="l" marL="274320" indent="-274320">
              <a:lnSpc>
                <a:spcPts val="2548"/>
              </a:lnSpc>
              <a:spcBef>
                <a:spcPts val="0"/>
              </a:spcBef>
              <a:buClr>
                <a:srgbClr val="DF8330"/>
              </a:buClr>
              <a:buSzPct val="100000"/>
              <a:buFont typeface="Arial"/>
              <a:buChar char="•"/>
            </a:pPr>
            <a:r>
              <a:rPr lang="en-US" sz="1820" b="true">
                <a:solidFill>
                  <a:srgbClr val="111111"/>
                </a:solidFill>
                <a:latin typeface="Nunito Semi-Bold"/>
                <a:ea typeface="Nunito Semi-Bold"/>
                <a:cs typeface="Nunito Semi-Bold"/>
                <a:sym typeface="Nunito Semi-Bold"/>
              </a:rPr>
              <a:t>Direct TreeSHAP on K-Means is impossible: it explains </a:t>
            </a:r>
            <a:r>
              <a:rPr lang="en-US" sz="1820" b="true">
                <a:solidFill>
                  <a:srgbClr val="111111"/>
                </a:solidFill>
                <a:latin typeface="Nunito Bold"/>
                <a:ea typeface="Nunito Bold"/>
                <a:cs typeface="Nunito Bold"/>
                <a:sym typeface="Nunito Bold"/>
              </a:rPr>
              <a:t>tree models, not centroids</a:t>
            </a:r>
            <a:r>
              <a:rPr lang="en-US" sz="1820" b="true">
                <a:solidFill>
                  <a:srgbClr val="111111"/>
                </a:solidFill>
                <a:latin typeface="Nunito Semi-Bold"/>
                <a:ea typeface="Nunito Semi-Bold"/>
                <a:cs typeface="Nunito Semi-Bold"/>
                <a:sym typeface="Nunito Semi-Bold"/>
              </a:rPr>
              <a:t>.</a:t>
            </a:r>
          </a:p>
          <a:p>
            <a:pPr algn="l" marL="274320" indent="-274320">
              <a:lnSpc>
                <a:spcPts val="2548"/>
              </a:lnSpc>
              <a:spcBef>
                <a:spcPts val="910"/>
              </a:spcBef>
              <a:buClr>
                <a:srgbClr val="DF8330"/>
              </a:buClr>
              <a:buSzPct val="100000"/>
              <a:buFont typeface="Arial"/>
              <a:buChar char="•"/>
            </a:pPr>
            <a:r>
              <a:rPr lang="en-US" sz="1820" b="true">
                <a:solidFill>
                  <a:srgbClr val="111111"/>
                </a:solidFill>
                <a:latin typeface="Nunito Semi-Bold"/>
                <a:ea typeface="Nunito Semi-Bold"/>
                <a:cs typeface="Nunito Semi-Bold"/>
                <a:sym typeface="Nunito Semi-Bold"/>
              </a:rPr>
              <a:t>Explaining the PCA representation would move attribution away from the interpretable variables.</a:t>
            </a:r>
          </a:p>
          <a:p>
            <a:pPr algn="l" marL="274320" indent="-274320">
              <a:lnSpc>
                <a:spcPts val="2548"/>
              </a:lnSpc>
              <a:spcBef>
                <a:spcPts val="910"/>
              </a:spcBef>
              <a:buClr>
                <a:srgbClr val="DF8330"/>
              </a:buClr>
              <a:buSzPct val="100000"/>
              <a:buFont typeface="Arial"/>
              <a:buChar char="•"/>
            </a:pPr>
            <a:r>
              <a:rPr lang="en-US" sz="1820" b="true">
                <a:solidFill>
                  <a:srgbClr val="111111"/>
                </a:solidFill>
                <a:latin typeface="Nunito Semi-Bold"/>
                <a:ea typeface="Nunito Semi-Bold"/>
                <a:cs typeface="Nunito Semi-Bold"/>
                <a:sym typeface="Nunito Semi-Bold"/>
              </a:rPr>
              <a:t>The surrogate keeps the </a:t>
            </a:r>
            <a:r>
              <a:rPr lang="en-US" sz="1820" b="true">
                <a:solidFill>
                  <a:srgbClr val="111111"/>
                </a:solidFill>
                <a:latin typeface="Nunito Bold"/>
                <a:ea typeface="Nunito Bold"/>
                <a:cs typeface="Nunito Bold"/>
                <a:sym typeface="Nunito Bold"/>
              </a:rPr>
              <a:t>chemistry / pollution terms</a:t>
            </a:r>
            <a:r>
              <a:rPr lang="en-US" sz="1820" b="true">
                <a:solidFill>
                  <a:srgbClr val="111111"/>
                </a:solidFill>
                <a:latin typeface="Nunito Semi-Bold"/>
                <a:ea typeface="Nunito Semi-Bold"/>
                <a:cs typeface="Nunito Semi-Bold"/>
                <a:sym typeface="Nunito Semi-Bold"/>
              </a:rPr>
              <a:t> that make the analysis actionable.</a:t>
            </a:r>
          </a:p>
          <a:p>
            <a:pPr algn="l" marL="274320" indent="-274320">
              <a:lnSpc>
                <a:spcPts val="2548"/>
              </a:lnSpc>
              <a:spcBef>
                <a:spcPts val="910"/>
              </a:spcBef>
              <a:buClr>
                <a:srgbClr val="DF8330"/>
              </a:buClr>
              <a:buSzPct val="100000"/>
              <a:buFont typeface="Arial"/>
              <a:buChar char="•"/>
            </a:pPr>
            <a:r>
              <a:rPr lang="en-US" sz="1820" b="true">
                <a:solidFill>
                  <a:srgbClr val="111111"/>
                </a:solidFill>
                <a:latin typeface="Nunito Bold"/>
                <a:ea typeface="Nunito Bold"/>
                <a:cs typeface="Nunito Bold"/>
                <a:sym typeface="Nunito Bold"/>
              </a:rPr>
              <a:t>Validity condition:</a:t>
            </a:r>
            <a:r>
              <a:rPr lang="en-US" sz="1820" b="true">
                <a:solidFill>
                  <a:srgbClr val="111111"/>
                </a:solidFill>
                <a:latin typeface="Nunito Semi-Bold"/>
                <a:ea typeface="Nunito Semi-Bold"/>
                <a:cs typeface="Nunito Semi-Bold"/>
                <a:sym typeface="Nunito Semi-Bold"/>
              </a:rPr>
              <a:t> surrogate fidelity is high, with </a:t>
            </a:r>
            <a:r>
              <a:rPr lang="en-US" sz="1820" b="true">
                <a:solidFill>
                  <a:srgbClr val="111111"/>
                </a:solidFill>
                <a:latin typeface="Nunito Bold"/>
                <a:ea typeface="Nunito Bold"/>
                <a:cs typeface="Nunito Bold"/>
                <a:sym typeface="Nunito Bold"/>
              </a:rPr>
              <a:t>macro-F1 ≈ 0.82</a:t>
            </a:r>
            <a:r>
              <a:rPr lang="en-US" sz="1820" b="true">
                <a:solidFill>
                  <a:srgbClr val="111111"/>
                </a:solidFill>
                <a:latin typeface="Nunito Semi-Bold"/>
                <a:ea typeface="Nunito Semi-Bold"/>
                <a:cs typeface="Nunito Semi-Bold"/>
                <a:sym typeface="Nunito Semi-Bold"/>
              </a:rPr>
              <a:t> as the floor.</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[6] Lundberg, S. M. et al. From Local Explanations to Global Understanding with Explainable AI for Trees (TreeSHAP). Nature Machine Intelligence 2, 56–67 (2020).   [7] Ribeiro, M. T., Singh, S. &amp; Guestrin, C. "Why Should I Trust You?": Explaining the Predictions of Any Classifier (LIME). KDD, 1135–1144 (2016).   [17] Rousseeuw, P. J. Silhouettes: A Graphical Aid to the Interpretation and Validation of Cluster Analysis. J. Comput. Appl. Math. 20, 53–65 (1987).</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32</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Evaluation Protocol</a:t>
            </a:r>
          </a:p>
        </p:txBody>
      </p:sp>
      <p:pic>
        <p:nvPicPr>
          <p:cNvPr id="23" name="Picture 22" descr="image.png"/>
          <p:cNvPicPr>
            <a:picLocks noChangeAspect="1"/>
          </p:cNvPicPr>
          <p:nvPr/>
        </p:nvPicPr>
        <p:blipFill>
          <a:blip r:embed="rId3"/>
          <a:stretch>
            <a:fillRect/>
          </a:stretch>
        </p:blipFill>
        <p:spPr>
          <a:xfrm>
            <a:off x="6376338" y="1673352"/>
            <a:ext cx="457200" cy="415247"/>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graphicFrame>
        <p:nvGraphicFramePr>
          <p:cNvPr id="28" name="Table 27"/>
          <p:cNvGraphicFramePr>
            <a:graphicFrameLocks noGrp="1"/>
          </p:cNvGraphicFramePr>
          <p:nvPr/>
        </p:nvGraphicFramePr>
        <p:xfrm>
          <a:off x="1028700" y="3363722"/>
          <a:ext cx="9966960" cy="4617212"/>
        </p:xfrm>
        <a:graphic>
          <a:graphicData uri="http://schemas.openxmlformats.org/drawingml/2006/table">
            <a:tbl>
              <a:tblPr firstRow="0" bandRow="0" firstCol="0" lastRow="0" lastCol="0" bandCol="0">
                <a:tableStyleId>{2D5ABB26-0587-4C30-8999-92F81FD0307C}</a:tableStyleId>
              </a:tblPr>
              <a:tblGrid>
                <a:gridCol w="2377440"/>
                <a:gridCol w="7589520"/>
              </a:tblGrid>
              <a:tr h="54864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Step</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Setting used in this contribution</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Dataset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Wine Quality, 4,898 samples × 11 standardised chemical features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Clustering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K-Means++ on the PCA-stabilised data; k scanned over 2 … 10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Choice of k</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Elbow + Silhouette + Davies–Bouldin, then an interpretability check</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7673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Surrogate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LightGBM multiclass, five-fold cross-validation, macro-F1 as fidelity score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Attribution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Exact TreeSHAP on the surrogate, in the original 11-feature space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Outputs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Global mean |SHAP| ranking, per-cluster profiles, local force plots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Comparison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LIME-based surrogate explanation on the same partition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29" name="Rounded Rectangle 28"/>
          <p:cNvSpPr/>
          <p:nvPr/>
        </p:nvSpPr>
        <p:spPr>
          <a:xfrm>
            <a:off x="11452860" y="3592322"/>
            <a:ext cx="5806440" cy="5670550"/>
          </a:xfrm>
          <a:prstGeom prst="roundRect">
            <a:avLst>
              <a:gd name="adj" fmla="val 5482"/>
            </a:avLst>
          </a:prstGeom>
          <a:solidFill>
            <a:srgbClr val="124944"/>
          </a:solidFill>
          <a:ln>
            <a:noFill/>
          </a:ln>
        </p:spPr>
        <p:txBody>
          <a:bodyPr anchor="ctr" rtlCol="false" lIns="0" tIns="0" rIns="0" bIns="0" wrap="square"/>
          <a:lstStyle/>
          <a:p>
            <a:endParaRPr lang="en-US" sz="1800"/>
          </a:p>
        </p:txBody>
      </p:sp>
      <p:sp>
        <p:nvSpPr>
          <p:cNvPr id="30" name="Rounded Rectangle 29"/>
          <p:cNvSpPr/>
          <p:nvPr/>
        </p:nvSpPr>
        <p:spPr>
          <a:xfrm>
            <a:off x="11910060" y="3354578"/>
            <a:ext cx="3849870"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What counts as success</a:t>
            </a:r>
          </a:p>
        </p:txBody>
      </p:sp>
      <p:sp>
        <p:nvSpPr>
          <p:cNvPr id="31" name="TextBox 30"/>
          <p:cNvSpPr txBox="1"/>
          <p:nvPr/>
        </p:nvSpPr>
        <p:spPr>
          <a:xfrm>
            <a:off x="11910060" y="4232402"/>
            <a:ext cx="4937760" cy="4756150"/>
          </a:xfrm>
          <a:prstGeom prst="rect">
            <a:avLst/>
          </a:prstGeom>
          <a:noFill/>
        </p:spPr>
        <p:txBody>
          <a:bodyPr anchor="t" rtlCol="false" lIns="0" tIns="0" rIns="0" bIns="0" wrap="square"/>
          <a:lstStyle/>
          <a:p>
            <a:pPr algn="l" marL="274320" indent="-274320">
              <a:lnSpc>
                <a:spcPts val="2660"/>
              </a:lnSpc>
              <a:spcBef>
                <a:spcPts val="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Fidelity floor met:</a:t>
            </a:r>
            <a:r>
              <a:rPr lang="en-US" sz="1900" b="true">
                <a:solidFill>
                  <a:srgbClr val="FFFFFF"/>
                </a:solidFill>
                <a:latin typeface="Nunito Semi-Bold"/>
                <a:ea typeface="Nunito Semi-Bold"/>
                <a:cs typeface="Nunito Semi-Bold"/>
                <a:sym typeface="Nunito Semi-Bold"/>
              </a:rPr>
              <a:t> macro-F1 ≈ 0.82 or higher, otherwise the explanation is not trusted.</a:t>
            </a:r>
          </a:p>
          <a:p>
            <a:pPr algn="l" marL="274320" indent="-274320">
              <a:lnSpc>
                <a:spcPts val="2660"/>
              </a:lnSpc>
              <a:spcBef>
                <a:spcPts val="10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Global ranking is chemically meaningful:</a:t>
            </a:r>
            <a:r>
              <a:rPr lang="en-US" sz="1900" b="true">
                <a:solidFill>
                  <a:srgbClr val="FFFFFF"/>
                </a:solidFill>
                <a:latin typeface="Nunito Semi-Bold"/>
                <a:ea typeface="Nunito Semi-Bold"/>
                <a:cs typeface="Nunito Semi-Bold"/>
                <a:sym typeface="Nunito Semi-Bold"/>
              </a:rPr>
              <a:t> the top features are ones an expert would name.</a:t>
            </a:r>
          </a:p>
          <a:p>
            <a:pPr algn="l" marL="274320" indent="-274320">
              <a:lnSpc>
                <a:spcPts val="2660"/>
              </a:lnSpc>
              <a:spcBef>
                <a:spcPts val="10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Clusters have distinct signatures:</a:t>
            </a:r>
            <a:r>
              <a:rPr lang="en-US" sz="1900" b="true">
                <a:solidFill>
                  <a:srgbClr val="FFFFFF"/>
                </a:solidFill>
                <a:latin typeface="Nunito Semi-Bold"/>
                <a:ea typeface="Nunito Semi-Bold"/>
                <a:cs typeface="Nunito Semi-Bold"/>
                <a:sym typeface="Nunito Semi-Bold"/>
              </a:rPr>
              <a:t> the same features, different weights per cluster.</a:t>
            </a:r>
          </a:p>
          <a:p>
            <a:pPr algn="l" marL="274320" indent="-274320">
              <a:lnSpc>
                <a:spcPts val="2660"/>
              </a:lnSpc>
              <a:spcBef>
                <a:spcPts val="10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Shapley beats LIME</a:t>
            </a:r>
            <a:r>
              <a:rPr lang="en-US" sz="1900" b="true">
                <a:solidFill>
                  <a:srgbClr val="FFFFFF"/>
                </a:solidFill>
                <a:latin typeface="Nunito Semi-Bold"/>
                <a:ea typeface="Nunito Semi-Bold"/>
                <a:cs typeface="Nunito Semi-Bold"/>
                <a:sym typeface="Nunito Semi-Bold"/>
              </a:rPr>
              <a:t> on stability and cross-cluster comparison.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33</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Choosing k: Interpretability over Geometry</a:t>
            </a:r>
          </a:p>
        </p:txBody>
      </p:sp>
      <p:pic>
        <p:nvPicPr>
          <p:cNvPr id="23" name="Picture 22" descr="image.png"/>
          <p:cNvPicPr>
            <a:picLocks noChangeAspect="1"/>
          </p:cNvPicPr>
          <p:nvPr/>
        </p:nvPicPr>
        <p:blipFill>
          <a:blip r:embed="rId3"/>
          <a:stretch>
            <a:fillRect/>
          </a:stretch>
        </p:blipFill>
        <p:spPr>
          <a:xfrm>
            <a:off x="12331918" y="1673352"/>
            <a:ext cx="457200" cy="452148"/>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7863840" cy="594487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Multi-criteria evaluation across </a:t>
            </a:r>
            <a:r>
              <a:rPr lang="en-US" sz="2100" b="true">
                <a:solidFill>
                  <a:srgbClr val="111111"/>
                </a:solidFill>
                <a:latin typeface="Nunito Bold"/>
                <a:ea typeface="Nunito Bold"/>
                <a:cs typeface="Nunito Bold"/>
                <a:sym typeface="Nunito Bold"/>
              </a:rPr>
              <a:t>k </a:t>
            </a:r>
            <a:r>
              <a:rPr lang="en-US" sz="2100" b="true">
                <a:solidFill>
                  <a:srgbClr val="111111"/>
                </a:solidFill>
                <a:latin typeface="Cambria Math"/>
                <a:ea typeface="Cambria Math"/>
                <a:cs typeface="Cambria Math"/>
                <a:sym typeface="Cambria Math"/>
              </a:rPr>
              <a:t>∈ </a:t>
            </a:r>
            <a:r>
              <a:rPr lang="en-US" sz="2100" b="true">
                <a:solidFill>
                  <a:srgbClr val="111111"/>
                </a:solidFill>
                <a:latin typeface="Nunito Bold"/>
                <a:ea typeface="Nunito Bold"/>
                <a:cs typeface="Nunito Bold"/>
                <a:sym typeface="Nunito Bold"/>
              </a:rPr>
              <a:t>{2 … 10}</a:t>
            </a:r>
            <a:r>
              <a:rPr lang="en-US" sz="2100" b="true">
                <a:solidFill>
                  <a:srgbClr val="111111"/>
                </a:solidFill>
                <a:latin typeface="Nunito Semi-Bold"/>
                <a:ea typeface="Nunito Semi-Bold"/>
                <a:cs typeface="Nunito Semi-Bold"/>
                <a:sym typeface="Nunito Semi-Bold"/>
              </a:rPr>
              <a:t> using elbow, Silhouette and Davies–Bouldin.</a:t>
            </a:r>
          </a:p>
          <a:p>
            <a:pPr algn="l" marL="274320" indent="-274320">
              <a:lnSpc>
                <a:spcPts val="3108"/>
              </a:lnSpc>
              <a:spcBef>
                <a:spcPts val="10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We select </a:t>
            </a:r>
            <a:r>
              <a:rPr lang="en-US" sz="2100" b="true">
                <a:solidFill>
                  <a:srgbClr val="111111"/>
                </a:solidFill>
                <a:latin typeface="Nunito Bold"/>
                <a:ea typeface="Nunito Bold"/>
                <a:cs typeface="Nunito Bold"/>
                <a:sym typeface="Nunito Bold"/>
              </a:rPr>
              <a:t>k</a:t>
            </a:r>
            <a:r>
              <a:rPr lang="en-US" sz="2100" b="true" baseline="30000">
                <a:solidFill>
                  <a:srgbClr val="111111"/>
                </a:solidFill>
                <a:latin typeface="Nunito Bold"/>
                <a:ea typeface="Nunito Bold"/>
                <a:cs typeface="Nunito Bold"/>
                <a:sym typeface="Nunito Bold"/>
              </a:rPr>
              <a:t>*</a:t>
            </a:r>
            <a:r>
              <a:rPr lang="en-US" sz="2100" b="true">
                <a:solidFill>
                  <a:srgbClr val="111111"/>
                </a:solidFill>
                <a:latin typeface="Nunito Bold"/>
                <a:ea typeface="Nunito Bold"/>
                <a:cs typeface="Nunito Bold"/>
                <a:sym typeface="Nunito Bold"/>
              </a:rPr>
              <a:t> = 3, even though it is NOT the best geometry</a:t>
            </a:r>
            <a:r>
              <a:rPr lang="en-US" sz="2100" b="true">
                <a:solidFill>
                  <a:srgbClr val="111111"/>
                </a:solidFill>
                <a:latin typeface="Nunito Semi-Bold"/>
                <a:ea typeface="Nunito Semi-Bold"/>
                <a:cs typeface="Nunito Semi-Bold"/>
                <a:sym typeface="Nunito Semi-Bold"/>
              </a:rPr>
              <a:t>.</a:t>
            </a:r>
          </a:p>
          <a:p>
            <a:pPr algn="l" marL="658368" indent="-256032">
              <a:lnSpc>
                <a:spcPts val="2660"/>
              </a:lnSpc>
              <a:spcBef>
                <a:spcPts val="300"/>
              </a:spcBef>
              <a:buClr>
                <a:srgbClr val="124944"/>
              </a:buClr>
              <a:buSzPct val="100000"/>
              <a:buFont typeface="Arial"/>
              <a:buChar char="–"/>
            </a:pPr>
            <a:r>
              <a:rPr lang="en-US" sz="1900" b="true">
                <a:solidFill>
                  <a:srgbClr val="111111"/>
                </a:solidFill>
                <a:latin typeface="Nunito Semi-Bold"/>
                <a:ea typeface="Nunito Semi-Bold"/>
                <a:cs typeface="Nunito Semi-Bold"/>
                <a:sym typeface="Nunito Semi-Bold"/>
              </a:rPr>
              <a:t>k = 2: Silhouette 0.214, Davies–Bouldin 1.775 (better separation).</a:t>
            </a:r>
          </a:p>
          <a:p>
            <a:pPr algn="l" marL="658368" indent="-256032">
              <a:lnSpc>
                <a:spcPts val="2660"/>
              </a:lnSpc>
              <a:spcBef>
                <a:spcPts val="300"/>
              </a:spcBef>
              <a:buClr>
                <a:srgbClr val="124944"/>
              </a:buClr>
              <a:buSzPct val="100000"/>
              <a:buFont typeface="Arial"/>
              <a:buChar char="–"/>
            </a:pPr>
            <a:r>
              <a:rPr lang="en-US" sz="1900" b="true">
                <a:solidFill>
                  <a:srgbClr val="111111"/>
                </a:solidFill>
                <a:latin typeface="Nunito Semi-Bold"/>
                <a:ea typeface="Nunito Semi-Bold"/>
                <a:cs typeface="Nunito Semi-Bold"/>
                <a:sym typeface="Nunito Semi-Bold"/>
              </a:rPr>
              <a:t>k = 3: Silhouette 0.144, Davies–Bouldin 2.097 (weaker separation).</a:t>
            </a:r>
          </a:p>
          <a:p>
            <a:pPr algn="l" marL="274320" indent="-274320">
              <a:lnSpc>
                <a:spcPts val="2940"/>
              </a:lnSpc>
              <a:spcBef>
                <a:spcPts val="100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Why:</a:t>
            </a:r>
            <a:r>
              <a:rPr lang="en-US" sz="2100" b="true">
                <a:solidFill>
                  <a:srgbClr val="111111"/>
                </a:solidFill>
                <a:latin typeface="Nunito Semi-Bold"/>
                <a:ea typeface="Nunito Semi-Bold"/>
                <a:cs typeface="Nunito Semi-Bold"/>
                <a:sym typeface="Nunito Semi-Bold"/>
              </a:rPr>
              <a:t> three clusters give a richer, more meaningful wine partition </a:t>
            </a:r>
            <a:r>
              <a:rPr lang="en-US" sz="2100" b="true">
                <a:solidFill>
                  <a:srgbClr val="111111"/>
                </a:solidFill>
                <a:latin typeface="Calibri"/>
                <a:ea typeface="Calibri"/>
                <a:cs typeface="Calibri"/>
                <a:sym typeface="Calibri"/>
              </a:rPr>
              <a:t>→ </a:t>
            </a:r>
            <a:r>
              <a:rPr lang="en-US" sz="2100" b="true">
                <a:solidFill>
                  <a:srgbClr val="111111"/>
                </a:solidFill>
                <a:latin typeface="Nunito Bold"/>
                <a:ea typeface="Nunito Bold"/>
                <a:cs typeface="Nunito Bold"/>
                <a:sym typeface="Nunito Bold"/>
              </a:rPr>
              <a:t>more actionable</a:t>
            </a:r>
            <a:r>
              <a:rPr lang="en-US" sz="2100" b="true">
                <a:solidFill>
                  <a:srgbClr val="111111"/>
                </a:solidFill>
                <a:latin typeface="Nunito Semi-Bold"/>
                <a:ea typeface="Nunito Semi-Bold"/>
                <a:cs typeface="Nunito Semi-Bold"/>
                <a:sym typeface="Nunito Semi-Bold"/>
              </a:rPr>
              <a:t>.</a:t>
            </a:r>
          </a:p>
          <a:p>
            <a:pPr algn="l" marL="274320" indent="-274320">
              <a:lnSpc>
                <a:spcPts val="2940"/>
              </a:lnSpc>
              <a:spcBef>
                <a:spcPts val="10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Note: the higher Silhouette ≈ 0.63 belongs to Beijing (C2), not to this wine partition.</a:t>
            </a:r>
          </a:p>
        </p:txBody>
      </p:sp>
      <p:graphicFrame>
        <p:nvGraphicFramePr>
          <p:cNvPr id="29" name="Table 28"/>
          <p:cNvGraphicFramePr>
            <a:graphicFrameLocks noGrp="1"/>
          </p:cNvGraphicFramePr>
          <p:nvPr/>
        </p:nvGraphicFramePr>
        <p:xfrm>
          <a:off x="9441180" y="3363722"/>
          <a:ext cx="7818120" cy="2284984"/>
        </p:xfrm>
        <a:graphic>
          <a:graphicData uri="http://schemas.openxmlformats.org/drawingml/2006/table">
            <a:tbl>
              <a:tblPr firstRow="0" bandRow="0" firstCol="0" lastRow="0" lastCol="0" bandCol="0">
                <a:tableStyleId>{2D5ABB26-0587-4C30-8999-92F81FD0307C}</a:tableStyleId>
              </a:tblPr>
              <a:tblGrid>
                <a:gridCol w="977265"/>
                <a:gridCol w="1563624"/>
                <a:gridCol w="1954530"/>
                <a:gridCol w="3322701"/>
              </a:tblGrid>
              <a:tr h="776732">
                <a:tc>
                  <a:txBody>
                    <a:bodyPr anchor="ctr" rtlCol="false" lIns="0" tIns="0" rIns="0" bIns="0" wrap="square"/>
                    <a:lstStyle/>
                    <a:p>
                      <a:pPr algn="ctr">
                        <a:lnSpc>
                          <a:spcPts val="2210"/>
                        </a:lnSpc>
                        <a:spcBef>
                          <a:spcPts val="0"/>
                        </a:spcBef>
                        <a:buNone/>
                      </a:pPr>
                      <a:r>
                        <a:rPr lang="en-US" sz="1700" b="true">
                          <a:solidFill>
                            <a:srgbClr val="FFFFFF"/>
                          </a:solidFill>
                          <a:latin typeface="Nunito Bold"/>
                          <a:ea typeface="Nunito Bold"/>
                          <a:cs typeface="Nunito Bold"/>
                          <a:sym typeface="Nunito Bold"/>
                        </a:rPr>
                        <a:t>k</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210"/>
                        </a:lnSpc>
                        <a:spcBef>
                          <a:spcPts val="0"/>
                        </a:spcBef>
                        <a:buNone/>
                      </a:pPr>
                      <a:r>
                        <a:rPr lang="en-US" sz="1700" b="true">
                          <a:solidFill>
                            <a:srgbClr val="FFFFFF"/>
                          </a:solidFill>
                          <a:latin typeface="Nunito Bold"/>
                          <a:ea typeface="Nunito Bold"/>
                          <a:cs typeface="Nunito Bold"/>
                          <a:sym typeface="Nunito Bold"/>
                        </a:rPr>
                        <a:t>Silhouette </a:t>
                      </a:r>
                      <a:r>
                        <a:rPr lang="en-US" sz="1700" b="true">
                          <a:solidFill>
                            <a:srgbClr val="FFFFFF"/>
                          </a:solidFill>
                          <a:latin typeface="Calibri"/>
                          <a:ea typeface="Calibri"/>
                          <a:cs typeface="Calibri"/>
                          <a:sym typeface="Calibri"/>
                        </a:rPr>
                        <a:t>↑</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210"/>
                        </a:lnSpc>
                        <a:spcBef>
                          <a:spcPts val="0"/>
                        </a:spcBef>
                        <a:buNone/>
                      </a:pPr>
                      <a:r>
                        <a:rPr lang="en-US" sz="1700" b="true">
                          <a:solidFill>
                            <a:srgbClr val="FFFFFF"/>
                          </a:solidFill>
                          <a:latin typeface="Nunito Bold"/>
                          <a:ea typeface="Nunito Bold"/>
                          <a:cs typeface="Nunito Bold"/>
                          <a:sym typeface="Nunito Bold"/>
                        </a:rPr>
                        <a:t>Davies–Bouldin </a:t>
                      </a:r>
                      <a:r>
                        <a:rPr lang="en-US" sz="1700" b="true">
                          <a:solidFill>
                            <a:srgbClr val="FFFFFF"/>
                          </a:solidFill>
                          <a:latin typeface="Calibri"/>
                          <a:ea typeface="Calibri"/>
                          <a:cs typeface="Calibri"/>
                          <a:sym typeface="Calibri"/>
                        </a:rPr>
                        <a:t>↓</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Reading</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776732">
                <a:tc>
                  <a:txBody>
                    <a:bodyPr anchor="ctr" rtlCol="false" lIns="0" tIns="0" rIns="0" bIns="0" wrap="square"/>
                    <a:lstStyle/>
                    <a:p>
                      <a:pPr algn="ctr">
                        <a:lnSpc>
                          <a:spcPts val="2210"/>
                        </a:lnSpc>
                        <a:spcBef>
                          <a:spcPts val="0"/>
                        </a:spcBef>
                        <a:buNone/>
                      </a:pPr>
                      <a:r>
                        <a:rPr lang="en-US" sz="1700" b="true">
                          <a:solidFill>
                            <a:srgbClr val="111111"/>
                          </a:solidFill>
                          <a:latin typeface="Nunito Bold"/>
                          <a:ea typeface="Nunito Bold"/>
                          <a:cs typeface="Nunito Bold"/>
                          <a:sym typeface="Nunito Bold"/>
                        </a:rPr>
                        <a:t>2</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0.214</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1.775</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best geometry, coarse meaning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31520">
                <a:tc>
                  <a:txBody>
                    <a:bodyPr anchor="ctr" rtlCol="false" lIns="0" tIns="0" rIns="0" bIns="0" wrap="square"/>
                    <a:lstStyle/>
                    <a:p>
                      <a:pPr algn="ctr">
                        <a:lnSpc>
                          <a:spcPts val="2210"/>
                        </a:lnSpc>
                        <a:spcBef>
                          <a:spcPts val="0"/>
                        </a:spcBef>
                        <a:buNone/>
                      </a:pPr>
                      <a:r>
                        <a:rPr lang="en-US" sz="1700" b="true">
                          <a:solidFill>
                            <a:srgbClr val="111111"/>
                          </a:solidFill>
                          <a:latin typeface="Nunito Bold"/>
                          <a:ea typeface="Nunito Bold"/>
                          <a:cs typeface="Nunito Bold"/>
                          <a:sym typeface="Nunito Bold"/>
                        </a:rPr>
                        <a:t>3 </a:t>
                      </a:r>
                      <a:r>
                        <a:rPr lang="en-US" sz="1700" b="true">
                          <a:solidFill>
                            <a:srgbClr val="111111"/>
                          </a:solidFill>
                          <a:latin typeface="Cambria Math"/>
                          <a:ea typeface="Cambria Math"/>
                          <a:cs typeface="Cambria Math"/>
                          <a:sym typeface="Cambria Math"/>
                        </a:rPr>
                        <a: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0.144</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2.097</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richer wine partition · selected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30" name="Rounded Rectangle 29"/>
          <p:cNvSpPr/>
          <p:nvPr/>
        </p:nvSpPr>
        <p:spPr>
          <a:xfrm>
            <a:off x="9441180" y="6014466"/>
            <a:ext cx="3771900" cy="3294126"/>
          </a:xfrm>
          <a:prstGeom prst="roundRect">
            <a:avLst>
              <a:gd name="adj" fmla="val 8327"/>
            </a:avLst>
          </a:prstGeom>
          <a:solidFill>
            <a:srgbClr val="124944"/>
          </a:solidFill>
          <a:ln>
            <a:noFill/>
          </a:ln>
        </p:spPr>
        <p:txBody>
          <a:bodyPr anchor="ctr" rtlCol="false" lIns="137160" tIns="91440" rIns="137160" bIns="91440" wrap="square"/>
          <a:lstStyle/>
          <a:p>
            <a:pPr algn="ctr">
              <a:lnSpc>
                <a:spcPts val="4400"/>
              </a:lnSpc>
              <a:spcBef>
                <a:spcPts val="0"/>
              </a:spcBef>
              <a:buNone/>
            </a:pPr>
            <a:r>
              <a:rPr lang="en-US" sz="4000" b="true">
                <a:solidFill>
                  <a:srgbClr val="ECC665"/>
                </a:solidFill>
                <a:latin typeface="Nunito Ultra-Bold"/>
                <a:ea typeface="Nunito Ultra-Bold"/>
                <a:cs typeface="Nunito Ultra-Bold"/>
                <a:sym typeface="Nunito Ultra-Bold"/>
              </a:rPr>
              <a:t>k</a:t>
            </a:r>
            <a:r>
              <a:rPr lang="en-US" sz="4000" b="true" baseline="30000">
                <a:solidFill>
                  <a:srgbClr val="ECC665"/>
                </a:solidFill>
                <a:latin typeface="Nunito Ultra-Bold"/>
                <a:ea typeface="Nunito Ultra-Bold"/>
                <a:cs typeface="Nunito Ultra-Bold"/>
                <a:sym typeface="Nunito Ultra-Bold"/>
              </a:rPr>
              <a:t>*</a:t>
            </a:r>
            <a:r>
              <a:rPr lang="en-US" sz="4000" b="true">
                <a:solidFill>
                  <a:srgbClr val="ECC665"/>
                </a:solidFill>
                <a:latin typeface="Nunito Ultra-Bold"/>
                <a:ea typeface="Nunito Ultra-Bold"/>
                <a:cs typeface="Nunito Ultra-Bold"/>
                <a:sym typeface="Nunito Ultra-Bold"/>
              </a:rPr>
              <a:t> = 3</a:t>
            </a:r>
          </a:p>
          <a:p>
            <a:pPr algn="ctr">
              <a:lnSpc>
                <a:spcPts val="2125"/>
              </a:lnSpc>
              <a:spcBef>
                <a:spcPts val="400"/>
              </a:spcBef>
              <a:buNone/>
            </a:pPr>
            <a:r>
              <a:rPr lang="en-US" sz="1700" b="true">
                <a:solidFill>
                  <a:srgbClr val="FFFFFF"/>
                </a:solidFill>
                <a:latin typeface="Nunito Semi-Bold"/>
                <a:ea typeface="Nunito Semi-Bold"/>
                <a:cs typeface="Nunito Semi-Bold"/>
                <a:sym typeface="Nunito Semi-Bold"/>
              </a:rPr>
              <a:t>chosen on </a:t>
            </a:r>
            <a:r>
              <a:rPr lang="en-US" sz="1700" b="true">
                <a:solidFill>
                  <a:srgbClr val="FFFFFF"/>
                </a:solidFill>
                <a:latin typeface="Nunito Bold"/>
                <a:ea typeface="Nunito Bold"/>
                <a:cs typeface="Nunito Bold"/>
                <a:sym typeface="Nunito Bold"/>
              </a:rPr>
              <a:t>interpretability</a:t>
            </a:r>
            <a:r>
              <a:rPr lang="en-US" sz="1700" b="true">
                <a:solidFill>
                  <a:srgbClr val="FFFFFF"/>
                </a:solidFill>
                <a:latin typeface="Nunito Semi-Bold"/>
                <a:ea typeface="Nunito Semi-Bold"/>
                <a:cs typeface="Nunito Semi-Bold"/>
                <a:sym typeface="Nunito Semi-Bold"/>
              </a:rPr>
              <a:t> grounds</a:t>
            </a:r>
          </a:p>
        </p:txBody>
      </p:sp>
      <p:sp>
        <p:nvSpPr>
          <p:cNvPr id="31" name="Rounded Rectangle 30"/>
          <p:cNvSpPr/>
          <p:nvPr/>
        </p:nvSpPr>
        <p:spPr>
          <a:xfrm>
            <a:off x="13487400" y="6014466"/>
            <a:ext cx="3771900" cy="3294126"/>
          </a:xfrm>
          <a:prstGeom prst="roundRect">
            <a:avLst>
              <a:gd name="adj" fmla="val 8327"/>
            </a:avLst>
          </a:prstGeom>
          <a:solidFill>
            <a:srgbClr val="DF8330"/>
          </a:solidFill>
          <a:ln>
            <a:noFill/>
          </a:ln>
        </p:spPr>
        <p:txBody>
          <a:bodyPr anchor="ctr" rtlCol="false" lIns="137160" tIns="91440" rIns="137160" bIns="91440" wrap="square"/>
          <a:lstStyle/>
          <a:p>
            <a:pPr algn="ctr">
              <a:lnSpc>
                <a:spcPts val="4400"/>
              </a:lnSpc>
              <a:spcBef>
                <a:spcPts val="0"/>
              </a:spcBef>
              <a:buNone/>
            </a:pPr>
            <a:r>
              <a:rPr lang="en-US" sz="4000" b="true">
                <a:solidFill>
                  <a:srgbClr val="FFFFFF"/>
                </a:solidFill>
                <a:latin typeface="Nunito Ultra-Bold"/>
                <a:ea typeface="Nunito Ultra-Bold"/>
                <a:cs typeface="Nunito Ultra-Bold"/>
                <a:sym typeface="Nunito Ultra-Bold"/>
              </a:rPr>
              <a:t>0.82</a:t>
            </a:r>
          </a:p>
          <a:p>
            <a:pPr algn="ctr">
              <a:lnSpc>
                <a:spcPts val="2125"/>
              </a:lnSpc>
              <a:spcBef>
                <a:spcPts val="400"/>
              </a:spcBef>
              <a:buNone/>
            </a:pPr>
            <a:r>
              <a:rPr lang="en-US" sz="1700" b="true">
                <a:solidFill>
                  <a:srgbClr val="FFFFFF"/>
                </a:solidFill>
                <a:latin typeface="Nunito Semi-Bold"/>
                <a:ea typeface="Nunito Semi-Bold"/>
                <a:cs typeface="Nunito Semi-Bold"/>
                <a:sym typeface="Nunito Semi-Bold"/>
              </a:rPr>
              <a:t>surrogate </a:t>
            </a:r>
            <a:r>
              <a:rPr lang="en-US" sz="1700" b="true">
                <a:solidFill>
                  <a:srgbClr val="FFFFFF"/>
                </a:solidFill>
                <a:latin typeface="Nunito Bold"/>
                <a:ea typeface="Nunito Bold"/>
                <a:cs typeface="Nunito Bold"/>
                <a:sym typeface="Nunito Bold"/>
              </a:rPr>
              <a:t>macro-F1</a:t>
            </a:r>
            <a:r>
              <a:rPr lang="en-US" sz="1700" b="true">
                <a:solidFill>
                  <a:srgbClr val="FFFFFF"/>
                </a:solidFill>
                <a:latin typeface="Nunito Semi-Bold"/>
                <a:ea typeface="Nunito Semi-Bold"/>
                <a:cs typeface="Nunito Semi-Bold"/>
                <a:sym typeface="Nunito Semi-Bold"/>
              </a:rPr>
              <a:t> · fidelity floor met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 Louhichi, M., Nesmaoui, R., Mbarek, M. &amp; Lazaar, M. Shapley Values for Explaining the Black Box Nature of Machine Learning Model Clustering. Procedia Computer Science 220, 806–811 (2023).</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34</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Global SHAP Ranking: Wine Quality</a:t>
            </a:r>
          </a:p>
        </p:txBody>
      </p:sp>
      <p:pic>
        <p:nvPicPr>
          <p:cNvPr id="23" name="Picture 22" descr="image.png"/>
          <p:cNvPicPr>
            <a:picLocks noChangeAspect="1"/>
          </p:cNvPicPr>
          <p:nvPr/>
        </p:nvPicPr>
        <p:blipFill>
          <a:blip r:embed="rId3"/>
          <a:stretch>
            <a:fillRect/>
          </a:stretch>
        </p:blipFill>
        <p:spPr>
          <a:xfrm>
            <a:off x="10549542" y="1673352"/>
            <a:ext cx="457200" cy="617115"/>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6583680" cy="5853430"/>
          </a:xfrm>
          <a:prstGeom prst="rect">
            <a:avLst/>
          </a:prstGeom>
          <a:noFill/>
        </p:spPr>
        <p:txBody>
          <a:bodyPr anchor="t" rtlCol="false" lIns="0" tIns="0" rIns="0" bIns="0" wrap="square"/>
          <a:lstStyle/>
          <a:p>
            <a:pPr algn="l">
              <a:lnSpc>
                <a:spcPts val="2750"/>
              </a:lnSpc>
              <a:spcBef>
                <a:spcPts val="0"/>
              </a:spcBef>
              <a:buNone/>
            </a:pPr>
            <a:r>
              <a:rPr lang="en-US" sz="2200" b="true">
                <a:solidFill>
                  <a:srgbClr val="124944"/>
                </a:solidFill>
                <a:latin typeface="Nunito Ultra-Bold"/>
                <a:ea typeface="Nunito Ultra-Bold"/>
                <a:cs typeface="Nunito Ultra-Bold"/>
                <a:sym typeface="Nunito Ultra-Bold"/>
              </a:rPr>
              <a:t>Reading the ranking</a:t>
            </a:r>
          </a:p>
          <a:p>
            <a:pPr algn="l" marL="274320" indent="-274320">
              <a:lnSpc>
                <a:spcPts val="2660"/>
              </a:lnSpc>
              <a:spcBef>
                <a:spcPts val="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Mean |SHAP| ranks </a:t>
            </a:r>
            <a:r>
              <a:rPr lang="en-US" sz="1900" b="true">
                <a:solidFill>
                  <a:srgbClr val="111111"/>
                </a:solidFill>
                <a:latin typeface="Nunito Bold"/>
                <a:ea typeface="Nunito Bold"/>
                <a:cs typeface="Nunito Bold"/>
                <a:sym typeface="Nunito Bold"/>
              </a:rPr>
              <a:t>density</a:t>
            </a:r>
            <a:r>
              <a:rPr lang="en-US" sz="1900" b="true">
                <a:solidFill>
                  <a:srgbClr val="111111"/>
                </a:solidFill>
                <a:latin typeface="Nunito Semi-Bold"/>
                <a:ea typeface="Nunito Semi-Bold"/>
                <a:cs typeface="Nunito Semi-Bold"/>
                <a:sym typeface="Nunito Semi-Bold"/>
              </a:rPr>
              <a:t> first, then </a:t>
            </a:r>
            <a:r>
              <a:rPr lang="en-US" sz="1900" b="true">
                <a:solidFill>
                  <a:srgbClr val="111111"/>
                </a:solidFill>
                <a:latin typeface="Nunito Bold"/>
                <a:ea typeface="Nunito Bold"/>
                <a:cs typeface="Nunito Bold"/>
                <a:sym typeface="Nunito Bold"/>
              </a:rPr>
              <a:t>pH</a:t>
            </a:r>
            <a:r>
              <a:rPr lang="en-US" sz="1900" b="true">
                <a:solidFill>
                  <a:srgbClr val="111111"/>
                </a:solidFill>
                <a:latin typeface="Nunito Semi-Bold"/>
                <a:ea typeface="Nunito Semi-Bold"/>
                <a:cs typeface="Nunito Semi-Bold"/>
                <a:sym typeface="Nunito Semi-Bold"/>
              </a:rPr>
              <a:t>, </a:t>
            </a:r>
            <a:r>
              <a:rPr lang="en-US" sz="1900" b="true">
                <a:solidFill>
                  <a:srgbClr val="111111"/>
                </a:solidFill>
                <a:latin typeface="Nunito Bold"/>
                <a:ea typeface="Nunito Bold"/>
                <a:cs typeface="Nunito Bold"/>
                <a:sym typeface="Nunito Bold"/>
              </a:rPr>
              <a:t>fixed acidity</a:t>
            </a:r>
            <a:r>
              <a:rPr lang="en-US" sz="1900" b="true">
                <a:solidFill>
                  <a:srgbClr val="111111"/>
                </a:solidFill>
                <a:latin typeface="Nunito Semi-Bold"/>
                <a:ea typeface="Nunito Semi-Bold"/>
                <a:cs typeface="Nunito Semi-Bold"/>
                <a:sym typeface="Nunito Semi-Bold"/>
              </a:rPr>
              <a:t>, </a:t>
            </a:r>
            <a:r>
              <a:rPr lang="en-US" sz="1900" b="true">
                <a:solidFill>
                  <a:srgbClr val="111111"/>
                </a:solidFill>
                <a:latin typeface="Nunito Bold"/>
                <a:ea typeface="Nunito Bold"/>
                <a:cs typeface="Nunito Bold"/>
                <a:sym typeface="Nunito Bold"/>
              </a:rPr>
              <a:t>sulfur dioxide</a:t>
            </a:r>
            <a:r>
              <a:rPr lang="en-US" sz="1900" b="true">
                <a:solidFill>
                  <a:srgbClr val="111111"/>
                </a:solidFill>
                <a:latin typeface="Nunito Semi-Bold"/>
                <a:ea typeface="Nunito Semi-Bold"/>
                <a:cs typeface="Nunito Semi-Bold"/>
                <a:sym typeface="Nunito Semi-Bold"/>
              </a:rPr>
              <a:t> and </a:t>
            </a:r>
            <a:r>
              <a:rPr lang="en-US" sz="1900" b="true">
                <a:solidFill>
                  <a:srgbClr val="111111"/>
                </a:solidFill>
                <a:latin typeface="Nunito Bold"/>
                <a:ea typeface="Nunito Bold"/>
                <a:cs typeface="Nunito Bold"/>
                <a:sym typeface="Nunito Bold"/>
              </a:rPr>
              <a:t>alcohol</a:t>
            </a:r>
            <a:r>
              <a:rPr lang="en-US" sz="1900" b="true">
                <a:solidFill>
                  <a:srgbClr val="111111"/>
                </a:solidFill>
                <a:latin typeface="Nunito Semi-Bold"/>
                <a:ea typeface="Nunito Semi-Bold"/>
                <a:cs typeface="Nunito Semi-Bold"/>
                <a:sym typeface="Nunito Semi-Bold"/>
              </a:rPr>
              <a:t>.</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The main drivers relate to </a:t>
            </a:r>
            <a:r>
              <a:rPr lang="en-US" sz="1900" b="true">
                <a:solidFill>
                  <a:srgbClr val="111111"/>
                </a:solidFill>
                <a:latin typeface="Nunito Bold"/>
                <a:ea typeface="Nunito Bold"/>
                <a:cs typeface="Nunito Bold"/>
                <a:sym typeface="Nunito Bold"/>
              </a:rPr>
              <a:t>structure, preservation and sensory balance</a:t>
            </a:r>
            <a:r>
              <a:rPr lang="en-US" sz="1900" b="true">
                <a:solidFill>
                  <a:srgbClr val="111111"/>
                </a:solidFill>
                <a:latin typeface="Nunito Semi-Bold"/>
                <a:ea typeface="Nunito Semi-Bold"/>
                <a:cs typeface="Nunito Semi-Bold"/>
                <a:sym typeface="Nunito Semi-Bold"/>
              </a:rPr>
              <a:t>.</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This is </a:t>
            </a:r>
            <a:r>
              <a:rPr lang="en-US" sz="1900" b="true">
                <a:solidFill>
                  <a:srgbClr val="111111"/>
                </a:solidFill>
                <a:latin typeface="Nunito Bold"/>
                <a:ea typeface="Nunito Bold"/>
                <a:cs typeface="Nunito Bold"/>
                <a:sym typeface="Nunito Bold"/>
              </a:rPr>
              <a:t>NOT a random side effect of the classifier</a:t>
            </a:r>
            <a:r>
              <a:rPr lang="en-US" sz="1900" b="true">
                <a:solidFill>
                  <a:srgbClr val="111111"/>
                </a:solidFill>
                <a:latin typeface="Nunito Semi-Bold"/>
                <a:ea typeface="Nunito Semi-Bold"/>
                <a:cs typeface="Nunito Semi-Bold"/>
                <a:sym typeface="Nunito Semi-Bold"/>
              </a:rPr>
              <a:t>: the surrogate reproduces the partition from the original variables, so the ranking reflects the partition itself.</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Density and pH separate wine styles; sulfur dioxide reflects preservation; alcohol shapes body.</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Each driver is a </a:t>
            </a:r>
            <a:r>
              <a:rPr lang="en-US" sz="1900" b="true">
                <a:solidFill>
                  <a:srgbClr val="111111"/>
                </a:solidFill>
                <a:latin typeface="Nunito Bold"/>
                <a:ea typeface="Nunito Bold"/>
                <a:cs typeface="Nunito Bold"/>
                <a:sym typeface="Nunito Bold"/>
              </a:rPr>
              <a:t>domain-level factor that can be changed</a:t>
            </a:r>
            <a:r>
              <a:rPr lang="en-US" sz="1900" b="true">
                <a:solidFill>
                  <a:srgbClr val="111111"/>
                </a:solidFill>
                <a:latin typeface="Nunito Semi-Bold"/>
                <a:ea typeface="Nunito Semi-Bold"/>
                <a:cs typeface="Nunito Semi-Bold"/>
                <a:sym typeface="Nunito Semi-Bold"/>
              </a:rPr>
              <a:t>: exactly Definition 1.1 of an actionable insight.</a:t>
            </a:r>
          </a:p>
        </p:txBody>
      </p:sp>
      <p:sp>
        <p:nvSpPr>
          <p:cNvPr id="29" name="Rounded Rectangle 28"/>
          <p:cNvSpPr/>
          <p:nvPr/>
        </p:nvSpPr>
        <p:spPr>
          <a:xfrm>
            <a:off x="8069580" y="3363722"/>
            <a:ext cx="9189720" cy="4097400"/>
          </a:xfrm>
          <a:prstGeom prst="roundRect">
            <a:avLst>
              <a:gd name="adj" fmla="val 5579"/>
            </a:avLst>
          </a:prstGeom>
          <a:solidFill>
            <a:srgbClr val="FFFFFF"/>
          </a:solidFill>
          <a:ln w="15875">
            <a:solidFill>
              <a:srgbClr val="E3D6C4"/>
            </a:solidFill>
          </a:ln>
        </p:spPr>
        <p:txBody>
          <a:bodyPr anchor="ctr" rtlCol="false" lIns="0" tIns="0" rIns="0" bIns="0" wrap="square"/>
          <a:lstStyle/>
          <a:p>
            <a:endParaRPr lang="en-US" sz="1800"/>
          </a:p>
        </p:txBody>
      </p:sp>
      <p:pic>
        <p:nvPicPr>
          <p:cNvPr id="30" name="Picture 29" descr="fig5_1_wine_global.png"/>
          <p:cNvPicPr>
            <a:picLocks noChangeAspect="1"/>
          </p:cNvPicPr>
          <p:nvPr/>
        </p:nvPicPr>
        <p:blipFill>
          <a:blip r:embed="rId5"/>
          <a:stretch>
            <a:fillRect/>
          </a:stretch>
        </p:blipFill>
        <p:spPr>
          <a:xfrm>
            <a:off x="9961097" y="3546602"/>
            <a:ext cx="5406684" cy="3320160"/>
          </a:xfrm>
          <a:prstGeom prst="rect">
            <a:avLst/>
          </a:prstGeom>
        </p:spPr>
      </p:pic>
      <p:sp>
        <p:nvSpPr>
          <p:cNvPr id="31" name="TextBox 30"/>
          <p:cNvSpPr txBox="1"/>
          <p:nvPr/>
        </p:nvSpPr>
        <p:spPr>
          <a:xfrm>
            <a:off x="8069580" y="7003923"/>
            <a:ext cx="9189720" cy="411480"/>
          </a:xfrm>
          <a:prstGeom prst="rect">
            <a:avLst/>
          </a:prstGeom>
          <a:noFill/>
        </p:spPr>
        <p:txBody>
          <a:bodyPr anchor="ctr" rtlCol="false" lIns="0" tIns="0" rIns="0" bIns="0" wrap="square"/>
          <a:lstStyle/>
          <a:p>
            <a:pPr algn="ctr">
              <a:lnSpc>
                <a:spcPts val="1700"/>
              </a:lnSpc>
              <a:spcBef>
                <a:spcPts val="0"/>
              </a:spcBef>
              <a:buNone/>
            </a:pPr>
            <a:r>
              <a:rPr lang="en-US" sz="1400" b="true">
                <a:solidFill>
                  <a:srgbClr val="8A8378"/>
                </a:solidFill>
                <a:latin typeface="Nunito Semi-Bold"/>
                <a:ea typeface="Nunito Semi-Bold"/>
                <a:cs typeface="Nunito Semi-Bold"/>
                <a:sym typeface="Nunito Semi-Bold"/>
              </a:rPr>
              <a:t>Fig. 5.1 (thesis): global SHAP feature importance for the wine clustering surrogate</a:t>
            </a:r>
          </a:p>
        </p:txBody>
      </p:sp>
      <p:sp>
        <p:nvSpPr>
          <p:cNvPr id="32" name="Rounded Rectangle 31"/>
          <p:cNvSpPr/>
          <p:nvPr/>
        </p:nvSpPr>
        <p:spPr>
          <a:xfrm>
            <a:off x="8069580" y="7625715"/>
            <a:ext cx="9189720" cy="1591437"/>
          </a:xfrm>
          <a:prstGeom prst="roundRect">
            <a:avLst>
              <a:gd name="adj" fmla="val 14364"/>
            </a:avLst>
          </a:prstGeom>
          <a:solidFill>
            <a:srgbClr val="FFFFFF"/>
          </a:solidFill>
          <a:ln w="15875">
            <a:solidFill>
              <a:srgbClr val="E3D6C4"/>
            </a:solidFill>
          </a:ln>
        </p:spPr>
        <p:txBody>
          <a:bodyPr anchor="ctr" rtlCol="false" lIns="0" tIns="0" rIns="0" bIns="0" wrap="square"/>
          <a:lstStyle/>
          <a:p>
            <a:endParaRPr lang="en-US" sz="1800"/>
          </a:p>
        </p:txBody>
      </p:sp>
      <p:pic>
        <p:nvPicPr>
          <p:cNvPr id="33" name="Picture 32" descr="fig5_2_wine_clusters.png"/>
          <p:cNvPicPr>
            <a:picLocks noChangeAspect="1"/>
          </p:cNvPicPr>
          <p:nvPr/>
        </p:nvPicPr>
        <p:blipFill>
          <a:blip r:embed="rId6"/>
          <a:stretch>
            <a:fillRect/>
          </a:stretch>
        </p:blipFill>
        <p:spPr>
          <a:xfrm>
            <a:off x="9385446" y="7808595"/>
            <a:ext cx="6557986" cy="814197"/>
          </a:xfrm>
          <a:prstGeom prst="rect">
            <a:avLst/>
          </a:prstGeom>
        </p:spPr>
      </p:pic>
      <p:sp>
        <p:nvSpPr>
          <p:cNvPr id="34" name="TextBox 33"/>
          <p:cNvSpPr txBox="1"/>
          <p:nvPr/>
        </p:nvSpPr>
        <p:spPr>
          <a:xfrm>
            <a:off x="8069580" y="8759952"/>
            <a:ext cx="9189720" cy="411480"/>
          </a:xfrm>
          <a:prstGeom prst="rect">
            <a:avLst/>
          </a:prstGeom>
          <a:noFill/>
        </p:spPr>
        <p:txBody>
          <a:bodyPr anchor="ctr" rtlCol="false" lIns="0" tIns="0" rIns="0" bIns="0" wrap="square"/>
          <a:lstStyle/>
          <a:p>
            <a:pPr algn="ctr">
              <a:lnSpc>
                <a:spcPts val="1700"/>
              </a:lnSpc>
              <a:spcBef>
                <a:spcPts val="0"/>
              </a:spcBef>
              <a:buNone/>
            </a:pPr>
            <a:r>
              <a:rPr lang="en-US" sz="1400" b="true">
                <a:solidFill>
                  <a:srgbClr val="8A8378"/>
                </a:solidFill>
                <a:latin typeface="Nunito Semi-Bold"/>
                <a:ea typeface="Nunito Semi-Bold"/>
                <a:cs typeface="Nunito Semi-Bold"/>
                <a:sym typeface="Nunito Semi-Bold"/>
              </a:rPr>
              <a:t>Fig. 5.2 (thesis): per-cluster SHAP signatures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35</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Answer to RQ1</a:t>
            </a:r>
          </a:p>
        </p:txBody>
      </p:sp>
      <p:pic>
        <p:nvPicPr>
          <p:cNvPr id="23" name="Picture 22" descr="image.png"/>
          <p:cNvPicPr>
            <a:picLocks noChangeAspect="1"/>
          </p:cNvPicPr>
          <p:nvPr/>
        </p:nvPicPr>
        <p:blipFill>
          <a:blip r:embed="rId3"/>
          <a:stretch>
            <a:fillRect/>
          </a:stretch>
        </p:blipFill>
        <p:spPr>
          <a:xfrm>
            <a:off x="5060521" y="1673352"/>
            <a:ext cx="457200" cy="250983"/>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546602"/>
            <a:ext cx="16230600" cy="1463040"/>
          </a:xfrm>
          <a:prstGeom prst="roundRect">
            <a:avLst>
              <a:gd name="adj" fmla="val 13750"/>
            </a:avLst>
          </a:prstGeom>
          <a:solidFill>
            <a:srgbClr val="F6ECDF"/>
          </a:solidFill>
          <a:ln w="25400">
            <a:solidFill>
              <a:srgbClr val="124944"/>
            </a:solidFill>
          </a:ln>
        </p:spPr>
        <p:txBody>
          <a:bodyPr anchor="ctr" rtlCol="false" lIns="0" tIns="0" rIns="0" bIns="0" wrap="square"/>
          <a:lstStyle/>
          <a:p>
            <a:endParaRPr lang="en-US" sz="1800"/>
          </a:p>
        </p:txBody>
      </p:sp>
      <p:sp>
        <p:nvSpPr>
          <p:cNvPr id="29" name="Rounded Rectangle 28"/>
          <p:cNvSpPr/>
          <p:nvPr/>
        </p:nvSpPr>
        <p:spPr>
          <a:xfrm>
            <a:off x="1348740" y="3354578"/>
            <a:ext cx="2112238" cy="384048"/>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ANSWER TO RQ1</a:t>
            </a:r>
          </a:p>
        </p:txBody>
      </p:sp>
      <p:sp>
        <p:nvSpPr>
          <p:cNvPr id="30" name="TextBox 29"/>
          <p:cNvSpPr txBox="1"/>
          <p:nvPr/>
        </p:nvSpPr>
        <p:spPr>
          <a:xfrm>
            <a:off x="1394460" y="3820922"/>
            <a:ext cx="15499080" cy="1051560"/>
          </a:xfrm>
          <a:prstGeom prst="rect">
            <a:avLst/>
          </a:prstGeom>
          <a:noFill/>
        </p:spPr>
        <p:txBody>
          <a:bodyPr anchor="ctr" rtlCol="false" lIns="0" tIns="0" rIns="0" bIns="0" wrap="square"/>
          <a:lstStyle/>
          <a:p>
            <a:pPr algn="l">
              <a:lnSpc>
                <a:spcPts val="3080"/>
              </a:lnSpc>
              <a:spcBef>
                <a:spcPts val="0"/>
              </a:spcBef>
              <a:buNone/>
            </a:pPr>
            <a:r>
              <a:rPr lang="en-US" sz="2200" b="true">
                <a:solidFill>
                  <a:srgbClr val="111111"/>
                </a:solidFill>
                <a:latin typeface="Nunito Bold"/>
                <a:ea typeface="Nunito Bold"/>
                <a:cs typeface="Nunito Bold"/>
                <a:sym typeface="Nunito Bold"/>
              </a:rPr>
              <a:t>Yes.</a:t>
            </a:r>
            <a:r>
              <a:rPr lang="en-US" sz="2200" b="true">
                <a:solidFill>
                  <a:srgbClr val="111111"/>
                </a:solidFill>
                <a:latin typeface="Nunito Semi-Bold"/>
                <a:ea typeface="Nunito Semi-Bold"/>
                <a:cs typeface="Nunito Semi-Bold"/>
                <a:sym typeface="Nunito Semi-Bold"/>
              </a:rPr>
              <a:t> Shapley values explain a black-box partition </a:t>
            </a:r>
            <a:r>
              <a:rPr lang="en-US" sz="2200" b="true">
                <a:solidFill>
                  <a:srgbClr val="111111"/>
                </a:solidFill>
                <a:latin typeface="Nunito Bold"/>
                <a:ea typeface="Nunito Bold"/>
                <a:cs typeface="Nunito Bold"/>
                <a:sym typeface="Nunito Bold"/>
              </a:rPr>
              <a:t>faithfully</a:t>
            </a:r>
            <a:r>
              <a:rPr lang="en-US" sz="2200" b="true">
                <a:solidFill>
                  <a:srgbClr val="111111"/>
                </a:solidFill>
                <a:latin typeface="Nunito Semi-Bold"/>
                <a:ea typeface="Nunito Semi-Bold"/>
                <a:cs typeface="Nunito Semi-Bold"/>
                <a:sym typeface="Nunito Semi-Bold"/>
              </a:rPr>
              <a:t> (given a high-fidelity surrogate) and </a:t>
            </a:r>
            <a:r>
              <a:rPr lang="en-US" sz="2200" b="true">
                <a:solidFill>
                  <a:srgbClr val="111111"/>
                </a:solidFill>
                <a:latin typeface="Nunito Bold"/>
                <a:ea typeface="Nunito Bold"/>
                <a:cs typeface="Nunito Bold"/>
                <a:sym typeface="Nunito Bold"/>
              </a:rPr>
              <a:t>consistently</a:t>
            </a:r>
            <a:r>
              <a:rPr lang="en-US" sz="2200" b="true">
                <a:solidFill>
                  <a:srgbClr val="111111"/>
                </a:solidFill>
                <a:latin typeface="Nunito Semi-Bold"/>
                <a:ea typeface="Nunito Semi-Bold"/>
                <a:cs typeface="Nunito Semi-Bold"/>
                <a:sym typeface="Nunito Semi-Bold"/>
              </a:rPr>
              <a:t> at cluster level, in the original feature space.</a:t>
            </a:r>
          </a:p>
        </p:txBody>
      </p:sp>
      <p:graphicFrame>
        <p:nvGraphicFramePr>
          <p:cNvPr id="31" name="Table 30"/>
          <p:cNvGraphicFramePr>
            <a:graphicFrameLocks noGrp="1"/>
          </p:cNvGraphicFramePr>
          <p:nvPr/>
        </p:nvGraphicFramePr>
        <p:xfrm>
          <a:off x="1028700" y="5421122"/>
          <a:ext cx="16230599" cy="3141472"/>
        </p:xfrm>
        <a:graphic>
          <a:graphicData uri="http://schemas.openxmlformats.org/drawingml/2006/table">
            <a:tbl>
              <a:tblPr firstRow="0" bandRow="0" firstCol="0" lastRow="0" lastCol="0" bandCol="0">
                <a:tableStyleId>{2D5ABB26-0587-4C30-8999-92F81FD0307C}</a:tableStyleId>
              </a:tblPr>
              <a:tblGrid>
                <a:gridCol w="5410200"/>
                <a:gridCol w="1456592"/>
                <a:gridCol w="9363807"/>
              </a:tblGrid>
              <a:tr h="77724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Objective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210"/>
                        </a:lnSpc>
                        <a:spcBef>
                          <a:spcPts val="0"/>
                        </a:spcBef>
                        <a:buNone/>
                      </a:pPr>
                      <a:r>
                        <a:rPr lang="en-US" sz="1700" b="true">
                          <a:solidFill>
                            <a:srgbClr val="FFFFFF"/>
                          </a:solidFill>
                          <a:latin typeface="Nunito Bold"/>
                          <a:ea typeface="Nunito Bold"/>
                          <a:cs typeface="Nunito Bold"/>
                          <a:sym typeface="Nunito Bold"/>
                        </a:rPr>
                        <a:t>Status</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Evidence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809752">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O1  ·  Cluster-level explanation with feature-level attribution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Met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Global ranking + per-cluster SHAP profiles (Fig. 5.1, 5.2) + local force plots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7724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O2  ·  Attribution in the original feature space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Met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Density, pH, fixed acidity, sulfur dioxide, alcohol: no latent space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77724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O3  ·  Shapley justified over LIME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Met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Four axioms; higher stability and cross-cluster comparability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 Louhichi, M., Nesmaoui, R., Mbarek, M. &amp; Lazaar, M. Shapley Values for Explaining the Black Box Nature of Machine Learning Model Clustering. Procedia Computer Science 220, 806–811 (2023).</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36</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Key Findings</a:t>
            </a:r>
          </a:p>
        </p:txBody>
      </p:sp>
      <p:pic>
        <p:nvPicPr>
          <p:cNvPr id="23" name="Picture 22" descr="image.png"/>
          <p:cNvPicPr>
            <a:picLocks noChangeAspect="1"/>
          </p:cNvPicPr>
          <p:nvPr/>
        </p:nvPicPr>
        <p:blipFill>
          <a:blip r:embed="rId3"/>
          <a:stretch>
            <a:fillRect/>
          </a:stretch>
        </p:blipFill>
        <p:spPr>
          <a:xfrm>
            <a:off x="4641445" y="1673352"/>
            <a:ext cx="457200" cy="539881"/>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363722"/>
            <a:ext cx="16230600" cy="1339913"/>
          </a:xfrm>
          <a:prstGeom prst="roundRect">
            <a:avLst>
              <a:gd name="adj" fmla="val 15013"/>
            </a:avLst>
          </a:prstGeom>
          <a:solidFill>
            <a:srgbClr val="F6ECDF"/>
          </a:solidFill>
          <a:ln>
            <a:noFill/>
          </a:ln>
        </p:spPr>
        <p:txBody>
          <a:bodyPr anchor="ctr" rtlCol="false" lIns="0" tIns="0" rIns="0" bIns="0" wrap="square"/>
          <a:lstStyle/>
          <a:p>
            <a:endParaRPr lang="en-US" sz="1800"/>
          </a:p>
        </p:txBody>
      </p:sp>
      <p:sp>
        <p:nvSpPr>
          <p:cNvPr id="29" name="Oval 28"/>
          <p:cNvSpPr/>
          <p:nvPr/>
        </p:nvSpPr>
        <p:spPr>
          <a:xfrm>
            <a:off x="1303020" y="3750214"/>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1</a:t>
            </a:r>
          </a:p>
        </p:txBody>
      </p:sp>
      <p:sp>
        <p:nvSpPr>
          <p:cNvPr id="30" name="TextBox 29"/>
          <p:cNvSpPr txBox="1"/>
          <p:nvPr/>
        </p:nvSpPr>
        <p:spPr>
          <a:xfrm>
            <a:off x="2171700" y="3473450"/>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A black-box partition can be explained at two levels at once</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Cluster-level meaning is tied to single feature contributions, so the explanation is both global and local.</a:t>
            </a:r>
          </a:p>
        </p:txBody>
      </p:sp>
      <p:sp>
        <p:nvSpPr>
          <p:cNvPr id="31" name="Rounded Rectangle 30"/>
          <p:cNvSpPr/>
          <p:nvPr/>
        </p:nvSpPr>
        <p:spPr>
          <a:xfrm>
            <a:off x="1028700" y="4868227"/>
            <a:ext cx="16230600" cy="1339913"/>
          </a:xfrm>
          <a:prstGeom prst="roundRect">
            <a:avLst>
              <a:gd name="adj" fmla="val 15013"/>
            </a:avLst>
          </a:prstGeom>
          <a:solidFill>
            <a:srgbClr val="FBF4EB"/>
          </a:solidFill>
          <a:ln>
            <a:noFill/>
          </a:ln>
        </p:spPr>
        <p:txBody>
          <a:bodyPr anchor="ctr" rtlCol="false" lIns="0" tIns="0" rIns="0" bIns="0" wrap="square"/>
          <a:lstStyle/>
          <a:p>
            <a:endParaRPr lang="en-US" sz="1800"/>
          </a:p>
        </p:txBody>
      </p:sp>
      <p:sp>
        <p:nvSpPr>
          <p:cNvPr id="32" name="Oval 31"/>
          <p:cNvSpPr/>
          <p:nvPr/>
        </p:nvSpPr>
        <p:spPr>
          <a:xfrm>
            <a:off x="1303020" y="5254720"/>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2</a:t>
            </a:r>
          </a:p>
        </p:txBody>
      </p:sp>
      <p:sp>
        <p:nvSpPr>
          <p:cNvPr id="33" name="TextBox 32"/>
          <p:cNvSpPr txBox="1"/>
          <p:nvPr/>
        </p:nvSpPr>
        <p:spPr>
          <a:xfrm>
            <a:off x="2171700" y="4977955"/>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Attribution lands in the chemistry, not in a latent space</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Density, pH, fixed acidity, sulfur dioxide and alcohol: variables a wine maker can act on.</a:t>
            </a:r>
          </a:p>
        </p:txBody>
      </p:sp>
      <p:sp>
        <p:nvSpPr>
          <p:cNvPr id="34" name="Rounded Rectangle 33"/>
          <p:cNvSpPr/>
          <p:nvPr/>
        </p:nvSpPr>
        <p:spPr>
          <a:xfrm>
            <a:off x="1028700" y="6372733"/>
            <a:ext cx="16230600" cy="1339913"/>
          </a:xfrm>
          <a:prstGeom prst="roundRect">
            <a:avLst>
              <a:gd name="adj" fmla="val 15013"/>
            </a:avLst>
          </a:prstGeom>
          <a:solidFill>
            <a:srgbClr val="F6ECDF"/>
          </a:solidFill>
          <a:ln>
            <a:noFill/>
          </a:ln>
        </p:spPr>
        <p:txBody>
          <a:bodyPr anchor="ctr" rtlCol="false" lIns="0" tIns="0" rIns="0" bIns="0" wrap="square"/>
          <a:lstStyle/>
          <a:p>
            <a:endParaRPr lang="en-US" sz="1800"/>
          </a:p>
        </p:txBody>
      </p:sp>
      <p:sp>
        <p:nvSpPr>
          <p:cNvPr id="35" name="Oval 34"/>
          <p:cNvSpPr/>
          <p:nvPr/>
        </p:nvSpPr>
        <p:spPr>
          <a:xfrm>
            <a:off x="1303020" y="6759225"/>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3</a:t>
            </a:r>
          </a:p>
        </p:txBody>
      </p:sp>
      <p:sp>
        <p:nvSpPr>
          <p:cNvPr id="36" name="TextBox 35"/>
          <p:cNvSpPr txBox="1"/>
          <p:nvPr/>
        </p:nvSpPr>
        <p:spPr>
          <a:xfrm>
            <a:off x="2171700" y="6482461"/>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Interpretability can outrank geometry when choosing k</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k = 3 was kept over k = 2 despite a lower Silhouette because it gives a richer, more useful partition.</a:t>
            </a:r>
          </a:p>
        </p:txBody>
      </p:sp>
      <p:sp>
        <p:nvSpPr>
          <p:cNvPr id="37" name="Rounded Rectangle 36"/>
          <p:cNvSpPr/>
          <p:nvPr/>
        </p:nvSpPr>
        <p:spPr>
          <a:xfrm>
            <a:off x="1028700" y="7877238"/>
            <a:ext cx="16230600" cy="1339913"/>
          </a:xfrm>
          <a:prstGeom prst="roundRect">
            <a:avLst>
              <a:gd name="adj" fmla="val 15013"/>
            </a:avLst>
          </a:prstGeom>
          <a:solidFill>
            <a:srgbClr val="FBF4EB"/>
          </a:solidFill>
          <a:ln>
            <a:noFill/>
          </a:ln>
        </p:spPr>
        <p:txBody>
          <a:bodyPr anchor="ctr" rtlCol="false" lIns="0" tIns="0" rIns="0" bIns="0" wrap="square"/>
          <a:lstStyle/>
          <a:p>
            <a:endParaRPr lang="en-US" sz="1800"/>
          </a:p>
        </p:txBody>
      </p:sp>
      <p:sp>
        <p:nvSpPr>
          <p:cNvPr id="38" name="Oval 37"/>
          <p:cNvSpPr/>
          <p:nvPr/>
        </p:nvSpPr>
        <p:spPr>
          <a:xfrm>
            <a:off x="1303020" y="8263731"/>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4</a:t>
            </a:r>
          </a:p>
        </p:txBody>
      </p:sp>
      <p:sp>
        <p:nvSpPr>
          <p:cNvPr id="39" name="TextBox 38"/>
          <p:cNvSpPr txBox="1"/>
          <p:nvPr/>
        </p:nvSpPr>
        <p:spPr>
          <a:xfrm>
            <a:off x="2171700" y="7986966"/>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The cooperative concept is what makes the explanation trustworthy</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Efficiency, symmetry, null player and additivity give guarantees that a local surrogate such as LIME does not.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37</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Limitations</a:t>
            </a:r>
          </a:p>
        </p:txBody>
      </p:sp>
      <p:pic>
        <p:nvPicPr>
          <p:cNvPr id="23" name="Picture 22" descr="image.png"/>
          <p:cNvPicPr>
            <a:picLocks noChangeAspect="1"/>
          </p:cNvPicPr>
          <p:nvPr/>
        </p:nvPicPr>
        <p:blipFill>
          <a:blip r:embed="rId3"/>
          <a:stretch>
            <a:fillRect/>
          </a:stretch>
        </p:blipFill>
        <p:spPr>
          <a:xfrm>
            <a:off x="4251252" y="1673352"/>
            <a:ext cx="457200" cy="373212"/>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363722"/>
            <a:ext cx="7955280" cy="2172335"/>
          </a:xfrm>
          <a:prstGeom prst="roundRect">
            <a:avLst>
              <a:gd name="adj" fmla="val 11786"/>
            </a:avLst>
          </a:prstGeom>
          <a:solidFill>
            <a:srgbClr val="124944"/>
          </a:solidFill>
          <a:ln>
            <a:noFill/>
          </a:ln>
        </p:spPr>
        <p:txBody>
          <a:bodyPr anchor="ctr" rtlCol="false" lIns="0" tIns="0" rIns="0" bIns="0" wrap="square"/>
          <a:lstStyle/>
          <a:p>
            <a:endParaRPr lang="en-US" sz="1800"/>
          </a:p>
        </p:txBody>
      </p:sp>
      <p:sp>
        <p:nvSpPr>
          <p:cNvPr id="29" name="TextBox 28"/>
          <p:cNvSpPr txBox="1"/>
          <p:nvPr/>
        </p:nvSpPr>
        <p:spPr>
          <a:xfrm>
            <a:off x="1394460" y="3638042"/>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SURROGATE DEPENDENCE</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Fidelity depends on the </a:t>
            </a:r>
            <a:r>
              <a:rPr lang="en-US" sz="1900" b="true">
                <a:solidFill>
                  <a:srgbClr val="FFFFFF"/>
                </a:solidFill>
                <a:latin typeface="Nunito Bold"/>
                <a:ea typeface="Nunito Bold"/>
                <a:cs typeface="Nunito Bold"/>
                <a:sym typeface="Nunito Bold"/>
              </a:rPr>
              <a:t>LightGBM surrogate</a:t>
            </a:r>
            <a:r>
              <a:rPr lang="en-US" sz="1900" b="true">
                <a:solidFill>
                  <a:srgbClr val="FFFFFF"/>
                </a:solidFill>
                <a:latin typeface="Nunito Semi-Bold"/>
                <a:ea typeface="Nunito Semi-Bold"/>
                <a:cs typeface="Nunito Semi-Bold"/>
                <a:sym typeface="Nunito Semi-Bold"/>
              </a:rPr>
              <a:t>, not on the K-Means geometry directly; the fidelity floor must be checked every time.</a:t>
            </a:r>
          </a:p>
        </p:txBody>
      </p:sp>
      <p:sp>
        <p:nvSpPr>
          <p:cNvPr id="30" name="Rounded Rectangle 29"/>
          <p:cNvSpPr/>
          <p:nvPr/>
        </p:nvSpPr>
        <p:spPr>
          <a:xfrm>
            <a:off x="9304020" y="3363722"/>
            <a:ext cx="7955280" cy="2172335"/>
          </a:xfrm>
          <a:prstGeom prst="roundRect">
            <a:avLst>
              <a:gd name="adj" fmla="val 11786"/>
            </a:avLst>
          </a:prstGeom>
          <a:solidFill>
            <a:srgbClr val="1E5F58"/>
          </a:solidFill>
          <a:ln>
            <a:noFill/>
          </a:ln>
        </p:spPr>
        <p:txBody>
          <a:bodyPr anchor="ctr" rtlCol="false" lIns="0" tIns="0" rIns="0" bIns="0" wrap="square"/>
          <a:lstStyle/>
          <a:p>
            <a:endParaRPr lang="en-US" sz="1800"/>
          </a:p>
        </p:txBody>
      </p:sp>
      <p:sp>
        <p:nvSpPr>
          <p:cNvPr id="31" name="TextBox 30"/>
          <p:cNvSpPr txBox="1"/>
          <p:nvPr/>
        </p:nvSpPr>
        <p:spPr>
          <a:xfrm>
            <a:off x="9669780" y="3638042"/>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TABULAR ONLY</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Limited to </a:t>
            </a:r>
            <a:r>
              <a:rPr lang="en-US" sz="1900" b="true">
                <a:solidFill>
                  <a:srgbClr val="FFFFFF"/>
                </a:solidFill>
                <a:latin typeface="Nunito Bold"/>
                <a:ea typeface="Nunito Bold"/>
                <a:cs typeface="Nunito Bold"/>
                <a:sym typeface="Nunito Bold"/>
              </a:rPr>
              <a:t>tabular data</a:t>
            </a:r>
            <a:r>
              <a:rPr lang="en-US" sz="1900" b="true">
                <a:solidFill>
                  <a:srgbClr val="FFFFFF"/>
                </a:solidFill>
                <a:latin typeface="Nunito Semi-Bold"/>
                <a:ea typeface="Nunito Semi-Bold"/>
                <a:cs typeface="Nunito Semi-Bold"/>
                <a:sym typeface="Nunito Semi-Bold"/>
              </a:rPr>
              <a:t>; no structured, graph or image input in this contribution.</a:t>
            </a:r>
          </a:p>
        </p:txBody>
      </p:sp>
      <p:sp>
        <p:nvSpPr>
          <p:cNvPr id="32" name="Rounded Rectangle 31"/>
          <p:cNvSpPr/>
          <p:nvPr/>
        </p:nvSpPr>
        <p:spPr>
          <a:xfrm>
            <a:off x="1028700" y="5810377"/>
            <a:ext cx="7955280" cy="2172335"/>
          </a:xfrm>
          <a:prstGeom prst="roundRect">
            <a:avLst>
              <a:gd name="adj" fmla="val 11786"/>
            </a:avLst>
          </a:prstGeom>
          <a:solidFill>
            <a:srgbClr val="1E5F58"/>
          </a:solidFill>
          <a:ln>
            <a:noFill/>
          </a:ln>
        </p:spPr>
        <p:txBody>
          <a:bodyPr anchor="ctr" rtlCol="false" lIns="0" tIns="0" rIns="0" bIns="0" wrap="square"/>
          <a:lstStyle/>
          <a:p>
            <a:endParaRPr lang="en-US" sz="1800"/>
          </a:p>
        </p:txBody>
      </p:sp>
      <p:sp>
        <p:nvSpPr>
          <p:cNvPr id="33" name="TextBox 32"/>
          <p:cNvSpPr txBox="1"/>
          <p:nvPr/>
        </p:nvSpPr>
        <p:spPr>
          <a:xfrm>
            <a:off x="1394460" y="6084697"/>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SINGLE LEVEL</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Cannot explain how importance changes between a partition and its </a:t>
            </a:r>
            <a:r>
              <a:rPr lang="en-US" sz="1900" b="true">
                <a:solidFill>
                  <a:srgbClr val="FFFFFF"/>
                </a:solidFill>
                <a:latin typeface="Nunito Bold"/>
                <a:ea typeface="Nunito Bold"/>
                <a:cs typeface="Nunito Bold"/>
                <a:sym typeface="Nunito Bold"/>
              </a:rPr>
              <a:t>sub-partitions</a:t>
            </a:r>
            <a:r>
              <a:rPr lang="en-US" sz="1900" b="true">
                <a:solidFill>
                  <a:srgbClr val="FFFFFF"/>
                </a:solidFill>
                <a:latin typeface="Nunito Semi-Bold"/>
                <a:ea typeface="Nunito Semi-Bold"/>
                <a:cs typeface="Nunito Semi-Bold"/>
                <a:sym typeface="Nunito Semi-Bold"/>
              </a:rPr>
              <a:t>.</a:t>
            </a:r>
          </a:p>
        </p:txBody>
      </p:sp>
      <p:sp>
        <p:nvSpPr>
          <p:cNvPr id="34" name="Rounded Rectangle 33"/>
          <p:cNvSpPr/>
          <p:nvPr/>
        </p:nvSpPr>
        <p:spPr>
          <a:xfrm>
            <a:off x="9304020" y="5810377"/>
            <a:ext cx="7955280" cy="2172335"/>
          </a:xfrm>
          <a:prstGeom prst="roundRect">
            <a:avLst>
              <a:gd name="adj" fmla="val 11786"/>
            </a:avLst>
          </a:prstGeom>
          <a:solidFill>
            <a:srgbClr val="124944"/>
          </a:solidFill>
          <a:ln>
            <a:noFill/>
          </a:ln>
        </p:spPr>
        <p:txBody>
          <a:bodyPr anchor="ctr" rtlCol="false" lIns="0" tIns="0" rIns="0" bIns="0" wrap="square"/>
          <a:lstStyle/>
          <a:p>
            <a:endParaRPr lang="en-US" sz="1800"/>
          </a:p>
        </p:txBody>
      </p:sp>
      <p:sp>
        <p:nvSpPr>
          <p:cNvPr id="35" name="TextBox 34"/>
          <p:cNvSpPr txBox="1"/>
          <p:nvPr/>
        </p:nvSpPr>
        <p:spPr>
          <a:xfrm>
            <a:off x="9669780" y="6084697"/>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SMOOTHING</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The surrogate approximation smooths out variation between single observations.</a:t>
            </a:r>
          </a:p>
        </p:txBody>
      </p:sp>
      <p:sp>
        <p:nvSpPr>
          <p:cNvPr id="36" name="Rounded Rectangle 35"/>
          <p:cNvSpPr/>
          <p:nvPr/>
        </p:nvSpPr>
        <p:spPr>
          <a:xfrm>
            <a:off x="1028700" y="8348472"/>
            <a:ext cx="16230600" cy="960120"/>
          </a:xfrm>
          <a:prstGeom prst="roundRect">
            <a:avLst>
              <a:gd name="adj" fmla="val 23809"/>
            </a:avLst>
          </a:prstGeom>
          <a:noFill/>
          <a:ln w="31750">
            <a:solidFill>
              <a:srgbClr val="DF8330"/>
            </a:solidFill>
          </a:ln>
        </p:spPr>
        <p:txBody>
          <a:bodyPr anchor="ctr" rtlCol="false" lIns="457200" tIns="91440" rIns="457200" bIns="91440" wrap="square"/>
          <a:lstStyle/>
          <a:p>
            <a:pPr algn="ctr">
              <a:lnSpc>
                <a:spcPts val="2500"/>
              </a:lnSpc>
              <a:spcBef>
                <a:spcPts val="0"/>
              </a:spcBef>
              <a:buNone/>
            </a:pPr>
            <a:r>
              <a:rPr lang="en-US" sz="2000" b="true">
                <a:solidFill>
                  <a:srgbClr val="111111"/>
                </a:solidFill>
                <a:latin typeface="Nunito Semi-Bold"/>
                <a:ea typeface="Nunito Semi-Bold"/>
                <a:cs typeface="Nunito Semi-Bold"/>
                <a:sym typeface="Nunito Semi-Bold"/>
              </a:rPr>
              <a:t>The </a:t>
            </a:r>
            <a:r>
              <a:rPr lang="en-US" sz="2000" b="true">
                <a:solidFill>
                  <a:srgbClr val="111111"/>
                </a:solidFill>
                <a:latin typeface="Nunito Bold"/>
                <a:ea typeface="Nunito Bold"/>
                <a:cs typeface="Nunito Bold"/>
                <a:sym typeface="Nunito Bold"/>
              </a:rPr>
              <a:t>single-level</a:t>
            </a:r>
            <a:r>
              <a:rPr lang="en-US" sz="2000" b="true">
                <a:solidFill>
                  <a:srgbClr val="111111"/>
                </a:solidFill>
                <a:latin typeface="Nunito Semi-Bold"/>
                <a:ea typeface="Nunito Semi-Bold"/>
                <a:cs typeface="Nunito Semi-Bold"/>
                <a:sym typeface="Nunito Semi-Bold"/>
              </a:rPr>
              <a:t> limitation is the one that matters most for what follows: real data are rarely flat.</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38</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 EXPLAINABLE BLACK-BOX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Takeaway: Contribution I</a:t>
            </a:r>
          </a:p>
        </p:txBody>
      </p:sp>
      <p:pic>
        <p:nvPicPr>
          <p:cNvPr id="23" name="Picture 22" descr="image.png"/>
          <p:cNvPicPr>
            <a:picLocks noChangeAspect="1"/>
          </p:cNvPicPr>
          <p:nvPr/>
        </p:nvPicPr>
        <p:blipFill>
          <a:blip r:embed="rId3"/>
          <a:stretch>
            <a:fillRect/>
          </a:stretch>
        </p:blipFill>
        <p:spPr>
          <a:xfrm>
            <a:off x="7838100" y="1673352"/>
            <a:ext cx="457200" cy="427074"/>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363722"/>
            <a:ext cx="5196840" cy="2651760"/>
          </a:xfrm>
          <a:prstGeom prst="roundRect">
            <a:avLst>
              <a:gd name="adj" fmla="val 10344"/>
            </a:avLst>
          </a:prstGeom>
          <a:solidFill>
            <a:srgbClr val="124944"/>
          </a:solidFill>
          <a:ln>
            <a:noFill/>
          </a:ln>
        </p:spPr>
        <p:txBody>
          <a:bodyPr anchor="ctr" rtlCol="false" lIns="0" tIns="0" rIns="0" bIns="0" wrap="square"/>
          <a:lstStyle/>
          <a:p>
            <a:endParaRPr lang="en-US" sz="1800"/>
          </a:p>
        </p:txBody>
      </p:sp>
      <p:sp>
        <p:nvSpPr>
          <p:cNvPr id="29" name="TextBox 28"/>
          <p:cNvSpPr txBox="1"/>
          <p:nvPr/>
        </p:nvSpPr>
        <p:spPr>
          <a:xfrm>
            <a:off x="1394460" y="3683762"/>
            <a:ext cx="4465320" cy="2103120"/>
          </a:xfrm>
          <a:prstGeom prst="rect">
            <a:avLst/>
          </a:prstGeom>
          <a:noFill/>
        </p:spPr>
        <p:txBody>
          <a:bodyPr anchor="t" rtlCol="false" lIns="0" tIns="0" rIns="0" bIns="0" wrap="square"/>
          <a:lstStyle/>
          <a:p>
            <a:pPr algn="l">
              <a:lnSpc>
                <a:spcPts val="3200"/>
              </a:lnSpc>
              <a:spcBef>
                <a:spcPts val="0"/>
              </a:spcBef>
              <a:buNone/>
            </a:pPr>
            <a:r>
              <a:rPr lang="en-US" sz="2800" b="true" spc="-120">
                <a:solidFill>
                  <a:srgbClr val="ECC665"/>
                </a:solidFill>
                <a:latin typeface="Roca Two Bold"/>
                <a:ea typeface="Roca Two Bold"/>
                <a:cs typeface="Roca Two Bold"/>
                <a:sym typeface="Roca Two Bold"/>
              </a:rPr>
              <a:t>Single lens</a:t>
            </a:r>
          </a:p>
          <a:p>
            <a:pPr algn="l">
              <a:lnSpc>
                <a:spcPts val="2400"/>
              </a:lnSpc>
              <a:spcBef>
                <a:spcPts val="1000"/>
              </a:spcBef>
              <a:buNone/>
            </a:pPr>
            <a:r>
              <a:rPr lang="en-US" sz="1900" b="true">
                <a:solidFill>
                  <a:srgbClr val="F7F2EA"/>
                </a:solidFill>
                <a:latin typeface="Nunito Semi-Bold"/>
                <a:ea typeface="Nunito Semi-Bold"/>
                <a:cs typeface="Nunito Semi-Bold"/>
                <a:sym typeface="Nunito Semi-Bold"/>
              </a:rPr>
              <a:t>One axiomatic rule explains the whole partition, cluster by cluster.</a:t>
            </a:r>
          </a:p>
        </p:txBody>
      </p:sp>
      <p:sp>
        <p:nvSpPr>
          <p:cNvPr id="30" name="Rounded Rectangle 29"/>
          <p:cNvSpPr/>
          <p:nvPr/>
        </p:nvSpPr>
        <p:spPr>
          <a:xfrm>
            <a:off x="6545580" y="3363722"/>
            <a:ext cx="5196840" cy="2651760"/>
          </a:xfrm>
          <a:prstGeom prst="roundRect">
            <a:avLst>
              <a:gd name="adj" fmla="val 10344"/>
            </a:avLst>
          </a:prstGeom>
          <a:solidFill>
            <a:srgbClr val="1E5F58"/>
          </a:solidFill>
          <a:ln>
            <a:noFill/>
          </a:ln>
        </p:spPr>
        <p:txBody>
          <a:bodyPr anchor="ctr" rtlCol="false" lIns="0" tIns="0" rIns="0" bIns="0" wrap="square"/>
          <a:lstStyle/>
          <a:p>
            <a:endParaRPr lang="en-US" sz="1800"/>
          </a:p>
        </p:txBody>
      </p:sp>
      <p:sp>
        <p:nvSpPr>
          <p:cNvPr id="31" name="TextBox 30"/>
          <p:cNvSpPr txBox="1"/>
          <p:nvPr/>
        </p:nvSpPr>
        <p:spPr>
          <a:xfrm>
            <a:off x="6911340" y="3683762"/>
            <a:ext cx="4465320" cy="2103120"/>
          </a:xfrm>
          <a:prstGeom prst="rect">
            <a:avLst/>
          </a:prstGeom>
          <a:noFill/>
        </p:spPr>
        <p:txBody>
          <a:bodyPr anchor="t" rtlCol="false" lIns="0" tIns="0" rIns="0" bIns="0" wrap="square"/>
          <a:lstStyle/>
          <a:p>
            <a:pPr algn="l">
              <a:lnSpc>
                <a:spcPts val="3200"/>
              </a:lnSpc>
              <a:spcBef>
                <a:spcPts val="0"/>
              </a:spcBef>
              <a:buNone/>
            </a:pPr>
            <a:r>
              <a:rPr lang="en-US" sz="2800" b="true" spc="-120">
                <a:solidFill>
                  <a:srgbClr val="ECC665"/>
                </a:solidFill>
                <a:latin typeface="Roca Two Bold"/>
                <a:ea typeface="Roca Two Bold"/>
                <a:cs typeface="Roca Two Bold"/>
                <a:sym typeface="Roca Two Bold"/>
              </a:rPr>
              <a:t>Original space</a:t>
            </a:r>
          </a:p>
          <a:p>
            <a:pPr algn="l">
              <a:lnSpc>
                <a:spcPts val="2400"/>
              </a:lnSpc>
              <a:spcBef>
                <a:spcPts val="1000"/>
              </a:spcBef>
              <a:buNone/>
            </a:pPr>
            <a:r>
              <a:rPr lang="en-US" sz="1900" b="true">
                <a:solidFill>
                  <a:srgbClr val="F7F2EA"/>
                </a:solidFill>
                <a:latin typeface="Nunito Semi-Bold"/>
                <a:ea typeface="Nunito Semi-Bold"/>
                <a:cs typeface="Nunito Semi-Bold"/>
                <a:sym typeface="Nunito Semi-Bold"/>
              </a:rPr>
              <a:t>The answer comes back in variables an expert can change.</a:t>
            </a:r>
          </a:p>
        </p:txBody>
      </p:sp>
      <p:sp>
        <p:nvSpPr>
          <p:cNvPr id="32" name="Rounded Rectangle 31"/>
          <p:cNvSpPr/>
          <p:nvPr/>
        </p:nvSpPr>
        <p:spPr>
          <a:xfrm>
            <a:off x="12062460" y="3363722"/>
            <a:ext cx="5196840" cy="2651760"/>
          </a:xfrm>
          <a:prstGeom prst="roundRect">
            <a:avLst>
              <a:gd name="adj" fmla="val 10344"/>
            </a:avLst>
          </a:prstGeom>
          <a:solidFill>
            <a:srgbClr val="DF8330"/>
          </a:solidFill>
          <a:ln>
            <a:noFill/>
          </a:ln>
        </p:spPr>
        <p:txBody>
          <a:bodyPr anchor="ctr" rtlCol="false" lIns="0" tIns="0" rIns="0" bIns="0" wrap="square"/>
          <a:lstStyle/>
          <a:p>
            <a:endParaRPr lang="en-US" sz="1800"/>
          </a:p>
        </p:txBody>
      </p:sp>
      <p:sp>
        <p:nvSpPr>
          <p:cNvPr id="33" name="TextBox 32"/>
          <p:cNvSpPr txBox="1"/>
          <p:nvPr/>
        </p:nvSpPr>
        <p:spPr>
          <a:xfrm>
            <a:off x="12428220" y="3683762"/>
            <a:ext cx="4465320" cy="2103120"/>
          </a:xfrm>
          <a:prstGeom prst="rect">
            <a:avLst/>
          </a:prstGeom>
          <a:noFill/>
        </p:spPr>
        <p:txBody>
          <a:bodyPr anchor="t" rtlCol="false" lIns="0" tIns="0" rIns="0" bIns="0" wrap="square"/>
          <a:lstStyle/>
          <a:p>
            <a:pPr algn="l">
              <a:lnSpc>
                <a:spcPts val="3200"/>
              </a:lnSpc>
              <a:spcBef>
                <a:spcPts val="0"/>
              </a:spcBef>
              <a:buNone/>
            </a:pPr>
            <a:r>
              <a:rPr lang="en-US" sz="2800" b="true" spc="-120">
                <a:solidFill>
                  <a:srgbClr val="FFFFFF"/>
                </a:solidFill>
                <a:latin typeface="Roca Two Bold"/>
                <a:ea typeface="Roca Two Bold"/>
                <a:cs typeface="Roca Two Bold"/>
                <a:sym typeface="Roca Two Bold"/>
              </a:rPr>
              <a:t>But…</a:t>
            </a:r>
          </a:p>
          <a:p>
            <a:pPr algn="l">
              <a:lnSpc>
                <a:spcPts val="2400"/>
              </a:lnSpc>
              <a:spcBef>
                <a:spcPts val="1000"/>
              </a:spcBef>
              <a:buNone/>
            </a:pPr>
            <a:r>
              <a:rPr lang="en-US" sz="1900" b="true">
                <a:solidFill>
                  <a:srgbClr val="F7F2EA"/>
                </a:solidFill>
                <a:latin typeface="Nunito Semi-Bold"/>
                <a:ea typeface="Nunito Semi-Bold"/>
                <a:cs typeface="Nunito Semi-Bold"/>
                <a:sym typeface="Nunito Semi-Bold"/>
              </a:rPr>
              <a:t>Real data are rarely single-level: broad groups contain nested sub-groups.</a:t>
            </a:r>
          </a:p>
        </p:txBody>
      </p:sp>
      <p:sp>
        <p:nvSpPr>
          <p:cNvPr id="34" name="Rounded Rectangle 33"/>
          <p:cNvSpPr/>
          <p:nvPr/>
        </p:nvSpPr>
        <p:spPr>
          <a:xfrm>
            <a:off x="1028700" y="6472682"/>
            <a:ext cx="16230600" cy="1600200"/>
          </a:xfrm>
          <a:prstGeom prst="roundRect">
            <a:avLst>
              <a:gd name="adj" fmla="val 12571"/>
            </a:avLst>
          </a:prstGeom>
          <a:solidFill>
            <a:srgbClr val="F6ECDF"/>
          </a:solidFill>
          <a:ln w="25400">
            <a:solidFill>
              <a:srgbClr val="DF8330"/>
            </a:solidFill>
          </a:ln>
        </p:spPr>
        <p:txBody>
          <a:bodyPr anchor="ctr" rtlCol="false" lIns="0" tIns="0" rIns="0" bIns="0" wrap="square"/>
          <a:lstStyle/>
          <a:p>
            <a:endParaRPr lang="en-US" sz="1800"/>
          </a:p>
        </p:txBody>
      </p:sp>
      <p:sp>
        <p:nvSpPr>
          <p:cNvPr id="35" name="Rounded Rectangle 34"/>
          <p:cNvSpPr/>
          <p:nvPr/>
        </p:nvSpPr>
        <p:spPr>
          <a:xfrm>
            <a:off x="1348740" y="6280658"/>
            <a:ext cx="3367987"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TAKEAWAY  ·  CONTRIBUTION I</a:t>
            </a:r>
          </a:p>
        </p:txBody>
      </p:sp>
      <p:sp>
        <p:nvSpPr>
          <p:cNvPr id="36" name="TextBox 35"/>
          <p:cNvSpPr txBox="1"/>
          <p:nvPr/>
        </p:nvSpPr>
        <p:spPr>
          <a:xfrm>
            <a:off x="1394460" y="6747002"/>
            <a:ext cx="15499080" cy="1188720"/>
          </a:xfrm>
          <a:prstGeom prst="rect">
            <a:avLst/>
          </a:prstGeom>
          <a:noFill/>
        </p:spPr>
        <p:txBody>
          <a:bodyPr anchor="ctr" rtlCol="false" lIns="0" tIns="0" rIns="0" bIns="0" wrap="square"/>
          <a:lstStyle/>
          <a:p>
            <a:pPr algn="l">
              <a:lnSpc>
                <a:spcPts val="3220"/>
              </a:lnSpc>
              <a:spcBef>
                <a:spcPts val="0"/>
              </a:spcBef>
              <a:buNone/>
            </a:pPr>
            <a:r>
              <a:rPr lang="en-US" sz="2300" b="true">
                <a:solidFill>
                  <a:srgbClr val="111111"/>
                </a:solidFill>
                <a:latin typeface="Nunito Semi-Bold"/>
                <a:ea typeface="Nunito Semi-Bold"/>
                <a:cs typeface="Nunito Semi-Bold"/>
                <a:sym typeface="Nunito Semi-Bold"/>
              </a:rPr>
              <a:t>Shapley attribution is a </a:t>
            </a:r>
            <a:r>
              <a:rPr lang="en-US" sz="2300" b="true">
                <a:solidFill>
                  <a:srgbClr val="111111"/>
                </a:solidFill>
                <a:latin typeface="Nunito Bold"/>
                <a:ea typeface="Nunito Bold"/>
                <a:cs typeface="Nunito Bold"/>
                <a:sym typeface="Nunito Bold"/>
              </a:rPr>
              <a:t>well-founded lens</a:t>
            </a:r>
            <a:r>
              <a:rPr lang="en-US" sz="2300" b="true">
                <a:solidFill>
                  <a:srgbClr val="111111"/>
                </a:solidFill>
                <a:latin typeface="Nunito Semi-Bold"/>
                <a:ea typeface="Nunito Semi-Bold"/>
                <a:cs typeface="Nunito Semi-Bold"/>
                <a:sym typeface="Nunito Semi-Bold"/>
              </a:rPr>
              <a:t> for explaining an unsupervised partition, and keeping it in the </a:t>
            </a:r>
            <a:r>
              <a:rPr lang="en-US" sz="2300" b="true">
                <a:solidFill>
                  <a:srgbClr val="111111"/>
                </a:solidFill>
                <a:latin typeface="Nunito Bold"/>
                <a:ea typeface="Nunito Bold"/>
                <a:cs typeface="Nunito Bold"/>
                <a:sym typeface="Nunito Bold"/>
              </a:rPr>
              <a:t>original feature space</a:t>
            </a:r>
            <a:r>
              <a:rPr lang="en-US" sz="2300" b="true">
                <a:solidFill>
                  <a:srgbClr val="111111"/>
                </a:solidFill>
                <a:latin typeface="Nunito Semi-Bold"/>
                <a:ea typeface="Nunito Semi-Bold"/>
                <a:cs typeface="Nunito Semi-Bold"/>
                <a:sym typeface="Nunito Semi-Bold"/>
              </a:rPr>
              <a:t> is what makes the explanation actionable.</a:t>
            </a:r>
          </a:p>
        </p:txBody>
      </p:sp>
      <p:sp>
        <p:nvSpPr>
          <p:cNvPr id="37" name="Rounded Rectangle 36"/>
          <p:cNvSpPr/>
          <p:nvPr/>
        </p:nvSpPr>
        <p:spPr>
          <a:xfrm>
            <a:off x="1028700" y="8392922"/>
            <a:ext cx="16230600" cy="961390"/>
          </a:xfrm>
          <a:prstGeom prst="roundRect">
            <a:avLst>
              <a:gd name="adj" fmla="val 23778"/>
            </a:avLst>
          </a:prstGeom>
          <a:solidFill>
            <a:srgbClr val="124944"/>
          </a:solidFill>
          <a:ln>
            <a:noFill/>
          </a:ln>
        </p:spPr>
        <p:txBody>
          <a:bodyPr anchor="ctr" rtlCol="false" lIns="457200" tIns="45720" rIns="457200" bIns="45720" wrap="square"/>
          <a:lstStyle/>
          <a:p>
            <a:pPr algn="ctr">
              <a:lnSpc>
                <a:spcPts val="2500"/>
              </a:lnSpc>
              <a:spcBef>
                <a:spcPts val="0"/>
              </a:spcBef>
              <a:buNone/>
            </a:pPr>
            <a:r>
              <a:rPr lang="en-US" sz="2000" b="true">
                <a:solidFill>
                  <a:srgbClr val="FFFFFF"/>
                </a:solidFill>
                <a:latin typeface="Nunito Bold"/>
                <a:ea typeface="Nunito Bold"/>
                <a:cs typeface="Nunito Bold"/>
                <a:sym typeface="Nunito Bold"/>
              </a:rPr>
              <a:t>Next question:</a:t>
            </a:r>
            <a:r>
              <a:rPr lang="en-US" sz="2000" b="true">
                <a:solidFill>
                  <a:srgbClr val="FFFFFF"/>
                </a:solidFill>
                <a:latin typeface="Nunito Semi-Bold"/>
                <a:ea typeface="Nunito Semi-Bold"/>
                <a:cs typeface="Nunito Semi-Bold"/>
                <a:sym typeface="Nunito Semi-Bold"/>
              </a:rPr>
              <a:t> does this logic survive scale and hierarchy?  </a:t>
            </a:r>
            <a:r>
              <a:rPr lang="en-US" sz="2000" b="true">
                <a:solidFill>
                  <a:srgbClr val="FFFFFF"/>
                </a:solidFill>
                <a:latin typeface="Calibri"/>
                <a:ea typeface="Calibri"/>
                <a:cs typeface="Calibri"/>
                <a:sym typeface="Calibri"/>
              </a:rPr>
              <a:t>→  </a:t>
            </a:r>
            <a:r>
              <a:rPr lang="en-US" sz="2000" b="true">
                <a:solidFill>
                  <a:srgbClr val="FFFFFF"/>
                </a:solidFill>
                <a:latin typeface="Nunito Semi-Bold"/>
                <a:ea typeface="Nunito Semi-Bold"/>
                <a:cs typeface="Nunito Semi-Bold"/>
                <a:sym typeface="Nunito Semi-Bold"/>
              </a:rPr>
              <a:t>Contribution II</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39</a:t>
            </a:r>
          </a:p>
        </p:txBody>
      </p:sp>
      <p:sp>
        <p:nvSpPr>
          <p:cNvPr id="7" name="TextBox 6"/>
          <p:cNvSpPr txBox="1"/>
          <p:nvPr/>
        </p:nvSpPr>
        <p:spPr>
          <a:xfrm>
            <a:off x="1028700" y="2331720"/>
            <a:ext cx="14859000" cy="2286000"/>
          </a:xfrm>
          <a:prstGeom prst="rect">
            <a:avLst/>
          </a:prstGeom>
          <a:noFill/>
        </p:spPr>
        <p:txBody>
          <a:bodyPr anchor="t" rtlCol="false" lIns="0" tIns="0" rIns="0" bIns="0" wrap="square"/>
          <a:lstStyle/>
          <a:p>
            <a:pPr algn="l">
              <a:lnSpc>
                <a:spcPts val="15300"/>
              </a:lnSpc>
              <a:spcBef>
                <a:spcPts val="0"/>
              </a:spcBef>
              <a:buNone/>
            </a:pPr>
            <a:r>
              <a:rPr lang="en-US" sz="15000" b="true" spc="-870">
                <a:solidFill>
                  <a:srgbClr val="111111"/>
                </a:solidFill>
                <a:latin typeface="Roca Two Bold"/>
                <a:ea typeface="Roca Two Bold"/>
                <a:cs typeface="Roca Two Bold"/>
                <a:sym typeface="Roca Two Bold"/>
              </a:rPr>
              <a:t>Contribution II</a:t>
            </a:r>
          </a:p>
        </p:txBody>
      </p:sp>
      <p:sp>
        <p:nvSpPr>
          <p:cNvPr id="8" name="Oval 7"/>
          <p:cNvSpPr/>
          <p:nvPr/>
        </p:nvSpPr>
        <p:spPr>
          <a:xfrm>
            <a:off x="13590479" y="2918460"/>
            <a:ext cx="1005840" cy="1005840"/>
          </a:xfrm>
          <a:prstGeom prst="ellipse">
            <a:avLst/>
          </a:prstGeom>
          <a:solidFill>
            <a:srgbClr val="ECC665"/>
          </a:solidFill>
          <a:ln>
            <a:noFill/>
          </a:ln>
        </p:spPr>
        <p:txBody>
          <a:bodyPr anchor="ctr" rtlCol="false" lIns="0" tIns="0" rIns="0" bIns="0" wrap="square"/>
          <a:lstStyle/>
          <a:p>
            <a:endParaRPr lang="en-US" sz="1800"/>
          </a:p>
        </p:txBody>
      </p:sp>
      <p:sp>
        <p:nvSpPr>
          <p:cNvPr id="9" name="TextBox 8"/>
          <p:cNvSpPr txBox="1"/>
          <p:nvPr/>
        </p:nvSpPr>
        <p:spPr>
          <a:xfrm>
            <a:off x="13590479" y="2918460"/>
            <a:ext cx="1005840" cy="1005840"/>
          </a:xfrm>
          <a:prstGeom prst="rect">
            <a:avLst/>
          </a:prstGeom>
          <a:noFill/>
        </p:spPr>
        <p:txBody>
          <a:bodyPr anchor="ctr" rtlCol="false" lIns="0" tIns="0" rIns="0" bIns="0" wrap="square"/>
          <a:lstStyle/>
          <a:p>
            <a:pPr algn="ctr">
              <a:lnSpc>
                <a:spcPts val="3400"/>
              </a:lnSpc>
              <a:spcBef>
                <a:spcPts val="0"/>
              </a:spcBef>
              <a:buNone/>
            </a:pPr>
            <a:r>
              <a:rPr lang="en-US" sz="3000" b="true">
                <a:solidFill>
                  <a:srgbClr val="111111"/>
                </a:solidFill>
                <a:latin typeface="Nunito Ultra-Bold"/>
                <a:ea typeface="Nunito Ultra-Bold"/>
                <a:cs typeface="Nunito Ultra-Bold"/>
                <a:sym typeface="Nunito Ultra-Bold"/>
              </a:rPr>
              <a:t>05</a:t>
            </a:r>
          </a:p>
        </p:txBody>
      </p:sp>
      <p:sp>
        <p:nvSpPr>
          <p:cNvPr id="10" name="TextBox 9"/>
          <p:cNvSpPr txBox="1"/>
          <p:nvPr/>
        </p:nvSpPr>
        <p:spPr>
          <a:xfrm>
            <a:off x="1028700" y="4465320"/>
            <a:ext cx="16230600" cy="640080"/>
          </a:xfrm>
          <a:prstGeom prst="rect">
            <a:avLst/>
          </a:prstGeom>
          <a:noFill/>
        </p:spPr>
        <p:txBody>
          <a:bodyPr anchor="t" rtlCol="false" lIns="0" tIns="0" rIns="0" bIns="0" wrap="square"/>
          <a:lstStyle/>
          <a:p>
            <a:pPr algn="l">
              <a:lnSpc>
                <a:spcPts val="3800"/>
              </a:lnSpc>
              <a:spcBef>
                <a:spcPts val="0"/>
              </a:spcBef>
              <a:buNone/>
            </a:pPr>
            <a:r>
              <a:rPr lang="en-US" sz="3000" b="true" spc="-150">
                <a:solidFill>
                  <a:srgbClr val="124944"/>
                </a:solidFill>
                <a:latin typeface="Nunito Bold"/>
                <a:ea typeface="Nunito Bold"/>
                <a:cs typeface="Nunito Bold"/>
                <a:sym typeface="Nunito Bold"/>
              </a:rPr>
              <a:t>Enhanced multi-level XAI for large-scale clustering  ·  answers RQ2</a:t>
            </a:r>
          </a:p>
        </p:txBody>
      </p:sp>
      <p:sp>
        <p:nvSpPr>
          <p:cNvPr id="11" name="Rectangle 10"/>
          <p:cNvSpPr/>
          <p:nvPr/>
        </p:nvSpPr>
        <p:spPr>
          <a:xfrm>
            <a:off x="0" y="5440680"/>
            <a:ext cx="18288000" cy="4846320"/>
          </a:xfrm>
          <a:prstGeom prst="rect">
            <a:avLst/>
          </a:prstGeom>
          <a:solidFill>
            <a:srgbClr val="124944"/>
          </a:solidFill>
          <a:ln>
            <a:noFill/>
          </a:ln>
        </p:spPr>
        <p:txBody>
          <a:bodyPr anchor="ctr" rtlCol="false" lIns="0" tIns="0" rIns="0" bIns="0" wrap="square"/>
          <a:lstStyle/>
          <a:p>
            <a:endParaRPr lang="en-US" sz="1800"/>
          </a:p>
        </p:txBody>
      </p:sp>
      <p:sp>
        <p:nvSpPr>
          <p:cNvPr id="12" name="TextBox 11"/>
          <p:cNvSpPr txBox="1"/>
          <p:nvPr/>
        </p:nvSpPr>
        <p:spPr>
          <a:xfrm>
            <a:off x="102870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Objectives</a:t>
            </a:r>
          </a:p>
        </p:txBody>
      </p:sp>
      <p:cxnSp>
        <p:nvCxnSpPr>
          <p:cNvPr id="13" name="Connector 12"/>
          <p:cNvCxnSpPr/>
          <p:nvPr/>
        </p:nvCxnSpPr>
        <p:spPr>
          <a:xfrm>
            <a:off x="1028700" y="6464808"/>
            <a:ext cx="640080" cy="0"/>
          </a:xfrm>
          <a:prstGeom prst="line">
            <a:avLst/>
          </a:prstGeom>
          <a:ln w="31750">
            <a:solidFill>
              <a:srgbClr val="ECC665"/>
            </a:solidFill>
          </a:ln>
        </p:spPr>
      </p:cxnSp>
      <p:sp>
        <p:nvSpPr>
          <p:cNvPr id="14" name="TextBox 13"/>
          <p:cNvSpPr txBox="1"/>
          <p:nvPr/>
        </p:nvSpPr>
        <p:spPr>
          <a:xfrm>
            <a:off x="102870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A truly multi-level workflow, a formal cross-level consistency argument (Proposition 6.1), validation on a very different large dataset.</a:t>
            </a:r>
          </a:p>
        </p:txBody>
      </p:sp>
      <p:sp>
        <p:nvSpPr>
          <p:cNvPr id="15" name="TextBox 14"/>
          <p:cNvSpPr txBox="1"/>
          <p:nvPr/>
        </p:nvSpPr>
        <p:spPr>
          <a:xfrm>
            <a:off x="657606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Methodology</a:t>
            </a:r>
          </a:p>
        </p:txBody>
      </p:sp>
      <p:cxnSp>
        <p:nvCxnSpPr>
          <p:cNvPr id="16" name="Connector 15"/>
          <p:cNvCxnSpPr/>
          <p:nvPr/>
        </p:nvCxnSpPr>
        <p:spPr>
          <a:xfrm>
            <a:off x="6576060" y="6464808"/>
            <a:ext cx="640080" cy="0"/>
          </a:xfrm>
          <a:prstGeom prst="line">
            <a:avLst/>
          </a:prstGeom>
          <a:ln w="31750">
            <a:solidFill>
              <a:srgbClr val="ECC665"/>
            </a:solidFill>
          </a:ln>
        </p:spPr>
      </p:cxnSp>
      <p:sp>
        <p:nvSpPr>
          <p:cNvPr id="17" name="TextBox 16"/>
          <p:cNvSpPr txBox="1"/>
          <p:nvPr/>
        </p:nvSpPr>
        <p:spPr>
          <a:xfrm>
            <a:off x="657606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Recursive clustering, level-specific surrogates in the same feature space, size-weighted cross-level SHAP aggregation.</a:t>
            </a:r>
          </a:p>
        </p:txBody>
      </p:sp>
      <p:sp>
        <p:nvSpPr>
          <p:cNvPr id="18" name="TextBox 17"/>
          <p:cNvSpPr txBox="1"/>
          <p:nvPr/>
        </p:nvSpPr>
        <p:spPr>
          <a:xfrm>
            <a:off x="1212342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Results</a:t>
            </a:r>
          </a:p>
        </p:txBody>
      </p:sp>
      <p:cxnSp>
        <p:nvCxnSpPr>
          <p:cNvPr id="19" name="Connector 18"/>
          <p:cNvCxnSpPr/>
          <p:nvPr/>
        </p:nvCxnSpPr>
        <p:spPr>
          <a:xfrm>
            <a:off x="12123420" y="6464808"/>
            <a:ext cx="640080" cy="0"/>
          </a:xfrm>
          <a:prstGeom prst="line">
            <a:avLst/>
          </a:prstGeom>
          <a:ln w="31750">
            <a:solidFill>
              <a:srgbClr val="ECC665"/>
            </a:solidFill>
          </a:ln>
        </p:spPr>
      </p:cxnSp>
      <p:sp>
        <p:nvSpPr>
          <p:cNvPr id="20" name="TextBox 19"/>
          <p:cNvSpPr txBox="1"/>
          <p:nvPr/>
        </p:nvSpPr>
        <p:spPr>
          <a:xfrm>
            <a:off x="1212342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Beijing Air Quality (383,585 records): Silhouette ≈ 0.63, three atmospheric regimes, weather variables at the centre of the structure.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 Louhichi, M., Nesmaoui, R. &amp; Lazaar, M. Game Theory Meets Explainable AI: An Enhanced Approach to Understanding Black Box Models Through Shapley Values. IJACSA 16(7), 716–725 (2025).   [18] Gramegna, A. &amp; Giudici, P. SHAP and LIME: An Evaluation of Discriminative Power in Credit Risk. Frontiers in AI 4, 752558 (2021).</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40</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Research Gap</a:t>
            </a:r>
          </a:p>
        </p:txBody>
      </p:sp>
      <p:pic>
        <p:nvPicPr>
          <p:cNvPr id="23" name="Picture 22" descr="image.png"/>
          <p:cNvPicPr>
            <a:picLocks noChangeAspect="1"/>
          </p:cNvPicPr>
          <p:nvPr/>
        </p:nvPicPr>
        <p:blipFill>
          <a:blip r:embed="rId3"/>
          <a:stretch>
            <a:fillRect/>
          </a:stretch>
        </p:blipFill>
        <p:spPr>
          <a:xfrm>
            <a:off x="4883941" y="1673352"/>
            <a:ext cx="457200" cy="399005"/>
          </a:xfrm>
          <a:prstGeom prst="rect">
            <a:avLst/>
          </a:prstGeom>
        </p:spPr>
      </p:pic>
      <p:sp>
        <p:nvSpPr>
          <p:cNvPr id="24" name="Rounded Rectangle 23"/>
          <p:cNvSpPr/>
          <p:nvPr/>
        </p:nvSpPr>
        <p:spPr>
          <a:xfrm>
            <a:off x="1028700" y="2559050"/>
            <a:ext cx="1691553"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16230600" cy="384175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Once clustering is multi-level, feature importance must stay readable </a:t>
            </a:r>
            <a:r>
              <a:rPr lang="en-US" sz="2100" b="true">
                <a:solidFill>
                  <a:srgbClr val="111111"/>
                </a:solidFill>
                <a:latin typeface="Nunito Bold"/>
                <a:ea typeface="Nunito Bold"/>
                <a:cs typeface="Nunito Bold"/>
                <a:sym typeface="Nunito Bold"/>
              </a:rPr>
              <a:t>within a cluster, across sub-clusters and across the levels</a:t>
            </a:r>
            <a:r>
              <a:rPr lang="en-US" sz="2100" b="true">
                <a:solidFill>
                  <a:srgbClr val="111111"/>
                </a:solidFill>
                <a:latin typeface="Nunito Semi-Bold"/>
                <a:ea typeface="Nunito Semi-Bold"/>
                <a:cs typeface="Nunito Semi-Bold"/>
                <a:sym typeface="Nunito Semi-Bold"/>
              </a:rPr>
              <a:t>.</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Large-scale data make exact explanation </a:t>
            </a:r>
            <a:r>
              <a:rPr lang="en-US" sz="2100" b="true">
                <a:solidFill>
                  <a:srgbClr val="111111"/>
                </a:solidFill>
                <a:latin typeface="Nunito Bold"/>
                <a:ea typeface="Nunito Bold"/>
                <a:cs typeface="Nunito Bold"/>
                <a:sym typeface="Nunito Bold"/>
              </a:rPr>
              <a:t>too costly to compute</a:t>
            </a:r>
            <a:r>
              <a:rPr lang="en-US" sz="2100" b="true">
                <a:solidFill>
                  <a:srgbClr val="111111"/>
                </a:solidFill>
                <a:latin typeface="Nunito Semi-Bold"/>
                <a:ea typeface="Nunito Semi-Bold"/>
                <a:cs typeface="Nunito Semi-Bold"/>
                <a:sym typeface="Nunito Semi-Bold"/>
              </a:rPr>
              <a:t>: 383,585 records cannot be explained coalition by coalition.</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A flat explanation may be true yet </a:t>
            </a:r>
            <a:r>
              <a:rPr lang="en-US" sz="2100" b="true">
                <a:solidFill>
                  <a:srgbClr val="111111"/>
                </a:solidFill>
                <a:latin typeface="Nunito Bold"/>
                <a:ea typeface="Nunito Bold"/>
                <a:cs typeface="Nunito Bold"/>
                <a:sym typeface="Nunito Bold"/>
              </a:rPr>
              <a:t>incomplete</a:t>
            </a:r>
            <a:r>
              <a:rPr lang="en-US" sz="2100" b="true">
                <a:solidFill>
                  <a:srgbClr val="111111"/>
                </a:solidFill>
                <a:latin typeface="Nunito Semi-Bold"/>
                <a:ea typeface="Nunito Semi-Bold"/>
                <a:cs typeface="Nunito Semi-Bold"/>
                <a:sym typeface="Nunito Semi-Bold"/>
              </a:rPr>
              <a:t>: it cannot show how importance changes inside a cluster.</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Existing hierarchical clustering work reports structure but gives </a:t>
            </a:r>
            <a:r>
              <a:rPr lang="en-US" sz="2100" b="true">
                <a:solidFill>
                  <a:srgbClr val="111111"/>
                </a:solidFill>
                <a:latin typeface="Nunito Bold"/>
                <a:ea typeface="Nunito Bold"/>
                <a:cs typeface="Nunito Bold"/>
                <a:sym typeface="Nunito Bold"/>
              </a:rPr>
              <a:t>no formal link</a:t>
            </a:r>
            <a:r>
              <a:rPr lang="en-US" sz="2100" b="true">
                <a:solidFill>
                  <a:srgbClr val="111111"/>
                </a:solidFill>
                <a:latin typeface="Nunito Semi-Bold"/>
                <a:ea typeface="Nunito Semi-Bold"/>
                <a:cs typeface="Nunito Semi-Bold"/>
                <a:sym typeface="Nunito Semi-Bold"/>
              </a:rPr>
              <a:t> between the explanation of a parent and that of its children.</a:t>
            </a:r>
          </a:p>
        </p:txBody>
      </p:sp>
      <p:sp>
        <p:nvSpPr>
          <p:cNvPr id="29" name="Rounded Rectangle 28"/>
          <p:cNvSpPr/>
          <p:nvPr/>
        </p:nvSpPr>
        <p:spPr>
          <a:xfrm>
            <a:off x="1028700" y="7616952"/>
            <a:ext cx="16230600" cy="1600200"/>
          </a:xfrm>
          <a:prstGeom prst="roundRect">
            <a:avLst>
              <a:gd name="adj" fmla="val 12571"/>
            </a:avLst>
          </a:prstGeom>
          <a:solidFill>
            <a:srgbClr val="F6ECDF"/>
          </a:solidFill>
          <a:ln w="25400">
            <a:solidFill>
              <a:srgbClr val="DF8330"/>
            </a:solidFill>
          </a:ln>
        </p:spPr>
        <p:txBody>
          <a:bodyPr anchor="ctr" rtlCol="false" lIns="0" tIns="0" rIns="0" bIns="0" wrap="square"/>
          <a:lstStyle/>
          <a:p>
            <a:endParaRPr lang="en-US" sz="1800"/>
          </a:p>
        </p:txBody>
      </p:sp>
      <p:sp>
        <p:nvSpPr>
          <p:cNvPr id="30" name="Rounded Rectangle 29"/>
          <p:cNvSpPr/>
          <p:nvPr/>
        </p:nvSpPr>
        <p:spPr>
          <a:xfrm>
            <a:off x="1348740" y="7424928"/>
            <a:ext cx="1976535"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RESEARCH GAP</a:t>
            </a:r>
          </a:p>
        </p:txBody>
      </p:sp>
      <p:sp>
        <p:nvSpPr>
          <p:cNvPr id="31" name="TextBox 30"/>
          <p:cNvSpPr txBox="1"/>
          <p:nvPr/>
        </p:nvSpPr>
        <p:spPr>
          <a:xfrm>
            <a:off x="1394460" y="7891272"/>
            <a:ext cx="15499080" cy="1188720"/>
          </a:xfrm>
          <a:prstGeom prst="rect">
            <a:avLst/>
          </a:prstGeom>
          <a:noFill/>
        </p:spPr>
        <p:txBody>
          <a:bodyPr anchor="ctr" rtlCol="false" lIns="0" tIns="0" rIns="0" bIns="0" wrap="square"/>
          <a:lstStyle/>
          <a:p>
            <a:pPr algn="l">
              <a:lnSpc>
                <a:spcPts val="3080"/>
              </a:lnSpc>
              <a:spcBef>
                <a:spcPts val="0"/>
              </a:spcBef>
              <a:buNone/>
            </a:pPr>
            <a:r>
              <a:rPr lang="en-US" sz="2200" b="true">
                <a:solidFill>
                  <a:srgbClr val="111111"/>
                </a:solidFill>
                <a:latin typeface="Nunito Semi-Bold"/>
                <a:ea typeface="Nunito Semi-Bold"/>
                <a:cs typeface="Nunito Semi-Bold"/>
                <a:sym typeface="Nunito Semi-Bold"/>
              </a:rPr>
              <a:t>There is no multi-level explanation method for large-scale clustering that is </a:t>
            </a:r>
            <a:r>
              <a:rPr lang="en-US" sz="2200" b="true">
                <a:solidFill>
                  <a:srgbClr val="111111"/>
                </a:solidFill>
                <a:latin typeface="Nunito Bold"/>
                <a:ea typeface="Nunito Bold"/>
                <a:cs typeface="Nunito Bold"/>
                <a:sym typeface="Nunito Bold"/>
              </a:rPr>
              <a:t>both computationally feasible and provably consistent across levels</a:t>
            </a:r>
            <a:r>
              <a:rPr lang="en-US" sz="2200" b="true">
                <a:solidFill>
                  <a:srgbClr val="111111"/>
                </a:solidFill>
                <a:latin typeface="Nunito Semi-Bold"/>
                <a:ea typeface="Nunito Semi-Bold"/>
                <a:cs typeface="Nunito Semi-Bold"/>
                <a:sym typeface="Nunito Semi-Bold"/>
              </a:rPr>
              <a: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41</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RQ2 and Objectives</a:t>
            </a:r>
          </a:p>
        </p:txBody>
      </p:sp>
      <p:pic>
        <p:nvPicPr>
          <p:cNvPr id="23" name="Picture 22" descr="image.png"/>
          <p:cNvPicPr>
            <a:picLocks noChangeAspect="1"/>
          </p:cNvPicPr>
          <p:nvPr/>
        </p:nvPicPr>
        <p:blipFill>
          <a:blip r:embed="rId3"/>
          <a:stretch>
            <a:fillRect/>
          </a:stretch>
        </p:blipFill>
        <p:spPr>
          <a:xfrm>
            <a:off x="6337553" y="1673352"/>
            <a:ext cx="457200" cy="446713"/>
          </a:xfrm>
          <a:prstGeom prst="rect">
            <a:avLst/>
          </a:prstGeom>
        </p:spPr>
      </p:pic>
      <p:sp>
        <p:nvSpPr>
          <p:cNvPr id="24" name="Rounded Rectangle 23"/>
          <p:cNvSpPr/>
          <p:nvPr/>
        </p:nvSpPr>
        <p:spPr>
          <a:xfrm>
            <a:off x="1028700" y="2559050"/>
            <a:ext cx="1691553"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Rounded Rectangle 27"/>
          <p:cNvSpPr/>
          <p:nvPr/>
        </p:nvSpPr>
        <p:spPr>
          <a:xfrm>
            <a:off x="1028700" y="3546602"/>
            <a:ext cx="16230600" cy="1325880"/>
          </a:xfrm>
          <a:prstGeom prst="roundRect">
            <a:avLst>
              <a:gd name="adj" fmla="val 15172"/>
            </a:avLst>
          </a:prstGeom>
          <a:solidFill>
            <a:srgbClr val="F6ECDF"/>
          </a:solidFill>
          <a:ln w="25400">
            <a:solidFill>
              <a:srgbClr val="124944"/>
            </a:solidFill>
          </a:ln>
        </p:spPr>
        <p:txBody>
          <a:bodyPr anchor="ctr" rtlCol="false" lIns="0" tIns="0" rIns="0" bIns="0" wrap="square"/>
          <a:lstStyle/>
          <a:p>
            <a:endParaRPr lang="en-US" sz="1800"/>
          </a:p>
        </p:txBody>
      </p:sp>
      <p:sp>
        <p:nvSpPr>
          <p:cNvPr id="29" name="Rounded Rectangle 28"/>
          <p:cNvSpPr/>
          <p:nvPr/>
        </p:nvSpPr>
        <p:spPr>
          <a:xfrm>
            <a:off x="1348740" y="3354578"/>
            <a:ext cx="927910" cy="384048"/>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RQ2</a:t>
            </a:r>
          </a:p>
        </p:txBody>
      </p:sp>
      <p:sp>
        <p:nvSpPr>
          <p:cNvPr id="30" name="TextBox 29"/>
          <p:cNvSpPr txBox="1"/>
          <p:nvPr/>
        </p:nvSpPr>
        <p:spPr>
          <a:xfrm>
            <a:off x="1394460" y="3820922"/>
            <a:ext cx="15499080" cy="914400"/>
          </a:xfrm>
          <a:prstGeom prst="rect">
            <a:avLst/>
          </a:prstGeom>
          <a:noFill/>
        </p:spPr>
        <p:txBody>
          <a:bodyPr anchor="ctr" rtlCol="false" lIns="0" tIns="0" rIns="0" bIns="0" wrap="square"/>
          <a:lstStyle/>
          <a:p>
            <a:pPr algn="l">
              <a:lnSpc>
                <a:spcPts val="3080"/>
              </a:lnSpc>
              <a:spcBef>
                <a:spcPts val="0"/>
              </a:spcBef>
              <a:buNone/>
            </a:pPr>
            <a:r>
              <a:rPr lang="en-US" sz="2200" b="true">
                <a:solidFill>
                  <a:srgbClr val="111111"/>
                </a:solidFill>
                <a:latin typeface="Nunito Semi-Bold"/>
                <a:ea typeface="Nunito Semi-Bold"/>
                <a:cs typeface="Nunito Semi-Bold"/>
                <a:sym typeface="Nunito Semi-Bold"/>
              </a:rPr>
              <a:t>How can the Shapley explanation extend to </a:t>
            </a:r>
            <a:r>
              <a:rPr lang="en-US" sz="2200" b="true">
                <a:solidFill>
                  <a:srgbClr val="111111"/>
                </a:solidFill>
                <a:latin typeface="Nunito Bold"/>
                <a:ea typeface="Nunito Bold"/>
                <a:cs typeface="Nunito Bold"/>
                <a:sym typeface="Nunito Bold"/>
              </a:rPr>
              <a:t>large-scale, multi-level clustering</a:t>
            </a:r>
            <a:r>
              <a:rPr lang="en-US" sz="2200" b="true">
                <a:solidFill>
                  <a:srgbClr val="111111"/>
                </a:solidFill>
                <a:latin typeface="Nunito Semi-Bold"/>
                <a:ea typeface="Nunito Semi-Bold"/>
                <a:cs typeface="Nunito Semi-Bold"/>
                <a:sym typeface="Nunito Semi-Bold"/>
              </a:rPr>
              <a:t> while staying feasible and consistent?</a:t>
            </a:r>
          </a:p>
        </p:txBody>
      </p:sp>
      <p:graphicFrame>
        <p:nvGraphicFramePr>
          <p:cNvPr id="31" name="Table 30"/>
          <p:cNvGraphicFramePr>
            <a:graphicFrameLocks noGrp="1"/>
          </p:cNvGraphicFramePr>
          <p:nvPr/>
        </p:nvGraphicFramePr>
        <p:xfrm>
          <a:off x="1028700" y="5283962"/>
          <a:ext cx="16230599" cy="3291840"/>
        </p:xfrm>
        <a:graphic>
          <a:graphicData uri="http://schemas.openxmlformats.org/drawingml/2006/table">
            <a:tbl>
              <a:tblPr firstRow="0" bandRow="0" firstCol="0" lastRow="0" lastCol="0" bandCol="0">
                <a:tableStyleId>{2D5ABB26-0587-4C30-8999-92F81FD0307C}</a:tableStyleId>
              </a:tblPr>
              <a:tblGrid>
                <a:gridCol w="4785946"/>
                <a:gridCol w="7699130"/>
                <a:gridCol w="3745523"/>
              </a:tblGrid>
              <a:tr h="82296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Objective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What it delivers</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Where it is shown</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82296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O1  ·  A truly multi-level workflow</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Recursive clustering with </a:t>
                      </a:r>
                      <a:r>
                        <a:rPr lang="en-US" sz="1800" b="true">
                          <a:solidFill>
                            <a:srgbClr val="111111"/>
                          </a:solidFill>
                          <a:latin typeface="Nunito Bold"/>
                          <a:ea typeface="Nunito Bold"/>
                          <a:cs typeface="Nunito Bold"/>
                          <a:sym typeface="Nunito Bold"/>
                        </a:rPr>
                        <a:t>level-specific surrogates</a:t>
                      </a:r>
                      <a:r>
                        <a:rPr lang="en-US" sz="1800" b="true">
                          <a:solidFill>
                            <a:srgbClr val="111111"/>
                          </a:solidFill>
                          <a:latin typeface="Nunito Semi-Bold"/>
                          <a:ea typeface="Nunito Semi-Bold"/>
                          <a:cs typeface="Nunito Semi-Bold"/>
                          <a:sym typeface="Nunito Semi-Bold"/>
                        </a:rPr>
                        <a:t>, not a rerun of the single-level pipeline.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Workflow, Fig. 6.3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82296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O2  ·  A formal consistency argument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Proposition 6.1</a:t>
                      </a:r>
                      <a:r>
                        <a:rPr lang="en-US" sz="1800" b="true">
                          <a:solidFill>
                            <a:srgbClr val="111111"/>
                          </a:solidFill>
                          <a:latin typeface="Nunito Semi-Bold"/>
                          <a:ea typeface="Nunito Semi-Bold"/>
                          <a:cs typeface="Nunito Semi-Bold"/>
                          <a:sym typeface="Nunito Semi-Bold"/>
                        </a:rPr>
                        <a:t>: parent importance equals the size-weighted expectation over its children.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Proposition 6.1</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82296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O3  ·  Validation at scale on new data</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Beijing Multi-Site Air Quality: </a:t>
                      </a:r>
                      <a:r>
                        <a:rPr lang="en-US" sz="1800" b="true">
                          <a:solidFill>
                            <a:srgbClr val="111111"/>
                          </a:solidFill>
                          <a:latin typeface="Nunito Bold"/>
                          <a:ea typeface="Nunito Bold"/>
                          <a:cs typeface="Nunito Bold"/>
                          <a:sym typeface="Nunito Bold"/>
                        </a:rPr>
                        <a:t>383,585 hourly records</a:t>
                      </a:r>
                      <a:r>
                        <a:rPr lang="en-US" sz="1800" b="true">
                          <a:solidFill>
                            <a:srgbClr val="111111"/>
                          </a:solidFill>
                          <a:latin typeface="Nunito Semi-Bold"/>
                          <a:ea typeface="Nunito Semi-Bold"/>
                          <a:cs typeface="Nunito Semi-Bold"/>
                          <a:sym typeface="Nunito Semi-Bold"/>
                        </a:rPr>
                        <a:t>, a domain far from wine.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Table 6.1, Fig. 6.1, 6.2</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42</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Multi-Level Workflow with Cross-Level Aggregation</a:t>
            </a:r>
          </a:p>
        </p:txBody>
      </p:sp>
      <p:pic>
        <p:nvPicPr>
          <p:cNvPr id="23" name="Picture 22" descr="image.png"/>
          <p:cNvPicPr>
            <a:picLocks noChangeAspect="1"/>
          </p:cNvPicPr>
          <p:nvPr/>
        </p:nvPicPr>
        <p:blipFill>
          <a:blip r:embed="rId3"/>
          <a:stretch>
            <a:fillRect/>
          </a:stretch>
        </p:blipFill>
        <p:spPr>
          <a:xfrm>
            <a:off x="14669741" y="1673352"/>
            <a:ext cx="457200" cy="452148"/>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7680960" cy="594487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Recursive / nested:</a:t>
            </a:r>
            <a:r>
              <a:rPr lang="en-US" sz="2100" b="true">
                <a:solidFill>
                  <a:srgbClr val="111111"/>
                </a:solidFill>
                <a:latin typeface="Nunito Semi-Bold"/>
                <a:ea typeface="Nunito Semi-Bold"/>
                <a:cs typeface="Nunito Semi-Bold"/>
                <a:sym typeface="Nunito Semi-Bold"/>
              </a:rPr>
              <a:t> coarse clustering on the full dataset, then split each cluster again.</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For each level, train a </a:t>
            </a:r>
            <a:r>
              <a:rPr lang="en-US" sz="2100" b="true">
                <a:solidFill>
                  <a:srgbClr val="111111"/>
                </a:solidFill>
                <a:latin typeface="Nunito Bold"/>
                <a:ea typeface="Nunito Bold"/>
                <a:cs typeface="Nunito Bold"/>
                <a:sym typeface="Nunito Bold"/>
              </a:rPr>
              <a:t>level-specific surrogate</a:t>
            </a:r>
            <a:r>
              <a:rPr lang="en-US" sz="2100" b="true">
                <a:solidFill>
                  <a:srgbClr val="111111"/>
                </a:solidFill>
                <a:latin typeface="Nunito Semi-Bold"/>
                <a:ea typeface="Nunito Semi-Bold"/>
                <a:cs typeface="Nunito Semi-Bold"/>
                <a:sym typeface="Nunito Semi-Bold"/>
              </a:rPr>
              <a:t> and compute SHAP in the </a:t>
            </a:r>
            <a:r>
              <a:rPr lang="en-US" sz="2100" b="true">
                <a:solidFill>
                  <a:srgbClr val="111111"/>
                </a:solidFill>
                <a:latin typeface="Nunito Bold"/>
                <a:ea typeface="Nunito Bold"/>
                <a:cs typeface="Nunito Bold"/>
                <a:sym typeface="Nunito Bold"/>
              </a:rPr>
              <a:t>SAME original feature space</a:t>
            </a:r>
            <a:r>
              <a:rPr lang="en-US" sz="2100" b="true">
                <a:solidFill>
                  <a:srgbClr val="111111"/>
                </a:solidFill>
                <a:latin typeface="Nunito Semi-Bold"/>
                <a:ea typeface="Nunito Semi-Bold"/>
                <a:cs typeface="Nunito Semi-Bold"/>
                <a:sym typeface="Nunito Semi-Bold"/>
              </a:rPr>
              <a:t>.</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Cross-level aggregation is </a:t>
            </a:r>
            <a:r>
              <a:rPr lang="en-US" sz="2100" b="true">
                <a:solidFill>
                  <a:srgbClr val="111111"/>
                </a:solidFill>
                <a:latin typeface="Nunito Bold"/>
                <a:ea typeface="Nunito Bold"/>
                <a:cs typeface="Nunito Bold"/>
                <a:sym typeface="Nunito Bold"/>
              </a:rPr>
              <a:t>NOT a naive average</a:t>
            </a:r>
            <a:r>
              <a:rPr lang="en-US" sz="2100" b="true">
                <a:solidFill>
                  <a:srgbClr val="111111"/>
                </a:solidFill>
                <a:latin typeface="Nunito Semi-Bold"/>
                <a:ea typeface="Nunito Semi-Bold"/>
                <a:cs typeface="Nunito Semi-Bold"/>
                <a:sym typeface="Nunito Semi-Bold"/>
              </a:rPr>
              <a:t>: it respects cluster size and nesting structure.</a:t>
            </a:r>
          </a:p>
          <a:p>
            <a:pPr algn="l" marL="658368" indent="-256032">
              <a:lnSpc>
                <a:spcPts val="2660"/>
              </a:lnSpc>
              <a:spcBef>
                <a:spcPts val="300"/>
              </a:spcBef>
              <a:buClr>
                <a:srgbClr val="124944"/>
              </a:buClr>
              <a:buSzPct val="100000"/>
              <a:buFont typeface="Arial"/>
              <a:buChar char="–"/>
            </a:pPr>
            <a:r>
              <a:rPr lang="en-US" sz="1900" b="true">
                <a:solidFill>
                  <a:srgbClr val="111111"/>
                </a:solidFill>
                <a:latin typeface="Nunito Semi-Bold"/>
                <a:ea typeface="Nunito Semi-Bold"/>
                <a:cs typeface="Nunito Semi-Bold"/>
                <a:sym typeface="Nunito Semi-Bold"/>
              </a:rPr>
              <a:t>Parent-level attribution = an </a:t>
            </a:r>
            <a:r>
              <a:rPr lang="en-US" sz="1900" b="true">
                <a:solidFill>
                  <a:srgbClr val="111111"/>
                </a:solidFill>
                <a:latin typeface="Nunito Bold"/>
                <a:ea typeface="Nunito Bold"/>
                <a:cs typeface="Nunito Bold"/>
                <a:sym typeface="Nunito Bold"/>
              </a:rPr>
              <a:t>expectation over the explanations of its children</a:t>
            </a:r>
            <a:r>
              <a:rPr lang="en-US" sz="1900" b="true">
                <a:solidFill>
                  <a:srgbClr val="111111"/>
                </a:solidFill>
                <a:latin typeface="Nunito Semi-Bold"/>
                <a:ea typeface="Nunito Semi-Bold"/>
                <a:cs typeface="Nunito Semi-Bold"/>
                <a:sym typeface="Nunito Semi-Bold"/>
              </a:rPr>
              <a:t>.</a:t>
            </a:r>
          </a:p>
          <a:p>
            <a:pPr algn="l" marL="658368" indent="-256032">
              <a:lnSpc>
                <a:spcPts val="2660"/>
              </a:lnSpc>
              <a:spcBef>
                <a:spcPts val="300"/>
              </a:spcBef>
              <a:buClr>
                <a:srgbClr val="124944"/>
              </a:buClr>
              <a:buSzPct val="100000"/>
              <a:buFont typeface="Arial"/>
              <a:buChar char="–"/>
            </a:pPr>
            <a:r>
              <a:rPr lang="en-US" sz="1900" b="true">
                <a:solidFill>
                  <a:srgbClr val="111111"/>
                </a:solidFill>
                <a:latin typeface="Nunito Semi-Bold"/>
                <a:ea typeface="Nunito Semi-Bold"/>
                <a:cs typeface="Nunito Semi-Bold"/>
                <a:sym typeface="Nunito Semi-Bold"/>
              </a:rPr>
              <a:t>The hierarchy is a practical analysis tool, not a claim that nature is really organised this way.</a:t>
            </a:r>
          </a:p>
        </p:txBody>
      </p:sp>
      <p:sp>
        <p:nvSpPr>
          <p:cNvPr id="29" name="Rounded Rectangle 28"/>
          <p:cNvSpPr/>
          <p:nvPr/>
        </p:nvSpPr>
        <p:spPr>
          <a:xfrm>
            <a:off x="11258550" y="3363722"/>
            <a:ext cx="4000500" cy="868680"/>
          </a:xfrm>
          <a:prstGeom prst="roundRect">
            <a:avLst>
              <a:gd name="adj" fmla="val 21052"/>
            </a:avLst>
          </a:prstGeom>
          <a:solidFill>
            <a:srgbClr val="111111"/>
          </a:solidFill>
          <a:ln>
            <a:noFill/>
          </a:ln>
        </p:spPr>
        <p:txBody>
          <a:bodyPr anchor="ctr" rtlCol="false" lIns="91440" tIns="45720" rIns="91440" bIns="45720" wrap="square"/>
          <a:lstStyle/>
          <a:p>
            <a:pPr algn="ctr">
              <a:lnSpc>
                <a:spcPts val="2070"/>
              </a:lnSpc>
              <a:spcBef>
                <a:spcPts val="0"/>
              </a:spcBef>
              <a:buNone/>
            </a:pPr>
            <a:r>
              <a:rPr lang="en-US" sz="1800" b="true">
                <a:solidFill>
                  <a:srgbClr val="FFFFFF"/>
                </a:solidFill>
                <a:latin typeface="Nunito Bold"/>
                <a:ea typeface="Nunito Bold"/>
                <a:cs typeface="Nunito Bold"/>
                <a:sym typeface="Nunito Bold"/>
              </a:rPr>
              <a:t>Level 1 · coarse clustering (k = 3)</a:t>
            </a:r>
          </a:p>
        </p:txBody>
      </p:sp>
      <p:sp>
        <p:nvSpPr>
          <p:cNvPr id="30" name="Rounded Rectangle 29"/>
          <p:cNvSpPr/>
          <p:nvPr/>
        </p:nvSpPr>
        <p:spPr>
          <a:xfrm>
            <a:off x="9258300" y="4826762"/>
            <a:ext cx="2514600" cy="1234440"/>
          </a:xfrm>
          <a:prstGeom prst="roundRect">
            <a:avLst>
              <a:gd name="adj" fmla="val 14814"/>
            </a:avLst>
          </a:prstGeom>
          <a:solidFill>
            <a:srgbClr val="124944"/>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Regime A</a:t>
            </a:r>
          </a:p>
          <a:p>
            <a:pPr algn="ctr">
              <a:lnSpc>
                <a:spcPts val="1680"/>
              </a:lnSpc>
              <a:spcBef>
                <a:spcPts val="300"/>
              </a:spcBef>
              <a:buNone/>
            </a:pPr>
            <a:r>
              <a:rPr lang="en-US" sz="1400" b="true">
                <a:solidFill>
                  <a:srgbClr val="FFFFFF"/>
                </a:solidFill>
                <a:latin typeface="Nunito Semi-Bold"/>
                <a:ea typeface="Nunito Semi-Bold"/>
                <a:cs typeface="Nunito Semi-Bold"/>
                <a:sym typeface="Nunito Semi-Bold"/>
              </a:rPr>
              <a:t>temp · dew point · ozone</a:t>
            </a:r>
          </a:p>
        </p:txBody>
      </p:sp>
      <p:cxnSp>
        <p:nvCxnSpPr>
          <p:cNvPr id="31" name="Connector 30"/>
          <p:cNvCxnSpPr/>
          <p:nvPr/>
        </p:nvCxnSpPr>
        <p:spPr>
          <a:xfrm flipH="1">
            <a:off x="10515600" y="4278122"/>
            <a:ext cx="2743200" cy="502920"/>
          </a:xfrm>
          <a:prstGeom prst="line">
            <a:avLst/>
          </a:prstGeom>
          <a:ln w="25400">
            <a:solidFill>
              <a:srgbClr val="124944"/>
            </a:solidFill>
            <a:tailEnd type="triangle" w="med" len="med"/>
          </a:ln>
        </p:spPr>
      </p:cxnSp>
      <p:sp>
        <p:nvSpPr>
          <p:cNvPr id="32" name="Rounded Rectangle 31"/>
          <p:cNvSpPr/>
          <p:nvPr/>
        </p:nvSpPr>
        <p:spPr>
          <a:xfrm>
            <a:off x="9258300" y="6518402"/>
            <a:ext cx="1202436" cy="640080"/>
          </a:xfrm>
          <a:prstGeom prst="roundRect">
            <a:avLst>
              <a:gd name="adj" fmla="val 17142"/>
            </a:avLst>
          </a:prstGeom>
          <a:solidFill>
            <a:srgbClr val="F6ECDF"/>
          </a:solidFill>
          <a:ln>
            <a:noFill/>
          </a:ln>
        </p:spPr>
        <p:txBody>
          <a:bodyPr anchor="ctr" rtlCol="false" lIns="91440" tIns="45720" rIns="91440" bIns="45720" wrap="square"/>
          <a:lstStyle/>
          <a:p>
            <a:pPr algn="ctr">
              <a:lnSpc>
                <a:spcPts val="1610"/>
              </a:lnSpc>
              <a:spcBef>
                <a:spcPts val="0"/>
              </a:spcBef>
              <a:buNone/>
            </a:pPr>
            <a:r>
              <a:rPr lang="en-US" sz="1400" b="true">
                <a:solidFill>
                  <a:srgbClr val="111111"/>
                </a:solidFill>
                <a:latin typeface="Nunito Bold"/>
                <a:ea typeface="Nunito Bold"/>
                <a:cs typeface="Nunito Bold"/>
                <a:sym typeface="Nunito Bold"/>
              </a:rPr>
              <a:t>sub 1</a:t>
            </a:r>
          </a:p>
        </p:txBody>
      </p:sp>
      <p:cxnSp>
        <p:nvCxnSpPr>
          <p:cNvPr id="33" name="Connector 32"/>
          <p:cNvCxnSpPr/>
          <p:nvPr/>
        </p:nvCxnSpPr>
        <p:spPr>
          <a:xfrm flipH="1">
            <a:off x="9859518" y="6088634"/>
            <a:ext cx="656082" cy="393192"/>
          </a:xfrm>
          <a:prstGeom prst="line">
            <a:avLst/>
          </a:prstGeom>
          <a:ln w="19050">
            <a:solidFill>
              <a:srgbClr val="124944"/>
            </a:solidFill>
            <a:tailEnd type="triangle" w="med" len="med"/>
          </a:ln>
        </p:spPr>
      </p:cxnSp>
      <p:sp>
        <p:nvSpPr>
          <p:cNvPr id="34" name="Rounded Rectangle 33"/>
          <p:cNvSpPr/>
          <p:nvPr/>
        </p:nvSpPr>
        <p:spPr>
          <a:xfrm>
            <a:off x="10570464" y="6518402"/>
            <a:ext cx="1202436" cy="640080"/>
          </a:xfrm>
          <a:prstGeom prst="roundRect">
            <a:avLst>
              <a:gd name="adj" fmla="val 17142"/>
            </a:avLst>
          </a:prstGeom>
          <a:solidFill>
            <a:srgbClr val="F6ECDF"/>
          </a:solidFill>
          <a:ln>
            <a:noFill/>
          </a:ln>
        </p:spPr>
        <p:txBody>
          <a:bodyPr anchor="ctr" rtlCol="false" lIns="91440" tIns="45720" rIns="91440" bIns="45720" wrap="square"/>
          <a:lstStyle/>
          <a:p>
            <a:pPr algn="ctr">
              <a:lnSpc>
                <a:spcPts val="1610"/>
              </a:lnSpc>
              <a:spcBef>
                <a:spcPts val="0"/>
              </a:spcBef>
              <a:buNone/>
            </a:pPr>
            <a:r>
              <a:rPr lang="en-US" sz="1400" b="true">
                <a:solidFill>
                  <a:srgbClr val="111111"/>
                </a:solidFill>
                <a:latin typeface="Nunito Bold"/>
                <a:ea typeface="Nunito Bold"/>
                <a:cs typeface="Nunito Bold"/>
                <a:sym typeface="Nunito Bold"/>
              </a:rPr>
              <a:t>sub 2</a:t>
            </a:r>
          </a:p>
        </p:txBody>
      </p:sp>
      <p:cxnSp>
        <p:nvCxnSpPr>
          <p:cNvPr id="35" name="Connector 34"/>
          <p:cNvCxnSpPr/>
          <p:nvPr/>
        </p:nvCxnSpPr>
        <p:spPr>
          <a:xfrm>
            <a:off x="10515600" y="6088634"/>
            <a:ext cx="656082" cy="393192"/>
          </a:xfrm>
          <a:prstGeom prst="line">
            <a:avLst/>
          </a:prstGeom>
          <a:ln w="19050">
            <a:solidFill>
              <a:srgbClr val="124944"/>
            </a:solidFill>
            <a:tailEnd type="triangle" w="med" len="med"/>
          </a:ln>
        </p:spPr>
      </p:cxnSp>
      <p:sp>
        <p:nvSpPr>
          <p:cNvPr id="36" name="Rounded Rectangle 35"/>
          <p:cNvSpPr/>
          <p:nvPr/>
        </p:nvSpPr>
        <p:spPr>
          <a:xfrm>
            <a:off x="12001500" y="4826762"/>
            <a:ext cx="2514600" cy="1234440"/>
          </a:xfrm>
          <a:prstGeom prst="roundRect">
            <a:avLst>
              <a:gd name="adj" fmla="val 14814"/>
            </a:avLst>
          </a:prstGeom>
          <a:solidFill>
            <a:srgbClr val="1E5F58"/>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Regime B</a:t>
            </a:r>
          </a:p>
          <a:p>
            <a:pPr algn="ctr">
              <a:lnSpc>
                <a:spcPts val="1680"/>
              </a:lnSpc>
              <a:spcBef>
                <a:spcPts val="300"/>
              </a:spcBef>
              <a:buNone/>
            </a:pPr>
            <a:r>
              <a:rPr lang="en-US" sz="1400" b="true">
                <a:solidFill>
                  <a:srgbClr val="FFFFFF"/>
                </a:solidFill>
                <a:latin typeface="Nunito Semi-Bold"/>
                <a:ea typeface="Nunito Semi-Bold"/>
                <a:cs typeface="Nunito Semi-Bold"/>
                <a:sym typeface="Nunito Semi-Bold"/>
              </a:rPr>
              <a:t>CO · SO₂ · PM · wind</a:t>
            </a:r>
          </a:p>
        </p:txBody>
      </p:sp>
      <p:cxnSp>
        <p:nvCxnSpPr>
          <p:cNvPr id="37" name="Connector 36"/>
          <p:cNvCxnSpPr/>
          <p:nvPr/>
        </p:nvCxnSpPr>
        <p:spPr>
          <a:xfrm>
            <a:off x="13258800" y="4278122"/>
            <a:ext cx="0" cy="502920"/>
          </a:xfrm>
          <a:prstGeom prst="line">
            <a:avLst/>
          </a:prstGeom>
          <a:ln w="25400">
            <a:solidFill>
              <a:srgbClr val="124944"/>
            </a:solidFill>
            <a:tailEnd type="triangle" w="med" len="med"/>
          </a:ln>
        </p:spPr>
      </p:cxnSp>
      <p:sp>
        <p:nvSpPr>
          <p:cNvPr id="38" name="Rounded Rectangle 37"/>
          <p:cNvSpPr/>
          <p:nvPr/>
        </p:nvSpPr>
        <p:spPr>
          <a:xfrm>
            <a:off x="12001500" y="6518402"/>
            <a:ext cx="1202436" cy="640080"/>
          </a:xfrm>
          <a:prstGeom prst="roundRect">
            <a:avLst>
              <a:gd name="adj" fmla="val 17142"/>
            </a:avLst>
          </a:prstGeom>
          <a:solidFill>
            <a:srgbClr val="F6ECDF"/>
          </a:solidFill>
          <a:ln>
            <a:noFill/>
          </a:ln>
        </p:spPr>
        <p:txBody>
          <a:bodyPr anchor="ctr" rtlCol="false" lIns="91440" tIns="45720" rIns="91440" bIns="45720" wrap="square"/>
          <a:lstStyle/>
          <a:p>
            <a:pPr algn="ctr">
              <a:lnSpc>
                <a:spcPts val="1610"/>
              </a:lnSpc>
              <a:spcBef>
                <a:spcPts val="0"/>
              </a:spcBef>
              <a:buNone/>
            </a:pPr>
            <a:r>
              <a:rPr lang="en-US" sz="1400" b="true">
                <a:solidFill>
                  <a:srgbClr val="111111"/>
                </a:solidFill>
                <a:latin typeface="Nunito Bold"/>
                <a:ea typeface="Nunito Bold"/>
                <a:cs typeface="Nunito Bold"/>
                <a:sym typeface="Nunito Bold"/>
              </a:rPr>
              <a:t>sub 1</a:t>
            </a:r>
          </a:p>
        </p:txBody>
      </p:sp>
      <p:cxnSp>
        <p:nvCxnSpPr>
          <p:cNvPr id="39" name="Connector 38"/>
          <p:cNvCxnSpPr/>
          <p:nvPr/>
        </p:nvCxnSpPr>
        <p:spPr>
          <a:xfrm flipH="1">
            <a:off x="12602718" y="6088634"/>
            <a:ext cx="656082" cy="393192"/>
          </a:xfrm>
          <a:prstGeom prst="line">
            <a:avLst/>
          </a:prstGeom>
          <a:ln w="19050">
            <a:solidFill>
              <a:srgbClr val="124944"/>
            </a:solidFill>
            <a:tailEnd type="triangle" w="med" len="med"/>
          </a:ln>
        </p:spPr>
      </p:cxnSp>
      <p:sp>
        <p:nvSpPr>
          <p:cNvPr id="40" name="Rounded Rectangle 39"/>
          <p:cNvSpPr/>
          <p:nvPr/>
        </p:nvSpPr>
        <p:spPr>
          <a:xfrm>
            <a:off x="13313664" y="6518402"/>
            <a:ext cx="1202436" cy="640080"/>
          </a:xfrm>
          <a:prstGeom prst="roundRect">
            <a:avLst>
              <a:gd name="adj" fmla="val 17142"/>
            </a:avLst>
          </a:prstGeom>
          <a:solidFill>
            <a:srgbClr val="F6ECDF"/>
          </a:solidFill>
          <a:ln>
            <a:noFill/>
          </a:ln>
        </p:spPr>
        <p:txBody>
          <a:bodyPr anchor="ctr" rtlCol="false" lIns="91440" tIns="45720" rIns="91440" bIns="45720" wrap="square"/>
          <a:lstStyle/>
          <a:p>
            <a:pPr algn="ctr">
              <a:lnSpc>
                <a:spcPts val="1610"/>
              </a:lnSpc>
              <a:spcBef>
                <a:spcPts val="0"/>
              </a:spcBef>
              <a:buNone/>
            </a:pPr>
            <a:r>
              <a:rPr lang="en-US" sz="1400" b="true">
                <a:solidFill>
                  <a:srgbClr val="111111"/>
                </a:solidFill>
                <a:latin typeface="Nunito Bold"/>
                <a:ea typeface="Nunito Bold"/>
                <a:cs typeface="Nunito Bold"/>
                <a:sym typeface="Nunito Bold"/>
              </a:rPr>
              <a:t>sub 2</a:t>
            </a:r>
          </a:p>
        </p:txBody>
      </p:sp>
      <p:cxnSp>
        <p:nvCxnSpPr>
          <p:cNvPr id="41" name="Connector 40"/>
          <p:cNvCxnSpPr/>
          <p:nvPr/>
        </p:nvCxnSpPr>
        <p:spPr>
          <a:xfrm>
            <a:off x="13258800" y="6088634"/>
            <a:ext cx="656082" cy="393192"/>
          </a:xfrm>
          <a:prstGeom prst="line">
            <a:avLst/>
          </a:prstGeom>
          <a:ln w="19050">
            <a:solidFill>
              <a:srgbClr val="124944"/>
            </a:solidFill>
            <a:tailEnd type="triangle" w="med" len="med"/>
          </a:ln>
        </p:spPr>
      </p:cxnSp>
      <p:sp>
        <p:nvSpPr>
          <p:cNvPr id="42" name="Rounded Rectangle 41"/>
          <p:cNvSpPr/>
          <p:nvPr/>
        </p:nvSpPr>
        <p:spPr>
          <a:xfrm>
            <a:off x="14744700" y="4826762"/>
            <a:ext cx="2514600" cy="1234440"/>
          </a:xfrm>
          <a:prstGeom prst="roundRect">
            <a:avLst>
              <a:gd name="adj" fmla="val 14814"/>
            </a:avLst>
          </a:prstGeom>
          <a:solidFill>
            <a:srgbClr val="DF8330"/>
          </a:solidFill>
          <a:ln>
            <a:noFill/>
          </a:ln>
        </p:spPr>
        <p:txBody>
          <a:bodyPr anchor="ctr" rtlCol="false" lIns="91440" tIns="45720" rIns="91440" bIns="45720" wrap="square"/>
          <a:lstStyle/>
          <a:p>
            <a:pPr algn="ctr">
              <a:lnSpc>
                <a:spcPts val="2185"/>
              </a:lnSpc>
              <a:spcBef>
                <a:spcPts val="0"/>
              </a:spcBef>
              <a:buNone/>
            </a:pPr>
            <a:r>
              <a:rPr lang="en-US" sz="1900" b="true">
                <a:solidFill>
                  <a:srgbClr val="FFFFFF"/>
                </a:solidFill>
                <a:latin typeface="Nunito Bold"/>
                <a:ea typeface="Nunito Bold"/>
                <a:cs typeface="Nunito Bold"/>
                <a:sym typeface="Nunito Bold"/>
              </a:rPr>
              <a:t>Regime C</a:t>
            </a:r>
          </a:p>
          <a:p>
            <a:pPr algn="ctr">
              <a:lnSpc>
                <a:spcPts val="1680"/>
              </a:lnSpc>
              <a:spcBef>
                <a:spcPts val="300"/>
              </a:spcBef>
              <a:buNone/>
            </a:pPr>
            <a:r>
              <a:rPr lang="en-US" sz="1400" b="true">
                <a:solidFill>
                  <a:srgbClr val="FFFFFF"/>
                </a:solidFill>
                <a:latin typeface="Nunito Semi-Bold"/>
                <a:ea typeface="Nunito Semi-Bold"/>
                <a:cs typeface="Nunito Semi-Bold"/>
                <a:sym typeface="Nunito Semi-Bold"/>
              </a:rPr>
              <a:t>clean air · weather</a:t>
            </a:r>
          </a:p>
        </p:txBody>
      </p:sp>
      <p:cxnSp>
        <p:nvCxnSpPr>
          <p:cNvPr id="43" name="Connector 42"/>
          <p:cNvCxnSpPr/>
          <p:nvPr/>
        </p:nvCxnSpPr>
        <p:spPr>
          <a:xfrm>
            <a:off x="13258800" y="4278122"/>
            <a:ext cx="2743200" cy="502920"/>
          </a:xfrm>
          <a:prstGeom prst="line">
            <a:avLst/>
          </a:prstGeom>
          <a:ln w="25400">
            <a:solidFill>
              <a:srgbClr val="124944"/>
            </a:solidFill>
            <a:tailEnd type="triangle" w="med" len="med"/>
          </a:ln>
        </p:spPr>
      </p:cxnSp>
      <p:sp>
        <p:nvSpPr>
          <p:cNvPr id="44" name="Rounded Rectangle 43"/>
          <p:cNvSpPr/>
          <p:nvPr/>
        </p:nvSpPr>
        <p:spPr>
          <a:xfrm>
            <a:off x="14744700" y="6518402"/>
            <a:ext cx="1202436" cy="640080"/>
          </a:xfrm>
          <a:prstGeom prst="roundRect">
            <a:avLst>
              <a:gd name="adj" fmla="val 17142"/>
            </a:avLst>
          </a:prstGeom>
          <a:solidFill>
            <a:srgbClr val="F6ECDF"/>
          </a:solidFill>
          <a:ln>
            <a:noFill/>
          </a:ln>
        </p:spPr>
        <p:txBody>
          <a:bodyPr anchor="ctr" rtlCol="false" lIns="91440" tIns="45720" rIns="91440" bIns="45720" wrap="square"/>
          <a:lstStyle/>
          <a:p>
            <a:pPr algn="ctr">
              <a:lnSpc>
                <a:spcPts val="1610"/>
              </a:lnSpc>
              <a:spcBef>
                <a:spcPts val="0"/>
              </a:spcBef>
              <a:buNone/>
            </a:pPr>
            <a:r>
              <a:rPr lang="en-US" sz="1400" b="true">
                <a:solidFill>
                  <a:srgbClr val="111111"/>
                </a:solidFill>
                <a:latin typeface="Nunito Bold"/>
                <a:ea typeface="Nunito Bold"/>
                <a:cs typeface="Nunito Bold"/>
                <a:sym typeface="Nunito Bold"/>
              </a:rPr>
              <a:t>sub 1</a:t>
            </a:r>
          </a:p>
        </p:txBody>
      </p:sp>
      <p:cxnSp>
        <p:nvCxnSpPr>
          <p:cNvPr id="45" name="Connector 44"/>
          <p:cNvCxnSpPr/>
          <p:nvPr/>
        </p:nvCxnSpPr>
        <p:spPr>
          <a:xfrm flipH="1">
            <a:off x="15345918" y="6088634"/>
            <a:ext cx="656082" cy="393192"/>
          </a:xfrm>
          <a:prstGeom prst="line">
            <a:avLst/>
          </a:prstGeom>
          <a:ln w="19050">
            <a:solidFill>
              <a:srgbClr val="124944"/>
            </a:solidFill>
            <a:tailEnd type="triangle" w="med" len="med"/>
          </a:ln>
        </p:spPr>
      </p:cxnSp>
      <p:sp>
        <p:nvSpPr>
          <p:cNvPr id="46" name="Rounded Rectangle 45"/>
          <p:cNvSpPr/>
          <p:nvPr/>
        </p:nvSpPr>
        <p:spPr>
          <a:xfrm>
            <a:off x="16056864" y="6518402"/>
            <a:ext cx="1202436" cy="640080"/>
          </a:xfrm>
          <a:prstGeom prst="roundRect">
            <a:avLst>
              <a:gd name="adj" fmla="val 17142"/>
            </a:avLst>
          </a:prstGeom>
          <a:solidFill>
            <a:srgbClr val="F6ECDF"/>
          </a:solidFill>
          <a:ln>
            <a:noFill/>
          </a:ln>
        </p:spPr>
        <p:txBody>
          <a:bodyPr anchor="ctr" rtlCol="false" lIns="91440" tIns="45720" rIns="91440" bIns="45720" wrap="square"/>
          <a:lstStyle/>
          <a:p>
            <a:pPr algn="ctr">
              <a:lnSpc>
                <a:spcPts val="1610"/>
              </a:lnSpc>
              <a:spcBef>
                <a:spcPts val="0"/>
              </a:spcBef>
              <a:buNone/>
            </a:pPr>
            <a:r>
              <a:rPr lang="en-US" sz="1400" b="true">
                <a:solidFill>
                  <a:srgbClr val="111111"/>
                </a:solidFill>
                <a:latin typeface="Nunito Bold"/>
                <a:ea typeface="Nunito Bold"/>
                <a:cs typeface="Nunito Bold"/>
                <a:sym typeface="Nunito Bold"/>
              </a:rPr>
              <a:t>sub 2</a:t>
            </a:r>
          </a:p>
        </p:txBody>
      </p:sp>
      <p:cxnSp>
        <p:nvCxnSpPr>
          <p:cNvPr id="47" name="Connector 46"/>
          <p:cNvCxnSpPr/>
          <p:nvPr/>
        </p:nvCxnSpPr>
        <p:spPr>
          <a:xfrm>
            <a:off x="16002000" y="6088634"/>
            <a:ext cx="656082" cy="393192"/>
          </a:xfrm>
          <a:prstGeom prst="line">
            <a:avLst/>
          </a:prstGeom>
          <a:ln w="19050">
            <a:solidFill>
              <a:srgbClr val="124944"/>
            </a:solidFill>
            <a:tailEnd type="triangle" w="med" len="med"/>
          </a:ln>
        </p:spPr>
      </p:cxnSp>
      <p:sp>
        <p:nvSpPr>
          <p:cNvPr id="48" name="Rounded Rectangle 47"/>
          <p:cNvSpPr/>
          <p:nvPr/>
        </p:nvSpPr>
        <p:spPr>
          <a:xfrm>
            <a:off x="9258300" y="7341362"/>
            <a:ext cx="8001000" cy="1967230"/>
          </a:xfrm>
          <a:prstGeom prst="roundRect">
            <a:avLst>
              <a:gd name="adj" fmla="val 11620"/>
            </a:avLst>
          </a:prstGeom>
          <a:solidFill>
            <a:srgbClr val="124944"/>
          </a:solidFill>
          <a:ln>
            <a:noFill/>
          </a:ln>
        </p:spPr>
        <p:txBody>
          <a:bodyPr anchor="ctr" rtlCol="false" lIns="0" tIns="0" rIns="0" bIns="0" wrap="square"/>
          <a:lstStyle/>
          <a:p>
            <a:endParaRPr lang="en-US" sz="1800"/>
          </a:p>
        </p:txBody>
      </p:sp>
      <p:sp>
        <p:nvSpPr>
          <p:cNvPr id="49" name="TextBox 48"/>
          <p:cNvSpPr txBox="1"/>
          <p:nvPr/>
        </p:nvSpPr>
        <p:spPr>
          <a:xfrm>
            <a:off x="9258300" y="7487666"/>
            <a:ext cx="8001000" cy="274320"/>
          </a:xfrm>
          <a:prstGeom prst="rect">
            <a:avLst/>
          </a:prstGeom>
          <a:noFill/>
        </p:spPr>
        <p:txBody>
          <a:bodyPr anchor="t" rtlCol="false" lIns="0" tIns="0" rIns="0" bIns="0" wrap="square"/>
          <a:lstStyle/>
          <a:p>
            <a:pPr algn="ctr">
              <a:lnSpc>
                <a:spcPts val="1700"/>
              </a:lnSpc>
              <a:spcBef>
                <a:spcPts val="0"/>
              </a:spcBef>
              <a:buNone/>
            </a:pPr>
            <a:r>
              <a:rPr lang="en-US" sz="1300" b="true" spc="150">
                <a:solidFill>
                  <a:srgbClr val="ECC665"/>
                </a:solidFill>
                <a:latin typeface="Nunito Ultra-Bold"/>
                <a:ea typeface="Nunito Ultra-Bold"/>
                <a:cs typeface="Nunito Ultra-Bold"/>
                <a:sym typeface="Nunito Ultra-Bold"/>
              </a:rPr>
              <a:t>PROPOSITION 6.1  ·  CROSS-LEVEL CONSISTENCY</a:t>
            </a:r>
          </a:p>
        </p:txBody>
      </p:sp>
      <mc:AlternateContent xmlns:mc="http://schemas.openxmlformats.org/markup-compatibility/2006">
        <mc:Choice xmlns:a14="http://schemas.microsoft.com/office/drawing/2010/main" Requires="a14">
          <p:sp>
            <p:nvSpPr>
              <p:cNvPr id="50" name="Equation"/>
              <p:cNvSpPr txBox="1"/>
              <p:nvPr/>
            </p:nvSpPr>
            <p:spPr>
              <a:xfrm>
                <a:off x="9441180" y="7761986"/>
                <a:ext cx="7635240" cy="960120"/>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Sup>
                        <m:sSubSupPr>
                          <m:ctrlPr>
                            <a:rPr lang="en-US" sz="2200" i="1">
                              <a:solidFill>
                                <a:srgbClr val="FFFFFF"/>
                              </a:solidFill>
                              <a:latin typeface="Cambria Math" panose="02040503050406030204" pitchFamily="18" charset="0"/>
                            </a:rPr>
                          </m:ctrlPr>
                        </m:sSubSupPr>
                        <m:e>
                          <m:r>
                            <a:rPr lang="en-US" sz="2200" i="1">
                              <a:solidFill>
                                <a:srgbClr val="FFFFFF"/>
                              </a:solidFill>
                              <a:latin typeface="Cambria Math" panose="02040503050406030204" pitchFamily="18" charset="0"/>
                            </a:rPr>
                            <m:t xml:space="preserve">Φ</m:t>
                          </m:r>
                        </m:e>
                        <m:sub>
                          <m:r>
                            <a:rPr lang="en-US" sz="2200" i="1">
                              <a:solidFill>
                                <a:srgbClr val="FFFFFF"/>
                              </a:solidFill>
                              <a:latin typeface="Cambria Math" panose="02040503050406030204" pitchFamily="18" charset="0"/>
                            </a:rPr>
                            <m:t xml:space="preserve">j</m:t>
                          </m:r>
                        </m:sub>
                        <m:sup>
                          <m:r>
                            <m:rPr>
                              <m:sty m:val="p"/>
                            </m:rPr>
                            <a:rPr lang="en-US" sz="2200">
                              <a:solidFill>
                                <a:srgbClr val="FFFFFF"/>
                              </a:solidFill>
                              <a:latin typeface="Cambria Math" panose="02040503050406030204" pitchFamily="18" charset="0"/>
                            </a:rPr>
                            <m:t xml:space="preserve">(</m:t>
                          </m:r>
                          <m:r>
                            <a:rPr lang="en-US" sz="2200" i="1">
                              <a:solidFill>
                                <a:srgbClr val="FFFFFF"/>
                              </a:solidFill>
                              <a:latin typeface="Cambria Math" panose="02040503050406030204" pitchFamily="18" charset="0"/>
                            </a:rPr>
                            <m:t xml:space="preserve">l</m:t>
                          </m:r>
                          <m:r>
                            <m:rPr>
                              <m:sty m:val="p"/>
                            </m:rPr>
                            <a:rPr lang="en-US" sz="2200">
                              <a:solidFill>
                                <a:srgbClr val="FFFFFF"/>
                              </a:solidFill>
                              <a:latin typeface="Cambria Math" panose="02040503050406030204" pitchFamily="18" charset="0"/>
                            </a:rPr>
                            <m:t xml:space="preserve">,</m:t>
                          </m:r>
                          <m:r>
                            <a:rPr lang="en-US" sz="2200" i="1">
                              <a:solidFill>
                                <a:srgbClr val="FFFFFF"/>
                              </a:solidFill>
                              <a:latin typeface="Cambria Math" panose="02040503050406030204" pitchFamily="18" charset="0"/>
                            </a:rPr>
                            <m:t xml:space="preserve">c</m:t>
                          </m:r>
                          <m:r>
                            <m:rPr>
                              <m:sty m:val="p"/>
                            </m:rPr>
                            <a:rPr lang="en-US" sz="2200">
                              <a:solidFill>
                                <a:srgbClr val="FFFFFF"/>
                              </a:solidFill>
                              <a:latin typeface="Cambria Math" panose="02040503050406030204" pitchFamily="18" charset="0"/>
                            </a:rPr>
                            <m:t xml:space="preserve">)</m:t>
                          </m:r>
                        </m:sup>
                      </m:sSubSup>
                      <m:r>
                        <m:rPr>
                          <m:sty m:val="p"/>
                        </m:rPr>
                        <a:rPr lang="en-US" sz="2200">
                          <a:solidFill>
                            <a:srgbClr val="FFFFFF"/>
                          </a:solidFill>
                          <a:latin typeface="Cambria Math" panose="02040503050406030204" pitchFamily="18" charset="0"/>
                        </a:rPr>
                        <m:t xml:space="preserve">=</m:t>
                      </m:r>
                      <m:nary>
                        <m:naryPr>
                          <m:chr m:val="∑"/>
                          <m:limLoc m:val="subSup"/>
                          <m:supHide m:val="1"/>
                          <m:ctrlPr>
                            <a:rPr lang="en-US" sz="2200" i="1">
                              <a:solidFill>
                                <a:srgbClr val="FFFFFF"/>
                              </a:solidFill>
                              <a:latin typeface="Cambria Math" panose="02040503050406030204" pitchFamily="18" charset="0"/>
                            </a:rPr>
                          </m:ctrlPr>
                        </m:naryPr>
                        <m:sub>
                          <m:r>
                            <a:rPr lang="en-US" sz="2200" i="1">
                              <a:solidFill>
                                <a:srgbClr val="FFFFFF"/>
                              </a:solidFill>
                              <a:latin typeface="Cambria Math" panose="02040503050406030204" pitchFamily="18" charset="0"/>
                            </a:rPr>
                            <m:t xml:space="preserve">c′</m:t>
                          </m:r>
                          <m:r>
                            <m:rPr>
                              <m:sty m:val="p"/>
                            </m:rPr>
                            <a:rPr lang="en-US" sz="2200">
                              <a:solidFill>
                                <a:srgbClr val="FFFFFF"/>
                              </a:solidFill>
                              <a:latin typeface="Cambria Math" panose="02040503050406030204" pitchFamily="18" charset="0"/>
                            </a:rPr>
                            <m:t xml:space="preserve">∈child(</m:t>
                          </m:r>
                          <m:r>
                            <a:rPr lang="en-US" sz="2200" i="1">
                              <a:solidFill>
                                <a:srgbClr val="FFFFFF"/>
                              </a:solidFill>
                              <a:latin typeface="Cambria Math" panose="02040503050406030204" pitchFamily="18" charset="0"/>
                            </a:rPr>
                            <m:t xml:space="preserve">c</m:t>
                          </m:r>
                          <m:r>
                            <m:rPr>
                              <m:sty m:val="p"/>
                            </m:rPr>
                            <a:rPr lang="en-US" sz="2200">
                              <a:solidFill>
                                <a:srgbClr val="FFFFFF"/>
                              </a:solidFill>
                              <a:latin typeface="Cambria Math" panose="02040503050406030204" pitchFamily="18" charset="0"/>
                            </a:rPr>
                            <m:t xml:space="preserve">)</m:t>
                          </m:r>
                        </m:sub>
                        <m:sup/>
                        <m:e>
                          <m:r>
                            <m:rPr>
                              <m:sty m:val="p"/>
                            </m:rPr>
                            <a:rPr lang="en-US" sz="2200">
                              <a:solidFill>
                                <a:srgbClr val="FFFFFF"/>
                              </a:solidFill>
                              <a:latin typeface="Cambria Math" panose="02040503050406030204" pitchFamily="18" charset="0"/>
                            </a:rPr>
                            <m:t xml:space="preserve"> </m:t>
                          </m:r>
                        </m:e>
                      </m:nary>
                      <m:sSub>
                        <m:sSubPr>
                          <m:ctrlPr>
                            <a:rPr lang="en-US" sz="2200" i="1">
                              <a:solidFill>
                                <a:srgbClr val="FFFFFF"/>
                              </a:solidFill>
                              <a:latin typeface="Cambria Math" panose="02040503050406030204" pitchFamily="18" charset="0"/>
                            </a:rPr>
                          </m:ctrlPr>
                        </m:sSubPr>
                        <m:e>
                          <m:r>
                            <a:rPr lang="en-US" sz="2200" i="1">
                              <a:solidFill>
                                <a:srgbClr val="FFFFFF"/>
                              </a:solidFill>
                              <a:latin typeface="Cambria Math" panose="02040503050406030204" pitchFamily="18" charset="0"/>
                            </a:rPr>
                            <m:t xml:space="preserve">w</m:t>
                          </m:r>
                        </m:e>
                        <m:sub>
                          <m:r>
                            <a:rPr lang="en-US" sz="2200" i="1">
                              <a:solidFill>
                                <a:srgbClr val="FFFFFF"/>
                              </a:solidFill>
                              <a:latin typeface="Cambria Math" panose="02040503050406030204" pitchFamily="18" charset="0"/>
                            </a:rPr>
                            <m:t xml:space="preserve">c′</m:t>
                          </m:r>
                        </m:sub>
                      </m:sSub>
                      <m:r>
                        <m:rPr>
                          <m:sty m:val="p"/>
                        </m:rPr>
                        <a:rPr lang="en-US" sz="2200">
                          <a:solidFill>
                            <a:srgbClr val="FFFFFF"/>
                          </a:solidFill>
                          <a:latin typeface="Cambria Math" panose="02040503050406030204" pitchFamily="18" charset="0"/>
                        </a:rPr>
                        <m:t xml:space="preserve"> </m:t>
                      </m:r>
                      <m:sSubSup>
                        <m:sSubSupPr>
                          <m:ctrlPr>
                            <a:rPr lang="en-US" sz="2200" i="1">
                              <a:solidFill>
                                <a:srgbClr val="FFFFFF"/>
                              </a:solidFill>
                              <a:latin typeface="Cambria Math" panose="02040503050406030204" pitchFamily="18" charset="0"/>
                            </a:rPr>
                          </m:ctrlPr>
                        </m:sSubSupPr>
                        <m:e>
                          <m:r>
                            <a:rPr lang="en-US" sz="2200" i="1">
                              <a:solidFill>
                                <a:srgbClr val="FFFFFF"/>
                              </a:solidFill>
                              <a:latin typeface="Cambria Math" panose="02040503050406030204" pitchFamily="18" charset="0"/>
                            </a:rPr>
                            <m:t xml:space="preserve">Φ</m:t>
                          </m:r>
                        </m:e>
                        <m:sub>
                          <m:r>
                            <a:rPr lang="en-US" sz="2200" i="1">
                              <a:solidFill>
                                <a:srgbClr val="FFFFFF"/>
                              </a:solidFill>
                              <a:latin typeface="Cambria Math" panose="02040503050406030204" pitchFamily="18" charset="0"/>
                            </a:rPr>
                            <m:t xml:space="preserve">j</m:t>
                          </m:r>
                        </m:sub>
                        <m:sup>
                          <m:r>
                            <m:rPr>
                              <m:sty m:val="p"/>
                            </m:rPr>
                            <a:rPr lang="en-US" sz="2200">
                              <a:solidFill>
                                <a:srgbClr val="FFFFFF"/>
                              </a:solidFill>
                              <a:latin typeface="Cambria Math" panose="02040503050406030204" pitchFamily="18" charset="0"/>
                            </a:rPr>
                            <m:t xml:space="preserve">(</m:t>
                          </m:r>
                          <m:r>
                            <a:rPr lang="en-US" sz="2200" i="1">
                              <a:solidFill>
                                <a:srgbClr val="FFFFFF"/>
                              </a:solidFill>
                              <a:latin typeface="Cambria Math" panose="02040503050406030204" pitchFamily="18" charset="0"/>
                            </a:rPr>
                            <m:t xml:space="preserve">l</m:t>
                          </m:r>
                          <m:r>
                            <m:rPr>
                              <m:sty m:val="p"/>
                            </m:rPr>
                            <a:rPr lang="en-US" sz="2200">
                              <a:solidFill>
                                <a:srgbClr val="FFFFFF"/>
                              </a:solidFill>
                              <a:latin typeface="Cambria Math" panose="02040503050406030204" pitchFamily="18" charset="0"/>
                            </a:rPr>
                            <m:t xml:space="preserve">+1, </m:t>
                          </m:r>
                          <m:r>
                            <a:rPr lang="en-US" sz="2200" i="1">
                              <a:solidFill>
                                <a:srgbClr val="FFFFFF"/>
                              </a:solidFill>
                              <a:latin typeface="Cambria Math" panose="02040503050406030204" pitchFamily="18" charset="0"/>
                            </a:rPr>
                            <m:t xml:space="preserve">c′</m:t>
                          </m:r>
                          <m:r>
                            <m:rPr>
                              <m:sty m:val="p"/>
                            </m:rPr>
                            <a:rPr lang="en-US" sz="2200">
                              <a:solidFill>
                                <a:srgbClr val="FFFFFF"/>
                              </a:solidFill>
                              <a:latin typeface="Cambria Math" panose="02040503050406030204" pitchFamily="18" charset="0"/>
                            </a:rPr>
                            <m:t xml:space="preserve">)</m:t>
                          </m:r>
                        </m:sup>
                      </m:sSubSup>
                      <m:r>
                        <m:rPr>
                          <m:sty m:val="p"/>
                        </m:rPr>
                        <a:rPr lang="en-US" sz="2200">
                          <a:solidFill>
                            <a:srgbClr val="FFFFFF"/>
                          </a:solidFill>
                          <a:latin typeface="Cambria Math" panose="02040503050406030204" pitchFamily="18" charset="0"/>
                        </a:rPr>
                        <m:t xml:space="preserve">+</m:t>
                      </m:r>
                      <m:sSub>
                        <m:sSubPr>
                          <m:ctrlPr>
                            <a:rPr lang="en-US" sz="2200" i="1">
                              <a:solidFill>
                                <a:srgbClr val="FFFFFF"/>
                              </a:solidFill>
                              <a:latin typeface="Cambria Math" panose="02040503050406030204" pitchFamily="18" charset="0"/>
                            </a:rPr>
                          </m:ctrlPr>
                        </m:sSubPr>
                        <m:e>
                          <m:r>
                            <a:rPr lang="en-US" sz="2200" i="1">
                              <a:solidFill>
                                <a:srgbClr val="FFFFFF"/>
                              </a:solidFill>
                              <a:latin typeface="Cambria Math" panose="02040503050406030204" pitchFamily="18" charset="0"/>
                            </a:rPr>
                            <m:t xml:space="preserve">ε</m:t>
                          </m:r>
                        </m:e>
                        <m:sub>
                          <m:r>
                            <a:rPr lang="en-US" sz="2200" i="1">
                              <a:solidFill>
                                <a:srgbClr val="FFFFFF"/>
                              </a:solidFill>
                              <a:latin typeface="Cambria Math" panose="02040503050406030204" pitchFamily="18" charset="0"/>
                            </a:rPr>
                            <m:t xml:space="preserve">j</m:t>
                          </m:r>
                        </m:sub>
                      </m:sSub>
                    </m:oMath>
                  </m:oMathPara>
                </a14:m>
                <a:endParaRPr lang="en-US" sz="2200"/>
              </a:p>
            </p:txBody>
          </p:sp>
        </mc:Choice>
        <mc:Fallback>
          <p:sp>
            <p:nvSpPr>
              <p:cNvPr id="50" name="Equation"/>
              <p:cNvSpPr txBox="1"/>
              <p:nvPr/>
            </p:nvSpPr>
            <p:spPr>
              <a:xfrm>
                <a:off x="9441180" y="7761986"/>
                <a:ext cx="7635240" cy="960120"/>
              </a:xfrm>
              <a:prstGeom prst="rect">
                <a:avLst/>
              </a:prstGeom>
              <a:blipFill>
                <a:blip r:embed="rId5"/>
                <a:stretch>
                  <a:fillRect/>
                </a:stretch>
              </a:blipFill>
            </p:spPr>
            <p:txBody>
              <a:bodyPr/>
              <a:lstStyle/>
              <a:p>
                <a:endParaRPr lang="en-US"/>
              </a:p>
            </p:txBody>
          </p:sp>
        </mc:Fallback>
      </mc:AlternateContent>
      <mc:AlternateContent xmlns:mc="http://schemas.openxmlformats.org/markup-compatibility/2006">
        <mc:Choice xmlns:a14="http://schemas.microsoft.com/office/drawing/2010/main" Requires="a14">
          <p:sp>
            <p:nvSpPr>
              <p:cNvPr id="51" name="Equation"/>
              <p:cNvSpPr txBox="1"/>
              <p:nvPr/>
            </p:nvSpPr>
            <p:spPr>
              <a:xfrm>
                <a:off x="9441180" y="8712962"/>
                <a:ext cx="7635240" cy="457200"/>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
                        <m:sSubPr>
                          <m:ctrlPr>
                            <a:rPr lang="en-US" sz="1400" i="1">
                              <a:solidFill>
                                <a:srgbClr val="DCE7E3"/>
                              </a:solidFill>
                              <a:latin typeface="Cambria Math" panose="02040503050406030204" pitchFamily="18" charset="0"/>
                            </a:rPr>
                          </m:ctrlPr>
                        </m:sSubPr>
                        <m:e>
                          <m:r>
                            <a:rPr lang="en-US" sz="1400" i="1">
                              <a:solidFill>
                                <a:srgbClr val="DCE7E3"/>
                              </a:solidFill>
                              <a:latin typeface="Cambria Math" panose="02040503050406030204" pitchFamily="18" charset="0"/>
                            </a:rPr>
                            <m:t xml:space="preserve">w</m:t>
                          </m:r>
                        </m:e>
                        <m:sub>
                          <m:r>
                            <a:rPr lang="en-US" sz="1400" i="1">
                              <a:solidFill>
                                <a:srgbClr val="DCE7E3"/>
                              </a:solidFill>
                              <a:latin typeface="Cambria Math" panose="02040503050406030204" pitchFamily="18" charset="0"/>
                            </a:rPr>
                            <m:t xml:space="preserve">c′</m:t>
                          </m:r>
                        </m:sub>
                      </m:sSub>
                      <m:r>
                        <m:rPr>
                          <m:sty m:val="p"/>
                        </m:rPr>
                        <a:rPr lang="en-US" sz="1400">
                          <a:solidFill>
                            <a:srgbClr val="DCE7E3"/>
                          </a:solidFill>
                          <a:latin typeface="Cambria Math" panose="02040503050406030204" pitchFamily="18" charset="0"/>
                        </a:rPr>
                        <m:t xml:space="preserve">=|</m:t>
                      </m:r>
                      <m:r>
                        <a:rPr lang="en-US" sz="1400" i="1">
                          <a:solidFill>
                            <a:srgbClr val="DCE7E3"/>
                          </a:solidFill>
                          <a:latin typeface="Cambria Math" panose="02040503050406030204" pitchFamily="18" charset="0"/>
                        </a:rPr>
                        <m:t xml:space="preserve">c′</m:t>
                      </m:r>
                      <m:r>
                        <m:rPr>
                          <m:sty m:val="p"/>
                        </m:rPr>
                        <a:rPr lang="en-US" sz="1400">
                          <a:solidFill>
                            <a:srgbClr val="DCE7E3"/>
                          </a:solidFill>
                          <a:latin typeface="Cambria Math" panose="02040503050406030204" pitchFamily="18" charset="0"/>
                        </a:rPr>
                        <m:t xml:space="preserve">| / |</m:t>
                      </m:r>
                      <m:r>
                        <a:rPr lang="en-US" sz="1400" i="1">
                          <a:solidFill>
                            <a:srgbClr val="DCE7E3"/>
                          </a:solidFill>
                          <a:latin typeface="Cambria Math" panose="02040503050406030204" pitchFamily="18" charset="0"/>
                        </a:rPr>
                        <m:t xml:space="preserve">c</m:t>
                      </m:r>
                      <m:r>
                        <m:rPr>
                          <m:sty m:val="p"/>
                        </m:rPr>
                        <a:rPr lang="en-US" sz="1400">
                          <a:solidFill>
                            <a:srgbClr val="DCE7E3"/>
                          </a:solidFill>
                          <a:latin typeface="Cambria Math" panose="02040503050406030204" pitchFamily="18" charset="0"/>
                        </a:rPr>
                        <m:t xml:space="preserve">|,  </m:t>
                      </m:r>
                      <m:sSub>
                        <m:sSubPr>
                          <m:ctrlPr>
                            <a:rPr lang="en-US" sz="1400" i="1">
                              <a:solidFill>
                                <a:srgbClr val="DCE7E3"/>
                              </a:solidFill>
                              <a:latin typeface="Cambria Math" panose="02040503050406030204" pitchFamily="18" charset="0"/>
                            </a:rPr>
                          </m:ctrlPr>
                        </m:sSubPr>
                        <m:e>
                          <m:r>
                            <a:rPr lang="en-US" sz="1400" i="1">
                              <a:solidFill>
                                <a:srgbClr val="DCE7E3"/>
                              </a:solidFill>
                              <a:latin typeface="Cambria Math" panose="02040503050406030204" pitchFamily="18" charset="0"/>
                            </a:rPr>
                            <m:t xml:space="preserve">ε</m:t>
                          </m:r>
                        </m:e>
                        <m:sub>
                          <m:r>
                            <a:rPr lang="en-US" sz="1400" i="1">
                              <a:solidFill>
                                <a:srgbClr val="DCE7E3"/>
                              </a:solidFill>
                              <a:latin typeface="Cambria Math" panose="02040503050406030204" pitchFamily="18" charset="0"/>
                            </a:rPr>
                            <m:t xml:space="preserve">j</m:t>
                          </m:r>
                        </m:sub>
                      </m:sSub>
                      <m:r>
                        <m:rPr>
                          <m:sty m:val="p"/>
                        </m:rPr>
                        <a:rPr lang="en-US" sz="1400">
                          <a:solidFill>
                            <a:srgbClr val="DCE7E3"/>
                          </a:solidFill>
                          <a:latin typeface="Cambria Math" panose="02040503050406030204" pitchFamily="18" charset="0"/>
                        </a:rPr>
                        <m:t xml:space="preserve">→0</m:t>
                      </m:r>
                      <m:r>
                        <m:rPr>
                          <m:nor/>
                        </m:rPr>
                        <a:rPr lang="en-US" sz="1400">
                          <a:solidFill>
                            <a:srgbClr val="DCE7E3"/>
                          </a:solidFill>
                          <a:latin typeface="Cambria Math" panose="02040503050406030204" pitchFamily="18" charset="0"/>
                        </a:rPr>
                        <m:t xml:space="preserve">  under perfect surrogate fidelity</m:t>
                      </m:r>
                    </m:oMath>
                  </m:oMathPara>
                </a14:m>
                <a:endParaRPr lang="en-US" sz="1400"/>
              </a:p>
            </p:txBody>
          </p:sp>
        </mc:Choice>
        <mc:Fallback>
          <p:sp>
            <p:nvSpPr>
              <p:cNvPr id="51" name="Equation"/>
              <p:cNvSpPr txBox="1"/>
              <p:nvPr/>
            </p:nvSpPr>
            <p:spPr>
              <a:xfrm>
                <a:off x="9441180" y="8712962"/>
                <a:ext cx="7635240" cy="457200"/>
              </a:xfrm>
              <a:prstGeom prst="rect">
                <a:avLst/>
              </a:prstGeom>
              <a:blipFill>
                <a:blip r:embed="rId6"/>
                <a:stretch>
                  <a:fillRect/>
                </a:stretch>
              </a:blipFill>
            </p:spPr>
            <p:txBody>
              <a:bodyPr/>
              <a:lstStyle/>
              <a:p>
                <a:endParaRPr lang="en-US"/>
              </a:p>
            </p:txBody>
          </p:sp>
        </mc:Fallback>
      </mc:AlternateContent>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43</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Proposition 6.1: Cross-Level Consistency</a:t>
            </a:r>
          </a:p>
        </p:txBody>
      </p:sp>
      <p:pic>
        <p:nvPicPr>
          <p:cNvPr id="23" name="Picture 22" descr="image.png"/>
          <p:cNvPicPr>
            <a:picLocks noChangeAspect="1"/>
          </p:cNvPicPr>
          <p:nvPr/>
        </p:nvPicPr>
        <p:blipFill>
          <a:blip r:embed="rId3"/>
          <a:stretch>
            <a:fillRect/>
          </a:stretch>
        </p:blipFill>
        <p:spPr>
          <a:xfrm>
            <a:off x="11568381" y="1673352"/>
            <a:ext cx="457200" cy="415247"/>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Oval 27"/>
          <p:cNvSpPr/>
          <p:nvPr/>
        </p:nvSpPr>
        <p:spPr>
          <a:xfrm>
            <a:off x="1028700" y="3555746"/>
            <a:ext cx="274320" cy="274320"/>
          </a:xfrm>
          <a:prstGeom prst="ellipse">
            <a:avLst/>
          </a:prstGeom>
          <a:solidFill>
            <a:srgbClr val="DF8330"/>
          </a:solidFill>
          <a:ln>
            <a:noFill/>
          </a:ln>
        </p:spPr>
        <p:txBody>
          <a:bodyPr anchor="ctr" rtlCol="false" lIns="0" tIns="0" rIns="0" bIns="0" wrap="square"/>
          <a:lstStyle/>
          <a:p>
            <a:pPr algn="ctr">
              <a:lnSpc>
                <a:spcPts val="2860"/>
              </a:lnSpc>
              <a:spcBef>
                <a:spcPts val="0"/>
              </a:spcBef>
              <a:buNone/>
            </a:pPr>
          </a:p>
        </p:txBody>
      </p:sp>
      <mc:AlternateContent xmlns:mc="http://schemas.openxmlformats.org/markup-compatibility/2006">
        <mc:Choice xmlns:a14="http://schemas.microsoft.com/office/drawing/2010/main" Requires="a14">
          <p:sp>
            <p:nvSpPr>
              <p:cNvPr id="29" name="Equation"/>
              <p:cNvSpPr txBox="1"/>
              <p:nvPr/>
            </p:nvSpPr>
            <p:spPr>
              <a:xfrm>
                <a:off x="1440180" y="3363722"/>
                <a:ext cx="3840480" cy="658368"/>
              </a:xfrm>
              <a:prstGeom prst="rect">
                <a:avLst/>
              </a:prstGeom>
              <a:noFill/>
            </p:spPr>
            <p:txBody>
              <a:bodyPr wrap="none" rtlCol="0" anchor="ctr" lIns="0" tIns="0" rIns="0" bIns="0"/>
              <a:lstStyle/>
              <a:p>
                <a:pPr algn="l"/>
                <a14:m xmlns:m="http://schemas.openxmlformats.org/officeDocument/2006/math">
                  <m:oMathPara>
                    <m:oMathParaPr>
                      <m:jc m:val="left"/>
                    </m:oMathParaPr>
                    <m:oMath>
                      <m:sSubSup>
                        <m:sSubSupPr>
                          <m:ctrlPr>
                            <a:rPr lang="en-US" sz="1800" i="1">
                              <a:solidFill>
                                <a:srgbClr val="124944"/>
                              </a:solidFill>
                              <a:latin typeface="Cambria Math" panose="02040503050406030204" pitchFamily="18" charset="0"/>
                            </a:rPr>
                          </m:ctrlPr>
                        </m:sSubSupPr>
                        <m:e>
                          <m:r>
                            <a:rPr lang="en-US" sz="1800" i="1">
                              <a:solidFill>
                                <a:srgbClr val="124944"/>
                              </a:solidFill>
                              <a:latin typeface="Cambria Math" panose="02040503050406030204" pitchFamily="18" charset="0"/>
                            </a:rPr>
                            <m:t xml:space="preserve">Φ</m:t>
                          </m:r>
                        </m:e>
                        <m:sub>
                          <m:r>
                            <a:rPr lang="en-US" sz="1800" i="1">
                              <a:solidFill>
                                <a:srgbClr val="124944"/>
                              </a:solidFill>
                              <a:latin typeface="Cambria Math" panose="02040503050406030204" pitchFamily="18" charset="0"/>
                            </a:rPr>
                            <m:t xml:space="preserve">j</m:t>
                          </m:r>
                        </m:sub>
                        <m:sup>
                          <m:r>
                            <m:rPr>
                              <m:sty m:val="p"/>
                            </m:rPr>
                            <a:rPr lang="en-US" sz="1800">
                              <a:solidFill>
                                <a:srgbClr val="124944"/>
                              </a:solidFill>
                              <a:latin typeface="Cambria Math" panose="02040503050406030204" pitchFamily="18" charset="0"/>
                            </a:rPr>
                            <m:t xml:space="preserve">(</m:t>
                          </m:r>
                          <m:r>
                            <a:rPr lang="en-US" sz="1800" i="1">
                              <a:solidFill>
                                <a:srgbClr val="124944"/>
                              </a:solidFill>
                              <a:latin typeface="Cambria Math" panose="02040503050406030204" pitchFamily="18" charset="0"/>
                            </a:rPr>
                            <m:t xml:space="preserve">l</m:t>
                          </m:r>
                          <m:r>
                            <m:rPr>
                              <m:sty m:val="p"/>
                            </m:rPr>
                            <a:rPr lang="en-US" sz="1800">
                              <a:solidFill>
                                <a:srgbClr val="124944"/>
                              </a:solidFill>
                              <a:latin typeface="Cambria Math" panose="02040503050406030204" pitchFamily="18" charset="0"/>
                            </a:rPr>
                            <m:t xml:space="preserve">,</m:t>
                          </m:r>
                          <m:r>
                            <a:rPr lang="en-US" sz="1800" i="1">
                              <a:solidFill>
                                <a:srgbClr val="124944"/>
                              </a:solidFill>
                              <a:latin typeface="Cambria Math" panose="02040503050406030204" pitchFamily="18" charset="0"/>
                            </a:rPr>
                            <m:t xml:space="preserve">c</m:t>
                          </m:r>
                          <m:r>
                            <m:rPr>
                              <m:sty m:val="p"/>
                            </m:rPr>
                            <a:rPr lang="en-US" sz="1800">
                              <a:solidFill>
                                <a:srgbClr val="124944"/>
                              </a:solidFill>
                              <a:latin typeface="Cambria Math" panose="02040503050406030204" pitchFamily="18" charset="0"/>
                            </a:rPr>
                            <m:t xml:space="preserve">)</m:t>
                          </m:r>
                        </m:sup>
                      </m:sSubSup>
                      <m:r>
                        <m:rPr>
                          <m:sty m:val="p"/>
                        </m:rPr>
                        <a:rPr lang="en-US" sz="1800">
                          <a:solidFill>
                            <a:srgbClr val="124944"/>
                          </a:solidFill>
                          <a:latin typeface="Cambria Math" panose="02040503050406030204" pitchFamily="18" charset="0"/>
                        </a:rPr>
                        <m:t xml:space="preserve">=</m:t>
                      </m:r>
                      <m:sSub>
                        <m:sSubPr>
                          <m:ctrlPr>
                            <a:rPr lang="en-US" sz="1800" i="1">
                              <a:solidFill>
                                <a:srgbClr val="124944"/>
                              </a:solidFill>
                              <a:latin typeface="Cambria Math" panose="02040503050406030204" pitchFamily="18" charset="0"/>
                            </a:rPr>
                          </m:ctrlPr>
                        </m:sSubPr>
                        <m:e>
                          <m:r>
                            <m:rPr>
                              <m:scr m:val="double-struck"/>
                              <m:sty m:val="p"/>
                            </m:rPr>
                            <a:rPr lang="en-US" sz="1800">
                              <a:solidFill>
                                <a:srgbClr val="124944"/>
                              </a:solidFill>
                              <a:latin typeface="Cambria Math" panose="02040503050406030204" pitchFamily="18" charset="0"/>
                            </a:rPr>
                            <m:t xml:space="preserve">E</m:t>
                          </m:r>
                        </m:e>
                        <m:sub>
                          <m:r>
                            <a:rPr lang="en-US" sz="1800" i="1">
                              <a:solidFill>
                                <a:srgbClr val="124944"/>
                              </a:solidFill>
                              <a:latin typeface="Cambria Math" panose="02040503050406030204" pitchFamily="18" charset="0"/>
                            </a:rPr>
                            <m:t xml:space="preserve">x</m:t>
                          </m:r>
                          <m:r>
                            <m:rPr>
                              <m:sty m:val="p"/>
                            </m:rPr>
                            <a:rPr lang="en-US" sz="1800">
                              <a:solidFill>
                                <a:srgbClr val="124944"/>
                              </a:solidFill>
                              <a:latin typeface="Cambria Math" panose="02040503050406030204" pitchFamily="18" charset="0"/>
                            </a:rPr>
                            <m:t xml:space="preserve">∈</m:t>
                          </m:r>
                          <m:r>
                            <a:rPr lang="en-US" sz="1800" i="1">
                              <a:solidFill>
                                <a:srgbClr val="124944"/>
                              </a:solidFill>
                              <a:latin typeface="Cambria Math" panose="02040503050406030204" pitchFamily="18" charset="0"/>
                            </a:rPr>
                            <m:t xml:space="preserve">c</m:t>
                          </m:r>
                        </m:sub>
                      </m:sSub>
                      <m:d>
                        <m:dPr>
                          <m:begChr m:val="["/>
                          <m:endChr m:val="]"/>
                          <m:ctrlPr>
                            <a:rPr lang="en-US" sz="1800" i="1">
                              <a:solidFill>
                                <a:srgbClr val="124944"/>
                              </a:solidFill>
                              <a:latin typeface="Cambria Math" panose="02040503050406030204" pitchFamily="18" charset="0"/>
                            </a:rPr>
                          </m:ctrlPr>
                        </m:dPr>
                        <m:e>
                          <m:r>
                            <m:rPr>
                              <m:sty m:val="p"/>
                            </m:rPr>
                            <a:rPr lang="en-US" sz="1800">
                              <a:solidFill>
                                <a:srgbClr val="124944"/>
                              </a:solidFill>
                              <a:latin typeface="Cambria Math" panose="02040503050406030204" pitchFamily="18" charset="0"/>
                            </a:rPr>
                            <m:t xml:space="preserve"> </m:t>
                          </m:r>
                          <m:d>
                            <m:dPr>
                              <m:begChr m:val="|"/>
                              <m:endChr m:val="|"/>
                              <m:ctrlPr>
                                <a:rPr lang="en-US" sz="1800" i="1">
                                  <a:solidFill>
                                    <a:srgbClr val="124944"/>
                                  </a:solidFill>
                                  <a:latin typeface="Cambria Math" panose="02040503050406030204" pitchFamily="18" charset="0"/>
                                </a:rPr>
                              </m:ctrlPr>
                            </m:dPr>
                            <m:e>
                              <m:sSubSup>
                                <m:sSubSupPr>
                                  <m:ctrlPr>
                                    <a:rPr lang="en-US" sz="1800" i="1">
                                      <a:solidFill>
                                        <a:srgbClr val="124944"/>
                                      </a:solidFill>
                                      <a:latin typeface="Cambria Math" panose="02040503050406030204" pitchFamily="18" charset="0"/>
                                    </a:rPr>
                                  </m:ctrlPr>
                                </m:sSubSupPr>
                                <m:e>
                                  <m:r>
                                    <a:rPr lang="en-US" sz="1800" i="1">
                                      <a:solidFill>
                                        <a:srgbClr val="124944"/>
                                      </a:solidFill>
                                      <a:latin typeface="Cambria Math" panose="02040503050406030204" pitchFamily="18" charset="0"/>
                                    </a:rPr>
                                    <m:t xml:space="preserve">φ</m:t>
                                  </m:r>
                                </m:e>
                                <m:sub>
                                  <m:r>
                                    <a:rPr lang="en-US" sz="1800" i="1">
                                      <a:solidFill>
                                        <a:srgbClr val="124944"/>
                                      </a:solidFill>
                                      <a:latin typeface="Cambria Math" panose="02040503050406030204" pitchFamily="18" charset="0"/>
                                    </a:rPr>
                                    <m:t xml:space="preserve">j</m:t>
                                  </m:r>
                                </m:sub>
                                <m:sup>
                                  <m:r>
                                    <m:rPr>
                                      <m:sty m:val="p"/>
                                    </m:rPr>
                                    <a:rPr lang="en-US" sz="1800">
                                      <a:solidFill>
                                        <a:srgbClr val="124944"/>
                                      </a:solidFill>
                                      <a:latin typeface="Cambria Math" panose="02040503050406030204" pitchFamily="18" charset="0"/>
                                    </a:rPr>
                                    <m:t xml:space="preserve">(</m:t>
                                  </m:r>
                                  <m:r>
                                    <a:rPr lang="en-US" sz="1800" i="1">
                                      <a:solidFill>
                                        <a:srgbClr val="124944"/>
                                      </a:solidFill>
                                      <a:latin typeface="Cambria Math" panose="02040503050406030204" pitchFamily="18" charset="0"/>
                                    </a:rPr>
                                    <m:t xml:space="preserve">l</m:t>
                                  </m:r>
                                  <m:r>
                                    <m:rPr>
                                      <m:sty m:val="p"/>
                                    </m:rPr>
                                    <a:rPr lang="en-US" sz="1800">
                                      <a:solidFill>
                                        <a:srgbClr val="124944"/>
                                      </a:solidFill>
                                      <a:latin typeface="Cambria Math" panose="02040503050406030204" pitchFamily="18" charset="0"/>
                                    </a:rPr>
                                    <m:t xml:space="preserve">)</m:t>
                                  </m:r>
                                </m:sup>
                              </m:sSubSup>
                              <m:r>
                                <m:rPr>
                                  <m:sty m:val="p"/>
                                </m:rPr>
                                <a:rPr lang="en-US" sz="1800">
                                  <a:solidFill>
                                    <a:srgbClr val="124944"/>
                                  </a:solidFill>
                                  <a:latin typeface="Cambria Math" panose="02040503050406030204" pitchFamily="18" charset="0"/>
                                </a:rPr>
                                <m:t xml:space="preserve">(</m:t>
                              </m:r>
                              <m:r>
                                <a:rPr lang="en-US" sz="1800" i="1">
                                  <a:solidFill>
                                    <a:srgbClr val="124944"/>
                                  </a:solidFill>
                                  <a:latin typeface="Cambria Math" panose="02040503050406030204" pitchFamily="18" charset="0"/>
                                </a:rPr>
                                <m:t xml:space="preserve">x</m:t>
                              </m:r>
                              <m:r>
                                <m:rPr>
                                  <m:sty m:val="p"/>
                                </m:rPr>
                                <a:rPr lang="en-US" sz="1800">
                                  <a:solidFill>
                                    <a:srgbClr val="124944"/>
                                  </a:solidFill>
                                  <a:latin typeface="Cambria Math" panose="02040503050406030204" pitchFamily="18" charset="0"/>
                                </a:rPr>
                                <m:t xml:space="preserve">)</m:t>
                              </m:r>
                            </m:e>
                          </m:d>
                          <m:r>
                            <m:rPr>
                              <m:sty m:val="p"/>
                            </m:rPr>
                            <a:rPr lang="en-US" sz="1800">
                              <a:solidFill>
                                <a:srgbClr val="124944"/>
                              </a:solidFill>
                              <a:latin typeface="Cambria Math" panose="02040503050406030204" pitchFamily="18" charset="0"/>
                            </a:rPr>
                            <m:t xml:space="preserve"> </m:t>
                          </m:r>
                        </m:e>
                      </m:d>
                    </m:oMath>
                  </m:oMathPara>
                </a14:m>
                <a:endParaRPr lang="en-US" sz="1800"/>
              </a:p>
            </p:txBody>
          </p:sp>
        </mc:Choice>
        <mc:Fallback>
          <p:sp>
            <p:nvSpPr>
              <p:cNvPr id="29" name="Equation"/>
              <p:cNvSpPr txBox="1"/>
              <p:nvPr/>
            </p:nvSpPr>
            <p:spPr>
              <a:xfrm>
                <a:off x="1440180" y="3363722"/>
                <a:ext cx="3840480" cy="658368"/>
              </a:xfrm>
              <a:prstGeom prst="rect">
                <a:avLst/>
              </a:prstGeom>
              <a:blipFill>
                <a:blip r:embed="rId5"/>
                <a:stretch>
                  <a:fillRect/>
                </a:stretch>
              </a:blipFill>
            </p:spPr>
            <p:txBody>
              <a:bodyPr/>
              <a:lstStyle/>
              <a:p>
                <a:endParaRPr lang="en-US"/>
              </a:p>
            </p:txBody>
          </p:sp>
        </mc:Fallback>
      </mc:AlternateContent>
      <p:sp>
        <p:nvSpPr>
          <p:cNvPr id="30" name="TextBox 29"/>
          <p:cNvSpPr txBox="1"/>
          <p:nvPr/>
        </p:nvSpPr>
        <p:spPr>
          <a:xfrm>
            <a:off x="5463540" y="3363722"/>
            <a:ext cx="3794760" cy="658368"/>
          </a:xfrm>
          <a:prstGeom prst="rect">
            <a:avLst/>
          </a:prstGeom>
          <a:noFill/>
        </p:spPr>
        <p:txBody>
          <a:bodyPr anchor="ctr" rtlCol="false" lIns="0" tIns="0" rIns="0" bIns="0" wrap="square"/>
          <a:lstStyle/>
          <a:p>
            <a:pPr algn="l">
              <a:lnSpc>
                <a:spcPts val="2100"/>
              </a:lnSpc>
              <a:spcBef>
                <a:spcPts val="0"/>
              </a:spcBef>
              <a:buNone/>
            </a:pPr>
            <a:r>
              <a:rPr lang="en-US" sz="1700" b="true">
                <a:solidFill>
                  <a:srgbClr val="111111"/>
                </a:solidFill>
                <a:latin typeface="Nunito Semi-Bold"/>
                <a:ea typeface="Nunito Semi-Bold"/>
                <a:cs typeface="Nunito Semi-Bold"/>
                <a:sym typeface="Nunito Semi-Bold"/>
              </a:rPr>
              <a:t>expected absolute SHAP importance of feature j at level l in cluster c</a:t>
            </a:r>
          </a:p>
        </p:txBody>
      </p:sp>
      <p:sp>
        <p:nvSpPr>
          <p:cNvPr id="31" name="Oval 30"/>
          <p:cNvSpPr/>
          <p:nvPr/>
        </p:nvSpPr>
        <p:spPr>
          <a:xfrm>
            <a:off x="1028700" y="4287266"/>
            <a:ext cx="274320" cy="274320"/>
          </a:xfrm>
          <a:prstGeom prst="ellipse">
            <a:avLst/>
          </a:prstGeom>
          <a:solidFill>
            <a:srgbClr val="DF8330"/>
          </a:solidFill>
          <a:ln>
            <a:noFill/>
          </a:ln>
        </p:spPr>
        <p:txBody>
          <a:bodyPr anchor="ctr" rtlCol="false" lIns="0" tIns="0" rIns="0" bIns="0" wrap="square"/>
          <a:lstStyle/>
          <a:p>
            <a:pPr algn="ctr">
              <a:lnSpc>
                <a:spcPts val="2860"/>
              </a:lnSpc>
              <a:spcBef>
                <a:spcPts val="0"/>
              </a:spcBef>
              <a:buNone/>
            </a:pPr>
          </a:p>
        </p:txBody>
      </p:sp>
      <mc:AlternateContent xmlns:mc="http://schemas.openxmlformats.org/markup-compatibility/2006">
        <mc:Choice xmlns:a14="http://schemas.microsoft.com/office/drawing/2010/main" Requires="a14">
          <p:sp>
            <p:nvSpPr>
              <p:cNvPr id="32" name="Equation"/>
              <p:cNvSpPr txBox="1"/>
              <p:nvPr/>
            </p:nvSpPr>
            <p:spPr>
              <a:xfrm>
                <a:off x="1440180" y="4095242"/>
                <a:ext cx="3840480" cy="658368"/>
              </a:xfrm>
              <a:prstGeom prst="rect">
                <a:avLst/>
              </a:prstGeom>
              <a:noFill/>
            </p:spPr>
            <p:txBody>
              <a:bodyPr wrap="none" rtlCol="0" anchor="ctr" lIns="0" tIns="0" rIns="0" bIns="0"/>
              <a:lstStyle/>
              <a:p>
                <a:pPr algn="l"/>
                <a14:m xmlns:m="http://schemas.openxmlformats.org/officeDocument/2006/math">
                  <m:oMathPara>
                    <m:oMathParaPr>
                      <m:jc m:val="left"/>
                    </m:oMathParaPr>
                    <m:oMath>
                      <m:sSub>
                        <m:sSubPr>
                          <m:ctrlPr>
                            <a:rPr lang="en-US" sz="2100" i="1">
                              <a:solidFill>
                                <a:srgbClr val="124944"/>
                              </a:solidFill>
                              <a:latin typeface="Cambria Math" panose="02040503050406030204" pitchFamily="18" charset="0"/>
                            </a:rPr>
                          </m:ctrlPr>
                        </m:sSubPr>
                        <m:e>
                          <m:r>
                            <a:rPr lang="en-US" sz="2100" i="1">
                              <a:solidFill>
                                <a:srgbClr val="124944"/>
                              </a:solidFill>
                              <a:latin typeface="Cambria Math" panose="02040503050406030204" pitchFamily="18" charset="0"/>
                            </a:rPr>
                            <m:t xml:space="preserve">w</m:t>
                          </m:r>
                        </m:e>
                        <m:sub>
                          <m:r>
                            <a:rPr lang="en-US" sz="2100" i="1">
                              <a:solidFill>
                                <a:srgbClr val="124944"/>
                              </a:solidFill>
                              <a:latin typeface="Cambria Math" panose="02040503050406030204" pitchFamily="18" charset="0"/>
                            </a:rPr>
                            <m:t xml:space="preserve">c′</m:t>
                          </m:r>
                        </m:sub>
                      </m:sSub>
                      <m:r>
                        <m:rPr>
                          <m:sty m:val="p"/>
                        </m:rPr>
                        <a:rPr lang="en-US" sz="2100">
                          <a:solidFill>
                            <a:srgbClr val="124944"/>
                          </a:solidFill>
                          <a:latin typeface="Cambria Math" panose="02040503050406030204" pitchFamily="18" charset="0"/>
                        </a:rPr>
                        <m:t xml:space="preserve">=|</m:t>
                      </m:r>
                      <m:r>
                        <a:rPr lang="en-US" sz="2100" i="1">
                          <a:solidFill>
                            <a:srgbClr val="124944"/>
                          </a:solidFill>
                          <a:latin typeface="Cambria Math" panose="02040503050406030204" pitchFamily="18" charset="0"/>
                        </a:rPr>
                        <m:t xml:space="preserve">c′</m:t>
                      </m:r>
                      <m:r>
                        <m:rPr>
                          <m:sty m:val="p"/>
                        </m:rPr>
                        <a:rPr lang="en-US" sz="2100">
                          <a:solidFill>
                            <a:srgbClr val="124944"/>
                          </a:solidFill>
                          <a:latin typeface="Cambria Math" panose="02040503050406030204" pitchFamily="18" charset="0"/>
                        </a:rPr>
                        <m:t xml:space="preserve">| / |</m:t>
                      </m:r>
                      <m:r>
                        <a:rPr lang="en-US" sz="2100" i="1">
                          <a:solidFill>
                            <a:srgbClr val="124944"/>
                          </a:solidFill>
                          <a:latin typeface="Cambria Math" panose="02040503050406030204" pitchFamily="18" charset="0"/>
                        </a:rPr>
                        <m:t xml:space="preserve">c</m:t>
                      </m:r>
                      <m:r>
                        <m:rPr>
                          <m:sty m:val="p"/>
                        </m:rPr>
                        <a:rPr lang="en-US" sz="2100">
                          <a:solidFill>
                            <a:srgbClr val="124944"/>
                          </a:solidFill>
                          <a:latin typeface="Cambria Math" panose="02040503050406030204" pitchFamily="18" charset="0"/>
                        </a:rPr>
                        <m:t xml:space="preserve">|</m:t>
                      </m:r>
                    </m:oMath>
                  </m:oMathPara>
                </a14:m>
                <a:endParaRPr lang="en-US" sz="2100"/>
              </a:p>
            </p:txBody>
          </p:sp>
        </mc:Choice>
        <mc:Fallback>
          <p:sp>
            <p:nvSpPr>
              <p:cNvPr id="32" name="Equation"/>
              <p:cNvSpPr txBox="1"/>
              <p:nvPr/>
            </p:nvSpPr>
            <p:spPr>
              <a:xfrm>
                <a:off x="1440180" y="4095242"/>
                <a:ext cx="3840480" cy="658368"/>
              </a:xfrm>
              <a:prstGeom prst="rect">
                <a:avLst/>
              </a:prstGeom>
              <a:blipFill>
                <a:blip r:embed="rId6"/>
                <a:stretch>
                  <a:fillRect/>
                </a:stretch>
              </a:blipFill>
            </p:spPr>
            <p:txBody>
              <a:bodyPr/>
              <a:lstStyle/>
              <a:p>
                <a:endParaRPr lang="en-US"/>
              </a:p>
            </p:txBody>
          </p:sp>
        </mc:Fallback>
      </mc:AlternateContent>
      <p:sp>
        <p:nvSpPr>
          <p:cNvPr id="33" name="TextBox 32"/>
          <p:cNvSpPr txBox="1"/>
          <p:nvPr/>
        </p:nvSpPr>
        <p:spPr>
          <a:xfrm>
            <a:off x="5463540" y="4095242"/>
            <a:ext cx="3794760" cy="658368"/>
          </a:xfrm>
          <a:prstGeom prst="rect">
            <a:avLst/>
          </a:prstGeom>
          <a:noFill/>
        </p:spPr>
        <p:txBody>
          <a:bodyPr anchor="ctr" rtlCol="false" lIns="0" tIns="0" rIns="0" bIns="0" wrap="square"/>
          <a:lstStyle/>
          <a:p>
            <a:pPr algn="l">
              <a:lnSpc>
                <a:spcPts val="2100"/>
              </a:lnSpc>
              <a:spcBef>
                <a:spcPts val="0"/>
              </a:spcBef>
              <a:buNone/>
            </a:pPr>
            <a:r>
              <a:rPr lang="en-US" sz="1700" b="true">
                <a:solidFill>
                  <a:srgbClr val="111111"/>
                </a:solidFill>
                <a:latin typeface="Nunito Semi-Bold"/>
                <a:ea typeface="Nunito Semi-Bold"/>
                <a:cs typeface="Nunito Semi-Bold"/>
                <a:sym typeface="Nunito Semi-Bold"/>
              </a:rPr>
              <a:t>relative size of child c′ within parent c</a:t>
            </a:r>
          </a:p>
        </p:txBody>
      </p:sp>
      <p:sp>
        <p:nvSpPr>
          <p:cNvPr id="34" name="TextBox 33"/>
          <p:cNvSpPr txBox="1"/>
          <p:nvPr/>
        </p:nvSpPr>
        <p:spPr>
          <a:xfrm>
            <a:off x="1028700" y="4936490"/>
            <a:ext cx="8229600" cy="365760"/>
          </a:xfrm>
          <a:prstGeom prst="rect">
            <a:avLst/>
          </a:prstGeom>
          <a:noFill/>
        </p:spPr>
        <p:txBody>
          <a:bodyPr anchor="t" rtlCol="false" lIns="0" tIns="0" rIns="0" bIns="0" wrap="square"/>
          <a:lstStyle/>
          <a:p>
            <a:pPr algn="l">
              <a:lnSpc>
                <a:spcPts val="2700"/>
              </a:lnSpc>
              <a:spcBef>
                <a:spcPts val="0"/>
              </a:spcBef>
              <a:buNone/>
            </a:pPr>
            <a:r>
              <a:rPr lang="en-US" sz="2100" b="true">
                <a:solidFill>
                  <a:srgbClr val="111111"/>
                </a:solidFill>
                <a:latin typeface="Nunito Semi-Bold"/>
                <a:ea typeface="Nunito Semi-Bold"/>
                <a:cs typeface="Nunito Semi-Bold"/>
                <a:sym typeface="Nunito Semi-Bold"/>
              </a:rPr>
              <a:t>For a </a:t>
            </a:r>
            <a:r>
              <a:rPr lang="en-US" sz="2100" b="true">
                <a:solidFill>
                  <a:srgbClr val="111111"/>
                </a:solidFill>
                <a:latin typeface="Nunito Bold"/>
                <a:ea typeface="Nunito Bold"/>
                <a:cs typeface="Nunito Bold"/>
                <a:sym typeface="Nunito Bold"/>
              </a:rPr>
              <a:t>strict nested hierarchy</a:t>
            </a:r>
            <a:r>
              <a:rPr lang="en-US" sz="2100" b="true">
                <a:solidFill>
                  <a:srgbClr val="111111"/>
                </a:solidFill>
                <a:latin typeface="Nunito Semi-Bold"/>
                <a:ea typeface="Nunito Semi-Bold"/>
                <a:cs typeface="Nunito Semi-Bold"/>
                <a:sym typeface="Nunito Semi-Bold"/>
              </a:rPr>
              <a:t> on a consistent feature space:</a:t>
            </a:r>
          </a:p>
        </p:txBody>
      </p:sp>
      <p:sp>
        <p:nvSpPr>
          <p:cNvPr id="35" name="Rounded Rectangle 34"/>
          <p:cNvSpPr/>
          <p:nvPr/>
        </p:nvSpPr>
        <p:spPr>
          <a:xfrm>
            <a:off x="1028700" y="5393690"/>
            <a:ext cx="8229600" cy="1508760"/>
          </a:xfrm>
          <a:prstGeom prst="roundRect">
            <a:avLst>
              <a:gd name="adj" fmla="val 12121"/>
            </a:avLst>
          </a:prstGeom>
          <a:solidFill>
            <a:srgbClr val="E6EEEA"/>
          </a:solidFill>
          <a:ln>
            <a:noFill/>
          </a:ln>
        </p:spPr>
        <p:txBody>
          <a:bodyPr anchor="ctr" rtlCol="false" lIns="0" tIns="0" rIns="0" bIns="0" wrap="square"/>
          <a:lstStyle/>
          <a:p>
            <a:endParaRPr lang="en-US" sz="1800"/>
          </a:p>
        </p:txBody>
      </p:sp>
      <mc:AlternateContent xmlns:mc="http://schemas.openxmlformats.org/markup-compatibility/2006">
        <mc:Choice xmlns:a14="http://schemas.microsoft.com/office/drawing/2010/main" Requires="a14">
          <p:sp>
            <p:nvSpPr>
              <p:cNvPr id="36" name="Equation"/>
              <p:cNvSpPr txBox="1"/>
              <p:nvPr/>
            </p:nvSpPr>
            <p:spPr>
              <a:xfrm>
                <a:off x="1211580" y="5393690"/>
                <a:ext cx="7863840" cy="1508760"/>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Sup>
                        <m:sSubSupPr>
                          <m:ctrlPr>
                            <a:rPr lang="en-US" sz="2550" i="1">
                              <a:solidFill>
                                <a:srgbClr val="124944"/>
                              </a:solidFill>
                              <a:latin typeface="Cambria Math" panose="02040503050406030204" pitchFamily="18" charset="0"/>
                            </a:rPr>
                          </m:ctrlPr>
                        </m:sSubSupPr>
                        <m:e>
                          <m:r>
                            <a:rPr lang="en-US" sz="2550" i="1">
                              <a:solidFill>
                                <a:srgbClr val="124944"/>
                              </a:solidFill>
                              <a:latin typeface="Cambria Math" panose="02040503050406030204" pitchFamily="18" charset="0"/>
                            </a:rPr>
                            <m:t xml:space="preserve">Φ</m:t>
                          </m:r>
                        </m:e>
                        <m:sub>
                          <m:r>
                            <a:rPr lang="en-US" sz="2550" i="1">
                              <a:solidFill>
                                <a:srgbClr val="124944"/>
                              </a:solidFill>
                              <a:latin typeface="Cambria Math" panose="02040503050406030204" pitchFamily="18" charset="0"/>
                            </a:rPr>
                            <m:t xml:space="preserve">j</m:t>
                          </m:r>
                        </m:sub>
                        <m:sup>
                          <m:r>
                            <m:rPr>
                              <m:sty m:val="p"/>
                            </m:rPr>
                            <a:rPr lang="en-US" sz="2550">
                              <a:solidFill>
                                <a:srgbClr val="124944"/>
                              </a:solidFill>
                              <a:latin typeface="Cambria Math" panose="02040503050406030204" pitchFamily="18" charset="0"/>
                            </a:rPr>
                            <m:t xml:space="preserve">(</m:t>
                          </m:r>
                          <m:r>
                            <a:rPr lang="en-US" sz="2550" i="1">
                              <a:solidFill>
                                <a:srgbClr val="124944"/>
                              </a:solidFill>
                              <a:latin typeface="Cambria Math" panose="02040503050406030204" pitchFamily="18" charset="0"/>
                            </a:rPr>
                            <m:t xml:space="preserve">l</m:t>
                          </m:r>
                          <m:r>
                            <m:rPr>
                              <m:sty m:val="p"/>
                            </m:rPr>
                            <a:rPr lang="en-US" sz="2550">
                              <a:solidFill>
                                <a:srgbClr val="124944"/>
                              </a:solidFill>
                              <a:latin typeface="Cambria Math" panose="02040503050406030204" pitchFamily="18" charset="0"/>
                            </a:rPr>
                            <m:t xml:space="preserve">,</m:t>
                          </m:r>
                          <m:r>
                            <a:rPr lang="en-US" sz="2550" i="1">
                              <a:solidFill>
                                <a:srgbClr val="124944"/>
                              </a:solidFill>
                              <a:latin typeface="Cambria Math" panose="02040503050406030204" pitchFamily="18" charset="0"/>
                            </a:rPr>
                            <m:t xml:space="preserve">c</m:t>
                          </m:r>
                          <m:r>
                            <m:rPr>
                              <m:sty m:val="p"/>
                            </m:rPr>
                            <a:rPr lang="en-US" sz="2550">
                              <a:solidFill>
                                <a:srgbClr val="124944"/>
                              </a:solidFill>
                              <a:latin typeface="Cambria Math" panose="02040503050406030204" pitchFamily="18" charset="0"/>
                            </a:rPr>
                            <m:t xml:space="preserve">)</m:t>
                          </m:r>
                        </m:sup>
                      </m:sSubSup>
                      <m:r>
                        <m:rPr>
                          <m:sty m:val="p"/>
                        </m:rPr>
                        <a:rPr lang="en-US" sz="2550">
                          <a:solidFill>
                            <a:srgbClr val="124944"/>
                          </a:solidFill>
                          <a:latin typeface="Cambria Math" panose="02040503050406030204" pitchFamily="18" charset="0"/>
                        </a:rPr>
                        <m:t xml:space="preserve">=</m:t>
                      </m:r>
                      <m:nary>
                        <m:naryPr>
                          <m:chr m:val="∑"/>
                          <m:limLoc m:val="undOvr"/>
                          <m:supHide m:val="1"/>
                          <m:ctrlPr>
                            <a:rPr lang="en-US" sz="2550" i="1">
                              <a:solidFill>
                                <a:srgbClr val="124944"/>
                              </a:solidFill>
                              <a:latin typeface="Cambria Math" panose="02040503050406030204" pitchFamily="18" charset="0"/>
                            </a:rPr>
                          </m:ctrlPr>
                        </m:naryPr>
                        <m:sub>
                          <m:r>
                            <a:rPr lang="en-US" sz="2550" i="1">
                              <a:solidFill>
                                <a:srgbClr val="124944"/>
                              </a:solidFill>
                              <a:latin typeface="Cambria Math" panose="02040503050406030204" pitchFamily="18" charset="0"/>
                            </a:rPr>
                            <m:t xml:space="preserve">c′</m:t>
                          </m:r>
                          <m:r>
                            <m:rPr>
                              <m:sty m:val="p"/>
                            </m:rPr>
                            <a:rPr lang="en-US" sz="2550">
                              <a:solidFill>
                                <a:srgbClr val="124944"/>
                              </a:solidFill>
                              <a:latin typeface="Cambria Math" panose="02040503050406030204" pitchFamily="18" charset="0"/>
                            </a:rPr>
                            <m:t xml:space="preserve">∈child(</m:t>
                          </m:r>
                          <m:r>
                            <a:rPr lang="en-US" sz="2550" i="1">
                              <a:solidFill>
                                <a:srgbClr val="124944"/>
                              </a:solidFill>
                              <a:latin typeface="Cambria Math" panose="02040503050406030204" pitchFamily="18" charset="0"/>
                            </a:rPr>
                            <m:t xml:space="preserve">c</m:t>
                          </m:r>
                          <m:r>
                            <m:rPr>
                              <m:sty m:val="p"/>
                            </m:rPr>
                            <a:rPr lang="en-US" sz="2550">
                              <a:solidFill>
                                <a:srgbClr val="124944"/>
                              </a:solidFill>
                              <a:latin typeface="Cambria Math" panose="02040503050406030204" pitchFamily="18" charset="0"/>
                            </a:rPr>
                            <m:t xml:space="preserve">)</m:t>
                          </m:r>
                        </m:sub>
                        <m:sup/>
                        <m:e>
                          <m:sSub>
                            <m:sSubPr>
                              <m:ctrlPr>
                                <a:rPr lang="en-US" sz="2550" i="1">
                                  <a:solidFill>
                                    <a:srgbClr val="124944"/>
                                  </a:solidFill>
                                  <a:latin typeface="Cambria Math" panose="02040503050406030204" pitchFamily="18" charset="0"/>
                                </a:rPr>
                              </m:ctrlPr>
                            </m:sSubPr>
                            <m:e>
                              <m:r>
                                <a:rPr lang="en-US" sz="2550" i="1">
                                  <a:solidFill>
                                    <a:srgbClr val="124944"/>
                                  </a:solidFill>
                                  <a:latin typeface="Cambria Math" panose="02040503050406030204" pitchFamily="18" charset="0"/>
                                </a:rPr>
                                <m:t xml:space="preserve">w</m:t>
                              </m:r>
                            </m:e>
                            <m:sub>
                              <m:r>
                                <a:rPr lang="en-US" sz="2550" i="1">
                                  <a:solidFill>
                                    <a:srgbClr val="124944"/>
                                  </a:solidFill>
                                  <a:latin typeface="Cambria Math" panose="02040503050406030204" pitchFamily="18" charset="0"/>
                                </a:rPr>
                                <m:t xml:space="preserve">c′</m:t>
                              </m:r>
                            </m:sub>
                          </m:sSub>
                        </m:e>
                      </m:nary>
                      <m:r>
                        <m:rPr>
                          <m:sty m:val="p"/>
                        </m:rPr>
                        <a:rPr lang="en-US" sz="2550">
                          <a:solidFill>
                            <a:srgbClr val="124944"/>
                          </a:solidFill>
                          <a:latin typeface="Cambria Math" panose="02040503050406030204" pitchFamily="18" charset="0"/>
                        </a:rPr>
                        <m:t xml:space="preserve"> </m:t>
                      </m:r>
                      <m:sSubSup>
                        <m:sSubSupPr>
                          <m:ctrlPr>
                            <a:rPr lang="en-US" sz="2550" i="1">
                              <a:solidFill>
                                <a:srgbClr val="124944"/>
                              </a:solidFill>
                              <a:latin typeface="Cambria Math" panose="02040503050406030204" pitchFamily="18" charset="0"/>
                            </a:rPr>
                          </m:ctrlPr>
                        </m:sSubSupPr>
                        <m:e>
                          <m:r>
                            <a:rPr lang="en-US" sz="2550" i="1">
                              <a:solidFill>
                                <a:srgbClr val="124944"/>
                              </a:solidFill>
                              <a:latin typeface="Cambria Math" panose="02040503050406030204" pitchFamily="18" charset="0"/>
                            </a:rPr>
                            <m:t xml:space="preserve">Φ</m:t>
                          </m:r>
                        </m:e>
                        <m:sub>
                          <m:r>
                            <a:rPr lang="en-US" sz="2550" i="1">
                              <a:solidFill>
                                <a:srgbClr val="124944"/>
                              </a:solidFill>
                              <a:latin typeface="Cambria Math" panose="02040503050406030204" pitchFamily="18" charset="0"/>
                            </a:rPr>
                            <m:t xml:space="preserve">j</m:t>
                          </m:r>
                        </m:sub>
                        <m:sup>
                          <m:r>
                            <m:rPr>
                              <m:sty m:val="p"/>
                            </m:rPr>
                            <a:rPr lang="en-US" sz="2550">
                              <a:solidFill>
                                <a:srgbClr val="124944"/>
                              </a:solidFill>
                              <a:latin typeface="Cambria Math" panose="02040503050406030204" pitchFamily="18" charset="0"/>
                            </a:rPr>
                            <m:t xml:space="preserve">(</m:t>
                          </m:r>
                          <m:r>
                            <a:rPr lang="en-US" sz="2550" i="1">
                              <a:solidFill>
                                <a:srgbClr val="124944"/>
                              </a:solidFill>
                              <a:latin typeface="Cambria Math" panose="02040503050406030204" pitchFamily="18" charset="0"/>
                            </a:rPr>
                            <m:t xml:space="preserve">l</m:t>
                          </m:r>
                          <m:r>
                            <m:rPr>
                              <m:sty m:val="p"/>
                            </m:rPr>
                            <a:rPr lang="en-US" sz="2550">
                              <a:solidFill>
                                <a:srgbClr val="124944"/>
                              </a:solidFill>
                              <a:latin typeface="Cambria Math" panose="02040503050406030204" pitchFamily="18" charset="0"/>
                            </a:rPr>
                            <m:t xml:space="preserve">+1, </m:t>
                          </m:r>
                          <m:r>
                            <a:rPr lang="en-US" sz="2550" i="1">
                              <a:solidFill>
                                <a:srgbClr val="124944"/>
                              </a:solidFill>
                              <a:latin typeface="Cambria Math" panose="02040503050406030204" pitchFamily="18" charset="0"/>
                            </a:rPr>
                            <m:t xml:space="preserve">c′</m:t>
                          </m:r>
                          <m:r>
                            <m:rPr>
                              <m:sty m:val="p"/>
                            </m:rPr>
                            <a:rPr lang="en-US" sz="2550">
                              <a:solidFill>
                                <a:srgbClr val="124944"/>
                              </a:solidFill>
                              <a:latin typeface="Cambria Math" panose="02040503050406030204" pitchFamily="18" charset="0"/>
                            </a:rPr>
                            <m:t xml:space="preserve">)</m:t>
                          </m:r>
                        </m:sup>
                      </m:sSubSup>
                      <m:r>
                        <m:rPr>
                          <m:sty m:val="p"/>
                        </m:rPr>
                        <a:rPr lang="en-US" sz="2550">
                          <a:solidFill>
                            <a:srgbClr val="124944"/>
                          </a:solidFill>
                          <a:latin typeface="Cambria Math" panose="02040503050406030204" pitchFamily="18" charset="0"/>
                        </a:rPr>
                        <m:t xml:space="preserve">+</m:t>
                      </m:r>
                      <m:sSub>
                        <m:sSubPr>
                          <m:ctrlPr>
                            <a:rPr lang="en-US" sz="2550" i="1">
                              <a:solidFill>
                                <a:srgbClr val="124944"/>
                              </a:solidFill>
                              <a:latin typeface="Cambria Math" panose="02040503050406030204" pitchFamily="18" charset="0"/>
                            </a:rPr>
                          </m:ctrlPr>
                        </m:sSubPr>
                        <m:e>
                          <m:r>
                            <a:rPr lang="en-US" sz="2550" i="1">
                              <a:solidFill>
                                <a:srgbClr val="124944"/>
                              </a:solidFill>
                              <a:latin typeface="Cambria Math" panose="02040503050406030204" pitchFamily="18" charset="0"/>
                            </a:rPr>
                            <m:t xml:space="preserve">ε</m:t>
                          </m:r>
                        </m:e>
                        <m:sub>
                          <m:r>
                            <a:rPr lang="en-US" sz="2550" i="1">
                              <a:solidFill>
                                <a:srgbClr val="124944"/>
                              </a:solidFill>
                              <a:latin typeface="Cambria Math" panose="02040503050406030204" pitchFamily="18" charset="0"/>
                            </a:rPr>
                            <m:t xml:space="preserve">j</m:t>
                          </m:r>
                        </m:sub>
                      </m:sSub>
                    </m:oMath>
                  </m:oMathPara>
                </a14:m>
                <a:endParaRPr lang="en-US" sz="2550"/>
              </a:p>
            </p:txBody>
          </p:sp>
        </mc:Choice>
        <mc:Fallback>
          <p:sp>
            <p:nvSpPr>
              <p:cNvPr id="36" name="Equation"/>
              <p:cNvSpPr txBox="1"/>
              <p:nvPr/>
            </p:nvSpPr>
            <p:spPr>
              <a:xfrm>
                <a:off x="1211580" y="5393690"/>
                <a:ext cx="7863840" cy="1508760"/>
              </a:xfrm>
              <a:prstGeom prst="rect">
                <a:avLst/>
              </a:prstGeom>
              <a:blipFill>
                <a:blip r:embed="rId7"/>
                <a:stretch>
                  <a:fillRect/>
                </a:stretch>
              </a:blipFill>
            </p:spPr>
            <p:txBody>
              <a:bodyPr/>
              <a:lstStyle/>
              <a:p>
                <a:endParaRPr lang="en-US"/>
              </a:p>
            </p:txBody>
          </p:sp>
        </mc:Fallback>
      </mc:AlternateContent>
      <p:sp>
        <p:nvSpPr>
          <p:cNvPr id="37" name="TextBox 36"/>
          <p:cNvSpPr txBox="1"/>
          <p:nvPr/>
        </p:nvSpPr>
        <p:spPr>
          <a:xfrm>
            <a:off x="1028700" y="7131050"/>
            <a:ext cx="8229600" cy="2177542"/>
          </a:xfrm>
          <a:prstGeom prst="rect">
            <a:avLst/>
          </a:prstGeom>
          <a:noFill/>
        </p:spPr>
        <p:txBody>
          <a:bodyPr anchor="t" rtlCol="false" lIns="0" tIns="0" rIns="0" bIns="0" wrap="square"/>
          <a:lstStyle/>
          <a:p>
            <a:pPr algn="l" marL="274320" indent="-274320">
              <a:lnSpc>
                <a:spcPts val="2782"/>
              </a:lnSpc>
              <a:spcBef>
                <a:spcPts val="0"/>
              </a:spcBef>
              <a:buClr>
                <a:srgbClr val="DF8330"/>
              </a:buClr>
              <a:buSzPct val="100000"/>
              <a:buFont typeface="Arial"/>
              <a:buChar char="•"/>
            </a:pPr>
            <a:r>
              <a:rPr lang="en-US" sz="1880" b="true">
                <a:solidFill>
                  <a:srgbClr val="111111"/>
                </a:solidFill>
                <a:latin typeface="Calibri"/>
                <a:ea typeface="Calibri"/>
                <a:cs typeface="Calibri"/>
                <a:sym typeface="Calibri"/>
              </a:rPr>
              <a:t>ε</a:t>
            </a:r>
            <a:r>
              <a:rPr lang="en-US" sz="1880" b="true" baseline="-25000">
                <a:solidFill>
                  <a:srgbClr val="111111"/>
                </a:solidFill>
                <a:latin typeface="Nunito Bold"/>
                <a:ea typeface="Nunito Bold"/>
                <a:cs typeface="Nunito Bold"/>
                <a:sym typeface="Nunito Bold"/>
              </a:rPr>
              <a:t>j</a:t>
            </a:r>
            <a:r>
              <a:rPr lang="en-US" sz="1880" b="true">
                <a:solidFill>
                  <a:srgbClr val="111111"/>
                </a:solidFill>
                <a:latin typeface="Nunito Semi-Bold"/>
                <a:ea typeface="Nunito Semi-Bold"/>
                <a:cs typeface="Nunito Semi-Bold"/>
                <a:sym typeface="Nunito Semi-Bold"/>
              </a:rPr>
              <a:t> is a residual from surrogate mismatch; it vanishes under perfect fidelity.</a:t>
            </a:r>
          </a:p>
          <a:p>
            <a:pPr algn="l" marL="274320" indent="-274320">
              <a:lnSpc>
                <a:spcPts val="2632"/>
              </a:lnSpc>
              <a:spcBef>
                <a:spcPts val="940"/>
              </a:spcBef>
              <a:buClr>
                <a:srgbClr val="DF8330"/>
              </a:buClr>
              <a:buSzPct val="100000"/>
              <a:buFont typeface="Arial"/>
              <a:buChar char="•"/>
            </a:pPr>
            <a:r>
              <a:rPr lang="en-US" sz="1880" b="true">
                <a:solidFill>
                  <a:srgbClr val="111111"/>
                </a:solidFill>
                <a:latin typeface="Nunito Semi-Bold"/>
                <a:ea typeface="Nunito Semi-Bold"/>
                <a:cs typeface="Nunito Semi-Bold"/>
                <a:sym typeface="Nunito Semi-Bold"/>
              </a:rPr>
              <a:t>Derived via the </a:t>
            </a:r>
            <a:r>
              <a:rPr lang="en-US" sz="1880" b="true">
                <a:solidFill>
                  <a:srgbClr val="111111"/>
                </a:solidFill>
                <a:latin typeface="Nunito Bold"/>
                <a:ea typeface="Nunito Bold"/>
                <a:cs typeface="Nunito Bold"/>
                <a:sym typeface="Nunito Bold"/>
              </a:rPr>
              <a:t>law of total expectation</a:t>
            </a:r>
            <a:r>
              <a:rPr lang="en-US" sz="1880" b="true">
                <a:solidFill>
                  <a:srgbClr val="111111"/>
                </a:solidFill>
                <a:latin typeface="Nunito Semi-Bold"/>
                <a:ea typeface="Nunito Semi-Bold"/>
                <a:cs typeface="Nunito Semi-Bold"/>
                <a:sym typeface="Nunito Semi-Bold"/>
              </a:rPr>
              <a:t> (children partition the parent).</a:t>
            </a:r>
          </a:p>
          <a:p>
            <a:pPr algn="l" marL="274320" indent="-274320">
              <a:lnSpc>
                <a:spcPts val="2632"/>
              </a:lnSpc>
              <a:spcBef>
                <a:spcPts val="940"/>
              </a:spcBef>
              <a:buClr>
                <a:srgbClr val="DF8330"/>
              </a:buClr>
              <a:buSzPct val="100000"/>
              <a:buFont typeface="Arial"/>
              <a:buChar char="•"/>
            </a:pPr>
            <a:r>
              <a:rPr lang="en-US" sz="1880" b="true">
                <a:solidFill>
                  <a:srgbClr val="111111"/>
                </a:solidFill>
                <a:latin typeface="Nunito Semi-Bold"/>
                <a:ea typeface="Nunito Semi-Bold"/>
                <a:cs typeface="Nunito Semi-Bold"/>
                <a:sym typeface="Nunito Semi-Bold"/>
              </a:rPr>
              <a:t>Does </a:t>
            </a:r>
            <a:r>
              <a:rPr lang="en-US" sz="1880" b="true">
                <a:solidFill>
                  <a:srgbClr val="111111"/>
                </a:solidFill>
                <a:latin typeface="Nunito Bold"/>
                <a:ea typeface="Nunito Bold"/>
                <a:cs typeface="Nunito Bold"/>
                <a:sym typeface="Nunito Bold"/>
              </a:rPr>
              <a:t>NOT</a:t>
            </a:r>
            <a:r>
              <a:rPr lang="en-US" sz="1880" b="true">
                <a:solidFill>
                  <a:srgbClr val="111111"/>
                </a:solidFill>
                <a:latin typeface="Nunito Semi-Bold"/>
                <a:ea typeface="Nunito Semi-Bold"/>
                <a:cs typeface="Nunito Semi-Bold"/>
                <a:sym typeface="Nunito Semi-Bold"/>
              </a:rPr>
              <a:t> mean explanations are identical across levels. It means differences can be </a:t>
            </a:r>
            <a:r>
              <a:rPr lang="en-US" sz="1880" b="true">
                <a:solidFill>
                  <a:srgbClr val="111111"/>
                </a:solidFill>
                <a:latin typeface="Nunito Bold"/>
                <a:ea typeface="Nunito Bold"/>
                <a:cs typeface="Nunito Bold"/>
                <a:sym typeface="Nunito Bold"/>
              </a:rPr>
              <a:t>interpreted</a:t>
            </a:r>
            <a:r>
              <a:rPr lang="en-US" sz="1880" b="true">
                <a:solidFill>
                  <a:srgbClr val="111111"/>
                </a:solidFill>
                <a:latin typeface="Nunito Semi-Bold"/>
                <a:ea typeface="Nunito Semi-Bold"/>
                <a:cs typeface="Nunito Semi-Bold"/>
                <a:sym typeface="Nunito Semi-Bold"/>
              </a:rPr>
              <a:t>, not ruled out as inconsistency.</a:t>
            </a:r>
          </a:p>
        </p:txBody>
      </p:sp>
      <p:sp>
        <p:nvSpPr>
          <p:cNvPr id="38" name="Rounded Rectangle 37"/>
          <p:cNvSpPr/>
          <p:nvPr/>
        </p:nvSpPr>
        <p:spPr>
          <a:xfrm>
            <a:off x="9806940" y="3592322"/>
            <a:ext cx="7452360" cy="3017520"/>
          </a:xfrm>
          <a:prstGeom prst="roundRect">
            <a:avLst>
              <a:gd name="adj" fmla="val 10303"/>
            </a:avLst>
          </a:prstGeom>
          <a:solidFill>
            <a:srgbClr val="124944"/>
          </a:solidFill>
          <a:ln>
            <a:noFill/>
          </a:ln>
        </p:spPr>
        <p:txBody>
          <a:bodyPr anchor="ctr" rtlCol="false" lIns="0" tIns="0" rIns="0" bIns="0" wrap="square"/>
          <a:lstStyle/>
          <a:p>
            <a:endParaRPr lang="en-US" sz="1800"/>
          </a:p>
        </p:txBody>
      </p:sp>
      <p:sp>
        <p:nvSpPr>
          <p:cNvPr id="39" name="Rounded Rectangle 38"/>
          <p:cNvSpPr/>
          <p:nvPr/>
        </p:nvSpPr>
        <p:spPr>
          <a:xfrm>
            <a:off x="10264140" y="3354578"/>
            <a:ext cx="2678309"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Why it matters</a:t>
            </a:r>
          </a:p>
        </p:txBody>
      </p:sp>
      <p:sp>
        <p:nvSpPr>
          <p:cNvPr id="40" name="TextBox 39"/>
          <p:cNvSpPr txBox="1"/>
          <p:nvPr/>
        </p:nvSpPr>
        <p:spPr>
          <a:xfrm>
            <a:off x="10264140" y="4232402"/>
            <a:ext cx="6583680" cy="2103120"/>
          </a:xfrm>
          <a:prstGeom prst="rect">
            <a:avLst/>
          </a:prstGeom>
          <a:noFill/>
        </p:spPr>
        <p:txBody>
          <a:bodyPr anchor="t" rtlCol="false" lIns="0" tIns="0" rIns="0" bIns="0" wrap="square"/>
          <a:lstStyle/>
          <a:p>
            <a:pPr algn="l" marL="274320" indent="-274320">
              <a:lnSpc>
                <a:spcPts val="2660"/>
              </a:lnSpc>
              <a:spcBef>
                <a:spcPts val="0"/>
              </a:spcBef>
              <a:buClr>
                <a:srgbClr val="ECC665"/>
              </a:buClr>
              <a:buSzPct val="100000"/>
              <a:buFont typeface="Arial"/>
              <a:buChar char="•"/>
            </a:pPr>
            <a:r>
              <a:rPr lang="en-US" sz="1900" b="true">
                <a:solidFill>
                  <a:srgbClr val="FFFFFF"/>
                </a:solidFill>
                <a:latin typeface="Nunito Semi-Bold"/>
                <a:ea typeface="Nunito Semi-Bold"/>
                <a:cs typeface="Nunito Semi-Bold"/>
                <a:sym typeface="Nunito Semi-Bold"/>
              </a:rPr>
              <a:t>Gives the multi-level explanation a </a:t>
            </a:r>
            <a:r>
              <a:rPr lang="en-US" sz="1900" b="true">
                <a:solidFill>
                  <a:srgbClr val="FFFFFF"/>
                </a:solidFill>
                <a:latin typeface="Nunito Bold"/>
                <a:ea typeface="Nunito Bold"/>
                <a:cs typeface="Nunito Bold"/>
                <a:sym typeface="Nunito Bold"/>
              </a:rPr>
              <a:t>formal backbone</a:t>
            </a:r>
            <a:r>
              <a:rPr lang="en-US" sz="1900" b="true">
                <a:solidFill>
                  <a:srgbClr val="FFFFFF"/>
                </a:solidFill>
                <a:latin typeface="Nunito Semi-Bold"/>
                <a:ea typeface="Nunito Semi-Bold"/>
                <a:cs typeface="Nunito Semi-Bold"/>
                <a:sym typeface="Nunito Semi-Bold"/>
              </a:rPr>
              <a:t>.</a:t>
            </a:r>
          </a:p>
          <a:p>
            <a:pPr algn="l" marL="274320" indent="-274320">
              <a:lnSpc>
                <a:spcPts val="2660"/>
              </a:lnSpc>
              <a:spcBef>
                <a:spcPts val="800"/>
              </a:spcBef>
              <a:buClr>
                <a:srgbClr val="ECC665"/>
              </a:buClr>
              <a:buSzPct val="100000"/>
              <a:buFont typeface="Arial"/>
              <a:buChar char="•"/>
            </a:pPr>
            <a:r>
              <a:rPr lang="en-US" sz="1900" b="true">
                <a:solidFill>
                  <a:srgbClr val="FFFFFF"/>
                </a:solidFill>
                <a:latin typeface="Nunito Semi-Bold"/>
                <a:ea typeface="Nunito Semi-Bold"/>
                <a:cs typeface="Nunito Semi-Bold"/>
                <a:sym typeface="Nunito Semi-Bold"/>
              </a:rPr>
              <a:t>Parent importance is an </a:t>
            </a:r>
            <a:r>
              <a:rPr lang="en-US" sz="1900" b="true">
                <a:solidFill>
                  <a:srgbClr val="FFFFFF"/>
                </a:solidFill>
                <a:latin typeface="Nunito Bold"/>
                <a:ea typeface="Nunito Bold"/>
                <a:cs typeface="Nunito Bold"/>
                <a:sym typeface="Nunito Bold"/>
              </a:rPr>
              <a:t>accounting identity</a:t>
            </a:r>
            <a:r>
              <a:rPr lang="en-US" sz="1900" b="true">
                <a:solidFill>
                  <a:srgbClr val="FFFFFF"/>
                </a:solidFill>
                <a:latin typeface="Nunito Semi-Bold"/>
                <a:ea typeface="Nunito Semi-Bold"/>
                <a:cs typeface="Nunito Semi-Bold"/>
                <a:sym typeface="Nunito Semi-Bold"/>
              </a:rPr>
              <a:t> over the children, not a separate story.</a:t>
            </a:r>
          </a:p>
          <a:p>
            <a:pPr algn="l" marL="274320" indent="-274320">
              <a:lnSpc>
                <a:spcPts val="2660"/>
              </a:lnSpc>
              <a:spcBef>
                <a:spcPts val="800"/>
              </a:spcBef>
              <a:buClr>
                <a:srgbClr val="ECC665"/>
              </a:buClr>
              <a:buSzPct val="100000"/>
              <a:buFont typeface="Arial"/>
              <a:buChar char="•"/>
            </a:pPr>
            <a:r>
              <a:rPr lang="en-US" sz="1900" b="true">
                <a:solidFill>
                  <a:srgbClr val="FFFFFF"/>
                </a:solidFill>
                <a:latin typeface="Nunito Semi-Bold"/>
                <a:ea typeface="Nunito Semi-Bold"/>
                <a:cs typeface="Nunito Semi-Bold"/>
                <a:sym typeface="Nunito Semi-Bold"/>
              </a:rPr>
              <a:t>Turns cross-level differences into </a:t>
            </a:r>
            <a:r>
              <a:rPr lang="en-US" sz="1900" b="true">
                <a:solidFill>
                  <a:srgbClr val="FFFFFF"/>
                </a:solidFill>
                <a:latin typeface="Nunito Bold"/>
                <a:ea typeface="Nunito Bold"/>
                <a:cs typeface="Nunito Bold"/>
                <a:sym typeface="Nunito Bold"/>
              </a:rPr>
              <a:t>interpretable signal</a:t>
            </a:r>
            <a:r>
              <a:rPr lang="en-US" sz="1900" b="true">
                <a:solidFill>
                  <a:srgbClr val="FFFFFF"/>
                </a:solidFill>
                <a:latin typeface="Nunito Semi-Bold"/>
                <a:ea typeface="Nunito Semi-Bold"/>
                <a:cs typeface="Nunito Semi-Bold"/>
                <a:sym typeface="Nunito Semi-Bold"/>
              </a:rPr>
              <a:t>.</a:t>
            </a:r>
          </a:p>
        </p:txBody>
      </p:sp>
      <p:sp>
        <p:nvSpPr>
          <p:cNvPr id="41" name="Rounded Rectangle 40"/>
          <p:cNvSpPr/>
          <p:nvPr/>
        </p:nvSpPr>
        <p:spPr>
          <a:xfrm>
            <a:off x="9806940" y="6929882"/>
            <a:ext cx="3589020" cy="2378710"/>
          </a:xfrm>
          <a:prstGeom prst="roundRect">
            <a:avLst>
              <a:gd name="adj" fmla="val 11532"/>
            </a:avLst>
          </a:prstGeom>
          <a:solidFill>
            <a:srgbClr val="F6ECDF"/>
          </a:solidFill>
          <a:ln>
            <a:noFill/>
          </a:ln>
        </p:spPr>
        <p:txBody>
          <a:bodyPr anchor="ctr" rtlCol="false" lIns="137160" tIns="91440" rIns="137160" bIns="91440" wrap="square"/>
          <a:lstStyle/>
          <a:p>
            <a:pPr algn="ctr">
              <a:lnSpc>
                <a:spcPts val="3740"/>
              </a:lnSpc>
              <a:spcBef>
                <a:spcPts val="0"/>
              </a:spcBef>
              <a:buNone/>
            </a:pPr>
            <a:r>
              <a:rPr lang="en-US" sz="3400" b="true">
                <a:solidFill>
                  <a:srgbClr val="124944"/>
                </a:solidFill>
                <a:latin typeface="Nunito Ultra-Bold"/>
                <a:ea typeface="Nunito Ultra-Bold"/>
                <a:cs typeface="Nunito Ultra-Bold"/>
                <a:sym typeface="Nunito Ultra-Bold"/>
              </a:rPr>
              <a:t>383,585</a:t>
            </a:r>
          </a:p>
          <a:p>
            <a:pPr algn="ctr">
              <a:lnSpc>
                <a:spcPts val="2125"/>
              </a:lnSpc>
              <a:spcBef>
                <a:spcPts val="400"/>
              </a:spcBef>
              <a:buNone/>
            </a:pPr>
            <a:r>
              <a:rPr lang="en-US" sz="1700" b="true">
                <a:solidFill>
                  <a:srgbClr val="111111"/>
                </a:solidFill>
                <a:latin typeface="Nunito Semi-Bold"/>
                <a:ea typeface="Nunito Semi-Bold"/>
                <a:cs typeface="Nunito Semi-Bold"/>
                <a:sym typeface="Nunito Semi-Bold"/>
              </a:rPr>
              <a:t>hourly records · </a:t>
            </a:r>
            <a:r>
              <a:rPr lang="en-US" sz="1700" b="true">
                <a:solidFill>
                  <a:srgbClr val="111111"/>
                </a:solidFill>
                <a:latin typeface="Nunito Bold"/>
                <a:ea typeface="Nunito Bold"/>
                <a:cs typeface="Nunito Bold"/>
                <a:sym typeface="Nunito Bold"/>
              </a:rPr>
              <a:t>11</a:t>
            </a:r>
            <a:r>
              <a:rPr lang="en-US" sz="1700" b="true">
                <a:solidFill>
                  <a:srgbClr val="111111"/>
                </a:solidFill>
                <a:latin typeface="Nunito Semi-Bold"/>
                <a:ea typeface="Nunito Semi-Bold"/>
                <a:cs typeface="Nunito Semi-Bold"/>
                <a:sym typeface="Nunito Semi-Bold"/>
              </a:rPr>
              <a:t> variables</a:t>
            </a:r>
          </a:p>
        </p:txBody>
      </p:sp>
      <p:sp>
        <p:nvSpPr>
          <p:cNvPr id="42" name="Rounded Rectangle 41"/>
          <p:cNvSpPr/>
          <p:nvPr/>
        </p:nvSpPr>
        <p:spPr>
          <a:xfrm>
            <a:off x="13670280" y="6929882"/>
            <a:ext cx="3589020" cy="2378710"/>
          </a:xfrm>
          <a:prstGeom prst="roundRect">
            <a:avLst>
              <a:gd name="adj" fmla="val 11532"/>
            </a:avLst>
          </a:prstGeom>
          <a:solidFill>
            <a:srgbClr val="F6ECDF"/>
          </a:solidFill>
          <a:ln>
            <a:noFill/>
          </a:ln>
        </p:spPr>
        <p:txBody>
          <a:bodyPr anchor="ctr" rtlCol="false" lIns="137160" tIns="91440" rIns="137160" bIns="91440" wrap="square"/>
          <a:lstStyle/>
          <a:p>
            <a:pPr algn="ctr">
              <a:lnSpc>
                <a:spcPts val="3740"/>
              </a:lnSpc>
              <a:spcBef>
                <a:spcPts val="0"/>
              </a:spcBef>
              <a:buNone/>
            </a:pPr>
            <a:r>
              <a:rPr lang="en-US" sz="3400" b="true">
                <a:solidFill>
                  <a:srgbClr val="DF8330"/>
                </a:solidFill>
                <a:latin typeface="Nunito Ultra-Bold"/>
                <a:ea typeface="Nunito Ultra-Bold"/>
                <a:cs typeface="Nunito Ultra-Bold"/>
                <a:sym typeface="Nunito Ultra-Bold"/>
              </a:rPr>
              <a:t>3 </a:t>
            </a:r>
            <a:r>
              <a:rPr lang="en-US" sz="3400" b="true">
                <a:solidFill>
                  <a:srgbClr val="DF8330"/>
                </a:solidFill>
                <a:latin typeface="Calibri"/>
                <a:ea typeface="Calibri"/>
                <a:cs typeface="Calibri"/>
                <a:sym typeface="Calibri"/>
              </a:rPr>
              <a:t>→ </a:t>
            </a:r>
            <a:r>
              <a:rPr lang="en-US" sz="3400" b="true">
                <a:solidFill>
                  <a:srgbClr val="DF8330"/>
                </a:solidFill>
                <a:latin typeface="Nunito Ultra-Bold"/>
                <a:ea typeface="Nunito Ultra-Bold"/>
                <a:cs typeface="Nunito Ultra-Bold"/>
                <a:sym typeface="Nunito Ultra-Bold"/>
              </a:rPr>
              <a:t>9</a:t>
            </a:r>
          </a:p>
          <a:p>
            <a:pPr algn="ctr">
              <a:lnSpc>
                <a:spcPts val="2125"/>
              </a:lnSpc>
              <a:spcBef>
                <a:spcPts val="400"/>
              </a:spcBef>
              <a:buNone/>
            </a:pPr>
            <a:r>
              <a:rPr lang="en-US" sz="1700" b="true">
                <a:solidFill>
                  <a:srgbClr val="111111"/>
                </a:solidFill>
                <a:latin typeface="Nunito Semi-Bold"/>
                <a:ea typeface="Nunito Semi-Bold"/>
                <a:cs typeface="Nunito Semi-Bold"/>
                <a:sym typeface="Nunito Semi-Bold"/>
              </a:rPr>
              <a:t>coarse regimes </a:t>
            </a:r>
            <a:r>
              <a:rPr lang="en-US" sz="1700" b="true">
                <a:solidFill>
                  <a:srgbClr val="111111"/>
                </a:solidFill>
                <a:latin typeface="Calibri"/>
                <a:ea typeface="Calibri"/>
                <a:cs typeface="Calibri"/>
                <a:sym typeface="Calibri"/>
              </a:rPr>
              <a:t>→ </a:t>
            </a:r>
            <a:r>
              <a:rPr lang="en-US" sz="1700" b="true">
                <a:solidFill>
                  <a:srgbClr val="111111"/>
                </a:solidFill>
                <a:latin typeface="Nunito Semi-Bold"/>
                <a:ea typeface="Nunito Semi-Bold"/>
                <a:cs typeface="Nunito Semi-Bold"/>
                <a:sym typeface="Nunito Semi-Bold"/>
              </a:rPr>
              <a:t>nested sub-clusters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[17] Rousseeuw, P. J. Silhouettes: A Graphical Aid to the Interpretation and Validation of Cluster Analysis. J. Comput. Appl. Math. 20, 53–65 (1987).   [19] Cortez, P. et al. Wine Quality. UCI Machine Learning Repository (2009).  ·  Dua, D. &amp; Taniskidou, E. Beijing Multi-Site Air Quality Data. UCI Machine Learning Repository (2017).</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44</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Evaluation Protocol</a:t>
            </a:r>
          </a:p>
        </p:txBody>
      </p:sp>
      <p:pic>
        <p:nvPicPr>
          <p:cNvPr id="23" name="Picture 22" descr="image.png"/>
          <p:cNvPicPr>
            <a:picLocks noChangeAspect="1"/>
          </p:cNvPicPr>
          <p:nvPr/>
        </p:nvPicPr>
        <p:blipFill>
          <a:blip r:embed="rId3"/>
          <a:stretch>
            <a:fillRect/>
          </a:stretch>
        </p:blipFill>
        <p:spPr>
          <a:xfrm>
            <a:off x="6376338" y="1673352"/>
            <a:ext cx="457200" cy="250983"/>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graphicFrame>
        <p:nvGraphicFramePr>
          <p:cNvPr id="28" name="Table 27"/>
          <p:cNvGraphicFramePr>
            <a:graphicFrameLocks noGrp="1"/>
          </p:cNvGraphicFramePr>
          <p:nvPr/>
        </p:nvGraphicFramePr>
        <p:xfrm>
          <a:off x="1028700" y="3363722"/>
          <a:ext cx="9966960" cy="4845304"/>
        </p:xfrm>
        <a:graphic>
          <a:graphicData uri="http://schemas.openxmlformats.org/drawingml/2006/table">
            <a:tbl>
              <a:tblPr firstRow="0" bandRow="0" firstCol="0" lastRow="0" lastCol="0" bandCol="0">
                <a:tableStyleId>{2D5ABB26-0587-4C30-8999-92F81FD0307C}</a:tableStyleId>
              </a:tblPr>
              <a:tblGrid>
                <a:gridCol w="2377440"/>
                <a:gridCol w="7589520"/>
              </a:tblGrid>
              <a:tr h="54864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Step</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Setting used in this contribution</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Dataset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Beijing Multi-Site Air Quality, 383,585 hourly records × 11 variables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7673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Level 1</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K-Means++ on the full dataset; k chosen by elbow, Silhouette and Davies–Bouldin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Level 2</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Each coarse cluster split again into sub-clusters (3 </a:t>
                      </a:r>
                      <a:r>
                        <a:rPr lang="en-US" sz="1700" b="true">
                          <a:solidFill>
                            <a:srgbClr val="111111"/>
                          </a:solidFill>
                          <a:latin typeface="Calibri"/>
                          <a:ea typeface="Calibri"/>
                          <a:cs typeface="Calibri"/>
                          <a:sym typeface="Calibri"/>
                        </a:rPr>
                        <a:t>→ </a:t>
                      </a:r>
                      <a:r>
                        <a:rPr lang="en-US" sz="1700" b="true">
                          <a:solidFill>
                            <a:srgbClr val="111111"/>
                          </a:solidFill>
                          <a:latin typeface="Nunito Semi-Bold"/>
                          <a:ea typeface="Nunito Semi-Bold"/>
                          <a:cs typeface="Nunito Semi-Bold"/>
                          <a:sym typeface="Nunito Semi-Bold"/>
                        </a:rPr>
                        <a:t>9)</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Surrogates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One LightGBM surrogate per level, five-fold cross-validation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Attribution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Exact TreeSHAP per level, always in the original 11-variable space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Aggregation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Size-weighted cross-level aggregation (Proposition 6.1)</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77673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Sensitivity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Repeat with small changes in k, projection dimension and surrogate depth</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29" name="Rounded Rectangle 28"/>
          <p:cNvSpPr/>
          <p:nvPr/>
        </p:nvSpPr>
        <p:spPr>
          <a:xfrm>
            <a:off x="11452860" y="3592322"/>
            <a:ext cx="5806440" cy="5670550"/>
          </a:xfrm>
          <a:prstGeom prst="roundRect">
            <a:avLst>
              <a:gd name="adj" fmla="val 5482"/>
            </a:avLst>
          </a:prstGeom>
          <a:solidFill>
            <a:srgbClr val="124944"/>
          </a:solidFill>
          <a:ln>
            <a:noFill/>
          </a:ln>
        </p:spPr>
        <p:txBody>
          <a:bodyPr anchor="ctr" rtlCol="false" lIns="0" tIns="0" rIns="0" bIns="0" wrap="square"/>
          <a:lstStyle/>
          <a:p>
            <a:endParaRPr lang="en-US" sz="1800"/>
          </a:p>
        </p:txBody>
      </p:sp>
      <p:sp>
        <p:nvSpPr>
          <p:cNvPr id="30" name="Rounded Rectangle 29"/>
          <p:cNvSpPr/>
          <p:nvPr/>
        </p:nvSpPr>
        <p:spPr>
          <a:xfrm>
            <a:off x="11910060" y="3354578"/>
            <a:ext cx="3849870"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What counts as success</a:t>
            </a:r>
          </a:p>
        </p:txBody>
      </p:sp>
      <p:sp>
        <p:nvSpPr>
          <p:cNvPr id="31" name="TextBox 30"/>
          <p:cNvSpPr txBox="1"/>
          <p:nvPr/>
        </p:nvSpPr>
        <p:spPr>
          <a:xfrm>
            <a:off x="11910060" y="4232402"/>
            <a:ext cx="4937760" cy="4756150"/>
          </a:xfrm>
          <a:prstGeom prst="rect">
            <a:avLst/>
          </a:prstGeom>
          <a:noFill/>
        </p:spPr>
        <p:txBody>
          <a:bodyPr anchor="t" rtlCol="false" lIns="0" tIns="0" rIns="0" bIns="0" wrap="square"/>
          <a:lstStyle/>
          <a:p>
            <a:pPr algn="l" marL="274320" indent="-274320">
              <a:lnSpc>
                <a:spcPts val="2660"/>
              </a:lnSpc>
              <a:spcBef>
                <a:spcPts val="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Separation is strong:</a:t>
            </a:r>
            <a:r>
              <a:rPr lang="en-US" sz="1900" b="true">
                <a:solidFill>
                  <a:srgbClr val="FFFFFF"/>
                </a:solidFill>
                <a:latin typeface="Nunito Semi-Bold"/>
                <a:ea typeface="Nunito Semi-Bold"/>
                <a:cs typeface="Nunito Semi-Bold"/>
                <a:sym typeface="Nunito Semi-Bold"/>
              </a:rPr>
              <a:t> Silhouette and Davies–Bouldin clearly better than the wine case.</a:t>
            </a:r>
          </a:p>
          <a:p>
            <a:pPr algn="l" marL="274320" indent="-274320">
              <a:lnSpc>
                <a:spcPts val="2660"/>
              </a:lnSpc>
              <a:spcBef>
                <a:spcPts val="10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Regimes have a physical reading:</a:t>
            </a:r>
            <a:r>
              <a:rPr lang="en-US" sz="1900" b="true">
                <a:solidFill>
                  <a:srgbClr val="FFFFFF"/>
                </a:solidFill>
                <a:latin typeface="Nunito Semi-Bold"/>
                <a:ea typeface="Nunito Semi-Bold"/>
                <a:cs typeface="Nunito Semi-Bold"/>
                <a:sym typeface="Nunito Semi-Bold"/>
              </a:rPr>
              <a:t> each cluster maps to a known atmospheric situation.</a:t>
            </a:r>
          </a:p>
          <a:p>
            <a:pPr algn="l" marL="274320" indent="-274320">
              <a:lnSpc>
                <a:spcPts val="2660"/>
              </a:lnSpc>
              <a:spcBef>
                <a:spcPts val="10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Cross-level differences are interpretable</a:t>
            </a:r>
            <a:r>
              <a:rPr lang="en-US" sz="1900" b="true">
                <a:solidFill>
                  <a:srgbClr val="FFFFFF"/>
                </a:solidFill>
                <a:latin typeface="Nunito Semi-Bold"/>
                <a:ea typeface="Nunito Semi-Bold"/>
                <a:cs typeface="Nunito Semi-Bold"/>
                <a:sym typeface="Nunito Semi-Bold"/>
              </a:rPr>
              <a:t>, not contradictions (Proposition 6.1).</a:t>
            </a:r>
          </a:p>
          <a:p>
            <a:pPr algn="l" marL="274320" indent="-274320">
              <a:lnSpc>
                <a:spcPts val="2660"/>
              </a:lnSpc>
              <a:spcBef>
                <a:spcPts val="10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Leading drivers are stable</a:t>
            </a:r>
            <a:r>
              <a:rPr lang="en-US" sz="1900" b="true">
                <a:solidFill>
                  <a:srgbClr val="FFFFFF"/>
                </a:solidFill>
                <a:latin typeface="Nunito Semi-Bold"/>
                <a:ea typeface="Nunito Semi-Bold"/>
                <a:cs typeface="Nunito Semi-Bold"/>
                <a:sym typeface="Nunito Semi-Bold"/>
              </a:rPr>
              <a:t> under sensitivity changes.</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45</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Coarse-Level Clustering: Beijing Air Quality</a:t>
            </a:r>
          </a:p>
        </p:txBody>
      </p:sp>
      <p:pic>
        <p:nvPicPr>
          <p:cNvPr id="23" name="Picture 22" descr="image.png"/>
          <p:cNvPicPr>
            <a:picLocks noChangeAspect="1"/>
          </p:cNvPicPr>
          <p:nvPr/>
        </p:nvPicPr>
        <p:blipFill>
          <a:blip r:embed="rId3"/>
          <a:stretch>
            <a:fillRect/>
          </a:stretch>
        </p:blipFill>
        <p:spPr>
          <a:xfrm>
            <a:off x="12341493" y="1673352"/>
            <a:ext cx="457200" cy="415247"/>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Rounded Rectangle 27"/>
          <p:cNvSpPr/>
          <p:nvPr/>
        </p:nvSpPr>
        <p:spPr>
          <a:xfrm>
            <a:off x="1028700" y="3455162"/>
            <a:ext cx="5196840" cy="2103120"/>
          </a:xfrm>
          <a:prstGeom prst="roundRect">
            <a:avLst>
              <a:gd name="adj" fmla="val 13043"/>
            </a:avLst>
          </a:prstGeom>
          <a:solidFill>
            <a:srgbClr val="124944"/>
          </a:solidFill>
          <a:ln>
            <a:noFill/>
          </a:ln>
        </p:spPr>
        <p:txBody>
          <a:bodyPr anchor="ctr" rtlCol="false" lIns="137160" tIns="91440" rIns="137160" bIns="91440" wrap="square"/>
          <a:lstStyle/>
          <a:p>
            <a:pPr algn="ctr">
              <a:lnSpc>
                <a:spcPts val="4400"/>
              </a:lnSpc>
              <a:spcBef>
                <a:spcPts val="0"/>
              </a:spcBef>
              <a:buNone/>
            </a:pPr>
            <a:r>
              <a:rPr lang="en-US" sz="4000" b="true">
                <a:solidFill>
                  <a:srgbClr val="ECC665"/>
                </a:solidFill>
                <a:latin typeface="Nunito Ultra-Bold"/>
                <a:ea typeface="Nunito Ultra-Bold"/>
                <a:cs typeface="Nunito Ultra-Bold"/>
                <a:sym typeface="Nunito Ultra-Bold"/>
              </a:rPr>
              <a:t>k = 3</a:t>
            </a:r>
          </a:p>
          <a:p>
            <a:pPr algn="ctr">
              <a:lnSpc>
                <a:spcPts val="2125"/>
              </a:lnSpc>
              <a:spcBef>
                <a:spcPts val="400"/>
              </a:spcBef>
              <a:buNone/>
            </a:pPr>
            <a:r>
              <a:rPr lang="en-US" sz="1700" b="true">
                <a:solidFill>
                  <a:srgbClr val="FFFFFF"/>
                </a:solidFill>
                <a:latin typeface="Nunito Semi-Bold"/>
                <a:ea typeface="Nunito Semi-Bold"/>
                <a:cs typeface="Nunito Semi-Bold"/>
                <a:sym typeface="Nunito Semi-Bold"/>
              </a:rPr>
              <a:t>all </a:t>
            </a:r>
            <a:r>
              <a:rPr lang="en-US" sz="1700" b="true">
                <a:solidFill>
                  <a:srgbClr val="FFFFFF"/>
                </a:solidFill>
                <a:latin typeface="Nunito Bold"/>
                <a:ea typeface="Nunito Bold"/>
                <a:cs typeface="Nunito Bold"/>
                <a:sym typeface="Nunito Bold"/>
              </a:rPr>
              <a:t>k-selection criteria</a:t>
            </a:r>
            <a:r>
              <a:rPr lang="en-US" sz="1700" b="true">
                <a:solidFill>
                  <a:srgbClr val="FFFFFF"/>
                </a:solidFill>
                <a:latin typeface="Nunito Semi-Bold"/>
                <a:ea typeface="Nunito Semi-Bold"/>
                <a:cs typeface="Nunito Semi-Bold"/>
                <a:sym typeface="Nunito Semi-Bold"/>
              </a:rPr>
              <a:t> agree</a:t>
            </a:r>
          </a:p>
        </p:txBody>
      </p:sp>
      <p:sp>
        <p:nvSpPr>
          <p:cNvPr id="29" name="Rounded Rectangle 28"/>
          <p:cNvSpPr/>
          <p:nvPr/>
        </p:nvSpPr>
        <p:spPr>
          <a:xfrm>
            <a:off x="6545580" y="3455162"/>
            <a:ext cx="5196840" cy="2103120"/>
          </a:xfrm>
          <a:prstGeom prst="roundRect">
            <a:avLst>
              <a:gd name="adj" fmla="val 13043"/>
            </a:avLst>
          </a:prstGeom>
          <a:solidFill>
            <a:srgbClr val="1E5F58"/>
          </a:solidFill>
          <a:ln>
            <a:noFill/>
          </a:ln>
        </p:spPr>
        <p:txBody>
          <a:bodyPr anchor="ctr" rtlCol="false" lIns="137160" tIns="91440" rIns="137160" bIns="91440" wrap="square"/>
          <a:lstStyle/>
          <a:p>
            <a:pPr algn="ctr">
              <a:lnSpc>
                <a:spcPts val="4400"/>
              </a:lnSpc>
              <a:spcBef>
                <a:spcPts val="0"/>
              </a:spcBef>
              <a:buNone/>
            </a:pPr>
            <a:r>
              <a:rPr lang="en-US" sz="4000" b="true">
                <a:solidFill>
                  <a:srgbClr val="ECC665"/>
                </a:solidFill>
                <a:latin typeface="Nunito Ultra-Bold"/>
                <a:ea typeface="Nunito Ultra-Bold"/>
                <a:cs typeface="Nunito Ultra-Bold"/>
                <a:sym typeface="Nunito Ultra-Bold"/>
              </a:rPr>
              <a:t>≈ 0.63</a:t>
            </a:r>
          </a:p>
          <a:p>
            <a:pPr algn="ctr">
              <a:lnSpc>
                <a:spcPts val="2125"/>
              </a:lnSpc>
              <a:spcBef>
                <a:spcPts val="400"/>
              </a:spcBef>
              <a:buNone/>
            </a:pPr>
            <a:r>
              <a:rPr lang="en-US" sz="1700" b="true">
                <a:solidFill>
                  <a:srgbClr val="FFFFFF"/>
                </a:solidFill>
                <a:latin typeface="Nunito Bold"/>
                <a:ea typeface="Nunito Bold"/>
                <a:cs typeface="Nunito Bold"/>
                <a:sym typeface="Nunito Bold"/>
              </a:rPr>
              <a:t>Silhouette</a:t>
            </a:r>
            <a:r>
              <a:rPr lang="en-US" sz="1700" b="true">
                <a:solidFill>
                  <a:srgbClr val="FFFFFF"/>
                </a:solidFill>
                <a:latin typeface="Nunito Semi-Bold"/>
                <a:ea typeface="Nunito Semi-Bold"/>
                <a:cs typeface="Nunito Semi-Bold"/>
                <a:sym typeface="Nunito Semi-Bold"/>
              </a:rPr>
              <a:t> · much stronger separation than wine</a:t>
            </a:r>
          </a:p>
        </p:txBody>
      </p:sp>
      <p:sp>
        <p:nvSpPr>
          <p:cNvPr id="30" name="Rounded Rectangle 29"/>
          <p:cNvSpPr/>
          <p:nvPr/>
        </p:nvSpPr>
        <p:spPr>
          <a:xfrm>
            <a:off x="12062460" y="3455162"/>
            <a:ext cx="5196840" cy="2103120"/>
          </a:xfrm>
          <a:prstGeom prst="roundRect">
            <a:avLst>
              <a:gd name="adj" fmla="val 13043"/>
            </a:avLst>
          </a:prstGeom>
          <a:solidFill>
            <a:srgbClr val="DF8330"/>
          </a:solidFill>
          <a:ln>
            <a:noFill/>
          </a:ln>
        </p:spPr>
        <p:txBody>
          <a:bodyPr anchor="ctr" rtlCol="false" lIns="137160" tIns="91440" rIns="137160" bIns="91440" wrap="square"/>
          <a:lstStyle/>
          <a:p>
            <a:pPr algn="ctr">
              <a:lnSpc>
                <a:spcPts val="4400"/>
              </a:lnSpc>
              <a:spcBef>
                <a:spcPts val="0"/>
              </a:spcBef>
              <a:buNone/>
            </a:pPr>
            <a:r>
              <a:rPr lang="en-US" sz="4000" b="true">
                <a:solidFill>
                  <a:srgbClr val="FFFFFF"/>
                </a:solidFill>
                <a:latin typeface="Nunito Ultra-Bold"/>
                <a:ea typeface="Nunito Ultra-Bold"/>
                <a:cs typeface="Nunito Ultra-Bold"/>
                <a:sym typeface="Nunito Ultra-Bold"/>
              </a:rPr>
              <a:t>≈ 0.55</a:t>
            </a:r>
          </a:p>
          <a:p>
            <a:pPr algn="ctr">
              <a:lnSpc>
                <a:spcPts val="2125"/>
              </a:lnSpc>
              <a:spcBef>
                <a:spcPts val="400"/>
              </a:spcBef>
              <a:buNone/>
            </a:pPr>
            <a:r>
              <a:rPr lang="en-US" sz="1700" b="true">
                <a:solidFill>
                  <a:srgbClr val="FFFFFF"/>
                </a:solidFill>
                <a:latin typeface="Nunito Bold"/>
                <a:ea typeface="Nunito Bold"/>
                <a:cs typeface="Nunito Bold"/>
                <a:sym typeface="Nunito Bold"/>
              </a:rPr>
              <a:t>Davies–Bouldin</a:t>
            </a:r>
            <a:r>
              <a:rPr lang="en-US" sz="1700" b="true">
                <a:solidFill>
                  <a:srgbClr val="FFFFFF"/>
                </a:solidFill>
                <a:latin typeface="Nunito Semi-Bold"/>
                <a:ea typeface="Nunito Semi-Bold"/>
                <a:cs typeface="Nunito Semi-Bold"/>
                <a:sym typeface="Nunito Semi-Bold"/>
              </a:rPr>
              <a:t> · clusters rarely overlap</a:t>
            </a:r>
          </a:p>
        </p:txBody>
      </p:sp>
      <p:sp>
        <p:nvSpPr>
          <p:cNvPr id="31" name="TextBox 30"/>
          <p:cNvSpPr txBox="1"/>
          <p:nvPr/>
        </p:nvSpPr>
        <p:spPr>
          <a:xfrm>
            <a:off x="1028700" y="5604002"/>
            <a:ext cx="16230600" cy="411480"/>
          </a:xfrm>
          <a:prstGeom prst="rect">
            <a:avLst/>
          </a:prstGeom>
          <a:noFill/>
        </p:spPr>
        <p:txBody>
          <a:bodyPr anchor="t" rtlCol="false" lIns="0" tIns="0" rIns="0" bIns="0" wrap="square"/>
          <a:lstStyle/>
          <a:p>
            <a:pPr algn="l">
              <a:lnSpc>
                <a:spcPts val="1700"/>
              </a:lnSpc>
              <a:spcBef>
                <a:spcPts val="0"/>
              </a:spcBef>
              <a:buNone/>
            </a:pPr>
            <a:r>
              <a:rPr lang="en-US" sz="1300" b="true">
                <a:solidFill>
                  <a:srgbClr val="8A8378"/>
                </a:solidFill>
                <a:latin typeface="Nunito Semi-Bold"/>
                <a:ea typeface="Nunito Semi-Bold"/>
                <a:cs typeface="Nunito Semi-Bold"/>
                <a:sym typeface="Nunito Semi-Bold"/>
              </a:rPr>
              <a:t>Table 6.1 (thesis): validation metrics for the large-scale clustering study (k = 3, Silhouette 0.63, Davies–Bouldin 0.55).</a:t>
            </a:r>
          </a:p>
        </p:txBody>
      </p:sp>
      <p:sp>
        <p:nvSpPr>
          <p:cNvPr id="32" name="Rounded Rectangle 31"/>
          <p:cNvSpPr/>
          <p:nvPr/>
        </p:nvSpPr>
        <p:spPr>
          <a:xfrm>
            <a:off x="1028700" y="6244082"/>
            <a:ext cx="7932420" cy="3110230"/>
          </a:xfrm>
          <a:prstGeom prst="roundRect">
            <a:avLst>
              <a:gd name="adj" fmla="val 9995"/>
            </a:avLst>
          </a:prstGeom>
          <a:solidFill>
            <a:srgbClr val="F6ECDF"/>
          </a:solidFill>
          <a:ln>
            <a:noFill/>
          </a:ln>
        </p:spPr>
        <p:txBody>
          <a:bodyPr anchor="ctr" rtlCol="false" lIns="0" tIns="0" rIns="0" bIns="0" wrap="square"/>
          <a:lstStyle/>
          <a:p>
            <a:endParaRPr lang="en-US" sz="1800"/>
          </a:p>
        </p:txBody>
      </p:sp>
      <p:sp>
        <p:nvSpPr>
          <p:cNvPr id="33" name="Rounded Rectangle 32"/>
          <p:cNvSpPr/>
          <p:nvPr/>
        </p:nvSpPr>
        <p:spPr>
          <a:xfrm>
            <a:off x="1485900" y="6006338"/>
            <a:ext cx="1445739"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Setup</a:t>
            </a:r>
          </a:p>
        </p:txBody>
      </p:sp>
      <p:sp>
        <p:nvSpPr>
          <p:cNvPr id="34" name="TextBox 33"/>
          <p:cNvSpPr txBox="1"/>
          <p:nvPr/>
        </p:nvSpPr>
        <p:spPr>
          <a:xfrm>
            <a:off x="1531620" y="6884162"/>
            <a:ext cx="6972300" cy="2195830"/>
          </a:xfrm>
          <a:prstGeom prst="rect">
            <a:avLst/>
          </a:prstGeom>
          <a:noFill/>
        </p:spPr>
        <p:txBody>
          <a:bodyPr anchor="t" rtlCol="false" lIns="0" tIns="0" rIns="0" bIns="0" wrap="square"/>
          <a:lstStyle/>
          <a:p>
            <a:pPr algn="l" marL="274320" indent="-274320">
              <a:lnSpc>
                <a:spcPts val="2464"/>
              </a:lnSpc>
              <a:spcBef>
                <a:spcPts val="0"/>
              </a:spcBef>
              <a:buClr>
                <a:srgbClr val="DF8330"/>
              </a:buClr>
              <a:buSzPct val="100000"/>
              <a:buFont typeface="Arial"/>
              <a:buChar char="•"/>
            </a:pPr>
            <a:r>
              <a:rPr lang="en-US" sz="1760" b="true">
                <a:solidFill>
                  <a:srgbClr val="111111"/>
                </a:solidFill>
                <a:latin typeface="Nunito Semi-Bold"/>
                <a:ea typeface="Nunito Semi-Bold"/>
                <a:cs typeface="Nunito Semi-Bold"/>
                <a:sym typeface="Nunito Semi-Bold"/>
              </a:rPr>
              <a:t>Full dataset: </a:t>
            </a:r>
            <a:r>
              <a:rPr lang="en-US" sz="1760" b="true">
                <a:solidFill>
                  <a:srgbClr val="111111"/>
                </a:solidFill>
                <a:latin typeface="Nunito Bold"/>
                <a:ea typeface="Nunito Bold"/>
                <a:cs typeface="Nunito Bold"/>
                <a:sym typeface="Nunito Bold"/>
              </a:rPr>
              <a:t>383,585 hourly records</a:t>
            </a:r>
            <a:r>
              <a:rPr lang="en-US" sz="1760" b="true">
                <a:solidFill>
                  <a:srgbClr val="111111"/>
                </a:solidFill>
                <a:latin typeface="Nunito Semi-Bold"/>
                <a:ea typeface="Nunito Semi-Bold"/>
                <a:cs typeface="Nunito Semi-Bold"/>
                <a:sym typeface="Nunito Semi-Bold"/>
              </a:rPr>
              <a:t>, 11 pollutant + weather variables.</a:t>
            </a:r>
          </a:p>
          <a:p>
            <a:pPr algn="l" marL="274320" indent="-274320">
              <a:lnSpc>
                <a:spcPts val="2464"/>
              </a:lnSpc>
              <a:spcBef>
                <a:spcPts val="880"/>
              </a:spcBef>
              <a:buClr>
                <a:srgbClr val="DF8330"/>
              </a:buClr>
              <a:buSzPct val="100000"/>
              <a:buFont typeface="Arial"/>
              <a:buChar char="•"/>
            </a:pPr>
            <a:r>
              <a:rPr lang="en-US" sz="1760" b="true">
                <a:solidFill>
                  <a:srgbClr val="111111"/>
                </a:solidFill>
                <a:latin typeface="Nunito Semi-Bold"/>
                <a:ea typeface="Nunito Semi-Bold"/>
                <a:cs typeface="Nunito Semi-Bold"/>
                <a:sym typeface="Nunito Semi-Bold"/>
              </a:rPr>
              <a:t>PCA projection (2 components) used </a:t>
            </a:r>
            <a:r>
              <a:rPr lang="en-US" sz="1760" b="true">
                <a:solidFill>
                  <a:srgbClr val="111111"/>
                </a:solidFill>
                <a:latin typeface="Nunito Bold"/>
                <a:ea typeface="Nunito Bold"/>
                <a:cs typeface="Nunito Bold"/>
                <a:sym typeface="Nunito Bold"/>
              </a:rPr>
              <a:t>only for visual inspection</a:t>
            </a:r>
            <a:r>
              <a:rPr lang="en-US" sz="1760" b="true">
                <a:solidFill>
                  <a:srgbClr val="111111"/>
                </a:solidFill>
                <a:latin typeface="Nunito Semi-Bold"/>
                <a:ea typeface="Nunito Semi-Bold"/>
                <a:cs typeface="Nunito Semi-Bold"/>
                <a:sym typeface="Nunito Semi-Bold"/>
              </a:rPr>
              <a:t>.</a:t>
            </a:r>
          </a:p>
          <a:p>
            <a:pPr algn="l" marL="274320" indent="-274320">
              <a:lnSpc>
                <a:spcPts val="2464"/>
              </a:lnSpc>
              <a:spcBef>
                <a:spcPts val="880"/>
              </a:spcBef>
              <a:buClr>
                <a:srgbClr val="DF8330"/>
              </a:buClr>
              <a:buSzPct val="100000"/>
              <a:buFont typeface="Arial"/>
              <a:buChar char="•"/>
            </a:pPr>
            <a:r>
              <a:rPr lang="en-US" sz="1760" b="true">
                <a:solidFill>
                  <a:srgbClr val="111111"/>
                </a:solidFill>
                <a:latin typeface="Nunito Semi-Bold"/>
                <a:ea typeface="Nunito Semi-Bold"/>
                <a:cs typeface="Nunito Semi-Bold"/>
                <a:sym typeface="Nunito Semi-Bold"/>
              </a:rPr>
              <a:t>Level-specific LightGBM surrogates; TreeSHAP in the original variable space.</a:t>
            </a:r>
          </a:p>
        </p:txBody>
      </p:sp>
      <p:sp>
        <p:nvSpPr>
          <p:cNvPr id="35" name="Rounded Rectangle 34"/>
          <p:cNvSpPr/>
          <p:nvPr/>
        </p:nvSpPr>
        <p:spPr>
          <a:xfrm>
            <a:off x="9326880" y="6244082"/>
            <a:ext cx="7932420" cy="3110230"/>
          </a:xfrm>
          <a:prstGeom prst="roundRect">
            <a:avLst>
              <a:gd name="adj" fmla="val 9995"/>
            </a:avLst>
          </a:prstGeom>
          <a:solidFill>
            <a:srgbClr val="124944"/>
          </a:solidFill>
          <a:ln>
            <a:noFill/>
          </a:ln>
        </p:spPr>
        <p:txBody>
          <a:bodyPr anchor="ctr" rtlCol="false" lIns="0" tIns="0" rIns="0" bIns="0" wrap="square"/>
          <a:lstStyle/>
          <a:p>
            <a:endParaRPr lang="en-US" sz="1800"/>
          </a:p>
        </p:txBody>
      </p:sp>
      <p:sp>
        <p:nvSpPr>
          <p:cNvPr id="36" name="Rounded Rectangle 35"/>
          <p:cNvSpPr/>
          <p:nvPr/>
        </p:nvSpPr>
        <p:spPr>
          <a:xfrm>
            <a:off x="9784080" y="6006338"/>
            <a:ext cx="2048930"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Sensitivity</a:t>
            </a:r>
          </a:p>
        </p:txBody>
      </p:sp>
      <p:sp>
        <p:nvSpPr>
          <p:cNvPr id="37" name="TextBox 36"/>
          <p:cNvSpPr txBox="1"/>
          <p:nvPr/>
        </p:nvSpPr>
        <p:spPr>
          <a:xfrm>
            <a:off x="9829800" y="6884162"/>
            <a:ext cx="6972300" cy="2195830"/>
          </a:xfrm>
          <a:prstGeom prst="rect">
            <a:avLst/>
          </a:prstGeom>
          <a:noFill/>
        </p:spPr>
        <p:txBody>
          <a:bodyPr anchor="t" rtlCol="false" lIns="0" tIns="0" rIns="0" bIns="0" wrap="square"/>
          <a:lstStyle/>
          <a:p>
            <a:pPr algn="l" marL="274320" indent="-274320">
              <a:lnSpc>
                <a:spcPts val="2464"/>
              </a:lnSpc>
              <a:spcBef>
                <a:spcPts val="0"/>
              </a:spcBef>
              <a:buClr>
                <a:srgbClr val="ECC665"/>
              </a:buClr>
              <a:buSzPct val="100000"/>
              <a:buFont typeface="Arial"/>
              <a:buChar char="•"/>
            </a:pPr>
            <a:r>
              <a:rPr lang="en-US" sz="1760" b="true">
                <a:solidFill>
                  <a:srgbClr val="FFFFFF"/>
                </a:solidFill>
                <a:latin typeface="Nunito Semi-Bold"/>
                <a:ea typeface="Nunito Semi-Bold"/>
                <a:cs typeface="Nunito Semi-Bold"/>
                <a:sym typeface="Nunito Semi-Bold"/>
              </a:rPr>
              <a:t>Robust to small changes in </a:t>
            </a:r>
            <a:r>
              <a:rPr lang="en-US" sz="1760" b="true">
                <a:solidFill>
                  <a:srgbClr val="FFFFFF"/>
                </a:solidFill>
                <a:latin typeface="Nunito Bold"/>
                <a:ea typeface="Nunito Bold"/>
                <a:cs typeface="Nunito Bold"/>
                <a:sym typeface="Nunito Bold"/>
              </a:rPr>
              <a:t>k</a:t>
            </a:r>
            <a:r>
              <a:rPr lang="en-US" sz="1760" b="true">
                <a:solidFill>
                  <a:srgbClr val="FFFFFF"/>
                </a:solidFill>
                <a:latin typeface="Nunito Semi-Bold"/>
                <a:ea typeface="Nunito Semi-Bold"/>
                <a:cs typeface="Nunito Semi-Bold"/>
                <a:sym typeface="Nunito Semi-Bold"/>
              </a:rPr>
              <a:t>, projection dimension and surrogate depth.</a:t>
            </a:r>
          </a:p>
          <a:p>
            <a:pPr algn="l" marL="274320" indent="-274320">
              <a:lnSpc>
                <a:spcPts val="2464"/>
              </a:lnSpc>
              <a:spcBef>
                <a:spcPts val="880"/>
              </a:spcBef>
              <a:buClr>
                <a:srgbClr val="ECC665"/>
              </a:buClr>
              <a:buSzPct val="100000"/>
              <a:buFont typeface="Arial"/>
              <a:buChar char="•"/>
            </a:pPr>
            <a:r>
              <a:rPr lang="en-US" sz="1760" b="true">
                <a:solidFill>
                  <a:srgbClr val="FFFFFF"/>
                </a:solidFill>
                <a:latin typeface="Nunito Semi-Bold"/>
                <a:ea typeface="Nunito Semi-Bold"/>
                <a:cs typeface="Nunito Semi-Bold"/>
                <a:sym typeface="Nunito Semi-Bold"/>
              </a:rPr>
              <a:t>Only </a:t>
            </a:r>
            <a:r>
              <a:rPr lang="en-US" sz="1760" b="true">
                <a:solidFill>
                  <a:srgbClr val="FFFFFF"/>
                </a:solidFill>
                <a:latin typeface="Nunito Bold"/>
                <a:ea typeface="Nunito Bold"/>
                <a:cs typeface="Nunito Bold"/>
                <a:sym typeface="Nunito Bold"/>
              </a:rPr>
              <a:t>low-ranked variables shift</a:t>
            </a:r>
            <a:r>
              <a:rPr lang="en-US" sz="1760" b="true">
                <a:solidFill>
                  <a:srgbClr val="FFFFFF"/>
                </a:solidFill>
                <a:latin typeface="Nunito Semi-Bold"/>
                <a:ea typeface="Nunito Semi-Bold"/>
                <a:cs typeface="Nunito Semi-Bold"/>
                <a:sym typeface="Nunito Semi-Bold"/>
              </a:rPr>
              <a:t>; the leading drivers are stable.</a:t>
            </a:r>
          </a:p>
          <a:p>
            <a:pPr algn="l" marL="274320" indent="-274320">
              <a:lnSpc>
                <a:spcPts val="2464"/>
              </a:lnSpc>
              <a:spcBef>
                <a:spcPts val="880"/>
              </a:spcBef>
              <a:buClr>
                <a:srgbClr val="ECC665"/>
              </a:buClr>
              <a:buSzPct val="100000"/>
              <a:buFont typeface="Arial"/>
              <a:buChar char="•"/>
            </a:pPr>
            <a:r>
              <a:rPr lang="en-US" sz="1760" b="true">
                <a:solidFill>
                  <a:srgbClr val="FFFFFF"/>
                </a:solidFill>
                <a:latin typeface="Nunito Semi-Bold"/>
                <a:ea typeface="Nunito Semi-Bold"/>
                <a:cs typeface="Nunito Semi-Bold"/>
                <a:sym typeface="Nunito Semi-Bold"/>
              </a:rPr>
              <a:t>Comparison point: SHAP-based clustering literature (Gramegna &amp; Giudici, credit risk) reports Silhouette </a:t>
            </a:r>
            <a:r>
              <a:rPr lang="en-US" sz="1760" b="true">
                <a:solidFill>
                  <a:srgbClr val="FFFFFF"/>
                </a:solidFill>
                <a:latin typeface="Nunito Bold"/>
                <a:ea typeface="Nunito Bold"/>
                <a:cs typeface="Nunito Bold"/>
                <a:sym typeface="Nunito Bold"/>
              </a:rPr>
              <a:t>0.37</a:t>
            </a:r>
            <a:r>
              <a:rPr lang="en-US" sz="1760" b="true">
                <a:solidFill>
                  <a:srgbClr val="FFFFFF"/>
                </a:solidFill>
                <a:latin typeface="Nunito Semi-Bold"/>
                <a:ea typeface="Nunito Semi-Bold"/>
                <a:cs typeface="Nunito Semi-Bold"/>
                <a:sym typeface="Nunito Semi-Bold"/>
              </a:rPr>
              <a: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 Louhichi, M., Nesmaoui, R. &amp; Lazaar, M. Game Theory Meets Explainable AI: An Enhanced Approach to Understanding Black Box Models Through Shapley Values. IJACSA 16(7), 716–725 (2025).</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46</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Global SHAP Ranking: Weather Variables Are Central</a:t>
            </a:r>
          </a:p>
        </p:txBody>
      </p:sp>
      <p:pic>
        <p:nvPicPr>
          <p:cNvPr id="23" name="Picture 22" descr="image.png"/>
          <p:cNvPicPr>
            <a:picLocks noChangeAspect="1"/>
          </p:cNvPicPr>
          <p:nvPr/>
        </p:nvPicPr>
        <p:blipFill>
          <a:blip r:embed="rId3"/>
          <a:stretch>
            <a:fillRect/>
          </a:stretch>
        </p:blipFill>
        <p:spPr>
          <a:xfrm>
            <a:off x="15043687" y="1673352"/>
            <a:ext cx="457200" cy="452148"/>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6766560" cy="5853430"/>
          </a:xfrm>
          <a:prstGeom prst="rect">
            <a:avLst/>
          </a:prstGeom>
          <a:noFill/>
        </p:spPr>
        <p:txBody>
          <a:bodyPr anchor="t" rtlCol="false" lIns="0" tIns="0" rIns="0" bIns="0" wrap="square"/>
          <a:lstStyle/>
          <a:p>
            <a:pPr algn="l">
              <a:lnSpc>
                <a:spcPts val="2750"/>
              </a:lnSpc>
              <a:spcBef>
                <a:spcPts val="0"/>
              </a:spcBef>
              <a:buNone/>
            </a:pPr>
            <a:r>
              <a:rPr lang="en-US" sz="2200" b="true">
                <a:solidFill>
                  <a:srgbClr val="124944"/>
                </a:solidFill>
                <a:latin typeface="Nunito Ultra-Bold"/>
                <a:ea typeface="Nunito Ultra-Bold"/>
                <a:cs typeface="Nunito Ultra-Bold"/>
                <a:sym typeface="Nunito Ultra-Bold"/>
              </a:rPr>
              <a:t>Reading the ranking</a:t>
            </a:r>
          </a:p>
          <a:p>
            <a:pPr algn="l" marL="274320" indent="-274320">
              <a:lnSpc>
                <a:spcPts val="2660"/>
              </a:lnSpc>
              <a:spcBef>
                <a:spcPts val="0"/>
              </a:spcBef>
              <a:buClr>
                <a:srgbClr val="DF8330"/>
              </a:buClr>
              <a:buSzPct val="100000"/>
              <a:buFont typeface="Arial"/>
              <a:buChar char="•"/>
            </a:pPr>
            <a:r>
              <a:rPr lang="en-US" sz="1900" b="true">
                <a:solidFill>
                  <a:srgbClr val="111111"/>
                </a:solidFill>
                <a:latin typeface="Nunito Bold"/>
                <a:ea typeface="Nunito Bold"/>
                <a:cs typeface="Nunito Bold"/>
                <a:sym typeface="Nunito Bold"/>
              </a:rPr>
              <a:t>Temperature, dew point and pressure</a:t>
            </a:r>
            <a:r>
              <a:rPr lang="en-US" sz="1900" b="true">
                <a:solidFill>
                  <a:srgbClr val="111111"/>
                </a:solidFill>
                <a:latin typeface="Nunito Semi-Bold"/>
                <a:ea typeface="Nunito Semi-Bold"/>
                <a:cs typeface="Nunito Semi-Bold"/>
                <a:sym typeface="Nunito Semi-Bold"/>
              </a:rPr>
              <a:t> lead the ranking; CO, NO₂, PM10 and PM2.5 follow.</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It is </a:t>
            </a:r>
            <a:r>
              <a:rPr lang="en-US" sz="1900" b="true">
                <a:solidFill>
                  <a:srgbClr val="111111"/>
                </a:solidFill>
                <a:latin typeface="Nunito Bold"/>
                <a:ea typeface="Nunito Bold"/>
                <a:cs typeface="Nunito Bold"/>
                <a:sym typeface="Nunito Bold"/>
              </a:rPr>
              <a:t>NOT only pollutant concentrations</a:t>
            </a:r>
            <a:r>
              <a:rPr lang="en-US" sz="1900" b="true">
                <a:solidFill>
                  <a:srgbClr val="111111"/>
                </a:solidFill>
                <a:latin typeface="Nunito Semi-Bold"/>
                <a:ea typeface="Nunito Semi-Bold"/>
                <a:cs typeface="Nunito Semi-Bold"/>
                <a:sym typeface="Nunito Semi-Bold"/>
              </a:rPr>
              <a:t> that matter: weather variables play a </a:t>
            </a:r>
            <a:r>
              <a:rPr lang="en-US" sz="1900" b="true">
                <a:solidFill>
                  <a:srgbClr val="111111"/>
                </a:solidFill>
                <a:latin typeface="Nunito Bold"/>
                <a:ea typeface="Nunito Bold"/>
                <a:cs typeface="Nunito Bold"/>
                <a:sym typeface="Nunito Bold"/>
              </a:rPr>
              <a:t>central role in the structure</a:t>
            </a:r>
            <a:r>
              <a:rPr lang="en-US" sz="1900" b="true">
                <a:solidFill>
                  <a:srgbClr val="111111"/>
                </a:solidFill>
                <a:latin typeface="Nunito Semi-Bold"/>
                <a:ea typeface="Nunito Semi-Bold"/>
                <a:cs typeface="Nunito Semi-Bold"/>
                <a:sym typeface="Nunito Semi-Bold"/>
              </a:rPr>
              <a:t>.</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Temperature, dew point and pressure control </a:t>
            </a:r>
            <a:r>
              <a:rPr lang="en-US" sz="1900" b="true">
                <a:solidFill>
                  <a:srgbClr val="111111"/>
                </a:solidFill>
                <a:latin typeface="Nunito Bold"/>
                <a:ea typeface="Nunito Bold"/>
                <a:cs typeface="Nunito Bold"/>
                <a:sym typeface="Nunito Bold"/>
              </a:rPr>
              <a:t>dispersion, trapping and sunlight-driven chemistry</a:t>
            </a:r>
            <a:r>
              <a:rPr lang="en-US" sz="1900" b="true">
                <a:solidFill>
                  <a:srgbClr val="111111"/>
                </a:solidFill>
                <a:latin typeface="Nunito Semi-Bold"/>
                <a:ea typeface="Nunito Semi-Bold"/>
                <a:cs typeface="Nunito Semi-Bold"/>
                <a:sym typeface="Nunito Semi-Bold"/>
              </a:rPr>
              <a:t>.</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This is the kind of insight that flat summaries often fail to make explicit.</a:t>
            </a:r>
          </a:p>
        </p:txBody>
      </p:sp>
      <p:sp>
        <p:nvSpPr>
          <p:cNvPr id="29" name="Rounded Rectangle 28"/>
          <p:cNvSpPr/>
          <p:nvPr/>
        </p:nvSpPr>
        <p:spPr>
          <a:xfrm>
            <a:off x="8252460" y="3363722"/>
            <a:ext cx="9006840" cy="5853430"/>
          </a:xfrm>
          <a:prstGeom prst="roundRect">
            <a:avLst>
              <a:gd name="adj" fmla="val 3905"/>
            </a:avLst>
          </a:prstGeom>
          <a:solidFill>
            <a:srgbClr val="FFFFFF"/>
          </a:solidFill>
          <a:ln w="15875">
            <a:solidFill>
              <a:srgbClr val="E3D6C4"/>
            </a:solidFill>
          </a:ln>
        </p:spPr>
        <p:txBody>
          <a:bodyPr anchor="ctr" rtlCol="false" lIns="0" tIns="0" rIns="0" bIns="0" wrap="square"/>
          <a:lstStyle/>
          <a:p>
            <a:endParaRPr lang="en-US" sz="1800"/>
          </a:p>
        </p:txBody>
      </p:sp>
      <p:pic>
        <p:nvPicPr>
          <p:cNvPr id="30" name="Picture 29" descr="fig6_1_beijing_global.png"/>
          <p:cNvPicPr>
            <a:picLocks noChangeAspect="1"/>
          </p:cNvPicPr>
          <p:nvPr/>
        </p:nvPicPr>
        <p:blipFill>
          <a:blip r:embed="rId5"/>
          <a:stretch>
            <a:fillRect/>
          </a:stretch>
        </p:blipFill>
        <p:spPr>
          <a:xfrm>
            <a:off x="8997082" y="3546602"/>
            <a:ext cx="7517595" cy="5076190"/>
          </a:xfrm>
          <a:prstGeom prst="rect">
            <a:avLst/>
          </a:prstGeom>
        </p:spPr>
      </p:pic>
      <p:sp>
        <p:nvSpPr>
          <p:cNvPr id="31" name="TextBox 30"/>
          <p:cNvSpPr txBox="1"/>
          <p:nvPr/>
        </p:nvSpPr>
        <p:spPr>
          <a:xfrm>
            <a:off x="8252460" y="8759952"/>
            <a:ext cx="9006840" cy="411480"/>
          </a:xfrm>
          <a:prstGeom prst="rect">
            <a:avLst/>
          </a:prstGeom>
          <a:noFill/>
        </p:spPr>
        <p:txBody>
          <a:bodyPr anchor="ctr" rtlCol="false" lIns="0" tIns="0" rIns="0" bIns="0" wrap="square"/>
          <a:lstStyle/>
          <a:p>
            <a:pPr algn="ctr">
              <a:lnSpc>
                <a:spcPts val="1700"/>
              </a:lnSpc>
              <a:spcBef>
                <a:spcPts val="0"/>
              </a:spcBef>
              <a:buNone/>
            </a:pPr>
            <a:r>
              <a:rPr lang="en-US" sz="1400" b="true">
                <a:solidFill>
                  <a:srgbClr val="8A8378"/>
                </a:solidFill>
                <a:latin typeface="Nunito Semi-Bold"/>
                <a:ea typeface="Nunito Semi-Bold"/>
                <a:cs typeface="Nunito Semi-Bold"/>
                <a:sym typeface="Nunito Semi-Bold"/>
              </a:rPr>
              <a:t>Fig. 6.1 (thesis): global SHAP importance at the coarse level, Beijing Air Quality</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 Louhichi, M., Nesmaoui, R. &amp; Lazaar, M. Game Theory Meets Explainable AI: An Enhanced Approach to Understanding Black Box Models Through Shapley Values. IJACSA 16(7), 716–725 (2025).</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47</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How Importance Changes Across Levels</a:t>
            </a:r>
          </a:p>
        </p:txBody>
      </p:sp>
      <p:pic>
        <p:nvPicPr>
          <p:cNvPr id="23" name="Picture 22" descr="image.png"/>
          <p:cNvPicPr>
            <a:picLocks noChangeAspect="1"/>
          </p:cNvPicPr>
          <p:nvPr/>
        </p:nvPicPr>
        <p:blipFill>
          <a:blip r:embed="rId3"/>
          <a:stretch>
            <a:fillRect/>
          </a:stretch>
        </p:blipFill>
        <p:spPr>
          <a:xfrm>
            <a:off x="11659347" y="1673352"/>
            <a:ext cx="457200" cy="617115"/>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Rounded Rectangle 27"/>
          <p:cNvSpPr/>
          <p:nvPr/>
        </p:nvSpPr>
        <p:spPr>
          <a:xfrm>
            <a:off x="1028700" y="3363722"/>
            <a:ext cx="16230600" cy="2331720"/>
          </a:xfrm>
          <a:prstGeom prst="roundRect">
            <a:avLst>
              <a:gd name="adj" fmla="val 9803"/>
            </a:avLst>
          </a:prstGeom>
          <a:solidFill>
            <a:srgbClr val="FFFFFF"/>
          </a:solidFill>
          <a:ln w="15875">
            <a:solidFill>
              <a:srgbClr val="E3D6C4"/>
            </a:solidFill>
          </a:ln>
        </p:spPr>
        <p:txBody>
          <a:bodyPr anchor="ctr" rtlCol="false" lIns="0" tIns="0" rIns="0" bIns="0" wrap="square"/>
          <a:lstStyle/>
          <a:p>
            <a:endParaRPr lang="en-US" sz="1800"/>
          </a:p>
        </p:txBody>
      </p:sp>
      <p:pic>
        <p:nvPicPr>
          <p:cNvPr id="29" name="Picture 28" descr="fig6_3_beijing_multilevel.png"/>
          <p:cNvPicPr>
            <a:picLocks noChangeAspect="1"/>
          </p:cNvPicPr>
          <p:nvPr/>
        </p:nvPicPr>
        <p:blipFill>
          <a:blip r:embed="rId5"/>
          <a:stretch>
            <a:fillRect/>
          </a:stretch>
        </p:blipFill>
        <p:spPr>
          <a:xfrm>
            <a:off x="5604473" y="3500882"/>
            <a:ext cx="7079053" cy="1645920"/>
          </a:xfrm>
          <a:prstGeom prst="rect">
            <a:avLst/>
          </a:prstGeom>
        </p:spPr>
      </p:pic>
      <p:sp>
        <p:nvSpPr>
          <p:cNvPr id="30" name="TextBox 29"/>
          <p:cNvSpPr txBox="1"/>
          <p:nvPr/>
        </p:nvSpPr>
        <p:spPr>
          <a:xfrm>
            <a:off x="1028700" y="5238242"/>
            <a:ext cx="16230600" cy="411480"/>
          </a:xfrm>
          <a:prstGeom prst="rect">
            <a:avLst/>
          </a:prstGeom>
          <a:noFill/>
        </p:spPr>
        <p:txBody>
          <a:bodyPr anchor="ctr" rtlCol="false" lIns="0" tIns="0" rIns="0" bIns="0" wrap="square"/>
          <a:lstStyle/>
          <a:p>
            <a:pPr algn="ctr">
              <a:lnSpc>
                <a:spcPts val="1700"/>
              </a:lnSpc>
              <a:spcBef>
                <a:spcPts val="0"/>
              </a:spcBef>
              <a:buNone/>
            </a:pPr>
            <a:r>
              <a:rPr lang="en-US" sz="1400" b="true">
                <a:solidFill>
                  <a:srgbClr val="8A8378"/>
                </a:solidFill>
                <a:latin typeface="Nunito Semi-Bold"/>
                <a:ea typeface="Nunito Semi-Bold"/>
                <a:cs typeface="Nunito Semi-Bold"/>
                <a:sym typeface="Nunito Semi-Bold"/>
              </a:rPr>
              <a:t>Fig. 6.3 (thesis): SHAP importance per sub-cluster, level 2 of the hierarchy</a:t>
            </a:r>
          </a:p>
        </p:txBody>
      </p:sp>
      <p:sp>
        <p:nvSpPr>
          <p:cNvPr id="31" name="Rounded Rectangle 30"/>
          <p:cNvSpPr/>
          <p:nvPr/>
        </p:nvSpPr>
        <p:spPr>
          <a:xfrm>
            <a:off x="1028700" y="6198362"/>
            <a:ext cx="7932420" cy="2148840"/>
          </a:xfrm>
          <a:prstGeom prst="roundRect">
            <a:avLst>
              <a:gd name="adj" fmla="val 14468"/>
            </a:avLst>
          </a:prstGeom>
          <a:solidFill>
            <a:srgbClr val="124944"/>
          </a:solidFill>
          <a:ln>
            <a:noFill/>
          </a:ln>
        </p:spPr>
        <p:txBody>
          <a:bodyPr anchor="ctr" rtlCol="false" lIns="0" tIns="0" rIns="0" bIns="0" wrap="square"/>
          <a:lstStyle/>
          <a:p>
            <a:endParaRPr lang="en-US" sz="1800"/>
          </a:p>
        </p:txBody>
      </p:sp>
      <p:sp>
        <p:nvSpPr>
          <p:cNvPr id="32" name="Rounded Rectangle 31"/>
          <p:cNvSpPr/>
          <p:nvPr/>
        </p:nvSpPr>
        <p:spPr>
          <a:xfrm>
            <a:off x="1485900" y="5960618"/>
            <a:ext cx="4739404"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Coarse level · regime selection</a:t>
            </a:r>
          </a:p>
        </p:txBody>
      </p:sp>
      <p:sp>
        <p:nvSpPr>
          <p:cNvPr id="33" name="TextBox 32"/>
          <p:cNvSpPr txBox="1"/>
          <p:nvPr/>
        </p:nvSpPr>
        <p:spPr>
          <a:xfrm>
            <a:off x="1485900" y="6747002"/>
            <a:ext cx="7063740" cy="1371600"/>
          </a:xfrm>
          <a:prstGeom prst="rect">
            <a:avLst/>
          </a:prstGeom>
          <a:noFill/>
        </p:spPr>
        <p:txBody>
          <a:bodyPr anchor="t" rtlCol="false" lIns="0" tIns="0" rIns="0" bIns="0" wrap="square"/>
          <a:lstStyle/>
          <a:p>
            <a:pPr algn="l" marL="274320" indent="-274320">
              <a:lnSpc>
                <a:spcPts val="2520"/>
              </a:lnSpc>
              <a:spcBef>
                <a:spcPts val="0"/>
              </a:spcBef>
              <a:buClr>
                <a:srgbClr val="ECC665"/>
              </a:buClr>
              <a:buSzPct val="100000"/>
              <a:buFont typeface="Arial"/>
              <a:buChar char="•"/>
            </a:pPr>
            <a:r>
              <a:rPr lang="en-US" sz="1800" b="true">
                <a:solidFill>
                  <a:srgbClr val="FFFFFF"/>
                </a:solidFill>
                <a:latin typeface="Nunito Bold"/>
                <a:ea typeface="Nunito Bold"/>
                <a:cs typeface="Nunito Bold"/>
                <a:sym typeface="Nunito Bold"/>
              </a:rPr>
              <a:t>Temperature and dew point dominate</a:t>
            </a:r>
            <a:r>
              <a:rPr lang="en-US" sz="1800" b="true">
                <a:solidFill>
                  <a:srgbClr val="FFFFFF"/>
                </a:solidFill>
                <a:latin typeface="Nunito Semi-Bold"/>
                <a:ea typeface="Nunito Semi-Bold"/>
                <a:cs typeface="Nunito Semi-Bold"/>
                <a:sym typeface="Nunito Semi-Bold"/>
              </a:rPr>
              <a:t>: they separate the broad atmospheric regimes.</a:t>
            </a:r>
          </a:p>
          <a:p>
            <a:pPr algn="l" marL="274320" indent="-274320">
              <a:lnSpc>
                <a:spcPts val="2520"/>
              </a:lnSpc>
              <a:spcBef>
                <a:spcPts val="600"/>
              </a:spcBef>
              <a:buClr>
                <a:srgbClr val="ECC665"/>
              </a:buClr>
              <a:buSzPct val="100000"/>
              <a:buFont typeface="Arial"/>
              <a:buChar char="•"/>
            </a:pPr>
            <a:r>
              <a:rPr lang="en-US" sz="1800" b="true">
                <a:solidFill>
                  <a:srgbClr val="FFFFFF"/>
                </a:solidFill>
                <a:latin typeface="Nunito Semi-Bold"/>
                <a:ea typeface="Nunito Semi-Bold"/>
                <a:cs typeface="Nunito Semi-Bold"/>
                <a:sym typeface="Nunito Semi-Bold"/>
              </a:rPr>
              <a:t>Parent-level story = which regime the observation belongs to.</a:t>
            </a:r>
          </a:p>
        </p:txBody>
      </p:sp>
      <p:sp>
        <p:nvSpPr>
          <p:cNvPr id="34" name="Rounded Rectangle 33"/>
          <p:cNvSpPr/>
          <p:nvPr/>
        </p:nvSpPr>
        <p:spPr>
          <a:xfrm>
            <a:off x="9326880" y="6198362"/>
            <a:ext cx="7932420" cy="2148840"/>
          </a:xfrm>
          <a:prstGeom prst="roundRect">
            <a:avLst>
              <a:gd name="adj" fmla="val 14468"/>
            </a:avLst>
          </a:prstGeom>
          <a:solidFill>
            <a:srgbClr val="F6ECDF"/>
          </a:solidFill>
          <a:ln>
            <a:noFill/>
          </a:ln>
        </p:spPr>
        <p:txBody>
          <a:bodyPr anchor="ctr" rtlCol="false" lIns="0" tIns="0" rIns="0" bIns="0" wrap="square"/>
          <a:lstStyle/>
          <a:p>
            <a:endParaRPr lang="en-US" sz="1800"/>
          </a:p>
        </p:txBody>
      </p:sp>
      <p:sp>
        <p:nvSpPr>
          <p:cNvPr id="35" name="Rounded Rectangle 34"/>
          <p:cNvSpPr/>
          <p:nvPr/>
        </p:nvSpPr>
        <p:spPr>
          <a:xfrm>
            <a:off x="9784080" y="5960618"/>
            <a:ext cx="6203063"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Within clusters · variation inside a regime</a:t>
            </a:r>
          </a:p>
        </p:txBody>
      </p:sp>
      <p:sp>
        <p:nvSpPr>
          <p:cNvPr id="36" name="TextBox 35"/>
          <p:cNvSpPr txBox="1"/>
          <p:nvPr/>
        </p:nvSpPr>
        <p:spPr>
          <a:xfrm>
            <a:off x="9784080" y="6747002"/>
            <a:ext cx="7063740" cy="1371600"/>
          </a:xfrm>
          <a:prstGeom prst="rect">
            <a:avLst/>
          </a:prstGeom>
          <a:noFill/>
        </p:spPr>
        <p:txBody>
          <a:bodyPr anchor="t" rtlCol="false" lIns="0" tIns="0" rIns="0" bIns="0" wrap="square"/>
          <a:lstStyle/>
          <a:p>
            <a:pPr algn="l" marL="274320" indent="-274320">
              <a:lnSpc>
                <a:spcPts val="2520"/>
              </a:lnSpc>
              <a:spcBef>
                <a:spcPts val="0"/>
              </a:spcBef>
              <a:buClr>
                <a:srgbClr val="DF8330"/>
              </a:buClr>
              <a:buSzPct val="100000"/>
              <a:buFont typeface="Arial"/>
              <a:buChar char="•"/>
            </a:pPr>
            <a:r>
              <a:rPr lang="en-US" sz="1800" b="true">
                <a:solidFill>
                  <a:srgbClr val="111111"/>
                </a:solidFill>
                <a:latin typeface="Nunito Bold"/>
                <a:ea typeface="Nunito Bold"/>
                <a:cs typeface="Nunito Bold"/>
                <a:sym typeface="Nunito Bold"/>
              </a:rPr>
              <a:t>CO, SO₂, PM10, wind speed, pressure or ozone</a:t>
            </a:r>
            <a:r>
              <a:rPr lang="en-US" sz="1800" b="true">
                <a:solidFill>
                  <a:srgbClr val="111111"/>
                </a:solidFill>
                <a:latin typeface="Nunito Semi-Bold"/>
                <a:ea typeface="Nunito Semi-Bold"/>
                <a:cs typeface="Nunito Semi-Bold"/>
                <a:sym typeface="Nunito Semi-Bold"/>
              </a:rPr>
              <a:t> become more informative.</a:t>
            </a:r>
          </a:p>
          <a:p>
            <a:pPr algn="l" marL="274320" indent="-274320">
              <a:lnSpc>
                <a:spcPts val="2520"/>
              </a:lnSpc>
              <a:spcBef>
                <a:spcPts val="600"/>
              </a:spcBef>
              <a:buClr>
                <a:srgbClr val="DF8330"/>
              </a:buClr>
              <a:buSzPct val="100000"/>
              <a:buFont typeface="Arial"/>
              <a:buChar char="•"/>
            </a:pPr>
            <a:r>
              <a:rPr lang="en-US" sz="1800" b="true">
                <a:solidFill>
                  <a:srgbClr val="111111"/>
                </a:solidFill>
                <a:latin typeface="Nunito Semi-Bold"/>
                <a:ea typeface="Nunito Semi-Bold"/>
                <a:cs typeface="Nunito Semi-Bold"/>
                <a:sym typeface="Nunito Semi-Bold"/>
              </a:rPr>
              <a:t>Cluster-level story = what varies once the regime is fixed.</a:t>
            </a:r>
          </a:p>
        </p:txBody>
      </p:sp>
      <p:sp>
        <p:nvSpPr>
          <p:cNvPr id="37" name="Rounded Rectangle 36"/>
          <p:cNvSpPr/>
          <p:nvPr/>
        </p:nvSpPr>
        <p:spPr>
          <a:xfrm>
            <a:off x="1028700" y="8621522"/>
            <a:ext cx="16230600" cy="595630"/>
          </a:xfrm>
          <a:prstGeom prst="roundRect">
            <a:avLst>
              <a:gd name="adj" fmla="val 46055"/>
            </a:avLst>
          </a:prstGeom>
          <a:noFill/>
          <a:ln w="31750">
            <a:solidFill>
              <a:srgbClr val="DF8330"/>
            </a:solidFill>
          </a:ln>
        </p:spPr>
        <p:txBody>
          <a:bodyPr anchor="ctr" rtlCol="false" lIns="0" tIns="0" rIns="0" bIns="0" wrap="square"/>
          <a:lstStyle/>
          <a:p>
            <a:endParaRPr lang="en-US" sz="1800"/>
          </a:p>
        </p:txBody>
      </p:sp>
      <p:sp>
        <p:nvSpPr>
          <p:cNvPr id="38" name="TextBox 37"/>
          <p:cNvSpPr txBox="1"/>
          <p:nvPr/>
        </p:nvSpPr>
        <p:spPr>
          <a:xfrm>
            <a:off x="1485900" y="8731250"/>
            <a:ext cx="15316200" cy="376174"/>
          </a:xfrm>
          <a:prstGeom prst="rect">
            <a:avLst/>
          </a:prstGeom>
          <a:noFill/>
        </p:spPr>
        <p:txBody>
          <a:bodyPr anchor="ctr" rtlCol="false" lIns="0" tIns="0" rIns="0" bIns="0" wrap="square"/>
          <a:lstStyle/>
          <a:p>
            <a:pPr algn="l">
              <a:lnSpc>
                <a:spcPts val="1764"/>
              </a:lnSpc>
              <a:spcBef>
                <a:spcPts val="0"/>
              </a:spcBef>
              <a:buNone/>
            </a:pPr>
            <a:r>
              <a:rPr lang="en-US" sz="1260" b="true">
                <a:solidFill>
                  <a:srgbClr val="111111"/>
                </a:solidFill>
                <a:latin typeface="Nunito Bold"/>
                <a:ea typeface="Nunito Bold"/>
                <a:cs typeface="Nunito Bold"/>
                <a:sym typeface="Nunito Bold"/>
              </a:rPr>
              <a:t>This change is NOT a contradiction. It is exactly what a multi-level explanation should reveal.</a:t>
            </a:r>
            <a:r>
              <a:rPr lang="en-US" sz="1260" b="true">
                <a:solidFill>
                  <a:srgbClr val="111111"/>
                </a:solidFill>
                <a:latin typeface="Nunito Semi-Bold"/>
                <a:ea typeface="Nunito Semi-Bold"/>
                <a:cs typeface="Nunito Semi-Bold"/>
                <a:sym typeface="Nunito Semi-Bold"/>
              </a:rPr>
              <a:t> A variable can be </a:t>
            </a:r>
            <a:r>
              <a:rPr lang="en-US" sz="1260" b="true">
                <a:solidFill>
                  <a:srgbClr val="111111"/>
                </a:solidFill>
                <a:latin typeface="Nunito Bold"/>
                <a:ea typeface="Nunito Bold"/>
                <a:cs typeface="Nunito Bold"/>
                <a:sym typeface="Nunito Bold"/>
              </a:rPr>
              <a:t>globally important yet locally uninformative</a:t>
            </a:r>
            <a:r>
              <a:rPr lang="en-US" sz="1260" b="true">
                <a:solidFill>
                  <a:srgbClr val="111111"/>
                </a:solidFill>
                <a:latin typeface="Nunito Semi-Bold"/>
                <a:ea typeface="Nunito Semi-Bold"/>
                <a:cs typeface="Nunito Semi-Bold"/>
                <a:sym typeface="Nunito Semi-Bold"/>
              </a:rPr>
              <a:t> inside a sub-cluster; Proposition 6.1 guarantees the two readings agree, up to the surrogate residual.</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48</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Answer to RQ2</a:t>
            </a:r>
          </a:p>
        </p:txBody>
      </p:sp>
      <p:pic>
        <p:nvPicPr>
          <p:cNvPr id="23" name="Picture 22" descr="image.png"/>
          <p:cNvPicPr>
            <a:picLocks noChangeAspect="1"/>
          </p:cNvPicPr>
          <p:nvPr/>
        </p:nvPicPr>
        <p:blipFill>
          <a:blip r:embed="rId3"/>
          <a:stretch>
            <a:fillRect/>
          </a:stretch>
        </p:blipFill>
        <p:spPr>
          <a:xfrm>
            <a:off x="5204935" y="1673352"/>
            <a:ext cx="457200" cy="250983"/>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546602"/>
            <a:ext cx="16230600" cy="1463040"/>
          </a:xfrm>
          <a:prstGeom prst="roundRect">
            <a:avLst>
              <a:gd name="adj" fmla="val 13750"/>
            </a:avLst>
          </a:prstGeom>
          <a:solidFill>
            <a:srgbClr val="F6ECDF"/>
          </a:solidFill>
          <a:ln w="25400">
            <a:solidFill>
              <a:srgbClr val="124944"/>
            </a:solidFill>
          </a:ln>
        </p:spPr>
        <p:txBody>
          <a:bodyPr anchor="ctr" rtlCol="false" lIns="0" tIns="0" rIns="0" bIns="0" wrap="square"/>
          <a:lstStyle/>
          <a:p>
            <a:endParaRPr lang="en-US" sz="1800"/>
          </a:p>
        </p:txBody>
      </p:sp>
      <p:sp>
        <p:nvSpPr>
          <p:cNvPr id="29" name="Rounded Rectangle 28"/>
          <p:cNvSpPr/>
          <p:nvPr/>
        </p:nvSpPr>
        <p:spPr>
          <a:xfrm>
            <a:off x="1348740" y="3354578"/>
            <a:ext cx="2112238" cy="384048"/>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ANSWER TO RQ2</a:t>
            </a:r>
          </a:p>
        </p:txBody>
      </p:sp>
      <p:sp>
        <p:nvSpPr>
          <p:cNvPr id="30" name="TextBox 29"/>
          <p:cNvSpPr txBox="1"/>
          <p:nvPr/>
        </p:nvSpPr>
        <p:spPr>
          <a:xfrm>
            <a:off x="1394460" y="3820922"/>
            <a:ext cx="15499080" cy="1051560"/>
          </a:xfrm>
          <a:prstGeom prst="rect">
            <a:avLst/>
          </a:prstGeom>
          <a:noFill/>
        </p:spPr>
        <p:txBody>
          <a:bodyPr anchor="ctr" rtlCol="false" lIns="0" tIns="0" rIns="0" bIns="0" wrap="square"/>
          <a:lstStyle/>
          <a:p>
            <a:pPr algn="l">
              <a:lnSpc>
                <a:spcPts val="3080"/>
              </a:lnSpc>
              <a:spcBef>
                <a:spcPts val="0"/>
              </a:spcBef>
              <a:buNone/>
            </a:pPr>
            <a:r>
              <a:rPr lang="en-US" sz="2200" b="true">
                <a:solidFill>
                  <a:srgbClr val="111111"/>
                </a:solidFill>
                <a:latin typeface="Nunito Bold"/>
                <a:ea typeface="Nunito Bold"/>
                <a:cs typeface="Nunito Bold"/>
                <a:sym typeface="Nunito Bold"/>
              </a:rPr>
              <a:t>Yes, within bounds.</a:t>
            </a:r>
            <a:r>
              <a:rPr lang="en-US" sz="2200" b="true">
                <a:solidFill>
                  <a:srgbClr val="111111"/>
                </a:solidFill>
                <a:latin typeface="Nunito Semi-Bold"/>
                <a:ea typeface="Nunito Semi-Bold"/>
                <a:cs typeface="Nunito Semi-Bold"/>
                <a:sym typeface="Nunito Semi-Bold"/>
              </a:rPr>
              <a:t> Consistency is kept at scale and across levels: a nested workflow with level-specific surrogates, backed by Proposition 6.1, explains 383,585 records in the original variable space.</a:t>
            </a:r>
          </a:p>
        </p:txBody>
      </p:sp>
      <p:graphicFrame>
        <p:nvGraphicFramePr>
          <p:cNvPr id="31" name="Table 30"/>
          <p:cNvGraphicFramePr>
            <a:graphicFrameLocks noGrp="1"/>
          </p:cNvGraphicFramePr>
          <p:nvPr/>
        </p:nvGraphicFramePr>
        <p:xfrm>
          <a:off x="1028700" y="5421122"/>
          <a:ext cx="16230599" cy="3173984"/>
        </p:xfrm>
        <a:graphic>
          <a:graphicData uri="http://schemas.openxmlformats.org/drawingml/2006/table">
            <a:tbl>
              <a:tblPr firstRow="0" bandRow="0" firstCol="0" lastRow="0" lastCol="0" bandCol="0">
                <a:tableStyleId>{2D5ABB26-0587-4C30-8999-92F81FD0307C}</a:tableStyleId>
              </a:tblPr>
              <a:tblGrid>
                <a:gridCol w="5410200"/>
                <a:gridCol w="1456592"/>
                <a:gridCol w="9363807"/>
              </a:tblGrid>
              <a:tr h="77724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Objective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210"/>
                        </a:lnSpc>
                        <a:spcBef>
                          <a:spcPts val="0"/>
                        </a:spcBef>
                        <a:buNone/>
                      </a:pPr>
                      <a:r>
                        <a:rPr lang="en-US" sz="1700" b="true">
                          <a:solidFill>
                            <a:srgbClr val="FFFFFF"/>
                          </a:solidFill>
                          <a:latin typeface="Nunito Bold"/>
                          <a:ea typeface="Nunito Bold"/>
                          <a:cs typeface="Nunito Bold"/>
                          <a:sym typeface="Nunito Bold"/>
                        </a:rPr>
                        <a:t>Status</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Evidence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809752">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O1  ·  A truly multi-level workflow</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Met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Coarse regimes, then sub-clusters, each with its own surrogate; no single flat summary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7724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O2  ·  Formal cross-level consistency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Met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Proposition 6.1: parent importance = size-weighted expectation over children, up to </a:t>
                      </a:r>
                      <a:r>
                        <a:rPr lang="en-US" sz="1800" b="true">
                          <a:solidFill>
                            <a:srgbClr val="111111"/>
                          </a:solidFill>
                          <a:latin typeface="Calibri"/>
                          <a:ea typeface="Calibri"/>
                          <a:cs typeface="Calibri"/>
                          <a:sym typeface="Calibri"/>
                        </a:rPr>
                        <a:t>ε</a:t>
                      </a:r>
                      <a:r>
                        <a:rPr lang="en-US" sz="1800" b="true" baseline="-25000">
                          <a:solidFill>
                            <a:srgbClr val="111111"/>
                          </a:solidFill>
                          <a:latin typeface="Nunito Semi-Bold"/>
                          <a:ea typeface="Nunito Semi-Bold"/>
                          <a:cs typeface="Nunito Semi-Bold"/>
                          <a:sym typeface="Nunito Semi-Bold"/>
                        </a:rPr>
                        <a:t>j</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809752">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O3  ·  Validation on very different large-scale data</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Met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Beijing Air Quality: Silhouette ≈ 0.63, three physically meaningful regimes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 Louhichi, M., Nesmaoui, R. &amp; Lazaar, M. Game Theory Meets Explainable AI: An Enhanced Approach to Understanding Black Box Models Through Shapley Values. IJACSA 16(7), 716–725 (2025).   [18] Gramegna, A. &amp; Giudici, P. SHAP and LIME: An Evaluation of Discriminative Power in Credit Risk. Frontiers in AI 4, 752558 (2021).</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49</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Key Findings</a:t>
            </a:r>
          </a:p>
        </p:txBody>
      </p:sp>
      <p:pic>
        <p:nvPicPr>
          <p:cNvPr id="23" name="Picture 22" descr="image.png"/>
          <p:cNvPicPr>
            <a:picLocks noChangeAspect="1"/>
          </p:cNvPicPr>
          <p:nvPr/>
        </p:nvPicPr>
        <p:blipFill>
          <a:blip r:embed="rId3"/>
          <a:stretch>
            <a:fillRect/>
          </a:stretch>
        </p:blipFill>
        <p:spPr>
          <a:xfrm>
            <a:off x="4641445" y="1673352"/>
            <a:ext cx="457200" cy="539881"/>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363722"/>
            <a:ext cx="16230600" cy="1339913"/>
          </a:xfrm>
          <a:prstGeom prst="roundRect">
            <a:avLst>
              <a:gd name="adj" fmla="val 15013"/>
            </a:avLst>
          </a:prstGeom>
          <a:solidFill>
            <a:srgbClr val="F6ECDF"/>
          </a:solidFill>
          <a:ln>
            <a:noFill/>
          </a:ln>
        </p:spPr>
        <p:txBody>
          <a:bodyPr anchor="ctr" rtlCol="false" lIns="0" tIns="0" rIns="0" bIns="0" wrap="square"/>
          <a:lstStyle/>
          <a:p>
            <a:endParaRPr lang="en-US" sz="1800"/>
          </a:p>
        </p:txBody>
      </p:sp>
      <p:sp>
        <p:nvSpPr>
          <p:cNvPr id="29" name="Oval 28"/>
          <p:cNvSpPr/>
          <p:nvPr/>
        </p:nvSpPr>
        <p:spPr>
          <a:xfrm>
            <a:off x="1303020" y="3750214"/>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1</a:t>
            </a:r>
          </a:p>
        </p:txBody>
      </p:sp>
      <p:sp>
        <p:nvSpPr>
          <p:cNvPr id="30" name="TextBox 29"/>
          <p:cNvSpPr txBox="1"/>
          <p:nvPr/>
        </p:nvSpPr>
        <p:spPr>
          <a:xfrm>
            <a:off x="2171700" y="3473450"/>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Weather, not only pollution, defines the structure</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Temperature, dew point and pressure lead the coarse-level ranking; they set the regime that pollutants then vary within.</a:t>
            </a:r>
          </a:p>
        </p:txBody>
      </p:sp>
      <p:sp>
        <p:nvSpPr>
          <p:cNvPr id="31" name="Rounded Rectangle 30"/>
          <p:cNvSpPr/>
          <p:nvPr/>
        </p:nvSpPr>
        <p:spPr>
          <a:xfrm>
            <a:off x="1028700" y="4868227"/>
            <a:ext cx="16230600" cy="1339913"/>
          </a:xfrm>
          <a:prstGeom prst="roundRect">
            <a:avLst>
              <a:gd name="adj" fmla="val 15013"/>
            </a:avLst>
          </a:prstGeom>
          <a:solidFill>
            <a:srgbClr val="FBF4EB"/>
          </a:solidFill>
          <a:ln>
            <a:noFill/>
          </a:ln>
        </p:spPr>
        <p:txBody>
          <a:bodyPr anchor="ctr" rtlCol="false" lIns="0" tIns="0" rIns="0" bIns="0" wrap="square"/>
          <a:lstStyle/>
          <a:p>
            <a:endParaRPr lang="en-US" sz="1800"/>
          </a:p>
        </p:txBody>
      </p:sp>
      <p:sp>
        <p:nvSpPr>
          <p:cNvPr id="32" name="Oval 31"/>
          <p:cNvSpPr/>
          <p:nvPr/>
        </p:nvSpPr>
        <p:spPr>
          <a:xfrm>
            <a:off x="1303020" y="5254720"/>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2</a:t>
            </a:r>
          </a:p>
        </p:txBody>
      </p:sp>
      <p:sp>
        <p:nvSpPr>
          <p:cNvPr id="33" name="TextBox 32"/>
          <p:cNvSpPr txBox="1"/>
          <p:nvPr/>
        </p:nvSpPr>
        <p:spPr>
          <a:xfrm>
            <a:off x="2171700" y="4977955"/>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Importance legitimately changes with the level</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A variable can be globally important yet locally uninformative; Proposition 6.1 makes that difference interpretable rather than contradictory.</a:t>
            </a:r>
          </a:p>
        </p:txBody>
      </p:sp>
      <p:sp>
        <p:nvSpPr>
          <p:cNvPr id="34" name="Rounded Rectangle 33"/>
          <p:cNvSpPr/>
          <p:nvPr/>
        </p:nvSpPr>
        <p:spPr>
          <a:xfrm>
            <a:off x="1028700" y="6372733"/>
            <a:ext cx="16230600" cy="1339913"/>
          </a:xfrm>
          <a:prstGeom prst="roundRect">
            <a:avLst>
              <a:gd name="adj" fmla="val 15013"/>
            </a:avLst>
          </a:prstGeom>
          <a:solidFill>
            <a:srgbClr val="F6ECDF"/>
          </a:solidFill>
          <a:ln>
            <a:noFill/>
          </a:ln>
        </p:spPr>
        <p:txBody>
          <a:bodyPr anchor="ctr" rtlCol="false" lIns="0" tIns="0" rIns="0" bIns="0" wrap="square"/>
          <a:lstStyle/>
          <a:p>
            <a:endParaRPr lang="en-US" sz="1800"/>
          </a:p>
        </p:txBody>
      </p:sp>
      <p:sp>
        <p:nvSpPr>
          <p:cNvPr id="35" name="Oval 34"/>
          <p:cNvSpPr/>
          <p:nvPr/>
        </p:nvSpPr>
        <p:spPr>
          <a:xfrm>
            <a:off x="1303020" y="6759225"/>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3</a:t>
            </a:r>
          </a:p>
        </p:txBody>
      </p:sp>
      <p:sp>
        <p:nvSpPr>
          <p:cNvPr id="36" name="TextBox 35"/>
          <p:cNvSpPr txBox="1"/>
          <p:nvPr/>
        </p:nvSpPr>
        <p:spPr>
          <a:xfrm>
            <a:off x="2171700" y="6482461"/>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The explanation scales</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Level-specific surrogates and exact TreeSHAP keep the cost linear in the data, not exponential in the features.</a:t>
            </a:r>
          </a:p>
        </p:txBody>
      </p:sp>
      <p:sp>
        <p:nvSpPr>
          <p:cNvPr id="37" name="Rounded Rectangle 36"/>
          <p:cNvSpPr/>
          <p:nvPr/>
        </p:nvSpPr>
        <p:spPr>
          <a:xfrm>
            <a:off x="1028700" y="7877238"/>
            <a:ext cx="16230600" cy="1339913"/>
          </a:xfrm>
          <a:prstGeom prst="roundRect">
            <a:avLst>
              <a:gd name="adj" fmla="val 15013"/>
            </a:avLst>
          </a:prstGeom>
          <a:solidFill>
            <a:srgbClr val="FBF4EB"/>
          </a:solidFill>
          <a:ln>
            <a:noFill/>
          </a:ln>
        </p:spPr>
        <p:txBody>
          <a:bodyPr anchor="ctr" rtlCol="false" lIns="0" tIns="0" rIns="0" bIns="0" wrap="square"/>
          <a:lstStyle/>
          <a:p>
            <a:endParaRPr lang="en-US" sz="1800"/>
          </a:p>
        </p:txBody>
      </p:sp>
      <p:sp>
        <p:nvSpPr>
          <p:cNvPr id="38" name="Oval 37"/>
          <p:cNvSpPr/>
          <p:nvPr/>
        </p:nvSpPr>
        <p:spPr>
          <a:xfrm>
            <a:off x="1303020" y="8263731"/>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4</a:t>
            </a:r>
          </a:p>
        </p:txBody>
      </p:sp>
      <p:sp>
        <p:nvSpPr>
          <p:cNvPr id="39" name="TextBox 38"/>
          <p:cNvSpPr txBox="1"/>
          <p:nvPr/>
        </p:nvSpPr>
        <p:spPr>
          <a:xfrm>
            <a:off x="2171700" y="7986966"/>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The logic transfers across domains</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Same pipeline, same reading, from 4,898 wines to 383,585 hourly air-quality records, with a Silhouette ≈ 0.63 against 0.37 in the reference SHAP-clustering study.</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50</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Limitations</a:t>
            </a:r>
          </a:p>
        </p:txBody>
      </p:sp>
      <p:pic>
        <p:nvPicPr>
          <p:cNvPr id="23" name="Picture 22" descr="image.png"/>
          <p:cNvPicPr>
            <a:picLocks noChangeAspect="1"/>
          </p:cNvPicPr>
          <p:nvPr/>
        </p:nvPicPr>
        <p:blipFill>
          <a:blip r:embed="rId3"/>
          <a:stretch>
            <a:fillRect/>
          </a:stretch>
        </p:blipFill>
        <p:spPr>
          <a:xfrm>
            <a:off x="4251252" y="1673352"/>
            <a:ext cx="457200" cy="373212"/>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363722"/>
            <a:ext cx="7955280" cy="2172335"/>
          </a:xfrm>
          <a:prstGeom prst="roundRect">
            <a:avLst>
              <a:gd name="adj" fmla="val 11786"/>
            </a:avLst>
          </a:prstGeom>
          <a:solidFill>
            <a:srgbClr val="124944"/>
          </a:solidFill>
          <a:ln>
            <a:noFill/>
          </a:ln>
        </p:spPr>
        <p:txBody>
          <a:bodyPr anchor="ctr" rtlCol="false" lIns="0" tIns="0" rIns="0" bIns="0" wrap="square"/>
          <a:lstStyle/>
          <a:p>
            <a:endParaRPr lang="en-US" sz="1800"/>
          </a:p>
        </p:txBody>
      </p:sp>
      <p:sp>
        <p:nvSpPr>
          <p:cNvPr id="29" name="TextBox 28"/>
          <p:cNvSpPr txBox="1"/>
          <p:nvPr/>
        </p:nvSpPr>
        <p:spPr>
          <a:xfrm>
            <a:off x="1394460" y="3638042"/>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STATIC CLUSTERING</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The partition is </a:t>
            </a:r>
            <a:r>
              <a:rPr lang="en-US" sz="1900" b="true">
                <a:solidFill>
                  <a:srgbClr val="FFFFFF"/>
                </a:solidFill>
                <a:latin typeface="Nunito Bold"/>
                <a:ea typeface="Nunito Bold"/>
                <a:cs typeface="Nunito Bold"/>
                <a:sym typeface="Nunito Bold"/>
              </a:rPr>
              <a:t>static</a:t>
            </a:r>
            <a:r>
              <a:rPr lang="en-US" sz="1900" b="true">
                <a:solidFill>
                  <a:srgbClr val="FFFFFF"/>
                </a:solidFill>
                <a:latin typeface="Nunito Semi-Bold"/>
                <a:ea typeface="Nunito Semi-Bold"/>
                <a:cs typeface="Nunito Semi-Bold"/>
                <a:sym typeface="Nunito Semi-Bold"/>
              </a:rPr>
              <a:t>, even though the Beijing data are temporal; drift between years is not modelled.</a:t>
            </a:r>
          </a:p>
        </p:txBody>
      </p:sp>
      <p:sp>
        <p:nvSpPr>
          <p:cNvPr id="30" name="Rounded Rectangle 29"/>
          <p:cNvSpPr/>
          <p:nvPr/>
        </p:nvSpPr>
        <p:spPr>
          <a:xfrm>
            <a:off x="9304020" y="3363722"/>
            <a:ext cx="7955280" cy="2172335"/>
          </a:xfrm>
          <a:prstGeom prst="roundRect">
            <a:avLst>
              <a:gd name="adj" fmla="val 11786"/>
            </a:avLst>
          </a:prstGeom>
          <a:solidFill>
            <a:srgbClr val="1E5F58"/>
          </a:solidFill>
          <a:ln>
            <a:noFill/>
          </a:ln>
        </p:spPr>
        <p:txBody>
          <a:bodyPr anchor="ctr" rtlCol="false" lIns="0" tIns="0" rIns="0" bIns="0" wrap="square"/>
          <a:lstStyle/>
          <a:p>
            <a:endParaRPr lang="en-US" sz="1800"/>
          </a:p>
        </p:txBody>
      </p:sp>
      <p:sp>
        <p:nvSpPr>
          <p:cNvPr id="31" name="TextBox 30"/>
          <p:cNvSpPr txBox="1"/>
          <p:nvPr/>
        </p:nvSpPr>
        <p:spPr>
          <a:xfrm>
            <a:off x="9669780" y="3638042"/>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SMOOTHING</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Surrogate-based SHAP plus representative-instance reporting </a:t>
            </a:r>
            <a:r>
              <a:rPr lang="en-US" sz="1900" b="true">
                <a:solidFill>
                  <a:srgbClr val="FFFFFF"/>
                </a:solidFill>
                <a:latin typeface="Nunito Bold"/>
                <a:ea typeface="Nunito Bold"/>
                <a:cs typeface="Nunito Bold"/>
                <a:sym typeface="Nunito Bold"/>
              </a:rPr>
              <a:t>smooth out variation between single observations</a:t>
            </a:r>
            <a:r>
              <a:rPr lang="en-US" sz="1900" b="true">
                <a:solidFill>
                  <a:srgbClr val="FFFFFF"/>
                </a:solidFill>
                <a:latin typeface="Nunito Semi-Bold"/>
                <a:ea typeface="Nunito Semi-Bold"/>
                <a:cs typeface="Nunito Semi-Bold"/>
                <a:sym typeface="Nunito Semi-Bold"/>
              </a:rPr>
              <a:t>.</a:t>
            </a:r>
          </a:p>
        </p:txBody>
      </p:sp>
      <p:sp>
        <p:nvSpPr>
          <p:cNvPr id="32" name="Rounded Rectangle 31"/>
          <p:cNvSpPr/>
          <p:nvPr/>
        </p:nvSpPr>
        <p:spPr>
          <a:xfrm>
            <a:off x="1028700" y="5810377"/>
            <a:ext cx="7955280" cy="2172335"/>
          </a:xfrm>
          <a:prstGeom prst="roundRect">
            <a:avLst>
              <a:gd name="adj" fmla="val 11786"/>
            </a:avLst>
          </a:prstGeom>
          <a:solidFill>
            <a:srgbClr val="1E5F58"/>
          </a:solidFill>
          <a:ln>
            <a:noFill/>
          </a:ln>
        </p:spPr>
        <p:txBody>
          <a:bodyPr anchor="ctr" rtlCol="false" lIns="0" tIns="0" rIns="0" bIns="0" wrap="square"/>
          <a:lstStyle/>
          <a:p>
            <a:endParaRPr lang="en-US" sz="1800"/>
          </a:p>
        </p:txBody>
      </p:sp>
      <p:sp>
        <p:nvSpPr>
          <p:cNvPr id="33" name="TextBox 32"/>
          <p:cNvSpPr txBox="1"/>
          <p:nvPr/>
        </p:nvSpPr>
        <p:spPr>
          <a:xfrm>
            <a:off x="1394460" y="6084697"/>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TABULAR ONLY</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Still limited to </a:t>
            </a:r>
            <a:r>
              <a:rPr lang="en-US" sz="1900" b="true">
                <a:solidFill>
                  <a:srgbClr val="FFFFFF"/>
                </a:solidFill>
                <a:latin typeface="Nunito Bold"/>
                <a:ea typeface="Nunito Bold"/>
                <a:cs typeface="Nunito Bold"/>
                <a:sym typeface="Nunito Bold"/>
              </a:rPr>
              <a:t>tabular data</a:t>
            </a:r>
            <a:r>
              <a:rPr lang="en-US" sz="1900" b="true">
                <a:solidFill>
                  <a:srgbClr val="FFFFFF"/>
                </a:solidFill>
                <a:latin typeface="Nunito Semi-Bold"/>
                <a:ea typeface="Nunito Semi-Bold"/>
                <a:cs typeface="Nunito Semi-Bold"/>
                <a:sym typeface="Nunito Semi-Bold"/>
              </a:rPr>
              <a:t>; no graph, text or image input.</a:t>
            </a:r>
          </a:p>
        </p:txBody>
      </p:sp>
      <p:sp>
        <p:nvSpPr>
          <p:cNvPr id="34" name="Rounded Rectangle 33"/>
          <p:cNvSpPr/>
          <p:nvPr/>
        </p:nvSpPr>
        <p:spPr>
          <a:xfrm>
            <a:off x="9304020" y="5810377"/>
            <a:ext cx="7955280" cy="2172335"/>
          </a:xfrm>
          <a:prstGeom prst="roundRect">
            <a:avLst>
              <a:gd name="adj" fmla="val 11786"/>
            </a:avLst>
          </a:prstGeom>
          <a:solidFill>
            <a:srgbClr val="124944"/>
          </a:solidFill>
          <a:ln>
            <a:noFill/>
          </a:ln>
        </p:spPr>
        <p:txBody>
          <a:bodyPr anchor="ctr" rtlCol="false" lIns="0" tIns="0" rIns="0" bIns="0" wrap="square"/>
          <a:lstStyle/>
          <a:p>
            <a:endParaRPr lang="en-US" sz="1800"/>
          </a:p>
        </p:txBody>
      </p:sp>
      <p:sp>
        <p:nvSpPr>
          <p:cNvPr id="35" name="TextBox 34"/>
          <p:cNvSpPr txBox="1"/>
          <p:nvPr/>
        </p:nvSpPr>
        <p:spPr>
          <a:xfrm>
            <a:off x="9669780" y="6084697"/>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POST-HOC</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Still an explanation of a </a:t>
            </a:r>
            <a:r>
              <a:rPr lang="en-US" sz="1900" b="true">
                <a:solidFill>
                  <a:srgbClr val="FFFFFF"/>
                </a:solidFill>
                <a:latin typeface="Nunito Bold"/>
                <a:ea typeface="Nunito Bold"/>
                <a:cs typeface="Nunito Bold"/>
                <a:sym typeface="Nunito Bold"/>
              </a:rPr>
              <a:t>pre-computed partition</a:t>
            </a:r>
            <a:r>
              <a:rPr lang="en-US" sz="1900" b="true">
                <a:solidFill>
                  <a:srgbClr val="FFFFFF"/>
                </a:solidFill>
                <a:latin typeface="Nunito Semi-Bold"/>
                <a:ea typeface="Nunito Semi-Bold"/>
                <a:cs typeface="Nunito Semi-Bold"/>
                <a:sym typeface="Nunito Semi-Bold"/>
              </a:rPr>
              <a:t>: attribution does not influence learning.</a:t>
            </a:r>
          </a:p>
        </p:txBody>
      </p:sp>
      <p:sp>
        <p:nvSpPr>
          <p:cNvPr id="36" name="Rounded Rectangle 35"/>
          <p:cNvSpPr/>
          <p:nvPr/>
        </p:nvSpPr>
        <p:spPr>
          <a:xfrm>
            <a:off x="1028700" y="8348472"/>
            <a:ext cx="16230600" cy="960120"/>
          </a:xfrm>
          <a:prstGeom prst="roundRect">
            <a:avLst>
              <a:gd name="adj" fmla="val 23809"/>
            </a:avLst>
          </a:prstGeom>
          <a:noFill/>
          <a:ln w="31750">
            <a:solidFill>
              <a:srgbClr val="DF8330"/>
            </a:solidFill>
          </a:ln>
        </p:spPr>
        <p:txBody>
          <a:bodyPr anchor="ctr" rtlCol="false" lIns="457200" tIns="91440" rIns="457200" bIns="91440" wrap="square"/>
          <a:lstStyle/>
          <a:p>
            <a:pPr algn="ctr">
              <a:lnSpc>
                <a:spcPts val="2500"/>
              </a:lnSpc>
              <a:spcBef>
                <a:spcPts val="0"/>
              </a:spcBef>
              <a:buNone/>
            </a:pPr>
            <a:r>
              <a:rPr lang="en-US" sz="2000" b="true">
                <a:solidFill>
                  <a:srgbClr val="111111"/>
                </a:solidFill>
                <a:latin typeface="Nunito Semi-Bold"/>
                <a:ea typeface="Nunito Semi-Bold"/>
                <a:cs typeface="Nunito Semi-Bold"/>
                <a:sym typeface="Nunito Semi-Bold"/>
              </a:rPr>
              <a:t>The </a:t>
            </a:r>
            <a:r>
              <a:rPr lang="en-US" sz="2000" b="true">
                <a:solidFill>
                  <a:srgbClr val="111111"/>
                </a:solidFill>
                <a:latin typeface="Nunito Bold"/>
                <a:ea typeface="Nunito Bold"/>
                <a:cs typeface="Nunito Bold"/>
                <a:sym typeface="Nunito Bold"/>
              </a:rPr>
              <a:t>post-hoc</a:t>
            </a:r>
            <a:r>
              <a:rPr lang="en-US" sz="2000" b="true">
                <a:solidFill>
                  <a:srgbClr val="111111"/>
                </a:solidFill>
                <a:latin typeface="Nunito Semi-Bold"/>
                <a:ea typeface="Nunito Semi-Bold"/>
                <a:cs typeface="Nunito Semi-Bold"/>
                <a:sym typeface="Nunito Semi-Bold"/>
              </a:rPr>
              <a:t> limitation is the one that opens the door to Contribution III: what if attribution could shape the learning itself?</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51</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 MULTI-LEVEL XAI FOR LARGE-SCALE CLUSTERING</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Takeaway: Contribution II</a:t>
            </a:r>
          </a:p>
        </p:txBody>
      </p:sp>
      <p:pic>
        <p:nvPicPr>
          <p:cNvPr id="23" name="Picture 22" descr="image.png"/>
          <p:cNvPicPr>
            <a:picLocks noChangeAspect="1"/>
          </p:cNvPicPr>
          <p:nvPr/>
        </p:nvPicPr>
        <p:blipFill>
          <a:blip r:embed="rId3"/>
          <a:stretch>
            <a:fillRect/>
          </a:stretch>
        </p:blipFill>
        <p:spPr>
          <a:xfrm>
            <a:off x="8008663" y="1673352"/>
            <a:ext cx="457200" cy="427074"/>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363722"/>
            <a:ext cx="5196840" cy="2651760"/>
          </a:xfrm>
          <a:prstGeom prst="roundRect">
            <a:avLst>
              <a:gd name="adj" fmla="val 10344"/>
            </a:avLst>
          </a:prstGeom>
          <a:solidFill>
            <a:srgbClr val="124944"/>
          </a:solidFill>
          <a:ln>
            <a:noFill/>
          </a:ln>
        </p:spPr>
        <p:txBody>
          <a:bodyPr anchor="ctr" rtlCol="false" lIns="0" tIns="0" rIns="0" bIns="0" wrap="square"/>
          <a:lstStyle/>
          <a:p>
            <a:endParaRPr lang="en-US" sz="1800"/>
          </a:p>
        </p:txBody>
      </p:sp>
      <p:sp>
        <p:nvSpPr>
          <p:cNvPr id="29" name="TextBox 28"/>
          <p:cNvSpPr txBox="1"/>
          <p:nvPr/>
        </p:nvSpPr>
        <p:spPr>
          <a:xfrm>
            <a:off x="1394460" y="3683762"/>
            <a:ext cx="4465320" cy="2103120"/>
          </a:xfrm>
          <a:prstGeom prst="rect">
            <a:avLst/>
          </a:prstGeom>
          <a:noFill/>
        </p:spPr>
        <p:txBody>
          <a:bodyPr anchor="t" rtlCol="false" lIns="0" tIns="0" rIns="0" bIns="0" wrap="square"/>
          <a:lstStyle/>
          <a:p>
            <a:pPr algn="l">
              <a:lnSpc>
                <a:spcPts val="3200"/>
              </a:lnSpc>
              <a:spcBef>
                <a:spcPts val="0"/>
              </a:spcBef>
              <a:buNone/>
            </a:pPr>
            <a:r>
              <a:rPr lang="en-US" sz="2800" b="true" spc="-120">
                <a:solidFill>
                  <a:srgbClr val="ECC665"/>
                </a:solidFill>
                <a:latin typeface="Roca Two Bold"/>
                <a:ea typeface="Roca Two Bold"/>
                <a:cs typeface="Roca Two Bold"/>
                <a:sym typeface="Roca Two Bold"/>
              </a:rPr>
              <a:t>Consistent</a:t>
            </a:r>
          </a:p>
          <a:p>
            <a:pPr algn="l">
              <a:lnSpc>
                <a:spcPts val="2400"/>
              </a:lnSpc>
              <a:spcBef>
                <a:spcPts val="1000"/>
              </a:spcBef>
              <a:buNone/>
            </a:pPr>
            <a:r>
              <a:rPr lang="en-US" sz="1900" b="true">
                <a:solidFill>
                  <a:srgbClr val="F7F2EA"/>
                </a:solidFill>
                <a:latin typeface="Nunito Semi-Bold"/>
                <a:ea typeface="Nunito Semi-Bold"/>
                <a:cs typeface="Nunito Semi-Bold"/>
                <a:sym typeface="Nunito Semi-Bold"/>
              </a:rPr>
              <a:t>Parent and child explanations agree by construction (Proposition 6.1).</a:t>
            </a:r>
          </a:p>
        </p:txBody>
      </p:sp>
      <p:sp>
        <p:nvSpPr>
          <p:cNvPr id="30" name="Rounded Rectangle 29"/>
          <p:cNvSpPr/>
          <p:nvPr/>
        </p:nvSpPr>
        <p:spPr>
          <a:xfrm>
            <a:off x="6545580" y="3363722"/>
            <a:ext cx="5196840" cy="2651760"/>
          </a:xfrm>
          <a:prstGeom prst="roundRect">
            <a:avLst>
              <a:gd name="adj" fmla="val 10344"/>
            </a:avLst>
          </a:prstGeom>
          <a:solidFill>
            <a:srgbClr val="1E5F58"/>
          </a:solidFill>
          <a:ln>
            <a:noFill/>
          </a:ln>
        </p:spPr>
        <p:txBody>
          <a:bodyPr anchor="ctr" rtlCol="false" lIns="0" tIns="0" rIns="0" bIns="0" wrap="square"/>
          <a:lstStyle/>
          <a:p>
            <a:endParaRPr lang="en-US" sz="1800"/>
          </a:p>
        </p:txBody>
      </p:sp>
      <p:sp>
        <p:nvSpPr>
          <p:cNvPr id="31" name="TextBox 30"/>
          <p:cNvSpPr txBox="1"/>
          <p:nvPr/>
        </p:nvSpPr>
        <p:spPr>
          <a:xfrm>
            <a:off x="6911340" y="3683762"/>
            <a:ext cx="4465320" cy="2103120"/>
          </a:xfrm>
          <a:prstGeom prst="rect">
            <a:avLst/>
          </a:prstGeom>
          <a:noFill/>
        </p:spPr>
        <p:txBody>
          <a:bodyPr anchor="t" rtlCol="false" lIns="0" tIns="0" rIns="0" bIns="0" wrap="square"/>
          <a:lstStyle/>
          <a:p>
            <a:pPr algn="l">
              <a:lnSpc>
                <a:spcPts val="3200"/>
              </a:lnSpc>
              <a:spcBef>
                <a:spcPts val="0"/>
              </a:spcBef>
              <a:buNone/>
            </a:pPr>
            <a:r>
              <a:rPr lang="en-US" sz="2800" b="true" spc="-120">
                <a:solidFill>
                  <a:srgbClr val="ECC665"/>
                </a:solidFill>
                <a:latin typeface="Roca Two Bold"/>
                <a:ea typeface="Roca Two Bold"/>
                <a:cs typeface="Roca Two Bold"/>
                <a:sym typeface="Roca Two Bold"/>
              </a:rPr>
              <a:t>Against scale</a:t>
            </a:r>
          </a:p>
          <a:p>
            <a:pPr algn="l">
              <a:lnSpc>
                <a:spcPts val="2400"/>
              </a:lnSpc>
              <a:spcBef>
                <a:spcPts val="1000"/>
              </a:spcBef>
              <a:buNone/>
            </a:pPr>
            <a:r>
              <a:rPr lang="en-US" sz="1900" b="true">
                <a:solidFill>
                  <a:srgbClr val="F7F2EA"/>
                </a:solidFill>
                <a:latin typeface="Nunito Semi-Bold"/>
                <a:ea typeface="Nunito Semi-Bold"/>
                <a:cs typeface="Nunito Semi-Bold"/>
                <a:sym typeface="Nunito Semi-Bold"/>
              </a:rPr>
              <a:t>383,585 records explained with level-specific surrogates, at a linear cost.</a:t>
            </a:r>
          </a:p>
        </p:txBody>
      </p:sp>
      <p:sp>
        <p:nvSpPr>
          <p:cNvPr id="32" name="Rounded Rectangle 31"/>
          <p:cNvSpPr/>
          <p:nvPr/>
        </p:nvSpPr>
        <p:spPr>
          <a:xfrm>
            <a:off x="12062460" y="3363722"/>
            <a:ext cx="5196840" cy="2651760"/>
          </a:xfrm>
          <a:prstGeom prst="roundRect">
            <a:avLst>
              <a:gd name="adj" fmla="val 10344"/>
            </a:avLst>
          </a:prstGeom>
          <a:solidFill>
            <a:srgbClr val="DF8330"/>
          </a:solidFill>
          <a:ln>
            <a:noFill/>
          </a:ln>
        </p:spPr>
        <p:txBody>
          <a:bodyPr anchor="ctr" rtlCol="false" lIns="0" tIns="0" rIns="0" bIns="0" wrap="square"/>
          <a:lstStyle/>
          <a:p>
            <a:endParaRPr lang="en-US" sz="1800"/>
          </a:p>
        </p:txBody>
      </p:sp>
      <p:sp>
        <p:nvSpPr>
          <p:cNvPr id="33" name="TextBox 32"/>
          <p:cNvSpPr txBox="1"/>
          <p:nvPr/>
        </p:nvSpPr>
        <p:spPr>
          <a:xfrm>
            <a:off x="12428220" y="3683762"/>
            <a:ext cx="4465320" cy="2103120"/>
          </a:xfrm>
          <a:prstGeom prst="rect">
            <a:avLst/>
          </a:prstGeom>
          <a:noFill/>
        </p:spPr>
        <p:txBody>
          <a:bodyPr anchor="t" rtlCol="false" lIns="0" tIns="0" rIns="0" bIns="0" wrap="square"/>
          <a:lstStyle/>
          <a:p>
            <a:pPr algn="l">
              <a:lnSpc>
                <a:spcPts val="3200"/>
              </a:lnSpc>
              <a:spcBef>
                <a:spcPts val="0"/>
              </a:spcBef>
              <a:buNone/>
            </a:pPr>
            <a:r>
              <a:rPr lang="en-US" sz="2800" b="true" spc="-120">
                <a:solidFill>
                  <a:srgbClr val="FFFFFF"/>
                </a:solidFill>
                <a:latin typeface="Roca Two Bold"/>
                <a:ea typeface="Roca Two Bold"/>
                <a:cs typeface="Roca Two Bold"/>
                <a:sym typeface="Roca Two Bold"/>
              </a:rPr>
              <a:t>Still post-hoc</a:t>
            </a:r>
          </a:p>
          <a:p>
            <a:pPr algn="l">
              <a:lnSpc>
                <a:spcPts val="2400"/>
              </a:lnSpc>
              <a:spcBef>
                <a:spcPts val="1000"/>
              </a:spcBef>
              <a:buNone/>
            </a:pPr>
            <a:r>
              <a:rPr lang="en-US" sz="1900" b="true">
                <a:solidFill>
                  <a:srgbClr val="F7F2EA"/>
                </a:solidFill>
                <a:latin typeface="Nunito Semi-Bold"/>
                <a:ea typeface="Nunito Semi-Bold"/>
                <a:cs typeface="Nunito Semi-Bold"/>
                <a:sym typeface="Nunito Semi-Bold"/>
              </a:rPr>
              <a:t>The attribution explains a partition that was already computed.</a:t>
            </a:r>
          </a:p>
        </p:txBody>
      </p:sp>
      <p:sp>
        <p:nvSpPr>
          <p:cNvPr id="34" name="Rounded Rectangle 33"/>
          <p:cNvSpPr/>
          <p:nvPr/>
        </p:nvSpPr>
        <p:spPr>
          <a:xfrm>
            <a:off x="1028700" y="6472682"/>
            <a:ext cx="16230600" cy="1600200"/>
          </a:xfrm>
          <a:prstGeom prst="roundRect">
            <a:avLst>
              <a:gd name="adj" fmla="val 12571"/>
            </a:avLst>
          </a:prstGeom>
          <a:solidFill>
            <a:srgbClr val="F6ECDF"/>
          </a:solidFill>
          <a:ln w="25400">
            <a:solidFill>
              <a:srgbClr val="DF8330"/>
            </a:solidFill>
          </a:ln>
        </p:spPr>
        <p:txBody>
          <a:bodyPr anchor="ctr" rtlCol="false" lIns="0" tIns="0" rIns="0" bIns="0" wrap="square"/>
          <a:lstStyle/>
          <a:p>
            <a:endParaRPr lang="en-US" sz="1800"/>
          </a:p>
        </p:txBody>
      </p:sp>
      <p:sp>
        <p:nvSpPr>
          <p:cNvPr id="35" name="Rounded Rectangle 34"/>
          <p:cNvSpPr/>
          <p:nvPr/>
        </p:nvSpPr>
        <p:spPr>
          <a:xfrm>
            <a:off x="1348740" y="6280658"/>
            <a:ext cx="3419631"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TAKEAWAY  ·  CONTRIBUTION II</a:t>
            </a:r>
          </a:p>
        </p:txBody>
      </p:sp>
      <p:sp>
        <p:nvSpPr>
          <p:cNvPr id="36" name="TextBox 35"/>
          <p:cNvSpPr txBox="1"/>
          <p:nvPr/>
        </p:nvSpPr>
        <p:spPr>
          <a:xfrm>
            <a:off x="1394460" y="6747002"/>
            <a:ext cx="15499080" cy="1188720"/>
          </a:xfrm>
          <a:prstGeom prst="rect">
            <a:avLst/>
          </a:prstGeom>
          <a:noFill/>
        </p:spPr>
        <p:txBody>
          <a:bodyPr anchor="ctr" rtlCol="false" lIns="0" tIns="0" rIns="0" bIns="0" wrap="square"/>
          <a:lstStyle/>
          <a:p>
            <a:pPr algn="l">
              <a:lnSpc>
                <a:spcPts val="3220"/>
              </a:lnSpc>
              <a:spcBef>
                <a:spcPts val="0"/>
              </a:spcBef>
              <a:buNone/>
            </a:pPr>
            <a:r>
              <a:rPr lang="en-US" sz="2300" b="true">
                <a:solidFill>
                  <a:srgbClr val="111111"/>
                </a:solidFill>
                <a:latin typeface="Nunito Semi-Bold"/>
                <a:ea typeface="Nunito Semi-Bold"/>
                <a:cs typeface="Nunito Semi-Bold"/>
                <a:sym typeface="Nunito Semi-Bold"/>
              </a:rPr>
              <a:t>Shapley attribution stays </a:t>
            </a:r>
            <a:r>
              <a:rPr lang="en-US" sz="2300" b="true">
                <a:solidFill>
                  <a:srgbClr val="111111"/>
                </a:solidFill>
                <a:latin typeface="Nunito Bold"/>
                <a:ea typeface="Nunito Bold"/>
                <a:cs typeface="Nunito Bold"/>
                <a:sym typeface="Nunito Bold"/>
              </a:rPr>
              <a:t>consistent across levels of detail</a:t>
            </a:r>
            <a:r>
              <a:rPr lang="en-US" sz="2300" b="true">
                <a:solidFill>
                  <a:srgbClr val="111111"/>
                </a:solidFill>
                <a:latin typeface="Nunito Semi-Bold"/>
                <a:ea typeface="Nunito Semi-Bold"/>
                <a:cs typeface="Nunito Semi-Bold"/>
                <a:sym typeface="Nunito Semi-Bold"/>
              </a:rPr>
              <a:t> when the hierarchy is explicit, so explanations become interpretable </a:t>
            </a:r>
            <a:r>
              <a:rPr lang="en-US" sz="2300" b="true">
                <a:solidFill>
                  <a:srgbClr val="111111"/>
                </a:solidFill>
                <a:latin typeface="Nunito Bold"/>
                <a:ea typeface="Nunito Bold"/>
                <a:cs typeface="Nunito Bold"/>
                <a:sym typeface="Nunito Bold"/>
              </a:rPr>
              <a:t>against scale</a:t>
            </a:r>
            <a:r>
              <a:rPr lang="en-US" sz="2300" b="true">
                <a:solidFill>
                  <a:srgbClr val="111111"/>
                </a:solidFill>
                <a:latin typeface="Nunito Semi-Bold"/>
                <a:ea typeface="Nunito Semi-Bold"/>
                <a:cs typeface="Nunito Semi-Bold"/>
                <a:sym typeface="Nunito Semi-Bold"/>
              </a:rPr>
              <a:t>, not just against one flat partition.</a:t>
            </a:r>
          </a:p>
        </p:txBody>
      </p:sp>
      <p:sp>
        <p:nvSpPr>
          <p:cNvPr id="37" name="Rounded Rectangle 36"/>
          <p:cNvSpPr/>
          <p:nvPr/>
        </p:nvSpPr>
        <p:spPr>
          <a:xfrm>
            <a:off x="1028700" y="8392922"/>
            <a:ext cx="16230600" cy="961390"/>
          </a:xfrm>
          <a:prstGeom prst="roundRect">
            <a:avLst>
              <a:gd name="adj" fmla="val 23778"/>
            </a:avLst>
          </a:prstGeom>
          <a:solidFill>
            <a:srgbClr val="124944"/>
          </a:solidFill>
          <a:ln>
            <a:noFill/>
          </a:ln>
        </p:spPr>
        <p:txBody>
          <a:bodyPr anchor="ctr" rtlCol="false" lIns="457200" tIns="45720" rIns="457200" bIns="45720" wrap="square"/>
          <a:lstStyle/>
          <a:p>
            <a:pPr algn="ctr">
              <a:lnSpc>
                <a:spcPts val="2500"/>
              </a:lnSpc>
              <a:spcBef>
                <a:spcPts val="0"/>
              </a:spcBef>
              <a:buNone/>
            </a:pPr>
            <a:r>
              <a:rPr lang="en-US" sz="2000" b="true">
                <a:solidFill>
                  <a:srgbClr val="FFFFFF"/>
                </a:solidFill>
                <a:latin typeface="Nunito Bold"/>
                <a:ea typeface="Nunito Bold"/>
                <a:cs typeface="Nunito Bold"/>
                <a:sym typeface="Nunito Bold"/>
              </a:rPr>
              <a:t>Next step:</a:t>
            </a:r>
            <a:r>
              <a:rPr lang="en-US" sz="2000" b="true">
                <a:solidFill>
                  <a:srgbClr val="FFFFFF"/>
                </a:solidFill>
                <a:latin typeface="Nunito Semi-Bold"/>
                <a:ea typeface="Nunito Semi-Bold"/>
                <a:cs typeface="Nunito Semi-Bold"/>
                <a:sym typeface="Nunito Semi-Bold"/>
              </a:rPr>
              <a:t> let attribution shape the learning itself  </a:t>
            </a:r>
            <a:r>
              <a:rPr lang="en-US" sz="2000" b="true">
                <a:solidFill>
                  <a:srgbClr val="FFFFFF"/>
                </a:solidFill>
                <a:latin typeface="Calibri"/>
                <a:ea typeface="Calibri"/>
                <a:cs typeface="Calibri"/>
                <a:sym typeface="Calibri"/>
              </a:rPr>
              <a:t>→  </a:t>
            </a:r>
            <a:r>
              <a:rPr lang="en-US" sz="2000" b="true">
                <a:solidFill>
                  <a:srgbClr val="FFFFFF"/>
                </a:solidFill>
                <a:latin typeface="Nunito Semi-Bold"/>
                <a:ea typeface="Nunito Semi-Bold"/>
                <a:cs typeface="Nunito Semi-Bold"/>
                <a:sym typeface="Nunito Semi-Bold"/>
              </a:rPr>
              <a:t>Contribution III</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52</a:t>
            </a:r>
          </a:p>
        </p:txBody>
      </p:sp>
      <p:sp>
        <p:nvSpPr>
          <p:cNvPr id="7" name="TextBox 6"/>
          <p:cNvSpPr txBox="1"/>
          <p:nvPr/>
        </p:nvSpPr>
        <p:spPr>
          <a:xfrm>
            <a:off x="1028700" y="2331720"/>
            <a:ext cx="14859000" cy="2286000"/>
          </a:xfrm>
          <a:prstGeom prst="rect">
            <a:avLst/>
          </a:prstGeom>
          <a:noFill/>
        </p:spPr>
        <p:txBody>
          <a:bodyPr anchor="t" rtlCol="false" lIns="0" tIns="0" rIns="0" bIns="0" wrap="square"/>
          <a:lstStyle/>
          <a:p>
            <a:pPr algn="l">
              <a:lnSpc>
                <a:spcPts val="15300"/>
              </a:lnSpc>
              <a:spcBef>
                <a:spcPts val="0"/>
              </a:spcBef>
              <a:buNone/>
            </a:pPr>
            <a:r>
              <a:rPr lang="en-US" sz="15000" b="true" spc="-870">
                <a:solidFill>
                  <a:srgbClr val="111111"/>
                </a:solidFill>
                <a:latin typeface="Roca Two Bold"/>
                <a:ea typeface="Roca Two Bold"/>
                <a:cs typeface="Roca Two Bold"/>
                <a:sym typeface="Roca Two Bold"/>
              </a:rPr>
              <a:t>Contribution III</a:t>
            </a:r>
          </a:p>
        </p:txBody>
      </p:sp>
      <p:sp>
        <p:nvSpPr>
          <p:cNvPr id="8" name="Oval 7"/>
          <p:cNvSpPr/>
          <p:nvPr/>
        </p:nvSpPr>
        <p:spPr>
          <a:xfrm>
            <a:off x="14131423" y="2918460"/>
            <a:ext cx="1005840" cy="1005840"/>
          </a:xfrm>
          <a:prstGeom prst="ellipse">
            <a:avLst/>
          </a:prstGeom>
          <a:solidFill>
            <a:srgbClr val="ECC665"/>
          </a:solidFill>
          <a:ln>
            <a:noFill/>
          </a:ln>
        </p:spPr>
        <p:txBody>
          <a:bodyPr anchor="ctr" rtlCol="false" lIns="0" tIns="0" rIns="0" bIns="0" wrap="square"/>
          <a:lstStyle/>
          <a:p>
            <a:endParaRPr lang="en-US" sz="1800"/>
          </a:p>
        </p:txBody>
      </p:sp>
      <p:sp>
        <p:nvSpPr>
          <p:cNvPr id="9" name="TextBox 8"/>
          <p:cNvSpPr txBox="1"/>
          <p:nvPr/>
        </p:nvSpPr>
        <p:spPr>
          <a:xfrm>
            <a:off x="14131423" y="2918460"/>
            <a:ext cx="1005840" cy="1005840"/>
          </a:xfrm>
          <a:prstGeom prst="rect">
            <a:avLst/>
          </a:prstGeom>
          <a:noFill/>
        </p:spPr>
        <p:txBody>
          <a:bodyPr anchor="ctr" rtlCol="false" lIns="0" tIns="0" rIns="0" bIns="0" wrap="square"/>
          <a:lstStyle/>
          <a:p>
            <a:pPr algn="ctr">
              <a:lnSpc>
                <a:spcPts val="3400"/>
              </a:lnSpc>
              <a:spcBef>
                <a:spcPts val="0"/>
              </a:spcBef>
              <a:buNone/>
            </a:pPr>
            <a:r>
              <a:rPr lang="en-US" sz="3000" b="true">
                <a:solidFill>
                  <a:srgbClr val="111111"/>
                </a:solidFill>
                <a:latin typeface="Nunito Ultra-Bold"/>
                <a:ea typeface="Nunito Ultra-Bold"/>
                <a:cs typeface="Nunito Ultra-Bold"/>
                <a:sym typeface="Nunito Ultra-Bold"/>
              </a:rPr>
              <a:t>06</a:t>
            </a:r>
          </a:p>
        </p:txBody>
      </p:sp>
      <p:sp>
        <p:nvSpPr>
          <p:cNvPr id="10" name="TextBox 9"/>
          <p:cNvSpPr txBox="1"/>
          <p:nvPr/>
        </p:nvSpPr>
        <p:spPr>
          <a:xfrm>
            <a:off x="1028700" y="4465320"/>
            <a:ext cx="16230600" cy="640080"/>
          </a:xfrm>
          <a:prstGeom prst="rect">
            <a:avLst/>
          </a:prstGeom>
          <a:noFill/>
        </p:spPr>
        <p:txBody>
          <a:bodyPr anchor="t" rtlCol="false" lIns="0" tIns="0" rIns="0" bIns="0" wrap="square"/>
          <a:lstStyle/>
          <a:p>
            <a:pPr algn="l">
              <a:lnSpc>
                <a:spcPts val="3800"/>
              </a:lnSpc>
              <a:spcBef>
                <a:spcPts val="0"/>
              </a:spcBef>
              <a:buNone/>
            </a:pPr>
            <a:r>
              <a:rPr lang="en-US" sz="3000" b="true" spc="-150">
                <a:solidFill>
                  <a:srgbClr val="124944"/>
                </a:solidFill>
                <a:latin typeface="Nunito Bold"/>
                <a:ea typeface="Nunito Bold"/>
                <a:cs typeface="Nunito Bold"/>
                <a:sym typeface="Nunito Bold"/>
              </a:rPr>
              <a:t>DyHuCoG: a Dynamic Hypergraph Cooperative Game for recommendation  ·  answers RQ3 &amp; RQ4</a:t>
            </a:r>
          </a:p>
        </p:txBody>
      </p:sp>
      <p:sp>
        <p:nvSpPr>
          <p:cNvPr id="11" name="Rectangle 10"/>
          <p:cNvSpPr/>
          <p:nvPr/>
        </p:nvSpPr>
        <p:spPr>
          <a:xfrm>
            <a:off x="0" y="5440680"/>
            <a:ext cx="18288000" cy="4846320"/>
          </a:xfrm>
          <a:prstGeom prst="rect">
            <a:avLst/>
          </a:prstGeom>
          <a:solidFill>
            <a:srgbClr val="124944"/>
          </a:solidFill>
          <a:ln>
            <a:noFill/>
          </a:ln>
        </p:spPr>
        <p:txBody>
          <a:bodyPr anchor="ctr" rtlCol="false" lIns="0" tIns="0" rIns="0" bIns="0" wrap="square"/>
          <a:lstStyle/>
          <a:p>
            <a:endParaRPr lang="en-US" sz="1800"/>
          </a:p>
        </p:txBody>
      </p:sp>
      <p:sp>
        <p:nvSpPr>
          <p:cNvPr id="12" name="TextBox 11"/>
          <p:cNvSpPr txBox="1"/>
          <p:nvPr/>
        </p:nvSpPr>
        <p:spPr>
          <a:xfrm>
            <a:off x="102870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Objectives</a:t>
            </a:r>
          </a:p>
        </p:txBody>
      </p:sp>
      <p:cxnSp>
        <p:nvCxnSpPr>
          <p:cNvPr id="13" name="Connector 12"/>
          <p:cNvCxnSpPr/>
          <p:nvPr/>
        </p:nvCxnSpPr>
        <p:spPr>
          <a:xfrm>
            <a:off x="1028700" y="6464808"/>
            <a:ext cx="640080" cy="0"/>
          </a:xfrm>
          <a:prstGeom prst="line">
            <a:avLst/>
          </a:prstGeom>
          <a:ln w="31750">
            <a:solidFill>
              <a:srgbClr val="ECC665"/>
            </a:solidFill>
          </a:ln>
        </p:spPr>
      </p:cxnSp>
      <p:sp>
        <p:nvSpPr>
          <p:cNvPr id="14" name="TextBox 13"/>
          <p:cNvSpPr txBox="1"/>
          <p:nvPr/>
        </p:nvSpPr>
        <p:spPr>
          <a:xfrm>
            <a:off x="102870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Formulate recommendation as a cooperative game over users, items and contexts; make attribution an in-training signal.</a:t>
            </a:r>
          </a:p>
        </p:txBody>
      </p:sp>
      <p:sp>
        <p:nvSpPr>
          <p:cNvPr id="15" name="TextBox 14"/>
          <p:cNvSpPr txBox="1"/>
          <p:nvPr/>
        </p:nvSpPr>
        <p:spPr>
          <a:xfrm>
            <a:off x="657606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Methodology</a:t>
            </a:r>
          </a:p>
        </p:txBody>
      </p:sp>
      <p:cxnSp>
        <p:nvCxnSpPr>
          <p:cNvPr id="16" name="Connector 15"/>
          <p:cNvCxnSpPr/>
          <p:nvPr/>
        </p:nvCxnSpPr>
        <p:spPr>
          <a:xfrm>
            <a:off x="6576060" y="6464808"/>
            <a:ext cx="640080" cy="0"/>
          </a:xfrm>
          <a:prstGeom prst="line">
            <a:avLst/>
          </a:prstGeom>
          <a:ln w="31750">
            <a:solidFill>
              <a:srgbClr val="ECC665"/>
            </a:solidFill>
          </a:ln>
        </p:spPr>
      </p:cxnSp>
      <p:sp>
        <p:nvSpPr>
          <p:cNvPr id="17" name="TextBox 16"/>
          <p:cNvSpPr txBox="1"/>
          <p:nvPr/>
        </p:nvSpPr>
        <p:spPr>
          <a:xfrm>
            <a:off x="657606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Preference-aware Monte Carlo Shapley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dynamic hypergraph edge weights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attention-gated, context-aware scoring; multi-objective loss.</a:t>
            </a:r>
          </a:p>
        </p:txBody>
      </p:sp>
      <p:sp>
        <p:nvSpPr>
          <p:cNvPr id="18" name="TextBox 17"/>
          <p:cNvSpPr txBox="1"/>
          <p:nvPr/>
        </p:nvSpPr>
        <p:spPr>
          <a:xfrm>
            <a:off x="1212342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Results</a:t>
            </a:r>
          </a:p>
        </p:txBody>
      </p:sp>
      <p:cxnSp>
        <p:nvCxnSpPr>
          <p:cNvPr id="19" name="Connector 18"/>
          <p:cNvCxnSpPr/>
          <p:nvPr/>
        </p:nvCxnSpPr>
        <p:spPr>
          <a:xfrm>
            <a:off x="12123420" y="6464808"/>
            <a:ext cx="640080" cy="0"/>
          </a:xfrm>
          <a:prstGeom prst="line">
            <a:avLst/>
          </a:prstGeom>
          <a:ln w="31750">
            <a:solidFill>
              <a:srgbClr val="ECC665"/>
            </a:solidFill>
          </a:ln>
        </p:spPr>
      </p:cxnSp>
      <p:sp>
        <p:nvSpPr>
          <p:cNvPr id="20" name="TextBox 19"/>
          <p:cNvSpPr txBox="1"/>
          <p:nvPr/>
        </p:nvSpPr>
        <p:spPr>
          <a:xfrm>
            <a:off x="1212342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MovieLens-1M &amp; Amazon-Book: NDCG, Recall, Coverage and ILD improve together over HPCF; largest gains on the sparsest data.</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[12] He, X. et al. LightGCN: Simplifying and Powering Graph Convolution Network for Recommendation. SIGIR, 639–648 (2020).   [13] Xia, L. et al. Hypergraph Contrastive Collaborative Filtering (HCCF). SIGIR, 70–79 (2022).   [14] Xiangyi, Y. et al. Hypergraph Projection Enhanced Collaborative Filtering (HPCF). Int. J. Data Science and Analytics 19(2), 269–281 (2025).   [21] Zhang, Y. &amp; Chen, X. Explainable Recommendation: A Survey and New Perspectives. Foundations and Trends in IR 14(1), 1–101 (2020).   [23] Zhu, Z. et al. Popularity Bias in Dynamic Recommendation. KDD, 2439–2449 (2021).  ·  Hurley, N. &amp; Zhang, M. Novelty and Diversity in Top-N Recommendation. ACM TOIT 10(4) (2011).</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53</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Research Gap</a:t>
            </a:r>
          </a:p>
        </p:txBody>
      </p:sp>
      <p:pic>
        <p:nvPicPr>
          <p:cNvPr id="23" name="Picture 22" descr="image.png"/>
          <p:cNvPicPr>
            <a:picLocks noChangeAspect="1"/>
          </p:cNvPicPr>
          <p:nvPr/>
        </p:nvPicPr>
        <p:blipFill>
          <a:blip r:embed="rId3"/>
          <a:stretch>
            <a:fillRect/>
          </a:stretch>
        </p:blipFill>
        <p:spPr>
          <a:xfrm>
            <a:off x="4883941" y="1673352"/>
            <a:ext cx="457200" cy="399005"/>
          </a:xfrm>
          <a:prstGeom prst="rect">
            <a:avLst/>
          </a:prstGeom>
        </p:spPr>
      </p:pic>
      <p:sp>
        <p:nvSpPr>
          <p:cNvPr id="24" name="Rounded Rectangle 23"/>
          <p:cNvSpPr/>
          <p:nvPr/>
        </p:nvSpPr>
        <p:spPr>
          <a:xfrm>
            <a:off x="1028700" y="2559050"/>
            <a:ext cx="1691553"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16230600" cy="384175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Graph and hypergraph recommenders [12, 13, 14] treat message importance as </a:t>
            </a:r>
            <a:r>
              <a:rPr lang="en-US" sz="2100" b="true">
                <a:solidFill>
                  <a:srgbClr val="111111"/>
                </a:solidFill>
                <a:latin typeface="Nunito Bold"/>
                <a:ea typeface="Nunito Bold"/>
                <a:cs typeface="Nunito Bold"/>
                <a:sym typeface="Nunito Bold"/>
              </a:rPr>
              <a:t>uniform or attention-weighted</a:t>
            </a:r>
            <a:r>
              <a:rPr lang="en-US" sz="2100" b="true">
                <a:solidFill>
                  <a:srgbClr val="111111"/>
                </a:solidFill>
                <a:latin typeface="Nunito Semi-Bold"/>
                <a:ea typeface="Nunito Semi-Bold"/>
                <a:cs typeface="Nunito Semi-Bold"/>
                <a:sym typeface="Nunito Semi-Bold"/>
              </a:rPr>
              <a:t>, with no well-founded </a:t>
            </a:r>
            <a:r>
              <a:rPr lang="en-US" sz="2100" b="true">
                <a:solidFill>
                  <a:srgbClr val="111111"/>
                </a:solidFill>
                <a:latin typeface="Nunito Bold"/>
                <a:ea typeface="Nunito Bold"/>
                <a:cs typeface="Nunito Bold"/>
                <a:sym typeface="Nunito Bold"/>
              </a:rPr>
              <a:t>marginal-contribution</a:t>
            </a:r>
            <a:r>
              <a:rPr lang="en-US" sz="2100" b="true">
                <a:solidFill>
                  <a:srgbClr val="111111"/>
                </a:solidFill>
                <a:latin typeface="Nunito Semi-Bold"/>
                <a:ea typeface="Nunito Semi-Bold"/>
                <a:cs typeface="Nunito Semi-Bold"/>
                <a:sym typeface="Nunito Semi-Bold"/>
              </a:rPr>
              <a:t> account.</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Diversity is often a secondary goal or a </a:t>
            </a:r>
            <a:r>
              <a:rPr lang="en-US" sz="2100" b="true">
                <a:solidFill>
                  <a:srgbClr val="111111"/>
                </a:solidFill>
                <a:latin typeface="Nunito Bold"/>
                <a:ea typeface="Nunito Bold"/>
                <a:cs typeface="Nunito Bold"/>
                <a:sym typeface="Nunito Bold"/>
              </a:rPr>
              <a:t>re-ranking heuristic</a:t>
            </a:r>
            <a:r>
              <a:rPr lang="en-US" sz="2100" b="true">
                <a:solidFill>
                  <a:srgbClr val="111111"/>
                </a:solidFill>
                <a:latin typeface="Nunito Semi-Bold"/>
                <a:ea typeface="Nunito Semi-Bold"/>
                <a:cs typeface="Nunito Semi-Bold"/>
                <a:sym typeface="Nunito Semi-Bold"/>
              </a:rPr>
              <a:t> applied after the model has been trained [23].</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Interpretability is </a:t>
            </a:r>
            <a:r>
              <a:rPr lang="en-US" sz="2100" b="true">
                <a:solidFill>
                  <a:srgbClr val="111111"/>
                </a:solidFill>
                <a:latin typeface="Nunito Bold"/>
                <a:ea typeface="Nunito Bold"/>
                <a:cs typeface="Nunito Bold"/>
                <a:sym typeface="Nunito Bold"/>
              </a:rPr>
              <a:t>added after prediction</a:t>
            </a:r>
            <a:r>
              <a:rPr lang="en-US" sz="2100" b="true">
                <a:solidFill>
                  <a:srgbClr val="111111"/>
                </a:solidFill>
                <a:latin typeface="Nunito Semi-Bold"/>
                <a:ea typeface="Nunito Semi-Bold"/>
                <a:cs typeface="Nunito Semi-Bold"/>
                <a:sym typeface="Nunito Semi-Bold"/>
              </a:rPr>
              <a:t>, not built into the learning objective [21].</a:t>
            </a:r>
          </a:p>
          <a:p>
            <a:pPr algn="l" marL="274320" indent="-274320">
              <a:lnSpc>
                <a:spcPts val="2940"/>
              </a:lnSpc>
              <a:spcBef>
                <a:spcPts val="12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Contributions I and II showed that Shapley attribution is faithful and consistent, but it was still </a:t>
            </a:r>
            <a:r>
              <a:rPr lang="en-US" sz="2100" b="true">
                <a:solidFill>
                  <a:srgbClr val="111111"/>
                </a:solidFill>
                <a:latin typeface="Nunito Bold"/>
                <a:ea typeface="Nunito Bold"/>
                <a:cs typeface="Nunito Bold"/>
                <a:sym typeface="Nunito Bold"/>
              </a:rPr>
              <a:t>post-hoc</a:t>
            </a:r>
            <a:r>
              <a:rPr lang="en-US" sz="2100" b="true">
                <a:solidFill>
                  <a:srgbClr val="111111"/>
                </a:solidFill>
                <a:latin typeface="Nunito Semi-Bold"/>
                <a:ea typeface="Nunito Semi-Bold"/>
                <a:cs typeface="Nunito Semi-Bold"/>
                <a:sym typeface="Nunito Semi-Bold"/>
              </a:rPr>
              <a:t>: it never changed what the model learned.</a:t>
            </a:r>
          </a:p>
        </p:txBody>
      </p:sp>
      <p:sp>
        <p:nvSpPr>
          <p:cNvPr id="29" name="Rounded Rectangle 28"/>
          <p:cNvSpPr/>
          <p:nvPr/>
        </p:nvSpPr>
        <p:spPr>
          <a:xfrm>
            <a:off x="1028700" y="7616952"/>
            <a:ext cx="16230600" cy="1600200"/>
          </a:xfrm>
          <a:prstGeom prst="roundRect">
            <a:avLst>
              <a:gd name="adj" fmla="val 12571"/>
            </a:avLst>
          </a:prstGeom>
          <a:solidFill>
            <a:srgbClr val="F6ECDF"/>
          </a:solidFill>
          <a:ln w="25400">
            <a:solidFill>
              <a:srgbClr val="DF8330"/>
            </a:solidFill>
          </a:ln>
        </p:spPr>
        <p:txBody>
          <a:bodyPr anchor="ctr" rtlCol="false" lIns="0" tIns="0" rIns="0" bIns="0" wrap="square"/>
          <a:lstStyle/>
          <a:p>
            <a:endParaRPr lang="en-US" sz="1800"/>
          </a:p>
        </p:txBody>
      </p:sp>
      <p:sp>
        <p:nvSpPr>
          <p:cNvPr id="30" name="Rounded Rectangle 29"/>
          <p:cNvSpPr/>
          <p:nvPr/>
        </p:nvSpPr>
        <p:spPr>
          <a:xfrm>
            <a:off x="1348740" y="7424928"/>
            <a:ext cx="1976535"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RESEARCH GAP</a:t>
            </a:r>
          </a:p>
        </p:txBody>
      </p:sp>
      <p:sp>
        <p:nvSpPr>
          <p:cNvPr id="31" name="TextBox 30"/>
          <p:cNvSpPr txBox="1"/>
          <p:nvPr/>
        </p:nvSpPr>
        <p:spPr>
          <a:xfrm>
            <a:off x="1394460" y="7891272"/>
            <a:ext cx="15499080" cy="1188720"/>
          </a:xfrm>
          <a:prstGeom prst="rect">
            <a:avLst/>
          </a:prstGeom>
          <a:noFill/>
        </p:spPr>
        <p:txBody>
          <a:bodyPr anchor="ctr" rtlCol="false" lIns="0" tIns="0" rIns="0" bIns="0" wrap="square"/>
          <a:lstStyle/>
          <a:p>
            <a:pPr algn="l">
              <a:lnSpc>
                <a:spcPts val="3080"/>
              </a:lnSpc>
              <a:spcBef>
                <a:spcPts val="0"/>
              </a:spcBef>
              <a:buNone/>
            </a:pPr>
            <a:r>
              <a:rPr lang="en-US" sz="2200" b="true">
                <a:solidFill>
                  <a:srgbClr val="111111"/>
                </a:solidFill>
                <a:latin typeface="Nunito Semi-Bold"/>
                <a:ea typeface="Nunito Semi-Bold"/>
                <a:cs typeface="Nunito Semi-Bold"/>
                <a:sym typeface="Nunito Semi-Bold"/>
              </a:rPr>
              <a:t>No recommender uses a </a:t>
            </a:r>
            <a:r>
              <a:rPr lang="en-US" sz="2200" b="true">
                <a:solidFill>
                  <a:srgbClr val="111111"/>
                </a:solidFill>
                <a:latin typeface="Nunito Bold"/>
                <a:ea typeface="Nunito Bold"/>
                <a:cs typeface="Nunito Bold"/>
                <a:sym typeface="Nunito Bold"/>
              </a:rPr>
              <a:t>cooperative-game utility</a:t>
            </a:r>
            <a:r>
              <a:rPr lang="en-US" sz="2200" b="true">
                <a:solidFill>
                  <a:srgbClr val="111111"/>
                </a:solidFill>
                <a:latin typeface="Nunito Semi-Bold"/>
                <a:ea typeface="Nunito Semi-Bold"/>
                <a:cs typeface="Nunito Semi-Bold"/>
                <a:sym typeface="Nunito Semi-Bold"/>
              </a:rPr>
              <a:t> to decide, during training, how much each user, item and context should count, while keeping accuracy, context and diversity in the same objective.</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54</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RQ3, RQ4 and Objectives</a:t>
            </a:r>
          </a:p>
        </p:txBody>
      </p:sp>
      <p:pic>
        <p:nvPicPr>
          <p:cNvPr id="23" name="Picture 22" descr="image.png"/>
          <p:cNvPicPr>
            <a:picLocks noChangeAspect="1"/>
          </p:cNvPicPr>
          <p:nvPr/>
        </p:nvPicPr>
        <p:blipFill>
          <a:blip r:embed="rId3"/>
          <a:stretch>
            <a:fillRect/>
          </a:stretch>
        </p:blipFill>
        <p:spPr>
          <a:xfrm>
            <a:off x="7714472" y="1673352"/>
            <a:ext cx="457200" cy="446713"/>
          </a:xfrm>
          <a:prstGeom prst="rect">
            <a:avLst/>
          </a:prstGeom>
        </p:spPr>
      </p:pic>
      <p:sp>
        <p:nvSpPr>
          <p:cNvPr id="24" name="Rounded Rectangle 23"/>
          <p:cNvSpPr/>
          <p:nvPr/>
        </p:nvSpPr>
        <p:spPr>
          <a:xfrm>
            <a:off x="1028700" y="2559050"/>
            <a:ext cx="1691553"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Rounded Rectangle 27"/>
          <p:cNvSpPr/>
          <p:nvPr/>
        </p:nvSpPr>
        <p:spPr>
          <a:xfrm>
            <a:off x="1028700" y="3546602"/>
            <a:ext cx="7932420" cy="1417320"/>
          </a:xfrm>
          <a:prstGeom prst="roundRect">
            <a:avLst>
              <a:gd name="adj" fmla="val 14193"/>
            </a:avLst>
          </a:prstGeom>
          <a:solidFill>
            <a:srgbClr val="F6ECDF"/>
          </a:solidFill>
          <a:ln w="25400">
            <a:solidFill>
              <a:srgbClr val="124944"/>
            </a:solidFill>
          </a:ln>
        </p:spPr>
        <p:txBody>
          <a:bodyPr anchor="ctr" rtlCol="false" lIns="0" tIns="0" rIns="0" bIns="0" wrap="square"/>
          <a:lstStyle/>
          <a:p>
            <a:endParaRPr lang="en-US" sz="1800"/>
          </a:p>
        </p:txBody>
      </p:sp>
      <p:sp>
        <p:nvSpPr>
          <p:cNvPr id="29" name="Rounded Rectangle 28"/>
          <p:cNvSpPr/>
          <p:nvPr/>
        </p:nvSpPr>
        <p:spPr>
          <a:xfrm>
            <a:off x="1348740" y="3354578"/>
            <a:ext cx="927910" cy="384048"/>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RQ3</a:t>
            </a:r>
          </a:p>
        </p:txBody>
      </p:sp>
      <p:sp>
        <p:nvSpPr>
          <p:cNvPr id="30" name="TextBox 29"/>
          <p:cNvSpPr txBox="1"/>
          <p:nvPr/>
        </p:nvSpPr>
        <p:spPr>
          <a:xfrm>
            <a:off x="1394460" y="3820922"/>
            <a:ext cx="7200900" cy="1005840"/>
          </a:xfrm>
          <a:prstGeom prst="rect">
            <a:avLst/>
          </a:prstGeom>
          <a:noFill/>
        </p:spPr>
        <p:txBody>
          <a:bodyPr anchor="ctr" rtlCol="false" lIns="0" tIns="0" rIns="0" bIns="0" wrap="square"/>
          <a:lstStyle/>
          <a:p>
            <a:pPr algn="l">
              <a:lnSpc>
                <a:spcPts val="2660"/>
              </a:lnSpc>
              <a:spcBef>
                <a:spcPts val="0"/>
              </a:spcBef>
              <a:buNone/>
            </a:pPr>
            <a:r>
              <a:rPr lang="en-US" sz="1900" b="true">
                <a:solidFill>
                  <a:srgbClr val="111111"/>
                </a:solidFill>
                <a:latin typeface="Nunito Semi-Bold"/>
                <a:ea typeface="Nunito Semi-Bold"/>
                <a:cs typeface="Nunito Semi-Bold"/>
                <a:sym typeface="Nunito Semi-Bold"/>
              </a:rPr>
              <a:t>Can cooperative attribution move </a:t>
            </a:r>
            <a:r>
              <a:rPr lang="en-US" sz="1900" b="true">
                <a:solidFill>
                  <a:srgbClr val="111111"/>
                </a:solidFill>
                <a:latin typeface="Nunito Bold"/>
                <a:ea typeface="Nunito Bold"/>
                <a:cs typeface="Nunito Bold"/>
                <a:sym typeface="Nunito Bold"/>
              </a:rPr>
              <a:t>beyond post-hoc</a:t>
            </a:r>
            <a:r>
              <a:rPr lang="en-US" sz="1900" b="true">
                <a:solidFill>
                  <a:srgbClr val="111111"/>
                </a:solidFill>
                <a:latin typeface="Nunito Semi-Bold"/>
                <a:ea typeface="Nunito Semi-Bold"/>
                <a:cs typeface="Nunito Semi-Bold"/>
                <a:sym typeface="Nunito Semi-Bold"/>
              </a:rPr>
              <a:t> and become part of how a recommender learns?</a:t>
            </a:r>
          </a:p>
        </p:txBody>
      </p:sp>
      <p:sp>
        <p:nvSpPr>
          <p:cNvPr id="31" name="Rounded Rectangle 30"/>
          <p:cNvSpPr/>
          <p:nvPr/>
        </p:nvSpPr>
        <p:spPr>
          <a:xfrm>
            <a:off x="9326880" y="3546602"/>
            <a:ext cx="7932420" cy="1417320"/>
          </a:xfrm>
          <a:prstGeom prst="roundRect">
            <a:avLst>
              <a:gd name="adj" fmla="val 14193"/>
            </a:avLst>
          </a:prstGeom>
          <a:solidFill>
            <a:srgbClr val="F6ECDF"/>
          </a:solidFill>
          <a:ln w="25400">
            <a:solidFill>
              <a:srgbClr val="124944"/>
            </a:solidFill>
          </a:ln>
        </p:spPr>
        <p:txBody>
          <a:bodyPr anchor="ctr" rtlCol="false" lIns="0" tIns="0" rIns="0" bIns="0" wrap="square"/>
          <a:lstStyle/>
          <a:p>
            <a:endParaRPr lang="en-US" sz="1800"/>
          </a:p>
        </p:txBody>
      </p:sp>
      <p:sp>
        <p:nvSpPr>
          <p:cNvPr id="32" name="Rounded Rectangle 31"/>
          <p:cNvSpPr/>
          <p:nvPr/>
        </p:nvSpPr>
        <p:spPr>
          <a:xfrm>
            <a:off x="9646920" y="3354578"/>
            <a:ext cx="927910" cy="384048"/>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RQ4</a:t>
            </a:r>
          </a:p>
        </p:txBody>
      </p:sp>
      <p:sp>
        <p:nvSpPr>
          <p:cNvPr id="33" name="TextBox 32"/>
          <p:cNvSpPr txBox="1"/>
          <p:nvPr/>
        </p:nvSpPr>
        <p:spPr>
          <a:xfrm>
            <a:off x="9692640" y="3820922"/>
            <a:ext cx="7200900" cy="1005840"/>
          </a:xfrm>
          <a:prstGeom prst="rect">
            <a:avLst/>
          </a:prstGeom>
          <a:noFill/>
        </p:spPr>
        <p:txBody>
          <a:bodyPr anchor="ctr" rtlCol="false" lIns="0" tIns="0" rIns="0" bIns="0" wrap="square"/>
          <a:lstStyle/>
          <a:p>
            <a:pPr algn="l">
              <a:lnSpc>
                <a:spcPts val="2580"/>
              </a:lnSpc>
              <a:spcBef>
                <a:spcPts val="0"/>
              </a:spcBef>
              <a:buNone/>
            </a:pPr>
            <a:r>
              <a:rPr lang="en-US" sz="1843" b="true">
                <a:solidFill>
                  <a:srgbClr val="111111"/>
                </a:solidFill>
                <a:latin typeface="Nunito Semi-Bold"/>
                <a:ea typeface="Nunito Semi-Bold"/>
                <a:cs typeface="Nunito Semi-Bold"/>
                <a:sym typeface="Nunito Semi-Bold"/>
              </a:rPr>
              <a:t>Can it improve </a:t>
            </a:r>
            <a:r>
              <a:rPr lang="en-US" sz="1843" b="true">
                <a:solidFill>
                  <a:srgbClr val="111111"/>
                </a:solidFill>
                <a:latin typeface="Nunito Bold"/>
                <a:ea typeface="Nunito Bold"/>
                <a:cs typeface="Nunito Bold"/>
                <a:sym typeface="Nunito Bold"/>
              </a:rPr>
              <a:t>ranking accuracy, context and diversity together</a:t>
            </a:r>
            <a:r>
              <a:rPr lang="en-US" sz="1843" b="true">
                <a:solidFill>
                  <a:srgbClr val="111111"/>
                </a:solidFill>
                <a:latin typeface="Nunito Semi-Bold"/>
                <a:ea typeface="Nunito Semi-Bold"/>
                <a:cs typeface="Nunito Semi-Bold"/>
                <a:sym typeface="Nunito Semi-Bold"/>
              </a:rPr>
              <a:t> when importance comes from a cooperative-game utility?</a:t>
            </a:r>
          </a:p>
        </p:txBody>
      </p:sp>
      <p:graphicFrame>
        <p:nvGraphicFramePr>
          <p:cNvPr id="34" name="Table 33"/>
          <p:cNvGraphicFramePr>
            <a:graphicFrameLocks noGrp="1"/>
          </p:cNvGraphicFramePr>
          <p:nvPr/>
        </p:nvGraphicFramePr>
        <p:xfrm>
          <a:off x="1028700" y="5375402"/>
          <a:ext cx="16230599" cy="3291840"/>
        </p:xfrm>
        <a:graphic>
          <a:graphicData uri="http://schemas.openxmlformats.org/drawingml/2006/table">
            <a:tbl>
              <a:tblPr firstRow="0" bandRow="0" firstCol="0" lastRow="0" lastCol="0" bandCol="0">
                <a:tableStyleId>{2D5ABB26-0587-4C30-8999-92F81FD0307C}</a:tableStyleId>
              </a:tblPr>
              <a:tblGrid>
                <a:gridCol w="4785946"/>
                <a:gridCol w="7699130"/>
                <a:gridCol w="3745523"/>
              </a:tblGrid>
              <a:tr h="82296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Objective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What it delivers</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Where it is shown</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82296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O1  ·  Recommendation as a cooperative game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Users, items and contexts are the </a:t>
                      </a:r>
                      <a:r>
                        <a:rPr lang="en-US" sz="1800" b="true">
                          <a:solidFill>
                            <a:srgbClr val="111111"/>
                          </a:solidFill>
                          <a:latin typeface="Nunito Bold"/>
                          <a:ea typeface="Nunito Bold"/>
                          <a:cs typeface="Nunito Bold"/>
                          <a:sym typeface="Nunito Bold"/>
                        </a:rPr>
                        <a:t>players</a:t>
                      </a:r>
                      <a:r>
                        <a:rPr lang="en-US" sz="1800" b="true">
                          <a:solidFill>
                            <a:srgbClr val="111111"/>
                          </a:solidFill>
                          <a:latin typeface="Nunito Semi-Bold"/>
                          <a:ea typeface="Nunito Semi-Bold"/>
                          <a:cs typeface="Nunito Semi-Bold"/>
                          <a:sym typeface="Nunito Semi-Bold"/>
                        </a:rPr>
                        <a:t>; the coalition utility mixes accuracy, diversity and novelty.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Game formulation, value function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82296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O2  ·  Shapley inside message passing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Preference-aware Monte Carlo Shapley</a:t>
                      </a:r>
                      <a:r>
                        <a:rPr lang="en-US" sz="1800" b="true">
                          <a:solidFill>
                            <a:srgbClr val="111111"/>
                          </a:solidFill>
                          <a:latin typeface="Nunito Semi-Bold"/>
                          <a:ea typeface="Nunito Semi-Bold"/>
                          <a:cs typeface="Nunito Semi-Bold"/>
                          <a:sym typeface="Nunito Semi-Bold"/>
                        </a:rPr>
                        <a:t> estimates become dynamic hyperedge weights during training.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MC Shapley, architecture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822960">
                <a:tc>
                  <a:txBody>
                    <a:bodyPr anchor="ctr" rtlCol="false" lIns="0" tIns="0" rIns="0" bIns="0" wrap="square"/>
                    <a:lstStyle/>
                    <a:p>
                      <a:pPr algn="l">
                        <a:lnSpc>
                          <a:spcPts val="2340"/>
                        </a:lnSpc>
                        <a:spcBef>
                          <a:spcPts val="0"/>
                        </a:spcBef>
                        <a:buNone/>
                      </a:pPr>
                      <a:r>
                        <a:rPr lang="en-US" sz="1800" b="true">
                          <a:solidFill>
                            <a:srgbClr val="111111"/>
                          </a:solidFill>
                          <a:latin typeface="Nunito Bold"/>
                          <a:ea typeface="Nunito Bold"/>
                          <a:cs typeface="Nunito Bold"/>
                          <a:sym typeface="Nunito Bold"/>
                        </a:rPr>
                        <a:t>O3  ·  Accuracy, coverage and diversity together</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Better NDCG and Recall </a:t>
                      </a:r>
                      <a:r>
                        <a:rPr lang="en-US" sz="1800" b="true">
                          <a:solidFill>
                            <a:srgbClr val="111111"/>
                          </a:solidFill>
                          <a:latin typeface="Nunito Bold"/>
                          <a:ea typeface="Nunito Bold"/>
                          <a:cs typeface="Nunito Bold"/>
                          <a:sym typeface="Nunito Bold"/>
                        </a:rPr>
                        <a:t>and</a:t>
                      </a:r>
                      <a:r>
                        <a:rPr lang="en-US" sz="1800" b="true">
                          <a:solidFill>
                            <a:srgbClr val="111111"/>
                          </a:solidFill>
                          <a:latin typeface="Nunito Semi-Bold"/>
                          <a:ea typeface="Nunito Semi-Bold"/>
                          <a:cs typeface="Nunito Semi-Bold"/>
                          <a:sym typeface="Nunito Semi-Bold"/>
                        </a:rPr>
                        <a:t> higher Coverage and ILD than the strongest baseline, on two datasets.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340"/>
                        </a:lnSpc>
                        <a:spcBef>
                          <a:spcPts val="0"/>
                        </a:spcBef>
                        <a:buNone/>
                      </a:pPr>
                      <a:r>
                        <a:rPr lang="en-US" sz="1800" b="true">
                          <a:solidFill>
                            <a:srgbClr val="111111"/>
                          </a:solidFill>
                          <a:latin typeface="Nunito Semi-Bold"/>
                          <a:ea typeface="Nunito Semi-Bold"/>
                          <a:cs typeface="Nunito Semi-Bold"/>
                          <a:sym typeface="Nunito Semi-Bold"/>
                        </a:rPr>
                        <a:t>Table 7.1, Fig. 7.2, 7.3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55</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Recommendation as a Cooperative Game</a:t>
            </a:r>
          </a:p>
        </p:txBody>
      </p:sp>
      <p:pic>
        <p:nvPicPr>
          <p:cNvPr id="23" name="Picture 22" descr="image.png"/>
          <p:cNvPicPr>
            <a:picLocks noChangeAspect="1"/>
          </p:cNvPicPr>
          <p:nvPr/>
        </p:nvPicPr>
        <p:blipFill>
          <a:blip r:embed="rId3"/>
          <a:stretch>
            <a:fillRect/>
          </a:stretch>
        </p:blipFill>
        <p:spPr>
          <a:xfrm>
            <a:off x="11933734" y="1673352"/>
            <a:ext cx="457200" cy="452148"/>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7863840" cy="2194560"/>
          </a:xfrm>
          <a:prstGeom prst="rect">
            <a:avLst/>
          </a:prstGeom>
          <a:noFill/>
        </p:spPr>
        <p:txBody>
          <a:bodyPr anchor="t" rtlCol="false" lIns="0" tIns="0" rIns="0" bIns="0" wrap="square"/>
          <a:lstStyle/>
          <a:p>
            <a:pPr algn="l" marL="274320" indent="-274320">
              <a:lnSpc>
                <a:spcPts val="2764"/>
              </a:lnSpc>
              <a:spcBef>
                <a:spcPts val="0"/>
              </a:spcBef>
              <a:buClr>
                <a:srgbClr val="DF8330"/>
              </a:buClr>
              <a:buSzPct val="100000"/>
              <a:buFont typeface="Arial"/>
              <a:buChar char="•"/>
            </a:pPr>
            <a:r>
              <a:rPr lang="en-US" sz="1974" b="true">
                <a:solidFill>
                  <a:srgbClr val="111111"/>
                </a:solidFill>
                <a:latin typeface="Nunito Bold"/>
                <a:ea typeface="Nunito Bold"/>
                <a:cs typeface="Nunito Bold"/>
                <a:sym typeface="Nunito Bold"/>
              </a:rPr>
              <a:t>Player set N = U </a:t>
            </a:r>
            <a:r>
              <a:rPr lang="en-US" sz="1974" b="true">
                <a:solidFill>
                  <a:srgbClr val="111111"/>
                </a:solidFill>
                <a:latin typeface="Cambria Math"/>
                <a:ea typeface="Cambria Math"/>
                <a:cs typeface="Cambria Math"/>
                <a:sym typeface="Cambria Math"/>
              </a:rPr>
              <a:t>∪ </a:t>
            </a:r>
            <a:r>
              <a:rPr lang="en-US" sz="1974" b="true">
                <a:solidFill>
                  <a:srgbClr val="111111"/>
                </a:solidFill>
                <a:latin typeface="Nunito Bold"/>
                <a:ea typeface="Nunito Bold"/>
                <a:cs typeface="Nunito Bold"/>
                <a:sym typeface="Nunito Bold"/>
              </a:rPr>
              <a:t>I </a:t>
            </a:r>
            <a:r>
              <a:rPr lang="en-US" sz="1974" b="true">
                <a:solidFill>
                  <a:srgbClr val="111111"/>
                </a:solidFill>
                <a:latin typeface="Cambria Math"/>
                <a:ea typeface="Cambria Math"/>
                <a:cs typeface="Cambria Math"/>
                <a:sym typeface="Cambria Math"/>
              </a:rPr>
              <a:t>∪ </a:t>
            </a:r>
            <a:r>
              <a:rPr lang="en-US" sz="1974" b="true">
                <a:solidFill>
                  <a:srgbClr val="111111"/>
                </a:solidFill>
                <a:latin typeface="Nunito Bold"/>
                <a:ea typeface="Nunito Bold"/>
                <a:cs typeface="Nunito Bold"/>
                <a:sym typeface="Nunito Bold"/>
              </a:rPr>
              <a:t>C</a:t>
            </a:r>
            <a:r>
              <a:rPr lang="en-US" sz="1974" b="true">
                <a:solidFill>
                  <a:srgbClr val="111111"/>
                </a:solidFill>
                <a:latin typeface="Nunito Semi-Bold"/>
                <a:ea typeface="Nunito Semi-Bold"/>
                <a:cs typeface="Nunito Semi-Bold"/>
                <a:sym typeface="Nunito Semi-Bold"/>
              </a:rPr>
              <a:t> (users, items, contexts).</a:t>
            </a:r>
          </a:p>
          <a:p>
            <a:pPr algn="l" marL="274320" indent="-274320">
              <a:lnSpc>
                <a:spcPts val="2764"/>
              </a:lnSpc>
              <a:spcBef>
                <a:spcPts val="1128"/>
              </a:spcBef>
              <a:buClr>
                <a:srgbClr val="DF8330"/>
              </a:buClr>
              <a:buSzPct val="100000"/>
              <a:buFont typeface="Arial"/>
              <a:buChar char="•"/>
            </a:pPr>
            <a:r>
              <a:rPr lang="en-US" sz="1974" b="true">
                <a:solidFill>
                  <a:srgbClr val="111111"/>
                </a:solidFill>
                <a:latin typeface="Nunito Bold"/>
                <a:ea typeface="Nunito Bold"/>
                <a:cs typeface="Nunito Bold"/>
                <a:sym typeface="Nunito Bold"/>
              </a:rPr>
              <a:t>Hypergraph H = (V, E, W)</a:t>
            </a:r>
            <a:r>
              <a:rPr lang="en-US" sz="1974" b="true">
                <a:solidFill>
                  <a:srgbClr val="111111"/>
                </a:solidFill>
                <a:latin typeface="Nunito Semi-Bold"/>
                <a:ea typeface="Nunito Semi-Bold"/>
                <a:cs typeface="Nunito Semi-Bold"/>
                <a:sym typeface="Nunito Semi-Bold"/>
              </a:rPr>
              <a:t>; V = U </a:t>
            </a:r>
            <a:r>
              <a:rPr lang="en-US" sz="1974" b="true">
                <a:solidFill>
                  <a:srgbClr val="111111"/>
                </a:solidFill>
                <a:latin typeface="Cambria Math"/>
                <a:ea typeface="Cambria Math"/>
                <a:cs typeface="Cambria Math"/>
                <a:sym typeface="Cambria Math"/>
              </a:rPr>
              <a:t>∪ </a:t>
            </a:r>
            <a:r>
              <a:rPr lang="en-US" sz="1974" b="true">
                <a:solidFill>
                  <a:srgbClr val="111111"/>
                </a:solidFill>
                <a:latin typeface="Nunito Semi-Bold"/>
                <a:ea typeface="Nunito Semi-Bold"/>
                <a:cs typeface="Nunito Semi-Bold"/>
                <a:sym typeface="Nunito Semi-Bold"/>
              </a:rPr>
              <a:t>I </a:t>
            </a:r>
            <a:r>
              <a:rPr lang="en-US" sz="1974" b="true">
                <a:solidFill>
                  <a:srgbClr val="111111"/>
                </a:solidFill>
                <a:latin typeface="Cambria Math"/>
                <a:ea typeface="Cambria Math"/>
                <a:cs typeface="Cambria Math"/>
                <a:sym typeface="Cambria Math"/>
              </a:rPr>
              <a:t>∪ </a:t>
            </a:r>
            <a:r>
              <a:rPr lang="en-US" sz="1974" b="true">
                <a:solidFill>
                  <a:srgbClr val="111111"/>
                </a:solidFill>
                <a:latin typeface="Nunito Semi-Bold"/>
                <a:ea typeface="Nunito Semi-Bold"/>
                <a:cs typeface="Nunito Semi-Bold"/>
                <a:sym typeface="Nunito Semi-Bold"/>
              </a:rPr>
              <a:t>C; </a:t>
            </a:r>
            <a:r>
              <a:rPr lang="en-US" sz="1974" b="true">
                <a:solidFill>
                  <a:srgbClr val="111111"/>
                </a:solidFill>
                <a:latin typeface="Nunito Bold"/>
                <a:ea typeface="Nunito Bold"/>
                <a:cs typeface="Nunito Bold"/>
                <a:sym typeface="Nunito Bold"/>
              </a:rPr>
              <a:t>W = dynamic edge weights</a:t>
            </a:r>
            <a:r>
              <a:rPr lang="en-US" sz="1974" b="true">
                <a:solidFill>
                  <a:srgbClr val="111111"/>
                </a:solidFill>
                <a:latin typeface="Nunito Semi-Bold"/>
                <a:ea typeface="Nunito Semi-Bold"/>
                <a:cs typeface="Nunito Semi-Bold"/>
                <a:sym typeface="Nunito Semi-Bold"/>
              </a:rPr>
              <a:t> from Shapley estimates.</a:t>
            </a:r>
          </a:p>
          <a:p>
            <a:pPr algn="l" marL="274320" indent="-274320">
              <a:lnSpc>
                <a:spcPts val="2764"/>
              </a:lnSpc>
              <a:spcBef>
                <a:spcPts val="1128"/>
              </a:spcBef>
              <a:buClr>
                <a:srgbClr val="DF8330"/>
              </a:buClr>
              <a:buSzPct val="100000"/>
              <a:buFont typeface="Arial"/>
              <a:buChar char="•"/>
            </a:pPr>
            <a:r>
              <a:rPr lang="en-US" sz="1974" b="true">
                <a:solidFill>
                  <a:srgbClr val="111111"/>
                </a:solidFill>
                <a:latin typeface="Nunito Semi-Bold"/>
                <a:ea typeface="Nunito Semi-Bold"/>
                <a:cs typeface="Nunito Semi-Bold"/>
                <a:sym typeface="Nunito Semi-Bold"/>
              </a:rPr>
              <a:t>A </a:t>
            </a:r>
            <a:r>
              <a:rPr lang="en-US" sz="1974" b="true">
                <a:solidFill>
                  <a:srgbClr val="111111"/>
                </a:solidFill>
                <a:latin typeface="Nunito Bold"/>
                <a:ea typeface="Nunito Bold"/>
                <a:cs typeface="Nunito Bold"/>
                <a:sym typeface="Nunito Bold"/>
              </a:rPr>
              <a:t>coalition S </a:t>
            </a:r>
            <a:r>
              <a:rPr lang="en-US" sz="1974" b="true">
                <a:solidFill>
                  <a:srgbClr val="111111"/>
                </a:solidFill>
                <a:latin typeface="Cambria Math"/>
                <a:ea typeface="Cambria Math"/>
                <a:cs typeface="Cambria Math"/>
                <a:sym typeface="Cambria Math"/>
              </a:rPr>
              <a:t>⊆ </a:t>
            </a:r>
            <a:r>
              <a:rPr lang="en-US" sz="1974" b="true">
                <a:solidFill>
                  <a:srgbClr val="111111"/>
                </a:solidFill>
                <a:latin typeface="Nunito Bold"/>
                <a:ea typeface="Nunito Bold"/>
                <a:cs typeface="Nunito Bold"/>
                <a:sym typeface="Nunito Bold"/>
              </a:rPr>
              <a:t>N</a:t>
            </a:r>
            <a:r>
              <a:rPr lang="en-US" sz="1974" b="true">
                <a:solidFill>
                  <a:srgbClr val="111111"/>
                </a:solidFill>
                <a:latin typeface="Nunito Semi-Bold"/>
                <a:ea typeface="Nunito Semi-Bold"/>
                <a:cs typeface="Nunito Semi-Bold"/>
                <a:sym typeface="Nunito Semi-Bold"/>
              </a:rPr>
              <a:t> is the set of entities taking part in a recommendation episode.</a:t>
            </a:r>
          </a:p>
        </p:txBody>
      </p:sp>
      <p:sp>
        <p:nvSpPr>
          <p:cNvPr id="29" name="Rounded Rectangle 28"/>
          <p:cNvSpPr/>
          <p:nvPr/>
        </p:nvSpPr>
        <p:spPr>
          <a:xfrm>
            <a:off x="1028700" y="5649722"/>
            <a:ext cx="7863840" cy="1417320"/>
          </a:xfrm>
          <a:prstGeom prst="roundRect">
            <a:avLst>
              <a:gd name="adj" fmla="val 16129"/>
            </a:avLst>
          </a:prstGeom>
          <a:solidFill>
            <a:srgbClr val="124944"/>
          </a:solidFill>
          <a:ln>
            <a:noFill/>
          </a:ln>
        </p:spPr>
        <p:txBody>
          <a:bodyPr anchor="ctr" rtlCol="false" lIns="0" tIns="0" rIns="0" bIns="0" wrap="square"/>
          <a:lstStyle/>
          <a:p>
            <a:endParaRPr lang="en-US" sz="1800"/>
          </a:p>
        </p:txBody>
      </p:sp>
      <mc:AlternateContent xmlns:mc="http://schemas.openxmlformats.org/markup-compatibility/2006">
        <mc:Choice xmlns:a14="http://schemas.microsoft.com/office/drawing/2010/main" Requires="a14">
          <p:sp>
            <p:nvSpPr>
              <p:cNvPr id="30" name="Equation"/>
              <p:cNvSpPr txBox="1"/>
              <p:nvPr/>
            </p:nvSpPr>
            <p:spPr>
              <a:xfrm>
                <a:off x="1257300" y="5759450"/>
                <a:ext cx="7406640" cy="658368"/>
              </a:xfrm>
              <a:prstGeom prst="rect">
                <a:avLst/>
              </a:prstGeom>
              <a:noFill/>
            </p:spPr>
            <p:txBody>
              <a:bodyPr wrap="none" rtlCol="0" anchor="ctr" lIns="0" tIns="0" rIns="0" bIns="0"/>
              <a:lstStyle/>
              <a:p>
                <a:pPr algn="ctr"/>
                <a14:m xmlns:m="http://schemas.openxmlformats.org/officeDocument/2006/math">
                  <m:oMathPara>
                    <m:oMathParaPr>
                      <m:jc m:val="centerGroup"/>
                    </m:oMathParaPr>
                    <m:oMath>
                      <m:r>
                        <a:rPr lang="en-US" sz="1800" i="1">
                          <a:solidFill>
                            <a:srgbClr val="FFFFFF"/>
                          </a:solidFill>
                          <a:latin typeface="Cambria Math" panose="02040503050406030204" pitchFamily="18" charset="0"/>
                        </a:rPr>
                        <m:t xml:space="preserve">v</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S</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α</m:t>
                      </m:r>
                      <m:r>
                        <m:rPr>
                          <m:sty m:val="p"/>
                        </m:rPr>
                        <a:rPr lang="en-US" sz="1800">
                          <a:solidFill>
                            <a:srgbClr val="FFFFFF"/>
                          </a:solidFill>
                          <a:latin typeface="Cambria Math" panose="02040503050406030204" pitchFamily="18" charset="0"/>
                        </a:rPr>
                        <m:t xml:space="preserve">·NDCG@20(</m:t>
                      </m:r>
                      <m:r>
                        <a:rPr lang="en-US" sz="1800" i="1">
                          <a:solidFill>
                            <a:srgbClr val="FFFFFF"/>
                          </a:solidFill>
                          <a:latin typeface="Cambria Math" panose="02040503050406030204" pitchFamily="18" charset="0"/>
                        </a:rPr>
                        <m:t xml:space="preserve">S</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β</m:t>
                      </m:r>
                      <m:r>
                        <m:rPr>
                          <m:sty m:val="p"/>
                        </m:rPr>
                        <a:rPr lang="en-US" sz="1800">
                          <a:solidFill>
                            <a:srgbClr val="FFFFFF"/>
                          </a:solidFill>
                          <a:latin typeface="Cambria Math" panose="02040503050406030204" pitchFamily="18" charset="0"/>
                        </a:rPr>
                        <m:t xml:space="preserve">·Diversity(</m:t>
                      </m:r>
                      <m:r>
                        <a:rPr lang="en-US" sz="1800" i="1">
                          <a:solidFill>
                            <a:srgbClr val="FFFFFF"/>
                          </a:solidFill>
                          <a:latin typeface="Cambria Math" panose="02040503050406030204" pitchFamily="18" charset="0"/>
                        </a:rPr>
                        <m:t xml:space="preserve">S</m:t>
                      </m:r>
                      <m:r>
                        <m:rPr>
                          <m:sty m:val="p"/>
                        </m:rPr>
                        <a:rPr lang="en-US" sz="1800">
                          <a:solidFill>
                            <a:srgbClr val="FFFFFF"/>
                          </a:solidFill>
                          <a:latin typeface="Cambria Math" panose="02040503050406030204" pitchFamily="18" charset="0"/>
                        </a:rPr>
                        <m:t xml:space="preserve">)+</m:t>
                      </m:r>
                      <m:r>
                        <a:rPr lang="en-US" sz="1800" i="1">
                          <a:solidFill>
                            <a:srgbClr val="FFFFFF"/>
                          </a:solidFill>
                          <a:latin typeface="Cambria Math" panose="02040503050406030204" pitchFamily="18" charset="0"/>
                        </a:rPr>
                        <m:t xml:space="preserve">γ</m:t>
                      </m:r>
                      <m:r>
                        <m:rPr>
                          <m:sty m:val="p"/>
                        </m:rPr>
                        <a:rPr lang="en-US" sz="1800">
                          <a:solidFill>
                            <a:srgbClr val="FFFFFF"/>
                          </a:solidFill>
                          <a:latin typeface="Cambria Math" panose="02040503050406030204" pitchFamily="18" charset="0"/>
                        </a:rPr>
                        <m:t xml:space="preserve">·ContextScore(</m:t>
                      </m:r>
                      <m:r>
                        <a:rPr lang="en-US" sz="1800" i="1">
                          <a:solidFill>
                            <a:srgbClr val="FFFFFF"/>
                          </a:solidFill>
                          <a:latin typeface="Cambria Math" panose="02040503050406030204" pitchFamily="18" charset="0"/>
                        </a:rPr>
                        <m:t xml:space="preserve">S</m:t>
                      </m:r>
                      <m:r>
                        <m:rPr>
                          <m:sty m:val="p"/>
                        </m:rPr>
                        <a:rPr lang="en-US" sz="1800">
                          <a:solidFill>
                            <a:srgbClr val="FFFFFF"/>
                          </a:solidFill>
                          <a:latin typeface="Cambria Math" panose="02040503050406030204" pitchFamily="18" charset="0"/>
                        </a:rPr>
                        <m:t xml:space="preserve">)</m:t>
                      </m:r>
                    </m:oMath>
                  </m:oMathPara>
                </a14:m>
                <a:endParaRPr lang="en-US" sz="1800"/>
              </a:p>
            </p:txBody>
          </p:sp>
        </mc:Choice>
        <mc:Fallback>
          <p:sp>
            <p:nvSpPr>
              <p:cNvPr id="30" name="Equation"/>
              <p:cNvSpPr txBox="1"/>
              <p:nvPr/>
            </p:nvSpPr>
            <p:spPr>
              <a:xfrm>
                <a:off x="1257300" y="5759450"/>
                <a:ext cx="7406640" cy="658368"/>
              </a:xfrm>
              <a:prstGeom prst="rect">
                <a:avLst/>
              </a:prstGeom>
              <a:blipFill>
                <a:blip r:embed="rId5"/>
                <a:stretch>
                  <a:fillRect/>
                </a:stretch>
              </a:blipFill>
            </p:spPr>
            <p:txBody>
              <a:bodyPr/>
              <a:lstStyle/>
              <a:p>
                <a:endParaRPr lang="en-US"/>
              </a:p>
            </p:txBody>
          </p:sp>
        </mc:Fallback>
      </mc:AlternateContent>
      <mc:AlternateContent xmlns:mc="http://schemas.openxmlformats.org/markup-compatibility/2006">
        <mc:Choice xmlns:a14="http://schemas.microsoft.com/office/drawing/2010/main" Requires="a14">
          <p:sp>
            <p:nvSpPr>
              <p:cNvPr id="31" name="Equation"/>
              <p:cNvSpPr txBox="1"/>
              <p:nvPr/>
            </p:nvSpPr>
            <p:spPr>
              <a:xfrm>
                <a:off x="1257300" y="6426962"/>
                <a:ext cx="7406640" cy="548640"/>
              </a:xfrm>
              <a:prstGeom prst="rect">
                <a:avLst/>
              </a:prstGeom>
              <a:noFill/>
            </p:spPr>
            <p:txBody>
              <a:bodyPr wrap="none" rtlCol="0" anchor="ctr" lIns="0" tIns="0" rIns="0" bIns="0"/>
              <a:lstStyle/>
              <a:p>
                <a:pPr algn="ctr"/>
                <a14:m xmlns:m="http://schemas.openxmlformats.org/officeDocument/2006/math">
                  <m:oMathPara>
                    <m:oMathParaPr>
                      <m:jc m:val="centerGroup"/>
                    </m:oMathParaPr>
                    <m:oMath>
                      <m:r>
                        <a:rPr lang="en-US" sz="1800" i="1">
                          <a:solidFill>
                            <a:srgbClr val="ECC665"/>
                          </a:solidFill>
                          <a:latin typeface="Cambria Math" panose="02040503050406030204" pitchFamily="18" charset="0"/>
                        </a:rPr>
                        <m:t xml:space="preserve">α</m:t>
                      </m:r>
                      <m:r>
                        <m:rPr>
                          <m:sty m:val="p"/>
                        </m:rPr>
                        <a:rPr lang="en-US" sz="1800">
                          <a:solidFill>
                            <a:srgbClr val="ECC665"/>
                          </a:solidFill>
                          <a:latin typeface="Cambria Math" panose="02040503050406030204" pitchFamily="18" charset="0"/>
                        </a:rPr>
                        <m:t xml:space="preserve">=0.60,  </m:t>
                      </m:r>
                      <m:r>
                        <a:rPr lang="en-US" sz="1800" i="1">
                          <a:solidFill>
                            <a:srgbClr val="ECC665"/>
                          </a:solidFill>
                          <a:latin typeface="Cambria Math" panose="02040503050406030204" pitchFamily="18" charset="0"/>
                        </a:rPr>
                        <m:t xml:space="preserve">β</m:t>
                      </m:r>
                      <m:r>
                        <m:rPr>
                          <m:sty m:val="p"/>
                        </m:rPr>
                        <a:rPr lang="en-US" sz="1800">
                          <a:solidFill>
                            <a:srgbClr val="ECC665"/>
                          </a:solidFill>
                          <a:latin typeface="Cambria Math" panose="02040503050406030204" pitchFamily="18" charset="0"/>
                        </a:rPr>
                        <m:t xml:space="preserve">=0.25,  </m:t>
                      </m:r>
                      <m:r>
                        <a:rPr lang="en-US" sz="1800" i="1">
                          <a:solidFill>
                            <a:srgbClr val="ECC665"/>
                          </a:solidFill>
                          <a:latin typeface="Cambria Math" panose="02040503050406030204" pitchFamily="18" charset="0"/>
                        </a:rPr>
                        <m:t xml:space="preserve">γ</m:t>
                      </m:r>
                      <m:r>
                        <m:rPr>
                          <m:sty m:val="p"/>
                        </m:rPr>
                        <a:rPr lang="en-US" sz="1800">
                          <a:solidFill>
                            <a:srgbClr val="ECC665"/>
                          </a:solidFill>
                          <a:latin typeface="Cambria Math" panose="02040503050406030204" pitchFamily="18" charset="0"/>
                        </a:rPr>
                        <m:t xml:space="preserve">=0.15,  </m:t>
                      </m:r>
                      <m:r>
                        <a:rPr lang="en-US" sz="1800" i="1">
                          <a:solidFill>
                            <a:srgbClr val="ECC665"/>
                          </a:solidFill>
                          <a:latin typeface="Cambria Math" panose="02040503050406030204" pitchFamily="18" charset="0"/>
                        </a:rPr>
                        <m:t xml:space="preserve">α</m:t>
                      </m:r>
                      <m:r>
                        <m:rPr>
                          <m:sty m:val="p"/>
                        </m:rPr>
                        <a:rPr lang="en-US" sz="1800">
                          <a:solidFill>
                            <a:srgbClr val="ECC665"/>
                          </a:solidFill>
                          <a:latin typeface="Cambria Math" panose="02040503050406030204" pitchFamily="18" charset="0"/>
                        </a:rPr>
                        <m:t xml:space="preserve">+</m:t>
                      </m:r>
                      <m:r>
                        <a:rPr lang="en-US" sz="1800" i="1">
                          <a:solidFill>
                            <a:srgbClr val="ECC665"/>
                          </a:solidFill>
                          <a:latin typeface="Cambria Math" panose="02040503050406030204" pitchFamily="18" charset="0"/>
                        </a:rPr>
                        <m:t xml:space="preserve">β</m:t>
                      </m:r>
                      <m:r>
                        <m:rPr>
                          <m:sty m:val="p"/>
                        </m:rPr>
                        <a:rPr lang="en-US" sz="1800">
                          <a:solidFill>
                            <a:srgbClr val="ECC665"/>
                          </a:solidFill>
                          <a:latin typeface="Cambria Math" panose="02040503050406030204" pitchFamily="18" charset="0"/>
                        </a:rPr>
                        <m:t xml:space="preserve">+</m:t>
                      </m:r>
                      <m:r>
                        <a:rPr lang="en-US" sz="1800" i="1">
                          <a:solidFill>
                            <a:srgbClr val="ECC665"/>
                          </a:solidFill>
                          <a:latin typeface="Cambria Math" panose="02040503050406030204" pitchFamily="18" charset="0"/>
                        </a:rPr>
                        <m:t xml:space="preserve">γ</m:t>
                      </m:r>
                      <m:r>
                        <m:rPr>
                          <m:sty m:val="p"/>
                        </m:rPr>
                        <a:rPr lang="en-US" sz="1800">
                          <a:solidFill>
                            <a:srgbClr val="ECC665"/>
                          </a:solidFill>
                          <a:latin typeface="Cambria Math" panose="02040503050406030204" pitchFamily="18" charset="0"/>
                        </a:rPr>
                        <m:t xml:space="preserve">=1</m:t>
                      </m:r>
                    </m:oMath>
                  </m:oMathPara>
                </a14:m>
                <a:endParaRPr lang="en-US" sz="1800"/>
              </a:p>
            </p:txBody>
          </p:sp>
        </mc:Choice>
        <mc:Fallback>
          <p:sp>
            <p:nvSpPr>
              <p:cNvPr id="31" name="Equation"/>
              <p:cNvSpPr txBox="1"/>
              <p:nvPr/>
            </p:nvSpPr>
            <p:spPr>
              <a:xfrm>
                <a:off x="1257300" y="6426962"/>
                <a:ext cx="7406640" cy="548640"/>
              </a:xfrm>
              <a:prstGeom prst="rect">
                <a:avLst/>
              </a:prstGeom>
              <a:blipFill>
                <a:blip r:embed="rId6"/>
                <a:stretch>
                  <a:fillRect/>
                </a:stretch>
              </a:blipFill>
            </p:spPr>
            <p:txBody>
              <a:bodyPr/>
              <a:lstStyle/>
              <a:p>
                <a:endParaRPr lang="en-US"/>
              </a:p>
            </p:txBody>
          </p:sp>
        </mc:Fallback>
      </mc:AlternateContent>
      <p:sp>
        <p:nvSpPr>
          <p:cNvPr id="32" name="TextBox 31"/>
          <p:cNvSpPr txBox="1"/>
          <p:nvPr/>
        </p:nvSpPr>
        <p:spPr>
          <a:xfrm>
            <a:off x="1028700" y="7249922"/>
            <a:ext cx="7863840" cy="2058670"/>
          </a:xfrm>
          <a:prstGeom prst="rect">
            <a:avLst/>
          </a:prstGeom>
          <a:noFill/>
        </p:spPr>
        <p:txBody>
          <a:bodyPr anchor="t" rtlCol="false" lIns="0" tIns="0" rIns="0" bIns="0" wrap="square"/>
          <a:lstStyle/>
          <a:p>
            <a:pPr algn="l">
              <a:lnSpc>
                <a:spcPts val="2520"/>
              </a:lnSpc>
              <a:spcBef>
                <a:spcPts val="0"/>
              </a:spcBef>
              <a:buNone/>
            </a:pPr>
            <a:r>
              <a:rPr lang="en-US" sz="1800" b="true">
                <a:solidFill>
                  <a:srgbClr val="111111"/>
                </a:solidFill>
                <a:latin typeface="Nunito Semi-Bold"/>
                <a:ea typeface="Nunito Semi-Bold"/>
                <a:cs typeface="Nunito Semi-Bold"/>
                <a:sym typeface="Nunito Semi-Bold"/>
              </a:rPr>
              <a:t>Preference term </a:t>
            </a:r>
            <a:r>
              <a:rPr lang="en-US" sz="1800" b="true">
                <a:solidFill>
                  <a:srgbClr val="111111"/>
                </a:solidFill>
                <a:latin typeface="Nunito Bold"/>
                <a:ea typeface="Nunito Bold"/>
                <a:cs typeface="Nunito Bold"/>
                <a:sym typeface="Nunito Bold"/>
              </a:rPr>
              <a:t>v</a:t>
            </a:r>
            <a:r>
              <a:rPr lang="en-US" sz="1800" b="true" baseline="-25000">
                <a:solidFill>
                  <a:srgbClr val="111111"/>
                </a:solidFill>
                <a:latin typeface="Nunito Bold"/>
                <a:ea typeface="Nunito Bold"/>
                <a:cs typeface="Nunito Bold"/>
                <a:sym typeface="Nunito Bold"/>
              </a:rPr>
              <a:t>pref</a:t>
            </a:r>
            <a:r>
              <a:rPr lang="en-US" sz="1800" b="true">
                <a:solidFill>
                  <a:srgbClr val="111111"/>
                </a:solidFill>
                <a:latin typeface="Nunito Bold"/>
                <a:ea typeface="Nunito Bold"/>
                <a:cs typeface="Nunito Bold"/>
                <a:sym typeface="Nunito Bold"/>
              </a:rPr>
              <a:t>(S) = v(S) + </a:t>
            </a:r>
            <a:r>
              <a:rPr lang="en-US" sz="1800" b="true">
                <a:solidFill>
                  <a:srgbClr val="111111"/>
                </a:solidFill>
                <a:latin typeface="Calibri"/>
                <a:ea typeface="Calibri"/>
                <a:cs typeface="Calibri"/>
                <a:sym typeface="Calibri"/>
              </a:rPr>
              <a:t>λ</a:t>
            </a:r>
            <a:r>
              <a:rPr lang="en-US" sz="1800" b="true" baseline="-25000">
                <a:solidFill>
                  <a:srgbClr val="111111"/>
                </a:solidFill>
                <a:latin typeface="Nunito Bold"/>
                <a:ea typeface="Nunito Bold"/>
                <a:cs typeface="Nunito Bold"/>
                <a:sym typeface="Nunito Bold"/>
              </a:rPr>
              <a:t>pref</a:t>
            </a:r>
            <a:r>
              <a:rPr lang="en-US" sz="1800" b="true">
                <a:solidFill>
                  <a:srgbClr val="111111"/>
                </a:solidFill>
                <a:latin typeface="Nunito Bold"/>
                <a:ea typeface="Nunito Bold"/>
                <a:cs typeface="Nunito Bold"/>
                <a:sym typeface="Nunito Bold"/>
              </a:rPr>
              <a:t> Σ sim(u,i)</a:t>
            </a:r>
            <a:r>
              <a:rPr lang="en-US" sz="1800" b="true">
                <a:solidFill>
                  <a:srgbClr val="111111"/>
                </a:solidFill>
                <a:latin typeface="Nunito Semi-Bold"/>
                <a:ea typeface="Nunito Semi-Bold"/>
                <a:cs typeface="Nunito Semi-Bold"/>
                <a:sym typeface="Nunito Semi-Bold"/>
              </a:rPr>
              <a:t>, </a:t>
            </a:r>
            <a:r>
              <a:rPr lang="en-US" sz="1800" b="true">
                <a:solidFill>
                  <a:srgbClr val="111111"/>
                </a:solidFill>
                <a:latin typeface="Calibri"/>
                <a:ea typeface="Calibri"/>
                <a:cs typeface="Calibri"/>
                <a:sym typeface="Calibri"/>
              </a:rPr>
              <a:t>λ</a:t>
            </a:r>
            <a:r>
              <a:rPr lang="en-US" sz="1800" b="true" baseline="-25000">
                <a:solidFill>
                  <a:srgbClr val="111111"/>
                </a:solidFill>
                <a:latin typeface="Nunito Semi-Bold"/>
                <a:ea typeface="Nunito Semi-Bold"/>
                <a:cs typeface="Nunito Semi-Bold"/>
                <a:sym typeface="Nunito Semi-Bold"/>
              </a:rPr>
              <a:t>pref</a:t>
            </a:r>
            <a:r>
              <a:rPr lang="en-US" sz="1800" b="true">
                <a:solidFill>
                  <a:srgbClr val="111111"/>
                </a:solidFill>
                <a:latin typeface="Nunito Semi-Bold"/>
                <a:ea typeface="Nunito Semi-Bold"/>
                <a:cs typeface="Nunito Semi-Bold"/>
                <a:sym typeface="Nunito Semi-Bold"/>
              </a:rPr>
              <a:t> = 0.20; weights grid-searched, </a:t>
            </a:r>
            <a:r>
              <a:rPr lang="en-US" sz="1800" b="true">
                <a:solidFill>
                  <a:srgbClr val="111111"/>
                </a:solidFill>
                <a:latin typeface="Nunito Bold"/>
                <a:ea typeface="Nunito Bold"/>
                <a:cs typeface="Nunito Bold"/>
                <a:sym typeface="Nunito Bold"/>
              </a:rPr>
              <a:t>&lt; 1.5 % variance</a:t>
            </a:r>
            <a:r>
              <a:rPr lang="en-US" sz="1800" b="true">
                <a:solidFill>
                  <a:srgbClr val="111111"/>
                </a:solidFill>
                <a:latin typeface="Nunito Semi-Bold"/>
                <a:ea typeface="Nunito Semi-Bold"/>
                <a:cs typeface="Nunito Semi-Bold"/>
                <a:sym typeface="Nunito Semi-Bold"/>
              </a:rPr>
              <a:t> in NDCG@20.</a:t>
            </a:r>
          </a:p>
          <a:p>
            <a:pPr algn="l">
              <a:lnSpc>
                <a:spcPts val="2520"/>
              </a:lnSpc>
              <a:spcBef>
                <a:spcPts val="800"/>
              </a:spcBef>
              <a:buNone/>
            </a:pPr>
            <a:r>
              <a:rPr lang="en-US" sz="1800" b="true">
                <a:solidFill>
                  <a:srgbClr val="111111"/>
                </a:solidFill>
                <a:latin typeface="Nunito Semi-Bold"/>
                <a:ea typeface="Nunito Semi-Bold"/>
                <a:cs typeface="Nunito Semi-Bold"/>
                <a:sym typeface="Nunito Semi-Bold"/>
              </a:rPr>
              <a:t>The </a:t>
            </a:r>
            <a:r>
              <a:rPr lang="en-US" sz="1800" b="true">
                <a:solidFill>
                  <a:srgbClr val="111111"/>
                </a:solidFill>
                <a:latin typeface="Nunito Bold"/>
                <a:ea typeface="Nunito Bold"/>
                <a:cs typeface="Nunito Bold"/>
                <a:sym typeface="Nunito Bold"/>
              </a:rPr>
              <a:t>same trade-off</a:t>
            </a:r>
            <a:r>
              <a:rPr lang="en-US" sz="1800" b="true">
                <a:solidFill>
                  <a:srgbClr val="111111"/>
                </a:solidFill>
                <a:latin typeface="Nunito Semi-Bold"/>
                <a:ea typeface="Nunito Semi-Bold"/>
                <a:cs typeface="Nunito Semi-Bold"/>
                <a:sym typeface="Nunito Semi-Bold"/>
              </a:rPr>
              <a:t> the recommender must satisfy is the one from which attribution is computed: explanatory game and predictive objective are </a:t>
            </a:r>
            <a:r>
              <a:rPr lang="en-US" sz="1800" b="true">
                <a:solidFill>
                  <a:srgbClr val="111111"/>
                </a:solidFill>
                <a:latin typeface="Nunito Bold"/>
                <a:ea typeface="Nunito Bold"/>
                <a:cs typeface="Nunito Bold"/>
                <a:sym typeface="Nunito Bold"/>
              </a:rPr>
              <a:t>aligned by design</a:t>
            </a:r>
            <a:r>
              <a:rPr lang="en-US" sz="1800" b="true">
                <a:solidFill>
                  <a:srgbClr val="111111"/>
                </a:solidFill>
                <a:latin typeface="Nunito Semi-Bold"/>
                <a:ea typeface="Nunito Semi-Bold"/>
                <a:cs typeface="Nunito Semi-Bold"/>
                <a:sym typeface="Nunito Semi-Bold"/>
              </a:rPr>
              <a:t>.</a:t>
            </a:r>
          </a:p>
        </p:txBody>
      </p:sp>
      <p:sp>
        <p:nvSpPr>
          <p:cNvPr id="33" name="TextBox 32"/>
          <p:cNvSpPr txBox="1"/>
          <p:nvPr/>
        </p:nvSpPr>
        <p:spPr>
          <a:xfrm>
            <a:off x="9441180" y="3363722"/>
            <a:ext cx="7818120" cy="365760"/>
          </a:xfrm>
          <a:prstGeom prst="rect">
            <a:avLst/>
          </a:prstGeom>
          <a:noFill/>
        </p:spPr>
        <p:txBody>
          <a:bodyPr anchor="t" rtlCol="false" lIns="0" tIns="0" rIns="0" bIns="0" wrap="square"/>
          <a:lstStyle/>
          <a:p>
            <a:pPr algn="ctr">
              <a:lnSpc>
                <a:spcPts val="1800"/>
              </a:lnSpc>
              <a:spcBef>
                <a:spcPts val="0"/>
              </a:spcBef>
              <a:buNone/>
            </a:pPr>
            <a:r>
              <a:rPr lang="en-US" sz="1400" b="true" spc="160">
                <a:solidFill>
                  <a:srgbClr val="DF8330"/>
                </a:solidFill>
                <a:latin typeface="Nunito Ultra-Bold"/>
                <a:ea typeface="Nunito Ultra-Bold"/>
                <a:cs typeface="Nunito Ultra-Bold"/>
                <a:sym typeface="Nunito Ultra-Bold"/>
              </a:rPr>
              <a:t>PLAYERS AND COALITIONS</a:t>
            </a:r>
          </a:p>
        </p:txBody>
      </p:sp>
      <p:sp>
        <p:nvSpPr>
          <p:cNvPr id="34" name="Rounded Rectangle 33"/>
          <p:cNvSpPr/>
          <p:nvPr/>
        </p:nvSpPr>
        <p:spPr>
          <a:xfrm>
            <a:off x="9715500" y="3912362"/>
            <a:ext cx="7269480" cy="2834640"/>
          </a:xfrm>
          <a:prstGeom prst="roundRect">
            <a:avLst>
              <a:gd name="adj" fmla="val 19354"/>
            </a:avLst>
          </a:prstGeom>
          <a:solidFill>
            <a:srgbClr val="F6ECDF"/>
          </a:solidFill>
          <a:ln>
            <a:noFill/>
          </a:ln>
        </p:spPr>
        <p:txBody>
          <a:bodyPr anchor="ctr" rtlCol="false" lIns="0" tIns="0" rIns="0" bIns="0" wrap="square"/>
          <a:lstStyle/>
          <a:p>
            <a:endParaRPr lang="en-US" sz="1800"/>
          </a:p>
        </p:txBody>
      </p:sp>
      <p:sp>
        <p:nvSpPr>
          <p:cNvPr id="35" name="TextBox 34"/>
          <p:cNvSpPr txBox="1"/>
          <p:nvPr/>
        </p:nvSpPr>
        <p:spPr>
          <a:xfrm>
            <a:off x="9441180" y="4022090"/>
            <a:ext cx="7818120" cy="365760"/>
          </a:xfrm>
          <a:prstGeom prst="rect">
            <a:avLst/>
          </a:prstGeom>
          <a:noFill/>
        </p:spPr>
        <p:txBody>
          <a:bodyPr anchor="t" rtlCol="false" lIns="0" tIns="0" rIns="0" bIns="0" wrap="square"/>
          <a:lstStyle/>
          <a:p>
            <a:pPr algn="ctr">
              <a:lnSpc>
                <a:spcPts val="1800"/>
              </a:lnSpc>
              <a:spcBef>
                <a:spcPts val="0"/>
              </a:spcBef>
              <a:buNone/>
            </a:pPr>
            <a:r>
              <a:rPr lang="en-US" sz="1500" b="true">
                <a:solidFill>
                  <a:srgbClr val="8A8378"/>
                </a:solidFill>
                <a:latin typeface="Nunito Bold"/>
                <a:ea typeface="Nunito Bold"/>
                <a:cs typeface="Nunito Bold"/>
                <a:sym typeface="Nunito Bold"/>
              </a:rPr>
              <a:t>coalition S </a:t>
            </a:r>
            <a:r>
              <a:rPr lang="en-US" sz="1500" b="true">
                <a:solidFill>
                  <a:srgbClr val="8A8378"/>
                </a:solidFill>
                <a:latin typeface="Cambria Math"/>
                <a:ea typeface="Cambria Math"/>
                <a:cs typeface="Cambria Math"/>
                <a:sym typeface="Cambria Math"/>
              </a:rPr>
              <a:t>⊆ </a:t>
            </a:r>
            <a:r>
              <a:rPr lang="en-US" sz="1500" b="true">
                <a:solidFill>
                  <a:srgbClr val="8A8378"/>
                </a:solidFill>
                <a:latin typeface="Nunito Bold"/>
                <a:ea typeface="Nunito Bold"/>
                <a:cs typeface="Nunito Bold"/>
                <a:sym typeface="Nunito Bold"/>
              </a:rPr>
              <a:t>N  ·  hyperedge e </a:t>
            </a:r>
            <a:r>
              <a:rPr lang="en-US" sz="1500" b="true">
                <a:solidFill>
                  <a:srgbClr val="8A8378"/>
                </a:solidFill>
                <a:latin typeface="Cambria Math"/>
                <a:ea typeface="Cambria Math"/>
                <a:cs typeface="Cambria Math"/>
                <a:sym typeface="Cambria Math"/>
              </a:rPr>
              <a:t>∈ </a:t>
            </a:r>
            <a:r>
              <a:rPr lang="en-US" sz="1500" b="true">
                <a:solidFill>
                  <a:srgbClr val="8A8378"/>
                </a:solidFill>
                <a:latin typeface="Nunito Bold"/>
                <a:ea typeface="Nunito Bold"/>
                <a:cs typeface="Nunito Bold"/>
                <a:sym typeface="Nunito Bold"/>
              </a:rPr>
              <a:t>E</a:t>
            </a:r>
          </a:p>
        </p:txBody>
      </p:sp>
      <p:sp>
        <p:nvSpPr>
          <p:cNvPr id="36" name="Oval 35"/>
          <p:cNvSpPr/>
          <p:nvPr/>
        </p:nvSpPr>
        <p:spPr>
          <a:xfrm>
            <a:off x="10165080" y="4598162"/>
            <a:ext cx="1737360" cy="1737360"/>
          </a:xfrm>
          <a:prstGeom prst="ellipse">
            <a:avLst/>
          </a:prstGeom>
          <a:solidFill>
            <a:srgbClr val="124944"/>
          </a:solidFill>
          <a:ln>
            <a:noFill/>
          </a:ln>
        </p:spPr>
        <p:txBody>
          <a:bodyPr anchor="ctr" rtlCol="false" lIns="0" tIns="0" rIns="0" bIns="0" wrap="square"/>
          <a:lstStyle/>
          <a:p>
            <a:pPr algn="ctr">
              <a:lnSpc>
                <a:spcPts val="3800"/>
              </a:lnSpc>
              <a:spcBef>
                <a:spcPts val="0"/>
              </a:spcBef>
              <a:buNone/>
            </a:pPr>
            <a:r>
              <a:rPr lang="en-US" sz="3400" b="true" spc="-170">
                <a:solidFill>
                  <a:srgbClr val="FFFFFF"/>
                </a:solidFill>
                <a:latin typeface="Roca Two Bold"/>
                <a:ea typeface="Roca Two Bold"/>
                <a:cs typeface="Roca Two Bold"/>
                <a:sym typeface="Roca Two Bold"/>
              </a:rPr>
              <a:t>U</a:t>
            </a:r>
          </a:p>
          <a:p>
            <a:pPr algn="ctr">
              <a:lnSpc>
                <a:spcPts val="1800"/>
              </a:lnSpc>
              <a:spcBef>
                <a:spcPts val="200"/>
              </a:spcBef>
              <a:buNone/>
            </a:pPr>
            <a:r>
              <a:rPr lang="en-US" sz="1500" b="true">
                <a:solidFill>
                  <a:srgbClr val="F7F2EA"/>
                </a:solidFill>
                <a:latin typeface="Nunito Bold"/>
                <a:ea typeface="Nunito Bold"/>
                <a:cs typeface="Nunito Bold"/>
                <a:sym typeface="Nunito Bold"/>
              </a:rPr>
              <a:t>Users</a:t>
            </a:r>
          </a:p>
        </p:txBody>
      </p:sp>
      <p:sp>
        <p:nvSpPr>
          <p:cNvPr id="37" name="Oval 36"/>
          <p:cNvSpPr/>
          <p:nvPr/>
        </p:nvSpPr>
        <p:spPr>
          <a:xfrm>
            <a:off x="12481560" y="4598162"/>
            <a:ext cx="1737360" cy="1737360"/>
          </a:xfrm>
          <a:prstGeom prst="ellipse">
            <a:avLst/>
          </a:prstGeom>
          <a:solidFill>
            <a:srgbClr val="1E5F58"/>
          </a:solidFill>
          <a:ln>
            <a:noFill/>
          </a:ln>
        </p:spPr>
        <p:txBody>
          <a:bodyPr anchor="ctr" rtlCol="false" lIns="0" tIns="0" rIns="0" bIns="0" wrap="square"/>
          <a:lstStyle/>
          <a:p>
            <a:pPr algn="ctr">
              <a:lnSpc>
                <a:spcPts val="3800"/>
              </a:lnSpc>
              <a:spcBef>
                <a:spcPts val="0"/>
              </a:spcBef>
              <a:buNone/>
            </a:pPr>
            <a:r>
              <a:rPr lang="en-US" sz="3400" b="true" spc="-170">
                <a:solidFill>
                  <a:srgbClr val="FFFFFF"/>
                </a:solidFill>
                <a:latin typeface="Roca Two Bold"/>
                <a:ea typeface="Roca Two Bold"/>
                <a:cs typeface="Roca Two Bold"/>
                <a:sym typeface="Roca Two Bold"/>
              </a:rPr>
              <a:t>I</a:t>
            </a:r>
          </a:p>
          <a:p>
            <a:pPr algn="ctr">
              <a:lnSpc>
                <a:spcPts val="1800"/>
              </a:lnSpc>
              <a:spcBef>
                <a:spcPts val="200"/>
              </a:spcBef>
              <a:buNone/>
            </a:pPr>
            <a:r>
              <a:rPr lang="en-US" sz="1500" b="true">
                <a:solidFill>
                  <a:srgbClr val="F7F2EA"/>
                </a:solidFill>
                <a:latin typeface="Nunito Bold"/>
                <a:ea typeface="Nunito Bold"/>
                <a:cs typeface="Nunito Bold"/>
                <a:sym typeface="Nunito Bold"/>
              </a:rPr>
              <a:t>Items</a:t>
            </a:r>
          </a:p>
        </p:txBody>
      </p:sp>
      <p:sp>
        <p:nvSpPr>
          <p:cNvPr id="38" name="Oval 37"/>
          <p:cNvSpPr/>
          <p:nvPr/>
        </p:nvSpPr>
        <p:spPr>
          <a:xfrm>
            <a:off x="14798040" y="4598162"/>
            <a:ext cx="1737360" cy="1737360"/>
          </a:xfrm>
          <a:prstGeom prst="ellipse">
            <a:avLst/>
          </a:prstGeom>
          <a:solidFill>
            <a:srgbClr val="DF8330"/>
          </a:solidFill>
          <a:ln>
            <a:noFill/>
          </a:ln>
        </p:spPr>
        <p:txBody>
          <a:bodyPr anchor="ctr" rtlCol="false" lIns="0" tIns="0" rIns="0" bIns="0" wrap="square"/>
          <a:lstStyle/>
          <a:p>
            <a:pPr algn="ctr">
              <a:lnSpc>
                <a:spcPts val="3800"/>
              </a:lnSpc>
              <a:spcBef>
                <a:spcPts val="0"/>
              </a:spcBef>
              <a:buNone/>
            </a:pPr>
            <a:r>
              <a:rPr lang="en-US" sz="3400" b="true" spc="-170">
                <a:solidFill>
                  <a:srgbClr val="FFFFFF"/>
                </a:solidFill>
                <a:latin typeface="Roca Two Bold"/>
                <a:ea typeface="Roca Two Bold"/>
                <a:cs typeface="Roca Two Bold"/>
                <a:sym typeface="Roca Two Bold"/>
              </a:rPr>
              <a:t>C</a:t>
            </a:r>
          </a:p>
          <a:p>
            <a:pPr algn="ctr">
              <a:lnSpc>
                <a:spcPts val="1800"/>
              </a:lnSpc>
              <a:spcBef>
                <a:spcPts val="200"/>
              </a:spcBef>
              <a:buNone/>
            </a:pPr>
            <a:r>
              <a:rPr lang="en-US" sz="1500" b="true">
                <a:solidFill>
                  <a:srgbClr val="F7F2EA"/>
                </a:solidFill>
                <a:latin typeface="Nunito Bold"/>
                <a:ea typeface="Nunito Bold"/>
                <a:cs typeface="Nunito Bold"/>
                <a:sym typeface="Nunito Bold"/>
              </a:rPr>
              <a:t>Contexts</a:t>
            </a:r>
          </a:p>
        </p:txBody>
      </p:sp>
      <p:sp>
        <p:nvSpPr>
          <p:cNvPr id="39" name="Rounded Rectangle 38"/>
          <p:cNvSpPr/>
          <p:nvPr/>
        </p:nvSpPr>
        <p:spPr>
          <a:xfrm>
            <a:off x="9441180" y="7067042"/>
            <a:ext cx="7818120" cy="2241550"/>
          </a:xfrm>
          <a:prstGeom prst="roundRect">
            <a:avLst>
              <a:gd name="adj" fmla="val 10198"/>
            </a:avLst>
          </a:prstGeom>
          <a:solidFill>
            <a:srgbClr val="124944"/>
          </a:solidFill>
          <a:ln>
            <a:noFill/>
          </a:ln>
        </p:spPr>
        <p:txBody>
          <a:bodyPr anchor="ctr" rtlCol="false" lIns="0" tIns="0" rIns="0" bIns="0" wrap="square"/>
          <a:lstStyle/>
          <a:p>
            <a:endParaRPr lang="en-US" sz="1800"/>
          </a:p>
        </p:txBody>
      </p:sp>
      <mc:AlternateContent xmlns:mc="http://schemas.openxmlformats.org/markup-compatibility/2006">
        <mc:Choice xmlns:a14="http://schemas.microsoft.com/office/drawing/2010/main" Requires="a14">
          <p:sp>
            <p:nvSpPr>
              <p:cNvPr id="40" name="Equation"/>
              <p:cNvSpPr txBox="1"/>
              <p:nvPr/>
            </p:nvSpPr>
            <p:spPr>
              <a:xfrm>
                <a:off x="9715500" y="7112762"/>
                <a:ext cx="1828800" cy="1120775"/>
              </a:xfrm>
              <a:prstGeom prst="rect">
                <a:avLst/>
              </a:prstGeom>
              <a:noFill/>
            </p:spPr>
            <p:txBody>
              <a:bodyPr wrap="none" rtlCol="0" anchor="ctr" lIns="0" tIns="0" rIns="0" bIns="0"/>
              <a:lstStyle/>
              <a:p>
                <a:pPr algn="ctr"/>
                <a14:m xmlns:m="http://schemas.openxmlformats.org/officeDocument/2006/math">
                  <m:oMathPara>
                    <m:oMathParaPr>
                      <m:jc m:val="centerGroup"/>
                    </m:oMathParaPr>
                    <m:oMath>
                      <m:r>
                        <a:rPr lang="en-US" sz="2200" i="1">
                          <a:solidFill>
                            <a:srgbClr val="FFFFFF"/>
                          </a:solidFill>
                          <a:latin typeface="Cambria Math" panose="02040503050406030204" pitchFamily="18" charset="0"/>
                        </a:rPr>
                        <m:t xml:space="preserve">v</m:t>
                      </m:r>
                      <m:r>
                        <m:rPr>
                          <m:sty m:val="p"/>
                        </m:rPr>
                        <a:rPr lang="en-US" sz="2200">
                          <a:solidFill>
                            <a:srgbClr val="FFFFFF"/>
                          </a:solidFill>
                          <a:latin typeface="Cambria Math" panose="02040503050406030204" pitchFamily="18" charset="0"/>
                        </a:rPr>
                        <m:t xml:space="preserve">(</m:t>
                      </m:r>
                      <m:r>
                        <a:rPr lang="en-US" sz="2200" i="1">
                          <a:solidFill>
                            <a:srgbClr val="FFFFFF"/>
                          </a:solidFill>
                          <a:latin typeface="Cambria Math" panose="02040503050406030204" pitchFamily="18" charset="0"/>
                        </a:rPr>
                        <m:t xml:space="preserve">S</m:t>
                      </m:r>
                      <m:r>
                        <m:rPr>
                          <m:sty m:val="p"/>
                        </m:rPr>
                        <a:rPr lang="en-US" sz="2200">
                          <a:solidFill>
                            <a:srgbClr val="FFFFFF"/>
                          </a:solidFill>
                          <a:latin typeface="Cambria Math" panose="02040503050406030204" pitchFamily="18" charset="0"/>
                        </a:rPr>
                        <m:t xml:space="preserve">)</m:t>
                      </m:r>
                    </m:oMath>
                  </m:oMathPara>
                </a14:m>
                <a:endParaRPr lang="en-US" sz="2200"/>
              </a:p>
            </p:txBody>
          </p:sp>
        </mc:Choice>
        <mc:Fallback>
          <p:sp>
            <p:nvSpPr>
              <p:cNvPr id="40" name="Equation"/>
              <p:cNvSpPr txBox="1"/>
              <p:nvPr/>
            </p:nvSpPr>
            <p:spPr>
              <a:xfrm>
                <a:off x="9715500" y="7112762"/>
                <a:ext cx="1828800" cy="1120775"/>
              </a:xfrm>
              <a:prstGeom prst="rect">
                <a:avLst/>
              </a:prstGeom>
              <a:blipFill>
                <a:blip r:embed="rId7"/>
                <a:stretch>
                  <a:fillRect/>
                </a:stretch>
              </a:blipFill>
            </p:spPr>
            <p:txBody>
              <a:bodyPr/>
              <a:lstStyle/>
              <a:p>
                <a:endParaRPr lang="en-US"/>
              </a:p>
            </p:txBody>
          </p:sp>
        </mc:Fallback>
      </mc:AlternateContent>
      <p:sp>
        <p:nvSpPr>
          <p:cNvPr id="41" name="TextBox 40"/>
          <p:cNvSpPr txBox="1"/>
          <p:nvPr/>
        </p:nvSpPr>
        <p:spPr>
          <a:xfrm>
            <a:off x="11635740" y="7112762"/>
            <a:ext cx="5349240" cy="1120775"/>
          </a:xfrm>
          <a:prstGeom prst="rect">
            <a:avLst/>
          </a:prstGeom>
          <a:noFill/>
        </p:spPr>
        <p:txBody>
          <a:bodyPr anchor="ctr" rtlCol="false" lIns="0" tIns="0" rIns="0" bIns="0" wrap="square"/>
          <a:lstStyle/>
          <a:p>
            <a:pPr algn="l">
              <a:lnSpc>
                <a:spcPts val="2100"/>
              </a:lnSpc>
              <a:spcBef>
                <a:spcPts val="0"/>
              </a:spcBef>
              <a:buNone/>
            </a:pPr>
            <a:r>
              <a:rPr lang="en-US" sz="1700" b="true">
                <a:solidFill>
                  <a:srgbClr val="FFFFFF"/>
                </a:solidFill>
                <a:latin typeface="Nunito Bold"/>
                <a:ea typeface="Nunito Bold"/>
                <a:cs typeface="Nunito Bold"/>
                <a:sym typeface="Nunito Bold"/>
              </a:rPr>
              <a:t>quality of the recommendation that coalition S can achieve</a:t>
            </a:r>
          </a:p>
        </p:txBody>
      </p:sp>
      <mc:AlternateContent xmlns:mc="http://schemas.openxmlformats.org/markup-compatibility/2006">
        <mc:Choice xmlns:a14="http://schemas.microsoft.com/office/drawing/2010/main" Requires="a14">
          <p:sp>
            <p:nvSpPr>
              <p:cNvPr id="42" name="Equation"/>
              <p:cNvSpPr txBox="1"/>
              <p:nvPr/>
            </p:nvSpPr>
            <p:spPr>
              <a:xfrm>
                <a:off x="9715500" y="8142097"/>
                <a:ext cx="1828800" cy="1120775"/>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
                        <m:sSubPr>
                          <m:ctrlPr>
                            <a:rPr lang="en-US" sz="2200" i="1">
                              <a:solidFill>
                                <a:srgbClr val="ECC665"/>
                              </a:solidFill>
                              <a:latin typeface="Cambria Math" panose="02040503050406030204" pitchFamily="18" charset="0"/>
                            </a:rPr>
                          </m:ctrlPr>
                        </m:sSubPr>
                        <m:e>
                          <m:acc>
                            <m:accPr>
                              <m:chr m:val="̂"/>
                              <m:ctrlPr>
                                <a:rPr lang="en-US" sz="2200" i="1">
                                  <a:solidFill>
                                    <a:srgbClr val="ECC665"/>
                                  </a:solidFill>
                                  <a:latin typeface="Cambria Math" panose="02040503050406030204" pitchFamily="18" charset="0"/>
                                </a:rPr>
                              </m:ctrlPr>
                            </m:accPr>
                            <m:e>
                              <m:r>
                                <a:rPr lang="en-US" sz="2200" i="1">
                                  <a:solidFill>
                                    <a:srgbClr val="ECC665"/>
                                  </a:solidFill>
                                  <a:latin typeface="Cambria Math" panose="02040503050406030204" pitchFamily="18" charset="0"/>
                                </a:rPr>
                                <m:t xml:space="preserve">φ</m:t>
                              </m:r>
                            </m:e>
                          </m:acc>
                        </m:e>
                        <m:sub>
                          <m:r>
                            <a:rPr lang="en-US" sz="2200" i="1">
                              <a:solidFill>
                                <a:srgbClr val="ECC665"/>
                              </a:solidFill>
                              <a:latin typeface="Cambria Math" panose="02040503050406030204" pitchFamily="18" charset="0"/>
                            </a:rPr>
                            <m:t xml:space="preserve">j</m:t>
                          </m:r>
                        </m:sub>
                      </m:sSub>
                      <m:r>
                        <m:rPr>
                          <m:sty m:val="p"/>
                        </m:rPr>
                        <a:rPr lang="en-US" sz="2200">
                          <a:solidFill>
                            <a:srgbClr val="ECC665"/>
                          </a:solidFill>
                          <a:latin typeface="Cambria Math" panose="02040503050406030204" pitchFamily="18" charset="0"/>
                        </a:rPr>
                        <m:t xml:space="preserve"> → </m:t>
                      </m:r>
                      <m:sSub>
                        <m:sSubPr>
                          <m:ctrlPr>
                            <a:rPr lang="en-US" sz="2200" i="1">
                              <a:solidFill>
                                <a:srgbClr val="ECC665"/>
                              </a:solidFill>
                              <a:latin typeface="Cambria Math" panose="02040503050406030204" pitchFamily="18" charset="0"/>
                            </a:rPr>
                          </m:ctrlPr>
                        </m:sSubPr>
                        <m:e>
                          <m:r>
                            <a:rPr lang="en-US" sz="2200" i="1">
                              <a:solidFill>
                                <a:srgbClr val="ECC665"/>
                              </a:solidFill>
                              <a:latin typeface="Cambria Math" panose="02040503050406030204" pitchFamily="18" charset="0"/>
                            </a:rPr>
                            <m:t xml:space="preserve">w</m:t>
                          </m:r>
                        </m:e>
                        <m:sub>
                          <m:r>
                            <a:rPr lang="en-US" sz="2200" i="1">
                              <a:solidFill>
                                <a:srgbClr val="ECC665"/>
                              </a:solidFill>
                              <a:latin typeface="Cambria Math" panose="02040503050406030204" pitchFamily="18" charset="0"/>
                            </a:rPr>
                            <m:t xml:space="preserve">jk</m:t>
                          </m:r>
                        </m:sub>
                      </m:sSub>
                    </m:oMath>
                  </m:oMathPara>
                </a14:m>
                <a:endParaRPr lang="en-US" sz="2200"/>
              </a:p>
            </p:txBody>
          </p:sp>
        </mc:Choice>
        <mc:Fallback>
          <p:sp>
            <p:nvSpPr>
              <p:cNvPr id="42" name="Equation"/>
              <p:cNvSpPr txBox="1"/>
              <p:nvPr/>
            </p:nvSpPr>
            <p:spPr>
              <a:xfrm>
                <a:off x="9715500" y="8142097"/>
                <a:ext cx="1828800" cy="1120775"/>
              </a:xfrm>
              <a:prstGeom prst="rect">
                <a:avLst/>
              </a:prstGeom>
              <a:blipFill>
                <a:blip r:embed="rId8"/>
                <a:stretch>
                  <a:fillRect/>
                </a:stretch>
              </a:blipFill>
            </p:spPr>
            <p:txBody>
              <a:bodyPr/>
              <a:lstStyle/>
              <a:p>
                <a:endParaRPr lang="en-US"/>
              </a:p>
            </p:txBody>
          </p:sp>
        </mc:Fallback>
      </mc:AlternateContent>
      <p:sp>
        <p:nvSpPr>
          <p:cNvPr id="43" name="TextBox 42"/>
          <p:cNvSpPr txBox="1"/>
          <p:nvPr/>
        </p:nvSpPr>
        <p:spPr>
          <a:xfrm>
            <a:off x="11635740" y="8142097"/>
            <a:ext cx="5349240" cy="1120775"/>
          </a:xfrm>
          <a:prstGeom prst="rect">
            <a:avLst/>
          </a:prstGeom>
          <a:noFill/>
        </p:spPr>
        <p:txBody>
          <a:bodyPr anchor="ctr" rtlCol="false" lIns="0" tIns="0" rIns="0" bIns="0" wrap="square"/>
          <a:lstStyle/>
          <a:p>
            <a:pPr algn="l">
              <a:lnSpc>
                <a:spcPts val="2100"/>
              </a:lnSpc>
              <a:spcBef>
                <a:spcPts val="0"/>
              </a:spcBef>
              <a:buNone/>
            </a:pPr>
            <a:r>
              <a:rPr lang="en-US" sz="1700" b="true">
                <a:solidFill>
                  <a:srgbClr val="ECC665"/>
                </a:solidFill>
                <a:latin typeface="Nunito Bold"/>
                <a:ea typeface="Nunito Bold"/>
                <a:cs typeface="Nunito Bold"/>
                <a:sym typeface="Nunito Bold"/>
              </a:rPr>
              <a:t>marginal contribution of player j </a:t>
            </a:r>
            <a:r>
              <a:rPr lang="en-US" sz="1700" b="true">
                <a:solidFill>
                  <a:srgbClr val="ECC665"/>
                </a:solidFill>
                <a:latin typeface="Calibri"/>
                <a:ea typeface="Calibri"/>
                <a:cs typeface="Calibri"/>
                <a:sym typeface="Calibri"/>
              </a:rPr>
              <a:t>→ </a:t>
            </a:r>
            <a:r>
              <a:rPr lang="en-US" sz="1700" b="true">
                <a:solidFill>
                  <a:srgbClr val="ECC665"/>
                </a:solidFill>
                <a:latin typeface="Nunito Bold"/>
                <a:ea typeface="Nunito Bold"/>
                <a:cs typeface="Nunito Bold"/>
                <a:sym typeface="Nunito Bold"/>
              </a:rPr>
              <a:t>dynamic hyperedge weight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56</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Preference-Aware Monte Carlo Shapley</a:t>
            </a:r>
          </a:p>
        </p:txBody>
      </p:sp>
      <p:pic>
        <p:nvPicPr>
          <p:cNvPr id="23" name="Picture 22" descr="image.png"/>
          <p:cNvPicPr>
            <a:picLocks noChangeAspect="1"/>
          </p:cNvPicPr>
          <p:nvPr/>
        </p:nvPicPr>
        <p:blipFill>
          <a:blip r:embed="rId3"/>
          <a:stretch>
            <a:fillRect/>
          </a:stretch>
        </p:blipFill>
        <p:spPr>
          <a:xfrm>
            <a:off x="11509517" y="1673352"/>
            <a:ext cx="457200" cy="415247"/>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8595360" cy="41148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Exact Shapley is </a:t>
            </a:r>
            <a:r>
              <a:rPr lang="en-US" sz="2100" b="true">
                <a:solidFill>
                  <a:srgbClr val="111111"/>
                </a:solidFill>
                <a:latin typeface="Nunito Bold"/>
                <a:ea typeface="Nunito Bold"/>
                <a:cs typeface="Nunito Bold"/>
                <a:sym typeface="Nunito Bold"/>
              </a:rPr>
              <a:t>combinatorial and not feasible</a:t>
            </a:r>
            <a:r>
              <a:rPr lang="en-US" sz="2100" b="true">
                <a:solidFill>
                  <a:srgbClr val="111111"/>
                </a:solidFill>
                <a:latin typeface="Nunito Semi-Bold"/>
                <a:ea typeface="Nunito Semi-Bold"/>
                <a:cs typeface="Nunito Semi-Bold"/>
                <a:sym typeface="Nunito Semi-Bold"/>
              </a:rPr>
              <a:t> for real systems.</a:t>
            </a:r>
          </a:p>
        </p:txBody>
      </p:sp>
      <p:sp>
        <p:nvSpPr>
          <p:cNvPr id="29" name="Rounded Rectangle 28"/>
          <p:cNvSpPr/>
          <p:nvPr/>
        </p:nvSpPr>
        <p:spPr>
          <a:xfrm>
            <a:off x="1028700" y="3866642"/>
            <a:ext cx="8595360" cy="2834640"/>
          </a:xfrm>
          <a:prstGeom prst="roundRect">
            <a:avLst>
              <a:gd name="adj" fmla="val 6451"/>
            </a:avLst>
          </a:prstGeom>
          <a:solidFill>
            <a:srgbClr val="E6EEEA"/>
          </a:solidFill>
          <a:ln>
            <a:noFill/>
          </a:ln>
        </p:spPr>
        <p:txBody>
          <a:bodyPr anchor="ctr" rtlCol="false" lIns="0" tIns="0" rIns="0" bIns="0" wrap="square"/>
          <a:lstStyle/>
          <a:p>
            <a:endParaRPr lang="en-US" sz="1800"/>
          </a:p>
        </p:txBody>
      </p:sp>
      <mc:AlternateContent xmlns:mc="http://schemas.openxmlformats.org/markup-compatibility/2006">
        <mc:Choice xmlns:a14="http://schemas.microsoft.com/office/drawing/2010/main" Requires="a14">
          <p:sp>
            <p:nvSpPr>
              <p:cNvPr id="30" name="Equation"/>
              <p:cNvSpPr txBox="1"/>
              <p:nvPr/>
            </p:nvSpPr>
            <p:spPr>
              <a:xfrm>
                <a:off x="1211580" y="3958082"/>
                <a:ext cx="8229600" cy="1325880"/>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
                        <m:sSubPr>
                          <m:ctrlPr>
                            <a:rPr lang="en-US" sz="2350" i="1">
                              <a:solidFill>
                                <a:srgbClr val="124944"/>
                              </a:solidFill>
                              <a:latin typeface="Cambria Math" panose="02040503050406030204" pitchFamily="18" charset="0"/>
                            </a:rPr>
                          </m:ctrlPr>
                        </m:sSubPr>
                        <m:e>
                          <m:acc>
                            <m:accPr>
                              <m:chr m:val="̂"/>
                              <m:ctrlPr>
                                <a:rPr lang="en-US" sz="2350" i="1">
                                  <a:solidFill>
                                    <a:srgbClr val="124944"/>
                                  </a:solidFill>
                                  <a:latin typeface="Cambria Math" panose="02040503050406030204" pitchFamily="18" charset="0"/>
                                </a:rPr>
                              </m:ctrlPr>
                            </m:accPr>
                            <m:e>
                              <m:r>
                                <a:rPr lang="en-US" sz="2350" i="1">
                                  <a:solidFill>
                                    <a:srgbClr val="124944"/>
                                  </a:solidFill>
                                  <a:latin typeface="Cambria Math" panose="02040503050406030204" pitchFamily="18" charset="0"/>
                                </a:rPr>
                                <m:t xml:space="preserve">φ</m:t>
                              </m:r>
                            </m:e>
                          </m:acc>
                        </m:e>
                        <m:sub>
                          <m:r>
                            <a:rPr lang="en-US" sz="2350" i="1">
                              <a:solidFill>
                                <a:srgbClr val="124944"/>
                              </a:solidFill>
                              <a:latin typeface="Cambria Math" panose="02040503050406030204" pitchFamily="18" charset="0"/>
                            </a:rPr>
                            <m:t xml:space="preserve">j</m:t>
                          </m:r>
                        </m:sub>
                      </m:sSub>
                      <m:r>
                        <m:rPr>
                          <m:sty m:val="p"/>
                        </m:rPr>
                        <a:rPr lang="en-US" sz="2350">
                          <a:solidFill>
                            <a:srgbClr val="124944"/>
                          </a:solidFill>
                          <a:latin typeface="Cambria Math" panose="02040503050406030204" pitchFamily="18" charset="0"/>
                        </a:rPr>
                        <m:t xml:space="preserve">=</m:t>
                      </m:r>
                      <m:f>
                        <m:fPr>
                          <m:ctrlPr>
                            <a:rPr lang="en-US" sz="2350" i="1">
                              <a:solidFill>
                                <a:srgbClr val="124944"/>
                              </a:solidFill>
                              <a:latin typeface="Cambria Math" panose="02040503050406030204" pitchFamily="18" charset="0"/>
                            </a:rPr>
                          </m:ctrlPr>
                        </m:fPr>
                        <m:num>
                          <m:r>
                            <m:rPr>
                              <m:sty m:val="p"/>
                            </m:rPr>
                            <a:rPr lang="en-US" sz="2350">
                              <a:solidFill>
                                <a:srgbClr val="124944"/>
                              </a:solidFill>
                              <a:latin typeface="Cambria Math" panose="02040503050406030204" pitchFamily="18" charset="0"/>
                            </a:rPr>
                            <m:t xml:space="preserve">1</m:t>
                          </m:r>
                        </m:num>
                        <m:den>
                          <m:r>
                            <a:rPr lang="en-US" sz="2350" i="1">
                              <a:solidFill>
                                <a:srgbClr val="124944"/>
                              </a:solidFill>
                              <a:latin typeface="Cambria Math" panose="02040503050406030204" pitchFamily="18" charset="0"/>
                            </a:rPr>
                            <m:t xml:space="preserve">M</m:t>
                          </m:r>
                        </m:den>
                      </m:f>
                      <m:nary>
                        <m:naryPr>
                          <m:chr m:val="∑"/>
                          <m:limLoc m:val="undOvr"/>
                          <m:ctrlPr>
                            <a:rPr lang="en-US" sz="2350" i="1">
                              <a:solidFill>
                                <a:srgbClr val="124944"/>
                              </a:solidFill>
                              <a:latin typeface="Cambria Math" panose="02040503050406030204" pitchFamily="18" charset="0"/>
                            </a:rPr>
                          </m:ctrlPr>
                        </m:naryPr>
                        <m:sub>
                          <m:r>
                            <a:rPr lang="en-US" sz="2350" i="1">
                              <a:solidFill>
                                <a:srgbClr val="124944"/>
                              </a:solidFill>
                              <a:latin typeface="Cambria Math" panose="02040503050406030204" pitchFamily="18" charset="0"/>
                            </a:rPr>
                            <m:t xml:space="preserve">m</m:t>
                          </m:r>
                          <m:r>
                            <m:rPr>
                              <m:sty m:val="p"/>
                            </m:rPr>
                            <a:rPr lang="en-US" sz="2350">
                              <a:solidFill>
                                <a:srgbClr val="124944"/>
                              </a:solidFill>
                              <a:latin typeface="Cambria Math" panose="02040503050406030204" pitchFamily="18" charset="0"/>
                            </a:rPr>
                            <m:t xml:space="preserve">=1</m:t>
                          </m:r>
                        </m:sub>
                        <m:sup>
                          <m:r>
                            <a:rPr lang="en-US" sz="2350" i="1">
                              <a:solidFill>
                                <a:srgbClr val="124944"/>
                              </a:solidFill>
                              <a:latin typeface="Cambria Math" panose="02040503050406030204" pitchFamily="18" charset="0"/>
                            </a:rPr>
                            <m:t xml:space="preserve">M</m:t>
                          </m:r>
                        </m:sup>
                        <m:e>
                          <m:d>
                            <m:dPr>
                              <m:begChr m:val="["/>
                              <m:endChr m:val="]"/>
                              <m:ctrlPr>
                                <a:rPr lang="en-US" sz="2350" i="1">
                                  <a:solidFill>
                                    <a:srgbClr val="124944"/>
                                  </a:solidFill>
                                  <a:latin typeface="Cambria Math" panose="02040503050406030204" pitchFamily="18" charset="0"/>
                                </a:rPr>
                              </m:ctrlPr>
                            </m:dPr>
                            <m:e>
                              <m:r>
                                <m:rPr>
                                  <m:sty m:val="p"/>
                                </m:rPr>
                                <a:rPr lang="en-US" sz="2350">
                                  <a:solidFill>
                                    <a:srgbClr val="124944"/>
                                  </a:solidFill>
                                  <a:latin typeface="Cambria Math" panose="02040503050406030204" pitchFamily="18" charset="0"/>
                                </a:rPr>
                                <m:t xml:space="preserve"> </m:t>
                              </m:r>
                              <m:r>
                                <a:rPr lang="en-US" sz="2350" i="1">
                                  <a:solidFill>
                                    <a:srgbClr val="124944"/>
                                  </a:solidFill>
                                  <a:latin typeface="Cambria Math" panose="02040503050406030204" pitchFamily="18" charset="0"/>
                                </a:rPr>
                                <m:t xml:space="preserve">v</m:t>
                              </m:r>
                              <m:r>
                                <m:rPr>
                                  <m:sty m:val="p"/>
                                </m:rPr>
                                <a:rPr lang="en-US" sz="2350">
                                  <a:solidFill>
                                    <a:srgbClr val="124944"/>
                                  </a:solidFill>
                                  <a:latin typeface="Cambria Math" panose="02040503050406030204" pitchFamily="18" charset="0"/>
                                </a:rPr>
                                <m:t xml:space="preserve">(</m:t>
                              </m:r>
                              <m:sSub>
                                <m:sSubPr>
                                  <m:ctrlPr>
                                    <a:rPr lang="en-US" sz="2350" i="1">
                                      <a:solidFill>
                                        <a:srgbClr val="124944"/>
                                      </a:solidFill>
                                      <a:latin typeface="Cambria Math" panose="02040503050406030204" pitchFamily="18" charset="0"/>
                                    </a:rPr>
                                  </m:ctrlPr>
                                </m:sSubPr>
                                <m:e>
                                  <m:r>
                                    <a:rPr lang="en-US" sz="2350" i="1">
                                      <a:solidFill>
                                        <a:srgbClr val="124944"/>
                                      </a:solidFill>
                                      <a:latin typeface="Cambria Math" panose="02040503050406030204" pitchFamily="18" charset="0"/>
                                    </a:rPr>
                                    <m:t xml:space="preserve">S</m:t>
                                  </m:r>
                                </m:e>
                                <m:sub>
                                  <m:r>
                                    <a:rPr lang="en-US" sz="2350" i="1">
                                      <a:solidFill>
                                        <a:srgbClr val="124944"/>
                                      </a:solidFill>
                                      <a:latin typeface="Cambria Math" panose="02040503050406030204" pitchFamily="18" charset="0"/>
                                    </a:rPr>
                                    <m:t xml:space="preserve">m</m:t>
                                  </m:r>
                                </m:sub>
                              </m:sSub>
                              <m:r>
                                <m:rPr>
                                  <m:sty m:val="p"/>
                                </m:rPr>
                                <a:rPr lang="en-US" sz="2350">
                                  <a:solidFill>
                                    <a:srgbClr val="124944"/>
                                  </a:solidFill>
                                  <a:latin typeface="Cambria Math" panose="02040503050406030204" pitchFamily="18" charset="0"/>
                                </a:rPr>
                                <m:t xml:space="preserve">∪{</m:t>
                              </m:r>
                              <m:r>
                                <a:rPr lang="en-US" sz="2350" i="1">
                                  <a:solidFill>
                                    <a:srgbClr val="124944"/>
                                  </a:solidFill>
                                  <a:latin typeface="Cambria Math" panose="02040503050406030204" pitchFamily="18" charset="0"/>
                                </a:rPr>
                                <m:t xml:space="preserve">j</m:t>
                              </m:r>
                              <m:r>
                                <m:rPr>
                                  <m:sty m:val="p"/>
                                </m:rPr>
                                <a:rPr lang="en-US" sz="2350">
                                  <a:solidFill>
                                    <a:srgbClr val="124944"/>
                                  </a:solidFill>
                                  <a:latin typeface="Cambria Math" panose="02040503050406030204" pitchFamily="18" charset="0"/>
                                </a:rPr>
                                <m:t xml:space="preserve">})−</m:t>
                              </m:r>
                              <m:r>
                                <a:rPr lang="en-US" sz="2350" i="1">
                                  <a:solidFill>
                                    <a:srgbClr val="124944"/>
                                  </a:solidFill>
                                  <a:latin typeface="Cambria Math" panose="02040503050406030204" pitchFamily="18" charset="0"/>
                                </a:rPr>
                                <m:t xml:space="preserve">v</m:t>
                              </m:r>
                              <m:r>
                                <m:rPr>
                                  <m:sty m:val="p"/>
                                </m:rPr>
                                <a:rPr lang="en-US" sz="2350">
                                  <a:solidFill>
                                    <a:srgbClr val="124944"/>
                                  </a:solidFill>
                                  <a:latin typeface="Cambria Math" panose="02040503050406030204" pitchFamily="18" charset="0"/>
                                </a:rPr>
                                <m:t xml:space="preserve">(</m:t>
                              </m:r>
                              <m:sSub>
                                <m:sSubPr>
                                  <m:ctrlPr>
                                    <a:rPr lang="en-US" sz="2350" i="1">
                                      <a:solidFill>
                                        <a:srgbClr val="124944"/>
                                      </a:solidFill>
                                      <a:latin typeface="Cambria Math" panose="02040503050406030204" pitchFamily="18" charset="0"/>
                                    </a:rPr>
                                  </m:ctrlPr>
                                </m:sSubPr>
                                <m:e>
                                  <m:r>
                                    <a:rPr lang="en-US" sz="2350" i="1">
                                      <a:solidFill>
                                        <a:srgbClr val="124944"/>
                                      </a:solidFill>
                                      <a:latin typeface="Cambria Math" panose="02040503050406030204" pitchFamily="18" charset="0"/>
                                    </a:rPr>
                                    <m:t xml:space="preserve">S</m:t>
                                  </m:r>
                                </m:e>
                                <m:sub>
                                  <m:r>
                                    <a:rPr lang="en-US" sz="2350" i="1">
                                      <a:solidFill>
                                        <a:srgbClr val="124944"/>
                                      </a:solidFill>
                                      <a:latin typeface="Cambria Math" panose="02040503050406030204" pitchFamily="18" charset="0"/>
                                    </a:rPr>
                                    <m:t xml:space="preserve">m</m:t>
                                  </m:r>
                                </m:sub>
                              </m:sSub>
                              <m:r>
                                <m:rPr>
                                  <m:sty m:val="p"/>
                                </m:rPr>
                                <a:rPr lang="en-US" sz="2350">
                                  <a:solidFill>
                                    <a:srgbClr val="124944"/>
                                  </a:solidFill>
                                  <a:latin typeface="Cambria Math" panose="02040503050406030204" pitchFamily="18" charset="0"/>
                                </a:rPr>
                                <m:t xml:space="preserve">) </m:t>
                              </m:r>
                            </m:e>
                          </m:d>
                        </m:e>
                      </m:nary>
                    </m:oMath>
                  </m:oMathPara>
                </a14:m>
                <a:endParaRPr lang="en-US" sz="2350"/>
              </a:p>
            </p:txBody>
          </p:sp>
        </mc:Choice>
        <mc:Fallback>
          <p:sp>
            <p:nvSpPr>
              <p:cNvPr id="30" name="Equation"/>
              <p:cNvSpPr txBox="1"/>
              <p:nvPr/>
            </p:nvSpPr>
            <p:spPr>
              <a:xfrm>
                <a:off x="1211580" y="3958082"/>
                <a:ext cx="8229600" cy="1325880"/>
              </a:xfrm>
              <a:prstGeom prst="rect">
                <a:avLst/>
              </a:prstGeom>
              <a:blipFill>
                <a:blip r:embed="rId5"/>
                <a:stretch>
                  <a:fillRect/>
                </a:stretch>
              </a:blipFill>
            </p:spPr>
            <p:txBody>
              <a:bodyPr/>
              <a:lstStyle/>
              <a:p>
                <a:endParaRPr lang="en-US"/>
              </a:p>
            </p:txBody>
          </p:sp>
        </mc:Fallback>
      </mc:AlternateContent>
      <mc:AlternateContent xmlns:mc="http://schemas.openxmlformats.org/markup-compatibility/2006">
        <mc:Choice xmlns:a14="http://schemas.microsoft.com/office/drawing/2010/main" Requires="a14">
          <p:sp>
            <p:nvSpPr>
              <p:cNvPr id="31" name="Equation"/>
              <p:cNvSpPr txBox="1"/>
              <p:nvPr/>
            </p:nvSpPr>
            <p:spPr>
              <a:xfrm>
                <a:off x="1211580" y="5283962"/>
                <a:ext cx="8229600" cy="1325880"/>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Sup>
                        <m:sSubSupPr>
                          <m:ctrlPr>
                            <a:rPr lang="en-US" sz="2350" i="1">
                              <a:solidFill>
                                <a:srgbClr val="DF8330"/>
                              </a:solidFill>
                              <a:latin typeface="Cambria Math" panose="02040503050406030204" pitchFamily="18" charset="0"/>
                            </a:rPr>
                          </m:ctrlPr>
                        </m:sSubSupPr>
                        <m:e>
                          <m:acc>
                            <m:accPr>
                              <m:chr m:val="̂"/>
                              <m:ctrlPr>
                                <a:rPr lang="en-US" sz="2350" i="1">
                                  <a:solidFill>
                                    <a:srgbClr val="DF8330"/>
                                  </a:solidFill>
                                  <a:latin typeface="Cambria Math" panose="02040503050406030204" pitchFamily="18" charset="0"/>
                                </a:rPr>
                              </m:ctrlPr>
                            </m:accPr>
                            <m:e>
                              <m:r>
                                <a:rPr lang="en-US" sz="2350" i="1">
                                  <a:solidFill>
                                    <a:srgbClr val="DF8330"/>
                                  </a:solidFill>
                                  <a:latin typeface="Cambria Math" panose="02040503050406030204" pitchFamily="18" charset="0"/>
                                </a:rPr>
                                <m:t xml:space="preserve">φ</m:t>
                              </m:r>
                            </m:e>
                          </m:acc>
                        </m:e>
                        <m:sub>
                          <m:r>
                            <a:rPr lang="en-US" sz="2350" i="1">
                              <a:solidFill>
                                <a:srgbClr val="DF8330"/>
                              </a:solidFill>
                              <a:latin typeface="Cambria Math" panose="02040503050406030204" pitchFamily="18" charset="0"/>
                            </a:rPr>
                            <m:t xml:space="preserve">j</m:t>
                          </m:r>
                        </m:sub>
                        <m:sup>
                          <m:r>
                            <m:rPr>
                              <m:sty m:val="p"/>
                            </m:rPr>
                            <a:rPr lang="en-US" sz="2350">
                              <a:solidFill>
                                <a:srgbClr val="DF8330"/>
                              </a:solidFill>
                              <a:latin typeface="Cambria Math" panose="02040503050406030204" pitchFamily="18" charset="0"/>
                            </a:rPr>
                            <m:t xml:space="preserve"> pref</m:t>
                          </m:r>
                        </m:sup>
                      </m:sSubSup>
                      <m:r>
                        <m:rPr>
                          <m:sty m:val="p"/>
                        </m:rPr>
                        <a:rPr lang="en-US" sz="2350">
                          <a:solidFill>
                            <a:srgbClr val="DF8330"/>
                          </a:solidFill>
                          <a:latin typeface="Cambria Math" panose="02040503050406030204" pitchFamily="18" charset="0"/>
                        </a:rPr>
                        <m:t xml:space="preserve">=</m:t>
                      </m:r>
                      <m:f>
                        <m:fPr>
                          <m:ctrlPr>
                            <a:rPr lang="en-US" sz="2350" i="1">
                              <a:solidFill>
                                <a:srgbClr val="DF8330"/>
                              </a:solidFill>
                              <a:latin typeface="Cambria Math" panose="02040503050406030204" pitchFamily="18" charset="0"/>
                            </a:rPr>
                          </m:ctrlPr>
                        </m:fPr>
                        <m:num>
                          <m:r>
                            <m:rPr>
                              <m:sty m:val="p"/>
                            </m:rPr>
                            <a:rPr lang="en-US" sz="2350">
                              <a:solidFill>
                                <a:srgbClr val="DF8330"/>
                              </a:solidFill>
                              <a:latin typeface="Cambria Math" panose="02040503050406030204" pitchFamily="18" charset="0"/>
                            </a:rPr>
                            <m:t xml:space="preserve">1</m:t>
                          </m:r>
                        </m:num>
                        <m:den>
                          <m:r>
                            <a:rPr lang="en-US" sz="2350" i="1">
                              <a:solidFill>
                                <a:srgbClr val="DF8330"/>
                              </a:solidFill>
                              <a:latin typeface="Cambria Math" panose="02040503050406030204" pitchFamily="18" charset="0"/>
                            </a:rPr>
                            <m:t xml:space="preserve">M</m:t>
                          </m:r>
                        </m:den>
                      </m:f>
                      <m:nary>
                        <m:naryPr>
                          <m:chr m:val="∑"/>
                          <m:limLoc m:val="undOvr"/>
                          <m:ctrlPr>
                            <a:rPr lang="en-US" sz="2350" i="1">
                              <a:solidFill>
                                <a:srgbClr val="DF8330"/>
                              </a:solidFill>
                              <a:latin typeface="Cambria Math" panose="02040503050406030204" pitchFamily="18" charset="0"/>
                            </a:rPr>
                          </m:ctrlPr>
                        </m:naryPr>
                        <m:sub>
                          <m:r>
                            <a:rPr lang="en-US" sz="2350" i="1">
                              <a:solidFill>
                                <a:srgbClr val="DF8330"/>
                              </a:solidFill>
                              <a:latin typeface="Cambria Math" panose="02040503050406030204" pitchFamily="18" charset="0"/>
                            </a:rPr>
                            <m:t xml:space="preserve">m</m:t>
                          </m:r>
                          <m:r>
                            <m:rPr>
                              <m:sty m:val="p"/>
                            </m:rPr>
                            <a:rPr lang="en-US" sz="2350">
                              <a:solidFill>
                                <a:srgbClr val="DF8330"/>
                              </a:solidFill>
                              <a:latin typeface="Cambria Math" panose="02040503050406030204" pitchFamily="18" charset="0"/>
                            </a:rPr>
                            <m:t xml:space="preserve">=1</m:t>
                          </m:r>
                        </m:sub>
                        <m:sup>
                          <m:r>
                            <a:rPr lang="en-US" sz="2350" i="1">
                              <a:solidFill>
                                <a:srgbClr val="DF8330"/>
                              </a:solidFill>
                              <a:latin typeface="Cambria Math" panose="02040503050406030204" pitchFamily="18" charset="0"/>
                            </a:rPr>
                            <m:t xml:space="preserve">M</m:t>
                          </m:r>
                        </m:sup>
                        <m:e>
                          <m:d>
                            <m:dPr>
                              <m:begChr m:val="["/>
                              <m:endChr m:val="]"/>
                              <m:ctrlPr>
                                <a:rPr lang="en-US" sz="2350" i="1">
                                  <a:solidFill>
                                    <a:srgbClr val="DF8330"/>
                                  </a:solidFill>
                                  <a:latin typeface="Cambria Math" panose="02040503050406030204" pitchFamily="18" charset="0"/>
                                </a:rPr>
                              </m:ctrlPr>
                            </m:dPr>
                            <m:e>
                              <m:r>
                                <m:rPr>
                                  <m:sty m:val="p"/>
                                </m:rPr>
                                <a:rPr lang="en-US" sz="2350">
                                  <a:solidFill>
                                    <a:srgbClr val="DF8330"/>
                                  </a:solidFill>
                                  <a:latin typeface="Cambria Math" panose="02040503050406030204" pitchFamily="18" charset="0"/>
                                </a:rPr>
                                <m:t xml:space="preserve"> </m:t>
                              </m:r>
                              <m:sSub>
                                <m:sSubPr>
                                  <m:ctrlPr>
                                    <a:rPr lang="en-US" sz="2350" i="1">
                                      <a:solidFill>
                                        <a:srgbClr val="DF8330"/>
                                      </a:solidFill>
                                      <a:latin typeface="Cambria Math" panose="02040503050406030204" pitchFamily="18" charset="0"/>
                                    </a:rPr>
                                  </m:ctrlPr>
                                </m:sSubPr>
                                <m:e>
                                  <m:r>
                                    <a:rPr lang="en-US" sz="2350" i="1">
                                      <a:solidFill>
                                        <a:srgbClr val="DF8330"/>
                                      </a:solidFill>
                                      <a:latin typeface="Cambria Math" panose="02040503050406030204" pitchFamily="18" charset="0"/>
                                    </a:rPr>
                                    <m:t xml:space="preserve">v</m:t>
                                  </m:r>
                                </m:e>
                                <m:sub>
                                  <m:r>
                                    <m:rPr>
                                      <m:sty m:val="p"/>
                                    </m:rPr>
                                    <a:rPr lang="en-US" sz="2350">
                                      <a:solidFill>
                                        <a:srgbClr val="DF8330"/>
                                      </a:solidFill>
                                      <a:latin typeface="Cambria Math" panose="02040503050406030204" pitchFamily="18" charset="0"/>
                                    </a:rPr>
                                    <m:t xml:space="preserve">pref</m:t>
                                  </m:r>
                                </m:sub>
                              </m:sSub>
                              <m:r>
                                <m:rPr>
                                  <m:sty m:val="p"/>
                                </m:rPr>
                                <a:rPr lang="en-US" sz="2350">
                                  <a:solidFill>
                                    <a:srgbClr val="DF8330"/>
                                  </a:solidFill>
                                  <a:latin typeface="Cambria Math" panose="02040503050406030204" pitchFamily="18" charset="0"/>
                                </a:rPr>
                                <m:t xml:space="preserve">(</m:t>
                              </m:r>
                              <m:sSub>
                                <m:sSubPr>
                                  <m:ctrlPr>
                                    <a:rPr lang="en-US" sz="2350" i="1">
                                      <a:solidFill>
                                        <a:srgbClr val="DF8330"/>
                                      </a:solidFill>
                                      <a:latin typeface="Cambria Math" panose="02040503050406030204" pitchFamily="18" charset="0"/>
                                    </a:rPr>
                                  </m:ctrlPr>
                                </m:sSubPr>
                                <m:e>
                                  <m:r>
                                    <a:rPr lang="en-US" sz="2350" i="1">
                                      <a:solidFill>
                                        <a:srgbClr val="DF8330"/>
                                      </a:solidFill>
                                      <a:latin typeface="Cambria Math" panose="02040503050406030204" pitchFamily="18" charset="0"/>
                                    </a:rPr>
                                    <m:t xml:space="preserve">S</m:t>
                                  </m:r>
                                </m:e>
                                <m:sub>
                                  <m:r>
                                    <a:rPr lang="en-US" sz="2350" i="1">
                                      <a:solidFill>
                                        <a:srgbClr val="DF8330"/>
                                      </a:solidFill>
                                      <a:latin typeface="Cambria Math" panose="02040503050406030204" pitchFamily="18" charset="0"/>
                                    </a:rPr>
                                    <m:t xml:space="preserve">m</m:t>
                                  </m:r>
                                </m:sub>
                              </m:sSub>
                              <m:r>
                                <m:rPr>
                                  <m:sty m:val="p"/>
                                </m:rPr>
                                <a:rPr lang="en-US" sz="2350">
                                  <a:solidFill>
                                    <a:srgbClr val="DF8330"/>
                                  </a:solidFill>
                                  <a:latin typeface="Cambria Math" panose="02040503050406030204" pitchFamily="18" charset="0"/>
                                </a:rPr>
                                <m:t xml:space="preserve">∪{</m:t>
                              </m:r>
                              <m:r>
                                <a:rPr lang="en-US" sz="2350" i="1">
                                  <a:solidFill>
                                    <a:srgbClr val="DF8330"/>
                                  </a:solidFill>
                                  <a:latin typeface="Cambria Math" panose="02040503050406030204" pitchFamily="18" charset="0"/>
                                </a:rPr>
                                <m:t xml:space="preserve">j</m:t>
                              </m:r>
                              <m:r>
                                <m:rPr>
                                  <m:sty m:val="p"/>
                                </m:rPr>
                                <a:rPr lang="en-US" sz="2350">
                                  <a:solidFill>
                                    <a:srgbClr val="DF8330"/>
                                  </a:solidFill>
                                  <a:latin typeface="Cambria Math" panose="02040503050406030204" pitchFamily="18" charset="0"/>
                                </a:rPr>
                                <m:t xml:space="preserve">})−</m:t>
                              </m:r>
                              <m:sSub>
                                <m:sSubPr>
                                  <m:ctrlPr>
                                    <a:rPr lang="en-US" sz="2350" i="1">
                                      <a:solidFill>
                                        <a:srgbClr val="DF8330"/>
                                      </a:solidFill>
                                      <a:latin typeface="Cambria Math" panose="02040503050406030204" pitchFamily="18" charset="0"/>
                                    </a:rPr>
                                  </m:ctrlPr>
                                </m:sSubPr>
                                <m:e>
                                  <m:r>
                                    <a:rPr lang="en-US" sz="2350" i="1">
                                      <a:solidFill>
                                        <a:srgbClr val="DF8330"/>
                                      </a:solidFill>
                                      <a:latin typeface="Cambria Math" panose="02040503050406030204" pitchFamily="18" charset="0"/>
                                    </a:rPr>
                                    <m:t xml:space="preserve">v</m:t>
                                  </m:r>
                                </m:e>
                                <m:sub>
                                  <m:r>
                                    <m:rPr>
                                      <m:sty m:val="p"/>
                                    </m:rPr>
                                    <a:rPr lang="en-US" sz="2350">
                                      <a:solidFill>
                                        <a:srgbClr val="DF8330"/>
                                      </a:solidFill>
                                      <a:latin typeface="Cambria Math" panose="02040503050406030204" pitchFamily="18" charset="0"/>
                                    </a:rPr>
                                    <m:t xml:space="preserve">pref</m:t>
                                  </m:r>
                                </m:sub>
                              </m:sSub>
                              <m:r>
                                <m:rPr>
                                  <m:sty m:val="p"/>
                                </m:rPr>
                                <a:rPr lang="en-US" sz="2350">
                                  <a:solidFill>
                                    <a:srgbClr val="DF8330"/>
                                  </a:solidFill>
                                  <a:latin typeface="Cambria Math" panose="02040503050406030204" pitchFamily="18" charset="0"/>
                                </a:rPr>
                                <m:t xml:space="preserve">(</m:t>
                              </m:r>
                              <m:sSub>
                                <m:sSubPr>
                                  <m:ctrlPr>
                                    <a:rPr lang="en-US" sz="2350" i="1">
                                      <a:solidFill>
                                        <a:srgbClr val="DF8330"/>
                                      </a:solidFill>
                                      <a:latin typeface="Cambria Math" panose="02040503050406030204" pitchFamily="18" charset="0"/>
                                    </a:rPr>
                                  </m:ctrlPr>
                                </m:sSubPr>
                                <m:e>
                                  <m:r>
                                    <a:rPr lang="en-US" sz="2350" i="1">
                                      <a:solidFill>
                                        <a:srgbClr val="DF8330"/>
                                      </a:solidFill>
                                      <a:latin typeface="Cambria Math" panose="02040503050406030204" pitchFamily="18" charset="0"/>
                                    </a:rPr>
                                    <m:t xml:space="preserve">S</m:t>
                                  </m:r>
                                </m:e>
                                <m:sub>
                                  <m:r>
                                    <a:rPr lang="en-US" sz="2350" i="1">
                                      <a:solidFill>
                                        <a:srgbClr val="DF8330"/>
                                      </a:solidFill>
                                      <a:latin typeface="Cambria Math" panose="02040503050406030204" pitchFamily="18" charset="0"/>
                                    </a:rPr>
                                    <m:t xml:space="preserve">m</m:t>
                                  </m:r>
                                </m:sub>
                              </m:sSub>
                              <m:r>
                                <m:rPr>
                                  <m:sty m:val="p"/>
                                </m:rPr>
                                <a:rPr lang="en-US" sz="2350">
                                  <a:solidFill>
                                    <a:srgbClr val="DF8330"/>
                                  </a:solidFill>
                                  <a:latin typeface="Cambria Math" panose="02040503050406030204" pitchFamily="18" charset="0"/>
                                </a:rPr>
                                <m:t xml:space="preserve">) </m:t>
                              </m:r>
                            </m:e>
                          </m:d>
                        </m:e>
                      </m:nary>
                    </m:oMath>
                  </m:oMathPara>
                </a14:m>
                <a:endParaRPr lang="en-US" sz="2350"/>
              </a:p>
            </p:txBody>
          </p:sp>
        </mc:Choice>
        <mc:Fallback>
          <p:sp>
            <p:nvSpPr>
              <p:cNvPr id="31" name="Equation"/>
              <p:cNvSpPr txBox="1"/>
              <p:nvPr/>
            </p:nvSpPr>
            <p:spPr>
              <a:xfrm>
                <a:off x="1211580" y="5283962"/>
                <a:ext cx="8229600" cy="1325880"/>
              </a:xfrm>
              <a:prstGeom prst="rect">
                <a:avLst/>
              </a:prstGeom>
              <a:blipFill>
                <a:blip r:embed="rId6"/>
                <a:stretch>
                  <a:fillRect/>
                </a:stretch>
              </a:blipFill>
            </p:spPr>
            <p:txBody>
              <a:bodyPr/>
              <a:lstStyle/>
              <a:p>
                <a:endParaRPr lang="en-US"/>
              </a:p>
            </p:txBody>
          </p:sp>
        </mc:Fallback>
      </mc:AlternateContent>
      <mc:AlternateContent xmlns:mc="http://schemas.openxmlformats.org/markup-compatibility/2006">
        <mc:Choice xmlns:a14="http://schemas.microsoft.com/office/drawing/2010/main" Requires="a14">
          <p:sp>
            <p:nvSpPr>
              <p:cNvPr id="32" name="Equation"/>
              <p:cNvSpPr txBox="1"/>
              <p:nvPr/>
            </p:nvSpPr>
            <p:spPr>
              <a:xfrm>
                <a:off x="1211580" y="6838442"/>
                <a:ext cx="8229600" cy="548640"/>
              </a:xfrm>
              <a:prstGeom prst="rect">
                <a:avLst/>
              </a:prstGeom>
              <a:noFill/>
            </p:spPr>
            <p:txBody>
              <a:bodyPr wrap="none" rtlCol="0" anchor="ctr" lIns="0" tIns="0" rIns="0" bIns="0"/>
              <a:lstStyle/>
              <a:p>
                <a:pPr algn="ctr"/>
                <a14:m xmlns:m="http://schemas.openxmlformats.org/officeDocument/2006/math">
                  <m:oMathPara>
                    <m:oMathParaPr>
                      <m:jc m:val="centerGroup"/>
                    </m:oMathParaPr>
                    <m:oMath>
                      <m:r>
                        <m:rPr>
                          <m:sty m:val="p"/>
                        </m:rPr>
                        <a:rPr lang="en-US" sz="1600">
                          <a:solidFill>
                            <a:srgbClr val="111111"/>
                          </a:solidFill>
                          <a:latin typeface="Cambria Math" panose="02040503050406030204" pitchFamily="18" charset="0"/>
                        </a:rPr>
                        <m:t xml:space="preserve">Var</m:t>
                      </m:r>
                      <m:d>
                        <m:dPr>
                          <m:begChr m:val="["/>
                          <m:endChr m:val="]"/>
                          <m:ctrlPr>
                            <a:rPr lang="en-US" sz="1600" i="1">
                              <a:solidFill>
                                <a:srgbClr val="111111"/>
                              </a:solidFill>
                              <a:latin typeface="Cambria Math" panose="02040503050406030204" pitchFamily="18" charset="0"/>
                            </a:rPr>
                          </m:ctrlPr>
                        </m:dPr>
                        <m:e>
                          <m:sSub>
                            <m:sSubPr>
                              <m:ctrlPr>
                                <a:rPr lang="en-US" sz="1600" i="1">
                                  <a:solidFill>
                                    <a:srgbClr val="111111"/>
                                  </a:solidFill>
                                  <a:latin typeface="Cambria Math" panose="02040503050406030204" pitchFamily="18" charset="0"/>
                                </a:rPr>
                              </m:ctrlPr>
                            </m:sSubPr>
                            <m:e>
                              <m:acc>
                                <m:accPr>
                                  <m:chr m:val="̂"/>
                                  <m:ctrlPr>
                                    <a:rPr lang="en-US" sz="1600" i="1">
                                      <a:solidFill>
                                        <a:srgbClr val="111111"/>
                                      </a:solidFill>
                                      <a:latin typeface="Cambria Math" panose="02040503050406030204" pitchFamily="18" charset="0"/>
                                    </a:rPr>
                                  </m:ctrlPr>
                                </m:accPr>
                                <m:e>
                                  <m:r>
                                    <a:rPr lang="en-US" sz="1600" i="1">
                                      <a:solidFill>
                                        <a:srgbClr val="111111"/>
                                      </a:solidFill>
                                      <a:latin typeface="Cambria Math" panose="02040503050406030204" pitchFamily="18" charset="0"/>
                                    </a:rPr>
                                    <m:t xml:space="preserve">φ</m:t>
                                  </m:r>
                                </m:e>
                              </m:acc>
                            </m:e>
                            <m:sub>
                              <m:r>
                                <a:rPr lang="en-US" sz="1600" i="1">
                                  <a:solidFill>
                                    <a:srgbClr val="111111"/>
                                  </a:solidFill>
                                  <a:latin typeface="Cambria Math" panose="02040503050406030204" pitchFamily="18" charset="0"/>
                                </a:rPr>
                                <m:t xml:space="preserve">j</m:t>
                              </m:r>
                            </m:sub>
                          </m:sSub>
                        </m:e>
                      </m:d>
                      <m:r>
                        <m:rPr>
                          <m:sty m:val="p"/>
                        </m:rPr>
                        <a:rPr lang="en-US" sz="1600">
                          <a:solidFill>
                            <a:srgbClr val="111111"/>
                          </a:solidFill>
                          <a:latin typeface="Cambria Math" panose="02040503050406030204" pitchFamily="18" charset="0"/>
                        </a:rPr>
                        <m:t xml:space="preserve">=</m:t>
                      </m:r>
                      <m:sSup>
                        <m:sSupPr>
                          <m:ctrlPr>
                            <a:rPr lang="en-US" sz="1600" i="1">
                              <a:solidFill>
                                <a:srgbClr val="111111"/>
                              </a:solidFill>
                              <a:latin typeface="Cambria Math" panose="02040503050406030204" pitchFamily="18" charset="0"/>
                            </a:rPr>
                          </m:ctrlPr>
                        </m:sSupPr>
                        <m:e>
                          <m:r>
                            <a:rPr lang="en-US" sz="1600" i="1">
                              <a:solidFill>
                                <a:srgbClr val="111111"/>
                              </a:solidFill>
                              <a:latin typeface="Cambria Math" panose="02040503050406030204" pitchFamily="18" charset="0"/>
                            </a:rPr>
                            <m:t xml:space="preserve">σ</m:t>
                          </m:r>
                        </m:e>
                        <m:sup>
                          <m:r>
                            <m:rPr>
                              <m:sty m:val="p"/>
                            </m:rPr>
                            <a:rPr lang="en-US" sz="1600">
                              <a:solidFill>
                                <a:srgbClr val="111111"/>
                              </a:solidFill>
                              <a:latin typeface="Cambria Math" panose="02040503050406030204" pitchFamily="18" charset="0"/>
                            </a:rPr>
                            <m:t xml:space="preserve">2</m:t>
                          </m:r>
                        </m:sup>
                      </m:sSup>
                      <m:r>
                        <m:rPr>
                          <m:sty m:val="p"/>
                        </m:rPr>
                        <a:rPr lang="en-US" sz="1600">
                          <a:solidFill>
                            <a:srgbClr val="111111"/>
                          </a:solidFill>
                          <a:latin typeface="Cambria Math" panose="02040503050406030204" pitchFamily="18" charset="0"/>
                        </a:rPr>
                        <m:t xml:space="preserve">/</m:t>
                      </m:r>
                      <m:r>
                        <a:rPr lang="en-US" sz="1600" i="1">
                          <a:solidFill>
                            <a:srgbClr val="111111"/>
                          </a:solidFill>
                          <a:latin typeface="Cambria Math" panose="02040503050406030204" pitchFamily="18" charset="0"/>
                        </a:rPr>
                        <m:t xml:space="preserve">M</m:t>
                      </m:r>
                      <m:r>
                        <m:rPr>
                          <m:sty m:val="p"/>
                        </m:rPr>
                        <a:rPr lang="en-US" sz="1600">
                          <a:solidFill>
                            <a:srgbClr val="111111"/>
                          </a:solidFill>
                          <a:latin typeface="Cambria Math" panose="02040503050406030204" pitchFamily="18" charset="0"/>
                        </a:rPr>
                        <m:t xml:space="preserve">  ⇒  MSE=</m:t>
                      </m:r>
                      <m:r>
                        <a:rPr lang="en-US" sz="1600" i="1">
                          <a:solidFill>
                            <a:srgbClr val="111111"/>
                          </a:solidFill>
                          <a:latin typeface="Cambria Math" panose="02040503050406030204" pitchFamily="18" charset="0"/>
                        </a:rPr>
                        <m:t xml:space="preserve">O</m:t>
                      </m:r>
                      <m:r>
                        <m:rPr>
                          <m:sty m:val="p"/>
                        </m:rPr>
                        <a:rPr lang="en-US" sz="1600">
                          <a:solidFill>
                            <a:srgbClr val="111111"/>
                          </a:solidFill>
                          <a:latin typeface="Cambria Math" panose="02040503050406030204" pitchFamily="18" charset="0"/>
                        </a:rPr>
                        <m:t xml:space="preserve">(1/</m:t>
                      </m:r>
                      <m:r>
                        <a:rPr lang="en-US" sz="1600" i="1">
                          <a:solidFill>
                            <a:srgbClr val="111111"/>
                          </a:solidFill>
                          <a:latin typeface="Cambria Math" panose="02040503050406030204" pitchFamily="18" charset="0"/>
                        </a:rPr>
                        <m:t xml:space="preserve">M</m:t>
                      </m:r>
                      <m:r>
                        <m:rPr>
                          <m:sty m:val="p"/>
                        </m:rPr>
                        <a:rPr lang="en-US" sz="1600">
                          <a:solidFill>
                            <a:srgbClr val="111111"/>
                          </a:solidFill>
                          <a:latin typeface="Cambria Math" panose="02040503050406030204" pitchFamily="18" charset="0"/>
                        </a:rPr>
                        <m:t xml:space="preserve">), |</m:t>
                      </m:r>
                      <m:r>
                        <m:rPr>
                          <m:nor/>
                        </m:rPr>
                        <a:rPr lang="en-US" sz="1600">
                          <a:solidFill>
                            <a:srgbClr val="111111"/>
                          </a:solidFill>
                          <a:latin typeface="Cambria Math" panose="02040503050406030204" pitchFamily="18" charset="0"/>
                        </a:rPr>
                        <m:t xml:space="preserve">error</m:t>
                      </m:r>
                      <m:r>
                        <m:rPr>
                          <m:sty m:val="p"/>
                        </m:rPr>
                        <a:rPr lang="en-US" sz="1600">
                          <a:solidFill>
                            <a:srgbClr val="111111"/>
                          </a:solidFill>
                          <a:latin typeface="Cambria Math" panose="02040503050406030204" pitchFamily="18" charset="0"/>
                        </a:rPr>
                        <m:t xml:space="preserve">|=</m:t>
                      </m:r>
                      <m:r>
                        <a:rPr lang="en-US" sz="1600" i="1">
                          <a:solidFill>
                            <a:srgbClr val="111111"/>
                          </a:solidFill>
                          <a:latin typeface="Cambria Math" panose="02040503050406030204" pitchFamily="18" charset="0"/>
                        </a:rPr>
                        <m:t xml:space="preserve">O</m:t>
                      </m:r>
                      <m:r>
                        <m:rPr>
                          <m:sty m:val="p"/>
                        </m:rPr>
                        <a:rPr lang="en-US" sz="1600">
                          <a:solidFill>
                            <a:srgbClr val="111111"/>
                          </a:solidFill>
                          <a:latin typeface="Cambria Math" panose="02040503050406030204" pitchFamily="18" charset="0"/>
                        </a:rPr>
                        <m:t xml:space="preserve">(1/</m:t>
                      </m:r>
                      <m:rad>
                        <m:radPr>
                          <m:degHide m:val="1"/>
                          <m:ctrlPr>
                            <a:rPr lang="en-US" sz="1600" i="1">
                              <a:solidFill>
                                <a:srgbClr val="111111"/>
                              </a:solidFill>
                              <a:latin typeface="Cambria Math" panose="02040503050406030204" pitchFamily="18" charset="0"/>
                            </a:rPr>
                          </m:ctrlPr>
                        </m:radPr>
                        <m:deg/>
                        <m:e>
                          <m:r>
                            <a:rPr lang="en-US" sz="1600" i="1">
                              <a:solidFill>
                                <a:srgbClr val="111111"/>
                              </a:solidFill>
                              <a:latin typeface="Cambria Math" panose="02040503050406030204" pitchFamily="18" charset="0"/>
                            </a:rPr>
                            <m:t xml:space="preserve">M</m:t>
                          </m:r>
                        </m:e>
                      </m:rad>
                      <m:r>
                        <m:rPr>
                          <m:sty m:val="p"/>
                        </m:rPr>
                        <a:rPr lang="en-US" sz="1600">
                          <a:solidFill>
                            <a:srgbClr val="111111"/>
                          </a:solidFill>
                          <a:latin typeface="Cambria Math" panose="02040503050406030204" pitchFamily="18" charset="0"/>
                        </a:rPr>
                        <m:t xml:space="preserve">)</m:t>
                      </m:r>
                    </m:oMath>
                  </m:oMathPara>
                </a14:m>
                <a:endParaRPr lang="en-US" sz="1600"/>
              </a:p>
            </p:txBody>
          </p:sp>
        </mc:Choice>
        <mc:Fallback>
          <p:sp>
            <p:nvSpPr>
              <p:cNvPr id="32" name="Equation"/>
              <p:cNvSpPr txBox="1"/>
              <p:nvPr/>
            </p:nvSpPr>
            <p:spPr>
              <a:xfrm>
                <a:off x="1211580" y="6838442"/>
                <a:ext cx="8229600" cy="548640"/>
              </a:xfrm>
              <a:prstGeom prst="rect">
                <a:avLst/>
              </a:prstGeom>
              <a:blipFill>
                <a:blip r:embed="rId7"/>
                <a:stretch>
                  <a:fillRect/>
                </a:stretch>
              </a:blipFill>
            </p:spPr>
            <p:txBody>
              <a:bodyPr/>
              <a:lstStyle/>
              <a:p>
                <a:endParaRPr lang="en-US"/>
              </a:p>
            </p:txBody>
          </p:sp>
        </mc:Fallback>
      </mc:AlternateContent>
      <p:sp>
        <p:nvSpPr>
          <p:cNvPr id="33" name="TextBox 32"/>
          <p:cNvSpPr txBox="1"/>
          <p:nvPr/>
        </p:nvSpPr>
        <p:spPr>
          <a:xfrm>
            <a:off x="1028700" y="7478522"/>
            <a:ext cx="8595360" cy="1830070"/>
          </a:xfrm>
          <a:prstGeom prst="rect">
            <a:avLst/>
          </a:prstGeom>
          <a:noFill/>
        </p:spPr>
        <p:txBody>
          <a:bodyPr anchor="t" rtlCol="false" lIns="0" tIns="0" rIns="0" bIns="0" wrap="square"/>
          <a:lstStyle/>
          <a:p>
            <a:pPr algn="l" marL="274320" indent="-274320">
              <a:lnSpc>
                <a:spcPts val="2341"/>
              </a:lnSpc>
              <a:spcBef>
                <a:spcPts val="0"/>
              </a:spcBef>
              <a:buClr>
                <a:srgbClr val="DF8330"/>
              </a:buClr>
              <a:buSzPct val="100000"/>
              <a:buFont typeface="Arial"/>
              <a:buChar char="•"/>
            </a:pPr>
            <a:r>
              <a:rPr lang="en-US" sz="1672" b="true">
                <a:solidFill>
                  <a:srgbClr val="111111"/>
                </a:solidFill>
                <a:latin typeface="Nunito Bold"/>
                <a:ea typeface="Nunito Bold"/>
                <a:cs typeface="Nunito Bold"/>
                <a:sym typeface="Nunito Bold"/>
              </a:rPr>
              <a:t>Unbiased estimator:</a:t>
            </a:r>
            <a:r>
              <a:rPr lang="en-US" sz="1672" b="true">
                <a:solidFill>
                  <a:srgbClr val="111111"/>
                </a:solidFill>
                <a:latin typeface="Nunito Semi-Bold"/>
                <a:ea typeface="Nunito Semi-Bold"/>
                <a:cs typeface="Nunito Semi-Bold"/>
                <a:sym typeface="Nunito Semi-Bold"/>
              </a:rPr>
              <a:t> error shrinks as the number of permutations M grows.</a:t>
            </a:r>
          </a:p>
          <a:p>
            <a:pPr algn="l" marL="274320" indent="-274320">
              <a:lnSpc>
                <a:spcPts val="2475"/>
              </a:lnSpc>
              <a:spcBef>
                <a:spcPts val="704"/>
              </a:spcBef>
              <a:buClr>
                <a:srgbClr val="DF8330"/>
              </a:buClr>
              <a:buSzPct val="100000"/>
              <a:buFont typeface="Arial"/>
              <a:buChar char="•"/>
            </a:pPr>
            <a:r>
              <a:rPr lang="en-US" sz="1672" b="true">
                <a:solidFill>
                  <a:srgbClr val="111111"/>
                </a:solidFill>
                <a:latin typeface="Nunito Bold"/>
                <a:ea typeface="Nunito Bold"/>
                <a:cs typeface="Nunito Bold"/>
                <a:sym typeface="Nunito Bold"/>
              </a:rPr>
              <a:t>M = 50 selected:</a:t>
            </a:r>
            <a:r>
              <a:rPr lang="en-US" sz="1672" b="true">
                <a:solidFill>
                  <a:srgbClr val="111111"/>
                </a:solidFill>
                <a:latin typeface="Nunito Semi-Bold"/>
                <a:ea typeface="Nunito Semi-Bold"/>
                <a:cs typeface="Nunito Semi-Bold"/>
                <a:sym typeface="Nunito Semi-Bold"/>
              </a:rPr>
              <a:t> MSE ≈ 1.4×10</a:t>
            </a:r>
            <a:r>
              <a:rPr lang="en-US" sz="1672" b="true" baseline="30000">
                <a:solidFill>
                  <a:srgbClr val="111111"/>
                </a:solidFill>
                <a:latin typeface="Nunito Semi-Bold"/>
                <a:ea typeface="Nunito Semi-Bold"/>
                <a:cs typeface="Nunito Semi-Bold"/>
                <a:sym typeface="Nunito Semi-Bold"/>
              </a:rPr>
              <a:t>−5</a:t>
            </a:r>
            <a:r>
              <a:rPr lang="en-US" sz="1672" b="true">
                <a:solidFill>
                  <a:srgbClr val="111111"/>
                </a:solidFill>
                <a:latin typeface="Nunito Semi-Bold"/>
                <a:ea typeface="Nunito Semi-Bold"/>
                <a:cs typeface="Nunito Semi-Bold"/>
                <a:sym typeface="Nunito Semi-Bold"/>
              </a:rPr>
              <a:t>, ≈ 99 % accuracy on MovieLens-1M; M = 100 </a:t>
            </a:r>
            <a:r>
              <a:rPr lang="en-US" sz="1672" b="true">
                <a:solidFill>
                  <a:srgbClr val="111111"/>
                </a:solidFill>
                <a:latin typeface="Calibri"/>
                <a:ea typeface="Calibri"/>
                <a:cs typeface="Calibri"/>
                <a:sym typeface="Calibri"/>
              </a:rPr>
              <a:t>→ </a:t>
            </a:r>
            <a:r>
              <a:rPr lang="en-US" sz="1672" b="true">
                <a:solidFill>
                  <a:srgbClr val="111111"/>
                </a:solidFill>
                <a:latin typeface="Nunito Semi-Bold"/>
                <a:ea typeface="Nunito Semi-Bold"/>
                <a:cs typeface="Nunito Semi-Bold"/>
                <a:sym typeface="Nunito Semi-Bold"/>
              </a:rPr>
              <a:t>MSE 3.5×10</a:t>
            </a:r>
            <a:r>
              <a:rPr lang="en-US" sz="1672" b="true" baseline="30000">
                <a:solidFill>
                  <a:srgbClr val="111111"/>
                </a:solidFill>
                <a:latin typeface="Nunito Semi-Bold"/>
                <a:ea typeface="Nunito Semi-Bold"/>
                <a:cs typeface="Nunito Semi-Bold"/>
                <a:sym typeface="Nunito Semi-Bold"/>
              </a:rPr>
              <a:t>−6</a:t>
            </a:r>
            <a:r>
              <a:rPr lang="en-US" sz="1672" b="true">
                <a:solidFill>
                  <a:srgbClr val="111111"/>
                </a:solidFill>
                <a:latin typeface="Nunito Semi-Bold"/>
                <a:ea typeface="Nunito Semi-Bold"/>
                <a:cs typeface="Nunito Semi-Bold"/>
                <a:sym typeface="Nunito Semi-Bold"/>
              </a:rPr>
              <a:t> (diminishing returns).</a:t>
            </a:r>
          </a:p>
          <a:p>
            <a:pPr algn="l" marL="274320" indent="-274320">
              <a:lnSpc>
                <a:spcPts val="2341"/>
              </a:lnSpc>
              <a:spcBef>
                <a:spcPts val="704"/>
              </a:spcBef>
              <a:buClr>
                <a:srgbClr val="DF8330"/>
              </a:buClr>
              <a:buSzPct val="100000"/>
              <a:buFont typeface="Arial"/>
              <a:buChar char="•"/>
            </a:pPr>
            <a:r>
              <a:rPr lang="en-US" sz="1672" b="true">
                <a:solidFill>
                  <a:srgbClr val="111111"/>
                </a:solidFill>
                <a:latin typeface="Nunito Semi-Bold"/>
                <a:ea typeface="Nunito Semi-Bold"/>
                <a:cs typeface="Nunito Semi-Bold"/>
                <a:sym typeface="Nunito Semi-Bold"/>
              </a:rPr>
              <a:t>Refreshed </a:t>
            </a:r>
            <a:r>
              <a:rPr lang="en-US" sz="1672" b="true">
                <a:solidFill>
                  <a:srgbClr val="111111"/>
                </a:solidFill>
                <a:latin typeface="Nunito Bold"/>
                <a:ea typeface="Nunito Bold"/>
                <a:cs typeface="Nunito Bold"/>
                <a:sym typeface="Nunito Bold"/>
              </a:rPr>
              <a:t>every 10 batches</a:t>
            </a:r>
            <a:r>
              <a:rPr lang="en-US" sz="1672" b="true">
                <a:solidFill>
                  <a:srgbClr val="111111"/>
                </a:solidFill>
                <a:latin typeface="Nunito Semi-Bold"/>
                <a:ea typeface="Nunito Semi-Bold"/>
                <a:cs typeface="Nunito Semi-Bold"/>
                <a:sym typeface="Nunito Semi-Bold"/>
              </a:rPr>
              <a:t> (≈ 49 updates / epoch), smoothed by an </a:t>
            </a:r>
            <a:r>
              <a:rPr lang="en-US" sz="1672" b="true">
                <a:solidFill>
                  <a:srgbClr val="111111"/>
                </a:solidFill>
                <a:latin typeface="Nunito Bold"/>
                <a:ea typeface="Nunito Bold"/>
                <a:cs typeface="Nunito Bold"/>
                <a:sym typeface="Nunito Bold"/>
              </a:rPr>
              <a:t>exponential moving average</a:t>
            </a:r>
            <a:r>
              <a:rPr lang="en-US" sz="1672" b="true">
                <a:solidFill>
                  <a:srgbClr val="111111"/>
                </a:solidFill>
                <a:latin typeface="Nunito Semi-Bold"/>
                <a:ea typeface="Nunito Semi-Bold"/>
                <a:cs typeface="Nunito Semi-Bold"/>
                <a:sym typeface="Nunito Semi-Bold"/>
              </a:rPr>
              <a:t>.</a:t>
            </a:r>
          </a:p>
        </p:txBody>
      </p:sp>
      <p:graphicFrame>
        <p:nvGraphicFramePr>
          <p:cNvPr id="34" name="Table 33"/>
          <p:cNvGraphicFramePr>
            <a:graphicFrameLocks noGrp="1"/>
          </p:cNvGraphicFramePr>
          <p:nvPr/>
        </p:nvGraphicFramePr>
        <p:xfrm>
          <a:off x="10172700" y="3363722"/>
          <a:ext cx="7086598" cy="2267712"/>
        </p:xfrm>
        <a:graphic>
          <a:graphicData uri="http://schemas.openxmlformats.org/drawingml/2006/table">
            <a:tbl>
              <a:tblPr firstRow="0" bandRow="0" firstCol="0" lastRow="0" lastCol="0" bandCol="0">
                <a:tableStyleId>{2D5ABB26-0587-4C30-8999-92F81FD0307C}</a:tableStyleId>
              </a:tblPr>
              <a:tblGrid>
                <a:gridCol w="1635369"/>
                <a:gridCol w="2998176"/>
                <a:gridCol w="2453053"/>
              </a:tblGrid>
              <a:tr h="566928">
                <a:tc>
                  <a:txBody>
                    <a:bodyPr anchor="ctr" rtlCol="false" lIns="0" tIns="0" rIns="0" bIns="0" wrap="square"/>
                    <a:lstStyle/>
                    <a:p>
                      <a:pPr algn="ctr">
                        <a:lnSpc>
                          <a:spcPts val="2340"/>
                        </a:lnSpc>
                        <a:spcBef>
                          <a:spcPts val="0"/>
                        </a:spcBef>
                        <a:buNone/>
                      </a:pPr>
                      <a:r>
                        <a:rPr lang="en-US" sz="1800" b="true">
                          <a:solidFill>
                            <a:srgbClr val="FFFFFF"/>
                          </a:solidFill>
                          <a:latin typeface="Nunito Bold"/>
                          <a:ea typeface="Nunito Bold"/>
                          <a:cs typeface="Nunito Bold"/>
                          <a:sym typeface="Nunito Bold"/>
                        </a:rPr>
                        <a:t>M</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340"/>
                        </a:lnSpc>
                        <a:spcBef>
                          <a:spcPts val="0"/>
                        </a:spcBef>
                        <a:buNone/>
                      </a:pPr>
                      <a:r>
                        <a:rPr lang="en-US" sz="1800" b="true">
                          <a:solidFill>
                            <a:srgbClr val="FFFFFF"/>
                          </a:solidFill>
                          <a:latin typeface="Nunito Bold"/>
                          <a:ea typeface="Nunito Bold"/>
                          <a:cs typeface="Nunito Bold"/>
                          <a:sym typeface="Nunito Bold"/>
                        </a:rPr>
                        <a:t>MSE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340"/>
                        </a:lnSpc>
                        <a:spcBef>
                          <a:spcPts val="0"/>
                        </a:spcBef>
                        <a:buNone/>
                      </a:pPr>
                      <a:r>
                        <a:rPr lang="en-US" sz="1800" b="true">
                          <a:solidFill>
                            <a:srgbClr val="FFFFFF"/>
                          </a:solidFill>
                          <a:latin typeface="Nunito Bold"/>
                          <a:ea typeface="Nunito Bold"/>
                          <a:cs typeface="Nunito Bold"/>
                          <a:sym typeface="Nunito Bold"/>
                        </a:rPr>
                        <a:t>Accuracy</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566928">
                <a:tc>
                  <a:txBody>
                    <a:bodyPr anchor="ctr" rtlCol="false" lIns="0" tIns="0" rIns="0" bIns="0" wrap="square"/>
                    <a:lstStyle/>
                    <a:p>
                      <a:pPr algn="ctr">
                        <a:lnSpc>
                          <a:spcPts val="2340"/>
                        </a:lnSpc>
                        <a:spcBef>
                          <a:spcPts val="0"/>
                        </a:spcBef>
                        <a:buNone/>
                      </a:pPr>
                      <a:r>
                        <a:rPr lang="en-US" sz="1800" b="true">
                          <a:solidFill>
                            <a:srgbClr val="111111"/>
                          </a:solidFill>
                          <a:latin typeface="Nunito Bold"/>
                          <a:ea typeface="Nunito Bold"/>
                          <a:cs typeface="Nunito Bold"/>
                          <a:sym typeface="Nunito Bold"/>
                        </a:rPr>
                        <a:t>25</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 5.6×10</a:t>
                      </a:r>
                      <a:r>
                        <a:rPr lang="en-US" sz="1800" b="true">
                          <a:solidFill>
                            <a:srgbClr val="111111"/>
                          </a:solidFill>
                          <a:latin typeface="Cambria Math"/>
                          <a:ea typeface="Cambria Math"/>
                          <a:cs typeface="Cambria Math"/>
                          <a:sym typeface="Cambria Math"/>
                        </a:rPr>
                        <a:t>⁻</a:t>
                      </a:r>
                      <a:r>
                        <a:rPr lang="en-US" sz="1800" b="true">
                          <a:solidFill>
                            <a:srgbClr val="111111"/>
                          </a:solidFill>
                          <a:latin typeface="Nunito Semi-Bold"/>
                          <a:ea typeface="Nunito Semi-Bold"/>
                          <a:cs typeface="Nunito Semi-Bold"/>
                          <a:sym typeface="Nunito Semi-Bold"/>
                        </a:rPr>
                        <a:t>⁵</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 96 %</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66928">
                <a:tc>
                  <a:txBody>
                    <a:bodyPr anchor="ctr" rtlCol="false" lIns="0" tIns="0" rIns="0" bIns="0" wrap="square"/>
                    <a:lstStyle/>
                    <a:p>
                      <a:pPr algn="ctr">
                        <a:lnSpc>
                          <a:spcPts val="2340"/>
                        </a:lnSpc>
                        <a:spcBef>
                          <a:spcPts val="0"/>
                        </a:spcBef>
                        <a:buNone/>
                      </a:pPr>
                      <a:r>
                        <a:rPr lang="en-US" sz="1800" b="true">
                          <a:solidFill>
                            <a:srgbClr val="111111"/>
                          </a:solidFill>
                          <a:latin typeface="Nunito Bold"/>
                          <a:ea typeface="Nunito Bold"/>
                          <a:cs typeface="Nunito Bold"/>
                          <a:sym typeface="Nunito Bold"/>
                        </a:rPr>
                        <a:t>50 </a:t>
                      </a:r>
                      <a:r>
                        <a:rPr lang="en-US" sz="1800" b="true">
                          <a:solidFill>
                            <a:srgbClr val="111111"/>
                          </a:solidFill>
                          <a:latin typeface="Cambria Math"/>
                          <a:ea typeface="Cambria Math"/>
                          <a:cs typeface="Cambria Math"/>
                          <a:sym typeface="Cambria Math"/>
                        </a:rPr>
                        <a: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 1.4×10</a:t>
                      </a:r>
                      <a:r>
                        <a:rPr lang="en-US" sz="1800" b="true">
                          <a:solidFill>
                            <a:srgbClr val="111111"/>
                          </a:solidFill>
                          <a:latin typeface="Cambria Math"/>
                          <a:ea typeface="Cambria Math"/>
                          <a:cs typeface="Cambria Math"/>
                          <a:sym typeface="Cambria Math"/>
                        </a:rPr>
                        <a:t>⁻</a:t>
                      </a:r>
                      <a:r>
                        <a:rPr lang="en-US" sz="1800" b="true">
                          <a:solidFill>
                            <a:srgbClr val="111111"/>
                          </a:solidFill>
                          <a:latin typeface="Nunito Semi-Bold"/>
                          <a:ea typeface="Nunito Semi-Bold"/>
                          <a:cs typeface="Nunito Semi-Bold"/>
                          <a:sym typeface="Nunito Semi-Bold"/>
                        </a:rPr>
                        <a:t>⁵</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 99 %</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66928">
                <a:tc>
                  <a:txBody>
                    <a:bodyPr anchor="ctr" rtlCol="false" lIns="0" tIns="0" rIns="0" bIns="0" wrap="square"/>
                    <a:lstStyle/>
                    <a:p>
                      <a:pPr algn="ctr">
                        <a:lnSpc>
                          <a:spcPts val="2340"/>
                        </a:lnSpc>
                        <a:spcBef>
                          <a:spcPts val="0"/>
                        </a:spcBef>
                        <a:buNone/>
                      </a:pPr>
                      <a:r>
                        <a:rPr lang="en-US" sz="1800" b="true">
                          <a:solidFill>
                            <a:srgbClr val="111111"/>
                          </a:solidFill>
                          <a:latin typeface="Nunito Bold"/>
                          <a:ea typeface="Nunito Bold"/>
                          <a:cs typeface="Nunito Bold"/>
                          <a:sym typeface="Nunito Bold"/>
                        </a:rPr>
                        <a:t>100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 3.5×10</a:t>
                      </a:r>
                      <a:r>
                        <a:rPr lang="en-US" sz="1800" b="true">
                          <a:solidFill>
                            <a:srgbClr val="111111"/>
                          </a:solidFill>
                          <a:latin typeface="Cambria Math"/>
                          <a:ea typeface="Cambria Math"/>
                          <a:cs typeface="Cambria Math"/>
                          <a:sym typeface="Cambria Math"/>
                        </a:rPr>
                        <a:t>⁻</a:t>
                      </a:r>
                      <a:r>
                        <a:rPr lang="en-US" sz="1800" b="true">
                          <a:solidFill>
                            <a:srgbClr val="111111"/>
                          </a:solidFill>
                          <a:latin typeface="Nunito Semi-Bold"/>
                          <a:ea typeface="Nunito Semi-Bold"/>
                          <a:cs typeface="Nunito Semi-Bold"/>
                          <a:sym typeface="Nunito Semi-Bold"/>
                        </a:rPr>
                        <a:t>⁶</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340"/>
                        </a:lnSpc>
                        <a:spcBef>
                          <a:spcPts val="0"/>
                        </a:spcBef>
                        <a:buNone/>
                      </a:pPr>
                      <a:r>
                        <a:rPr lang="en-US" sz="1800" b="true">
                          <a:solidFill>
                            <a:srgbClr val="111111"/>
                          </a:solidFill>
                          <a:latin typeface="Nunito Semi-Bold"/>
                          <a:ea typeface="Nunito Semi-Bold"/>
                          <a:cs typeface="Nunito Semi-Bold"/>
                          <a:sym typeface="Nunito Semi-Bold"/>
                        </a:rPr>
                        <a:t>≈ 99.5 %</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35" name="TextBox 34"/>
          <p:cNvSpPr txBox="1"/>
          <p:nvPr/>
        </p:nvSpPr>
        <p:spPr>
          <a:xfrm>
            <a:off x="10172700" y="5704586"/>
            <a:ext cx="7086600" cy="36576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Semi-Bold"/>
                <a:ea typeface="Nunito Semi-Bold"/>
                <a:cs typeface="Nunito Semi-Bold"/>
                <a:sym typeface="Nunito Semi-Bold"/>
              </a:rPr>
              <a:t>M = 50 balances estimator quality against per-epoch cost; rows 25/100 show the O(1/M) trend.</a:t>
            </a:r>
          </a:p>
        </p:txBody>
      </p:sp>
      <p:sp>
        <p:nvSpPr>
          <p:cNvPr id="36" name="Rounded Rectangle 35"/>
          <p:cNvSpPr/>
          <p:nvPr/>
        </p:nvSpPr>
        <p:spPr>
          <a:xfrm>
            <a:off x="10172700" y="6362954"/>
            <a:ext cx="7086600" cy="2945638"/>
          </a:xfrm>
          <a:prstGeom prst="roundRect">
            <a:avLst>
              <a:gd name="adj" fmla="val 10554"/>
            </a:avLst>
          </a:prstGeom>
          <a:solidFill>
            <a:srgbClr val="124944"/>
          </a:solidFill>
          <a:ln>
            <a:noFill/>
          </a:ln>
        </p:spPr>
        <p:txBody>
          <a:bodyPr anchor="ctr" rtlCol="false" lIns="0" tIns="0" rIns="0" bIns="0" wrap="square"/>
          <a:lstStyle/>
          <a:p>
            <a:endParaRPr lang="en-US" sz="1800"/>
          </a:p>
        </p:txBody>
      </p:sp>
      <p:sp>
        <p:nvSpPr>
          <p:cNvPr id="37" name="Rounded Rectangle 36"/>
          <p:cNvSpPr/>
          <p:nvPr/>
        </p:nvSpPr>
        <p:spPr>
          <a:xfrm>
            <a:off x="10629900" y="6125210"/>
            <a:ext cx="3210706"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In the training loop</a:t>
            </a:r>
          </a:p>
        </p:txBody>
      </p:sp>
      <p:sp>
        <p:nvSpPr>
          <p:cNvPr id="38" name="TextBox 37"/>
          <p:cNvSpPr txBox="1"/>
          <p:nvPr/>
        </p:nvSpPr>
        <p:spPr>
          <a:xfrm>
            <a:off x="10629900" y="6957314"/>
            <a:ext cx="6217920" cy="1574038"/>
          </a:xfrm>
          <a:prstGeom prst="rect">
            <a:avLst/>
          </a:prstGeom>
          <a:noFill/>
        </p:spPr>
        <p:txBody>
          <a:bodyPr anchor="t" rtlCol="false" lIns="0" tIns="0" rIns="0" bIns="0" wrap="square"/>
          <a:lstStyle/>
          <a:p>
            <a:pPr algn="l" marL="274320" indent="-274320">
              <a:lnSpc>
                <a:spcPts val="2369"/>
              </a:lnSpc>
              <a:spcBef>
                <a:spcPts val="0"/>
              </a:spcBef>
              <a:buClr>
                <a:srgbClr val="ECC665"/>
              </a:buClr>
              <a:buSzPct val="100000"/>
              <a:buFont typeface="Arial"/>
              <a:buChar char="•"/>
            </a:pPr>
            <a:r>
              <a:rPr lang="en-US" sz="1692" b="true">
                <a:solidFill>
                  <a:srgbClr val="FFFFFF"/>
                </a:solidFill>
                <a:latin typeface="Nunito Semi-Bold"/>
                <a:ea typeface="Nunito Semi-Bold"/>
                <a:cs typeface="Nunito Semi-Bold"/>
                <a:sym typeface="Nunito Semi-Bold"/>
              </a:rPr>
              <a:t>Sample M permutations per refresh </a:t>
            </a:r>
            <a:r>
              <a:rPr lang="en-US" sz="1692" b="true">
                <a:solidFill>
                  <a:srgbClr val="FFFFFF"/>
                </a:solidFill>
                <a:latin typeface="Calibri"/>
                <a:ea typeface="Calibri"/>
                <a:cs typeface="Calibri"/>
                <a:sym typeface="Calibri"/>
              </a:rPr>
              <a:t>→ </a:t>
            </a:r>
            <a:r>
              <a:rPr lang="en-US" sz="1692" b="true">
                <a:solidFill>
                  <a:srgbClr val="FFFFFF"/>
                </a:solidFill>
                <a:latin typeface="Nunito Semi-Bold"/>
                <a:ea typeface="Nunito Semi-Bold"/>
                <a:cs typeface="Nunito Semi-Bold"/>
                <a:sym typeface="Nunito Semi-Bold"/>
              </a:rPr>
              <a:t>estimate </a:t>
            </a:r>
            <a:r>
              <a:rPr lang="en-US" sz="1692" b="true">
                <a:solidFill>
                  <a:srgbClr val="FFFFFF"/>
                </a:solidFill>
                <a:latin typeface="Cambria Math"/>
                <a:ea typeface="Cambria Math"/>
                <a:cs typeface="Cambria Math"/>
                <a:sym typeface="Cambria Math"/>
              </a:rPr>
              <a:t>φ̂ </a:t>
            </a:r>
            <a:r>
              <a:rPr lang="en-US" sz="1692" b="true">
                <a:solidFill>
                  <a:srgbClr val="FFFFFF"/>
                </a:solidFill>
                <a:latin typeface="Nunito Semi-Bold"/>
                <a:ea typeface="Nunito Semi-Bold"/>
                <a:cs typeface="Nunito Semi-Bold"/>
                <a:sym typeface="Nunito Semi-Bold"/>
              </a:rPr>
              <a:t>for the players in the episode.</a:t>
            </a:r>
          </a:p>
          <a:p>
            <a:pPr algn="l" marL="274320" indent="-274320">
              <a:lnSpc>
                <a:spcPts val="2369"/>
              </a:lnSpc>
              <a:spcBef>
                <a:spcPts val="658"/>
              </a:spcBef>
              <a:buClr>
                <a:srgbClr val="ECC665"/>
              </a:buClr>
              <a:buSzPct val="100000"/>
              <a:buFont typeface="Arial"/>
              <a:buChar char="•"/>
            </a:pPr>
            <a:r>
              <a:rPr lang="en-US" sz="1692" b="true">
                <a:solidFill>
                  <a:srgbClr val="FFFFFF"/>
                </a:solidFill>
                <a:latin typeface="Nunito Semi-Bold"/>
                <a:ea typeface="Nunito Semi-Bold"/>
                <a:cs typeface="Nunito Semi-Bold"/>
                <a:sym typeface="Nunito Semi-Bold"/>
              </a:rPr>
              <a:t>Clip, EMA-smooth, normalise </a:t>
            </a:r>
            <a:r>
              <a:rPr lang="en-US" sz="1692" b="true">
                <a:solidFill>
                  <a:srgbClr val="FFFFFF"/>
                </a:solidFill>
                <a:latin typeface="Calibri"/>
                <a:ea typeface="Calibri"/>
                <a:cs typeface="Calibri"/>
                <a:sym typeface="Calibri"/>
              </a:rPr>
              <a:t>→ </a:t>
            </a:r>
            <a:r>
              <a:rPr lang="en-US" sz="1692" b="true">
                <a:solidFill>
                  <a:srgbClr val="FFFFFF"/>
                </a:solidFill>
                <a:latin typeface="Nunito Bold"/>
                <a:ea typeface="Nunito Bold"/>
                <a:cs typeface="Nunito Bold"/>
                <a:sym typeface="Nunito Bold"/>
              </a:rPr>
              <a:t>hypergraph edge weights</a:t>
            </a:r>
            <a:r>
              <a:rPr lang="en-US" sz="1692" b="true">
                <a:solidFill>
                  <a:srgbClr val="FFFFFF"/>
                </a:solidFill>
                <a:latin typeface="Nunito Semi-Bold"/>
                <a:ea typeface="Nunito Semi-Bold"/>
                <a:cs typeface="Nunito Semi-Bold"/>
                <a:sym typeface="Nunito Semi-Bold"/>
              </a:rPr>
              <a:t>.</a:t>
            </a:r>
          </a:p>
          <a:p>
            <a:pPr algn="l" marL="274320" indent="-274320">
              <a:lnSpc>
                <a:spcPts val="2369"/>
              </a:lnSpc>
              <a:spcBef>
                <a:spcPts val="658"/>
              </a:spcBef>
              <a:buClr>
                <a:srgbClr val="ECC665"/>
              </a:buClr>
              <a:buSzPct val="100000"/>
              <a:buFont typeface="Arial"/>
              <a:buChar char="•"/>
            </a:pPr>
            <a:r>
              <a:rPr lang="en-US" sz="1692" b="true">
                <a:solidFill>
                  <a:srgbClr val="FFFFFF"/>
                </a:solidFill>
                <a:latin typeface="Nunito Semi-Bold"/>
                <a:ea typeface="Nunito Semi-Bold"/>
                <a:cs typeface="Nunito Semi-Bold"/>
                <a:sym typeface="Nunito Semi-Bold"/>
              </a:rPr>
              <a:t>Cost per epoch:</a:t>
            </a:r>
          </a:p>
        </p:txBody>
      </p:sp>
      <mc:AlternateContent xmlns:mc="http://schemas.openxmlformats.org/markup-compatibility/2006">
        <mc:Choice xmlns:a14="http://schemas.microsoft.com/office/drawing/2010/main" Requires="a14">
          <p:sp>
            <p:nvSpPr>
              <p:cNvPr id="39" name="Equation"/>
              <p:cNvSpPr txBox="1"/>
              <p:nvPr/>
            </p:nvSpPr>
            <p:spPr>
              <a:xfrm>
                <a:off x="10629900" y="8531352"/>
                <a:ext cx="6172200" cy="594360"/>
              </a:xfrm>
              <a:prstGeom prst="rect">
                <a:avLst/>
              </a:prstGeom>
              <a:noFill/>
            </p:spPr>
            <p:txBody>
              <a:bodyPr wrap="none" rtlCol="0" anchor="ctr" lIns="0" tIns="0" rIns="0" bIns="0"/>
              <a:lstStyle/>
              <a:p>
                <a:pPr algn="ctr"/>
                <a14:m xmlns:m="http://schemas.openxmlformats.org/officeDocument/2006/math">
                  <m:oMathPara>
                    <m:oMathParaPr>
                      <m:jc m:val="centerGroup"/>
                    </m:oMathParaPr>
                    <m:oMath>
                      <m:r>
                        <a:rPr lang="en-US" sz="1900" i="1">
                          <a:solidFill>
                            <a:srgbClr val="ECC665"/>
                          </a:solidFill>
                          <a:latin typeface="Cambria Math" panose="02040503050406030204" pitchFamily="18" charset="0"/>
                        </a:rPr>
                        <m:t xml:space="preserve">O</m:t>
                      </m:r>
                      <m:d>
                        <m:dPr>
                          <m:ctrlPr>
                            <a:rPr lang="en-US" sz="1900" i="1">
                              <a:solidFill>
                                <a:srgbClr val="ECC665"/>
                              </a:solidFill>
                              <a:latin typeface="Cambria Math" panose="02040503050406030204" pitchFamily="18" charset="0"/>
                            </a:rPr>
                          </m:ctrlPr>
                        </m:dPr>
                        <m:e>
                          <m:r>
                            <m:rPr>
                              <m:sty m:val="p"/>
                            </m:rPr>
                            <a:rPr lang="en-US" sz="1900">
                              <a:solidFill>
                                <a:srgbClr val="ECC665"/>
                              </a:solidFill>
                              <a:latin typeface="Cambria Math" panose="02040503050406030204" pitchFamily="18" charset="0"/>
                            </a:rPr>
                            <m:t xml:space="preserve">(</m:t>
                          </m:r>
                          <m:r>
                            <a:rPr lang="en-US" sz="1900" i="1">
                              <a:solidFill>
                                <a:srgbClr val="ECC665"/>
                              </a:solidFill>
                              <a:latin typeface="Cambria Math" panose="02040503050406030204" pitchFamily="18" charset="0"/>
                            </a:rPr>
                            <m:t xml:space="preserve">L</m:t>
                          </m:r>
                          <m:r>
                            <m:rPr>
                              <m:sty m:val="p"/>
                            </m:rPr>
                            <a:rPr lang="en-US" sz="1900">
                              <a:solidFill>
                                <a:srgbClr val="ECC665"/>
                              </a:solidFill>
                              <a:latin typeface="Cambria Math" panose="02040503050406030204" pitchFamily="18" charset="0"/>
                            </a:rPr>
                            <m:t xml:space="preserve">+1) </m:t>
                          </m:r>
                          <m:r>
                            <a:rPr lang="en-US" sz="1900" i="1">
                              <a:solidFill>
                                <a:srgbClr val="ECC665"/>
                              </a:solidFill>
                              <a:latin typeface="Cambria Math" panose="02040503050406030204" pitchFamily="18" charset="0"/>
                            </a:rPr>
                            <m:t xml:space="preserve">m</m:t>
                          </m:r>
                          <m:r>
                            <m:rPr>
                              <m:sty m:val="p"/>
                            </m:rPr>
                            <a:rPr lang="en-US" sz="1900">
                              <a:solidFill>
                                <a:srgbClr val="ECC665"/>
                              </a:solidFill>
                              <a:latin typeface="Cambria Math" panose="02040503050406030204" pitchFamily="18" charset="0"/>
                            </a:rPr>
                            <m:t xml:space="preserve"> </m:t>
                          </m:r>
                          <m:r>
                            <a:rPr lang="en-US" sz="1900" i="1">
                              <a:solidFill>
                                <a:srgbClr val="ECC665"/>
                              </a:solidFill>
                              <a:latin typeface="Cambria Math" panose="02040503050406030204" pitchFamily="18" charset="0"/>
                            </a:rPr>
                            <m:t xml:space="preserve">d</m:t>
                          </m:r>
                        </m:e>
                      </m:d>
                      <m:r>
                        <m:rPr>
                          <m:sty m:val="p"/>
                        </m:rPr>
                        <a:rPr lang="en-US" sz="1900">
                          <a:solidFill>
                            <a:srgbClr val="ECC665"/>
                          </a:solidFill>
                          <a:latin typeface="Cambria Math" panose="02040503050406030204" pitchFamily="18" charset="0"/>
                        </a:rPr>
                        <m:t xml:space="preserve">+</m:t>
                      </m:r>
                      <m:r>
                        <a:rPr lang="en-US" sz="1900" i="1">
                          <a:solidFill>
                            <a:srgbClr val="ECC665"/>
                          </a:solidFill>
                          <a:latin typeface="Cambria Math" panose="02040503050406030204" pitchFamily="18" charset="0"/>
                        </a:rPr>
                        <m:t xml:space="preserve">O</m:t>
                      </m:r>
                      <m:d>
                        <m:dPr>
                          <m:ctrlPr>
                            <a:rPr lang="en-US" sz="1900" i="1">
                              <a:solidFill>
                                <a:srgbClr val="ECC665"/>
                              </a:solidFill>
                              <a:latin typeface="Cambria Math" panose="02040503050406030204" pitchFamily="18" charset="0"/>
                            </a:rPr>
                          </m:ctrlPr>
                        </m:dPr>
                        <m:e>
                          <m:r>
                            <m:rPr>
                              <m:sty m:val="p"/>
                            </m:rPr>
                            <a:rPr lang="en-US" sz="1900">
                              <a:solidFill>
                                <a:srgbClr val="ECC665"/>
                              </a:solidFill>
                              <a:latin typeface="Cambria Math" panose="02040503050406030204" pitchFamily="18" charset="0"/>
                            </a:rPr>
                            <m:t xml:space="preserve">(</m:t>
                          </m:r>
                          <m:r>
                            <a:rPr lang="en-US" sz="1900" i="1">
                              <a:solidFill>
                                <a:srgbClr val="ECC665"/>
                              </a:solidFill>
                              <a:latin typeface="Cambria Math" panose="02040503050406030204" pitchFamily="18" charset="0"/>
                            </a:rPr>
                            <m:t xml:space="preserve">M</m:t>
                          </m:r>
                          <m:r>
                            <m:rPr>
                              <m:sty m:val="p"/>
                            </m:rPr>
                            <a:rPr lang="en-US" sz="1900">
                              <a:solidFill>
                                <a:srgbClr val="ECC665"/>
                              </a:solidFill>
                              <a:latin typeface="Cambria Math" panose="02040503050406030204" pitchFamily="18" charset="0"/>
                            </a:rPr>
                            <m:t xml:space="preserve">/</m:t>
                          </m:r>
                          <m:r>
                            <a:rPr lang="en-US" sz="1900" i="1">
                              <a:solidFill>
                                <a:srgbClr val="ECC665"/>
                              </a:solidFill>
                              <a:latin typeface="Cambria Math" panose="02040503050406030204" pitchFamily="18" charset="0"/>
                            </a:rPr>
                            <m:t xml:space="preserve">f</m:t>
                          </m:r>
                          <m:r>
                            <m:rPr>
                              <m:sty m:val="p"/>
                            </m:rPr>
                            <a:rPr lang="en-US" sz="1900">
                              <a:solidFill>
                                <a:srgbClr val="ECC665"/>
                              </a:solidFill>
                              <a:latin typeface="Cambria Math" panose="02040503050406030204" pitchFamily="18" charset="0"/>
                            </a:rPr>
                            <m:t xml:space="preserve">) </m:t>
                          </m:r>
                          <m:r>
                            <a:rPr lang="en-US" sz="1900" i="1">
                              <a:solidFill>
                                <a:srgbClr val="ECC665"/>
                              </a:solidFill>
                              <a:latin typeface="Cambria Math" panose="02040503050406030204" pitchFamily="18" charset="0"/>
                            </a:rPr>
                            <m:t xml:space="preserve">m</m:t>
                          </m:r>
                        </m:e>
                      </m:d>
                    </m:oMath>
                  </m:oMathPara>
                </a14:m>
                <a:endParaRPr lang="en-US" sz="1900"/>
              </a:p>
            </p:txBody>
          </p:sp>
        </mc:Choice>
        <mc:Fallback>
          <p:sp>
            <p:nvSpPr>
              <p:cNvPr id="39" name="Equation"/>
              <p:cNvSpPr txBox="1"/>
              <p:nvPr/>
            </p:nvSpPr>
            <p:spPr>
              <a:xfrm>
                <a:off x="10629900" y="8531352"/>
                <a:ext cx="6172200" cy="594360"/>
              </a:xfrm>
              <a:prstGeom prst="rect">
                <a:avLst/>
              </a:prstGeom>
              <a:blipFill>
                <a:blip r:embed="rId8"/>
                <a:stretch>
                  <a:fillRect/>
                </a:stretch>
              </a:blipFill>
            </p:spPr>
            <p:txBody>
              <a:bodyPr/>
              <a:lstStyle/>
              <a:p>
                <a:endParaRPr lang="en-US"/>
              </a:p>
            </p:txBody>
          </p:sp>
        </mc:Fallback>
      </mc:AlternateContent>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57</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Shapley-Weighted Hypergraph Message Passing</a:t>
            </a:r>
          </a:p>
        </p:txBody>
      </p:sp>
      <p:pic>
        <p:nvPicPr>
          <p:cNvPr id="23" name="Picture 22" descr="image.png"/>
          <p:cNvPicPr>
            <a:picLocks noChangeAspect="1"/>
          </p:cNvPicPr>
          <p:nvPr/>
        </p:nvPicPr>
        <p:blipFill>
          <a:blip r:embed="rId3"/>
          <a:stretch>
            <a:fillRect/>
          </a:stretch>
        </p:blipFill>
        <p:spPr>
          <a:xfrm>
            <a:off x="13838915" y="1673352"/>
            <a:ext cx="457200" cy="250983"/>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Rounded Rectangle 27"/>
          <p:cNvSpPr/>
          <p:nvPr/>
        </p:nvSpPr>
        <p:spPr>
          <a:xfrm>
            <a:off x="1028700" y="3363722"/>
            <a:ext cx="16230600" cy="1691640"/>
          </a:xfrm>
          <a:prstGeom prst="roundRect">
            <a:avLst>
              <a:gd name="adj" fmla="val 13513"/>
            </a:avLst>
          </a:prstGeom>
          <a:solidFill>
            <a:srgbClr val="FFFFFF"/>
          </a:solidFill>
          <a:ln w="15875">
            <a:solidFill>
              <a:srgbClr val="E3D6C4"/>
            </a:solidFill>
          </a:ln>
        </p:spPr>
        <p:txBody>
          <a:bodyPr anchor="ctr" rtlCol="false" lIns="0" tIns="0" rIns="0" bIns="0" wrap="square"/>
          <a:lstStyle/>
          <a:p>
            <a:endParaRPr lang="en-US" sz="1800"/>
          </a:p>
        </p:txBody>
      </p:sp>
      <p:pic>
        <p:nvPicPr>
          <p:cNvPr id="29" name="Picture 28" descr="dyhucog_arch.png"/>
          <p:cNvPicPr>
            <a:picLocks noChangeAspect="1"/>
          </p:cNvPicPr>
          <p:nvPr/>
        </p:nvPicPr>
        <p:blipFill>
          <a:blip r:embed="rId5"/>
          <a:stretch>
            <a:fillRect/>
          </a:stretch>
        </p:blipFill>
        <p:spPr>
          <a:xfrm>
            <a:off x="6205039" y="3500882"/>
            <a:ext cx="5877921" cy="1417320"/>
          </a:xfrm>
          <a:prstGeom prst="rect">
            <a:avLst/>
          </a:prstGeom>
        </p:spPr>
      </p:pic>
      <p:sp>
        <p:nvSpPr>
          <p:cNvPr id="30" name="TextBox 29"/>
          <p:cNvSpPr txBox="1"/>
          <p:nvPr/>
        </p:nvSpPr>
        <p:spPr>
          <a:xfrm>
            <a:off x="1211580" y="4671314"/>
            <a:ext cx="15864840" cy="411480"/>
          </a:xfrm>
          <a:prstGeom prst="rect">
            <a:avLst/>
          </a:prstGeom>
          <a:noFill/>
        </p:spPr>
        <p:txBody>
          <a:bodyPr anchor="t" rtlCol="false" lIns="0" tIns="0" rIns="0" bIns="0" wrap="square"/>
          <a:lstStyle/>
          <a:p>
            <a:pPr algn="r">
              <a:lnSpc>
                <a:spcPts val="1600"/>
              </a:lnSpc>
              <a:spcBef>
                <a:spcPts val="0"/>
              </a:spcBef>
              <a:buNone/>
            </a:pPr>
            <a:r>
              <a:rPr lang="en-US" sz="1200" b="true">
                <a:solidFill>
                  <a:srgbClr val="8A8378"/>
                </a:solidFill>
                <a:latin typeface="Nunito Semi-Bold"/>
                <a:ea typeface="Nunito Semi-Bold"/>
                <a:cs typeface="Nunito Semi-Bold"/>
                <a:sym typeface="Nunito Semi-Bold"/>
              </a:rPr>
              <a:t>Fig. 7.1 (thesis): workflow of the DyHuCoG architecture</a:t>
            </a:r>
          </a:p>
        </p:txBody>
      </p:sp>
      <p:sp>
        <p:nvSpPr>
          <p:cNvPr id="31" name="Rounded Rectangle 30"/>
          <p:cNvSpPr/>
          <p:nvPr/>
        </p:nvSpPr>
        <p:spPr>
          <a:xfrm>
            <a:off x="1028700" y="5283962"/>
            <a:ext cx="16230600" cy="609811"/>
          </a:xfrm>
          <a:prstGeom prst="roundRect">
            <a:avLst>
              <a:gd name="adj" fmla="val 23991"/>
            </a:avLst>
          </a:prstGeom>
          <a:solidFill>
            <a:srgbClr val="F6ECDF"/>
          </a:solidFill>
          <a:ln>
            <a:noFill/>
          </a:ln>
        </p:spPr>
        <p:txBody>
          <a:bodyPr anchor="ctr" rtlCol="false" lIns="0" tIns="0" rIns="0" bIns="0" wrap="square"/>
          <a:lstStyle/>
          <a:p>
            <a:endParaRPr lang="en-US" sz="1800"/>
          </a:p>
        </p:txBody>
      </p:sp>
      <p:sp>
        <p:nvSpPr>
          <p:cNvPr id="32" name="TextBox 31"/>
          <p:cNvSpPr txBox="1"/>
          <p:nvPr/>
        </p:nvSpPr>
        <p:spPr>
          <a:xfrm>
            <a:off x="1348740" y="5283962"/>
            <a:ext cx="3291840" cy="609811"/>
          </a:xfrm>
          <a:prstGeom prst="rect">
            <a:avLst/>
          </a:prstGeom>
          <a:noFill/>
        </p:spPr>
        <p:txBody>
          <a:bodyPr anchor="ctr" rtlCol="false" lIns="0" tIns="0" rIns="0" bIns="0" wrap="square"/>
          <a:lstStyle/>
          <a:p>
            <a:pPr algn="l">
              <a:lnSpc>
                <a:spcPts val="2200"/>
              </a:lnSpc>
              <a:spcBef>
                <a:spcPts val="0"/>
              </a:spcBef>
              <a:buNone/>
            </a:pPr>
            <a:r>
              <a:rPr lang="en-US" sz="1800" b="true">
                <a:solidFill>
                  <a:srgbClr val="124944"/>
                </a:solidFill>
                <a:latin typeface="Nunito Ultra-Bold"/>
                <a:ea typeface="Nunito Ultra-Bold"/>
                <a:cs typeface="Nunito Ultra-Bold"/>
                <a:sym typeface="Nunito Ultra-Bold"/>
              </a:rPr>
              <a:t>Base propagation</a:t>
            </a:r>
          </a:p>
        </p:txBody>
      </p:sp>
      <mc:AlternateContent xmlns:mc="http://schemas.openxmlformats.org/markup-compatibility/2006">
        <mc:Choice xmlns:a14="http://schemas.microsoft.com/office/drawing/2010/main" Requires="a14">
          <p:sp>
            <p:nvSpPr>
              <p:cNvPr id="33" name="Equation"/>
              <p:cNvSpPr txBox="1"/>
              <p:nvPr/>
            </p:nvSpPr>
            <p:spPr>
              <a:xfrm>
                <a:off x="4686300" y="5283962"/>
                <a:ext cx="12298680" cy="609811"/>
              </a:xfrm>
              <a:prstGeom prst="rect">
                <a:avLst/>
              </a:prstGeom>
              <a:noFill/>
            </p:spPr>
            <p:txBody>
              <a:bodyPr wrap="none" rtlCol="0" anchor="ctr" lIns="0" tIns="0" rIns="0" bIns="0"/>
              <a:lstStyle/>
              <a:p>
                <a:pPr algn="l"/>
                <a14:m xmlns:m="http://schemas.openxmlformats.org/officeDocument/2006/math">
                  <m:oMathPara>
                    <m:oMathParaPr>
                      <m:jc m:val="left"/>
                    </m:oMathParaPr>
                    <m:oMath>
                      <m:sSup>
                        <m:sSupPr>
                          <m:ctrlPr>
                            <a:rPr lang="en-US" sz="2200" i="1">
                              <a:solidFill>
                                <a:srgbClr val="111111"/>
                              </a:solidFill>
                              <a:latin typeface="Cambria Math" panose="02040503050406030204" pitchFamily="18" charset="0"/>
                            </a:rPr>
                          </m:ctrlPr>
                        </m:sSupPr>
                        <m:e>
                          <m:r>
                            <a:rPr lang="en-US" sz="2200" i="1">
                              <a:solidFill>
                                <a:srgbClr val="111111"/>
                              </a:solidFill>
                              <a:latin typeface="Cambria Math" panose="02040503050406030204" pitchFamily="18" charset="0"/>
                            </a:rPr>
                            <m:t xml:space="preserve">e</m:t>
                          </m:r>
                        </m:e>
                        <m:sup>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l</m:t>
                          </m:r>
                          <m:r>
                            <m:rPr>
                              <m:sty m:val="p"/>
                            </m:rPr>
                            <a:rPr lang="en-US" sz="2200">
                              <a:solidFill>
                                <a:srgbClr val="111111"/>
                              </a:solidFill>
                              <a:latin typeface="Cambria Math" panose="02040503050406030204" pitchFamily="18" charset="0"/>
                            </a:rPr>
                            <m:t xml:space="preserve">+1)</m:t>
                          </m:r>
                        </m:sup>
                      </m:sSup>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σ</m:t>
                      </m:r>
                      <m:d>
                        <m:dPr>
                          <m:ctrlPr>
                            <a:rPr lang="en-US" sz="2200" i="1">
                              <a:solidFill>
                                <a:srgbClr val="111111"/>
                              </a:solidFill>
                              <a:latin typeface="Cambria Math" panose="02040503050406030204" pitchFamily="18" charset="0"/>
                            </a:rPr>
                          </m:ctrlPr>
                        </m:dPr>
                        <m:e>
                          <m:sSup>
                            <m:sSupPr>
                              <m:ctrlPr>
                                <a:rPr lang="en-US" sz="2200" i="1">
                                  <a:solidFill>
                                    <a:srgbClr val="111111"/>
                                  </a:solidFill>
                                  <a:latin typeface="Cambria Math" panose="02040503050406030204" pitchFamily="18" charset="0"/>
                                </a:rPr>
                              </m:ctrlPr>
                            </m:sSupPr>
                            <m:e>
                              <m:r>
                                <a:rPr lang="en-US" sz="2200" i="1">
                                  <a:solidFill>
                                    <a:srgbClr val="111111"/>
                                  </a:solidFill>
                                  <a:latin typeface="Cambria Math" panose="02040503050406030204" pitchFamily="18" charset="0"/>
                                </a:rPr>
                                <m:t xml:space="preserve">D</m:t>
                              </m:r>
                            </m:e>
                            <m:sup>
                              <m:r>
                                <m:rPr>
                                  <m:sty m:val="p"/>
                                </m:rPr>
                                <a:rPr lang="en-US" sz="2200">
                                  <a:solidFill>
                                    <a:srgbClr val="111111"/>
                                  </a:solidFill>
                                  <a:latin typeface="Cambria Math" panose="02040503050406030204" pitchFamily="18" charset="0"/>
                                </a:rPr>
                                <m:t xml:space="preserve">−1/2</m:t>
                              </m:r>
                            </m:sup>
                          </m:sSup>
                          <m:r>
                            <a:rPr lang="en-US" sz="2200" i="1">
                              <a:solidFill>
                                <a:srgbClr val="111111"/>
                              </a:solidFill>
                              <a:latin typeface="Cambria Math" panose="02040503050406030204" pitchFamily="18" charset="0"/>
                            </a:rPr>
                            <m:t xml:space="preserve">A</m:t>
                          </m:r>
                          <m:r>
                            <m:rPr>
                              <m:sty m:val="p"/>
                            </m:rPr>
                            <a:rPr lang="en-US" sz="2200">
                              <a:solidFill>
                                <a:srgbClr val="111111"/>
                              </a:solidFill>
                              <a:latin typeface="Cambria Math" panose="02040503050406030204" pitchFamily="18" charset="0"/>
                            </a:rPr>
                            <m:t xml:space="preserve"> </m:t>
                          </m:r>
                          <m:sSup>
                            <m:sSupPr>
                              <m:ctrlPr>
                                <a:rPr lang="en-US" sz="2200" i="1">
                                  <a:solidFill>
                                    <a:srgbClr val="111111"/>
                                  </a:solidFill>
                                  <a:latin typeface="Cambria Math" panose="02040503050406030204" pitchFamily="18" charset="0"/>
                                </a:rPr>
                              </m:ctrlPr>
                            </m:sSupPr>
                            <m:e>
                              <m:r>
                                <a:rPr lang="en-US" sz="2200" i="1">
                                  <a:solidFill>
                                    <a:srgbClr val="111111"/>
                                  </a:solidFill>
                                  <a:latin typeface="Cambria Math" panose="02040503050406030204" pitchFamily="18" charset="0"/>
                                </a:rPr>
                                <m:t xml:space="preserve">D</m:t>
                              </m:r>
                            </m:e>
                            <m:sup>
                              <m:r>
                                <m:rPr>
                                  <m:sty m:val="p"/>
                                </m:rPr>
                                <a:rPr lang="en-US" sz="2200">
                                  <a:solidFill>
                                    <a:srgbClr val="111111"/>
                                  </a:solidFill>
                                  <a:latin typeface="Cambria Math" panose="02040503050406030204" pitchFamily="18" charset="0"/>
                                </a:rPr>
                                <m:t xml:space="preserve">−1/2</m:t>
                              </m:r>
                            </m:sup>
                          </m:sSup>
                          <m:r>
                            <m:rPr>
                              <m:sty m:val="p"/>
                            </m:rPr>
                            <a:rPr lang="en-US" sz="2200">
                              <a:solidFill>
                                <a:srgbClr val="111111"/>
                              </a:solidFill>
                              <a:latin typeface="Cambria Math" panose="02040503050406030204" pitchFamily="18" charset="0"/>
                            </a:rPr>
                            <m:t xml:space="preserve"> </m:t>
                          </m:r>
                          <m:sSup>
                            <m:sSupPr>
                              <m:ctrlPr>
                                <a:rPr lang="en-US" sz="2200" i="1">
                                  <a:solidFill>
                                    <a:srgbClr val="111111"/>
                                  </a:solidFill>
                                  <a:latin typeface="Cambria Math" panose="02040503050406030204" pitchFamily="18" charset="0"/>
                                </a:rPr>
                              </m:ctrlPr>
                            </m:sSupPr>
                            <m:e>
                              <m:r>
                                <a:rPr lang="en-US" sz="2200" i="1">
                                  <a:solidFill>
                                    <a:srgbClr val="111111"/>
                                  </a:solidFill>
                                  <a:latin typeface="Cambria Math" panose="02040503050406030204" pitchFamily="18" charset="0"/>
                                </a:rPr>
                                <m:t xml:space="preserve">e</m:t>
                              </m:r>
                            </m:e>
                            <m:sup>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l</m:t>
                              </m:r>
                              <m:r>
                                <m:rPr>
                                  <m:sty m:val="p"/>
                                </m:rPr>
                                <a:rPr lang="en-US" sz="2200">
                                  <a:solidFill>
                                    <a:srgbClr val="111111"/>
                                  </a:solidFill>
                                  <a:latin typeface="Cambria Math" panose="02040503050406030204" pitchFamily="18" charset="0"/>
                                </a:rPr>
                                <m:t xml:space="preserve">)</m:t>
                              </m:r>
                            </m:sup>
                          </m:sSup>
                        </m:e>
                      </m:d>
                    </m:oMath>
                  </m:oMathPara>
                </a14:m>
                <a:endParaRPr lang="en-US" sz="2200"/>
              </a:p>
            </p:txBody>
          </p:sp>
        </mc:Choice>
        <mc:Fallback>
          <p:sp>
            <p:nvSpPr>
              <p:cNvPr id="33" name="Equation"/>
              <p:cNvSpPr txBox="1"/>
              <p:nvPr/>
            </p:nvSpPr>
            <p:spPr>
              <a:xfrm>
                <a:off x="4686300" y="5283962"/>
                <a:ext cx="12298680" cy="609811"/>
              </a:xfrm>
              <a:prstGeom prst="rect">
                <a:avLst/>
              </a:prstGeom>
              <a:blipFill>
                <a:blip r:embed="rId6"/>
                <a:stretch>
                  <a:fillRect/>
                </a:stretch>
              </a:blipFill>
            </p:spPr>
            <p:txBody>
              <a:bodyPr/>
              <a:lstStyle/>
              <a:p>
                <a:endParaRPr lang="en-US"/>
              </a:p>
            </p:txBody>
          </p:sp>
        </mc:Fallback>
      </mc:AlternateContent>
      <p:sp>
        <p:nvSpPr>
          <p:cNvPr id="34" name="Rounded Rectangle 33"/>
          <p:cNvSpPr/>
          <p:nvPr/>
        </p:nvSpPr>
        <p:spPr>
          <a:xfrm>
            <a:off x="1028700" y="5985213"/>
            <a:ext cx="16230600" cy="609811"/>
          </a:xfrm>
          <a:prstGeom prst="roundRect">
            <a:avLst>
              <a:gd name="adj" fmla="val 23991"/>
            </a:avLst>
          </a:prstGeom>
          <a:solidFill>
            <a:srgbClr val="FBF4EB"/>
          </a:solidFill>
          <a:ln>
            <a:noFill/>
          </a:ln>
        </p:spPr>
        <p:txBody>
          <a:bodyPr anchor="ctr" rtlCol="false" lIns="0" tIns="0" rIns="0" bIns="0" wrap="square"/>
          <a:lstStyle/>
          <a:p>
            <a:endParaRPr lang="en-US" sz="1800"/>
          </a:p>
        </p:txBody>
      </p:sp>
      <p:sp>
        <p:nvSpPr>
          <p:cNvPr id="35" name="TextBox 34"/>
          <p:cNvSpPr txBox="1"/>
          <p:nvPr/>
        </p:nvSpPr>
        <p:spPr>
          <a:xfrm>
            <a:off x="1348740" y="5985213"/>
            <a:ext cx="3291840" cy="609811"/>
          </a:xfrm>
          <a:prstGeom prst="rect">
            <a:avLst/>
          </a:prstGeom>
          <a:noFill/>
        </p:spPr>
        <p:txBody>
          <a:bodyPr anchor="ctr" rtlCol="false" lIns="0" tIns="0" rIns="0" bIns="0" wrap="square"/>
          <a:lstStyle/>
          <a:p>
            <a:pPr algn="l">
              <a:lnSpc>
                <a:spcPts val="2200"/>
              </a:lnSpc>
              <a:spcBef>
                <a:spcPts val="0"/>
              </a:spcBef>
              <a:buNone/>
            </a:pPr>
            <a:r>
              <a:rPr lang="en-US" sz="1800" b="true">
                <a:solidFill>
                  <a:srgbClr val="124944"/>
                </a:solidFill>
                <a:latin typeface="Nunito Ultra-Bold"/>
                <a:ea typeface="Nunito Ultra-Bold"/>
                <a:cs typeface="Nunito Ultra-Bold"/>
                <a:sym typeface="Nunito Ultra-Bold"/>
              </a:rPr>
              <a:t>Shapley-weighted</a:t>
            </a:r>
          </a:p>
        </p:txBody>
      </p:sp>
      <mc:AlternateContent xmlns:mc="http://schemas.openxmlformats.org/markup-compatibility/2006">
        <mc:Choice xmlns:a14="http://schemas.microsoft.com/office/drawing/2010/main" Requires="a14">
          <p:sp>
            <p:nvSpPr>
              <p:cNvPr id="36" name="Equation"/>
              <p:cNvSpPr txBox="1"/>
              <p:nvPr/>
            </p:nvSpPr>
            <p:spPr>
              <a:xfrm>
                <a:off x="4686300" y="5985213"/>
                <a:ext cx="12298680" cy="609811"/>
              </a:xfrm>
              <a:prstGeom prst="rect">
                <a:avLst/>
              </a:prstGeom>
              <a:noFill/>
            </p:spPr>
            <p:txBody>
              <a:bodyPr wrap="none" rtlCol="0" anchor="ctr" lIns="0" tIns="0" rIns="0" bIns="0"/>
              <a:lstStyle/>
              <a:p>
                <a:pPr algn="l"/>
                <a14:m xmlns:m="http://schemas.openxmlformats.org/officeDocument/2006/math">
                  <m:oMathPara>
                    <m:oMathParaPr>
                      <m:jc m:val="left"/>
                    </m:oMathParaPr>
                    <m:oMath>
                      <m:sSubSup>
                        <m:sSubSupPr>
                          <m:ctrlPr>
                            <a:rPr lang="en-US" sz="1750" i="1">
                              <a:solidFill>
                                <a:srgbClr val="111111"/>
                              </a:solidFill>
                              <a:latin typeface="Cambria Math" panose="02040503050406030204" pitchFamily="18" charset="0"/>
                            </a:rPr>
                          </m:ctrlPr>
                        </m:sSubSupPr>
                        <m:e>
                          <m:r>
                            <a:rPr lang="en-US" sz="1750" i="1">
                              <a:solidFill>
                                <a:srgbClr val="111111"/>
                              </a:solidFill>
                              <a:latin typeface="Cambria Math" panose="02040503050406030204" pitchFamily="18" charset="0"/>
                            </a:rPr>
                            <m:t xml:space="preserve">e</m:t>
                          </m:r>
                        </m:e>
                        <m:sub>
                          <m:r>
                            <a:rPr lang="en-US" sz="1750" i="1">
                              <a:solidFill>
                                <a:srgbClr val="111111"/>
                              </a:solidFill>
                              <a:latin typeface="Cambria Math" panose="02040503050406030204" pitchFamily="18" charset="0"/>
                            </a:rPr>
                            <m:t xml:space="preserve">j</m:t>
                          </m:r>
                        </m:sub>
                        <m:sup>
                          <m:r>
                            <m:rPr>
                              <m:sty m:val="p"/>
                            </m:rPr>
                            <a:rPr lang="en-US" sz="1750">
                              <a:solidFill>
                                <a:srgbClr val="111111"/>
                              </a:solidFill>
                              <a:latin typeface="Cambria Math" panose="02040503050406030204" pitchFamily="18" charset="0"/>
                            </a:rPr>
                            <m:t xml:space="preserve">(</m:t>
                          </m:r>
                          <m:r>
                            <a:rPr lang="en-US" sz="1750" i="1">
                              <a:solidFill>
                                <a:srgbClr val="111111"/>
                              </a:solidFill>
                              <a:latin typeface="Cambria Math" panose="02040503050406030204" pitchFamily="18" charset="0"/>
                            </a:rPr>
                            <m:t xml:space="preserve">l</m:t>
                          </m:r>
                          <m:r>
                            <m:rPr>
                              <m:sty m:val="p"/>
                            </m:rPr>
                            <a:rPr lang="en-US" sz="1750">
                              <a:solidFill>
                                <a:srgbClr val="111111"/>
                              </a:solidFill>
                              <a:latin typeface="Cambria Math" panose="02040503050406030204" pitchFamily="18" charset="0"/>
                            </a:rPr>
                            <m:t xml:space="preserve">+1)</m:t>
                          </m:r>
                        </m:sup>
                      </m:sSubSup>
                      <m:r>
                        <m:rPr>
                          <m:sty m:val="p"/>
                        </m:rPr>
                        <a:rPr lang="en-US" sz="1750">
                          <a:solidFill>
                            <a:srgbClr val="111111"/>
                          </a:solidFill>
                          <a:latin typeface="Cambria Math" panose="02040503050406030204" pitchFamily="18" charset="0"/>
                        </a:rPr>
                        <m:t xml:space="preserve">=</m:t>
                      </m:r>
                      <m:r>
                        <a:rPr lang="en-US" sz="1750" i="1">
                          <a:solidFill>
                            <a:srgbClr val="111111"/>
                          </a:solidFill>
                          <a:latin typeface="Cambria Math" panose="02040503050406030204" pitchFamily="18" charset="0"/>
                        </a:rPr>
                        <m:t xml:space="preserve">σ</m:t>
                      </m:r>
                      <m:d>
                        <m:dPr>
                          <m:ctrlPr>
                            <a:rPr lang="en-US" sz="1750" i="1">
                              <a:solidFill>
                                <a:srgbClr val="111111"/>
                              </a:solidFill>
                              <a:latin typeface="Cambria Math" panose="02040503050406030204" pitchFamily="18" charset="0"/>
                            </a:rPr>
                          </m:ctrlPr>
                        </m:dPr>
                        <m:e>
                          <m:sSup>
                            <m:sSupPr>
                              <m:ctrlPr>
                                <a:rPr lang="en-US" sz="1750" i="1">
                                  <a:solidFill>
                                    <a:srgbClr val="111111"/>
                                  </a:solidFill>
                                  <a:latin typeface="Cambria Math" panose="02040503050406030204" pitchFamily="18" charset="0"/>
                                </a:rPr>
                              </m:ctrlPr>
                            </m:sSupPr>
                            <m:e>
                              <m:r>
                                <a:rPr lang="en-US" sz="1750" i="1">
                                  <a:solidFill>
                                    <a:srgbClr val="111111"/>
                                  </a:solidFill>
                                  <a:latin typeface="Cambria Math" panose="02040503050406030204" pitchFamily="18" charset="0"/>
                                </a:rPr>
                                <m:t xml:space="preserve">W</m:t>
                              </m:r>
                            </m:e>
                            <m:sup>
                              <m:r>
                                <m:rPr>
                                  <m:sty m:val="p"/>
                                </m:rPr>
                                <a:rPr lang="en-US" sz="1750">
                                  <a:solidFill>
                                    <a:srgbClr val="111111"/>
                                  </a:solidFill>
                                  <a:latin typeface="Cambria Math" panose="02040503050406030204" pitchFamily="18" charset="0"/>
                                </a:rPr>
                                <m:t xml:space="preserve">(</m:t>
                              </m:r>
                              <m:r>
                                <a:rPr lang="en-US" sz="1750" i="1">
                                  <a:solidFill>
                                    <a:srgbClr val="111111"/>
                                  </a:solidFill>
                                  <a:latin typeface="Cambria Math" panose="02040503050406030204" pitchFamily="18" charset="0"/>
                                </a:rPr>
                                <m:t xml:space="preserve">l</m:t>
                              </m:r>
                              <m:r>
                                <m:rPr>
                                  <m:sty m:val="p"/>
                                </m:rPr>
                                <a:rPr lang="en-US" sz="1750">
                                  <a:solidFill>
                                    <a:srgbClr val="111111"/>
                                  </a:solidFill>
                                  <a:latin typeface="Cambria Math" panose="02040503050406030204" pitchFamily="18" charset="0"/>
                                </a:rPr>
                                <m:t xml:space="preserve">)</m:t>
                              </m:r>
                            </m:sup>
                          </m:sSup>
                          <m:sSubSup>
                            <m:sSubSupPr>
                              <m:ctrlPr>
                                <a:rPr lang="en-US" sz="1750" i="1">
                                  <a:solidFill>
                                    <a:srgbClr val="111111"/>
                                  </a:solidFill>
                                  <a:latin typeface="Cambria Math" panose="02040503050406030204" pitchFamily="18" charset="0"/>
                                </a:rPr>
                              </m:ctrlPr>
                            </m:sSubSupPr>
                            <m:e>
                              <m:r>
                                <a:rPr lang="en-US" sz="1750" i="1">
                                  <a:solidFill>
                                    <a:srgbClr val="111111"/>
                                  </a:solidFill>
                                  <a:latin typeface="Cambria Math" panose="02040503050406030204" pitchFamily="18" charset="0"/>
                                </a:rPr>
                                <m:t xml:space="preserve">e</m:t>
                              </m:r>
                            </m:e>
                            <m:sub>
                              <m:r>
                                <a:rPr lang="en-US" sz="1750" i="1">
                                  <a:solidFill>
                                    <a:srgbClr val="111111"/>
                                  </a:solidFill>
                                  <a:latin typeface="Cambria Math" panose="02040503050406030204" pitchFamily="18" charset="0"/>
                                </a:rPr>
                                <m:t xml:space="preserve">j</m:t>
                              </m:r>
                            </m:sub>
                            <m:sup>
                              <m:r>
                                <m:rPr>
                                  <m:sty m:val="p"/>
                                </m:rPr>
                                <a:rPr lang="en-US" sz="1750">
                                  <a:solidFill>
                                    <a:srgbClr val="111111"/>
                                  </a:solidFill>
                                  <a:latin typeface="Cambria Math" panose="02040503050406030204" pitchFamily="18" charset="0"/>
                                </a:rPr>
                                <m:t xml:space="preserve">(</m:t>
                              </m:r>
                              <m:r>
                                <a:rPr lang="en-US" sz="1750" i="1">
                                  <a:solidFill>
                                    <a:srgbClr val="111111"/>
                                  </a:solidFill>
                                  <a:latin typeface="Cambria Math" panose="02040503050406030204" pitchFamily="18" charset="0"/>
                                </a:rPr>
                                <m:t xml:space="preserve">l</m:t>
                              </m:r>
                              <m:r>
                                <m:rPr>
                                  <m:sty m:val="p"/>
                                </m:rPr>
                                <a:rPr lang="en-US" sz="1750">
                                  <a:solidFill>
                                    <a:srgbClr val="111111"/>
                                  </a:solidFill>
                                  <a:latin typeface="Cambria Math" panose="02040503050406030204" pitchFamily="18" charset="0"/>
                                </a:rPr>
                                <m:t xml:space="preserve">)</m:t>
                              </m:r>
                            </m:sup>
                          </m:sSubSup>
                          <m:r>
                            <m:rPr>
                              <m:sty m:val="p"/>
                            </m:rPr>
                            <a:rPr lang="en-US" sz="1750">
                              <a:solidFill>
                                <a:srgbClr val="111111"/>
                              </a:solidFill>
                              <a:latin typeface="Cambria Math" panose="02040503050406030204" pitchFamily="18" charset="0"/>
                            </a:rPr>
                            <m:t xml:space="preserve">+</m:t>
                          </m:r>
                          <m:nary>
                            <m:naryPr>
                              <m:chr m:val="∑"/>
                              <m:limLoc m:val="subSup"/>
                              <m:supHide m:val="1"/>
                              <m:ctrlPr>
                                <a:rPr lang="en-US" sz="1750" i="1">
                                  <a:solidFill>
                                    <a:srgbClr val="111111"/>
                                  </a:solidFill>
                                  <a:latin typeface="Cambria Math" panose="02040503050406030204" pitchFamily="18" charset="0"/>
                                </a:rPr>
                              </m:ctrlPr>
                            </m:naryPr>
                            <m:sub>
                              <m:r>
                                <a:rPr lang="en-US" sz="1750" i="1">
                                  <a:solidFill>
                                    <a:srgbClr val="111111"/>
                                  </a:solidFill>
                                  <a:latin typeface="Cambria Math" panose="02040503050406030204" pitchFamily="18" charset="0"/>
                                </a:rPr>
                                <m:t xml:space="preserve">k</m:t>
                              </m:r>
                              <m:r>
                                <m:rPr>
                                  <m:sty m:val="p"/>
                                </m:rPr>
                                <a:rPr lang="en-US" sz="1750">
                                  <a:solidFill>
                                    <a:srgbClr val="111111"/>
                                  </a:solidFill>
                                  <a:latin typeface="Cambria Math" panose="02040503050406030204" pitchFamily="18" charset="0"/>
                                </a:rPr>
                                <m:t xml:space="preserve">∈</m:t>
                              </m:r>
                              <m:r>
                                <m:rPr>
                                  <m:scr m:val="script"/>
                                  <m:sty m:val="p"/>
                                </m:rPr>
                                <a:rPr lang="en-US" sz="1750">
                                  <a:solidFill>
                                    <a:srgbClr val="111111"/>
                                  </a:solidFill>
                                  <a:latin typeface="Cambria Math" panose="02040503050406030204" pitchFamily="18" charset="0"/>
                                </a:rPr>
                                <m:t xml:space="preserve">N</m:t>
                              </m:r>
                              <m:r>
                                <m:rPr>
                                  <m:sty m:val="p"/>
                                </m:rPr>
                                <a:rPr lang="en-US" sz="1750">
                                  <a:solidFill>
                                    <a:srgbClr val="111111"/>
                                  </a:solidFill>
                                  <a:latin typeface="Cambria Math" panose="02040503050406030204" pitchFamily="18" charset="0"/>
                                </a:rPr>
                                <m:t xml:space="preserve">(</m:t>
                              </m:r>
                              <m:r>
                                <a:rPr lang="en-US" sz="1750" i="1">
                                  <a:solidFill>
                                    <a:srgbClr val="111111"/>
                                  </a:solidFill>
                                  <a:latin typeface="Cambria Math" panose="02040503050406030204" pitchFamily="18" charset="0"/>
                                </a:rPr>
                                <m:t xml:space="preserve">j</m:t>
                              </m:r>
                              <m:r>
                                <m:rPr>
                                  <m:sty m:val="p"/>
                                </m:rPr>
                                <a:rPr lang="en-US" sz="1750">
                                  <a:solidFill>
                                    <a:srgbClr val="111111"/>
                                  </a:solidFill>
                                  <a:latin typeface="Cambria Math" panose="02040503050406030204" pitchFamily="18" charset="0"/>
                                </a:rPr>
                                <m:t xml:space="preserve">)</m:t>
                              </m:r>
                            </m:sub>
                            <m:sup/>
                            <m:e>
                              <m:sSub>
                                <m:sSubPr>
                                  <m:ctrlPr>
                                    <a:rPr lang="en-US" sz="1750" i="1">
                                      <a:solidFill>
                                        <a:srgbClr val="111111"/>
                                      </a:solidFill>
                                      <a:latin typeface="Cambria Math" panose="02040503050406030204" pitchFamily="18" charset="0"/>
                                    </a:rPr>
                                  </m:ctrlPr>
                                </m:sSubPr>
                                <m:e>
                                  <m:r>
                                    <a:rPr lang="en-US" sz="1750" i="1">
                                      <a:solidFill>
                                        <a:srgbClr val="111111"/>
                                      </a:solidFill>
                                      <a:latin typeface="Cambria Math" panose="02040503050406030204" pitchFamily="18" charset="0"/>
                                    </a:rPr>
                                    <m:t xml:space="preserve">w</m:t>
                                  </m:r>
                                </m:e>
                                <m:sub>
                                  <m:r>
                                    <a:rPr lang="en-US" sz="1750" i="1">
                                      <a:solidFill>
                                        <a:srgbClr val="111111"/>
                                      </a:solidFill>
                                      <a:latin typeface="Cambria Math" panose="02040503050406030204" pitchFamily="18" charset="0"/>
                                    </a:rPr>
                                    <m:t xml:space="preserve">jk</m:t>
                                  </m:r>
                                </m:sub>
                              </m:sSub>
                            </m:e>
                          </m:nary>
                          <m:r>
                            <m:rPr>
                              <m:sty m:val="p"/>
                            </m:rPr>
                            <a:rPr lang="en-US" sz="1750">
                              <a:solidFill>
                                <a:srgbClr val="111111"/>
                              </a:solidFill>
                              <a:latin typeface="Cambria Math" panose="02040503050406030204" pitchFamily="18" charset="0"/>
                            </a:rPr>
                            <m:t xml:space="preserve"> </m:t>
                          </m:r>
                          <m:sSubSup>
                            <m:sSubSupPr>
                              <m:ctrlPr>
                                <a:rPr lang="en-US" sz="1750" i="1">
                                  <a:solidFill>
                                    <a:srgbClr val="111111"/>
                                  </a:solidFill>
                                  <a:latin typeface="Cambria Math" panose="02040503050406030204" pitchFamily="18" charset="0"/>
                                </a:rPr>
                              </m:ctrlPr>
                            </m:sSubSupPr>
                            <m:e>
                              <m:r>
                                <a:rPr lang="en-US" sz="1750" i="1">
                                  <a:solidFill>
                                    <a:srgbClr val="111111"/>
                                  </a:solidFill>
                                  <a:latin typeface="Cambria Math" panose="02040503050406030204" pitchFamily="18" charset="0"/>
                                </a:rPr>
                                <m:t xml:space="preserve">e</m:t>
                              </m:r>
                            </m:e>
                            <m:sub>
                              <m:r>
                                <a:rPr lang="en-US" sz="1750" i="1">
                                  <a:solidFill>
                                    <a:srgbClr val="111111"/>
                                  </a:solidFill>
                                  <a:latin typeface="Cambria Math" panose="02040503050406030204" pitchFamily="18" charset="0"/>
                                </a:rPr>
                                <m:t xml:space="preserve">k</m:t>
                              </m:r>
                            </m:sub>
                            <m:sup>
                              <m:r>
                                <m:rPr>
                                  <m:sty m:val="p"/>
                                </m:rPr>
                                <a:rPr lang="en-US" sz="1750">
                                  <a:solidFill>
                                    <a:srgbClr val="111111"/>
                                  </a:solidFill>
                                  <a:latin typeface="Cambria Math" panose="02040503050406030204" pitchFamily="18" charset="0"/>
                                </a:rPr>
                                <m:t xml:space="preserve">(</m:t>
                              </m:r>
                              <m:r>
                                <a:rPr lang="en-US" sz="1750" i="1">
                                  <a:solidFill>
                                    <a:srgbClr val="111111"/>
                                  </a:solidFill>
                                  <a:latin typeface="Cambria Math" panose="02040503050406030204" pitchFamily="18" charset="0"/>
                                </a:rPr>
                                <m:t xml:space="preserve">l</m:t>
                              </m:r>
                              <m:r>
                                <m:rPr>
                                  <m:sty m:val="p"/>
                                </m:rPr>
                                <a:rPr lang="en-US" sz="1750">
                                  <a:solidFill>
                                    <a:srgbClr val="111111"/>
                                  </a:solidFill>
                                  <a:latin typeface="Cambria Math" panose="02040503050406030204" pitchFamily="18" charset="0"/>
                                </a:rPr>
                                <m:t xml:space="preserve">)</m:t>
                              </m:r>
                            </m:sup>
                          </m:sSubSup>
                        </m:e>
                      </m:d>
                    </m:oMath>
                  </m:oMathPara>
                </a14:m>
                <a:endParaRPr lang="en-US" sz="1750"/>
              </a:p>
            </p:txBody>
          </p:sp>
        </mc:Choice>
        <mc:Fallback>
          <p:sp>
            <p:nvSpPr>
              <p:cNvPr id="36" name="Equation"/>
              <p:cNvSpPr txBox="1"/>
              <p:nvPr/>
            </p:nvSpPr>
            <p:spPr>
              <a:xfrm>
                <a:off x="4686300" y="5985213"/>
                <a:ext cx="12298680" cy="609811"/>
              </a:xfrm>
              <a:prstGeom prst="rect">
                <a:avLst/>
              </a:prstGeom>
              <a:blipFill>
                <a:blip r:embed="rId7"/>
                <a:stretch>
                  <a:fillRect/>
                </a:stretch>
              </a:blipFill>
            </p:spPr>
            <p:txBody>
              <a:bodyPr/>
              <a:lstStyle/>
              <a:p>
                <a:endParaRPr lang="en-US"/>
              </a:p>
            </p:txBody>
          </p:sp>
        </mc:Fallback>
      </mc:AlternateContent>
      <p:sp>
        <p:nvSpPr>
          <p:cNvPr id="37" name="Rounded Rectangle 36"/>
          <p:cNvSpPr/>
          <p:nvPr/>
        </p:nvSpPr>
        <p:spPr>
          <a:xfrm>
            <a:off x="1028700" y="6686465"/>
            <a:ext cx="16230600" cy="609811"/>
          </a:xfrm>
          <a:prstGeom prst="roundRect">
            <a:avLst>
              <a:gd name="adj" fmla="val 23991"/>
            </a:avLst>
          </a:prstGeom>
          <a:solidFill>
            <a:srgbClr val="F6ECDF"/>
          </a:solidFill>
          <a:ln>
            <a:noFill/>
          </a:ln>
        </p:spPr>
        <p:txBody>
          <a:bodyPr anchor="ctr" rtlCol="false" lIns="0" tIns="0" rIns="0" bIns="0" wrap="square"/>
          <a:lstStyle/>
          <a:p>
            <a:endParaRPr lang="en-US" sz="1800"/>
          </a:p>
        </p:txBody>
      </p:sp>
      <p:sp>
        <p:nvSpPr>
          <p:cNvPr id="38" name="TextBox 37"/>
          <p:cNvSpPr txBox="1"/>
          <p:nvPr/>
        </p:nvSpPr>
        <p:spPr>
          <a:xfrm>
            <a:off x="1348740" y="6686465"/>
            <a:ext cx="3291840" cy="609811"/>
          </a:xfrm>
          <a:prstGeom prst="rect">
            <a:avLst/>
          </a:prstGeom>
          <a:noFill/>
        </p:spPr>
        <p:txBody>
          <a:bodyPr anchor="ctr" rtlCol="false" lIns="0" tIns="0" rIns="0" bIns="0" wrap="square"/>
          <a:lstStyle/>
          <a:p>
            <a:pPr algn="l">
              <a:lnSpc>
                <a:spcPts val="2200"/>
              </a:lnSpc>
              <a:spcBef>
                <a:spcPts val="0"/>
              </a:spcBef>
              <a:buNone/>
            </a:pPr>
            <a:r>
              <a:rPr lang="en-US" sz="1800" b="true">
                <a:solidFill>
                  <a:srgbClr val="124944"/>
                </a:solidFill>
                <a:latin typeface="Nunito Ultra-Bold"/>
                <a:ea typeface="Nunito Ultra-Bold"/>
                <a:cs typeface="Nunito Ultra-Bold"/>
                <a:sym typeface="Nunito Ultra-Bold"/>
              </a:rPr>
              <a:t>Normalised weights</a:t>
            </a:r>
          </a:p>
        </p:txBody>
      </p:sp>
      <mc:AlternateContent xmlns:mc="http://schemas.openxmlformats.org/markup-compatibility/2006">
        <mc:Choice xmlns:a14="http://schemas.microsoft.com/office/drawing/2010/main" Requires="a14">
          <p:sp>
            <p:nvSpPr>
              <p:cNvPr id="39" name="Equation"/>
              <p:cNvSpPr txBox="1"/>
              <p:nvPr/>
            </p:nvSpPr>
            <p:spPr>
              <a:xfrm>
                <a:off x="4686300" y="6686465"/>
                <a:ext cx="9372600" cy="609811"/>
              </a:xfrm>
              <a:prstGeom prst="rect">
                <a:avLst/>
              </a:prstGeom>
              <a:noFill/>
            </p:spPr>
            <p:txBody>
              <a:bodyPr wrap="none" rtlCol="0" anchor="ctr" lIns="0" tIns="0" rIns="0" bIns="0"/>
              <a:lstStyle/>
              <a:p>
                <a:pPr algn="l"/>
                <a14:m xmlns:m="http://schemas.openxmlformats.org/officeDocument/2006/math">
                  <m:oMathPara>
                    <m:oMathParaPr>
                      <m:jc m:val="left"/>
                    </m:oMathParaPr>
                    <m:oMath>
                      <m:sSub>
                        <m:sSubPr>
                          <m:ctrlPr>
                            <a:rPr lang="en-US" sz="2050" i="1">
                              <a:solidFill>
                                <a:srgbClr val="111111"/>
                              </a:solidFill>
                              <a:latin typeface="Cambria Math" panose="02040503050406030204" pitchFamily="18" charset="0"/>
                            </a:rPr>
                          </m:ctrlPr>
                        </m:sSubPr>
                        <m:e>
                          <m:r>
                            <a:rPr lang="en-US" sz="2050" i="1">
                              <a:solidFill>
                                <a:srgbClr val="111111"/>
                              </a:solidFill>
                              <a:latin typeface="Cambria Math" panose="02040503050406030204" pitchFamily="18" charset="0"/>
                            </a:rPr>
                            <m:t xml:space="preserve">w</m:t>
                          </m:r>
                        </m:e>
                        <m:sub>
                          <m:r>
                            <a:rPr lang="en-US" sz="2050" i="1">
                              <a:solidFill>
                                <a:srgbClr val="111111"/>
                              </a:solidFill>
                              <a:latin typeface="Cambria Math" panose="02040503050406030204" pitchFamily="18" charset="0"/>
                            </a:rPr>
                            <m:t xml:space="preserve">jk</m:t>
                          </m:r>
                        </m:sub>
                      </m:sSub>
                      <m:r>
                        <m:rPr>
                          <m:sty m:val="p"/>
                        </m:rPr>
                        <a:rPr lang="en-US" sz="2050">
                          <a:solidFill>
                            <a:srgbClr val="111111"/>
                          </a:solidFill>
                          <a:latin typeface="Cambria Math" panose="02040503050406030204" pitchFamily="18" charset="0"/>
                        </a:rPr>
                        <m:t xml:space="preserve">=</m:t>
                      </m:r>
                      <m:sSub>
                        <m:sSubPr>
                          <m:ctrlPr>
                            <a:rPr lang="en-US" sz="2050" i="1">
                              <a:solidFill>
                                <a:srgbClr val="111111"/>
                              </a:solidFill>
                              <a:latin typeface="Cambria Math" panose="02040503050406030204" pitchFamily="18" charset="0"/>
                            </a:rPr>
                          </m:ctrlPr>
                        </m:sSubPr>
                        <m:e>
                          <m:acc>
                            <m:accPr>
                              <m:chr m:val="̂"/>
                              <m:ctrlPr>
                                <a:rPr lang="en-US" sz="2050" i="1">
                                  <a:solidFill>
                                    <a:srgbClr val="111111"/>
                                  </a:solidFill>
                                  <a:latin typeface="Cambria Math" panose="02040503050406030204" pitchFamily="18" charset="0"/>
                                </a:rPr>
                              </m:ctrlPr>
                            </m:accPr>
                            <m:e>
                              <m:r>
                                <a:rPr lang="en-US" sz="2050" i="1">
                                  <a:solidFill>
                                    <a:srgbClr val="111111"/>
                                  </a:solidFill>
                                  <a:latin typeface="Cambria Math" panose="02040503050406030204" pitchFamily="18" charset="0"/>
                                </a:rPr>
                                <m:t xml:space="preserve">φ</m:t>
                              </m:r>
                            </m:e>
                          </m:acc>
                        </m:e>
                        <m:sub>
                          <m:r>
                            <a:rPr lang="en-US" sz="2050" i="1">
                              <a:solidFill>
                                <a:srgbClr val="111111"/>
                              </a:solidFill>
                              <a:latin typeface="Cambria Math" panose="02040503050406030204" pitchFamily="18" charset="0"/>
                            </a:rPr>
                            <m:t xml:space="preserve">jk</m:t>
                          </m:r>
                        </m:sub>
                      </m:sSub>
                      <m:r>
                        <m:rPr>
                          <m:sty m:val="p"/>
                        </m:rPr>
                        <a:rPr lang="en-US" sz="2050">
                          <a:solidFill>
                            <a:srgbClr val="111111"/>
                          </a:solidFill>
                          <a:latin typeface="Cambria Math" panose="02040503050406030204" pitchFamily="18" charset="0"/>
                        </a:rPr>
                        <m:t xml:space="preserve"> / </m:t>
                      </m:r>
                      <m:nary>
                        <m:naryPr>
                          <m:chr m:val="∑"/>
                          <m:limLoc m:val="subSup"/>
                          <m:supHide m:val="1"/>
                          <m:ctrlPr>
                            <a:rPr lang="en-US" sz="2050" i="1">
                              <a:solidFill>
                                <a:srgbClr val="111111"/>
                              </a:solidFill>
                              <a:latin typeface="Cambria Math" panose="02040503050406030204" pitchFamily="18" charset="0"/>
                            </a:rPr>
                          </m:ctrlPr>
                        </m:naryPr>
                        <m:sub>
                          <m:r>
                            <a:rPr lang="en-US" sz="2050" i="1">
                              <a:solidFill>
                                <a:srgbClr val="111111"/>
                              </a:solidFill>
                              <a:latin typeface="Cambria Math" panose="02040503050406030204" pitchFamily="18" charset="0"/>
                            </a:rPr>
                            <m:t xml:space="preserve">k′</m:t>
                          </m:r>
                          <m:r>
                            <m:rPr>
                              <m:sty m:val="p"/>
                            </m:rPr>
                            <a:rPr lang="en-US" sz="2050">
                              <a:solidFill>
                                <a:srgbClr val="111111"/>
                              </a:solidFill>
                              <a:latin typeface="Cambria Math" panose="02040503050406030204" pitchFamily="18" charset="0"/>
                            </a:rPr>
                            <m:t xml:space="preserve">∈</m:t>
                          </m:r>
                          <m:r>
                            <m:rPr>
                              <m:scr m:val="script"/>
                              <m:sty m:val="p"/>
                            </m:rPr>
                            <a:rPr lang="en-US" sz="2050">
                              <a:solidFill>
                                <a:srgbClr val="111111"/>
                              </a:solidFill>
                              <a:latin typeface="Cambria Math" panose="02040503050406030204" pitchFamily="18" charset="0"/>
                            </a:rPr>
                            <m:t xml:space="preserve">N</m:t>
                          </m:r>
                          <m:r>
                            <m:rPr>
                              <m:sty m:val="p"/>
                            </m:rPr>
                            <a:rPr lang="en-US" sz="2050">
                              <a:solidFill>
                                <a:srgbClr val="111111"/>
                              </a:solidFill>
                              <a:latin typeface="Cambria Math" panose="02040503050406030204" pitchFamily="18" charset="0"/>
                            </a:rPr>
                            <m:t xml:space="preserve">(</m:t>
                          </m:r>
                          <m:r>
                            <a:rPr lang="en-US" sz="2050" i="1">
                              <a:solidFill>
                                <a:srgbClr val="111111"/>
                              </a:solidFill>
                              <a:latin typeface="Cambria Math" panose="02040503050406030204" pitchFamily="18" charset="0"/>
                            </a:rPr>
                            <m:t xml:space="preserve">j</m:t>
                          </m:r>
                          <m:r>
                            <m:rPr>
                              <m:sty m:val="p"/>
                            </m:rPr>
                            <a:rPr lang="en-US" sz="2050">
                              <a:solidFill>
                                <a:srgbClr val="111111"/>
                              </a:solidFill>
                              <a:latin typeface="Cambria Math" panose="02040503050406030204" pitchFamily="18" charset="0"/>
                            </a:rPr>
                            <m:t xml:space="preserve">)</m:t>
                          </m:r>
                        </m:sub>
                        <m:sup/>
                        <m:e>
                          <m:sSub>
                            <m:sSubPr>
                              <m:ctrlPr>
                                <a:rPr lang="en-US" sz="2050" i="1">
                                  <a:solidFill>
                                    <a:srgbClr val="111111"/>
                                  </a:solidFill>
                                  <a:latin typeface="Cambria Math" panose="02040503050406030204" pitchFamily="18" charset="0"/>
                                </a:rPr>
                              </m:ctrlPr>
                            </m:sSubPr>
                            <m:e>
                              <m:acc>
                                <m:accPr>
                                  <m:chr m:val="̂"/>
                                  <m:ctrlPr>
                                    <a:rPr lang="en-US" sz="2050" i="1">
                                      <a:solidFill>
                                        <a:srgbClr val="111111"/>
                                      </a:solidFill>
                                      <a:latin typeface="Cambria Math" panose="02040503050406030204" pitchFamily="18" charset="0"/>
                                    </a:rPr>
                                  </m:ctrlPr>
                                </m:accPr>
                                <m:e>
                                  <m:r>
                                    <a:rPr lang="en-US" sz="2050" i="1">
                                      <a:solidFill>
                                        <a:srgbClr val="111111"/>
                                      </a:solidFill>
                                      <a:latin typeface="Cambria Math" panose="02040503050406030204" pitchFamily="18" charset="0"/>
                                    </a:rPr>
                                    <m:t xml:space="preserve">φ</m:t>
                                  </m:r>
                                </m:e>
                              </m:acc>
                            </m:e>
                            <m:sub>
                              <m:r>
                                <a:rPr lang="en-US" sz="2050" i="1">
                                  <a:solidFill>
                                    <a:srgbClr val="111111"/>
                                  </a:solidFill>
                                  <a:latin typeface="Cambria Math" panose="02040503050406030204" pitchFamily="18" charset="0"/>
                                </a:rPr>
                                <m:t xml:space="preserve">jk′</m:t>
                              </m:r>
                            </m:sub>
                          </m:sSub>
                        </m:e>
                      </m:nary>
                    </m:oMath>
                  </m:oMathPara>
                </a14:m>
                <a:endParaRPr lang="en-US" sz="2050"/>
              </a:p>
            </p:txBody>
          </p:sp>
        </mc:Choice>
        <mc:Fallback>
          <p:sp>
            <p:nvSpPr>
              <p:cNvPr id="39" name="Equation"/>
              <p:cNvSpPr txBox="1"/>
              <p:nvPr/>
            </p:nvSpPr>
            <p:spPr>
              <a:xfrm>
                <a:off x="4686300" y="6686465"/>
                <a:ext cx="9372600" cy="609811"/>
              </a:xfrm>
              <a:prstGeom prst="rect">
                <a:avLst/>
              </a:prstGeom>
              <a:blipFill>
                <a:blip r:embed="rId8"/>
                <a:stretch>
                  <a:fillRect/>
                </a:stretch>
              </a:blipFill>
            </p:spPr>
            <p:txBody>
              <a:bodyPr/>
              <a:lstStyle/>
              <a:p>
                <a:endParaRPr lang="en-US"/>
              </a:p>
            </p:txBody>
          </p:sp>
        </mc:Fallback>
      </mc:AlternateContent>
      <p:sp>
        <p:nvSpPr>
          <p:cNvPr id="40" name="TextBox 39"/>
          <p:cNvSpPr txBox="1"/>
          <p:nvPr/>
        </p:nvSpPr>
        <p:spPr>
          <a:xfrm>
            <a:off x="14241780" y="6686465"/>
            <a:ext cx="2743200" cy="609811"/>
          </a:xfrm>
          <a:prstGeom prst="rect">
            <a:avLst/>
          </a:prstGeom>
          <a:noFill/>
        </p:spPr>
        <p:txBody>
          <a:bodyPr anchor="ctr" rtlCol="false" lIns="0" tIns="0" rIns="0" bIns="0" wrap="square"/>
          <a:lstStyle/>
          <a:p>
            <a:pPr algn="r">
              <a:lnSpc>
                <a:spcPts val="1800"/>
              </a:lnSpc>
              <a:spcBef>
                <a:spcPts val="0"/>
              </a:spcBef>
              <a:buNone/>
            </a:pPr>
            <a:r>
              <a:rPr lang="en-US" sz="1500" b="true">
                <a:solidFill>
                  <a:srgbClr val="8A8378"/>
                </a:solidFill>
                <a:latin typeface="Nunito Semi-Bold"/>
                <a:ea typeface="Nunito Semi-Bold"/>
                <a:cs typeface="Nunito Semi-Bold"/>
                <a:sym typeface="Nunito Semi-Bold"/>
              </a:rPr>
              <a:t>clipped + EMA-smoothed</a:t>
            </a:r>
          </a:p>
        </p:txBody>
      </p:sp>
      <p:sp>
        <p:nvSpPr>
          <p:cNvPr id="41" name="Rounded Rectangle 40"/>
          <p:cNvSpPr/>
          <p:nvPr/>
        </p:nvSpPr>
        <p:spPr>
          <a:xfrm>
            <a:off x="1028700" y="7387717"/>
            <a:ext cx="16230600" cy="609811"/>
          </a:xfrm>
          <a:prstGeom prst="roundRect">
            <a:avLst>
              <a:gd name="adj" fmla="val 23991"/>
            </a:avLst>
          </a:prstGeom>
          <a:solidFill>
            <a:srgbClr val="FBF4EB"/>
          </a:solidFill>
          <a:ln>
            <a:noFill/>
          </a:ln>
        </p:spPr>
        <p:txBody>
          <a:bodyPr anchor="ctr" rtlCol="false" lIns="0" tIns="0" rIns="0" bIns="0" wrap="square"/>
          <a:lstStyle/>
          <a:p>
            <a:endParaRPr lang="en-US" sz="1800"/>
          </a:p>
        </p:txBody>
      </p:sp>
      <p:sp>
        <p:nvSpPr>
          <p:cNvPr id="42" name="TextBox 41"/>
          <p:cNvSpPr txBox="1"/>
          <p:nvPr/>
        </p:nvSpPr>
        <p:spPr>
          <a:xfrm>
            <a:off x="1348740" y="7387717"/>
            <a:ext cx="3291840" cy="609811"/>
          </a:xfrm>
          <a:prstGeom prst="rect">
            <a:avLst/>
          </a:prstGeom>
          <a:noFill/>
        </p:spPr>
        <p:txBody>
          <a:bodyPr anchor="ctr" rtlCol="false" lIns="0" tIns="0" rIns="0" bIns="0" wrap="square"/>
          <a:lstStyle/>
          <a:p>
            <a:pPr algn="l">
              <a:lnSpc>
                <a:spcPts val="2200"/>
              </a:lnSpc>
              <a:spcBef>
                <a:spcPts val="0"/>
              </a:spcBef>
              <a:buNone/>
            </a:pPr>
            <a:r>
              <a:rPr lang="en-US" sz="1800" b="true">
                <a:solidFill>
                  <a:srgbClr val="124944"/>
                </a:solidFill>
                <a:latin typeface="Nunito Ultra-Bold"/>
                <a:ea typeface="Nunito Ultra-Bold"/>
                <a:cs typeface="Nunito Ultra-Bold"/>
                <a:sym typeface="Nunito Ultra-Bold"/>
              </a:rPr>
              <a:t>Attention gate</a:t>
            </a:r>
          </a:p>
        </p:txBody>
      </p:sp>
      <mc:AlternateContent xmlns:mc="http://schemas.openxmlformats.org/markup-compatibility/2006">
        <mc:Choice xmlns:a14="http://schemas.microsoft.com/office/drawing/2010/main" Requires="a14">
          <p:sp>
            <p:nvSpPr>
              <p:cNvPr id="43" name="Equation"/>
              <p:cNvSpPr txBox="1"/>
              <p:nvPr/>
            </p:nvSpPr>
            <p:spPr>
              <a:xfrm>
                <a:off x="4686300" y="7387717"/>
                <a:ext cx="12298680" cy="609811"/>
              </a:xfrm>
              <a:prstGeom prst="rect">
                <a:avLst/>
              </a:prstGeom>
              <a:noFill/>
            </p:spPr>
            <p:txBody>
              <a:bodyPr wrap="none" rtlCol="0" anchor="ctr" lIns="0" tIns="0" rIns="0" bIns="0"/>
              <a:lstStyle/>
              <a:p>
                <a:pPr algn="l"/>
                <a14:m xmlns:m="http://schemas.openxmlformats.org/officeDocument/2006/math">
                  <m:oMathPara>
                    <m:oMathParaPr>
                      <m:jc m:val="left"/>
                    </m:oMathParaPr>
                    <m:oMath>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a</m:t>
                          </m:r>
                        </m:e>
                        <m:sub>
                          <m:r>
                            <a:rPr lang="en-US" sz="2200" i="1">
                              <a:solidFill>
                                <a:srgbClr val="111111"/>
                              </a:solidFill>
                              <a:latin typeface="Cambria Math" panose="02040503050406030204" pitchFamily="18" charset="0"/>
                            </a:rPr>
                            <m:t xml:space="preserve">ui</m:t>
                          </m:r>
                        </m:sub>
                      </m:sSub>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σ</m:t>
                      </m:r>
                      <m:d>
                        <m:dPr>
                          <m:ctrlPr>
                            <a:rPr lang="en-US" sz="2200" i="1">
                              <a:solidFill>
                                <a:srgbClr val="111111"/>
                              </a:solidFill>
                              <a:latin typeface="Cambria Math" panose="02040503050406030204" pitchFamily="18" charset="0"/>
                            </a:rPr>
                          </m:ctrlPr>
                        </m:dPr>
                        <m:e>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W</m:t>
                              </m:r>
                            </m:e>
                            <m:sub>
                              <m:r>
                                <a:rPr lang="en-US" sz="2200" i="1">
                                  <a:solidFill>
                                    <a:srgbClr val="111111"/>
                                  </a:solidFill>
                                  <a:latin typeface="Cambria Math" panose="02040503050406030204" pitchFamily="18" charset="0"/>
                                </a:rPr>
                                <m:t xml:space="preserve">a</m:t>
                              </m:r>
                            </m:sub>
                          </m:sSub>
                          <m:r>
                            <m:rPr>
                              <m:sty m:val="p"/>
                            </m:rPr>
                            <a:rPr lang="en-US" sz="2200">
                              <a:solidFill>
                                <a:srgbClr val="111111"/>
                              </a:solidFill>
                              <a:latin typeface="Cambria Math" panose="02040503050406030204" pitchFamily="18" charset="0"/>
                            </a:rPr>
                            <m:t xml:space="preserve"> [ </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e</m:t>
                              </m:r>
                            </m:e>
                            <m:sub>
                              <m:r>
                                <a:rPr lang="en-US" sz="2200" i="1">
                                  <a:solidFill>
                                    <a:srgbClr val="111111"/>
                                  </a:solidFill>
                                  <a:latin typeface="Cambria Math" panose="02040503050406030204" pitchFamily="18" charset="0"/>
                                </a:rPr>
                                <m:t xml:space="preserve">u</m:t>
                              </m:r>
                            </m:sub>
                          </m:sSub>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e</m:t>
                              </m:r>
                            </m:e>
                            <m:sub>
                              <m:r>
                                <a:rPr lang="en-US" sz="2200" i="1">
                                  <a:solidFill>
                                    <a:srgbClr val="111111"/>
                                  </a:solidFill>
                                  <a:latin typeface="Cambria Math" panose="02040503050406030204" pitchFamily="18" charset="0"/>
                                </a:rPr>
                                <m:t xml:space="preserve">i</m:t>
                              </m:r>
                            </m:sub>
                          </m:sSub>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l</m:t>
                              </m:r>
                            </m:e>
                            <m:sub>
                              <m:r>
                                <a:rPr lang="en-US" sz="2200" i="1">
                                  <a:solidFill>
                                    <a:srgbClr val="111111"/>
                                  </a:solidFill>
                                  <a:latin typeface="Cambria Math" panose="02040503050406030204" pitchFamily="18" charset="0"/>
                                </a:rPr>
                                <m:t xml:space="preserve">i</m:t>
                              </m:r>
                            </m:sub>
                          </m:sSub>
                          <m:r>
                            <m:rPr>
                              <m:sty m:val="p"/>
                            </m:rPr>
                            <a:rPr lang="en-US" sz="2200">
                              <a:solidFill>
                                <a:srgbClr val="111111"/>
                              </a:solidFill>
                              <a:latin typeface="Cambria Math" panose="02040503050406030204" pitchFamily="18" charset="0"/>
                            </a:rPr>
                            <m:t xml:space="preserve"> ]</m:t>
                          </m:r>
                        </m:e>
                      </m:d>
                      <m:r>
                        <m:rPr>
                          <m:sty m:val="p"/>
                        </m:rPr>
                        <a:rPr lang="en-US" sz="2200">
                          <a:solidFill>
                            <a:srgbClr val="111111"/>
                          </a:solidFill>
                          <a:latin typeface="Cambria Math" panose="02040503050406030204" pitchFamily="18" charset="0"/>
                        </a:rPr>
                        <m:t xml:space="preserve">,  </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y</m:t>
                          </m:r>
                        </m:e>
                        <m:sub>
                          <m:r>
                            <a:rPr lang="en-US" sz="2200" i="1">
                              <a:solidFill>
                                <a:srgbClr val="111111"/>
                              </a:solidFill>
                              <a:latin typeface="Cambria Math" panose="02040503050406030204" pitchFamily="18" charset="0"/>
                            </a:rPr>
                            <m:t xml:space="preserve">ui</m:t>
                          </m:r>
                        </m:sub>
                      </m:sSub>
                      <m:r>
                        <m:rPr>
                          <m:sty m:val="p"/>
                        </m:rPr>
                        <a:rPr lang="en-US" sz="2200">
                          <a:solidFill>
                            <a:srgbClr val="111111"/>
                          </a:solidFill>
                          <a:latin typeface="Cambria Math" panose="02040503050406030204" pitchFamily="18" charset="0"/>
                        </a:rPr>
                        <m:t xml:space="preserve">=(1+</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a</m:t>
                          </m:r>
                        </m:e>
                        <m:sub>
                          <m:r>
                            <a:rPr lang="en-US" sz="2200" i="1">
                              <a:solidFill>
                                <a:srgbClr val="111111"/>
                              </a:solidFill>
                              <a:latin typeface="Cambria Math" panose="02040503050406030204" pitchFamily="18" charset="0"/>
                            </a:rPr>
                            <m:t xml:space="preserve">ui</m:t>
                          </m:r>
                        </m:sub>
                      </m:sSub>
                      <m:r>
                        <m:rPr>
                          <m:sty m:val="p"/>
                        </m:rPr>
                        <a:rPr lang="en-US" sz="2200">
                          <a:solidFill>
                            <a:srgbClr val="111111"/>
                          </a:solidFill>
                          <a:latin typeface="Cambria Math" panose="02040503050406030204" pitchFamily="18" charset="0"/>
                        </a:rPr>
                        <m:t xml:space="preserve">) ⟨</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e</m:t>
                          </m:r>
                        </m:e>
                        <m:sub>
                          <m:r>
                            <a:rPr lang="en-US" sz="2200" i="1">
                              <a:solidFill>
                                <a:srgbClr val="111111"/>
                              </a:solidFill>
                              <a:latin typeface="Cambria Math" panose="02040503050406030204" pitchFamily="18" charset="0"/>
                            </a:rPr>
                            <m:t xml:space="preserve">u</m:t>
                          </m:r>
                        </m:sub>
                      </m:sSub>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e</m:t>
                          </m:r>
                        </m:e>
                        <m:sub>
                          <m:r>
                            <a:rPr lang="en-US" sz="2200" i="1">
                              <a:solidFill>
                                <a:srgbClr val="111111"/>
                              </a:solidFill>
                              <a:latin typeface="Cambria Math" panose="02040503050406030204" pitchFamily="18" charset="0"/>
                            </a:rPr>
                            <m:t xml:space="preserve">i</m:t>
                          </m:r>
                        </m:sub>
                      </m:sSub>
                      <m:r>
                        <m:rPr>
                          <m:sty m:val="p"/>
                        </m:rPr>
                        <a:rPr lang="en-US" sz="2200">
                          <a:solidFill>
                            <a:srgbClr val="111111"/>
                          </a:solidFill>
                          <a:latin typeface="Cambria Math" panose="02040503050406030204" pitchFamily="18" charset="0"/>
                        </a:rPr>
                        <m:t xml:space="preserve">⟩</m:t>
                      </m:r>
                    </m:oMath>
                  </m:oMathPara>
                </a14:m>
                <a:endParaRPr lang="en-US" sz="2200"/>
              </a:p>
            </p:txBody>
          </p:sp>
        </mc:Choice>
        <mc:Fallback>
          <p:sp>
            <p:nvSpPr>
              <p:cNvPr id="43" name="Equation"/>
              <p:cNvSpPr txBox="1"/>
              <p:nvPr/>
            </p:nvSpPr>
            <p:spPr>
              <a:xfrm>
                <a:off x="4686300" y="7387717"/>
                <a:ext cx="12298680" cy="609811"/>
              </a:xfrm>
              <a:prstGeom prst="rect">
                <a:avLst/>
              </a:prstGeom>
              <a:blipFill>
                <a:blip r:embed="rId9"/>
                <a:stretch>
                  <a:fillRect/>
                </a:stretch>
              </a:blipFill>
            </p:spPr>
            <p:txBody>
              <a:bodyPr/>
              <a:lstStyle/>
              <a:p>
                <a:endParaRPr lang="en-US"/>
              </a:p>
            </p:txBody>
          </p:sp>
        </mc:Fallback>
      </mc:AlternateContent>
      <p:sp>
        <p:nvSpPr>
          <p:cNvPr id="44" name="Rounded Rectangle 43"/>
          <p:cNvSpPr/>
          <p:nvPr/>
        </p:nvSpPr>
        <p:spPr>
          <a:xfrm>
            <a:off x="1028700" y="8088968"/>
            <a:ext cx="16230600" cy="609811"/>
          </a:xfrm>
          <a:prstGeom prst="roundRect">
            <a:avLst>
              <a:gd name="adj" fmla="val 23991"/>
            </a:avLst>
          </a:prstGeom>
          <a:solidFill>
            <a:srgbClr val="F6ECDF"/>
          </a:solidFill>
          <a:ln>
            <a:noFill/>
          </a:ln>
        </p:spPr>
        <p:txBody>
          <a:bodyPr anchor="ctr" rtlCol="false" lIns="0" tIns="0" rIns="0" bIns="0" wrap="square"/>
          <a:lstStyle/>
          <a:p>
            <a:endParaRPr lang="en-US" sz="1800"/>
          </a:p>
        </p:txBody>
      </p:sp>
      <p:sp>
        <p:nvSpPr>
          <p:cNvPr id="45" name="TextBox 44"/>
          <p:cNvSpPr txBox="1"/>
          <p:nvPr/>
        </p:nvSpPr>
        <p:spPr>
          <a:xfrm>
            <a:off x="1348740" y="8088968"/>
            <a:ext cx="3291840" cy="609811"/>
          </a:xfrm>
          <a:prstGeom prst="rect">
            <a:avLst/>
          </a:prstGeom>
          <a:noFill/>
        </p:spPr>
        <p:txBody>
          <a:bodyPr anchor="ctr" rtlCol="false" lIns="0" tIns="0" rIns="0" bIns="0" wrap="square"/>
          <a:lstStyle/>
          <a:p>
            <a:pPr algn="l">
              <a:lnSpc>
                <a:spcPts val="2200"/>
              </a:lnSpc>
              <a:spcBef>
                <a:spcPts val="0"/>
              </a:spcBef>
              <a:buNone/>
            </a:pPr>
            <a:r>
              <a:rPr lang="en-US" sz="1800" b="true">
                <a:solidFill>
                  <a:srgbClr val="124944"/>
                </a:solidFill>
                <a:latin typeface="Nunito Ultra-Bold"/>
                <a:ea typeface="Nunito Ultra-Bold"/>
                <a:cs typeface="Nunito Ultra-Bold"/>
                <a:sym typeface="Nunito Ultra-Bold"/>
              </a:rPr>
              <a:t>Context-aware score</a:t>
            </a:r>
          </a:p>
        </p:txBody>
      </p:sp>
      <mc:AlternateContent xmlns:mc="http://schemas.openxmlformats.org/markup-compatibility/2006">
        <mc:Choice xmlns:a14="http://schemas.microsoft.com/office/drawing/2010/main" Requires="a14">
          <p:sp>
            <p:nvSpPr>
              <p:cNvPr id="46" name="Equation"/>
              <p:cNvSpPr txBox="1"/>
              <p:nvPr/>
            </p:nvSpPr>
            <p:spPr>
              <a:xfrm>
                <a:off x="4686300" y="8088968"/>
                <a:ext cx="12298680" cy="609811"/>
              </a:xfrm>
              <a:prstGeom prst="rect">
                <a:avLst/>
              </a:prstGeom>
              <a:noFill/>
            </p:spPr>
            <p:txBody>
              <a:bodyPr wrap="none" rtlCol="0" anchor="ctr" lIns="0" tIns="0" rIns="0" bIns="0"/>
              <a:lstStyle/>
              <a:p>
                <a:pPr algn="l"/>
                <a14:m xmlns:m="http://schemas.openxmlformats.org/officeDocument/2006/math">
                  <m:oMathPara>
                    <m:oMathParaPr>
                      <m:jc m:val="left"/>
                    </m:oMathParaPr>
                    <m:oMath>
                      <m:r>
                        <a:rPr lang="en-US" sz="2200" i="1">
                          <a:solidFill>
                            <a:srgbClr val="111111"/>
                          </a:solidFill>
                          <a:latin typeface="Cambria Math" panose="02040503050406030204" pitchFamily="18" charset="0"/>
                        </a:rPr>
                        <m:t xml:space="preserve">f</m:t>
                      </m:r>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u</m:t>
                      </m:r>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i</m:t>
                      </m:r>
                      <m:r>
                        <m:rPr>
                          <m:sty m:val="p"/>
                        </m:rPr>
                        <a:rPr lang="en-US" sz="2200">
                          <a:solidFill>
                            <a:srgbClr val="111111"/>
                          </a:solidFill>
                          <a:latin typeface="Cambria Math" panose="02040503050406030204" pitchFamily="18" charset="0"/>
                        </a:rPr>
                        <m:t xml:space="preserve">,</m:t>
                      </m:r>
                      <m:r>
                        <a:rPr lang="en-US" sz="2200" i="1">
                          <a:solidFill>
                            <a:srgbClr val="111111"/>
                          </a:solidFill>
                          <a:latin typeface="Cambria Math" panose="02040503050406030204" pitchFamily="18" charset="0"/>
                        </a:rPr>
                        <m:t xml:space="preserve">c</m:t>
                      </m:r>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y</m:t>
                          </m:r>
                        </m:e>
                        <m:sub>
                          <m:r>
                            <a:rPr lang="en-US" sz="2200" i="1">
                              <a:solidFill>
                                <a:srgbClr val="111111"/>
                              </a:solidFill>
                              <a:latin typeface="Cambria Math" panose="02040503050406030204" pitchFamily="18" charset="0"/>
                            </a:rPr>
                            <m:t xml:space="preserve">ui</m:t>
                          </m:r>
                        </m:sub>
                      </m:sSub>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λ</m:t>
                          </m:r>
                        </m:e>
                        <m:sub>
                          <m:r>
                            <a:rPr lang="en-US" sz="2200" i="1">
                              <a:solidFill>
                                <a:srgbClr val="111111"/>
                              </a:solidFill>
                              <a:latin typeface="Cambria Math" panose="02040503050406030204" pitchFamily="18" charset="0"/>
                            </a:rPr>
                            <m:t xml:space="preserve">c</m:t>
                          </m:r>
                        </m:sub>
                      </m:sSub>
                      <m:r>
                        <m:rPr>
                          <m:sty m:val="p"/>
                        </m:rPr>
                        <a:rPr lang="en-US" sz="2200">
                          <a:solidFill>
                            <a:srgbClr val="111111"/>
                          </a:solidFill>
                          <a:latin typeface="Cambria Math" panose="02040503050406030204" pitchFamily="18" charset="0"/>
                        </a:rPr>
                        <m:t xml:space="preserve"> ⟨ </m:t>
                      </m:r>
                      <m:r>
                        <a:rPr lang="en-US" sz="2200" i="1">
                          <a:solidFill>
                            <a:srgbClr val="111111"/>
                          </a:solidFill>
                          <a:latin typeface="Cambria Math" panose="02040503050406030204" pitchFamily="18" charset="0"/>
                        </a:rPr>
                        <m:t xml:space="preserve">g</m:t>
                      </m:r>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c</m:t>
                          </m:r>
                        </m:e>
                        <m:sub>
                          <m:r>
                            <a:rPr lang="en-US" sz="2200" i="1">
                              <a:solidFill>
                                <a:srgbClr val="111111"/>
                              </a:solidFill>
                              <a:latin typeface="Cambria Math" panose="02040503050406030204" pitchFamily="18" charset="0"/>
                            </a:rPr>
                            <m:t xml:space="preserve">ui</m:t>
                          </m:r>
                        </m:sub>
                      </m:sSub>
                      <m:r>
                        <m:rPr>
                          <m:sty m:val="p"/>
                        </m:rPr>
                        <a:rPr lang="en-US" sz="2200">
                          <a:solidFill>
                            <a:srgbClr val="111111"/>
                          </a:solidFill>
                          <a:latin typeface="Cambria Math" panose="02040503050406030204" pitchFamily="18" charset="0"/>
                        </a:rPr>
                        <m:t xml:space="preserve">), </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e</m:t>
                          </m:r>
                        </m:e>
                        <m:sub>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c</m:t>
                              </m:r>
                            </m:e>
                            <m:sub>
                              <m:r>
                                <a:rPr lang="en-US" sz="2200" i="1">
                                  <a:solidFill>
                                    <a:srgbClr val="111111"/>
                                  </a:solidFill>
                                  <a:latin typeface="Cambria Math" panose="02040503050406030204" pitchFamily="18" charset="0"/>
                                </a:rPr>
                                <m:t xml:space="preserve">ui</m:t>
                              </m:r>
                            </m:sub>
                          </m:sSub>
                        </m:sub>
                      </m:sSub>
                      <m:r>
                        <m:rPr>
                          <m:sty m:val="p"/>
                        </m:rPr>
                        <a:rPr lang="en-US" sz="2200">
                          <a:solidFill>
                            <a:srgbClr val="111111"/>
                          </a:solidFill>
                          <a:latin typeface="Cambria Math" panose="02040503050406030204" pitchFamily="18" charset="0"/>
                        </a:rPr>
                        <m:t xml:space="preserve">⟩</m:t>
                      </m:r>
                    </m:oMath>
                  </m:oMathPara>
                </a14:m>
                <a:endParaRPr lang="en-US" sz="2200"/>
              </a:p>
            </p:txBody>
          </p:sp>
        </mc:Choice>
        <mc:Fallback>
          <p:sp>
            <p:nvSpPr>
              <p:cNvPr id="46" name="Equation"/>
              <p:cNvSpPr txBox="1"/>
              <p:nvPr/>
            </p:nvSpPr>
            <p:spPr>
              <a:xfrm>
                <a:off x="4686300" y="8088968"/>
                <a:ext cx="12298680" cy="609811"/>
              </a:xfrm>
              <a:prstGeom prst="rect">
                <a:avLst/>
              </a:prstGeom>
              <a:blipFill>
                <a:blip r:embed="rId10"/>
                <a:stretch>
                  <a:fillRect/>
                </a:stretch>
              </a:blipFill>
            </p:spPr>
            <p:txBody>
              <a:bodyPr/>
              <a:lstStyle/>
              <a:p>
                <a:endParaRPr lang="en-US"/>
              </a:p>
            </p:txBody>
          </p:sp>
        </mc:Fallback>
      </mc:AlternateContent>
      <p:sp>
        <p:nvSpPr>
          <p:cNvPr id="47" name="Rounded Rectangle 46"/>
          <p:cNvSpPr/>
          <p:nvPr/>
        </p:nvSpPr>
        <p:spPr>
          <a:xfrm>
            <a:off x="1028700" y="8790220"/>
            <a:ext cx="16230600" cy="609811"/>
          </a:xfrm>
          <a:prstGeom prst="roundRect">
            <a:avLst>
              <a:gd name="adj" fmla="val 23991"/>
            </a:avLst>
          </a:prstGeom>
          <a:solidFill>
            <a:srgbClr val="FBF4EB"/>
          </a:solidFill>
          <a:ln>
            <a:noFill/>
          </a:ln>
        </p:spPr>
        <p:txBody>
          <a:bodyPr anchor="ctr" rtlCol="false" lIns="0" tIns="0" rIns="0" bIns="0" wrap="square"/>
          <a:lstStyle/>
          <a:p>
            <a:endParaRPr lang="en-US" sz="1800"/>
          </a:p>
        </p:txBody>
      </p:sp>
      <p:sp>
        <p:nvSpPr>
          <p:cNvPr id="48" name="TextBox 47"/>
          <p:cNvSpPr txBox="1"/>
          <p:nvPr/>
        </p:nvSpPr>
        <p:spPr>
          <a:xfrm>
            <a:off x="1348740" y="8790220"/>
            <a:ext cx="3291840" cy="609811"/>
          </a:xfrm>
          <a:prstGeom prst="rect">
            <a:avLst/>
          </a:prstGeom>
          <a:noFill/>
        </p:spPr>
        <p:txBody>
          <a:bodyPr anchor="ctr" rtlCol="false" lIns="0" tIns="0" rIns="0" bIns="0" wrap="square"/>
          <a:lstStyle/>
          <a:p>
            <a:pPr algn="l">
              <a:lnSpc>
                <a:spcPts val="2200"/>
              </a:lnSpc>
              <a:spcBef>
                <a:spcPts val="0"/>
              </a:spcBef>
              <a:buNone/>
            </a:pPr>
            <a:r>
              <a:rPr lang="en-US" sz="1800" b="true">
                <a:solidFill>
                  <a:srgbClr val="124944"/>
                </a:solidFill>
                <a:latin typeface="Nunito Ultra-Bold"/>
                <a:ea typeface="Nunito Ultra-Bold"/>
                <a:cs typeface="Nunito Ultra-Bold"/>
                <a:sym typeface="Nunito Ultra-Bold"/>
              </a:rPr>
              <a:t>Training loss</a:t>
            </a:r>
          </a:p>
        </p:txBody>
      </p:sp>
      <mc:AlternateContent xmlns:mc="http://schemas.openxmlformats.org/markup-compatibility/2006">
        <mc:Choice xmlns:a14="http://schemas.microsoft.com/office/drawing/2010/main" Requires="a14">
          <p:sp>
            <p:nvSpPr>
              <p:cNvPr id="49" name="Equation"/>
              <p:cNvSpPr txBox="1"/>
              <p:nvPr/>
            </p:nvSpPr>
            <p:spPr>
              <a:xfrm>
                <a:off x="4686300" y="8790220"/>
                <a:ext cx="9372600" cy="609811"/>
              </a:xfrm>
              <a:prstGeom prst="rect">
                <a:avLst/>
              </a:prstGeom>
              <a:noFill/>
            </p:spPr>
            <p:txBody>
              <a:bodyPr wrap="none" rtlCol="0" anchor="ctr" lIns="0" tIns="0" rIns="0" bIns="0"/>
              <a:lstStyle/>
              <a:p>
                <a:pPr algn="l"/>
                <a14:m xmlns:m="http://schemas.openxmlformats.org/officeDocument/2006/math">
                  <m:oMathPara>
                    <m:oMathParaPr>
                      <m:jc m:val="left"/>
                    </m:oMathParaPr>
                    <m:oMath>
                      <m:r>
                        <m:rPr>
                          <m:scr m:val="script"/>
                          <m:sty m:val="p"/>
                        </m:rPr>
                        <a:rPr lang="en-US" sz="2200">
                          <a:solidFill>
                            <a:srgbClr val="111111"/>
                          </a:solidFill>
                          <a:latin typeface="Cambria Math" panose="02040503050406030204" pitchFamily="18" charset="0"/>
                        </a:rPr>
                        <m:t xml:space="preserve">L</m:t>
                      </m:r>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m:rPr>
                              <m:scr m:val="script"/>
                              <m:sty m:val="p"/>
                            </m:rPr>
                            <a:rPr lang="en-US" sz="2200">
                              <a:solidFill>
                                <a:srgbClr val="111111"/>
                              </a:solidFill>
                              <a:latin typeface="Cambria Math" panose="02040503050406030204" pitchFamily="18" charset="0"/>
                            </a:rPr>
                            <m:t xml:space="preserve">L</m:t>
                          </m:r>
                        </m:e>
                        <m:sub>
                          <m:r>
                            <m:rPr>
                              <m:sty m:val="p"/>
                            </m:rPr>
                            <a:rPr lang="en-US" sz="2200">
                              <a:solidFill>
                                <a:srgbClr val="111111"/>
                              </a:solidFill>
                              <a:latin typeface="Cambria Math" panose="02040503050406030204" pitchFamily="18" charset="0"/>
                            </a:rPr>
                            <m:t xml:space="preserve">rec</m:t>
                          </m:r>
                        </m:sub>
                      </m:sSub>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λ</m:t>
                          </m:r>
                        </m:e>
                        <m:sub>
                          <m:r>
                            <m:rPr>
                              <m:sty m:val="p"/>
                            </m:rPr>
                            <a:rPr lang="en-US" sz="2200">
                              <a:solidFill>
                                <a:srgbClr val="111111"/>
                              </a:solidFill>
                              <a:latin typeface="Cambria Math" panose="02040503050406030204" pitchFamily="18" charset="0"/>
                            </a:rPr>
                            <m:t xml:space="preserve">div</m:t>
                          </m:r>
                        </m:sub>
                      </m:sSub>
                      <m:r>
                        <m:rPr>
                          <m:sty m:val="p"/>
                        </m:rPr>
                        <a:rPr lang="en-US" sz="2200">
                          <a:solidFill>
                            <a:srgbClr val="111111"/>
                          </a:solidFill>
                          <a:latin typeface="Cambria Math" panose="02040503050406030204" pitchFamily="18" charset="0"/>
                        </a:rPr>
                        <m:t xml:space="preserve"> </m:t>
                      </m:r>
                      <m:sSub>
                        <m:sSubPr>
                          <m:ctrlPr>
                            <a:rPr lang="en-US" sz="2200" i="1">
                              <a:solidFill>
                                <a:srgbClr val="111111"/>
                              </a:solidFill>
                              <a:latin typeface="Cambria Math" panose="02040503050406030204" pitchFamily="18" charset="0"/>
                            </a:rPr>
                          </m:ctrlPr>
                        </m:sSubPr>
                        <m:e>
                          <m:r>
                            <m:rPr>
                              <m:scr m:val="script"/>
                              <m:sty m:val="p"/>
                            </m:rPr>
                            <a:rPr lang="en-US" sz="2200">
                              <a:solidFill>
                                <a:srgbClr val="111111"/>
                              </a:solidFill>
                              <a:latin typeface="Cambria Math" panose="02040503050406030204" pitchFamily="18" charset="0"/>
                            </a:rPr>
                            <m:t xml:space="preserve">L</m:t>
                          </m:r>
                        </m:e>
                        <m:sub>
                          <m:r>
                            <m:rPr>
                              <m:sty m:val="p"/>
                            </m:rPr>
                            <a:rPr lang="en-US" sz="2200">
                              <a:solidFill>
                                <a:srgbClr val="111111"/>
                              </a:solidFill>
                              <a:latin typeface="Cambria Math" panose="02040503050406030204" pitchFamily="18" charset="0"/>
                            </a:rPr>
                            <m:t xml:space="preserve">div</m:t>
                          </m:r>
                        </m:sub>
                      </m:sSub>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λ</m:t>
                          </m:r>
                        </m:e>
                        <m:sub>
                          <m:r>
                            <m:rPr>
                              <m:sty m:val="p"/>
                            </m:rPr>
                            <a:rPr lang="en-US" sz="2200">
                              <a:solidFill>
                                <a:srgbClr val="111111"/>
                              </a:solidFill>
                              <a:latin typeface="Cambria Math" panose="02040503050406030204" pitchFamily="18" charset="0"/>
                            </a:rPr>
                            <m:t xml:space="preserve">ctx</m:t>
                          </m:r>
                        </m:sub>
                      </m:sSub>
                      <m:r>
                        <m:rPr>
                          <m:sty m:val="p"/>
                        </m:rPr>
                        <a:rPr lang="en-US" sz="2200">
                          <a:solidFill>
                            <a:srgbClr val="111111"/>
                          </a:solidFill>
                          <a:latin typeface="Cambria Math" panose="02040503050406030204" pitchFamily="18" charset="0"/>
                        </a:rPr>
                        <m:t xml:space="preserve"> </m:t>
                      </m:r>
                      <m:sSub>
                        <m:sSubPr>
                          <m:ctrlPr>
                            <a:rPr lang="en-US" sz="2200" i="1">
                              <a:solidFill>
                                <a:srgbClr val="111111"/>
                              </a:solidFill>
                              <a:latin typeface="Cambria Math" panose="02040503050406030204" pitchFamily="18" charset="0"/>
                            </a:rPr>
                          </m:ctrlPr>
                        </m:sSubPr>
                        <m:e>
                          <m:r>
                            <m:rPr>
                              <m:scr m:val="script"/>
                              <m:sty m:val="p"/>
                            </m:rPr>
                            <a:rPr lang="en-US" sz="2200">
                              <a:solidFill>
                                <a:srgbClr val="111111"/>
                              </a:solidFill>
                              <a:latin typeface="Cambria Math" panose="02040503050406030204" pitchFamily="18" charset="0"/>
                            </a:rPr>
                            <m:t xml:space="preserve">L</m:t>
                          </m:r>
                        </m:e>
                        <m:sub>
                          <m:r>
                            <m:rPr>
                              <m:sty m:val="p"/>
                            </m:rPr>
                            <a:rPr lang="en-US" sz="2200">
                              <a:solidFill>
                                <a:srgbClr val="111111"/>
                              </a:solidFill>
                              <a:latin typeface="Cambria Math" panose="02040503050406030204" pitchFamily="18" charset="0"/>
                            </a:rPr>
                            <m:t xml:space="preserve">ctx</m:t>
                          </m:r>
                        </m:sub>
                      </m:sSub>
                      <m:r>
                        <m:rPr>
                          <m:sty m:val="p"/>
                        </m:rPr>
                        <a:rPr lang="en-US" sz="2200">
                          <a:solidFill>
                            <a:srgbClr val="111111"/>
                          </a:solidFill>
                          <a:latin typeface="Cambria Math" panose="02040503050406030204" pitchFamily="18" charset="0"/>
                        </a:rPr>
                        <m:t xml:space="preserve">+</m:t>
                      </m:r>
                      <m:sSub>
                        <m:sSubPr>
                          <m:ctrlPr>
                            <a:rPr lang="en-US" sz="2200" i="1">
                              <a:solidFill>
                                <a:srgbClr val="111111"/>
                              </a:solidFill>
                              <a:latin typeface="Cambria Math" panose="02040503050406030204" pitchFamily="18" charset="0"/>
                            </a:rPr>
                          </m:ctrlPr>
                        </m:sSubPr>
                        <m:e>
                          <m:r>
                            <a:rPr lang="en-US" sz="2200" i="1">
                              <a:solidFill>
                                <a:srgbClr val="111111"/>
                              </a:solidFill>
                              <a:latin typeface="Cambria Math" panose="02040503050406030204" pitchFamily="18" charset="0"/>
                            </a:rPr>
                            <m:t xml:space="preserve">λ</m:t>
                          </m:r>
                        </m:e>
                        <m:sub>
                          <m:r>
                            <m:rPr>
                              <m:sty m:val="p"/>
                            </m:rPr>
                            <a:rPr lang="en-US" sz="2200">
                              <a:solidFill>
                                <a:srgbClr val="111111"/>
                              </a:solidFill>
                              <a:latin typeface="Cambria Math" panose="02040503050406030204" pitchFamily="18" charset="0"/>
                            </a:rPr>
                            <m:t xml:space="preserve">reg</m:t>
                          </m:r>
                        </m:sub>
                      </m:sSub>
                      <m:r>
                        <m:rPr>
                          <m:sty m:val="p"/>
                        </m:rPr>
                        <a:rPr lang="en-US" sz="2200">
                          <a:solidFill>
                            <a:srgbClr val="111111"/>
                          </a:solidFill>
                          <a:latin typeface="Cambria Math" panose="02040503050406030204" pitchFamily="18" charset="0"/>
                        </a:rPr>
                        <m:t xml:space="preserve"> </m:t>
                      </m:r>
                      <m:sSub>
                        <m:sSubPr>
                          <m:ctrlPr>
                            <a:rPr lang="en-US" sz="2200" i="1">
                              <a:solidFill>
                                <a:srgbClr val="111111"/>
                              </a:solidFill>
                              <a:latin typeface="Cambria Math" panose="02040503050406030204" pitchFamily="18" charset="0"/>
                            </a:rPr>
                          </m:ctrlPr>
                        </m:sSubPr>
                        <m:e>
                          <m:r>
                            <m:rPr>
                              <m:scr m:val="script"/>
                              <m:sty m:val="p"/>
                            </m:rPr>
                            <a:rPr lang="en-US" sz="2200">
                              <a:solidFill>
                                <a:srgbClr val="111111"/>
                              </a:solidFill>
                              <a:latin typeface="Cambria Math" panose="02040503050406030204" pitchFamily="18" charset="0"/>
                            </a:rPr>
                            <m:t xml:space="preserve">L</m:t>
                          </m:r>
                        </m:e>
                        <m:sub>
                          <m:r>
                            <m:rPr>
                              <m:sty m:val="p"/>
                            </m:rPr>
                            <a:rPr lang="en-US" sz="2200">
                              <a:solidFill>
                                <a:srgbClr val="111111"/>
                              </a:solidFill>
                              <a:latin typeface="Cambria Math" panose="02040503050406030204" pitchFamily="18" charset="0"/>
                            </a:rPr>
                            <m:t xml:space="preserve">reg</m:t>
                          </m:r>
                        </m:sub>
                      </m:sSub>
                    </m:oMath>
                  </m:oMathPara>
                </a14:m>
                <a:endParaRPr lang="en-US" sz="2200"/>
              </a:p>
            </p:txBody>
          </p:sp>
        </mc:Choice>
        <mc:Fallback>
          <p:sp>
            <p:nvSpPr>
              <p:cNvPr id="49" name="Equation"/>
              <p:cNvSpPr txBox="1"/>
              <p:nvPr/>
            </p:nvSpPr>
            <p:spPr>
              <a:xfrm>
                <a:off x="4686300" y="8790220"/>
                <a:ext cx="9372600" cy="609811"/>
              </a:xfrm>
              <a:prstGeom prst="rect">
                <a:avLst/>
              </a:prstGeom>
              <a:blipFill>
                <a:blip r:embed="rId11"/>
                <a:stretch>
                  <a:fillRect/>
                </a:stretch>
              </a:blipFill>
            </p:spPr>
            <p:txBody>
              <a:bodyPr/>
              <a:lstStyle/>
              <a:p>
                <a:endParaRPr lang="en-US"/>
              </a:p>
            </p:txBody>
          </p:sp>
        </mc:Fallback>
      </mc:AlternateContent>
      <p:sp>
        <p:nvSpPr>
          <p:cNvPr id="50" name="TextBox 49"/>
          <p:cNvSpPr txBox="1"/>
          <p:nvPr/>
        </p:nvSpPr>
        <p:spPr>
          <a:xfrm>
            <a:off x="14241780" y="8790220"/>
            <a:ext cx="2743200" cy="609811"/>
          </a:xfrm>
          <a:prstGeom prst="rect">
            <a:avLst/>
          </a:prstGeom>
          <a:noFill/>
        </p:spPr>
        <p:txBody>
          <a:bodyPr anchor="ctr" rtlCol="false" lIns="0" tIns="0" rIns="0" bIns="0" wrap="square"/>
          <a:lstStyle/>
          <a:p>
            <a:pPr algn="r">
              <a:lnSpc>
                <a:spcPts val="1800"/>
              </a:lnSpc>
              <a:spcBef>
                <a:spcPts val="0"/>
              </a:spcBef>
              <a:buNone/>
            </a:pPr>
            <a:r>
              <a:rPr lang="en-US" sz="1500" b="true">
                <a:solidFill>
                  <a:srgbClr val="8A8378"/>
                </a:solidFill>
                <a:latin typeface="Nunito Semi-Bold"/>
                <a:ea typeface="Nunito Semi-Bold"/>
                <a:cs typeface="Nunito Semi-Bold"/>
                <a:sym typeface="Nunito Semi-Bold"/>
              </a:rPr>
              <a:t>BPR + diversity + context + L2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[20] Harper, F. M. &amp; Konstan, J. A. The MovieLens Datasets: History and Context. ACM TiiS 5(4), 19 (2015).  ·  McAuley, J. et al. Amazon Review Data (Amazon-Book). UCSD (2018).   [27] Holm, S. A Simple Sequentially Rejective Multiple Test Procedure. Scand. J. Statist. 6(2), 65–70 (1979).  ·  Cohen, J. Statistical Power Analysis for the Behavioral Sciences (1988).</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58</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Evaluation Protocol</a:t>
            </a:r>
          </a:p>
        </p:txBody>
      </p:sp>
      <p:pic>
        <p:nvPicPr>
          <p:cNvPr id="23" name="Picture 22" descr="image.png"/>
          <p:cNvPicPr>
            <a:picLocks noChangeAspect="1"/>
          </p:cNvPicPr>
          <p:nvPr/>
        </p:nvPicPr>
        <p:blipFill>
          <a:blip r:embed="rId3"/>
          <a:stretch>
            <a:fillRect/>
          </a:stretch>
        </p:blipFill>
        <p:spPr>
          <a:xfrm>
            <a:off x="6376338" y="1673352"/>
            <a:ext cx="457200" cy="415247"/>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graphicFrame>
        <p:nvGraphicFramePr>
          <p:cNvPr id="28" name="Table 27"/>
          <p:cNvGraphicFramePr>
            <a:graphicFrameLocks noGrp="1"/>
          </p:cNvGraphicFramePr>
          <p:nvPr/>
        </p:nvGraphicFramePr>
        <p:xfrm>
          <a:off x="1028700" y="3363722"/>
          <a:ext cx="9966960" cy="5073396"/>
        </p:xfrm>
        <a:graphic>
          <a:graphicData uri="http://schemas.openxmlformats.org/drawingml/2006/table">
            <a:tbl>
              <a:tblPr firstRow="0" bandRow="0" firstCol="0" lastRow="0" lastCol="0" bandCol="0">
                <a:tableStyleId>{2D5ABB26-0587-4C30-8999-92F81FD0307C}</a:tableStyleId>
              </a:tblPr>
              <a:tblGrid>
                <a:gridCol w="2377440"/>
                <a:gridCol w="7589520"/>
              </a:tblGrid>
              <a:tr h="54864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Step</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Setting used in this contribution</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77673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Datasets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MovieLens-1M (dense, 0.0447) and Amazon-Book (sparse, 0.0006); Yelp2018 as a check</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Split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User-level, time-ordered 70 / 10 / 20; leave-one-out target per user</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Baselines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MF, NCF, LightGCN, RecDCL, HCCF, HPCF (strongest reference)</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Metrics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NDCG@20 (main), Recall@20, Catalogue Coverage, Intra-List Diversity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48640">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Repeats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Five seeds {42 … 46}; mean ± standard deviation reported</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7673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Statistics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Paired t-test and Wilcoxon on per-user NDCG@20; Holm–Bonferroni; Cohen's d</a:t>
                      </a:r>
                      <a:r>
                        <a:rPr lang="en-US" sz="1700" b="true" baseline="-25000">
                          <a:solidFill>
                            <a:srgbClr val="111111"/>
                          </a:solidFill>
                          <a:latin typeface="Nunito Semi-Bold"/>
                          <a:ea typeface="Nunito Semi-Bold"/>
                          <a:cs typeface="Nunito Semi-Bold"/>
                          <a:sym typeface="Nunito Semi-Bold"/>
                        </a:rPr>
                        <a:t>z</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77673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Ablation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Remove one component at a time: Shapley, hypergraph, attention, context, diversity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29" name="Rounded Rectangle 28"/>
          <p:cNvSpPr/>
          <p:nvPr/>
        </p:nvSpPr>
        <p:spPr>
          <a:xfrm>
            <a:off x="11452860" y="3592322"/>
            <a:ext cx="5806440" cy="5670550"/>
          </a:xfrm>
          <a:prstGeom prst="roundRect">
            <a:avLst>
              <a:gd name="adj" fmla="val 5482"/>
            </a:avLst>
          </a:prstGeom>
          <a:solidFill>
            <a:srgbClr val="124944"/>
          </a:solidFill>
          <a:ln>
            <a:noFill/>
          </a:ln>
        </p:spPr>
        <p:txBody>
          <a:bodyPr anchor="ctr" rtlCol="false" lIns="0" tIns="0" rIns="0" bIns="0" wrap="square"/>
          <a:lstStyle/>
          <a:p>
            <a:endParaRPr lang="en-US" sz="1800"/>
          </a:p>
        </p:txBody>
      </p:sp>
      <p:sp>
        <p:nvSpPr>
          <p:cNvPr id="30" name="Rounded Rectangle 29"/>
          <p:cNvSpPr/>
          <p:nvPr/>
        </p:nvSpPr>
        <p:spPr>
          <a:xfrm>
            <a:off x="11910060" y="3354578"/>
            <a:ext cx="3849870"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What counts as success</a:t>
            </a:r>
          </a:p>
        </p:txBody>
      </p:sp>
      <p:sp>
        <p:nvSpPr>
          <p:cNvPr id="31" name="TextBox 30"/>
          <p:cNvSpPr txBox="1"/>
          <p:nvPr/>
        </p:nvSpPr>
        <p:spPr>
          <a:xfrm>
            <a:off x="11910060" y="4232402"/>
            <a:ext cx="4937760" cy="4756150"/>
          </a:xfrm>
          <a:prstGeom prst="rect">
            <a:avLst/>
          </a:prstGeom>
          <a:noFill/>
        </p:spPr>
        <p:txBody>
          <a:bodyPr anchor="t" rtlCol="false" lIns="0" tIns="0" rIns="0" bIns="0" wrap="square"/>
          <a:lstStyle/>
          <a:p>
            <a:pPr algn="l" marL="274320" indent="-274320">
              <a:lnSpc>
                <a:spcPts val="2660"/>
              </a:lnSpc>
              <a:spcBef>
                <a:spcPts val="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Beat HPCF on both datasets</a:t>
            </a:r>
            <a:r>
              <a:rPr lang="en-US" sz="1900" b="true">
                <a:solidFill>
                  <a:srgbClr val="FFFFFF"/>
                </a:solidFill>
                <a:latin typeface="Nunito Semi-Bold"/>
                <a:ea typeface="Nunito Semi-Bold"/>
                <a:cs typeface="Nunito Semi-Bold"/>
                <a:sym typeface="Nunito Semi-Bold"/>
              </a:rPr>
              <a:t> in NDCG@20 and Recall@20, with p &lt; 0.05 after correction.</a:t>
            </a:r>
          </a:p>
          <a:p>
            <a:pPr algn="l" marL="274320" indent="-274320">
              <a:lnSpc>
                <a:spcPts val="2660"/>
              </a:lnSpc>
              <a:spcBef>
                <a:spcPts val="10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Coverage and ILD go up at the same time</a:t>
            </a:r>
            <a:r>
              <a:rPr lang="en-US" sz="1900" b="true">
                <a:solidFill>
                  <a:srgbClr val="FFFFFF"/>
                </a:solidFill>
                <a:latin typeface="Nunito Semi-Bold"/>
                <a:ea typeface="Nunito Semi-Bold"/>
                <a:cs typeface="Nunito Semi-Bold"/>
                <a:sym typeface="Nunito Semi-Bold"/>
              </a:rPr>
              <a:t>: no accuracy-for-diversity trade.</a:t>
            </a:r>
          </a:p>
          <a:p>
            <a:pPr algn="l" marL="274320" indent="-274320">
              <a:lnSpc>
                <a:spcPts val="2660"/>
              </a:lnSpc>
              <a:spcBef>
                <a:spcPts val="10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Every component matters</a:t>
            </a:r>
            <a:r>
              <a:rPr lang="en-US" sz="1900" b="true">
                <a:solidFill>
                  <a:srgbClr val="FFFFFF"/>
                </a:solidFill>
                <a:latin typeface="Nunito Semi-Bold"/>
                <a:ea typeface="Nunito Semi-Bold"/>
                <a:cs typeface="Nunito Semi-Bold"/>
                <a:sym typeface="Nunito Semi-Bold"/>
              </a:rPr>
              <a:t>: removing any one of them lowers NDCG@20.</a:t>
            </a:r>
          </a:p>
          <a:p>
            <a:pPr algn="l" marL="274320" indent="-274320">
              <a:lnSpc>
                <a:spcPts val="2660"/>
              </a:lnSpc>
              <a:spcBef>
                <a:spcPts val="1000"/>
              </a:spcBef>
              <a:buClr>
                <a:srgbClr val="ECC665"/>
              </a:buClr>
              <a:buSzPct val="100000"/>
              <a:buFont typeface="Arial"/>
              <a:buChar char="•"/>
            </a:pPr>
            <a:r>
              <a:rPr lang="en-US" sz="1900" b="true">
                <a:solidFill>
                  <a:srgbClr val="FFFFFF"/>
                </a:solidFill>
                <a:latin typeface="Nunito Bold"/>
                <a:ea typeface="Nunito Bold"/>
                <a:cs typeface="Nunito Bold"/>
                <a:sym typeface="Nunito Bold"/>
              </a:rPr>
              <a:t>Overhead stays bounded</a:t>
            </a:r>
            <a:r>
              <a:rPr lang="en-US" sz="1900" b="true">
                <a:solidFill>
                  <a:srgbClr val="FFFFFF"/>
                </a:solidFill>
                <a:latin typeface="Nunito Semi-Bold"/>
                <a:ea typeface="Nunito Semi-Bold"/>
                <a:cs typeface="Nunito Semi-Bold"/>
                <a:sym typeface="Nunito Semi-Bold"/>
              </a:rPr>
              <a:t>: training time within about 2× HPCF; real-time inference.</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[3] Louhichi, M., Nesmaoui, R. &amp; Lazaar, M. DyHuCoG: A Dynamic Hypergraph Cooperative Game for Preference-aware Recommendation. IJIES 19(2), 887–902 (2026).</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59</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Main Results on MovieLens-1M</a:t>
            </a:r>
          </a:p>
        </p:txBody>
      </p:sp>
      <p:pic>
        <p:nvPicPr>
          <p:cNvPr id="23" name="Picture 22" descr="image.png"/>
          <p:cNvPicPr>
            <a:picLocks noChangeAspect="1"/>
          </p:cNvPicPr>
          <p:nvPr/>
        </p:nvPicPr>
        <p:blipFill>
          <a:blip r:embed="rId3"/>
          <a:stretch>
            <a:fillRect/>
          </a:stretch>
        </p:blipFill>
        <p:spPr>
          <a:xfrm>
            <a:off x="9149156" y="1673352"/>
            <a:ext cx="457200" cy="452148"/>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6035040" cy="4573270"/>
          </a:xfrm>
          <a:prstGeom prst="rect">
            <a:avLst/>
          </a:prstGeom>
          <a:noFill/>
        </p:spPr>
        <p:txBody>
          <a:bodyPr anchor="t" rtlCol="false" lIns="0" tIns="0" rIns="0" bIns="0" wrap="square"/>
          <a:lstStyle/>
          <a:p>
            <a:pPr algn="l" marL="274320" indent="-274320">
              <a:lnSpc>
                <a:spcPts val="2660"/>
              </a:lnSpc>
              <a:spcBef>
                <a:spcPts val="0"/>
              </a:spcBef>
              <a:buClr>
                <a:srgbClr val="DF8330"/>
              </a:buClr>
              <a:buSzPct val="100000"/>
              <a:buFont typeface="Arial"/>
              <a:buChar char="•"/>
            </a:pPr>
            <a:r>
              <a:rPr lang="en-US" sz="1900" b="true">
                <a:solidFill>
                  <a:srgbClr val="111111"/>
                </a:solidFill>
                <a:latin typeface="Nunito Bold"/>
                <a:ea typeface="Nunito Bold"/>
                <a:cs typeface="Nunito Bold"/>
                <a:sym typeface="Nunito Bold"/>
              </a:rPr>
              <a:t>DyHuCoG is best on all four metrics</a:t>
            </a:r>
            <a:r>
              <a:rPr lang="en-US" sz="1900" b="true">
                <a:solidFill>
                  <a:srgbClr val="111111"/>
                </a:solidFill>
                <a:latin typeface="Nunito Semi-Bold"/>
                <a:ea typeface="Nunito Semi-Bold"/>
                <a:cs typeface="Nunito Semi-Bold"/>
                <a:sym typeface="Nunito Semi-Bold"/>
              </a:rPr>
              <a:t> against six baselines from four model families.</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NDCG@20 </a:t>
            </a:r>
            <a:r>
              <a:rPr lang="en-US" sz="1900" b="true">
                <a:solidFill>
                  <a:srgbClr val="111111"/>
                </a:solidFill>
                <a:latin typeface="Nunito Bold"/>
                <a:ea typeface="Nunito Bold"/>
                <a:cs typeface="Nunito Bold"/>
                <a:sym typeface="Nunito Bold"/>
              </a:rPr>
              <a:t>0.2775 vs 0.2528</a:t>
            </a:r>
            <a:r>
              <a:rPr lang="en-US" sz="1900" b="true">
                <a:solidFill>
                  <a:srgbClr val="111111"/>
                </a:solidFill>
                <a:latin typeface="Nunito Semi-Bold"/>
                <a:ea typeface="Nunito Semi-Bold"/>
                <a:cs typeface="Nunito Semi-Bold"/>
                <a:sym typeface="Nunito Semi-Bold"/>
              </a:rPr>
              <a:t> for HPCF (+9.8 %); Recall@20 </a:t>
            </a:r>
            <a:r>
              <a:rPr lang="en-US" sz="1900" b="true">
                <a:solidFill>
                  <a:srgbClr val="111111"/>
                </a:solidFill>
                <a:latin typeface="Nunito Bold"/>
                <a:ea typeface="Nunito Bold"/>
                <a:cs typeface="Nunito Bold"/>
                <a:sym typeface="Nunito Bold"/>
              </a:rPr>
              <a:t>0.2362 vs 0.2098</a:t>
            </a:r>
            <a:r>
              <a:rPr lang="en-US" sz="1900" b="true">
                <a:solidFill>
                  <a:srgbClr val="111111"/>
                </a:solidFill>
                <a:latin typeface="Nunito Semi-Bold"/>
                <a:ea typeface="Nunito Semi-Bold"/>
                <a:cs typeface="Nunito Semi-Bold"/>
                <a:sym typeface="Nunito Semi-Bold"/>
              </a:rPr>
              <a:t> (+12.6 %).</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Coverage </a:t>
            </a:r>
            <a:r>
              <a:rPr lang="en-US" sz="1900" b="true">
                <a:solidFill>
                  <a:srgbClr val="111111"/>
                </a:solidFill>
                <a:latin typeface="Nunito Bold"/>
                <a:ea typeface="Nunito Bold"/>
                <a:cs typeface="Nunito Bold"/>
                <a:sym typeface="Nunito Bold"/>
              </a:rPr>
              <a:t>0.397 vs 0.342</a:t>
            </a:r>
            <a:r>
              <a:rPr lang="en-US" sz="1900" b="true">
                <a:solidFill>
                  <a:srgbClr val="111111"/>
                </a:solidFill>
                <a:latin typeface="Nunito Semi-Bold"/>
                <a:ea typeface="Nunito Semi-Bold"/>
                <a:cs typeface="Nunito Semi-Bold"/>
                <a:sym typeface="Nunito Semi-Bold"/>
              </a:rPr>
              <a:t> (+16.1 %) and ILD </a:t>
            </a:r>
            <a:r>
              <a:rPr lang="en-US" sz="1900" b="true">
                <a:solidFill>
                  <a:srgbClr val="111111"/>
                </a:solidFill>
                <a:latin typeface="Nunito Bold"/>
                <a:ea typeface="Nunito Bold"/>
                <a:cs typeface="Nunito Bold"/>
                <a:sym typeface="Nunito Bold"/>
              </a:rPr>
              <a:t>0.516 vs 0.461</a:t>
            </a:r>
            <a:r>
              <a:rPr lang="en-US" sz="1900" b="true">
                <a:solidFill>
                  <a:srgbClr val="111111"/>
                </a:solidFill>
                <a:latin typeface="Nunito Semi-Bold"/>
                <a:ea typeface="Nunito Semi-Bold"/>
                <a:cs typeface="Nunito Semi-Bold"/>
                <a:sym typeface="Nunito Semi-Bold"/>
              </a:rPr>
              <a:t> (+11.9 %): more of the catalogue reaches users.</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The gap widens from classical (MF) to graph (LightGCN) to hypergraph (HCCF, HPCF) models, and DyHuCoG adds another step on top of the strongest.</a:t>
            </a:r>
          </a:p>
        </p:txBody>
      </p:sp>
      <p:sp>
        <p:nvSpPr>
          <p:cNvPr id="29" name="Rounded Rectangle 28"/>
          <p:cNvSpPr/>
          <p:nvPr/>
        </p:nvSpPr>
        <p:spPr>
          <a:xfrm>
            <a:off x="1028700" y="8119872"/>
            <a:ext cx="6035040" cy="1097280"/>
          </a:xfrm>
          <a:prstGeom prst="roundRect">
            <a:avLst>
              <a:gd name="adj" fmla="val 25000"/>
            </a:avLst>
          </a:prstGeom>
          <a:solidFill>
            <a:srgbClr val="124944"/>
          </a:solidFill>
          <a:ln>
            <a:noFill/>
          </a:ln>
        </p:spPr>
        <p:txBody>
          <a:bodyPr anchor="ctr" rtlCol="false" lIns="137160" tIns="91440" rIns="137160" bIns="91440" wrap="square"/>
          <a:lstStyle/>
          <a:p>
            <a:pPr algn="ctr">
              <a:lnSpc>
                <a:spcPts val="3300"/>
              </a:lnSpc>
              <a:spcBef>
                <a:spcPts val="0"/>
              </a:spcBef>
              <a:buNone/>
            </a:pPr>
            <a:r>
              <a:rPr lang="en-US" sz="3000" b="true">
                <a:solidFill>
                  <a:srgbClr val="ECC665"/>
                </a:solidFill>
                <a:latin typeface="Nunito Ultra-Bold"/>
                <a:ea typeface="Nunito Ultra-Bold"/>
                <a:cs typeface="Nunito Ultra-Bold"/>
                <a:sym typeface="Nunito Ultra-Bold"/>
              </a:rPr>
              <a:t>+9.8 %  ·  +12.6 %</a:t>
            </a:r>
          </a:p>
          <a:p>
            <a:pPr algn="ctr">
              <a:lnSpc>
                <a:spcPts val="1875"/>
              </a:lnSpc>
              <a:spcBef>
                <a:spcPts val="400"/>
              </a:spcBef>
              <a:buNone/>
            </a:pPr>
            <a:r>
              <a:rPr lang="en-US" sz="1500" b="true">
                <a:solidFill>
                  <a:srgbClr val="FFFFFF"/>
                </a:solidFill>
                <a:latin typeface="Nunito Semi-Bold"/>
                <a:ea typeface="Nunito Semi-Bold"/>
                <a:cs typeface="Nunito Semi-Bold"/>
                <a:sym typeface="Nunito Semi-Bold"/>
              </a:rPr>
              <a:t>NDCG@20 · Recall@20 over HPCF</a:t>
            </a:r>
          </a:p>
        </p:txBody>
      </p:sp>
      <p:graphicFrame>
        <p:nvGraphicFramePr>
          <p:cNvPr id="30" name="Table 29"/>
          <p:cNvGraphicFramePr>
            <a:graphicFrameLocks noGrp="1"/>
          </p:cNvGraphicFramePr>
          <p:nvPr/>
        </p:nvGraphicFramePr>
        <p:xfrm>
          <a:off x="7520940" y="3363722"/>
          <a:ext cx="9738358" cy="4828032"/>
        </p:xfrm>
        <a:graphic>
          <a:graphicData uri="http://schemas.openxmlformats.org/drawingml/2006/table">
            <a:tbl>
              <a:tblPr firstRow="0" bandRow="0" firstCol="0" lastRow="0" lastCol="0" bandCol="0">
                <a:tableStyleId>{2D5ABB26-0587-4C30-8999-92F81FD0307C}</a:tableStyleId>
              </a:tblPr>
              <a:tblGrid>
                <a:gridCol w="2217646"/>
                <a:gridCol w="1928388"/>
                <a:gridCol w="1928388"/>
                <a:gridCol w="1831968"/>
                <a:gridCol w="1831968"/>
              </a:tblGrid>
              <a:tr h="603504">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Model</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NDCG@20</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Recall@20</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Coverage</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ILD</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MF</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0.1200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0.0880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0.239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0.367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NCF</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0.1300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0.1100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0.269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0.398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LightGCN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0.2130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0.1790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0.308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0.423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RecDCL</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0.2296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0.1918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0.324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0.445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HCCF</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0.2470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0.2050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0.327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0.448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HPCF</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0.2528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0.2098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0.342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0.461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603504">
                <a:tc>
                  <a:txBody>
                    <a:bodyPr anchor="ctr" rtlCol="false" lIns="0" tIns="0" rIns="0" bIns="0" wrap="square"/>
                    <a:lstStyle/>
                    <a:p>
                      <a:pPr algn="l">
                        <a:lnSpc>
                          <a:spcPts val="2210"/>
                        </a:lnSpc>
                        <a:spcBef>
                          <a:spcPts val="0"/>
                        </a:spcBef>
                        <a:buNone/>
                      </a:pPr>
                      <a:r>
                        <a:rPr lang="en-US" sz="1700" b="1">
                          <a:solidFill>
                            <a:srgbClr val="111111"/>
                          </a:solidFill>
                          <a:latin typeface="Nunito Bold"/>
                          <a:ea typeface="Nunito Bold"/>
                          <a:cs typeface="Nunito Bold"/>
                          <a:sym typeface="Nunito Bold"/>
                        </a:rPr>
                        <a:t>DyHuCoG</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0.2775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0.2362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0.397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0.516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bl>
          </a:graphicData>
        </a:graphic>
      </p:graphicFrame>
      <p:sp>
        <p:nvSpPr>
          <p:cNvPr id="31" name="TextBox 30"/>
          <p:cNvSpPr txBox="1"/>
          <p:nvPr/>
        </p:nvSpPr>
        <p:spPr>
          <a:xfrm>
            <a:off x="7520940" y="8301482"/>
            <a:ext cx="9738360" cy="54864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Semi-Bold"/>
                <a:ea typeface="Nunito Semi-Bold"/>
                <a:cs typeface="Nunito Semi-Bold"/>
                <a:sym typeface="Nunito Semi-Bold"/>
              </a:rPr>
              <a:t>Table 7.1 (thesis): mean over five seeds; ± standard deviation in the backup slides. Best value per column in the bold row.</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[3] Louhichi, M., Nesmaoui, R. &amp; Lazaar, M. DyHuCoG: A Dynamic Hypergraph Cooperative Game for Preference-aware Recommendation. IJIES 19(2), 887–902 (2026).</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60</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Main Results on Amazon-Book</a:t>
            </a:r>
          </a:p>
        </p:txBody>
      </p:sp>
      <p:pic>
        <p:nvPicPr>
          <p:cNvPr id="23" name="Picture 22" descr="image.png"/>
          <p:cNvPicPr>
            <a:picLocks noChangeAspect="1"/>
          </p:cNvPicPr>
          <p:nvPr/>
        </p:nvPicPr>
        <p:blipFill>
          <a:blip r:embed="rId3"/>
          <a:stretch>
            <a:fillRect/>
          </a:stretch>
        </p:blipFill>
        <p:spPr>
          <a:xfrm>
            <a:off x="9187392" y="1673352"/>
            <a:ext cx="457200" cy="617115"/>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63722"/>
            <a:ext cx="6035040" cy="4573270"/>
          </a:xfrm>
          <a:prstGeom prst="rect">
            <a:avLst/>
          </a:prstGeom>
          <a:noFill/>
        </p:spPr>
        <p:txBody>
          <a:bodyPr anchor="t" rtlCol="false" lIns="0" tIns="0" rIns="0" bIns="0" wrap="square"/>
          <a:lstStyle/>
          <a:p>
            <a:pPr algn="l" marL="274320" indent="-274320">
              <a:lnSpc>
                <a:spcPts val="2660"/>
              </a:lnSpc>
              <a:spcBef>
                <a:spcPts val="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Same picture on the </a:t>
            </a:r>
            <a:r>
              <a:rPr lang="en-US" sz="1900" b="true">
                <a:solidFill>
                  <a:srgbClr val="111111"/>
                </a:solidFill>
                <a:latin typeface="Nunito Bold"/>
                <a:ea typeface="Nunito Bold"/>
                <a:cs typeface="Nunito Bold"/>
                <a:sym typeface="Nunito Bold"/>
              </a:rPr>
              <a:t>sparse</a:t>
            </a:r>
            <a:r>
              <a:rPr lang="en-US" sz="1900" b="true">
                <a:solidFill>
                  <a:srgbClr val="111111"/>
                </a:solidFill>
                <a:latin typeface="Nunito Semi-Bold"/>
                <a:ea typeface="Nunito Semi-Bold"/>
                <a:cs typeface="Nunito Semi-Bold"/>
                <a:sym typeface="Nunito Semi-Bold"/>
              </a:rPr>
              <a:t> dataset (density 0.0006), with </a:t>
            </a:r>
            <a:r>
              <a:rPr lang="en-US" sz="1900" b="true">
                <a:solidFill>
                  <a:srgbClr val="111111"/>
                </a:solidFill>
                <a:latin typeface="Nunito Bold"/>
                <a:ea typeface="Nunito Bold"/>
                <a:cs typeface="Nunito Bold"/>
                <a:sym typeface="Nunito Bold"/>
              </a:rPr>
              <a:t>larger relative gains</a:t>
            </a:r>
            <a:r>
              <a:rPr lang="en-US" sz="1900" b="true">
                <a:solidFill>
                  <a:srgbClr val="111111"/>
                </a:solidFill>
                <a:latin typeface="Nunito Semi-Bold"/>
                <a:ea typeface="Nunito Semi-Bold"/>
                <a:cs typeface="Nunito Semi-Bold"/>
                <a:sym typeface="Nunito Semi-Bold"/>
              </a:rPr>
              <a:t>.</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NDCG@20 </a:t>
            </a:r>
            <a:r>
              <a:rPr lang="en-US" sz="1900" b="true">
                <a:solidFill>
                  <a:srgbClr val="111111"/>
                </a:solidFill>
                <a:latin typeface="Nunito Bold"/>
                <a:ea typeface="Nunito Bold"/>
                <a:cs typeface="Nunito Bold"/>
                <a:sym typeface="Nunito Bold"/>
              </a:rPr>
              <a:t>0.0306 vs 0.0270</a:t>
            </a:r>
            <a:r>
              <a:rPr lang="en-US" sz="1900" b="true">
                <a:solidFill>
                  <a:srgbClr val="111111"/>
                </a:solidFill>
                <a:latin typeface="Nunito Semi-Bold"/>
                <a:ea typeface="Nunito Semi-Bold"/>
                <a:cs typeface="Nunito Semi-Bold"/>
                <a:sym typeface="Nunito Semi-Bold"/>
              </a:rPr>
              <a:t> for HPCF (+13.3 %); Recall@20 </a:t>
            </a:r>
            <a:r>
              <a:rPr lang="en-US" sz="1900" b="true">
                <a:solidFill>
                  <a:srgbClr val="111111"/>
                </a:solidFill>
                <a:latin typeface="Nunito Bold"/>
                <a:ea typeface="Nunito Bold"/>
                <a:cs typeface="Nunito Bold"/>
                <a:sym typeface="Nunito Bold"/>
              </a:rPr>
              <a:t>0.0417 vs 0.0359</a:t>
            </a:r>
            <a:r>
              <a:rPr lang="en-US" sz="1900" b="true">
                <a:solidFill>
                  <a:srgbClr val="111111"/>
                </a:solidFill>
                <a:latin typeface="Nunito Semi-Bold"/>
                <a:ea typeface="Nunito Semi-Bold"/>
                <a:cs typeface="Nunito Semi-Bold"/>
                <a:sym typeface="Nunito Semi-Bold"/>
              </a:rPr>
              <a:t> (+16.2 %).</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Coverage </a:t>
            </a:r>
            <a:r>
              <a:rPr lang="en-US" sz="1900" b="true">
                <a:solidFill>
                  <a:srgbClr val="111111"/>
                </a:solidFill>
                <a:latin typeface="Nunito Bold"/>
                <a:ea typeface="Nunito Bold"/>
                <a:cs typeface="Nunito Bold"/>
                <a:sym typeface="Nunito Bold"/>
              </a:rPr>
              <a:t>0.336 vs 0.259</a:t>
            </a:r>
            <a:r>
              <a:rPr lang="en-US" sz="1900" b="true">
                <a:solidFill>
                  <a:srgbClr val="111111"/>
                </a:solidFill>
                <a:latin typeface="Nunito Semi-Bold"/>
                <a:ea typeface="Nunito Semi-Bold"/>
                <a:cs typeface="Nunito Semi-Bold"/>
                <a:sym typeface="Nunito Semi-Bold"/>
              </a:rPr>
              <a:t> (+29.7 %) and ILD </a:t>
            </a:r>
            <a:r>
              <a:rPr lang="en-US" sz="1900" b="true">
                <a:solidFill>
                  <a:srgbClr val="111111"/>
                </a:solidFill>
                <a:latin typeface="Nunito Bold"/>
                <a:ea typeface="Nunito Bold"/>
                <a:cs typeface="Nunito Bold"/>
                <a:sym typeface="Nunito Bold"/>
              </a:rPr>
              <a:t>0.602 vs 0.535</a:t>
            </a:r>
            <a:r>
              <a:rPr lang="en-US" sz="1900" b="true">
                <a:solidFill>
                  <a:srgbClr val="111111"/>
                </a:solidFill>
                <a:latin typeface="Nunito Semi-Bold"/>
                <a:ea typeface="Nunito Semi-Bold"/>
                <a:cs typeface="Nunito Semi-Bold"/>
                <a:sym typeface="Nunito Semi-Bold"/>
              </a:rPr>
              <a:t> (+12.5 %).</a:t>
            </a:r>
          </a:p>
          <a:p>
            <a:pPr algn="l" marL="274320" indent="-274320">
              <a:lnSpc>
                <a:spcPts val="2660"/>
              </a:lnSpc>
              <a:spcBef>
                <a:spcPts val="1000"/>
              </a:spcBef>
              <a:buClr>
                <a:srgbClr val="DF8330"/>
              </a:buClr>
              <a:buSzPct val="100000"/>
              <a:buFont typeface="Arial"/>
              <a:buChar char="•"/>
            </a:pPr>
            <a:r>
              <a:rPr lang="en-US" sz="1900" b="true">
                <a:solidFill>
                  <a:srgbClr val="111111"/>
                </a:solidFill>
                <a:latin typeface="Nunito Semi-Bold"/>
                <a:ea typeface="Nunito Semi-Bold"/>
                <a:cs typeface="Nunito Semi-Bold"/>
                <a:sym typeface="Nunito Semi-Bold"/>
              </a:rPr>
              <a:t>Absolute values are low for every model because the matrix is almost empty; what matters is the </a:t>
            </a:r>
            <a:r>
              <a:rPr lang="en-US" sz="1900" b="true">
                <a:solidFill>
                  <a:srgbClr val="111111"/>
                </a:solidFill>
                <a:latin typeface="Nunito Bold"/>
                <a:ea typeface="Nunito Bold"/>
                <a:cs typeface="Nunito Bold"/>
                <a:sym typeface="Nunito Bold"/>
              </a:rPr>
              <a:t>consistent ordering and the widening gap</a:t>
            </a:r>
            <a:r>
              <a:rPr lang="en-US" sz="1900" b="true">
                <a:solidFill>
                  <a:srgbClr val="111111"/>
                </a:solidFill>
                <a:latin typeface="Nunito Semi-Bold"/>
                <a:ea typeface="Nunito Semi-Bold"/>
                <a:cs typeface="Nunito Semi-Bold"/>
                <a:sym typeface="Nunito Semi-Bold"/>
              </a:rPr>
              <a:t> where data are weakest.</a:t>
            </a:r>
          </a:p>
        </p:txBody>
      </p:sp>
      <p:sp>
        <p:nvSpPr>
          <p:cNvPr id="29" name="Rounded Rectangle 28"/>
          <p:cNvSpPr/>
          <p:nvPr/>
        </p:nvSpPr>
        <p:spPr>
          <a:xfrm>
            <a:off x="1028700" y="8119872"/>
            <a:ext cx="6035040" cy="1097280"/>
          </a:xfrm>
          <a:prstGeom prst="roundRect">
            <a:avLst>
              <a:gd name="adj" fmla="val 25000"/>
            </a:avLst>
          </a:prstGeom>
          <a:solidFill>
            <a:srgbClr val="124944"/>
          </a:solidFill>
          <a:ln>
            <a:noFill/>
          </a:ln>
        </p:spPr>
        <p:txBody>
          <a:bodyPr anchor="ctr" rtlCol="false" lIns="137160" tIns="91440" rIns="137160" bIns="91440" wrap="square"/>
          <a:lstStyle/>
          <a:p>
            <a:pPr algn="ctr">
              <a:lnSpc>
                <a:spcPts val="3300"/>
              </a:lnSpc>
              <a:spcBef>
                <a:spcPts val="0"/>
              </a:spcBef>
              <a:buNone/>
            </a:pPr>
            <a:r>
              <a:rPr lang="en-US" sz="3000" b="true">
                <a:solidFill>
                  <a:srgbClr val="ECC665"/>
                </a:solidFill>
                <a:latin typeface="Nunito Ultra-Bold"/>
                <a:ea typeface="Nunito Ultra-Bold"/>
                <a:cs typeface="Nunito Ultra-Bold"/>
                <a:sym typeface="Nunito Ultra-Bold"/>
              </a:rPr>
              <a:t>+13.3 %  ·  +16.2 %</a:t>
            </a:r>
          </a:p>
          <a:p>
            <a:pPr algn="ctr">
              <a:lnSpc>
                <a:spcPts val="1875"/>
              </a:lnSpc>
              <a:spcBef>
                <a:spcPts val="400"/>
              </a:spcBef>
              <a:buNone/>
            </a:pPr>
            <a:r>
              <a:rPr lang="en-US" sz="1500" b="true">
                <a:solidFill>
                  <a:srgbClr val="FFFFFF"/>
                </a:solidFill>
                <a:latin typeface="Nunito Semi-Bold"/>
                <a:ea typeface="Nunito Semi-Bold"/>
                <a:cs typeface="Nunito Semi-Bold"/>
                <a:sym typeface="Nunito Semi-Bold"/>
              </a:rPr>
              <a:t>NDCG@20 · Recall@20 over HPCF</a:t>
            </a:r>
          </a:p>
        </p:txBody>
      </p:sp>
      <p:graphicFrame>
        <p:nvGraphicFramePr>
          <p:cNvPr id="30" name="Table 29"/>
          <p:cNvGraphicFramePr>
            <a:graphicFrameLocks noGrp="1"/>
          </p:cNvGraphicFramePr>
          <p:nvPr/>
        </p:nvGraphicFramePr>
        <p:xfrm>
          <a:off x="7520940" y="3363722"/>
          <a:ext cx="9738358" cy="4828032"/>
        </p:xfrm>
        <a:graphic>
          <a:graphicData uri="http://schemas.openxmlformats.org/drawingml/2006/table">
            <a:tbl>
              <a:tblPr firstRow="0" bandRow="0" firstCol="0" lastRow="0" lastCol="0" bandCol="0">
                <a:tableStyleId>{2D5ABB26-0587-4C30-8999-92F81FD0307C}</a:tableStyleId>
              </a:tblPr>
              <a:tblGrid>
                <a:gridCol w="2217646"/>
                <a:gridCol w="1928388"/>
                <a:gridCol w="1928388"/>
                <a:gridCol w="1831968"/>
                <a:gridCol w="1831968"/>
              </a:tblGrid>
              <a:tr h="603504">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Model</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NDCG@20</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Recall@20</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Coverage</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ILD</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MF</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0.0049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0.0093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0.168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0.425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NCF</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0.0085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0.0142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0.193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0.458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LightGCN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0.0236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0.0320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0.226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0.491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RecDCL</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0.0255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0.0346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0.242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0.512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HCCF</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0.0258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0.0344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0.248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0.520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603504">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HPCF</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0.0270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0.0359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0.259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0.535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603504">
                <a:tc>
                  <a:txBody>
                    <a:bodyPr anchor="ctr" rtlCol="false" lIns="0" tIns="0" rIns="0" bIns="0" wrap="square"/>
                    <a:lstStyle/>
                    <a:p>
                      <a:pPr algn="l">
                        <a:lnSpc>
                          <a:spcPts val="2210"/>
                        </a:lnSpc>
                        <a:spcBef>
                          <a:spcPts val="0"/>
                        </a:spcBef>
                        <a:buNone/>
                      </a:pPr>
                      <a:r>
                        <a:rPr lang="en-US" sz="1700" b="1">
                          <a:solidFill>
                            <a:srgbClr val="111111"/>
                          </a:solidFill>
                          <a:latin typeface="Nunito Bold"/>
                          <a:ea typeface="Nunito Bold"/>
                          <a:cs typeface="Nunito Bold"/>
                          <a:sym typeface="Nunito Bold"/>
                        </a:rPr>
                        <a:t>DyHuCoG</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0.0306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0.0417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0.336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0.602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bl>
          </a:graphicData>
        </a:graphic>
      </p:graphicFrame>
      <p:sp>
        <p:nvSpPr>
          <p:cNvPr id="31" name="TextBox 30"/>
          <p:cNvSpPr txBox="1"/>
          <p:nvPr/>
        </p:nvSpPr>
        <p:spPr>
          <a:xfrm>
            <a:off x="7520940" y="8301482"/>
            <a:ext cx="9738360" cy="54864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Semi-Bold"/>
                <a:ea typeface="Nunito Semi-Bold"/>
                <a:cs typeface="Nunito Semi-Bold"/>
                <a:sym typeface="Nunito Semi-Bold"/>
              </a:rPr>
              <a:t>Table 7.1 (thesis): mean over five seeds; ± standard deviation in the backup slides. Best value per column in the bold row.</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[3] Louhichi, M., Nesmaoui, R. &amp; Lazaar, M. DyHuCoG: A Dynamic Hypergraph Cooperative Game for Preference-aware Recommendation. IJIES 19(2), 887–902 (2026).</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61</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Ablation: Every Component Contributes</a:t>
            </a:r>
          </a:p>
        </p:txBody>
      </p:sp>
      <p:pic>
        <p:nvPicPr>
          <p:cNvPr id="23" name="Picture 22" descr="image.png"/>
          <p:cNvPicPr>
            <a:picLocks noChangeAspect="1"/>
          </p:cNvPicPr>
          <p:nvPr/>
        </p:nvPicPr>
        <p:blipFill>
          <a:blip r:embed="rId3"/>
          <a:stretch>
            <a:fillRect/>
          </a:stretch>
        </p:blipFill>
        <p:spPr>
          <a:xfrm>
            <a:off x="11596440" y="1673352"/>
            <a:ext cx="457200" cy="250983"/>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TextBox 27"/>
          <p:cNvSpPr txBox="1"/>
          <p:nvPr/>
        </p:nvSpPr>
        <p:spPr>
          <a:xfrm>
            <a:off x="1028700" y="3318002"/>
            <a:ext cx="788670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DF8330"/>
                </a:solidFill>
                <a:latin typeface="Nunito Ultra-Bold"/>
                <a:ea typeface="Nunito Ultra-Bold"/>
                <a:cs typeface="Nunito Ultra-Bold"/>
                <a:sym typeface="Nunito Ultra-Bold"/>
              </a:rPr>
              <a:t>TABLE 7.2  ·  MOVIELENS-1M</a:t>
            </a:r>
          </a:p>
        </p:txBody>
      </p:sp>
      <p:graphicFrame>
        <p:nvGraphicFramePr>
          <p:cNvPr id="29" name="Table 28"/>
          <p:cNvGraphicFramePr>
            <a:graphicFrameLocks noGrp="1"/>
          </p:cNvGraphicFramePr>
          <p:nvPr/>
        </p:nvGraphicFramePr>
        <p:xfrm>
          <a:off x="1028700" y="3683762"/>
          <a:ext cx="7886698" cy="3214116"/>
        </p:xfrm>
        <a:graphic>
          <a:graphicData uri="http://schemas.openxmlformats.org/drawingml/2006/table">
            <a:tbl>
              <a:tblPr firstRow="0" bandRow="0" firstCol="0" lastRow="0" lastCol="0" bandCol="0">
                <a:tableStyleId>{2D5ABB26-0587-4C30-8999-92F81FD0307C}</a:tableStyleId>
              </a:tblPr>
              <a:tblGrid>
                <a:gridCol w="3836772"/>
                <a:gridCol w="2131540"/>
                <a:gridCol w="1918386"/>
              </a:tblGrid>
              <a:tr h="457200">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Variant</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NDCG@20</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Drop</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59486">
                <a:tc>
                  <a:txBody>
                    <a:bodyPr anchor="ctr" rtlCol="false" lIns="0" tIns="0" rIns="0" bIns="0" wrap="square"/>
                    <a:lstStyle/>
                    <a:p>
                      <a:pPr algn="l">
                        <a:lnSpc>
                          <a:spcPts val="2210"/>
                        </a:lnSpc>
                        <a:spcBef>
                          <a:spcPts val="0"/>
                        </a:spcBef>
                        <a:buNone/>
                      </a:pPr>
                      <a:r>
                        <a:rPr lang="en-US" sz="1700" b="1">
                          <a:solidFill>
                            <a:srgbClr val="111111"/>
                          </a:solidFill>
                          <a:latin typeface="Nunito Bold"/>
                          <a:ea typeface="Nunito Bold"/>
                          <a:cs typeface="Nunito Bold"/>
                          <a:sym typeface="Nunito Bold"/>
                        </a:rPr>
                        <a:t>Full DyHuCoG</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0.2775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r h="459486">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w/o Shapley value</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0.2647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−4.6 %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59486">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w/o Hypergraph</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0.2586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−6.8 %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59486">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w/o Attention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0.2678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−3.5 %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59486">
                <a:tc>
                  <a:txBody>
                    <a:bodyPr anchor="ctr" rtlCol="false" lIns="0" tIns="0" rIns="0" bIns="0" wrap="square"/>
                    <a:lstStyle/>
                    <a:p>
                      <a:pPr algn="l">
                        <a:lnSpc>
                          <a:spcPts val="2210"/>
                        </a:lnSpc>
                        <a:spcBef>
                          <a:spcPts val="0"/>
                        </a:spcBef>
                        <a:buNone/>
                      </a:pPr>
                      <a:r>
                        <a:rPr lang="en-US" sz="1700" b="1">
                          <a:solidFill>
                            <a:srgbClr val="DF8330"/>
                          </a:solidFill>
                          <a:latin typeface="Nunito Bold"/>
                          <a:ea typeface="Nunito Bold"/>
                          <a:cs typeface="Nunito Bold"/>
                          <a:sym typeface="Nunito Bold"/>
                        </a:rPr>
                        <a:t>w/o Context</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1">
                          <a:solidFill>
                            <a:srgbClr val="DF8330"/>
                          </a:solidFill>
                          <a:latin typeface="Nunito Semi-Bold"/>
                          <a:ea typeface="Nunito Semi-Bold"/>
                          <a:cs typeface="Nunito Semi-Bold"/>
                          <a:sym typeface="Nunito Semi-Bold"/>
                        </a:rPr>
                        <a:t>0.2547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1">
                          <a:solidFill>
                            <a:srgbClr val="DF8330"/>
                          </a:solidFill>
                          <a:latin typeface="Nunito Semi-Bold"/>
                          <a:ea typeface="Nunito Semi-Bold"/>
                          <a:cs typeface="Nunito Semi-Bold"/>
                          <a:sym typeface="Nunito Semi-Bold"/>
                        </a:rPr>
                        <a:t>−8.2 %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59486">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w/o Diversity</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0.2614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−5.8 %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30" name="TextBox 29"/>
          <p:cNvSpPr txBox="1"/>
          <p:nvPr/>
        </p:nvSpPr>
        <p:spPr>
          <a:xfrm>
            <a:off x="9372600" y="3318002"/>
            <a:ext cx="788670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DF8330"/>
                </a:solidFill>
                <a:latin typeface="Nunito Ultra-Bold"/>
                <a:ea typeface="Nunito Ultra-Bold"/>
                <a:cs typeface="Nunito Ultra-Bold"/>
                <a:sym typeface="Nunito Ultra-Bold"/>
              </a:rPr>
              <a:t>AMAZON-BOOK</a:t>
            </a:r>
          </a:p>
        </p:txBody>
      </p:sp>
      <p:graphicFrame>
        <p:nvGraphicFramePr>
          <p:cNvPr id="31" name="Table 30"/>
          <p:cNvGraphicFramePr>
            <a:graphicFrameLocks noGrp="1"/>
          </p:cNvGraphicFramePr>
          <p:nvPr/>
        </p:nvGraphicFramePr>
        <p:xfrm>
          <a:off x="9372600" y="3683762"/>
          <a:ext cx="7886698" cy="3214116"/>
        </p:xfrm>
        <a:graphic>
          <a:graphicData uri="http://schemas.openxmlformats.org/drawingml/2006/table">
            <a:tbl>
              <a:tblPr firstRow="0" bandRow="0" firstCol="0" lastRow="0" lastCol="0" bandCol="0">
                <a:tableStyleId>{2D5ABB26-0587-4C30-8999-92F81FD0307C}</a:tableStyleId>
              </a:tblPr>
              <a:tblGrid>
                <a:gridCol w="3836772"/>
                <a:gridCol w="2131540"/>
                <a:gridCol w="1918386"/>
              </a:tblGrid>
              <a:tr h="457200">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Variant</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NDCG@20</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Drop</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59486">
                <a:tc>
                  <a:txBody>
                    <a:bodyPr anchor="ctr" rtlCol="false" lIns="0" tIns="0" rIns="0" bIns="0" wrap="square"/>
                    <a:lstStyle/>
                    <a:p>
                      <a:pPr algn="l">
                        <a:lnSpc>
                          <a:spcPts val="2210"/>
                        </a:lnSpc>
                        <a:spcBef>
                          <a:spcPts val="0"/>
                        </a:spcBef>
                        <a:buNone/>
                      </a:pPr>
                      <a:r>
                        <a:rPr lang="en-US" sz="1700" b="1">
                          <a:solidFill>
                            <a:srgbClr val="111111"/>
                          </a:solidFill>
                          <a:latin typeface="Nunito Bold"/>
                          <a:ea typeface="Nunito Bold"/>
                          <a:cs typeface="Nunito Bold"/>
                          <a:sym typeface="Nunito Bold"/>
                        </a:rPr>
                        <a:t>Full DyHuCoG</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0.0306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2210"/>
                        </a:lnSpc>
                        <a:spcBef>
                          <a:spcPts val="0"/>
                        </a:spcBef>
                        <a:buNone/>
                      </a:pPr>
                      <a:r>
                        <a:rPr lang="en-US" sz="1700" b="1">
                          <a:solidFill>
                            <a:srgbClr val="111111"/>
                          </a:solidFill>
                          <a:latin typeface="Nunito Semi-Bold"/>
                          <a:ea typeface="Nunito Semi-Bold"/>
                          <a:cs typeface="Nunito Semi-Bold"/>
                          <a:sym typeface="Nunito Semi-Bold"/>
                        </a:rPr>
                        <a:t>–</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r h="459486">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w/o Shapley value</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0.0287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−6.1 %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59486">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w/o Hypergraph</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0.0279</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−8.9 %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59486">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w/o Attention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0.0295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−3.5 %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59486">
                <a:tc>
                  <a:txBody>
                    <a:bodyPr anchor="ctr" rtlCol="false" lIns="0" tIns="0" rIns="0" bIns="0" wrap="square"/>
                    <a:lstStyle/>
                    <a:p>
                      <a:pPr algn="l">
                        <a:lnSpc>
                          <a:spcPts val="2210"/>
                        </a:lnSpc>
                        <a:spcBef>
                          <a:spcPts val="0"/>
                        </a:spcBef>
                        <a:buNone/>
                      </a:pPr>
                      <a:r>
                        <a:rPr lang="en-US" sz="1700" b="1">
                          <a:solidFill>
                            <a:srgbClr val="DF8330"/>
                          </a:solidFill>
                          <a:latin typeface="Nunito Bold"/>
                          <a:ea typeface="Nunito Bold"/>
                          <a:cs typeface="Nunito Bold"/>
                          <a:sym typeface="Nunito Bold"/>
                        </a:rPr>
                        <a:t>w/o Context</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1">
                          <a:solidFill>
                            <a:srgbClr val="DF8330"/>
                          </a:solidFill>
                          <a:latin typeface="Nunito Semi-Bold"/>
                          <a:ea typeface="Nunito Semi-Bold"/>
                          <a:cs typeface="Nunito Semi-Bold"/>
                          <a:sym typeface="Nunito Semi-Bold"/>
                        </a:rPr>
                        <a:t>0.0272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1">
                          <a:solidFill>
                            <a:srgbClr val="DF8330"/>
                          </a:solidFill>
                          <a:latin typeface="Nunito Semi-Bold"/>
                          <a:ea typeface="Nunito Semi-Bold"/>
                          <a:cs typeface="Nunito Semi-Bold"/>
                          <a:sym typeface="Nunito Semi-Bold"/>
                        </a:rPr>
                        <a:t>−11.0 %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59486">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w/o Diversity</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0.0288</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−5.8 %</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32" name="Rounded Rectangle 31"/>
          <p:cNvSpPr/>
          <p:nvPr/>
        </p:nvSpPr>
        <p:spPr>
          <a:xfrm>
            <a:off x="1028700" y="7537958"/>
            <a:ext cx="16230600" cy="1724914"/>
          </a:xfrm>
          <a:prstGeom prst="roundRect">
            <a:avLst>
              <a:gd name="adj" fmla="val 18023"/>
            </a:avLst>
          </a:prstGeom>
          <a:solidFill>
            <a:srgbClr val="F6ECDF"/>
          </a:solidFill>
          <a:ln>
            <a:noFill/>
          </a:ln>
        </p:spPr>
        <p:txBody>
          <a:bodyPr anchor="ctr" rtlCol="false" lIns="0" tIns="0" rIns="0" bIns="0" wrap="square"/>
          <a:lstStyle/>
          <a:p>
            <a:endParaRPr lang="en-US" sz="1800"/>
          </a:p>
        </p:txBody>
      </p:sp>
      <p:sp>
        <p:nvSpPr>
          <p:cNvPr id="33" name="Rounded Rectangle 32"/>
          <p:cNvSpPr/>
          <p:nvPr/>
        </p:nvSpPr>
        <p:spPr>
          <a:xfrm>
            <a:off x="1485900" y="7300214"/>
            <a:ext cx="1757407"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Reading</a:t>
            </a:r>
          </a:p>
        </p:txBody>
      </p:sp>
      <p:sp>
        <p:nvSpPr>
          <p:cNvPr id="34" name="TextBox 33"/>
          <p:cNvSpPr txBox="1"/>
          <p:nvPr/>
        </p:nvSpPr>
        <p:spPr>
          <a:xfrm>
            <a:off x="1531620" y="8086598"/>
            <a:ext cx="15270480" cy="993394"/>
          </a:xfrm>
          <a:prstGeom prst="rect">
            <a:avLst/>
          </a:prstGeom>
          <a:noFill/>
        </p:spPr>
        <p:txBody>
          <a:bodyPr anchor="t" rtlCol="false" lIns="0" tIns="0" rIns="0" bIns="0" wrap="square"/>
          <a:lstStyle/>
          <a:p>
            <a:pPr algn="l" marL="274320" indent="-274320">
              <a:lnSpc>
                <a:spcPts val="2142"/>
              </a:lnSpc>
              <a:spcBef>
                <a:spcPts val="0"/>
              </a:spcBef>
              <a:buClr>
                <a:srgbClr val="DF8330"/>
              </a:buClr>
              <a:buSzPct val="100000"/>
              <a:buFont typeface="Arial"/>
              <a:buChar char="•"/>
            </a:pPr>
            <a:r>
              <a:rPr lang="en-US" sz="1530" b="true">
                <a:solidFill>
                  <a:srgbClr val="111111"/>
                </a:solidFill>
                <a:latin typeface="Nunito Bold"/>
                <a:ea typeface="Nunito Bold"/>
                <a:cs typeface="Nunito Bold"/>
                <a:sym typeface="Nunito Bold"/>
              </a:rPr>
              <a:t>Context</a:t>
            </a:r>
            <a:r>
              <a:rPr lang="en-US" sz="1530" b="true">
                <a:solidFill>
                  <a:srgbClr val="111111"/>
                </a:solidFill>
                <a:latin typeface="Nunito Semi-Bold"/>
                <a:ea typeface="Nunito Semi-Bold"/>
                <a:cs typeface="Nunito Semi-Bold"/>
                <a:sym typeface="Nunito Semi-Bold"/>
              </a:rPr>
              <a:t> is the most important component (−8.2 % / −11.0 %), then the </a:t>
            </a:r>
            <a:r>
              <a:rPr lang="en-US" sz="1530" b="true">
                <a:solidFill>
                  <a:srgbClr val="111111"/>
                </a:solidFill>
                <a:latin typeface="Nunito Bold"/>
                <a:ea typeface="Nunito Bold"/>
                <a:cs typeface="Nunito Bold"/>
                <a:sym typeface="Nunito Bold"/>
              </a:rPr>
              <a:t>hypergraph</a:t>
            </a:r>
            <a:r>
              <a:rPr lang="en-US" sz="1530" b="true">
                <a:solidFill>
                  <a:srgbClr val="111111"/>
                </a:solidFill>
                <a:latin typeface="Nunito Semi-Bold"/>
                <a:ea typeface="Nunito Semi-Bold"/>
                <a:cs typeface="Nunito Semi-Bold"/>
                <a:sym typeface="Nunito Semi-Bold"/>
              </a:rPr>
              <a:t> structure (−6.8 % / −8.9 %).</a:t>
            </a:r>
          </a:p>
          <a:p>
            <a:pPr algn="l" marL="274320" indent="-274320">
              <a:lnSpc>
                <a:spcPts val="2142"/>
              </a:lnSpc>
              <a:spcBef>
                <a:spcPts val="510"/>
              </a:spcBef>
              <a:buClr>
                <a:srgbClr val="DF8330"/>
              </a:buClr>
              <a:buSzPct val="100000"/>
              <a:buFont typeface="Arial"/>
              <a:buChar char="•"/>
            </a:pPr>
            <a:r>
              <a:rPr lang="en-US" sz="1530" b="true">
                <a:solidFill>
                  <a:srgbClr val="111111"/>
                </a:solidFill>
                <a:latin typeface="Nunito Semi-Bold"/>
                <a:ea typeface="Nunito Semi-Bold"/>
                <a:cs typeface="Nunito Semi-Bold"/>
                <a:sym typeface="Nunito Semi-Bold"/>
              </a:rPr>
              <a:t>Removing </a:t>
            </a:r>
            <a:r>
              <a:rPr lang="en-US" sz="1530" b="true">
                <a:solidFill>
                  <a:srgbClr val="111111"/>
                </a:solidFill>
                <a:latin typeface="Nunito Bold"/>
                <a:ea typeface="Nunito Bold"/>
                <a:cs typeface="Nunito Bold"/>
                <a:sym typeface="Nunito Bold"/>
              </a:rPr>
              <a:t>Shapley</a:t>
            </a:r>
            <a:r>
              <a:rPr lang="en-US" sz="1530" b="true">
                <a:solidFill>
                  <a:srgbClr val="111111"/>
                </a:solidFill>
                <a:latin typeface="Nunito Semi-Bold"/>
                <a:ea typeface="Nunito Semi-Bold"/>
                <a:cs typeface="Nunito Semi-Bold"/>
                <a:sym typeface="Nunito Semi-Bold"/>
              </a:rPr>
              <a:t> weighting costs 4.6 % / 6.1 %: more on the sparser dataset, where fair credit for weak signals matters most.</a:t>
            </a:r>
          </a:p>
          <a:p>
            <a:pPr algn="l" marL="274320" indent="-274320">
              <a:lnSpc>
                <a:spcPts val="2142"/>
              </a:lnSpc>
              <a:spcBef>
                <a:spcPts val="510"/>
              </a:spcBef>
              <a:buClr>
                <a:srgbClr val="DF8330"/>
              </a:buClr>
              <a:buSzPct val="100000"/>
              <a:buFont typeface="Arial"/>
              <a:buChar char="•"/>
            </a:pPr>
            <a:r>
              <a:rPr lang="en-US" sz="1530" b="true">
                <a:solidFill>
                  <a:srgbClr val="111111"/>
                </a:solidFill>
                <a:latin typeface="Nunito Semi-Bold"/>
                <a:ea typeface="Nunito Semi-Bold"/>
                <a:cs typeface="Nunito Semi-Bold"/>
                <a:sym typeface="Nunito Semi-Bold"/>
              </a:rPr>
              <a:t>The ablation removes one component at a time; it does not test combinations.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[3] Louhichi, M., Nesmaoui, R. &amp; Lazaar, M. DyHuCoG: A Dynamic Hypergraph Cooperative Game for Preference-aware Recommendation. IJIES 19(2), 887–902 (2026).   [8] Castro, J., Gómez, D. &amp; Tejada, J. Polynomial Calculation of the Shapley Value Based on Sampling. Computers &amp; Operations Research 36(5), 1726–1730 (2009).</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62</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Efficiency and Shapley Convergence</a:t>
            </a:r>
          </a:p>
        </p:txBody>
      </p:sp>
      <p:pic>
        <p:nvPicPr>
          <p:cNvPr id="23" name="Picture 22" descr="image.png"/>
          <p:cNvPicPr>
            <a:picLocks noChangeAspect="1"/>
          </p:cNvPicPr>
          <p:nvPr/>
        </p:nvPicPr>
        <p:blipFill>
          <a:blip r:embed="rId3"/>
          <a:stretch>
            <a:fillRect/>
          </a:stretch>
        </p:blipFill>
        <p:spPr>
          <a:xfrm>
            <a:off x="10646093" y="1673352"/>
            <a:ext cx="457200" cy="539881"/>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Rounded Rectangle 27"/>
          <p:cNvSpPr/>
          <p:nvPr/>
        </p:nvSpPr>
        <p:spPr>
          <a:xfrm>
            <a:off x="1028700" y="3455162"/>
            <a:ext cx="3851910" cy="2103120"/>
          </a:xfrm>
          <a:prstGeom prst="roundRect">
            <a:avLst>
              <a:gd name="adj" fmla="val 13043"/>
            </a:avLst>
          </a:prstGeom>
          <a:solidFill>
            <a:srgbClr val="124944"/>
          </a:solidFill>
          <a:ln>
            <a:noFill/>
          </a:ln>
        </p:spPr>
        <p:txBody>
          <a:bodyPr anchor="ctr" rtlCol="false" lIns="137160" tIns="91440" rIns="137160" bIns="91440" wrap="square"/>
          <a:lstStyle/>
          <a:p>
            <a:pPr algn="ctr">
              <a:lnSpc>
                <a:spcPts val="3960"/>
              </a:lnSpc>
              <a:spcBef>
                <a:spcPts val="0"/>
              </a:spcBef>
              <a:buNone/>
            </a:pPr>
            <a:r>
              <a:rPr lang="en-US" sz="3600" b="true">
                <a:solidFill>
                  <a:srgbClr val="ECC665"/>
                </a:solidFill>
                <a:latin typeface="Nunito Ultra-Bold"/>
                <a:ea typeface="Nunito Ultra-Bold"/>
                <a:cs typeface="Nunito Ultra-Bold"/>
                <a:sym typeface="Nunito Ultra-Bold"/>
              </a:rPr>
              <a:t>1.78×</a:t>
            </a:r>
          </a:p>
          <a:p>
            <a:pPr algn="ctr">
              <a:lnSpc>
                <a:spcPts val="2125"/>
              </a:lnSpc>
              <a:spcBef>
                <a:spcPts val="400"/>
              </a:spcBef>
              <a:buNone/>
            </a:pPr>
            <a:r>
              <a:rPr lang="en-US" sz="1700" b="true">
                <a:solidFill>
                  <a:srgbClr val="FFFFFF"/>
                </a:solidFill>
                <a:latin typeface="Nunito Semi-Bold"/>
                <a:ea typeface="Nunito Semi-Bold"/>
                <a:cs typeface="Nunito Semi-Bold"/>
                <a:sym typeface="Nunito Semi-Bold"/>
              </a:rPr>
              <a:t>training time vs HPCF </a:t>
            </a:r>
            <a:r>
              <a:rPr lang="en-US" sz="1700" b="true">
                <a:solidFill>
                  <a:srgbClr val="FFFFFF"/>
                </a:solidFill>
                <a:latin typeface="Nunito Bold"/>
                <a:ea typeface="Nunito Bold"/>
                <a:cs typeface="Nunito Bold"/>
                <a:sym typeface="Nunito Bold"/>
              </a:rPr>
              <a:t>(≈ 2000 s vs 1125 s, ML-1M)</a:t>
            </a:r>
          </a:p>
        </p:txBody>
      </p:sp>
      <p:sp>
        <p:nvSpPr>
          <p:cNvPr id="29" name="Rounded Rectangle 28"/>
          <p:cNvSpPr/>
          <p:nvPr/>
        </p:nvSpPr>
        <p:spPr>
          <a:xfrm>
            <a:off x="5154930" y="3455162"/>
            <a:ext cx="3851910" cy="2103120"/>
          </a:xfrm>
          <a:prstGeom prst="roundRect">
            <a:avLst>
              <a:gd name="adj" fmla="val 13043"/>
            </a:avLst>
          </a:prstGeom>
          <a:solidFill>
            <a:srgbClr val="1E5F58"/>
          </a:solidFill>
          <a:ln>
            <a:noFill/>
          </a:ln>
        </p:spPr>
        <p:txBody>
          <a:bodyPr anchor="ctr" rtlCol="false" lIns="137160" tIns="91440" rIns="137160" bIns="91440" wrap="square"/>
          <a:lstStyle/>
          <a:p>
            <a:pPr algn="ctr">
              <a:lnSpc>
                <a:spcPts val="3960"/>
              </a:lnSpc>
              <a:spcBef>
                <a:spcPts val="0"/>
              </a:spcBef>
              <a:buNone/>
            </a:pPr>
            <a:r>
              <a:rPr lang="en-US" sz="3600" b="true">
                <a:solidFill>
                  <a:srgbClr val="ECC665"/>
                </a:solidFill>
                <a:latin typeface="Nunito Ultra-Bold"/>
                <a:ea typeface="Nunito Ultra-Bold"/>
                <a:cs typeface="Nunito Ultra-Bold"/>
                <a:sym typeface="Nunito Ultra-Bold"/>
              </a:rPr>
              <a:t>1.84 ms</a:t>
            </a:r>
          </a:p>
          <a:p>
            <a:pPr algn="ctr">
              <a:lnSpc>
                <a:spcPts val="2125"/>
              </a:lnSpc>
              <a:spcBef>
                <a:spcPts val="400"/>
              </a:spcBef>
              <a:buNone/>
            </a:pPr>
            <a:r>
              <a:rPr lang="en-US" sz="1700" b="true">
                <a:solidFill>
                  <a:srgbClr val="FFFFFF"/>
                </a:solidFill>
                <a:latin typeface="Nunito Semi-Bold"/>
                <a:ea typeface="Nunito Semi-Bold"/>
                <a:cs typeface="Nunito Semi-Bold"/>
                <a:sym typeface="Nunito Semi-Bold"/>
              </a:rPr>
              <a:t>inference / query on ML-1M </a:t>
            </a:r>
            <a:r>
              <a:rPr lang="en-US" sz="1700" b="true">
                <a:solidFill>
                  <a:srgbClr val="FFFFFF"/>
                </a:solidFill>
                <a:latin typeface="Nunito Bold"/>
                <a:ea typeface="Nunito Bold"/>
                <a:cs typeface="Nunito Bold"/>
                <a:sym typeface="Nunito Bold"/>
              </a:rPr>
              <a:t>(8.52 ms Amazon)</a:t>
            </a:r>
          </a:p>
        </p:txBody>
      </p:sp>
      <p:sp>
        <p:nvSpPr>
          <p:cNvPr id="30" name="Rounded Rectangle 29"/>
          <p:cNvSpPr/>
          <p:nvPr/>
        </p:nvSpPr>
        <p:spPr>
          <a:xfrm>
            <a:off x="9281160" y="3455162"/>
            <a:ext cx="3851910" cy="2103120"/>
          </a:xfrm>
          <a:prstGeom prst="roundRect">
            <a:avLst>
              <a:gd name="adj" fmla="val 13043"/>
            </a:avLst>
          </a:prstGeom>
          <a:solidFill>
            <a:srgbClr val="DF8330"/>
          </a:solidFill>
          <a:ln>
            <a:noFill/>
          </a:ln>
        </p:spPr>
        <p:txBody>
          <a:bodyPr anchor="ctr" rtlCol="false" lIns="137160" tIns="91440" rIns="137160" bIns="91440" wrap="square"/>
          <a:lstStyle/>
          <a:p>
            <a:pPr algn="ctr">
              <a:lnSpc>
                <a:spcPts val="3960"/>
              </a:lnSpc>
              <a:spcBef>
                <a:spcPts val="0"/>
              </a:spcBef>
              <a:buNone/>
            </a:pPr>
            <a:r>
              <a:rPr lang="en-US" sz="3600" b="true">
                <a:solidFill>
                  <a:srgbClr val="FFFFFF"/>
                </a:solidFill>
                <a:latin typeface="Nunito Ultra-Bold"/>
                <a:ea typeface="Nunito Ultra-Bold"/>
                <a:cs typeface="Nunito Ultra-Bold"/>
                <a:sym typeface="Nunito Ultra-Bold"/>
              </a:rPr>
              <a:t>4.4 GB</a:t>
            </a:r>
          </a:p>
          <a:p>
            <a:pPr algn="ctr">
              <a:lnSpc>
                <a:spcPts val="2125"/>
              </a:lnSpc>
              <a:spcBef>
                <a:spcPts val="400"/>
              </a:spcBef>
              <a:buNone/>
            </a:pPr>
            <a:r>
              <a:rPr lang="en-US" sz="1700" b="true">
                <a:solidFill>
                  <a:srgbClr val="FFFFFF"/>
                </a:solidFill>
                <a:latin typeface="Nunito Semi-Bold"/>
                <a:ea typeface="Nunito Semi-Bold"/>
                <a:cs typeface="Nunito Semi-Bold"/>
                <a:sym typeface="Nunito Semi-Bold"/>
              </a:rPr>
              <a:t>memory ML-1M vs 4.1 GB </a:t>
            </a:r>
            <a:r>
              <a:rPr lang="en-US" sz="1700" b="true">
                <a:solidFill>
                  <a:srgbClr val="FFFFFF"/>
                </a:solidFill>
                <a:latin typeface="Nunito Bold"/>
                <a:ea typeface="Nunito Bold"/>
                <a:cs typeface="Nunito Bold"/>
                <a:sym typeface="Nunito Bold"/>
              </a:rPr>
              <a:t>(17.9 vs 16.8 GB Amazon)</a:t>
            </a:r>
          </a:p>
        </p:txBody>
      </p:sp>
      <p:sp>
        <p:nvSpPr>
          <p:cNvPr id="31" name="Rounded Rectangle 30"/>
          <p:cNvSpPr/>
          <p:nvPr/>
        </p:nvSpPr>
        <p:spPr>
          <a:xfrm>
            <a:off x="13407390" y="3455162"/>
            <a:ext cx="3851910" cy="2103120"/>
          </a:xfrm>
          <a:prstGeom prst="roundRect">
            <a:avLst>
              <a:gd name="adj" fmla="val 13043"/>
            </a:avLst>
          </a:prstGeom>
          <a:solidFill>
            <a:srgbClr val="111111"/>
          </a:solidFill>
          <a:ln>
            <a:noFill/>
          </a:ln>
        </p:spPr>
        <p:txBody>
          <a:bodyPr anchor="ctr" rtlCol="false" lIns="137160" tIns="91440" rIns="137160" bIns="91440" wrap="square"/>
          <a:lstStyle/>
          <a:p>
            <a:pPr algn="ctr">
              <a:lnSpc>
                <a:spcPts val="3960"/>
              </a:lnSpc>
              <a:spcBef>
                <a:spcPts val="0"/>
              </a:spcBef>
              <a:buNone/>
            </a:pPr>
            <a:r>
              <a:rPr lang="en-US" sz="3600" b="true">
                <a:solidFill>
                  <a:srgbClr val="ECC665"/>
                </a:solidFill>
                <a:latin typeface="Nunito Ultra-Bold"/>
                <a:ea typeface="Nunito Ultra-Bold"/>
                <a:cs typeface="Nunito Ultra-Bold"/>
                <a:sym typeface="Nunito Ultra-Bold"/>
              </a:rPr>
              <a:t>M = 50</a:t>
            </a:r>
          </a:p>
          <a:p>
            <a:pPr algn="ctr">
              <a:lnSpc>
                <a:spcPts val="2125"/>
              </a:lnSpc>
              <a:spcBef>
                <a:spcPts val="400"/>
              </a:spcBef>
              <a:buNone/>
            </a:pPr>
            <a:r>
              <a:rPr lang="en-US" sz="1700" b="true">
                <a:solidFill>
                  <a:srgbClr val="FFFFFF"/>
                </a:solidFill>
                <a:latin typeface="Nunito Semi-Bold"/>
                <a:ea typeface="Nunito Semi-Bold"/>
                <a:cs typeface="Nunito Semi-Bold"/>
                <a:sym typeface="Nunito Semi-Bold"/>
              </a:rPr>
              <a:t>MSE 1.4×10</a:t>
            </a:r>
            <a:r>
              <a:rPr lang="en-US" sz="1700" b="true" baseline="30000">
                <a:solidFill>
                  <a:srgbClr val="FFFFFF"/>
                </a:solidFill>
                <a:latin typeface="Nunito Semi-Bold"/>
                <a:ea typeface="Nunito Semi-Bold"/>
                <a:cs typeface="Nunito Semi-Bold"/>
                <a:sym typeface="Nunito Semi-Bold"/>
              </a:rPr>
              <a:t>−5</a:t>
            </a:r>
            <a:r>
              <a:rPr lang="en-US" sz="1700" b="true">
                <a:solidFill>
                  <a:srgbClr val="FFFFFF"/>
                </a:solidFill>
                <a:latin typeface="Nunito Semi-Bold"/>
                <a:ea typeface="Nunito Semi-Bold"/>
                <a:cs typeface="Nunito Semi-Bold"/>
                <a:sym typeface="Nunito Semi-Bold"/>
              </a:rPr>
              <a:t> · </a:t>
            </a:r>
            <a:r>
              <a:rPr lang="en-US" sz="1700" b="true">
                <a:solidFill>
                  <a:srgbClr val="FFFFFF"/>
                </a:solidFill>
                <a:latin typeface="Nunito Bold"/>
                <a:ea typeface="Nunito Bold"/>
                <a:cs typeface="Nunito Bold"/>
                <a:sym typeface="Nunito Bold"/>
              </a:rPr>
              <a:t>≈ 99 % accuracy</a:t>
            </a:r>
          </a:p>
        </p:txBody>
      </p:sp>
      <p:sp>
        <p:nvSpPr>
          <p:cNvPr id="32" name="TextBox 31"/>
          <p:cNvSpPr txBox="1"/>
          <p:nvPr/>
        </p:nvSpPr>
        <p:spPr>
          <a:xfrm>
            <a:off x="1028700" y="5604002"/>
            <a:ext cx="16230600" cy="411480"/>
          </a:xfrm>
          <a:prstGeom prst="rect">
            <a:avLst/>
          </a:prstGeom>
          <a:noFill/>
        </p:spPr>
        <p:txBody>
          <a:bodyPr anchor="t" rtlCol="false" lIns="0" tIns="0" rIns="0" bIns="0" wrap="square"/>
          <a:lstStyle/>
          <a:p>
            <a:pPr algn="l">
              <a:lnSpc>
                <a:spcPts val="1700"/>
              </a:lnSpc>
              <a:spcBef>
                <a:spcPts val="0"/>
              </a:spcBef>
              <a:buNone/>
            </a:pPr>
            <a:r>
              <a:rPr lang="en-US" sz="1300" b="true">
                <a:solidFill>
                  <a:srgbClr val="8A8378"/>
                </a:solidFill>
                <a:latin typeface="Nunito Semi-Bold"/>
                <a:ea typeface="Nunito Semi-Bold"/>
                <a:cs typeface="Nunito Semi-Bold"/>
                <a:sym typeface="Nunito Semi-Bold"/>
              </a:rPr>
              <a:t>Table 7.3 (thesis): runtime and scalability  ·  Table 7.4 (thesis): Monte Carlo convergence and runtime trade-offs. Full tables in the backup slides.</a:t>
            </a:r>
          </a:p>
        </p:txBody>
      </p:sp>
      <p:sp>
        <p:nvSpPr>
          <p:cNvPr id="33" name="Rounded Rectangle 32"/>
          <p:cNvSpPr/>
          <p:nvPr/>
        </p:nvSpPr>
        <p:spPr>
          <a:xfrm>
            <a:off x="1028700" y="6244082"/>
            <a:ext cx="7932420" cy="3110230"/>
          </a:xfrm>
          <a:prstGeom prst="roundRect">
            <a:avLst>
              <a:gd name="adj" fmla="val 9995"/>
            </a:avLst>
          </a:prstGeom>
          <a:solidFill>
            <a:srgbClr val="F6ECDF"/>
          </a:solidFill>
          <a:ln>
            <a:noFill/>
          </a:ln>
        </p:spPr>
        <p:txBody>
          <a:bodyPr anchor="ctr" rtlCol="false" lIns="0" tIns="0" rIns="0" bIns="0" wrap="square"/>
          <a:lstStyle/>
          <a:p>
            <a:endParaRPr lang="en-US" sz="1800"/>
          </a:p>
        </p:txBody>
      </p:sp>
      <p:sp>
        <p:nvSpPr>
          <p:cNvPr id="34" name="Rounded Rectangle 33"/>
          <p:cNvSpPr/>
          <p:nvPr/>
        </p:nvSpPr>
        <p:spPr>
          <a:xfrm>
            <a:off x="1485900" y="6006338"/>
            <a:ext cx="2185051"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Complexity</a:t>
            </a:r>
          </a:p>
        </p:txBody>
      </p:sp>
      <p:sp>
        <p:nvSpPr>
          <p:cNvPr id="35" name="TextBox 34"/>
          <p:cNvSpPr txBox="1"/>
          <p:nvPr/>
        </p:nvSpPr>
        <p:spPr>
          <a:xfrm>
            <a:off x="1531620" y="6884162"/>
            <a:ext cx="6972300" cy="1555750"/>
          </a:xfrm>
          <a:prstGeom prst="rect">
            <a:avLst/>
          </a:prstGeom>
          <a:noFill/>
        </p:spPr>
        <p:txBody>
          <a:bodyPr anchor="t" rtlCol="false" lIns="0" tIns="0" rIns="0" bIns="0" wrap="square"/>
          <a:lstStyle/>
          <a:p>
            <a:pPr algn="l" marL="274320" indent="-274320">
              <a:lnSpc>
                <a:spcPts val="2548"/>
              </a:lnSpc>
              <a:spcBef>
                <a:spcPts val="0"/>
              </a:spcBef>
              <a:buClr>
                <a:srgbClr val="DF8330"/>
              </a:buClr>
              <a:buSzPct val="100000"/>
              <a:buFont typeface="Arial"/>
              <a:buChar char="•"/>
            </a:pPr>
            <a:r>
              <a:rPr lang="en-US" sz="1820" b="true">
                <a:solidFill>
                  <a:srgbClr val="111111"/>
                </a:solidFill>
                <a:latin typeface="Nunito Semi-Bold"/>
                <a:ea typeface="Nunito Semi-Bold"/>
                <a:cs typeface="Nunito Semi-Bold"/>
                <a:sym typeface="Nunito Semi-Bold"/>
              </a:rPr>
              <a:t>Per-epoch cost: propagation plus periodic Shapley refresh:</a:t>
            </a:r>
          </a:p>
          <a:p>
            <a:pPr algn="l" marL="274320" indent="-274320">
              <a:lnSpc>
                <a:spcPts val="2548"/>
              </a:lnSpc>
              <a:spcBef>
                <a:spcPts val="910"/>
              </a:spcBef>
              <a:buClr>
                <a:srgbClr val="DF8330"/>
              </a:buClr>
              <a:buSzPct val="100000"/>
              <a:buFont typeface="Arial"/>
              <a:buChar char="•"/>
            </a:pPr>
            <a:r>
              <a:rPr lang="en-US" sz="1820" b="true">
                <a:solidFill>
                  <a:srgbClr val="111111"/>
                </a:solidFill>
                <a:latin typeface="Nunito Semi-Bold"/>
                <a:ea typeface="Nunito Semi-Bold"/>
                <a:cs typeface="Nunito Semi-Bold"/>
                <a:sym typeface="Nunito Semi-Bold"/>
              </a:rPr>
              <a:t>A refresh every f = 10 batches keeps the overhead bounded.</a:t>
            </a:r>
          </a:p>
          <a:p>
            <a:pPr algn="l" marL="274320" indent="-274320">
              <a:lnSpc>
                <a:spcPts val="2548"/>
              </a:lnSpc>
              <a:spcBef>
                <a:spcPts val="910"/>
              </a:spcBef>
              <a:buClr>
                <a:srgbClr val="DF8330"/>
              </a:buClr>
              <a:buSzPct val="100000"/>
              <a:buFont typeface="Arial"/>
              <a:buChar char="•"/>
            </a:pPr>
            <a:r>
              <a:rPr lang="en-US" sz="1820" b="true">
                <a:solidFill>
                  <a:srgbClr val="111111"/>
                </a:solidFill>
                <a:latin typeface="Nunito Semi-Bold"/>
                <a:ea typeface="Nunito Semi-Bold"/>
                <a:cs typeface="Nunito Semi-Bold"/>
                <a:sym typeface="Nunito Semi-Bold"/>
              </a:rPr>
              <a:t>Inference latency is </a:t>
            </a:r>
            <a:r>
              <a:rPr lang="en-US" sz="1820" b="true">
                <a:solidFill>
                  <a:srgbClr val="111111"/>
                </a:solidFill>
                <a:latin typeface="Nunito Bold"/>
                <a:ea typeface="Nunito Bold"/>
                <a:cs typeface="Nunito Bold"/>
                <a:sym typeface="Nunito Bold"/>
              </a:rPr>
              <a:t>suitable for real-time use</a:t>
            </a:r>
            <a:r>
              <a:rPr lang="en-US" sz="1820" b="true">
                <a:solidFill>
                  <a:srgbClr val="111111"/>
                </a:solidFill>
                <a:latin typeface="Nunito Semi-Bold"/>
                <a:ea typeface="Nunito Semi-Bold"/>
                <a:cs typeface="Nunito Semi-Bold"/>
                <a:sym typeface="Nunito Semi-Bold"/>
              </a:rPr>
              <a:t>.</a:t>
            </a:r>
          </a:p>
        </p:txBody>
      </p:sp>
      <mc:AlternateContent xmlns:mc="http://schemas.openxmlformats.org/markup-compatibility/2006">
        <mc:Choice xmlns:a14="http://schemas.microsoft.com/office/drawing/2010/main" Requires="a14">
          <p:sp>
            <p:nvSpPr>
              <p:cNvPr id="36" name="Equation"/>
              <p:cNvSpPr txBox="1"/>
              <p:nvPr/>
            </p:nvSpPr>
            <p:spPr>
              <a:xfrm>
                <a:off x="1531620" y="8485632"/>
                <a:ext cx="6926580" cy="640080"/>
              </a:xfrm>
              <a:prstGeom prst="rect">
                <a:avLst/>
              </a:prstGeom>
              <a:noFill/>
            </p:spPr>
            <p:txBody>
              <a:bodyPr wrap="none" rtlCol="0" anchor="ctr" lIns="0" tIns="0" rIns="0" bIns="0"/>
              <a:lstStyle/>
              <a:p>
                <a:pPr algn="ctr"/>
                <a14:m xmlns:m="http://schemas.openxmlformats.org/officeDocument/2006/math">
                  <m:oMathPara>
                    <m:oMathParaPr>
                      <m:jc m:val="centerGroup"/>
                    </m:oMathParaPr>
                    <m:oMath>
                      <m:r>
                        <a:rPr lang="en-US" sz="2000" i="1">
                          <a:solidFill>
                            <a:srgbClr val="124944"/>
                          </a:solidFill>
                          <a:latin typeface="Cambria Math" panose="02040503050406030204" pitchFamily="18" charset="0"/>
                        </a:rPr>
                        <m:t xml:space="preserve">O</m:t>
                      </m:r>
                      <m:d>
                        <m:dPr>
                          <m:ctrlPr>
                            <a:rPr lang="en-US" sz="2000" i="1">
                              <a:solidFill>
                                <a:srgbClr val="124944"/>
                              </a:solidFill>
                              <a:latin typeface="Cambria Math" panose="02040503050406030204" pitchFamily="18" charset="0"/>
                            </a:rPr>
                          </m:ctrlPr>
                        </m:dPr>
                        <m:e>
                          <m:r>
                            <m:rPr>
                              <m:sty m:val="p"/>
                            </m:rPr>
                            <a:rPr lang="en-US" sz="2000">
                              <a:solidFill>
                                <a:srgbClr val="124944"/>
                              </a:solidFill>
                              <a:latin typeface="Cambria Math" panose="02040503050406030204" pitchFamily="18" charset="0"/>
                            </a:rPr>
                            <m:t xml:space="preserve">(</m:t>
                          </m:r>
                          <m:r>
                            <a:rPr lang="en-US" sz="2000" i="1">
                              <a:solidFill>
                                <a:srgbClr val="124944"/>
                              </a:solidFill>
                              <a:latin typeface="Cambria Math" panose="02040503050406030204" pitchFamily="18" charset="0"/>
                            </a:rPr>
                            <m:t xml:space="preserve">L</m:t>
                          </m:r>
                          <m:r>
                            <m:rPr>
                              <m:sty m:val="p"/>
                            </m:rPr>
                            <a:rPr lang="en-US" sz="2000">
                              <a:solidFill>
                                <a:srgbClr val="124944"/>
                              </a:solidFill>
                              <a:latin typeface="Cambria Math" panose="02040503050406030204" pitchFamily="18" charset="0"/>
                            </a:rPr>
                            <m:t xml:space="preserve">+1) </m:t>
                          </m:r>
                          <m:r>
                            <a:rPr lang="en-US" sz="2000" i="1">
                              <a:solidFill>
                                <a:srgbClr val="124944"/>
                              </a:solidFill>
                              <a:latin typeface="Cambria Math" panose="02040503050406030204" pitchFamily="18" charset="0"/>
                            </a:rPr>
                            <m:t xml:space="preserve">m</m:t>
                          </m:r>
                          <m:r>
                            <m:rPr>
                              <m:sty m:val="p"/>
                            </m:rPr>
                            <a:rPr lang="en-US" sz="2000">
                              <a:solidFill>
                                <a:srgbClr val="124944"/>
                              </a:solidFill>
                              <a:latin typeface="Cambria Math" panose="02040503050406030204" pitchFamily="18" charset="0"/>
                            </a:rPr>
                            <m:t xml:space="preserve"> </m:t>
                          </m:r>
                          <m:r>
                            <a:rPr lang="en-US" sz="2000" i="1">
                              <a:solidFill>
                                <a:srgbClr val="124944"/>
                              </a:solidFill>
                              <a:latin typeface="Cambria Math" panose="02040503050406030204" pitchFamily="18" charset="0"/>
                            </a:rPr>
                            <m:t xml:space="preserve">d</m:t>
                          </m:r>
                        </m:e>
                      </m:d>
                      <m:r>
                        <m:rPr>
                          <m:sty m:val="p"/>
                        </m:rPr>
                        <a:rPr lang="en-US" sz="2000">
                          <a:solidFill>
                            <a:srgbClr val="124944"/>
                          </a:solidFill>
                          <a:latin typeface="Cambria Math" panose="02040503050406030204" pitchFamily="18" charset="0"/>
                        </a:rPr>
                        <m:t xml:space="preserve">+</m:t>
                      </m:r>
                      <m:r>
                        <a:rPr lang="en-US" sz="2000" i="1">
                          <a:solidFill>
                            <a:srgbClr val="124944"/>
                          </a:solidFill>
                          <a:latin typeface="Cambria Math" panose="02040503050406030204" pitchFamily="18" charset="0"/>
                        </a:rPr>
                        <m:t xml:space="preserve">O</m:t>
                      </m:r>
                      <m:d>
                        <m:dPr>
                          <m:ctrlPr>
                            <a:rPr lang="en-US" sz="2000" i="1">
                              <a:solidFill>
                                <a:srgbClr val="124944"/>
                              </a:solidFill>
                              <a:latin typeface="Cambria Math" panose="02040503050406030204" pitchFamily="18" charset="0"/>
                            </a:rPr>
                          </m:ctrlPr>
                        </m:dPr>
                        <m:e>
                          <m:r>
                            <m:rPr>
                              <m:sty m:val="p"/>
                            </m:rPr>
                            <a:rPr lang="en-US" sz="2000">
                              <a:solidFill>
                                <a:srgbClr val="124944"/>
                              </a:solidFill>
                              <a:latin typeface="Cambria Math" panose="02040503050406030204" pitchFamily="18" charset="0"/>
                            </a:rPr>
                            <m:t xml:space="preserve">(</m:t>
                          </m:r>
                          <m:r>
                            <a:rPr lang="en-US" sz="2000" i="1">
                              <a:solidFill>
                                <a:srgbClr val="124944"/>
                              </a:solidFill>
                              <a:latin typeface="Cambria Math" panose="02040503050406030204" pitchFamily="18" charset="0"/>
                            </a:rPr>
                            <m:t xml:space="preserve">M</m:t>
                          </m:r>
                          <m:r>
                            <m:rPr>
                              <m:sty m:val="p"/>
                            </m:rPr>
                            <a:rPr lang="en-US" sz="2000">
                              <a:solidFill>
                                <a:srgbClr val="124944"/>
                              </a:solidFill>
                              <a:latin typeface="Cambria Math" panose="02040503050406030204" pitchFamily="18" charset="0"/>
                            </a:rPr>
                            <m:t xml:space="preserve">/</m:t>
                          </m:r>
                          <m:r>
                            <a:rPr lang="en-US" sz="2000" i="1">
                              <a:solidFill>
                                <a:srgbClr val="124944"/>
                              </a:solidFill>
                              <a:latin typeface="Cambria Math" panose="02040503050406030204" pitchFamily="18" charset="0"/>
                            </a:rPr>
                            <m:t xml:space="preserve">f</m:t>
                          </m:r>
                          <m:r>
                            <m:rPr>
                              <m:sty m:val="p"/>
                            </m:rPr>
                            <a:rPr lang="en-US" sz="2000">
                              <a:solidFill>
                                <a:srgbClr val="124944"/>
                              </a:solidFill>
                              <a:latin typeface="Cambria Math" panose="02040503050406030204" pitchFamily="18" charset="0"/>
                            </a:rPr>
                            <m:t xml:space="preserve">) </m:t>
                          </m:r>
                          <m:r>
                            <a:rPr lang="en-US" sz="2000" i="1">
                              <a:solidFill>
                                <a:srgbClr val="124944"/>
                              </a:solidFill>
                              <a:latin typeface="Cambria Math" panose="02040503050406030204" pitchFamily="18" charset="0"/>
                            </a:rPr>
                            <m:t xml:space="preserve">m</m:t>
                          </m:r>
                        </m:e>
                      </m:d>
                    </m:oMath>
                  </m:oMathPara>
                </a14:m>
                <a:endParaRPr lang="en-US" sz="2000"/>
              </a:p>
            </p:txBody>
          </p:sp>
        </mc:Choice>
        <mc:Fallback>
          <p:sp>
            <p:nvSpPr>
              <p:cNvPr id="36" name="Equation"/>
              <p:cNvSpPr txBox="1"/>
              <p:nvPr/>
            </p:nvSpPr>
            <p:spPr>
              <a:xfrm>
                <a:off x="1531620" y="8485632"/>
                <a:ext cx="6926580" cy="640080"/>
              </a:xfrm>
              <a:prstGeom prst="rect">
                <a:avLst/>
              </a:prstGeom>
              <a:blipFill>
                <a:blip r:embed="rId5"/>
                <a:stretch>
                  <a:fillRect/>
                </a:stretch>
              </a:blipFill>
            </p:spPr>
            <p:txBody>
              <a:bodyPr/>
              <a:lstStyle/>
              <a:p>
                <a:endParaRPr lang="en-US"/>
              </a:p>
            </p:txBody>
          </p:sp>
        </mc:Fallback>
      </mc:AlternateContent>
      <p:sp>
        <p:nvSpPr>
          <p:cNvPr id="37" name="Rounded Rectangle 36"/>
          <p:cNvSpPr/>
          <p:nvPr/>
        </p:nvSpPr>
        <p:spPr>
          <a:xfrm>
            <a:off x="9326880" y="6244082"/>
            <a:ext cx="7932420" cy="3110230"/>
          </a:xfrm>
          <a:prstGeom prst="roundRect">
            <a:avLst>
              <a:gd name="adj" fmla="val 9995"/>
            </a:avLst>
          </a:prstGeom>
          <a:solidFill>
            <a:srgbClr val="124944"/>
          </a:solidFill>
          <a:ln>
            <a:noFill/>
          </a:ln>
        </p:spPr>
        <p:txBody>
          <a:bodyPr anchor="ctr" rtlCol="false" lIns="0" tIns="0" rIns="0" bIns="0" wrap="square"/>
          <a:lstStyle/>
          <a:p>
            <a:endParaRPr lang="en-US" sz="1800"/>
          </a:p>
        </p:txBody>
      </p:sp>
      <p:sp>
        <p:nvSpPr>
          <p:cNvPr id="38" name="Rounded Rectangle 37"/>
          <p:cNvSpPr/>
          <p:nvPr/>
        </p:nvSpPr>
        <p:spPr>
          <a:xfrm>
            <a:off x="9784080" y="6006338"/>
            <a:ext cx="2398585"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Convergence</a:t>
            </a:r>
          </a:p>
        </p:txBody>
      </p:sp>
      <p:sp>
        <p:nvSpPr>
          <p:cNvPr id="39" name="TextBox 38"/>
          <p:cNvSpPr txBox="1"/>
          <p:nvPr/>
        </p:nvSpPr>
        <p:spPr>
          <a:xfrm>
            <a:off x="9829800" y="6884162"/>
            <a:ext cx="6972300" cy="2195830"/>
          </a:xfrm>
          <a:prstGeom prst="rect">
            <a:avLst/>
          </a:prstGeom>
          <a:noFill/>
        </p:spPr>
        <p:txBody>
          <a:bodyPr anchor="t" rtlCol="false" lIns="0" tIns="0" rIns="0" bIns="0" wrap="square"/>
          <a:lstStyle/>
          <a:p>
            <a:pPr algn="l" marL="274320" indent="-274320">
              <a:lnSpc>
                <a:spcPts val="2960"/>
              </a:lnSpc>
              <a:spcBef>
                <a:spcPts val="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M = 50 </a:t>
            </a:r>
            <a:r>
              <a:rPr lang="en-US" sz="2000" b="true">
                <a:solidFill>
                  <a:srgbClr val="FFFFFF"/>
                </a:solidFill>
                <a:latin typeface="Calibri"/>
                <a:ea typeface="Calibri"/>
                <a:cs typeface="Calibri"/>
                <a:sym typeface="Calibri"/>
              </a:rPr>
              <a:t>→ </a:t>
            </a:r>
            <a:r>
              <a:rPr lang="en-US" sz="2000" b="true">
                <a:solidFill>
                  <a:srgbClr val="FFFFFF"/>
                </a:solidFill>
                <a:latin typeface="Nunito Semi-Bold"/>
                <a:ea typeface="Nunito Semi-Bold"/>
                <a:cs typeface="Nunito Semi-Bold"/>
                <a:sym typeface="Nunito Semi-Bold"/>
              </a:rPr>
              <a:t>MSE 1.4×10</a:t>
            </a:r>
            <a:r>
              <a:rPr lang="en-US" sz="2000" b="true" baseline="30000">
                <a:solidFill>
                  <a:srgbClr val="FFFFFF"/>
                </a:solidFill>
                <a:latin typeface="Nunito Semi-Bold"/>
                <a:ea typeface="Nunito Semi-Bold"/>
                <a:cs typeface="Nunito Semi-Bold"/>
                <a:sym typeface="Nunito Semi-Bold"/>
              </a:rPr>
              <a:t>−5</a:t>
            </a:r>
            <a:r>
              <a:rPr lang="en-US" sz="2000" b="true">
                <a:solidFill>
                  <a:srgbClr val="FFFFFF"/>
                </a:solidFill>
                <a:latin typeface="Nunito Semi-Bold"/>
                <a:ea typeface="Nunito Semi-Bold"/>
                <a:cs typeface="Nunito Semi-Bold"/>
                <a:sym typeface="Nunito Semi-Bold"/>
              </a:rPr>
              <a:t>, ≈ 99 % accuracy.</a:t>
            </a:r>
          </a:p>
          <a:p>
            <a:pPr algn="l" marL="274320" indent="-274320">
              <a:lnSpc>
                <a:spcPts val="296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M = 100 </a:t>
            </a:r>
            <a:r>
              <a:rPr lang="en-US" sz="2000" b="true">
                <a:solidFill>
                  <a:srgbClr val="FFFFFF"/>
                </a:solidFill>
                <a:latin typeface="Calibri"/>
                <a:ea typeface="Calibri"/>
                <a:cs typeface="Calibri"/>
                <a:sym typeface="Calibri"/>
              </a:rPr>
              <a:t>→ </a:t>
            </a:r>
            <a:r>
              <a:rPr lang="en-US" sz="2000" b="true">
                <a:solidFill>
                  <a:srgbClr val="FFFFFF"/>
                </a:solidFill>
                <a:latin typeface="Nunito Semi-Bold"/>
                <a:ea typeface="Nunito Semi-Bold"/>
                <a:cs typeface="Nunito Semi-Bold"/>
                <a:sym typeface="Nunito Semi-Bold"/>
              </a:rPr>
              <a:t>MSE 3.5×10</a:t>
            </a:r>
            <a:r>
              <a:rPr lang="en-US" sz="2000" b="true" baseline="30000">
                <a:solidFill>
                  <a:srgbClr val="FFFFFF"/>
                </a:solidFill>
                <a:latin typeface="Nunito Semi-Bold"/>
                <a:ea typeface="Nunito Semi-Bold"/>
                <a:cs typeface="Nunito Semi-Bold"/>
                <a:sym typeface="Nunito Semi-Bold"/>
              </a:rPr>
              <a:t>−6</a:t>
            </a:r>
            <a:r>
              <a:rPr lang="en-US" sz="2000" b="true">
                <a:solidFill>
                  <a:srgbClr val="FFFFFF"/>
                </a:solidFill>
                <a:latin typeface="Nunito Semi-Bold"/>
                <a:ea typeface="Nunito Semi-Bold"/>
                <a:cs typeface="Nunito Semi-Bold"/>
                <a:sym typeface="Nunito Semi-Bold"/>
              </a:rPr>
              <a:t>: </a:t>
            </a:r>
            <a:r>
              <a:rPr lang="en-US" sz="2000" b="true">
                <a:solidFill>
                  <a:srgbClr val="FFFFFF"/>
                </a:solidFill>
                <a:latin typeface="Nunito Bold"/>
                <a:ea typeface="Nunito Bold"/>
                <a:cs typeface="Nunito Bold"/>
                <a:sym typeface="Nunito Bold"/>
              </a:rPr>
              <a:t>diminishing returns</a:t>
            </a:r>
            <a:r>
              <a:rPr lang="en-US" sz="2000" b="true">
                <a:solidFill>
                  <a:srgbClr val="FFFFFF"/>
                </a:solidFill>
                <a:latin typeface="Nunito Semi-Bold"/>
                <a:ea typeface="Nunito Semi-Bold"/>
                <a:cs typeface="Nunito Semi-Bold"/>
                <a:sym typeface="Nunito Semi-Bold"/>
              </a:rPr>
              <a:t>.</a:t>
            </a:r>
          </a:p>
          <a:p>
            <a:pPr algn="l" marL="274320" indent="-274320">
              <a:lnSpc>
                <a:spcPts val="2800"/>
              </a:lnSpc>
              <a:spcBef>
                <a:spcPts val="1000"/>
              </a:spcBef>
              <a:buClr>
                <a:srgbClr val="ECC665"/>
              </a:buClr>
              <a:buSzPct val="100000"/>
              <a:buFont typeface="Arial"/>
              <a:buChar char="•"/>
            </a:pPr>
            <a:r>
              <a:rPr lang="en-US" sz="2000" b="true">
                <a:solidFill>
                  <a:srgbClr val="FFFFFF"/>
                </a:solidFill>
                <a:latin typeface="Nunito Semi-Bold"/>
                <a:ea typeface="Nunito Semi-Bold"/>
                <a:cs typeface="Nunito Semi-Bold"/>
                <a:sym typeface="Nunito Semi-Bold"/>
              </a:rPr>
              <a:t>The overhead is the price of an in-training attribution signal: measurable, but modest.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[27] Holm, S. A Simple Sequentially Rejective Multiple Test Procedure. Scand. J. Statist. 6(2), 65–70 (1979).  ·  Cohen, J. Statistical Power Analysis for the Behavioral Sciences (1988).</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63</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Statistical Significance</a:t>
            </a:r>
          </a:p>
        </p:txBody>
      </p:sp>
      <p:pic>
        <p:nvPicPr>
          <p:cNvPr id="23" name="Picture 22" descr="image.png"/>
          <p:cNvPicPr>
            <a:picLocks noChangeAspect="1"/>
          </p:cNvPicPr>
          <p:nvPr/>
        </p:nvPicPr>
        <p:blipFill>
          <a:blip r:embed="rId3"/>
          <a:stretch>
            <a:fillRect/>
          </a:stretch>
        </p:blipFill>
        <p:spPr>
          <a:xfrm>
            <a:off x="7141903" y="1673352"/>
            <a:ext cx="457200" cy="373212"/>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Findings</a:t>
            </a:r>
          </a:p>
        </p:txBody>
      </p:sp>
      <p:sp>
        <p:nvSpPr>
          <p:cNvPr id="28" name="Rounded Rectangle 27"/>
          <p:cNvSpPr/>
          <p:nvPr/>
        </p:nvSpPr>
        <p:spPr>
          <a:xfrm>
            <a:off x="1028700" y="3455162"/>
            <a:ext cx="5196840" cy="2194560"/>
          </a:xfrm>
          <a:prstGeom prst="roundRect">
            <a:avLst>
              <a:gd name="adj" fmla="val 12500"/>
            </a:avLst>
          </a:prstGeom>
          <a:solidFill>
            <a:srgbClr val="124944"/>
          </a:solidFill>
          <a:ln>
            <a:noFill/>
          </a:ln>
        </p:spPr>
        <p:txBody>
          <a:bodyPr anchor="ctr" rtlCol="false" lIns="0" tIns="0" rIns="0" bIns="0" wrap="square"/>
          <a:lstStyle/>
          <a:p>
            <a:endParaRPr lang="en-US" sz="1800"/>
          </a:p>
        </p:txBody>
      </p:sp>
      <mc:AlternateContent xmlns:mc="http://schemas.openxmlformats.org/markup-compatibility/2006">
        <mc:Choice xmlns:a14="http://schemas.microsoft.com/office/drawing/2010/main" Requires="a14">
          <p:sp>
            <p:nvSpPr>
              <p:cNvPr id="29" name="Equation"/>
              <p:cNvSpPr txBox="1"/>
              <p:nvPr/>
            </p:nvSpPr>
            <p:spPr>
              <a:xfrm>
                <a:off x="1211580" y="3729482"/>
                <a:ext cx="4831080" cy="1051560"/>
              </a:xfrm>
              <a:prstGeom prst="rect">
                <a:avLst/>
              </a:prstGeom>
              <a:noFill/>
            </p:spPr>
            <p:txBody>
              <a:bodyPr wrap="none" rtlCol="0" anchor="ctr" lIns="0" tIns="0" rIns="0" bIns="0"/>
              <a:lstStyle/>
              <a:p>
                <a:pPr algn="ctr"/>
                <a14:m xmlns:m="http://schemas.openxmlformats.org/officeDocument/2006/math">
                  <m:oMathPara>
                    <m:oMathParaPr>
                      <m:jc m:val="centerGroup"/>
                    </m:oMathParaPr>
                    <m:oMath>
                      <m:r>
                        <a:rPr lang="en-US" sz="3800" i="1">
                          <a:solidFill>
                            <a:srgbClr val="ECC665"/>
                          </a:solidFill>
                          <a:latin typeface="Cambria Math" panose="02040503050406030204" pitchFamily="18" charset="0"/>
                        </a:rPr>
                        <m:t xml:space="preserve">t</m:t>
                      </m:r>
                      <m:r>
                        <m:rPr>
                          <m:sty m:val="p"/>
                        </m:rPr>
                        <a:rPr lang="en-US" sz="3800">
                          <a:solidFill>
                            <a:srgbClr val="ECC665"/>
                          </a:solidFill>
                          <a:latin typeface="Cambria Math" panose="02040503050406030204" pitchFamily="18" charset="0"/>
                        </a:rPr>
                        <m:t xml:space="preserve">=46.38</m:t>
                      </m:r>
                    </m:oMath>
                  </m:oMathPara>
                </a14:m>
                <a:endParaRPr lang="en-US" sz="3800"/>
              </a:p>
            </p:txBody>
          </p:sp>
        </mc:Choice>
        <mc:Fallback>
          <p:sp>
            <p:nvSpPr>
              <p:cNvPr id="29" name="Equation"/>
              <p:cNvSpPr txBox="1"/>
              <p:nvPr/>
            </p:nvSpPr>
            <p:spPr>
              <a:xfrm>
                <a:off x="1211580" y="3729482"/>
                <a:ext cx="4831080" cy="1051560"/>
              </a:xfrm>
              <a:prstGeom prst="rect">
                <a:avLst/>
              </a:prstGeom>
              <a:blipFill>
                <a:blip r:embed="rId5"/>
                <a:stretch>
                  <a:fillRect/>
                </a:stretch>
              </a:blipFill>
            </p:spPr>
            <p:txBody>
              <a:bodyPr/>
              <a:lstStyle/>
              <a:p>
                <a:endParaRPr lang="en-US"/>
              </a:p>
            </p:txBody>
          </p:sp>
        </mc:Fallback>
      </mc:AlternateContent>
      <p:sp>
        <p:nvSpPr>
          <p:cNvPr id="30" name="TextBox 29"/>
          <p:cNvSpPr txBox="1"/>
          <p:nvPr/>
        </p:nvSpPr>
        <p:spPr>
          <a:xfrm>
            <a:off x="1303020" y="4826762"/>
            <a:ext cx="4648200" cy="640080"/>
          </a:xfrm>
          <a:prstGeom prst="rect">
            <a:avLst/>
          </a:prstGeom>
          <a:noFill/>
        </p:spPr>
        <p:txBody>
          <a:bodyPr anchor="t" rtlCol="false" lIns="0" tIns="0" rIns="0" bIns="0" wrap="square"/>
          <a:lstStyle/>
          <a:p>
            <a:pPr algn="ctr">
              <a:lnSpc>
                <a:spcPts val="2200"/>
              </a:lnSpc>
              <a:spcBef>
                <a:spcPts val="0"/>
              </a:spcBef>
              <a:buNone/>
            </a:pPr>
            <a:r>
              <a:rPr lang="en-US" sz="1700" b="true">
                <a:solidFill>
                  <a:srgbClr val="FFFFFF"/>
                </a:solidFill>
                <a:latin typeface="Nunito Semi-Bold"/>
                <a:ea typeface="Nunito Semi-Bold"/>
                <a:cs typeface="Nunito Semi-Bold"/>
                <a:sym typeface="Nunito Semi-Bold"/>
              </a:rPr>
              <a:t>paired t-test vs HPCF · </a:t>
            </a:r>
            <a:r>
              <a:rPr lang="en-US" sz="1700" b="true">
                <a:solidFill>
                  <a:srgbClr val="FFFFFF"/>
                </a:solidFill>
                <a:latin typeface="Nunito Bold"/>
                <a:ea typeface="Nunito Bold"/>
                <a:cs typeface="Nunito Bold"/>
                <a:sym typeface="Nunito Bold"/>
              </a:rPr>
              <a:t>df = 6,039</a:t>
            </a:r>
          </a:p>
        </p:txBody>
      </p:sp>
      <p:sp>
        <p:nvSpPr>
          <p:cNvPr id="31" name="Rounded Rectangle 30"/>
          <p:cNvSpPr/>
          <p:nvPr/>
        </p:nvSpPr>
        <p:spPr>
          <a:xfrm>
            <a:off x="6545580" y="3455162"/>
            <a:ext cx="5196840" cy="2194560"/>
          </a:xfrm>
          <a:prstGeom prst="roundRect">
            <a:avLst>
              <a:gd name="adj" fmla="val 12500"/>
            </a:avLst>
          </a:prstGeom>
          <a:solidFill>
            <a:srgbClr val="1E5F58"/>
          </a:solidFill>
          <a:ln>
            <a:noFill/>
          </a:ln>
        </p:spPr>
        <p:txBody>
          <a:bodyPr anchor="ctr" rtlCol="false" lIns="0" tIns="0" rIns="0" bIns="0" wrap="square"/>
          <a:lstStyle/>
          <a:p>
            <a:endParaRPr lang="en-US" sz="1800"/>
          </a:p>
        </p:txBody>
      </p:sp>
      <mc:AlternateContent xmlns:mc="http://schemas.openxmlformats.org/markup-compatibility/2006">
        <mc:Choice xmlns:a14="http://schemas.microsoft.com/office/drawing/2010/main" Requires="a14">
          <p:sp>
            <p:nvSpPr>
              <p:cNvPr id="32" name="Equation"/>
              <p:cNvSpPr txBox="1"/>
              <p:nvPr/>
            </p:nvSpPr>
            <p:spPr>
              <a:xfrm>
                <a:off x="6728460" y="3729482"/>
                <a:ext cx="4831080" cy="1051560"/>
              </a:xfrm>
              <a:prstGeom prst="rect">
                <a:avLst/>
              </a:prstGeom>
              <a:noFill/>
            </p:spPr>
            <p:txBody>
              <a:bodyPr wrap="none" rtlCol="0" anchor="ctr" lIns="0" tIns="0" rIns="0" bIns="0"/>
              <a:lstStyle/>
              <a:p>
                <a:pPr algn="ctr"/>
                <a14:m xmlns:m="http://schemas.openxmlformats.org/officeDocument/2006/math">
                  <m:oMathPara>
                    <m:oMathParaPr>
                      <m:jc m:val="centerGroup"/>
                    </m:oMathParaPr>
                    <m:oMath>
                      <m:sSub>
                        <m:sSubPr>
                          <m:ctrlPr>
                            <a:rPr lang="en-US" sz="3800" i="1">
                              <a:solidFill>
                                <a:srgbClr val="ECC665"/>
                              </a:solidFill>
                              <a:latin typeface="Cambria Math" panose="02040503050406030204" pitchFamily="18" charset="0"/>
                            </a:rPr>
                          </m:ctrlPr>
                        </m:sSubPr>
                        <m:e>
                          <m:r>
                            <a:rPr lang="en-US" sz="3800" i="1">
                              <a:solidFill>
                                <a:srgbClr val="ECC665"/>
                              </a:solidFill>
                              <a:latin typeface="Cambria Math" panose="02040503050406030204" pitchFamily="18" charset="0"/>
                            </a:rPr>
                            <m:t xml:space="preserve">d</m:t>
                          </m:r>
                        </m:e>
                        <m:sub>
                          <m:r>
                            <a:rPr lang="en-US" sz="3800" i="1">
                              <a:solidFill>
                                <a:srgbClr val="ECC665"/>
                              </a:solidFill>
                              <a:latin typeface="Cambria Math" panose="02040503050406030204" pitchFamily="18" charset="0"/>
                            </a:rPr>
                            <m:t xml:space="preserve">z</m:t>
                          </m:r>
                        </m:sub>
                      </m:sSub>
                      <m:r>
                        <m:rPr>
                          <m:sty m:val="p"/>
                        </m:rPr>
                        <a:rPr lang="en-US" sz="3800">
                          <a:solidFill>
                            <a:srgbClr val="ECC665"/>
                          </a:solidFill>
                          <a:latin typeface="Cambria Math" panose="02040503050406030204" pitchFamily="18" charset="0"/>
                        </a:rPr>
                        <m:t xml:space="preserve">=1.33</m:t>
                      </m:r>
                    </m:oMath>
                  </m:oMathPara>
                </a14:m>
                <a:endParaRPr lang="en-US" sz="3800"/>
              </a:p>
            </p:txBody>
          </p:sp>
        </mc:Choice>
        <mc:Fallback>
          <p:sp>
            <p:nvSpPr>
              <p:cNvPr id="32" name="Equation"/>
              <p:cNvSpPr txBox="1"/>
              <p:nvPr/>
            </p:nvSpPr>
            <p:spPr>
              <a:xfrm>
                <a:off x="6728460" y="3729482"/>
                <a:ext cx="4831080" cy="1051560"/>
              </a:xfrm>
              <a:prstGeom prst="rect">
                <a:avLst/>
              </a:prstGeom>
              <a:blipFill>
                <a:blip r:embed="rId6"/>
                <a:stretch>
                  <a:fillRect/>
                </a:stretch>
              </a:blipFill>
            </p:spPr>
            <p:txBody>
              <a:bodyPr/>
              <a:lstStyle/>
              <a:p>
                <a:endParaRPr lang="en-US"/>
              </a:p>
            </p:txBody>
          </p:sp>
        </mc:Fallback>
      </mc:AlternateContent>
      <p:sp>
        <p:nvSpPr>
          <p:cNvPr id="33" name="TextBox 32"/>
          <p:cNvSpPr txBox="1"/>
          <p:nvPr/>
        </p:nvSpPr>
        <p:spPr>
          <a:xfrm>
            <a:off x="6819900" y="4826762"/>
            <a:ext cx="4648200" cy="640080"/>
          </a:xfrm>
          <a:prstGeom prst="rect">
            <a:avLst/>
          </a:prstGeom>
          <a:noFill/>
        </p:spPr>
        <p:txBody>
          <a:bodyPr anchor="t" rtlCol="false" lIns="0" tIns="0" rIns="0" bIns="0" wrap="square"/>
          <a:lstStyle/>
          <a:p>
            <a:pPr algn="ctr">
              <a:lnSpc>
                <a:spcPts val="2200"/>
              </a:lnSpc>
              <a:spcBef>
                <a:spcPts val="0"/>
              </a:spcBef>
              <a:buNone/>
            </a:pPr>
            <a:r>
              <a:rPr lang="en-US" sz="1700" b="true">
                <a:solidFill>
                  <a:srgbClr val="FFFFFF"/>
                </a:solidFill>
                <a:latin typeface="Nunito Bold"/>
                <a:ea typeface="Nunito Bold"/>
                <a:cs typeface="Nunito Bold"/>
                <a:sym typeface="Nunito Bold"/>
              </a:rPr>
              <a:t>Cohen's d</a:t>
            </a:r>
            <a:r>
              <a:rPr lang="en-US" sz="1700" b="true" baseline="-25000">
                <a:solidFill>
                  <a:srgbClr val="FFFFFF"/>
                </a:solidFill>
                <a:latin typeface="Nunito Bold"/>
                <a:ea typeface="Nunito Bold"/>
                <a:cs typeface="Nunito Bold"/>
                <a:sym typeface="Nunito Bold"/>
              </a:rPr>
              <a:t>z</a:t>
            </a:r>
            <a:r>
              <a:rPr lang="en-US" sz="1700" b="true">
                <a:solidFill>
                  <a:srgbClr val="FFFFFF"/>
                </a:solidFill>
                <a:latin typeface="Nunito Semi-Bold"/>
                <a:ea typeface="Nunito Semi-Bold"/>
                <a:cs typeface="Nunito Semi-Bold"/>
                <a:sym typeface="Nunito Semi-Bold"/>
              </a:rPr>
              <a:t> · a large effect size</a:t>
            </a:r>
          </a:p>
        </p:txBody>
      </p:sp>
      <p:sp>
        <p:nvSpPr>
          <p:cNvPr id="34" name="Rounded Rectangle 33"/>
          <p:cNvSpPr/>
          <p:nvPr/>
        </p:nvSpPr>
        <p:spPr>
          <a:xfrm>
            <a:off x="12062460" y="3455162"/>
            <a:ext cx="5196840" cy="2194560"/>
          </a:xfrm>
          <a:prstGeom prst="roundRect">
            <a:avLst>
              <a:gd name="adj" fmla="val 12500"/>
            </a:avLst>
          </a:prstGeom>
          <a:solidFill>
            <a:srgbClr val="DF8330"/>
          </a:solidFill>
          <a:ln>
            <a:noFill/>
          </a:ln>
        </p:spPr>
        <p:txBody>
          <a:bodyPr anchor="ctr" rtlCol="false" lIns="0" tIns="0" rIns="0" bIns="0" wrap="square"/>
          <a:lstStyle/>
          <a:p>
            <a:endParaRPr lang="en-US" sz="1800"/>
          </a:p>
        </p:txBody>
      </p:sp>
      <mc:AlternateContent xmlns:mc="http://schemas.openxmlformats.org/markup-compatibility/2006">
        <mc:Choice xmlns:a14="http://schemas.microsoft.com/office/drawing/2010/main" Requires="a14">
          <p:sp>
            <p:nvSpPr>
              <p:cNvPr id="35" name="Equation"/>
              <p:cNvSpPr txBox="1"/>
              <p:nvPr/>
            </p:nvSpPr>
            <p:spPr>
              <a:xfrm>
                <a:off x="12245340" y="3729482"/>
                <a:ext cx="4831080" cy="1051560"/>
              </a:xfrm>
              <a:prstGeom prst="rect">
                <a:avLst/>
              </a:prstGeom>
              <a:noFill/>
            </p:spPr>
            <p:txBody>
              <a:bodyPr wrap="none" rtlCol="0" anchor="ctr" lIns="0" tIns="0" rIns="0" bIns="0"/>
              <a:lstStyle/>
              <a:p>
                <a:pPr algn="ctr"/>
                <a14:m xmlns:m="http://schemas.openxmlformats.org/officeDocument/2006/math">
                  <m:oMathPara>
                    <m:oMathParaPr>
                      <m:jc m:val="centerGroup"/>
                    </m:oMathParaPr>
                    <m:oMath>
                      <m:r>
                        <a:rPr lang="en-US" sz="3800" i="1">
                          <a:solidFill>
                            <a:srgbClr val="FFFFFF"/>
                          </a:solidFill>
                          <a:latin typeface="Cambria Math" panose="02040503050406030204" pitchFamily="18" charset="0"/>
                        </a:rPr>
                        <m:t xml:space="preserve">p</m:t>
                      </m:r>
                      <m:r>
                        <m:rPr>
                          <m:sty m:val="p"/>
                        </m:rPr>
                        <a:rPr lang="en-US" sz="3800">
                          <a:solidFill>
                            <a:srgbClr val="FFFFFF"/>
                          </a:solidFill>
                          <a:latin typeface="Cambria Math" panose="02040503050406030204" pitchFamily="18" charset="0"/>
                        </a:rPr>
                        <m:t xml:space="preserve">=1.8×</m:t>
                      </m:r>
                      <m:sSup>
                        <m:sSupPr>
                          <m:ctrlPr>
                            <a:rPr lang="en-US" sz="3800" i="1">
                              <a:solidFill>
                                <a:srgbClr val="FFFFFF"/>
                              </a:solidFill>
                              <a:latin typeface="Cambria Math" panose="02040503050406030204" pitchFamily="18" charset="0"/>
                            </a:rPr>
                          </m:ctrlPr>
                        </m:sSupPr>
                        <m:e>
                          <m:r>
                            <m:rPr>
                              <m:sty m:val="p"/>
                            </m:rPr>
                            <a:rPr lang="en-US" sz="3800">
                              <a:solidFill>
                                <a:srgbClr val="FFFFFF"/>
                              </a:solidFill>
                              <a:latin typeface="Cambria Math" panose="02040503050406030204" pitchFamily="18" charset="0"/>
                            </a:rPr>
                            <m:t xml:space="preserve">10</m:t>
                          </m:r>
                        </m:e>
                        <m:sup>
                          <m:r>
                            <m:rPr>
                              <m:sty m:val="p"/>
                            </m:rPr>
                            <a:rPr lang="en-US" sz="3800">
                              <a:solidFill>
                                <a:srgbClr val="FFFFFF"/>
                              </a:solidFill>
                              <a:latin typeface="Cambria Math" panose="02040503050406030204" pitchFamily="18" charset="0"/>
                            </a:rPr>
                            <m:t xml:space="preserve">−270</m:t>
                          </m:r>
                        </m:sup>
                      </m:sSup>
                    </m:oMath>
                  </m:oMathPara>
                </a14:m>
                <a:endParaRPr lang="en-US" sz="3800"/>
              </a:p>
            </p:txBody>
          </p:sp>
        </mc:Choice>
        <mc:Fallback>
          <p:sp>
            <p:nvSpPr>
              <p:cNvPr id="35" name="Equation"/>
              <p:cNvSpPr txBox="1"/>
              <p:nvPr/>
            </p:nvSpPr>
            <p:spPr>
              <a:xfrm>
                <a:off x="12245340" y="3729482"/>
                <a:ext cx="4831080" cy="1051560"/>
              </a:xfrm>
              <a:prstGeom prst="rect">
                <a:avLst/>
              </a:prstGeom>
              <a:blipFill>
                <a:blip r:embed="rId7"/>
                <a:stretch>
                  <a:fillRect/>
                </a:stretch>
              </a:blipFill>
            </p:spPr>
            <p:txBody>
              <a:bodyPr/>
              <a:lstStyle/>
              <a:p>
                <a:endParaRPr lang="en-US"/>
              </a:p>
            </p:txBody>
          </p:sp>
        </mc:Fallback>
      </mc:AlternateContent>
      <p:sp>
        <p:nvSpPr>
          <p:cNvPr id="36" name="TextBox 35"/>
          <p:cNvSpPr txBox="1"/>
          <p:nvPr/>
        </p:nvSpPr>
        <p:spPr>
          <a:xfrm>
            <a:off x="12336780" y="4826762"/>
            <a:ext cx="4648200" cy="640080"/>
          </a:xfrm>
          <a:prstGeom prst="rect">
            <a:avLst/>
          </a:prstGeom>
          <a:noFill/>
        </p:spPr>
        <p:txBody>
          <a:bodyPr anchor="t" rtlCol="false" lIns="0" tIns="0" rIns="0" bIns="0" wrap="square"/>
          <a:lstStyle/>
          <a:p>
            <a:pPr algn="ctr">
              <a:lnSpc>
                <a:spcPts val="2200"/>
              </a:lnSpc>
              <a:spcBef>
                <a:spcPts val="0"/>
              </a:spcBef>
              <a:buNone/>
            </a:pPr>
            <a:r>
              <a:rPr lang="en-US" sz="1700" b="true">
                <a:solidFill>
                  <a:srgbClr val="FFFFFF"/>
                </a:solidFill>
                <a:latin typeface="Nunito Semi-Bold"/>
                <a:ea typeface="Nunito Semi-Bold"/>
                <a:cs typeface="Nunito Semi-Bold"/>
                <a:sym typeface="Nunito Semi-Bold"/>
              </a:rPr>
              <a:t>after </a:t>
            </a:r>
            <a:r>
              <a:rPr lang="en-US" sz="1700" b="true">
                <a:solidFill>
                  <a:srgbClr val="FFFFFF"/>
                </a:solidFill>
                <a:latin typeface="Nunito Bold"/>
                <a:ea typeface="Nunito Bold"/>
                <a:cs typeface="Nunito Bold"/>
                <a:sym typeface="Nunito Bold"/>
              </a:rPr>
              <a:t>Holm–Bonferroni</a:t>
            </a:r>
            <a:r>
              <a:rPr lang="en-US" sz="1700" b="true">
                <a:solidFill>
                  <a:srgbClr val="FFFFFF"/>
                </a:solidFill>
                <a:latin typeface="Nunito Semi-Bold"/>
                <a:ea typeface="Nunito Semi-Bold"/>
                <a:cs typeface="Nunito Semi-Bold"/>
                <a:sym typeface="Nunito Semi-Bold"/>
              </a:rPr>
              <a:t> correction</a:t>
            </a:r>
          </a:p>
        </p:txBody>
      </p:sp>
      <p:sp>
        <p:nvSpPr>
          <p:cNvPr id="37" name="TextBox 36"/>
          <p:cNvSpPr txBox="1"/>
          <p:nvPr/>
        </p:nvSpPr>
        <p:spPr>
          <a:xfrm>
            <a:off x="1028700" y="5695442"/>
            <a:ext cx="16230600" cy="411480"/>
          </a:xfrm>
          <a:prstGeom prst="rect">
            <a:avLst/>
          </a:prstGeom>
          <a:noFill/>
        </p:spPr>
        <p:txBody>
          <a:bodyPr anchor="t" rtlCol="false" lIns="0" tIns="0" rIns="0" bIns="0" wrap="square"/>
          <a:lstStyle/>
          <a:p>
            <a:pPr algn="l">
              <a:lnSpc>
                <a:spcPts val="1700"/>
              </a:lnSpc>
              <a:spcBef>
                <a:spcPts val="0"/>
              </a:spcBef>
              <a:buNone/>
            </a:pPr>
            <a:r>
              <a:rPr lang="en-US" sz="1300" b="true">
                <a:solidFill>
                  <a:srgbClr val="8A8378"/>
                </a:solidFill>
                <a:latin typeface="Nunito Semi-Bold"/>
                <a:ea typeface="Nunito Semi-Bold"/>
                <a:cs typeface="Nunito Semi-Bold"/>
                <a:sym typeface="Nunito Semi-Bold"/>
              </a:rPr>
              <a:t>Table 7.6 (thesis): paired tests on per-user NDCG@20, DyHuCoG vs HPCF (all six comparisons in the backup slides).</a:t>
            </a:r>
          </a:p>
        </p:txBody>
      </p:sp>
      <p:sp>
        <p:nvSpPr>
          <p:cNvPr id="38" name="Rounded Rectangle 37"/>
          <p:cNvSpPr/>
          <p:nvPr/>
        </p:nvSpPr>
        <p:spPr>
          <a:xfrm>
            <a:off x="1028700" y="6335522"/>
            <a:ext cx="16230600" cy="2973070"/>
          </a:xfrm>
          <a:prstGeom prst="roundRect">
            <a:avLst>
              <a:gd name="adj" fmla="val 10457"/>
            </a:avLst>
          </a:prstGeom>
          <a:solidFill>
            <a:srgbClr val="F6ECDF"/>
          </a:solidFill>
          <a:ln>
            <a:noFill/>
          </a:ln>
        </p:spPr>
        <p:txBody>
          <a:bodyPr anchor="ctr" rtlCol="false" lIns="0" tIns="0" rIns="0" bIns="0" wrap="square"/>
          <a:lstStyle/>
          <a:p>
            <a:endParaRPr lang="en-US" sz="1800"/>
          </a:p>
        </p:txBody>
      </p:sp>
      <p:sp>
        <p:nvSpPr>
          <p:cNvPr id="39" name="Rounded Rectangle 38"/>
          <p:cNvSpPr/>
          <p:nvPr/>
        </p:nvSpPr>
        <p:spPr>
          <a:xfrm>
            <a:off x="1485900" y="6097778"/>
            <a:ext cx="1794243"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Protocol</a:t>
            </a:r>
          </a:p>
        </p:txBody>
      </p:sp>
      <p:sp>
        <p:nvSpPr>
          <p:cNvPr id="40" name="TextBox 39"/>
          <p:cNvSpPr txBox="1"/>
          <p:nvPr/>
        </p:nvSpPr>
        <p:spPr>
          <a:xfrm>
            <a:off x="1531620" y="6975602"/>
            <a:ext cx="15270480" cy="2058670"/>
          </a:xfrm>
          <a:prstGeom prst="rect">
            <a:avLst/>
          </a:prstGeom>
          <a:noFill/>
        </p:spPr>
        <p:txBody>
          <a:bodyPr anchor="t" rtlCol="false" lIns="0" tIns="0" rIns="0" bIns="0" wrap="square"/>
          <a:lstStyle/>
          <a:p>
            <a:pPr algn="l" marL="274320" indent="-274320">
              <a:lnSpc>
                <a:spcPts val="2940"/>
              </a:lnSpc>
              <a:spcBef>
                <a:spcPts val="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Paired t-tests on </a:t>
            </a:r>
            <a:r>
              <a:rPr lang="en-US" sz="2100" b="true">
                <a:solidFill>
                  <a:srgbClr val="111111"/>
                </a:solidFill>
                <a:latin typeface="Nunito Bold"/>
                <a:ea typeface="Nunito Bold"/>
                <a:cs typeface="Nunito Bold"/>
                <a:sym typeface="Nunito Bold"/>
              </a:rPr>
              <a:t>per-user NDCG@20</a:t>
            </a:r>
            <a:r>
              <a:rPr lang="en-US" sz="2100" b="true">
                <a:solidFill>
                  <a:srgbClr val="111111"/>
                </a:solidFill>
                <a:latin typeface="Nunito Semi-Bold"/>
                <a:ea typeface="Nunito Semi-Bold"/>
                <a:cs typeface="Nunito Semi-Bold"/>
                <a:sym typeface="Nunito Semi-Bold"/>
              </a:rPr>
              <a:t> (n = 6,040 users, MovieLens-1M).</a:t>
            </a:r>
          </a:p>
          <a:p>
            <a:pPr algn="l" marL="274320" indent="-274320">
              <a:lnSpc>
                <a:spcPts val="2940"/>
              </a:lnSpc>
              <a:spcBef>
                <a:spcPts val="900"/>
              </a:spcBef>
              <a:buClr>
                <a:srgbClr val="DF8330"/>
              </a:buClr>
              <a:buSzPct val="100000"/>
              <a:buFont typeface="Arial"/>
              <a:buChar char="•"/>
            </a:pPr>
            <a:r>
              <a:rPr lang="en-US" sz="2100" b="true">
                <a:solidFill>
                  <a:srgbClr val="111111"/>
                </a:solidFill>
                <a:latin typeface="Nunito Semi-Bold"/>
                <a:ea typeface="Nunito Semi-Bold"/>
                <a:cs typeface="Nunito Semi-Bold"/>
                <a:sym typeface="Nunito Semi-Bold"/>
              </a:rPr>
              <a:t>DyHuCoG beats </a:t>
            </a:r>
            <a:r>
              <a:rPr lang="en-US" sz="2100" b="true">
                <a:solidFill>
                  <a:srgbClr val="111111"/>
                </a:solidFill>
                <a:latin typeface="Nunito Bold"/>
                <a:ea typeface="Nunito Bold"/>
                <a:cs typeface="Nunito Bold"/>
                <a:sym typeface="Nunito Bold"/>
              </a:rPr>
              <a:t>every baseline</a:t>
            </a:r>
            <a:r>
              <a:rPr lang="en-US" sz="2100" b="true">
                <a:solidFill>
                  <a:srgbClr val="111111"/>
                </a:solidFill>
                <a:latin typeface="Nunito Semi-Bold"/>
                <a:ea typeface="Nunito Semi-Bold"/>
                <a:cs typeface="Nunito Semi-Bold"/>
                <a:sym typeface="Nunito Semi-Bold"/>
              </a:rPr>
              <a:t> with very small p-values after Holm–Bonferroni correction.</a:t>
            </a:r>
          </a:p>
          <a:p>
            <a:pPr algn="l" marL="274320" indent="-274320">
              <a:lnSpc>
                <a:spcPts val="2940"/>
              </a:lnSpc>
              <a:spcBef>
                <a:spcPts val="90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Wilcoxon signed-rank test</a:t>
            </a:r>
            <a:r>
              <a:rPr lang="en-US" sz="2100" b="true">
                <a:solidFill>
                  <a:srgbClr val="111111"/>
                </a:solidFill>
                <a:latin typeface="Nunito Semi-Bold"/>
                <a:ea typeface="Nunito Semi-Bold"/>
                <a:cs typeface="Nunito Semi-Bold"/>
                <a:sym typeface="Nunito Semi-Bold"/>
              </a:rPr>
              <a:t> also significant (p &lt; 0.001): the result does not depend on normality.</a:t>
            </a:r>
          </a:p>
          <a:p>
            <a:pPr algn="l" marL="274320" indent="-274320">
              <a:lnSpc>
                <a:spcPts val="2940"/>
              </a:lnSpc>
              <a:spcBef>
                <a:spcPts val="900"/>
              </a:spcBef>
              <a:buClr>
                <a:srgbClr val="DF8330"/>
              </a:buClr>
              <a:buSzPct val="100000"/>
              <a:buFont typeface="Arial"/>
              <a:buChar char="•"/>
            </a:pPr>
            <a:r>
              <a:rPr lang="en-US" sz="2100" b="true">
                <a:solidFill>
                  <a:srgbClr val="111111"/>
                </a:solidFill>
                <a:latin typeface="Nunito Bold"/>
                <a:ea typeface="Nunito Bold"/>
                <a:cs typeface="Nunito Bold"/>
                <a:sym typeface="Nunito Bold"/>
              </a:rPr>
              <a:t>Effect sizes are large</a:t>
            </a:r>
            <a:r>
              <a:rPr lang="en-US" sz="2100" b="true">
                <a:solidFill>
                  <a:srgbClr val="111111"/>
                </a:solidFill>
                <a:latin typeface="Nunito Semi-Bold"/>
                <a:ea typeface="Nunito Semi-Bold"/>
                <a:cs typeface="Nunito Semi-Bold"/>
                <a:sym typeface="Nunito Semi-Bold"/>
              </a:rPr>
              <a:t>: the improvements really matter, they are not only statistically visible.</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64</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Answers to RQ3 and RQ4</a:t>
            </a:r>
          </a:p>
        </p:txBody>
      </p:sp>
      <p:pic>
        <p:nvPicPr>
          <p:cNvPr id="23" name="Picture 22" descr="image.png"/>
          <p:cNvPicPr>
            <a:picLocks noChangeAspect="1"/>
          </p:cNvPicPr>
          <p:nvPr/>
        </p:nvPicPr>
        <p:blipFill>
          <a:blip r:embed="rId3"/>
          <a:stretch>
            <a:fillRect/>
          </a:stretch>
        </p:blipFill>
        <p:spPr>
          <a:xfrm>
            <a:off x="7806261" y="1673352"/>
            <a:ext cx="457200" cy="427074"/>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546602"/>
            <a:ext cx="7932420" cy="1600200"/>
          </a:xfrm>
          <a:prstGeom prst="roundRect">
            <a:avLst>
              <a:gd name="adj" fmla="val 12571"/>
            </a:avLst>
          </a:prstGeom>
          <a:solidFill>
            <a:srgbClr val="F6ECDF"/>
          </a:solidFill>
          <a:ln w="25400">
            <a:solidFill>
              <a:srgbClr val="124944"/>
            </a:solidFill>
          </a:ln>
        </p:spPr>
        <p:txBody>
          <a:bodyPr anchor="ctr" rtlCol="false" lIns="0" tIns="0" rIns="0" bIns="0" wrap="square"/>
          <a:lstStyle/>
          <a:p>
            <a:endParaRPr lang="en-US" sz="1800"/>
          </a:p>
        </p:txBody>
      </p:sp>
      <p:sp>
        <p:nvSpPr>
          <p:cNvPr id="29" name="Rounded Rectangle 28"/>
          <p:cNvSpPr/>
          <p:nvPr/>
        </p:nvSpPr>
        <p:spPr>
          <a:xfrm>
            <a:off x="1348740" y="3354578"/>
            <a:ext cx="2112238" cy="384048"/>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ANSWER TO RQ3</a:t>
            </a:r>
          </a:p>
        </p:txBody>
      </p:sp>
      <p:sp>
        <p:nvSpPr>
          <p:cNvPr id="30" name="TextBox 29"/>
          <p:cNvSpPr txBox="1"/>
          <p:nvPr/>
        </p:nvSpPr>
        <p:spPr>
          <a:xfrm>
            <a:off x="1394460" y="3820922"/>
            <a:ext cx="7200900" cy="1188720"/>
          </a:xfrm>
          <a:prstGeom prst="rect">
            <a:avLst/>
          </a:prstGeom>
          <a:noFill/>
        </p:spPr>
        <p:txBody>
          <a:bodyPr anchor="ctr" rtlCol="false" lIns="0" tIns="0" rIns="0" bIns="0" wrap="square"/>
          <a:lstStyle/>
          <a:p>
            <a:pPr algn="l">
              <a:lnSpc>
                <a:spcPts val="2660"/>
              </a:lnSpc>
              <a:spcBef>
                <a:spcPts val="0"/>
              </a:spcBef>
              <a:buNone/>
            </a:pPr>
            <a:r>
              <a:rPr lang="en-US" sz="1900" b="true">
                <a:solidFill>
                  <a:srgbClr val="111111"/>
                </a:solidFill>
                <a:latin typeface="Nunito Bold"/>
                <a:ea typeface="Nunito Bold"/>
                <a:cs typeface="Nunito Bold"/>
                <a:sym typeface="Nunito Bold"/>
              </a:rPr>
              <a:t>Yes.</a:t>
            </a:r>
            <a:r>
              <a:rPr lang="en-US" sz="1900" b="true">
                <a:solidFill>
                  <a:srgbClr val="111111"/>
                </a:solidFill>
                <a:latin typeface="Nunito Semi-Bold"/>
                <a:ea typeface="Nunito Semi-Bold"/>
                <a:cs typeface="Nunito Semi-Bold"/>
                <a:sym typeface="Nunito Semi-Bold"/>
              </a:rPr>
              <a:t> Attribution becomes an </a:t>
            </a:r>
            <a:r>
              <a:rPr lang="en-US" sz="1900" b="true">
                <a:solidFill>
                  <a:srgbClr val="111111"/>
                </a:solidFill>
                <a:latin typeface="Nunito Bold"/>
                <a:ea typeface="Nunito Bold"/>
                <a:cs typeface="Nunito Bold"/>
                <a:sym typeface="Nunito Bold"/>
              </a:rPr>
              <a:t>in-training signal</a:t>
            </a:r>
            <a:r>
              <a:rPr lang="en-US" sz="1900" b="true">
                <a:solidFill>
                  <a:srgbClr val="111111"/>
                </a:solidFill>
                <a:latin typeface="Nunito Semi-Bold"/>
                <a:ea typeface="Nunito Semi-Bold"/>
                <a:cs typeface="Nunito Semi-Bold"/>
                <a:sym typeface="Nunito Semi-Bold"/>
              </a:rPr>
              <a:t>: Shapley estimates set the hyperedge weights while the model learns, instead of describing it afterwards.</a:t>
            </a:r>
          </a:p>
        </p:txBody>
      </p:sp>
      <p:sp>
        <p:nvSpPr>
          <p:cNvPr id="31" name="Rounded Rectangle 30"/>
          <p:cNvSpPr/>
          <p:nvPr/>
        </p:nvSpPr>
        <p:spPr>
          <a:xfrm>
            <a:off x="9326880" y="3546602"/>
            <a:ext cx="7932420" cy="1600200"/>
          </a:xfrm>
          <a:prstGeom prst="roundRect">
            <a:avLst>
              <a:gd name="adj" fmla="val 12571"/>
            </a:avLst>
          </a:prstGeom>
          <a:solidFill>
            <a:srgbClr val="F6ECDF"/>
          </a:solidFill>
          <a:ln w="25400">
            <a:solidFill>
              <a:srgbClr val="124944"/>
            </a:solidFill>
          </a:ln>
        </p:spPr>
        <p:txBody>
          <a:bodyPr anchor="ctr" rtlCol="false" lIns="0" tIns="0" rIns="0" bIns="0" wrap="square"/>
          <a:lstStyle/>
          <a:p>
            <a:endParaRPr lang="en-US" sz="1800"/>
          </a:p>
        </p:txBody>
      </p:sp>
      <p:sp>
        <p:nvSpPr>
          <p:cNvPr id="32" name="Rounded Rectangle 31"/>
          <p:cNvSpPr/>
          <p:nvPr/>
        </p:nvSpPr>
        <p:spPr>
          <a:xfrm>
            <a:off x="9646920" y="3354578"/>
            <a:ext cx="2112238" cy="384048"/>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ANSWER TO RQ4</a:t>
            </a:r>
          </a:p>
        </p:txBody>
      </p:sp>
      <p:sp>
        <p:nvSpPr>
          <p:cNvPr id="33" name="TextBox 32"/>
          <p:cNvSpPr txBox="1"/>
          <p:nvPr/>
        </p:nvSpPr>
        <p:spPr>
          <a:xfrm>
            <a:off x="9692640" y="3820922"/>
            <a:ext cx="7200900" cy="1188720"/>
          </a:xfrm>
          <a:prstGeom prst="rect">
            <a:avLst/>
          </a:prstGeom>
          <a:noFill/>
        </p:spPr>
        <p:txBody>
          <a:bodyPr anchor="ctr" rtlCol="false" lIns="0" tIns="0" rIns="0" bIns="0" wrap="square"/>
          <a:lstStyle/>
          <a:p>
            <a:pPr algn="l">
              <a:lnSpc>
                <a:spcPts val="2660"/>
              </a:lnSpc>
              <a:spcBef>
                <a:spcPts val="0"/>
              </a:spcBef>
              <a:buNone/>
            </a:pPr>
            <a:r>
              <a:rPr lang="en-US" sz="1900" b="true">
                <a:solidFill>
                  <a:srgbClr val="111111"/>
                </a:solidFill>
                <a:latin typeface="Nunito Bold"/>
                <a:ea typeface="Nunito Bold"/>
                <a:cs typeface="Nunito Bold"/>
                <a:sym typeface="Nunito Bold"/>
              </a:rPr>
              <a:t>Yes.</a:t>
            </a:r>
            <a:r>
              <a:rPr lang="en-US" sz="1900" b="true">
                <a:solidFill>
                  <a:srgbClr val="111111"/>
                </a:solidFill>
                <a:latin typeface="Nunito Semi-Bold"/>
                <a:ea typeface="Nunito Semi-Bold"/>
                <a:cs typeface="Nunito Semi-Bold"/>
                <a:sym typeface="Nunito Semi-Bold"/>
              </a:rPr>
              <a:t> Ranking, coverage and diversity </a:t>
            </a:r>
            <a:r>
              <a:rPr lang="en-US" sz="1900" b="true">
                <a:solidFill>
                  <a:srgbClr val="111111"/>
                </a:solidFill>
                <a:latin typeface="Nunito Bold"/>
                <a:ea typeface="Nunito Bold"/>
                <a:cs typeface="Nunito Bold"/>
                <a:sym typeface="Nunito Bold"/>
              </a:rPr>
              <a:t>improve together</a:t>
            </a:r>
            <a:r>
              <a:rPr lang="en-US" sz="1900" b="true">
                <a:solidFill>
                  <a:srgbClr val="111111"/>
                </a:solidFill>
                <a:latin typeface="Nunito Semi-Bold"/>
                <a:ea typeface="Nunito Semi-Bold"/>
                <a:cs typeface="Nunito Semi-Bold"/>
                <a:sym typeface="Nunito Semi-Bold"/>
              </a:rPr>
              <a:t> on both datasets, with the largest gains where data are sparsest.</a:t>
            </a:r>
          </a:p>
        </p:txBody>
      </p:sp>
      <p:graphicFrame>
        <p:nvGraphicFramePr>
          <p:cNvPr id="34" name="Table 33"/>
          <p:cNvGraphicFramePr>
            <a:graphicFrameLocks noGrp="1"/>
          </p:cNvGraphicFramePr>
          <p:nvPr/>
        </p:nvGraphicFramePr>
        <p:xfrm>
          <a:off x="1028700" y="5558282"/>
          <a:ext cx="16230599" cy="3061716"/>
        </p:xfrm>
        <a:graphic>
          <a:graphicData uri="http://schemas.openxmlformats.org/drawingml/2006/table">
            <a:tbl>
              <a:tblPr firstRow="0" bandRow="0" firstCol="0" lastRow="0" lastCol="0" bandCol="0">
                <a:tableStyleId>{2D5ABB26-0587-4C30-8999-92F81FD0307C}</a:tableStyleId>
              </a:tblPr>
              <a:tblGrid>
                <a:gridCol w="5826369"/>
                <a:gridCol w="1352550"/>
                <a:gridCol w="9051680"/>
              </a:tblGrid>
              <a:tr h="731520">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Objective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210"/>
                        </a:lnSpc>
                        <a:spcBef>
                          <a:spcPts val="0"/>
                        </a:spcBef>
                        <a:buNone/>
                      </a:pPr>
                      <a:r>
                        <a:rPr lang="en-US" sz="1700" b="true">
                          <a:solidFill>
                            <a:srgbClr val="FFFFFF"/>
                          </a:solidFill>
                          <a:latin typeface="Nunito Bold"/>
                          <a:ea typeface="Nunito Bold"/>
                          <a:cs typeface="Nunito Bold"/>
                          <a:sym typeface="Nunito Bold"/>
                        </a:rPr>
                        <a:t>Status</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210"/>
                        </a:lnSpc>
                        <a:spcBef>
                          <a:spcPts val="0"/>
                        </a:spcBef>
                        <a:buNone/>
                      </a:pPr>
                      <a:r>
                        <a:rPr lang="en-US" sz="1700" b="true">
                          <a:solidFill>
                            <a:srgbClr val="FFFFFF"/>
                          </a:solidFill>
                          <a:latin typeface="Nunito Bold"/>
                          <a:ea typeface="Nunito Bold"/>
                          <a:cs typeface="Nunito Bold"/>
                          <a:sym typeface="Nunito Bold"/>
                        </a:rPr>
                        <a:t>Evidence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77673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O1  ·  Recommendation as a cooperative game over users, items and contexts</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Met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Player set U </a:t>
                      </a:r>
                      <a:r>
                        <a:rPr lang="en-US" sz="1700" b="true">
                          <a:solidFill>
                            <a:srgbClr val="111111"/>
                          </a:solidFill>
                          <a:latin typeface="Cambria Math"/>
                          <a:ea typeface="Cambria Math"/>
                          <a:cs typeface="Cambria Math"/>
                          <a:sym typeface="Cambria Math"/>
                        </a:rPr>
                        <a:t>∪ </a:t>
                      </a:r>
                      <a:r>
                        <a:rPr lang="en-US" sz="1700" b="true">
                          <a:solidFill>
                            <a:srgbClr val="111111"/>
                          </a:solidFill>
                          <a:latin typeface="Nunito Semi-Bold"/>
                          <a:ea typeface="Nunito Semi-Bold"/>
                          <a:cs typeface="Nunito Semi-Bold"/>
                          <a:sym typeface="Nunito Semi-Bold"/>
                        </a:rPr>
                        <a:t>I </a:t>
                      </a:r>
                      <a:r>
                        <a:rPr lang="en-US" sz="1700" b="true">
                          <a:solidFill>
                            <a:srgbClr val="111111"/>
                          </a:solidFill>
                          <a:latin typeface="Cambria Math"/>
                          <a:ea typeface="Cambria Math"/>
                          <a:cs typeface="Cambria Math"/>
                          <a:sym typeface="Cambria Math"/>
                        </a:rPr>
                        <a:t>∪ </a:t>
                      </a:r>
                      <a:r>
                        <a:rPr lang="en-US" sz="1700" b="true">
                          <a:solidFill>
                            <a:srgbClr val="111111"/>
                          </a:solidFill>
                          <a:latin typeface="Nunito Semi-Bold"/>
                          <a:ea typeface="Nunito Semi-Bold"/>
                          <a:cs typeface="Nunito Semi-Bold"/>
                          <a:sym typeface="Nunito Semi-Bold"/>
                        </a:rPr>
                        <a:t>C; coalition utility </a:t>
                      </a:r>
                      <a:r>
                        <a:rPr lang="en-US" sz="1700" b="true">
                          <a:solidFill>
                            <a:srgbClr val="111111"/>
                          </a:solidFill>
                          <a:latin typeface="Calibri"/>
                          <a:ea typeface="Calibri"/>
                          <a:cs typeface="Calibri"/>
                          <a:sym typeface="Calibri"/>
                        </a:rPr>
                        <a:t>α</a:t>
                      </a:r>
                      <a:r>
                        <a:rPr lang="en-US" sz="1700" b="true">
                          <a:solidFill>
                            <a:srgbClr val="111111"/>
                          </a:solidFill>
                          <a:latin typeface="Nunito Semi-Bold"/>
                          <a:ea typeface="Nunito Semi-Bold"/>
                          <a:cs typeface="Nunito Semi-Bold"/>
                          <a:sym typeface="Nunito Semi-Bold"/>
                        </a:rPr>
                        <a:t>·accuracy + </a:t>
                      </a:r>
                      <a:r>
                        <a:rPr lang="en-US" sz="1700" b="true">
                          <a:solidFill>
                            <a:srgbClr val="111111"/>
                          </a:solidFill>
                          <a:latin typeface="Calibri"/>
                          <a:ea typeface="Calibri"/>
                          <a:cs typeface="Calibri"/>
                          <a:sym typeface="Calibri"/>
                        </a:rPr>
                        <a:t>β</a:t>
                      </a:r>
                      <a:r>
                        <a:rPr lang="en-US" sz="1700" b="true">
                          <a:solidFill>
                            <a:srgbClr val="111111"/>
                          </a:solidFill>
                          <a:latin typeface="Nunito Semi-Bold"/>
                          <a:ea typeface="Nunito Semi-Bold"/>
                          <a:cs typeface="Nunito Semi-Bold"/>
                          <a:sym typeface="Nunito Semi-Bold"/>
                        </a:rPr>
                        <a:t>·diversity + </a:t>
                      </a:r>
                      <a:r>
                        <a:rPr lang="en-US" sz="1700" b="true">
                          <a:solidFill>
                            <a:srgbClr val="111111"/>
                          </a:solidFill>
                          <a:latin typeface="Calibri"/>
                          <a:ea typeface="Calibri"/>
                          <a:cs typeface="Calibri"/>
                          <a:sym typeface="Calibri"/>
                        </a:rPr>
                        <a:t>γ</a:t>
                      </a:r>
                      <a:r>
                        <a:rPr lang="en-US" sz="1700" b="true">
                          <a:solidFill>
                            <a:srgbClr val="111111"/>
                          </a:solidFill>
                          <a:latin typeface="Nunito Semi-Bold"/>
                          <a:ea typeface="Nunito Semi-Bold"/>
                          <a:cs typeface="Nunito Semi-Bold"/>
                          <a:sym typeface="Nunito Semi-Bold"/>
                        </a:rPr>
                        <a:t>·novelty</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7673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O2  ·  Preference-aware Monte Carlo Shapley inside message passing</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Met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M = 50 permutations, ≈ 99 % accuracy, refreshed every 10 batches; ablation −4.6 % / −6.1 % without it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776732">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O3  ·  Ranking, coverage and diversity together</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Met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210"/>
                        </a:lnSpc>
                        <a:spcBef>
                          <a:spcPts val="0"/>
                        </a:spcBef>
                        <a:buNone/>
                      </a:pPr>
                      <a:r>
                        <a:rPr lang="en-US" sz="1700" b="true">
                          <a:solidFill>
                            <a:srgbClr val="111111"/>
                          </a:solidFill>
                          <a:latin typeface="Nunito Semi-Bold"/>
                          <a:ea typeface="Nunito Semi-Bold"/>
                          <a:cs typeface="Nunito Semi-Bold"/>
                          <a:sym typeface="Nunito Semi-Bold"/>
                        </a:rPr>
                        <a:t>+9.8 % / +13.3 % NDCG@20, +16.1 % / +29.7 % Coverage, +11.9 % / +12.5 % ILD over HPCF</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[3] Louhichi, M., Nesmaoui, R. &amp; Lazaar, M. DyHuCoG: A Dynamic Hypergraph Cooperative Game for Preference-aware Recommendation. IJIES 19(2), 887–902 (2026).</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65</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Key Findings</a:t>
            </a:r>
          </a:p>
        </p:txBody>
      </p:sp>
      <p:pic>
        <p:nvPicPr>
          <p:cNvPr id="23" name="Picture 22" descr="image.png"/>
          <p:cNvPicPr>
            <a:picLocks noChangeAspect="1"/>
          </p:cNvPicPr>
          <p:nvPr/>
        </p:nvPicPr>
        <p:blipFill>
          <a:blip r:embed="rId3"/>
          <a:stretch>
            <a:fillRect/>
          </a:stretch>
        </p:blipFill>
        <p:spPr>
          <a:xfrm>
            <a:off x="4641445" y="1673352"/>
            <a:ext cx="457200" cy="399005"/>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363722"/>
            <a:ext cx="16230600" cy="1339913"/>
          </a:xfrm>
          <a:prstGeom prst="roundRect">
            <a:avLst>
              <a:gd name="adj" fmla="val 15013"/>
            </a:avLst>
          </a:prstGeom>
          <a:solidFill>
            <a:srgbClr val="F6ECDF"/>
          </a:solidFill>
          <a:ln>
            <a:noFill/>
          </a:ln>
        </p:spPr>
        <p:txBody>
          <a:bodyPr anchor="ctr" rtlCol="false" lIns="0" tIns="0" rIns="0" bIns="0" wrap="square"/>
          <a:lstStyle/>
          <a:p>
            <a:endParaRPr lang="en-US" sz="1800"/>
          </a:p>
        </p:txBody>
      </p:sp>
      <p:sp>
        <p:nvSpPr>
          <p:cNvPr id="29" name="Oval 28"/>
          <p:cNvSpPr/>
          <p:nvPr/>
        </p:nvSpPr>
        <p:spPr>
          <a:xfrm>
            <a:off x="1303020" y="3750214"/>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1</a:t>
            </a:r>
          </a:p>
        </p:txBody>
      </p:sp>
      <p:sp>
        <p:nvSpPr>
          <p:cNvPr id="30" name="TextBox 29"/>
          <p:cNvSpPr txBox="1"/>
          <p:nvPr/>
        </p:nvSpPr>
        <p:spPr>
          <a:xfrm>
            <a:off x="2171700" y="3473450"/>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The accuracy / diversity / context trade-off is not fixed by nature</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When importance comes from a cooperative-game utility, NDCG, Recall, Coverage and ILD all move up together.</a:t>
            </a:r>
          </a:p>
        </p:txBody>
      </p:sp>
      <p:sp>
        <p:nvSpPr>
          <p:cNvPr id="31" name="Rounded Rectangle 30"/>
          <p:cNvSpPr/>
          <p:nvPr/>
        </p:nvSpPr>
        <p:spPr>
          <a:xfrm>
            <a:off x="1028700" y="4868227"/>
            <a:ext cx="16230600" cy="1339913"/>
          </a:xfrm>
          <a:prstGeom prst="roundRect">
            <a:avLst>
              <a:gd name="adj" fmla="val 15013"/>
            </a:avLst>
          </a:prstGeom>
          <a:solidFill>
            <a:srgbClr val="FBF4EB"/>
          </a:solidFill>
          <a:ln>
            <a:noFill/>
          </a:ln>
        </p:spPr>
        <p:txBody>
          <a:bodyPr anchor="ctr" rtlCol="false" lIns="0" tIns="0" rIns="0" bIns="0" wrap="square"/>
          <a:lstStyle/>
          <a:p>
            <a:endParaRPr lang="en-US" sz="1800"/>
          </a:p>
        </p:txBody>
      </p:sp>
      <p:sp>
        <p:nvSpPr>
          <p:cNvPr id="32" name="Oval 31"/>
          <p:cNvSpPr/>
          <p:nvPr/>
        </p:nvSpPr>
        <p:spPr>
          <a:xfrm>
            <a:off x="1303020" y="5254720"/>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2</a:t>
            </a:r>
          </a:p>
        </p:txBody>
      </p:sp>
      <p:sp>
        <p:nvSpPr>
          <p:cNvPr id="33" name="TextBox 32"/>
          <p:cNvSpPr txBox="1"/>
          <p:nvPr/>
        </p:nvSpPr>
        <p:spPr>
          <a:xfrm>
            <a:off x="2171700" y="4977955"/>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Gains are largest where data are weakest</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+13.3 % NDCG@20 on Amazon-Book vs +9.8 % on MovieLens-1M; +10.9 % / +9.6 % for cold users and cold items.</a:t>
            </a:r>
          </a:p>
        </p:txBody>
      </p:sp>
      <p:sp>
        <p:nvSpPr>
          <p:cNvPr id="34" name="Rounded Rectangle 33"/>
          <p:cNvSpPr/>
          <p:nvPr/>
        </p:nvSpPr>
        <p:spPr>
          <a:xfrm>
            <a:off x="1028700" y="6372733"/>
            <a:ext cx="16230600" cy="1339913"/>
          </a:xfrm>
          <a:prstGeom prst="roundRect">
            <a:avLst>
              <a:gd name="adj" fmla="val 15013"/>
            </a:avLst>
          </a:prstGeom>
          <a:solidFill>
            <a:srgbClr val="F6ECDF"/>
          </a:solidFill>
          <a:ln>
            <a:noFill/>
          </a:ln>
        </p:spPr>
        <p:txBody>
          <a:bodyPr anchor="ctr" rtlCol="false" lIns="0" tIns="0" rIns="0" bIns="0" wrap="square"/>
          <a:lstStyle/>
          <a:p>
            <a:endParaRPr lang="en-US" sz="1800"/>
          </a:p>
        </p:txBody>
      </p:sp>
      <p:sp>
        <p:nvSpPr>
          <p:cNvPr id="35" name="Oval 34"/>
          <p:cNvSpPr/>
          <p:nvPr/>
        </p:nvSpPr>
        <p:spPr>
          <a:xfrm>
            <a:off x="1303020" y="6759225"/>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3</a:t>
            </a:r>
          </a:p>
        </p:txBody>
      </p:sp>
      <p:sp>
        <p:nvSpPr>
          <p:cNvPr id="36" name="TextBox 35"/>
          <p:cNvSpPr txBox="1"/>
          <p:nvPr/>
        </p:nvSpPr>
        <p:spPr>
          <a:xfrm>
            <a:off x="2171700" y="6482461"/>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Context and structure carry the most weight</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Removing context (−8.2 % / −11.0 %) or the hypergraph (−6.8 % / −8.9 %) hurts most; Shapley weighting adds a further 4.6 % / 6.1 %.</a:t>
            </a:r>
          </a:p>
        </p:txBody>
      </p:sp>
      <p:sp>
        <p:nvSpPr>
          <p:cNvPr id="37" name="Rounded Rectangle 36"/>
          <p:cNvSpPr/>
          <p:nvPr/>
        </p:nvSpPr>
        <p:spPr>
          <a:xfrm>
            <a:off x="1028700" y="7877238"/>
            <a:ext cx="16230600" cy="1339913"/>
          </a:xfrm>
          <a:prstGeom prst="roundRect">
            <a:avLst>
              <a:gd name="adj" fmla="val 15013"/>
            </a:avLst>
          </a:prstGeom>
          <a:solidFill>
            <a:srgbClr val="FBF4EB"/>
          </a:solidFill>
          <a:ln>
            <a:noFill/>
          </a:ln>
        </p:spPr>
        <p:txBody>
          <a:bodyPr anchor="ctr" rtlCol="false" lIns="0" tIns="0" rIns="0" bIns="0" wrap="square"/>
          <a:lstStyle/>
          <a:p>
            <a:endParaRPr lang="en-US" sz="1800"/>
          </a:p>
        </p:txBody>
      </p:sp>
      <p:sp>
        <p:nvSpPr>
          <p:cNvPr id="38" name="Oval 37"/>
          <p:cNvSpPr/>
          <p:nvPr/>
        </p:nvSpPr>
        <p:spPr>
          <a:xfrm>
            <a:off x="1303020" y="8263731"/>
            <a:ext cx="566928" cy="566928"/>
          </a:xfrm>
          <a:prstGeom prst="ellipse">
            <a:avLst/>
          </a:prstGeom>
          <a:solidFill>
            <a:srgbClr val="124944"/>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4</a:t>
            </a:r>
          </a:p>
        </p:txBody>
      </p:sp>
      <p:sp>
        <p:nvSpPr>
          <p:cNvPr id="39" name="TextBox 38"/>
          <p:cNvSpPr txBox="1"/>
          <p:nvPr/>
        </p:nvSpPr>
        <p:spPr>
          <a:xfrm>
            <a:off x="2171700" y="7986966"/>
            <a:ext cx="14767560" cy="1120457"/>
          </a:xfrm>
          <a:prstGeom prst="rect">
            <a:avLst/>
          </a:prstGeom>
          <a:noFill/>
        </p:spPr>
        <p:txBody>
          <a:bodyPr anchor="ctr" rtlCol="false" lIns="0" tIns="0" rIns="0" bIns="0" wrap="square"/>
          <a:lstStyle/>
          <a:p>
            <a:pPr algn="l">
              <a:lnSpc>
                <a:spcPts val="2500"/>
              </a:lnSpc>
              <a:spcBef>
                <a:spcPts val="0"/>
              </a:spcBef>
              <a:buNone/>
            </a:pPr>
            <a:r>
              <a:rPr lang="en-US" sz="2100" b="true">
                <a:solidFill>
                  <a:srgbClr val="124944"/>
                </a:solidFill>
                <a:latin typeface="Nunito Ultra-Bold"/>
                <a:ea typeface="Nunito Ultra-Bold"/>
                <a:cs typeface="Nunito Ultra-Bold"/>
                <a:sym typeface="Nunito Ultra-Bold"/>
              </a:rPr>
              <a:t>The improvement is statistically solid and affordable</a:t>
            </a:r>
          </a:p>
          <a:p>
            <a:pPr algn="l">
              <a:lnSpc>
                <a:spcPts val="2400"/>
              </a:lnSpc>
              <a:spcBef>
                <a:spcPts val="400"/>
              </a:spcBef>
              <a:buNone/>
            </a:pPr>
            <a:r>
              <a:rPr lang="en-US" sz="1900" b="true">
                <a:solidFill>
                  <a:srgbClr val="111111"/>
                </a:solidFill>
                <a:latin typeface="Nunito Semi-Bold"/>
                <a:ea typeface="Nunito Semi-Bold"/>
                <a:cs typeface="Nunito Semi-Bold"/>
                <a:sym typeface="Nunito Semi-Bold"/>
              </a:rPr>
              <a:t>t = 46.38, d</a:t>
            </a:r>
            <a:r>
              <a:rPr lang="en-US" sz="1900" b="true" baseline="-25000">
                <a:solidFill>
                  <a:srgbClr val="111111"/>
                </a:solidFill>
                <a:latin typeface="Nunito Semi-Bold"/>
                <a:ea typeface="Nunito Semi-Bold"/>
                <a:cs typeface="Nunito Semi-Bold"/>
                <a:sym typeface="Nunito Semi-Bold"/>
              </a:rPr>
              <a:t>z</a:t>
            </a:r>
            <a:r>
              <a:rPr lang="en-US" sz="1900" b="true">
                <a:solidFill>
                  <a:srgbClr val="111111"/>
                </a:solidFill>
                <a:latin typeface="Nunito Semi-Bold"/>
                <a:ea typeface="Nunito Semi-Bold"/>
                <a:cs typeface="Nunito Semi-Bold"/>
                <a:sym typeface="Nunito Semi-Bold"/>
              </a:rPr>
              <a:t> = 1.33, p &lt; 10</a:t>
            </a:r>
            <a:r>
              <a:rPr lang="en-US" sz="1900" b="true" baseline="30000">
                <a:solidFill>
                  <a:srgbClr val="111111"/>
                </a:solidFill>
                <a:latin typeface="Nunito Semi-Bold"/>
                <a:ea typeface="Nunito Semi-Bold"/>
                <a:cs typeface="Nunito Semi-Bold"/>
                <a:sym typeface="Nunito Semi-Bold"/>
              </a:rPr>
              <a:t>−200</a:t>
            </a:r>
            <a:r>
              <a:rPr lang="en-US" sz="1900" b="true">
                <a:solidFill>
                  <a:srgbClr val="111111"/>
                </a:solidFill>
                <a:latin typeface="Nunito Semi-Bold"/>
                <a:ea typeface="Nunito Semi-Bold"/>
                <a:cs typeface="Nunito Semi-Bold"/>
                <a:sym typeface="Nunito Semi-Bold"/>
              </a:rPr>
              <a:t> vs HPCF; training ≈ 1.78× HPCF, inference 1.84 ms per query.</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66</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Limitations</a:t>
            </a:r>
          </a:p>
        </p:txBody>
      </p:sp>
      <p:pic>
        <p:nvPicPr>
          <p:cNvPr id="23" name="Picture 22" descr="image.png"/>
          <p:cNvPicPr>
            <a:picLocks noChangeAspect="1"/>
          </p:cNvPicPr>
          <p:nvPr/>
        </p:nvPicPr>
        <p:blipFill>
          <a:blip r:embed="rId3"/>
          <a:stretch>
            <a:fillRect/>
          </a:stretch>
        </p:blipFill>
        <p:spPr>
          <a:xfrm>
            <a:off x="4251252" y="1673352"/>
            <a:ext cx="457200" cy="446713"/>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363722"/>
            <a:ext cx="7955280" cy="2172335"/>
          </a:xfrm>
          <a:prstGeom prst="roundRect">
            <a:avLst>
              <a:gd name="adj" fmla="val 11786"/>
            </a:avLst>
          </a:prstGeom>
          <a:solidFill>
            <a:srgbClr val="124944"/>
          </a:solidFill>
          <a:ln>
            <a:noFill/>
          </a:ln>
        </p:spPr>
        <p:txBody>
          <a:bodyPr anchor="ctr" rtlCol="false" lIns="0" tIns="0" rIns="0" bIns="0" wrap="square"/>
          <a:lstStyle/>
          <a:p>
            <a:endParaRPr lang="en-US" sz="1800"/>
          </a:p>
        </p:txBody>
      </p:sp>
      <p:sp>
        <p:nvSpPr>
          <p:cNvPr id="29" name="TextBox 28"/>
          <p:cNvSpPr txBox="1"/>
          <p:nvPr/>
        </p:nvSpPr>
        <p:spPr>
          <a:xfrm>
            <a:off x="1394460" y="3638042"/>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COMPUTE OVERHEAD</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Roughly </a:t>
            </a:r>
            <a:r>
              <a:rPr lang="en-US" sz="1900" b="true">
                <a:solidFill>
                  <a:srgbClr val="FFFFFF"/>
                </a:solidFill>
                <a:latin typeface="Nunito Bold"/>
                <a:ea typeface="Nunito Bold"/>
                <a:cs typeface="Nunito Bold"/>
                <a:sym typeface="Nunito Bold"/>
              </a:rPr>
              <a:t>1.78× the training time</a:t>
            </a:r>
            <a:r>
              <a:rPr lang="en-US" sz="1900" b="true">
                <a:solidFill>
                  <a:srgbClr val="FFFFFF"/>
                </a:solidFill>
                <a:latin typeface="Nunito Semi-Bold"/>
                <a:ea typeface="Nunito Semi-Bold"/>
                <a:cs typeface="Nunito Semi-Bold"/>
                <a:sym typeface="Nunito Semi-Bold"/>
              </a:rPr>
              <a:t> of HPCF on MovieLens-1M (≈ 3.4× MF); acceptable, but not free.</a:t>
            </a:r>
          </a:p>
        </p:txBody>
      </p:sp>
      <p:sp>
        <p:nvSpPr>
          <p:cNvPr id="30" name="Rounded Rectangle 29"/>
          <p:cNvSpPr/>
          <p:nvPr/>
        </p:nvSpPr>
        <p:spPr>
          <a:xfrm>
            <a:off x="9304020" y="3363722"/>
            <a:ext cx="7955280" cy="2172335"/>
          </a:xfrm>
          <a:prstGeom prst="roundRect">
            <a:avLst>
              <a:gd name="adj" fmla="val 11786"/>
            </a:avLst>
          </a:prstGeom>
          <a:solidFill>
            <a:srgbClr val="1E5F58"/>
          </a:solidFill>
          <a:ln>
            <a:noFill/>
          </a:ln>
        </p:spPr>
        <p:txBody>
          <a:bodyPr anchor="ctr" rtlCol="false" lIns="0" tIns="0" rIns="0" bIns="0" wrap="square"/>
          <a:lstStyle/>
          <a:p>
            <a:endParaRPr lang="en-US" sz="1800"/>
          </a:p>
        </p:txBody>
      </p:sp>
      <p:sp>
        <p:nvSpPr>
          <p:cNvPr id="31" name="TextBox 30"/>
          <p:cNvSpPr txBox="1"/>
          <p:nvPr/>
        </p:nvSpPr>
        <p:spPr>
          <a:xfrm>
            <a:off x="9669780" y="3638042"/>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NEEDS MEANINGFUL CONTEXT</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The largest single component is </a:t>
            </a:r>
            <a:r>
              <a:rPr lang="en-US" sz="1900" b="true">
                <a:solidFill>
                  <a:srgbClr val="FFFFFF"/>
                </a:solidFill>
                <a:latin typeface="Nunito Bold"/>
                <a:ea typeface="Nunito Bold"/>
                <a:cs typeface="Nunito Bold"/>
                <a:sym typeface="Nunito Bold"/>
              </a:rPr>
              <a:t>context</a:t>
            </a:r>
            <a:r>
              <a:rPr lang="en-US" sz="1900" b="true">
                <a:solidFill>
                  <a:srgbClr val="FFFFFF"/>
                </a:solidFill>
                <a:latin typeface="Nunito Semi-Bold"/>
                <a:ea typeface="Nunito Semi-Bold"/>
                <a:cs typeface="Nunito Semi-Bold"/>
                <a:sym typeface="Nunito Semi-Bold"/>
              </a:rPr>
              <a:t>; on data without usable context the gain shrinks.</a:t>
            </a:r>
          </a:p>
        </p:txBody>
      </p:sp>
      <p:sp>
        <p:nvSpPr>
          <p:cNvPr id="32" name="Rounded Rectangle 31"/>
          <p:cNvSpPr/>
          <p:nvPr/>
        </p:nvSpPr>
        <p:spPr>
          <a:xfrm>
            <a:off x="1028700" y="5810377"/>
            <a:ext cx="7955280" cy="2172335"/>
          </a:xfrm>
          <a:prstGeom prst="roundRect">
            <a:avLst>
              <a:gd name="adj" fmla="val 11786"/>
            </a:avLst>
          </a:prstGeom>
          <a:solidFill>
            <a:srgbClr val="1E5F58"/>
          </a:solidFill>
          <a:ln>
            <a:noFill/>
          </a:ln>
        </p:spPr>
        <p:txBody>
          <a:bodyPr anchor="ctr" rtlCol="false" lIns="0" tIns="0" rIns="0" bIns="0" wrap="square"/>
          <a:lstStyle/>
          <a:p>
            <a:endParaRPr lang="en-US" sz="1800"/>
          </a:p>
        </p:txBody>
      </p:sp>
      <p:sp>
        <p:nvSpPr>
          <p:cNvPr id="33" name="TextBox 32"/>
          <p:cNvSpPr txBox="1"/>
          <p:nvPr/>
        </p:nvSpPr>
        <p:spPr>
          <a:xfrm>
            <a:off x="1394460" y="6084697"/>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MONTE CARLO VARIANCE</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M = 50 gives ≈ 99 % accuracy; </a:t>
            </a:r>
            <a:r>
              <a:rPr lang="en-US" sz="1900" b="true">
                <a:solidFill>
                  <a:srgbClr val="FFFFFF"/>
                </a:solidFill>
                <a:latin typeface="Nunito Bold"/>
                <a:ea typeface="Nunito Bold"/>
                <a:cs typeface="Nunito Bold"/>
                <a:sym typeface="Nunito Bold"/>
              </a:rPr>
              <a:t>variance reduction</a:t>
            </a:r>
            <a:r>
              <a:rPr lang="en-US" sz="1900" b="true">
                <a:solidFill>
                  <a:srgbClr val="FFFFFF"/>
                </a:solidFill>
                <a:latin typeface="Nunito Semi-Bold"/>
                <a:ea typeface="Nunito Semi-Bold"/>
                <a:cs typeface="Nunito Semi-Bold"/>
                <a:sym typeface="Nunito Semi-Bold"/>
              </a:rPr>
              <a:t> could cut the refresh cost further.</a:t>
            </a:r>
          </a:p>
        </p:txBody>
      </p:sp>
      <p:sp>
        <p:nvSpPr>
          <p:cNvPr id="34" name="Rounded Rectangle 33"/>
          <p:cNvSpPr/>
          <p:nvPr/>
        </p:nvSpPr>
        <p:spPr>
          <a:xfrm>
            <a:off x="9304020" y="5810377"/>
            <a:ext cx="7955280" cy="2172335"/>
          </a:xfrm>
          <a:prstGeom prst="roundRect">
            <a:avLst>
              <a:gd name="adj" fmla="val 11786"/>
            </a:avLst>
          </a:prstGeom>
          <a:solidFill>
            <a:srgbClr val="124944"/>
          </a:solidFill>
          <a:ln>
            <a:noFill/>
          </a:ln>
        </p:spPr>
        <p:txBody>
          <a:bodyPr anchor="ctr" rtlCol="false" lIns="0" tIns="0" rIns="0" bIns="0" wrap="square"/>
          <a:lstStyle/>
          <a:p>
            <a:endParaRPr lang="en-US" sz="1800"/>
          </a:p>
        </p:txBody>
      </p:sp>
      <p:sp>
        <p:nvSpPr>
          <p:cNvPr id="35" name="TextBox 34"/>
          <p:cNvSpPr txBox="1"/>
          <p:nvPr/>
        </p:nvSpPr>
        <p:spPr>
          <a:xfrm>
            <a:off x="9669780" y="6084697"/>
            <a:ext cx="7223760" cy="1715135"/>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ECC665"/>
                </a:solidFill>
                <a:latin typeface="Nunito Ultra-Bold"/>
                <a:ea typeface="Nunito Ultra-Bold"/>
                <a:cs typeface="Nunito Ultra-Bold"/>
                <a:sym typeface="Nunito Ultra-Bold"/>
              </a:rPr>
              <a:t>SCOPE OF THE CLAIM</a:t>
            </a:r>
          </a:p>
          <a:p>
            <a:pPr algn="l">
              <a:lnSpc>
                <a:spcPts val="2400"/>
              </a:lnSpc>
              <a:spcBef>
                <a:spcPts val="800"/>
              </a:spcBef>
              <a:buNone/>
            </a:pPr>
            <a:r>
              <a:rPr lang="en-US" sz="1900" b="true">
                <a:solidFill>
                  <a:srgbClr val="FFFFFF"/>
                </a:solidFill>
                <a:latin typeface="Nunito Semi-Bold"/>
                <a:ea typeface="Nunito Semi-Bold"/>
                <a:cs typeface="Nunito Semi-Bold"/>
                <a:sym typeface="Nunito Semi-Bold"/>
              </a:rPr>
              <a:t>Component-wise ablation only; baselines fixed in early 2026, so superiority is claimed </a:t>
            </a:r>
            <a:r>
              <a:rPr lang="en-US" sz="1900" b="true">
                <a:solidFill>
                  <a:srgbClr val="FFFFFF"/>
                </a:solidFill>
                <a:latin typeface="Nunito Bold"/>
                <a:ea typeface="Nunito Bold"/>
                <a:cs typeface="Nunito Bold"/>
                <a:sym typeface="Nunito Bold"/>
              </a:rPr>
              <a:t>only against the tested baselines</a:t>
            </a:r>
            <a:r>
              <a:rPr lang="en-US" sz="1900" b="true">
                <a:solidFill>
                  <a:srgbClr val="FFFFFF"/>
                </a:solidFill>
                <a:latin typeface="Nunito Semi-Bold"/>
                <a:ea typeface="Nunito Semi-Bold"/>
                <a:cs typeface="Nunito Semi-Bold"/>
                <a:sym typeface="Nunito Semi-Bold"/>
              </a:rPr>
              <a:t>.</a:t>
            </a:r>
          </a:p>
        </p:txBody>
      </p:sp>
      <p:sp>
        <p:nvSpPr>
          <p:cNvPr id="36" name="Rounded Rectangle 35"/>
          <p:cNvSpPr/>
          <p:nvPr/>
        </p:nvSpPr>
        <p:spPr>
          <a:xfrm>
            <a:off x="1028700" y="8348472"/>
            <a:ext cx="16230600" cy="960120"/>
          </a:xfrm>
          <a:prstGeom prst="roundRect">
            <a:avLst>
              <a:gd name="adj" fmla="val 23809"/>
            </a:avLst>
          </a:prstGeom>
          <a:noFill/>
          <a:ln w="31750">
            <a:solidFill>
              <a:srgbClr val="DF8330"/>
            </a:solidFill>
          </a:ln>
        </p:spPr>
        <p:txBody>
          <a:bodyPr anchor="ctr" rtlCol="false" lIns="457200" tIns="91440" rIns="457200" bIns="91440" wrap="square"/>
          <a:lstStyle/>
          <a:p>
            <a:pPr algn="ctr">
              <a:lnSpc>
                <a:spcPts val="2500"/>
              </a:lnSpc>
              <a:spcBef>
                <a:spcPts val="0"/>
              </a:spcBef>
              <a:buNone/>
            </a:pPr>
            <a:r>
              <a:rPr lang="en-US" sz="2000" b="true">
                <a:solidFill>
                  <a:srgbClr val="111111"/>
                </a:solidFill>
                <a:latin typeface="Nunito Semi-Bold"/>
                <a:ea typeface="Nunito Semi-Bold"/>
                <a:cs typeface="Nunito Semi-Bold"/>
                <a:sym typeface="Nunito Semi-Bold"/>
              </a:rPr>
              <a:t>None of these change the main message: attribution can </a:t>
            </a:r>
            <a:r>
              <a:rPr lang="en-US" sz="2000" b="true">
                <a:solidFill>
                  <a:srgbClr val="111111"/>
                </a:solidFill>
                <a:latin typeface="Nunito Bold"/>
                <a:ea typeface="Nunito Bold"/>
                <a:cs typeface="Nunito Bold"/>
                <a:sym typeface="Nunito Bold"/>
              </a:rPr>
              <a:t>guide learning</a:t>
            </a:r>
            <a:r>
              <a:rPr lang="en-US" sz="2000" b="true">
                <a:solidFill>
                  <a:srgbClr val="111111"/>
                </a:solidFill>
                <a:latin typeface="Nunito Semi-Bold"/>
                <a:ea typeface="Nunito Semi-Bold"/>
                <a:cs typeface="Nunito Semi-Bold"/>
                <a:sym typeface="Nunito Semi-Bold"/>
              </a:rPr>
              <a:t>, not only describe it.</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67</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CONTRIBUTION III: DYHUCOG, A DYNAMIC HYPERGRAPH COOPERATIVE GAME</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Takeaway: Contribution III</a:t>
            </a:r>
          </a:p>
        </p:txBody>
      </p:sp>
      <p:pic>
        <p:nvPicPr>
          <p:cNvPr id="23" name="Picture 22" descr="image.png"/>
          <p:cNvPicPr>
            <a:picLocks noChangeAspect="1"/>
          </p:cNvPicPr>
          <p:nvPr/>
        </p:nvPicPr>
        <p:blipFill>
          <a:blip r:embed="rId3"/>
          <a:stretch>
            <a:fillRect/>
          </a:stretch>
        </p:blipFill>
        <p:spPr>
          <a:xfrm>
            <a:off x="8179226" y="1673352"/>
            <a:ext cx="457200" cy="452148"/>
          </a:xfrm>
          <a:prstGeom prst="rect">
            <a:avLst/>
          </a:prstGeom>
        </p:spPr>
      </p:pic>
      <p:sp>
        <p:nvSpPr>
          <p:cNvPr id="24" name="Rounded Rectangle 23"/>
          <p:cNvSpPr/>
          <p:nvPr/>
        </p:nvSpPr>
        <p:spPr>
          <a:xfrm>
            <a:off x="1028700" y="2559050"/>
            <a:ext cx="169155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Objectives</a:t>
            </a:r>
          </a:p>
        </p:txBody>
      </p:sp>
      <p:sp>
        <p:nvSpPr>
          <p:cNvPr id="25" name="Rounded Rectangle 24"/>
          <p:cNvSpPr/>
          <p:nvPr/>
        </p:nvSpPr>
        <p:spPr>
          <a:xfrm>
            <a:off x="2848269" y="2559050"/>
            <a:ext cx="1998119"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Methodology</a:t>
            </a:r>
          </a:p>
        </p:txBody>
      </p:sp>
      <p:sp>
        <p:nvSpPr>
          <p:cNvPr id="26" name="Rounded Rectangle 25"/>
          <p:cNvSpPr/>
          <p:nvPr/>
        </p:nvSpPr>
        <p:spPr>
          <a:xfrm>
            <a:off x="4974404" y="2559050"/>
            <a:ext cx="136944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Results</a:t>
            </a:r>
          </a:p>
        </p:txBody>
      </p:sp>
      <p:sp>
        <p:nvSpPr>
          <p:cNvPr id="27" name="Rounded Rectangle 26"/>
          <p:cNvSpPr/>
          <p:nvPr/>
        </p:nvSpPr>
        <p:spPr>
          <a:xfrm>
            <a:off x="6471866" y="2559050"/>
            <a:ext cx="1474931"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Findings</a:t>
            </a:r>
          </a:p>
        </p:txBody>
      </p:sp>
      <p:sp>
        <p:nvSpPr>
          <p:cNvPr id="28" name="Rounded Rectangle 27"/>
          <p:cNvSpPr/>
          <p:nvPr/>
        </p:nvSpPr>
        <p:spPr>
          <a:xfrm>
            <a:off x="1028700" y="3363722"/>
            <a:ext cx="5196840" cy="2651760"/>
          </a:xfrm>
          <a:prstGeom prst="roundRect">
            <a:avLst>
              <a:gd name="adj" fmla="val 10344"/>
            </a:avLst>
          </a:prstGeom>
          <a:solidFill>
            <a:srgbClr val="124944"/>
          </a:solidFill>
          <a:ln>
            <a:noFill/>
          </a:ln>
        </p:spPr>
        <p:txBody>
          <a:bodyPr anchor="ctr" rtlCol="false" lIns="0" tIns="0" rIns="0" bIns="0" wrap="square"/>
          <a:lstStyle/>
          <a:p>
            <a:endParaRPr lang="en-US" sz="1800"/>
          </a:p>
        </p:txBody>
      </p:sp>
      <p:sp>
        <p:nvSpPr>
          <p:cNvPr id="29" name="TextBox 28"/>
          <p:cNvSpPr txBox="1"/>
          <p:nvPr/>
        </p:nvSpPr>
        <p:spPr>
          <a:xfrm>
            <a:off x="1394460" y="3683762"/>
            <a:ext cx="4465320" cy="2103120"/>
          </a:xfrm>
          <a:prstGeom prst="rect">
            <a:avLst/>
          </a:prstGeom>
          <a:noFill/>
        </p:spPr>
        <p:txBody>
          <a:bodyPr anchor="t" rtlCol="false" lIns="0" tIns="0" rIns="0" bIns="0" wrap="square"/>
          <a:lstStyle/>
          <a:p>
            <a:pPr algn="l">
              <a:lnSpc>
                <a:spcPts val="3200"/>
              </a:lnSpc>
              <a:spcBef>
                <a:spcPts val="0"/>
              </a:spcBef>
              <a:buNone/>
            </a:pPr>
            <a:r>
              <a:rPr lang="en-US" sz="2800" b="true" spc="-120">
                <a:solidFill>
                  <a:srgbClr val="ECC665"/>
                </a:solidFill>
                <a:latin typeface="Roca Two Bold"/>
                <a:ea typeface="Roca Two Bold"/>
                <a:cs typeface="Roca Two Bold"/>
                <a:sym typeface="Roca Two Bold"/>
              </a:rPr>
              <a:t>First-class</a:t>
            </a:r>
          </a:p>
          <a:p>
            <a:pPr algn="l">
              <a:lnSpc>
                <a:spcPts val="2400"/>
              </a:lnSpc>
              <a:spcBef>
                <a:spcPts val="1000"/>
              </a:spcBef>
              <a:buNone/>
            </a:pPr>
            <a:r>
              <a:rPr lang="en-US" sz="1900" b="true">
                <a:solidFill>
                  <a:srgbClr val="F7F2EA"/>
                </a:solidFill>
                <a:latin typeface="Nunito Semi-Bold"/>
                <a:ea typeface="Nunito Semi-Bold"/>
                <a:cs typeface="Nunito Semi-Bold"/>
                <a:sym typeface="Nunito Semi-Bold"/>
              </a:rPr>
              <a:t>Shapley estimates shape the hyperedge weights during training.</a:t>
            </a:r>
          </a:p>
        </p:txBody>
      </p:sp>
      <p:sp>
        <p:nvSpPr>
          <p:cNvPr id="30" name="Rounded Rectangle 29"/>
          <p:cNvSpPr/>
          <p:nvPr/>
        </p:nvSpPr>
        <p:spPr>
          <a:xfrm>
            <a:off x="6545580" y="3363722"/>
            <a:ext cx="5196840" cy="2651760"/>
          </a:xfrm>
          <a:prstGeom prst="roundRect">
            <a:avLst>
              <a:gd name="adj" fmla="val 10344"/>
            </a:avLst>
          </a:prstGeom>
          <a:solidFill>
            <a:srgbClr val="1E5F58"/>
          </a:solidFill>
          <a:ln>
            <a:noFill/>
          </a:ln>
        </p:spPr>
        <p:txBody>
          <a:bodyPr anchor="ctr" rtlCol="false" lIns="0" tIns="0" rIns="0" bIns="0" wrap="square"/>
          <a:lstStyle/>
          <a:p>
            <a:endParaRPr lang="en-US" sz="1800"/>
          </a:p>
        </p:txBody>
      </p:sp>
      <p:sp>
        <p:nvSpPr>
          <p:cNvPr id="31" name="TextBox 30"/>
          <p:cNvSpPr txBox="1"/>
          <p:nvPr/>
        </p:nvSpPr>
        <p:spPr>
          <a:xfrm>
            <a:off x="6911340" y="3683762"/>
            <a:ext cx="4465320" cy="2103120"/>
          </a:xfrm>
          <a:prstGeom prst="rect">
            <a:avLst/>
          </a:prstGeom>
          <a:noFill/>
        </p:spPr>
        <p:txBody>
          <a:bodyPr anchor="t" rtlCol="false" lIns="0" tIns="0" rIns="0" bIns="0" wrap="square"/>
          <a:lstStyle/>
          <a:p>
            <a:pPr algn="l">
              <a:lnSpc>
                <a:spcPts val="3200"/>
              </a:lnSpc>
              <a:spcBef>
                <a:spcPts val="0"/>
              </a:spcBef>
              <a:buNone/>
            </a:pPr>
            <a:r>
              <a:rPr lang="en-US" sz="2800" b="true" spc="-120">
                <a:solidFill>
                  <a:srgbClr val="ECC665"/>
                </a:solidFill>
                <a:latin typeface="Roca Two Bold"/>
                <a:ea typeface="Roca Two Bold"/>
                <a:cs typeface="Roca Two Bold"/>
                <a:sym typeface="Roca Two Bold"/>
              </a:rPr>
              <a:t>Read-out</a:t>
            </a:r>
          </a:p>
          <a:p>
            <a:pPr algn="l">
              <a:lnSpc>
                <a:spcPts val="2400"/>
              </a:lnSpc>
              <a:spcBef>
                <a:spcPts val="1000"/>
              </a:spcBef>
              <a:buNone/>
            </a:pPr>
            <a:r>
              <a:rPr lang="en-US" sz="1900" b="true">
                <a:solidFill>
                  <a:srgbClr val="F7F2EA"/>
                </a:solidFill>
                <a:latin typeface="Nunito Semi-Bold"/>
                <a:ea typeface="Nunito Semi-Bold"/>
                <a:cs typeface="Nunito Semi-Bold"/>
                <a:sym typeface="Nunito Semi-Bold"/>
              </a:rPr>
              <a:t>The waterfall shows the same terms the loss optimises: ranking, diversity, context, preference.</a:t>
            </a:r>
          </a:p>
        </p:txBody>
      </p:sp>
      <p:sp>
        <p:nvSpPr>
          <p:cNvPr id="32" name="Rounded Rectangle 31"/>
          <p:cNvSpPr/>
          <p:nvPr/>
        </p:nvSpPr>
        <p:spPr>
          <a:xfrm>
            <a:off x="12062460" y="3363722"/>
            <a:ext cx="5196840" cy="2651760"/>
          </a:xfrm>
          <a:prstGeom prst="roundRect">
            <a:avLst>
              <a:gd name="adj" fmla="val 10344"/>
            </a:avLst>
          </a:prstGeom>
          <a:solidFill>
            <a:srgbClr val="DF8330"/>
          </a:solidFill>
          <a:ln>
            <a:noFill/>
          </a:ln>
        </p:spPr>
        <p:txBody>
          <a:bodyPr anchor="ctr" rtlCol="false" lIns="0" tIns="0" rIns="0" bIns="0" wrap="square"/>
          <a:lstStyle/>
          <a:p>
            <a:endParaRPr lang="en-US" sz="1800"/>
          </a:p>
        </p:txBody>
      </p:sp>
      <p:sp>
        <p:nvSpPr>
          <p:cNvPr id="33" name="TextBox 32"/>
          <p:cNvSpPr txBox="1"/>
          <p:nvPr/>
        </p:nvSpPr>
        <p:spPr>
          <a:xfrm>
            <a:off x="12428220" y="3683762"/>
            <a:ext cx="4465320" cy="2103120"/>
          </a:xfrm>
          <a:prstGeom prst="rect">
            <a:avLst/>
          </a:prstGeom>
          <a:noFill/>
        </p:spPr>
        <p:txBody>
          <a:bodyPr anchor="t" rtlCol="false" lIns="0" tIns="0" rIns="0" bIns="0" wrap="square"/>
          <a:lstStyle/>
          <a:p>
            <a:pPr algn="l">
              <a:lnSpc>
                <a:spcPts val="3200"/>
              </a:lnSpc>
              <a:spcBef>
                <a:spcPts val="0"/>
              </a:spcBef>
              <a:buNone/>
            </a:pPr>
            <a:r>
              <a:rPr lang="en-US" sz="2800" b="true" spc="-120">
                <a:solidFill>
                  <a:srgbClr val="FFFFFF"/>
                </a:solidFill>
                <a:latin typeface="Roca Two Bold"/>
                <a:ea typeface="Roca Two Bold"/>
                <a:cs typeface="Roca Two Bold"/>
                <a:sym typeface="Roca Two Bold"/>
              </a:rPr>
              <a:t>Axiomatic</a:t>
            </a:r>
          </a:p>
          <a:p>
            <a:pPr algn="l">
              <a:lnSpc>
                <a:spcPts val="2400"/>
              </a:lnSpc>
              <a:spcBef>
                <a:spcPts val="1000"/>
              </a:spcBef>
              <a:buNone/>
            </a:pPr>
            <a:r>
              <a:rPr lang="en-US" sz="1900" b="true">
                <a:solidFill>
                  <a:srgbClr val="F7F2EA"/>
                </a:solidFill>
                <a:latin typeface="Nunito Semi-Bold"/>
                <a:ea typeface="Nunito Semi-Bold"/>
                <a:cs typeface="Nunito Semi-Bold"/>
                <a:sym typeface="Nunito Semi-Bold"/>
              </a:rPr>
              <a:t>Built on the four Shapley axioms, in line with trustworthy-AI expectations.</a:t>
            </a:r>
          </a:p>
        </p:txBody>
      </p:sp>
      <p:sp>
        <p:nvSpPr>
          <p:cNvPr id="34" name="Rounded Rectangle 33"/>
          <p:cNvSpPr/>
          <p:nvPr/>
        </p:nvSpPr>
        <p:spPr>
          <a:xfrm>
            <a:off x="1028700" y="6472682"/>
            <a:ext cx="16230600" cy="1600200"/>
          </a:xfrm>
          <a:prstGeom prst="roundRect">
            <a:avLst>
              <a:gd name="adj" fmla="val 12571"/>
            </a:avLst>
          </a:prstGeom>
          <a:solidFill>
            <a:srgbClr val="F6ECDF"/>
          </a:solidFill>
          <a:ln w="25400">
            <a:solidFill>
              <a:srgbClr val="DF8330"/>
            </a:solidFill>
          </a:ln>
        </p:spPr>
        <p:txBody>
          <a:bodyPr anchor="ctr" rtlCol="false" lIns="0" tIns="0" rIns="0" bIns="0" wrap="square"/>
          <a:lstStyle/>
          <a:p>
            <a:endParaRPr lang="en-US" sz="1800"/>
          </a:p>
        </p:txBody>
      </p:sp>
      <p:sp>
        <p:nvSpPr>
          <p:cNvPr id="35" name="Rounded Rectangle 34"/>
          <p:cNvSpPr/>
          <p:nvPr/>
        </p:nvSpPr>
        <p:spPr>
          <a:xfrm>
            <a:off x="1348740" y="6280658"/>
            <a:ext cx="3471275"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TAKEAWAY  ·  CONTRIBUTION III</a:t>
            </a:r>
          </a:p>
        </p:txBody>
      </p:sp>
      <p:sp>
        <p:nvSpPr>
          <p:cNvPr id="36" name="TextBox 35"/>
          <p:cNvSpPr txBox="1"/>
          <p:nvPr/>
        </p:nvSpPr>
        <p:spPr>
          <a:xfrm>
            <a:off x="1394460" y="6747002"/>
            <a:ext cx="15499080" cy="1188720"/>
          </a:xfrm>
          <a:prstGeom prst="rect">
            <a:avLst/>
          </a:prstGeom>
          <a:noFill/>
        </p:spPr>
        <p:txBody>
          <a:bodyPr anchor="ctr" rtlCol="false" lIns="0" tIns="0" rIns="0" bIns="0" wrap="square"/>
          <a:lstStyle/>
          <a:p>
            <a:pPr algn="l">
              <a:lnSpc>
                <a:spcPts val="3220"/>
              </a:lnSpc>
              <a:spcBef>
                <a:spcPts val="0"/>
              </a:spcBef>
              <a:buNone/>
            </a:pPr>
            <a:r>
              <a:rPr lang="en-US" sz="2300" b="true">
                <a:solidFill>
                  <a:srgbClr val="111111"/>
                </a:solidFill>
                <a:latin typeface="Nunito Semi-Bold"/>
                <a:ea typeface="Nunito Semi-Bold"/>
                <a:cs typeface="Nunito Semi-Bold"/>
                <a:sym typeface="Nunito Semi-Bold"/>
              </a:rPr>
              <a:t>Attribution becomes a </a:t>
            </a:r>
            <a:r>
              <a:rPr lang="en-US" sz="2300" b="true">
                <a:solidFill>
                  <a:srgbClr val="111111"/>
                </a:solidFill>
                <a:latin typeface="Nunito Bold"/>
                <a:ea typeface="Nunito Bold"/>
                <a:cs typeface="Nunito Bold"/>
                <a:sym typeface="Nunito Bold"/>
              </a:rPr>
              <a:t>first-class part of the learning objective</a:t>
            </a:r>
            <a:r>
              <a:rPr lang="en-US" sz="2300" b="true">
                <a:solidFill>
                  <a:srgbClr val="111111"/>
                </a:solidFill>
                <a:latin typeface="Nunito Semi-Bold"/>
                <a:ea typeface="Nunito Semi-Bold"/>
                <a:cs typeface="Nunito Semi-Bold"/>
                <a:sym typeface="Nunito Semi-Bold"/>
              </a:rPr>
              <a:t>: the explanation is a direct read-out of what the model optimises, so it is </a:t>
            </a:r>
            <a:r>
              <a:rPr lang="en-US" sz="2300" b="true">
                <a:solidFill>
                  <a:srgbClr val="111111"/>
                </a:solidFill>
                <a:latin typeface="Nunito Bold"/>
                <a:ea typeface="Nunito Bold"/>
                <a:cs typeface="Nunito Bold"/>
                <a:sym typeface="Nunito Bold"/>
              </a:rPr>
              <a:t>faithful by design</a:t>
            </a:r>
            <a:r>
              <a:rPr lang="en-US" sz="2300" b="true">
                <a:solidFill>
                  <a:srgbClr val="111111"/>
                </a:solidFill>
                <a:latin typeface="Nunito Semi-Bold"/>
                <a:ea typeface="Nunito Semi-Bold"/>
                <a:cs typeface="Nunito Semi-Bold"/>
                <a:sym typeface="Nunito Semi-Bold"/>
              </a:rPr>
              <a:t>, not an outside approximation.</a:t>
            </a:r>
          </a:p>
        </p:txBody>
      </p:sp>
      <p:sp>
        <p:nvSpPr>
          <p:cNvPr id="37" name="Rounded Rectangle 36"/>
          <p:cNvSpPr/>
          <p:nvPr/>
        </p:nvSpPr>
        <p:spPr>
          <a:xfrm>
            <a:off x="1028700" y="8392922"/>
            <a:ext cx="16230600" cy="961390"/>
          </a:xfrm>
          <a:prstGeom prst="roundRect">
            <a:avLst>
              <a:gd name="adj" fmla="val 23778"/>
            </a:avLst>
          </a:prstGeom>
          <a:solidFill>
            <a:srgbClr val="124944"/>
          </a:solidFill>
          <a:ln>
            <a:noFill/>
          </a:ln>
        </p:spPr>
        <p:txBody>
          <a:bodyPr anchor="ctr" rtlCol="false" lIns="457200" tIns="45720" rIns="457200" bIns="45720" wrap="square"/>
          <a:lstStyle/>
          <a:p>
            <a:pPr algn="ctr">
              <a:lnSpc>
                <a:spcPts val="2500"/>
              </a:lnSpc>
              <a:spcBef>
                <a:spcPts val="0"/>
              </a:spcBef>
              <a:buNone/>
            </a:pPr>
            <a:r>
              <a:rPr lang="en-US" sz="2000" b="true">
                <a:solidFill>
                  <a:srgbClr val="FFFFFF"/>
                </a:solidFill>
                <a:latin typeface="Nunito Semi-Bold"/>
                <a:ea typeface="Nunito Semi-Bold"/>
                <a:cs typeface="Nunito Semi-Bold"/>
                <a:sym typeface="Nunito Semi-Bold"/>
              </a:rPr>
              <a:t>From </a:t>
            </a:r>
            <a:r>
              <a:rPr lang="en-US" sz="2000" b="true">
                <a:solidFill>
                  <a:srgbClr val="FFFFFF"/>
                </a:solidFill>
                <a:latin typeface="Nunito Bold"/>
                <a:ea typeface="Nunito Bold"/>
                <a:cs typeface="Nunito Bold"/>
                <a:sym typeface="Nunito Bold"/>
              </a:rPr>
              <a:t>post-hoc description</a:t>
            </a:r>
            <a:r>
              <a:rPr lang="en-US" sz="2000" b="true">
                <a:solidFill>
                  <a:srgbClr val="FFFFFF"/>
                </a:solidFill>
                <a:latin typeface="Nunito Semi-Bold"/>
                <a:ea typeface="Nunito Semi-Bold"/>
                <a:cs typeface="Nunito Semi-Bold"/>
                <a:sym typeface="Nunito Semi-Bold"/>
              </a:rPr>
              <a:t> (C1, C2) to </a:t>
            </a:r>
            <a:r>
              <a:rPr lang="en-US" sz="2000" b="true">
                <a:solidFill>
                  <a:srgbClr val="FFFFFF"/>
                </a:solidFill>
                <a:latin typeface="Nunito Bold"/>
                <a:ea typeface="Nunito Bold"/>
                <a:cs typeface="Nunito Bold"/>
                <a:sym typeface="Nunito Bold"/>
              </a:rPr>
              <a:t>in-training guidance</a:t>
            </a:r>
            <a:r>
              <a:rPr lang="en-US" sz="2000" b="true">
                <a:solidFill>
                  <a:srgbClr val="FFFFFF"/>
                </a:solidFill>
                <a:latin typeface="Nunito Semi-Bold"/>
                <a:ea typeface="Nunito Semi-Bold"/>
                <a:cs typeface="Nunito Semi-Bold"/>
                <a:sym typeface="Nunito Semi-Bold"/>
              </a:rPr>
              <a:t> (C3): the strongest claim of the thesis.</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68</a:t>
            </a:r>
          </a:p>
        </p:txBody>
      </p:sp>
      <p:sp>
        <p:nvSpPr>
          <p:cNvPr id="7" name="TextBox 6"/>
          <p:cNvSpPr txBox="1"/>
          <p:nvPr/>
        </p:nvSpPr>
        <p:spPr>
          <a:xfrm>
            <a:off x="1028700" y="2331720"/>
            <a:ext cx="14859000" cy="2286000"/>
          </a:xfrm>
          <a:prstGeom prst="rect">
            <a:avLst/>
          </a:prstGeom>
          <a:noFill/>
        </p:spPr>
        <p:txBody>
          <a:bodyPr anchor="t" rtlCol="false" lIns="0" tIns="0" rIns="0" bIns="0" wrap="square"/>
          <a:lstStyle/>
          <a:p>
            <a:pPr algn="l">
              <a:lnSpc>
                <a:spcPts val="15300"/>
              </a:lnSpc>
              <a:spcBef>
                <a:spcPts val="0"/>
              </a:spcBef>
              <a:buNone/>
            </a:pPr>
            <a:r>
              <a:rPr lang="en-US" sz="15000" b="true" spc="-870">
                <a:solidFill>
                  <a:srgbClr val="111111"/>
                </a:solidFill>
                <a:latin typeface="Roca Two Bold"/>
                <a:ea typeface="Roca Two Bold"/>
                <a:cs typeface="Roca Two Bold"/>
                <a:sym typeface="Roca Two Bold"/>
              </a:rPr>
              <a:t>Conclusion</a:t>
            </a:r>
          </a:p>
        </p:txBody>
      </p:sp>
      <p:sp>
        <p:nvSpPr>
          <p:cNvPr id="8" name="Oval 7"/>
          <p:cNvSpPr/>
          <p:nvPr/>
        </p:nvSpPr>
        <p:spPr>
          <a:xfrm>
            <a:off x="10873987" y="2918460"/>
            <a:ext cx="1005840" cy="1005840"/>
          </a:xfrm>
          <a:prstGeom prst="ellipse">
            <a:avLst/>
          </a:prstGeom>
          <a:solidFill>
            <a:srgbClr val="ECC665"/>
          </a:solidFill>
          <a:ln>
            <a:noFill/>
          </a:ln>
        </p:spPr>
        <p:txBody>
          <a:bodyPr anchor="ctr" rtlCol="false" lIns="0" tIns="0" rIns="0" bIns="0" wrap="square"/>
          <a:lstStyle/>
          <a:p>
            <a:endParaRPr lang="en-US" sz="1800"/>
          </a:p>
        </p:txBody>
      </p:sp>
      <p:sp>
        <p:nvSpPr>
          <p:cNvPr id="9" name="TextBox 8"/>
          <p:cNvSpPr txBox="1"/>
          <p:nvPr/>
        </p:nvSpPr>
        <p:spPr>
          <a:xfrm>
            <a:off x="10873987" y="2918460"/>
            <a:ext cx="1005840" cy="1005840"/>
          </a:xfrm>
          <a:prstGeom prst="rect">
            <a:avLst/>
          </a:prstGeom>
          <a:noFill/>
        </p:spPr>
        <p:txBody>
          <a:bodyPr anchor="ctr" rtlCol="false" lIns="0" tIns="0" rIns="0" bIns="0" wrap="square"/>
          <a:lstStyle/>
          <a:p>
            <a:pPr algn="ctr">
              <a:lnSpc>
                <a:spcPts val="3400"/>
              </a:lnSpc>
              <a:spcBef>
                <a:spcPts val="0"/>
              </a:spcBef>
              <a:buNone/>
            </a:pPr>
            <a:r>
              <a:rPr lang="en-US" sz="3000" b="true">
                <a:solidFill>
                  <a:srgbClr val="111111"/>
                </a:solidFill>
                <a:latin typeface="Nunito Ultra-Bold"/>
                <a:ea typeface="Nunito Ultra-Bold"/>
                <a:cs typeface="Nunito Ultra-Bold"/>
                <a:sym typeface="Nunito Ultra-Bold"/>
              </a:rPr>
              <a:t>07</a:t>
            </a:r>
          </a:p>
        </p:txBody>
      </p:sp>
      <p:sp>
        <p:nvSpPr>
          <p:cNvPr id="10" name="TextBox 9"/>
          <p:cNvSpPr txBox="1"/>
          <p:nvPr/>
        </p:nvSpPr>
        <p:spPr>
          <a:xfrm>
            <a:off x="1028700" y="4465320"/>
            <a:ext cx="16230600" cy="640080"/>
          </a:xfrm>
          <a:prstGeom prst="rect">
            <a:avLst/>
          </a:prstGeom>
          <a:noFill/>
        </p:spPr>
        <p:txBody>
          <a:bodyPr anchor="t" rtlCol="false" lIns="0" tIns="0" rIns="0" bIns="0" wrap="square"/>
          <a:lstStyle/>
          <a:p>
            <a:pPr algn="l">
              <a:lnSpc>
                <a:spcPts val="3800"/>
              </a:lnSpc>
              <a:spcBef>
                <a:spcPts val="0"/>
              </a:spcBef>
              <a:buNone/>
            </a:pPr>
            <a:r>
              <a:rPr lang="en-US" sz="3000" b="true" spc="-150">
                <a:solidFill>
                  <a:srgbClr val="124944"/>
                </a:solidFill>
                <a:latin typeface="Nunito Bold"/>
                <a:ea typeface="Nunito Bold"/>
                <a:cs typeface="Nunito Bold"/>
                <a:sym typeface="Nunito Bold"/>
              </a:rPr>
              <a:t>Synthesis, publications, limitations and perspectives</a:t>
            </a:r>
          </a:p>
        </p:txBody>
      </p:sp>
      <p:sp>
        <p:nvSpPr>
          <p:cNvPr id="11" name="Rectangle 10"/>
          <p:cNvSpPr/>
          <p:nvPr/>
        </p:nvSpPr>
        <p:spPr>
          <a:xfrm>
            <a:off x="0" y="5440680"/>
            <a:ext cx="18288000" cy="4846320"/>
          </a:xfrm>
          <a:prstGeom prst="rect">
            <a:avLst/>
          </a:prstGeom>
          <a:solidFill>
            <a:srgbClr val="124944"/>
          </a:solidFill>
          <a:ln>
            <a:noFill/>
          </a:ln>
        </p:spPr>
        <p:txBody>
          <a:bodyPr anchor="ctr" rtlCol="false" lIns="0" tIns="0" rIns="0" bIns="0" wrap="square"/>
          <a:lstStyle/>
          <a:p>
            <a:endParaRPr lang="en-US" sz="1800"/>
          </a:p>
        </p:txBody>
      </p:sp>
      <p:sp>
        <p:nvSpPr>
          <p:cNvPr id="12" name="TextBox 11"/>
          <p:cNvSpPr txBox="1"/>
          <p:nvPr/>
        </p:nvSpPr>
        <p:spPr>
          <a:xfrm>
            <a:off x="102870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Synthesis</a:t>
            </a:r>
          </a:p>
        </p:txBody>
      </p:sp>
      <p:cxnSp>
        <p:nvCxnSpPr>
          <p:cNvPr id="13" name="Connector 12"/>
          <p:cNvCxnSpPr/>
          <p:nvPr/>
        </p:nvCxnSpPr>
        <p:spPr>
          <a:xfrm>
            <a:off x="1028700" y="6464808"/>
            <a:ext cx="640080" cy="0"/>
          </a:xfrm>
          <a:prstGeom prst="line">
            <a:avLst/>
          </a:prstGeom>
          <a:ln w="31750">
            <a:solidFill>
              <a:srgbClr val="ECC665"/>
            </a:solidFill>
          </a:ln>
        </p:spPr>
      </p:cxnSp>
      <p:sp>
        <p:nvSpPr>
          <p:cNvPr id="14" name="TextBox 13"/>
          <p:cNvSpPr txBox="1"/>
          <p:nvPr/>
        </p:nvSpPr>
        <p:spPr>
          <a:xfrm>
            <a:off x="102870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Three contributions, one cooperative-game thread: faithful explanation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consistency across levels </a:t>
            </a:r>
            <a:r>
              <a:rPr lang="en-US" sz="2100" b="true">
                <a:solidFill>
                  <a:srgbClr val="FFFFFF"/>
                </a:solidFill>
                <a:latin typeface="Calibri"/>
                <a:ea typeface="Calibri"/>
                <a:cs typeface="Calibri"/>
                <a:sym typeface="Calibri"/>
              </a:rPr>
              <a:t>→ </a:t>
            </a:r>
            <a:r>
              <a:rPr lang="en-US" sz="2100" b="true">
                <a:solidFill>
                  <a:srgbClr val="FFFFFF"/>
                </a:solidFill>
                <a:latin typeface="Nunito Semi-Bold"/>
                <a:ea typeface="Nunito Semi-Bold"/>
                <a:cs typeface="Nunito Semi-Bold"/>
                <a:sym typeface="Nunito Semi-Bold"/>
              </a:rPr>
              <a:t>in-training attribution.</a:t>
            </a:r>
          </a:p>
        </p:txBody>
      </p:sp>
      <p:sp>
        <p:nvSpPr>
          <p:cNvPr id="15" name="TextBox 14"/>
          <p:cNvSpPr txBox="1"/>
          <p:nvPr/>
        </p:nvSpPr>
        <p:spPr>
          <a:xfrm>
            <a:off x="657606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Limitations</a:t>
            </a:r>
          </a:p>
        </p:txBody>
      </p:sp>
      <p:cxnSp>
        <p:nvCxnSpPr>
          <p:cNvPr id="16" name="Connector 15"/>
          <p:cNvCxnSpPr/>
          <p:nvPr/>
        </p:nvCxnSpPr>
        <p:spPr>
          <a:xfrm>
            <a:off x="6576060" y="6464808"/>
            <a:ext cx="640080" cy="0"/>
          </a:xfrm>
          <a:prstGeom prst="line">
            <a:avLst/>
          </a:prstGeom>
          <a:ln w="31750">
            <a:solidFill>
              <a:srgbClr val="ECC665"/>
            </a:solidFill>
          </a:ln>
        </p:spPr>
      </p:cxnSp>
      <p:sp>
        <p:nvSpPr>
          <p:cNvPr id="17" name="TextBox 16"/>
          <p:cNvSpPr txBox="1"/>
          <p:nvPr/>
        </p:nvSpPr>
        <p:spPr>
          <a:xfrm>
            <a:off x="657606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Approximation everywhere; surrogate fidelity; tabular and offline settings; no user study of actionability yet.</a:t>
            </a:r>
          </a:p>
        </p:txBody>
      </p:sp>
      <p:sp>
        <p:nvSpPr>
          <p:cNvPr id="18" name="TextBox 17"/>
          <p:cNvSpPr txBox="1"/>
          <p:nvPr/>
        </p:nvSpPr>
        <p:spPr>
          <a:xfrm>
            <a:off x="12123420" y="5943600"/>
            <a:ext cx="5135880" cy="457200"/>
          </a:xfrm>
          <a:prstGeom prst="rect">
            <a:avLst/>
          </a:prstGeom>
          <a:noFill/>
        </p:spPr>
        <p:txBody>
          <a:bodyPr anchor="t" rtlCol="false" lIns="0" tIns="0" rIns="0" bIns="0" wrap="square"/>
          <a:lstStyle/>
          <a:p>
            <a:pPr algn="l">
              <a:lnSpc>
                <a:spcPts val="2800"/>
              </a:lnSpc>
              <a:spcBef>
                <a:spcPts val="0"/>
              </a:spcBef>
              <a:buNone/>
            </a:pPr>
            <a:r>
              <a:rPr lang="en-US" sz="2300" b="true">
                <a:solidFill>
                  <a:srgbClr val="ECC665"/>
                </a:solidFill>
                <a:latin typeface="Nunito Ultra-Bold"/>
                <a:ea typeface="Nunito Ultra-Bold"/>
                <a:cs typeface="Nunito Ultra-Bold"/>
                <a:sym typeface="Nunito Ultra-Bold"/>
              </a:rPr>
              <a:t>Perspectives</a:t>
            </a:r>
          </a:p>
        </p:txBody>
      </p:sp>
      <p:cxnSp>
        <p:nvCxnSpPr>
          <p:cNvPr id="19" name="Connector 18"/>
          <p:cNvCxnSpPr/>
          <p:nvPr/>
        </p:nvCxnSpPr>
        <p:spPr>
          <a:xfrm>
            <a:off x="12123420" y="6464808"/>
            <a:ext cx="640080" cy="0"/>
          </a:xfrm>
          <a:prstGeom prst="line">
            <a:avLst/>
          </a:prstGeom>
          <a:ln w="31750">
            <a:solidFill>
              <a:srgbClr val="ECC665"/>
            </a:solidFill>
          </a:ln>
        </p:spPr>
      </p:cxnSp>
      <p:sp>
        <p:nvSpPr>
          <p:cNvPr id="20" name="TextBox 19"/>
          <p:cNvSpPr txBox="1"/>
          <p:nvPr/>
        </p:nvSpPr>
        <p:spPr>
          <a:xfrm>
            <a:off x="12123420" y="6675120"/>
            <a:ext cx="5135880" cy="3108960"/>
          </a:xfrm>
          <a:prstGeom prst="rect">
            <a:avLst/>
          </a:prstGeom>
          <a:noFill/>
        </p:spPr>
        <p:txBody>
          <a:bodyPr anchor="t" rtlCol="false" lIns="0" tIns="0" rIns="0" bIns="0" wrap="square"/>
          <a:lstStyle/>
          <a:p>
            <a:pPr algn="l">
              <a:lnSpc>
                <a:spcPts val="2940"/>
              </a:lnSpc>
              <a:spcBef>
                <a:spcPts val="0"/>
              </a:spcBef>
              <a:buNone/>
            </a:pPr>
            <a:r>
              <a:rPr lang="en-US" sz="2100" b="true">
                <a:solidFill>
                  <a:srgbClr val="FFFFFF"/>
                </a:solidFill>
                <a:latin typeface="Nunito Semi-Bold"/>
                <a:ea typeface="Nunito Semi-Bold"/>
                <a:cs typeface="Nunito Semi-Bold"/>
                <a:sym typeface="Nunito Semi-Bold"/>
              </a:rPr>
              <a:t>Scalable attribution, online / streaming recommendation, user-centred and trustworthy-AI evaluation.</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[1] Louhichi, M., Nesmaoui, R., Mbarek, M. &amp; Lazaar, M. Shapley Values for Explaining the Black Box Nature of Machine Learning Model Clustering. Procedia Computer Science 220, 806–811 (2023).   [2] Louhichi, M., Nesmaoui, R. &amp; Lazaar, M. Game Theory Meets Explainable AI: An Enhanced Approach to Understanding Black Box Models Through Shapley Values. IJACSA 16(7), 716–725 (2025).   [3] Louhichi, M., Nesmaoui, R. &amp; Lazaar, M. DyHuCoG: A Dynamic Hypergraph Cooperative Game for Preference-aware Recommendation. IJIES 19(2), 887–902 (2026).</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69</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CONCLUSION &amp; PERSPECTIVES</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Synthesis of the Three Contributions</a:t>
            </a:r>
          </a:p>
        </p:txBody>
      </p:sp>
      <p:pic>
        <p:nvPicPr>
          <p:cNvPr id="23" name="Picture 22" descr="image.png"/>
          <p:cNvPicPr>
            <a:picLocks noChangeAspect="1"/>
          </p:cNvPicPr>
          <p:nvPr/>
        </p:nvPicPr>
        <p:blipFill>
          <a:blip r:embed="rId3"/>
          <a:stretch>
            <a:fillRect/>
          </a:stretch>
        </p:blipFill>
        <p:spPr>
          <a:xfrm>
            <a:off x="10723663" y="1673352"/>
            <a:ext cx="457200" cy="415247"/>
          </a:xfrm>
          <a:prstGeom prst="rect">
            <a:avLst/>
          </a:prstGeom>
        </p:spPr>
      </p:pic>
      <p:sp>
        <p:nvSpPr>
          <p:cNvPr id="24" name="Rounded Rectangle 23"/>
          <p:cNvSpPr/>
          <p:nvPr/>
        </p:nvSpPr>
        <p:spPr>
          <a:xfrm>
            <a:off x="1028700" y="2559050"/>
            <a:ext cx="1604433"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Synthesis</a:t>
            </a:r>
          </a:p>
        </p:txBody>
      </p:sp>
      <p:sp>
        <p:nvSpPr>
          <p:cNvPr id="25" name="Rounded Rectangle 24"/>
          <p:cNvSpPr/>
          <p:nvPr/>
        </p:nvSpPr>
        <p:spPr>
          <a:xfrm>
            <a:off x="2761149" y="2559050"/>
            <a:ext cx="189357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Publications</a:t>
            </a:r>
          </a:p>
        </p:txBody>
      </p:sp>
      <p:sp>
        <p:nvSpPr>
          <p:cNvPr id="26" name="Rounded Rectangle 25"/>
          <p:cNvSpPr/>
          <p:nvPr/>
        </p:nvSpPr>
        <p:spPr>
          <a:xfrm>
            <a:off x="4782741" y="2559050"/>
            <a:ext cx="176548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Limitations</a:t>
            </a:r>
          </a:p>
        </p:txBody>
      </p:sp>
      <p:sp>
        <p:nvSpPr>
          <p:cNvPr id="27" name="Rounded Rectangle 26"/>
          <p:cNvSpPr/>
          <p:nvPr/>
        </p:nvSpPr>
        <p:spPr>
          <a:xfrm>
            <a:off x="6676243" y="2559050"/>
            <a:ext cx="1934074"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Perspectives</a:t>
            </a:r>
          </a:p>
        </p:txBody>
      </p:sp>
      <p:sp>
        <p:nvSpPr>
          <p:cNvPr id="28" name="Rounded Rectangle 27"/>
          <p:cNvSpPr/>
          <p:nvPr/>
        </p:nvSpPr>
        <p:spPr>
          <a:xfrm>
            <a:off x="8738333" y="2559050"/>
            <a:ext cx="175300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Conclusion</a:t>
            </a:r>
          </a:p>
        </p:txBody>
      </p:sp>
      <p:graphicFrame>
        <p:nvGraphicFramePr>
          <p:cNvPr id="29" name="Table 28"/>
          <p:cNvGraphicFramePr>
            <a:graphicFrameLocks noGrp="1"/>
          </p:cNvGraphicFramePr>
          <p:nvPr/>
        </p:nvGraphicFramePr>
        <p:xfrm>
          <a:off x="1028700" y="3363722"/>
          <a:ext cx="16230598" cy="2584704"/>
        </p:xfrm>
        <a:graphic>
          <a:graphicData uri="http://schemas.openxmlformats.org/drawingml/2006/table">
            <a:tbl>
              <a:tblPr firstRow="0" bandRow="0" firstCol="0" lastRow="0" lastCol="0" bandCol="0">
                <a:tableStyleId>{2D5ABB26-0587-4C30-8999-92F81FD0307C}</a:tableStyleId>
              </a:tblPr>
              <a:tblGrid>
                <a:gridCol w="1159328"/>
                <a:gridCol w="4379685"/>
                <a:gridCol w="4637314"/>
                <a:gridCol w="6054271"/>
              </a:tblGrid>
              <a:tr h="566928">
                <a:tc>
                  <a:txBody>
                    <a:bodyPr anchor="ctr" rtlCol="false" lIns="0" tIns="0" rIns="0" bIns="0" wrap="square"/>
                    <a:lstStyle/>
                    <a:p>
                      <a:pPr algn="ctr">
                        <a:lnSpc>
                          <a:spcPts val="2080"/>
                        </a:lnSpc>
                        <a:spcBef>
                          <a:spcPts val="0"/>
                        </a:spcBef>
                        <a:buNone/>
                      </a:pPr>
                      <a:endParaRPr lang="en-US" sz="2200"/>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Main idea</a:t>
                      </a:r>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Achievement</a:t>
                      </a:r>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Key finding</a:t>
                      </a:r>
                    </a:p>
                  </a:txBody>
                  <a:tcPr marL="73152" marR="73152"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566928">
                <a:tc>
                  <a:txBody>
                    <a:bodyPr anchor="ctr" rtlCol="false" lIns="0" tIns="0" rIns="0" bIns="0" wrap="square"/>
                    <a:lstStyle/>
                    <a:p>
                      <a:pPr algn="ctr">
                        <a:lnSpc>
                          <a:spcPts val="2600"/>
                        </a:lnSpc>
                        <a:spcBef>
                          <a:spcPts val="0"/>
                        </a:spcBef>
                        <a:buNone/>
                      </a:pPr>
                      <a:r>
                        <a:rPr lang="en-US" sz="2200" b="true" spc="-110">
                          <a:solidFill>
                            <a:srgbClr val="FFFFFF"/>
                          </a:solidFill>
                          <a:latin typeface="Roca Two Bold"/>
                          <a:ea typeface="Roca Two Bold"/>
                          <a:cs typeface="Roca Two Bold"/>
                          <a:sym typeface="Roca Two Bold"/>
                        </a:rPr>
                        <a:t>C1</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124944"/>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Explain black-box clustering via Shapley</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PCA–K-Means–LightGBM–TreeSHAP pipeline</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Faithful, chemistry-consistent cluster attribution (wine)</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725424">
                <a:tc>
                  <a:txBody>
                    <a:bodyPr anchor="ctr" rtlCol="false" lIns="0" tIns="0" rIns="0" bIns="0" wrap="square"/>
                    <a:lstStyle/>
                    <a:p>
                      <a:pPr algn="ctr">
                        <a:lnSpc>
                          <a:spcPts val="2600"/>
                        </a:lnSpc>
                        <a:spcBef>
                          <a:spcPts val="0"/>
                        </a:spcBef>
                        <a:buNone/>
                      </a:pPr>
                      <a:r>
                        <a:rPr lang="en-US" sz="2200" b="true" spc="-110">
                          <a:solidFill>
                            <a:srgbClr val="FFFFFF"/>
                          </a:solidFill>
                          <a:latin typeface="Roca Two Bold"/>
                          <a:ea typeface="Roca Two Bold"/>
                          <a:cs typeface="Roca Two Bold"/>
                          <a:sym typeface="Roca Two Bold"/>
                        </a:rPr>
                        <a:t>C2</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1E5F58"/>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Multi-level, large-scale clustering XAI</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Cross-level SHAP aggregation + Proposition 6.1</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Consistent across levels; explains the differences between them</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725424">
                <a:tc>
                  <a:txBody>
                    <a:bodyPr anchor="ctr" rtlCol="false" lIns="0" tIns="0" rIns="0" bIns="0" wrap="square"/>
                    <a:lstStyle/>
                    <a:p>
                      <a:pPr algn="ctr">
                        <a:lnSpc>
                          <a:spcPts val="2600"/>
                        </a:lnSpc>
                        <a:spcBef>
                          <a:spcPts val="0"/>
                        </a:spcBef>
                        <a:buNone/>
                      </a:pPr>
                      <a:r>
                        <a:rPr lang="en-US" sz="2200" b="true" spc="-110">
                          <a:solidFill>
                            <a:srgbClr val="FFFFFF"/>
                          </a:solidFill>
                          <a:latin typeface="Roca Two Bold"/>
                          <a:ea typeface="Roca Two Bold"/>
                          <a:cs typeface="Roca Two Bold"/>
                          <a:sym typeface="Roca Two Bold"/>
                        </a:rPr>
                        <a:t>C3</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F8330"/>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DyHuCoG hypergraph cooperative game</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Preference-aware Shapley as an in-training signal</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2080"/>
                        </a:lnSpc>
                        <a:spcBef>
                          <a:spcPts val="0"/>
                        </a:spcBef>
                        <a:buNone/>
                      </a:pPr>
                      <a:r>
                        <a:rPr lang="en-US" sz="1600" b="true">
                          <a:solidFill>
                            <a:srgbClr val="111111"/>
                          </a:solidFill>
                          <a:latin typeface="Nunito Semi-Bold"/>
                          <a:ea typeface="Nunito Semi-Bold"/>
                          <a:cs typeface="Nunito Semi-Bold"/>
                          <a:sym typeface="Nunito Semi-Bold"/>
                        </a:rPr>
                        <a:t>Accuracy + coverage + diversity improve together</a:t>
                      </a:r>
                    </a:p>
                  </a:txBody>
                  <a:tcPr marL="73152" marR="73152"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30" name="Rounded Rectangle 29"/>
          <p:cNvSpPr/>
          <p:nvPr/>
        </p:nvSpPr>
        <p:spPr>
          <a:xfrm>
            <a:off x="1028700" y="6314186"/>
            <a:ext cx="4023360" cy="822960"/>
          </a:xfrm>
          <a:prstGeom prst="roundRect">
            <a:avLst>
              <a:gd name="adj" fmla="val 27777"/>
            </a:avLst>
          </a:prstGeom>
          <a:solidFill>
            <a:srgbClr val="124944"/>
          </a:solidFill>
          <a:ln>
            <a:noFill/>
          </a:ln>
        </p:spPr>
        <p:txBody>
          <a:bodyPr anchor="ctr" rtlCol="false" lIns="91440" tIns="45720" rIns="91440" bIns="45720" wrap="square"/>
          <a:lstStyle/>
          <a:p>
            <a:pPr algn="ctr">
              <a:lnSpc>
                <a:spcPts val="2415"/>
              </a:lnSpc>
              <a:spcBef>
                <a:spcPts val="0"/>
              </a:spcBef>
              <a:buNone/>
            </a:pPr>
            <a:r>
              <a:rPr lang="en-US" sz="2100" b="true">
                <a:solidFill>
                  <a:srgbClr val="FFFFFF"/>
                </a:solidFill>
                <a:latin typeface="Nunito Bold"/>
                <a:ea typeface="Nunito Bold"/>
                <a:cs typeface="Nunito Bold"/>
                <a:sym typeface="Nunito Bold"/>
              </a:rPr>
              <a:t>Explain</a:t>
            </a:r>
          </a:p>
          <a:p>
            <a:pPr algn="ctr">
              <a:lnSpc>
                <a:spcPts val="1560"/>
              </a:lnSpc>
              <a:spcBef>
                <a:spcPts val="300"/>
              </a:spcBef>
              <a:buNone/>
            </a:pPr>
            <a:r>
              <a:rPr lang="en-US" sz="1300" b="true">
                <a:solidFill>
                  <a:srgbClr val="FFFFFF"/>
                </a:solidFill>
                <a:latin typeface="Nunito Semi-Bold"/>
                <a:ea typeface="Nunito Semi-Bold"/>
                <a:cs typeface="Nunito Semi-Bold"/>
                <a:sym typeface="Nunito Semi-Bold"/>
              </a:rPr>
              <a:t>post-hoc, single level</a:t>
            </a:r>
          </a:p>
        </p:txBody>
      </p:sp>
      <p:cxnSp>
        <p:nvCxnSpPr>
          <p:cNvPr id="31" name="Connector 30"/>
          <p:cNvCxnSpPr/>
          <p:nvPr/>
        </p:nvCxnSpPr>
        <p:spPr>
          <a:xfrm>
            <a:off x="5143500" y="6725666"/>
            <a:ext cx="1897380" cy="0"/>
          </a:xfrm>
          <a:prstGeom prst="line">
            <a:avLst/>
          </a:prstGeom>
          <a:ln w="38100">
            <a:solidFill>
              <a:srgbClr val="124944"/>
            </a:solidFill>
            <a:tailEnd type="triangle" w="med" len="med"/>
          </a:ln>
        </p:spPr>
      </p:cxnSp>
      <p:sp>
        <p:nvSpPr>
          <p:cNvPr id="32" name="Rounded Rectangle 31"/>
          <p:cNvSpPr/>
          <p:nvPr/>
        </p:nvSpPr>
        <p:spPr>
          <a:xfrm>
            <a:off x="7132320" y="6314186"/>
            <a:ext cx="4023360" cy="822960"/>
          </a:xfrm>
          <a:prstGeom prst="roundRect">
            <a:avLst>
              <a:gd name="adj" fmla="val 27777"/>
            </a:avLst>
          </a:prstGeom>
          <a:solidFill>
            <a:srgbClr val="1E5F58"/>
          </a:solidFill>
          <a:ln>
            <a:noFill/>
          </a:ln>
        </p:spPr>
        <p:txBody>
          <a:bodyPr anchor="ctr" rtlCol="false" lIns="91440" tIns="45720" rIns="91440" bIns="45720" wrap="square"/>
          <a:lstStyle/>
          <a:p>
            <a:pPr algn="ctr">
              <a:lnSpc>
                <a:spcPts val="2415"/>
              </a:lnSpc>
              <a:spcBef>
                <a:spcPts val="0"/>
              </a:spcBef>
              <a:buNone/>
            </a:pPr>
            <a:r>
              <a:rPr lang="en-US" sz="2100" b="true">
                <a:solidFill>
                  <a:srgbClr val="FFFFFF"/>
                </a:solidFill>
                <a:latin typeface="Nunito Bold"/>
                <a:ea typeface="Nunito Bold"/>
                <a:cs typeface="Nunito Bold"/>
                <a:sym typeface="Nunito Bold"/>
              </a:rPr>
              <a:t>Scale</a:t>
            </a:r>
          </a:p>
          <a:p>
            <a:pPr algn="ctr">
              <a:lnSpc>
                <a:spcPts val="1560"/>
              </a:lnSpc>
              <a:spcBef>
                <a:spcPts val="300"/>
              </a:spcBef>
              <a:buNone/>
            </a:pPr>
            <a:r>
              <a:rPr lang="en-US" sz="1300" b="true">
                <a:solidFill>
                  <a:srgbClr val="FFFFFF"/>
                </a:solidFill>
                <a:latin typeface="Nunito Semi-Bold"/>
                <a:ea typeface="Nunito Semi-Bold"/>
                <a:cs typeface="Nunito Semi-Bold"/>
                <a:sym typeface="Nunito Semi-Bold"/>
              </a:rPr>
              <a:t>post-hoc, hierarchical</a:t>
            </a:r>
          </a:p>
        </p:txBody>
      </p:sp>
      <p:cxnSp>
        <p:nvCxnSpPr>
          <p:cNvPr id="33" name="Connector 32"/>
          <p:cNvCxnSpPr/>
          <p:nvPr/>
        </p:nvCxnSpPr>
        <p:spPr>
          <a:xfrm>
            <a:off x="11247120" y="6725666"/>
            <a:ext cx="1897380" cy="0"/>
          </a:xfrm>
          <a:prstGeom prst="line">
            <a:avLst/>
          </a:prstGeom>
          <a:ln w="38100">
            <a:solidFill>
              <a:srgbClr val="124944"/>
            </a:solidFill>
            <a:tailEnd type="triangle" w="med" len="med"/>
          </a:ln>
        </p:spPr>
      </p:cxnSp>
      <p:sp>
        <p:nvSpPr>
          <p:cNvPr id="34" name="Rounded Rectangle 33"/>
          <p:cNvSpPr/>
          <p:nvPr/>
        </p:nvSpPr>
        <p:spPr>
          <a:xfrm>
            <a:off x="13235940" y="6314186"/>
            <a:ext cx="4023360" cy="822960"/>
          </a:xfrm>
          <a:prstGeom prst="roundRect">
            <a:avLst>
              <a:gd name="adj" fmla="val 27777"/>
            </a:avLst>
          </a:prstGeom>
          <a:solidFill>
            <a:srgbClr val="DF8330"/>
          </a:solidFill>
          <a:ln>
            <a:noFill/>
          </a:ln>
        </p:spPr>
        <p:txBody>
          <a:bodyPr anchor="ctr" rtlCol="false" lIns="91440" tIns="45720" rIns="91440" bIns="45720" wrap="square"/>
          <a:lstStyle/>
          <a:p>
            <a:pPr algn="ctr">
              <a:lnSpc>
                <a:spcPts val="2415"/>
              </a:lnSpc>
              <a:spcBef>
                <a:spcPts val="0"/>
              </a:spcBef>
              <a:buNone/>
            </a:pPr>
            <a:r>
              <a:rPr lang="en-US" sz="2100" b="true">
                <a:solidFill>
                  <a:srgbClr val="FFFFFF"/>
                </a:solidFill>
                <a:latin typeface="Nunito Bold"/>
                <a:ea typeface="Nunito Bold"/>
                <a:cs typeface="Nunito Bold"/>
                <a:sym typeface="Nunito Bold"/>
              </a:rPr>
              <a:t>Guide</a:t>
            </a:r>
          </a:p>
          <a:p>
            <a:pPr algn="ctr">
              <a:lnSpc>
                <a:spcPts val="1560"/>
              </a:lnSpc>
              <a:spcBef>
                <a:spcPts val="300"/>
              </a:spcBef>
              <a:buNone/>
            </a:pPr>
            <a:r>
              <a:rPr lang="en-US" sz="1300" b="true">
                <a:solidFill>
                  <a:srgbClr val="FFFFFF"/>
                </a:solidFill>
                <a:latin typeface="Nunito Semi-Bold"/>
                <a:ea typeface="Nunito Semi-Bold"/>
                <a:cs typeface="Nunito Semi-Bold"/>
                <a:sym typeface="Nunito Semi-Bold"/>
              </a:rPr>
              <a:t>in-training signal</a:t>
            </a:r>
          </a:p>
        </p:txBody>
      </p:sp>
      <p:sp>
        <p:nvSpPr>
          <p:cNvPr id="35" name="Rounded Rectangle 34"/>
          <p:cNvSpPr/>
          <p:nvPr/>
        </p:nvSpPr>
        <p:spPr>
          <a:xfrm>
            <a:off x="1028700" y="7640066"/>
            <a:ext cx="16230600" cy="1577086"/>
          </a:xfrm>
          <a:prstGeom prst="roundRect">
            <a:avLst>
              <a:gd name="adj" fmla="val 12755"/>
            </a:avLst>
          </a:prstGeom>
          <a:solidFill>
            <a:srgbClr val="F6ECDF"/>
          </a:solidFill>
          <a:ln w="25400">
            <a:solidFill>
              <a:srgbClr val="DF8330"/>
            </a:solidFill>
          </a:ln>
        </p:spPr>
        <p:txBody>
          <a:bodyPr anchor="ctr" rtlCol="false" lIns="0" tIns="0" rIns="0" bIns="0" wrap="square"/>
          <a:lstStyle/>
          <a:p>
            <a:endParaRPr lang="en-US" sz="1800"/>
          </a:p>
        </p:txBody>
      </p:sp>
      <p:sp>
        <p:nvSpPr>
          <p:cNvPr id="36" name="Rounded Rectangle 35"/>
          <p:cNvSpPr/>
          <p:nvPr/>
        </p:nvSpPr>
        <p:spPr>
          <a:xfrm>
            <a:off x="1348740" y="7448042"/>
            <a:ext cx="2510554" cy="384048"/>
          </a:xfrm>
          <a:prstGeom prst="roundRect">
            <a:avLst>
              <a:gd name="adj" fmla="val 50000"/>
            </a:avLst>
          </a:prstGeom>
          <a:solidFill>
            <a:srgbClr val="DF8330"/>
          </a:solidFill>
          <a:ln w="28575">
            <a:solidFill>
              <a:srgbClr val="DF8330"/>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TAKEAWAY  ·  THESIS</a:t>
            </a:r>
          </a:p>
        </p:txBody>
      </p:sp>
      <p:sp>
        <p:nvSpPr>
          <p:cNvPr id="37" name="TextBox 36"/>
          <p:cNvSpPr txBox="1"/>
          <p:nvPr/>
        </p:nvSpPr>
        <p:spPr>
          <a:xfrm>
            <a:off x="1394460" y="7914386"/>
            <a:ext cx="15499080" cy="1165606"/>
          </a:xfrm>
          <a:prstGeom prst="rect">
            <a:avLst/>
          </a:prstGeom>
          <a:noFill/>
        </p:spPr>
        <p:txBody>
          <a:bodyPr anchor="ctr" rtlCol="false" lIns="0" tIns="0" rIns="0" bIns="0" wrap="square"/>
          <a:lstStyle/>
          <a:p>
            <a:pPr algn="l">
              <a:lnSpc>
                <a:spcPts val="2800"/>
              </a:lnSpc>
              <a:spcBef>
                <a:spcPts val="0"/>
              </a:spcBef>
              <a:buNone/>
            </a:pPr>
            <a:r>
              <a:rPr lang="en-US" sz="2000" b="true">
                <a:solidFill>
                  <a:srgbClr val="111111"/>
                </a:solidFill>
                <a:latin typeface="Nunito Semi-Bold"/>
                <a:ea typeface="Nunito Semi-Bold"/>
                <a:cs typeface="Nunito Semi-Bold"/>
                <a:sym typeface="Nunito Semi-Bold"/>
              </a:rPr>
              <a:t>One cooperative-game definition, three value functions: the same Shapley logic </a:t>
            </a:r>
            <a:r>
              <a:rPr lang="en-US" sz="2000" b="true">
                <a:solidFill>
                  <a:srgbClr val="111111"/>
                </a:solidFill>
                <a:latin typeface="Nunito Bold"/>
                <a:ea typeface="Nunito Bold"/>
                <a:cs typeface="Nunito Bold"/>
                <a:sym typeface="Nunito Bold"/>
              </a:rPr>
              <a:t>explains</a:t>
            </a:r>
            <a:r>
              <a:rPr lang="en-US" sz="2000" b="true">
                <a:solidFill>
                  <a:srgbClr val="111111"/>
                </a:solidFill>
                <a:latin typeface="Nunito Semi-Bold"/>
                <a:ea typeface="Nunito Semi-Bold"/>
                <a:cs typeface="Nunito Semi-Bold"/>
                <a:sym typeface="Nunito Semi-Bold"/>
              </a:rPr>
              <a:t> a partition, </a:t>
            </a:r>
            <a:r>
              <a:rPr lang="en-US" sz="2000" b="true">
                <a:solidFill>
                  <a:srgbClr val="111111"/>
                </a:solidFill>
                <a:latin typeface="Nunito Bold"/>
                <a:ea typeface="Nunito Bold"/>
                <a:cs typeface="Nunito Bold"/>
                <a:sym typeface="Nunito Bold"/>
              </a:rPr>
              <a:t>stays consistent</a:t>
            </a:r>
            <a:r>
              <a:rPr lang="en-US" sz="2000" b="true">
                <a:solidFill>
                  <a:srgbClr val="111111"/>
                </a:solidFill>
                <a:latin typeface="Nunito Semi-Bold"/>
                <a:ea typeface="Nunito Semi-Bold"/>
                <a:cs typeface="Nunito Semi-Bold"/>
                <a:sym typeface="Nunito Semi-Bold"/>
              </a:rPr>
              <a:t> across levels, and finally </a:t>
            </a:r>
            <a:r>
              <a:rPr lang="en-US" sz="2000" b="true">
                <a:solidFill>
                  <a:srgbClr val="111111"/>
                </a:solidFill>
                <a:latin typeface="Nunito Bold"/>
                <a:ea typeface="Nunito Bold"/>
                <a:cs typeface="Nunito Bold"/>
                <a:sym typeface="Nunito Bold"/>
              </a:rPr>
              <a:t>guides</a:t>
            </a:r>
            <a:r>
              <a:rPr lang="en-US" sz="2000" b="true">
                <a:solidFill>
                  <a:srgbClr val="111111"/>
                </a:solidFill>
                <a:latin typeface="Nunito Semi-Bold"/>
                <a:ea typeface="Nunito Semi-Bold"/>
                <a:cs typeface="Nunito Semi-Bold"/>
                <a:sym typeface="Nunito Semi-Bold"/>
              </a:rPr>
              <a:t> what a recommender learns.</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70</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CONCLUSION &amp; PERSPECTIVES</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Publications Supporting the Thesis</a:t>
            </a:r>
          </a:p>
        </p:txBody>
      </p:sp>
      <p:pic>
        <p:nvPicPr>
          <p:cNvPr id="23" name="Picture 22" descr="image.png"/>
          <p:cNvPicPr>
            <a:picLocks noChangeAspect="1"/>
          </p:cNvPicPr>
          <p:nvPr/>
        </p:nvPicPr>
        <p:blipFill>
          <a:blip r:embed="rId3"/>
          <a:stretch>
            <a:fillRect/>
          </a:stretch>
        </p:blipFill>
        <p:spPr>
          <a:xfrm>
            <a:off x="10279040" y="1673352"/>
            <a:ext cx="457200" cy="250983"/>
          </a:xfrm>
          <a:prstGeom prst="rect">
            <a:avLst/>
          </a:prstGeom>
        </p:spPr>
      </p:pic>
      <p:sp>
        <p:nvSpPr>
          <p:cNvPr id="24" name="Rounded Rectangle 23"/>
          <p:cNvSpPr/>
          <p:nvPr/>
        </p:nvSpPr>
        <p:spPr>
          <a:xfrm>
            <a:off x="1028700" y="2559050"/>
            <a:ext cx="160443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Synthesis</a:t>
            </a:r>
          </a:p>
        </p:txBody>
      </p:sp>
      <p:sp>
        <p:nvSpPr>
          <p:cNvPr id="25" name="Rounded Rectangle 24"/>
          <p:cNvSpPr/>
          <p:nvPr/>
        </p:nvSpPr>
        <p:spPr>
          <a:xfrm>
            <a:off x="2761149" y="2559050"/>
            <a:ext cx="189357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Publications</a:t>
            </a:r>
          </a:p>
        </p:txBody>
      </p:sp>
      <p:sp>
        <p:nvSpPr>
          <p:cNvPr id="26" name="Rounded Rectangle 25"/>
          <p:cNvSpPr/>
          <p:nvPr/>
        </p:nvSpPr>
        <p:spPr>
          <a:xfrm>
            <a:off x="4782741" y="2559050"/>
            <a:ext cx="176548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Limitations</a:t>
            </a:r>
          </a:p>
        </p:txBody>
      </p:sp>
      <p:sp>
        <p:nvSpPr>
          <p:cNvPr id="27" name="Rounded Rectangle 26"/>
          <p:cNvSpPr/>
          <p:nvPr/>
        </p:nvSpPr>
        <p:spPr>
          <a:xfrm>
            <a:off x="6676243" y="2559050"/>
            <a:ext cx="1934074"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Perspectives</a:t>
            </a:r>
          </a:p>
        </p:txBody>
      </p:sp>
      <p:sp>
        <p:nvSpPr>
          <p:cNvPr id="28" name="Rounded Rectangle 27"/>
          <p:cNvSpPr/>
          <p:nvPr/>
        </p:nvSpPr>
        <p:spPr>
          <a:xfrm>
            <a:off x="8738333" y="2559050"/>
            <a:ext cx="175300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Conclusion</a:t>
            </a:r>
          </a:p>
        </p:txBody>
      </p:sp>
      <p:graphicFrame>
        <p:nvGraphicFramePr>
          <p:cNvPr id="29" name="Table 28"/>
          <p:cNvGraphicFramePr>
            <a:graphicFrameLocks noGrp="1"/>
          </p:cNvGraphicFramePr>
          <p:nvPr/>
        </p:nvGraphicFramePr>
        <p:xfrm>
          <a:off x="1028700" y="3363722"/>
          <a:ext cx="16230594" cy="3291840"/>
        </p:xfrm>
        <a:graphic>
          <a:graphicData uri="http://schemas.openxmlformats.org/drawingml/2006/table">
            <a:tbl>
              <a:tblPr firstRow="0" bandRow="0" firstCol="0" lastRow="0" lastCol="0" bandCol="0">
                <a:tableStyleId>{2D5ABB26-0587-4C30-8999-92F81FD0307C}</a:tableStyleId>
              </a:tblPr>
              <a:tblGrid>
                <a:gridCol w="656729"/>
                <a:gridCol w="2814554"/>
                <a:gridCol w="5253835"/>
                <a:gridCol w="3189828"/>
                <a:gridCol w="750547"/>
                <a:gridCol w="2439280"/>
                <a:gridCol w="1125821"/>
              </a:tblGrid>
              <a:tr h="822960">
                <a:tc>
                  <a:txBody>
                    <a:bodyPr anchor="ctr" rtlCol="false" lIns="0" tIns="0" rIns="0" bIns="0" wrap="square"/>
                    <a:lstStyle/>
                    <a:p>
                      <a:pPr algn="ctr">
                        <a:lnSpc>
                          <a:spcPts val="1820"/>
                        </a:lnSpc>
                        <a:spcBef>
                          <a:spcPts val="0"/>
                        </a:spcBef>
                        <a:buNone/>
                      </a:pPr>
                      <a:endParaRPr lang="en-US" sz="2200"/>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1820"/>
                        </a:lnSpc>
                        <a:spcBef>
                          <a:spcPts val="0"/>
                        </a:spcBef>
                        <a:buNone/>
                      </a:pPr>
                      <a:r>
                        <a:rPr lang="en-US" sz="1400" b="true">
                          <a:solidFill>
                            <a:srgbClr val="FFFFFF"/>
                          </a:solidFill>
                          <a:latin typeface="Nunito Bold"/>
                          <a:ea typeface="Nunito Bold"/>
                          <a:cs typeface="Nunito Bold"/>
                          <a:sym typeface="Nunito Bold"/>
                        </a:rPr>
                        <a:t>Authors</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1820"/>
                        </a:lnSpc>
                        <a:spcBef>
                          <a:spcPts val="0"/>
                        </a:spcBef>
                        <a:buNone/>
                      </a:pPr>
                      <a:r>
                        <a:rPr lang="en-US" sz="1400" b="true">
                          <a:solidFill>
                            <a:srgbClr val="FFFFFF"/>
                          </a:solidFill>
                          <a:latin typeface="Nunito Bold"/>
                          <a:ea typeface="Nunito Bold"/>
                          <a:cs typeface="Nunito Bold"/>
                          <a:sym typeface="Nunito Bold"/>
                        </a:rPr>
                        <a:t>Title</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1820"/>
                        </a:lnSpc>
                        <a:spcBef>
                          <a:spcPts val="0"/>
                        </a:spcBef>
                        <a:buNone/>
                      </a:pPr>
                      <a:r>
                        <a:rPr lang="en-US" sz="1400" b="true">
                          <a:solidFill>
                            <a:srgbClr val="FFFFFF"/>
                          </a:solidFill>
                          <a:latin typeface="Nunito Bold"/>
                          <a:ea typeface="Nunito Bold"/>
                          <a:cs typeface="Nunito Bold"/>
                          <a:sym typeface="Nunito Bold"/>
                        </a:rPr>
                        <a:t>Journal</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Year</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1820"/>
                        </a:lnSpc>
                        <a:spcBef>
                          <a:spcPts val="0"/>
                        </a:spcBef>
                        <a:buNone/>
                      </a:pPr>
                      <a:r>
                        <a:rPr lang="en-US" sz="1400" b="true">
                          <a:solidFill>
                            <a:srgbClr val="FFFFFF"/>
                          </a:solidFill>
                          <a:latin typeface="Nunito Bold"/>
                          <a:ea typeface="Nunito Bold"/>
                          <a:cs typeface="Nunito Bold"/>
                          <a:sym typeface="Nunito Bold"/>
                        </a:rPr>
                        <a:t>DOI</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Status</a:t>
                      </a:r>
                    </a:p>
                  </a:txBody>
                  <a:tcPr marL="64008" marR="64008"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822960">
                <a:tc>
                  <a:txBody>
                    <a:bodyPr anchor="ctr" rtlCol="false" lIns="0" tIns="0" rIns="0" bIns="0" wrap="square"/>
                    <a:lstStyle/>
                    <a:p>
                      <a:pPr algn="ctr">
                        <a:lnSpc>
                          <a:spcPts val="2800"/>
                        </a:lnSpc>
                        <a:spcBef>
                          <a:spcPts val="0"/>
                        </a:spcBef>
                        <a:buNone/>
                      </a:pPr>
                      <a:r>
                        <a:rPr lang="en-US" sz="2400" b="true" spc="-120">
                          <a:solidFill>
                            <a:srgbClr val="FFFFFF"/>
                          </a:solidFill>
                          <a:latin typeface="Roca Two Bold"/>
                          <a:ea typeface="Roca Two Bold"/>
                          <a:cs typeface="Roca Two Bold"/>
                          <a:sym typeface="Roca Two Bold"/>
                        </a:rPr>
                        <a:t>I</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124944"/>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M. Louhichi, R. Nesmaoui, M. Mbarek, M. Lazaar</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Shapley Values for Explaining the Black Box Nature of Machine Learning Model Clustering</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Procedia Computer Science 220, 806–811</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2023</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10.1016/j.procs.2023.03.107</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1">
                          <a:solidFill>
                            <a:srgbClr val="124944"/>
                          </a:solidFill>
                          <a:latin typeface="Nunito Semi-Bold"/>
                          <a:ea typeface="Nunito Semi-Bold"/>
                          <a:cs typeface="Nunito Semi-Bold"/>
                          <a:sym typeface="Nunito Semi-Bold"/>
                        </a:rPr>
                        <a:t>Published</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r h="822960">
                <a:tc>
                  <a:txBody>
                    <a:bodyPr anchor="ctr" rtlCol="false" lIns="0" tIns="0" rIns="0" bIns="0" wrap="square"/>
                    <a:lstStyle/>
                    <a:p>
                      <a:pPr algn="ctr">
                        <a:lnSpc>
                          <a:spcPts val="2800"/>
                        </a:lnSpc>
                        <a:spcBef>
                          <a:spcPts val="0"/>
                        </a:spcBef>
                        <a:buNone/>
                      </a:pPr>
                      <a:r>
                        <a:rPr lang="en-US" sz="2400" b="true" spc="-120">
                          <a:solidFill>
                            <a:srgbClr val="FFFFFF"/>
                          </a:solidFill>
                          <a:latin typeface="Roca Two Bold"/>
                          <a:ea typeface="Roca Two Bold"/>
                          <a:cs typeface="Roca Two Bold"/>
                          <a:sym typeface="Roca Two Bold"/>
                        </a:rPr>
                        <a:t>II</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1E5F58"/>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M. Louhichi, R. Nesmaoui, M. Lazaar</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Game Theory Meets Explainable AI: An Enhanced Approach to Understanding Black Box Models Through Shapley Values</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IJACSA 16(7), 716–725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2025</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10.14569/IJACSA.2025.0160780</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1">
                          <a:solidFill>
                            <a:srgbClr val="124944"/>
                          </a:solidFill>
                          <a:latin typeface="Nunito Semi-Bold"/>
                          <a:ea typeface="Nunito Semi-Bold"/>
                          <a:cs typeface="Nunito Semi-Bold"/>
                          <a:sym typeface="Nunito Semi-Bold"/>
                        </a:rPr>
                        <a:t>Published</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r h="822960">
                <a:tc>
                  <a:txBody>
                    <a:bodyPr anchor="ctr" rtlCol="false" lIns="0" tIns="0" rIns="0" bIns="0" wrap="square"/>
                    <a:lstStyle/>
                    <a:p>
                      <a:pPr algn="ctr">
                        <a:lnSpc>
                          <a:spcPts val="2800"/>
                        </a:lnSpc>
                        <a:spcBef>
                          <a:spcPts val="0"/>
                        </a:spcBef>
                        <a:buNone/>
                      </a:pPr>
                      <a:r>
                        <a:rPr lang="en-US" sz="2400" b="true" spc="-120">
                          <a:solidFill>
                            <a:srgbClr val="FFFFFF"/>
                          </a:solidFill>
                          <a:latin typeface="Roca Two Bold"/>
                          <a:ea typeface="Roca Two Bold"/>
                          <a:cs typeface="Roca Two Bold"/>
                          <a:sym typeface="Roca Two Bold"/>
                        </a:rPr>
                        <a:t>III</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DF8330"/>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M. Louhichi, R. Nesmaoui, M. Lazaar</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DyHuCoG: A Dynamic Hypergraph Cooperative Game for Preference-aware Recommendation</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IJIES 19(2), 887–902</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2026</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820"/>
                        </a:lnSpc>
                        <a:spcBef>
                          <a:spcPts val="0"/>
                        </a:spcBef>
                        <a:buNone/>
                      </a:pPr>
                      <a:r>
                        <a:rPr lang="en-US" sz="1400" b="true">
                          <a:solidFill>
                            <a:srgbClr val="111111"/>
                          </a:solidFill>
                          <a:latin typeface="Nunito Semi-Bold"/>
                          <a:ea typeface="Nunito Semi-Bold"/>
                          <a:cs typeface="Nunito Semi-Bold"/>
                          <a:sym typeface="Nunito Semi-Bold"/>
                        </a:rPr>
                        <a:t>10.22266/ijies2026.0228.54</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1">
                          <a:solidFill>
                            <a:srgbClr val="124944"/>
                          </a:solidFill>
                          <a:latin typeface="Nunito Semi-Bold"/>
                          <a:ea typeface="Nunito Semi-Bold"/>
                          <a:cs typeface="Nunito Semi-Bold"/>
                          <a:sym typeface="Nunito Semi-Bold"/>
                        </a:rPr>
                        <a:t>Published</a:t>
                      </a:r>
                    </a:p>
                  </a:txBody>
                  <a:tcPr marL="64008" marR="64008"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bl>
          </a:graphicData>
        </a:graphic>
      </p:graphicFrame>
      <p:sp>
        <p:nvSpPr>
          <p:cNvPr id="30" name="Rounded Rectangle 29"/>
          <p:cNvSpPr/>
          <p:nvPr/>
        </p:nvSpPr>
        <p:spPr>
          <a:xfrm>
            <a:off x="1028700" y="7341362"/>
            <a:ext cx="7932420" cy="1921510"/>
          </a:xfrm>
          <a:prstGeom prst="roundRect">
            <a:avLst>
              <a:gd name="adj" fmla="val 16179"/>
            </a:avLst>
          </a:prstGeom>
          <a:solidFill>
            <a:srgbClr val="F6ECDF"/>
          </a:solidFill>
          <a:ln>
            <a:noFill/>
          </a:ln>
        </p:spPr>
        <p:txBody>
          <a:bodyPr anchor="ctr" rtlCol="false" lIns="0" tIns="0" rIns="0" bIns="0" wrap="square"/>
          <a:lstStyle/>
          <a:p>
            <a:endParaRPr lang="en-US" sz="1800"/>
          </a:p>
        </p:txBody>
      </p:sp>
      <p:sp>
        <p:nvSpPr>
          <p:cNvPr id="31" name="Rounded Rectangle 30"/>
          <p:cNvSpPr/>
          <p:nvPr/>
        </p:nvSpPr>
        <p:spPr>
          <a:xfrm>
            <a:off x="1485900" y="7103618"/>
            <a:ext cx="3560649"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Mapping to the thesis</a:t>
            </a:r>
          </a:p>
        </p:txBody>
      </p:sp>
      <p:sp>
        <p:nvSpPr>
          <p:cNvPr id="32" name="TextBox 31"/>
          <p:cNvSpPr txBox="1"/>
          <p:nvPr/>
        </p:nvSpPr>
        <p:spPr>
          <a:xfrm>
            <a:off x="1485900" y="7890002"/>
            <a:ext cx="7063740" cy="1189990"/>
          </a:xfrm>
          <a:prstGeom prst="rect">
            <a:avLst/>
          </a:prstGeom>
          <a:noFill/>
        </p:spPr>
        <p:txBody>
          <a:bodyPr anchor="t" rtlCol="false" lIns="0" tIns="0" rIns="0" bIns="0" wrap="square"/>
          <a:lstStyle/>
          <a:p>
            <a:pPr algn="l" marL="274320" indent="-274320">
              <a:lnSpc>
                <a:spcPts val="2094"/>
              </a:lnSpc>
              <a:spcBef>
                <a:spcPts val="0"/>
              </a:spcBef>
              <a:buClr>
                <a:srgbClr val="DF8330"/>
              </a:buClr>
              <a:buSzPct val="100000"/>
              <a:buFont typeface="Arial"/>
              <a:buChar char="•"/>
            </a:pPr>
            <a:r>
              <a:rPr lang="en-US" sz="1496" b="true">
                <a:solidFill>
                  <a:srgbClr val="111111"/>
                </a:solidFill>
                <a:latin typeface="Nunito Bold"/>
                <a:ea typeface="Nunito Bold"/>
                <a:cs typeface="Nunito Bold"/>
                <a:sym typeface="Nunito Bold"/>
              </a:rPr>
              <a:t>I</a:t>
            </a:r>
            <a:r>
              <a:rPr lang="en-US" sz="1496" b="true">
                <a:solidFill>
                  <a:srgbClr val="111111"/>
                </a:solidFill>
                <a:latin typeface="Calibri"/>
                <a:ea typeface="Calibri"/>
                <a:cs typeface="Calibri"/>
                <a:sym typeface="Calibri"/>
              </a:rPr>
              <a:t> → </a:t>
            </a:r>
            <a:r>
              <a:rPr lang="en-US" sz="1496" b="true">
                <a:solidFill>
                  <a:srgbClr val="111111"/>
                </a:solidFill>
                <a:latin typeface="Nunito Semi-Bold"/>
                <a:ea typeface="Nunito Semi-Bold"/>
                <a:cs typeface="Nunito Semi-Bold"/>
                <a:sym typeface="Nunito Semi-Bold"/>
              </a:rPr>
              <a:t>Contribution I (Chapter 5)  ·  </a:t>
            </a:r>
            <a:r>
              <a:rPr lang="en-US" sz="1496" b="true">
                <a:solidFill>
                  <a:srgbClr val="111111"/>
                </a:solidFill>
                <a:latin typeface="Nunito Bold"/>
                <a:ea typeface="Nunito Bold"/>
                <a:cs typeface="Nunito Bold"/>
                <a:sym typeface="Nunito Bold"/>
              </a:rPr>
              <a:t>II</a:t>
            </a:r>
            <a:r>
              <a:rPr lang="en-US" sz="1496" b="true">
                <a:solidFill>
                  <a:srgbClr val="111111"/>
                </a:solidFill>
                <a:latin typeface="Calibri"/>
                <a:ea typeface="Calibri"/>
                <a:cs typeface="Calibri"/>
                <a:sym typeface="Calibri"/>
              </a:rPr>
              <a:t> → </a:t>
            </a:r>
            <a:r>
              <a:rPr lang="en-US" sz="1496" b="true">
                <a:solidFill>
                  <a:srgbClr val="111111"/>
                </a:solidFill>
                <a:latin typeface="Nunito Semi-Bold"/>
                <a:ea typeface="Nunito Semi-Bold"/>
                <a:cs typeface="Nunito Semi-Bold"/>
                <a:sym typeface="Nunito Semi-Bold"/>
              </a:rPr>
              <a:t>Contribution II (Chapter 6)  ·  </a:t>
            </a:r>
            <a:r>
              <a:rPr lang="en-US" sz="1496" b="true">
                <a:solidFill>
                  <a:srgbClr val="111111"/>
                </a:solidFill>
                <a:latin typeface="Nunito Bold"/>
                <a:ea typeface="Nunito Bold"/>
                <a:cs typeface="Nunito Bold"/>
                <a:sym typeface="Nunito Bold"/>
              </a:rPr>
              <a:t>III</a:t>
            </a:r>
            <a:r>
              <a:rPr lang="en-US" sz="1496" b="true">
                <a:solidFill>
                  <a:srgbClr val="111111"/>
                </a:solidFill>
                <a:latin typeface="Calibri"/>
                <a:ea typeface="Calibri"/>
                <a:cs typeface="Calibri"/>
                <a:sym typeface="Calibri"/>
              </a:rPr>
              <a:t> → </a:t>
            </a:r>
            <a:r>
              <a:rPr lang="en-US" sz="1496" b="true">
                <a:solidFill>
                  <a:srgbClr val="111111"/>
                </a:solidFill>
                <a:latin typeface="Nunito Semi-Bold"/>
                <a:ea typeface="Nunito Semi-Bold"/>
                <a:cs typeface="Nunito Semi-Bold"/>
                <a:sym typeface="Nunito Semi-Bold"/>
              </a:rPr>
              <a:t>Contribution III (Chapter 7).</a:t>
            </a:r>
          </a:p>
          <a:p>
            <a:pPr algn="l" marL="274320" indent="-274320">
              <a:lnSpc>
                <a:spcPts val="2094"/>
              </a:lnSpc>
              <a:spcBef>
                <a:spcPts val="352"/>
              </a:spcBef>
              <a:buClr>
                <a:srgbClr val="DF8330"/>
              </a:buClr>
              <a:buSzPct val="100000"/>
              <a:buFont typeface="Arial"/>
              <a:buChar char="•"/>
            </a:pPr>
            <a:r>
              <a:rPr lang="en-US" sz="1496" b="true">
                <a:solidFill>
                  <a:srgbClr val="111111"/>
                </a:solidFill>
                <a:latin typeface="Nunito Semi-Bold"/>
                <a:ea typeface="Nunito Semi-Bold"/>
                <a:cs typeface="Nunito Semi-Bold"/>
                <a:sym typeface="Nunito Semi-Bold"/>
              </a:rPr>
              <a:t>Three journal articles, candidate as </a:t>
            </a:r>
            <a:r>
              <a:rPr lang="en-US" sz="1496" b="true">
                <a:solidFill>
                  <a:srgbClr val="111111"/>
                </a:solidFill>
                <a:latin typeface="Nunito Bold"/>
                <a:ea typeface="Nunito Bold"/>
                <a:cs typeface="Nunito Bold"/>
                <a:sym typeface="Nunito Bold"/>
              </a:rPr>
              <a:t>first author</a:t>
            </a:r>
            <a:r>
              <a:rPr lang="en-US" sz="1496" b="true">
                <a:solidFill>
                  <a:srgbClr val="111111"/>
                </a:solidFill>
                <a:latin typeface="Nunito Semi-Bold"/>
                <a:ea typeface="Nunito Semi-Bold"/>
                <a:cs typeface="Nunito Semi-Bold"/>
                <a:sym typeface="Nunito Semi-Bold"/>
              </a:rPr>
              <a:t>; IJACSA and IJIES are Scopus-indexed.</a:t>
            </a:r>
          </a:p>
        </p:txBody>
      </p:sp>
      <p:sp>
        <p:nvSpPr>
          <p:cNvPr id="33" name="Rounded Rectangle 32"/>
          <p:cNvSpPr/>
          <p:nvPr/>
        </p:nvSpPr>
        <p:spPr>
          <a:xfrm>
            <a:off x="9326880" y="7341362"/>
            <a:ext cx="7932420" cy="1921510"/>
          </a:xfrm>
          <a:prstGeom prst="roundRect">
            <a:avLst>
              <a:gd name="adj" fmla="val 16179"/>
            </a:avLst>
          </a:prstGeom>
          <a:solidFill>
            <a:srgbClr val="124944"/>
          </a:solidFill>
          <a:ln>
            <a:noFill/>
          </a:ln>
        </p:spPr>
        <p:txBody>
          <a:bodyPr anchor="ctr" rtlCol="false" lIns="0" tIns="0" rIns="0" bIns="0" wrap="square"/>
          <a:lstStyle/>
          <a:p>
            <a:endParaRPr lang="en-US" sz="1800"/>
          </a:p>
        </p:txBody>
      </p:sp>
      <p:sp>
        <p:nvSpPr>
          <p:cNvPr id="34" name="Rounded Rectangle 33"/>
          <p:cNvSpPr/>
          <p:nvPr/>
        </p:nvSpPr>
        <p:spPr>
          <a:xfrm>
            <a:off x="9784080" y="7103618"/>
            <a:ext cx="4399246"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Related work with the team</a:t>
            </a:r>
          </a:p>
        </p:txBody>
      </p:sp>
      <p:sp>
        <p:nvSpPr>
          <p:cNvPr id="35" name="TextBox 34"/>
          <p:cNvSpPr txBox="1"/>
          <p:nvPr/>
        </p:nvSpPr>
        <p:spPr>
          <a:xfrm>
            <a:off x="9784080" y="7890002"/>
            <a:ext cx="7063740" cy="1189990"/>
          </a:xfrm>
          <a:prstGeom prst="rect">
            <a:avLst/>
          </a:prstGeom>
          <a:noFill/>
        </p:spPr>
        <p:txBody>
          <a:bodyPr anchor="t" rtlCol="false" lIns="0" tIns="0" rIns="0" bIns="0" wrap="square"/>
          <a:lstStyle/>
          <a:p>
            <a:pPr algn="l" marL="274320" indent="-274320">
              <a:lnSpc>
                <a:spcPts val="2173"/>
              </a:lnSpc>
              <a:spcBef>
                <a:spcPts val="0"/>
              </a:spcBef>
              <a:buClr>
                <a:srgbClr val="ECC665"/>
              </a:buClr>
              <a:buSzPct val="100000"/>
              <a:buFont typeface="Arial"/>
              <a:buChar char="•"/>
            </a:pPr>
            <a:r>
              <a:rPr lang="en-US" sz="1552" b="true">
                <a:solidFill>
                  <a:srgbClr val="FFFFFF"/>
                </a:solidFill>
                <a:latin typeface="Nunito Semi-Bold"/>
                <a:ea typeface="Nunito Semi-Bold"/>
                <a:cs typeface="Nunito Semi-Bold"/>
                <a:sym typeface="Nunito Semi-Bold"/>
              </a:rPr>
              <a:t>Nesmaoui, R., </a:t>
            </a:r>
            <a:r>
              <a:rPr lang="en-US" sz="1552" b="true">
                <a:solidFill>
                  <a:srgbClr val="FFFFFF"/>
                </a:solidFill>
                <a:latin typeface="Nunito Bold"/>
                <a:ea typeface="Nunito Bold"/>
                <a:cs typeface="Nunito Bold"/>
                <a:sym typeface="Nunito Bold"/>
              </a:rPr>
              <a:t>Louhichi, M.</a:t>
            </a:r>
            <a:r>
              <a:rPr lang="en-US" sz="1552" b="true">
                <a:solidFill>
                  <a:srgbClr val="FFFFFF"/>
                </a:solidFill>
                <a:latin typeface="Nunito Semi-Bold"/>
                <a:ea typeface="Nunito Semi-Bold"/>
                <a:cs typeface="Nunito Semi-Bold"/>
                <a:sym typeface="Nunito Semi-Bold"/>
              </a:rPr>
              <a:t> &amp; Lazaar, M. Dynamic Recommender Systems with Real-time Shapley Value-based Contribution Adjustment. IJIES 18, 241–257 (2025): the same cooperative-game view, applied to real-time contribution adjustment.</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71</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CONCLUSION &amp; PERSPECTIVES</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Limitations, Stated Honestly</a:t>
            </a:r>
          </a:p>
        </p:txBody>
      </p:sp>
      <p:pic>
        <p:nvPicPr>
          <p:cNvPr id="23" name="Picture 22" descr="image.png"/>
          <p:cNvPicPr>
            <a:picLocks noChangeAspect="1"/>
          </p:cNvPicPr>
          <p:nvPr/>
        </p:nvPicPr>
        <p:blipFill>
          <a:blip r:embed="rId3"/>
          <a:stretch>
            <a:fillRect/>
          </a:stretch>
        </p:blipFill>
        <p:spPr>
          <a:xfrm>
            <a:off x="8586542" y="1673352"/>
            <a:ext cx="457200" cy="415247"/>
          </a:xfrm>
          <a:prstGeom prst="rect">
            <a:avLst/>
          </a:prstGeom>
        </p:spPr>
      </p:pic>
      <p:sp>
        <p:nvSpPr>
          <p:cNvPr id="24" name="Rounded Rectangle 23"/>
          <p:cNvSpPr/>
          <p:nvPr/>
        </p:nvSpPr>
        <p:spPr>
          <a:xfrm>
            <a:off x="1028700" y="2559050"/>
            <a:ext cx="160443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Synthesis</a:t>
            </a:r>
          </a:p>
        </p:txBody>
      </p:sp>
      <p:sp>
        <p:nvSpPr>
          <p:cNvPr id="25" name="Rounded Rectangle 24"/>
          <p:cNvSpPr/>
          <p:nvPr/>
        </p:nvSpPr>
        <p:spPr>
          <a:xfrm>
            <a:off x="2761149" y="2559050"/>
            <a:ext cx="189357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Publications</a:t>
            </a:r>
          </a:p>
        </p:txBody>
      </p:sp>
      <p:sp>
        <p:nvSpPr>
          <p:cNvPr id="26" name="Rounded Rectangle 25"/>
          <p:cNvSpPr/>
          <p:nvPr/>
        </p:nvSpPr>
        <p:spPr>
          <a:xfrm>
            <a:off x="4782741" y="2559050"/>
            <a:ext cx="1765486"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Limitations</a:t>
            </a:r>
          </a:p>
        </p:txBody>
      </p:sp>
      <p:sp>
        <p:nvSpPr>
          <p:cNvPr id="27" name="Rounded Rectangle 26"/>
          <p:cNvSpPr/>
          <p:nvPr/>
        </p:nvSpPr>
        <p:spPr>
          <a:xfrm>
            <a:off x="6676243" y="2559050"/>
            <a:ext cx="1934074"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Perspectives</a:t>
            </a:r>
          </a:p>
        </p:txBody>
      </p:sp>
      <p:sp>
        <p:nvSpPr>
          <p:cNvPr id="28" name="Rounded Rectangle 27"/>
          <p:cNvSpPr/>
          <p:nvPr/>
        </p:nvSpPr>
        <p:spPr>
          <a:xfrm>
            <a:off x="8738333" y="2559050"/>
            <a:ext cx="175300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Conclusion</a:t>
            </a:r>
          </a:p>
        </p:txBody>
      </p:sp>
      <p:sp>
        <p:nvSpPr>
          <p:cNvPr id="29" name="Rounded Rectangle 28"/>
          <p:cNvSpPr/>
          <p:nvPr/>
        </p:nvSpPr>
        <p:spPr>
          <a:xfrm>
            <a:off x="1028700" y="3455162"/>
            <a:ext cx="7978140" cy="2789555"/>
          </a:xfrm>
          <a:prstGeom prst="roundRect">
            <a:avLst>
              <a:gd name="adj" fmla="val 9833"/>
            </a:avLst>
          </a:prstGeom>
          <a:solidFill>
            <a:srgbClr val="124944"/>
          </a:solidFill>
          <a:ln>
            <a:noFill/>
          </a:ln>
        </p:spPr>
        <p:txBody>
          <a:bodyPr anchor="ctr" rtlCol="false" lIns="457200" tIns="274320" rIns="457200" bIns="274320" wrap="square"/>
          <a:lstStyle/>
          <a:p>
            <a:pPr algn="l">
              <a:lnSpc>
                <a:spcPts val="3400"/>
              </a:lnSpc>
              <a:spcBef>
                <a:spcPts val="0"/>
              </a:spcBef>
              <a:buNone/>
            </a:pPr>
            <a:r>
              <a:rPr lang="en-US" sz="3000" b="true" spc="-120">
                <a:solidFill>
                  <a:srgbClr val="ECC665"/>
                </a:solidFill>
                <a:latin typeface="Roca Two Bold"/>
                <a:ea typeface="Roca Two Bold"/>
                <a:cs typeface="Roca Two Bold"/>
                <a:sym typeface="Roca Two Bold"/>
              </a:rPr>
              <a:t>Computational</a:t>
            </a:r>
          </a:p>
          <a:p>
            <a:pPr algn="l">
              <a:lnSpc>
                <a:spcPts val="2600"/>
              </a:lnSpc>
              <a:spcBef>
                <a:spcPts val="1200"/>
              </a:spcBef>
              <a:buNone/>
            </a:pPr>
            <a:r>
              <a:rPr lang="en-US" sz="2000" b="true">
                <a:solidFill>
                  <a:srgbClr val="F7F2EA"/>
                </a:solidFill>
                <a:latin typeface="Nunito Semi-Bold"/>
                <a:ea typeface="Nunito Semi-Bold"/>
                <a:cs typeface="Nunito Semi-Bold"/>
                <a:sym typeface="Nunito Semi-Bold"/>
              </a:rPr>
              <a:t>Exact Shapley is not feasible; every contribution relies on approximation, surrogates or limited reporting.</a:t>
            </a:r>
          </a:p>
        </p:txBody>
      </p:sp>
      <p:sp>
        <p:nvSpPr>
          <p:cNvPr id="30" name="Rounded Rectangle 29"/>
          <p:cNvSpPr/>
          <p:nvPr/>
        </p:nvSpPr>
        <p:spPr>
          <a:xfrm>
            <a:off x="9281160" y="3455162"/>
            <a:ext cx="7978140" cy="2789555"/>
          </a:xfrm>
          <a:prstGeom prst="roundRect">
            <a:avLst>
              <a:gd name="adj" fmla="val 9833"/>
            </a:avLst>
          </a:prstGeom>
          <a:solidFill>
            <a:srgbClr val="1E5F58"/>
          </a:solidFill>
          <a:ln>
            <a:noFill/>
          </a:ln>
        </p:spPr>
        <p:txBody>
          <a:bodyPr anchor="ctr" rtlCol="false" lIns="457200" tIns="274320" rIns="457200" bIns="274320" wrap="square"/>
          <a:lstStyle/>
          <a:p>
            <a:pPr algn="l">
              <a:lnSpc>
                <a:spcPts val="3400"/>
              </a:lnSpc>
              <a:spcBef>
                <a:spcPts val="0"/>
              </a:spcBef>
              <a:buNone/>
            </a:pPr>
            <a:r>
              <a:rPr lang="en-US" sz="3000" b="true" spc="-120">
                <a:solidFill>
                  <a:srgbClr val="ECC665"/>
                </a:solidFill>
                <a:latin typeface="Roca Two Bold"/>
                <a:ea typeface="Roca Two Bold"/>
                <a:cs typeface="Roca Two Bold"/>
                <a:sym typeface="Roca Two Bold"/>
              </a:rPr>
              <a:t>Methodological</a:t>
            </a:r>
          </a:p>
          <a:p>
            <a:pPr algn="l">
              <a:lnSpc>
                <a:spcPts val="2600"/>
              </a:lnSpc>
              <a:spcBef>
                <a:spcPts val="1200"/>
              </a:spcBef>
              <a:buNone/>
            </a:pPr>
            <a:r>
              <a:rPr lang="en-US" sz="2000" b="true">
                <a:solidFill>
                  <a:srgbClr val="F7F2EA"/>
                </a:solidFill>
                <a:latin typeface="Nunito Semi-Bold"/>
                <a:ea typeface="Nunito Semi-Bold"/>
                <a:cs typeface="Nunito Semi-Bold"/>
                <a:sym typeface="Nunito Semi-Bold"/>
              </a:rPr>
              <a:t>Clustering depends on surrogate fidelity; recommendation depends on stable approximate contributions and useful context.</a:t>
            </a:r>
          </a:p>
        </p:txBody>
      </p:sp>
      <p:sp>
        <p:nvSpPr>
          <p:cNvPr id="31" name="Rounded Rectangle 30"/>
          <p:cNvSpPr/>
          <p:nvPr/>
        </p:nvSpPr>
        <p:spPr>
          <a:xfrm>
            <a:off x="1028700" y="6519037"/>
            <a:ext cx="7978140" cy="2789555"/>
          </a:xfrm>
          <a:prstGeom prst="roundRect">
            <a:avLst>
              <a:gd name="adj" fmla="val 9833"/>
            </a:avLst>
          </a:prstGeom>
          <a:solidFill>
            <a:srgbClr val="DF8330"/>
          </a:solidFill>
          <a:ln>
            <a:noFill/>
          </a:ln>
        </p:spPr>
        <p:txBody>
          <a:bodyPr anchor="ctr" rtlCol="false" lIns="457200" tIns="274320" rIns="457200" bIns="274320" wrap="square"/>
          <a:lstStyle/>
          <a:p>
            <a:pPr algn="l">
              <a:lnSpc>
                <a:spcPts val="3400"/>
              </a:lnSpc>
              <a:spcBef>
                <a:spcPts val="0"/>
              </a:spcBef>
              <a:buNone/>
            </a:pPr>
            <a:r>
              <a:rPr lang="en-US" sz="3000" b="true" spc="-120">
                <a:solidFill>
                  <a:srgbClr val="FFFFFF"/>
                </a:solidFill>
                <a:latin typeface="Roca Two Bold"/>
                <a:ea typeface="Roca Two Bold"/>
                <a:cs typeface="Roca Two Bold"/>
                <a:sym typeface="Roca Two Bold"/>
              </a:rPr>
              <a:t>Empirical</a:t>
            </a:r>
          </a:p>
          <a:p>
            <a:pPr algn="l">
              <a:lnSpc>
                <a:spcPts val="2600"/>
              </a:lnSpc>
              <a:spcBef>
                <a:spcPts val="1200"/>
              </a:spcBef>
              <a:buNone/>
            </a:pPr>
            <a:r>
              <a:rPr lang="en-US" sz="2000" b="true">
                <a:solidFill>
                  <a:srgbClr val="F7F2EA"/>
                </a:solidFill>
                <a:latin typeface="Nunito Semi-Bold"/>
                <a:ea typeface="Nunito Semi-Bold"/>
                <a:cs typeface="Nunito Semi-Bold"/>
                <a:sym typeface="Nunito Semi-Bold"/>
              </a:rPr>
              <a:t>Tabular clustering + benchmark recommendation; no multimodal, sequential or online setting; no dedicated user study of actionability.</a:t>
            </a:r>
          </a:p>
        </p:txBody>
      </p:sp>
      <p:sp>
        <p:nvSpPr>
          <p:cNvPr id="32" name="Rounded Rectangle 31"/>
          <p:cNvSpPr/>
          <p:nvPr/>
        </p:nvSpPr>
        <p:spPr>
          <a:xfrm>
            <a:off x="9281160" y="6519037"/>
            <a:ext cx="7978140" cy="2789555"/>
          </a:xfrm>
          <a:prstGeom prst="roundRect">
            <a:avLst>
              <a:gd name="adj" fmla="val 9833"/>
            </a:avLst>
          </a:prstGeom>
          <a:solidFill>
            <a:srgbClr val="111111"/>
          </a:solidFill>
          <a:ln>
            <a:noFill/>
          </a:ln>
        </p:spPr>
        <p:txBody>
          <a:bodyPr anchor="ctr" rtlCol="false" lIns="457200" tIns="274320" rIns="457200" bIns="274320" wrap="square"/>
          <a:lstStyle/>
          <a:p>
            <a:pPr algn="l">
              <a:lnSpc>
                <a:spcPts val="3400"/>
              </a:lnSpc>
              <a:spcBef>
                <a:spcPts val="0"/>
              </a:spcBef>
              <a:buNone/>
            </a:pPr>
            <a:r>
              <a:rPr lang="en-US" sz="3000" b="true" spc="-120">
                <a:solidFill>
                  <a:srgbClr val="ECC665"/>
                </a:solidFill>
                <a:latin typeface="Roca Two Bold"/>
                <a:ea typeface="Roca Two Bold"/>
                <a:cs typeface="Roca Two Bold"/>
                <a:sym typeface="Roca Two Bold"/>
              </a:rPr>
              <a:t>Claim scope</a:t>
            </a:r>
          </a:p>
          <a:p>
            <a:pPr algn="l">
              <a:lnSpc>
                <a:spcPts val="2600"/>
              </a:lnSpc>
              <a:spcBef>
                <a:spcPts val="1200"/>
              </a:spcBef>
              <a:buNone/>
            </a:pPr>
            <a:r>
              <a:rPr lang="en-US" sz="2000" b="true">
                <a:solidFill>
                  <a:srgbClr val="F7F2EA"/>
                </a:solidFill>
                <a:latin typeface="Nunito Semi-Bold"/>
                <a:ea typeface="Nunito Semi-Bold"/>
                <a:cs typeface="Nunito Semi-Bold"/>
                <a:sym typeface="Nunito Semi-Bold"/>
              </a:rPr>
              <a:t>A consistent and productive shared view, not one fully unified framework that removes all tension.</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72</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CONCLUSION &amp; PERSPECTIVES</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Perspectives: Turning Limitations into an Agenda</a:t>
            </a:r>
          </a:p>
        </p:txBody>
      </p:sp>
      <p:pic>
        <p:nvPicPr>
          <p:cNvPr id="23" name="Picture 22" descr="image.png"/>
          <p:cNvPicPr>
            <a:picLocks noChangeAspect="1"/>
          </p:cNvPicPr>
          <p:nvPr/>
        </p:nvPicPr>
        <p:blipFill>
          <a:blip r:embed="rId3"/>
          <a:stretch>
            <a:fillRect/>
          </a:stretch>
        </p:blipFill>
        <p:spPr>
          <a:xfrm>
            <a:off x="13921521" y="1673352"/>
            <a:ext cx="457200" cy="452148"/>
          </a:xfrm>
          <a:prstGeom prst="rect">
            <a:avLst/>
          </a:prstGeom>
        </p:spPr>
      </p:pic>
      <p:sp>
        <p:nvSpPr>
          <p:cNvPr id="24" name="Rounded Rectangle 23"/>
          <p:cNvSpPr/>
          <p:nvPr/>
        </p:nvSpPr>
        <p:spPr>
          <a:xfrm>
            <a:off x="1028700" y="2559050"/>
            <a:ext cx="160443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Synthesis</a:t>
            </a:r>
          </a:p>
        </p:txBody>
      </p:sp>
      <p:sp>
        <p:nvSpPr>
          <p:cNvPr id="25" name="Rounded Rectangle 24"/>
          <p:cNvSpPr/>
          <p:nvPr/>
        </p:nvSpPr>
        <p:spPr>
          <a:xfrm>
            <a:off x="2761149" y="2559050"/>
            <a:ext cx="189357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Publications</a:t>
            </a:r>
          </a:p>
        </p:txBody>
      </p:sp>
      <p:sp>
        <p:nvSpPr>
          <p:cNvPr id="26" name="Rounded Rectangle 25"/>
          <p:cNvSpPr/>
          <p:nvPr/>
        </p:nvSpPr>
        <p:spPr>
          <a:xfrm>
            <a:off x="4782741" y="2559050"/>
            <a:ext cx="176548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Limitations</a:t>
            </a:r>
          </a:p>
        </p:txBody>
      </p:sp>
      <p:sp>
        <p:nvSpPr>
          <p:cNvPr id="27" name="Rounded Rectangle 26"/>
          <p:cNvSpPr/>
          <p:nvPr/>
        </p:nvSpPr>
        <p:spPr>
          <a:xfrm>
            <a:off x="6676243" y="2559050"/>
            <a:ext cx="1934074"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Perspectives</a:t>
            </a:r>
          </a:p>
        </p:txBody>
      </p:sp>
      <p:sp>
        <p:nvSpPr>
          <p:cNvPr id="28" name="Rounded Rectangle 27"/>
          <p:cNvSpPr/>
          <p:nvPr/>
        </p:nvSpPr>
        <p:spPr>
          <a:xfrm>
            <a:off x="8738333" y="2559050"/>
            <a:ext cx="1753007"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Conclusion</a:t>
            </a:r>
          </a:p>
        </p:txBody>
      </p:sp>
      <p:sp>
        <p:nvSpPr>
          <p:cNvPr id="29" name="Rounded Rectangle 28"/>
          <p:cNvSpPr/>
          <p:nvPr/>
        </p:nvSpPr>
        <p:spPr>
          <a:xfrm>
            <a:off x="1028700" y="3455162"/>
            <a:ext cx="7978140" cy="2789555"/>
          </a:xfrm>
          <a:prstGeom prst="roundRect">
            <a:avLst>
              <a:gd name="adj" fmla="val 9833"/>
            </a:avLst>
          </a:prstGeom>
          <a:solidFill>
            <a:srgbClr val="124944"/>
          </a:solidFill>
          <a:ln>
            <a:noFill/>
          </a:ln>
        </p:spPr>
        <p:txBody>
          <a:bodyPr anchor="ctr" rtlCol="false" lIns="0" tIns="0" rIns="0" bIns="0" wrap="square"/>
          <a:lstStyle/>
          <a:p>
            <a:endParaRPr lang="en-US" sz="1800"/>
          </a:p>
        </p:txBody>
      </p:sp>
      <p:sp>
        <p:nvSpPr>
          <p:cNvPr id="30" name="Oval 29"/>
          <p:cNvSpPr/>
          <p:nvPr/>
        </p:nvSpPr>
        <p:spPr>
          <a:xfrm>
            <a:off x="1394460" y="3820922"/>
            <a:ext cx="731520" cy="731520"/>
          </a:xfrm>
          <a:prstGeom prst="ellipse">
            <a:avLst/>
          </a:prstGeom>
          <a:solidFill>
            <a:srgbClr val="ECC665"/>
          </a:solidFill>
          <a:ln>
            <a:noFill/>
          </a:ln>
        </p:spPr>
        <p:txBody>
          <a:bodyPr anchor="ctr" rtlCol="false" lIns="0" tIns="0" rIns="0" bIns="0" wrap="square"/>
          <a:lstStyle/>
          <a:p>
            <a:pPr algn="ctr">
              <a:lnSpc>
                <a:spcPts val="2200"/>
              </a:lnSpc>
              <a:spcBef>
                <a:spcPts val="0"/>
              </a:spcBef>
              <a:buNone/>
            </a:pPr>
            <a:r>
              <a:rPr lang="en-US" sz="2000" b="true">
                <a:solidFill>
                  <a:srgbClr val="111111"/>
                </a:solidFill>
                <a:latin typeface="Nunito Ultra-Bold"/>
                <a:ea typeface="Nunito Ultra-Bold"/>
                <a:cs typeface="Nunito Ultra-Bold"/>
                <a:sym typeface="Nunito Ultra-Bold"/>
              </a:rPr>
              <a:t>01</a:t>
            </a:r>
          </a:p>
        </p:txBody>
      </p:sp>
      <p:sp>
        <p:nvSpPr>
          <p:cNvPr id="31" name="TextBox 30"/>
          <p:cNvSpPr txBox="1"/>
          <p:nvPr/>
        </p:nvSpPr>
        <p:spPr>
          <a:xfrm>
            <a:off x="2354580" y="3775202"/>
            <a:ext cx="6286500" cy="2240915"/>
          </a:xfrm>
          <a:prstGeom prst="rect">
            <a:avLst/>
          </a:prstGeom>
          <a:noFill/>
        </p:spPr>
        <p:txBody>
          <a:bodyPr anchor="ctr" rtlCol="false" lIns="0" tIns="0" rIns="0" bIns="0" wrap="square"/>
          <a:lstStyle/>
          <a:p>
            <a:pPr algn="l">
              <a:lnSpc>
                <a:spcPts val="3000"/>
              </a:lnSpc>
              <a:spcBef>
                <a:spcPts val="0"/>
              </a:spcBef>
              <a:buNone/>
            </a:pPr>
            <a:r>
              <a:rPr lang="en-US" sz="2400" b="true">
                <a:solidFill>
                  <a:srgbClr val="FFFFFF"/>
                </a:solidFill>
                <a:latin typeface="Nunito Ultra-Bold"/>
                <a:ea typeface="Nunito Ultra-Bold"/>
                <a:cs typeface="Nunito Ultra-Bold"/>
                <a:sym typeface="Nunito Ultra-Bold"/>
              </a:rPr>
              <a:t>Scalable cooperative attribution</a:t>
            </a:r>
          </a:p>
          <a:p>
            <a:pPr algn="l">
              <a:lnSpc>
                <a:spcPts val="2660"/>
              </a:lnSpc>
              <a:spcBef>
                <a:spcPts val="800"/>
              </a:spcBef>
              <a:buNone/>
            </a:pPr>
            <a:r>
              <a:rPr lang="en-US" sz="1900" b="true">
                <a:solidFill>
                  <a:srgbClr val="F1EDE6"/>
                </a:solidFill>
                <a:latin typeface="Nunito Semi-Bold"/>
                <a:ea typeface="Nunito Semi-Bold"/>
                <a:cs typeface="Nunito Semi-Bold"/>
                <a:sym typeface="Nunito Semi-Bold"/>
              </a:rPr>
              <a:t>Lower-variance Shapley estimators, learned proposal distributions, adaptive refresh rules.</a:t>
            </a:r>
          </a:p>
        </p:txBody>
      </p:sp>
      <p:sp>
        <p:nvSpPr>
          <p:cNvPr id="32" name="Rounded Rectangle 31"/>
          <p:cNvSpPr/>
          <p:nvPr/>
        </p:nvSpPr>
        <p:spPr>
          <a:xfrm>
            <a:off x="9281160" y="3455162"/>
            <a:ext cx="7978140" cy="2789555"/>
          </a:xfrm>
          <a:prstGeom prst="roundRect">
            <a:avLst>
              <a:gd name="adj" fmla="val 9833"/>
            </a:avLst>
          </a:prstGeom>
          <a:solidFill>
            <a:srgbClr val="F6ECDF"/>
          </a:solidFill>
          <a:ln>
            <a:noFill/>
          </a:ln>
        </p:spPr>
        <p:txBody>
          <a:bodyPr anchor="ctr" rtlCol="false" lIns="0" tIns="0" rIns="0" bIns="0" wrap="square"/>
          <a:lstStyle/>
          <a:p>
            <a:endParaRPr lang="en-US" sz="1800"/>
          </a:p>
        </p:txBody>
      </p:sp>
      <p:sp>
        <p:nvSpPr>
          <p:cNvPr id="33" name="Oval 32"/>
          <p:cNvSpPr/>
          <p:nvPr/>
        </p:nvSpPr>
        <p:spPr>
          <a:xfrm>
            <a:off x="9646920" y="3820922"/>
            <a:ext cx="731520" cy="731520"/>
          </a:xfrm>
          <a:prstGeom prst="ellipse">
            <a:avLst/>
          </a:prstGeom>
          <a:solidFill>
            <a:srgbClr val="DF8330"/>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02</a:t>
            </a:r>
          </a:p>
        </p:txBody>
      </p:sp>
      <p:sp>
        <p:nvSpPr>
          <p:cNvPr id="34" name="TextBox 33"/>
          <p:cNvSpPr txBox="1"/>
          <p:nvPr/>
        </p:nvSpPr>
        <p:spPr>
          <a:xfrm>
            <a:off x="10607040" y="3775202"/>
            <a:ext cx="6286500" cy="2240915"/>
          </a:xfrm>
          <a:prstGeom prst="rect">
            <a:avLst/>
          </a:prstGeom>
          <a:noFill/>
        </p:spPr>
        <p:txBody>
          <a:bodyPr anchor="ctr" rtlCol="false" lIns="0" tIns="0" rIns="0" bIns="0" wrap="square"/>
          <a:lstStyle/>
          <a:p>
            <a:pPr algn="l">
              <a:lnSpc>
                <a:spcPts val="3000"/>
              </a:lnSpc>
              <a:spcBef>
                <a:spcPts val="0"/>
              </a:spcBef>
              <a:buNone/>
            </a:pPr>
            <a:r>
              <a:rPr lang="en-US" sz="2400" b="true">
                <a:solidFill>
                  <a:srgbClr val="111111"/>
                </a:solidFill>
                <a:latin typeface="Nunito Ultra-Bold"/>
                <a:ea typeface="Nunito Ultra-Bold"/>
                <a:cs typeface="Nunito Ultra-Bold"/>
                <a:sym typeface="Nunito Ultra-Bold"/>
              </a:rPr>
              <a:t>Online / streaming recommendation</a:t>
            </a:r>
          </a:p>
          <a:p>
            <a:pPr algn="l">
              <a:lnSpc>
                <a:spcPts val="2660"/>
              </a:lnSpc>
              <a:spcBef>
                <a:spcPts val="800"/>
              </a:spcBef>
              <a:buNone/>
            </a:pPr>
            <a:r>
              <a:rPr lang="en-US" sz="1900" b="true">
                <a:solidFill>
                  <a:srgbClr val="111111"/>
                </a:solidFill>
                <a:latin typeface="Nunito Semi-Bold"/>
                <a:ea typeface="Nunito Semi-Bold"/>
                <a:cs typeface="Nunito Semi-Bold"/>
                <a:sym typeface="Nunito Semi-Bold"/>
              </a:rPr>
              <a:t>Truly incremental settings with changing graphs and delayed feedback; this also addresses the static-graph limitation.</a:t>
            </a:r>
          </a:p>
        </p:txBody>
      </p:sp>
      <p:sp>
        <p:nvSpPr>
          <p:cNvPr id="35" name="Rounded Rectangle 34"/>
          <p:cNvSpPr/>
          <p:nvPr/>
        </p:nvSpPr>
        <p:spPr>
          <a:xfrm>
            <a:off x="1028700" y="6519037"/>
            <a:ext cx="7978140" cy="2789555"/>
          </a:xfrm>
          <a:prstGeom prst="roundRect">
            <a:avLst>
              <a:gd name="adj" fmla="val 9833"/>
            </a:avLst>
          </a:prstGeom>
          <a:solidFill>
            <a:srgbClr val="F6ECDF"/>
          </a:solidFill>
          <a:ln>
            <a:noFill/>
          </a:ln>
        </p:spPr>
        <p:txBody>
          <a:bodyPr anchor="ctr" rtlCol="false" lIns="0" tIns="0" rIns="0" bIns="0" wrap="square"/>
          <a:lstStyle/>
          <a:p>
            <a:endParaRPr lang="en-US" sz="1800"/>
          </a:p>
        </p:txBody>
      </p:sp>
      <p:sp>
        <p:nvSpPr>
          <p:cNvPr id="36" name="Oval 35"/>
          <p:cNvSpPr/>
          <p:nvPr/>
        </p:nvSpPr>
        <p:spPr>
          <a:xfrm>
            <a:off x="1394460" y="6884797"/>
            <a:ext cx="731520" cy="731520"/>
          </a:xfrm>
          <a:prstGeom prst="ellipse">
            <a:avLst/>
          </a:prstGeom>
          <a:solidFill>
            <a:srgbClr val="DF8330"/>
          </a:solidFill>
          <a:ln>
            <a:noFill/>
          </a:ln>
        </p:spPr>
        <p:txBody>
          <a:bodyPr anchor="ctr" rtlCol="false" lIns="0" tIns="0" rIns="0" bIns="0" wrap="square"/>
          <a:lstStyle/>
          <a:p>
            <a:pPr algn="ctr">
              <a:lnSpc>
                <a:spcPts val="2200"/>
              </a:lnSpc>
              <a:spcBef>
                <a:spcPts val="0"/>
              </a:spcBef>
              <a:buNone/>
            </a:pPr>
            <a:r>
              <a:rPr lang="en-US" sz="2000" b="true">
                <a:solidFill>
                  <a:srgbClr val="FFFFFF"/>
                </a:solidFill>
                <a:latin typeface="Nunito Ultra-Bold"/>
                <a:ea typeface="Nunito Ultra-Bold"/>
                <a:cs typeface="Nunito Ultra-Bold"/>
                <a:sym typeface="Nunito Ultra-Bold"/>
              </a:rPr>
              <a:t>03</a:t>
            </a:r>
          </a:p>
        </p:txBody>
      </p:sp>
      <p:sp>
        <p:nvSpPr>
          <p:cNvPr id="37" name="TextBox 36"/>
          <p:cNvSpPr txBox="1"/>
          <p:nvPr/>
        </p:nvSpPr>
        <p:spPr>
          <a:xfrm>
            <a:off x="2354580" y="6839077"/>
            <a:ext cx="6286500" cy="2240915"/>
          </a:xfrm>
          <a:prstGeom prst="rect">
            <a:avLst/>
          </a:prstGeom>
          <a:noFill/>
        </p:spPr>
        <p:txBody>
          <a:bodyPr anchor="ctr" rtlCol="false" lIns="0" tIns="0" rIns="0" bIns="0" wrap="square"/>
          <a:lstStyle/>
          <a:p>
            <a:pPr algn="l">
              <a:lnSpc>
                <a:spcPts val="3000"/>
              </a:lnSpc>
              <a:spcBef>
                <a:spcPts val="0"/>
              </a:spcBef>
              <a:buNone/>
            </a:pPr>
            <a:r>
              <a:rPr lang="en-US" sz="2400" b="true">
                <a:solidFill>
                  <a:srgbClr val="111111"/>
                </a:solidFill>
                <a:latin typeface="Nunito Ultra-Bold"/>
                <a:ea typeface="Nunito Ultra-Bold"/>
                <a:cs typeface="Nunito Ultra-Bold"/>
                <a:sym typeface="Nunito Ultra-Bold"/>
              </a:rPr>
              <a:t>Richer user-centred evaluation</a:t>
            </a:r>
          </a:p>
          <a:p>
            <a:pPr algn="l">
              <a:lnSpc>
                <a:spcPts val="2660"/>
              </a:lnSpc>
              <a:spcBef>
                <a:spcPts val="800"/>
              </a:spcBef>
              <a:buNone/>
            </a:pPr>
            <a:r>
              <a:rPr lang="en-US" sz="1900" b="true">
                <a:solidFill>
                  <a:srgbClr val="111111"/>
                </a:solidFill>
                <a:latin typeface="Nunito Semi-Bold"/>
                <a:ea typeface="Nunito Semi-Bold"/>
                <a:cs typeface="Nunito Semi-Bold"/>
                <a:sym typeface="Nunito Semi-Bold"/>
              </a:rPr>
              <a:t>Do explanations measurably improve analyst judgement, user trust, quality of action or perceived fairness?</a:t>
            </a:r>
          </a:p>
        </p:txBody>
      </p:sp>
      <p:sp>
        <p:nvSpPr>
          <p:cNvPr id="38" name="Rounded Rectangle 37"/>
          <p:cNvSpPr/>
          <p:nvPr/>
        </p:nvSpPr>
        <p:spPr>
          <a:xfrm>
            <a:off x="9281160" y="6519037"/>
            <a:ext cx="7978140" cy="2789555"/>
          </a:xfrm>
          <a:prstGeom prst="roundRect">
            <a:avLst>
              <a:gd name="adj" fmla="val 9833"/>
            </a:avLst>
          </a:prstGeom>
          <a:solidFill>
            <a:srgbClr val="124944"/>
          </a:solidFill>
          <a:ln>
            <a:noFill/>
          </a:ln>
        </p:spPr>
        <p:txBody>
          <a:bodyPr anchor="ctr" rtlCol="false" lIns="0" tIns="0" rIns="0" bIns="0" wrap="square"/>
          <a:lstStyle/>
          <a:p>
            <a:endParaRPr lang="en-US" sz="1800"/>
          </a:p>
        </p:txBody>
      </p:sp>
      <p:sp>
        <p:nvSpPr>
          <p:cNvPr id="39" name="Oval 38"/>
          <p:cNvSpPr/>
          <p:nvPr/>
        </p:nvSpPr>
        <p:spPr>
          <a:xfrm>
            <a:off x="9646920" y="6884797"/>
            <a:ext cx="731520" cy="731520"/>
          </a:xfrm>
          <a:prstGeom prst="ellipse">
            <a:avLst/>
          </a:prstGeom>
          <a:solidFill>
            <a:srgbClr val="ECC665"/>
          </a:solidFill>
          <a:ln>
            <a:noFill/>
          </a:ln>
        </p:spPr>
        <p:txBody>
          <a:bodyPr anchor="ctr" rtlCol="false" lIns="0" tIns="0" rIns="0" bIns="0" wrap="square"/>
          <a:lstStyle/>
          <a:p>
            <a:pPr algn="ctr">
              <a:lnSpc>
                <a:spcPts val="2200"/>
              </a:lnSpc>
              <a:spcBef>
                <a:spcPts val="0"/>
              </a:spcBef>
              <a:buNone/>
            </a:pPr>
            <a:r>
              <a:rPr lang="en-US" sz="2000" b="true">
                <a:solidFill>
                  <a:srgbClr val="111111"/>
                </a:solidFill>
                <a:latin typeface="Nunito Ultra-Bold"/>
                <a:ea typeface="Nunito Ultra-Bold"/>
                <a:cs typeface="Nunito Ultra-Bold"/>
                <a:sym typeface="Nunito Ultra-Bold"/>
              </a:rPr>
              <a:t>04</a:t>
            </a:r>
          </a:p>
        </p:txBody>
      </p:sp>
      <p:sp>
        <p:nvSpPr>
          <p:cNvPr id="40" name="TextBox 39"/>
          <p:cNvSpPr txBox="1"/>
          <p:nvPr/>
        </p:nvSpPr>
        <p:spPr>
          <a:xfrm>
            <a:off x="10607040" y="6839077"/>
            <a:ext cx="6286500" cy="2240915"/>
          </a:xfrm>
          <a:prstGeom prst="rect">
            <a:avLst/>
          </a:prstGeom>
          <a:noFill/>
        </p:spPr>
        <p:txBody>
          <a:bodyPr anchor="ctr" rtlCol="false" lIns="0" tIns="0" rIns="0" bIns="0" wrap="square"/>
          <a:lstStyle/>
          <a:p>
            <a:pPr algn="l">
              <a:lnSpc>
                <a:spcPts val="3000"/>
              </a:lnSpc>
              <a:spcBef>
                <a:spcPts val="0"/>
              </a:spcBef>
              <a:buNone/>
            </a:pPr>
            <a:r>
              <a:rPr lang="en-US" sz="2400" b="true">
                <a:solidFill>
                  <a:srgbClr val="FFFFFF"/>
                </a:solidFill>
                <a:latin typeface="Nunito Ultra-Bold"/>
                <a:ea typeface="Nunito Ultra-Bold"/>
                <a:cs typeface="Nunito Ultra-Bold"/>
                <a:sym typeface="Nunito Ultra-Bold"/>
              </a:rPr>
              <a:t>Broader trustworthy-AI evaluation</a:t>
            </a:r>
          </a:p>
          <a:p>
            <a:pPr algn="l">
              <a:lnSpc>
                <a:spcPts val="2660"/>
              </a:lnSpc>
              <a:spcBef>
                <a:spcPts val="800"/>
              </a:spcBef>
              <a:buNone/>
            </a:pPr>
            <a:r>
              <a:rPr lang="en-US" sz="1900" b="true">
                <a:solidFill>
                  <a:srgbClr val="F1EDE6"/>
                </a:solidFill>
                <a:latin typeface="Nunito Semi-Bold"/>
                <a:ea typeface="Nunito Semi-Bold"/>
                <a:cs typeface="Nunito Semi-Bold"/>
                <a:sym typeface="Nunito Semi-Bold"/>
              </a:rPr>
              <a:t>Exposure fairness, transparency requirements, auditing for governance.</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[24] Arrieta, A. B. et al. Explainable Artificial Intelligence (XAI): Concepts, Taxonomies, Opportunities and Challenges. Information Fusion 58, 82–115 (2020).   [26] European Union. Regulation (EU) 2024/1689 (AI Act), Art. 13 (2024).  ·  Regulation (EU) 2016/679 (GDPR), Art. 22 (2016).  ·  OECD. Recommendation of the Council on Artificial Intelligence (2019).</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73</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CONCLUSION &amp; PERSPECTIVES</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Conclusion</a:t>
            </a:r>
          </a:p>
        </p:txBody>
      </p:sp>
      <p:pic>
        <p:nvPicPr>
          <p:cNvPr id="23" name="Picture 22" descr="image.png"/>
          <p:cNvPicPr>
            <a:picLocks noChangeAspect="1"/>
          </p:cNvPicPr>
          <p:nvPr/>
        </p:nvPicPr>
        <p:blipFill>
          <a:blip r:embed="rId3"/>
          <a:stretch>
            <a:fillRect/>
          </a:stretch>
        </p:blipFill>
        <p:spPr>
          <a:xfrm>
            <a:off x="4224502" y="1673352"/>
            <a:ext cx="457200" cy="617115"/>
          </a:xfrm>
          <a:prstGeom prst="rect">
            <a:avLst/>
          </a:prstGeom>
        </p:spPr>
      </p:pic>
      <p:sp>
        <p:nvSpPr>
          <p:cNvPr id="24" name="Rounded Rectangle 23"/>
          <p:cNvSpPr/>
          <p:nvPr/>
        </p:nvSpPr>
        <p:spPr>
          <a:xfrm>
            <a:off x="1028700" y="2559050"/>
            <a:ext cx="1604433"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Synthesis</a:t>
            </a:r>
          </a:p>
        </p:txBody>
      </p:sp>
      <p:sp>
        <p:nvSpPr>
          <p:cNvPr id="25" name="Rounded Rectangle 24"/>
          <p:cNvSpPr/>
          <p:nvPr/>
        </p:nvSpPr>
        <p:spPr>
          <a:xfrm>
            <a:off x="2761149" y="2559050"/>
            <a:ext cx="189357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Publications</a:t>
            </a:r>
          </a:p>
        </p:txBody>
      </p:sp>
      <p:sp>
        <p:nvSpPr>
          <p:cNvPr id="26" name="Rounded Rectangle 25"/>
          <p:cNvSpPr/>
          <p:nvPr/>
        </p:nvSpPr>
        <p:spPr>
          <a:xfrm>
            <a:off x="4782741" y="2559050"/>
            <a:ext cx="1765486"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Limitations</a:t>
            </a:r>
          </a:p>
        </p:txBody>
      </p:sp>
      <p:sp>
        <p:nvSpPr>
          <p:cNvPr id="27" name="Rounded Rectangle 26"/>
          <p:cNvSpPr/>
          <p:nvPr/>
        </p:nvSpPr>
        <p:spPr>
          <a:xfrm>
            <a:off x="6676243" y="2559050"/>
            <a:ext cx="1934074" cy="420624"/>
          </a:xfrm>
          <a:prstGeom prst="roundRect">
            <a:avLst>
              <a:gd name="adj" fmla="val 50000"/>
            </a:avLst>
          </a:prstGeom>
          <a:noFill/>
          <a:ln w="28575">
            <a:solidFill>
              <a:srgbClr val="124944"/>
            </a:solidFill>
          </a:ln>
        </p:spPr>
        <p:txBody>
          <a:bodyPr anchor="ctr" rtlCol="false" lIns="45720" tIns="0" rIns="45720" bIns="0" wrap="square"/>
          <a:lstStyle/>
          <a:p>
            <a:pPr algn="ctr">
              <a:lnSpc>
                <a:spcPts val="2160"/>
              </a:lnSpc>
              <a:spcBef>
                <a:spcPts val="0"/>
              </a:spcBef>
              <a:buNone/>
            </a:pPr>
            <a:r>
              <a:rPr lang="en-US" sz="1800" b="true">
                <a:solidFill>
                  <a:srgbClr val="124944"/>
                </a:solidFill>
                <a:latin typeface="Nunito Bold"/>
                <a:ea typeface="Nunito Bold"/>
                <a:cs typeface="Nunito Bold"/>
                <a:sym typeface="Nunito Bold"/>
              </a:rPr>
              <a:t>Perspectives</a:t>
            </a:r>
          </a:p>
        </p:txBody>
      </p:sp>
      <p:sp>
        <p:nvSpPr>
          <p:cNvPr id="28" name="Rounded Rectangle 27"/>
          <p:cNvSpPr/>
          <p:nvPr/>
        </p:nvSpPr>
        <p:spPr>
          <a:xfrm>
            <a:off x="8738333" y="2559050"/>
            <a:ext cx="1753007" cy="420624"/>
          </a:xfrm>
          <a:prstGeom prst="roundRect">
            <a:avLst>
              <a:gd name="adj" fmla="val 50000"/>
            </a:avLst>
          </a:prstGeom>
          <a:solidFill>
            <a:srgbClr val="124944"/>
          </a:solidFill>
          <a:ln>
            <a:noFill/>
          </a:ln>
        </p:spPr>
        <p:txBody>
          <a:bodyPr anchor="ctr" rtlCol="false" lIns="45720" tIns="0" rIns="45720" bIns="0" wrap="square"/>
          <a:lstStyle/>
          <a:p>
            <a:pPr algn="ctr">
              <a:lnSpc>
                <a:spcPts val="2160"/>
              </a:lnSpc>
              <a:spcBef>
                <a:spcPts val="0"/>
              </a:spcBef>
              <a:buNone/>
            </a:pPr>
            <a:r>
              <a:rPr lang="en-US" sz="1800" b="true">
                <a:solidFill>
                  <a:srgbClr val="FFFFFF"/>
                </a:solidFill>
                <a:latin typeface="Nunito Bold"/>
                <a:ea typeface="Nunito Bold"/>
                <a:cs typeface="Nunito Bold"/>
                <a:sym typeface="Nunito Bold"/>
              </a:rPr>
              <a:t>Conclusion</a:t>
            </a:r>
          </a:p>
        </p:txBody>
      </p:sp>
      <p:sp>
        <p:nvSpPr>
          <p:cNvPr id="29" name="Rounded Rectangle 28"/>
          <p:cNvSpPr/>
          <p:nvPr/>
        </p:nvSpPr>
        <p:spPr>
          <a:xfrm>
            <a:off x="1028700" y="3546602"/>
            <a:ext cx="16230600" cy="1554480"/>
          </a:xfrm>
          <a:prstGeom prst="roundRect">
            <a:avLst>
              <a:gd name="adj" fmla="val 12941"/>
            </a:avLst>
          </a:prstGeom>
          <a:solidFill>
            <a:srgbClr val="F6ECDF"/>
          </a:solidFill>
          <a:ln w="25400">
            <a:solidFill>
              <a:srgbClr val="124944"/>
            </a:solidFill>
          </a:ln>
        </p:spPr>
        <p:txBody>
          <a:bodyPr anchor="ctr" rtlCol="false" lIns="0" tIns="0" rIns="0" bIns="0" wrap="square"/>
          <a:lstStyle/>
          <a:p>
            <a:endParaRPr lang="en-US" sz="1800"/>
          </a:p>
        </p:txBody>
      </p:sp>
      <p:sp>
        <p:nvSpPr>
          <p:cNvPr id="30" name="Rounded Rectangle 29"/>
          <p:cNvSpPr/>
          <p:nvPr/>
        </p:nvSpPr>
        <p:spPr>
          <a:xfrm>
            <a:off x="1348740" y="3354578"/>
            <a:ext cx="2073230" cy="384048"/>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1680"/>
              </a:lnSpc>
              <a:spcBef>
                <a:spcPts val="0"/>
              </a:spcBef>
              <a:buNone/>
            </a:pPr>
            <a:r>
              <a:rPr lang="en-US" sz="1400" b="true">
                <a:solidFill>
                  <a:srgbClr val="FFFFFF"/>
                </a:solidFill>
                <a:latin typeface="Nunito Bold"/>
                <a:ea typeface="Nunito Bold"/>
                <a:cs typeface="Nunito Bold"/>
                <a:sym typeface="Nunito Bold"/>
              </a:rPr>
              <a:t>THESIS ANSWER</a:t>
            </a:r>
          </a:p>
        </p:txBody>
      </p:sp>
      <p:sp>
        <p:nvSpPr>
          <p:cNvPr id="31" name="TextBox 30"/>
          <p:cNvSpPr txBox="1"/>
          <p:nvPr/>
        </p:nvSpPr>
        <p:spPr>
          <a:xfrm>
            <a:off x="1394460" y="3820922"/>
            <a:ext cx="15499080" cy="1143000"/>
          </a:xfrm>
          <a:prstGeom prst="rect">
            <a:avLst/>
          </a:prstGeom>
          <a:noFill/>
        </p:spPr>
        <p:txBody>
          <a:bodyPr anchor="ctr" rtlCol="false" lIns="0" tIns="0" rIns="0" bIns="0" wrap="square"/>
          <a:lstStyle/>
          <a:p>
            <a:pPr algn="l">
              <a:lnSpc>
                <a:spcPts val="3123"/>
              </a:lnSpc>
              <a:spcBef>
                <a:spcPts val="0"/>
              </a:spcBef>
              <a:buNone/>
            </a:pPr>
            <a:r>
              <a:rPr lang="en-US" sz="2231" b="true">
                <a:solidFill>
                  <a:srgbClr val="111111"/>
                </a:solidFill>
                <a:latin typeface="Nunito Semi-Bold"/>
                <a:ea typeface="Nunito Semi-Bold"/>
                <a:cs typeface="Nunito Semi-Bold"/>
                <a:sym typeface="Nunito Semi-Bold"/>
              </a:rPr>
              <a:t>Cooperative game theory can serve as a </a:t>
            </a:r>
            <a:r>
              <a:rPr lang="en-US" sz="2231" b="true">
                <a:solidFill>
                  <a:srgbClr val="111111"/>
                </a:solidFill>
                <a:latin typeface="Nunito Bold"/>
                <a:ea typeface="Nunito Bold"/>
                <a:cs typeface="Nunito Bold"/>
                <a:sym typeface="Nunito Bold"/>
              </a:rPr>
              <a:t>shared methodological view for actionable explanation</a:t>
            </a:r>
            <a:r>
              <a:rPr lang="en-US" sz="2231" b="true">
                <a:solidFill>
                  <a:srgbClr val="111111"/>
                </a:solidFill>
                <a:latin typeface="Nunito Semi-Bold"/>
                <a:ea typeface="Nunito Semi-Bold"/>
                <a:cs typeface="Nunito Semi-Bold"/>
                <a:sym typeface="Nunito Semi-Bold"/>
              </a:rPr>
              <a:t> across clustering and recommendation: the same Shapley logic explains, stays consistent across levels, and guides learning.</a:t>
            </a:r>
          </a:p>
        </p:txBody>
      </p:sp>
      <p:sp>
        <p:nvSpPr>
          <p:cNvPr id="32" name="TextBox 31"/>
          <p:cNvSpPr txBox="1"/>
          <p:nvPr/>
        </p:nvSpPr>
        <p:spPr>
          <a:xfrm>
            <a:off x="1028700" y="5421122"/>
            <a:ext cx="16230600" cy="320040"/>
          </a:xfrm>
          <a:prstGeom prst="rect">
            <a:avLst/>
          </a:prstGeom>
          <a:noFill/>
        </p:spPr>
        <p:txBody>
          <a:bodyPr anchor="t" rtlCol="false" lIns="0" tIns="0" rIns="0" bIns="0" wrap="square"/>
          <a:lstStyle/>
          <a:p>
            <a:pPr algn="l">
              <a:lnSpc>
                <a:spcPts val="1800"/>
              </a:lnSpc>
              <a:spcBef>
                <a:spcPts val="0"/>
              </a:spcBef>
              <a:buNone/>
            </a:pPr>
            <a:r>
              <a:rPr lang="en-US" sz="1400" b="true" spc="160">
                <a:solidFill>
                  <a:srgbClr val="DF8330"/>
                </a:solidFill>
                <a:latin typeface="Nunito Ultra-Bold"/>
                <a:ea typeface="Nunito Ultra-Bold"/>
                <a:cs typeface="Nunito Ultra-Bold"/>
                <a:sym typeface="Nunito Ultra-Bold"/>
              </a:rPr>
              <a:t>KEY OUTCOMES</a:t>
            </a:r>
          </a:p>
        </p:txBody>
      </p:sp>
      <p:sp>
        <p:nvSpPr>
          <p:cNvPr id="33" name="Rounded Rectangle 32"/>
          <p:cNvSpPr/>
          <p:nvPr/>
        </p:nvSpPr>
        <p:spPr>
          <a:xfrm>
            <a:off x="1028700" y="5832602"/>
            <a:ext cx="3851910" cy="3384550"/>
          </a:xfrm>
          <a:prstGeom prst="roundRect">
            <a:avLst>
              <a:gd name="adj" fmla="val 8105"/>
            </a:avLst>
          </a:prstGeom>
          <a:solidFill>
            <a:srgbClr val="F6ECDF"/>
          </a:solidFill>
          <a:ln>
            <a:noFill/>
          </a:ln>
        </p:spPr>
        <p:txBody>
          <a:bodyPr anchor="ctr" rtlCol="false" lIns="0" tIns="0" rIns="0" bIns="0" wrap="square"/>
          <a:lstStyle/>
          <a:p>
            <a:endParaRPr lang="en-US" sz="1800"/>
          </a:p>
        </p:txBody>
      </p:sp>
      <p:sp>
        <p:nvSpPr>
          <p:cNvPr id="34" name="Oval 33"/>
          <p:cNvSpPr/>
          <p:nvPr/>
        </p:nvSpPr>
        <p:spPr>
          <a:xfrm>
            <a:off x="1348740" y="6106922"/>
            <a:ext cx="502920" cy="502920"/>
          </a:xfrm>
          <a:prstGeom prst="ellipse">
            <a:avLst/>
          </a:prstGeom>
          <a:solidFill>
            <a:srgbClr val="DF8330"/>
          </a:solidFill>
          <a:ln>
            <a:noFill/>
          </a:ln>
        </p:spPr>
        <p:txBody>
          <a:bodyPr anchor="ctr" rtlCol="false" lIns="0" tIns="0" rIns="0" bIns="0" wrap="square"/>
          <a:lstStyle/>
          <a:p>
            <a:pPr algn="ctr">
              <a:lnSpc>
                <a:spcPts val="1870"/>
              </a:lnSpc>
              <a:spcBef>
                <a:spcPts val="0"/>
              </a:spcBef>
              <a:buNone/>
            </a:pPr>
            <a:r>
              <a:rPr lang="en-US" sz="1700" b="true">
                <a:solidFill>
                  <a:srgbClr val="FFFFFF"/>
                </a:solidFill>
                <a:latin typeface="Nunito Ultra-Bold"/>
                <a:ea typeface="Nunito Ultra-Bold"/>
                <a:cs typeface="Nunito Ultra-Bold"/>
                <a:sym typeface="Nunito Ultra-Bold"/>
              </a:rPr>
              <a:t>1</a:t>
            </a:r>
          </a:p>
        </p:txBody>
      </p:sp>
      <p:sp>
        <p:nvSpPr>
          <p:cNvPr id="35" name="TextBox 34"/>
          <p:cNvSpPr txBox="1"/>
          <p:nvPr/>
        </p:nvSpPr>
        <p:spPr>
          <a:xfrm>
            <a:off x="1348740" y="6747002"/>
            <a:ext cx="3211830" cy="2332990"/>
          </a:xfrm>
          <a:prstGeom prst="rect">
            <a:avLst/>
          </a:prstGeom>
          <a:noFill/>
        </p:spPr>
        <p:txBody>
          <a:bodyPr anchor="t" rtlCol="false" lIns="0" tIns="0" rIns="0" bIns="0" wrap="square"/>
          <a:lstStyle/>
          <a:p>
            <a:pPr algn="l">
              <a:lnSpc>
                <a:spcPts val="2625"/>
              </a:lnSpc>
              <a:spcBef>
                <a:spcPts val="0"/>
              </a:spcBef>
              <a:buNone/>
            </a:pPr>
            <a:r>
              <a:rPr lang="en-US" sz="2100" b="true">
                <a:solidFill>
                  <a:srgbClr val="124944"/>
                </a:solidFill>
                <a:latin typeface="Nunito Ultra-Bold"/>
                <a:ea typeface="Nunito Ultra-Bold"/>
                <a:cs typeface="Nunito Ultra-Bold"/>
                <a:sym typeface="Nunito Ultra-Bold"/>
              </a:rPr>
              <a:t>Common language</a:t>
            </a:r>
          </a:p>
          <a:p>
            <a:pPr algn="l">
              <a:lnSpc>
                <a:spcPts val="2380"/>
              </a:lnSpc>
              <a:spcBef>
                <a:spcPts val="600"/>
              </a:spcBef>
              <a:buNone/>
            </a:pPr>
            <a:r>
              <a:rPr lang="en-US" sz="1700" b="true">
                <a:solidFill>
                  <a:srgbClr val="111111"/>
                </a:solidFill>
                <a:latin typeface="Nunito Semi-Bold"/>
                <a:ea typeface="Nunito Semi-Bold"/>
                <a:cs typeface="Nunito Semi-Bold"/>
                <a:sym typeface="Nunito Semi-Bold"/>
              </a:rPr>
              <a:t>Shapley attribution as a common formal language for assigning importance to features, interactions and contexts.</a:t>
            </a:r>
          </a:p>
        </p:txBody>
      </p:sp>
      <p:sp>
        <p:nvSpPr>
          <p:cNvPr id="36" name="Rounded Rectangle 35"/>
          <p:cNvSpPr/>
          <p:nvPr/>
        </p:nvSpPr>
        <p:spPr>
          <a:xfrm>
            <a:off x="5154930" y="5832602"/>
            <a:ext cx="3851910" cy="3384550"/>
          </a:xfrm>
          <a:prstGeom prst="roundRect">
            <a:avLst>
              <a:gd name="adj" fmla="val 8105"/>
            </a:avLst>
          </a:prstGeom>
          <a:solidFill>
            <a:srgbClr val="FBF4EB"/>
          </a:solidFill>
          <a:ln>
            <a:noFill/>
          </a:ln>
        </p:spPr>
        <p:txBody>
          <a:bodyPr anchor="ctr" rtlCol="false" lIns="0" tIns="0" rIns="0" bIns="0" wrap="square"/>
          <a:lstStyle/>
          <a:p>
            <a:endParaRPr lang="en-US" sz="1800"/>
          </a:p>
        </p:txBody>
      </p:sp>
      <p:sp>
        <p:nvSpPr>
          <p:cNvPr id="37" name="Oval 36"/>
          <p:cNvSpPr/>
          <p:nvPr/>
        </p:nvSpPr>
        <p:spPr>
          <a:xfrm>
            <a:off x="5474970" y="6106922"/>
            <a:ext cx="502920" cy="502920"/>
          </a:xfrm>
          <a:prstGeom prst="ellipse">
            <a:avLst/>
          </a:prstGeom>
          <a:solidFill>
            <a:srgbClr val="DF8330"/>
          </a:solidFill>
          <a:ln>
            <a:noFill/>
          </a:ln>
        </p:spPr>
        <p:txBody>
          <a:bodyPr anchor="ctr" rtlCol="false" lIns="0" tIns="0" rIns="0" bIns="0" wrap="square"/>
          <a:lstStyle/>
          <a:p>
            <a:pPr algn="ctr">
              <a:lnSpc>
                <a:spcPts val="1870"/>
              </a:lnSpc>
              <a:spcBef>
                <a:spcPts val="0"/>
              </a:spcBef>
              <a:buNone/>
            </a:pPr>
            <a:r>
              <a:rPr lang="en-US" sz="1700" b="true">
                <a:solidFill>
                  <a:srgbClr val="FFFFFF"/>
                </a:solidFill>
                <a:latin typeface="Nunito Ultra-Bold"/>
                <a:ea typeface="Nunito Ultra-Bold"/>
                <a:cs typeface="Nunito Ultra-Bold"/>
                <a:sym typeface="Nunito Ultra-Bold"/>
              </a:rPr>
              <a:t>2</a:t>
            </a:r>
          </a:p>
        </p:txBody>
      </p:sp>
      <p:sp>
        <p:nvSpPr>
          <p:cNvPr id="38" name="TextBox 37"/>
          <p:cNvSpPr txBox="1"/>
          <p:nvPr/>
        </p:nvSpPr>
        <p:spPr>
          <a:xfrm>
            <a:off x="5474970" y="6747002"/>
            <a:ext cx="3211830" cy="2332990"/>
          </a:xfrm>
          <a:prstGeom prst="rect">
            <a:avLst/>
          </a:prstGeom>
          <a:noFill/>
        </p:spPr>
        <p:txBody>
          <a:bodyPr anchor="t" rtlCol="false" lIns="0" tIns="0" rIns="0" bIns="0" wrap="square"/>
          <a:lstStyle/>
          <a:p>
            <a:pPr algn="l">
              <a:lnSpc>
                <a:spcPts val="2625"/>
              </a:lnSpc>
              <a:spcBef>
                <a:spcPts val="0"/>
              </a:spcBef>
              <a:buNone/>
            </a:pPr>
            <a:r>
              <a:rPr lang="en-US" sz="2100" b="true">
                <a:solidFill>
                  <a:srgbClr val="124944"/>
                </a:solidFill>
                <a:latin typeface="Nunito Ultra-Bold"/>
                <a:ea typeface="Nunito Ultra-Bold"/>
                <a:cs typeface="Nunito Ultra-Bold"/>
                <a:sym typeface="Nunito Ultra-Bold"/>
              </a:rPr>
              <a:t>Three achievements</a:t>
            </a:r>
          </a:p>
          <a:p>
            <a:pPr algn="l">
              <a:lnSpc>
                <a:spcPts val="2380"/>
              </a:lnSpc>
              <a:spcBef>
                <a:spcPts val="600"/>
              </a:spcBef>
              <a:buNone/>
            </a:pPr>
            <a:r>
              <a:rPr lang="en-US" sz="1700" b="true">
                <a:solidFill>
                  <a:srgbClr val="111111"/>
                </a:solidFill>
                <a:latin typeface="Nunito Semi-Bold"/>
                <a:ea typeface="Nunito Semi-Bold"/>
                <a:cs typeface="Nunito Semi-Bold"/>
                <a:sym typeface="Nunito Semi-Bold"/>
              </a:rPr>
              <a:t>Faithful clustering explanation, consistent multi-level explanation, contribution-aware recommendation learning.</a:t>
            </a:r>
          </a:p>
        </p:txBody>
      </p:sp>
      <p:sp>
        <p:nvSpPr>
          <p:cNvPr id="39" name="Rounded Rectangle 38"/>
          <p:cNvSpPr/>
          <p:nvPr/>
        </p:nvSpPr>
        <p:spPr>
          <a:xfrm>
            <a:off x="9281160" y="5832602"/>
            <a:ext cx="3851910" cy="3384550"/>
          </a:xfrm>
          <a:prstGeom prst="roundRect">
            <a:avLst>
              <a:gd name="adj" fmla="val 8105"/>
            </a:avLst>
          </a:prstGeom>
          <a:solidFill>
            <a:srgbClr val="F6ECDF"/>
          </a:solidFill>
          <a:ln>
            <a:noFill/>
          </a:ln>
        </p:spPr>
        <p:txBody>
          <a:bodyPr anchor="ctr" rtlCol="false" lIns="0" tIns="0" rIns="0" bIns="0" wrap="square"/>
          <a:lstStyle/>
          <a:p>
            <a:endParaRPr lang="en-US" sz="1800"/>
          </a:p>
        </p:txBody>
      </p:sp>
      <p:sp>
        <p:nvSpPr>
          <p:cNvPr id="40" name="Oval 39"/>
          <p:cNvSpPr/>
          <p:nvPr/>
        </p:nvSpPr>
        <p:spPr>
          <a:xfrm>
            <a:off x="9601200" y="6106922"/>
            <a:ext cx="502920" cy="502920"/>
          </a:xfrm>
          <a:prstGeom prst="ellipse">
            <a:avLst/>
          </a:prstGeom>
          <a:solidFill>
            <a:srgbClr val="DF8330"/>
          </a:solidFill>
          <a:ln>
            <a:noFill/>
          </a:ln>
        </p:spPr>
        <p:txBody>
          <a:bodyPr anchor="ctr" rtlCol="false" lIns="0" tIns="0" rIns="0" bIns="0" wrap="square"/>
          <a:lstStyle/>
          <a:p>
            <a:pPr algn="ctr">
              <a:lnSpc>
                <a:spcPts val="1870"/>
              </a:lnSpc>
              <a:spcBef>
                <a:spcPts val="0"/>
              </a:spcBef>
              <a:buNone/>
            </a:pPr>
            <a:r>
              <a:rPr lang="en-US" sz="1700" b="true">
                <a:solidFill>
                  <a:srgbClr val="FFFFFF"/>
                </a:solidFill>
                <a:latin typeface="Nunito Ultra-Bold"/>
                <a:ea typeface="Nunito Ultra-Bold"/>
                <a:cs typeface="Nunito Ultra-Bold"/>
                <a:sym typeface="Nunito Ultra-Bold"/>
              </a:rPr>
              <a:t>3</a:t>
            </a:r>
          </a:p>
        </p:txBody>
      </p:sp>
      <p:sp>
        <p:nvSpPr>
          <p:cNvPr id="41" name="TextBox 40"/>
          <p:cNvSpPr txBox="1"/>
          <p:nvPr/>
        </p:nvSpPr>
        <p:spPr>
          <a:xfrm>
            <a:off x="9601200" y="6747002"/>
            <a:ext cx="3211830" cy="2332990"/>
          </a:xfrm>
          <a:prstGeom prst="rect">
            <a:avLst/>
          </a:prstGeom>
          <a:noFill/>
        </p:spPr>
        <p:txBody>
          <a:bodyPr anchor="t" rtlCol="false" lIns="0" tIns="0" rIns="0" bIns="0" wrap="square"/>
          <a:lstStyle/>
          <a:p>
            <a:pPr algn="l">
              <a:lnSpc>
                <a:spcPts val="2625"/>
              </a:lnSpc>
              <a:spcBef>
                <a:spcPts val="0"/>
              </a:spcBef>
              <a:buNone/>
            </a:pPr>
            <a:r>
              <a:rPr lang="en-US" sz="2100" b="true">
                <a:solidFill>
                  <a:srgbClr val="124944"/>
                </a:solidFill>
                <a:latin typeface="Nunito Ultra-Bold"/>
                <a:ea typeface="Nunito Ultra-Bold"/>
                <a:cs typeface="Nunito Ultra-Bold"/>
                <a:sym typeface="Nunito Ultra-Bold"/>
              </a:rPr>
              <a:t>Explanation as method</a:t>
            </a:r>
          </a:p>
          <a:p>
            <a:pPr algn="l">
              <a:lnSpc>
                <a:spcPts val="2380"/>
              </a:lnSpc>
              <a:spcBef>
                <a:spcPts val="600"/>
              </a:spcBef>
              <a:buNone/>
            </a:pPr>
            <a:r>
              <a:rPr lang="en-US" sz="1700" b="true">
                <a:solidFill>
                  <a:srgbClr val="111111"/>
                </a:solidFill>
                <a:latin typeface="Nunito Semi-Bold"/>
                <a:ea typeface="Nunito Semi-Bold"/>
                <a:cs typeface="Nunito Semi-Bold"/>
                <a:sym typeface="Nunito Semi-Bold"/>
              </a:rPr>
              <a:t>Not a comment added later: from post-hoc description to in-training guidance.</a:t>
            </a:r>
          </a:p>
        </p:txBody>
      </p:sp>
      <p:sp>
        <p:nvSpPr>
          <p:cNvPr id="42" name="Rounded Rectangle 41"/>
          <p:cNvSpPr/>
          <p:nvPr/>
        </p:nvSpPr>
        <p:spPr>
          <a:xfrm>
            <a:off x="13407390" y="5832602"/>
            <a:ext cx="3851910" cy="3384550"/>
          </a:xfrm>
          <a:prstGeom prst="roundRect">
            <a:avLst>
              <a:gd name="adj" fmla="val 8105"/>
            </a:avLst>
          </a:prstGeom>
          <a:solidFill>
            <a:srgbClr val="FBF4EB"/>
          </a:solidFill>
          <a:ln>
            <a:noFill/>
          </a:ln>
        </p:spPr>
        <p:txBody>
          <a:bodyPr anchor="ctr" rtlCol="false" lIns="0" tIns="0" rIns="0" bIns="0" wrap="square"/>
          <a:lstStyle/>
          <a:p>
            <a:endParaRPr lang="en-US" sz="1800"/>
          </a:p>
        </p:txBody>
      </p:sp>
      <p:sp>
        <p:nvSpPr>
          <p:cNvPr id="43" name="Oval 42"/>
          <p:cNvSpPr/>
          <p:nvPr/>
        </p:nvSpPr>
        <p:spPr>
          <a:xfrm>
            <a:off x="13727430" y="6106922"/>
            <a:ext cx="502920" cy="502920"/>
          </a:xfrm>
          <a:prstGeom prst="ellipse">
            <a:avLst/>
          </a:prstGeom>
          <a:solidFill>
            <a:srgbClr val="DF8330"/>
          </a:solidFill>
          <a:ln>
            <a:noFill/>
          </a:ln>
        </p:spPr>
        <p:txBody>
          <a:bodyPr anchor="ctr" rtlCol="false" lIns="0" tIns="0" rIns="0" bIns="0" wrap="square"/>
          <a:lstStyle/>
          <a:p>
            <a:pPr algn="ctr">
              <a:lnSpc>
                <a:spcPts val="1870"/>
              </a:lnSpc>
              <a:spcBef>
                <a:spcPts val="0"/>
              </a:spcBef>
              <a:buNone/>
            </a:pPr>
            <a:r>
              <a:rPr lang="en-US" sz="1700" b="true">
                <a:solidFill>
                  <a:srgbClr val="FFFFFF"/>
                </a:solidFill>
                <a:latin typeface="Nunito Ultra-Bold"/>
                <a:ea typeface="Nunito Ultra-Bold"/>
                <a:cs typeface="Nunito Ultra-Bold"/>
                <a:sym typeface="Nunito Ultra-Bold"/>
              </a:rPr>
              <a:t>4</a:t>
            </a:r>
          </a:p>
        </p:txBody>
      </p:sp>
      <p:sp>
        <p:nvSpPr>
          <p:cNvPr id="44" name="TextBox 43"/>
          <p:cNvSpPr txBox="1"/>
          <p:nvPr/>
        </p:nvSpPr>
        <p:spPr>
          <a:xfrm>
            <a:off x="13727430" y="6747002"/>
            <a:ext cx="3211830" cy="2332990"/>
          </a:xfrm>
          <a:prstGeom prst="rect">
            <a:avLst/>
          </a:prstGeom>
          <a:noFill/>
        </p:spPr>
        <p:txBody>
          <a:bodyPr anchor="t" rtlCol="false" lIns="0" tIns="0" rIns="0" bIns="0" wrap="square"/>
          <a:lstStyle/>
          <a:p>
            <a:pPr algn="l">
              <a:lnSpc>
                <a:spcPts val="2625"/>
              </a:lnSpc>
              <a:spcBef>
                <a:spcPts val="0"/>
              </a:spcBef>
              <a:buNone/>
            </a:pPr>
            <a:r>
              <a:rPr lang="en-US" sz="2100" b="true">
                <a:solidFill>
                  <a:srgbClr val="124944"/>
                </a:solidFill>
                <a:latin typeface="Nunito Ultra-Bold"/>
                <a:ea typeface="Nunito Ultra-Bold"/>
                <a:cs typeface="Nunito Ultra-Bold"/>
                <a:sym typeface="Nunito Ultra-Bold"/>
              </a:rPr>
              <a:t>Trustworthy AI</a:t>
            </a:r>
          </a:p>
          <a:p>
            <a:pPr algn="l">
              <a:lnSpc>
                <a:spcPts val="2380"/>
              </a:lnSpc>
              <a:spcBef>
                <a:spcPts val="600"/>
              </a:spcBef>
              <a:buNone/>
            </a:pPr>
            <a:r>
              <a:rPr lang="en-US" sz="1700" b="true">
                <a:solidFill>
                  <a:srgbClr val="111111"/>
                </a:solidFill>
                <a:latin typeface="Nunito Semi-Bold"/>
                <a:ea typeface="Nunito Semi-Bold"/>
                <a:cs typeface="Nunito Semi-Bold"/>
                <a:sym typeface="Nunito Semi-Bold"/>
              </a:rPr>
              <a:t>Aligned with EU AI Act, OECD principles and GDPR expectations.</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74</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CONCLUSION &amp; PERSPECTIVES</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References (1 / 2)</a:t>
            </a:r>
          </a:p>
        </p:txBody>
      </p:sp>
      <p:pic>
        <p:nvPicPr>
          <p:cNvPr id="23" name="Picture 22" descr="image.png"/>
          <p:cNvPicPr>
            <a:picLocks noChangeAspect="1"/>
          </p:cNvPicPr>
          <p:nvPr/>
        </p:nvPicPr>
        <p:blipFill>
          <a:blip r:embed="rId3"/>
          <a:stretch>
            <a:fillRect/>
          </a:stretch>
        </p:blipFill>
        <p:spPr>
          <a:xfrm>
            <a:off x="5569149" y="1673352"/>
            <a:ext cx="457200" cy="250983"/>
          </a:xfrm>
          <a:prstGeom prst="rect">
            <a:avLst/>
          </a:prstGeom>
        </p:spPr>
      </p:pic>
      <p:sp>
        <p:nvSpPr>
          <p:cNvPr id="24" name="Rounded Rectangle 23"/>
          <p:cNvSpPr/>
          <p:nvPr/>
        </p:nvSpPr>
        <p:spPr>
          <a:xfrm>
            <a:off x="1028700" y="2714498"/>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25" name="Rounded Rectangle 24"/>
          <p:cNvSpPr/>
          <p:nvPr/>
        </p:nvSpPr>
        <p:spPr>
          <a:xfrm>
            <a:off x="1138428" y="2769362"/>
            <a:ext cx="640080" cy="323396"/>
          </a:xfrm>
          <a:prstGeom prst="roundRect">
            <a:avLst>
              <a:gd name="adj" fmla="val 22619"/>
            </a:avLst>
          </a:prstGeom>
          <a:solidFill>
            <a:srgbClr val="124944"/>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a:t>
            </a:r>
          </a:p>
        </p:txBody>
      </p:sp>
      <p:sp>
        <p:nvSpPr>
          <p:cNvPr id="26" name="TextBox 25"/>
          <p:cNvSpPr txBox="1"/>
          <p:nvPr/>
        </p:nvSpPr>
        <p:spPr>
          <a:xfrm>
            <a:off x="1943100" y="2714498"/>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Louhichi, M., Nesmaoui, R., Mbarek, M. &amp; Lazaar, M. Shapley Values for Explaining the Black Box Nature of Machine Learning Model Clustering. Procedia Computer Science 220, 806–811 (2023).</a:t>
            </a:r>
          </a:p>
        </p:txBody>
      </p:sp>
      <p:sp>
        <p:nvSpPr>
          <p:cNvPr id="27" name="Rounded Rectangle 26"/>
          <p:cNvSpPr/>
          <p:nvPr/>
        </p:nvSpPr>
        <p:spPr>
          <a:xfrm>
            <a:off x="1028700" y="3202486"/>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28" name="Rounded Rectangle 27"/>
          <p:cNvSpPr/>
          <p:nvPr/>
        </p:nvSpPr>
        <p:spPr>
          <a:xfrm>
            <a:off x="1138428" y="3257350"/>
            <a:ext cx="640080" cy="323396"/>
          </a:xfrm>
          <a:prstGeom prst="roundRect">
            <a:avLst>
              <a:gd name="adj" fmla="val 22619"/>
            </a:avLst>
          </a:prstGeom>
          <a:solidFill>
            <a:srgbClr val="124944"/>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a:t>
            </a:r>
          </a:p>
        </p:txBody>
      </p:sp>
      <p:sp>
        <p:nvSpPr>
          <p:cNvPr id="29" name="TextBox 28"/>
          <p:cNvSpPr txBox="1"/>
          <p:nvPr/>
        </p:nvSpPr>
        <p:spPr>
          <a:xfrm>
            <a:off x="1943100" y="3202486"/>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Louhichi, M., Nesmaoui, R. &amp; Lazaar, M. Game Theory Meets Explainable AI: An Enhanced Approach to Understanding Black Box Models Through Shapley Values. IJACSA 16(7), 716–725 (2025).</a:t>
            </a:r>
          </a:p>
        </p:txBody>
      </p:sp>
      <p:sp>
        <p:nvSpPr>
          <p:cNvPr id="30" name="Rounded Rectangle 29"/>
          <p:cNvSpPr/>
          <p:nvPr/>
        </p:nvSpPr>
        <p:spPr>
          <a:xfrm>
            <a:off x="1028700" y="3690474"/>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31" name="Rounded Rectangle 30"/>
          <p:cNvSpPr/>
          <p:nvPr/>
        </p:nvSpPr>
        <p:spPr>
          <a:xfrm>
            <a:off x="1138428" y="3745338"/>
            <a:ext cx="640080" cy="323396"/>
          </a:xfrm>
          <a:prstGeom prst="roundRect">
            <a:avLst>
              <a:gd name="adj" fmla="val 22619"/>
            </a:avLst>
          </a:prstGeom>
          <a:solidFill>
            <a:srgbClr val="124944"/>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[3]</a:t>
            </a:r>
          </a:p>
        </p:txBody>
      </p:sp>
      <p:sp>
        <p:nvSpPr>
          <p:cNvPr id="32" name="TextBox 31"/>
          <p:cNvSpPr txBox="1"/>
          <p:nvPr/>
        </p:nvSpPr>
        <p:spPr>
          <a:xfrm>
            <a:off x="1943100" y="3690474"/>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Louhichi, M., Nesmaoui, R. &amp; Lazaar, M. DyHuCoG: A Dynamic Hypergraph Cooperative Game for Preference-aware Recommendation. IJIES 19(2), 887–902 (2026).</a:t>
            </a:r>
          </a:p>
        </p:txBody>
      </p:sp>
      <p:sp>
        <p:nvSpPr>
          <p:cNvPr id="33" name="Rounded Rectangle 32"/>
          <p:cNvSpPr/>
          <p:nvPr/>
        </p:nvSpPr>
        <p:spPr>
          <a:xfrm>
            <a:off x="1028700" y="4178463"/>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34" name="Rounded Rectangle 33"/>
          <p:cNvSpPr/>
          <p:nvPr/>
        </p:nvSpPr>
        <p:spPr>
          <a:xfrm>
            <a:off x="1138428" y="4233327"/>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[4]</a:t>
            </a:r>
          </a:p>
        </p:txBody>
      </p:sp>
      <p:sp>
        <p:nvSpPr>
          <p:cNvPr id="35" name="TextBox 34"/>
          <p:cNvSpPr txBox="1"/>
          <p:nvPr/>
        </p:nvSpPr>
        <p:spPr>
          <a:xfrm>
            <a:off x="1943100" y="4178463"/>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Shapley, L. S. A Value for n-Person Games. Contributions to the Theory of Games II, 307–317, Princeton University Press (1953).</a:t>
            </a:r>
          </a:p>
        </p:txBody>
      </p:sp>
      <p:sp>
        <p:nvSpPr>
          <p:cNvPr id="36" name="Rounded Rectangle 35"/>
          <p:cNvSpPr/>
          <p:nvPr/>
        </p:nvSpPr>
        <p:spPr>
          <a:xfrm>
            <a:off x="1028700" y="4666451"/>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37" name="Rounded Rectangle 36"/>
          <p:cNvSpPr/>
          <p:nvPr/>
        </p:nvSpPr>
        <p:spPr>
          <a:xfrm>
            <a:off x="1138428" y="4721315"/>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[5]</a:t>
            </a:r>
          </a:p>
        </p:txBody>
      </p:sp>
      <p:sp>
        <p:nvSpPr>
          <p:cNvPr id="38" name="TextBox 37"/>
          <p:cNvSpPr txBox="1"/>
          <p:nvPr/>
        </p:nvSpPr>
        <p:spPr>
          <a:xfrm>
            <a:off x="1943100" y="4666451"/>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Lundberg, S. M. &amp; Lee, S.-I. A Unified Approach to Interpreting Model Predictions (SHAP). NeurIPS 30, 4765–4774 (2017).</a:t>
            </a:r>
          </a:p>
        </p:txBody>
      </p:sp>
      <p:sp>
        <p:nvSpPr>
          <p:cNvPr id="39" name="Rounded Rectangle 38"/>
          <p:cNvSpPr/>
          <p:nvPr/>
        </p:nvSpPr>
        <p:spPr>
          <a:xfrm>
            <a:off x="1028700" y="5154440"/>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40" name="Rounded Rectangle 39"/>
          <p:cNvSpPr/>
          <p:nvPr/>
        </p:nvSpPr>
        <p:spPr>
          <a:xfrm>
            <a:off x="1138428" y="5209304"/>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[6]</a:t>
            </a:r>
          </a:p>
        </p:txBody>
      </p:sp>
      <p:sp>
        <p:nvSpPr>
          <p:cNvPr id="41" name="TextBox 40"/>
          <p:cNvSpPr txBox="1"/>
          <p:nvPr/>
        </p:nvSpPr>
        <p:spPr>
          <a:xfrm>
            <a:off x="1943100" y="5154440"/>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Lundberg, S. M. et al. From Local Explanations to Global Understanding with Explainable AI for Trees (TreeSHAP). Nature Machine Intelligence 2, 56–67 (2020).</a:t>
            </a:r>
          </a:p>
        </p:txBody>
      </p:sp>
      <p:sp>
        <p:nvSpPr>
          <p:cNvPr id="42" name="Rounded Rectangle 41"/>
          <p:cNvSpPr/>
          <p:nvPr/>
        </p:nvSpPr>
        <p:spPr>
          <a:xfrm>
            <a:off x="1028700" y="5642428"/>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43" name="Rounded Rectangle 42"/>
          <p:cNvSpPr/>
          <p:nvPr/>
        </p:nvSpPr>
        <p:spPr>
          <a:xfrm>
            <a:off x="1138428" y="5697292"/>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[7]</a:t>
            </a:r>
          </a:p>
        </p:txBody>
      </p:sp>
      <p:sp>
        <p:nvSpPr>
          <p:cNvPr id="44" name="TextBox 43"/>
          <p:cNvSpPr txBox="1"/>
          <p:nvPr/>
        </p:nvSpPr>
        <p:spPr>
          <a:xfrm>
            <a:off x="1943100" y="5642428"/>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Ribeiro, M. T., Singh, S. &amp; Guestrin, C. "Why Should I Trust You?": Explaining the Predictions of Any Classifier (LIME). KDD, 1135–1144 (2016).</a:t>
            </a:r>
          </a:p>
        </p:txBody>
      </p:sp>
      <p:sp>
        <p:nvSpPr>
          <p:cNvPr id="45" name="Rounded Rectangle 44"/>
          <p:cNvSpPr/>
          <p:nvPr/>
        </p:nvSpPr>
        <p:spPr>
          <a:xfrm>
            <a:off x="1028700" y="6130417"/>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46" name="Rounded Rectangle 45"/>
          <p:cNvSpPr/>
          <p:nvPr/>
        </p:nvSpPr>
        <p:spPr>
          <a:xfrm>
            <a:off x="1138428" y="6185281"/>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[8]</a:t>
            </a:r>
          </a:p>
        </p:txBody>
      </p:sp>
      <p:sp>
        <p:nvSpPr>
          <p:cNvPr id="47" name="TextBox 46"/>
          <p:cNvSpPr txBox="1"/>
          <p:nvPr/>
        </p:nvSpPr>
        <p:spPr>
          <a:xfrm>
            <a:off x="1943100" y="6130417"/>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Castro, J., Gómez, D. &amp; Tejada, J. Polynomial Calculation of the Shapley Value Based on Sampling. Computers &amp; Operations Research 36(5), 1726–1730 (2009).</a:t>
            </a:r>
          </a:p>
        </p:txBody>
      </p:sp>
      <p:sp>
        <p:nvSpPr>
          <p:cNvPr id="48" name="Rounded Rectangle 47"/>
          <p:cNvSpPr/>
          <p:nvPr/>
        </p:nvSpPr>
        <p:spPr>
          <a:xfrm>
            <a:off x="1028700" y="6618405"/>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49" name="Rounded Rectangle 48"/>
          <p:cNvSpPr/>
          <p:nvPr/>
        </p:nvSpPr>
        <p:spPr>
          <a:xfrm>
            <a:off x="1138428" y="6673269"/>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[9]</a:t>
            </a:r>
          </a:p>
        </p:txBody>
      </p:sp>
      <p:sp>
        <p:nvSpPr>
          <p:cNvPr id="50" name="TextBox 49"/>
          <p:cNvSpPr txBox="1"/>
          <p:nvPr/>
        </p:nvSpPr>
        <p:spPr>
          <a:xfrm>
            <a:off x="1943100" y="6618405"/>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Štrumbelj, E. &amp; Kononenko, I. An Efficient Explanation of Individual Classifications Using Game Theory. JMLR 11, 1–18 (2010).</a:t>
            </a:r>
          </a:p>
        </p:txBody>
      </p:sp>
      <p:sp>
        <p:nvSpPr>
          <p:cNvPr id="51" name="Rounded Rectangle 50"/>
          <p:cNvSpPr/>
          <p:nvPr/>
        </p:nvSpPr>
        <p:spPr>
          <a:xfrm>
            <a:off x="1028700" y="7106393"/>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52" name="Rounded Rectangle 51"/>
          <p:cNvSpPr/>
          <p:nvPr/>
        </p:nvSpPr>
        <p:spPr>
          <a:xfrm>
            <a:off x="1138428" y="7161257"/>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[10]</a:t>
            </a:r>
          </a:p>
        </p:txBody>
      </p:sp>
      <p:sp>
        <p:nvSpPr>
          <p:cNvPr id="53" name="TextBox 52"/>
          <p:cNvSpPr txBox="1"/>
          <p:nvPr/>
        </p:nvSpPr>
        <p:spPr>
          <a:xfrm>
            <a:off x="1943100" y="7106393"/>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Koren, Y., Bell, R. &amp; Volinsky, C. Matrix Factorization Techniques for Recommender Systems. Computer 42(8), 30–37 (2009).</a:t>
            </a:r>
          </a:p>
        </p:txBody>
      </p:sp>
      <p:sp>
        <p:nvSpPr>
          <p:cNvPr id="54" name="Rounded Rectangle 53"/>
          <p:cNvSpPr/>
          <p:nvPr/>
        </p:nvSpPr>
        <p:spPr>
          <a:xfrm>
            <a:off x="1028700" y="7594382"/>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55" name="Rounded Rectangle 54"/>
          <p:cNvSpPr/>
          <p:nvPr/>
        </p:nvSpPr>
        <p:spPr>
          <a:xfrm>
            <a:off x="1138428" y="7649246"/>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[11]</a:t>
            </a:r>
          </a:p>
        </p:txBody>
      </p:sp>
      <p:sp>
        <p:nvSpPr>
          <p:cNvPr id="56" name="TextBox 55"/>
          <p:cNvSpPr txBox="1"/>
          <p:nvPr/>
        </p:nvSpPr>
        <p:spPr>
          <a:xfrm>
            <a:off x="1943100" y="7594382"/>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He, X. et al. Neural Collaborative Filtering. WWW, 173–182 (2017).</a:t>
            </a:r>
          </a:p>
        </p:txBody>
      </p:sp>
      <p:sp>
        <p:nvSpPr>
          <p:cNvPr id="57" name="Rounded Rectangle 56"/>
          <p:cNvSpPr/>
          <p:nvPr/>
        </p:nvSpPr>
        <p:spPr>
          <a:xfrm>
            <a:off x="1028700" y="8082370"/>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58" name="Rounded Rectangle 57"/>
          <p:cNvSpPr/>
          <p:nvPr/>
        </p:nvSpPr>
        <p:spPr>
          <a:xfrm>
            <a:off x="1138428" y="8137234"/>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[12]</a:t>
            </a:r>
          </a:p>
        </p:txBody>
      </p:sp>
      <p:sp>
        <p:nvSpPr>
          <p:cNvPr id="59" name="TextBox 58"/>
          <p:cNvSpPr txBox="1"/>
          <p:nvPr/>
        </p:nvSpPr>
        <p:spPr>
          <a:xfrm>
            <a:off x="1943100" y="8082370"/>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He, X. et al. LightGCN: Simplifying and Powering Graph Convolution Network for Recommendation. SIGIR, 639–648 (2020).</a:t>
            </a:r>
          </a:p>
        </p:txBody>
      </p:sp>
      <p:sp>
        <p:nvSpPr>
          <p:cNvPr id="60" name="Rounded Rectangle 59"/>
          <p:cNvSpPr/>
          <p:nvPr/>
        </p:nvSpPr>
        <p:spPr>
          <a:xfrm>
            <a:off x="1028700" y="8570359"/>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61" name="Rounded Rectangle 60"/>
          <p:cNvSpPr/>
          <p:nvPr/>
        </p:nvSpPr>
        <p:spPr>
          <a:xfrm>
            <a:off x="1138428" y="8625223"/>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[13]</a:t>
            </a:r>
          </a:p>
        </p:txBody>
      </p:sp>
      <p:sp>
        <p:nvSpPr>
          <p:cNvPr id="62" name="TextBox 61"/>
          <p:cNvSpPr txBox="1"/>
          <p:nvPr/>
        </p:nvSpPr>
        <p:spPr>
          <a:xfrm>
            <a:off x="1943100" y="8570359"/>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Xia, L. et al. Hypergraph Contrastive Collaborative Filtering (HCCF). SIGIR, 70–79 (2022).</a:t>
            </a:r>
          </a:p>
        </p:txBody>
      </p:sp>
      <p:sp>
        <p:nvSpPr>
          <p:cNvPr id="63" name="Rounded Rectangle 62"/>
          <p:cNvSpPr/>
          <p:nvPr/>
        </p:nvSpPr>
        <p:spPr>
          <a:xfrm>
            <a:off x="1028700" y="9058347"/>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64" name="Rounded Rectangle 63"/>
          <p:cNvSpPr/>
          <p:nvPr/>
        </p:nvSpPr>
        <p:spPr>
          <a:xfrm>
            <a:off x="1138428" y="9113211"/>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[14]</a:t>
            </a:r>
          </a:p>
        </p:txBody>
      </p:sp>
      <p:sp>
        <p:nvSpPr>
          <p:cNvPr id="65" name="TextBox 64"/>
          <p:cNvSpPr txBox="1"/>
          <p:nvPr/>
        </p:nvSpPr>
        <p:spPr>
          <a:xfrm>
            <a:off x="1943100" y="9058347"/>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Xiangyi, Y. et al. Hypergraph Projection Enhanced Collaborative Filtering (HPCF). Int. J. Data Science and Analytics 19(2), 269–281 (2025).</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75</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CONCLUSION &amp; PERSPECTIVES</a:t>
            </a:r>
          </a:p>
        </p:txBody>
      </p:sp>
      <p:sp>
        <p:nvSpPr>
          <p:cNvPr id="8" name="Rounded Rectangle 7"/>
          <p:cNvSpPr/>
          <p:nvPr/>
        </p:nvSpPr>
        <p:spPr>
          <a:xfrm>
            <a:off x="1451610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9" name="TextBox 8"/>
          <p:cNvSpPr txBox="1"/>
          <p:nvPr/>
        </p:nvSpPr>
        <p:spPr>
          <a:xfrm>
            <a:off x="1451610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1</a:t>
            </a:r>
          </a:p>
        </p:txBody>
      </p:sp>
      <p:sp>
        <p:nvSpPr>
          <p:cNvPr id="10" name="Rounded Rectangle 9"/>
          <p:cNvSpPr/>
          <p:nvPr/>
        </p:nvSpPr>
        <p:spPr>
          <a:xfrm>
            <a:off x="14918436"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1" name="TextBox 10"/>
          <p:cNvSpPr txBox="1"/>
          <p:nvPr/>
        </p:nvSpPr>
        <p:spPr>
          <a:xfrm>
            <a:off x="1491843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2</a:t>
            </a:r>
          </a:p>
        </p:txBody>
      </p:sp>
      <p:sp>
        <p:nvSpPr>
          <p:cNvPr id="12" name="Rounded Rectangle 11"/>
          <p:cNvSpPr/>
          <p:nvPr/>
        </p:nvSpPr>
        <p:spPr>
          <a:xfrm>
            <a:off x="15320772"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3" name="TextBox 12"/>
          <p:cNvSpPr txBox="1"/>
          <p:nvPr/>
        </p:nvSpPr>
        <p:spPr>
          <a:xfrm>
            <a:off x="15320772"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3</a:t>
            </a:r>
          </a:p>
        </p:txBody>
      </p:sp>
      <p:sp>
        <p:nvSpPr>
          <p:cNvPr id="14" name="Rounded Rectangle 13"/>
          <p:cNvSpPr/>
          <p:nvPr/>
        </p:nvSpPr>
        <p:spPr>
          <a:xfrm>
            <a:off x="15723108"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5" name="TextBox 14"/>
          <p:cNvSpPr txBox="1"/>
          <p:nvPr/>
        </p:nvSpPr>
        <p:spPr>
          <a:xfrm>
            <a:off x="15723108"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4</a:t>
            </a:r>
          </a:p>
        </p:txBody>
      </p:sp>
      <p:sp>
        <p:nvSpPr>
          <p:cNvPr id="16" name="Rounded Rectangle 15"/>
          <p:cNvSpPr/>
          <p:nvPr/>
        </p:nvSpPr>
        <p:spPr>
          <a:xfrm>
            <a:off x="16125444"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7" name="TextBox 16"/>
          <p:cNvSpPr txBox="1"/>
          <p:nvPr/>
        </p:nvSpPr>
        <p:spPr>
          <a:xfrm>
            <a:off x="16125444"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5</a:t>
            </a:r>
          </a:p>
        </p:txBody>
      </p:sp>
      <p:sp>
        <p:nvSpPr>
          <p:cNvPr id="18" name="Rounded Rectangle 17"/>
          <p:cNvSpPr/>
          <p:nvPr/>
        </p:nvSpPr>
        <p:spPr>
          <a:xfrm>
            <a:off x="16527780" y="1371600"/>
            <a:ext cx="329184" cy="329184"/>
          </a:xfrm>
          <a:prstGeom prst="roundRect">
            <a:avLst>
              <a:gd name="adj" fmla="val 16666"/>
            </a:avLst>
          </a:prstGeom>
          <a:solidFill>
            <a:srgbClr val="FFFFFF"/>
          </a:solidFill>
          <a:ln w="15875">
            <a:solidFill>
              <a:srgbClr val="E3D6C4"/>
            </a:solidFill>
          </a:ln>
        </p:spPr>
        <p:txBody>
          <a:bodyPr anchor="ctr" rtlCol="false" lIns="0" tIns="0" rIns="0" bIns="0" wrap="square"/>
          <a:lstStyle/>
          <a:p>
            <a:endParaRPr lang="en-US" sz="1800"/>
          </a:p>
        </p:txBody>
      </p:sp>
      <p:sp>
        <p:nvSpPr>
          <p:cNvPr id="19" name="TextBox 18"/>
          <p:cNvSpPr txBox="1"/>
          <p:nvPr/>
        </p:nvSpPr>
        <p:spPr>
          <a:xfrm>
            <a:off x="16527780"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8A8378"/>
                </a:solidFill>
                <a:latin typeface="Nunito Ultra-Bold"/>
                <a:ea typeface="Nunito Ultra-Bold"/>
                <a:cs typeface="Nunito Ultra-Bold"/>
                <a:sym typeface="Nunito Ultra-Bold"/>
              </a:rPr>
              <a:t>6</a:t>
            </a:r>
          </a:p>
        </p:txBody>
      </p:sp>
      <p:sp>
        <p:nvSpPr>
          <p:cNvPr id="20" name="Rounded Rectangle 19"/>
          <p:cNvSpPr/>
          <p:nvPr/>
        </p:nvSpPr>
        <p:spPr>
          <a:xfrm>
            <a:off x="16930116" y="1371600"/>
            <a:ext cx="329184" cy="329184"/>
          </a:xfrm>
          <a:prstGeom prst="roundRect">
            <a:avLst>
              <a:gd name="adj" fmla="val 16666"/>
            </a:avLst>
          </a:prstGeom>
          <a:solidFill>
            <a:srgbClr val="124944"/>
          </a:solidFill>
          <a:ln w="15875">
            <a:solidFill>
              <a:srgbClr val="124944"/>
            </a:solidFill>
          </a:ln>
        </p:spPr>
        <p:txBody>
          <a:bodyPr anchor="ctr" rtlCol="false" lIns="0" tIns="0" rIns="0" bIns="0" wrap="square"/>
          <a:lstStyle/>
          <a:p>
            <a:endParaRPr lang="en-US" sz="1800"/>
          </a:p>
        </p:txBody>
      </p:sp>
      <p:sp>
        <p:nvSpPr>
          <p:cNvPr id="21" name="TextBox 20"/>
          <p:cNvSpPr txBox="1"/>
          <p:nvPr/>
        </p:nvSpPr>
        <p:spPr>
          <a:xfrm>
            <a:off x="16930116" y="1371600"/>
            <a:ext cx="329184" cy="329184"/>
          </a:xfrm>
          <a:prstGeom prst="rect">
            <a:avLst/>
          </a:prstGeom>
          <a:noFill/>
        </p:spPr>
        <p:txBody>
          <a:bodyPr anchor="ctr" rtlCol="false" lIns="0" tIns="0" rIns="0" bIns="0" wrap="square"/>
          <a:lstStyle/>
          <a:p>
            <a:pPr algn="ctr">
              <a:lnSpc>
                <a:spcPts val="1500"/>
              </a:lnSpc>
              <a:spcBef>
                <a:spcPts val="0"/>
              </a:spcBef>
              <a:buNone/>
            </a:pPr>
            <a:r>
              <a:rPr lang="en-US" sz="1300" b="true">
                <a:solidFill>
                  <a:srgbClr val="FFFFFF"/>
                </a:solidFill>
                <a:latin typeface="Nunito Ultra-Bold"/>
                <a:ea typeface="Nunito Ultra-Bold"/>
                <a:cs typeface="Nunito Ultra-Bold"/>
                <a:sym typeface="Nunito Ultra-Bold"/>
              </a:rPr>
              <a:t>7</a:t>
            </a:r>
          </a:p>
        </p:txBody>
      </p:sp>
      <p:sp>
        <p:nvSpPr>
          <p:cNvPr id="22" name="TextBox 21"/>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References (2 / 2)</a:t>
            </a:r>
          </a:p>
        </p:txBody>
      </p:sp>
      <p:pic>
        <p:nvPicPr>
          <p:cNvPr id="23" name="Picture 22" descr="image.png"/>
          <p:cNvPicPr>
            <a:picLocks noChangeAspect="1"/>
          </p:cNvPicPr>
          <p:nvPr/>
        </p:nvPicPr>
        <p:blipFill>
          <a:blip r:embed="rId3"/>
          <a:stretch>
            <a:fillRect/>
          </a:stretch>
        </p:blipFill>
        <p:spPr>
          <a:xfrm>
            <a:off x="5713563" y="1673352"/>
            <a:ext cx="457200" cy="539881"/>
          </a:xfrm>
          <a:prstGeom prst="rect">
            <a:avLst/>
          </a:prstGeom>
        </p:spPr>
      </p:pic>
      <p:sp>
        <p:nvSpPr>
          <p:cNvPr id="24" name="Rounded Rectangle 23"/>
          <p:cNvSpPr/>
          <p:nvPr/>
        </p:nvSpPr>
        <p:spPr>
          <a:xfrm>
            <a:off x="1028700" y="2714498"/>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25" name="Rounded Rectangle 24"/>
          <p:cNvSpPr/>
          <p:nvPr/>
        </p:nvSpPr>
        <p:spPr>
          <a:xfrm>
            <a:off x="1138428" y="2769362"/>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[15]</a:t>
            </a:r>
          </a:p>
        </p:txBody>
      </p:sp>
      <p:sp>
        <p:nvSpPr>
          <p:cNvPr id="26" name="TextBox 25"/>
          <p:cNvSpPr txBox="1"/>
          <p:nvPr/>
        </p:nvSpPr>
        <p:spPr>
          <a:xfrm>
            <a:off x="1943100" y="2714498"/>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Zhang, D. et al. RecDCL: Dual Contrastive Learning for Recommendation. The Web Conference, 3655–3666 (2024).</a:t>
            </a:r>
          </a:p>
        </p:txBody>
      </p:sp>
      <p:sp>
        <p:nvSpPr>
          <p:cNvPr id="27" name="Rounded Rectangle 26"/>
          <p:cNvSpPr/>
          <p:nvPr/>
        </p:nvSpPr>
        <p:spPr>
          <a:xfrm>
            <a:off x="1028700" y="3202486"/>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28" name="Rounded Rectangle 27"/>
          <p:cNvSpPr/>
          <p:nvPr/>
        </p:nvSpPr>
        <p:spPr>
          <a:xfrm>
            <a:off x="1138428" y="3257350"/>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[16]</a:t>
            </a:r>
          </a:p>
        </p:txBody>
      </p:sp>
      <p:sp>
        <p:nvSpPr>
          <p:cNvPr id="29" name="TextBox 28"/>
          <p:cNvSpPr txBox="1"/>
          <p:nvPr/>
        </p:nvSpPr>
        <p:spPr>
          <a:xfrm>
            <a:off x="1943100" y="3202486"/>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Feng, Y. et al. Hypergraph Neural Networks. AAAI 33, 3558–3565 (2019).</a:t>
            </a:r>
          </a:p>
        </p:txBody>
      </p:sp>
      <p:sp>
        <p:nvSpPr>
          <p:cNvPr id="30" name="Rounded Rectangle 29"/>
          <p:cNvSpPr/>
          <p:nvPr/>
        </p:nvSpPr>
        <p:spPr>
          <a:xfrm>
            <a:off x="1028700" y="3690474"/>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31" name="Rounded Rectangle 30"/>
          <p:cNvSpPr/>
          <p:nvPr/>
        </p:nvSpPr>
        <p:spPr>
          <a:xfrm>
            <a:off x="1138428" y="3745338"/>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[17]</a:t>
            </a:r>
          </a:p>
        </p:txBody>
      </p:sp>
      <p:sp>
        <p:nvSpPr>
          <p:cNvPr id="32" name="TextBox 31"/>
          <p:cNvSpPr txBox="1"/>
          <p:nvPr/>
        </p:nvSpPr>
        <p:spPr>
          <a:xfrm>
            <a:off x="1943100" y="3690474"/>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Rousseeuw, P. J. Silhouettes: A Graphical Aid to the Interpretation and Validation of Cluster Analysis. J. Comput. Appl. Math. 20, 53–65 (1987).</a:t>
            </a:r>
          </a:p>
        </p:txBody>
      </p:sp>
      <p:sp>
        <p:nvSpPr>
          <p:cNvPr id="33" name="Rounded Rectangle 32"/>
          <p:cNvSpPr/>
          <p:nvPr/>
        </p:nvSpPr>
        <p:spPr>
          <a:xfrm>
            <a:off x="1028700" y="4178463"/>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34" name="Rounded Rectangle 33"/>
          <p:cNvSpPr/>
          <p:nvPr/>
        </p:nvSpPr>
        <p:spPr>
          <a:xfrm>
            <a:off x="1138428" y="4233327"/>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[18]</a:t>
            </a:r>
          </a:p>
        </p:txBody>
      </p:sp>
      <p:sp>
        <p:nvSpPr>
          <p:cNvPr id="35" name="TextBox 34"/>
          <p:cNvSpPr txBox="1"/>
          <p:nvPr/>
        </p:nvSpPr>
        <p:spPr>
          <a:xfrm>
            <a:off x="1943100" y="4178463"/>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Gramegna, A. &amp; Giudici, P. SHAP and LIME: An Evaluation of Discriminative Power in Credit Risk. Frontiers in AI 4, 752558 (2021).</a:t>
            </a:r>
          </a:p>
        </p:txBody>
      </p:sp>
      <p:sp>
        <p:nvSpPr>
          <p:cNvPr id="36" name="Rounded Rectangle 35"/>
          <p:cNvSpPr/>
          <p:nvPr/>
        </p:nvSpPr>
        <p:spPr>
          <a:xfrm>
            <a:off x="1028700" y="4666451"/>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37" name="Rounded Rectangle 36"/>
          <p:cNvSpPr/>
          <p:nvPr/>
        </p:nvSpPr>
        <p:spPr>
          <a:xfrm>
            <a:off x="1138428" y="4721315"/>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[19]</a:t>
            </a:r>
          </a:p>
        </p:txBody>
      </p:sp>
      <p:sp>
        <p:nvSpPr>
          <p:cNvPr id="38" name="TextBox 37"/>
          <p:cNvSpPr txBox="1"/>
          <p:nvPr/>
        </p:nvSpPr>
        <p:spPr>
          <a:xfrm>
            <a:off x="1943100" y="4666451"/>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Cortez, P. et al. Wine Quality. UCI Machine Learning Repository (2009).  ·  Dua, D. &amp; Taniskidou, E. Beijing Multi-Site Air Quality Data. UCI Machine Learning Repository (2017).</a:t>
            </a:r>
          </a:p>
        </p:txBody>
      </p:sp>
      <p:sp>
        <p:nvSpPr>
          <p:cNvPr id="39" name="Rounded Rectangle 38"/>
          <p:cNvSpPr/>
          <p:nvPr/>
        </p:nvSpPr>
        <p:spPr>
          <a:xfrm>
            <a:off x="1028700" y="5154440"/>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40" name="Rounded Rectangle 39"/>
          <p:cNvSpPr/>
          <p:nvPr/>
        </p:nvSpPr>
        <p:spPr>
          <a:xfrm>
            <a:off x="1138428" y="5209304"/>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[20]</a:t>
            </a:r>
          </a:p>
        </p:txBody>
      </p:sp>
      <p:sp>
        <p:nvSpPr>
          <p:cNvPr id="41" name="TextBox 40"/>
          <p:cNvSpPr txBox="1"/>
          <p:nvPr/>
        </p:nvSpPr>
        <p:spPr>
          <a:xfrm>
            <a:off x="1943100" y="5154440"/>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Harper, F. M. &amp; Konstan, J. A. The MovieLens Datasets: History and Context. ACM TiiS 5(4), 19 (2015).  ·  McAuley, J. et al. Amazon Review Data (Amazon-Book). UCSD (2018).</a:t>
            </a:r>
          </a:p>
        </p:txBody>
      </p:sp>
      <p:sp>
        <p:nvSpPr>
          <p:cNvPr id="42" name="Rounded Rectangle 41"/>
          <p:cNvSpPr/>
          <p:nvPr/>
        </p:nvSpPr>
        <p:spPr>
          <a:xfrm>
            <a:off x="1028700" y="5642428"/>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43" name="Rounded Rectangle 42"/>
          <p:cNvSpPr/>
          <p:nvPr/>
        </p:nvSpPr>
        <p:spPr>
          <a:xfrm>
            <a:off x="1138428" y="5697292"/>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[21]</a:t>
            </a:r>
          </a:p>
        </p:txBody>
      </p:sp>
      <p:sp>
        <p:nvSpPr>
          <p:cNvPr id="44" name="TextBox 43"/>
          <p:cNvSpPr txBox="1"/>
          <p:nvPr/>
        </p:nvSpPr>
        <p:spPr>
          <a:xfrm>
            <a:off x="1943100" y="5642428"/>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Zhang, Y. &amp; Chen, X. Explainable Recommendation: A Survey and New Perspectives. Foundations and Trends in IR 14(1), 1–101 (2020).</a:t>
            </a:r>
          </a:p>
        </p:txBody>
      </p:sp>
      <p:sp>
        <p:nvSpPr>
          <p:cNvPr id="45" name="Rounded Rectangle 44"/>
          <p:cNvSpPr/>
          <p:nvPr/>
        </p:nvSpPr>
        <p:spPr>
          <a:xfrm>
            <a:off x="1028700" y="6130417"/>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46" name="Rounded Rectangle 45"/>
          <p:cNvSpPr/>
          <p:nvPr/>
        </p:nvSpPr>
        <p:spPr>
          <a:xfrm>
            <a:off x="1138428" y="6185281"/>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[22]</a:t>
            </a:r>
          </a:p>
        </p:txBody>
      </p:sp>
      <p:sp>
        <p:nvSpPr>
          <p:cNvPr id="47" name="TextBox 46"/>
          <p:cNvSpPr txBox="1"/>
          <p:nvPr/>
        </p:nvSpPr>
        <p:spPr>
          <a:xfrm>
            <a:off x="1943100" y="6130417"/>
            <a:ext cx="15179040" cy="433124"/>
          </a:xfrm>
          <a:prstGeom prst="rect">
            <a:avLst/>
          </a:prstGeom>
          <a:noFill/>
        </p:spPr>
        <p:txBody>
          <a:bodyPr anchor="ctr" rtlCol="false" lIns="0" tIns="0" rIns="0" bIns="0" wrap="square"/>
          <a:lstStyle/>
          <a:p>
            <a:pPr algn="l">
              <a:lnSpc>
                <a:spcPts val="1765"/>
              </a:lnSpc>
              <a:spcBef>
                <a:spcPts val="0"/>
              </a:spcBef>
              <a:buNone/>
            </a:pPr>
            <a:r>
              <a:rPr lang="en-US" sz="1261" b="true">
                <a:solidFill>
                  <a:srgbClr val="111111"/>
                </a:solidFill>
                <a:latin typeface="Nunito Semi-Bold"/>
                <a:ea typeface="Nunito Semi-Bold"/>
                <a:cs typeface="Nunito Semi-Bold"/>
                <a:sym typeface="Nunito Semi-Bold"/>
              </a:rPr>
              <a:t>Adomavicius, G. &amp; Tuzhilin, A. Toward the Next Generation of Recommender Systems. IEEE TKDE 17(6), 734–749 (2005).  ·  Burke, R. Hybrid Recommender Systems. UMUAI 12(4), 331–370 (2002).</a:t>
            </a:r>
          </a:p>
        </p:txBody>
      </p:sp>
      <p:sp>
        <p:nvSpPr>
          <p:cNvPr id="48" name="Rounded Rectangle 47"/>
          <p:cNvSpPr/>
          <p:nvPr/>
        </p:nvSpPr>
        <p:spPr>
          <a:xfrm>
            <a:off x="1028700" y="6618405"/>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49" name="Rounded Rectangle 48"/>
          <p:cNvSpPr/>
          <p:nvPr/>
        </p:nvSpPr>
        <p:spPr>
          <a:xfrm>
            <a:off x="1138428" y="6673269"/>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[23]</a:t>
            </a:r>
          </a:p>
        </p:txBody>
      </p:sp>
      <p:sp>
        <p:nvSpPr>
          <p:cNvPr id="50" name="TextBox 49"/>
          <p:cNvSpPr txBox="1"/>
          <p:nvPr/>
        </p:nvSpPr>
        <p:spPr>
          <a:xfrm>
            <a:off x="1943100" y="6618405"/>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Zhu, Z. et al. Popularity Bias in Dynamic Recommendation. KDD, 2439–2449 (2021).  ·  Hurley, N. &amp; Zhang, M. Novelty and Diversity in Top-N Recommendation. ACM TOIT 10(4) (2011).</a:t>
            </a:r>
          </a:p>
        </p:txBody>
      </p:sp>
      <p:sp>
        <p:nvSpPr>
          <p:cNvPr id="51" name="Rounded Rectangle 50"/>
          <p:cNvSpPr/>
          <p:nvPr/>
        </p:nvSpPr>
        <p:spPr>
          <a:xfrm>
            <a:off x="1028700" y="7106393"/>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52" name="Rounded Rectangle 51"/>
          <p:cNvSpPr/>
          <p:nvPr/>
        </p:nvSpPr>
        <p:spPr>
          <a:xfrm>
            <a:off x="1138428" y="7161257"/>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[24]</a:t>
            </a:r>
          </a:p>
        </p:txBody>
      </p:sp>
      <p:sp>
        <p:nvSpPr>
          <p:cNvPr id="53" name="TextBox 52"/>
          <p:cNvSpPr txBox="1"/>
          <p:nvPr/>
        </p:nvSpPr>
        <p:spPr>
          <a:xfrm>
            <a:off x="1943100" y="7106393"/>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Arrieta, A. B. et al. Explainable Artificial Intelligence (XAI): Concepts, Taxonomies, Opportunities and Challenges. Information Fusion 58, 82–115 (2020).</a:t>
            </a:r>
          </a:p>
        </p:txBody>
      </p:sp>
      <p:sp>
        <p:nvSpPr>
          <p:cNvPr id="54" name="Rounded Rectangle 53"/>
          <p:cNvSpPr/>
          <p:nvPr/>
        </p:nvSpPr>
        <p:spPr>
          <a:xfrm>
            <a:off x="1028700" y="7594382"/>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55" name="Rounded Rectangle 54"/>
          <p:cNvSpPr/>
          <p:nvPr/>
        </p:nvSpPr>
        <p:spPr>
          <a:xfrm>
            <a:off x="1138428" y="7649246"/>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[25]</a:t>
            </a:r>
          </a:p>
        </p:txBody>
      </p:sp>
      <p:sp>
        <p:nvSpPr>
          <p:cNvPr id="56" name="TextBox 55"/>
          <p:cNvSpPr txBox="1"/>
          <p:nvPr/>
        </p:nvSpPr>
        <p:spPr>
          <a:xfrm>
            <a:off x="1943100" y="7594382"/>
            <a:ext cx="15179040" cy="433124"/>
          </a:xfrm>
          <a:prstGeom prst="rect">
            <a:avLst/>
          </a:prstGeom>
          <a:noFill/>
        </p:spPr>
        <p:txBody>
          <a:bodyPr anchor="ctr" rtlCol="false" lIns="0" tIns="0" rIns="0" bIns="0" wrap="square"/>
          <a:lstStyle/>
          <a:p>
            <a:pPr algn="l">
              <a:lnSpc>
                <a:spcPts val="1602"/>
              </a:lnSpc>
              <a:spcBef>
                <a:spcPts val="0"/>
              </a:spcBef>
              <a:buNone/>
            </a:pPr>
            <a:r>
              <a:rPr lang="en-US" sz="1144" b="true">
                <a:solidFill>
                  <a:srgbClr val="111111"/>
                </a:solidFill>
                <a:latin typeface="Nunito Semi-Bold"/>
                <a:ea typeface="Nunito Semi-Bold"/>
                <a:cs typeface="Nunito Semi-Bold"/>
                <a:sym typeface="Nunito Semi-Bold"/>
              </a:rPr>
              <a:t>Doshi-Velez, F. &amp; Kim, B. Towards a Rigorous Science of Interpretable Machine Learning. arXiv:1702.08608 (2017).  ·  Rudin, C. et al. Interpretable ML: Fundamental Principles and 10 Grand Challenges. Statistics Surveys 16 (2022).</a:t>
            </a:r>
          </a:p>
        </p:txBody>
      </p:sp>
      <p:sp>
        <p:nvSpPr>
          <p:cNvPr id="57" name="Rounded Rectangle 56"/>
          <p:cNvSpPr/>
          <p:nvPr/>
        </p:nvSpPr>
        <p:spPr>
          <a:xfrm>
            <a:off x="1028700" y="8082370"/>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58" name="Rounded Rectangle 57"/>
          <p:cNvSpPr/>
          <p:nvPr/>
        </p:nvSpPr>
        <p:spPr>
          <a:xfrm>
            <a:off x="1138428" y="8137234"/>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[26]</a:t>
            </a:r>
          </a:p>
        </p:txBody>
      </p:sp>
      <p:sp>
        <p:nvSpPr>
          <p:cNvPr id="59" name="TextBox 58"/>
          <p:cNvSpPr txBox="1"/>
          <p:nvPr/>
        </p:nvSpPr>
        <p:spPr>
          <a:xfrm>
            <a:off x="1943100" y="8082370"/>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European Union. Regulation (EU) 2024/1689 (AI Act), Art. 13 (2024).  ·  Regulation (EU) 2016/679 (GDPR), Art. 22 (2016).  ·  OECD. Recommendation of the Council on Artificial Intelligence (2019).</a:t>
            </a:r>
          </a:p>
        </p:txBody>
      </p:sp>
      <p:sp>
        <p:nvSpPr>
          <p:cNvPr id="60" name="Rounded Rectangle 59"/>
          <p:cNvSpPr/>
          <p:nvPr/>
        </p:nvSpPr>
        <p:spPr>
          <a:xfrm>
            <a:off x="1028700" y="8570359"/>
            <a:ext cx="16230600" cy="433124"/>
          </a:xfrm>
          <a:prstGeom prst="roundRect">
            <a:avLst>
              <a:gd name="adj" fmla="val 21111"/>
            </a:avLst>
          </a:prstGeom>
          <a:solidFill>
            <a:srgbClr val="F6ECDF"/>
          </a:solidFill>
          <a:ln>
            <a:noFill/>
          </a:ln>
        </p:spPr>
        <p:txBody>
          <a:bodyPr anchor="ctr" rtlCol="false" lIns="0" tIns="0" rIns="0" bIns="0" wrap="square"/>
          <a:lstStyle/>
          <a:p>
            <a:endParaRPr lang="en-US" sz="1800"/>
          </a:p>
        </p:txBody>
      </p:sp>
      <p:sp>
        <p:nvSpPr>
          <p:cNvPr id="61" name="Rounded Rectangle 60"/>
          <p:cNvSpPr/>
          <p:nvPr/>
        </p:nvSpPr>
        <p:spPr>
          <a:xfrm>
            <a:off x="1138428" y="8625223"/>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[27]</a:t>
            </a:r>
          </a:p>
        </p:txBody>
      </p:sp>
      <p:sp>
        <p:nvSpPr>
          <p:cNvPr id="62" name="TextBox 61"/>
          <p:cNvSpPr txBox="1"/>
          <p:nvPr/>
        </p:nvSpPr>
        <p:spPr>
          <a:xfrm>
            <a:off x="1943100" y="8570359"/>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Holm, S. A Simple Sequentially Rejective Multiple Test Procedure. Scand. J. Statist. 6(2), 65–70 (1979).  ·  Cohen, J. Statistical Power Analysis for the Behavioral Sciences (1988).</a:t>
            </a:r>
          </a:p>
        </p:txBody>
      </p:sp>
      <p:sp>
        <p:nvSpPr>
          <p:cNvPr id="63" name="Rounded Rectangle 62"/>
          <p:cNvSpPr/>
          <p:nvPr/>
        </p:nvSpPr>
        <p:spPr>
          <a:xfrm>
            <a:off x="1028700" y="9058347"/>
            <a:ext cx="16230600" cy="433124"/>
          </a:xfrm>
          <a:prstGeom prst="roundRect">
            <a:avLst>
              <a:gd name="adj" fmla="val 21111"/>
            </a:avLst>
          </a:prstGeom>
          <a:solidFill>
            <a:srgbClr val="FBF4EB"/>
          </a:solidFill>
          <a:ln>
            <a:noFill/>
          </a:ln>
        </p:spPr>
        <p:txBody>
          <a:bodyPr anchor="ctr" rtlCol="false" lIns="0" tIns="0" rIns="0" bIns="0" wrap="square"/>
          <a:lstStyle/>
          <a:p>
            <a:endParaRPr lang="en-US" sz="1800"/>
          </a:p>
        </p:txBody>
      </p:sp>
      <p:sp>
        <p:nvSpPr>
          <p:cNvPr id="64" name="Rounded Rectangle 63"/>
          <p:cNvSpPr/>
          <p:nvPr/>
        </p:nvSpPr>
        <p:spPr>
          <a:xfrm>
            <a:off x="1138428" y="9113211"/>
            <a:ext cx="640080" cy="323396"/>
          </a:xfrm>
          <a:prstGeom prst="roundRect">
            <a:avLst>
              <a:gd name="adj" fmla="val 22619"/>
            </a:avLst>
          </a:prstGeom>
          <a:solidFill>
            <a:srgbClr val="DF8330"/>
          </a:solidFill>
          <a:ln>
            <a:noFill/>
          </a:ln>
        </p:spPr>
        <p:txBody>
          <a:bodyPr anchor="ctr" rtlCol="false" lIns="91440" tIns="45720" rIns="91440" bIns="45720" wrap="square"/>
          <a:lstStyle/>
          <a:p>
            <a:pPr algn="ctr">
              <a:lnSpc>
                <a:spcPts val="1380"/>
              </a:lnSpc>
              <a:spcBef>
                <a:spcPts val="0"/>
              </a:spcBef>
              <a:buNone/>
            </a:pPr>
            <a:r>
              <a:rPr lang="en-US" sz="1200" b="true">
                <a:solidFill>
                  <a:srgbClr val="FFFFFF"/>
                </a:solidFill>
                <a:latin typeface="Nunito Bold"/>
                <a:ea typeface="Nunito Bold"/>
                <a:cs typeface="Nunito Bold"/>
                <a:sym typeface="Nunito Bold"/>
              </a:rPr>
              <a:t>[28]</a:t>
            </a:r>
          </a:p>
        </p:txBody>
      </p:sp>
      <p:sp>
        <p:nvSpPr>
          <p:cNvPr id="65" name="TextBox 64"/>
          <p:cNvSpPr txBox="1"/>
          <p:nvPr/>
        </p:nvSpPr>
        <p:spPr>
          <a:xfrm>
            <a:off x="1943100" y="9058347"/>
            <a:ext cx="15179040" cy="433124"/>
          </a:xfrm>
          <a:prstGeom prst="rect">
            <a:avLst/>
          </a:prstGeom>
          <a:noFill/>
        </p:spPr>
        <p:txBody>
          <a:bodyPr anchor="ctr" rtlCol="false" lIns="0" tIns="0" rIns="0" bIns="0" wrap="square"/>
          <a:lstStyle/>
          <a:p>
            <a:pPr algn="l">
              <a:lnSpc>
                <a:spcPts val="1820"/>
              </a:lnSpc>
              <a:spcBef>
                <a:spcPts val="0"/>
              </a:spcBef>
              <a:buNone/>
            </a:pPr>
            <a:r>
              <a:rPr lang="en-US" sz="1300" b="true">
                <a:solidFill>
                  <a:srgbClr val="111111"/>
                </a:solidFill>
                <a:latin typeface="Nunito Semi-Bold"/>
                <a:ea typeface="Nunito Semi-Bold"/>
                <a:cs typeface="Nunito Semi-Bold"/>
                <a:sym typeface="Nunito Semi-Bold"/>
              </a:rPr>
              <a:t>Nesmaoui, R., Louhichi, M. &amp; Lazaar, M. Dynamic Recommender Systems with Real-time Shapley Value-based Contribution Adjustment. IJIES 18, 241–257 (2025).</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pic>
        <p:nvPicPr>
          <p:cNvPr id="2" name="Picture 1" descr="image.png"/>
          <p:cNvPicPr>
            <a:picLocks noChangeAspect="1"/>
          </p:cNvPicPr>
          <p:nvPr/>
        </p:nvPicPr>
        <p:blipFill>
          <a:blip r:embed="rId2"/>
          <a:stretch>
            <a:fillRect/>
          </a:stretch>
        </p:blipFill>
        <p:spPr>
          <a:xfrm>
            <a:off x="-1143000" y="0"/>
            <a:ext cx="10287000" cy="10287000"/>
          </a:xfrm>
          <a:prstGeom prst="rect">
            <a:avLst/>
          </a:prstGeom>
        </p:spPr>
      </p:pic>
      <p:pic>
        <p:nvPicPr>
          <p:cNvPr id="3" name="Picture 2" descr="image.png"/>
          <p:cNvPicPr>
            <a:picLocks noChangeAspect="1"/>
          </p:cNvPicPr>
          <p:nvPr/>
        </p:nvPicPr>
        <p:blipFill>
          <a:blip r:embed="rId2"/>
          <a:stretch>
            <a:fillRect/>
          </a:stretch>
        </p:blipFill>
        <p:spPr>
          <a:xfrm>
            <a:off x="9144000" y="0"/>
            <a:ext cx="10287000" cy="10287000"/>
          </a:xfrm>
          <a:prstGeom prst="rect">
            <a:avLst/>
          </a:prstGeom>
        </p:spPr>
      </p:pic>
      <p:sp>
        <p:nvSpPr>
          <p:cNvPr id="4" name="TextBox 3"/>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5" name="TextBox 4"/>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6" name="Picture 5" descr="ensias_logo.jpg"/>
          <p:cNvPicPr>
            <a:picLocks noChangeAspect="1"/>
          </p:cNvPicPr>
          <p:nvPr/>
        </p:nvPicPr>
        <p:blipFill>
          <a:blip r:embed="rId3"/>
          <a:stretch>
            <a:fillRect/>
          </a:stretch>
        </p:blipFill>
        <p:spPr>
          <a:xfrm>
            <a:off x="1028700" y="9674352"/>
            <a:ext cx="542964" cy="384048"/>
          </a:xfrm>
          <a:prstGeom prst="rect">
            <a:avLst/>
          </a:prstGeom>
        </p:spPr>
      </p:pic>
      <p:sp>
        <p:nvSpPr>
          <p:cNvPr id="7" name="TextBox 6"/>
          <p:cNvSpPr txBox="1"/>
          <p:nvPr/>
        </p:nvSpPr>
        <p:spPr>
          <a:xfrm>
            <a:off x="1577340" y="9747504"/>
            <a:ext cx="12801600" cy="274320"/>
          </a:xfrm>
          <a:prstGeom prst="rect">
            <a:avLst/>
          </a:prstGeom>
          <a:noFill/>
        </p:spPr>
        <p:txBody>
          <a:bodyPr anchor="t" rtlCol="false" lIns="0" tIns="0" rIns="0" bIns="0" wrap="square"/>
          <a:lstStyle/>
          <a:p>
            <a:pPr algn="l">
              <a:lnSpc>
                <a:spcPts val="1600"/>
              </a:lnSpc>
              <a:spcBef>
                <a:spcPts val="0"/>
              </a:spcBef>
              <a:buNone/>
            </a:pPr>
            <a:r>
              <a:rPr lang="en-US" sz="1300" b="true">
                <a:solidFill>
                  <a:srgbClr val="8A8378"/>
                </a:solidFill>
                <a:latin typeface="Nunito Bold"/>
                <a:ea typeface="Nunito Bold"/>
                <a:cs typeface="Nunito Bold"/>
                <a:sym typeface="Nunito Bold"/>
              </a:rPr>
              <a:t>Cooperative Game Theory for Explainable AI in Recommendation Systems  ·  A Shapley Framework for Actionable Insight</a:t>
            </a:r>
          </a:p>
        </p:txBody>
      </p:sp>
      <p:sp>
        <p:nvSpPr>
          <p:cNvPr id="8" name="TextBox 7"/>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76</a:t>
            </a:r>
          </a:p>
        </p:txBody>
      </p:sp>
      <p:sp>
        <p:nvSpPr>
          <p:cNvPr id="9" name="TextBox 8"/>
          <p:cNvSpPr txBox="1"/>
          <p:nvPr/>
        </p:nvSpPr>
        <p:spPr>
          <a:xfrm>
            <a:off x="1028700" y="2514600"/>
            <a:ext cx="16230600" cy="3291840"/>
          </a:xfrm>
          <a:prstGeom prst="rect">
            <a:avLst/>
          </a:prstGeom>
          <a:noFill/>
        </p:spPr>
        <p:txBody>
          <a:bodyPr anchor="t" rtlCol="false" lIns="0" tIns="0" rIns="0" bIns="0" wrap="square"/>
          <a:lstStyle/>
          <a:p>
            <a:pPr algn="ctr">
              <a:lnSpc>
                <a:spcPts val="15000"/>
              </a:lnSpc>
              <a:spcBef>
                <a:spcPts val="0"/>
              </a:spcBef>
              <a:buNone/>
            </a:pPr>
            <a:r>
              <a:rPr lang="en-US" sz="15000" b="true" spc="-800">
                <a:solidFill>
                  <a:srgbClr val="111111"/>
                </a:solidFill>
                <a:latin typeface="Roca Two Bold"/>
                <a:ea typeface="Roca Two Bold"/>
                <a:cs typeface="Roca Two Bold"/>
                <a:sym typeface="Roca Two Bold"/>
              </a:rPr>
              <a:t>Thank You</a:t>
            </a:r>
          </a:p>
          <a:p>
            <a:pPr algn="ctr">
              <a:lnSpc>
                <a:spcPts val="8400"/>
              </a:lnSpc>
              <a:spcBef>
                <a:spcPts val="400"/>
              </a:spcBef>
              <a:buNone/>
            </a:pPr>
            <a:r>
              <a:rPr lang="en-US" sz="7200" b="true" spc="-350">
                <a:solidFill>
                  <a:srgbClr val="111111"/>
                </a:solidFill>
                <a:latin typeface="Roca Two Bold"/>
                <a:ea typeface="Roca Two Bold"/>
                <a:cs typeface="Roca Two Bold"/>
                <a:sym typeface="Roca Two Bold"/>
              </a:rPr>
              <a:t>for your attention</a:t>
            </a:r>
          </a:p>
        </p:txBody>
      </p:sp>
      <p:pic>
        <p:nvPicPr>
          <p:cNvPr id="10" name="Picture 9" descr="image.png"/>
          <p:cNvPicPr>
            <a:picLocks noChangeAspect="1"/>
          </p:cNvPicPr>
          <p:nvPr/>
        </p:nvPicPr>
        <p:blipFill>
          <a:blip r:embed="rId4"/>
          <a:stretch>
            <a:fillRect/>
          </a:stretch>
        </p:blipFill>
        <p:spPr>
          <a:xfrm>
            <a:off x="13350240" y="2468880"/>
            <a:ext cx="822960" cy="747445"/>
          </a:xfrm>
          <a:prstGeom prst="rect">
            <a:avLst/>
          </a:prstGeom>
        </p:spPr>
      </p:pic>
      <p:pic>
        <p:nvPicPr>
          <p:cNvPr id="11" name="Picture 10" descr="image.png"/>
          <p:cNvPicPr>
            <a:picLocks noChangeAspect="1"/>
          </p:cNvPicPr>
          <p:nvPr/>
        </p:nvPicPr>
        <p:blipFill>
          <a:blip r:embed="rId5"/>
          <a:stretch>
            <a:fillRect/>
          </a:stretch>
        </p:blipFill>
        <p:spPr>
          <a:xfrm rot="20700000">
            <a:off x="3291840" y="4846320"/>
            <a:ext cx="685800" cy="925673"/>
          </a:xfrm>
          <a:prstGeom prst="rect">
            <a:avLst/>
          </a:prstGeom>
        </p:spPr>
      </p:pic>
      <p:sp>
        <p:nvSpPr>
          <p:cNvPr id="12" name="Oval 11"/>
          <p:cNvSpPr/>
          <p:nvPr/>
        </p:nvSpPr>
        <p:spPr>
          <a:xfrm>
            <a:off x="15613380" y="5760720"/>
            <a:ext cx="1005840" cy="1005840"/>
          </a:xfrm>
          <a:prstGeom prst="ellipse">
            <a:avLst/>
          </a:prstGeom>
          <a:solidFill>
            <a:srgbClr val="124944"/>
          </a:solidFill>
          <a:ln>
            <a:noFill/>
          </a:ln>
        </p:spPr>
        <p:txBody>
          <a:bodyPr anchor="ctr" rtlCol="false" lIns="0" tIns="0" rIns="0" bIns="0" wrap="square"/>
          <a:lstStyle/>
          <a:p>
            <a:pPr algn="ctr">
              <a:lnSpc>
                <a:spcPts val="4400"/>
              </a:lnSpc>
              <a:spcBef>
                <a:spcPts val="0"/>
              </a:spcBef>
              <a:buNone/>
            </a:pPr>
            <a:r>
              <a:rPr lang="en-US" sz="4000" b="true" spc="-200">
                <a:solidFill>
                  <a:srgbClr val="FFFFFF"/>
                </a:solidFill>
                <a:latin typeface="Roca Two Bold"/>
                <a:ea typeface="Roca Two Bold"/>
                <a:cs typeface="Roca Two Bold"/>
                <a:sym typeface="Roca Two Bold"/>
              </a:rPr>
              <a:t>?</a:t>
            </a:r>
          </a:p>
        </p:txBody>
      </p:sp>
      <p:sp>
        <p:nvSpPr>
          <p:cNvPr id="13" name="TextBox 12"/>
          <p:cNvSpPr txBox="1"/>
          <p:nvPr/>
        </p:nvSpPr>
        <p:spPr>
          <a:xfrm>
            <a:off x="1028700" y="6583680"/>
            <a:ext cx="16230600" cy="640080"/>
          </a:xfrm>
          <a:prstGeom prst="rect">
            <a:avLst/>
          </a:prstGeom>
          <a:noFill/>
        </p:spPr>
        <p:txBody>
          <a:bodyPr anchor="t" rtlCol="false" lIns="0" tIns="0" rIns="0" bIns="0" wrap="square"/>
          <a:lstStyle/>
          <a:p>
            <a:pPr algn="ctr">
              <a:lnSpc>
                <a:spcPts val="3400"/>
              </a:lnSpc>
              <a:spcBef>
                <a:spcPts val="0"/>
              </a:spcBef>
              <a:buNone/>
            </a:pPr>
            <a:r>
              <a:rPr lang="en-US" sz="2800" b="true">
                <a:solidFill>
                  <a:srgbClr val="124944"/>
                </a:solidFill>
                <a:latin typeface="Nunito Bold"/>
                <a:ea typeface="Nunito Bold"/>
                <a:cs typeface="Nunito Bold"/>
                <a:sym typeface="Nunito Bold"/>
              </a:rPr>
              <a:t>Questions &amp; Discussion  ·  I welcome your questions and comments.</a:t>
            </a:r>
          </a:p>
        </p:txBody>
      </p:sp>
      <p:sp>
        <p:nvSpPr>
          <p:cNvPr id="14" name="Rounded Rectangle 13"/>
          <p:cNvSpPr/>
          <p:nvPr/>
        </p:nvSpPr>
        <p:spPr>
          <a:xfrm>
            <a:off x="1028700" y="7818120"/>
            <a:ext cx="3851910" cy="1051560"/>
          </a:xfrm>
          <a:prstGeom prst="roundRect">
            <a:avLst>
              <a:gd name="adj" fmla="val 17391"/>
            </a:avLst>
          </a:prstGeom>
          <a:solidFill>
            <a:srgbClr val="FFFFFF"/>
          </a:solidFill>
          <a:ln w="15875">
            <a:solidFill>
              <a:srgbClr val="E3D6C4"/>
            </a:solidFill>
          </a:ln>
        </p:spPr>
        <p:txBody>
          <a:bodyPr anchor="ctr" rtlCol="false" lIns="91440" tIns="45720" rIns="91440" bIns="45720" wrap="square"/>
          <a:lstStyle/>
          <a:p>
            <a:pPr algn="ctr">
              <a:lnSpc>
                <a:spcPts val="1600"/>
              </a:lnSpc>
              <a:spcBef>
                <a:spcPts val="0"/>
              </a:spcBef>
              <a:buNone/>
            </a:pPr>
            <a:r>
              <a:rPr lang="en-US" sz="1300" b="true" spc="150">
                <a:solidFill>
                  <a:srgbClr val="DF8330"/>
                </a:solidFill>
                <a:latin typeface="Nunito Ultra-Bold"/>
                <a:ea typeface="Nunito Ultra-Bold"/>
                <a:cs typeface="Nunito Ultra-Bold"/>
                <a:sym typeface="Nunito Ultra-Bold"/>
              </a:rPr>
              <a:t>CANDIDATE</a:t>
            </a:r>
          </a:p>
          <a:p>
            <a:pPr algn="ctr">
              <a:lnSpc>
                <a:spcPts val="2400"/>
              </a:lnSpc>
              <a:spcBef>
                <a:spcPts val="400"/>
              </a:spcBef>
              <a:buNone/>
            </a:pPr>
            <a:r>
              <a:rPr lang="en-US" sz="2000" b="true">
                <a:solidFill>
                  <a:srgbClr val="111111"/>
                </a:solidFill>
                <a:latin typeface="Nunito Ultra-Bold"/>
                <a:ea typeface="Nunito Ultra-Bold"/>
                <a:cs typeface="Nunito Ultra-Bold"/>
                <a:sym typeface="Nunito Ultra-Bold"/>
              </a:rPr>
              <a:t>Mouad LOUHICHI</a:t>
            </a:r>
          </a:p>
        </p:txBody>
      </p:sp>
      <p:sp>
        <p:nvSpPr>
          <p:cNvPr id="15" name="Rounded Rectangle 14"/>
          <p:cNvSpPr/>
          <p:nvPr/>
        </p:nvSpPr>
        <p:spPr>
          <a:xfrm>
            <a:off x="5154930" y="7818120"/>
            <a:ext cx="3851910" cy="1051560"/>
          </a:xfrm>
          <a:prstGeom prst="roundRect">
            <a:avLst>
              <a:gd name="adj" fmla="val 17391"/>
            </a:avLst>
          </a:prstGeom>
          <a:solidFill>
            <a:srgbClr val="FFFFFF"/>
          </a:solidFill>
          <a:ln w="15875">
            <a:solidFill>
              <a:srgbClr val="E3D6C4"/>
            </a:solidFill>
          </a:ln>
        </p:spPr>
        <p:txBody>
          <a:bodyPr anchor="ctr" rtlCol="false" lIns="91440" tIns="45720" rIns="91440" bIns="45720" wrap="square"/>
          <a:lstStyle/>
          <a:p>
            <a:pPr algn="ctr">
              <a:lnSpc>
                <a:spcPts val="1600"/>
              </a:lnSpc>
              <a:spcBef>
                <a:spcPts val="0"/>
              </a:spcBef>
              <a:buNone/>
            </a:pPr>
            <a:r>
              <a:rPr lang="en-US" sz="1300" b="true" spc="150">
                <a:solidFill>
                  <a:srgbClr val="DF8330"/>
                </a:solidFill>
                <a:latin typeface="Nunito Ultra-Bold"/>
                <a:ea typeface="Nunito Ultra-Bold"/>
                <a:cs typeface="Nunito Ultra-Bold"/>
                <a:sym typeface="Nunito Ultra-Bold"/>
              </a:rPr>
              <a:t>SUPERVISOR</a:t>
            </a:r>
          </a:p>
          <a:p>
            <a:pPr algn="ctr">
              <a:lnSpc>
                <a:spcPts val="2400"/>
              </a:lnSpc>
              <a:spcBef>
                <a:spcPts val="400"/>
              </a:spcBef>
              <a:buNone/>
            </a:pPr>
            <a:r>
              <a:rPr lang="en-US" sz="2000" b="true">
                <a:solidFill>
                  <a:srgbClr val="111111"/>
                </a:solidFill>
                <a:latin typeface="Nunito Ultra-Bold"/>
                <a:ea typeface="Nunito Ultra-Bold"/>
                <a:cs typeface="Nunito Ultra-Bold"/>
                <a:sym typeface="Nunito Ultra-Bold"/>
              </a:rPr>
              <a:t>Pr. Mohamed LAZAAR</a:t>
            </a:r>
          </a:p>
        </p:txBody>
      </p:sp>
      <p:sp>
        <p:nvSpPr>
          <p:cNvPr id="16" name="Rounded Rectangle 15"/>
          <p:cNvSpPr/>
          <p:nvPr/>
        </p:nvSpPr>
        <p:spPr>
          <a:xfrm>
            <a:off x="9281160" y="7818120"/>
            <a:ext cx="3851910" cy="1051560"/>
          </a:xfrm>
          <a:prstGeom prst="roundRect">
            <a:avLst>
              <a:gd name="adj" fmla="val 17391"/>
            </a:avLst>
          </a:prstGeom>
          <a:solidFill>
            <a:srgbClr val="FFFFFF"/>
          </a:solidFill>
          <a:ln w="15875">
            <a:solidFill>
              <a:srgbClr val="E3D6C4"/>
            </a:solidFill>
          </a:ln>
        </p:spPr>
        <p:txBody>
          <a:bodyPr anchor="ctr" rtlCol="false" lIns="91440" tIns="45720" rIns="91440" bIns="45720" wrap="square"/>
          <a:lstStyle/>
          <a:p>
            <a:pPr algn="ctr">
              <a:lnSpc>
                <a:spcPts val="1600"/>
              </a:lnSpc>
              <a:spcBef>
                <a:spcPts val="0"/>
              </a:spcBef>
              <a:buNone/>
            </a:pPr>
            <a:r>
              <a:rPr lang="en-US" sz="1300" b="true" spc="150">
                <a:solidFill>
                  <a:srgbClr val="DF8330"/>
                </a:solidFill>
                <a:latin typeface="Nunito Ultra-Bold"/>
                <a:ea typeface="Nunito Ultra-Bold"/>
                <a:cs typeface="Nunito Ultra-Bold"/>
                <a:sym typeface="Nunito Ultra-Bold"/>
              </a:rPr>
              <a:t>LABORATORY</a:t>
            </a:r>
          </a:p>
          <a:p>
            <a:pPr algn="ctr">
              <a:lnSpc>
                <a:spcPts val="2400"/>
              </a:lnSpc>
              <a:spcBef>
                <a:spcPts val="400"/>
              </a:spcBef>
              <a:buNone/>
            </a:pPr>
            <a:r>
              <a:rPr lang="en-US" sz="2000" b="true">
                <a:solidFill>
                  <a:srgbClr val="111111"/>
                </a:solidFill>
                <a:latin typeface="Nunito Ultra-Bold"/>
                <a:ea typeface="Nunito Ultra-Bold"/>
                <a:cs typeface="Nunito Ultra-Bold"/>
                <a:sym typeface="Nunito Ultra-Bold"/>
              </a:rPr>
              <a:t>ENSIAS · UM5 Rabat</a:t>
            </a:r>
          </a:p>
        </p:txBody>
      </p:sp>
      <p:sp>
        <p:nvSpPr>
          <p:cNvPr id="17" name="Rounded Rectangle 16"/>
          <p:cNvSpPr/>
          <p:nvPr/>
        </p:nvSpPr>
        <p:spPr>
          <a:xfrm>
            <a:off x="13407390" y="7818120"/>
            <a:ext cx="3851910" cy="1051560"/>
          </a:xfrm>
          <a:prstGeom prst="roundRect">
            <a:avLst>
              <a:gd name="adj" fmla="val 17391"/>
            </a:avLst>
          </a:prstGeom>
          <a:solidFill>
            <a:srgbClr val="FFFFFF"/>
          </a:solidFill>
          <a:ln w="15875">
            <a:solidFill>
              <a:srgbClr val="E3D6C4"/>
            </a:solidFill>
          </a:ln>
        </p:spPr>
        <p:txBody>
          <a:bodyPr anchor="ctr" rtlCol="false" lIns="91440" tIns="45720" rIns="91440" bIns="45720" wrap="square"/>
          <a:lstStyle/>
          <a:p>
            <a:pPr algn="ctr">
              <a:lnSpc>
                <a:spcPts val="1600"/>
              </a:lnSpc>
              <a:spcBef>
                <a:spcPts val="0"/>
              </a:spcBef>
              <a:buNone/>
            </a:pPr>
            <a:r>
              <a:rPr lang="en-US" sz="1300" b="true" spc="150">
                <a:solidFill>
                  <a:srgbClr val="DF8330"/>
                </a:solidFill>
                <a:latin typeface="Nunito Ultra-Bold"/>
                <a:ea typeface="Nunito Ultra-Bold"/>
                <a:cs typeface="Nunito Ultra-Bold"/>
                <a:sym typeface="Nunito Ultra-Bold"/>
              </a:rPr>
              <a:t>DEFENCE</a:t>
            </a:r>
          </a:p>
          <a:p>
            <a:pPr algn="ctr">
              <a:lnSpc>
                <a:spcPts val="2400"/>
              </a:lnSpc>
              <a:spcBef>
                <a:spcPts val="400"/>
              </a:spcBef>
              <a:buNone/>
            </a:pPr>
            <a:r>
              <a:rPr lang="en-US" sz="2000" b="true">
                <a:solidFill>
                  <a:srgbClr val="111111"/>
                </a:solidFill>
                <a:latin typeface="Nunito Ultra-Bold"/>
                <a:ea typeface="Nunito Ultra-Bold"/>
                <a:cs typeface="Nunito Ultra-Bold"/>
                <a:sym typeface="Nunito Ultra-Bold"/>
              </a:rPr>
              <a:t>Rabat · 2026</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pic>
        <p:nvPicPr>
          <p:cNvPr id="2" name="Picture 1" descr="um5_logo.png"/>
          <p:cNvPicPr>
            <a:picLocks noChangeAspect="1"/>
          </p:cNvPicPr>
          <p:nvPr/>
        </p:nvPicPr>
        <p:blipFill>
          <a:blip r:embed="rId2"/>
          <a:stretch>
            <a:fillRect/>
          </a:stretch>
        </p:blipFill>
        <p:spPr>
          <a:xfrm>
            <a:off x="1028700" y="457200"/>
            <a:ext cx="1255612" cy="914400"/>
          </a:xfrm>
          <a:prstGeom prst="rect">
            <a:avLst/>
          </a:prstGeom>
        </p:spPr>
      </p:pic>
      <p:pic>
        <p:nvPicPr>
          <p:cNvPr id="3" name="Picture 2" descr="ministry_logo.png"/>
          <p:cNvPicPr>
            <a:picLocks noChangeAspect="1"/>
          </p:cNvPicPr>
          <p:nvPr/>
        </p:nvPicPr>
        <p:blipFill>
          <a:blip r:embed="rId3"/>
          <a:stretch>
            <a:fillRect/>
          </a:stretch>
        </p:blipFill>
        <p:spPr>
          <a:xfrm>
            <a:off x="8001000" y="365760"/>
            <a:ext cx="2167205" cy="1143000"/>
          </a:xfrm>
          <a:prstGeom prst="rect">
            <a:avLst/>
          </a:prstGeom>
        </p:spPr>
      </p:pic>
      <p:pic>
        <p:nvPicPr>
          <p:cNvPr id="4" name="Picture 3" descr="ensias_logo.jpg"/>
          <p:cNvPicPr>
            <a:picLocks noChangeAspect="1"/>
          </p:cNvPicPr>
          <p:nvPr/>
        </p:nvPicPr>
        <p:blipFill>
          <a:blip r:embed="rId4"/>
          <a:stretch>
            <a:fillRect/>
          </a:stretch>
        </p:blipFill>
        <p:spPr>
          <a:xfrm>
            <a:off x="15796260" y="411480"/>
            <a:ext cx="1422050" cy="1005840"/>
          </a:xfrm>
          <a:prstGeom prst="rect">
            <a:avLst/>
          </a:prstGeom>
        </p:spPr>
      </p:pic>
      <p:sp>
        <p:nvSpPr>
          <p:cNvPr id="5" name="TextBox 4"/>
          <p:cNvSpPr txBox="1"/>
          <p:nvPr/>
        </p:nvSpPr>
        <p:spPr>
          <a:xfrm>
            <a:off x="1028700" y="1536192"/>
            <a:ext cx="16230600" cy="365760"/>
          </a:xfrm>
          <a:prstGeom prst="rect">
            <a:avLst/>
          </a:prstGeom>
          <a:noFill/>
        </p:spPr>
        <p:txBody>
          <a:bodyPr anchor="t" rtlCol="false" lIns="0" tIns="0" rIns="0" bIns="0" wrap="square"/>
          <a:lstStyle/>
          <a:p>
            <a:pPr algn="ctr">
              <a:lnSpc>
                <a:spcPts val="1900"/>
              </a:lnSpc>
              <a:spcBef>
                <a:spcPts val="0"/>
              </a:spcBef>
              <a:buNone/>
            </a:pPr>
            <a:r>
              <a:rPr lang="en-US" sz="1500" b="true">
                <a:solidFill>
                  <a:srgbClr val="8A8378"/>
                </a:solidFill>
                <a:latin typeface="Nunito Bold"/>
                <a:ea typeface="Nunito Bold"/>
                <a:cs typeface="Nunito Bold"/>
                <a:sym typeface="Nunito Bold"/>
              </a:rPr>
              <a:t>Doctoral Studies Center in Information and Engineering Sciences and Technologies (ST2I)</a:t>
            </a:r>
          </a:p>
        </p:txBody>
      </p:sp>
      <p:sp>
        <p:nvSpPr>
          <p:cNvPr id="6" name="TextBox 5"/>
          <p:cNvSpPr txBox="1"/>
          <p:nvPr/>
        </p:nvSpPr>
        <p:spPr>
          <a:xfrm>
            <a:off x="1028700" y="1938528"/>
            <a:ext cx="16230600" cy="365760"/>
          </a:xfrm>
          <a:prstGeom prst="rect">
            <a:avLst/>
          </a:prstGeom>
          <a:noFill/>
        </p:spPr>
        <p:txBody>
          <a:bodyPr anchor="t" rtlCol="false" lIns="0" tIns="0" rIns="0" bIns="0" wrap="square"/>
          <a:lstStyle/>
          <a:p>
            <a:pPr algn="ctr">
              <a:lnSpc>
                <a:spcPts val="1900"/>
              </a:lnSpc>
              <a:spcBef>
                <a:spcPts val="0"/>
              </a:spcBef>
              <a:buNone/>
            </a:pPr>
            <a:r>
              <a:rPr lang="en-US" sz="1400" b="true" spc="200">
                <a:solidFill>
                  <a:srgbClr val="DF8330"/>
                </a:solidFill>
                <a:latin typeface="Nunito Ultra-Bold"/>
                <a:ea typeface="Nunito Ultra-Bold"/>
                <a:cs typeface="Nunito Ultra-Bold"/>
                <a:sym typeface="Nunito Ultra-Bold"/>
              </a:rPr>
              <a:t>QUESTIONS &amp; DISCUSSION  ·  THANK YOU</a:t>
            </a:r>
          </a:p>
        </p:txBody>
      </p:sp>
      <p:sp>
        <p:nvSpPr>
          <p:cNvPr id="7" name="TextBox 6"/>
          <p:cNvSpPr txBox="1"/>
          <p:nvPr/>
        </p:nvSpPr>
        <p:spPr>
          <a:xfrm>
            <a:off x="1028700" y="2286000"/>
            <a:ext cx="16230600" cy="1828800"/>
          </a:xfrm>
          <a:prstGeom prst="rect">
            <a:avLst/>
          </a:prstGeom>
          <a:noFill/>
        </p:spPr>
        <p:txBody>
          <a:bodyPr anchor="t" rtlCol="false" lIns="0" tIns="0" rIns="0" bIns="0" wrap="square"/>
          <a:lstStyle/>
          <a:p>
            <a:pPr algn="ctr">
              <a:lnSpc>
                <a:spcPts val="5400"/>
              </a:lnSpc>
              <a:spcBef>
                <a:spcPts val="0"/>
              </a:spcBef>
              <a:buNone/>
            </a:pPr>
            <a:r>
              <a:rPr lang="en-US" sz="5000" b="true" spc="-300">
                <a:solidFill>
                  <a:srgbClr val="111111"/>
                </a:solidFill>
                <a:latin typeface="Roca Two Bold"/>
                <a:ea typeface="Roca Two Bold"/>
                <a:cs typeface="Roca Two Bold"/>
                <a:sym typeface="Roca Two Bold"/>
              </a:rPr>
              <a:t>Cooperative Game Theory for</a:t>
            </a:r>
          </a:p>
          <a:p>
            <a:pPr algn="ctr">
              <a:lnSpc>
                <a:spcPts val="5400"/>
              </a:lnSpc>
              <a:spcBef>
                <a:spcPts val="0"/>
              </a:spcBef>
              <a:buNone/>
            </a:pPr>
            <a:r>
              <a:rPr lang="en-US" sz="5000" b="true" spc="-300">
                <a:solidFill>
                  <a:srgbClr val="111111"/>
                </a:solidFill>
                <a:latin typeface="Roca Two Bold"/>
                <a:ea typeface="Roca Two Bold"/>
                <a:cs typeface="Roca Two Bold"/>
                <a:sym typeface="Roca Two Bold"/>
              </a:rPr>
              <a:t>Explainable AI in Recommendation Systems</a:t>
            </a:r>
          </a:p>
        </p:txBody>
      </p:sp>
      <p:sp>
        <p:nvSpPr>
          <p:cNvPr id="8" name="TextBox 7"/>
          <p:cNvSpPr txBox="1"/>
          <p:nvPr/>
        </p:nvSpPr>
        <p:spPr>
          <a:xfrm>
            <a:off x="1028700" y="3913632"/>
            <a:ext cx="16230600" cy="457200"/>
          </a:xfrm>
          <a:prstGeom prst="rect">
            <a:avLst/>
          </a:prstGeom>
          <a:noFill/>
        </p:spPr>
        <p:txBody>
          <a:bodyPr anchor="t" rtlCol="false" lIns="0" tIns="0" rIns="0" bIns="0" wrap="square"/>
          <a:lstStyle/>
          <a:p>
            <a:pPr algn="ctr">
              <a:lnSpc>
                <a:spcPts val="3000"/>
              </a:lnSpc>
              <a:spcBef>
                <a:spcPts val="0"/>
              </a:spcBef>
              <a:buNone/>
            </a:pPr>
            <a:r>
              <a:rPr lang="en-US" sz="2500" b="true" spc="-100">
                <a:solidFill>
                  <a:srgbClr val="124944"/>
                </a:solidFill>
                <a:latin typeface="Nunito Bold"/>
                <a:ea typeface="Nunito Bold"/>
                <a:cs typeface="Nunito Bold"/>
                <a:sym typeface="Nunito Bold"/>
              </a:rPr>
              <a:t>A Shapley Framework for Actionable Insight</a:t>
            </a:r>
          </a:p>
        </p:txBody>
      </p:sp>
      <p:pic>
        <p:nvPicPr>
          <p:cNvPr id="9" name="Picture 8" descr="image.png"/>
          <p:cNvPicPr>
            <a:picLocks noChangeAspect="1"/>
          </p:cNvPicPr>
          <p:nvPr/>
        </p:nvPicPr>
        <p:blipFill>
          <a:blip r:embed="rId5"/>
          <a:stretch>
            <a:fillRect/>
          </a:stretch>
        </p:blipFill>
        <p:spPr>
          <a:xfrm>
            <a:off x="15979140" y="2194560"/>
            <a:ext cx="502920" cy="456772"/>
          </a:xfrm>
          <a:prstGeom prst="rect">
            <a:avLst/>
          </a:prstGeom>
        </p:spPr>
      </p:pic>
      <p:pic>
        <p:nvPicPr>
          <p:cNvPr id="10" name="Picture 9" descr="image.png"/>
          <p:cNvPicPr>
            <a:picLocks noChangeAspect="1"/>
          </p:cNvPicPr>
          <p:nvPr/>
        </p:nvPicPr>
        <p:blipFill>
          <a:blip r:embed="rId6"/>
          <a:stretch>
            <a:fillRect/>
          </a:stretch>
        </p:blipFill>
        <p:spPr>
          <a:xfrm rot="1200000">
            <a:off x="1120140" y="3703320"/>
            <a:ext cx="411480" cy="225885"/>
          </a:xfrm>
          <a:prstGeom prst="rect">
            <a:avLst/>
          </a:prstGeom>
        </p:spPr>
      </p:pic>
      <p:sp>
        <p:nvSpPr>
          <p:cNvPr id="11" name="Rounded Rectangle 10"/>
          <p:cNvSpPr/>
          <p:nvPr/>
        </p:nvSpPr>
        <p:spPr>
          <a:xfrm>
            <a:off x="2926080" y="4526280"/>
            <a:ext cx="6035040" cy="786384"/>
          </a:xfrm>
          <a:prstGeom prst="roundRect">
            <a:avLst>
              <a:gd name="adj" fmla="val 27906"/>
            </a:avLst>
          </a:prstGeom>
          <a:solidFill>
            <a:srgbClr val="124944"/>
          </a:solidFill>
          <a:ln>
            <a:noFill/>
          </a:ln>
        </p:spPr>
        <p:txBody>
          <a:bodyPr anchor="ctr" rtlCol="false" lIns="91440" tIns="45720" rIns="91440" bIns="45720" wrap="square"/>
          <a:lstStyle/>
          <a:p>
            <a:pPr algn="ctr">
              <a:lnSpc>
                <a:spcPts val="1400"/>
              </a:lnSpc>
              <a:spcBef>
                <a:spcPts val="0"/>
              </a:spcBef>
              <a:buNone/>
            </a:pPr>
            <a:r>
              <a:rPr lang="en-US" sz="1100" b="true" spc="150">
                <a:solidFill>
                  <a:srgbClr val="ECC665"/>
                </a:solidFill>
                <a:latin typeface="Nunito Ultra-Bold"/>
                <a:ea typeface="Nunito Ultra-Bold"/>
                <a:cs typeface="Nunito Ultra-Bold"/>
                <a:sym typeface="Nunito Ultra-Bold"/>
              </a:rPr>
              <a:t>PHD VIVA PRESENTED BY</a:t>
            </a:r>
          </a:p>
          <a:p>
            <a:pPr algn="ctr">
              <a:lnSpc>
                <a:spcPts val="2600"/>
              </a:lnSpc>
              <a:spcBef>
                <a:spcPts val="200"/>
              </a:spcBef>
              <a:buNone/>
            </a:pPr>
            <a:r>
              <a:rPr lang="en-US" sz="2200" b="true">
                <a:solidFill>
                  <a:srgbClr val="FFFFFF"/>
                </a:solidFill>
                <a:latin typeface="Nunito Ultra-Bold"/>
                <a:ea typeface="Nunito Ultra-Bold"/>
                <a:cs typeface="Nunito Ultra-Bold"/>
                <a:sym typeface="Nunito Ultra-Bold"/>
              </a:rPr>
              <a:t>Mouad LOUHICHI</a:t>
            </a:r>
          </a:p>
        </p:txBody>
      </p:sp>
      <p:sp>
        <p:nvSpPr>
          <p:cNvPr id="12" name="Rounded Rectangle 11"/>
          <p:cNvSpPr/>
          <p:nvPr/>
        </p:nvSpPr>
        <p:spPr>
          <a:xfrm>
            <a:off x="9326880" y="4526280"/>
            <a:ext cx="6035040" cy="786384"/>
          </a:xfrm>
          <a:prstGeom prst="roundRect">
            <a:avLst>
              <a:gd name="adj" fmla="val 27906"/>
            </a:avLst>
          </a:prstGeom>
          <a:solidFill>
            <a:srgbClr val="F6ECDF"/>
          </a:solidFill>
          <a:ln>
            <a:noFill/>
          </a:ln>
        </p:spPr>
        <p:txBody>
          <a:bodyPr anchor="ctr" rtlCol="false" lIns="91440" tIns="45720" rIns="91440" bIns="45720" wrap="square"/>
          <a:lstStyle/>
          <a:p>
            <a:pPr algn="ctr">
              <a:lnSpc>
                <a:spcPts val="1400"/>
              </a:lnSpc>
              <a:spcBef>
                <a:spcPts val="0"/>
              </a:spcBef>
              <a:buNone/>
            </a:pPr>
            <a:r>
              <a:rPr lang="en-US" sz="1100" b="true" spc="150">
                <a:solidFill>
                  <a:srgbClr val="DF8330"/>
                </a:solidFill>
                <a:latin typeface="Nunito Ultra-Bold"/>
                <a:ea typeface="Nunito Ultra-Bold"/>
                <a:cs typeface="Nunito Ultra-Bold"/>
                <a:sym typeface="Nunito Ultra-Bold"/>
              </a:rPr>
              <a:t>SUPERVISED BY</a:t>
            </a:r>
          </a:p>
          <a:p>
            <a:pPr algn="ctr">
              <a:lnSpc>
                <a:spcPts val="2400"/>
              </a:lnSpc>
              <a:spcBef>
                <a:spcPts val="200"/>
              </a:spcBef>
              <a:buNone/>
            </a:pPr>
            <a:r>
              <a:rPr lang="en-US" sz="2000" b="true">
                <a:solidFill>
                  <a:srgbClr val="111111"/>
                </a:solidFill>
                <a:latin typeface="Nunito Ultra-Bold"/>
                <a:ea typeface="Nunito Ultra-Bold"/>
                <a:cs typeface="Nunito Ultra-Bold"/>
                <a:sym typeface="Nunito Ultra-Bold"/>
              </a:rPr>
              <a:t>Pr. Mohamed LAZAAR  ·  PES, ENSIAS</a:t>
            </a:r>
          </a:p>
        </p:txBody>
      </p:sp>
      <p:sp>
        <p:nvSpPr>
          <p:cNvPr id="13" name="TextBox 12"/>
          <p:cNvSpPr txBox="1"/>
          <p:nvPr/>
        </p:nvSpPr>
        <p:spPr>
          <a:xfrm>
            <a:off x="1028700" y="5504688"/>
            <a:ext cx="16230600" cy="274320"/>
          </a:xfrm>
          <a:prstGeom prst="rect">
            <a:avLst/>
          </a:prstGeom>
          <a:noFill/>
        </p:spPr>
        <p:txBody>
          <a:bodyPr anchor="t" rtlCol="false" lIns="0" tIns="0" rIns="0" bIns="0" wrap="square"/>
          <a:lstStyle/>
          <a:p>
            <a:pPr algn="l">
              <a:lnSpc>
                <a:spcPts val="1500"/>
              </a:lnSpc>
              <a:spcBef>
                <a:spcPts val="0"/>
              </a:spcBef>
              <a:buNone/>
            </a:pPr>
            <a:r>
              <a:rPr lang="en-US" sz="1200" b="true" spc="200">
                <a:solidFill>
                  <a:srgbClr val="8A8378"/>
                </a:solidFill>
                <a:latin typeface="Nunito Ultra-Bold"/>
                <a:ea typeface="Nunito Ultra-Bold"/>
                <a:cs typeface="Nunito Ultra-Bold"/>
                <a:sym typeface="Nunito Ultra-Bold"/>
              </a:rPr>
              <a:t>JURY MEMBERS</a:t>
            </a:r>
          </a:p>
        </p:txBody>
      </p:sp>
      <p:graphicFrame>
        <p:nvGraphicFramePr>
          <p:cNvPr id="14" name="Table 13"/>
          <p:cNvGraphicFramePr>
            <a:graphicFrameLocks noGrp="1"/>
          </p:cNvGraphicFramePr>
          <p:nvPr/>
        </p:nvGraphicFramePr>
        <p:xfrm>
          <a:off x="1028700" y="5797296"/>
          <a:ext cx="16230599" cy="3552190"/>
        </p:xfrm>
        <a:graphic>
          <a:graphicData uri="http://schemas.openxmlformats.org/drawingml/2006/table">
            <a:tbl>
              <a:tblPr firstRow="0" bandRow="0" firstCol="0" lastRow="0" lastCol="0" bandCol="0">
                <a:tableStyleId>{2D5ABB26-0587-4C30-8999-92F81FD0307C}</a:tableStyleId>
              </a:tblPr>
              <a:tblGrid>
                <a:gridCol w="1971942"/>
                <a:gridCol w="5005699"/>
                <a:gridCol w="1365190"/>
                <a:gridCol w="7887768"/>
              </a:tblGrid>
              <a:tr h="340360">
                <a:tc>
                  <a:txBody>
                    <a:bodyPr anchor="ctr" rtlCol="false" lIns="0" tIns="0" rIns="0" bIns="0" wrap="square"/>
                    <a:lstStyle/>
                    <a:p>
                      <a:pPr algn="l">
                        <a:lnSpc>
                          <a:spcPts val="1560"/>
                        </a:lnSpc>
                        <a:spcBef>
                          <a:spcPts val="0"/>
                        </a:spcBef>
                        <a:buNone/>
                      </a:pPr>
                      <a:r>
                        <a:rPr lang="en-US" sz="1200" b="true">
                          <a:solidFill>
                            <a:srgbClr val="FFFFFF"/>
                          </a:solidFill>
                          <a:latin typeface="Nunito Bold"/>
                          <a:ea typeface="Nunito Bold"/>
                          <a:cs typeface="Nunito Bold"/>
                          <a:sym typeface="Nunito Bold"/>
                        </a:rPr>
                        <a:t>Role</a:t>
                      </a:r>
                    </a:p>
                  </a:txBody>
                  <a:tcPr marL="45720" marR="45720"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1560"/>
                        </a:lnSpc>
                        <a:spcBef>
                          <a:spcPts val="0"/>
                        </a:spcBef>
                        <a:buNone/>
                      </a:pPr>
                      <a:r>
                        <a:rPr lang="en-US" sz="1200" b="true">
                          <a:solidFill>
                            <a:srgbClr val="FFFFFF"/>
                          </a:solidFill>
                          <a:latin typeface="Nunito Bold"/>
                          <a:ea typeface="Nunito Bold"/>
                          <a:cs typeface="Nunito Bold"/>
                          <a:sym typeface="Nunito Bold"/>
                        </a:rPr>
                        <a:t>Name</a:t>
                      </a:r>
                    </a:p>
                  </a:txBody>
                  <a:tcPr marL="45720" marR="45720"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560"/>
                        </a:lnSpc>
                        <a:spcBef>
                          <a:spcPts val="0"/>
                        </a:spcBef>
                        <a:buNone/>
                      </a:pPr>
                      <a:r>
                        <a:rPr lang="en-US" sz="1200" b="true">
                          <a:solidFill>
                            <a:srgbClr val="FFFFFF"/>
                          </a:solidFill>
                          <a:latin typeface="Nunito Bold"/>
                          <a:ea typeface="Nunito Bold"/>
                          <a:cs typeface="Nunito Bold"/>
                          <a:sym typeface="Nunito Bold"/>
                        </a:rPr>
                        <a:t>Grade</a:t>
                      </a:r>
                    </a:p>
                  </a:txBody>
                  <a:tcPr marL="45720" marR="45720"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l">
                        <a:lnSpc>
                          <a:spcPts val="1560"/>
                        </a:lnSpc>
                        <a:spcBef>
                          <a:spcPts val="0"/>
                        </a:spcBef>
                        <a:buNone/>
                      </a:pPr>
                      <a:r>
                        <a:rPr lang="en-US" sz="1200" b="true">
                          <a:solidFill>
                            <a:srgbClr val="FFFFFF"/>
                          </a:solidFill>
                          <a:latin typeface="Nunito Bold"/>
                          <a:ea typeface="Nunito Bold"/>
                          <a:cs typeface="Nunito Bold"/>
                          <a:sym typeface="Nunito Bold"/>
                        </a:rPr>
                        <a:t>Institution</a:t>
                      </a:r>
                    </a:p>
                  </a:txBody>
                  <a:tcPr marL="45720" marR="45720"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President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Abdellatif EL AFIA</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Supervisor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Mohamed LAZAAR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Reviewer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M'hamed AIT KBIR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FST, Abdelmalek Essaâdi University, Tangier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Reviewer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Oussama MAHBOUB</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ENSA, Abdelmalek Essaâdi University, Tetouan</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Reviewer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Noureddine KERZAZI</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MCH</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Examiner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Hicham OMARA</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MCH</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FP Taza, Sidi Mohamed Ben Abdellah University, Fez</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Examiner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Fatima OUZAYD</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PES</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Examiner</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Yasser EL MADANI EL ALAMI</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MCH</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ENSIAS, Mohammed V University, Rabat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356870">
                <a:tc>
                  <a:txBody>
                    <a:bodyPr anchor="ctr" rtlCol="false" lIns="0" tIns="0" rIns="0" bIns="0" wrap="square"/>
                    <a:lstStyle/>
                    <a:p>
                      <a:pPr algn="l">
                        <a:lnSpc>
                          <a:spcPts val="1690"/>
                        </a:lnSpc>
                        <a:spcBef>
                          <a:spcPts val="0"/>
                        </a:spcBef>
                        <a:buNone/>
                      </a:pPr>
                      <a:r>
                        <a:rPr lang="en-US" sz="1300" b="true">
                          <a:solidFill>
                            <a:srgbClr val="111111"/>
                          </a:solidFill>
                          <a:latin typeface="Nunito Bold"/>
                          <a:ea typeface="Nunito Bold"/>
                          <a:cs typeface="Nunito Bold"/>
                          <a:sym typeface="Nunito Bold"/>
                        </a:rPr>
                        <a:t>Guest</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Pr. Yassine AFOUDI</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690"/>
                        </a:lnSpc>
                        <a:spcBef>
                          <a:spcPts val="0"/>
                        </a:spcBef>
                        <a:buNone/>
                      </a:pPr>
                      <a:r>
                        <a:rPr lang="en-US" sz="1300" b="true">
                          <a:solidFill>
                            <a:srgbClr val="111111"/>
                          </a:solidFill>
                          <a:latin typeface="Nunito Semi-Bold"/>
                          <a:ea typeface="Nunito Semi-Bold"/>
                          <a:cs typeface="Nunito Semi-Bold"/>
                          <a:sym typeface="Nunito Semi-Bold"/>
                        </a:rPr>
                        <a:t>MC</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l">
                        <a:lnSpc>
                          <a:spcPts val="1690"/>
                        </a:lnSpc>
                        <a:spcBef>
                          <a:spcPts val="0"/>
                        </a:spcBef>
                        <a:buNone/>
                      </a:pPr>
                      <a:r>
                        <a:rPr lang="en-US" sz="1300" b="true">
                          <a:solidFill>
                            <a:srgbClr val="111111"/>
                          </a:solidFill>
                          <a:latin typeface="Nunito Semi-Bold"/>
                          <a:ea typeface="Nunito Semi-Bold"/>
                          <a:cs typeface="Nunito Semi-Bold"/>
                          <a:sym typeface="Nunito Semi-Bold"/>
                        </a:rPr>
                        <a:t>Faculty of Sciences, Cadi Ayyad University, Marrakech</a:t>
                      </a:r>
                    </a:p>
                  </a:txBody>
                  <a:tcPr marL="45720" marR="45720"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bl>
          </a:graphicData>
        </a:graphic>
      </p:graphicFrame>
      <p:sp>
        <p:nvSpPr>
          <p:cNvPr id="15" name="TextBox 14"/>
          <p:cNvSpPr txBox="1"/>
          <p:nvPr/>
        </p:nvSpPr>
        <p:spPr>
          <a:xfrm>
            <a:off x="1028700" y="9514078"/>
            <a:ext cx="16230600" cy="274320"/>
          </a:xfrm>
          <a:prstGeom prst="rect">
            <a:avLst/>
          </a:prstGeom>
          <a:noFill/>
        </p:spPr>
        <p:txBody>
          <a:bodyPr anchor="t" rtlCol="false" lIns="0" tIns="0" rIns="0" bIns="0" wrap="square"/>
          <a:lstStyle/>
          <a:p>
            <a:pPr algn="ctr">
              <a:lnSpc>
                <a:spcPts val="1700"/>
              </a:lnSpc>
              <a:spcBef>
                <a:spcPts val="0"/>
              </a:spcBef>
              <a:buNone/>
            </a:pPr>
            <a:r>
              <a:rPr lang="en-US" sz="1400" b="true">
                <a:solidFill>
                  <a:srgbClr val="8A8378"/>
                </a:solidFill>
                <a:latin typeface="Nunito Bold"/>
                <a:ea typeface="Nunito Bold"/>
                <a:cs typeface="Nunito Bold"/>
                <a:sym typeface="Nunito Bold"/>
              </a:rPr>
              <a:t>Rabat, Morocco  ·  2026</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[3] Louhichi, M., Nesmaoui, R. &amp; Lazaar, M. DyHuCoG: A Dynamic Hypergraph Cooperative Game for Preference-aware Recommendation. IJIES 19(2), 887–902 (2026).</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78</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BACKUP</a:t>
            </a:r>
          </a:p>
        </p:txBody>
      </p:sp>
      <p:sp>
        <p:nvSpPr>
          <p:cNvPr id="8" name="TextBox 7"/>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Backup: Table 7.1, Full Results (mean </a:t>
            </a:r>
            <a:r>
              <a:rPr lang="en-US" sz="4600" b="true" spc="-230">
                <a:solidFill>
                  <a:srgbClr val="111111"/>
                </a:solidFill>
                <a:latin typeface="Cambria Math"/>
                <a:ea typeface="Cambria Math"/>
                <a:cs typeface="Cambria Math"/>
                <a:sym typeface="Cambria Math"/>
              </a:rPr>
              <a:t>± </a:t>
            </a:r>
            <a:r>
              <a:rPr lang="en-US" sz="4600" b="true" spc="-230">
                <a:solidFill>
                  <a:srgbClr val="111111"/>
                </a:solidFill>
                <a:latin typeface="Roca Two Bold"/>
                <a:ea typeface="Roca Two Bold"/>
                <a:cs typeface="Roca Two Bold"/>
                <a:sym typeface="Roca Two Bold"/>
              </a:rPr>
              <a:t>std, 5 seeds)</a:t>
            </a:r>
          </a:p>
        </p:txBody>
      </p:sp>
      <p:pic>
        <p:nvPicPr>
          <p:cNvPr id="9" name="Picture 8" descr="image.png"/>
          <p:cNvPicPr>
            <a:picLocks noChangeAspect="1"/>
          </p:cNvPicPr>
          <p:nvPr/>
        </p:nvPicPr>
        <p:blipFill>
          <a:blip r:embed="rId3"/>
          <a:stretch>
            <a:fillRect/>
          </a:stretch>
        </p:blipFill>
        <p:spPr>
          <a:xfrm>
            <a:off x="14357876" y="1673352"/>
            <a:ext cx="457200" cy="373212"/>
          </a:xfrm>
          <a:prstGeom prst="rect">
            <a:avLst/>
          </a:prstGeom>
        </p:spPr>
      </p:pic>
      <p:sp>
        <p:nvSpPr>
          <p:cNvPr id="10" name="TextBox 9"/>
          <p:cNvSpPr txBox="1"/>
          <p:nvPr/>
        </p:nvSpPr>
        <p:spPr>
          <a:xfrm>
            <a:off x="1028700" y="2897378"/>
            <a:ext cx="788670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DF8330"/>
                </a:solidFill>
                <a:latin typeface="Nunito Ultra-Bold"/>
                <a:ea typeface="Nunito Ultra-Bold"/>
                <a:cs typeface="Nunito Ultra-Bold"/>
                <a:sym typeface="Nunito Ultra-Bold"/>
              </a:rPr>
              <a:t>MOVIELENS-1M</a:t>
            </a:r>
          </a:p>
        </p:txBody>
      </p:sp>
      <p:graphicFrame>
        <p:nvGraphicFramePr>
          <p:cNvPr id="11" name="Table 10"/>
          <p:cNvGraphicFramePr>
            <a:graphicFrameLocks noGrp="1"/>
          </p:cNvGraphicFramePr>
          <p:nvPr/>
        </p:nvGraphicFramePr>
        <p:xfrm>
          <a:off x="1028700" y="3263138"/>
          <a:ext cx="7886699" cy="3803904"/>
        </p:xfrm>
        <a:graphic>
          <a:graphicData uri="http://schemas.openxmlformats.org/drawingml/2006/table">
            <a:tbl>
              <a:tblPr firstRow="0" bandRow="0" firstCol="0" lastRow="0" lastCol="0" bandCol="0">
                <a:tableStyleId>{2D5ABB26-0587-4C30-8999-92F81FD0307C}</a:tableStyleId>
              </a:tblPr>
              <a:tblGrid>
                <a:gridCol w="1354281"/>
                <a:gridCol w="1752600"/>
                <a:gridCol w="1752600"/>
                <a:gridCol w="1513609"/>
                <a:gridCol w="1513609"/>
              </a:tblGrid>
              <a:tr h="475488">
                <a:tc>
                  <a:txBody>
                    <a:bodyPr anchor="ctr" rtlCol="false" lIns="0" tIns="0" rIns="0" bIns="0" wrap="square"/>
                    <a:lstStyle/>
                    <a:p>
                      <a:pPr algn="l">
                        <a:lnSpc>
                          <a:spcPts val="1820"/>
                        </a:lnSpc>
                        <a:spcBef>
                          <a:spcPts val="0"/>
                        </a:spcBef>
                        <a:buNone/>
                      </a:pPr>
                      <a:r>
                        <a:rPr lang="en-US" sz="1400" b="true">
                          <a:solidFill>
                            <a:srgbClr val="FFFFFF"/>
                          </a:solidFill>
                          <a:latin typeface="Nunito Bold"/>
                          <a:ea typeface="Nunito Bold"/>
                          <a:cs typeface="Nunito Bold"/>
                          <a:sym typeface="Nunito Bold"/>
                        </a:rPr>
                        <a:t>Model</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NDCG@20</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Recall@20</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Coverage</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ILD</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MF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0.1200 ± 0.0025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0.0880 ± 0.0020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0.239 ± 0.010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0.367 ± 0.009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NCF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0.1300 ± 0.0026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0.1100 ± 0.0022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0.269 ± 0.011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0.398 ± 0.008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LightGCN</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0.2130 ± 0.0030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0.1790 ± 0.0027</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0.308 ± 0.010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0.423 ± 0.007</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RecDCL</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0.2296 ± 0.0032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0.1918 ± 0.0029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0.324 ± 0.010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0.445 ± 0.007</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HCCF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0.2470 ± 0.0035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0.2050 ± 0.0031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0.327 ± 0.009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0.448 ± 0.006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HPCF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0.2528 ± 0.0036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0.2098 ± 0.0032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0.342 ± 0.009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0.461 ± 0.006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75488">
                <a:tc>
                  <a:txBody>
                    <a:bodyPr anchor="ctr" rtlCol="false" lIns="0" tIns="0" rIns="0" bIns="0" wrap="square"/>
                    <a:lstStyle/>
                    <a:p>
                      <a:pPr algn="l">
                        <a:lnSpc>
                          <a:spcPts val="1820"/>
                        </a:lnSpc>
                        <a:spcBef>
                          <a:spcPts val="0"/>
                        </a:spcBef>
                        <a:buNone/>
                      </a:pPr>
                      <a:r>
                        <a:rPr lang="en-US" sz="1400" b="1">
                          <a:solidFill>
                            <a:srgbClr val="111111"/>
                          </a:solidFill>
                          <a:latin typeface="Nunito Bold"/>
                          <a:ea typeface="Nunito Bold"/>
                          <a:cs typeface="Nunito Bold"/>
                          <a:sym typeface="Nunito Bold"/>
                        </a:rPr>
                        <a:t>DyHuCoG</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0.2775 ± 0.0039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0.2362 ± 0.0036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0.397 ± 0.011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0.516 ± 0.005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bl>
          </a:graphicData>
        </a:graphic>
      </p:graphicFrame>
      <p:sp>
        <p:nvSpPr>
          <p:cNvPr id="12" name="TextBox 11"/>
          <p:cNvSpPr txBox="1"/>
          <p:nvPr/>
        </p:nvSpPr>
        <p:spPr>
          <a:xfrm>
            <a:off x="9372600" y="2897378"/>
            <a:ext cx="788670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DF8330"/>
                </a:solidFill>
                <a:latin typeface="Nunito Ultra-Bold"/>
                <a:ea typeface="Nunito Ultra-Bold"/>
                <a:cs typeface="Nunito Ultra-Bold"/>
                <a:sym typeface="Nunito Ultra-Bold"/>
              </a:rPr>
              <a:t>AMAZON-BOOK</a:t>
            </a:r>
          </a:p>
        </p:txBody>
      </p:sp>
      <p:graphicFrame>
        <p:nvGraphicFramePr>
          <p:cNvPr id="13" name="Table 12"/>
          <p:cNvGraphicFramePr>
            <a:graphicFrameLocks noGrp="1"/>
          </p:cNvGraphicFramePr>
          <p:nvPr/>
        </p:nvGraphicFramePr>
        <p:xfrm>
          <a:off x="9372600" y="3263138"/>
          <a:ext cx="7886699" cy="3803904"/>
        </p:xfrm>
        <a:graphic>
          <a:graphicData uri="http://schemas.openxmlformats.org/drawingml/2006/table">
            <a:tbl>
              <a:tblPr firstRow="0" bandRow="0" firstCol="0" lastRow="0" lastCol="0" bandCol="0">
                <a:tableStyleId>{2D5ABB26-0587-4C30-8999-92F81FD0307C}</a:tableStyleId>
              </a:tblPr>
              <a:tblGrid>
                <a:gridCol w="1354281"/>
                <a:gridCol w="1752600"/>
                <a:gridCol w="1752600"/>
                <a:gridCol w="1513609"/>
                <a:gridCol w="1513609"/>
              </a:tblGrid>
              <a:tr h="475488">
                <a:tc>
                  <a:txBody>
                    <a:bodyPr anchor="ctr" rtlCol="false" lIns="0" tIns="0" rIns="0" bIns="0" wrap="square"/>
                    <a:lstStyle/>
                    <a:p>
                      <a:pPr algn="l">
                        <a:lnSpc>
                          <a:spcPts val="1820"/>
                        </a:lnSpc>
                        <a:spcBef>
                          <a:spcPts val="0"/>
                        </a:spcBef>
                        <a:buNone/>
                      </a:pPr>
                      <a:r>
                        <a:rPr lang="en-US" sz="1400" b="true">
                          <a:solidFill>
                            <a:srgbClr val="FFFFFF"/>
                          </a:solidFill>
                          <a:latin typeface="Nunito Bold"/>
                          <a:ea typeface="Nunito Bold"/>
                          <a:cs typeface="Nunito Bold"/>
                          <a:sym typeface="Nunito Bold"/>
                        </a:rPr>
                        <a:t>Model</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NDCG@20</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Recall@20</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Coverage</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820"/>
                        </a:lnSpc>
                        <a:spcBef>
                          <a:spcPts val="0"/>
                        </a:spcBef>
                        <a:buNone/>
                      </a:pPr>
                      <a:r>
                        <a:rPr lang="en-US" sz="1400" b="true">
                          <a:solidFill>
                            <a:srgbClr val="FFFFFF"/>
                          </a:solidFill>
                          <a:latin typeface="Nunito Bold"/>
                          <a:ea typeface="Nunito Bold"/>
                          <a:cs typeface="Nunito Bold"/>
                          <a:sym typeface="Nunito Bold"/>
                        </a:rPr>
                        <a:t>ILD</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MF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0.0049 ± 0.0005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0.0093 ± 0.0009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0.168 ± 0.013</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0.425 ± 0.014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NCF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0.0085 ± 0.0008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0.0142 ± 0.0014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0.193 ± 0.012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0.458 ± 0.013</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LightGCN</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0.0236 ± 0.0024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0.0320 ± 0.0032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0.226 ± 0.011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0.491 ± 0.012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RecDCL</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0.0255 ± 0.0026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0.0346 ± 0.0035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0.242 ± 0.010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0.512 ± 0.011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HCCF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0.0258 ± 0.0026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0.0344 ± 0.0034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0.248 ± 0.010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0.520 ± 0.011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75488">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HPCF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0.0270 ± 0.0027</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0.0359 ± 0.0036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0.259 ± 0.010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0.535 ± 0.011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75488">
                <a:tc>
                  <a:txBody>
                    <a:bodyPr anchor="ctr" rtlCol="false" lIns="0" tIns="0" rIns="0" bIns="0" wrap="square"/>
                    <a:lstStyle/>
                    <a:p>
                      <a:pPr algn="l">
                        <a:lnSpc>
                          <a:spcPts val="1820"/>
                        </a:lnSpc>
                        <a:spcBef>
                          <a:spcPts val="0"/>
                        </a:spcBef>
                        <a:buNone/>
                      </a:pPr>
                      <a:r>
                        <a:rPr lang="en-US" sz="1400" b="1">
                          <a:solidFill>
                            <a:srgbClr val="111111"/>
                          </a:solidFill>
                          <a:latin typeface="Nunito Bold"/>
                          <a:ea typeface="Nunito Bold"/>
                          <a:cs typeface="Nunito Bold"/>
                          <a:sym typeface="Nunito Bold"/>
                        </a:rPr>
                        <a:t>DyHuCoG</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0.0306 ± 0.0031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0.0417 ± 0.0042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0.336 ± 0.012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0.602 ± 0.010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bl>
          </a:graphicData>
        </a:graphic>
      </p:graphicFrame>
      <p:sp>
        <p:nvSpPr>
          <p:cNvPr id="14" name="Rounded Rectangle 13"/>
          <p:cNvSpPr/>
          <p:nvPr/>
        </p:nvSpPr>
        <p:spPr>
          <a:xfrm>
            <a:off x="1028700" y="7387082"/>
            <a:ext cx="16230600" cy="822960"/>
          </a:xfrm>
          <a:prstGeom prst="roundRect">
            <a:avLst>
              <a:gd name="adj" fmla="val 24444"/>
            </a:avLst>
          </a:prstGeom>
          <a:solidFill>
            <a:srgbClr val="F6ECDF"/>
          </a:solidFill>
          <a:ln>
            <a:noFill/>
          </a:ln>
        </p:spPr>
        <p:txBody>
          <a:bodyPr anchor="ctr" rtlCol="false" lIns="365760" tIns="45720" rIns="365760" bIns="45720" wrap="square"/>
          <a:lstStyle/>
          <a:p>
            <a:pPr algn="ctr">
              <a:lnSpc>
                <a:spcPts val="2200"/>
              </a:lnSpc>
              <a:spcBef>
                <a:spcPts val="0"/>
              </a:spcBef>
              <a:buNone/>
            </a:pPr>
            <a:r>
              <a:rPr lang="en-US" sz="1700" b="true">
                <a:solidFill>
                  <a:srgbClr val="111111"/>
                </a:solidFill>
                <a:latin typeface="Nunito Semi-Bold"/>
                <a:ea typeface="Nunito Semi-Bold"/>
                <a:cs typeface="Nunito Semi-Bold"/>
                <a:sym typeface="Nunito Semi-Bold"/>
              </a:rPr>
              <a:t>Standard deviations are roughly </a:t>
            </a:r>
            <a:r>
              <a:rPr lang="en-US" sz="1700" b="true">
                <a:solidFill>
                  <a:srgbClr val="111111"/>
                </a:solidFill>
                <a:latin typeface="Nunito Bold"/>
                <a:ea typeface="Nunito Bold"/>
                <a:cs typeface="Nunito Bold"/>
                <a:sym typeface="Nunito Bold"/>
              </a:rPr>
              <a:t>one tenth of the gap</a:t>
            </a:r>
            <a:r>
              <a:rPr lang="en-US" sz="1700" b="true">
                <a:solidFill>
                  <a:srgbClr val="111111"/>
                </a:solidFill>
                <a:latin typeface="Nunito Semi-Bold"/>
                <a:ea typeface="Nunito Semi-Bold"/>
                <a:cs typeface="Nunito Semi-Bold"/>
                <a:sym typeface="Nunito Semi-Bold"/>
              </a:rPr>
              <a:t> between DyHuCoG and HPCF on every metric, so the ordering is stable across seeds.</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[27] Holm, S. A Simple Sequentially Rejective Multiple Test Procedure. Scand. J. Statist. 6(2), 65–70 (1979).  ·  Cohen, J. Statistical Power Analysis for the Behavioral Sciences (1988).</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79</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BACKUP</a:t>
            </a:r>
          </a:p>
        </p:txBody>
      </p:sp>
      <p:sp>
        <p:nvSpPr>
          <p:cNvPr id="8" name="TextBox 7"/>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Backup: Table 7.6, Paired Tests vs Every Baseline</a:t>
            </a:r>
          </a:p>
        </p:txBody>
      </p:sp>
      <p:pic>
        <p:nvPicPr>
          <p:cNvPr id="9" name="Picture 8" descr="image.png"/>
          <p:cNvPicPr>
            <a:picLocks noChangeAspect="1"/>
          </p:cNvPicPr>
          <p:nvPr/>
        </p:nvPicPr>
        <p:blipFill>
          <a:blip r:embed="rId3"/>
          <a:stretch>
            <a:fillRect/>
          </a:stretch>
        </p:blipFill>
        <p:spPr>
          <a:xfrm>
            <a:off x="13676893" y="1673352"/>
            <a:ext cx="457200" cy="427074"/>
          </a:xfrm>
          <a:prstGeom prst="rect">
            <a:avLst/>
          </a:prstGeom>
        </p:spPr>
      </p:pic>
      <p:graphicFrame>
        <p:nvGraphicFramePr>
          <p:cNvPr id="10" name="Table 9"/>
          <p:cNvGraphicFramePr>
            <a:graphicFrameLocks noGrp="1"/>
          </p:cNvGraphicFramePr>
          <p:nvPr/>
        </p:nvGraphicFramePr>
        <p:xfrm>
          <a:off x="1028700" y="2943098"/>
          <a:ext cx="16230597" cy="3968496"/>
        </p:xfrm>
        <a:graphic>
          <a:graphicData uri="http://schemas.openxmlformats.org/drawingml/2006/table">
            <a:tbl>
              <a:tblPr firstRow="0" bandRow="0" firstCol="0" lastRow="0" lastCol="0" bandCol="0">
                <a:tableStyleId>{2D5ABB26-0587-4C30-8999-92F81FD0307C}</a:tableStyleId>
              </a:tblPr>
              <a:tblGrid>
                <a:gridCol w="4725364"/>
                <a:gridCol w="2054506"/>
                <a:gridCol w="2670858"/>
                <a:gridCol w="2054506"/>
                <a:gridCol w="2465407"/>
                <a:gridCol w="2259956"/>
              </a:tblGrid>
              <a:tr h="566928">
                <a:tc>
                  <a:txBody>
                    <a:bodyPr anchor="ctr" rtlCol="false" lIns="0" tIns="0" rIns="0" bIns="0" wrap="square"/>
                    <a:lstStyle/>
                    <a:p>
                      <a:pPr algn="l">
                        <a:lnSpc>
                          <a:spcPts val="2080"/>
                        </a:lnSpc>
                        <a:spcBef>
                          <a:spcPts val="0"/>
                        </a:spcBef>
                        <a:buNone/>
                      </a:pPr>
                      <a:r>
                        <a:rPr lang="en-US" sz="1600" b="true">
                          <a:solidFill>
                            <a:srgbClr val="FFFFFF"/>
                          </a:solidFill>
                          <a:latin typeface="Nunito Bold"/>
                          <a:ea typeface="Nunito Bold"/>
                          <a:cs typeface="Nunito Bold"/>
                          <a:sym typeface="Nunito Bold"/>
                        </a:rPr>
                        <a:t>Comparison (per-user NDCG@20, ML-1M)</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t statistic</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p-value</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Cohen's d</a:t>
                      </a:r>
                      <a:r>
                        <a:rPr lang="en-US" sz="1600" b="true" baseline="-25000">
                          <a:solidFill>
                            <a:srgbClr val="FFFFFF"/>
                          </a:solidFill>
                          <a:latin typeface="Nunito Bold"/>
                          <a:ea typeface="Nunito Bold"/>
                          <a:cs typeface="Nunito Bold"/>
                          <a:sym typeface="Nunito Bold"/>
                        </a:rPr>
                        <a:t>z</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Holm threshold </a:t>
                      </a:r>
                      <a:r>
                        <a:rPr lang="en-US" sz="1600" b="true">
                          <a:solidFill>
                            <a:srgbClr val="FFFFFF"/>
                          </a:solidFill>
                          <a:latin typeface="Calibri"/>
                          <a:ea typeface="Calibri"/>
                          <a:cs typeface="Calibri"/>
                          <a:sym typeface="Calibri"/>
                        </a:rPr>
                        <a:t>α</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2080"/>
                        </a:lnSpc>
                        <a:spcBef>
                          <a:spcPts val="0"/>
                        </a:spcBef>
                        <a:buNone/>
                      </a:pPr>
                      <a:r>
                        <a:rPr lang="en-US" sz="1600" b="true">
                          <a:solidFill>
                            <a:srgbClr val="FFFFFF"/>
                          </a:solidFill>
                          <a:latin typeface="Nunito Bold"/>
                          <a:ea typeface="Nunito Bold"/>
                          <a:cs typeface="Nunito Bold"/>
                          <a:sym typeface="Nunito Bold"/>
                        </a:rPr>
                        <a:t>Result</a:t>
                      </a:r>
                    </a:p>
                  </a:txBody>
                  <a:tcPr marL="82296" marR="82296"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566928">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DyHuCoG vs HPCF</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46.38</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1.81 × 10</a:t>
                      </a:r>
                      <a:r>
                        <a:rPr lang="en-US" sz="1700" b="true" baseline="30000">
                          <a:solidFill>
                            <a:srgbClr val="111111"/>
                          </a:solidFill>
                          <a:latin typeface="Nunito Semi-Bold"/>
                          <a:ea typeface="Nunito Semi-Bold"/>
                          <a:cs typeface="Nunito Semi-Bold"/>
                          <a:sym typeface="Nunito Semi-Bold"/>
                        </a:rPr>
                        <a:t>−270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1.33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0.0500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significant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66928">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DyHuCoG vs RecDCL</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92.72</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&lt; 10</a:t>
                      </a:r>
                      <a:r>
                        <a:rPr lang="en-US" sz="1700" b="true" baseline="30000">
                          <a:solidFill>
                            <a:srgbClr val="111111"/>
                          </a:solidFill>
                          <a:latin typeface="Nunito Semi-Bold"/>
                          <a:ea typeface="Nunito Semi-Bold"/>
                          <a:cs typeface="Nunito Semi-Bold"/>
                          <a:sym typeface="Nunito Semi-Bold"/>
                        </a:rPr>
                        <a:t>−300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2.67</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0.0083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significant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66928">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DyHuCoG vs HCCF</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61.21</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&lt; 10</a:t>
                      </a:r>
                      <a:r>
                        <a:rPr lang="en-US" sz="1700" b="true" baseline="30000">
                          <a:solidFill>
                            <a:srgbClr val="111111"/>
                          </a:solidFill>
                          <a:latin typeface="Nunito Semi-Bold"/>
                          <a:ea typeface="Nunito Semi-Bold"/>
                          <a:cs typeface="Nunito Semi-Bold"/>
                          <a:sym typeface="Nunito Semi-Bold"/>
                        </a:rPr>
                        <a:t>−300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1.76</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0.0100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significant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66928">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DyHuCoG vs LightGCN</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132.19</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&lt; 10</a:t>
                      </a:r>
                      <a:r>
                        <a:rPr lang="en-US" sz="1700" b="true" baseline="30000">
                          <a:solidFill>
                            <a:srgbClr val="111111"/>
                          </a:solidFill>
                          <a:latin typeface="Nunito Semi-Bold"/>
                          <a:ea typeface="Nunito Semi-Bold"/>
                          <a:cs typeface="Nunito Semi-Bold"/>
                          <a:sym typeface="Nunito Semi-Bold"/>
                        </a:rPr>
                        <a:t>−300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3.80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0.0125</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significant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566928">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DyHuCoG vs NCF</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311.13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&lt; 10</a:t>
                      </a:r>
                      <a:r>
                        <a:rPr lang="en-US" sz="1700" b="true" baseline="30000">
                          <a:solidFill>
                            <a:srgbClr val="111111"/>
                          </a:solidFill>
                          <a:latin typeface="Nunito Semi-Bold"/>
                          <a:ea typeface="Nunito Semi-Bold"/>
                          <a:cs typeface="Nunito Semi-Bold"/>
                          <a:sym typeface="Nunito Semi-Bold"/>
                        </a:rPr>
                        <a:t>−300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8.95</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0.0167</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significant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566928">
                <a:tc>
                  <a:txBody>
                    <a:bodyPr anchor="ctr" rtlCol="false" lIns="0" tIns="0" rIns="0" bIns="0" wrap="square"/>
                    <a:lstStyle/>
                    <a:p>
                      <a:pPr algn="l">
                        <a:lnSpc>
                          <a:spcPts val="2210"/>
                        </a:lnSpc>
                        <a:spcBef>
                          <a:spcPts val="0"/>
                        </a:spcBef>
                        <a:buNone/>
                      </a:pPr>
                      <a:r>
                        <a:rPr lang="en-US" sz="1700" b="true">
                          <a:solidFill>
                            <a:srgbClr val="111111"/>
                          </a:solidFill>
                          <a:latin typeface="Nunito Bold"/>
                          <a:ea typeface="Nunito Bold"/>
                          <a:cs typeface="Nunito Bold"/>
                          <a:sym typeface="Nunito Bold"/>
                        </a:rPr>
                        <a:t>DyHuCoG vs MF</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341.76</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&lt; 10</a:t>
                      </a:r>
                      <a:r>
                        <a:rPr lang="en-US" sz="1700" b="true" baseline="30000">
                          <a:solidFill>
                            <a:srgbClr val="111111"/>
                          </a:solidFill>
                          <a:latin typeface="Nunito Semi-Bold"/>
                          <a:ea typeface="Nunito Semi-Bold"/>
                          <a:cs typeface="Nunito Semi-Bold"/>
                          <a:sym typeface="Nunito Semi-Bold"/>
                        </a:rPr>
                        <a:t>−300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9.83</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0.0250</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2210"/>
                        </a:lnSpc>
                        <a:spcBef>
                          <a:spcPts val="0"/>
                        </a:spcBef>
                        <a:buNone/>
                      </a:pPr>
                      <a:r>
                        <a:rPr lang="en-US" sz="1700" b="true">
                          <a:solidFill>
                            <a:srgbClr val="111111"/>
                          </a:solidFill>
                          <a:latin typeface="Nunito Semi-Bold"/>
                          <a:ea typeface="Nunito Semi-Bold"/>
                          <a:cs typeface="Nunito Semi-Bold"/>
                          <a:sym typeface="Nunito Semi-Bold"/>
                        </a:rPr>
                        <a:t>significant</a:t>
                      </a:r>
                    </a:p>
                  </a:txBody>
                  <a:tcPr marL="82296" marR="82296"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11" name="Rounded Rectangle 10"/>
          <p:cNvSpPr/>
          <p:nvPr/>
        </p:nvSpPr>
        <p:spPr>
          <a:xfrm>
            <a:off x="1028700" y="7551674"/>
            <a:ext cx="7932420" cy="1665478"/>
          </a:xfrm>
          <a:prstGeom prst="roundRect">
            <a:avLst>
              <a:gd name="adj" fmla="val 18667"/>
            </a:avLst>
          </a:prstGeom>
          <a:solidFill>
            <a:srgbClr val="F6ECDF"/>
          </a:solidFill>
          <a:ln>
            <a:noFill/>
          </a:ln>
        </p:spPr>
        <p:txBody>
          <a:bodyPr anchor="ctr" rtlCol="false" lIns="0" tIns="0" rIns="0" bIns="0" wrap="square"/>
          <a:lstStyle/>
          <a:p>
            <a:endParaRPr lang="en-US" sz="1800"/>
          </a:p>
        </p:txBody>
      </p:sp>
      <p:sp>
        <p:nvSpPr>
          <p:cNvPr id="12" name="Rounded Rectangle 11"/>
          <p:cNvSpPr/>
          <p:nvPr/>
        </p:nvSpPr>
        <p:spPr>
          <a:xfrm>
            <a:off x="1485900" y="7313930"/>
            <a:ext cx="2585068" cy="438912"/>
          </a:xfrm>
          <a:prstGeom prst="roundRect">
            <a:avLst>
              <a:gd name="adj" fmla="val 50000"/>
            </a:avLst>
          </a:prstGeom>
          <a:solidFill>
            <a:srgbClr val="124944"/>
          </a:solidFill>
          <a:ln w="28575">
            <a:solidFill>
              <a:srgbClr val="124944"/>
            </a:solidFill>
          </a:ln>
        </p:spPr>
        <p:txBody>
          <a:bodyPr anchor="ctr" rtlCol="false" lIns="45720" tIns="0" rIns="45720" bIns="0" wrap="square"/>
          <a:lstStyle/>
          <a:p>
            <a:pPr algn="ctr">
              <a:lnSpc>
                <a:spcPts val="2640"/>
              </a:lnSpc>
              <a:spcBef>
                <a:spcPts val="0"/>
              </a:spcBef>
              <a:buNone/>
            </a:pPr>
            <a:r>
              <a:rPr lang="en-US" sz="2200" b="true">
                <a:solidFill>
                  <a:srgbClr val="FFFFFF"/>
                </a:solidFill>
                <a:latin typeface="Nunito Bold"/>
                <a:ea typeface="Nunito Bold"/>
                <a:cs typeface="Nunito Bold"/>
                <a:sym typeface="Nunito Bold"/>
              </a:rPr>
              <a:t>How to read it</a:t>
            </a:r>
          </a:p>
        </p:txBody>
      </p:sp>
      <p:sp>
        <p:nvSpPr>
          <p:cNvPr id="13" name="TextBox 12"/>
          <p:cNvSpPr txBox="1"/>
          <p:nvPr/>
        </p:nvSpPr>
        <p:spPr>
          <a:xfrm>
            <a:off x="1485900" y="8100314"/>
            <a:ext cx="7063740" cy="933958"/>
          </a:xfrm>
          <a:prstGeom prst="rect">
            <a:avLst/>
          </a:prstGeom>
          <a:noFill/>
        </p:spPr>
        <p:txBody>
          <a:bodyPr anchor="t" rtlCol="false" lIns="0" tIns="0" rIns="0" bIns="0" wrap="square"/>
          <a:lstStyle/>
          <a:p>
            <a:pPr algn="l" marL="274320" indent="-274320">
              <a:lnSpc>
                <a:spcPts val="2173"/>
              </a:lnSpc>
              <a:spcBef>
                <a:spcPts val="0"/>
              </a:spcBef>
              <a:buClr>
                <a:srgbClr val="DF8330"/>
              </a:buClr>
              <a:buSzPct val="100000"/>
              <a:buFont typeface="Arial"/>
              <a:buChar char="•"/>
            </a:pPr>
            <a:r>
              <a:rPr lang="en-US" sz="1552" b="true">
                <a:solidFill>
                  <a:srgbClr val="111111"/>
                </a:solidFill>
                <a:latin typeface="Nunito Semi-Bold"/>
                <a:ea typeface="Nunito Semi-Bold"/>
                <a:cs typeface="Nunito Semi-Bold"/>
                <a:sym typeface="Nunito Semi-Bold"/>
              </a:rPr>
              <a:t>Paired t-test over </a:t>
            </a:r>
            <a:r>
              <a:rPr lang="en-US" sz="1552" b="true">
                <a:solidFill>
                  <a:srgbClr val="111111"/>
                </a:solidFill>
                <a:latin typeface="Nunito Bold"/>
                <a:ea typeface="Nunito Bold"/>
                <a:cs typeface="Nunito Bold"/>
                <a:sym typeface="Nunito Bold"/>
              </a:rPr>
              <a:t>6,040 users</a:t>
            </a:r>
            <a:r>
              <a:rPr lang="en-US" sz="1552" b="true">
                <a:solidFill>
                  <a:srgbClr val="111111"/>
                </a:solidFill>
                <a:latin typeface="Nunito Semi-Bold"/>
                <a:ea typeface="Nunito Semi-Bold"/>
                <a:cs typeface="Nunito Semi-Bold"/>
                <a:sym typeface="Nunito Semi-Bold"/>
              </a:rPr>
              <a:t> (df = 6,039); Holm–Bonferroni gives each of the six p-values its own threshold.</a:t>
            </a:r>
          </a:p>
          <a:p>
            <a:pPr algn="l" marL="274320" indent="-274320">
              <a:lnSpc>
                <a:spcPts val="2173"/>
              </a:lnSpc>
              <a:spcBef>
                <a:spcPts val="388"/>
              </a:spcBef>
              <a:buClr>
                <a:srgbClr val="DF8330"/>
              </a:buClr>
              <a:buSzPct val="100000"/>
              <a:buFont typeface="Arial"/>
              <a:buChar char="•"/>
            </a:pPr>
            <a:r>
              <a:rPr lang="en-US" sz="1552" b="true">
                <a:solidFill>
                  <a:srgbClr val="111111"/>
                </a:solidFill>
                <a:latin typeface="Nunito Semi-Bold"/>
                <a:ea typeface="Nunito Semi-Bold"/>
                <a:cs typeface="Nunito Semi-Bold"/>
                <a:sym typeface="Nunito Semi-Bold"/>
              </a:rPr>
              <a:t>Every p-value is far below its threshold; </a:t>
            </a:r>
            <a:r>
              <a:rPr lang="en-US" sz="1552" b="true">
                <a:solidFill>
                  <a:srgbClr val="111111"/>
                </a:solidFill>
                <a:latin typeface="Nunito Bold"/>
                <a:ea typeface="Nunito Bold"/>
                <a:cs typeface="Nunito Bold"/>
                <a:sym typeface="Nunito Bold"/>
              </a:rPr>
              <a:t>Wilcoxon</a:t>
            </a:r>
            <a:r>
              <a:rPr lang="en-US" sz="1552" b="true">
                <a:solidFill>
                  <a:srgbClr val="111111"/>
                </a:solidFill>
                <a:latin typeface="Nunito Semi-Bold"/>
                <a:ea typeface="Nunito Semi-Bold"/>
                <a:cs typeface="Nunito Semi-Bold"/>
                <a:sym typeface="Nunito Semi-Bold"/>
              </a:rPr>
              <a:t> agrees (p &lt; 0.001).</a:t>
            </a:r>
          </a:p>
        </p:txBody>
      </p:sp>
      <p:sp>
        <p:nvSpPr>
          <p:cNvPr id="14" name="Rounded Rectangle 13"/>
          <p:cNvSpPr/>
          <p:nvPr/>
        </p:nvSpPr>
        <p:spPr>
          <a:xfrm>
            <a:off x="9326880" y="7551674"/>
            <a:ext cx="7932420" cy="1665478"/>
          </a:xfrm>
          <a:prstGeom prst="roundRect">
            <a:avLst>
              <a:gd name="adj" fmla="val 18667"/>
            </a:avLst>
          </a:prstGeom>
          <a:solidFill>
            <a:srgbClr val="124944"/>
          </a:solidFill>
          <a:ln>
            <a:noFill/>
          </a:ln>
        </p:spPr>
        <p:txBody>
          <a:bodyPr anchor="ctr" rtlCol="false" lIns="0" tIns="0" rIns="0" bIns="0" wrap="square"/>
          <a:lstStyle/>
          <a:p>
            <a:endParaRPr lang="en-US" sz="1800"/>
          </a:p>
        </p:txBody>
      </p:sp>
      <p:sp>
        <p:nvSpPr>
          <p:cNvPr id="15" name="Rounded Rectangle 14"/>
          <p:cNvSpPr/>
          <p:nvPr/>
        </p:nvSpPr>
        <p:spPr>
          <a:xfrm>
            <a:off x="9784080" y="7313930"/>
            <a:ext cx="2026195" cy="438912"/>
          </a:xfrm>
          <a:prstGeom prst="roundRect">
            <a:avLst>
              <a:gd name="adj" fmla="val 50000"/>
            </a:avLst>
          </a:prstGeom>
          <a:solidFill>
            <a:srgbClr val="FFFFFF"/>
          </a:solidFill>
          <a:ln w="28575">
            <a:solidFill>
              <a:srgbClr val="FFFFFF"/>
            </a:solidFill>
          </a:ln>
        </p:spPr>
        <p:txBody>
          <a:bodyPr anchor="ctr" rtlCol="false" lIns="45720" tIns="0" rIns="45720" bIns="0" wrap="square"/>
          <a:lstStyle/>
          <a:p>
            <a:pPr algn="ctr">
              <a:lnSpc>
                <a:spcPts val="2640"/>
              </a:lnSpc>
              <a:spcBef>
                <a:spcPts val="0"/>
              </a:spcBef>
              <a:buNone/>
            </a:pPr>
            <a:r>
              <a:rPr lang="en-US" sz="2200" b="true">
                <a:solidFill>
                  <a:srgbClr val="124944"/>
                </a:solidFill>
                <a:latin typeface="Nunito Bold"/>
                <a:ea typeface="Nunito Bold"/>
                <a:cs typeface="Nunito Bold"/>
                <a:sym typeface="Nunito Bold"/>
              </a:rPr>
              <a:t>Effect size</a:t>
            </a:r>
          </a:p>
        </p:txBody>
      </p:sp>
      <p:sp>
        <p:nvSpPr>
          <p:cNvPr id="16" name="TextBox 15"/>
          <p:cNvSpPr txBox="1"/>
          <p:nvPr/>
        </p:nvSpPr>
        <p:spPr>
          <a:xfrm>
            <a:off x="9784080" y="8100314"/>
            <a:ext cx="7063740" cy="933958"/>
          </a:xfrm>
          <a:prstGeom prst="rect">
            <a:avLst/>
          </a:prstGeom>
          <a:noFill/>
        </p:spPr>
        <p:txBody>
          <a:bodyPr anchor="t" rtlCol="false" lIns="0" tIns="0" rIns="0" bIns="0" wrap="square"/>
          <a:lstStyle/>
          <a:p>
            <a:pPr algn="l" marL="274320" indent="-274320">
              <a:lnSpc>
                <a:spcPts val="2226"/>
              </a:lnSpc>
              <a:spcBef>
                <a:spcPts val="0"/>
              </a:spcBef>
              <a:buClr>
                <a:srgbClr val="ECC665"/>
              </a:buClr>
              <a:buSzPct val="100000"/>
              <a:buFont typeface="Arial"/>
              <a:buChar char="•"/>
            </a:pPr>
            <a:r>
              <a:rPr lang="en-US" sz="1504" b="true">
                <a:solidFill>
                  <a:srgbClr val="FFFFFF"/>
                </a:solidFill>
                <a:latin typeface="Nunito Semi-Bold"/>
                <a:ea typeface="Nunito Semi-Bold"/>
                <a:cs typeface="Nunito Semi-Bold"/>
                <a:sym typeface="Nunito Semi-Bold"/>
              </a:rPr>
              <a:t>Cohen's d</a:t>
            </a:r>
            <a:r>
              <a:rPr lang="en-US" sz="1504" b="true" baseline="-25000">
                <a:solidFill>
                  <a:srgbClr val="FFFFFF"/>
                </a:solidFill>
                <a:latin typeface="Nunito Semi-Bold"/>
                <a:ea typeface="Nunito Semi-Bold"/>
                <a:cs typeface="Nunito Semi-Bold"/>
                <a:sym typeface="Nunito Semi-Bold"/>
              </a:rPr>
              <a:t>z</a:t>
            </a:r>
            <a:r>
              <a:rPr lang="en-US" sz="1504" b="true">
                <a:solidFill>
                  <a:srgbClr val="FFFFFF"/>
                </a:solidFill>
                <a:latin typeface="Nunito Semi-Bold"/>
                <a:ea typeface="Nunito Semi-Bold"/>
                <a:cs typeface="Nunito Semi-Bold"/>
                <a:sym typeface="Nunito Semi-Bold"/>
              </a:rPr>
              <a:t> ≥ 1.33 everywhere: </a:t>
            </a:r>
            <a:r>
              <a:rPr lang="en-US" sz="1504" b="true">
                <a:solidFill>
                  <a:srgbClr val="FFFFFF"/>
                </a:solidFill>
                <a:latin typeface="Nunito Bold"/>
                <a:ea typeface="Nunito Bold"/>
                <a:cs typeface="Nunito Bold"/>
                <a:sym typeface="Nunito Bold"/>
              </a:rPr>
              <a:t>large</a:t>
            </a:r>
            <a:r>
              <a:rPr lang="en-US" sz="1504" b="true">
                <a:solidFill>
                  <a:srgbClr val="FFFFFF"/>
                </a:solidFill>
                <a:latin typeface="Nunito Semi-Bold"/>
                <a:ea typeface="Nunito Semi-Bold"/>
                <a:cs typeface="Nunito Semi-Bold"/>
                <a:sym typeface="Nunito Semi-Bold"/>
              </a:rPr>
              <a:t> (0.8) is exceeded even against the strongest baseline.</a:t>
            </a:r>
          </a:p>
          <a:p>
            <a:pPr algn="l" marL="274320" indent="-274320">
              <a:lnSpc>
                <a:spcPts val="2106"/>
              </a:lnSpc>
              <a:spcBef>
                <a:spcPts val="376"/>
              </a:spcBef>
              <a:buClr>
                <a:srgbClr val="ECC665"/>
              </a:buClr>
              <a:buSzPct val="100000"/>
              <a:buFont typeface="Arial"/>
              <a:buChar char="•"/>
            </a:pPr>
            <a:r>
              <a:rPr lang="en-US" sz="1504" b="true">
                <a:solidFill>
                  <a:srgbClr val="FFFFFF"/>
                </a:solidFill>
                <a:latin typeface="Nunito Semi-Bold"/>
                <a:ea typeface="Nunito Semi-Bold"/>
                <a:cs typeface="Nunito Semi-Bold"/>
                <a:sym typeface="Nunito Semi-Bold"/>
              </a:rPr>
              <a:t>The improvement is practically meaningful, not only statistically visible.</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EF8F3"/>
        </a:solidFill>
        <a:effectLst/>
      </p:bgPr>
    </p:bg>
    <p:spTree>
      <p:nvGrpSpPr>
        <p:cNvPr id="1" name=""/>
        <p:cNvGrpSpPr/>
        <p:nvPr/>
      </p:nvGrpSpPr>
      <p:grpSpPr/>
      <p:sp>
        <p:nvSpPr>
          <p:cNvPr id="2" name="TextBox 1"/>
          <p:cNvSpPr txBox="1"/>
          <p:nvPr/>
        </p:nvSpPr>
        <p:spPr>
          <a:xfrm>
            <a:off x="1028700" y="990600"/>
            <a:ext cx="7315200" cy="365760"/>
          </a:xfrm>
          <a:prstGeom prst="rect">
            <a:avLst/>
          </a:prstGeom>
          <a:noFill/>
        </p:spPr>
        <p:txBody>
          <a:bodyPr anchor="t" rtlCol="false" lIns="0" tIns="0" rIns="0" bIns="0" wrap="square"/>
          <a:lstStyle/>
          <a:p>
            <a:pPr algn="l">
              <a:lnSpc>
                <a:spcPts val="2800"/>
              </a:lnSpc>
              <a:spcBef>
                <a:spcPts val="0"/>
              </a:spcBef>
              <a:buNone/>
            </a:pPr>
            <a:r>
              <a:rPr lang="en-US" sz="2000" b="true" spc="-110">
                <a:solidFill>
                  <a:srgbClr val="111111"/>
                </a:solidFill>
                <a:latin typeface="Nunito Bold"/>
                <a:ea typeface="Nunito Bold"/>
                <a:cs typeface="Nunito Bold"/>
                <a:sym typeface="Nunito Bold"/>
              </a:rPr>
              <a:t>Mohammed V University in Rabat  ·  ENSIAS</a:t>
            </a:r>
          </a:p>
        </p:txBody>
      </p:sp>
      <p:sp>
        <p:nvSpPr>
          <p:cNvPr id="3" name="TextBox 2"/>
          <p:cNvSpPr txBox="1"/>
          <p:nvPr/>
        </p:nvSpPr>
        <p:spPr>
          <a:xfrm>
            <a:off x="9944100" y="990600"/>
            <a:ext cx="7315200" cy="365760"/>
          </a:xfrm>
          <a:prstGeom prst="rect">
            <a:avLst/>
          </a:prstGeom>
          <a:noFill/>
        </p:spPr>
        <p:txBody>
          <a:bodyPr anchor="t" rtlCol="false" lIns="0" tIns="0" rIns="0" bIns="0" wrap="square"/>
          <a:lstStyle/>
          <a:p>
            <a:pPr algn="r">
              <a:lnSpc>
                <a:spcPts val="2800"/>
              </a:lnSpc>
              <a:spcBef>
                <a:spcPts val="0"/>
              </a:spcBef>
              <a:buNone/>
            </a:pPr>
            <a:r>
              <a:rPr lang="en-US" sz="2000" b="true" spc="-110">
                <a:solidFill>
                  <a:srgbClr val="111111"/>
                </a:solidFill>
                <a:latin typeface="Nunito Bold"/>
                <a:ea typeface="Nunito Bold"/>
                <a:cs typeface="Nunito Bold"/>
                <a:sym typeface="Nunito Bold"/>
              </a:rPr>
              <a:t>PhD Viva  ·  Mouad LOUHICHI</a:t>
            </a:r>
          </a:p>
        </p:txBody>
      </p:sp>
      <p:pic>
        <p:nvPicPr>
          <p:cNvPr id="4" name="Picture 3" descr="ensias_logo.jpg"/>
          <p:cNvPicPr>
            <a:picLocks noChangeAspect="1"/>
          </p:cNvPicPr>
          <p:nvPr/>
        </p:nvPicPr>
        <p:blipFill>
          <a:blip r:embed="rId2"/>
          <a:stretch>
            <a:fillRect/>
          </a:stretch>
        </p:blipFill>
        <p:spPr>
          <a:xfrm>
            <a:off x="1028700" y="9674352"/>
            <a:ext cx="542964" cy="384048"/>
          </a:xfrm>
          <a:prstGeom prst="rect">
            <a:avLst/>
          </a:prstGeom>
        </p:spPr>
      </p:pic>
      <p:sp>
        <p:nvSpPr>
          <p:cNvPr id="5" name="TextBox 4"/>
          <p:cNvSpPr txBox="1"/>
          <p:nvPr/>
        </p:nvSpPr>
        <p:spPr>
          <a:xfrm>
            <a:off x="1577340" y="9601200"/>
            <a:ext cx="14493240" cy="566928"/>
          </a:xfrm>
          <a:prstGeom prst="rect">
            <a:avLst/>
          </a:prstGeom>
          <a:noFill/>
        </p:spPr>
        <p:txBody>
          <a:bodyPr anchor="ctr" rtlCol="false" lIns="0" tIns="0" rIns="0" bIns="0" wrap="square"/>
          <a:lstStyle/>
          <a:p>
            <a:pPr algn="l">
              <a:lnSpc>
                <a:spcPts val="1200"/>
              </a:lnSpc>
              <a:spcBef>
                <a:spcPts val="0"/>
              </a:spcBef>
              <a:buNone/>
            </a:pPr>
            <a:r>
              <a:rPr lang="en-US" sz="1000" b="true">
                <a:solidFill>
                  <a:srgbClr val="8A8378"/>
                </a:solidFill>
                <a:latin typeface="Nunito Semi-Bold"/>
                <a:ea typeface="Nunito Semi-Bold"/>
                <a:cs typeface="Nunito Semi-Bold"/>
                <a:sym typeface="Nunito Semi-Bold"/>
              </a:rPr>
              <a:t>[3] Louhichi, M., Nesmaoui, R. &amp; Lazaar, M. DyHuCoG: A Dynamic Hypergraph Cooperative Game for Preference-aware Recommendation. IJIES 19(2), 887–902 (2026).   [8] Castro, J., Gómez, D. &amp; Tejada, J. Polynomial Calculation of the Shapley Value Based on Sampling. Computers &amp; Operations Research 36(5), 1726–1730 (2009).</a:t>
            </a:r>
          </a:p>
        </p:txBody>
      </p:sp>
      <p:sp>
        <p:nvSpPr>
          <p:cNvPr id="6" name="TextBox 5"/>
          <p:cNvSpPr txBox="1"/>
          <p:nvPr/>
        </p:nvSpPr>
        <p:spPr>
          <a:xfrm>
            <a:off x="16162020" y="9692640"/>
            <a:ext cx="1097280" cy="329184"/>
          </a:xfrm>
          <a:prstGeom prst="rect">
            <a:avLst/>
          </a:prstGeom>
          <a:noFill/>
        </p:spPr>
        <p:txBody>
          <a:bodyPr anchor="t" rtlCol="false" lIns="0" tIns="0" rIns="0" bIns="0" wrap="square"/>
          <a:lstStyle/>
          <a:p>
            <a:pPr algn="r">
              <a:lnSpc>
                <a:spcPts val="2200"/>
              </a:lnSpc>
              <a:spcBef>
                <a:spcPts val="0"/>
              </a:spcBef>
              <a:buNone/>
            </a:pPr>
            <a:r>
              <a:rPr lang="en-US" sz="1800" b="true">
                <a:solidFill>
                  <a:srgbClr val="111111"/>
                </a:solidFill>
                <a:latin typeface="Nunito Ultra-Bold"/>
                <a:ea typeface="Nunito Ultra-Bold"/>
                <a:cs typeface="Nunito Ultra-Bold"/>
                <a:sym typeface="Nunito Ultra-Bold"/>
              </a:rPr>
              <a:t>80</a:t>
            </a:r>
          </a:p>
        </p:txBody>
      </p:sp>
      <p:sp>
        <p:nvSpPr>
          <p:cNvPr id="7" name="TextBox 6"/>
          <p:cNvSpPr txBox="1"/>
          <p:nvPr/>
        </p:nvSpPr>
        <p:spPr>
          <a:xfrm>
            <a:off x="1028700" y="1389888"/>
            <a:ext cx="12938760" cy="329184"/>
          </a:xfrm>
          <a:prstGeom prst="rect">
            <a:avLst/>
          </a:prstGeom>
          <a:noFill/>
        </p:spPr>
        <p:txBody>
          <a:bodyPr anchor="t" rtlCol="false" lIns="0" tIns="0" rIns="0" bIns="0" wrap="square"/>
          <a:lstStyle/>
          <a:p>
            <a:pPr algn="l">
              <a:lnSpc>
                <a:spcPts val="2000"/>
              </a:lnSpc>
              <a:spcBef>
                <a:spcPts val="0"/>
              </a:spcBef>
              <a:buNone/>
            </a:pPr>
            <a:r>
              <a:rPr lang="en-US" sz="1500" b="true" spc="160">
                <a:solidFill>
                  <a:srgbClr val="DF8330"/>
                </a:solidFill>
                <a:latin typeface="Nunito Ultra-Bold"/>
                <a:ea typeface="Nunito Ultra-Bold"/>
                <a:cs typeface="Nunito Ultra-Bold"/>
                <a:sym typeface="Nunito Ultra-Bold"/>
              </a:rPr>
              <a:t>BACKUP</a:t>
            </a:r>
          </a:p>
        </p:txBody>
      </p:sp>
      <p:sp>
        <p:nvSpPr>
          <p:cNvPr id="8" name="TextBox 7"/>
          <p:cNvSpPr txBox="1"/>
          <p:nvPr/>
        </p:nvSpPr>
        <p:spPr>
          <a:xfrm>
            <a:off x="1028700" y="1719072"/>
            <a:ext cx="16230600" cy="730250"/>
          </a:xfrm>
          <a:prstGeom prst="rect">
            <a:avLst/>
          </a:prstGeom>
          <a:noFill/>
        </p:spPr>
        <p:txBody>
          <a:bodyPr anchor="t" rtlCol="false" lIns="0" tIns="0" rIns="0" bIns="0" wrap="square"/>
          <a:lstStyle/>
          <a:p>
            <a:pPr algn="l">
              <a:lnSpc>
                <a:spcPts val="5060"/>
              </a:lnSpc>
              <a:spcBef>
                <a:spcPts val="0"/>
              </a:spcBef>
              <a:buNone/>
            </a:pPr>
            <a:r>
              <a:rPr lang="en-US" sz="4600" b="true" spc="-230">
                <a:solidFill>
                  <a:srgbClr val="111111"/>
                </a:solidFill>
                <a:latin typeface="Roca Two Bold"/>
                <a:ea typeface="Roca Two Bold"/>
                <a:cs typeface="Roca Two Bold"/>
                <a:sym typeface="Roca Two Bold"/>
              </a:rPr>
              <a:t>Backup: Tables 7.3 and 7.4, Cost and Convergence</a:t>
            </a:r>
          </a:p>
        </p:txBody>
      </p:sp>
      <p:pic>
        <p:nvPicPr>
          <p:cNvPr id="9" name="Picture 8" descr="image.png"/>
          <p:cNvPicPr>
            <a:picLocks noChangeAspect="1"/>
          </p:cNvPicPr>
          <p:nvPr/>
        </p:nvPicPr>
        <p:blipFill>
          <a:blip r:embed="rId3"/>
          <a:stretch>
            <a:fillRect/>
          </a:stretch>
        </p:blipFill>
        <p:spPr>
          <a:xfrm>
            <a:off x="13929945" y="1673352"/>
            <a:ext cx="457200" cy="399005"/>
          </a:xfrm>
          <a:prstGeom prst="rect">
            <a:avLst/>
          </a:prstGeom>
        </p:spPr>
      </p:pic>
      <p:sp>
        <p:nvSpPr>
          <p:cNvPr id="10" name="TextBox 9"/>
          <p:cNvSpPr txBox="1"/>
          <p:nvPr/>
        </p:nvSpPr>
        <p:spPr>
          <a:xfrm>
            <a:off x="1028700" y="2897378"/>
            <a:ext cx="1024128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DF8330"/>
                </a:solidFill>
                <a:latin typeface="Nunito Ultra-Bold"/>
                <a:ea typeface="Nunito Ultra-Bold"/>
                <a:cs typeface="Nunito Ultra-Bold"/>
                <a:sym typeface="Nunito Ultra-Bold"/>
              </a:rPr>
              <a:t>TABLE 7.3  ·  RUNTIME AND MEMORY</a:t>
            </a:r>
          </a:p>
        </p:txBody>
      </p:sp>
      <p:graphicFrame>
        <p:nvGraphicFramePr>
          <p:cNvPr id="11" name="Table 10"/>
          <p:cNvGraphicFramePr>
            <a:graphicFrameLocks noGrp="1"/>
          </p:cNvGraphicFramePr>
          <p:nvPr/>
        </p:nvGraphicFramePr>
        <p:xfrm>
          <a:off x="1028700" y="3263138"/>
          <a:ext cx="10241276" cy="3790188"/>
        </p:xfrm>
        <a:graphic>
          <a:graphicData uri="http://schemas.openxmlformats.org/drawingml/2006/table">
            <a:tbl>
              <a:tblPr firstRow="0" bandRow="0" firstCol="0" lastRow="0" lastCol="0" bandCol="0">
                <a:tableStyleId>{2D5ABB26-0587-4C30-8999-92F81FD0307C}</a:tableStyleId>
              </a:tblPr>
              <a:tblGrid>
                <a:gridCol w="1503307"/>
                <a:gridCol w="1597263"/>
                <a:gridCol w="1127480"/>
                <a:gridCol w="1127480"/>
                <a:gridCol w="1691220"/>
                <a:gridCol w="1127480"/>
                <a:gridCol w="1127480"/>
                <a:gridCol w="939566"/>
              </a:tblGrid>
              <a:tr h="589788">
                <a:tc>
                  <a:txBody>
                    <a:bodyPr anchor="ctr" rtlCol="false" lIns="0" tIns="0" rIns="0" bIns="0" wrap="square"/>
                    <a:lstStyle/>
                    <a:p>
                      <a:pPr algn="l">
                        <a:lnSpc>
                          <a:spcPts val="1690"/>
                        </a:lnSpc>
                        <a:spcBef>
                          <a:spcPts val="0"/>
                        </a:spcBef>
                        <a:buNone/>
                      </a:pPr>
                      <a:r>
                        <a:rPr lang="en-US" sz="1300" b="true">
                          <a:solidFill>
                            <a:srgbClr val="FFFFFF"/>
                          </a:solidFill>
                          <a:latin typeface="Nunito Bold"/>
                          <a:ea typeface="Nunito Bold"/>
                          <a:cs typeface="Nunito Bold"/>
                          <a:sym typeface="Nunito Bold"/>
                        </a:rPr>
                        <a:t>Model</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Train (s) ML-1M</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Infer (ms)</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Mem (GB)</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Train (s) Amazon</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Infer (ms)</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Mem (GB)</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 MF (ML-1M)</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57200">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MF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485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0.54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2.1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2,202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2.46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8.5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1.00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57200">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NCF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675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0.76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2.7</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3,073</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3.42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11.1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1.41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57200">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LightGCN</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786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0.88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3.2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3,645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4.05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12.8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1.63</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57200">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RecDCL</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968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1.02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3.6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4,527</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5.04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15.6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1.89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57200">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HCCF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952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1.06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3.8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4,419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4.92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15.3</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1.96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57200">
                <a:tc>
                  <a:txBody>
                    <a:bodyPr anchor="ctr" rtlCol="false" lIns="0" tIns="0" rIns="0" bIns="0" wrap="square"/>
                    <a:lstStyle/>
                    <a:p>
                      <a:pPr algn="l">
                        <a:lnSpc>
                          <a:spcPts val="1820"/>
                        </a:lnSpc>
                        <a:spcBef>
                          <a:spcPts val="0"/>
                        </a:spcBef>
                        <a:buNone/>
                      </a:pPr>
                      <a:r>
                        <a:rPr lang="en-US" sz="1400" b="true">
                          <a:solidFill>
                            <a:srgbClr val="111111"/>
                          </a:solidFill>
                          <a:latin typeface="Nunito Bold"/>
                          <a:ea typeface="Nunito Bold"/>
                          <a:cs typeface="Nunito Bold"/>
                          <a:sym typeface="Nunito Bold"/>
                        </a:rPr>
                        <a:t>HPCF</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1,125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1.18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4.1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5,234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5.48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16.8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2.19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57200">
                <a:tc>
                  <a:txBody>
                    <a:bodyPr anchor="ctr" rtlCol="false" lIns="0" tIns="0" rIns="0" bIns="0" wrap="square"/>
                    <a:lstStyle/>
                    <a:p>
                      <a:pPr algn="l">
                        <a:lnSpc>
                          <a:spcPts val="1820"/>
                        </a:lnSpc>
                        <a:spcBef>
                          <a:spcPts val="0"/>
                        </a:spcBef>
                        <a:buNone/>
                      </a:pPr>
                      <a:r>
                        <a:rPr lang="en-US" sz="1400" b="1">
                          <a:solidFill>
                            <a:srgbClr val="111111"/>
                          </a:solidFill>
                          <a:latin typeface="Nunito Bold"/>
                          <a:ea typeface="Nunito Bold"/>
                          <a:cs typeface="Nunito Bold"/>
                          <a:sym typeface="Nunito Bold"/>
                        </a:rPr>
                        <a:t>DyHuCoG</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2,000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1.84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4.4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9,279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8.52</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17.9</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3.41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bl>
          </a:graphicData>
        </a:graphic>
      </p:graphicFrame>
      <p:sp>
        <p:nvSpPr>
          <p:cNvPr id="12" name="TextBox 11"/>
          <p:cNvSpPr txBox="1"/>
          <p:nvPr/>
        </p:nvSpPr>
        <p:spPr>
          <a:xfrm>
            <a:off x="11727180" y="2897378"/>
            <a:ext cx="5532120" cy="320040"/>
          </a:xfrm>
          <a:prstGeom prst="rect">
            <a:avLst/>
          </a:prstGeom>
          <a:noFill/>
        </p:spPr>
        <p:txBody>
          <a:bodyPr anchor="t" rtlCol="false" lIns="0" tIns="0" rIns="0" bIns="0" wrap="square"/>
          <a:lstStyle/>
          <a:p>
            <a:pPr algn="l">
              <a:lnSpc>
                <a:spcPts val="1600"/>
              </a:lnSpc>
              <a:spcBef>
                <a:spcPts val="0"/>
              </a:spcBef>
              <a:buNone/>
            </a:pPr>
            <a:r>
              <a:rPr lang="en-US" sz="1300" b="true" spc="150">
                <a:solidFill>
                  <a:srgbClr val="DF8330"/>
                </a:solidFill>
                <a:latin typeface="Nunito Ultra-Bold"/>
                <a:ea typeface="Nunito Ultra-Bold"/>
                <a:cs typeface="Nunito Ultra-Bold"/>
                <a:sym typeface="Nunito Ultra-Bold"/>
              </a:rPr>
              <a:t>TABLE 7.4  ·  MONTE CARLO SHAPLEY</a:t>
            </a:r>
          </a:p>
        </p:txBody>
      </p:sp>
      <p:graphicFrame>
        <p:nvGraphicFramePr>
          <p:cNvPr id="13" name="Table 12"/>
          <p:cNvGraphicFramePr>
            <a:graphicFrameLocks noGrp="1"/>
          </p:cNvGraphicFramePr>
          <p:nvPr/>
        </p:nvGraphicFramePr>
        <p:xfrm>
          <a:off x="11727180" y="3263138"/>
          <a:ext cx="5532120" cy="2286000"/>
        </p:xfrm>
        <a:graphic>
          <a:graphicData uri="http://schemas.openxmlformats.org/drawingml/2006/table">
            <a:tbl>
              <a:tblPr firstRow="0" bandRow="0" firstCol="0" lastRow="0" lastCol="0" bandCol="0">
                <a:tableStyleId>{2D5ABB26-0587-4C30-8999-92F81FD0307C}</a:tableStyleId>
              </a:tblPr>
              <a:tblGrid>
                <a:gridCol w="737616"/>
                <a:gridCol w="1475232"/>
                <a:gridCol w="1198626"/>
                <a:gridCol w="1198626"/>
                <a:gridCol w="922020"/>
              </a:tblGrid>
              <a:tr h="457200">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M</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MSE</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Accuracy</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Train (s)</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c>
                  <a:txBody>
                    <a:bodyPr anchor="ctr" rtlCol="false" lIns="0" tIns="0" rIns="0" bIns="0" wrap="square"/>
                    <a:lstStyle/>
                    <a:p>
                      <a:pPr algn="ctr">
                        <a:lnSpc>
                          <a:spcPts val="1690"/>
                        </a:lnSpc>
                        <a:spcBef>
                          <a:spcPts val="0"/>
                        </a:spcBef>
                        <a:buNone/>
                      </a:pPr>
                      <a:r>
                        <a:rPr lang="en-US" sz="1300" b="true">
                          <a:solidFill>
                            <a:srgbClr val="FFFFFF"/>
                          </a:solidFill>
                          <a:latin typeface="Nunito Bold"/>
                          <a:ea typeface="Nunito Bold"/>
                          <a:cs typeface="Nunito Bold"/>
                          <a:sym typeface="Nunito Bold"/>
                        </a:rPr>
                        <a:t>× base</a:t>
                      </a:r>
                    </a:p>
                  </a:txBody>
                  <a:tcPr marL="54864" marR="54864" marT="45720" marB="45720" anchor="ctr">
                    <a:lnL w="12700" cap="flat" cmpd="sng" algn="ctr">
                      <a:solidFill>
                        <a:srgbClr val="124944"/>
                      </a:solidFill>
                      <a:prstDash val="solid"/>
                    </a:lnL>
                    <a:lnR w="12700" cap="flat" cmpd="sng" algn="ctr">
                      <a:solidFill>
                        <a:srgbClr val="124944"/>
                      </a:solidFill>
                      <a:prstDash val="solid"/>
                    </a:lnR>
                    <a:lnT w="12700" cap="flat" cmpd="sng" algn="ctr">
                      <a:solidFill>
                        <a:srgbClr val="124944"/>
                      </a:solidFill>
                      <a:prstDash val="solid"/>
                    </a:lnT>
                    <a:lnB w="12700" cap="flat" cmpd="sng" algn="ctr">
                      <a:solidFill>
                        <a:srgbClr val="124944"/>
                      </a:solidFill>
                      <a:prstDash val="solid"/>
                    </a:lnB>
                    <a:solidFill>
                      <a:srgbClr val="124944"/>
                    </a:solidFill>
                  </a:tcPr>
                </a:tc>
              </a:tr>
              <a:tr h="457200">
                <a:tc>
                  <a:txBody>
                    <a:bodyPr anchor="ctr" rtlCol="false" lIns="0" tIns="0" rIns="0" bIns="0" wrap="square"/>
                    <a:lstStyle/>
                    <a:p>
                      <a:pPr algn="ctr">
                        <a:lnSpc>
                          <a:spcPts val="1820"/>
                        </a:lnSpc>
                        <a:spcBef>
                          <a:spcPts val="0"/>
                        </a:spcBef>
                        <a:buNone/>
                      </a:pPr>
                      <a:r>
                        <a:rPr lang="en-US" sz="1400" b="true">
                          <a:solidFill>
                            <a:srgbClr val="111111"/>
                          </a:solidFill>
                          <a:latin typeface="Nunito Bold"/>
                          <a:ea typeface="Nunito Bold"/>
                          <a:cs typeface="Nunito Bold"/>
                          <a:sym typeface="Nunito Bold"/>
                        </a:rPr>
                        <a:t>10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1.4 × 10</a:t>
                      </a:r>
                      <a:r>
                        <a:rPr lang="en-US" sz="1400" b="true" baseline="30000">
                          <a:solidFill>
                            <a:srgbClr val="111111"/>
                          </a:solidFill>
                          <a:latin typeface="Nunito Semi-Bold"/>
                          <a:ea typeface="Nunito Semi-Bold"/>
                          <a:cs typeface="Nunito Semi-Bold"/>
                          <a:sym typeface="Nunito Semi-Bold"/>
                        </a:rPr>
                        <a:t>−4</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95 %</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 1,460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1.3×</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FFFFF"/>
                    </a:solidFill>
                  </a:tcPr>
                </a:tc>
              </a:tr>
              <a:tr h="457200">
                <a:tc>
                  <a:txBody>
                    <a:bodyPr anchor="ctr" rtlCol="false" lIns="0" tIns="0" rIns="0" bIns="0" wrap="square"/>
                    <a:lstStyle/>
                    <a:p>
                      <a:pPr algn="ctr">
                        <a:lnSpc>
                          <a:spcPts val="1820"/>
                        </a:lnSpc>
                        <a:spcBef>
                          <a:spcPts val="0"/>
                        </a:spcBef>
                        <a:buNone/>
                      </a:pPr>
                      <a:r>
                        <a:rPr lang="en-US" sz="1400" b="true">
                          <a:solidFill>
                            <a:srgbClr val="111111"/>
                          </a:solidFill>
                          <a:latin typeface="Nunito Bold"/>
                          <a:ea typeface="Nunito Bold"/>
                          <a:cs typeface="Nunito Bold"/>
                          <a:sym typeface="Nunito Bold"/>
                        </a:rPr>
                        <a:t>25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5.6 × 10</a:t>
                      </a:r>
                      <a:r>
                        <a:rPr lang="en-US" sz="1400" b="true" baseline="30000">
                          <a:solidFill>
                            <a:srgbClr val="111111"/>
                          </a:solidFill>
                          <a:latin typeface="Nunito Semi-Bold"/>
                          <a:ea typeface="Nunito Semi-Bold"/>
                          <a:cs typeface="Nunito Semi-Bold"/>
                          <a:sym typeface="Nunito Semi-Bold"/>
                        </a:rPr>
                        <a:t>−5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98 %</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 1,800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1.6×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r h="457200">
                <a:tc>
                  <a:txBody>
                    <a:bodyPr anchor="ctr" rtlCol="false" lIns="0" tIns="0" rIns="0" bIns="0" wrap="square"/>
                    <a:lstStyle/>
                    <a:p>
                      <a:pPr algn="ctr">
                        <a:lnSpc>
                          <a:spcPts val="1820"/>
                        </a:lnSpc>
                        <a:spcBef>
                          <a:spcPts val="0"/>
                        </a:spcBef>
                        <a:buNone/>
                      </a:pPr>
                      <a:r>
                        <a:rPr lang="en-US" sz="1400" b="1">
                          <a:solidFill>
                            <a:srgbClr val="111111"/>
                          </a:solidFill>
                          <a:latin typeface="Nunito Bold"/>
                          <a:ea typeface="Nunito Bold"/>
                          <a:cs typeface="Nunito Bold"/>
                          <a:sym typeface="Nunito Bold"/>
                        </a:rPr>
                        <a:t>50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1.4 × 10</a:t>
                      </a:r>
                      <a:r>
                        <a:rPr lang="en-US" sz="1400" b="1" baseline="30000">
                          <a:solidFill>
                            <a:srgbClr val="111111"/>
                          </a:solidFill>
                          <a:latin typeface="Nunito Semi-Bold"/>
                          <a:ea typeface="Nunito Semi-Bold"/>
                          <a:cs typeface="Nunito Semi-Bold"/>
                          <a:sym typeface="Nunito Semi-Bold"/>
                        </a:rPr>
                        <a:t>−5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99 %</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2,001</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c>
                  <a:txBody>
                    <a:bodyPr anchor="ctr" rtlCol="false" lIns="0" tIns="0" rIns="0" bIns="0" wrap="square"/>
                    <a:lstStyle/>
                    <a:p>
                      <a:pPr algn="ctr">
                        <a:lnSpc>
                          <a:spcPts val="1820"/>
                        </a:lnSpc>
                        <a:spcBef>
                          <a:spcPts val="0"/>
                        </a:spcBef>
                        <a:buNone/>
                      </a:pPr>
                      <a:r>
                        <a:rPr lang="en-US" sz="1400" b="1">
                          <a:solidFill>
                            <a:srgbClr val="111111"/>
                          </a:solidFill>
                          <a:latin typeface="Nunito Semi-Bold"/>
                          <a:ea typeface="Nunito Semi-Bold"/>
                          <a:cs typeface="Nunito Semi-Bold"/>
                          <a:sym typeface="Nunito Semi-Bold"/>
                        </a:rPr>
                        <a:t>1.78×</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E6EEEA"/>
                    </a:solidFill>
                  </a:tcPr>
                </a:tc>
              </a:tr>
              <a:tr h="457200">
                <a:tc>
                  <a:txBody>
                    <a:bodyPr anchor="ctr" rtlCol="false" lIns="0" tIns="0" rIns="0" bIns="0" wrap="square"/>
                    <a:lstStyle/>
                    <a:p>
                      <a:pPr algn="ctr">
                        <a:lnSpc>
                          <a:spcPts val="1820"/>
                        </a:lnSpc>
                        <a:spcBef>
                          <a:spcPts val="0"/>
                        </a:spcBef>
                        <a:buNone/>
                      </a:pPr>
                      <a:r>
                        <a:rPr lang="en-US" sz="1400" b="true">
                          <a:solidFill>
                            <a:srgbClr val="111111"/>
                          </a:solidFill>
                          <a:latin typeface="Nunito Bold"/>
                          <a:ea typeface="Nunito Bold"/>
                          <a:cs typeface="Nunito Bold"/>
                          <a:sym typeface="Nunito Bold"/>
                        </a:rPr>
                        <a:t>100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3.5 × 10</a:t>
                      </a:r>
                      <a:r>
                        <a:rPr lang="en-US" sz="1400" b="true" baseline="30000">
                          <a:solidFill>
                            <a:srgbClr val="111111"/>
                          </a:solidFill>
                          <a:latin typeface="Nunito Semi-Bold"/>
                          <a:ea typeface="Nunito Semi-Bold"/>
                          <a:cs typeface="Nunito Semi-Bold"/>
                          <a:sym typeface="Nunito Semi-Bold"/>
                        </a:rPr>
                        <a:t>−6</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99.5 %</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 2,810</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c>
                  <a:txBody>
                    <a:bodyPr anchor="ctr" rtlCol="false" lIns="0" tIns="0" rIns="0" bIns="0" wrap="square"/>
                    <a:lstStyle/>
                    <a:p>
                      <a:pPr algn="ctr">
                        <a:lnSpc>
                          <a:spcPts val="1820"/>
                        </a:lnSpc>
                        <a:spcBef>
                          <a:spcPts val="0"/>
                        </a:spcBef>
                        <a:buNone/>
                      </a:pPr>
                      <a:r>
                        <a:rPr lang="en-US" sz="1400" b="true">
                          <a:solidFill>
                            <a:srgbClr val="111111"/>
                          </a:solidFill>
                          <a:latin typeface="Nunito Semi-Bold"/>
                          <a:ea typeface="Nunito Semi-Bold"/>
                          <a:cs typeface="Nunito Semi-Bold"/>
                          <a:sym typeface="Nunito Semi-Bold"/>
                        </a:rPr>
                        <a:t>2.5×</a:t>
                      </a:r>
                    </a:p>
                  </a:txBody>
                  <a:tcPr marL="54864" marR="54864" marT="45720" marB="45720" anchor="ctr">
                    <a:lnL w="12700" cap="flat" cmpd="sng" algn="ctr">
                      <a:solidFill>
                        <a:srgbClr val="E3D6C4"/>
                      </a:solidFill>
                      <a:prstDash val="solid"/>
                    </a:lnL>
                    <a:lnR w="12700" cap="flat" cmpd="sng" algn="ctr">
                      <a:solidFill>
                        <a:srgbClr val="E3D6C4"/>
                      </a:solidFill>
                      <a:prstDash val="solid"/>
                    </a:lnR>
                    <a:lnT w="12700" cap="flat" cmpd="sng" algn="ctr">
                      <a:solidFill>
                        <a:srgbClr val="E3D6C4"/>
                      </a:solidFill>
                      <a:prstDash val="solid"/>
                    </a:lnT>
                    <a:lnB w="12700" cap="flat" cmpd="sng" algn="ctr">
                      <a:solidFill>
                        <a:srgbClr val="E3D6C4"/>
                      </a:solidFill>
                      <a:prstDash val="solid"/>
                    </a:lnB>
                    <a:solidFill>
                      <a:srgbClr val="F6ECDF"/>
                    </a:solidFill>
                  </a:tcPr>
                </a:tc>
              </a:tr>
            </a:tbl>
          </a:graphicData>
        </a:graphic>
      </p:graphicFrame>
      <p:sp>
        <p:nvSpPr>
          <p:cNvPr id="14" name="Rounded Rectangle 13"/>
          <p:cNvSpPr/>
          <p:nvPr/>
        </p:nvSpPr>
        <p:spPr>
          <a:xfrm>
            <a:off x="1028700" y="7419086"/>
            <a:ext cx="16230600" cy="1005840"/>
          </a:xfrm>
          <a:prstGeom prst="roundRect">
            <a:avLst>
              <a:gd name="adj" fmla="val 20000"/>
            </a:avLst>
          </a:prstGeom>
          <a:solidFill>
            <a:srgbClr val="F6ECDF"/>
          </a:solidFill>
          <a:ln>
            <a:noFill/>
          </a:ln>
        </p:spPr>
        <p:txBody>
          <a:bodyPr anchor="ctr" rtlCol="false" lIns="365760" tIns="45720" rIns="365760" bIns="45720" wrap="square"/>
          <a:lstStyle/>
          <a:p>
            <a:pPr algn="ctr">
              <a:lnSpc>
                <a:spcPts val="2200"/>
              </a:lnSpc>
              <a:spcBef>
                <a:spcPts val="0"/>
              </a:spcBef>
              <a:buNone/>
            </a:pPr>
            <a:r>
              <a:rPr lang="en-US" sz="1700" b="true">
                <a:solidFill>
                  <a:srgbClr val="111111"/>
                </a:solidFill>
                <a:latin typeface="Nunito Semi-Bold"/>
                <a:ea typeface="Nunito Semi-Bold"/>
                <a:cs typeface="Nunito Semi-Bold"/>
                <a:sym typeface="Nunito Semi-Bold"/>
              </a:rPr>
              <a:t>DyHuCoG costs about </a:t>
            </a:r>
            <a:r>
              <a:rPr lang="en-US" sz="1700" b="true">
                <a:solidFill>
                  <a:srgbClr val="111111"/>
                </a:solidFill>
                <a:latin typeface="Nunito Bold"/>
                <a:ea typeface="Nunito Bold"/>
                <a:cs typeface="Nunito Bold"/>
                <a:sym typeface="Nunito Bold"/>
              </a:rPr>
              <a:t>1.78× HPCF</a:t>
            </a:r>
            <a:r>
              <a:rPr lang="en-US" sz="1700" b="true">
                <a:solidFill>
                  <a:srgbClr val="111111"/>
                </a:solidFill>
                <a:latin typeface="Nunito Semi-Bold"/>
                <a:ea typeface="Nunito Semi-Bold"/>
                <a:cs typeface="Nunito Semi-Bold"/>
                <a:sym typeface="Nunito Semi-Bold"/>
              </a:rPr>
              <a:t> in training time and stays under </a:t>
            </a:r>
            <a:r>
              <a:rPr lang="en-US" sz="1700" b="true">
                <a:solidFill>
                  <a:srgbClr val="111111"/>
                </a:solidFill>
                <a:latin typeface="Nunito Bold"/>
                <a:ea typeface="Nunito Bold"/>
                <a:cs typeface="Nunito Bold"/>
                <a:sym typeface="Nunito Bold"/>
              </a:rPr>
              <a:t>2 ms per query</a:t>
            </a:r>
            <a:r>
              <a:rPr lang="en-US" sz="1700" b="true">
                <a:solidFill>
                  <a:srgbClr val="111111"/>
                </a:solidFill>
                <a:latin typeface="Nunito Semi-Bold"/>
                <a:ea typeface="Nunito Semi-Bold"/>
                <a:cs typeface="Nunito Semi-Bold"/>
                <a:sym typeface="Nunito Semi-Bold"/>
              </a:rPr>
              <a:t> on MovieLens-1M; M = 50 permutations is the knee of the accuracy / cost curve, which is why it is the default.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DAHURed54lA</dc:identifier>
  <dcterms:modified xsi:type="dcterms:W3CDTF">2011-08-01T06:04:30Z</dcterms:modified>
  <cp:revision>1</cp:revision>
  <dc:title>Beige Green Modern Illustrative Playful Thesis Defense Presentation</dc:title>
</cp:coreProperties>
</file>